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69"/>
  </p:notesMasterIdLst>
  <p:sldIdLst>
    <p:sldId id="801" r:id="rId2"/>
    <p:sldId id="1660" r:id="rId3"/>
    <p:sldId id="2148" r:id="rId4"/>
    <p:sldId id="2086" r:id="rId5"/>
    <p:sldId id="2087" r:id="rId6"/>
    <p:sldId id="2089" r:id="rId7"/>
    <p:sldId id="2104" r:id="rId8"/>
    <p:sldId id="652" r:id="rId9"/>
    <p:sldId id="679" r:id="rId10"/>
    <p:sldId id="1658" r:id="rId11"/>
    <p:sldId id="2098" r:id="rId12"/>
    <p:sldId id="2105" r:id="rId13"/>
    <p:sldId id="2107" r:id="rId14"/>
    <p:sldId id="2099" r:id="rId15"/>
    <p:sldId id="2215" r:id="rId16"/>
    <p:sldId id="2113" r:id="rId17"/>
    <p:sldId id="2209" r:id="rId18"/>
    <p:sldId id="2210" r:id="rId19"/>
    <p:sldId id="2193" r:id="rId20"/>
    <p:sldId id="2143" r:id="rId21"/>
    <p:sldId id="10141" r:id="rId22"/>
    <p:sldId id="2227" r:id="rId23"/>
    <p:sldId id="2170" r:id="rId24"/>
    <p:sldId id="10123" r:id="rId25"/>
    <p:sldId id="2145" r:id="rId26"/>
    <p:sldId id="10132" r:id="rId27"/>
    <p:sldId id="10144" r:id="rId28"/>
    <p:sldId id="10126" r:id="rId29"/>
    <p:sldId id="10143" r:id="rId30"/>
    <p:sldId id="2218" r:id="rId31"/>
    <p:sldId id="2137" r:id="rId32"/>
    <p:sldId id="10131" r:id="rId33"/>
    <p:sldId id="2174" r:id="rId34"/>
    <p:sldId id="2204" r:id="rId35"/>
    <p:sldId id="10146" r:id="rId36"/>
    <p:sldId id="10147" r:id="rId37"/>
    <p:sldId id="10148" r:id="rId38"/>
    <p:sldId id="10149" r:id="rId39"/>
    <p:sldId id="10150" r:id="rId40"/>
    <p:sldId id="10151" r:id="rId41"/>
    <p:sldId id="10142" r:id="rId42"/>
    <p:sldId id="2082" r:id="rId43"/>
    <p:sldId id="2151" r:id="rId44"/>
    <p:sldId id="2152" r:id="rId45"/>
    <p:sldId id="2153" r:id="rId46"/>
    <p:sldId id="2154" r:id="rId47"/>
    <p:sldId id="2221" r:id="rId48"/>
    <p:sldId id="2109" r:id="rId49"/>
    <p:sldId id="1301" r:id="rId50"/>
    <p:sldId id="2224" r:id="rId51"/>
    <p:sldId id="2225" r:id="rId52"/>
    <p:sldId id="2223" r:id="rId53"/>
    <p:sldId id="2226" r:id="rId54"/>
    <p:sldId id="2156" r:id="rId55"/>
    <p:sldId id="2157" r:id="rId56"/>
    <p:sldId id="2158" r:id="rId57"/>
    <p:sldId id="2184" r:id="rId58"/>
    <p:sldId id="10145" r:id="rId59"/>
    <p:sldId id="2159" r:id="rId60"/>
    <p:sldId id="2162" r:id="rId61"/>
    <p:sldId id="2163" r:id="rId62"/>
    <p:sldId id="1684" r:id="rId63"/>
    <p:sldId id="1690" r:id="rId64"/>
    <p:sldId id="1685" r:id="rId65"/>
    <p:sldId id="1708" r:id="rId66"/>
    <p:sldId id="2106" r:id="rId67"/>
    <p:sldId id="2110" r:id="rId68"/>
  </p:sldIdLst>
  <p:sldSz cx="9144000" cy="5143500" type="screen16x9"/>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3" orient="horz" pos="4201" userDrawn="1">
          <p15:clr>
            <a:srgbClr val="A4A3A4"/>
          </p15:clr>
        </p15:guide>
        <p15:guide id="4" pos="2879" userDrawn="1">
          <p15:clr>
            <a:srgbClr val="A4A3A4"/>
          </p15:clr>
        </p15:guide>
        <p15:guide id="5" orient="horz" pos="315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4200">
          <p15:clr>
            <a:srgbClr val="A4A3A4"/>
          </p15:clr>
        </p15:guide>
        <p15:guide id="4" pos="287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aibin" initials="l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6"/>
    <a:srgbClr val="3399FF"/>
    <a:srgbClr val="7F629C"/>
    <a:srgbClr val="33CCFF"/>
    <a:srgbClr val="66CCFF"/>
    <a:srgbClr val="F0DA04"/>
    <a:srgbClr val="3366FF"/>
    <a:srgbClr val="736303"/>
    <a:srgbClr val="6D62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711" autoAdjust="0"/>
    <p:restoredTop sz="93673" autoAdjust="0"/>
  </p:normalViewPr>
  <p:slideViewPr>
    <p:cSldViewPr snapToObjects="1" showGuides="1">
      <p:cViewPr varScale="1">
        <p:scale>
          <a:sx n="87" d="100"/>
          <a:sy n="87" d="100"/>
        </p:scale>
        <p:origin x="868" y="48"/>
      </p:cViewPr>
      <p:guideLst>
        <p:guide orient="horz" pos="4201"/>
        <p:guide pos="2879"/>
        <p:guide orient="horz" pos="3151"/>
      </p:guideLst>
    </p:cSldViewPr>
  </p:slideViewPr>
  <p:outlineViewPr>
    <p:cViewPr>
      <p:scale>
        <a:sx n="33" d="100"/>
        <a:sy n="33" d="100"/>
      </p:scale>
      <p:origin x="0" y="-680"/>
    </p:cViewPr>
  </p:outlineViewPr>
  <p:notesTextViewPr>
    <p:cViewPr>
      <p:scale>
        <a:sx n="300" d="100"/>
        <a:sy n="300" d="100"/>
      </p:scale>
      <p:origin x="0" y="0"/>
    </p:cViewPr>
  </p:notesTextViewPr>
  <p:sorterViewPr>
    <p:cViewPr>
      <p:scale>
        <a:sx n="100" d="100"/>
        <a:sy n="100" d="100"/>
      </p:scale>
      <p:origin x="0" y="0"/>
    </p:cViewPr>
  </p:sorterViewPr>
  <p:notesViewPr>
    <p:cSldViewPr snapToObjects="1">
      <p:cViewPr varScale="1">
        <p:scale>
          <a:sx n="47" d="100"/>
          <a:sy n="47" d="100"/>
        </p:scale>
        <p:origin x="2694" y="60"/>
      </p:cViewPr>
      <p:guideLst>
        <p:guide orient="horz" pos="2880"/>
        <p:guide pos="2160"/>
        <p:guide orient="horz" pos="4200"/>
        <p:guide pos="2879"/>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F4DA7F0C-A8F0-4487-826C-000FF0B66B21}" type="datetimeFigureOut">
              <a:rPr lang="zh-CN" altLang="en-US"/>
              <a:t>2025/4/8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B6C58412-F58B-4DA5-9529-CC0CDE193992}"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uanlan.zhihu.com/p/144826550"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aike.baidu.com/item/%E7%A6%BB%E6%95%A3%E6%95%B0%E6%8D%AE?fromModule=lemma_inlink"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aike.baidu.com/item/%E9%9D%9E%E7%BA%BF%E6%80%A7%E6%96%B9%E7%A8%8B/4778289?fromModule=lemma_inlink"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baike.baidu.com/item/%E6%9C%80%E5%B0%8F%E4%BA%8C%E4%B9%98%E6%8B%9F%E5%90%88/0?fromModule=lemma_inlink" TargetMode="Externa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aijiahao.baidu.com/s?id=1793739646371234903"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Doc/TyMath/Interpolation.html?searchQuery=griddata"/><Relationship Id="rId7" Type="http://schemas.openxmlformats.org/officeDocument/2006/relationships/hyperlink" Target="https://www.bing.com/ck/a?!&amp;&amp;p=ef5c38efa7a3b53bef71a57629c4d14a33b801bfe6bee004348320d61657081eJmltdHM9MTczMjE0NzIwMA&amp;ptn=3&amp;ver=2&amp;hsh=4&amp;fclid=0b45e427-b152-6ed1-1077-f0acb0186f04&amp;psq=ct%e5%9b%be%e5%83%8f%e6%8f%92%e5%80%bc&amp;u=a1aHR0cDovL2pzdC50c2luZ2h1YWpvdXJuYWxzLmNvbS9DTi9yaGh0bWwvMjAxNjEyMTUuaHRt&amp;ntb=1"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s://blog.csdn.net/tk20190411/article/details/105492261" TargetMode="External"/><Relationship Id="rId5" Type="http://schemas.openxmlformats.org/officeDocument/2006/relationships/hyperlink" Target="https://link.zhihu.com/?target=http://cda.pinggu.org/" TargetMode="External"/><Relationship Id="rId4" Type="http://schemas.openxmlformats.org/officeDocument/2006/relationships/hyperlink" Target="https://link.zhihu.com/?target=http://cda.pinggu.org/view/24090.html"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baike.baidu.com/item/%E6%8F%92%E5%80%BC%E6%B3%95/0?fromModule=lemma_inlink" TargetMode="External"/><Relationship Id="rId2" Type="http://schemas.openxmlformats.org/officeDocument/2006/relationships/slide" Target="../slides/slide44.xml"/><Relationship Id="rId1" Type="http://schemas.openxmlformats.org/officeDocument/2006/relationships/notesMaster" Target="../notesMasters/notesMaster1.xml"/><Relationship Id="rId6" Type="http://schemas.openxmlformats.org/officeDocument/2006/relationships/hyperlink" Target="https://baike.baidu.com/item/%E9%9D%9E%E7%BA%BF%E6%80%A7%E6%96%B9%E7%A8%8B/0?fromModule=lemma_inlink" TargetMode="External"/><Relationship Id="rId5" Type="http://schemas.openxmlformats.org/officeDocument/2006/relationships/hyperlink" Target="https://baike.baidu.com/item/%E6%95%B0%E5%80%BC%E5%BE%AE%E5%88%86/0?fromModule=lemma_inlink" TargetMode="External"/><Relationship Id="rId4" Type="http://schemas.openxmlformats.org/officeDocument/2006/relationships/hyperlink" Target="https://baike.baidu.com/item/%E6%95%B0%E5%80%BC%E7%A7%AF%E5%88%86/0?fromModule=lemma_inlink"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333333"/>
                </a:solidFill>
                <a:effectLst/>
                <a:latin typeface="-apple-system"/>
              </a:rPr>
              <a:t>曲线拟合包括回归分析</a:t>
            </a:r>
            <a:r>
              <a:rPr lang="zh-CN" altLang="en-US" b="0" i="0" dirty="0">
                <a:solidFill>
                  <a:srgbClr val="333333"/>
                </a:solidFill>
                <a:effectLst/>
                <a:latin typeface="-apple-system"/>
              </a:rPr>
              <a:t>‌。曲线拟合和回归分析是两种紧密相关的数据建模方法，它们在数据处理和分析中有着不同的应用场景和目的，在数学方法和应用场景上有一定的重叠和联系。</a:t>
            </a:r>
            <a:endParaRPr lang="en-US" altLang="zh-CN" b="0" i="0" dirty="0">
              <a:solidFill>
                <a:srgbClr val="333333"/>
              </a:solidFill>
              <a:effectLst/>
              <a:latin typeface="-apple-system"/>
            </a:endParaRPr>
          </a:p>
          <a:p>
            <a:pPr algn="l">
              <a:buFont typeface="+mj-lt"/>
              <a:buAutoNum type="arabicPeriod"/>
            </a:pPr>
            <a:r>
              <a:rPr lang="zh-CN" altLang="en-US" b="0" i="0" dirty="0">
                <a:solidFill>
                  <a:srgbClr val="333333"/>
                </a:solidFill>
                <a:effectLst/>
                <a:latin typeface="-apple-system"/>
              </a:rPr>
              <a:t>‌</a:t>
            </a:r>
            <a:r>
              <a:rPr lang="zh-CN" altLang="en-US" b="1" i="0" dirty="0">
                <a:solidFill>
                  <a:srgbClr val="333333"/>
                </a:solidFill>
                <a:effectLst/>
                <a:latin typeface="-apple-system"/>
              </a:rPr>
              <a:t>曲线拟合</a:t>
            </a:r>
            <a:r>
              <a:rPr lang="zh-CN" altLang="en-US" b="0" i="0" dirty="0">
                <a:solidFill>
                  <a:srgbClr val="333333"/>
                </a:solidFill>
                <a:effectLst/>
                <a:latin typeface="-apple-system"/>
              </a:rPr>
              <a:t>‌：曲线拟合是指选择适当的曲线类型来拟合观测数据，并用拟合的曲线方程分析两变量间的关系。它侧重于调整曲线的参数，使得曲线在某种准则下与所有数据点最为接近，不要求完全经过数据点。</a:t>
            </a:r>
          </a:p>
          <a:p>
            <a:pPr algn="l">
              <a:buFont typeface="+mj-lt"/>
              <a:buAutoNum type="arabicPeriod"/>
            </a:pPr>
            <a:r>
              <a:rPr lang="zh-CN" altLang="en-US" b="0" i="0" dirty="0">
                <a:solidFill>
                  <a:srgbClr val="333333"/>
                </a:solidFill>
                <a:effectLst/>
                <a:latin typeface="-apple-system"/>
              </a:rPr>
              <a:t>‌</a:t>
            </a:r>
            <a:r>
              <a:rPr lang="zh-CN" altLang="en-US" b="1" i="0" dirty="0">
                <a:solidFill>
                  <a:srgbClr val="333333"/>
                </a:solidFill>
                <a:effectLst/>
                <a:latin typeface="-apple-system"/>
              </a:rPr>
              <a:t>回归分析</a:t>
            </a:r>
            <a:r>
              <a:rPr lang="zh-CN" altLang="en-US" b="0" i="0" dirty="0">
                <a:solidFill>
                  <a:srgbClr val="333333"/>
                </a:solidFill>
                <a:effectLst/>
                <a:latin typeface="-apple-system"/>
              </a:rPr>
              <a:t>‌：回归分析是一种数据分析方法，旨在研究两个或多个变量之间的关系。它强调变量之间存在随机因素，常用于基于含有随机误差的大数据的预测分析，挖掘大数据间的联系或某种规律。</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71777D"/>
                </a:solidFill>
                <a:effectLst/>
                <a:latin typeface="Arial" panose="020B0604020202020204" pitchFamily="34" charset="0"/>
              </a:rPr>
              <a:t>拟合就是把平面上一系列的点，用一条光滑的曲线连接起来。 因为这条曲线有无数种可能，从而有各种拟合方法。 拟合的曲线一般可以用函数表示</a:t>
            </a:r>
            <a:endParaRPr lang="en-US" altLang="zh-CN" b="0" i="0" dirty="0">
              <a:solidFill>
                <a:srgbClr val="71777D"/>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333333"/>
                </a:solidFill>
                <a:effectLst/>
                <a:latin typeface="PingFang SC"/>
              </a:rPr>
              <a:t>曲线拟合属于‌</a:t>
            </a:r>
            <a:r>
              <a:rPr lang="zh-CN" altLang="en-US" b="1" i="0" dirty="0">
                <a:solidFill>
                  <a:srgbClr val="333333"/>
                </a:solidFill>
                <a:effectLst/>
                <a:latin typeface="PingFang SC"/>
              </a:rPr>
              <a:t>数值计算方法</a:t>
            </a:r>
            <a:r>
              <a:rPr lang="zh-CN" altLang="en-US" b="0" i="0" dirty="0">
                <a:solidFill>
                  <a:srgbClr val="333333"/>
                </a:solidFill>
                <a:effectLst/>
                <a:latin typeface="PingFang SC"/>
              </a:rPr>
              <a:t>‌的范畴</a:t>
            </a:r>
            <a:endParaRPr lang="zh-CN" altLang="en-US" dirty="0"/>
          </a:p>
          <a:p>
            <a:endParaRPr lang="en-US" altLang="zh-CN" b="0" i="0" dirty="0">
              <a:solidFill>
                <a:srgbClr val="333333"/>
              </a:solidFill>
              <a:effectLst/>
              <a:latin typeface="-apple-system"/>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u="sng" dirty="0">
                <a:solidFill>
                  <a:srgbClr val="8E24AA"/>
                </a:solidFill>
                <a:effectLst/>
                <a:latin typeface="微软雅黑" panose="020B0503020204020204" pitchFamily="34" charset="-122"/>
                <a:ea typeface="微软雅黑" panose="020B0503020204020204" pitchFamily="34" charset="-122"/>
                <a:hlinkClick r:id="rId3"/>
              </a:rPr>
              <a:t>计算方法</a:t>
            </a:r>
            <a:r>
              <a:rPr lang="en-US" altLang="zh-CN" b="1" u="sng" dirty="0">
                <a:solidFill>
                  <a:srgbClr val="8E24AA"/>
                </a:solidFill>
                <a:effectLst/>
                <a:latin typeface="微软雅黑" panose="020B0503020204020204" pitchFamily="34" charset="-122"/>
                <a:ea typeface="微软雅黑" panose="020B0503020204020204" pitchFamily="34" charset="-122"/>
                <a:hlinkClick r:id="rId3"/>
              </a:rPr>
              <a:t>/</a:t>
            </a:r>
            <a:r>
              <a:rPr lang="zh-CN" altLang="en-US" b="0" u="sng" dirty="0">
                <a:solidFill>
                  <a:srgbClr val="CC0000"/>
                </a:solidFill>
                <a:effectLst/>
                <a:latin typeface="微软雅黑" panose="020B0503020204020204" pitchFamily="34" charset="-122"/>
                <a:ea typeface="微软雅黑" panose="020B0503020204020204" pitchFamily="34" charset="-122"/>
                <a:hlinkClick r:id="rId3"/>
              </a:rPr>
              <a:t>数值分析</a:t>
            </a:r>
            <a:r>
              <a:rPr lang="zh-CN" altLang="en-US" b="1" u="sng" dirty="0">
                <a:solidFill>
                  <a:srgbClr val="8E24AA"/>
                </a:solidFill>
                <a:effectLst/>
                <a:latin typeface="微软雅黑" panose="020B0503020204020204" pitchFamily="34" charset="-122"/>
                <a:ea typeface="微软雅黑" panose="020B0503020204020204" pitchFamily="34" charset="-122"/>
                <a:hlinkClick r:id="rId3"/>
              </a:rPr>
              <a:t> </a:t>
            </a:r>
            <a:r>
              <a:rPr lang="en-US" altLang="zh-CN" b="1" u="sng" dirty="0">
                <a:solidFill>
                  <a:srgbClr val="8E24AA"/>
                </a:solidFill>
                <a:effectLst/>
                <a:latin typeface="微软雅黑" panose="020B0503020204020204" pitchFamily="34" charset="-122"/>
                <a:ea typeface="微软雅黑" panose="020B0503020204020204" pitchFamily="34" charset="-122"/>
                <a:hlinkClick r:id="rId3"/>
              </a:rPr>
              <a:t>——</a:t>
            </a:r>
            <a:r>
              <a:rPr lang="zh-CN" altLang="en-US" b="1" u="sng" dirty="0">
                <a:solidFill>
                  <a:srgbClr val="8E24AA"/>
                </a:solidFill>
                <a:effectLst/>
                <a:latin typeface="微软雅黑" panose="020B0503020204020204" pitchFamily="34" charset="-122"/>
                <a:ea typeface="微软雅黑" panose="020B0503020204020204" pitchFamily="34" charset="-122"/>
                <a:hlinkClick r:id="rId3"/>
              </a:rPr>
              <a:t>第四章函数</a:t>
            </a:r>
            <a:r>
              <a:rPr lang="zh-CN" altLang="en-US" b="0" u="sng" dirty="0">
                <a:solidFill>
                  <a:srgbClr val="CC0000"/>
                </a:solidFill>
                <a:effectLst/>
                <a:latin typeface="微软雅黑" panose="020B0503020204020204" pitchFamily="34" charset="-122"/>
                <a:ea typeface="微软雅黑" panose="020B0503020204020204" pitchFamily="34" charset="-122"/>
                <a:hlinkClick r:id="rId3"/>
              </a:rPr>
              <a:t>插值与曲线拟合</a:t>
            </a:r>
            <a:endParaRPr lang="en-US" altLang="zh-CN" b="0" u="sng" dirty="0">
              <a:solidFill>
                <a:srgbClr val="CC0000"/>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u="sng" dirty="0">
              <a:solidFill>
                <a:srgbClr val="CC0000"/>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i="0" dirty="0">
                <a:solidFill>
                  <a:srgbClr val="111111"/>
                </a:solidFill>
                <a:effectLst/>
                <a:latin typeface="微软雅黑" panose="020B0503020204020204" pitchFamily="34" charset="-122"/>
                <a:ea typeface="微软雅黑" panose="020B0503020204020204" pitchFamily="34" charset="-122"/>
              </a:rPr>
              <a:t>函数逼近</a:t>
            </a:r>
            <a:r>
              <a:rPr lang="zh-CN" altLang="en-US" b="0" i="0" dirty="0">
                <a:solidFill>
                  <a:srgbClr val="111111"/>
                </a:solidFill>
                <a:effectLst/>
                <a:latin typeface="微软雅黑" panose="020B0503020204020204" pitchFamily="34" charset="-122"/>
                <a:ea typeface="微软雅黑" panose="020B0503020204020204" pitchFamily="34" charset="-122"/>
              </a:rPr>
              <a:t>：已知原函数的情况下，找一个简单函数逼近于原函数</a:t>
            </a:r>
            <a:endParaRPr lang="en-US" altLang="zh-CN" b="0" i="0" dirty="0">
              <a:solidFill>
                <a:srgbClr val="11111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111111"/>
                </a:solidFill>
                <a:effectLst/>
                <a:latin typeface="微软雅黑" panose="020B0503020204020204" pitchFamily="34" charset="-122"/>
                <a:ea typeface="微软雅黑" panose="020B0503020204020204" pitchFamily="34" charset="-122"/>
              </a:rPr>
              <a:t> 曲线拟合：原函数未知，给定原函数的若干点，在某个简单函数空间找出使得总误差（根据不同定义有不同的误差距离的衡量，一般是均方误差）最小的那个简单函数。</a:t>
            </a:r>
            <a:endParaRPr lang="en-US" altLang="zh-CN" b="0" i="0" dirty="0">
              <a:solidFill>
                <a:srgbClr val="11111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i="0" dirty="0">
                <a:solidFill>
                  <a:srgbClr val="0070C0"/>
                </a:solidFill>
                <a:effectLst/>
                <a:latin typeface="微软雅黑" panose="020B0503020204020204" pitchFamily="34" charset="-122"/>
                <a:ea typeface="微软雅黑" panose="020B0503020204020204" pitchFamily="34" charset="-122"/>
              </a:rPr>
              <a:t>拟合方法包括 回归 、插值、和逼近，它更为宽泛一些，是一种数据处理方法</a:t>
            </a:r>
            <a:endParaRPr lang="zh-CN" altLang="en-US" b="1" dirty="0">
              <a:solidFill>
                <a:srgbClr val="71777D"/>
              </a:solidFill>
              <a:effectLst/>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111111"/>
                </a:solidFill>
                <a:effectLst/>
                <a:latin typeface="Arial" panose="020B0604020202020204" pitchFamily="34" charset="0"/>
              </a:rPr>
              <a:t>泰勒级数展开</a:t>
            </a:r>
            <a:r>
              <a:rPr lang="zh-CN" altLang="en-US" b="0" i="0" dirty="0">
                <a:solidFill>
                  <a:srgbClr val="111111"/>
                </a:solidFill>
                <a:effectLst/>
                <a:latin typeface="Arial" panose="020B0604020202020204" pitchFamily="34" charset="0"/>
              </a:rPr>
              <a:t>是用一个</a:t>
            </a:r>
            <a:r>
              <a:rPr lang="zh-CN" altLang="en-US" b="1" i="0" dirty="0">
                <a:solidFill>
                  <a:srgbClr val="111111"/>
                </a:solidFill>
                <a:effectLst/>
                <a:latin typeface="Arial" panose="020B0604020202020204" pitchFamily="34" charset="0"/>
              </a:rPr>
              <a:t>多项式</a:t>
            </a:r>
            <a:r>
              <a:rPr lang="zh-CN" altLang="en-US" b="0" i="0" dirty="0">
                <a:solidFill>
                  <a:srgbClr val="111111"/>
                </a:solidFill>
                <a:effectLst/>
                <a:latin typeface="Arial" panose="020B0604020202020204" pitchFamily="34" charset="0"/>
              </a:rPr>
              <a:t>函数来拟合一个复杂函数</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N</a:t>
            </a:r>
            <a:r>
              <a:rPr lang="zh-CN" altLang="en-US" dirty="0"/>
              <a:t>次多项式</a:t>
            </a:r>
            <a:r>
              <a:rPr lang="en-US" altLang="zh-CN" dirty="0"/>
              <a:t>p</a:t>
            </a:r>
            <a:r>
              <a:rPr lang="zh-CN" altLang="en-US" dirty="0"/>
              <a:t>关于自变量</a:t>
            </a:r>
            <a:r>
              <a:rPr lang="en-US" altLang="zh-CN" dirty="0"/>
              <a:t>x</a:t>
            </a:r>
            <a:r>
              <a:rPr lang="zh-CN" altLang="en-US" dirty="0"/>
              <a:t>函数，</a:t>
            </a:r>
            <a:r>
              <a:rPr lang="en-US" altLang="zh-CN" dirty="0"/>
              <a:t>N</a:t>
            </a:r>
            <a:r>
              <a:rPr lang="zh-CN" altLang="en-US" dirty="0"/>
              <a:t>次多项式最高次数为</a:t>
            </a:r>
            <a:r>
              <a:rPr lang="en-US" altLang="zh-CN" dirty="0"/>
              <a:t>x</a:t>
            </a:r>
            <a:r>
              <a:rPr lang="zh-CN" altLang="en-US" dirty="0"/>
              <a:t>的</a:t>
            </a:r>
            <a:r>
              <a:rPr lang="en-US" altLang="zh-CN" dirty="0"/>
              <a:t>n</a:t>
            </a:r>
            <a:r>
              <a:rPr lang="zh-CN" altLang="en-US" dirty="0"/>
              <a:t>次，系数为</a:t>
            </a:r>
            <a:r>
              <a:rPr lang="en-US" altLang="zh-CN" dirty="0"/>
              <a:t>p1</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11111"/>
                </a:solidFill>
                <a:effectLst/>
                <a:latin typeface="微软雅黑" panose="020B0503020204020204" pitchFamily="34" charset="-122"/>
                <a:ea typeface="微软雅黑" panose="020B0503020204020204" pitchFamily="34" charset="-122"/>
              </a:rPr>
              <a:t>曲线的数据拟合，通常也被称为离散数据的曲线拟合，是</a:t>
            </a:r>
            <a:r>
              <a:rPr lang="zh-CN" altLang="en-US" b="1" i="0" dirty="0">
                <a:solidFill>
                  <a:srgbClr val="111111"/>
                </a:solidFill>
                <a:effectLst/>
                <a:latin typeface="微软雅黑" panose="020B0503020204020204" pitchFamily="34" charset="-122"/>
                <a:ea typeface="微软雅黑" panose="020B0503020204020204" pitchFamily="34" charset="-122"/>
              </a:rPr>
              <a:t>求近似函数的又一类数值分析方法</a:t>
            </a:r>
            <a:endParaRPr lang="en-US" altLang="zh-CN" b="1" i="0" dirty="0">
              <a:solidFill>
                <a:srgbClr val="111111"/>
              </a:solidFill>
              <a:effectLst/>
              <a:latin typeface="微软雅黑" panose="020B0503020204020204" pitchFamily="34" charset="-122"/>
              <a:ea typeface="微软雅黑" panose="020B0503020204020204" pitchFamily="34" charset="-122"/>
            </a:endParaRPr>
          </a:p>
          <a:p>
            <a:r>
              <a:rPr lang="en-US" altLang="zh-CN" dirty="0" err="1"/>
              <a:t>nlinfit</a:t>
            </a:r>
            <a:r>
              <a:rPr lang="zh-CN" altLang="en-US" dirty="0"/>
              <a:t>与</a:t>
            </a:r>
            <a:r>
              <a:rPr lang="en-US" altLang="zh-CN" dirty="0" err="1"/>
              <a:t>lsqcurvefit</a:t>
            </a:r>
            <a:r>
              <a:rPr lang="zh-CN" altLang="en-US" dirty="0"/>
              <a:t>同属与非线性最小二乘拟和</a:t>
            </a:r>
            <a:endParaRPr lang="en-US" altLang="zh-CN" dirty="0"/>
          </a:p>
          <a:p>
            <a:r>
              <a:rPr lang="zh-CN" altLang="en-US" b="0" i="0" dirty="0">
                <a:solidFill>
                  <a:srgbClr val="333333"/>
                </a:solidFill>
                <a:effectLst/>
                <a:latin typeface="Helvetica Neue"/>
              </a:rPr>
              <a:t>曲线直线化是曲线拟合的重要手段之一</a:t>
            </a:r>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处理试验测得的离散数据最常用方法就是曲线拟合，</a:t>
            </a:r>
            <a:endParaRPr lang="en-US" altLang="zh-CN"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a:p>
            <a:r>
              <a:rPr lang="zh-CN" altLang="en-US"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曲线拟合就是选择适当数学模型拟合逼近</a:t>
            </a:r>
            <a:r>
              <a:rPr lang="zh-CN" altLang="en-US"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hlinkClick r:id="rId3"/>
              </a:rPr>
              <a:t>离散试验数据</a:t>
            </a:r>
            <a:r>
              <a:rPr lang="zh-CN" altLang="en-US"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a:t>
            </a:r>
            <a:endParaRPr lang="en-US" altLang="zh-CN"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a:p>
            <a:r>
              <a:rPr lang="zh-CN" altLang="en-US"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rPr>
              <a:t>拟合表达式可以很好分析两变量间的关系</a:t>
            </a:r>
            <a:r>
              <a:rPr lang="zh-CN" altLang="en-US" sz="1200" dirty="0">
                <a:solidFill>
                  <a:srgbClr val="FF0000"/>
                </a:solidFill>
                <a:latin typeface="Helvetica Neue"/>
              </a:rPr>
              <a:t>。</a:t>
            </a:r>
            <a:endParaRPr lang="zh-CN" altLang="en-US" sz="1200" kern="0" dirty="0">
              <a:solidFill>
                <a:srgbClr val="0070C0"/>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indent="0" algn="l" defTabSz="914400" rtl="0" eaLnBrk="1" fontAlgn="base" latinLnBrk="0" hangingPunct="1">
              <a:lnSpc>
                <a:spcPct val="100000"/>
              </a:lnSpc>
              <a:spcBef>
                <a:spcPct val="30000"/>
              </a:spcBef>
              <a:spcAft>
                <a:spcPct val="0"/>
              </a:spcAft>
              <a:buClrTx/>
              <a:buSzTx/>
              <a:buFontTx/>
              <a:buNone/>
              <a:defRPr/>
            </a:pPr>
            <a:endParaRPr lang="en-US" altLang="zh-CN" b="0" i="0" dirty="0">
              <a:solidFill>
                <a:srgbClr val="262626"/>
              </a:solidFill>
              <a:effectLst/>
              <a:latin typeface="Helvetica Neue"/>
            </a:endParaRPr>
          </a:p>
          <a:p>
            <a:pPr marL="0" marR="0" indent="0" algn="l" defTabSz="914400" rtl="0" eaLnBrk="1" fontAlgn="base" latinLnBrk="0" hangingPunct="1">
              <a:lnSpc>
                <a:spcPct val="100000"/>
              </a:lnSpc>
              <a:spcBef>
                <a:spcPct val="30000"/>
              </a:spcBef>
              <a:spcAft>
                <a:spcPct val="0"/>
              </a:spcAft>
              <a:buClrTx/>
              <a:buSzTx/>
              <a:buFontTx/>
              <a:buNone/>
              <a:defRPr/>
            </a:pPr>
            <a:endParaRPr lang="en-US" altLang="zh-CN" sz="1200" b="1" dirty="0">
              <a:solidFill>
                <a:srgbClr val="FFFF00"/>
              </a:solidFill>
              <a:latin typeface="隶书" panose="02010509060101010101" pitchFamily="49" charset="-122"/>
              <a:ea typeface="隶书" panose="02010509060101010101" pitchFamily="49" charset="-122"/>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最小二乘法</a:t>
            </a:r>
            <a:r>
              <a:rPr lang="en-US" altLang="zh-CN" sz="1200" b="0" i="0" kern="1200" dirty="0">
                <a:solidFill>
                  <a:schemeClr val="tx1"/>
                </a:solidFill>
                <a:effectLst/>
                <a:latin typeface="+mn-lt"/>
                <a:ea typeface="+mn-ea"/>
                <a:cs typeface="+mn-cs"/>
              </a:rPr>
              <a:t>LSQ</a:t>
            </a: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solidFill>
                  <a:srgbClr val="002060"/>
                </a:solidFill>
                <a:latin typeface="华文楷体" panose="02010600040101010101" pitchFamily="2" charset="-122"/>
                <a:ea typeface="华文楷体" panose="02010600040101010101" pitchFamily="2" charset="-122"/>
              </a:rPr>
              <a:t>x</a:t>
            </a:r>
            <a:r>
              <a:rPr lang="zh-CN" altLang="en-US" sz="1200" dirty="0">
                <a:solidFill>
                  <a:srgbClr val="002060"/>
                </a:solidFill>
                <a:latin typeface="华文楷体" panose="02010600040101010101" pitchFamily="2" charset="-122"/>
                <a:ea typeface="华文楷体" panose="02010600040101010101" pitchFamily="2" charset="-122"/>
              </a:rPr>
              <a:t>、</a:t>
            </a:r>
            <a:r>
              <a:rPr lang="en-US" altLang="ko-KR" sz="1200" dirty="0">
                <a:solidFill>
                  <a:srgbClr val="002060"/>
                </a:solidFill>
                <a:latin typeface="华文楷体" panose="02010600040101010101" pitchFamily="2" charset="-122"/>
                <a:ea typeface="华文楷体" panose="02010600040101010101" pitchFamily="2" charset="-122"/>
              </a:rPr>
              <a:t>y</a:t>
            </a:r>
            <a:r>
              <a:rPr lang="zh-CN" altLang="en-US" sz="1200" dirty="0">
                <a:solidFill>
                  <a:srgbClr val="002060"/>
                </a:solidFill>
                <a:latin typeface="华文楷体" panose="02010600040101010101" pitchFamily="2" charset="-122"/>
                <a:ea typeface="华文楷体" panose="02010600040101010101" pitchFamily="2" charset="-122"/>
              </a:rPr>
              <a:t>分别是</a:t>
            </a:r>
            <a:r>
              <a:rPr lang="en-US" altLang="ko-KR" sz="1200" dirty="0" err="1">
                <a:solidFill>
                  <a:srgbClr val="002060"/>
                </a:solidFill>
                <a:latin typeface="华文楷体" panose="02010600040101010101" pitchFamily="2" charset="-122"/>
                <a:ea typeface="华文楷体" panose="02010600040101010101" pitchFamily="2" charset="-122"/>
              </a:rPr>
              <a:t>采样点和样本值</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defRPr/>
            </a:pPr>
            <a:r>
              <a:rPr lang="zh-CN" altLang="en-US" sz="1200" b="1" dirty="0">
                <a:solidFill>
                  <a:srgbClr val="FFFF00"/>
                </a:solidFill>
                <a:latin typeface="隶书" panose="02010509060101010101" pitchFamily="49" charset="-122"/>
                <a:ea typeface="隶书" panose="02010509060101010101" pitchFamily="49" charset="-122"/>
              </a:rPr>
              <a:t>函数原型的待定参数</a:t>
            </a:r>
            <a:r>
              <a:rPr lang="en-US" altLang="zh-CN" sz="1200" b="1" dirty="0">
                <a:solidFill>
                  <a:srgbClr val="FFFF00"/>
                </a:solidFill>
                <a:latin typeface="隶书" panose="02010509060101010101" pitchFamily="49" charset="-122"/>
                <a:ea typeface="隶书" panose="02010509060101010101" pitchFamily="49" charset="-122"/>
              </a:rPr>
              <a:t>a</a:t>
            </a:r>
            <a:r>
              <a:rPr lang="zh-CN" altLang="en-US" sz="1200" b="1" dirty="0">
                <a:solidFill>
                  <a:srgbClr val="FFFF00"/>
                </a:solidFill>
                <a:latin typeface="隶书" panose="02010509060101010101" pitchFamily="49" charset="-122"/>
                <a:ea typeface="隶书" panose="02010509060101010101" pitchFamily="49" charset="-122"/>
              </a:rPr>
              <a:t>和</a:t>
            </a:r>
            <a:r>
              <a:rPr lang="en-US" altLang="zh-CN" sz="1200" b="1" dirty="0">
                <a:solidFill>
                  <a:srgbClr val="FFFF00"/>
                </a:solidFill>
                <a:latin typeface="隶书" panose="02010509060101010101" pitchFamily="49" charset="-122"/>
                <a:ea typeface="隶书" panose="02010509060101010101" pitchFamily="49" charset="-122"/>
              </a:rPr>
              <a:t>b</a:t>
            </a:r>
            <a:r>
              <a:rPr lang="zh-CN" altLang="en-US" sz="1200" b="1" dirty="0">
                <a:solidFill>
                  <a:srgbClr val="FFFF00"/>
                </a:solidFill>
                <a:latin typeface="隶书" panose="02010509060101010101" pitchFamily="49" charset="-122"/>
                <a:ea typeface="隶书" panose="02010509060101010101" pitchFamily="49" charset="-122"/>
              </a:rPr>
              <a:t>都是</a:t>
            </a:r>
            <a:r>
              <a:rPr lang="en-US" altLang="zh-CN" sz="1200" b="1" dirty="0">
                <a:solidFill>
                  <a:srgbClr val="FFFF00"/>
                </a:solidFill>
                <a:latin typeface="隶书" panose="02010509060101010101" pitchFamily="49" charset="-122"/>
                <a:ea typeface="隶书" panose="02010509060101010101" pitchFamily="49" charset="-122"/>
              </a:rPr>
              <a:t>1</a:t>
            </a:r>
            <a:r>
              <a:rPr lang="zh-CN" altLang="en-US" sz="1200" b="1" dirty="0">
                <a:solidFill>
                  <a:srgbClr val="FFFF00"/>
                </a:solidFill>
                <a:latin typeface="隶书" panose="02010509060101010101" pitchFamily="49" charset="-122"/>
                <a:ea typeface="隶书" panose="02010509060101010101" pitchFamily="49" charset="-122"/>
              </a:rPr>
              <a:t>次的，即是线性的，拟合就是求解超定线性方程组</a:t>
            </a:r>
            <a:endParaRPr lang="en-US" altLang="zh-CN" sz="1200" b="1" dirty="0">
              <a:solidFill>
                <a:srgbClr val="FFFF00"/>
              </a:solidFill>
              <a:latin typeface="隶书" panose="02010509060101010101" pitchFamily="49" charset="-122"/>
              <a:ea typeface="隶书" panose="02010509060101010101" pitchFamily="49" charset="-122"/>
            </a:endParaRPr>
          </a:p>
          <a:p>
            <a:pPr marL="0" marR="0" lvl="0" indent="0" algn="l" defTabSz="914400" rtl="0" eaLnBrk="1" fontAlgn="base" latinLnBrk="0" hangingPunct="1">
              <a:lnSpc>
                <a:spcPct val="100000"/>
              </a:lnSpc>
              <a:spcBef>
                <a:spcPct val="30000"/>
              </a:spcBef>
              <a:spcAft>
                <a:spcPct val="0"/>
              </a:spcAft>
              <a:buClrTx/>
              <a:buSzTx/>
              <a:buFontTx/>
              <a:buNone/>
              <a:defRPr/>
            </a:pPr>
            <a:endParaRPr lang="en-US" altLang="ko-KR" sz="1200" b="1" dirty="0">
              <a:solidFill>
                <a:srgbClr val="FFFF00"/>
              </a:solidFill>
              <a:latin typeface="隶书" panose="02010509060101010101" pitchFamily="49" charset="-122"/>
              <a:ea typeface="隶书" panose="020105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2000" b="1" i="0" dirty="0">
                <a:solidFill>
                  <a:srgbClr val="111111"/>
                </a:solidFill>
                <a:effectLst/>
                <a:latin typeface="微软雅黑" panose="020B0503020204020204" pitchFamily="34" charset="-122"/>
                <a:ea typeface="微软雅黑" panose="020B0503020204020204" pitchFamily="34" charset="-122"/>
              </a:rPr>
              <a:t>高斯</a:t>
            </a:r>
            <a:r>
              <a:rPr lang="zh-CN" altLang="en-US" sz="2000" b="0" i="0" dirty="0">
                <a:solidFill>
                  <a:srgbClr val="111111"/>
                </a:solidFill>
                <a:effectLst/>
                <a:latin typeface="微软雅黑" panose="020B0503020204020204" pitchFamily="34" charset="-122"/>
                <a:ea typeface="微软雅黑" panose="020B0503020204020204" pitchFamily="34" charset="-122"/>
              </a:rPr>
              <a:t> 使用的方法就是最小二乘法，该方法发表于</a:t>
            </a:r>
            <a:r>
              <a:rPr lang="en-US" altLang="zh-CN" sz="2000" b="0" i="0" dirty="0">
                <a:solidFill>
                  <a:srgbClr val="111111"/>
                </a:solidFill>
                <a:effectLst/>
                <a:latin typeface="微软雅黑" panose="020B0503020204020204" pitchFamily="34" charset="-122"/>
                <a:ea typeface="微软雅黑" panose="020B0503020204020204" pitchFamily="34" charset="-122"/>
              </a:rPr>
              <a:t>1809</a:t>
            </a:r>
            <a:r>
              <a:rPr lang="zh-CN" altLang="en-US" sz="2000" b="0" i="0" dirty="0">
                <a:solidFill>
                  <a:srgbClr val="111111"/>
                </a:solidFill>
                <a:effectLst/>
                <a:latin typeface="微软雅黑" panose="020B0503020204020204" pitchFamily="34" charset="-122"/>
                <a:ea typeface="微软雅黑" panose="020B0503020204020204" pitchFamily="34" charset="-122"/>
              </a:rPr>
              <a:t>年他的著作</a:t>
            </a:r>
            <a:r>
              <a:rPr lang="en-US" altLang="zh-CN" sz="2000" b="0" i="0" dirty="0">
                <a:solidFill>
                  <a:srgbClr val="111111"/>
                </a:solidFill>
                <a:effectLst/>
                <a:latin typeface="微软雅黑" panose="020B0503020204020204" pitchFamily="34" charset="-122"/>
                <a:ea typeface="微软雅黑" panose="020B0503020204020204" pitchFamily="34" charset="-122"/>
              </a:rPr>
              <a:t>《</a:t>
            </a:r>
            <a:r>
              <a:rPr lang="zh-CN" altLang="en-US" sz="2000" b="0" i="0" dirty="0">
                <a:solidFill>
                  <a:srgbClr val="111111"/>
                </a:solidFill>
                <a:effectLst/>
                <a:latin typeface="微软雅黑" panose="020B0503020204020204" pitchFamily="34" charset="-122"/>
                <a:ea typeface="微软雅黑" panose="020B0503020204020204" pitchFamily="34" charset="-122"/>
              </a:rPr>
              <a:t>天体运动论</a:t>
            </a:r>
            <a:r>
              <a:rPr lang="en-US" altLang="zh-CN" sz="2000" b="0" i="0" dirty="0">
                <a:solidFill>
                  <a:srgbClr val="111111"/>
                </a:solidFill>
                <a:effectLst/>
                <a:latin typeface="微软雅黑" panose="020B0503020204020204" pitchFamily="34" charset="-122"/>
                <a:ea typeface="微软雅黑" panose="020B0503020204020204" pitchFamily="34" charset="-122"/>
              </a:rPr>
              <a:t>》</a:t>
            </a:r>
            <a:r>
              <a:rPr lang="zh-CN" altLang="en-US" sz="2000" b="0" i="0" dirty="0">
                <a:solidFill>
                  <a:srgbClr val="111111"/>
                </a:solidFill>
                <a:effectLst/>
                <a:latin typeface="微软雅黑" panose="020B0503020204020204" pitchFamily="34" charset="-122"/>
                <a:ea typeface="微软雅黑" panose="020B0503020204020204" pitchFamily="34" charset="-122"/>
              </a:rPr>
              <a:t>中 。 其实法国科学家 勒让德 于</a:t>
            </a:r>
            <a:r>
              <a:rPr lang="en-US" altLang="zh-CN" sz="2000" b="0" i="0" dirty="0">
                <a:solidFill>
                  <a:srgbClr val="111111"/>
                </a:solidFill>
                <a:effectLst/>
                <a:latin typeface="微软雅黑" panose="020B0503020204020204" pitchFamily="34" charset="-122"/>
                <a:ea typeface="微软雅黑" panose="020B0503020204020204" pitchFamily="34" charset="-122"/>
              </a:rPr>
              <a:t>1806</a:t>
            </a:r>
            <a:r>
              <a:rPr lang="zh-CN" altLang="en-US" sz="2000" b="0" i="0" dirty="0">
                <a:solidFill>
                  <a:srgbClr val="111111"/>
                </a:solidFill>
                <a:effectLst/>
                <a:latin typeface="微软雅黑" panose="020B0503020204020204" pitchFamily="34" charset="-122"/>
                <a:ea typeface="微软雅黑" panose="020B0503020204020204" pitchFamily="34" charset="-122"/>
              </a:rPr>
              <a:t>年独立发明“最小二乘法”，但因不为世人所知而默默无闻 。 </a:t>
            </a:r>
            <a:r>
              <a:rPr lang="en-US" altLang="zh-CN" sz="2000" b="0" i="0" dirty="0">
                <a:solidFill>
                  <a:srgbClr val="111111"/>
                </a:solidFill>
                <a:effectLst/>
                <a:latin typeface="微软雅黑" panose="020B0503020204020204" pitchFamily="34" charset="-122"/>
                <a:ea typeface="微软雅黑" panose="020B0503020204020204" pitchFamily="34" charset="-122"/>
              </a:rPr>
              <a:t>1829</a:t>
            </a:r>
            <a:r>
              <a:rPr lang="zh-CN" altLang="en-US" sz="2000" b="0" i="0" dirty="0">
                <a:solidFill>
                  <a:srgbClr val="111111"/>
                </a:solidFill>
                <a:effectLst/>
                <a:latin typeface="微软雅黑" panose="020B0503020204020204" pitchFamily="34" charset="-122"/>
                <a:ea typeface="微软雅黑" panose="020B0503020204020204" pitchFamily="34" charset="-122"/>
              </a:rPr>
              <a:t>年，高斯提供了最小二乘法的优化效果强于其他方法的证明 。</a:t>
            </a:r>
            <a:endParaRPr lang="en-US" altLang="zh-CN" sz="2000" b="0" i="0" dirty="0">
              <a:solidFill>
                <a:srgbClr val="11111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2000" b="1" i="0" dirty="0">
                <a:solidFill>
                  <a:srgbClr val="555555"/>
                </a:solidFill>
                <a:effectLst/>
                <a:latin typeface="PingFangSC"/>
              </a:rPr>
              <a:t>1. </a:t>
            </a:r>
            <a:r>
              <a:rPr lang="zh-CN" altLang="en-US" sz="2000" b="1" i="0" dirty="0">
                <a:solidFill>
                  <a:srgbClr val="555555"/>
                </a:solidFill>
                <a:effectLst/>
                <a:latin typeface="PingFangSC"/>
              </a:rPr>
              <a:t>曲线拟合的算法有哪些常用的方法？</a:t>
            </a:r>
            <a:br>
              <a:rPr lang="zh-CN" altLang="en-US" sz="2000" dirty="0"/>
            </a:br>
            <a:r>
              <a:rPr lang="zh-CN" altLang="en-US" sz="2000" b="0" i="0" dirty="0">
                <a:solidFill>
                  <a:srgbClr val="555555"/>
                </a:solidFill>
                <a:effectLst/>
                <a:latin typeface="PingFangSC"/>
              </a:rPr>
              <a:t>曲线拟合可以使用多种算法，常见的方法包括最小二乘法、非线性最小二乘法、多项式拟合、样条插值等。这些方法可以根据数据的特点和拟合的目标选择适合的算法。</a:t>
            </a:r>
            <a:endParaRPr lang="en-US" altLang="zh-CN" sz="2000" dirty="0"/>
          </a:p>
          <a:p>
            <a:pPr algn="l"/>
            <a:endParaRPr lang="zh-CN" altLang="en-US" sz="2000" b="0" i="0" dirty="0">
              <a:solidFill>
                <a:srgbClr val="111111"/>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400" dirty="0">
              <a:solidFill>
                <a:srgbClr val="FFFF00"/>
              </a:solidFill>
              <a:highlight>
                <a:srgbClr val="FF0000"/>
              </a:highlight>
              <a:latin typeface="隶书" panose="02010509060101010101" pitchFamily="49" charset="-122"/>
              <a:ea typeface="隶书" panose="020105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2000" b="0" i="0" dirty="0">
                <a:solidFill>
                  <a:srgbClr val="333333"/>
                </a:solidFill>
                <a:effectLst/>
                <a:latin typeface="Helvetica Neue"/>
              </a:rPr>
              <a:t>要借助求解</a:t>
            </a:r>
            <a:r>
              <a:rPr lang="zh-CN" altLang="en-US" sz="2000" b="0" i="0" u="none" strike="noStrike" dirty="0">
                <a:solidFill>
                  <a:srgbClr val="136EC2"/>
                </a:solidFill>
                <a:effectLst/>
                <a:latin typeface="Helvetica Neue"/>
                <a:hlinkClick r:id="rId3"/>
              </a:rPr>
              <a:t>非线性方程</a:t>
            </a:r>
            <a:r>
              <a:rPr lang="zh-CN" altLang="en-US" sz="2000" b="0" i="0" dirty="0">
                <a:solidFill>
                  <a:srgbClr val="333333"/>
                </a:solidFill>
                <a:effectLst/>
                <a:latin typeface="Helvetica Neue"/>
              </a:rPr>
              <a:t>组或用最优化方法求得所需参数才能得到拟合曲线，有时称之为非线性</a:t>
            </a:r>
            <a:r>
              <a:rPr lang="zh-CN" altLang="en-US" sz="2000" b="0" i="0" u="sng" dirty="0">
                <a:solidFill>
                  <a:srgbClr val="136EC2"/>
                </a:solidFill>
                <a:effectLst/>
                <a:latin typeface="Helvetica Neue"/>
                <a:hlinkClick r:id="rId4"/>
              </a:rPr>
              <a:t>最小二乘拟合</a:t>
            </a:r>
            <a:endParaRPr lang="en-US" altLang="zh-CN" sz="1400" dirty="0">
              <a:solidFill>
                <a:srgbClr val="FFFF00"/>
              </a:solidFill>
              <a:highlight>
                <a:srgbClr val="FF0000"/>
              </a:highlight>
              <a:latin typeface="隶书" panose="02010509060101010101" pitchFamily="49" charset="-122"/>
              <a:ea typeface="隶书" panose="02010509060101010101" pitchFamily="49"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400" dirty="0">
                <a:solidFill>
                  <a:srgbClr val="FFFF00"/>
                </a:solidFill>
                <a:highlight>
                  <a:srgbClr val="FF0000"/>
                </a:highlight>
                <a:latin typeface="隶书" panose="02010509060101010101" pitchFamily="49" charset="-122"/>
                <a:ea typeface="隶书" panose="02010509060101010101" pitchFamily="49" charset="-122"/>
              </a:rPr>
              <a:t>如果</a:t>
            </a:r>
            <a:r>
              <a:rPr lang="en-US" altLang="ko-KR" sz="1400" dirty="0" err="1">
                <a:solidFill>
                  <a:srgbClr val="FFFF00"/>
                </a:solidFill>
                <a:highlight>
                  <a:srgbClr val="FF0000"/>
                </a:highlight>
                <a:latin typeface="隶书" panose="02010509060101010101" pitchFamily="49" charset="-122"/>
                <a:ea typeface="隶书" panose="02010509060101010101" pitchFamily="49" charset="-122"/>
              </a:rPr>
              <a:t>yi</a:t>
            </a:r>
            <a:r>
              <a:rPr lang="en-US" altLang="ko-KR" sz="1400" dirty="0">
                <a:solidFill>
                  <a:srgbClr val="FFFF00"/>
                </a:solidFill>
                <a:highlight>
                  <a:srgbClr val="FF0000"/>
                </a:highlight>
                <a:latin typeface="隶书" panose="02010509060101010101" pitchFamily="49" charset="-122"/>
                <a:ea typeface="隶书" panose="02010509060101010101" pitchFamily="49" charset="-122"/>
              </a:rPr>
              <a:t>(</a:t>
            </a:r>
            <a:r>
              <a:rPr lang="en-US" altLang="ko-KR" sz="1400" dirty="0" err="1">
                <a:solidFill>
                  <a:srgbClr val="FFFF00"/>
                </a:solidFill>
                <a:highlight>
                  <a:srgbClr val="FF0000"/>
                </a:highlight>
                <a:latin typeface="隶书" panose="02010509060101010101" pitchFamily="49" charset="-122"/>
                <a:ea typeface="隶书" panose="02010509060101010101" pitchFamily="49" charset="-122"/>
              </a:rPr>
              <a:t>a,xi</a:t>
            </a:r>
            <a:r>
              <a:rPr lang="en-US" altLang="ko-KR" sz="1400" dirty="0">
                <a:solidFill>
                  <a:srgbClr val="FFFF00"/>
                </a:solidFill>
                <a:highlight>
                  <a:srgbClr val="FF0000"/>
                </a:highlight>
                <a:latin typeface="隶书" panose="02010509060101010101" pitchFamily="49" charset="-122"/>
                <a:ea typeface="隶书" panose="02010509060101010101" pitchFamily="49" charset="-122"/>
              </a:rPr>
              <a:t>)=</a:t>
            </a:r>
            <a:r>
              <a:rPr lang="en-US" altLang="zh-CN" sz="1400" dirty="0" err="1">
                <a:solidFill>
                  <a:srgbClr val="FFFF00"/>
                </a:solidFill>
                <a:highlight>
                  <a:srgbClr val="FF0000"/>
                </a:highlight>
                <a:latin typeface="隶书" panose="02010509060101010101" pitchFamily="49" charset="-122"/>
                <a:ea typeface="隶书" panose="02010509060101010101" pitchFamily="49" charset="-122"/>
              </a:rPr>
              <a:t>yi</a:t>
            </a:r>
            <a:r>
              <a:rPr lang="zh-CN" altLang="en-US"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时</a:t>
            </a:r>
            <a:r>
              <a:rPr lang="en-US" altLang="zh-CN"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a:t>
            </a:r>
            <a:r>
              <a:rPr lang="zh-CN" altLang="en-US"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即所有的估计值和观测值相等，意味拟合曲线</a:t>
            </a:r>
            <a:r>
              <a:rPr lang="en-US" altLang="ko-KR"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y(xi)</a:t>
            </a:r>
            <a:r>
              <a:rPr lang="zh-CN" altLang="en-US"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经过全部实验点</a:t>
            </a:r>
            <a:r>
              <a:rPr lang="en-US" altLang="zh-CN" kern="0" dirty="0" err="1">
                <a:solidFill>
                  <a:srgbClr val="00B0F0"/>
                </a:solidFill>
                <a:latin typeface="Times New Roman" panose="02020603050405020304" pitchFamily="18" charset="0"/>
                <a:ea typeface="隶书" panose="02010509060101010101" pitchFamily="49" charset="-122"/>
                <a:cs typeface="Times New Roman" panose="02020603050405020304" pitchFamily="18" charset="0"/>
              </a:rPr>
              <a:t>yi</a:t>
            </a:r>
            <a:r>
              <a:rPr lang="zh-CN" altLang="en-US"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，残差</a:t>
            </a:r>
            <a:r>
              <a:rPr lang="en-US" altLang="ko-KR" kern="0" dirty="0" err="1">
                <a:solidFill>
                  <a:srgbClr val="00B0F0"/>
                </a:solidFill>
                <a:latin typeface="Times New Roman" panose="02020603050405020304" pitchFamily="18" charset="0"/>
                <a:ea typeface="隶书" panose="02010509060101010101" pitchFamily="49" charset="-122"/>
                <a:cs typeface="Times New Roman" panose="02020603050405020304" pitchFamily="18" charset="0"/>
              </a:rPr>
              <a:t>平方和最小</a:t>
            </a:r>
            <a:r>
              <a:rPr lang="zh-CN" altLang="en-US"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值为</a:t>
            </a:r>
            <a:r>
              <a:rPr lang="en-US" altLang="zh-CN" kern="0" dirty="0">
                <a:solidFill>
                  <a:srgbClr val="00B0F0"/>
                </a:solidFill>
                <a:latin typeface="Times New Roman" panose="02020603050405020304" pitchFamily="18" charset="0"/>
                <a:ea typeface="隶书" panose="02010509060101010101" pitchFamily="49" charset="-122"/>
                <a:cs typeface="Times New Roman" panose="02020603050405020304" pitchFamily="18" charset="0"/>
              </a:rPr>
              <a:t>0,</a:t>
            </a:r>
            <a:r>
              <a:rPr lang="zh-CN" altLang="en-US" b="1" kern="0" dirty="0">
                <a:solidFill>
                  <a:srgbClr val="FFFF00"/>
                </a:solidFill>
                <a:highlight>
                  <a:srgbClr val="FF0000"/>
                </a:highlight>
                <a:latin typeface="Times New Roman" panose="02020603050405020304" pitchFamily="18" charset="0"/>
                <a:ea typeface="隶书" panose="02010509060101010101" pitchFamily="49" charset="-122"/>
                <a:cs typeface="Times New Roman" panose="02020603050405020304" pitchFamily="18" charset="0"/>
              </a:rPr>
              <a:t>拟合效果最好吗</a:t>
            </a:r>
            <a:r>
              <a:rPr lang="en-US" altLang="zh-CN" b="1" kern="0" dirty="0">
                <a:solidFill>
                  <a:srgbClr val="FFFF00"/>
                </a:solidFill>
                <a:highlight>
                  <a:srgbClr val="FF0000"/>
                </a:highlight>
                <a:latin typeface="Times New Roman" panose="02020603050405020304" pitchFamily="18" charset="0"/>
                <a:ea typeface="隶书" panose="02010509060101010101" pitchFamily="49" charset="-122"/>
                <a:cs typeface="Times New Roman" panose="02020603050405020304" pitchFamily="18" charset="0"/>
              </a:rPr>
              <a:t>?</a:t>
            </a:r>
            <a:r>
              <a:rPr lang="zh-CN" altLang="en-US" b="1" kern="0" dirty="0">
                <a:solidFill>
                  <a:srgbClr val="FFFF00"/>
                </a:solidFill>
                <a:highlight>
                  <a:srgbClr val="FF0000"/>
                </a:highlight>
                <a:latin typeface="Times New Roman" panose="02020603050405020304" pitchFamily="18" charset="0"/>
                <a:ea typeface="隶书" panose="02010509060101010101" pitchFamily="49" charset="-122"/>
                <a:cs typeface="Times New Roman" panose="02020603050405020304" pitchFamily="18" charset="0"/>
              </a:rPr>
              <a:t>？</a:t>
            </a:r>
            <a:endParaRPr lang="en-US" altLang="zh-CN" b="1" kern="0" dirty="0">
              <a:solidFill>
                <a:srgbClr val="FFFF00"/>
              </a:solidFill>
              <a:highlight>
                <a:srgbClr val="FF0000"/>
              </a:highligh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1" kern="0" dirty="0">
              <a:solidFill>
                <a:srgbClr val="FFFF00"/>
              </a:solidFill>
              <a:highlight>
                <a:srgbClr val="FF0000"/>
              </a:highlight>
              <a:latin typeface="Times New Roman" panose="02020603050405020304" pitchFamily="18" charset="0"/>
              <a:ea typeface="隶书" panose="020105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err="1"/>
              <a:t>nlinfit</a:t>
            </a:r>
            <a:r>
              <a:rPr lang="zh-CN" altLang="en-US" dirty="0"/>
              <a:t>与</a:t>
            </a:r>
            <a:r>
              <a:rPr lang="en-US" altLang="zh-CN" dirty="0" err="1"/>
              <a:t>lsqcurvefit</a:t>
            </a:r>
            <a:r>
              <a:rPr lang="zh-CN" altLang="en-US" dirty="0"/>
              <a:t>同属与非线性最小二乘拟和</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b="1" kern="0" dirty="0">
              <a:solidFill>
                <a:srgbClr val="FFFF00"/>
              </a:solidFill>
              <a:highlight>
                <a:srgbClr val="FF0000"/>
              </a:highlight>
              <a:latin typeface="Times New Roman" panose="02020603050405020304" pitchFamily="18" charset="0"/>
              <a:ea typeface="隶书" panose="02010509060101010101" pitchFamily="49"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111111"/>
                </a:solidFill>
                <a:effectLst/>
                <a:latin typeface="Arial" panose="020B0604020202020204" pitchFamily="34" charset="0"/>
              </a:rPr>
              <a:t>泰勒级数展开</a:t>
            </a:r>
            <a:r>
              <a:rPr lang="zh-CN" altLang="en-US" b="0" i="0" dirty="0">
                <a:solidFill>
                  <a:srgbClr val="111111"/>
                </a:solidFill>
                <a:effectLst/>
                <a:latin typeface="Arial" panose="020B0604020202020204" pitchFamily="34" charset="0"/>
              </a:rPr>
              <a:t>是用一个</a:t>
            </a:r>
            <a:r>
              <a:rPr lang="zh-CN" altLang="en-US" b="1" i="0" dirty="0">
                <a:solidFill>
                  <a:srgbClr val="111111"/>
                </a:solidFill>
                <a:effectLst/>
                <a:latin typeface="Arial" panose="020B0604020202020204" pitchFamily="34" charset="0"/>
              </a:rPr>
              <a:t>多项式</a:t>
            </a:r>
            <a:r>
              <a:rPr lang="zh-CN" altLang="en-US" b="0" i="0" dirty="0">
                <a:solidFill>
                  <a:srgbClr val="111111"/>
                </a:solidFill>
                <a:effectLst/>
                <a:latin typeface="Arial" panose="020B0604020202020204" pitchFamily="34" charset="0"/>
              </a:rPr>
              <a:t>函数来拟合一个复杂函数</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a:t>
            </a:r>
            <a:r>
              <a:rPr lang="en-US" altLang="zh-CN" dirty="0" err="1">
                <a:solidFill>
                  <a:srgbClr val="999999"/>
                </a:solidFill>
                <a:effectLst/>
              </a:rPr>
              <a:t>,</a:t>
            </a:r>
            <a:r>
              <a:rPr lang="en-US" altLang="zh-CN" dirty="0" err="1"/>
              <a:t>S</a:t>
            </a:r>
            <a:r>
              <a:rPr lang="en-US" altLang="zh-CN" dirty="0" err="1">
                <a:solidFill>
                  <a:srgbClr val="999999"/>
                </a:solidFill>
                <a:effectLst/>
              </a:rPr>
              <a:t>,</a:t>
            </a:r>
            <a:r>
              <a:rPr lang="en-US" altLang="zh-CN" dirty="0" err="1"/>
              <a:t>mu</a:t>
            </a:r>
            <a:r>
              <a:rPr lang="en-US" altLang="zh-CN" dirty="0">
                <a:solidFill>
                  <a:srgbClr val="6BAB5B"/>
                </a:solidFill>
                <a:effectLst/>
              </a:rPr>
              <a:t>=</a:t>
            </a:r>
            <a:r>
              <a:rPr lang="en-US" altLang="zh-CN" dirty="0" err="1"/>
              <a:t>polyfit</a:t>
            </a:r>
            <a:r>
              <a:rPr lang="en-US" altLang="zh-CN" dirty="0">
                <a:solidFill>
                  <a:srgbClr val="999999"/>
                </a:solidFill>
                <a:effectLst/>
              </a:rPr>
              <a:t>(</a:t>
            </a:r>
            <a:r>
              <a:rPr lang="en-US" altLang="zh-CN" dirty="0" err="1"/>
              <a:t>x</a:t>
            </a:r>
            <a:r>
              <a:rPr lang="en-US" altLang="zh-CN" dirty="0" err="1">
                <a:solidFill>
                  <a:srgbClr val="999999"/>
                </a:solidFill>
                <a:effectLst/>
              </a:rPr>
              <a:t>,</a:t>
            </a:r>
            <a:r>
              <a:rPr lang="en-US" altLang="zh-CN" dirty="0" err="1"/>
              <a:t>y</a:t>
            </a:r>
            <a:r>
              <a:rPr lang="en-US" altLang="zh-CN" dirty="0" err="1">
                <a:solidFill>
                  <a:srgbClr val="999999"/>
                </a:solidFill>
                <a:effectLst/>
              </a:rPr>
              <a:t>,</a:t>
            </a:r>
            <a:r>
              <a:rPr lang="en-US" altLang="zh-CN" dirty="0" err="1"/>
              <a:t>n</a:t>
            </a:r>
            <a:r>
              <a:rPr lang="en-US" altLang="zh-CN" dirty="0" err="1">
                <a:solidFill>
                  <a:srgbClr val="999999"/>
                </a:solidFill>
                <a:effectLst/>
              </a:rPr>
              <a:t>;</a:t>
            </a:r>
            <a:r>
              <a:rPr lang="en-US" altLang="zh-CN" dirty="0" err="1"/>
              <a:t>normalize</a:t>
            </a:r>
            <a:r>
              <a:rPr lang="en-US" altLang="zh-CN" dirty="0">
                <a:solidFill>
                  <a:srgbClr val="6BAB5B"/>
                </a:solidFill>
                <a:effectLst/>
              </a:rPr>
              <a:t>=</a:t>
            </a:r>
            <a:r>
              <a:rPr lang="en-US" altLang="zh-CN" dirty="0">
                <a:solidFill>
                  <a:srgbClr val="4266D5"/>
                </a:solidFill>
                <a:effectLst/>
              </a:rPr>
              <a:t>false</a:t>
            </a:r>
            <a:r>
              <a:rPr lang="en-US" altLang="zh-CN" dirty="0">
                <a:solidFill>
                  <a:srgbClr val="999999"/>
                </a:solidFill>
                <a:effectLst/>
              </a:rPr>
              <a:t>)</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40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85</a:t>
            </a:r>
            <a:r>
              <a:rPr lang="en-US" altLang="zh-CN" b="0" dirty="0">
                <a:solidFill>
                  <a:srgbClr val="000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 </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y=[</a:t>
            </a:r>
            <a:r>
              <a:rPr lang="en-US" altLang="zh-CN" b="0" dirty="0">
                <a:solidFill>
                  <a:srgbClr val="098658"/>
                </a:solidFill>
                <a:effectLst/>
                <a:latin typeface="Consolas" panose="020B0609020204030204" pitchFamily="49" charset="0"/>
              </a:rPr>
              <a:t>0.3943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0.3809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0.3705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0.3587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0.3455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0.3331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0.3193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0.3049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0.2909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0.2771</a:t>
            </a:r>
            <a:r>
              <a:rPr lang="en-US" altLang="zh-CN" b="0" dirty="0">
                <a:solidFill>
                  <a:srgbClr val="000000"/>
                </a:solidFill>
                <a:effectLst/>
                <a:latin typeface="Consolas" panose="020B0609020204030204" pitchFamily="49" charset="0"/>
              </a:rPr>
              <a:t>];</a:t>
            </a:r>
            <a:endParaRPr lang="en-US" altLang="zh-CN" b="0" dirty="0">
              <a:solidFill>
                <a:srgbClr val="008000"/>
              </a:solidFill>
              <a:effectLst/>
              <a:latin typeface="Consolas" panose="020B0609020204030204" pitchFamily="49" charset="0"/>
            </a:endParaRPr>
          </a:p>
          <a:p>
            <a:endParaRPr lang="en-US" altLang="zh-CN" b="0" dirty="0">
              <a:solidFill>
                <a:srgbClr val="008000"/>
              </a:solidFill>
              <a:effectLst/>
              <a:latin typeface="Consolas" panose="020B0609020204030204" pitchFamily="49" charset="0"/>
            </a:endParaRPr>
          </a:p>
          <a:p>
            <a:pPr>
              <a:lnSpc>
                <a:spcPts val="2200"/>
              </a:lnSpc>
            </a:pPr>
            <a:r>
              <a:rPr lang="en-US" altLang="zh-CN" sz="1200" b="0" dirty="0">
                <a:solidFill>
                  <a:srgbClr val="000000"/>
                </a:solidFill>
                <a:effectLst/>
                <a:latin typeface="Consolas" panose="020B0609020204030204" pitchFamily="49" charset="0"/>
              </a:rPr>
              <a:t>x=[</a:t>
            </a:r>
            <a:r>
              <a:rPr lang="en-US" altLang="zh-CN" sz="1200" b="0" dirty="0">
                <a:solidFill>
                  <a:srgbClr val="098658"/>
                </a:solidFill>
                <a:effectLst/>
                <a:latin typeface="Consolas" panose="020B0609020204030204" pitchFamily="49" charset="0"/>
              </a:rPr>
              <a:t>40</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45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50</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55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60</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65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70</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75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80</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85</a:t>
            </a:r>
            <a:r>
              <a:rPr lang="en-US" altLang="zh-CN" sz="1200" b="0" dirty="0">
                <a:solidFill>
                  <a:srgbClr val="000000"/>
                </a:solidFill>
                <a:effectLst/>
                <a:latin typeface="Consolas" panose="020B0609020204030204" pitchFamily="49" charset="0"/>
              </a:rPr>
              <a:t>];</a:t>
            </a:r>
            <a:endParaRPr lang="zh-CN" altLang="en-US" sz="1200" b="0" dirty="0">
              <a:solidFill>
                <a:srgbClr val="000000"/>
              </a:solidFill>
              <a:effectLst/>
              <a:latin typeface="Consolas" panose="020B0609020204030204" pitchFamily="49" charset="0"/>
            </a:endParaRPr>
          </a:p>
          <a:p>
            <a:pPr>
              <a:lnSpc>
                <a:spcPts val="2200"/>
              </a:lnSpc>
            </a:pPr>
            <a:r>
              <a:rPr lang="en-US" altLang="zh-CN" sz="1200" b="0" dirty="0">
                <a:solidFill>
                  <a:srgbClr val="000000"/>
                </a:solidFill>
                <a:effectLst/>
                <a:latin typeface="Consolas" panose="020B0609020204030204" pitchFamily="49" charset="0"/>
              </a:rPr>
              <a:t>y=[</a:t>
            </a:r>
            <a:r>
              <a:rPr lang="en-US" altLang="zh-CN" sz="1200" b="0" dirty="0">
                <a:solidFill>
                  <a:srgbClr val="098658"/>
                </a:solidFill>
                <a:effectLst/>
                <a:latin typeface="Consolas" panose="020B0609020204030204" pitchFamily="49" charset="0"/>
              </a:rPr>
              <a:t>0.3943</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0.3809</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0.3705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0.3587</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0.3455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0.3331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0.3193</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0.3049</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0.2909</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0.2771</a:t>
            </a:r>
            <a:r>
              <a:rPr lang="en-US" altLang="zh-CN" sz="1200" b="0" dirty="0">
                <a:solidFill>
                  <a:srgbClr val="000000"/>
                </a:solidFill>
                <a:effectLst/>
                <a:latin typeface="Consolas" panose="020B0609020204030204" pitchFamily="49" charset="0"/>
              </a:rPr>
              <a:t>];</a:t>
            </a:r>
          </a:p>
          <a:p>
            <a:endParaRPr lang="zh-CN" altLang="en-US"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0" dirty="0">
              <a:solidFill>
                <a:srgbClr val="000000"/>
              </a:solidFill>
              <a:effectLst/>
              <a:latin typeface="Consolas" panose="020B0609020204030204" pitchFamily="49"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0" dirty="0">
                <a:solidFill>
                  <a:srgbClr val="000000"/>
                </a:solidFill>
                <a:effectLst/>
                <a:latin typeface="Consolas" panose="020B0609020204030204" pitchFamily="49" charset="0"/>
              </a:rPr>
              <a:t>h = </a:t>
            </a:r>
            <a:r>
              <a:rPr lang="en-US" altLang="zh-CN" b="0" dirty="0" err="1">
                <a:solidFill>
                  <a:srgbClr val="795E26"/>
                </a:solidFill>
                <a:effectLst/>
                <a:latin typeface="Consolas" panose="020B0609020204030204" pitchFamily="49" charset="0"/>
              </a:rPr>
              <a:t>refcurve</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yi</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绘制线性拟合图</a:t>
            </a:r>
            <a:endParaRPr lang="zh-CN" altLang="en-US"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dirty="0">
                <a:solidFill>
                  <a:srgbClr val="444444"/>
                </a:solidFill>
                <a:latin typeface="微软雅黑" panose="020B0503020204020204" pitchFamily="34" charset="-122"/>
                <a:ea typeface="微软雅黑" panose="020B0503020204020204" pitchFamily="34" charset="-122"/>
                <a:sym typeface="+mn-ea"/>
              </a:rPr>
              <a:t>均方根误差</a:t>
            </a:r>
            <a:r>
              <a:rPr lang="en-US" altLang="zh-CN" b="1" dirty="0">
                <a:solidFill>
                  <a:srgbClr val="FF0000"/>
                </a:solidFill>
                <a:latin typeface="微软雅黑" panose="020B0503020204020204" pitchFamily="34" charset="-122"/>
                <a:ea typeface="微软雅黑" panose="020B0503020204020204" pitchFamily="34" charset="-122"/>
                <a:sym typeface="+mn-ea"/>
              </a:rPr>
              <a:t>R</a:t>
            </a:r>
            <a:r>
              <a:rPr lang="en-US" altLang="zh-CN"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M</a:t>
            </a:r>
            <a:r>
              <a:rPr lang="en-US" altLang="ko-KR"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SE</a:t>
            </a:r>
            <a:endParaRPr lang="ko-KR" altLang="en-US" dirty="0">
              <a:solidFill>
                <a:srgbClr val="333333"/>
              </a:solidFill>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16</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40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85</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温度 </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y=[</a:t>
            </a:r>
            <a:r>
              <a:rPr lang="en-US" altLang="zh-CN" b="0" dirty="0">
                <a:solidFill>
                  <a:srgbClr val="098658"/>
                </a:solidFill>
                <a:effectLst/>
                <a:latin typeface="Consolas" panose="020B0609020204030204" pitchFamily="49" charset="0"/>
              </a:rPr>
              <a:t>0.3943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0.3809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0.3705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0.3587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0.3455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0.3331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0.3193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0.3049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0.2909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0.2771</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scatter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散点图</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温度</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压降</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hold</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f1=</a:t>
            </a:r>
            <a:r>
              <a:rPr lang="en-US" altLang="zh-CN" b="0" dirty="0" err="1">
                <a:solidFill>
                  <a:srgbClr val="000000"/>
                </a:solidFill>
                <a:effectLst/>
                <a:latin typeface="Consolas" panose="020B0609020204030204" pitchFamily="49" charset="0"/>
              </a:rPr>
              <a:t>TyCurveFitting.</a:t>
            </a:r>
            <a:r>
              <a:rPr lang="en-US" altLang="zh-CN" b="0" dirty="0" err="1">
                <a:solidFill>
                  <a:srgbClr val="795E26"/>
                </a:solidFill>
                <a:effectLst/>
                <a:latin typeface="Consolas" panose="020B0609020204030204" pitchFamily="49" charset="0"/>
              </a:rPr>
              <a:t>fit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"poly1"</a:t>
            </a:r>
            <a:r>
              <a:rPr lang="en-US" altLang="zh-CN" b="0" dirty="0">
                <a:solidFill>
                  <a:srgbClr val="000000"/>
                </a:solidFill>
                <a:effectLst/>
                <a:latin typeface="Consolas" panose="020B0609020204030204" pitchFamily="49" charset="0"/>
              </a:rPr>
              <a:t>,x,y);  </a:t>
            </a:r>
          </a:p>
          <a:p>
            <a:r>
              <a:rPr lang="en-US" altLang="zh-CN" b="0" dirty="0" err="1">
                <a:solidFill>
                  <a:srgbClr val="795E26"/>
                </a:solidFill>
                <a:effectLst/>
                <a:latin typeface="Consolas" panose="020B0609020204030204" pitchFamily="49" charset="0"/>
              </a:rPr>
              <a:t>xlim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120</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plotfit</a:t>
            </a:r>
            <a:r>
              <a:rPr lang="en-US" altLang="zh-CN" b="0" dirty="0">
                <a:solidFill>
                  <a:srgbClr val="000000"/>
                </a:solidFill>
                <a:effectLst/>
                <a:latin typeface="Consolas" panose="020B0609020204030204" pitchFamily="49" charset="0"/>
              </a:rPr>
              <a:t>(f1,</a:t>
            </a:r>
            <a:r>
              <a:rPr lang="en-US" altLang="zh-CN" b="0" dirty="0">
                <a:solidFill>
                  <a:srgbClr val="A31515"/>
                </a:solidFill>
                <a:effectLst/>
                <a:latin typeface="Consolas" panose="020B0609020204030204" pitchFamily="49" charset="0"/>
              </a:rPr>
              <a:t>"predfun"</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f5=</a:t>
            </a:r>
            <a:r>
              <a:rPr lang="en-US" altLang="zh-CN" b="0" dirty="0" err="1">
                <a:solidFill>
                  <a:srgbClr val="000000"/>
                </a:solidFill>
                <a:effectLst/>
                <a:latin typeface="Consolas" panose="020B0609020204030204" pitchFamily="49" charset="0"/>
              </a:rPr>
              <a:t>TyCurveFitting.</a:t>
            </a:r>
            <a:r>
              <a:rPr lang="en-US" altLang="zh-CN" b="0" dirty="0" err="1">
                <a:solidFill>
                  <a:srgbClr val="795E26"/>
                </a:solidFill>
                <a:effectLst/>
                <a:latin typeface="Consolas" panose="020B0609020204030204" pitchFamily="49" charset="0"/>
              </a:rPr>
              <a:t>fit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"poly5"</a:t>
            </a:r>
            <a:r>
              <a:rPr lang="en-US" altLang="zh-CN" b="0" dirty="0">
                <a:solidFill>
                  <a:srgbClr val="000000"/>
                </a:solidFill>
                <a:effectLst/>
                <a:latin typeface="Consolas" panose="020B0609020204030204" pitchFamily="49" charset="0"/>
              </a:rPr>
              <a:t>,x,y);  </a:t>
            </a:r>
          </a:p>
          <a:p>
            <a:r>
              <a:rPr lang="en-US" altLang="zh-CN" b="0" dirty="0" err="1">
                <a:solidFill>
                  <a:srgbClr val="795E26"/>
                </a:solidFill>
                <a:effectLst/>
                <a:latin typeface="Consolas" panose="020B0609020204030204" pitchFamily="49" charset="0"/>
              </a:rPr>
              <a:t>xlim</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120</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plotfit</a:t>
            </a:r>
            <a:r>
              <a:rPr lang="en-US" altLang="zh-CN" b="0" dirty="0">
                <a:solidFill>
                  <a:srgbClr val="000000"/>
                </a:solidFill>
                <a:effectLst/>
                <a:latin typeface="Consolas" panose="020B0609020204030204" pitchFamily="49" charset="0"/>
              </a:rPr>
              <a:t>(f5,</a:t>
            </a:r>
            <a:r>
              <a:rPr lang="en-US" altLang="zh-CN" b="0" dirty="0">
                <a:solidFill>
                  <a:srgbClr val="A31515"/>
                </a:solidFill>
                <a:effectLst/>
                <a:latin typeface="Consolas" panose="020B0609020204030204" pitchFamily="49" charset="0"/>
              </a:rPr>
              <a:t>"predfun"</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legend</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原始数据</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线性拟合</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"5</a:t>
            </a:r>
            <a:r>
              <a:rPr lang="zh-CN" altLang="en-US" b="0" dirty="0">
                <a:solidFill>
                  <a:srgbClr val="A31515"/>
                </a:solidFill>
                <a:effectLst/>
                <a:latin typeface="Consolas" panose="020B0609020204030204" pitchFamily="49" charset="0"/>
              </a:rPr>
              <a:t>次拟合</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17</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数据噪音</a:t>
            </a:r>
            <a:endParaRPr lang="en-US" altLang="zh-CN" dirty="0"/>
          </a:p>
          <a:p>
            <a:r>
              <a:rPr lang="zh-CN" altLang="en-US" b="0" i="0" u="none" strike="noStrike">
                <a:effectLst/>
                <a:latin typeface="Arial" panose="020B0604020202020204" pitchFamily="34" charset="0"/>
                <a:hlinkClick r:id="rId3"/>
              </a:rPr>
              <a:t>数据</a:t>
            </a:r>
            <a:r>
              <a:rPr lang="zh-CN" altLang="en-US" b="0" i="0" u="none" strike="noStrike" dirty="0">
                <a:effectLst/>
                <a:latin typeface="Arial" panose="020B0604020202020204" pitchFamily="34" charset="0"/>
                <a:hlinkClick r:id="rId3"/>
              </a:rPr>
              <a:t>噪声是指在实际数据采集、传输和处理过程中，由于各种不可控因素导致的数据失真或误差。这些噪声可能来源于设备精度、人为操作失误、环境干扰等多个方面。噪声的存在会破坏数据的真实性和完整性，从而对数据分析结果产生不良影响。噪声是一个测量变量中的随机错误或偏差，包括错误的值，偏离期望的孤立点。当噪声参与到数据挖掘和分析过程中，不仅会增加数据量，也会加大计算量，增加计算机内存和计算开销，也会增大计算误差，事倍功半</a:t>
            </a:r>
            <a:endParaRPr lang="en-US" altLang="zh-CN" b="0" i="0" u="none" strike="noStrike" dirty="0">
              <a:effectLst/>
              <a:latin typeface="Arial" panose="020B0604020202020204" pitchFamily="34" charset="0"/>
            </a:endParaRPr>
          </a:p>
          <a:p>
            <a:endParaRPr lang="en-US" altLang="zh-CN" b="0" i="0" u="none" strike="noStrike" dirty="0">
              <a:effectLst/>
              <a:latin typeface="Arial" panose="020B0604020202020204" pitchFamily="34" charset="0"/>
            </a:endParaRPr>
          </a:p>
          <a:p>
            <a:r>
              <a:rPr lang="zh-CN" altLang="en-US" b="0" i="0" dirty="0">
                <a:solidFill>
                  <a:srgbClr val="333333"/>
                </a:solidFill>
                <a:effectLst/>
                <a:latin typeface="PingFang SC"/>
              </a:rPr>
              <a:t>正则化（</a:t>
            </a:r>
            <a:r>
              <a:rPr lang="en-US" altLang="zh-CN" b="0" i="0" dirty="0">
                <a:solidFill>
                  <a:srgbClr val="333333"/>
                </a:solidFill>
                <a:effectLst/>
                <a:latin typeface="PingFang SC"/>
              </a:rPr>
              <a:t>Regularization</a:t>
            </a:r>
            <a:r>
              <a:rPr lang="zh-CN" altLang="en-US" b="0" i="0" dirty="0">
                <a:solidFill>
                  <a:srgbClr val="333333"/>
                </a:solidFill>
                <a:effectLst/>
                <a:latin typeface="PingFang SC"/>
              </a:rPr>
              <a:t>）是‌</a:t>
            </a:r>
            <a:r>
              <a:rPr lang="zh-CN" altLang="en-US" b="1" i="0" dirty="0">
                <a:solidFill>
                  <a:srgbClr val="333333"/>
                </a:solidFill>
                <a:effectLst/>
                <a:latin typeface="PingFang SC"/>
              </a:rPr>
              <a:t>通过修改损失函数来限制模型复杂度</a:t>
            </a:r>
            <a:r>
              <a:rPr lang="zh-CN" altLang="en-US" b="0" i="0" dirty="0">
                <a:solidFill>
                  <a:srgbClr val="333333"/>
                </a:solidFill>
                <a:effectLst/>
                <a:latin typeface="PingFang SC"/>
              </a:rPr>
              <a:t>‌的技术，目的是防止过拟合</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19</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dirty="0">
                <a:solidFill>
                  <a:srgbClr val="0070C0"/>
                </a:solidFill>
                <a:latin typeface="微软雅黑" panose="020B0503020204020204" pitchFamily="34" charset="-122"/>
                <a:ea typeface="微软雅黑" panose="020B0503020204020204" pitchFamily="34" charset="-122"/>
              </a:rPr>
              <a:t>Poly11</a:t>
            </a:r>
            <a:r>
              <a:rPr lang="zh-CN" altLang="en-US" sz="1200" dirty="0">
                <a:solidFill>
                  <a:srgbClr val="0070C0"/>
                </a:solidFill>
                <a:latin typeface="微软雅黑" panose="020B0503020204020204" pitchFamily="34" charset="-122"/>
                <a:ea typeface="微软雅黑" panose="020B0503020204020204" pitchFamily="34" charset="-122"/>
              </a:rPr>
              <a:t>表示</a:t>
            </a:r>
            <a:r>
              <a:rPr lang="en-US" altLang="zh-CN" sz="1200" dirty="0">
                <a:solidFill>
                  <a:srgbClr val="0070C0"/>
                </a:solidFill>
                <a:latin typeface="微软雅黑" panose="020B0503020204020204" pitchFamily="34" charset="-122"/>
                <a:ea typeface="微软雅黑" panose="020B0503020204020204" pitchFamily="34" charset="-122"/>
              </a:rPr>
              <a:t>x</a:t>
            </a:r>
            <a:r>
              <a:rPr lang="zh-CN" altLang="en-US" sz="1200" dirty="0">
                <a:solidFill>
                  <a:srgbClr val="0070C0"/>
                </a:solidFill>
                <a:latin typeface="微软雅黑" panose="020B0503020204020204" pitchFamily="34" charset="-122"/>
                <a:ea typeface="微软雅黑" panose="020B0503020204020204" pitchFamily="34" charset="-122"/>
              </a:rPr>
              <a:t>为</a:t>
            </a:r>
            <a:r>
              <a:rPr lang="en-US" altLang="zh-CN" sz="1200" dirty="0">
                <a:solidFill>
                  <a:srgbClr val="0070C0"/>
                </a:solidFill>
                <a:latin typeface="微软雅黑" panose="020B0503020204020204" pitchFamily="34" charset="-122"/>
                <a:ea typeface="微软雅黑" panose="020B0503020204020204" pitchFamily="34" charset="-122"/>
              </a:rPr>
              <a:t>1</a:t>
            </a:r>
            <a:r>
              <a:rPr lang="zh-CN" altLang="en-US" sz="1200" dirty="0">
                <a:solidFill>
                  <a:srgbClr val="0070C0"/>
                </a:solidFill>
                <a:latin typeface="微软雅黑" panose="020B0503020204020204" pitchFamily="34" charset="-122"/>
                <a:ea typeface="微软雅黑" panose="020B0503020204020204" pitchFamily="34" charset="-122"/>
              </a:rPr>
              <a:t>次，</a:t>
            </a:r>
            <a:r>
              <a:rPr lang="en-US" altLang="zh-CN" sz="1200" dirty="0">
                <a:solidFill>
                  <a:srgbClr val="0070C0"/>
                </a:solidFill>
                <a:latin typeface="微软雅黑" panose="020B0503020204020204" pitchFamily="34" charset="-122"/>
                <a:ea typeface="微软雅黑" panose="020B0503020204020204" pitchFamily="34" charset="-122"/>
              </a:rPr>
              <a:t>y</a:t>
            </a:r>
            <a:r>
              <a:rPr lang="zh-CN" altLang="en-US" sz="1200" dirty="0">
                <a:solidFill>
                  <a:srgbClr val="0070C0"/>
                </a:solidFill>
                <a:latin typeface="微软雅黑" panose="020B0503020204020204" pitchFamily="34" charset="-122"/>
                <a:ea typeface="微软雅黑" panose="020B0503020204020204" pitchFamily="34" charset="-122"/>
              </a:rPr>
              <a:t>为</a:t>
            </a:r>
            <a:r>
              <a:rPr lang="en-US" altLang="zh-CN" sz="1200" dirty="0">
                <a:solidFill>
                  <a:srgbClr val="0070C0"/>
                </a:solidFill>
                <a:latin typeface="微软雅黑" panose="020B0503020204020204" pitchFamily="34" charset="-122"/>
                <a:ea typeface="微软雅黑" panose="020B0503020204020204" pitchFamily="34" charset="-122"/>
              </a:rPr>
              <a:t>1</a:t>
            </a:r>
            <a:r>
              <a:rPr lang="zh-CN" altLang="en-US" sz="1200" dirty="0">
                <a:solidFill>
                  <a:srgbClr val="0070C0"/>
                </a:solidFill>
                <a:latin typeface="微软雅黑" panose="020B0503020204020204" pitchFamily="34" charset="-122"/>
                <a:ea typeface="微软雅黑" panose="020B0503020204020204" pitchFamily="34" charset="-122"/>
              </a:rPr>
              <a:t>次的多项式</a:t>
            </a:r>
            <a:endParaRPr lang="en-US" altLang="zh-CN" sz="1200" dirty="0">
              <a:solidFill>
                <a:srgbClr val="0070C0"/>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WARNING: both </a:t>
            </a:r>
            <a:r>
              <a:rPr lang="en-US" altLang="zh-CN" dirty="0" err="1"/>
              <a:t>TyMachineLearning</a:t>
            </a:r>
            <a:r>
              <a:rPr lang="en-US" altLang="zh-CN" dirty="0"/>
              <a:t> and </a:t>
            </a:r>
            <a:r>
              <a:rPr lang="en-US" altLang="zh-CN" dirty="0" err="1"/>
              <a:t>TyCurveFitting</a:t>
            </a:r>
            <a:r>
              <a:rPr lang="en-US" altLang="zh-CN" dirty="0"/>
              <a:t> export "fit"; uses of it in module Main must be qualified</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20</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22</a:t>
            </a:fld>
            <a:endParaRPr lang="zh-CN" altLang="en-US"/>
          </a:p>
        </p:txBody>
      </p:sp>
    </p:spTree>
    <p:extLst>
      <p:ext uri="{BB962C8B-B14F-4D97-AF65-F5344CB8AC3E}">
        <p14:creationId xmlns:p14="http://schemas.microsoft.com/office/powerpoint/2010/main" val="1631541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23</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24</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25</a:t>
            </a:fld>
            <a:endParaRPr lang="zh-CN" altLang="en-US"/>
          </a:p>
        </p:txBody>
      </p:sp>
    </p:spTree>
    <p:extLst>
      <p:ext uri="{BB962C8B-B14F-4D97-AF65-F5344CB8AC3E}">
        <p14:creationId xmlns:p14="http://schemas.microsoft.com/office/powerpoint/2010/main" val="10290428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27</a:t>
            </a:fld>
            <a:endParaRPr lang="zh-CN" altLang="en-US"/>
          </a:p>
        </p:txBody>
      </p:sp>
    </p:spTree>
    <p:extLst>
      <p:ext uri="{BB962C8B-B14F-4D97-AF65-F5344CB8AC3E}">
        <p14:creationId xmlns:p14="http://schemas.microsoft.com/office/powerpoint/2010/main" val="23859386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212121"/>
                </a:solidFill>
                <a:effectLst/>
                <a:latin typeface="Microsoft YaHei" panose="020B0503020204020204" pitchFamily="34" charset="-122"/>
                <a:ea typeface="Microsoft YaHei" panose="020B0503020204020204" pitchFamily="34" charset="-122"/>
              </a:rPr>
              <a:t>对于函数句柄类型的用户自定义模型，用户必须指定</a:t>
            </a:r>
            <a:r>
              <a:rPr lang="en-US" altLang="zh-CN" b="0" i="0" dirty="0" err="1">
                <a:solidFill>
                  <a:srgbClr val="212121"/>
                </a:solidFill>
                <a:effectLst/>
                <a:latin typeface="Microsoft YaHei" panose="020B0503020204020204" pitchFamily="34" charset="-122"/>
                <a:ea typeface="Microsoft YaHei" panose="020B0503020204020204" pitchFamily="34" charset="-122"/>
              </a:rPr>
              <a:t>startpt</a:t>
            </a:r>
            <a:r>
              <a:rPr lang="en-US" altLang="zh-CN" b="0" i="0" dirty="0">
                <a:solidFill>
                  <a:srgbClr val="212121"/>
                </a:solidFill>
                <a:effectLst/>
                <a:latin typeface="Microsoft YaHei" panose="020B0503020204020204" pitchFamily="34" charset="-122"/>
                <a:ea typeface="Microsoft YaHei" panose="020B0503020204020204" pitchFamily="34" charset="-122"/>
              </a:rPr>
              <a:t>,</a:t>
            </a:r>
            <a:r>
              <a:rPr lang="zh-CN" altLang="en-US" b="0" i="0" dirty="0">
                <a:solidFill>
                  <a:srgbClr val="212121"/>
                </a:solidFill>
                <a:effectLst/>
                <a:latin typeface="Microsoft YaHei" panose="020B0503020204020204" pitchFamily="34" charset="-122"/>
                <a:ea typeface="Microsoft YaHei" panose="020B0503020204020204" pitchFamily="34" charset="-122"/>
              </a:rPr>
              <a:t>可以指定为整数（表示函数参数个数，拟合选取该长度的随机数作为拟合初值），每次拟合结果不一样</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32</a:t>
            </a:fld>
            <a:endParaRPr lang="zh-CN" altLang="en-US"/>
          </a:p>
        </p:txBody>
      </p:sp>
    </p:spTree>
    <p:extLst>
      <p:ext uri="{BB962C8B-B14F-4D97-AF65-F5344CB8AC3E}">
        <p14:creationId xmlns:p14="http://schemas.microsoft.com/office/powerpoint/2010/main" val="31212862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泛化能力差</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1" dirty="0">
                <a:solidFill>
                  <a:srgbClr val="FF0000"/>
                </a:solidFill>
                <a:latin typeface="微软雅黑" panose="020B0503020204020204" pitchFamily="34" charset="-122"/>
                <a:ea typeface="微软雅黑" panose="020B0503020204020204" pitchFamily="34" charset="-122"/>
              </a:rPr>
              <a:t>次数越高，噪音越大，泛化能力越差</a:t>
            </a:r>
            <a:endParaRPr lang="zh-CN" altLang="en-US" dirty="0"/>
          </a:p>
          <a:p>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0" i="0" dirty="0">
                <a:solidFill>
                  <a:srgbClr val="FF0000"/>
                </a:solidFill>
                <a:effectLst/>
                <a:latin typeface="微软雅黑" panose="020B0503020204020204" pitchFamily="34" charset="-122"/>
                <a:ea typeface="微软雅黑" panose="020B0503020204020204" pitchFamily="34" charset="-122"/>
              </a:rPr>
              <a:t>外推的糟糕选择</a:t>
            </a:r>
            <a:endParaRPr lang="zh-CN" altLang="en-US" dirty="0">
              <a:solidFill>
                <a:srgbClr val="FF0000"/>
              </a:solidFill>
            </a:endParaRP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35</a:t>
            </a:fld>
            <a:endParaRPr lang="zh-CN" altLang="en-US"/>
          </a:p>
        </p:txBody>
      </p:sp>
    </p:spTree>
    <p:extLst>
      <p:ext uri="{BB962C8B-B14F-4D97-AF65-F5344CB8AC3E}">
        <p14:creationId xmlns:p14="http://schemas.microsoft.com/office/powerpoint/2010/main" val="15222244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AF5D7B6-9300-482A-AC6E-3BA105FED359}" type="slidenum">
              <a:rPr lang="zh-CN" altLang="en-US" smtClean="0"/>
              <a:t>37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39</a:t>
            </a:fld>
            <a:endParaRPr lang="zh-CN" altLang="en-US"/>
          </a:p>
        </p:txBody>
      </p:sp>
    </p:spTree>
    <p:extLst>
      <p:ext uri="{BB962C8B-B14F-4D97-AF65-F5344CB8AC3E}">
        <p14:creationId xmlns:p14="http://schemas.microsoft.com/office/powerpoint/2010/main" val="812132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手机高像素的实现本质是‌</a:t>
            </a:r>
            <a:r>
              <a:rPr lang="zh-CN" altLang="en-US" b="1" dirty="0">
                <a:effectLst/>
                <a:latin typeface="PingFang SC"/>
              </a:rPr>
              <a:t>硬件物理像素为主，软件插值为辅</a:t>
            </a:r>
            <a:r>
              <a:rPr lang="zh-CN" altLang="en-US" dirty="0"/>
              <a:t>‌。光学器件决定成像上限，而插值仅能在有限场景下补充分辨率数值‌</a:t>
            </a:r>
            <a:r>
              <a:rPr lang="en-US" altLang="zh-CN" b="0" i="0" dirty="0">
                <a:solidFill>
                  <a:srgbClr val="333333"/>
                </a:solidFill>
                <a:effectLst/>
                <a:latin typeface="PingFang SC"/>
              </a:rPr>
              <a:t>1</a:t>
            </a:r>
            <a:br>
              <a:rPr lang="en-US" altLang="zh-CN" b="0" i="0" dirty="0">
                <a:solidFill>
                  <a:srgbClr val="333333"/>
                </a:solidFill>
                <a:effectLst/>
                <a:latin typeface="PingFang SC"/>
              </a:rPr>
            </a:br>
            <a:endParaRPr lang="en-US" altLang="zh-CN" b="0" i="0" dirty="0">
              <a:solidFill>
                <a:srgbClr val="333333"/>
              </a:solidFill>
              <a:effectLst/>
              <a:latin typeface="PingFang SC"/>
            </a:endParaRPr>
          </a:p>
          <a:p>
            <a:r>
              <a:rPr lang="zh-CN" altLang="en-US" b="0" i="0" dirty="0">
                <a:solidFill>
                  <a:srgbClr val="333333"/>
                </a:solidFill>
                <a:effectLst/>
                <a:latin typeface="PingFang SC"/>
              </a:rPr>
              <a:t>手机拍照的高像素实现方式既依赖光学器件的物理基础，也涉及插值算法的软件增强，具体技术路径及效果差异如下：</a:t>
            </a:r>
            <a:endParaRPr lang="en-US" altLang="zh-CN" b="1" i="0" u="none" strike="noStrike" dirty="0">
              <a:solidFill>
                <a:srgbClr val="0076A8"/>
              </a:solidFill>
              <a:effectLst/>
              <a:latin typeface="微软雅黑" panose="020B0503020204020204" pitchFamily="34" charset="-122"/>
              <a:ea typeface="微软雅黑" panose="020B0503020204020204" pitchFamily="34" charset="-122"/>
              <a:hlinkClick r:id="rId3" action="ppaction://hlinkfile"/>
            </a:endParaRPr>
          </a:p>
          <a:p>
            <a:r>
              <a:rPr lang="zh-CN" altLang="en-US" b="1" i="0" u="none" strike="noStrike" dirty="0">
                <a:solidFill>
                  <a:srgbClr val="0076A8"/>
                </a:solidFill>
                <a:effectLst/>
                <a:latin typeface="微软雅黑" panose="020B0503020204020204" pitchFamily="34" charset="-122"/>
                <a:ea typeface="微软雅黑" panose="020B0503020204020204" pitchFamily="34" charset="-122"/>
                <a:hlinkClick r:id="rId3" action="ppaction://hlinkfile"/>
              </a:rPr>
              <a:t>插值</a:t>
            </a:r>
            <a:r>
              <a:rPr lang="zh-CN" altLang="en-US" b="0" i="0" dirty="0">
                <a:solidFill>
                  <a:srgbClr val="212121"/>
                </a:solidFill>
                <a:effectLst/>
                <a:latin typeface="微软雅黑" panose="020B0503020204020204" pitchFamily="34" charset="-122"/>
                <a:ea typeface="微软雅黑" panose="020B0503020204020204" pitchFamily="34" charset="-122"/>
              </a:rPr>
              <a:t> </a:t>
            </a:r>
            <a:r>
              <a:rPr lang="en-US" altLang="zh-CN" b="1" i="0" dirty="0">
                <a:solidFill>
                  <a:srgbClr val="212121"/>
                </a:solidFill>
                <a:effectLst/>
                <a:latin typeface="微软雅黑" panose="020B0503020204020204" pitchFamily="34" charset="-122"/>
                <a:ea typeface="微软雅黑" panose="020B0503020204020204" pitchFamily="34" charset="-122"/>
              </a:rPr>
              <a:t>- </a:t>
            </a:r>
            <a:r>
              <a:rPr lang="zh-CN" altLang="en-US" b="1" i="0" dirty="0">
                <a:solidFill>
                  <a:srgbClr val="212121"/>
                </a:solidFill>
                <a:effectLst/>
                <a:latin typeface="微软雅黑" panose="020B0503020204020204" pitchFamily="34" charset="-122"/>
                <a:ea typeface="微软雅黑" panose="020B0503020204020204" pitchFamily="34" charset="-122"/>
              </a:rPr>
              <a:t>网格和散点数据插值、数据网格化、分段多项式 插值是在一组已知数据点的范围内添加新数据点的技术。您可以使用插值来填充缺失的数据、对现有数据进行平滑处理以及进行预测等。</a:t>
            </a:r>
            <a:endParaRPr lang="en-US" altLang="zh-CN" b="0" i="0" dirty="0">
              <a:solidFill>
                <a:srgbClr val="111111"/>
              </a:solidFill>
              <a:effectLst/>
              <a:latin typeface="微软雅黑" panose="020B0503020204020204" pitchFamily="34" charset="-122"/>
              <a:ea typeface="微软雅黑" panose="020B0503020204020204" pitchFamily="34" charset="-122"/>
            </a:endParaRPr>
          </a:p>
          <a:p>
            <a:r>
              <a:rPr lang="zh-CN" altLang="en-US" b="0" i="0" dirty="0">
                <a:solidFill>
                  <a:srgbClr val="111111"/>
                </a:solidFill>
                <a:effectLst/>
                <a:latin typeface="微软雅黑" panose="020B0503020204020204" pitchFamily="34" charset="-122"/>
                <a:ea typeface="微软雅黑" panose="020B0503020204020204" pitchFamily="34" charset="-122"/>
              </a:rPr>
              <a:t>简单来说，插值的应用通常反应在两种情景下： </a:t>
            </a:r>
            <a:r>
              <a:rPr lang="zh-CN" altLang="en-US" b="1" i="0" dirty="0">
                <a:solidFill>
                  <a:srgbClr val="111111"/>
                </a:solidFill>
                <a:effectLst/>
                <a:latin typeface="微软雅黑" panose="020B0503020204020204" pitchFamily="34" charset="-122"/>
                <a:ea typeface="微软雅黑" panose="020B0503020204020204" pitchFamily="34" charset="-122"/>
              </a:rPr>
              <a:t>（</a:t>
            </a:r>
            <a:r>
              <a:rPr lang="en-US" altLang="zh-CN" b="1" i="0" dirty="0">
                <a:solidFill>
                  <a:srgbClr val="111111"/>
                </a:solidFill>
                <a:effectLst/>
                <a:latin typeface="微软雅黑" panose="020B0503020204020204" pitchFamily="34" charset="-122"/>
                <a:ea typeface="微软雅黑" panose="020B0503020204020204" pitchFamily="34" charset="-122"/>
              </a:rPr>
              <a:t>1</a:t>
            </a:r>
            <a:r>
              <a:rPr lang="zh-CN" altLang="en-US" b="1" i="0" dirty="0">
                <a:solidFill>
                  <a:srgbClr val="111111"/>
                </a:solidFill>
                <a:effectLst/>
                <a:latin typeface="微软雅黑" panose="020B0503020204020204" pitchFamily="34" charset="-122"/>
                <a:ea typeface="微软雅黑" panose="020B0503020204020204" pitchFamily="34" charset="-122"/>
              </a:rPr>
              <a:t>）数据量太小，需要增加数据量来提升算法的执行效果</a:t>
            </a:r>
            <a:r>
              <a:rPr lang="zh-CN" altLang="en-US" b="0" i="0" dirty="0">
                <a:solidFill>
                  <a:srgbClr val="111111"/>
                </a:solidFill>
                <a:effectLst/>
                <a:latin typeface="微软雅黑" panose="020B0503020204020204" pitchFamily="34" charset="-122"/>
                <a:ea typeface="微软雅黑" panose="020B0503020204020204" pitchFamily="34" charset="-122"/>
              </a:rPr>
              <a:t>。 比如机器学习、深度学习中的样本如果太少，可以用插值法得到更多的样本值。 （</a:t>
            </a:r>
            <a:r>
              <a:rPr lang="en-US" altLang="zh-CN" b="0" i="0" dirty="0">
                <a:solidFill>
                  <a:srgbClr val="111111"/>
                </a:solidFill>
                <a:effectLst/>
                <a:latin typeface="微软雅黑" panose="020B0503020204020204" pitchFamily="34" charset="-122"/>
                <a:ea typeface="微软雅黑" panose="020B0503020204020204" pitchFamily="34" charset="-122"/>
              </a:rPr>
              <a:t>2</a:t>
            </a:r>
            <a:r>
              <a:rPr lang="zh-CN" altLang="en-US" b="0" i="0" dirty="0">
                <a:solidFill>
                  <a:srgbClr val="111111"/>
                </a:solidFill>
                <a:effectLst/>
                <a:latin typeface="微软雅黑" panose="020B0503020204020204" pitchFamily="34" charset="-122"/>
                <a:ea typeface="微软雅黑" panose="020B0503020204020204" pitchFamily="34" charset="-122"/>
              </a:rPr>
              <a:t>）需要对某个区域的值进行预测。</a:t>
            </a:r>
            <a:endParaRPr lang="en-US" altLang="zh-CN" b="0" i="0" dirty="0">
              <a:solidFill>
                <a:srgbClr val="111111"/>
              </a:solidFill>
              <a:effectLst/>
              <a:latin typeface="微软雅黑" panose="020B0503020204020204" pitchFamily="34" charset="-122"/>
              <a:ea typeface="微软雅黑" panose="020B0503020204020204" pitchFamily="34" charset="-122"/>
            </a:endParaRPr>
          </a:p>
          <a:p>
            <a:pPr algn="l"/>
            <a:r>
              <a:rPr lang="zh-CN" altLang="en-US" b="0" i="0" u="none" strike="noStrike" dirty="0">
                <a:solidFill>
                  <a:srgbClr val="191B1F"/>
                </a:solidFill>
                <a:effectLst/>
                <a:latin typeface="-apple-system"/>
                <a:hlinkClick r:id="rId4"/>
              </a:rPr>
              <a:t>缺失数据处理</a:t>
            </a:r>
            <a:r>
              <a:rPr lang="en-US" altLang="zh-CN" b="0" i="0" u="none" strike="noStrike" dirty="0">
                <a:solidFill>
                  <a:srgbClr val="191B1F"/>
                </a:solidFill>
                <a:effectLst/>
                <a:latin typeface="-apple-system"/>
                <a:hlinkClick r:id="rId4"/>
              </a:rPr>
              <a:t>-</a:t>
            </a:r>
            <a:r>
              <a:rPr lang="zh-CN" altLang="en-US" b="0" i="0" u="none" strike="noStrike" dirty="0">
                <a:solidFill>
                  <a:srgbClr val="191B1F"/>
                </a:solidFill>
                <a:effectLst/>
                <a:latin typeface="-apple-system"/>
                <a:hlinkClick r:id="rId4"/>
              </a:rPr>
              <a:t>插值法</a:t>
            </a:r>
            <a:endParaRPr lang="zh-CN" altLang="en-US" b="0" i="0" dirty="0">
              <a:solidFill>
                <a:srgbClr val="191B1F"/>
              </a:solidFill>
              <a:effectLst/>
              <a:latin typeface="-apple-system"/>
            </a:endParaRPr>
          </a:p>
          <a:p>
            <a:pPr algn="l"/>
            <a:r>
              <a:rPr lang="zh-CN" altLang="en-US" b="0" i="0" dirty="0">
                <a:solidFill>
                  <a:srgbClr val="191B1F"/>
                </a:solidFill>
                <a:effectLst/>
                <a:latin typeface="-apple-system"/>
              </a:rPr>
              <a:t>在</a:t>
            </a:r>
            <a:r>
              <a:rPr lang="zh-CN" altLang="en-US" b="0" i="0" u="none" strike="noStrike" dirty="0">
                <a:solidFill>
                  <a:srgbClr val="191B1F"/>
                </a:solidFill>
                <a:effectLst/>
                <a:latin typeface="-apple-system"/>
                <a:hlinkClick r:id="rId5"/>
              </a:rPr>
              <a:t>数据挖掘</a:t>
            </a:r>
            <a:r>
              <a:rPr lang="zh-CN" altLang="en-US" b="0" i="0" dirty="0">
                <a:solidFill>
                  <a:srgbClr val="191B1F"/>
                </a:solidFill>
                <a:effectLst/>
                <a:latin typeface="-apple-system"/>
              </a:rPr>
              <a:t>中，原始海量的数据中存在着大量不完整、不一致、有异常、偏离点的数据。这些问题数据轻则影响数据挖掘执行效率，重则影响执行结果。因此数据预处理工作必不可少，而其中常见工作的就是数据集的缺失值处理。</a:t>
            </a:r>
          </a:p>
          <a:p>
            <a:pPr algn="l"/>
            <a:r>
              <a:rPr lang="zh-CN" altLang="en-US" b="0" i="0" dirty="0">
                <a:solidFill>
                  <a:srgbClr val="191B1F"/>
                </a:solidFill>
                <a:effectLst/>
                <a:latin typeface="-apple-system"/>
              </a:rPr>
              <a:t>数据缺失值处理可分两类。一类是删除缺失数据，一类是进行数据插补。前者比较简单粗暴，但是这种方法最大的局限就是它是以减少历史数据来换取数据的完备，会造成资源的大量浪费，尤其在数据集本身就少的情况下，删除记录可能会直接影响分析结果的客观性和准确性</a:t>
            </a:r>
          </a:p>
          <a:p>
            <a:pPr algn="l"/>
            <a:r>
              <a:rPr lang="zh-CN" altLang="en-US" b="0" i="0" dirty="0">
                <a:solidFill>
                  <a:srgbClr val="191B1F"/>
                </a:solidFill>
                <a:effectLst/>
                <a:latin typeface="-apple-system"/>
              </a:rPr>
              <a:t>本文介绍数据常用的插补方法。对拉格朗日插值法和滑动平均窗口法进行重点介绍和实现。</a:t>
            </a:r>
          </a:p>
          <a:p>
            <a:r>
              <a:rPr lang="zh-CN" altLang="en-US" b="0" i="0" dirty="0">
                <a:solidFill>
                  <a:srgbClr val="71777D"/>
                </a:solidFill>
                <a:effectLst/>
                <a:latin typeface="Arial" panose="020B0604020202020204" pitchFamily="34" charset="0"/>
              </a:rPr>
              <a:t>医学图像的预处理 </a:t>
            </a:r>
            <a:endParaRPr lang="en-US" altLang="zh-CN" b="0" i="0" dirty="0">
              <a:solidFill>
                <a:srgbClr val="71777D"/>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b="1" i="0" dirty="0">
                <a:solidFill>
                  <a:srgbClr val="C36500"/>
                </a:solidFill>
                <a:effectLst/>
                <a:latin typeface="宋体" panose="02010600030101010101" pitchFamily="2" charset="-122"/>
                <a:ea typeface="宋体" panose="02010600030101010101" pitchFamily="2" charset="-122"/>
              </a:rPr>
              <a:t>医学</a:t>
            </a:r>
            <a:r>
              <a:rPr lang="en-US" altLang="zh-CN" b="1" i="0" dirty="0">
                <a:solidFill>
                  <a:srgbClr val="C36500"/>
                </a:solidFill>
                <a:effectLst/>
                <a:latin typeface="宋体" panose="02010600030101010101" pitchFamily="2" charset="-122"/>
                <a:ea typeface="宋体" panose="02010600030101010101" pitchFamily="2" charset="-122"/>
              </a:rPr>
              <a:t>CT</a:t>
            </a:r>
            <a:r>
              <a:rPr lang="zh-CN" altLang="en-US" b="1" i="0" dirty="0">
                <a:solidFill>
                  <a:srgbClr val="C36500"/>
                </a:solidFill>
                <a:effectLst/>
                <a:latin typeface="宋体" panose="02010600030101010101" pitchFamily="2" charset="-122"/>
                <a:ea typeface="宋体" panose="02010600030101010101" pitchFamily="2" charset="-122"/>
              </a:rPr>
              <a:t>图像</a:t>
            </a:r>
          </a:p>
          <a:p>
            <a:r>
              <a:rPr lang="zh-CN" altLang="en-US" b="0" i="0" dirty="0">
                <a:solidFill>
                  <a:srgbClr val="000000"/>
                </a:solidFill>
                <a:effectLst/>
                <a:latin typeface="宋体" panose="02010600030101010101" pitchFamily="2" charset="-122"/>
                <a:ea typeface="宋体" panose="02010600030101010101" pitchFamily="2" charset="-122"/>
              </a:rPr>
              <a:t>通常最小化</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射线以获得</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图像，但会导致成像质量严重下降。</a:t>
            </a:r>
            <a:endParaRPr lang="en-US" altLang="zh-CN" b="0" i="0" dirty="0">
              <a:solidFill>
                <a:srgbClr val="000000"/>
              </a:solidFill>
              <a:effectLst/>
              <a:latin typeface="宋体" panose="02010600030101010101" pitchFamily="2" charset="-122"/>
              <a:ea typeface="宋体" panose="02010600030101010101" pitchFamily="2" charset="-122"/>
            </a:endParaRPr>
          </a:p>
          <a:p>
            <a:pPr algn="just"/>
            <a:r>
              <a:rPr lang="zh-CN" altLang="en-US" b="0" i="0" dirty="0">
                <a:solidFill>
                  <a:srgbClr val="000000"/>
                </a:solidFill>
                <a:effectLst/>
                <a:latin typeface="宋体" panose="02010600030101010101" pitchFamily="2" charset="-122"/>
                <a:ea typeface="宋体" panose="02010600030101010101" pitchFamily="2" charset="-122"/>
              </a:rPr>
              <a:t>计算机断层扫描成像是一种可靠的、非侵入性的检测技术，它可以检测人体内部结构异常，如肿瘤、骨折、血管疾病以及细胞癌变等，除了为诊断提供支持，</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还可以指导各种临床过程，包括介入、手术治疗以及放射治疗等疾病</a:t>
            </a:r>
            <a:r>
              <a:rPr lang="en-US" altLang="zh-CN" b="0" i="0" baseline="30000" dirty="0">
                <a:solidFill>
                  <a:srgbClr val="0099FF"/>
                </a:solidFill>
                <a:effectLst/>
                <a:latin typeface="宋体" panose="02010600030101010101" pitchFamily="2" charset="-122"/>
                <a:ea typeface="宋体" panose="02010600030101010101" pitchFamily="2" charset="-122"/>
              </a:rPr>
              <a:t>[1]</a:t>
            </a:r>
            <a:r>
              <a:rPr lang="zh-CN" altLang="en-US" b="0" i="0" dirty="0">
                <a:solidFill>
                  <a:srgbClr val="000000"/>
                </a:solidFill>
                <a:effectLst/>
                <a:latin typeface="宋体" panose="02010600030101010101" pitchFamily="2" charset="-122"/>
                <a:ea typeface="宋体" panose="02010600030101010101" pitchFamily="2" charset="-122"/>
              </a:rPr>
              <a:t>。临床上为了获得具有诊断意义的高质量</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影像，所用的</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射线剂量相对较高，而且会多角度重复采集多张影像数据。反复的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扫描会让患者暴露在巨大的辐射当中，过度辐射还会诱发癌症、代谢异常、白血病或其他遗传性疾病，对人体产生不可逆的影响，降低患者的生活质量</a:t>
            </a:r>
            <a:r>
              <a:rPr lang="en-US" altLang="zh-CN" b="0" i="0" baseline="30000" dirty="0">
                <a:solidFill>
                  <a:srgbClr val="0099FF"/>
                </a:solidFill>
                <a:effectLst/>
                <a:latin typeface="宋体" panose="02010600030101010101" pitchFamily="2" charset="-122"/>
                <a:ea typeface="宋体" panose="02010600030101010101" pitchFamily="2" charset="-122"/>
              </a:rPr>
              <a:t>[2]</a:t>
            </a:r>
            <a:r>
              <a:rPr lang="zh-CN" altLang="en-US" b="0" i="0" dirty="0">
                <a:solidFill>
                  <a:srgbClr val="000000"/>
                </a:solidFill>
                <a:effectLst/>
                <a:latin typeface="宋体" panose="02010600030101010101" pitchFamily="2" charset="-122"/>
                <a:ea typeface="宋体" panose="02010600030101010101" pitchFamily="2" charset="-122"/>
              </a:rPr>
              <a:t>。因此，降低</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扫描辐射剂量不可避免地成为了研究者的关注热点，并具有重要的临床价值。</a:t>
            </a:r>
          </a:p>
          <a:p>
            <a:pPr algn="just"/>
            <a:r>
              <a:rPr lang="zh-CN" altLang="en-US" b="0" i="0" dirty="0">
                <a:solidFill>
                  <a:srgbClr val="000000"/>
                </a:solidFill>
                <a:effectLst/>
                <a:latin typeface="宋体" panose="02010600030101010101" pitchFamily="2" charset="-122"/>
                <a:ea typeface="宋体" panose="02010600030101010101" pitchFamily="2" charset="-122"/>
              </a:rPr>
              <a:t>在临床上，为了获得低剂量的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图像，通常使用降低管电流减少</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射线辐射；降低管电压减少</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射线穿透能力；减少</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射线数目来降低辐射剂量。虽然在一定程度上改善了辐射剂量过高的问题，但是这些措施会极大地降低</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射线信号的信噪比</a:t>
            </a:r>
            <a:r>
              <a:rPr lang="en-US" altLang="zh-CN" b="0" i="0" dirty="0">
                <a:solidFill>
                  <a:srgbClr val="000000"/>
                </a:solidFill>
                <a:effectLst/>
                <a:latin typeface="宋体" panose="02010600030101010101" pitchFamily="2" charset="-122"/>
                <a:ea typeface="宋体" panose="02010600030101010101" pitchFamily="2" charset="-122"/>
              </a:rPr>
              <a:t>(signal-noise ratio</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SNR)</a:t>
            </a:r>
            <a:r>
              <a:rPr lang="zh-CN" altLang="en-US" b="0" i="0" dirty="0">
                <a:solidFill>
                  <a:srgbClr val="000000"/>
                </a:solidFill>
                <a:effectLst/>
                <a:latin typeface="宋体" panose="02010600030101010101" pitchFamily="2" charset="-122"/>
                <a:ea typeface="宋体" panose="02010600030101010101" pitchFamily="2" charset="-122"/>
              </a:rPr>
              <a:t>，并导致低对比度</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图像存在大量噪声和伪影，成像质量的视觉退化会导致器官纹理和边缘的模糊，从而降低临床诊断和任务分析的可靠性</a:t>
            </a:r>
            <a:r>
              <a:rPr lang="en-US" altLang="zh-CN" b="0" i="0" baseline="30000" dirty="0">
                <a:solidFill>
                  <a:srgbClr val="0099FF"/>
                </a:solidFill>
                <a:effectLst/>
                <a:latin typeface="宋体" panose="02010600030101010101" pitchFamily="2" charset="-122"/>
                <a:ea typeface="宋体" panose="02010600030101010101" pitchFamily="2" charset="-122"/>
              </a:rPr>
              <a:t>[3]</a:t>
            </a:r>
            <a:r>
              <a:rPr lang="zh-CN" altLang="en-US" b="0" i="0" dirty="0">
                <a:solidFill>
                  <a:srgbClr val="000000"/>
                </a:solidFill>
                <a:effectLst/>
                <a:latin typeface="宋体" panose="02010600030101010101" pitchFamily="2" charset="-122"/>
                <a:ea typeface="宋体" panose="02010600030101010101" pitchFamily="2" charset="-122"/>
              </a:rPr>
              <a:t>。然而，为了克服</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图像的视觉退化，提高低剂量</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图像的临床可用性，重建出符合临床需求的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图像是国内外研究者广泛关注的、具有挑战性的难点问题。</a:t>
            </a:r>
          </a:p>
          <a:p>
            <a:pPr algn="just"/>
            <a:r>
              <a:rPr lang="zh-CN" altLang="en-US" b="0" i="0" dirty="0">
                <a:solidFill>
                  <a:srgbClr val="000000"/>
                </a:solidFill>
                <a:effectLst/>
                <a:latin typeface="宋体" panose="02010600030101010101" pitchFamily="2" charset="-122"/>
                <a:ea typeface="宋体" panose="02010600030101010101" pitchFamily="2" charset="-122"/>
              </a:rPr>
              <a:t>目前，人工智能在计算机视觉、自然语言处理以及医学图像领域取得突破性进展，尤其体现在医学图像处理领域，包括前期的</a:t>
            </a:r>
            <a:r>
              <a:rPr lang="en-US" altLang="zh-CN" b="0" i="0" dirty="0">
                <a:solidFill>
                  <a:srgbClr val="000000"/>
                </a:solidFill>
                <a:effectLst/>
                <a:latin typeface="宋体" panose="02010600030101010101" pitchFamily="2" charset="-122"/>
                <a:ea typeface="宋体" panose="02010600030101010101" pitchFamily="2" charset="-122"/>
              </a:rPr>
              <a:t>PET/CT</a:t>
            </a:r>
            <a:r>
              <a:rPr lang="zh-CN" altLang="en-US" b="0" i="0" dirty="0">
                <a:solidFill>
                  <a:srgbClr val="000000"/>
                </a:solidFill>
                <a:effectLst/>
                <a:latin typeface="宋体" panose="02010600030101010101" pitchFamily="2" charset="-122"/>
                <a:ea typeface="宋体" panose="02010600030101010101" pitchFamily="2" charset="-122"/>
              </a:rPr>
              <a:t>图像重建</a:t>
            </a:r>
            <a:r>
              <a:rPr lang="en-US" altLang="zh-CN" b="0" i="0" baseline="30000" dirty="0">
                <a:solidFill>
                  <a:srgbClr val="0099FF"/>
                </a:solidFill>
                <a:effectLst/>
                <a:latin typeface="宋体" panose="02010600030101010101" pitchFamily="2" charset="-122"/>
                <a:ea typeface="宋体" panose="02010600030101010101" pitchFamily="2" charset="-122"/>
              </a:rPr>
              <a:t>[4]</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MRI</a:t>
            </a:r>
            <a:r>
              <a:rPr lang="zh-CN" altLang="en-US" b="0" i="0" dirty="0">
                <a:solidFill>
                  <a:srgbClr val="000000"/>
                </a:solidFill>
                <a:effectLst/>
                <a:latin typeface="宋体" panose="02010600030101010101" pitchFamily="2" charset="-122"/>
                <a:ea typeface="宋体" panose="02010600030101010101" pitchFamily="2" charset="-122"/>
              </a:rPr>
              <a:t>图像病灶分割</a:t>
            </a:r>
            <a:r>
              <a:rPr lang="en-US" altLang="zh-CN" b="0" i="0" baseline="30000" dirty="0">
                <a:solidFill>
                  <a:srgbClr val="0099FF"/>
                </a:solidFill>
                <a:effectLst/>
                <a:latin typeface="宋体" panose="02010600030101010101" pitchFamily="2" charset="-122"/>
                <a:ea typeface="宋体" panose="02010600030101010101" pitchFamily="2" charset="-122"/>
              </a:rPr>
              <a:t>[5]</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图像检索</a:t>
            </a:r>
            <a:r>
              <a:rPr lang="en-US" altLang="zh-CN" b="0" i="0" baseline="30000" dirty="0">
                <a:solidFill>
                  <a:srgbClr val="0099FF"/>
                </a:solidFill>
                <a:effectLst/>
                <a:latin typeface="宋体" panose="02010600030101010101" pitchFamily="2" charset="-122"/>
                <a:ea typeface="宋体" panose="02010600030101010101" pitchFamily="2" charset="-122"/>
              </a:rPr>
              <a:t>[6]</a:t>
            </a:r>
            <a:r>
              <a:rPr lang="zh-CN" altLang="en-US" b="0" i="0" dirty="0">
                <a:solidFill>
                  <a:srgbClr val="000000"/>
                </a:solidFill>
                <a:effectLst/>
                <a:latin typeface="宋体" panose="02010600030101010101" pitchFamily="2" charset="-122"/>
                <a:ea typeface="宋体" panose="02010600030101010101" pitchFamily="2" charset="-122"/>
              </a:rPr>
              <a:t>，以及后期的智能诊断</a:t>
            </a:r>
            <a:r>
              <a:rPr lang="en-US" altLang="zh-CN" b="0" i="0" baseline="30000" dirty="0">
                <a:solidFill>
                  <a:srgbClr val="0099FF"/>
                </a:solidFill>
                <a:effectLst/>
                <a:latin typeface="宋体" panose="02010600030101010101" pitchFamily="2" charset="-122"/>
                <a:ea typeface="宋体" panose="02010600030101010101" pitchFamily="2" charset="-122"/>
              </a:rPr>
              <a:t>[7]</a:t>
            </a:r>
            <a:r>
              <a:rPr lang="zh-CN" altLang="en-US" b="0" i="0" dirty="0">
                <a:solidFill>
                  <a:srgbClr val="000000"/>
                </a:solidFill>
                <a:effectLst/>
                <a:latin typeface="宋体" panose="02010600030101010101" pitchFamily="2" charset="-122"/>
                <a:ea typeface="宋体" panose="02010600030101010101" pitchFamily="2" charset="-122"/>
              </a:rPr>
              <a:t>。随着深度学习方法在图像去噪、超分辨率、图像识别、图像检测等</a:t>
            </a:r>
            <a:r>
              <a:rPr lang="en-US" altLang="zh-CN" b="0" i="0" baseline="30000" dirty="0">
                <a:solidFill>
                  <a:srgbClr val="0099FF"/>
                </a:solidFill>
                <a:effectLst/>
                <a:latin typeface="宋体" panose="02010600030101010101" pitchFamily="2" charset="-122"/>
                <a:ea typeface="宋体" panose="02010600030101010101" pitchFamily="2" charset="-122"/>
              </a:rPr>
              <a:t>[8-9]</a:t>
            </a:r>
            <a:r>
              <a:rPr lang="zh-CN" altLang="en-US" b="0" i="0" dirty="0">
                <a:solidFill>
                  <a:srgbClr val="000000"/>
                </a:solidFill>
                <a:effectLst/>
                <a:latin typeface="宋体" panose="02010600030101010101" pitchFamily="2" charset="-122"/>
                <a:ea typeface="宋体" panose="02010600030101010101" pitchFamily="2" charset="-122"/>
              </a:rPr>
              <a:t>计算机视觉领域发展迅速，在图像重建领域</a:t>
            </a:r>
            <a:r>
              <a:rPr lang="en-US" altLang="zh-CN" b="0" i="0" baseline="30000" dirty="0">
                <a:solidFill>
                  <a:srgbClr val="0099FF"/>
                </a:solidFill>
                <a:effectLst/>
                <a:latin typeface="宋体" panose="02010600030101010101" pitchFamily="2" charset="-122"/>
                <a:ea typeface="宋体" panose="02010600030101010101" pitchFamily="2" charset="-122"/>
              </a:rPr>
              <a:t>[10]</a:t>
            </a:r>
            <a:r>
              <a:rPr lang="zh-CN" altLang="en-US" b="0" i="0" dirty="0">
                <a:solidFill>
                  <a:srgbClr val="000000"/>
                </a:solidFill>
                <a:effectLst/>
                <a:latin typeface="宋体" panose="02010600030101010101" pitchFamily="2" charset="-122"/>
                <a:ea typeface="宋体" panose="02010600030101010101" pitchFamily="2" charset="-122"/>
              </a:rPr>
              <a:t>也取得了初步应用。随着硬件技术的快速发展，以及对高性能处理、数据驱动的执行加速了医学成像领域深度学习方法的运用。因此，近年来，利用深度学习技术提出更优的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重建方法成为研究人员的研究重点。</a:t>
            </a:r>
          </a:p>
          <a:p>
            <a:pPr algn="just"/>
            <a:r>
              <a:rPr lang="zh-CN" altLang="en-US" b="0" i="0" dirty="0">
                <a:solidFill>
                  <a:srgbClr val="000000"/>
                </a:solidFill>
                <a:effectLst/>
                <a:latin typeface="宋体" panose="02010600030101010101" pitchFamily="2" charset="-122"/>
                <a:ea typeface="宋体" panose="02010600030101010101" pitchFamily="2" charset="-122"/>
              </a:rPr>
              <a:t>本文重点总结了深度学习算法在</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重建领域的应用，分析不同算法在</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图像的降噪精度、病变识别能力以及保持精细结构和纹理细节等方面的重建能力。本文的整体框架如图</a:t>
            </a:r>
            <a:r>
              <a:rPr lang="en-US" altLang="zh-CN" b="0" i="0" dirty="0">
                <a:solidFill>
                  <a:srgbClr val="000000"/>
                </a:solidFill>
                <a:effectLst/>
                <a:latin typeface="宋体" panose="02010600030101010101" pitchFamily="2" charset="-122"/>
                <a:ea typeface="宋体" panose="02010600030101010101" pitchFamily="2" charset="-122"/>
              </a:rPr>
              <a:t>1</a:t>
            </a:r>
            <a:r>
              <a:rPr lang="zh-CN" altLang="en-US" b="0" i="0" dirty="0">
                <a:solidFill>
                  <a:srgbClr val="000000"/>
                </a:solidFill>
                <a:effectLst/>
                <a:latin typeface="宋体" panose="02010600030101010101" pitchFamily="2" charset="-122"/>
                <a:ea typeface="宋体" panose="02010600030101010101" pitchFamily="2" charset="-122"/>
              </a:rPr>
              <a:t>所示，我们首先详细描述了</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图像重建问题，然后对医学</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图像重建方法进行全面介绍，主要分为传统的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重建算法，以及近几年发展迅速的深度学习重建算法。</a:t>
            </a:r>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0" u="sng" dirty="0">
                <a:solidFill>
                  <a:srgbClr val="FF0000"/>
                </a:solidFill>
                <a:effectLst/>
                <a:latin typeface="Arial" panose="020B0604020202020204" pitchFamily="34" charset="0"/>
                <a:hlinkClick r:id="rId6"/>
              </a:rPr>
              <a:t>ArcGIS</a:t>
            </a:r>
            <a:r>
              <a:rPr lang="zh-CN" altLang="en-US" b="0" u="sng" dirty="0">
                <a:solidFill>
                  <a:srgbClr val="FF0000"/>
                </a:solidFill>
                <a:effectLst/>
                <a:latin typeface="Arial" panose="020B0604020202020204" pitchFamily="34" charset="0"/>
                <a:hlinkClick r:id="rId6"/>
              </a:rPr>
              <a:t>插值可视化气象数据</a:t>
            </a:r>
            <a:r>
              <a:rPr lang="zh-CN" altLang="en-US" b="1" u="sng" dirty="0">
                <a:solidFill>
                  <a:srgbClr val="FF0000"/>
                </a:solidFill>
                <a:effectLst/>
                <a:latin typeface="Arial" panose="020B0604020202020204" pitchFamily="34" charset="0"/>
                <a:hlinkClick r:id="rId6"/>
              </a:rPr>
              <a:t> </a:t>
            </a:r>
            <a:r>
              <a:rPr lang="en-US" altLang="zh-CN" b="1" u="sng" dirty="0">
                <a:solidFill>
                  <a:srgbClr val="FF0000"/>
                </a:solidFill>
                <a:effectLst/>
                <a:latin typeface="Arial" panose="020B0604020202020204" pitchFamily="34" charset="0"/>
                <a:hlinkClick r:id="rId6"/>
              </a:rPr>
              <a:t>- CSDN</a:t>
            </a:r>
            <a:r>
              <a:rPr lang="zh-CN" altLang="en-US" b="1" u="sng" dirty="0">
                <a:solidFill>
                  <a:srgbClr val="FF0000"/>
                </a:solidFill>
                <a:effectLst/>
                <a:latin typeface="Arial" panose="020B0604020202020204" pitchFamily="34" charset="0"/>
                <a:hlinkClick r:id="rId6"/>
              </a:rPr>
              <a:t>博客</a:t>
            </a:r>
            <a:endParaRPr lang="en-US" altLang="zh-CN" b="1" u="sng" dirty="0">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b="1" u="sng" dirty="0">
              <a:solidFill>
                <a:srgbClr val="FF0000"/>
              </a:solidFill>
              <a:effectLst/>
              <a:latin typeface="Arial" panose="020B0604020202020204" pitchFamily="34" charset="0"/>
            </a:endParaRPr>
          </a:p>
          <a:p>
            <a:pPr algn="ctr"/>
            <a:endParaRPr lang="zh-CN" altLang="en-US" b="0" i="0" u="none" strike="noStrike" dirty="0">
              <a:solidFill>
                <a:srgbClr val="4007A2"/>
              </a:solidFill>
              <a:effectLst/>
              <a:latin typeface="Roboto" panose="02000000000000000000" pitchFamily="2" charset="0"/>
              <a:hlinkClick r:id="rId7"/>
            </a:endParaRPr>
          </a:p>
          <a:p>
            <a:pPr algn="l"/>
            <a:r>
              <a:rPr lang="zh-CN" altLang="en-US" b="0" i="0" u="none" strike="noStrike" dirty="0">
                <a:solidFill>
                  <a:srgbClr val="111111"/>
                </a:solidFill>
                <a:effectLst/>
                <a:latin typeface="Roboto" panose="02000000000000000000" pitchFamily="2" charset="0"/>
                <a:hlinkClick r:id="rId7"/>
              </a:rPr>
              <a:t>清华大学学报（自然科学版）</a:t>
            </a:r>
            <a:endParaRPr lang="zh-CN" altLang="en-US" b="0" i="0" u="none" strike="noStrike" dirty="0">
              <a:solidFill>
                <a:srgbClr val="111111"/>
              </a:solidFill>
              <a:effectLst/>
              <a:latin typeface="Roboto" panose="02000000000000000000" pitchFamily="2" charset="0"/>
            </a:endParaRPr>
          </a:p>
          <a:p>
            <a:pPr algn="l"/>
            <a:r>
              <a:rPr lang="en-US" altLang="zh-CN" b="0" i="0" u="none" strike="noStrike" dirty="0">
                <a:solidFill>
                  <a:srgbClr val="444444"/>
                </a:solidFill>
                <a:effectLst/>
                <a:latin typeface="Roboto" panose="02000000000000000000" pitchFamily="2" charset="0"/>
                <a:hlinkClick r:id="rId7"/>
              </a:rPr>
              <a:t>http://jst.tsinghuajournals.com/CN/rhhtml/20161215.htm</a:t>
            </a:r>
            <a:endParaRPr lang="en-US" altLang="zh-CN" b="0" i="0" u="none" strike="noStrike" dirty="0">
              <a:solidFill>
                <a:srgbClr val="767676"/>
              </a:solidFill>
              <a:effectLst/>
              <a:latin typeface="Roboto" panose="02000000000000000000" pitchFamily="2" charset="0"/>
              <a:hlinkClick r:id="rId7"/>
            </a:endParaRPr>
          </a:p>
          <a:p>
            <a:pPr algn="l"/>
            <a:r>
              <a:rPr lang="zh-CN" altLang="en-US" b="1" i="0" u="none" strike="noStrike" dirty="0">
                <a:solidFill>
                  <a:srgbClr val="4007A2"/>
                </a:solidFill>
                <a:effectLst/>
                <a:latin typeface="Roboto" panose="02000000000000000000" pitchFamily="2" charset="0"/>
                <a:hlinkClick r:id="rId7"/>
              </a:rPr>
              <a:t>改进的多层螺旋</a:t>
            </a:r>
            <a:r>
              <a:rPr lang="en-US" altLang="zh-CN" b="1" i="0" u="none" strike="noStrike" dirty="0">
                <a:solidFill>
                  <a:srgbClr val="4007A2"/>
                </a:solidFill>
                <a:effectLst/>
                <a:latin typeface="Roboto" panose="02000000000000000000" pitchFamily="2" charset="0"/>
                <a:hlinkClick r:id="rId7"/>
              </a:rPr>
              <a:t>CT</a:t>
            </a:r>
            <a:r>
              <a:rPr lang="zh-CN" altLang="en-US" b="1" i="0" u="none" strike="noStrike" dirty="0">
                <a:solidFill>
                  <a:srgbClr val="4007A2"/>
                </a:solidFill>
                <a:effectLst/>
                <a:latin typeface="Roboto" panose="02000000000000000000" pitchFamily="2" charset="0"/>
                <a:hlinkClick r:id="rId7"/>
              </a:rPr>
              <a:t>线性插值算法 </a:t>
            </a:r>
            <a:r>
              <a:rPr lang="en-US" altLang="zh-CN" b="1" i="0" u="none" strike="noStrike" dirty="0">
                <a:solidFill>
                  <a:srgbClr val="4007A2"/>
                </a:solidFill>
                <a:effectLst/>
                <a:latin typeface="Roboto" panose="02000000000000000000" pitchFamily="2" charset="0"/>
                <a:hlinkClick r:id="rId7"/>
              </a:rPr>
              <a:t>- </a:t>
            </a:r>
            <a:r>
              <a:rPr lang="en-US" altLang="zh-CN" b="1" i="0" u="none" strike="noStrike" dirty="0" err="1">
                <a:solidFill>
                  <a:srgbClr val="4007A2"/>
                </a:solidFill>
                <a:effectLst/>
                <a:latin typeface="Roboto" panose="02000000000000000000" pitchFamily="2" charset="0"/>
                <a:hlinkClick r:id="rId7"/>
              </a:rPr>
              <a:t>jst</a:t>
            </a:r>
            <a:r>
              <a:rPr lang="en-US" altLang="zh-CN" b="1" i="0" u="none" strike="noStrike" dirty="0">
                <a:solidFill>
                  <a:srgbClr val="4007A2"/>
                </a:solidFill>
                <a:effectLst/>
                <a:latin typeface="Roboto" panose="02000000000000000000" pitchFamily="2" charset="0"/>
                <a:hlinkClick r:id="rId7"/>
              </a:rPr>
              <a:t>.</a:t>
            </a:r>
            <a:r>
              <a:rPr lang="zh-CN" altLang="en-US" b="1" i="0" u="none" strike="noStrike" dirty="0">
                <a:solidFill>
                  <a:srgbClr val="4007A2"/>
                </a:solidFill>
                <a:effectLst/>
                <a:latin typeface="Roboto" panose="02000000000000000000" pitchFamily="2" charset="0"/>
                <a:hlinkClick r:id="rId7"/>
              </a:rPr>
              <a:t>清华期刊。</a:t>
            </a:r>
            <a:r>
              <a:rPr lang="en-US" altLang="zh-CN" b="1" i="0" u="none" strike="noStrike" dirty="0">
                <a:solidFill>
                  <a:srgbClr val="4007A2"/>
                </a:solidFill>
                <a:effectLst/>
                <a:latin typeface="Roboto" panose="02000000000000000000" pitchFamily="2" charset="0"/>
                <a:hlinkClick r:id="rId7"/>
              </a:rPr>
              <a:t>com</a:t>
            </a:r>
            <a:endParaRPr lang="en-US" altLang="zh-CN" b="1" dirty="0">
              <a:solidFill>
                <a:srgbClr val="71777D"/>
              </a:solidFill>
              <a:effectLst/>
              <a:latin typeface="Roboto" panose="02000000000000000000" pitchFamily="2" charset="0"/>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b="1" dirty="0">
              <a:solidFill>
                <a:srgbClr val="FF0000"/>
              </a:solidFill>
              <a:effectLst/>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40</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41</a:t>
            </a:fld>
            <a:endParaRPr lang="zh-CN" altLang="en-US"/>
          </a:p>
        </p:txBody>
      </p:sp>
    </p:spTree>
    <p:extLst>
      <p:ext uri="{BB962C8B-B14F-4D97-AF65-F5344CB8AC3E}">
        <p14:creationId xmlns:p14="http://schemas.microsoft.com/office/powerpoint/2010/main" val="3737367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latinLnBrk="1"/>
            <a:r>
              <a:rPr lang="zh-CN" altLang="en-US" b="1" i="0" dirty="0">
                <a:solidFill>
                  <a:srgbClr val="D57747"/>
                </a:solidFill>
                <a:effectLst/>
                <a:latin typeface="-apple-system"/>
              </a:rPr>
              <a:t>插入网格数据</a:t>
            </a:r>
            <a:endParaRPr lang="en-US" altLang="zh-CN" b="1" i="0" dirty="0">
              <a:solidFill>
                <a:srgbClr val="D57747"/>
              </a:solidFill>
              <a:effectLst/>
              <a:latin typeface="-apple-system"/>
            </a:endParaRPr>
          </a:p>
          <a:p>
            <a:pPr marL="0" marR="0" lvl="0" indent="0" algn="l" defTabSz="914400" rtl="0" eaLnBrk="0" fontAlgn="base" latinLnBrk="1" hangingPunct="0">
              <a:lnSpc>
                <a:spcPct val="100000"/>
              </a:lnSpc>
              <a:spcBef>
                <a:spcPct val="30000"/>
              </a:spcBef>
              <a:spcAft>
                <a:spcPct val="0"/>
              </a:spcAft>
              <a:buClrTx/>
              <a:buSzTx/>
              <a:buFontTx/>
              <a:buNone/>
              <a:defRPr/>
            </a:pPr>
            <a:r>
              <a:rPr lang="zh-CN" altLang="en-US" b="0" i="0" dirty="0">
                <a:solidFill>
                  <a:srgbClr val="000000"/>
                </a:solidFill>
                <a:effectLst/>
                <a:latin typeface="STHeiti SC"/>
              </a:rPr>
              <a:t>在机器学习、深度学习等领域，面对样本较少的情况时同样会用到插值。当我们进行数据分析时，遇到数据量小、样本点不足的情况，这时就需要利用插值。从定义的角度出发，在给定离散点的基础上，通过插值算法得到一条经过所有</a:t>
            </a:r>
            <a:r>
              <a:rPr lang="en-US" altLang="zh-CN" b="0" i="0" dirty="0">
                <a:solidFill>
                  <a:srgbClr val="000000"/>
                </a:solidFill>
                <a:effectLst/>
                <a:latin typeface="STHeiti SC"/>
              </a:rPr>
              <a:t>n</a:t>
            </a:r>
            <a:r>
              <a:rPr lang="zh-CN" altLang="en-US" b="0" i="0" dirty="0">
                <a:solidFill>
                  <a:srgbClr val="000000"/>
                </a:solidFill>
                <a:effectLst/>
                <a:latin typeface="STHeiti SC"/>
              </a:rPr>
              <a:t>个离散点的曲线，根据曲线信息以及插值点信息来获取插值点的坐标，而插值的作用在于根据现有数据样本点增加样本数据量，其本质是获取新的数据点坐标信息。</a:t>
            </a:r>
            <a:endParaRPr lang="zh-CN" altLang="en-US" dirty="0"/>
          </a:p>
          <a:p>
            <a:pPr algn="l" latinLnBrk="1"/>
            <a:endParaRPr lang="zh-CN" altLang="en-US" b="1" i="0" dirty="0">
              <a:solidFill>
                <a:srgbClr val="D57747"/>
              </a:solidFill>
              <a:effectLst/>
              <a:latin typeface="-apple-system"/>
            </a:endParaRPr>
          </a:p>
          <a:p>
            <a:pPr algn="l"/>
            <a:r>
              <a:rPr lang="zh-CN" altLang="en-US" b="0" i="0" dirty="0">
                <a:solidFill>
                  <a:srgbClr val="2C3E50"/>
                </a:solidFill>
                <a:effectLst/>
                <a:latin typeface="-apple-system"/>
              </a:rPr>
              <a:t>网格数据由形成网格的等间距点上的值或测量值组成。网格数据应用于许多领域，如气象学、测绘学和医学成像。在这些领域，经常以固定空间间隔取测量值，且可能随时间进行测量。这些有序的数据网格的范围可以从一维（对于简单时间序列）到四维（对于随时间变化的三维体测量）或更高维。</a:t>
            </a:r>
          </a:p>
          <a:p>
            <a:endParaRPr lang="zh-CN" altLang="en-US" dirty="0"/>
          </a:p>
        </p:txBody>
      </p:sp>
      <p:sp>
        <p:nvSpPr>
          <p:cNvPr id="4" name="灯片编号占位符 3"/>
          <p:cNvSpPr>
            <a:spLocks noGrp="1"/>
          </p:cNvSpPr>
          <p:nvPr>
            <p:ph type="sldNum" sz="quarter" idx="10"/>
          </p:nvPr>
        </p:nvSpPr>
        <p:spPr/>
        <p:txBody>
          <a:bodyPr/>
          <a:lstStyle/>
          <a:p>
            <a:pPr>
              <a:defRPr/>
            </a:pPr>
            <a:fld id="{EAF5D7B6-9300-482A-AC6E-3BA105FED359}" type="slidenum">
              <a:rPr lang="zh-CN" altLang="en-US" smtClean="0"/>
              <a:t>42</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33"/>
                </a:solidFill>
                <a:effectLst/>
                <a:latin typeface="Helvetica Neue"/>
              </a:rPr>
              <a:t>早在</a:t>
            </a:r>
            <a:r>
              <a:rPr lang="en-US" altLang="zh-CN" b="0" i="0" dirty="0">
                <a:solidFill>
                  <a:srgbClr val="333333"/>
                </a:solidFill>
                <a:effectLst/>
                <a:latin typeface="Helvetica Neue"/>
              </a:rPr>
              <a:t>6</a:t>
            </a:r>
            <a:r>
              <a:rPr lang="zh-CN" altLang="en-US" b="0" i="0" dirty="0">
                <a:solidFill>
                  <a:srgbClr val="333333"/>
                </a:solidFill>
                <a:effectLst/>
                <a:latin typeface="Helvetica Neue"/>
              </a:rPr>
              <a:t>世纪，中国的刘焯已将等距二次插值用于天文计算。</a:t>
            </a:r>
          </a:p>
          <a:p>
            <a:pPr algn="l"/>
            <a:r>
              <a:rPr lang="en-US" altLang="zh-CN" b="0" i="0" dirty="0">
                <a:solidFill>
                  <a:srgbClr val="333333"/>
                </a:solidFill>
                <a:effectLst/>
                <a:latin typeface="Helvetica Neue"/>
              </a:rPr>
              <a:t>17</a:t>
            </a:r>
            <a:r>
              <a:rPr lang="zh-CN" altLang="en-US" b="0" i="0" dirty="0">
                <a:solidFill>
                  <a:srgbClr val="333333"/>
                </a:solidFill>
                <a:effectLst/>
                <a:latin typeface="Helvetica Neue"/>
              </a:rPr>
              <a:t>世纪之后，</a:t>
            </a:r>
            <a:r>
              <a:rPr lang="en-US" altLang="zh-CN" b="0" i="0" dirty="0">
                <a:solidFill>
                  <a:srgbClr val="333333"/>
                </a:solidFill>
                <a:effectLst/>
                <a:latin typeface="Helvetica Neue"/>
              </a:rPr>
              <a:t>I.</a:t>
            </a:r>
            <a:r>
              <a:rPr lang="zh-CN" altLang="en-US" b="0" i="0" dirty="0">
                <a:solidFill>
                  <a:srgbClr val="333333"/>
                </a:solidFill>
                <a:effectLst/>
                <a:latin typeface="Helvetica Neue"/>
              </a:rPr>
              <a:t>牛顿，</a:t>
            </a:r>
            <a:r>
              <a:rPr lang="en-US" altLang="zh-CN" b="0" i="0" dirty="0">
                <a:solidFill>
                  <a:srgbClr val="333333"/>
                </a:solidFill>
                <a:effectLst/>
                <a:latin typeface="Helvetica Neue"/>
              </a:rPr>
              <a:t>J.-L.</a:t>
            </a:r>
            <a:r>
              <a:rPr lang="zh-CN" altLang="en-US" b="0" i="0" dirty="0">
                <a:solidFill>
                  <a:srgbClr val="333333"/>
                </a:solidFill>
                <a:effectLst/>
                <a:latin typeface="Helvetica Neue"/>
              </a:rPr>
              <a:t>拉格朗日分别讨论了等距和非等距的一般插值公式。在近代，</a:t>
            </a:r>
            <a:r>
              <a:rPr lang="zh-CN" altLang="en-US" b="0" i="0" u="none" strike="noStrike" dirty="0">
                <a:solidFill>
                  <a:srgbClr val="136EC2"/>
                </a:solidFill>
                <a:effectLst/>
                <a:latin typeface="Helvetica Neue"/>
                <a:hlinkClick r:id="rId3"/>
              </a:rPr>
              <a:t>插值法</a:t>
            </a:r>
            <a:r>
              <a:rPr lang="zh-CN" altLang="en-US" b="0" i="0" dirty="0">
                <a:solidFill>
                  <a:srgbClr val="333333"/>
                </a:solidFill>
                <a:effectLst/>
                <a:latin typeface="Helvetica Neue"/>
              </a:rPr>
              <a:t>仍然是数据处理和编制函数表的常用工具，又是</a:t>
            </a:r>
            <a:r>
              <a:rPr lang="zh-CN" altLang="en-US" b="0" i="0" u="none" strike="noStrike" dirty="0">
                <a:solidFill>
                  <a:srgbClr val="136EC2"/>
                </a:solidFill>
                <a:effectLst/>
                <a:latin typeface="Helvetica Neue"/>
                <a:hlinkClick r:id="rId4"/>
              </a:rPr>
              <a:t>数值积分</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5"/>
              </a:rPr>
              <a:t>数值微分</a:t>
            </a:r>
            <a:r>
              <a:rPr lang="zh-CN" altLang="en-US" b="0" i="0" dirty="0">
                <a:solidFill>
                  <a:srgbClr val="333333"/>
                </a:solidFill>
                <a:effectLst/>
                <a:latin typeface="Helvetica Neue"/>
              </a:rPr>
              <a:t>、</a:t>
            </a:r>
            <a:r>
              <a:rPr lang="zh-CN" altLang="en-US" b="0" i="0" u="none" strike="noStrike" dirty="0">
                <a:solidFill>
                  <a:srgbClr val="136EC2"/>
                </a:solidFill>
                <a:effectLst/>
                <a:latin typeface="Helvetica Neue"/>
                <a:hlinkClick r:id="rId6"/>
              </a:rPr>
              <a:t>非线性方程</a:t>
            </a:r>
            <a:r>
              <a:rPr lang="zh-CN" altLang="en-US" b="0" i="0" dirty="0">
                <a:solidFill>
                  <a:srgbClr val="333333"/>
                </a:solidFill>
                <a:effectLst/>
                <a:latin typeface="Helvetica Neue"/>
              </a:rPr>
              <a:t>求根和微分方程数值解法的重要基础，许多求解计算公式都是以插值为基础导出的。</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zh-CN" altLang="en-US" b="0" i="0" dirty="0">
                <a:solidFill>
                  <a:srgbClr val="000000"/>
                </a:solidFill>
                <a:effectLst/>
                <a:latin typeface="宋体" panose="02010600030101010101" pitchFamily="2" charset="-122"/>
                <a:ea typeface="宋体" panose="02010600030101010101" pitchFamily="2" charset="-122"/>
              </a:rPr>
              <a:t>计算机断层扫描成像是一种可靠的、非侵入性的检测技术，它可以检测人体内部结构异常，如肿瘤、骨折、血管疾病以及细胞癌变等，除了为诊断提供支持，</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还可以指导各种临床过程，包括介入、手术治疗以及放射治疗等疾病</a:t>
            </a:r>
            <a:r>
              <a:rPr lang="en-US" altLang="zh-CN" b="0" i="0" baseline="30000" dirty="0">
                <a:solidFill>
                  <a:srgbClr val="0099FF"/>
                </a:solidFill>
                <a:effectLst/>
                <a:latin typeface="宋体" panose="02010600030101010101" pitchFamily="2" charset="-122"/>
                <a:ea typeface="宋体" panose="02010600030101010101" pitchFamily="2" charset="-122"/>
              </a:rPr>
              <a:t>[1]</a:t>
            </a:r>
            <a:r>
              <a:rPr lang="zh-CN" altLang="en-US" b="0" i="0" dirty="0">
                <a:solidFill>
                  <a:srgbClr val="000000"/>
                </a:solidFill>
                <a:effectLst/>
                <a:latin typeface="宋体" panose="02010600030101010101" pitchFamily="2" charset="-122"/>
                <a:ea typeface="宋体" panose="02010600030101010101" pitchFamily="2" charset="-122"/>
              </a:rPr>
              <a:t>。临床上为了获得具有诊断意义的高质量</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影像，所用的</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射线剂量相对较高，而且会多角度重复采集多张影像数据。反复的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扫描会让患者暴露在巨大的辐射当中，过度辐射还会诱发癌症、代谢异常、白血病或其他遗传性疾病，对人体产生不可逆的影响，降低患者的生活质量</a:t>
            </a:r>
            <a:r>
              <a:rPr lang="en-US" altLang="zh-CN" b="0" i="0" baseline="30000" dirty="0">
                <a:solidFill>
                  <a:srgbClr val="0099FF"/>
                </a:solidFill>
                <a:effectLst/>
                <a:latin typeface="宋体" panose="02010600030101010101" pitchFamily="2" charset="-122"/>
                <a:ea typeface="宋体" panose="02010600030101010101" pitchFamily="2" charset="-122"/>
              </a:rPr>
              <a:t>[2]</a:t>
            </a:r>
            <a:r>
              <a:rPr lang="zh-CN" altLang="en-US" b="0" i="0" dirty="0">
                <a:solidFill>
                  <a:srgbClr val="000000"/>
                </a:solidFill>
                <a:effectLst/>
                <a:latin typeface="宋体" panose="02010600030101010101" pitchFamily="2" charset="-122"/>
                <a:ea typeface="宋体" panose="02010600030101010101" pitchFamily="2" charset="-122"/>
              </a:rPr>
              <a:t>。因此，降低</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扫描辐射剂量不可避免地成为了研究者的关注热点，并具有重要的临床价值。</a:t>
            </a:r>
          </a:p>
          <a:p>
            <a:pPr algn="just"/>
            <a:r>
              <a:rPr lang="zh-CN" altLang="en-US" b="0" i="0" dirty="0">
                <a:solidFill>
                  <a:srgbClr val="000000"/>
                </a:solidFill>
                <a:effectLst/>
                <a:latin typeface="宋体" panose="02010600030101010101" pitchFamily="2" charset="-122"/>
                <a:ea typeface="宋体" panose="02010600030101010101" pitchFamily="2" charset="-122"/>
              </a:rPr>
              <a:t>在临床上，为了获得低剂量的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图像，通常使用降低管电流减少</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射线辐射；降低管电压减少</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射线穿透能力；减少</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射线数目来降低辐射剂量。虽然在一定程度上改善了辐射剂量过高的问题，但是这些措施会极大地降低</a:t>
            </a:r>
            <a:r>
              <a:rPr lang="en-US" altLang="zh-CN" b="0" i="0" dirty="0">
                <a:solidFill>
                  <a:srgbClr val="000000"/>
                </a:solidFill>
                <a:effectLst/>
                <a:latin typeface="宋体" panose="02010600030101010101" pitchFamily="2" charset="-122"/>
                <a:ea typeface="宋体" panose="02010600030101010101" pitchFamily="2" charset="-122"/>
              </a:rPr>
              <a:t>X</a:t>
            </a:r>
            <a:r>
              <a:rPr lang="zh-CN" altLang="en-US" b="0" i="0" dirty="0">
                <a:solidFill>
                  <a:srgbClr val="000000"/>
                </a:solidFill>
                <a:effectLst/>
                <a:latin typeface="宋体" panose="02010600030101010101" pitchFamily="2" charset="-122"/>
                <a:ea typeface="宋体" panose="02010600030101010101" pitchFamily="2" charset="-122"/>
              </a:rPr>
              <a:t>射线信号的信噪比</a:t>
            </a:r>
            <a:r>
              <a:rPr lang="en-US" altLang="zh-CN" b="0" i="0" dirty="0">
                <a:solidFill>
                  <a:srgbClr val="000000"/>
                </a:solidFill>
                <a:effectLst/>
                <a:latin typeface="宋体" panose="02010600030101010101" pitchFamily="2" charset="-122"/>
                <a:ea typeface="宋体" panose="02010600030101010101" pitchFamily="2" charset="-122"/>
              </a:rPr>
              <a:t>(signal-noise ratio</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SNR)</a:t>
            </a:r>
            <a:r>
              <a:rPr lang="zh-CN" altLang="en-US" b="0" i="0" dirty="0">
                <a:solidFill>
                  <a:srgbClr val="000000"/>
                </a:solidFill>
                <a:effectLst/>
                <a:latin typeface="宋体" panose="02010600030101010101" pitchFamily="2" charset="-122"/>
                <a:ea typeface="宋体" panose="02010600030101010101" pitchFamily="2" charset="-122"/>
              </a:rPr>
              <a:t>，并导致低对比度</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图像存在大量噪声和伪影，成像质量的视觉退化会导致器官纹理和边缘的模糊，从而降低临床诊断和任务分析的可靠性</a:t>
            </a:r>
            <a:r>
              <a:rPr lang="en-US" altLang="zh-CN" b="0" i="0" baseline="30000" dirty="0">
                <a:solidFill>
                  <a:srgbClr val="0099FF"/>
                </a:solidFill>
                <a:effectLst/>
                <a:latin typeface="宋体" panose="02010600030101010101" pitchFamily="2" charset="-122"/>
                <a:ea typeface="宋体" panose="02010600030101010101" pitchFamily="2" charset="-122"/>
              </a:rPr>
              <a:t>[3]</a:t>
            </a:r>
            <a:r>
              <a:rPr lang="zh-CN" altLang="en-US" b="0" i="0" dirty="0">
                <a:solidFill>
                  <a:srgbClr val="000000"/>
                </a:solidFill>
                <a:effectLst/>
                <a:latin typeface="宋体" panose="02010600030101010101" pitchFamily="2" charset="-122"/>
                <a:ea typeface="宋体" panose="02010600030101010101" pitchFamily="2" charset="-122"/>
              </a:rPr>
              <a:t>。然而，为了克服</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图像的视觉退化，提高低剂量</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图像的临床可用性，重建出符合临床需求的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图像是国内外研究者广泛关注的、具有挑战性的难点问题。</a:t>
            </a:r>
          </a:p>
          <a:p>
            <a:pPr algn="just"/>
            <a:r>
              <a:rPr lang="zh-CN" altLang="en-US" b="0" i="0" dirty="0">
                <a:solidFill>
                  <a:srgbClr val="000000"/>
                </a:solidFill>
                <a:effectLst/>
                <a:latin typeface="宋体" panose="02010600030101010101" pitchFamily="2" charset="-122"/>
                <a:ea typeface="宋体" panose="02010600030101010101" pitchFamily="2" charset="-122"/>
              </a:rPr>
              <a:t>目前，人工智能在计算机视觉、自然语言处理以及医学图像领域取得突破性进展，尤其体现在医学图像处理领域，包括前期的</a:t>
            </a:r>
            <a:r>
              <a:rPr lang="en-US" altLang="zh-CN" b="0" i="0" dirty="0">
                <a:solidFill>
                  <a:srgbClr val="000000"/>
                </a:solidFill>
                <a:effectLst/>
                <a:latin typeface="宋体" panose="02010600030101010101" pitchFamily="2" charset="-122"/>
                <a:ea typeface="宋体" panose="02010600030101010101" pitchFamily="2" charset="-122"/>
              </a:rPr>
              <a:t>PET/CT</a:t>
            </a:r>
            <a:r>
              <a:rPr lang="zh-CN" altLang="en-US" b="0" i="0" dirty="0">
                <a:solidFill>
                  <a:srgbClr val="000000"/>
                </a:solidFill>
                <a:effectLst/>
                <a:latin typeface="宋体" panose="02010600030101010101" pitchFamily="2" charset="-122"/>
                <a:ea typeface="宋体" panose="02010600030101010101" pitchFamily="2" charset="-122"/>
              </a:rPr>
              <a:t>图像重建</a:t>
            </a:r>
            <a:r>
              <a:rPr lang="en-US" altLang="zh-CN" b="0" i="0" baseline="30000" dirty="0">
                <a:solidFill>
                  <a:srgbClr val="0099FF"/>
                </a:solidFill>
                <a:effectLst/>
                <a:latin typeface="宋体" panose="02010600030101010101" pitchFamily="2" charset="-122"/>
                <a:ea typeface="宋体" panose="02010600030101010101" pitchFamily="2" charset="-122"/>
              </a:rPr>
              <a:t>[4]</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MRI</a:t>
            </a:r>
            <a:r>
              <a:rPr lang="zh-CN" altLang="en-US" b="0" i="0" dirty="0">
                <a:solidFill>
                  <a:srgbClr val="000000"/>
                </a:solidFill>
                <a:effectLst/>
                <a:latin typeface="宋体" panose="02010600030101010101" pitchFamily="2" charset="-122"/>
                <a:ea typeface="宋体" panose="02010600030101010101" pitchFamily="2" charset="-122"/>
              </a:rPr>
              <a:t>图像病灶分割</a:t>
            </a:r>
            <a:r>
              <a:rPr lang="en-US" altLang="zh-CN" b="0" i="0" baseline="30000" dirty="0">
                <a:solidFill>
                  <a:srgbClr val="0099FF"/>
                </a:solidFill>
                <a:effectLst/>
                <a:latin typeface="宋体" panose="02010600030101010101" pitchFamily="2" charset="-122"/>
                <a:ea typeface="宋体" panose="02010600030101010101" pitchFamily="2" charset="-122"/>
              </a:rPr>
              <a:t>[5]</a:t>
            </a:r>
            <a:r>
              <a:rPr lang="zh-CN" altLang="en-US" b="0" i="0" dirty="0">
                <a:solidFill>
                  <a:srgbClr val="000000"/>
                </a:solidFill>
                <a:effectLst/>
                <a:latin typeface="宋体" panose="02010600030101010101" pitchFamily="2" charset="-122"/>
                <a:ea typeface="宋体" panose="02010600030101010101" pitchFamily="2" charset="-122"/>
              </a:rPr>
              <a:t>、</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图像检索</a:t>
            </a:r>
            <a:r>
              <a:rPr lang="en-US" altLang="zh-CN" b="0" i="0" baseline="30000" dirty="0">
                <a:solidFill>
                  <a:srgbClr val="0099FF"/>
                </a:solidFill>
                <a:effectLst/>
                <a:latin typeface="宋体" panose="02010600030101010101" pitchFamily="2" charset="-122"/>
                <a:ea typeface="宋体" panose="02010600030101010101" pitchFamily="2" charset="-122"/>
              </a:rPr>
              <a:t>[6]</a:t>
            </a:r>
            <a:r>
              <a:rPr lang="zh-CN" altLang="en-US" b="0" i="0" dirty="0">
                <a:solidFill>
                  <a:srgbClr val="000000"/>
                </a:solidFill>
                <a:effectLst/>
                <a:latin typeface="宋体" panose="02010600030101010101" pitchFamily="2" charset="-122"/>
                <a:ea typeface="宋体" panose="02010600030101010101" pitchFamily="2" charset="-122"/>
              </a:rPr>
              <a:t>，以及后期的智能诊断</a:t>
            </a:r>
            <a:r>
              <a:rPr lang="en-US" altLang="zh-CN" b="0" i="0" baseline="30000" dirty="0">
                <a:solidFill>
                  <a:srgbClr val="0099FF"/>
                </a:solidFill>
                <a:effectLst/>
                <a:latin typeface="宋体" panose="02010600030101010101" pitchFamily="2" charset="-122"/>
                <a:ea typeface="宋体" panose="02010600030101010101" pitchFamily="2" charset="-122"/>
              </a:rPr>
              <a:t>[7]</a:t>
            </a:r>
            <a:r>
              <a:rPr lang="zh-CN" altLang="en-US" b="0" i="0" dirty="0">
                <a:solidFill>
                  <a:srgbClr val="000000"/>
                </a:solidFill>
                <a:effectLst/>
                <a:latin typeface="宋体" panose="02010600030101010101" pitchFamily="2" charset="-122"/>
                <a:ea typeface="宋体" panose="02010600030101010101" pitchFamily="2" charset="-122"/>
              </a:rPr>
              <a:t>。随着深度学习方法在图像去噪、超分辨率、图像识别、图像检测等</a:t>
            </a:r>
            <a:r>
              <a:rPr lang="en-US" altLang="zh-CN" b="0" i="0" baseline="30000" dirty="0">
                <a:solidFill>
                  <a:srgbClr val="0099FF"/>
                </a:solidFill>
                <a:effectLst/>
                <a:latin typeface="宋体" panose="02010600030101010101" pitchFamily="2" charset="-122"/>
                <a:ea typeface="宋体" panose="02010600030101010101" pitchFamily="2" charset="-122"/>
              </a:rPr>
              <a:t>[8-9]</a:t>
            </a:r>
            <a:r>
              <a:rPr lang="zh-CN" altLang="en-US" b="0" i="0" dirty="0">
                <a:solidFill>
                  <a:srgbClr val="000000"/>
                </a:solidFill>
                <a:effectLst/>
                <a:latin typeface="宋体" panose="02010600030101010101" pitchFamily="2" charset="-122"/>
                <a:ea typeface="宋体" panose="02010600030101010101" pitchFamily="2" charset="-122"/>
              </a:rPr>
              <a:t>计算机视觉领域发展迅速，在图像重建领域</a:t>
            </a:r>
            <a:r>
              <a:rPr lang="en-US" altLang="zh-CN" b="0" i="0" baseline="30000" dirty="0">
                <a:solidFill>
                  <a:srgbClr val="0099FF"/>
                </a:solidFill>
                <a:effectLst/>
                <a:latin typeface="宋体" panose="02010600030101010101" pitchFamily="2" charset="-122"/>
                <a:ea typeface="宋体" panose="02010600030101010101" pitchFamily="2" charset="-122"/>
              </a:rPr>
              <a:t>[10]</a:t>
            </a:r>
            <a:r>
              <a:rPr lang="zh-CN" altLang="en-US" b="0" i="0" dirty="0">
                <a:solidFill>
                  <a:srgbClr val="000000"/>
                </a:solidFill>
                <a:effectLst/>
                <a:latin typeface="宋体" panose="02010600030101010101" pitchFamily="2" charset="-122"/>
                <a:ea typeface="宋体" panose="02010600030101010101" pitchFamily="2" charset="-122"/>
              </a:rPr>
              <a:t>也取得了初步应用。随着硬件技术的快速发展，以及对高性能处理、数据驱动的执行加速了医学成像领域深度学习方法的运用。因此，近年来，利用深度学习技术提出更优的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重建方法成为研究人员的研究重点。</a:t>
            </a:r>
          </a:p>
          <a:p>
            <a:pPr algn="just"/>
            <a:r>
              <a:rPr lang="zh-CN" altLang="en-US" b="0" i="0" dirty="0">
                <a:solidFill>
                  <a:srgbClr val="000000"/>
                </a:solidFill>
                <a:effectLst/>
                <a:latin typeface="宋体" panose="02010600030101010101" pitchFamily="2" charset="-122"/>
                <a:ea typeface="宋体" panose="02010600030101010101" pitchFamily="2" charset="-122"/>
              </a:rPr>
              <a:t>本文重点总结了深度学习算法在</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重建领域的应用，分析不同算法在</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图像的降噪精度、病变识别能力以及保持精细结构和纹理细节等方面的重建能力。本文的整体框架如图</a:t>
            </a:r>
            <a:r>
              <a:rPr lang="en-US" altLang="zh-CN" b="0" i="0" dirty="0">
                <a:solidFill>
                  <a:srgbClr val="000000"/>
                </a:solidFill>
                <a:effectLst/>
                <a:latin typeface="宋体" panose="02010600030101010101" pitchFamily="2" charset="-122"/>
                <a:ea typeface="宋体" panose="02010600030101010101" pitchFamily="2" charset="-122"/>
              </a:rPr>
              <a:t>1</a:t>
            </a:r>
            <a:r>
              <a:rPr lang="zh-CN" altLang="en-US" b="0" i="0" dirty="0">
                <a:solidFill>
                  <a:srgbClr val="000000"/>
                </a:solidFill>
                <a:effectLst/>
                <a:latin typeface="宋体" panose="02010600030101010101" pitchFamily="2" charset="-122"/>
                <a:ea typeface="宋体" panose="02010600030101010101" pitchFamily="2" charset="-122"/>
              </a:rPr>
              <a:t>所示，我们首先详细描述了</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图像重建问题，然后对医学</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图像重建方法进行全面介绍，主要分为传统的</a:t>
            </a:r>
            <a:r>
              <a:rPr lang="en-US" altLang="zh-CN" b="0" i="0" dirty="0">
                <a:solidFill>
                  <a:srgbClr val="000000"/>
                </a:solidFill>
                <a:effectLst/>
                <a:latin typeface="宋体" panose="02010600030101010101" pitchFamily="2" charset="-122"/>
                <a:ea typeface="宋体" panose="02010600030101010101" pitchFamily="2" charset="-122"/>
              </a:rPr>
              <a:t>CT</a:t>
            </a:r>
            <a:r>
              <a:rPr lang="zh-CN" altLang="en-US" b="0" i="0" dirty="0">
                <a:solidFill>
                  <a:srgbClr val="000000"/>
                </a:solidFill>
                <a:effectLst/>
                <a:latin typeface="宋体" panose="02010600030101010101" pitchFamily="2" charset="-122"/>
                <a:ea typeface="宋体" panose="02010600030101010101" pitchFamily="2" charset="-122"/>
              </a:rPr>
              <a:t>重建算法，以及近几年发展迅速的深度学习重建算法。</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45</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pPr algn="l" latinLnBrk="1"/>
            <a:r>
              <a:rPr lang="en-US" altLang="zh-CN" b="1" i="0" dirty="0">
                <a:solidFill>
                  <a:srgbClr val="D57747"/>
                </a:solidFill>
                <a:effectLst/>
                <a:latin typeface="-apple-system"/>
              </a:rPr>
              <a:t>@.</a:t>
            </a:r>
            <a:r>
              <a:rPr lang="zh-CN" altLang="en-US" b="0" i="0" dirty="0">
                <a:solidFill>
                  <a:srgbClr val="8A8A8A"/>
                </a:solidFill>
                <a:effectLst/>
                <a:latin typeface="-apple-system"/>
              </a:rPr>
              <a:t>点调用，将表达式逐元素遍历调用</a:t>
            </a:r>
          </a:p>
          <a:p>
            <a:endParaRPr lang="en-US" altLang="zh-CN" dirty="0"/>
          </a:p>
          <a:p>
            <a:r>
              <a:rPr lang="en-US" altLang="zh-CN" dirty="0"/>
              <a:t>@.</a:t>
            </a:r>
            <a:r>
              <a:rPr lang="zh-CN" altLang="en-US" b="0" i="0" dirty="0">
                <a:solidFill>
                  <a:srgbClr val="2C3E50"/>
                </a:solidFill>
                <a:effectLst/>
                <a:latin typeface="-apple-system"/>
              </a:rPr>
              <a:t> </a:t>
            </a:r>
            <a:r>
              <a:rPr lang="en-US" altLang="zh-CN" b="0" i="0" dirty="0">
                <a:solidFill>
                  <a:srgbClr val="2C3E50"/>
                </a:solidFill>
                <a:effectLst/>
                <a:latin typeface="-apple-system"/>
              </a:rPr>
              <a:t>expr </a:t>
            </a:r>
            <a:r>
              <a:rPr lang="zh-CN" altLang="en-US" b="0" i="0" dirty="0">
                <a:solidFill>
                  <a:srgbClr val="2C3E50"/>
                </a:solidFill>
                <a:effectLst/>
                <a:latin typeface="-apple-system"/>
              </a:rPr>
              <a:t>通常点调用和广播的多种写法可以等效替代，但是存在部分函数或表达不支持点调用或广播的情况 </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46</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48</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println</a:t>
            </a:r>
            <a:r>
              <a:rPr lang="en-US" altLang="zh-CN" dirty="0"/>
              <a:t>("x=",x)</a:t>
            </a:r>
          </a:p>
          <a:p>
            <a:r>
              <a:rPr lang="en-US" altLang="zh-CN" dirty="0"/>
              <a:t>x=[38.075, 38.125, 38.175, 38.225, 38.275, 38.325, 38.375, 38.425, 38.475, 38.525, 38.575, 38.625, 38.675, 38.725, 38.775, 38.825, 38.875, 38.925, 38.975, 39.025] </a:t>
            </a:r>
          </a:p>
          <a:p>
            <a:r>
              <a:rPr lang="es-ES" altLang="zh-CN" dirty="0"/>
              <a:t>julia&gt; println("x=",x)</a:t>
            </a:r>
          </a:p>
          <a:p>
            <a:r>
              <a:rPr lang="es-ES" altLang="zh-CN" dirty="0"/>
              <a:t>x=[38.075, 38.125, 38.175, 38.225, 38.275, 38.325, 38.375, 38.425, 38.475, 38.525, 38.575, 38.625, 38.675, 38.725, 38.775, 38.825, 38.875, 38.925, 38.975, 39.025]      </a:t>
            </a:r>
          </a:p>
          <a:p>
            <a:endParaRPr lang="es-ES" altLang="zh-CN" dirty="0"/>
          </a:p>
          <a:p>
            <a:r>
              <a:rPr lang="es-ES" altLang="zh-CN" dirty="0"/>
              <a:t>julia&gt; println("y=",y)</a:t>
            </a:r>
          </a:p>
          <a:p>
            <a:r>
              <a:rPr lang="es-ES" altLang="zh-CN" dirty="0"/>
              <a:t>y=[267, 318, 487, 815, 1502, 3162, 6207, 8414, 8156, 5975, 3473, 1601, 710, 386, 325, 247, 232, 207, 182, 157]</a:t>
            </a:r>
            <a:endParaRPr lang="en-US" altLang="zh-CN" dirty="0"/>
          </a:p>
        </p:txBody>
      </p:sp>
      <p:sp>
        <p:nvSpPr>
          <p:cNvPr id="4" name="灯片编号占位符 3"/>
          <p:cNvSpPr>
            <a:spLocks noGrp="1"/>
          </p:cNvSpPr>
          <p:nvPr>
            <p:ph type="sldNum" sz="quarter" idx="10"/>
          </p:nvPr>
        </p:nvSpPr>
        <p:spPr/>
        <p:txBody>
          <a:bodyPr/>
          <a:lstStyle/>
          <a:p>
            <a:pPr>
              <a:defRPr/>
            </a:pPr>
            <a:fld id="{EAF5D7B6-9300-482A-AC6E-3BA105FED359}" type="slidenum">
              <a:rPr lang="zh-CN" altLang="en-US" smtClean="0"/>
              <a:t>49</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olidFill>
                  <a:srgbClr val="0070C0"/>
                </a:solidFill>
                <a:latin typeface="微软雅黑" panose="020B0503020204020204" pitchFamily="34" charset="-122"/>
                <a:ea typeface="微软雅黑" panose="020B0503020204020204" pitchFamily="34" charset="-122"/>
              </a:rPr>
              <a:t>xx=38:0.01:39</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50</a:t>
            </a:fld>
            <a:endParaRPr lang="zh-CN" altLang="en-US"/>
          </a:p>
        </p:txBody>
      </p:sp>
    </p:spTree>
    <p:extLst>
      <p:ext uri="{BB962C8B-B14F-4D97-AF65-F5344CB8AC3E}">
        <p14:creationId xmlns:p14="http://schemas.microsoft.com/office/powerpoint/2010/main" val="23901744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fontAlgn="base" hangingPunct="0">
              <a:lnSpc>
                <a:spcPct val="125000"/>
              </a:lnSpc>
              <a:tabLst>
                <a:tab pos="269875" algn="l"/>
              </a:tabLst>
            </a:pP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如读不出来数据，特提供</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x</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轴和</a:t>
            </a: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y</a:t>
            </a:r>
            <a:r>
              <a:rPr lang="zh-CN" altLang="zh-CN" sz="1800" kern="100" dirty="0">
                <a:effectLst/>
                <a:latin typeface="宋体" panose="02010600030101010101" pitchFamily="2" charset="-122"/>
                <a:ea typeface="等线" panose="02010600030101010101" pitchFamily="2" charset="-122"/>
                <a:cs typeface="Times New Roman" panose="02020603050405020304" pitchFamily="18" charset="0"/>
              </a:rPr>
              <a:t>轴数据如下</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304800" algn="just" fontAlgn="base" hangingPunct="0">
              <a:lnSpc>
                <a:spcPct val="125000"/>
              </a:lnSpc>
              <a:tabLst>
                <a:tab pos="269875" algn="l"/>
              </a:tabLst>
            </a:pPr>
            <a:r>
              <a:rPr lang="es-ES" altLang="zh-CN" sz="1800" kern="100" dirty="0">
                <a:effectLst/>
                <a:latin typeface="宋体" panose="02010600030101010101" pitchFamily="2" charset="-122"/>
                <a:ea typeface="等线" panose="02010600030101010101" pitchFamily="2" charset="-122"/>
                <a:cs typeface="Times New Roman" panose="02020603050405020304" pitchFamily="18" charset="0"/>
              </a:rPr>
              <a:t>x=[38.075, 38.125, 38.175, 38.225, 38.275, 38.325, 38.375, 38.425, 38.475, 38.525, 38.575, 38.625, 38.675, 38.725, 38.775, 38.825, 38.875, 38.925, 38.975, 39.025]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fontAlgn="base" hangingPunct="0">
              <a:lnSpc>
                <a:spcPct val="125000"/>
              </a:lnSpc>
              <a:tabLst>
                <a:tab pos="269875" algn="l"/>
              </a:tabLst>
            </a:pPr>
            <a:r>
              <a:rPr lang="es-ES" altLang="zh-CN" sz="1800" kern="100" dirty="0">
                <a:effectLst/>
                <a:latin typeface="宋体" panose="02010600030101010101" pitchFamily="2" charset="-122"/>
                <a:ea typeface="等线" panose="02010600030101010101" pitchFamily="2" charset="-122"/>
                <a:cs typeface="Times New Roman" panose="02020603050405020304" pitchFamily="18" charset="0"/>
              </a:rPr>
              <a:t>y=[267, 318, 487, 815, 1502, 3162, 6207, 8414, 8156, 5975, 3473, 1601, 710, 386, 325, 247, 232, 207, 182, 157]</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l">
              <a:lnSpc>
                <a:spcPts val="1425"/>
              </a:lnSpc>
            </a:pPr>
            <a:endPar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endParaRPr>
          </a:p>
          <a:p>
            <a:pPr algn="l">
              <a:lnSpc>
                <a:spcPts val="1425"/>
              </a:lnSpc>
            </a:pPr>
            <a:r>
              <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读取实验数据</a:t>
            </a:r>
            <a:r>
              <a:rPr lang="zh-CN" altLang="zh-CN" sz="1800" kern="0" dirty="0">
                <a:solidFill>
                  <a:srgbClr val="008000"/>
                </a:solidFill>
                <a:effectLst/>
                <a:latin typeface="Calibri" panose="020F0502020204030204" charset="0"/>
                <a:ea typeface="Consolas" panose="020B0609020204030204" pitchFamily="49" charset="0"/>
                <a:cs typeface="宋体" panose="02010600030101010101" pitchFamily="2" charset="-122"/>
              </a:rPr>
              <a:t> </a:t>
            </a:r>
            <a:r>
              <a:rPr lang="en-US" altLang="zh-CN" sz="1800" kern="100" dirty="0">
                <a:solidFill>
                  <a:srgbClr val="000000"/>
                </a:solidFill>
                <a:effectLst/>
                <a:highlight>
                  <a:srgbClr val="FFFF00"/>
                </a:highlight>
                <a:latin typeface="宋体" panose="02010600030101010101" pitchFamily="2" charset="-122"/>
                <a:ea typeface="宋体" panose="02010600030101010101" pitchFamily="2" charset="-122"/>
                <a:cs typeface="Times New Roman" panose="02020603050405020304" pitchFamily="18" charset="0"/>
              </a:rPr>
              <a:t>subplot+</a:t>
            </a:r>
            <a:r>
              <a:rPr lang="zh-CN" altLang="zh-CN" sz="1800" kern="100" dirty="0">
                <a:solidFill>
                  <a:srgbClr val="000000"/>
                </a:solidFill>
                <a:effectLst/>
                <a:highlight>
                  <a:srgbClr val="FFFF00"/>
                </a:highlight>
                <a:latin typeface="Calibri" panose="020F0502020204030204" charset="0"/>
                <a:ea typeface="宋体" panose="02010600030101010101" pitchFamily="2" charset="-122"/>
                <a:cs typeface="Times New Roman" panose="02020603050405020304" pitchFamily="18" charset="0"/>
              </a:rPr>
              <a:t>图结果</a:t>
            </a:r>
            <a:r>
              <a:rPr lang="en-US" altLang="zh-CN" sz="1800" kern="100" dirty="0">
                <a:solidFill>
                  <a:srgbClr val="000000"/>
                </a:solidFill>
                <a:effectLst/>
                <a:highlight>
                  <a:srgbClr val="FFFF00"/>
                </a:highlight>
                <a:latin typeface="Calibri" panose="020F0502020204030204" charset="0"/>
                <a:ea typeface="宋体" panose="02010600030101010101" pitchFamily="2" charset="-122"/>
                <a:cs typeface="Times New Roman" panose="02020603050405020304" pitchFamily="18" charset="0"/>
              </a:rPr>
              <a:t>=1</a:t>
            </a:r>
            <a:r>
              <a:rPr lang="zh-CN" altLang="zh-CN" sz="1800" kern="100" dirty="0">
                <a:solidFill>
                  <a:srgbClr val="000000"/>
                </a:solidFill>
                <a:effectLst/>
                <a:highlight>
                  <a:srgbClr val="FFFF00"/>
                </a:highlight>
                <a:latin typeface="Calibri" panose="020F0502020204030204" charset="0"/>
                <a:ea typeface="宋体" panose="02010600030101010101" pitchFamily="2" charset="-122"/>
                <a:cs typeface="Times New Roman" panose="02020603050405020304" pitchFamily="18" charset="0"/>
              </a:rPr>
              <a:t>分</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795E26"/>
                </a:solidFill>
                <a:effectLst/>
                <a:latin typeface="Consolas" panose="020B0609020204030204" pitchFamily="49" charset="0"/>
                <a:ea typeface="宋体" panose="02010600030101010101" pitchFamily="2" charset="-122"/>
                <a:cs typeface="宋体" panose="02010600030101010101" pitchFamily="2" charset="-122"/>
              </a:rPr>
              <a:t>readtable</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"xrd.txt"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从</a:t>
            </a:r>
            <a:r>
              <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xrd1</a:t>
            </a:r>
            <a:r>
              <a:rPr lang="zh-CN"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矩阵中抽取第</a:t>
            </a:r>
            <a:r>
              <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1</a:t>
            </a:r>
            <a:r>
              <a:rPr lang="zh-CN"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列数据为</a:t>
            </a:r>
            <a:r>
              <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x</a:t>
            </a:r>
            <a:r>
              <a:rPr lang="zh-CN"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轴值</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1</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];y=</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2</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subplot(2,2,1)</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scatter(</a:t>
            </a:r>
            <a:r>
              <a:rPr lang="en-US" altLang="zh-CN" sz="1800" kern="0" dirty="0" err="1">
                <a:solidFill>
                  <a:srgbClr val="795E26"/>
                </a:solidFill>
                <a:effectLst/>
                <a:latin typeface="Consolas" panose="020B0609020204030204" pitchFamily="49" charset="0"/>
                <a:ea typeface="宋体" panose="02010600030101010101" pitchFamily="2" charset="-122"/>
                <a:cs typeface="宋体" panose="02010600030101010101" pitchFamily="2" charset="-122"/>
              </a:rPr>
              <a:t>x,y</a:t>
            </a: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err="1">
                <a:solidFill>
                  <a:srgbClr val="795E26"/>
                </a:solidFill>
                <a:effectLst/>
                <a:latin typeface="Consolas" panose="020B0609020204030204" pitchFamily="49" charset="0"/>
                <a:ea typeface="宋体" panose="02010600030101010101" pitchFamily="2" charset="-122"/>
                <a:cs typeface="宋体" panose="02010600030101010101" pitchFamily="2" charset="-122"/>
              </a:rPr>
              <a:t>xlabel</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raw</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"$2\theta$, deg"</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 </a:t>
            </a:r>
            <a:r>
              <a:rPr lang="en-US"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#x</a:t>
            </a:r>
            <a:r>
              <a:rPr lang="zh-CN" altLang="zh-CN" sz="1800" kern="0" dirty="0">
                <a:solidFill>
                  <a:srgbClr val="008000"/>
                </a:solidFill>
                <a:effectLst/>
                <a:latin typeface="Consolas" panose="020B0609020204030204" pitchFamily="49" charset="0"/>
                <a:ea typeface="宋体" panose="02010600030101010101" pitchFamily="2" charset="-122"/>
                <a:cs typeface="宋体" panose="02010600030101010101" pitchFamily="2" charset="-122"/>
              </a:rPr>
              <a:t>轴标注</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err="1">
                <a:solidFill>
                  <a:srgbClr val="795E26"/>
                </a:solidFill>
                <a:effectLst/>
                <a:latin typeface="Consolas" panose="020B0609020204030204" pitchFamily="49" charset="0"/>
                <a:ea typeface="宋体" panose="02010600030101010101" pitchFamily="2" charset="-122"/>
                <a:cs typeface="宋体" panose="02010600030101010101" pitchFamily="2" charset="-122"/>
              </a:rPr>
              <a:t>ylabel</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Intensity,cps</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subplot(2,2,2)</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xx=</a:t>
            </a:r>
            <a:r>
              <a:rPr lang="en-US" altLang="zh-CN" sz="1800" kern="0" dirty="0">
                <a:solidFill>
                  <a:srgbClr val="098658"/>
                </a:solidFill>
                <a:effectLst/>
                <a:latin typeface="Consolas" panose="020B0609020204030204" pitchFamily="49" charset="0"/>
                <a:ea typeface="宋体" panose="02010600030101010101" pitchFamily="2" charset="-122"/>
                <a:cs typeface="宋体" panose="02010600030101010101" pitchFamily="2" charset="-122"/>
              </a:rPr>
              <a:t>3</a:t>
            </a:r>
            <a:r>
              <a:rPr lang="en-US" altLang="zh-CN" sz="1800" kern="0" dirty="0">
                <a:solidFill>
                  <a:srgbClr val="098658"/>
                </a:solidFill>
                <a:effectLst/>
                <a:highlight>
                  <a:srgbClr val="FFFF00"/>
                </a:highlight>
                <a:latin typeface="Consolas" panose="020B0609020204030204" pitchFamily="49" charset="0"/>
                <a:ea typeface="宋体" panose="02010600030101010101" pitchFamily="2" charset="-122"/>
                <a:cs typeface="宋体" panose="02010600030101010101" pitchFamily="2" charset="-122"/>
              </a:rPr>
              <a:t>8</a:t>
            </a:r>
            <a:r>
              <a:rPr lang="en-US" altLang="zh-CN" sz="1800" kern="0" dirty="0">
                <a:solidFill>
                  <a:srgbClr val="000000"/>
                </a:solidFill>
                <a:effectLst/>
                <a:highlight>
                  <a:srgbClr val="FFFF00"/>
                </a:highligh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98658"/>
                </a:solidFill>
                <a:effectLst/>
                <a:highlight>
                  <a:srgbClr val="FFFF00"/>
                </a:highlight>
                <a:latin typeface="Consolas" panose="020B0609020204030204" pitchFamily="49" charset="0"/>
                <a:ea typeface="宋体" panose="02010600030101010101" pitchFamily="2" charset="-122"/>
                <a:cs typeface="宋体" panose="02010600030101010101" pitchFamily="2" charset="-122"/>
              </a:rPr>
              <a:t>0.01</a:t>
            </a:r>
            <a:r>
              <a:rPr lang="en-US" altLang="zh-CN" sz="1800" kern="0" dirty="0">
                <a:solidFill>
                  <a:srgbClr val="000000"/>
                </a:solidFill>
                <a:effectLst/>
                <a:highlight>
                  <a:srgbClr val="FFFF00"/>
                </a:highligh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98658"/>
                </a:solidFill>
                <a:effectLst/>
                <a:highlight>
                  <a:srgbClr val="FFFF00"/>
                </a:highlight>
                <a:latin typeface="Consolas" panose="020B0609020204030204" pitchFamily="49" charset="0"/>
                <a:ea typeface="宋体" panose="02010600030101010101" pitchFamily="2" charset="-122"/>
                <a:cs typeface="宋体" panose="02010600030101010101" pitchFamily="2" charset="-122"/>
              </a:rPr>
              <a:t>39</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interp1</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x,y,xx</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098658"/>
                </a:solidFill>
                <a:effectLst/>
                <a:latin typeface="Consolas" panose="020B0609020204030204" pitchFamily="49" charset="0"/>
                <a:ea typeface="宋体" panose="02010600030101010101" pitchFamily="2" charset="-122"/>
                <a:cs typeface="宋体" panose="02010600030101010101" pitchFamily="2" charset="-122"/>
              </a:rPr>
              <a:t>xx</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"-or"</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title</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线性插值</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subplot(2,2,3)</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=interp1(</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x,y,xx</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 "nearest"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098658"/>
                </a:solidFill>
                <a:effectLst/>
                <a:latin typeface="Consolas" panose="020B0609020204030204" pitchFamily="49" charset="0"/>
                <a:ea typeface="宋体" panose="02010600030101010101" pitchFamily="2" charset="-122"/>
                <a:cs typeface="宋体" panose="02010600030101010101" pitchFamily="2" charset="-122"/>
              </a:rPr>
              <a:t>xx</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"-or"</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title</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邻近插值</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subplot(2,2,4)</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interp1</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x,y,xx,</a:t>
            </a:r>
            <a:r>
              <a:rPr lang="en-US" altLang="zh-CN" sz="1800" kern="0" dirty="0" err="1">
                <a:solidFill>
                  <a:srgbClr val="A31515"/>
                </a:solidFill>
                <a:effectLst/>
                <a:latin typeface="Consolas" panose="020B0609020204030204" pitchFamily="49" charset="0"/>
                <a:ea typeface="宋体" panose="02010600030101010101" pitchFamily="2" charset="-122"/>
                <a:cs typeface="宋体" panose="02010600030101010101" pitchFamily="2" charset="-122"/>
              </a:rPr>
              <a:t>"spline</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plot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err="1">
                <a:solidFill>
                  <a:srgbClr val="098658"/>
                </a:solidFill>
                <a:effectLst/>
                <a:latin typeface="Consolas" panose="020B0609020204030204" pitchFamily="49" charset="0"/>
                <a:ea typeface="宋体" panose="02010600030101010101" pitchFamily="2" charset="-122"/>
                <a:cs typeface="宋体" panose="02010600030101010101" pitchFamily="2" charset="-122"/>
              </a:rPr>
              <a:t>xx</a:t>
            </a:r>
            <a:r>
              <a:rPr lang="en-US" altLang="zh-CN" sz="1800" kern="0" dirty="0" err="1">
                <a:solidFill>
                  <a:srgbClr val="000000"/>
                </a:solidFill>
                <a:effectLst/>
                <a:latin typeface="Consolas" panose="020B0609020204030204" pitchFamily="49" charset="0"/>
                <a:ea typeface="宋体" panose="02010600030101010101" pitchFamily="2" charset="-122"/>
                <a:cs typeface="宋体" panose="02010600030101010101" pitchFamily="2" charset="-122"/>
              </a:rPr>
              <a:t>,yy</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"-or"</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pPr algn="l">
              <a:lnSpc>
                <a:spcPts val="1425"/>
              </a:lnSpc>
            </a:pPr>
            <a:r>
              <a:rPr lang="en-US" altLang="zh-CN" sz="1800" kern="0" dirty="0">
                <a:solidFill>
                  <a:srgbClr val="795E26"/>
                </a:solidFill>
                <a:effectLst/>
                <a:latin typeface="Consolas" panose="020B0609020204030204" pitchFamily="49" charset="0"/>
                <a:ea typeface="宋体" panose="02010600030101010101" pitchFamily="2" charset="-122"/>
                <a:cs typeface="宋体" panose="02010600030101010101" pitchFamily="2" charset="-122"/>
              </a:rPr>
              <a:t>title</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zh-CN"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三次样条插值</a:t>
            </a:r>
            <a:r>
              <a:rPr lang="en-US" altLang="zh-CN" sz="1800" kern="0" dirty="0">
                <a:solidFill>
                  <a:srgbClr val="A31515"/>
                </a:solidFill>
                <a:effectLst/>
                <a:latin typeface="Consolas" panose="020B0609020204030204" pitchFamily="49" charset="0"/>
                <a:ea typeface="宋体" panose="02010600030101010101" pitchFamily="2" charset="-122"/>
                <a:cs typeface="宋体" panose="02010600030101010101" pitchFamily="2" charset="-122"/>
              </a:rPr>
              <a:t>"</a:t>
            </a:r>
            <a:r>
              <a:rPr lang="en-US" altLang="zh-CN" sz="1800" kern="0" dirty="0">
                <a:solidFill>
                  <a:srgbClr val="000000"/>
                </a:solidFill>
                <a:effectLst/>
                <a:latin typeface="Consolas" panose="020B0609020204030204" pitchFamily="49" charset="0"/>
                <a:ea typeface="宋体" panose="02010600030101010101" pitchFamily="2" charset="-122"/>
                <a:cs typeface="宋体" panose="02010600030101010101" pitchFamily="2" charset="-122"/>
              </a:rPr>
              <a:t>)</a:t>
            </a:r>
            <a:endParaRPr lang="zh-CN" altLang="zh-CN" sz="1800" kern="100" dirty="0">
              <a:effectLst/>
              <a:latin typeface="Calibri" panose="020F0502020204030204"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52</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56</a:t>
            </a:fld>
            <a:endParaRPr lang="zh-CN" altLang="en-US"/>
          </a:p>
        </p:txBody>
      </p:sp>
    </p:spTree>
    <p:extLst>
      <p:ext uri="{BB962C8B-B14F-4D97-AF65-F5344CB8AC3E}">
        <p14:creationId xmlns:p14="http://schemas.microsoft.com/office/powerpoint/2010/main" val="25727756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212121"/>
                </a:solidFill>
                <a:effectLst/>
                <a:latin typeface="微软雅黑" panose="020B0503020204020204" pitchFamily="34" charset="-122"/>
                <a:ea typeface="微软雅黑" panose="020B0503020204020204" pitchFamily="34" charset="-122"/>
              </a:rPr>
              <a:t>平滑是降低数据集内噪声的方法</a:t>
            </a:r>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57</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59</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sz="1200" dirty="0" err="1"/>
              <a:t>clabel</a:t>
            </a:r>
            <a:r>
              <a:rPr lang="en-US" altLang="zh-CN" sz="1200" dirty="0"/>
              <a:t>(</a:t>
            </a:r>
            <a:r>
              <a:rPr lang="en-US" altLang="zh-CN" sz="1200" dirty="0" err="1"/>
              <a:t>c,inline</a:t>
            </a:r>
            <a:r>
              <a:rPr lang="en-US" altLang="zh-CN" sz="1200" dirty="0"/>
              <a:t>=false, </a:t>
            </a:r>
            <a:r>
              <a:rPr lang="en-US" altLang="zh-CN" sz="1200" dirty="0" err="1"/>
              <a:t>fontsize</a:t>
            </a:r>
            <a:r>
              <a:rPr lang="en-US" altLang="zh-CN" sz="1200" dirty="0"/>
              <a:t>=10, </a:t>
            </a:r>
            <a:r>
              <a:rPr lang="en-US" altLang="zh-CN" sz="1200" dirty="0" err="1"/>
              <a:t>fmt</a:t>
            </a:r>
            <a:r>
              <a:rPr lang="en-US" altLang="zh-CN" sz="1200" dirty="0"/>
              <a:t>="%.0f", colors="k")</a:t>
            </a:r>
            <a:endParaRPr lang="zh-CN" altLang="zh-CN" sz="1200" dirty="0"/>
          </a:p>
          <a:p>
            <a:endParaRPr lang="en-US" altLang="zh-CN" dirty="0"/>
          </a:p>
          <a:p>
            <a:r>
              <a:rPr lang="en-US" altLang="zh-CN" dirty="0"/>
              <a:t>a =</a:t>
            </a:r>
          </a:p>
          <a:p>
            <a:endParaRPr lang="en-US" altLang="zh-CN" dirty="0"/>
          </a:p>
          <a:p>
            <a:r>
              <a:rPr lang="en-US" altLang="zh-CN" dirty="0"/>
              <a:t> -157.2000</a:t>
            </a:r>
          </a:p>
          <a:p>
            <a:r>
              <a:rPr lang="en-US" altLang="zh-CN" dirty="0"/>
              <a:t> [</a:t>
            </a:r>
            <a:r>
              <a:rPr lang="en-US" altLang="zh-CN" dirty="0" err="1"/>
              <a:t>a,b</a:t>
            </a:r>
            <a:r>
              <a:rPr lang="en-US" altLang="zh-CN" dirty="0"/>
              <a:t>]=view</a:t>
            </a:r>
          </a:p>
          <a:p>
            <a:endParaRPr lang="en-US" altLang="zh-CN" dirty="0"/>
          </a:p>
          <a:p>
            <a:endParaRPr lang="en-US" altLang="zh-CN" dirty="0"/>
          </a:p>
          <a:p>
            <a:r>
              <a:rPr lang="en-US" altLang="zh-CN" dirty="0"/>
              <a:t>b =</a:t>
            </a:r>
          </a:p>
          <a:p>
            <a:endParaRPr lang="en-US" altLang="zh-CN" dirty="0"/>
          </a:p>
          <a:p>
            <a:r>
              <a:rPr lang="en-US" altLang="zh-CN" dirty="0"/>
              <a:t>   47.6307</a:t>
            </a:r>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63</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dirty="0">
                <a:solidFill>
                  <a:srgbClr val="000000"/>
                </a:solidFill>
                <a:effectLst/>
                <a:latin typeface="Consolas" panose="020B0609020204030204" pitchFamily="49" charset="0"/>
              </a:rPr>
              <a:t>x0=</a:t>
            </a:r>
            <a:r>
              <a:rPr lang="en-US" altLang="zh-CN" b="0" dirty="0">
                <a:solidFill>
                  <a:srgbClr val="098658"/>
                </a:solidFill>
                <a:effectLst/>
                <a:latin typeface="Consolas" panose="020B0609020204030204" pitchFamily="49" charset="0"/>
              </a:rPr>
              <a:t>2800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表示列数，且为减函数 </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y0=</a:t>
            </a:r>
            <a:r>
              <a:rPr lang="en-US" altLang="zh-CN" b="0" dirty="0">
                <a:solidFill>
                  <a:srgbClr val="098658"/>
                </a:solidFill>
                <a:effectLst/>
                <a:latin typeface="Consolas" panose="020B0609020204030204" pitchFamily="49" charset="0"/>
              </a:rPr>
              <a:t>2400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行数</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x00,y00=</a:t>
            </a:r>
            <a:r>
              <a:rPr lang="en-US" altLang="zh-CN" b="0" dirty="0">
                <a:solidFill>
                  <a:srgbClr val="795E26"/>
                </a:solidFill>
                <a:effectLst/>
                <a:latin typeface="Consolas" panose="020B0609020204030204" pitchFamily="49" charset="0"/>
              </a:rPr>
              <a:t>meshgrid2</a:t>
            </a:r>
            <a:r>
              <a:rPr lang="en-US" altLang="zh-CN" b="0" dirty="0">
                <a:solidFill>
                  <a:srgbClr val="000000"/>
                </a:solidFill>
                <a:effectLst/>
                <a:latin typeface="Consolas" panose="020B0609020204030204" pitchFamily="49" charset="0"/>
              </a:rPr>
              <a:t>(x0,y0)</a:t>
            </a:r>
          </a:p>
          <a:p>
            <a:r>
              <a:rPr lang="en-US" altLang="zh-CN" b="0" dirty="0">
                <a:solidFill>
                  <a:srgbClr val="000000"/>
                </a:solidFill>
                <a:effectLst/>
                <a:latin typeface="Consolas" panose="020B0609020204030204" pitchFamily="49" charset="0"/>
              </a:rPr>
              <a:t>z0=[</a:t>
            </a:r>
            <a:r>
              <a:rPr lang="en-US" altLang="zh-CN" b="0" dirty="0">
                <a:solidFill>
                  <a:srgbClr val="098658"/>
                </a:solidFill>
                <a:effectLst/>
                <a:latin typeface="Consolas" panose="020B0609020204030204" pitchFamily="49" charset="0"/>
              </a:rPr>
              <a:t>1430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1470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1320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1280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1080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940</a:t>
            </a:r>
            <a:r>
              <a:rPr lang="en-US" altLang="zh-CN" b="0" dirty="0">
                <a:solidFill>
                  <a:srgbClr val="000000"/>
                </a:solidFill>
                <a:effectLst/>
                <a:latin typeface="Consolas" panose="020B0609020204030204" pitchFamily="49" charset="0"/>
              </a:rPr>
              <a:t>;</a:t>
            </a:r>
          </a:p>
          <a:p>
            <a:r>
              <a:rPr lang="en-US" altLang="zh-CN" b="0" dirty="0">
                <a:solidFill>
                  <a:srgbClr val="098658"/>
                </a:solidFill>
                <a:effectLst/>
                <a:latin typeface="Consolas" panose="020B0609020204030204" pitchFamily="49" charset="0"/>
              </a:rPr>
              <a:t>1450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1480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1510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1430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1200</a:t>
            </a:r>
            <a:r>
              <a:rPr lang="en-US" altLang="zh-CN" b="0" dirty="0">
                <a:solidFill>
                  <a:srgbClr val="000000"/>
                </a:solidFill>
                <a:effectLst/>
                <a:latin typeface="Consolas" panose="020B0609020204030204" pitchFamily="49" charset="0"/>
              </a:rPr>
              <a:t>;</a:t>
            </a:r>
          </a:p>
          <a:p>
            <a:r>
              <a:rPr lang="en-US" altLang="zh-CN" b="0" dirty="0">
                <a:solidFill>
                  <a:srgbClr val="098658"/>
                </a:solidFill>
                <a:effectLst/>
                <a:latin typeface="Consolas" panose="020B0609020204030204" pitchFamily="49" charset="0"/>
              </a:rPr>
              <a:t>1460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1600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1600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1600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1600</a:t>
            </a:r>
            <a:r>
              <a:rPr lang="en-US" altLang="zh-CN" b="0" dirty="0">
                <a:solidFill>
                  <a:srgbClr val="000000"/>
                </a:solidFill>
                <a:effectLst/>
                <a:latin typeface="Consolas" panose="020B0609020204030204" pitchFamily="49" charset="0"/>
              </a:rPr>
              <a:t>;</a:t>
            </a:r>
          </a:p>
          <a:p>
            <a:r>
              <a:rPr lang="en-US" altLang="zh-CN" b="0" dirty="0">
                <a:solidFill>
                  <a:srgbClr val="098658"/>
                </a:solidFill>
                <a:effectLst/>
                <a:latin typeface="Consolas" panose="020B0609020204030204" pitchFamily="49" charset="0"/>
              </a:rPr>
              <a:t>1370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1600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1380</a:t>
            </a:r>
            <a:r>
              <a:rPr lang="en-US" altLang="zh-CN" b="0" dirty="0">
                <a:solidFill>
                  <a:srgbClr val="000000"/>
                </a:solidFill>
                <a:effectLst/>
                <a:latin typeface="Consolas" panose="020B0609020204030204" pitchFamily="49" charset="0"/>
              </a:rPr>
              <a:t>;</a:t>
            </a:r>
          </a:p>
          <a:p>
            <a:r>
              <a:rPr lang="en-US" altLang="zh-CN" b="0" dirty="0">
                <a:solidFill>
                  <a:srgbClr val="098658"/>
                </a:solidFill>
                <a:effectLst/>
                <a:latin typeface="Consolas" panose="020B0609020204030204" pitchFamily="49" charset="0"/>
              </a:rPr>
              <a:t>1270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1150</a:t>
            </a:r>
            <a:r>
              <a:rPr lang="en-US" altLang="zh-CN" b="0" dirty="0">
                <a:solidFill>
                  <a:srgbClr val="000000"/>
                </a:solidFill>
                <a:effectLst/>
                <a:latin typeface="Consolas" panose="020B0609020204030204" pitchFamily="49" charset="0"/>
              </a:rPr>
              <a:t>;</a:t>
            </a:r>
          </a:p>
          <a:p>
            <a:r>
              <a:rPr lang="en-US" altLang="zh-CN" b="0" dirty="0">
                <a:solidFill>
                  <a:srgbClr val="098658"/>
                </a:solidFill>
                <a:effectLst/>
                <a:latin typeface="Consolas" panose="020B0609020204030204" pitchFamily="49" charset="0"/>
              </a:rPr>
              <a:t>1230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1390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900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1100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1060</a:t>
            </a:r>
            <a:r>
              <a:rPr lang="en-US" altLang="zh-CN" b="0" dirty="0">
                <a:solidFill>
                  <a:srgbClr val="000000"/>
                </a:solidFill>
                <a:effectLst/>
                <a:latin typeface="Consolas" panose="020B0609020204030204" pitchFamily="49" charset="0"/>
              </a:rPr>
              <a:t>;</a:t>
            </a:r>
          </a:p>
          <a:p>
            <a:r>
              <a:rPr lang="en-US" altLang="zh-CN" b="0" dirty="0">
                <a:solidFill>
                  <a:srgbClr val="098658"/>
                </a:solidFill>
                <a:effectLst/>
                <a:latin typeface="Consolas" panose="020B0609020204030204" pitchFamily="49" charset="0"/>
              </a:rPr>
              <a:t>1180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1320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1420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1400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700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900</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mesh</a:t>
            </a:r>
            <a:r>
              <a:rPr lang="en-US" altLang="zh-CN" b="0" dirty="0">
                <a:solidFill>
                  <a:srgbClr val="000000"/>
                </a:solidFill>
                <a:effectLst/>
                <a:latin typeface="Consolas" panose="020B0609020204030204" pitchFamily="49" charset="0"/>
              </a:rPr>
              <a:t>(x00,y00,z0);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网格图</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zlabel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"z"</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x=</a:t>
            </a:r>
            <a:r>
              <a:rPr lang="en-US" altLang="zh-CN" b="0" dirty="0">
                <a:solidFill>
                  <a:srgbClr val="098658"/>
                </a:solidFill>
                <a:effectLst/>
                <a:latin typeface="Consolas" panose="020B0609020204030204" pitchFamily="49" charset="0"/>
              </a:rPr>
              <a:t>2800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轴插</a:t>
            </a:r>
            <a:r>
              <a:rPr lang="en-US" altLang="zh-CN" b="0" dirty="0">
                <a:solidFill>
                  <a:srgbClr val="008000"/>
                </a:solidFill>
                <a:effectLst/>
                <a:latin typeface="Consolas" panose="020B0609020204030204" pitchFamily="49" charset="0"/>
              </a:rPr>
              <a:t>281</a:t>
            </a:r>
            <a:r>
              <a:rPr lang="zh-CN" altLang="en-US" b="0" dirty="0">
                <a:solidFill>
                  <a:srgbClr val="008000"/>
                </a:solidFill>
                <a:effectLst/>
                <a:latin typeface="Consolas" panose="020B0609020204030204" pitchFamily="49" charset="0"/>
              </a:rPr>
              <a:t>个节点</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y=</a:t>
            </a:r>
            <a:r>
              <a:rPr lang="en-US" altLang="zh-CN" b="0" dirty="0">
                <a:solidFill>
                  <a:srgbClr val="098658"/>
                </a:solidFill>
                <a:effectLst/>
                <a:latin typeface="Consolas" panose="020B0609020204030204" pitchFamily="49" charset="0"/>
              </a:rPr>
              <a:t>2400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轴插</a:t>
            </a:r>
            <a:r>
              <a:rPr lang="en-US" altLang="zh-CN" b="0" dirty="0">
                <a:solidFill>
                  <a:srgbClr val="008000"/>
                </a:solidFill>
                <a:effectLst/>
                <a:latin typeface="Consolas" panose="020B0609020204030204" pitchFamily="49" charset="0"/>
              </a:rPr>
              <a:t>241</a:t>
            </a:r>
            <a:r>
              <a:rPr lang="zh-CN" altLang="en-US" b="0" dirty="0">
                <a:solidFill>
                  <a:srgbClr val="008000"/>
                </a:solidFill>
                <a:effectLst/>
                <a:latin typeface="Consolas" panose="020B0609020204030204" pitchFamily="49" charset="0"/>
              </a:rPr>
              <a:t>个节点</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xi, </a:t>
            </a:r>
            <a:r>
              <a:rPr lang="en-US" altLang="zh-CN" b="0" dirty="0" err="1">
                <a:solidFill>
                  <a:srgbClr val="000000"/>
                </a:solidFill>
                <a:effectLst/>
                <a:latin typeface="Consolas" panose="020B0609020204030204" pitchFamily="49" charset="0"/>
              </a:rPr>
              <a:t>yi</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meshgrid2</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zi=</a:t>
            </a:r>
            <a:r>
              <a:rPr lang="en-US" altLang="zh-CN" b="0" dirty="0">
                <a:solidFill>
                  <a:srgbClr val="795E26"/>
                </a:solidFill>
                <a:effectLst/>
                <a:latin typeface="Consolas" panose="020B0609020204030204" pitchFamily="49" charset="0"/>
              </a:rPr>
              <a:t>interp2</a:t>
            </a:r>
            <a:r>
              <a:rPr lang="en-US" altLang="zh-CN" b="0" dirty="0">
                <a:solidFill>
                  <a:srgbClr val="000000"/>
                </a:solidFill>
                <a:effectLst/>
                <a:latin typeface="Consolas" panose="020B0609020204030204" pitchFamily="49" charset="0"/>
              </a:rPr>
              <a:t>(x00,y00,z0,xi,yi,</a:t>
            </a:r>
            <a:r>
              <a:rPr lang="en-US" altLang="zh-CN" b="0" dirty="0">
                <a:solidFill>
                  <a:srgbClr val="A31515"/>
                </a:solidFill>
                <a:effectLst/>
                <a:latin typeface="Consolas" panose="020B0609020204030204" pitchFamily="49" charset="0"/>
              </a:rPr>
              <a:t>"splince"</a:t>
            </a:r>
            <a:r>
              <a:rPr lang="en-US" altLang="zh-CN" b="0" dirty="0">
                <a:solidFill>
                  <a:srgbClr val="000000"/>
                </a:solidFill>
                <a:effectLst/>
                <a:latin typeface="Consolas" panose="020B0609020204030204" pitchFamily="49" charset="0"/>
              </a:rPr>
              <a:t>);</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二维插值</a:t>
            </a:r>
            <a:endParaRPr lang="zh-CN" altLang="en-US"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mesh</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xi,yi,zi</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带帷幕的网格曲面图</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"x"</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zlabel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"z"</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view</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38.5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64.46</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山区地貌图</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a:p>
            <a:endParaRPr lang="en-US" altLang="zh-CN" b="0" dirty="0">
              <a:solidFill>
                <a:srgbClr val="000000"/>
              </a:solidFill>
              <a:effectLst/>
              <a:latin typeface="Consolas" panose="020B0609020204030204" pitchFamily="49" charset="0"/>
            </a:endParaRPr>
          </a:p>
          <a:p>
            <a:pPr marL="0" indent="0">
              <a:lnSpc>
                <a:spcPct val="100000"/>
              </a:lnSpc>
              <a:buNone/>
            </a:pPr>
            <a:r>
              <a:rPr lang="en-US" altLang="zh-CN" sz="1200" dirty="0"/>
              <a:t>figure()</a:t>
            </a:r>
          </a:p>
          <a:p>
            <a:pPr marL="0" indent="0">
              <a:lnSpc>
                <a:spcPct val="100000"/>
              </a:lnSpc>
              <a:buNone/>
            </a:pPr>
            <a:r>
              <a:rPr lang="en-US" altLang="zh-CN" sz="1200" dirty="0"/>
              <a:t>xi = 0:10:2800; #x</a:t>
            </a:r>
            <a:r>
              <a:rPr lang="zh-CN" altLang="en-US" sz="1200" dirty="0"/>
              <a:t>轴插</a:t>
            </a:r>
            <a:r>
              <a:rPr lang="en-US" altLang="zh-CN" sz="1200" dirty="0"/>
              <a:t>281</a:t>
            </a:r>
            <a:r>
              <a:rPr lang="zh-CN" altLang="en-US" sz="1200" dirty="0"/>
              <a:t>个节点</a:t>
            </a:r>
          </a:p>
          <a:p>
            <a:pPr marL="0" indent="0">
              <a:lnSpc>
                <a:spcPct val="100000"/>
              </a:lnSpc>
              <a:buNone/>
            </a:pPr>
            <a:r>
              <a:rPr lang="en-US" altLang="zh-CN" sz="1200" dirty="0" err="1"/>
              <a:t>yi</a:t>
            </a:r>
            <a:r>
              <a:rPr lang="en-US" altLang="zh-CN" sz="1200" dirty="0"/>
              <a:t> = 0:10:2400; #y</a:t>
            </a:r>
            <a:r>
              <a:rPr lang="zh-CN" altLang="en-US" sz="1200" dirty="0"/>
              <a:t>轴插</a:t>
            </a:r>
            <a:r>
              <a:rPr lang="en-US" altLang="zh-CN" sz="1200" dirty="0"/>
              <a:t>241</a:t>
            </a:r>
            <a:r>
              <a:rPr lang="zh-CN" altLang="en-US" sz="1200" dirty="0"/>
              <a:t>个节点</a:t>
            </a:r>
          </a:p>
          <a:p>
            <a:pPr marL="0" indent="0">
              <a:lnSpc>
                <a:spcPct val="100000"/>
              </a:lnSpc>
              <a:buNone/>
            </a:pPr>
            <a:r>
              <a:rPr lang="en-US" altLang="zh-CN" sz="1200" dirty="0"/>
              <a:t>zi = interp2(x0, y0, z0, </a:t>
            </a:r>
            <a:r>
              <a:rPr lang="en-US" altLang="zh-CN" sz="1200" b="1" dirty="0">
                <a:solidFill>
                  <a:srgbClr val="FF0000"/>
                </a:solidFill>
              </a:rPr>
              <a:t>xi, </a:t>
            </a:r>
            <a:r>
              <a:rPr lang="en-US" altLang="zh-CN" sz="1200" b="1" dirty="0" err="1">
                <a:solidFill>
                  <a:srgbClr val="FF0000"/>
                </a:solidFill>
              </a:rPr>
              <a:t>yi</a:t>
            </a:r>
            <a:r>
              <a:rPr lang="en-US" altLang="zh-CN" sz="1200" dirty="0">
                <a:solidFill>
                  <a:srgbClr val="FFFF00"/>
                </a:solidFill>
                <a:highlight>
                  <a:srgbClr val="FF0000"/>
                </a:highlight>
              </a:rPr>
              <a:t>'</a:t>
            </a:r>
            <a:r>
              <a:rPr lang="en-US" altLang="zh-CN" sz="1200" dirty="0"/>
              <a:t>, "</a:t>
            </a:r>
            <a:r>
              <a:rPr lang="en-US" altLang="zh-CN" sz="1200" dirty="0" err="1"/>
              <a:t>splince</a:t>
            </a:r>
            <a:r>
              <a:rPr lang="en-US" altLang="zh-CN" sz="1200" dirty="0"/>
              <a:t>");#</a:t>
            </a:r>
            <a:r>
              <a:rPr lang="zh-CN" altLang="en-US" sz="1200" dirty="0"/>
              <a:t>二维插值</a:t>
            </a:r>
          </a:p>
          <a:p>
            <a:pPr marL="0" indent="0">
              <a:lnSpc>
                <a:spcPct val="100000"/>
              </a:lnSpc>
              <a:buNone/>
            </a:pPr>
            <a:r>
              <a:rPr lang="en-US" altLang="zh-CN" sz="1200" dirty="0" err="1"/>
              <a:t>surfc</a:t>
            </a:r>
            <a:r>
              <a:rPr lang="en-US" altLang="zh-CN" sz="1200" dirty="0"/>
              <a:t>(xi, </a:t>
            </a:r>
            <a:r>
              <a:rPr lang="en-US" altLang="zh-CN" sz="1200" dirty="0" err="1"/>
              <a:t>yi</a:t>
            </a:r>
            <a:r>
              <a:rPr lang="en-US" altLang="zh-CN" sz="1200" dirty="0"/>
              <a:t>, zi); #</a:t>
            </a:r>
            <a:r>
              <a:rPr lang="zh-CN" altLang="en-US" sz="1200" dirty="0"/>
              <a:t>带帷幕的网格曲面图</a:t>
            </a:r>
          </a:p>
          <a:p>
            <a:pPr marL="0" indent="0">
              <a:lnSpc>
                <a:spcPct val="100000"/>
              </a:lnSpc>
              <a:buNone/>
            </a:pPr>
            <a:r>
              <a:rPr lang="en-US" altLang="zh-CN" sz="1200" dirty="0" err="1"/>
              <a:t>xlabel</a:t>
            </a:r>
            <a:r>
              <a:rPr lang="en-US" altLang="zh-CN" sz="1200" dirty="0"/>
              <a:t>("x");</a:t>
            </a:r>
            <a:r>
              <a:rPr lang="en-US" altLang="zh-CN" sz="1200" dirty="0" err="1"/>
              <a:t>ylabel</a:t>
            </a:r>
            <a:r>
              <a:rPr lang="en-US" altLang="zh-CN" sz="1200" dirty="0"/>
              <a:t>("y");</a:t>
            </a:r>
            <a:r>
              <a:rPr lang="en-US" altLang="zh-CN" sz="1200" dirty="0" err="1"/>
              <a:t>zlabel</a:t>
            </a:r>
            <a:r>
              <a:rPr lang="en-US" altLang="zh-CN" sz="1200" dirty="0"/>
              <a:t>("z");</a:t>
            </a:r>
          </a:p>
          <a:p>
            <a:endParaRPr lang="en-US" altLang="zh-CN" b="0" dirty="0">
              <a:solidFill>
                <a:srgbClr val="000000"/>
              </a:solidFill>
              <a:effectLst/>
              <a:latin typeface="Consolas" panose="020B0609020204030204" pitchFamily="49" charset="0"/>
            </a:endParaRPr>
          </a:p>
          <a:p>
            <a:endParaRPr lang="zh-CN" altLang="en-US" dirty="0"/>
          </a:p>
        </p:txBody>
      </p:sp>
      <p:sp>
        <p:nvSpPr>
          <p:cNvPr id="4" name="灯片编号占位符 3"/>
          <p:cNvSpPr>
            <a:spLocks noGrp="1"/>
          </p:cNvSpPr>
          <p:nvPr>
            <p:ph type="sldNum" sz="quarter" idx="5"/>
          </p:nvPr>
        </p:nvSpPr>
        <p:spPr/>
        <p:txBody>
          <a:bodyPr/>
          <a:lstStyle/>
          <a:p>
            <a:pPr>
              <a:defRPr/>
            </a:pPr>
            <a:fld id="{EAF5D7B6-9300-482A-AC6E-3BA105FED359}" type="slidenum">
              <a:rPr lang="zh-CN" altLang="en-US" smtClean="0"/>
              <a:t>64</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65</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i="0" dirty="0">
                <a:solidFill>
                  <a:srgbClr val="111111"/>
                </a:solidFill>
                <a:effectLst/>
                <a:latin typeface="微软雅黑" panose="020B0503020204020204" pitchFamily="34" charset="-122"/>
                <a:ea typeface="微软雅黑" panose="020B0503020204020204" pitchFamily="34" charset="-122"/>
              </a:rPr>
              <a:t>图像插值</a:t>
            </a:r>
            <a:r>
              <a:rPr lang="zh-CN" altLang="en-US" b="0" i="0" dirty="0">
                <a:solidFill>
                  <a:srgbClr val="111111"/>
                </a:solidFill>
                <a:effectLst/>
                <a:latin typeface="微软雅黑" panose="020B0503020204020204" pitchFamily="34" charset="-122"/>
                <a:ea typeface="微软雅黑" panose="020B0503020204020204" pitchFamily="34" charset="-122"/>
              </a:rPr>
              <a:t>是医学图像处理过程中的一个重要环节</a:t>
            </a:r>
            <a:r>
              <a:rPr lang="en-US" altLang="zh-CN" b="0" i="0" dirty="0">
                <a:solidFill>
                  <a:srgbClr val="111111"/>
                </a:solidFill>
                <a:effectLst/>
                <a:latin typeface="微软雅黑" panose="020B0503020204020204" pitchFamily="34" charset="-122"/>
                <a:ea typeface="微软雅黑" panose="020B0503020204020204" pitchFamily="34" charset="-122"/>
              </a:rPr>
              <a:t>,</a:t>
            </a:r>
            <a:r>
              <a:rPr lang="zh-CN" altLang="en-US" b="0" i="0" dirty="0">
                <a:solidFill>
                  <a:srgbClr val="111111"/>
                </a:solidFill>
                <a:effectLst/>
                <a:latin typeface="微软雅黑" panose="020B0503020204020204" pitchFamily="34" charset="-122"/>
                <a:ea typeface="微软雅黑" panose="020B0503020204020204" pitchFamily="34" charset="-122"/>
              </a:rPr>
              <a:t>更是医学图像三维重建过程中的基础环节</a:t>
            </a:r>
            <a:r>
              <a:rPr lang="en-US" altLang="zh-CN" b="0" i="0" dirty="0">
                <a:solidFill>
                  <a:srgbClr val="111111"/>
                </a:solidFill>
                <a:effectLst/>
                <a:latin typeface="微软雅黑" panose="020B0503020204020204" pitchFamily="34" charset="-122"/>
                <a:ea typeface="微软雅黑" panose="020B0503020204020204" pitchFamily="34" charset="-122"/>
              </a:rPr>
              <a:t>.</a:t>
            </a:r>
            <a:r>
              <a:rPr lang="zh-CN" altLang="en-US" b="0" i="0" dirty="0">
                <a:solidFill>
                  <a:srgbClr val="111111"/>
                </a:solidFill>
                <a:effectLst/>
                <a:latin typeface="微软雅黑" panose="020B0503020204020204" pitchFamily="34" charset="-122"/>
                <a:ea typeface="微软雅黑" panose="020B0503020204020204" pitchFamily="34" charset="-122"/>
              </a:rPr>
              <a:t>通过对二维断层图像进行某种形式的插值</a:t>
            </a:r>
            <a:r>
              <a:rPr lang="en-US" altLang="zh-CN" b="0" i="0" dirty="0">
                <a:solidFill>
                  <a:srgbClr val="111111"/>
                </a:solidFill>
                <a:effectLst/>
                <a:latin typeface="微软雅黑" panose="020B0503020204020204" pitchFamily="34" charset="-122"/>
                <a:ea typeface="微软雅黑" panose="020B0503020204020204" pitchFamily="34" charset="-122"/>
              </a:rPr>
              <a:t>,</a:t>
            </a:r>
            <a:r>
              <a:rPr lang="zh-CN" altLang="en-US" b="0" i="0" dirty="0">
                <a:solidFill>
                  <a:srgbClr val="111111"/>
                </a:solidFill>
                <a:effectLst/>
                <a:latin typeface="微软雅黑" panose="020B0503020204020204" pitchFamily="34" charset="-122"/>
                <a:ea typeface="微软雅黑" panose="020B0503020204020204" pitchFamily="34" charset="-122"/>
              </a:rPr>
              <a:t>可将非等分辨率的图像数据转变为等分辨率的数据</a:t>
            </a:r>
            <a:r>
              <a:rPr lang="en-US" altLang="zh-CN" b="0" i="0" dirty="0">
                <a:solidFill>
                  <a:srgbClr val="111111"/>
                </a:solidFill>
                <a:effectLst/>
                <a:latin typeface="微软雅黑" panose="020B0503020204020204" pitchFamily="34" charset="-122"/>
                <a:ea typeface="微软雅黑" panose="020B0503020204020204" pitchFamily="34" charset="-122"/>
              </a:rPr>
              <a:t>,</a:t>
            </a:r>
            <a:r>
              <a:rPr lang="zh-CN" altLang="en-US" b="0" i="0" dirty="0">
                <a:solidFill>
                  <a:srgbClr val="111111"/>
                </a:solidFill>
                <a:effectLst/>
                <a:latin typeface="微软雅黑" panose="020B0503020204020204" pitchFamily="34" charset="-122"/>
                <a:ea typeface="微软雅黑" panose="020B0503020204020204" pitchFamily="34" charset="-122"/>
              </a:rPr>
              <a:t>把低分辨率图像转变为高分辨率的图像</a:t>
            </a:r>
            <a:endParaRPr lang="en-US" altLang="zh-CN" dirty="0"/>
          </a:p>
          <a:p>
            <a:r>
              <a:rPr lang="en-US" altLang="zh-CN" b="0" dirty="0">
                <a:solidFill>
                  <a:srgbClr val="795E26"/>
                </a:solidFill>
                <a:effectLst/>
                <a:latin typeface="Consolas" panose="020B0609020204030204" pitchFamily="49" charset="0"/>
              </a:rPr>
              <a:t>include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pkgdir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TyMath</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"/examples/docs/</a:t>
            </a:r>
            <a:r>
              <a:rPr lang="en-US" altLang="zh-CN" b="0" dirty="0" err="1">
                <a:solidFill>
                  <a:srgbClr val="A31515"/>
                </a:solidFill>
                <a:effectLst/>
                <a:latin typeface="Consolas" panose="020B0609020204030204" pitchFamily="49" charset="0"/>
              </a:rPr>
              <a:t>flujet.jl</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V = X[</a:t>
            </a:r>
            <a:r>
              <a:rPr lang="en-US" altLang="zh-CN" b="0" dirty="0">
                <a:solidFill>
                  <a:srgbClr val="098658"/>
                </a:solidFill>
                <a:effectLst/>
                <a:latin typeface="Consolas" panose="020B0609020204030204" pitchFamily="49" charset="0"/>
              </a:rPr>
              <a:t>200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300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25</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截取图形一小部分</a:t>
            </a:r>
            <a:endParaRPr lang="zh-CN" altLang="en-US"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ims</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imagesc</a:t>
            </a:r>
            <a:r>
              <a:rPr lang="en-US" altLang="zh-CN" b="0" dirty="0">
                <a:solidFill>
                  <a:srgbClr val="000000"/>
                </a:solidFill>
                <a:effectLst/>
                <a:latin typeface="Consolas" panose="020B0609020204030204" pitchFamily="49" charset="0"/>
              </a:rPr>
              <a:t>(V)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显示图形</a:t>
            </a:r>
            <a:endParaRPr lang="zh-CN" altLang="en-US" b="0" dirty="0">
              <a:solidFill>
                <a:srgbClr val="000000"/>
              </a:solidFill>
              <a:effectLst/>
              <a:latin typeface="Consolas" panose="020B0609020204030204" pitchFamily="49" charset="0"/>
            </a:endParaRPr>
          </a:p>
          <a:p>
            <a:r>
              <a:rPr lang="zh-CN" altLang="en-US"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colormap</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ims</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"gray"</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axis</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"off"</a:t>
            </a:r>
            <a:r>
              <a:rPr lang="en-US" altLang="zh-CN" b="0" dirty="0">
                <a:solidFill>
                  <a:srgbClr val="000000"/>
                </a:solidFill>
                <a:effectLst/>
                <a:latin typeface="Consolas" panose="020B0609020204030204" pitchFamily="49" charset="0"/>
              </a:rPr>
              <a:t>) </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"Original Image"</a:t>
            </a:r>
            <a:r>
              <a:rPr lang="en-US" altLang="zh-CN" b="0" dirty="0">
                <a:solidFill>
                  <a:srgbClr val="000000"/>
                </a:solidFill>
                <a:effectLst/>
                <a:latin typeface="Consolas" panose="020B0609020204030204" pitchFamily="49" charset="0"/>
              </a:rPr>
              <a:t>) </a:t>
            </a:r>
          </a:p>
          <a:p>
            <a:r>
              <a:rPr lang="en-US" altLang="zh-CN" b="0" dirty="0" err="1">
                <a:solidFill>
                  <a:srgbClr val="000000"/>
                </a:solidFill>
                <a:effectLst/>
                <a:latin typeface="Consolas" panose="020B0609020204030204" pitchFamily="49" charset="0"/>
              </a:rPr>
              <a:t>Vq</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interp2</a:t>
            </a:r>
            <a:r>
              <a:rPr lang="en-US" altLang="zh-CN" b="0" dirty="0">
                <a:solidFill>
                  <a:srgbClr val="000000"/>
                </a:solidFill>
                <a:effectLst/>
                <a:latin typeface="Consolas" panose="020B0609020204030204" pitchFamily="49" charset="0"/>
              </a:rPr>
              <a:t>(V,</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ims</a:t>
            </a:r>
            <a:r>
              <a:rPr lang="en-US" altLang="zh-CN" b="0" dirty="0">
                <a:solidFill>
                  <a:srgbClr val="000000"/>
                </a:solidFill>
                <a:effectLst/>
                <a:latin typeface="Consolas" panose="020B0609020204030204" pitchFamily="49" charset="0"/>
              </a:rPr>
              <a:t> = </a:t>
            </a:r>
            <a:r>
              <a:rPr lang="en-US" altLang="zh-CN" b="0" dirty="0" err="1">
                <a:solidFill>
                  <a:srgbClr val="795E26"/>
                </a:solidFill>
                <a:effectLst/>
                <a:latin typeface="Consolas" panose="020B0609020204030204" pitchFamily="49" charset="0"/>
              </a:rPr>
              <a:t>imagesc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Vq</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colormap</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ims</a:t>
            </a:r>
            <a:r>
              <a:rPr lang="en-US" altLang="zh-CN" b="0" dirty="0">
                <a:solidFill>
                  <a:srgbClr val="000000"/>
                </a:solidFill>
                <a:effectLst/>
                <a:latin typeface="Consolas" panose="020B0609020204030204" pitchFamily="49" charset="0"/>
              </a:rPr>
              <a:t>, </a:t>
            </a:r>
            <a:r>
              <a:rPr lang="en-US" altLang="zh-CN" b="0" dirty="0">
                <a:solidFill>
                  <a:srgbClr val="A31515"/>
                </a:solidFill>
                <a:effectLst/>
                <a:latin typeface="Consolas" panose="020B0609020204030204" pitchFamily="49" charset="0"/>
              </a:rPr>
              <a:t>"gray"</a:t>
            </a:r>
            <a:r>
              <a:rPr lang="en-US" altLang="zh-CN" b="0" dirty="0">
                <a:solidFill>
                  <a:srgbClr val="000000"/>
                </a:solidFill>
                <a:effectLst/>
                <a:latin typeface="Consolas" panose="020B0609020204030204" pitchFamily="49" charset="0"/>
              </a:rPr>
              <a:t>) </a:t>
            </a:r>
          </a:p>
          <a:p>
            <a:r>
              <a:rPr lang="en-US" altLang="zh-CN" b="0" dirty="0">
                <a:solidFill>
                  <a:srgbClr val="795E26"/>
                </a:solidFill>
                <a:effectLst/>
                <a:latin typeface="Consolas" panose="020B0609020204030204" pitchFamily="49" charset="0"/>
              </a:rPr>
              <a:t>axis</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"off"</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 </a:t>
            </a:r>
            <a:r>
              <a:rPr lang="en-US" altLang="zh-CN" b="0" dirty="0">
                <a:solidFill>
                  <a:srgbClr val="795E26"/>
                </a:solidFill>
                <a:effectLst/>
                <a:latin typeface="Consolas" panose="020B0609020204030204" pitchFamily="49" charset="0"/>
              </a:rPr>
              <a:t>title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"Linear Interpolation"</a:t>
            </a:r>
            <a:r>
              <a:rPr lang="en-US" altLang="zh-CN" b="0" dirty="0">
                <a:solidFill>
                  <a:srgbClr val="000000"/>
                </a:solidFill>
                <a:effectLst/>
                <a:latin typeface="Consolas" panose="020B0609020204030204" pitchFamily="49" charset="0"/>
              </a:rPr>
              <a:t>) </a:t>
            </a:r>
          </a:p>
          <a:p>
            <a:endParaRPr lang="en-US" altLang="zh-CN" dirty="0"/>
          </a:p>
          <a:p>
            <a:endParaRPr lang="en-US" altLang="zh-CN" dirty="0"/>
          </a:p>
          <a:p>
            <a:endParaRPr lang="en-US" altLang="zh-CN" dirty="0"/>
          </a:p>
          <a:p>
            <a:endParaRPr lang="en-US" altLang="zh-CN" dirty="0"/>
          </a:p>
          <a:p>
            <a:r>
              <a:rPr lang="en-US" altLang="zh-CN" dirty="0"/>
              <a:t>c=</a:t>
            </a:r>
            <a:r>
              <a:rPr lang="en-US" altLang="zh-CN" dirty="0" err="1"/>
              <a:t>imread</a:t>
            </a:r>
            <a:r>
              <a:rPr lang="en-US" altLang="zh-CN" dirty="0"/>
              <a:t>("ch.jpg")</a:t>
            </a:r>
          </a:p>
          <a:p>
            <a:r>
              <a:rPr lang="en-US" altLang="zh-CN" dirty="0"/>
              <a:t>v= c[200:1000, 100:2500]</a:t>
            </a:r>
          </a:p>
          <a:p>
            <a:r>
              <a:rPr lang="en-US" altLang="zh-CN" dirty="0" err="1"/>
              <a:t>vv</a:t>
            </a:r>
            <a:r>
              <a:rPr lang="en-US" altLang="zh-CN" dirty="0"/>
              <a:t>=Int64.(v)</a:t>
            </a:r>
          </a:p>
          <a:p>
            <a:r>
              <a:rPr lang="zh-CN" altLang="en-US" dirty="0"/>
              <a:t>ims = imagesc(</a:t>
            </a:r>
            <a:r>
              <a:rPr lang="en-US" altLang="zh-CN" dirty="0" err="1"/>
              <a:t>vv</a:t>
            </a:r>
            <a:r>
              <a:rPr lang="zh-CN" altLang="en-US" dirty="0"/>
              <a:t>)</a:t>
            </a:r>
            <a:endParaRPr lang="en-US" altLang="zh-CN" dirty="0"/>
          </a:p>
          <a:p>
            <a:r>
              <a:rPr lang="en-US" altLang="zh-CN" dirty="0" err="1"/>
              <a:t>Vq</a:t>
            </a:r>
            <a:r>
              <a:rPr lang="en-US" altLang="zh-CN" dirty="0"/>
              <a:t>=interp2(vv,2)</a:t>
            </a:r>
          </a:p>
          <a:p>
            <a:r>
              <a:rPr kumimoji="0" lang="zh-CN" altLang="zh-CN" sz="1200" b="0" i="0" u="none" strike="noStrike" cap="none" normalizeH="0" baseline="0" dirty="0">
                <a:ln>
                  <a:noFill/>
                </a:ln>
                <a:solidFill>
                  <a:srgbClr val="000000"/>
                </a:solidFill>
                <a:effectLst/>
                <a:latin typeface="Arial Unicode MS"/>
                <a:ea typeface="source-code-pro"/>
              </a:rPr>
              <a:t>ims </a:t>
            </a:r>
            <a:r>
              <a:rPr kumimoji="0" lang="zh-CN" altLang="zh-CN" sz="1200" b="0" i="0" u="none" strike="noStrike" cap="none" normalizeH="0" baseline="0" dirty="0">
                <a:ln>
                  <a:noFill/>
                </a:ln>
                <a:solidFill>
                  <a:srgbClr val="6BAB5B"/>
                </a:solidFill>
                <a:effectLst/>
                <a:latin typeface="Arial Unicode MS"/>
                <a:ea typeface="source-code-pro"/>
              </a:rPr>
              <a:t>=</a:t>
            </a:r>
            <a:r>
              <a:rPr kumimoji="0" lang="zh-CN" altLang="zh-CN" sz="1200" b="0" i="0" u="none" strike="noStrike" cap="none" normalizeH="0" baseline="0" dirty="0">
                <a:ln>
                  <a:noFill/>
                </a:ln>
                <a:solidFill>
                  <a:srgbClr val="000000"/>
                </a:solidFill>
                <a:effectLst/>
                <a:latin typeface="Arial Unicode MS"/>
                <a:ea typeface="source-code-pro"/>
              </a:rPr>
              <a:t> imagesc</a:t>
            </a:r>
            <a:r>
              <a:rPr lang="en-US" altLang="zh-CN" dirty="0"/>
              <a:t>(</a:t>
            </a:r>
            <a:r>
              <a:rPr lang="en-US" altLang="zh-CN" dirty="0" err="1"/>
              <a:t>Vq</a:t>
            </a:r>
            <a:r>
              <a:rPr lang="en-US" altLang="zh-CN" dirty="0"/>
              <a:t> )</a:t>
            </a:r>
          </a:p>
          <a:p>
            <a:endParaRPr lang="en-US" altLang="zh-CN" dirty="0"/>
          </a:p>
          <a:p>
            <a:endParaRPr lang="en-US" altLang="zh-CN" dirty="0"/>
          </a:p>
          <a:p>
            <a:r>
              <a:rPr lang="en-US" altLang="zh-CN" dirty="0"/>
              <a:t>cg=colormap(</a:t>
            </a:r>
            <a:r>
              <a:rPr lang="en-US" altLang="zh-CN" dirty="0" err="1"/>
              <a:t>ims</a:t>
            </a:r>
            <a:r>
              <a:rPr lang="en-US" altLang="zh-CN" dirty="0"/>
              <a:t>, "gray")</a:t>
            </a:r>
          </a:p>
          <a:p>
            <a:r>
              <a:rPr lang="en-US" altLang="zh-CN" dirty="0"/>
              <a:t>figure()</a:t>
            </a:r>
          </a:p>
          <a:p>
            <a:r>
              <a:rPr lang="zh-CN" altLang="en-US" dirty="0"/>
              <a:t>imagesc(</a:t>
            </a:r>
            <a:r>
              <a:rPr lang="en-US" altLang="zh-CN" dirty="0"/>
              <a:t>cg</a:t>
            </a:r>
            <a:r>
              <a:rPr lang="zh-CN" altLang="en-US" dirty="0"/>
              <a:t>)</a:t>
            </a:r>
            <a:endParaRPr lang="en-US" altLang="zh-CN" dirty="0"/>
          </a:p>
          <a:p>
            <a:endParaRPr lang="en-US" altLang="zh-CN" dirty="0"/>
          </a:p>
          <a:p>
            <a:endParaRPr lang="en-US" altLang="zh-CN" dirty="0"/>
          </a:p>
          <a:p>
            <a:endParaRPr lang="en-US" altLang="zh-CN" dirty="0"/>
          </a:p>
          <a:p>
            <a:r>
              <a:rPr lang="en-US" altLang="zh-CN" dirty="0"/>
              <a:t>c=</a:t>
            </a:r>
            <a:r>
              <a:rPr lang="en-US" altLang="zh-CN" dirty="0" err="1"/>
              <a:t>imread</a:t>
            </a:r>
            <a:r>
              <a:rPr lang="en-US" altLang="zh-CN" dirty="0"/>
              <a:t>("ccc.jpg")</a:t>
            </a:r>
          </a:p>
          <a:p>
            <a:r>
              <a:rPr lang="en-US" altLang="zh-CN" dirty="0"/>
              <a:t>cg=rgb2gray(c);</a:t>
            </a:r>
          </a:p>
          <a:p>
            <a:r>
              <a:rPr lang="en-US" altLang="zh-CN" dirty="0" err="1"/>
              <a:t>Vq</a:t>
            </a:r>
            <a:r>
              <a:rPr lang="en-US" altLang="zh-CN" dirty="0"/>
              <a:t>=interp2(cg,6)</a:t>
            </a:r>
          </a:p>
          <a:p>
            <a:r>
              <a:rPr lang="en-US" altLang="zh-CN" dirty="0"/>
              <a:t>figure()</a:t>
            </a:r>
          </a:p>
          <a:p>
            <a:r>
              <a:rPr kumimoji="0" lang="zh-CN" altLang="zh-CN" sz="1200" b="0" i="0" u="none" strike="noStrike" cap="none" normalizeH="0" baseline="0" dirty="0">
                <a:ln>
                  <a:noFill/>
                </a:ln>
                <a:solidFill>
                  <a:srgbClr val="000000"/>
                </a:solidFill>
                <a:effectLst/>
                <a:latin typeface="Arial Unicode MS"/>
                <a:ea typeface="source-code-pro"/>
              </a:rPr>
              <a:t>ims </a:t>
            </a:r>
            <a:r>
              <a:rPr kumimoji="0" lang="zh-CN" altLang="zh-CN" sz="1200" b="0" i="0" u="none" strike="noStrike" cap="none" normalizeH="0" baseline="0" dirty="0">
                <a:ln>
                  <a:noFill/>
                </a:ln>
                <a:solidFill>
                  <a:srgbClr val="6BAB5B"/>
                </a:solidFill>
                <a:effectLst/>
                <a:latin typeface="Arial Unicode MS"/>
                <a:ea typeface="source-code-pro"/>
              </a:rPr>
              <a:t>=</a:t>
            </a:r>
            <a:r>
              <a:rPr kumimoji="0" lang="zh-CN" altLang="zh-CN" sz="1200" b="0" i="0" u="none" strike="noStrike" cap="none" normalizeH="0" baseline="0" dirty="0">
                <a:ln>
                  <a:noFill/>
                </a:ln>
                <a:solidFill>
                  <a:srgbClr val="000000"/>
                </a:solidFill>
                <a:effectLst/>
                <a:latin typeface="Arial Unicode MS"/>
                <a:ea typeface="source-code-pro"/>
              </a:rPr>
              <a:t> imagesc</a:t>
            </a:r>
            <a:r>
              <a:rPr lang="en-US" altLang="zh-CN" dirty="0"/>
              <a:t>(</a:t>
            </a:r>
            <a:r>
              <a:rPr lang="en-US" altLang="zh-CN" dirty="0" err="1"/>
              <a:t>Vq</a:t>
            </a:r>
            <a:r>
              <a:rPr lang="en-US" altLang="zh-CN" dirty="0"/>
              <a:t> )</a:t>
            </a:r>
          </a:p>
          <a:p>
            <a:endParaRPr lang="en-US" altLang="zh-CN" dirty="0"/>
          </a:p>
          <a:p>
            <a:r>
              <a:rPr lang="en-US" altLang="zh-CN" sz="1200" dirty="0" err="1">
                <a:solidFill>
                  <a:srgbClr val="FFFF00"/>
                </a:solidFill>
                <a:highlight>
                  <a:srgbClr val="21A4FF"/>
                </a:highlight>
              </a:rPr>
              <a:t>imshow</a:t>
            </a:r>
            <a:r>
              <a:rPr lang="en-US" altLang="zh-CN" sz="1200" dirty="0">
                <a:solidFill>
                  <a:srgbClr val="FFFF00"/>
                </a:solidFill>
                <a:highlight>
                  <a:srgbClr val="21A4FF"/>
                </a:highlight>
              </a:rPr>
              <a:t>(Vg)</a:t>
            </a:r>
            <a:endParaRPr lang="en-US" altLang="zh-CN" dirty="0"/>
          </a:p>
          <a:p>
            <a:r>
              <a:rPr lang="en-US" altLang="zh-CN" dirty="0"/>
              <a:t>cg=colormap(</a:t>
            </a:r>
            <a:r>
              <a:rPr lang="en-US" altLang="zh-CN" dirty="0" err="1"/>
              <a:t>ims</a:t>
            </a:r>
            <a:r>
              <a:rPr lang="en-US" altLang="zh-CN" dirty="0"/>
              <a:t>, "gray")</a:t>
            </a:r>
          </a:p>
          <a:p>
            <a:endParaRPr lang="en-US" altLang="zh-CN" dirty="0"/>
          </a:p>
          <a:p>
            <a:r>
              <a:rPr lang="en-US" altLang="zh-CN" b="0" dirty="0">
                <a:solidFill>
                  <a:srgbClr val="000000"/>
                </a:solidFill>
                <a:effectLst/>
                <a:latin typeface="Consolas" panose="020B0609020204030204" pitchFamily="49" charset="0"/>
              </a:rPr>
              <a:t>c = </a:t>
            </a:r>
            <a:r>
              <a:rPr lang="en-US" altLang="zh-CN" b="0" dirty="0" err="1">
                <a:solidFill>
                  <a:srgbClr val="795E26"/>
                </a:solidFill>
                <a:effectLst/>
                <a:latin typeface="Consolas" panose="020B0609020204030204" pitchFamily="49" charset="0"/>
              </a:rPr>
              <a:t>imread</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"ccc.jpg"</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vv</a:t>
            </a:r>
            <a:r>
              <a:rPr lang="en-US" altLang="zh-CN" b="0" dirty="0">
                <a:solidFill>
                  <a:srgbClr val="000000"/>
                </a:solidFill>
                <a:effectLst/>
                <a:latin typeface="Consolas" panose="020B0609020204030204" pitchFamily="49" charset="0"/>
              </a:rPr>
              <a:t> = </a:t>
            </a:r>
            <a:r>
              <a:rPr lang="en-US" altLang="zh-CN" b="0" dirty="0">
                <a:solidFill>
                  <a:srgbClr val="795E26"/>
                </a:solidFill>
                <a:effectLst/>
                <a:latin typeface="Consolas" panose="020B0609020204030204" pitchFamily="49" charset="0"/>
              </a:rPr>
              <a:t>Int64</a:t>
            </a:r>
            <a:r>
              <a:rPr lang="en-US" altLang="zh-CN" b="0" dirty="0">
                <a:solidFill>
                  <a:srgbClr val="000000"/>
                </a:solidFill>
                <a:effectLst/>
                <a:latin typeface="Consolas" panose="020B0609020204030204" pitchFamily="49" charset="0"/>
              </a:rPr>
              <a:t>.(c)</a:t>
            </a:r>
          </a:p>
          <a:p>
            <a:r>
              <a:rPr lang="en-US" altLang="zh-CN" b="0" dirty="0" err="1">
                <a:solidFill>
                  <a:srgbClr val="000000"/>
                </a:solidFill>
                <a:effectLst/>
                <a:latin typeface="Consolas" panose="020B0609020204030204" pitchFamily="49" charset="0"/>
              </a:rPr>
              <a:t>ims</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imagesc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vv</a:t>
            </a:r>
            <a:r>
              <a:rPr lang="en-US" altLang="zh-CN" b="0" dirty="0">
                <a:solidFill>
                  <a:srgbClr val="000000"/>
                </a:solidFill>
                <a:effectLst/>
                <a:latin typeface="Consolas" panose="020B0609020204030204" pitchFamily="49" charset="0"/>
              </a:rPr>
              <a:t>)</a:t>
            </a:r>
          </a:p>
          <a:p>
            <a:r>
              <a:rPr lang="en-US" altLang="zh-CN" b="0" dirty="0" err="1">
                <a:solidFill>
                  <a:srgbClr val="000000"/>
                </a:solidFill>
                <a:effectLst/>
                <a:latin typeface="Consolas" panose="020B0609020204030204" pitchFamily="49" charset="0"/>
              </a:rPr>
              <a:t>Vq</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interp2</a:t>
            </a:r>
            <a:r>
              <a:rPr lang="en-US" altLang="zh-CN" b="0" dirty="0">
                <a:solidFill>
                  <a:srgbClr val="000000"/>
                </a:solidFill>
                <a:effectLst/>
                <a:latin typeface="Consolas" panose="020B0609020204030204" pitchFamily="49" charset="0"/>
              </a:rPr>
              <a:t>(vv,</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r>
              <a:rPr lang="en-US" altLang="zh-CN" b="0" dirty="0">
                <a:solidFill>
                  <a:srgbClr val="795E26"/>
                </a:solidFill>
                <a:effectLst/>
                <a:latin typeface="Consolas" panose="020B0609020204030204" pitchFamily="49" charset="0"/>
              </a:rPr>
              <a:t>figure</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imagesc</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Vq</a:t>
            </a:r>
            <a:r>
              <a:rPr lang="en-US" altLang="zh-CN" b="0" dirty="0">
                <a:solidFill>
                  <a:srgbClr val="000000"/>
                </a:solidFill>
                <a:effectLst/>
                <a:latin typeface="Consolas" panose="020B0609020204030204" pitchFamily="49" charset="0"/>
              </a:rPr>
              <a:t>)</a:t>
            </a:r>
          </a:p>
          <a:p>
            <a:endParaRPr lang="en-US" altLang="zh-CN" dirty="0"/>
          </a:p>
          <a:p>
            <a:pPr marL="0" indent="0">
              <a:lnSpc>
                <a:spcPct val="150000"/>
              </a:lnSpc>
              <a:buNone/>
            </a:pPr>
            <a:r>
              <a:rPr lang="en-US" altLang="zh-CN" b="1" kern="1200" dirty="0">
                <a:solidFill>
                  <a:srgbClr val="0070C0"/>
                </a:solidFill>
                <a:latin typeface="微软雅黑" panose="020B0503020204020204" pitchFamily="34" charset="-122"/>
                <a:ea typeface="微软雅黑" panose="020B0503020204020204" pitchFamily="34" charset="-122"/>
              </a:rPr>
              <a:t>2.</a:t>
            </a:r>
            <a:r>
              <a:rPr lang="zh-CN" altLang="en-US" b="1" kern="1200" dirty="0">
                <a:solidFill>
                  <a:srgbClr val="0070C0"/>
                </a:solidFill>
                <a:latin typeface="微软雅黑" panose="020B0503020204020204" pitchFamily="34" charset="-122"/>
                <a:ea typeface="微软雅黑" panose="020B0503020204020204" pitchFamily="34" charset="-122"/>
              </a:rPr>
              <a:t>采用二维插值细化图像 </a:t>
            </a:r>
          </a:p>
          <a:p>
            <a:pPr marL="0" indent="0">
              <a:buNone/>
            </a:pPr>
            <a:r>
              <a:rPr lang="en-US" altLang="zh-CN" dirty="0"/>
              <a:t>#</a:t>
            </a:r>
            <a:r>
              <a:rPr lang="zh-CN" altLang="en-US" dirty="0"/>
              <a:t>创建四阶魔方矩阵</a:t>
            </a:r>
            <a:endParaRPr lang="en-US" altLang="zh-CN" dirty="0"/>
          </a:p>
          <a:p>
            <a:pPr marL="0" indent="0">
              <a:buNone/>
            </a:pPr>
            <a:r>
              <a:rPr lang="en-US" altLang="zh-CN" dirty="0"/>
              <a:t>m=magic(4)</a:t>
            </a:r>
            <a:r>
              <a:rPr lang="zh-CN" altLang="en-US" dirty="0"/>
              <a:t>，</a:t>
            </a:r>
            <a:endParaRPr lang="en-US" altLang="zh-CN" dirty="0"/>
          </a:p>
          <a:p>
            <a:pPr marL="0" indent="0">
              <a:buNone/>
            </a:pPr>
            <a:r>
              <a:rPr lang="en-US" altLang="zh-CN" dirty="0" err="1"/>
              <a:t>imagesc</a:t>
            </a:r>
            <a:r>
              <a:rPr lang="en-US" altLang="zh-CN" dirty="0"/>
              <a:t>(m) #</a:t>
            </a:r>
            <a:r>
              <a:rPr lang="zh-CN" altLang="en-US" dirty="0"/>
              <a:t>显示四阶魔方矩阵图像；</a:t>
            </a:r>
          </a:p>
          <a:p>
            <a:pPr marL="0" indent="0">
              <a:buNone/>
            </a:pPr>
            <a:r>
              <a:rPr lang="en-US" altLang="zh-CN" dirty="0"/>
              <a:t>C=interp2(</a:t>
            </a:r>
            <a:r>
              <a:rPr lang="en-US" altLang="zh-CN" dirty="0" err="1"/>
              <a:t>m,k</a:t>
            </a:r>
            <a:r>
              <a:rPr lang="zh-CN" altLang="en-US" dirty="0"/>
              <a:t>） </a:t>
            </a:r>
            <a:r>
              <a:rPr lang="en-US" altLang="zh-CN" dirty="0"/>
              <a:t>#</a:t>
            </a:r>
            <a:r>
              <a:rPr lang="zh-CN" altLang="en-US" dirty="0"/>
              <a:t>指定细化因子</a:t>
            </a:r>
            <a:r>
              <a:rPr lang="en-US" altLang="zh-CN" dirty="0"/>
              <a:t>k</a:t>
            </a:r>
            <a:r>
              <a:rPr lang="zh-CN" altLang="en-US" dirty="0"/>
              <a:t>值</a:t>
            </a:r>
            <a:endParaRPr lang="en-US" altLang="zh-CN" dirty="0"/>
          </a:p>
          <a:p>
            <a:pPr marL="0" indent="0">
              <a:buNone/>
            </a:pPr>
            <a:r>
              <a:rPr lang="en-US" altLang="zh-CN" dirty="0" err="1"/>
              <a:t>imagesc</a:t>
            </a:r>
            <a:r>
              <a:rPr lang="en-US" altLang="zh-CN" dirty="0"/>
              <a:t>(C)  #</a:t>
            </a:r>
            <a:r>
              <a:rPr lang="zh-CN" altLang="en-US"/>
              <a:t>显示细化插值后图像</a:t>
            </a:r>
          </a:p>
          <a:p>
            <a:endParaRPr lang="zh-CN" altLang="en-US" dirty="0"/>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66</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气象云图</a:t>
            </a:r>
          </a:p>
        </p:txBody>
      </p:sp>
      <p:sp>
        <p:nvSpPr>
          <p:cNvPr id="4" name="灯片编号占位符 3"/>
          <p:cNvSpPr>
            <a:spLocks noGrp="1"/>
          </p:cNvSpPr>
          <p:nvPr>
            <p:ph type="sldNum" sz="quarter" idx="5"/>
          </p:nvPr>
        </p:nvSpPr>
        <p:spPr/>
        <p:txBody>
          <a:bodyPr/>
          <a:lstStyle/>
          <a:p>
            <a:pPr>
              <a:defRPr/>
            </a:pPr>
            <a:fld id="{B6C58412-F58B-4DA5-9529-CC0CDE193992}" type="slidenum">
              <a:rPr lang="zh-CN" altLang="en-US" smtClean="0"/>
              <a:t>67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56630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8"/>
          <p:cNvSpPr>
            <a:spLocks noGrp="1" noChangeArrowheads="1"/>
          </p:cNvSpPr>
          <p:nvPr>
            <p:ph type="sldNum" sz="quarter" idx="10"/>
          </p:nvPr>
        </p:nvSpPr>
        <p:spPr/>
        <p:txBody>
          <a:bodyPr/>
          <a:lstStyle>
            <a:lvl1pPr>
              <a:defRPr/>
            </a:lvl1pPr>
          </a:lstStyle>
          <a:p>
            <a:pPr>
              <a:defRPr/>
            </a:pPr>
            <a:fld id="{C6A839A6-78F6-48CF-87A6-6BD8E9022CF6}"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30276" y="195486"/>
            <a:ext cx="7667625" cy="438150"/>
          </a:xfrm>
        </p:spPr>
        <p:txBody>
          <a:bodyPr/>
          <a:lstStyle>
            <a:lvl1pPr>
              <a:defRPr sz="3200" b="0">
                <a:solidFill>
                  <a:srgbClr val="002060"/>
                </a:solidFill>
                <a:latin typeface="华文楷体" panose="02010600040101010101" pitchFamily="2" charset="-122"/>
                <a:ea typeface="华文楷体" panose="02010600040101010101" pitchFamily="2" charset="-122"/>
              </a:defRPr>
            </a:lvl1pPr>
          </a:lstStyle>
          <a:p>
            <a:r>
              <a:rPr lang="zh-CN" altLang="en-US" dirty="0"/>
              <a:t>单击此处编辑母版标题样式</a:t>
            </a:r>
          </a:p>
        </p:txBody>
      </p:sp>
      <p:sp>
        <p:nvSpPr>
          <p:cNvPr id="3" name="内容占位符 2"/>
          <p:cNvSpPr>
            <a:spLocks noGrp="1"/>
          </p:cNvSpPr>
          <p:nvPr>
            <p:ph idx="1"/>
          </p:nvPr>
        </p:nvSpPr>
        <p:spPr>
          <a:xfrm>
            <a:off x="673100" y="802481"/>
            <a:ext cx="6515100" cy="547842"/>
          </a:xfrm>
        </p:spPr>
        <p:txBody>
          <a:bodyPr/>
          <a:lstStyle>
            <a:lvl1pPr marL="1778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1pPr>
            <a:lvl2pPr marL="6350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2pPr>
            <a:lvl3pPr marL="10922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3pPr>
            <a:lvl4pPr marL="15494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4pPr>
            <a:lvl5pPr marL="2006600" indent="-177800">
              <a:buFont typeface="Wingdings" panose="05000000000000000000" pitchFamily="2" charset="2"/>
              <a:buChar char="Ø"/>
              <a:defRPr b="0">
                <a:solidFill>
                  <a:srgbClr val="002060"/>
                </a:solidFill>
                <a:latin typeface="华文楷体" panose="02010600040101010101" pitchFamily="2" charset="-122"/>
                <a:ea typeface="华文楷体" panose="02010600040101010101" pitchFamily="2" charset="-122"/>
              </a:defRPr>
            </a:lvl5pPr>
          </a:lstStyle>
          <a:p>
            <a:pPr lvl="0"/>
            <a:endParaRPr lang="zh-CN" altLang="en-US" dirty="0"/>
          </a:p>
        </p:txBody>
      </p:sp>
      <p:pic>
        <p:nvPicPr>
          <p:cNvPr id="5" name="Picture 11"/>
          <p:cNvPicPr>
            <a:picLocks noChangeAspect="1" noChangeArrowheads="1"/>
          </p:cNvPicPr>
          <p:nvPr userDrawn="1"/>
        </p:nvPicPr>
        <p:blipFill>
          <a:blip r:embed="rId2" cstate="print"/>
          <a:srcRect/>
          <a:stretch>
            <a:fillRect/>
          </a:stretch>
        </p:blipFill>
        <p:spPr bwMode="auto">
          <a:xfrm>
            <a:off x="359024" y="4726213"/>
            <a:ext cx="8784976" cy="417287"/>
          </a:xfrm>
          <a:prstGeom prst="rect">
            <a:avLst/>
          </a:prstGeom>
          <a:noFill/>
          <a:ln w="9525">
            <a:noFill/>
            <a:miter lim="800000"/>
            <a:headEnd/>
            <a:tailEnd/>
          </a:ln>
        </p:spPr>
      </p:pic>
      <p:cxnSp>
        <p:nvCxnSpPr>
          <p:cNvPr id="8" name="直接连接符 7"/>
          <p:cNvCxnSpPr/>
          <p:nvPr userDrawn="1"/>
        </p:nvCxnSpPr>
        <p:spPr bwMode="auto">
          <a:xfrm>
            <a:off x="6626" y="4645735"/>
            <a:ext cx="9144000" cy="0"/>
          </a:xfrm>
          <a:prstGeom prst="line">
            <a:avLst/>
          </a:prstGeom>
          <a:ln w="19050">
            <a:solidFill>
              <a:srgbClr val="736303"/>
            </a:solidFill>
            <a:headEnd type="none" w="med" len="med"/>
            <a:tailEnd type="none" w="med" len="med"/>
          </a:ln>
        </p:spPr>
        <p:style>
          <a:lnRef idx="3">
            <a:schemeClr val="accent6"/>
          </a:lnRef>
          <a:fillRef idx="0">
            <a:schemeClr val="accent6"/>
          </a:fillRef>
          <a:effectRef idx="2">
            <a:schemeClr val="accent6"/>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874288"/>
            <a:ext cx="7772400" cy="4308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8"/>
          <p:cNvSpPr>
            <a:spLocks noGrp="1" noChangeArrowheads="1"/>
          </p:cNvSpPr>
          <p:nvPr>
            <p:ph type="sldNum" sz="quarter" idx="10"/>
          </p:nvPr>
        </p:nvSpPr>
        <p:spPr/>
        <p:txBody>
          <a:bodyPr/>
          <a:lstStyle>
            <a:lvl1pPr>
              <a:defRPr/>
            </a:lvl1pPr>
          </a:lstStyle>
          <a:p>
            <a:pPr>
              <a:defRPr/>
            </a:pPr>
            <a:fld id="{8F1CB138-D962-4159-86D4-69744E72DFCB}"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7310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006850" y="802481"/>
            <a:ext cx="3181350" cy="2394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8"/>
          <p:cNvSpPr>
            <a:spLocks noGrp="1" noChangeArrowheads="1"/>
          </p:cNvSpPr>
          <p:nvPr>
            <p:ph type="sldNum" sz="quarter" idx="10"/>
          </p:nvPr>
        </p:nvSpPr>
        <p:spPr/>
        <p:txBody>
          <a:bodyPr/>
          <a:lstStyle>
            <a:lvl1pPr>
              <a:defRPr/>
            </a:lvl1pPr>
          </a:lstStyle>
          <a:p>
            <a:pPr>
              <a:defRPr/>
            </a:pPr>
            <a:fld id="{82AC858E-3DCE-4D01-A80F-DEA7F14DD0EB}"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32559"/>
            <a:ext cx="4040188"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32559"/>
            <a:ext cx="4041775" cy="49859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168353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8"/>
          <p:cNvSpPr>
            <a:spLocks noGrp="1" noChangeArrowheads="1"/>
          </p:cNvSpPr>
          <p:nvPr>
            <p:ph type="sldNum" sz="quarter" idx="10"/>
          </p:nvPr>
        </p:nvSpPr>
        <p:spPr/>
        <p:txBody>
          <a:bodyPr/>
          <a:lstStyle>
            <a:lvl1pPr>
              <a:defRPr/>
            </a:lvl1pPr>
          </a:lstStyle>
          <a:p>
            <a:pPr>
              <a:defRPr/>
            </a:pPr>
            <a:fld id="{59E2ED9D-B9E8-4415-A1AA-A51EE65F1343}"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8"/>
          <p:cNvSpPr>
            <a:spLocks noGrp="1" noChangeArrowheads="1"/>
          </p:cNvSpPr>
          <p:nvPr>
            <p:ph type="sldNum" sz="quarter" idx="10"/>
          </p:nvPr>
        </p:nvSpPr>
        <p:spPr/>
        <p:txBody>
          <a:bodyPr/>
          <a:lstStyle>
            <a:lvl1pPr>
              <a:defRPr/>
            </a:lvl1pPr>
          </a:lstStyle>
          <a:p>
            <a:pPr>
              <a:defRPr/>
            </a:pPr>
            <a:fld id="{148DE395-C011-4FCA-B35B-9450E02CE85B}"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p:txBody>
          <a:bodyPr/>
          <a:lstStyle>
            <a:lvl1pPr>
              <a:defRPr/>
            </a:lvl1pPr>
          </a:lstStyle>
          <a:p>
            <a:pPr>
              <a:defRPr/>
            </a:pPr>
            <a:fld id="{132BEE3A-E9D9-4E9F-BCF8-FFCE31090B4C}" type="slidenum">
              <a:rPr lang="zh-CN" altLang="en-US"/>
              <a:t>‹#›</a:t>
            </a:fld>
            <a:endParaRPr lang="zh-CN" altLang="en-US"/>
          </a:p>
        </p:txBody>
      </p:sp>
      <p:pic>
        <p:nvPicPr>
          <p:cNvPr id="3" name="Picture 11"/>
          <p:cNvPicPr>
            <a:picLocks noChangeAspect="1" noChangeArrowheads="1"/>
          </p:cNvPicPr>
          <p:nvPr userDrawn="1"/>
        </p:nvPicPr>
        <p:blipFill>
          <a:blip r:embed="rId2" cstate="print"/>
          <a:srcRect/>
          <a:stretch>
            <a:fillRect/>
          </a:stretch>
        </p:blipFill>
        <p:spPr bwMode="auto">
          <a:xfrm>
            <a:off x="4300" y="4515966"/>
            <a:ext cx="9113837" cy="627534"/>
          </a:xfrm>
          <a:prstGeom prst="rect">
            <a:avLst/>
          </a:prstGeom>
          <a:noFill/>
          <a:ln w="9525">
            <a:noFill/>
            <a:miter lim="800000"/>
            <a:headEnd/>
            <a:tailEnd/>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273305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p:txBody>
          <a:bodyPr/>
          <a:lstStyle>
            <a:lvl1pPr>
              <a:defRPr/>
            </a:lvl1pPr>
          </a:lstStyle>
          <a:p>
            <a:pPr>
              <a:defRPr/>
            </a:pPr>
            <a:fld id="{E6FB4065-B1B7-4E06-9A01-41AE3A9EC04A}"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6340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4025503"/>
            <a:ext cx="5486400" cy="32932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8"/>
          <p:cNvSpPr>
            <a:spLocks noGrp="1" noChangeArrowheads="1"/>
          </p:cNvSpPr>
          <p:nvPr>
            <p:ph type="sldNum" sz="quarter" idx="10"/>
          </p:nvPr>
        </p:nvSpPr>
        <p:spPr/>
        <p:txBody>
          <a:bodyPr/>
          <a:lstStyle>
            <a:lvl1pPr>
              <a:defRPr/>
            </a:lvl1pPr>
          </a:lstStyle>
          <a:p>
            <a:pPr>
              <a:defRPr/>
            </a:pPr>
            <a:fld id="{2428D4F1-5252-4CE3-8F75-35C51027C8D7}"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2331486" y="802481"/>
            <a:ext cx="4856714" cy="205594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p:txBody>
          <a:bodyPr/>
          <a:lstStyle>
            <a:lvl1pPr>
              <a:defRPr/>
            </a:lvl1pPr>
          </a:lstStyle>
          <a:p>
            <a:pPr>
              <a:defRPr/>
            </a:pPr>
            <a:fld id="{87EE522D-DF1B-4BE4-9E38-6362FBF71D06}"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6700" y="250031"/>
            <a:ext cx="1981200" cy="1953816"/>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1607586" y="250031"/>
            <a:ext cx="4856714" cy="1953816"/>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8"/>
          <p:cNvSpPr>
            <a:spLocks noGrp="1" noChangeArrowheads="1"/>
          </p:cNvSpPr>
          <p:nvPr>
            <p:ph type="sldNum" sz="quarter" idx="10"/>
          </p:nvPr>
        </p:nvSpPr>
        <p:spPr/>
        <p:txBody>
          <a:bodyPr/>
          <a:lstStyle>
            <a:lvl1pPr>
              <a:defRPr/>
            </a:lvl1pPr>
          </a:lstStyle>
          <a:p>
            <a:pPr>
              <a:defRPr/>
            </a:pPr>
            <a:fld id="{3F913E49-A68C-484C-9771-B00D1343D1B8}"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30276" y="250031"/>
            <a:ext cx="7667625" cy="438150"/>
          </a:xfrm>
        </p:spPr>
        <p:txBody>
          <a:bodyPr/>
          <a:lstStyle/>
          <a:p>
            <a:r>
              <a:rPr lang="zh-CN" altLang="en-US"/>
              <a:t>单击此处编辑母版标题样式</a:t>
            </a:r>
          </a:p>
        </p:txBody>
      </p:sp>
      <p:sp>
        <p:nvSpPr>
          <p:cNvPr id="3" name="表格占位符 2"/>
          <p:cNvSpPr>
            <a:spLocks noGrp="1"/>
          </p:cNvSpPr>
          <p:nvPr>
            <p:ph type="tbl" idx="1" hasCustomPrompt="1"/>
          </p:nvPr>
        </p:nvSpPr>
        <p:spPr>
          <a:xfrm>
            <a:off x="673100" y="802481"/>
            <a:ext cx="6515100" cy="566309"/>
          </a:xfrm>
        </p:spPr>
        <p:txBody>
          <a:bodyPr/>
          <a:lstStyle/>
          <a:p>
            <a:pPr lvl="0"/>
            <a:r>
              <a:rPr lang="zh-CN" altLang="en-US" noProof="0"/>
              <a:t>单击图标添加表格</a:t>
            </a:r>
          </a:p>
        </p:txBody>
      </p:sp>
      <p:sp>
        <p:nvSpPr>
          <p:cNvPr id="4" name="Rectangle 8"/>
          <p:cNvSpPr>
            <a:spLocks noGrp="1" noChangeArrowheads="1"/>
          </p:cNvSpPr>
          <p:nvPr>
            <p:ph type="sldNum" sz="quarter" idx="10"/>
          </p:nvPr>
        </p:nvSpPr>
        <p:spPr/>
        <p:txBody>
          <a:bodyPr/>
          <a:lstStyle>
            <a:lvl1pPr>
              <a:defRPr/>
            </a:lvl1pPr>
          </a:lstStyle>
          <a:p>
            <a:pPr>
              <a:defRPr/>
            </a:pPr>
            <a:fld id="{53CA134C-C122-4DE6-ABA6-CD4CFACFA387}" type="slidenum">
              <a:rPr lang="zh-CN" altLang="en-US"/>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755650" y="950913"/>
            <a:ext cx="8244842" cy="2107821"/>
          </a:xfrm>
        </p:spPr>
        <p:txBody>
          <a:bodyPr/>
          <a:lstStyle>
            <a:lvl1pPr marL="0" indent="0">
              <a:buNone/>
              <a:defRPr sz="2400">
                <a:solidFill>
                  <a:srgbClr val="002060"/>
                </a:solidFill>
                <a:latin typeface="华文楷体" panose="02010600040101010101" pitchFamily="2" charset="-122"/>
                <a:ea typeface="华文楷体" panose="02010600040101010101" pitchFamily="2" charset="-122"/>
              </a:defRPr>
            </a:lvl1pPr>
            <a:lvl2pPr>
              <a:defRPr sz="2400">
                <a:solidFill>
                  <a:srgbClr val="002060"/>
                </a:solidFill>
                <a:latin typeface="华文楷体" panose="02010600040101010101" pitchFamily="2" charset="-122"/>
                <a:ea typeface="华文楷体" panose="02010600040101010101" pitchFamily="2" charset="-122"/>
              </a:defRPr>
            </a:lvl2pPr>
            <a:lvl3pPr>
              <a:defRPr sz="2400">
                <a:solidFill>
                  <a:srgbClr val="002060"/>
                </a:solidFill>
                <a:latin typeface="华文楷体" panose="02010600040101010101" pitchFamily="2" charset="-122"/>
                <a:ea typeface="华文楷体" panose="02010600040101010101" pitchFamily="2" charset="-122"/>
              </a:defRPr>
            </a:lvl3pPr>
            <a:lvl4pPr>
              <a:defRPr sz="2400">
                <a:solidFill>
                  <a:srgbClr val="002060"/>
                </a:solidFill>
                <a:latin typeface="华文楷体" panose="02010600040101010101" pitchFamily="2" charset="-122"/>
                <a:ea typeface="华文楷体" panose="02010600040101010101" pitchFamily="2" charset="-122"/>
              </a:defRPr>
            </a:lvl4pPr>
            <a:lvl5pPr>
              <a:defRPr sz="2400">
                <a:solidFill>
                  <a:srgbClr val="002060"/>
                </a:solidFill>
                <a:latin typeface="华文楷体" panose="02010600040101010101" pitchFamily="2" charset="-122"/>
                <a:ea typeface="华文楷体" panose="02010600040101010101" pitchFamily="2"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685800" y="42862"/>
            <a:ext cx="7772400" cy="614363"/>
          </a:xfrm>
          <a:prstGeom prst="rect">
            <a:avLst/>
          </a:prstGeom>
          <a:noFill/>
          <a:ln>
            <a:noFill/>
          </a:ln>
        </p:spPr>
        <p:txBody>
          <a:bodyPr lIns="90488" tIns="44450" rIns="90488" bIns="44450" anchor="b"/>
          <a:lstStyle/>
          <a:p>
            <a:pPr>
              <a:lnSpc>
                <a:spcPct val="85000"/>
              </a:lnSpc>
              <a:defRPr/>
            </a:pPr>
            <a:endParaRPr lang="zh-CN" altLang="en-US" sz="3400">
              <a:solidFill>
                <a:srgbClr val="002E5C"/>
              </a:solidFill>
              <a:latin typeface="Helvetica" pitchFamily="34" charset="0"/>
              <a:ea typeface="宋体" panose="02010600030101010101" pitchFamily="2" charset="-122"/>
            </a:endParaRPr>
          </a:p>
        </p:txBody>
      </p:sp>
      <p:sp>
        <p:nvSpPr>
          <p:cNvPr id="1027" name="Rectangle 3"/>
          <p:cNvSpPr>
            <a:spLocks noGrp="1" noChangeArrowheads="1"/>
          </p:cNvSpPr>
          <p:nvPr>
            <p:ph type="title"/>
          </p:nvPr>
        </p:nvSpPr>
        <p:spPr bwMode="auto">
          <a:xfrm>
            <a:off x="930276" y="250031"/>
            <a:ext cx="7667625" cy="438150"/>
          </a:xfrm>
          <a:prstGeom prst="rect">
            <a:avLst/>
          </a:prstGeom>
          <a:noFill/>
          <a:ln w="9525">
            <a:noFill/>
            <a:miter lim="800000"/>
          </a:ln>
        </p:spPr>
        <p:txBody>
          <a:bodyPr vert="horz" wrap="none" lIns="91440" tIns="45720" rIns="91440" bIns="45720" numCol="1" anchor="b" anchorCtr="0" compatLnSpc="1"/>
          <a:lstStyle/>
          <a:p>
            <a:pPr lvl="0"/>
            <a:r>
              <a:rPr lang="zh-CN" altLang="en-US"/>
              <a:t>单击此处编辑母版标题样式</a:t>
            </a:r>
            <a:endParaRPr lang="en-US" altLang="zh-CN"/>
          </a:p>
        </p:txBody>
      </p:sp>
      <p:sp>
        <p:nvSpPr>
          <p:cNvPr id="1028" name="Rectangle 4"/>
          <p:cNvSpPr>
            <a:spLocks noGrp="1" noChangeArrowheads="1"/>
          </p:cNvSpPr>
          <p:nvPr>
            <p:ph type="body" idx="1"/>
          </p:nvPr>
        </p:nvSpPr>
        <p:spPr bwMode="auto">
          <a:xfrm>
            <a:off x="673100" y="802481"/>
            <a:ext cx="6515100" cy="2055947"/>
          </a:xfrm>
          <a:prstGeom prst="rect">
            <a:avLst/>
          </a:prstGeom>
          <a:noFill/>
          <a:ln w="9525">
            <a:noFill/>
            <a:miter lim="800000"/>
          </a:ln>
        </p:spPr>
        <p:txBody>
          <a:bodyPr vert="horz" wrap="square" lIns="91440" tIns="45720" rIns="91440" bIns="45720" numCol="1" anchor="t" anchorCtr="0" compatLnSpc="1">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pic>
        <p:nvPicPr>
          <p:cNvPr id="1029" name="Picture 5" descr="symbol"/>
          <p:cNvPicPr>
            <a:picLocks noChangeAspect="1" noChangeArrowheads="1"/>
          </p:cNvPicPr>
          <p:nvPr/>
        </p:nvPicPr>
        <p:blipFill>
          <a:blip r:embed="rId15" cstate="print"/>
          <a:srcRect/>
          <a:stretch>
            <a:fillRect/>
          </a:stretch>
        </p:blipFill>
        <p:spPr bwMode="auto">
          <a:xfrm>
            <a:off x="1" y="330994"/>
            <a:ext cx="942975" cy="681038"/>
          </a:xfrm>
          <a:prstGeom prst="rect">
            <a:avLst/>
          </a:prstGeom>
          <a:noFill/>
          <a:ln w="9525">
            <a:noFill/>
            <a:miter lim="800000"/>
            <a:headEnd/>
            <a:tailEnd/>
          </a:ln>
        </p:spPr>
      </p:pic>
      <p:sp>
        <p:nvSpPr>
          <p:cNvPr id="1030" name="Line 6"/>
          <p:cNvSpPr>
            <a:spLocks noChangeShapeType="1"/>
          </p:cNvSpPr>
          <p:nvPr/>
        </p:nvSpPr>
        <p:spPr bwMode="auto">
          <a:xfrm>
            <a:off x="906463" y="660797"/>
            <a:ext cx="8121650" cy="0"/>
          </a:xfrm>
          <a:prstGeom prst="line">
            <a:avLst/>
          </a:prstGeom>
          <a:noFill/>
          <a:ln w="28575">
            <a:solidFill>
              <a:srgbClr val="003B76"/>
            </a:solidFill>
            <a:round/>
          </a:ln>
        </p:spPr>
        <p:txBody>
          <a:bodyPr lIns="0" tIns="0" rIns="0" bIns="0" anchor="ctr">
            <a:spAutoFit/>
          </a:bodyPr>
          <a:lstStyle/>
          <a:p>
            <a:pPr>
              <a:defRPr/>
            </a:pPr>
            <a:endParaRPr lang="zh-CN" altLang="en-US">
              <a:ea typeface="宋体" panose="02010600030101010101" pitchFamily="2" charset="-122"/>
            </a:endParaRPr>
          </a:p>
        </p:txBody>
      </p:sp>
      <p:sp>
        <p:nvSpPr>
          <p:cNvPr id="1031" name="Line 7"/>
          <p:cNvSpPr>
            <a:spLocks noChangeShapeType="1"/>
          </p:cNvSpPr>
          <p:nvPr/>
        </p:nvSpPr>
        <p:spPr bwMode="auto">
          <a:xfrm>
            <a:off x="915988" y="653653"/>
            <a:ext cx="8108950" cy="0"/>
          </a:xfrm>
          <a:prstGeom prst="line">
            <a:avLst/>
          </a:prstGeom>
          <a:noFill/>
          <a:ln w="12700">
            <a:solidFill>
              <a:srgbClr val="F0DA04"/>
            </a:solidFill>
            <a:round/>
          </a:ln>
        </p:spPr>
        <p:txBody>
          <a:bodyPr wrap="none" anchor="ctr"/>
          <a:lstStyle/>
          <a:p>
            <a:pPr>
              <a:defRPr/>
            </a:pPr>
            <a:endParaRPr lang="zh-CN" altLang="en-US">
              <a:ea typeface="宋体" panose="02010600030101010101" pitchFamily="2" charset="-122"/>
            </a:endParaRPr>
          </a:p>
        </p:txBody>
      </p:sp>
      <p:sp>
        <p:nvSpPr>
          <p:cNvPr id="1032" name="Rectangle 8"/>
          <p:cNvSpPr>
            <a:spLocks noGrp="1" noChangeArrowheads="1"/>
          </p:cNvSpPr>
          <p:nvPr>
            <p:ph type="sldNum" sz="quarter" idx="4"/>
          </p:nvPr>
        </p:nvSpPr>
        <p:spPr bwMode="auto">
          <a:xfrm>
            <a:off x="6553200" y="4683919"/>
            <a:ext cx="2133600" cy="357188"/>
          </a:xfrm>
          <a:prstGeom prst="rect">
            <a:avLst/>
          </a:prstGeom>
          <a:noFill/>
          <a:ln w="9525">
            <a:noFill/>
            <a:miter lim="800000"/>
          </a:ln>
          <a:effectLst/>
        </p:spPr>
        <p:txBody>
          <a:bodyPr vert="horz" wrap="square" lIns="91440" tIns="45720" rIns="91440" bIns="45720" numCol="1" anchor="t" anchorCtr="0" compatLnSpc="1"/>
          <a:lstStyle>
            <a:lvl1pPr algn="r" fontAlgn="auto">
              <a:lnSpc>
                <a:spcPct val="100000"/>
              </a:lnSpc>
              <a:spcBef>
                <a:spcPts val="0"/>
              </a:spcBef>
              <a:spcAft>
                <a:spcPts val="0"/>
              </a:spcAft>
              <a:defRPr sz="1400" b="0">
                <a:latin typeface="+mn-lt"/>
                <a:ea typeface="宋体" panose="02010600030101010101" pitchFamily="2" charset="-122"/>
              </a:defRPr>
            </a:lvl1pPr>
          </a:lstStyle>
          <a:p>
            <a:pPr>
              <a:defRPr/>
            </a:pPr>
            <a:fld id="{FD990E54-9BDD-4FF4-80FA-301FCBFF661E}"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p:titleStyle>
    <p:body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Doc/TyMath/ElementaryMath/Polynomials/polyint.html#polyint"/><Relationship Id="rId3" Type="http://schemas.openxmlformats.org/officeDocument/2006/relationships/hyperlink" Target="#/Doc/TyMath/ElementaryMath/Polynomials/roots.html#roots"/><Relationship Id="rId7" Type="http://schemas.openxmlformats.org/officeDocument/2006/relationships/hyperlink" Target="#/Doc/TyMath/ElementaryMath/Polynomials/polyder.html#polyder"/><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Doc/TyMath/ElementaryMath/Polynomials/polyvalm.html#polyvalm"/><Relationship Id="rId5" Type="http://schemas.openxmlformats.org/officeDocument/2006/relationships/hyperlink" Target="#/Doc/TyMath/ElementaryMath/Polynomials/polyval.html#polyval"/><Relationship Id="rId4" Type="http://schemas.openxmlformats.org/officeDocument/2006/relationships/hyperlink" Target="#/Doc/TyMath/ElementaryMath/Polynomials/poly.html#poly"/><Relationship Id="rId9" Type="http://schemas.openxmlformats.org/officeDocument/2006/relationships/hyperlink" Target="#/Doc/TyMath/ElementaryMath/Polynomials/polyfit.ht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emf"/><Relationship Id="rId5" Type="http://schemas.openxmlformats.org/officeDocument/2006/relationships/image" Target="../media/image11.jpe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3.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30.png"/><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7"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hyperlink" Target="#/Doc/TyCurveFitting/LinearandNonlinearRegression/CreateFits/fit.html#jump-inp1"/><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Doc/TyCurveFitting/LinearandNonlinearRegression/CreateFits/fit.html#jump-inp2"/></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Doc/TyCurveFitting/FitPostprocessing.ht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wmf"/></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40.png"/><Relationship Id="rId4" Type="http://schemas.openxmlformats.org/officeDocument/2006/relationships/image" Target="../media/image35.wmf"/></Relationships>
</file>

<file path=ppt/slides/_rels/slide28.xml.rels><?xml version="1.0" encoding="UTF-8" standalone="yes"?>
<Relationships xmlns="http://schemas.openxmlformats.org/package/2006/relationships"><Relationship Id="rId3" Type="http://schemas.openxmlformats.org/officeDocument/2006/relationships/hyperlink" Target="#/Doc/TyCurveFitting/LinearandNonlinearRegression/CreateFits/fit.html#jump-inp1"/><Relationship Id="rId2" Type="http://schemas.openxmlformats.org/officeDocument/2006/relationships/hyperlink" Target="#/Doc/TyCurveFitting/LinearandNonlinearRegression/CreateFits/fittype.html?searchQuery=fittype"/><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39.wmf"/><Relationship Id="rId5" Type="http://schemas.openxmlformats.org/officeDocument/2006/relationships/oleObject" Target="../embeddings/oleObject1.bin"/><Relationship Id="rId4" Type="http://schemas.openxmlformats.org/officeDocument/2006/relationships/hyperlink" Target="#/Doc/TyCurveFitting/LinearandNonlinearRegression/CreateFits/fittype.html?searchQuery=fittype"/></Relationships>
</file>

<file path=ppt/slides/_rels/slide30.xml.rels><?xml version="1.0" encoding="UTF-8" standalone="yes"?>
<Relationships xmlns="http://schemas.openxmlformats.org/package/2006/relationships"><Relationship Id="rId3" Type="http://schemas.openxmlformats.org/officeDocument/2006/relationships/hyperlink" Target="#/Doc/TyCurveFitting/LinearandNonlinearRegression/CreateFits/fittype.html?searchQuery=fittype"/><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Doc/TyCurveFitting/LinearandNonlinearRegression/CreateFits/fit.html#jump-inp1"/><Relationship Id="rId2" Type="http://schemas.openxmlformats.org/officeDocument/2006/relationships/hyperlink" Target="#/Doc/TyCurveFitting/LinearandNonlinearRegression/CreateFits/fit.html#jump-inp2"/><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Doc/TyCurveFitting/FitPostprocessing/plotfit.html#jump-inp2"/><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hyperlink" Target="#/Doc/TyCurveFitting/FitPostprocessing/plotfit.html#jump-inp3"/></Relationships>
</file>

<file path=ppt/slides/_rels/slide3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notesSlide" Target="../notesSlides/notesSlide25.xml"/><Relationship Id="rId7" Type="http://schemas.openxmlformats.org/officeDocument/2006/relationships/image" Target="../media/image49.e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51.png"/><Relationship Id="rId10" Type="http://schemas.microsoft.com/office/2007/relationships/hdphoto" Target="../media/hdphoto1.wdp"/><Relationship Id="rId4" Type="http://schemas.openxmlformats.org/officeDocument/2006/relationships/image" Target="../media/image50.png"/><Relationship Id="rId9" Type="http://schemas.openxmlformats.org/officeDocument/2006/relationships/image" Target="../media/image53.png"/></Relationships>
</file>

<file path=ppt/slides/_rels/slide3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6.png"/><Relationship Id="rId7" Type="http://schemas.openxmlformats.org/officeDocument/2006/relationships/image" Target="../media/image58.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4.emf"/><Relationship Id="rId5" Type="http://schemas.openxmlformats.org/officeDocument/2006/relationships/oleObject" Target="file:///D:\sysjulia\tens.xlsx" TargetMode="External"/><Relationship Id="rId4" Type="http://schemas.openxmlformats.org/officeDocument/2006/relationships/image" Target="../media/image57.png"/><Relationship Id="rId9"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54.emf"/><Relationship Id="rId5" Type="http://schemas.openxmlformats.org/officeDocument/2006/relationships/oleObject" Target="file:///D:\sysjulia\tens.xlsx" TargetMode="External"/><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4.jpeg"/><Relationship Id="rId5" Type="http://schemas.microsoft.com/office/2007/relationships/hdphoto" Target="../media/hdphoto2.wdp"/><Relationship Id="rId4" Type="http://schemas.openxmlformats.org/officeDocument/2006/relationships/image" Target="../media/image63.png"/></Relationships>
</file>

<file path=ppt/slides/_rels/slide4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hyperlink" Target="#/Doc/TyCurveFitting/LinearandNonlinearRegression/CreateFits/fit.html#jump-inp2"/><Relationship Id="rId4" Type="http://schemas.openxmlformats.org/officeDocument/2006/relationships/hyperlink" Target="#/Doc/TyCurveFitting/LinearandNonlinearRegression/CreateFits/fit.html#jump-inp1"/></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69.emf"/><Relationship Id="rId5" Type="http://schemas.openxmlformats.org/officeDocument/2006/relationships/oleObject" Target="../embeddings/oleObject3.bin"/><Relationship Id="rId4" Type="http://schemas.openxmlformats.org/officeDocument/2006/relationships/image" Target="../media/image70.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emf"/><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Doc/TyCurveFitting/LinearandNonlinearRegression/CreateFits/fit.html#jump-inp2"/><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65.png"/><Relationship Id="rId4" Type="http://schemas.openxmlformats.org/officeDocument/2006/relationships/hyperlink" Target="#/Doc/TyCurveFitting/LinearandNonlinearRegression/CreateFits/fit.html#jump-inp1"/></Relationships>
</file>

<file path=ppt/slides/_rels/slide5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7.png"/><Relationship Id="rId1" Type="http://schemas.openxmlformats.org/officeDocument/2006/relationships/slideLayout" Target="../slideLayouts/slideLayout2.xml"/><Relationship Id="rId4" Type="http://schemas.microsoft.com/office/2007/relationships/hdphoto" Target="../media/hdphoto3.wdp"/></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82.png"/></Relationships>
</file>

<file path=ppt/slides/_rels/slide65.xml.rels><?xml version="1.0" encoding="UTF-8" standalone="yes"?>
<Relationships xmlns="http://schemas.openxmlformats.org/package/2006/relationships"><Relationship Id="rId3" Type="http://schemas.openxmlformats.org/officeDocument/2006/relationships/hyperlink" Target="#/Doc/TyBase/Arrays/CreateGrids/meshgrid2.ht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hyperlink" Target="#/Doc/TyMath/Interpolation/interp2.html#jump-inp4"/><Relationship Id="rId4" Type="http://schemas.openxmlformats.org/officeDocument/2006/relationships/image" Target="../media/image85.png"/></Relationships>
</file>

<file path=ppt/slides/_rels/slide6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microsoft.com/office/2007/relationships/hdphoto" Target="../media/hdphoto4.wdp"/><Relationship Id="rId4"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rotWithShape="1">
          <a:blip r:embed="rId3"/>
          <a:srcRect r="6278"/>
          <a:stretch>
            <a:fillRect/>
          </a:stretch>
        </p:blipFill>
        <p:spPr>
          <a:xfrm>
            <a:off x="6997398" y="1911599"/>
            <a:ext cx="2025089" cy="1686622"/>
          </a:xfrm>
          <a:prstGeom prst="rect">
            <a:avLst/>
          </a:prstGeom>
          <a:ln>
            <a:noFill/>
          </a:ln>
          <a:effectLst>
            <a:outerShdw blurRad="190500" algn="tl" rotWithShape="0">
              <a:srgbClr val="000000">
                <a:alpha val="70000"/>
              </a:srgbClr>
            </a:outerShdw>
          </a:effectLst>
        </p:spPr>
      </p:pic>
      <p:sp>
        <p:nvSpPr>
          <p:cNvPr id="31" name="标题 1"/>
          <p:cNvSpPr txBox="1"/>
          <p:nvPr/>
        </p:nvSpPr>
        <p:spPr>
          <a:xfrm>
            <a:off x="909069" y="122217"/>
            <a:ext cx="4752528" cy="464621"/>
          </a:xfrm>
          <a:prstGeom prst="rect">
            <a:avLst/>
          </a:prstGeom>
          <a:solidFill>
            <a:schemeClr val="bg1"/>
          </a:solidFill>
        </p:spPr>
        <p:txBody>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ko-KR" sz="3000" kern="0" dirty="0">
                <a:solidFill>
                  <a:srgbClr val="0070C0"/>
                </a:solidFill>
                <a:latin typeface="华文楷体" panose="02010600040101010101" pitchFamily="2" charset="-122"/>
                <a:ea typeface="华文楷体" panose="02010600040101010101" pitchFamily="2" charset="-122"/>
              </a:rPr>
              <a:t>§5 </a:t>
            </a:r>
            <a:r>
              <a:rPr lang="zh-CN" altLang="en-US" sz="3000" kern="0" dirty="0">
                <a:solidFill>
                  <a:srgbClr val="0070C0"/>
                </a:solidFill>
                <a:latin typeface="华文楷体" panose="02010600040101010101" pitchFamily="2" charset="-122"/>
                <a:ea typeface="华文楷体" panose="02010600040101010101" pitchFamily="2" charset="-122"/>
              </a:rPr>
              <a:t>曲线</a:t>
            </a:r>
            <a:r>
              <a:rPr lang="en-US" altLang="ko-KR" sz="3000" kern="0" dirty="0" err="1">
                <a:solidFill>
                  <a:srgbClr val="0070C0"/>
                </a:solidFill>
                <a:latin typeface="华文楷体" panose="02010600040101010101" pitchFamily="2" charset="-122"/>
                <a:ea typeface="华文楷体" panose="02010600040101010101" pitchFamily="2" charset="-122"/>
              </a:rPr>
              <a:t>拟合</a:t>
            </a:r>
            <a:r>
              <a:rPr lang="zh-CN" altLang="en-US" sz="3000" kern="0" dirty="0">
                <a:solidFill>
                  <a:srgbClr val="0070C0"/>
                </a:solidFill>
                <a:latin typeface="华文楷体" panose="02010600040101010101" pitchFamily="2" charset="-122"/>
                <a:ea typeface="华文楷体" panose="02010600040101010101" pitchFamily="2" charset="-122"/>
              </a:rPr>
              <a:t>和数值插值</a:t>
            </a:r>
          </a:p>
        </p:txBody>
      </p:sp>
      <mc:AlternateContent xmlns:mc="http://schemas.openxmlformats.org/markup-compatibility/2006" xmlns:a14="http://schemas.microsoft.com/office/drawing/2010/main">
        <mc:Choice Requires="a14">
          <p:sp>
            <p:nvSpPr>
              <p:cNvPr id="32" name="内容占位符 2"/>
              <p:cNvSpPr txBox="1"/>
              <p:nvPr/>
            </p:nvSpPr>
            <p:spPr>
              <a:xfrm>
                <a:off x="143725" y="694597"/>
                <a:ext cx="8878762" cy="447896"/>
              </a:xfrm>
              <a:prstGeom prst="rect">
                <a:avLst/>
              </a:prstGeom>
              <a:solidFill>
                <a:schemeClr val="bg1"/>
              </a:solidFill>
              <a:ln>
                <a:noFill/>
              </a:ln>
            </p:spPr>
            <p:txBody>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tabLst>
                    <a:tab pos="417195" algn="l"/>
                  </a:tabLst>
                </a:pPr>
                <a14:m>
                  <m:oMath xmlns:m="http://schemas.openxmlformats.org/officeDocument/2006/math">
                    <m:r>
                      <a:rPr lang="zh-CN" altLang="en-US" sz="2000" dirty="0" smtClean="0">
                        <a:solidFill>
                          <a:srgbClr val="FF0000"/>
                        </a:solidFill>
                        <a:latin typeface="Cambria Math" panose="02040503050406030204" pitchFamily="18" charset="0"/>
                        <a:ea typeface="微软雅黑" panose="020B0503020204020204" pitchFamily="34" charset="-122"/>
                        <a:cs typeface="Times New Roman" panose="02020603050405020304" pitchFamily="18" charset="0"/>
                      </a:rPr>
                      <m:t>三种方法</m:t>
                    </m:r>
                  </m:oMath>
                </a14:m>
                <a:r>
                  <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求</a:t>
                </a:r>
                <a:r>
                  <a:rPr lang="zh-CN"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大物实验</a:t>
                </a:r>
                <a:r>
                  <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压降</a:t>
                </a:r>
                <a14:m>
                  <m:oMath xmlns:m="http://schemas.openxmlformats.org/officeDocument/2006/math">
                    <m:r>
                      <m:rPr>
                        <m:sty m:val="p"/>
                      </m:rPr>
                      <a:rPr lang="en-US" altLang="zh-CN" sz="2000" b="0" i="1" kern="0" smtClean="0">
                        <a:solidFill>
                          <a:srgbClr val="0070C0"/>
                        </a:solidFill>
                        <a:latin typeface="Cambria Math" panose="02040503050406030204" pitchFamily="18" charset="0"/>
                        <a:ea typeface="隶书" panose="02010509060101010101" pitchFamily="49" charset="-122"/>
                        <a:cs typeface="Times New Roman" panose="02020603050405020304" pitchFamily="18" charset="0"/>
                      </a:rPr>
                      <m:t>y</m:t>
                    </m:r>
                  </m:oMath>
                </a14:m>
                <a:r>
                  <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a:t>
                </a:r>
                <a:r>
                  <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线性关系</a:t>
                </a:r>
                <a14:m>
                  <m:oMath xmlns:m="http://schemas.openxmlformats.org/officeDocument/2006/math">
                    <m:r>
                      <m:rPr>
                        <m:sty m:val="p"/>
                      </m:rPr>
                      <a:rPr lang="en-US" altLang="zh-CN" sz="2000" b="0" kern="0">
                        <a:solidFill>
                          <a:srgbClr val="0070C0"/>
                        </a:solidFill>
                        <a:latin typeface="Cambria Math" panose="02040503050406030204" pitchFamily="18" charset="0"/>
                        <a:ea typeface="华文楷体" panose="02010600040101010101" pitchFamily="2" charset="-122"/>
                        <a:cs typeface="Times New Roman" panose="02020603050405020304" pitchFamily="18" charset="0"/>
                      </a:rPr>
                      <m:t>y</m:t>
                    </m:r>
                    <m:r>
                      <a:rPr lang="en-US" altLang="zh-CN" sz="2000" b="0" kern="0">
                        <a:solidFill>
                          <a:srgbClr val="0070C0"/>
                        </a:solidFill>
                        <a:latin typeface="Cambria Math" panose="02040503050406030204" pitchFamily="18" charset="0"/>
                        <a:ea typeface="华文楷体" panose="02010600040101010101" pitchFamily="2" charset="-122"/>
                        <a:cs typeface="Times New Roman" panose="02020603050405020304" pitchFamily="18" charset="0"/>
                      </a:rPr>
                      <m:t>=</m:t>
                    </m:r>
                    <m:r>
                      <m:rPr>
                        <m:nor/>
                      </m:rP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m:t>b</m:t>
                    </m:r>
                    <m:r>
                      <m:rPr>
                        <m:nor/>
                      </m:rP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m:t>1∗</m:t>
                    </m:r>
                    <m:r>
                      <m:rPr>
                        <m:sty m:val="p"/>
                      </m:rPr>
                      <a:rPr lang="en-US" altLang="zh-CN" sz="2000" b="0" kern="0" dirty="0">
                        <a:solidFill>
                          <a:srgbClr val="0070C0"/>
                        </a:solidFill>
                        <a:latin typeface="Cambria Math" panose="02040503050406030204" pitchFamily="18" charset="0"/>
                        <a:ea typeface="华文楷体" panose="02010600040101010101" pitchFamily="2" charset="-122"/>
                        <a:cs typeface="Times New Roman" panose="02020603050405020304" pitchFamily="18" charset="0"/>
                      </a:rPr>
                      <m:t>x</m:t>
                    </m:r>
                    <m:r>
                      <a:rPr lang="en-US" altLang="zh-CN" sz="2000" b="0" kern="0">
                        <a:solidFill>
                          <a:srgbClr val="0070C0"/>
                        </a:solidFill>
                        <a:latin typeface="Cambria Math" panose="02040503050406030204" pitchFamily="18" charset="0"/>
                        <a:ea typeface="华文楷体" panose="02010600040101010101" pitchFamily="2" charset="-122"/>
                        <a:cs typeface="Times New Roman" panose="02020603050405020304" pitchFamily="18" charset="0"/>
                      </a:rPr>
                      <m:t>+</m:t>
                    </m:r>
                    <m:r>
                      <m:rPr>
                        <m:nor/>
                      </m:rP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m:t>b</m:t>
                    </m:r>
                    <m:r>
                      <m:rPr>
                        <m:nor/>
                      </m:rP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m:t>0</m:t>
                    </m:r>
                    <m:r>
                      <a:rPr lang="en-US" altLang="zh-CN" sz="2000" b="0" kern="0" dirty="0">
                        <a:solidFill>
                          <a:srgbClr val="0070C0"/>
                        </a:solidFill>
                        <a:latin typeface="Cambria Math" panose="02040503050406030204" pitchFamily="18" charset="0"/>
                        <a:ea typeface="华文楷体" panose="02010600040101010101" pitchFamily="2" charset="-122"/>
                        <a:cs typeface="Times New Roman" panose="02020603050405020304" pitchFamily="18" charset="0"/>
                      </a:rPr>
                      <m:t> </m:t>
                    </m:r>
                  </m:oMath>
                </a14:m>
                <a: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000" dirty="0">
                    <a:solidFill>
                      <a:srgbClr val="FF0000"/>
                    </a:solidFill>
                    <a:latin typeface="微软雅黑" panose="020B0503020204020204" pitchFamily="34" charset="-122"/>
                    <a:ea typeface="微软雅黑" panose="020B0503020204020204" pitchFamily="34" charset="-122"/>
                  </a:rPr>
                  <a:t> </a:t>
                </a:r>
                <a14:m>
                  <m:oMath xmlns:m="http://schemas.openxmlformats.org/officeDocument/2006/math">
                    <m:r>
                      <a:rPr lang="zh-CN" altLang="en-US" sz="2000" b="0" kern="0" dirty="0">
                        <a:solidFill>
                          <a:srgbClr val="0070C0"/>
                        </a:solidFill>
                        <a:latin typeface="Cambria Math" panose="02040503050406030204" pitchFamily="18" charset="0"/>
                        <a:ea typeface="微软雅黑" panose="020B0503020204020204" pitchFamily="34" charset="-122"/>
                        <a:cs typeface="Times New Roman" panose="02020603050405020304" pitchFamily="18" charset="0"/>
                      </a:rPr>
                      <m:t>即求</m:t>
                    </m:r>
                  </m:oMath>
                </a14:m>
                <a:r>
                  <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斜率</a:t>
                </a:r>
                <a: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b1</a:t>
                </a:r>
                <a:r>
                  <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b0</a:t>
                </a:r>
                <a:endParaRPr lang="zh-CN" altLang="en-US" sz="2000" b="0" kern="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xmlns="">
          <p:sp>
            <p:nvSpPr>
              <p:cNvPr id="32" name="内容占位符 2"/>
              <p:cNvSpPr txBox="1">
                <a:spLocks noRot="1" noChangeAspect="1" noMove="1" noResize="1" noEditPoints="1" noAdjustHandles="1" noChangeArrowheads="1" noChangeShapeType="1" noTextEdit="1"/>
              </p:cNvSpPr>
              <p:nvPr/>
            </p:nvSpPr>
            <p:spPr>
              <a:xfrm>
                <a:off x="143725" y="694597"/>
                <a:ext cx="8878762" cy="447896"/>
              </a:xfrm>
              <a:prstGeom prst="rect">
                <a:avLst/>
              </a:prstGeom>
              <a:blipFill>
                <a:blip r:embed="rId4"/>
                <a:stretch>
                  <a:fillRect l="-412" t="-6849" b="-15068"/>
                </a:stretch>
              </a:blipFill>
              <a:ln>
                <a:noFill/>
              </a:ln>
            </p:spPr>
            <p:txBody>
              <a:bodyPr/>
              <a:lstStyle/>
              <a:p>
                <a:r>
                  <a:rPr lang="zh-CN" altLang="en-US">
                    <a:noFill/>
                  </a:rPr>
                  <a:t> </a:t>
                </a:r>
              </a:p>
            </p:txBody>
          </p:sp>
        </mc:Fallback>
      </mc:AlternateContent>
      <p:sp>
        <p:nvSpPr>
          <p:cNvPr id="30" name="形状 209924"/>
          <p:cNvSpPr/>
          <p:nvPr/>
        </p:nvSpPr>
        <p:spPr>
          <a:xfrm>
            <a:off x="5407551" y="97529"/>
            <a:ext cx="3614936" cy="498667"/>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b="1" dirty="0">
                <a:solidFill>
                  <a:srgbClr val="FFFF00"/>
                </a:solidFill>
                <a:latin typeface="微软雅黑" panose="020B0503020204020204" pitchFamily="34" charset="-122"/>
                <a:ea typeface="微软雅黑" panose="020B0503020204020204" pitchFamily="34" charset="-122"/>
              </a:rPr>
              <a:t>数据处理和建模预测</a:t>
            </a:r>
          </a:p>
        </p:txBody>
      </p:sp>
      <mc:AlternateContent xmlns:mc="http://schemas.openxmlformats.org/markup-compatibility/2006" xmlns:a14="http://schemas.microsoft.com/office/drawing/2010/main">
        <mc:Choice Requires="a14">
          <p:graphicFrame>
            <p:nvGraphicFramePr>
              <p:cNvPr id="21" name="表格 4"/>
              <p:cNvGraphicFramePr>
                <a:graphicFrameLocks noGrp="1"/>
              </p:cNvGraphicFramePr>
              <p:nvPr>
                <p:extLst>
                  <p:ext uri="{D42A27DB-BD31-4B8C-83A1-F6EECF244321}">
                    <p14:modId xmlns:p14="http://schemas.microsoft.com/office/powerpoint/2010/main" val="1704416159"/>
                  </p:ext>
                </p:extLst>
              </p:nvPr>
            </p:nvGraphicFramePr>
            <p:xfrm>
              <a:off x="143725" y="1181653"/>
              <a:ext cx="8821054" cy="60960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gridCol w="751596">
                      <a:extLst>
                        <a:ext uri="{9D8B030D-6E8A-4147-A177-3AD203B41FA5}">
                          <a16:colId xmlns:a16="http://schemas.microsoft.com/office/drawing/2014/main" val="20001"/>
                        </a:ext>
                      </a:extLst>
                    </a:gridCol>
                    <a:gridCol w="862058">
                      <a:extLst>
                        <a:ext uri="{9D8B030D-6E8A-4147-A177-3AD203B41FA5}">
                          <a16:colId xmlns:a16="http://schemas.microsoft.com/office/drawing/2014/main" val="20002"/>
                        </a:ext>
                      </a:extLst>
                    </a:gridCol>
                    <a:gridCol w="801914">
                      <a:extLst>
                        <a:ext uri="{9D8B030D-6E8A-4147-A177-3AD203B41FA5}">
                          <a16:colId xmlns:a16="http://schemas.microsoft.com/office/drawing/2014/main" val="20003"/>
                        </a:ext>
                      </a:extLst>
                    </a:gridCol>
                    <a:gridCol w="801914">
                      <a:extLst>
                        <a:ext uri="{9D8B030D-6E8A-4147-A177-3AD203B41FA5}">
                          <a16:colId xmlns:a16="http://schemas.microsoft.com/office/drawing/2014/main" val="20004"/>
                        </a:ext>
                      </a:extLst>
                    </a:gridCol>
                    <a:gridCol w="801914">
                      <a:extLst>
                        <a:ext uri="{9D8B030D-6E8A-4147-A177-3AD203B41FA5}">
                          <a16:colId xmlns:a16="http://schemas.microsoft.com/office/drawing/2014/main" val="20005"/>
                        </a:ext>
                      </a:extLst>
                    </a:gridCol>
                    <a:gridCol w="801914">
                      <a:extLst>
                        <a:ext uri="{9D8B030D-6E8A-4147-A177-3AD203B41FA5}">
                          <a16:colId xmlns:a16="http://schemas.microsoft.com/office/drawing/2014/main" val="20006"/>
                        </a:ext>
                      </a:extLst>
                    </a:gridCol>
                    <a:gridCol w="801914">
                      <a:extLst>
                        <a:ext uri="{9D8B030D-6E8A-4147-A177-3AD203B41FA5}">
                          <a16:colId xmlns:a16="http://schemas.microsoft.com/office/drawing/2014/main" val="20007"/>
                        </a:ext>
                      </a:extLst>
                    </a:gridCol>
                    <a:gridCol w="801914">
                      <a:extLst>
                        <a:ext uri="{9D8B030D-6E8A-4147-A177-3AD203B41FA5}">
                          <a16:colId xmlns:a16="http://schemas.microsoft.com/office/drawing/2014/main" val="20008"/>
                        </a:ext>
                      </a:extLst>
                    </a:gridCol>
                    <a:gridCol w="801914">
                      <a:extLst>
                        <a:ext uri="{9D8B030D-6E8A-4147-A177-3AD203B41FA5}">
                          <a16:colId xmlns:a16="http://schemas.microsoft.com/office/drawing/2014/main" val="20009"/>
                        </a:ext>
                      </a:extLst>
                    </a:gridCol>
                    <a:gridCol w="801914">
                      <a:extLst>
                        <a:ext uri="{9D8B030D-6E8A-4147-A177-3AD203B41FA5}">
                          <a16:colId xmlns:a16="http://schemas.microsoft.com/office/drawing/2014/main" val="20010"/>
                        </a:ext>
                      </a:extLst>
                    </a:gridCol>
                  </a:tblGrid>
                  <a:tr h="230329">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x(</a:t>
                          </a:r>
                          <a:r>
                            <a:rPr lang="zh-CN" altLang="en-US" sz="1400" b="1" dirty="0">
                              <a:solidFill>
                                <a:schemeClr val="bg1"/>
                              </a:solidFill>
                              <a:latin typeface="华文楷体" panose="02010600040101010101" pitchFamily="2" charset="-122"/>
                              <a:ea typeface="华文楷体" panose="02010600040101010101" pitchFamily="2" charset="-122"/>
                            </a:rPr>
                            <a:t>温度</a:t>
                          </a:r>
                          <a:r>
                            <a:rPr lang="en-US" altLang="zh-CN" sz="1400" b="1" dirty="0">
                              <a:solidFill>
                                <a:schemeClr val="bg1"/>
                              </a:solidFill>
                              <a:latin typeface="华文楷体" panose="02010600040101010101" pitchFamily="2" charset="-122"/>
                              <a:ea typeface="华文楷体" panose="02010600040101010101" pitchFamily="2" charset="-122"/>
                            </a:rPr>
                            <a:t>)</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40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45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50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55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60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65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70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75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80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85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extLst>
                      <a:ext uri="{0D108BD9-81ED-4DB2-BD59-A6C34878D82A}">
                        <a16:rowId xmlns:a16="http://schemas.microsoft.com/office/drawing/2014/main" val="10000"/>
                      </a:ext>
                    </a:extLst>
                  </a:tr>
                  <a:tr h="230329">
                    <a:tc>
                      <a:txBody>
                        <a:bodyPr/>
                        <a:lstStyle/>
                        <a:p>
                          <a:pPr marL="0" algn="l" defTabSz="914400" rtl="0" eaLnBrk="1" latinLnBrk="0" hangingPunct="1"/>
                          <a14:m>
                            <m:oMath xmlns:m="http://schemas.openxmlformats.org/officeDocument/2006/math">
                              <m:r>
                                <a:rPr lang="en-US" altLang="zh-CN" sz="1400" b="1" i="1" kern="1200" smtClean="0">
                                  <a:solidFill>
                                    <a:schemeClr val="bg1"/>
                                  </a:solidFill>
                                  <a:latin typeface="Cambria Math" panose="02040503050406030204" pitchFamily="18" charset="0"/>
                                  <a:ea typeface="+mn-ea"/>
                                  <a:cs typeface="+mn-cs"/>
                                </a:rPr>
                                <m:t>𝒚</m:t>
                              </m:r>
                            </m:oMath>
                          </a14:m>
                          <a:r>
                            <a:rPr lang="en-US" altLang="zh-CN" sz="1400" b="1" kern="1200" dirty="0">
                              <a:solidFill>
                                <a:schemeClr val="bg1"/>
                              </a:solidFill>
                              <a:latin typeface="华文楷体" panose="02010600040101010101" pitchFamily="2" charset="-122"/>
                              <a:ea typeface="华文楷体" panose="02010600040101010101" pitchFamily="2" charset="-122"/>
                              <a:cs typeface="+mn-cs"/>
                            </a:rPr>
                            <a:t>(</a:t>
                          </a:r>
                          <a:r>
                            <a:rPr lang="zh-CN" altLang="en-US" sz="1400" b="1" kern="1200" dirty="0">
                              <a:solidFill>
                                <a:schemeClr val="bg1"/>
                              </a:solidFill>
                              <a:latin typeface="华文楷体" panose="02010600040101010101" pitchFamily="2" charset="-122"/>
                              <a:ea typeface="华文楷体" panose="02010600040101010101" pitchFamily="2" charset="-122"/>
                              <a:cs typeface="+mn-cs"/>
                            </a:rPr>
                            <a:t>压降</a:t>
                          </a:r>
                          <a:r>
                            <a:rPr lang="en-US" altLang="zh-CN" sz="1400" b="1" kern="1200" dirty="0">
                              <a:solidFill>
                                <a:schemeClr val="bg1"/>
                              </a:solidFill>
                              <a:latin typeface="华文楷体" panose="02010600040101010101" pitchFamily="2" charset="-122"/>
                              <a:ea typeface="华文楷体" panose="02010600040101010101" pitchFamily="2" charset="-122"/>
                              <a:cs typeface="+mn-cs"/>
                            </a:rPr>
                            <a:t>)</a:t>
                          </a:r>
                          <a:endParaRPr lang="zh-CN" altLang="en-US" sz="1400" b="1" kern="1200" dirty="0">
                            <a:solidFill>
                              <a:schemeClr val="bg1"/>
                            </a:solidFill>
                            <a:latin typeface="华文楷体" panose="02010600040101010101" pitchFamily="2" charset="-122"/>
                            <a:ea typeface="华文楷体" panose="02010600040101010101" pitchFamily="2" charset="-122"/>
                            <a:cs typeface="+mn-cs"/>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0.3943</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0.3809</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0.3705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0.3587</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0.3455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0.3331</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0.3193</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0.3049</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0.2909</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0.2771</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extLst>
                      <a:ext uri="{0D108BD9-81ED-4DB2-BD59-A6C34878D82A}">
                        <a16:rowId xmlns:a16="http://schemas.microsoft.com/office/drawing/2014/main" val="10001"/>
                      </a:ext>
                    </a:extLst>
                  </a:tr>
                </a:tbl>
              </a:graphicData>
            </a:graphic>
          </p:graphicFrame>
        </mc:Choice>
        <mc:Fallback xmlns="">
          <p:graphicFrame>
            <p:nvGraphicFramePr>
              <p:cNvPr id="21" name="表格 4"/>
              <p:cNvGraphicFramePr>
                <a:graphicFrameLocks noGrp="1"/>
              </p:cNvGraphicFramePr>
              <p:nvPr>
                <p:extLst>
                  <p:ext uri="{D42A27DB-BD31-4B8C-83A1-F6EECF244321}">
                    <p14:modId xmlns:p14="http://schemas.microsoft.com/office/powerpoint/2010/main" val="1704416159"/>
                  </p:ext>
                </p:extLst>
              </p:nvPr>
            </p:nvGraphicFramePr>
            <p:xfrm>
              <a:off x="143725" y="1181653"/>
              <a:ext cx="8821054" cy="609600"/>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20000"/>
                        </a:ext>
                      </a:extLst>
                    </a:gridCol>
                    <a:gridCol w="751596">
                      <a:extLst>
                        <a:ext uri="{9D8B030D-6E8A-4147-A177-3AD203B41FA5}">
                          <a16:colId xmlns:a16="http://schemas.microsoft.com/office/drawing/2014/main" val="20001"/>
                        </a:ext>
                      </a:extLst>
                    </a:gridCol>
                    <a:gridCol w="862058">
                      <a:extLst>
                        <a:ext uri="{9D8B030D-6E8A-4147-A177-3AD203B41FA5}">
                          <a16:colId xmlns:a16="http://schemas.microsoft.com/office/drawing/2014/main" val="20002"/>
                        </a:ext>
                      </a:extLst>
                    </a:gridCol>
                    <a:gridCol w="801914">
                      <a:extLst>
                        <a:ext uri="{9D8B030D-6E8A-4147-A177-3AD203B41FA5}">
                          <a16:colId xmlns:a16="http://schemas.microsoft.com/office/drawing/2014/main" val="20003"/>
                        </a:ext>
                      </a:extLst>
                    </a:gridCol>
                    <a:gridCol w="801914">
                      <a:extLst>
                        <a:ext uri="{9D8B030D-6E8A-4147-A177-3AD203B41FA5}">
                          <a16:colId xmlns:a16="http://schemas.microsoft.com/office/drawing/2014/main" val="20004"/>
                        </a:ext>
                      </a:extLst>
                    </a:gridCol>
                    <a:gridCol w="801914">
                      <a:extLst>
                        <a:ext uri="{9D8B030D-6E8A-4147-A177-3AD203B41FA5}">
                          <a16:colId xmlns:a16="http://schemas.microsoft.com/office/drawing/2014/main" val="20005"/>
                        </a:ext>
                      </a:extLst>
                    </a:gridCol>
                    <a:gridCol w="801914">
                      <a:extLst>
                        <a:ext uri="{9D8B030D-6E8A-4147-A177-3AD203B41FA5}">
                          <a16:colId xmlns:a16="http://schemas.microsoft.com/office/drawing/2014/main" val="20006"/>
                        </a:ext>
                      </a:extLst>
                    </a:gridCol>
                    <a:gridCol w="801914">
                      <a:extLst>
                        <a:ext uri="{9D8B030D-6E8A-4147-A177-3AD203B41FA5}">
                          <a16:colId xmlns:a16="http://schemas.microsoft.com/office/drawing/2014/main" val="20007"/>
                        </a:ext>
                      </a:extLst>
                    </a:gridCol>
                    <a:gridCol w="801914">
                      <a:extLst>
                        <a:ext uri="{9D8B030D-6E8A-4147-A177-3AD203B41FA5}">
                          <a16:colId xmlns:a16="http://schemas.microsoft.com/office/drawing/2014/main" val="20008"/>
                        </a:ext>
                      </a:extLst>
                    </a:gridCol>
                    <a:gridCol w="801914">
                      <a:extLst>
                        <a:ext uri="{9D8B030D-6E8A-4147-A177-3AD203B41FA5}">
                          <a16:colId xmlns:a16="http://schemas.microsoft.com/office/drawing/2014/main" val="20009"/>
                        </a:ext>
                      </a:extLst>
                    </a:gridCol>
                    <a:gridCol w="801914">
                      <a:extLst>
                        <a:ext uri="{9D8B030D-6E8A-4147-A177-3AD203B41FA5}">
                          <a16:colId xmlns:a16="http://schemas.microsoft.com/office/drawing/2014/main" val="20010"/>
                        </a:ext>
                      </a:extLst>
                    </a:gridCol>
                  </a:tblGrid>
                  <a:tr h="304800">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x(</a:t>
                          </a:r>
                          <a:r>
                            <a:rPr lang="zh-CN" altLang="en-US" sz="1400" b="1" dirty="0">
                              <a:solidFill>
                                <a:schemeClr val="bg1"/>
                              </a:solidFill>
                              <a:latin typeface="华文楷体" panose="02010600040101010101" pitchFamily="2" charset="-122"/>
                              <a:ea typeface="华文楷体" panose="02010600040101010101" pitchFamily="2" charset="-122"/>
                            </a:rPr>
                            <a:t>温度</a:t>
                          </a:r>
                          <a:r>
                            <a:rPr lang="en-US" altLang="zh-CN" sz="1400" b="1" dirty="0">
                              <a:solidFill>
                                <a:schemeClr val="bg1"/>
                              </a:solidFill>
                              <a:latin typeface="华文楷体" panose="02010600040101010101" pitchFamily="2" charset="-122"/>
                              <a:ea typeface="华文楷体" panose="02010600040101010101" pitchFamily="2" charset="-122"/>
                            </a:rPr>
                            <a:t>)</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40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45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50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55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60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65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70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75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80</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en-US" altLang="zh-CN" sz="1400" b="1" dirty="0">
                              <a:solidFill>
                                <a:schemeClr val="bg1"/>
                              </a:solidFill>
                              <a:latin typeface="华文楷体" panose="02010600040101010101" pitchFamily="2" charset="-122"/>
                              <a:ea typeface="华文楷体" panose="02010600040101010101" pitchFamily="2" charset="-122"/>
                            </a:rPr>
                            <a:t>85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extLst>
                      <a:ext uri="{0D108BD9-81ED-4DB2-BD59-A6C34878D82A}">
                        <a16:rowId xmlns:a16="http://schemas.microsoft.com/office/drawing/2014/main" val="10000"/>
                      </a:ext>
                    </a:extLst>
                  </a:tr>
                  <a:tr h="304800">
                    <a:tc>
                      <a:txBody>
                        <a:bodyPr/>
                        <a:lstStyle/>
                        <a:p>
                          <a:endParaRPr lang="zh-CN"/>
                        </a:p>
                      </a:txBody>
                      <a:tcPr>
                        <a:blipFill>
                          <a:blip r:embed="rId5"/>
                          <a:stretch>
                            <a:fillRect l="-769" t="-104000" r="-1016923" b="-20000"/>
                          </a:stretch>
                        </a:blip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0.3943</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0.3809</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0.3705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0.3587</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0.3455</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0.3331</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0.3193</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0.3049</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0.2909</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tc>
                      <a:txBody>
                        <a:bodyPr/>
                        <a:lstStyle/>
                        <a:p>
                          <a:r>
                            <a:rPr lang="pl-PL" altLang="zh-CN" sz="1400" b="1"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0.2771</a:t>
                          </a:r>
                          <a:endParaRPr lang="zh-CN" altLang="en-US" sz="1400" b="1" dirty="0">
                            <a:solidFill>
                              <a:schemeClr val="bg1"/>
                            </a:solidFill>
                            <a:latin typeface="华文楷体" panose="02010600040101010101" pitchFamily="2" charset="-122"/>
                            <a:ea typeface="华文楷体" panose="02010600040101010101" pitchFamily="2" charset="-122"/>
                          </a:endParaRPr>
                        </a:p>
                      </a:txBody>
                      <a:tcPr>
                        <a:solidFill>
                          <a:srgbClr val="00B0F0"/>
                        </a:solidFill>
                      </a:tcPr>
                    </a:tc>
                    <a:extLst>
                      <a:ext uri="{0D108BD9-81ED-4DB2-BD59-A6C34878D82A}">
                        <a16:rowId xmlns:a16="http://schemas.microsoft.com/office/drawing/2014/main" val="10001"/>
                      </a:ext>
                    </a:extLst>
                  </a:tr>
                </a:tbl>
              </a:graphicData>
            </a:graphic>
          </p:graphicFrame>
        </mc:Fallback>
      </mc:AlternateContent>
      <p:sp>
        <p:nvSpPr>
          <p:cNvPr id="41" name="文本框 40"/>
          <p:cNvSpPr txBox="1"/>
          <p:nvPr/>
        </p:nvSpPr>
        <p:spPr>
          <a:xfrm>
            <a:off x="57899" y="3566383"/>
            <a:ext cx="9050605" cy="949234"/>
          </a:xfrm>
          <a:prstGeom prst="rect">
            <a:avLst/>
          </a:prstGeom>
          <a:solidFill>
            <a:schemeClr val="bg1"/>
          </a:solidFill>
        </p:spPr>
        <p:txBody>
          <a:bodyPr wrap="square">
            <a:spAutoFit/>
          </a:bodyPr>
          <a:lstStyle/>
          <a:p>
            <a:pPr marL="285750" indent="-285750">
              <a:lnSpc>
                <a:spcPts val="2300"/>
              </a:lnSpc>
              <a:buFont typeface="Wingdings" panose="05000000000000000000" pitchFamily="2" charset="2"/>
              <a:buChar char="u"/>
            </a:pPr>
            <a:r>
              <a:rPr lang="zh-CN" altLang="en-US" sz="15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拟合和回归是紧密相关数据建模方法，数据处理和分析中即有不同应用场景和目的，也有重叠和联系。</a:t>
            </a:r>
          </a:p>
          <a:p>
            <a:pPr marL="285750" indent="-285750">
              <a:lnSpc>
                <a:spcPts val="2300"/>
              </a:lnSpc>
              <a:buFont typeface="Wingdings" panose="05000000000000000000" pitchFamily="2" charset="2"/>
              <a:buChar char="u"/>
            </a:pPr>
            <a:r>
              <a:rPr lang="zh-CN" altLang="en-US" sz="15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拟合侧重于调整曲线的参数，使得曲线在某种准则下与所有数据点最为接近，不要求完全经过数据点。</a:t>
            </a:r>
            <a:endParaRPr lang="en-US" altLang="zh-CN" sz="15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ts val="2300"/>
              </a:lnSpc>
              <a:buFont typeface="Wingdings" panose="05000000000000000000" pitchFamily="2" charset="2"/>
              <a:buChar char="u"/>
            </a:pPr>
            <a:r>
              <a:rPr lang="zh-CN" altLang="en-US" sz="15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回归强调变量之间存在随机因素，常用于含有随机误差的大数据的预测分析，挖掘大数据间联系或规律。</a:t>
            </a:r>
            <a:endParaRPr lang="en-US" altLang="zh-CN" sz="15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Rectangle 8"/>
          <p:cNvSpPr>
            <a:spLocks noChangeArrowheads="1"/>
          </p:cNvSpPr>
          <p:nvPr/>
        </p:nvSpPr>
        <p:spPr bwMode="auto">
          <a:xfrm>
            <a:off x="61740" y="1927420"/>
            <a:ext cx="1964667" cy="369332"/>
          </a:xfrm>
          <a:prstGeom prst="rect">
            <a:avLst/>
          </a:prstGeom>
          <a:noFill/>
          <a:ln w="9525">
            <a:noFill/>
            <a:miter lim="800000"/>
          </a:ln>
        </p:spPr>
        <p:txBody>
          <a:bodyPr wrap="square">
            <a:spAutoFit/>
          </a:bodyPr>
          <a:lstStyle/>
          <a:p>
            <a:pPr marL="457200" indent="-457200">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超定左除法</a:t>
            </a:r>
            <a:r>
              <a:rPr lang="zh-CN" altLang="en-US" b="1" dirty="0">
                <a:solidFill>
                  <a:srgbClr val="0070C0"/>
                </a:solidFill>
                <a:latin typeface="隶书" panose="02010509060101010101" pitchFamily="49" charset="-122"/>
                <a:ea typeface="隶书" panose="02010509060101010101" pitchFamily="49" charset="-122"/>
                <a:sym typeface="Arial" panose="020B0604020202020204" pitchFamily="34" charset="0"/>
              </a:rPr>
              <a:t>：</a:t>
            </a:r>
          </a:p>
        </p:txBody>
      </p:sp>
      <p:sp>
        <p:nvSpPr>
          <p:cNvPr id="43" name="TextBox 2"/>
          <p:cNvSpPr txBox="1">
            <a:spLocks noChangeArrowheads="1"/>
          </p:cNvSpPr>
          <p:nvPr/>
        </p:nvSpPr>
        <p:spPr bwMode="auto">
          <a:xfrm>
            <a:off x="2000780" y="1943663"/>
            <a:ext cx="1330374" cy="31566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2600" b="1" kern="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600" dirty="0">
                <a:sym typeface="Arial" panose="020B0604020202020204" pitchFamily="34" charset="0"/>
              </a:rPr>
              <a:t>b=X</a:t>
            </a:r>
            <a:r>
              <a:rPr lang="en-US" altLang="zh-CN" sz="1600" dirty="0">
                <a:sym typeface="Courier New" panose="02070309020205020404" pitchFamily="49" charset="0"/>
              </a:rPr>
              <a:t>\</a:t>
            </a:r>
            <a:r>
              <a:rPr lang="en-US" altLang="zh-CN" sz="1600" dirty="0">
                <a:sym typeface="Arial" panose="020B0604020202020204" pitchFamily="34" charset="0"/>
              </a:rPr>
              <a:t>Y</a:t>
            </a:r>
            <a:endParaRPr lang="zh-CN" altLang="en-US" sz="1600" dirty="0">
              <a:sym typeface="Arial" panose="020B0604020202020204" pitchFamily="34" charset="0"/>
            </a:endParaRPr>
          </a:p>
        </p:txBody>
      </p:sp>
      <p:sp>
        <p:nvSpPr>
          <p:cNvPr id="44" name="矩形 1"/>
          <p:cNvSpPr>
            <a:spLocks noChangeArrowheads="1"/>
          </p:cNvSpPr>
          <p:nvPr/>
        </p:nvSpPr>
        <p:spPr bwMode="auto">
          <a:xfrm>
            <a:off x="1780142" y="2374344"/>
            <a:ext cx="3250151" cy="31566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600"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sym typeface="+mn-ea"/>
              </a:rPr>
              <a:t>r,</a:t>
            </a:r>
            <a:r>
              <a:rPr lang="ko-KR" altLang="en-US" sz="1600" b="1" kern="0" dirty="0">
                <a:solidFill>
                  <a:schemeClr val="bg1"/>
                </a:solidFill>
                <a:effectLst>
                  <a:outerShdw blurRad="38100" dist="38100" dir="2700000" algn="tl">
                    <a:srgbClr val="000000">
                      <a:alpha val="43137"/>
                    </a:srgbClr>
                  </a:outerShdw>
                </a:effectLst>
                <a:latin typeface="华文楷体" panose="02010600040101010101" pitchFamily="2" charset="-122"/>
                <a:cs typeface="Times New Roman" panose="02020603050405020304" pitchFamily="18" charset="0"/>
              </a:rPr>
              <a:t> bint, r, rint , stats</a:t>
            </a:r>
            <a:r>
              <a:rPr lang="ko-KR" altLang="en-US" sz="1600" b="1" kern="0" dirty="0">
                <a:solidFill>
                  <a:schemeClr val="bg1"/>
                </a:solidFill>
                <a:effectLst>
                  <a:outerShdw blurRad="38100" dist="38100" dir="2700000" algn="tl">
                    <a:srgbClr val="000000">
                      <a:alpha val="43137"/>
                    </a:srgbClr>
                  </a:outerShdw>
                </a:effectLst>
                <a:latin typeface="华文楷体" panose="02010600040101010101" pitchFamily="2" charset="-122"/>
                <a:cs typeface="Times New Roman" panose="02020603050405020304" pitchFamily="18" charset="0"/>
                <a:sym typeface="+mn-ea"/>
              </a:rPr>
              <a:t>  = regress ( Y,  X  )</a:t>
            </a:r>
          </a:p>
        </p:txBody>
      </p:sp>
      <p:sp>
        <p:nvSpPr>
          <p:cNvPr id="45" name="Rectangle 8"/>
          <p:cNvSpPr>
            <a:spLocks noChangeArrowheads="1"/>
          </p:cNvSpPr>
          <p:nvPr/>
        </p:nvSpPr>
        <p:spPr bwMode="auto">
          <a:xfrm>
            <a:off x="61740" y="2364015"/>
            <a:ext cx="1718402" cy="369332"/>
          </a:xfrm>
          <a:prstGeom prst="rect">
            <a:avLst/>
          </a:prstGeom>
          <a:noFill/>
          <a:ln w="9525">
            <a:noFill/>
            <a:miter lim="800000"/>
          </a:ln>
        </p:spPr>
        <p:txBody>
          <a:bodyPr wrap="square">
            <a:spAutoFit/>
          </a:bodyPr>
          <a:lstStyle/>
          <a:p>
            <a:pPr marL="457200" indent="-457200">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线性回归</a:t>
            </a:r>
            <a:r>
              <a:rPr lang="zh-CN" altLang="en-US" b="1" dirty="0">
                <a:solidFill>
                  <a:srgbClr val="0070C0"/>
                </a:solidFill>
                <a:latin typeface="隶书" panose="02010509060101010101" pitchFamily="49" charset="-122"/>
                <a:ea typeface="隶书" panose="02010509060101010101" pitchFamily="49" charset="-122"/>
                <a:sym typeface="Arial" panose="020B0604020202020204" pitchFamily="34" charset="0"/>
              </a:rPr>
              <a:t>：</a:t>
            </a:r>
          </a:p>
        </p:txBody>
      </p:sp>
      <p:sp>
        <p:nvSpPr>
          <p:cNvPr id="46" name="Rectangle 8"/>
          <p:cNvSpPr>
            <a:spLocks noChangeArrowheads="1"/>
          </p:cNvSpPr>
          <p:nvPr/>
        </p:nvSpPr>
        <p:spPr bwMode="auto">
          <a:xfrm>
            <a:off x="77765" y="2735797"/>
            <a:ext cx="6366444" cy="792012"/>
          </a:xfrm>
          <a:prstGeom prst="rect">
            <a:avLst/>
          </a:prstGeom>
          <a:noFill/>
          <a:ln w="9525">
            <a:noFill/>
            <a:miter lim="800000"/>
          </a:ln>
        </p:spPr>
        <p:txBody>
          <a:bodyPr wrap="square">
            <a:spAutoFit/>
          </a:bodyPr>
          <a:lstStyle/>
          <a:p>
            <a:pPr>
              <a:lnSpc>
                <a:spcPts val="2900"/>
              </a:lnSpc>
              <a:buFont typeface="+mj-ea"/>
              <a:buAutoNum type="circleNumDbPlain" startAt="3"/>
            </a:pPr>
            <a:r>
              <a:rPr lang="zh-CN" altLang="en-US"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曲线拟合</a:t>
            </a:r>
            <a:r>
              <a:rPr lang="en-US" altLang="zh-CN" sz="20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16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是指选择适当曲线类型来拟合观测数据，拟合得到的光滑曲线一般用函数表示</a:t>
            </a:r>
            <a:r>
              <a:rPr lang="en-US" altLang="zh-CN" sz="16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常用多项式拟合，从而构建函数模型预测</a:t>
            </a:r>
          </a:p>
        </p:txBody>
      </p:sp>
      <p:sp>
        <p:nvSpPr>
          <p:cNvPr id="13" name="矩形 12">
            <a:extLst>
              <a:ext uri="{FF2B5EF4-FFF2-40B4-BE49-F238E27FC236}">
                <a16:creationId xmlns:a16="http://schemas.microsoft.com/office/drawing/2014/main" id="{60AC1E5F-AF5B-47B6-949E-6F4C73C80125}"/>
              </a:ext>
            </a:extLst>
          </p:cNvPr>
          <p:cNvSpPr/>
          <p:nvPr/>
        </p:nvSpPr>
        <p:spPr>
          <a:xfrm>
            <a:off x="4906086" y="1861349"/>
            <a:ext cx="4010589" cy="338554"/>
          </a:xfrm>
          <a:prstGeom prst="rect">
            <a:avLst/>
          </a:prstGeom>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数学模型：因变量</a:t>
            </a:r>
            <a:r>
              <a:rPr lang="en-US" altLang="zh-CN" sz="1600" b="1" dirty="0">
                <a:solidFill>
                  <a:srgbClr val="FF0000"/>
                </a:solidFill>
                <a:latin typeface="微软雅黑" panose="020B0503020204020204" pitchFamily="34" charset="-122"/>
                <a:ea typeface="微软雅黑" panose="020B0503020204020204" pitchFamily="34" charset="-122"/>
                <a:sym typeface="+mn-ea"/>
              </a:rPr>
              <a:t>y=f(</a:t>
            </a:r>
            <a:r>
              <a:rPr lang="zh-CN" altLang="en-US" sz="1600" b="1" dirty="0">
                <a:solidFill>
                  <a:srgbClr val="FF0000"/>
                </a:solidFill>
                <a:latin typeface="微软雅黑" panose="020B0503020204020204" pitchFamily="34" charset="-122"/>
                <a:ea typeface="微软雅黑" panose="020B0503020204020204" pitchFamily="34" charset="-122"/>
              </a:rPr>
              <a:t>自变量</a:t>
            </a:r>
            <a:r>
              <a:rPr lang="en-US" altLang="zh-CN" sz="1600" b="1" dirty="0">
                <a:solidFill>
                  <a:srgbClr val="FF0000"/>
                </a:solidFill>
                <a:latin typeface="微软雅黑" panose="020B0503020204020204" pitchFamily="34" charset="-122"/>
                <a:ea typeface="微软雅黑" panose="020B0503020204020204" pitchFamily="34" charset="-122"/>
                <a:sym typeface="+mn-ea"/>
              </a:rPr>
              <a:t>x,</a:t>
            </a:r>
            <a:r>
              <a:rPr lang="zh-CN" altLang="en-US" sz="1600" b="1" dirty="0">
                <a:solidFill>
                  <a:srgbClr val="FF0000"/>
                </a:solidFill>
                <a:latin typeface="微软雅黑" panose="020B0503020204020204" pitchFamily="34" charset="-122"/>
                <a:ea typeface="微软雅黑" panose="020B0503020204020204" pitchFamily="34" charset="-122"/>
              </a:rPr>
              <a:t>待定参数</a:t>
            </a:r>
            <a:r>
              <a:rPr lang="en-US" altLang="zh-CN" sz="1600" b="1" dirty="0">
                <a:solidFill>
                  <a:srgbClr val="FF0000"/>
                </a:solidFill>
                <a:latin typeface="微软雅黑" panose="020B0503020204020204" pitchFamily="34" charset="-122"/>
                <a:ea typeface="微软雅黑" panose="020B0503020204020204" pitchFamily="34" charset="-122"/>
              </a:rPr>
              <a:t>a</a:t>
            </a:r>
            <a:r>
              <a:rPr lang="en-US" altLang="zh-CN" sz="1600" b="1" dirty="0">
                <a:solidFill>
                  <a:srgbClr val="FF0000"/>
                </a:solidFill>
                <a:latin typeface="微软雅黑" panose="020B0503020204020204" pitchFamily="34" charset="-122"/>
                <a:ea typeface="微软雅黑" panose="020B0503020204020204" pitchFamily="34" charset="-122"/>
                <a:sym typeface="+mn-ea"/>
              </a:rPr>
              <a:t>)</a:t>
            </a:r>
            <a:endParaRPr lang="zh-CN" altLang="en-US" sz="1600" b="1"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51799"/>
            <a:ext cx="5544616" cy="603929"/>
          </a:xfrm>
        </p:spPr>
        <p:txBody>
          <a:bodyPr/>
          <a:lstStyle/>
          <a:p>
            <a:pPr algn="l">
              <a:lnSpc>
                <a:spcPts val="4080"/>
              </a:lnSpc>
            </a:pPr>
            <a:r>
              <a:rPr lang="en-US" altLang="ko-KR" sz="3400" dirty="0">
                <a:solidFill>
                  <a:srgbClr val="002060"/>
                </a:solidFill>
              </a:rPr>
              <a:t>§5 </a:t>
            </a:r>
            <a:r>
              <a:rPr lang="zh-CN" altLang="en-US" sz="3400" dirty="0">
                <a:solidFill>
                  <a:srgbClr val="002060"/>
                </a:solidFill>
              </a:rPr>
              <a:t>曲线</a:t>
            </a:r>
            <a:r>
              <a:rPr lang="en-US" altLang="ko-KR" sz="3400" dirty="0" err="1">
                <a:solidFill>
                  <a:srgbClr val="002060"/>
                </a:solidFill>
              </a:rPr>
              <a:t>拟合</a:t>
            </a:r>
            <a:r>
              <a:rPr lang="zh-CN" altLang="en-US" sz="3400" dirty="0">
                <a:solidFill>
                  <a:srgbClr val="002060"/>
                </a:solidFill>
              </a:rPr>
              <a:t>和</a:t>
            </a:r>
            <a:r>
              <a:rPr lang="zh-CN" altLang="en-US" sz="3400" dirty="0"/>
              <a:t>数值插值</a:t>
            </a:r>
          </a:p>
        </p:txBody>
      </p:sp>
      <p:sp>
        <p:nvSpPr>
          <p:cNvPr id="7" name="文本框 3"/>
          <p:cNvSpPr txBox="1"/>
          <p:nvPr/>
        </p:nvSpPr>
        <p:spPr>
          <a:xfrm>
            <a:off x="107504" y="1312858"/>
            <a:ext cx="8778613" cy="2475984"/>
          </a:xfrm>
          <a:prstGeom prst="rect">
            <a:avLst/>
          </a:prstGeom>
          <a:noFill/>
          <a:ln>
            <a:solidFill>
              <a:schemeClr val="bg1">
                <a:lumMod val="50000"/>
              </a:schemeClr>
            </a:solidFill>
          </a:ln>
        </p:spPr>
        <p:txBody>
          <a:bodyPr vert="horz" wrap="square" lIns="0" tIns="0" rIns="0" bIns="0" numCol="1" anchor="t">
            <a:noAutofit/>
          </a:bodyPr>
          <a:lstStyle/>
          <a:p>
            <a:pPr eaLnBrk="0">
              <a:lnSpc>
                <a:spcPts val="4500"/>
              </a:lnSpc>
              <a:spcBef>
                <a:spcPts val="600"/>
              </a:spcBef>
              <a:spcAft>
                <a:spcPts val="0"/>
              </a:spcAft>
            </a:pPr>
            <a:r>
              <a:rPr lang="en-US" altLang="ko-KR" sz="2400" dirty="0">
                <a:solidFill>
                  <a:srgbClr val="002060"/>
                </a:solidFill>
                <a:latin typeface="微软雅黑" panose="020B0503020204020204" pitchFamily="34" charset="-122"/>
                <a:ea typeface="微软雅黑" panose="020B0503020204020204" pitchFamily="34" charset="-122"/>
              </a:rPr>
              <a:t>§5.1 </a:t>
            </a:r>
            <a:r>
              <a:rPr lang="zh-CN" altLang="en-US" sz="2400" dirty="0">
                <a:solidFill>
                  <a:srgbClr val="002060"/>
                </a:solidFill>
                <a:latin typeface="微软雅黑" panose="020B0503020204020204" pitchFamily="34" charset="-122"/>
                <a:ea typeface="微软雅黑" panose="020B0503020204020204" pitchFamily="34" charset="-122"/>
              </a:rPr>
              <a:t>多项式运算：求根求值求微积分</a:t>
            </a:r>
            <a:endParaRPr lang="en-US" altLang="zh-CN" sz="2400" dirty="0">
              <a:solidFill>
                <a:srgbClr val="002060"/>
              </a:solidFill>
              <a:latin typeface="微软雅黑" panose="020B0503020204020204" pitchFamily="34" charset="-122"/>
              <a:ea typeface="微软雅黑" panose="020B0503020204020204" pitchFamily="34" charset="-122"/>
            </a:endParaRPr>
          </a:p>
          <a:p>
            <a:pPr eaLnBrk="0">
              <a:lnSpc>
                <a:spcPts val="4500"/>
              </a:lnSpc>
              <a:spcBef>
                <a:spcPts val="600"/>
              </a:spcBef>
              <a:spcAft>
                <a:spcPts val="0"/>
              </a:spcAft>
            </a:pPr>
            <a:r>
              <a:rPr lang="en-US" altLang="ko-KR" sz="2400" dirty="0">
                <a:solidFill>
                  <a:srgbClr val="002060"/>
                </a:solidFill>
                <a:latin typeface="微软雅黑" panose="020B0503020204020204" pitchFamily="34" charset="-122"/>
                <a:ea typeface="微软雅黑" panose="020B0503020204020204" pitchFamily="34" charset="-122"/>
              </a:rPr>
              <a:t>§5.2 </a:t>
            </a:r>
            <a:r>
              <a:rPr lang="zh-CN" altLang="en-US" sz="2400" dirty="0">
                <a:solidFill>
                  <a:srgbClr val="002060"/>
                </a:solidFill>
                <a:latin typeface="微软雅黑" panose="020B0503020204020204" pitchFamily="34" charset="-122"/>
                <a:ea typeface="微软雅黑" panose="020B0503020204020204" pitchFamily="34" charset="-122"/>
              </a:rPr>
              <a:t>多项式拟合</a:t>
            </a:r>
            <a:r>
              <a:rPr lang="en-US" altLang="zh-CN" sz="2400" dirty="0" err="1">
                <a:solidFill>
                  <a:srgbClr val="002060"/>
                </a:solidFill>
                <a:latin typeface="微软雅黑" panose="020B0503020204020204" pitchFamily="34" charset="-122"/>
                <a:ea typeface="微软雅黑" panose="020B0503020204020204" pitchFamily="34" charset="-122"/>
              </a:rPr>
              <a:t>polyfit</a:t>
            </a:r>
            <a:r>
              <a:rPr lang="en-US" altLang="zh-CN" sz="2400" dirty="0">
                <a:solidFill>
                  <a:srgbClr val="002060"/>
                </a:solidFill>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                </a:t>
            </a:r>
            <a:endParaRPr lang="en-US" altLang="zh-CN" sz="2400" dirty="0">
              <a:solidFill>
                <a:srgbClr val="002060"/>
              </a:solidFill>
              <a:latin typeface="微软雅黑" panose="020B0503020204020204" pitchFamily="34" charset="-122"/>
              <a:ea typeface="微软雅黑" panose="020B0503020204020204" pitchFamily="34" charset="-122"/>
            </a:endParaRPr>
          </a:p>
          <a:p>
            <a:pPr eaLnBrk="0">
              <a:lnSpc>
                <a:spcPts val="4500"/>
              </a:lnSpc>
              <a:spcBef>
                <a:spcPts val="600"/>
              </a:spcBef>
              <a:spcAft>
                <a:spcPts val="0"/>
              </a:spcAft>
            </a:pPr>
            <a:r>
              <a:rPr lang="en-US" altLang="ko-KR" sz="2400" dirty="0">
                <a:solidFill>
                  <a:srgbClr val="002060"/>
                </a:solidFill>
                <a:latin typeface="微软雅黑" panose="020B0503020204020204" pitchFamily="34" charset="-122"/>
                <a:ea typeface="微软雅黑" panose="020B0503020204020204" pitchFamily="34" charset="-122"/>
              </a:rPr>
              <a:t>§5.3 </a:t>
            </a:r>
            <a:r>
              <a:rPr lang="en-US" altLang="zh-CN" sz="2400" dirty="0">
                <a:solidFill>
                  <a:srgbClr val="002060"/>
                </a:solidFill>
                <a:latin typeface="微软雅黑" panose="020B0503020204020204" pitchFamily="34" charset="-122"/>
                <a:ea typeface="微软雅黑" panose="020B0503020204020204" pitchFamily="34" charset="-122"/>
              </a:rPr>
              <a:t>fit</a:t>
            </a:r>
            <a:r>
              <a:rPr lang="zh-CN" altLang="en-US" sz="2400" dirty="0">
                <a:solidFill>
                  <a:srgbClr val="002060"/>
                </a:solidFill>
                <a:latin typeface="微软雅黑" panose="020B0503020204020204" pitchFamily="34" charset="-122"/>
                <a:ea typeface="微软雅黑" panose="020B0503020204020204" pitchFamily="34" charset="-122"/>
              </a:rPr>
              <a:t>数据拟合曲线和曲面</a:t>
            </a:r>
            <a:endParaRPr lang="en-US" altLang="zh-CN" sz="2400" dirty="0">
              <a:solidFill>
                <a:srgbClr val="002060"/>
              </a:solidFill>
              <a:latin typeface="微软雅黑" panose="020B0503020204020204" pitchFamily="34" charset="-122"/>
              <a:ea typeface="微软雅黑" panose="020B0503020204020204" pitchFamily="34" charset="-122"/>
            </a:endParaRPr>
          </a:p>
          <a:p>
            <a:pPr eaLnBrk="0">
              <a:lnSpc>
                <a:spcPts val="4500"/>
              </a:lnSpc>
              <a:spcBef>
                <a:spcPts val="600"/>
              </a:spcBef>
              <a:spcAft>
                <a:spcPts val="0"/>
              </a:spcAft>
            </a:pPr>
            <a:r>
              <a:rPr lang="en-US" altLang="ko-KR" sz="2400" dirty="0">
                <a:solidFill>
                  <a:srgbClr val="002060"/>
                </a:solidFill>
                <a:latin typeface="微软雅黑" panose="020B0503020204020204" pitchFamily="34" charset="-122"/>
                <a:ea typeface="微软雅黑" panose="020B0503020204020204" pitchFamily="34" charset="-122"/>
              </a:rPr>
              <a:t>§5.4 </a:t>
            </a:r>
            <a:r>
              <a:rPr lang="zh-CN" altLang="en-US" sz="2400" dirty="0">
                <a:solidFill>
                  <a:srgbClr val="002060"/>
                </a:solidFill>
                <a:latin typeface="微软雅黑" panose="020B0503020204020204" pitchFamily="34" charset="-122"/>
                <a:ea typeface="微软雅黑" panose="020B0503020204020204" pitchFamily="34" charset="-122"/>
              </a:rPr>
              <a:t>数值插值：一维和多维插值</a:t>
            </a:r>
          </a:p>
          <a:p>
            <a:pPr eaLnBrk="0">
              <a:lnSpc>
                <a:spcPts val="3900"/>
              </a:lnSpc>
              <a:spcBef>
                <a:spcPts val="0"/>
              </a:spcBef>
              <a:spcAft>
                <a:spcPts val="0"/>
              </a:spcAft>
            </a:pPr>
            <a:endParaRPr lang="ko-KR" altLang="en-US" sz="3200" dirty="0">
              <a:solidFill>
                <a:srgbClr val="002060"/>
              </a:solidFill>
              <a:latin typeface="华文楷体" panose="02010600040101010101" pitchFamily="2" charset="-122"/>
              <a:ea typeface="隶书" panose="02010509060101010101" pitchFamily="49" charset="-122"/>
              <a:cs typeface="Times New Roman" panose="02020603050405020304" pitchFamily="18" charset="0"/>
            </a:endParaRPr>
          </a:p>
        </p:txBody>
      </p:sp>
      <p:sp>
        <p:nvSpPr>
          <p:cNvPr id="8" name="文本框 7"/>
          <p:cNvSpPr txBox="1"/>
          <p:nvPr/>
        </p:nvSpPr>
        <p:spPr>
          <a:xfrm>
            <a:off x="107504" y="773676"/>
            <a:ext cx="8892480" cy="369332"/>
          </a:xfrm>
          <a:prstGeom prst="rect">
            <a:avLst/>
          </a:prstGeom>
          <a:solidFill>
            <a:schemeClr val="bg1"/>
          </a:solidFill>
        </p:spPr>
        <p:txBody>
          <a:bodyPr wrap="square">
            <a:spAutoFit/>
          </a:bodyPr>
          <a:lstStyle/>
          <a:p>
            <a:pPr algn="dist"/>
            <a:r>
              <a:rPr lang="zh-CN" altLang="zh-CN" sz="1800" b="1" dirty="0">
                <a:solidFill>
                  <a:srgbClr val="0070C0"/>
                </a:solidFill>
                <a:effectLst/>
                <a:latin typeface="微软雅黑" panose="020B0503020204020204" pitchFamily="34" charset="-122"/>
                <a:ea typeface="微软雅黑" panose="020B0503020204020204" pitchFamily="34" charset="-122"/>
                <a:cs typeface="Arial" panose="020B0604020202020204" pitchFamily="34" charset="0"/>
              </a:rPr>
              <a:t>曲线拟合</a:t>
            </a:r>
            <a:r>
              <a:rPr lang="zh-CN" altLang="en-US" sz="1800" b="1" dirty="0">
                <a:solidFill>
                  <a:srgbClr val="0070C0"/>
                </a:solidFill>
                <a:effectLst/>
                <a:latin typeface="微软雅黑" panose="020B0503020204020204" pitchFamily="34" charset="-122"/>
                <a:ea typeface="微软雅黑" panose="020B0503020204020204" pitchFamily="34" charset="-122"/>
                <a:cs typeface="Arial" panose="020B0604020202020204" pitchFamily="34" charset="0"/>
              </a:rPr>
              <a:t>插值</a:t>
            </a:r>
            <a:r>
              <a:rPr lang="zh-CN" altLang="zh-CN" sz="1800" b="1" dirty="0">
                <a:solidFill>
                  <a:srgbClr val="0070C0"/>
                </a:solidFill>
                <a:effectLst/>
                <a:latin typeface="微软雅黑" panose="020B0503020204020204" pitchFamily="34" charset="-122"/>
                <a:ea typeface="微软雅黑" panose="020B0503020204020204" pitchFamily="34" charset="-122"/>
                <a:cs typeface="Arial" panose="020B0604020202020204" pitchFamily="34" charset="0"/>
              </a:rPr>
              <a:t>是一种强大的</a:t>
            </a:r>
            <a:r>
              <a:rPr lang="zh-CN" altLang="zh-CN"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数据处理</a:t>
            </a:r>
            <a:r>
              <a:rPr lang="zh-CN" altLang="zh-CN" sz="1800" b="1" dirty="0">
                <a:solidFill>
                  <a:srgbClr val="0070C0"/>
                </a:solidFill>
                <a:effectLst/>
                <a:latin typeface="微软雅黑" panose="020B0503020204020204" pitchFamily="34" charset="-122"/>
                <a:ea typeface="微软雅黑" panose="020B0503020204020204" pitchFamily="34" charset="-122"/>
                <a:cs typeface="Arial" panose="020B0604020202020204" pitchFamily="34" charset="0"/>
              </a:rPr>
              <a:t>方法</a:t>
            </a:r>
            <a:r>
              <a:rPr lang="zh-CN" altLang="en-US" sz="1800" b="1" dirty="0">
                <a:solidFill>
                  <a:srgbClr val="0070C0"/>
                </a:solidFill>
                <a:effectLst/>
                <a:latin typeface="微软雅黑" panose="020B0503020204020204" pitchFamily="34" charset="-122"/>
                <a:ea typeface="微软雅黑" panose="020B0503020204020204" pitchFamily="34" charset="-122"/>
                <a:cs typeface="Arial" panose="020B0604020202020204" pitchFamily="34" charset="0"/>
              </a:rPr>
              <a:t>，是</a:t>
            </a:r>
            <a:r>
              <a:rPr lang="zh-CN" altLang="en-US"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数值计算方法</a:t>
            </a:r>
            <a:r>
              <a:rPr lang="zh-CN" altLang="en-US" sz="1800" b="1" dirty="0">
                <a:solidFill>
                  <a:srgbClr val="0070C0"/>
                </a:solidFill>
                <a:effectLst/>
                <a:latin typeface="微软雅黑" panose="020B0503020204020204" pitchFamily="34" charset="-122"/>
                <a:ea typeface="微软雅黑" panose="020B0503020204020204" pitchFamily="34" charset="-122"/>
                <a:cs typeface="Arial" panose="020B0604020202020204" pitchFamily="34" charset="0"/>
              </a:rPr>
              <a:t>，常用数学建模和数据预测</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220072" y="1444850"/>
            <a:ext cx="2034995" cy="369332"/>
          </a:xfrm>
          <a:prstGeom prst="rect">
            <a:avLst/>
          </a:prstGeom>
          <a:noFill/>
        </p:spPr>
        <p:txBody>
          <a:bodyPr wrap="square">
            <a:spAutoFit/>
          </a:bodyPr>
          <a:lstStyle/>
          <a:p>
            <a:r>
              <a:rPr lang="en-US" altLang="zh-CN" b="1" i="0" dirty="0" err="1">
                <a:solidFill>
                  <a:srgbClr val="00B0F0"/>
                </a:solidFill>
                <a:effectLst/>
                <a:latin typeface="微软雅黑" panose="020B0503020204020204" pitchFamily="34" charset="-122"/>
                <a:ea typeface="微软雅黑" panose="020B0503020204020204" pitchFamily="34" charset="-122"/>
              </a:rPr>
              <a:t>TyMath</a:t>
            </a:r>
            <a:r>
              <a:rPr lang="zh-CN" altLang="en-US" b="1" dirty="0">
                <a:solidFill>
                  <a:srgbClr val="00B0F0"/>
                </a:solidFill>
                <a:latin typeface="微软雅黑" panose="020B0503020204020204" pitchFamily="34" charset="-122"/>
                <a:ea typeface="微软雅黑" panose="020B0503020204020204" pitchFamily="34" charset="-122"/>
              </a:rPr>
              <a:t>函数库</a:t>
            </a:r>
            <a:endParaRPr lang="en-US" altLang="zh-CN" b="1" i="0" dirty="0">
              <a:solidFill>
                <a:srgbClr val="00B0F0"/>
              </a:solidFill>
              <a:effectLst/>
              <a:latin typeface="微软雅黑" panose="020B0503020204020204" pitchFamily="34" charset="-122"/>
              <a:ea typeface="微软雅黑" panose="020B0503020204020204" pitchFamily="34" charset="-122"/>
            </a:endParaRPr>
          </a:p>
        </p:txBody>
      </p:sp>
      <p:sp>
        <p:nvSpPr>
          <p:cNvPr id="10" name="文本框 9"/>
          <p:cNvSpPr txBox="1"/>
          <p:nvPr/>
        </p:nvSpPr>
        <p:spPr>
          <a:xfrm>
            <a:off x="4019654" y="2717882"/>
            <a:ext cx="3504674" cy="430887"/>
          </a:xfrm>
          <a:prstGeom prst="rect">
            <a:avLst/>
          </a:prstGeom>
          <a:noFill/>
        </p:spPr>
        <p:txBody>
          <a:bodyPr wrap="square">
            <a:spAutoFit/>
          </a:bodyPr>
          <a:lstStyle/>
          <a:p>
            <a:r>
              <a:rPr lang="en-US" altLang="zh-CN" b="1" dirty="0" err="1">
                <a:solidFill>
                  <a:srgbClr val="00B0F0"/>
                </a:solidFill>
                <a:latin typeface="微软雅黑" panose="020B0503020204020204" pitchFamily="34" charset="-122"/>
                <a:ea typeface="微软雅黑" panose="020B0503020204020204" pitchFamily="34" charset="-122"/>
              </a:rPr>
              <a:t>TyCurveFitting</a:t>
            </a:r>
            <a:r>
              <a:rPr lang="zh-CN" altLang="en-US" b="1" dirty="0">
                <a:solidFill>
                  <a:srgbClr val="00B0F0"/>
                </a:solidFill>
                <a:latin typeface="微软雅黑" panose="020B0503020204020204" pitchFamily="34" charset="-122"/>
                <a:ea typeface="微软雅黑" panose="020B0503020204020204" pitchFamily="34" charset="-122"/>
              </a:rPr>
              <a:t>函数库</a:t>
            </a:r>
            <a:endParaRPr lang="en-US" altLang="zh-CN" sz="2200" dirty="0">
              <a:solidFill>
                <a:srgbClr val="00206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3472767" y="2051325"/>
            <a:ext cx="1746448" cy="369332"/>
          </a:xfrm>
          <a:prstGeom prst="rect">
            <a:avLst/>
          </a:prstGeom>
          <a:noFill/>
        </p:spPr>
        <p:txBody>
          <a:bodyPr wrap="square">
            <a:spAutoFit/>
          </a:bodyPr>
          <a:lstStyle>
            <a:defPPr>
              <a:defRPr lang="zh-CN"/>
            </a:defPPr>
            <a:lvl1pPr>
              <a:defRPr b="1" i="0">
                <a:solidFill>
                  <a:srgbClr val="FF0000"/>
                </a:solidFill>
                <a:effectLst/>
                <a:latin typeface="微软雅黑" panose="020B0503020204020204" pitchFamily="34" charset="-122"/>
                <a:ea typeface="微软雅黑" panose="020B0503020204020204" pitchFamily="34" charset="-122"/>
              </a:defRPr>
            </a:lvl1pPr>
          </a:lstStyle>
          <a:p>
            <a:r>
              <a:rPr lang="en-US" altLang="zh-CN" dirty="0" err="1">
                <a:solidFill>
                  <a:srgbClr val="00B0F0"/>
                </a:solidFill>
              </a:rPr>
              <a:t>TyMath</a:t>
            </a:r>
            <a:r>
              <a:rPr lang="zh-CN" altLang="en-US" dirty="0">
                <a:solidFill>
                  <a:srgbClr val="00B0F0"/>
                </a:solidFill>
              </a:rPr>
              <a:t>函数库</a:t>
            </a:r>
            <a:endParaRPr lang="en-US" altLang="zh-CN" dirty="0">
              <a:solidFill>
                <a:srgbClr val="00B0F0"/>
              </a:solidFill>
            </a:endParaRPr>
          </a:p>
        </p:txBody>
      </p:sp>
      <p:sp>
        <p:nvSpPr>
          <p:cNvPr id="12" name="文本框 11"/>
          <p:cNvSpPr txBox="1"/>
          <p:nvPr/>
        </p:nvSpPr>
        <p:spPr>
          <a:xfrm>
            <a:off x="4613859" y="3389056"/>
            <a:ext cx="2034995" cy="369332"/>
          </a:xfrm>
          <a:prstGeom prst="rect">
            <a:avLst/>
          </a:prstGeom>
          <a:noFill/>
        </p:spPr>
        <p:txBody>
          <a:bodyPr wrap="square">
            <a:spAutoFit/>
          </a:bodyPr>
          <a:lstStyle/>
          <a:p>
            <a:r>
              <a:rPr lang="en-US" altLang="zh-CN" b="1" i="0" dirty="0" err="1">
                <a:solidFill>
                  <a:srgbClr val="00B0F0"/>
                </a:solidFill>
                <a:effectLst/>
                <a:latin typeface="微软雅黑" panose="020B0503020204020204" pitchFamily="34" charset="-122"/>
                <a:ea typeface="微软雅黑" panose="020B0503020204020204" pitchFamily="34" charset="-122"/>
              </a:rPr>
              <a:t>TyMath</a:t>
            </a:r>
            <a:r>
              <a:rPr lang="zh-CN" altLang="en-US" b="1" dirty="0">
                <a:solidFill>
                  <a:srgbClr val="00B0F0"/>
                </a:solidFill>
                <a:latin typeface="微软雅黑" panose="020B0503020204020204" pitchFamily="34" charset="-122"/>
                <a:ea typeface="微软雅黑" panose="020B0503020204020204" pitchFamily="34" charset="-122"/>
              </a:rPr>
              <a:t>函数库</a:t>
            </a:r>
            <a:endParaRPr lang="en-US" altLang="zh-CN" b="1" i="0" dirty="0">
              <a:solidFill>
                <a:srgbClr val="00B0F0"/>
              </a:solidFill>
              <a:effectLst/>
              <a:latin typeface="微软雅黑" panose="020B0503020204020204" pitchFamily="34" charset="-122"/>
              <a:ea typeface="微软雅黑" panose="020B0503020204020204" pitchFamily="34" charset="-122"/>
            </a:endParaRPr>
          </a:p>
        </p:txBody>
      </p:sp>
      <p:sp>
        <p:nvSpPr>
          <p:cNvPr id="13" name="文本框 12"/>
          <p:cNvSpPr txBox="1"/>
          <p:nvPr/>
        </p:nvSpPr>
        <p:spPr>
          <a:xfrm>
            <a:off x="0" y="4098853"/>
            <a:ext cx="9227718" cy="338554"/>
          </a:xfrm>
          <a:prstGeom prst="rect">
            <a:avLst/>
          </a:prstGeom>
          <a:noFill/>
        </p:spPr>
        <p:txBody>
          <a:bodyPr wrap="square">
            <a:spAutoFit/>
          </a:bodyPr>
          <a:lstStyle/>
          <a:p>
            <a:pPr marL="0" marR="0" lvl="0" indent="0" algn="dist" defTabSz="914400" rtl="0" eaLnBrk="0" fontAlgn="base" latinLnBrk="0" hangingPunct="0">
              <a:lnSpc>
                <a:spcPct val="100000"/>
              </a:lnSpc>
              <a:spcBef>
                <a:spcPct val="0"/>
              </a:spcBef>
              <a:spcAft>
                <a:spcPct val="0"/>
              </a:spcAft>
              <a:buClrTx/>
              <a:buSzTx/>
              <a:buFontTx/>
              <a:buNone/>
            </a:pPr>
            <a:r>
              <a:rPr lang="zh-CN" altLang="en-US" sz="1600" dirty="0">
                <a:solidFill>
                  <a:schemeClr val="bg1"/>
                </a:solidFill>
                <a:highlight>
                  <a:srgbClr val="003B76"/>
                </a:highlight>
                <a:latin typeface="Arial Unicode MS"/>
                <a:ea typeface="source-code-pro"/>
              </a:rPr>
              <a:t>如果函数命令没有被发现，请加载</a:t>
            </a:r>
            <a:r>
              <a:rPr kumimoji="0" lang="zh-CN" altLang="zh-CN" sz="1600" b="0" i="0" u="none" strike="noStrike" cap="none" normalizeH="0" baseline="0" dirty="0">
                <a:ln>
                  <a:noFill/>
                </a:ln>
                <a:solidFill>
                  <a:schemeClr val="bg1"/>
                </a:solidFill>
                <a:effectLst/>
                <a:highlight>
                  <a:srgbClr val="003B76"/>
                </a:highlight>
                <a:latin typeface="Arial Unicode MS"/>
                <a:ea typeface="source-code-pro"/>
              </a:rPr>
              <a:t>import TyCurveFitting</a:t>
            </a:r>
            <a:r>
              <a:rPr kumimoji="0" lang="zh-CN" altLang="en-US" sz="1600" b="0" i="0" u="none" strike="noStrike" cap="none" normalizeH="0" baseline="0" dirty="0">
                <a:ln>
                  <a:noFill/>
                </a:ln>
                <a:solidFill>
                  <a:schemeClr val="bg1"/>
                </a:solidFill>
                <a:effectLst/>
                <a:highlight>
                  <a:srgbClr val="003B76"/>
                </a:highlight>
                <a:latin typeface="Arial Unicode MS"/>
                <a:ea typeface="source-code-pro"/>
              </a:rPr>
              <a:t>或</a:t>
            </a:r>
            <a:r>
              <a:rPr kumimoji="0" lang="zh-CN" altLang="zh-CN" sz="1600" b="0" i="0" u="none" strike="noStrike" cap="none" normalizeH="0" baseline="0" dirty="0">
                <a:ln>
                  <a:noFill/>
                </a:ln>
                <a:solidFill>
                  <a:schemeClr val="bg1"/>
                </a:solidFill>
                <a:effectLst/>
                <a:highlight>
                  <a:srgbClr val="003B76"/>
                </a:highlight>
                <a:latin typeface="Arial Unicode MS"/>
                <a:ea typeface="source-code-pro"/>
              </a:rPr>
              <a:t>using TyCurveFitting</a:t>
            </a:r>
            <a:endParaRPr kumimoji="0" lang="en-US" altLang="zh-CN" sz="1600" b="0" i="0" u="none" strike="noStrike" cap="none" normalizeH="0" baseline="0" dirty="0">
              <a:ln>
                <a:noFill/>
              </a:ln>
              <a:solidFill>
                <a:schemeClr val="bg1"/>
              </a:solidFill>
              <a:effectLst/>
              <a:highlight>
                <a:srgbClr val="003B76"/>
              </a:highlight>
              <a:latin typeface="Arial Unicode MS"/>
              <a:ea typeface="source-code-pro"/>
            </a:endParaRPr>
          </a:p>
        </p:txBody>
      </p:sp>
      <p:sp>
        <p:nvSpPr>
          <p:cNvPr id="15" name="文本框 14"/>
          <p:cNvSpPr txBox="1"/>
          <p:nvPr/>
        </p:nvSpPr>
        <p:spPr>
          <a:xfrm>
            <a:off x="44625" y="4705159"/>
            <a:ext cx="9043716" cy="369332"/>
          </a:xfrm>
          <a:prstGeom prst="rect">
            <a:avLst/>
          </a:prstGeom>
          <a:solidFill>
            <a:schemeClr val="bg1"/>
          </a:solidFill>
        </p:spPr>
        <p:txBody>
          <a:bodyPr wrap="square">
            <a:spAutoFit/>
          </a:bodyPr>
          <a:lstStyle/>
          <a:p>
            <a:pPr algn="dist"/>
            <a:r>
              <a:rPr lang="zh-CN" altLang="en-US" b="1" i="0" dirty="0">
                <a:solidFill>
                  <a:srgbClr val="0070C0"/>
                </a:solidFill>
                <a:effectLst/>
                <a:latin typeface="微软雅黑" panose="020B0503020204020204" pitchFamily="34" charset="-122"/>
                <a:ea typeface="微软雅黑" panose="020B0503020204020204" pitchFamily="34" charset="-122"/>
              </a:rPr>
              <a:t> </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8D6A8BAF-9674-44D9-8139-B1F67208D863}"/>
              </a:ext>
            </a:extLst>
          </p:cNvPr>
          <p:cNvSpPr/>
          <p:nvPr/>
        </p:nvSpPr>
        <p:spPr>
          <a:xfrm>
            <a:off x="5471592" y="177778"/>
            <a:ext cx="3528392" cy="338554"/>
          </a:xfrm>
          <a:prstGeom prst="rect">
            <a:avLst/>
          </a:prstGeom>
        </p:spPr>
        <p:txBody>
          <a:bodyPr wrap="square">
            <a:spAutoFit/>
          </a:bodyPr>
          <a:lstStyle/>
          <a:p>
            <a:pPr algn="dist"/>
            <a:r>
              <a:rPr lang="zh-CN" altLang="en-US" sz="1600" b="1" dirty="0">
                <a:solidFill>
                  <a:srgbClr val="0070C0"/>
                </a:solidFill>
                <a:latin typeface="微软雅黑" panose="020B0503020204020204" pitchFamily="34" charset="-122"/>
                <a:ea typeface="微软雅黑" panose="020B0503020204020204" pitchFamily="34" charset="-122"/>
              </a:rPr>
              <a:t>目的：通过已有数据来预测未来数据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170447" y="1419622"/>
            <a:ext cx="8803106" cy="3165418"/>
          </a:xfrm>
          <a:prstGeom prst="rect">
            <a:avLst/>
          </a:prstGeom>
          <a:solidFill>
            <a:schemeClr val="bg1"/>
          </a:solidFill>
          <a:ln w="9525">
            <a:solidFill>
              <a:schemeClr val="bg1">
                <a:lumMod val="50000"/>
              </a:schemeClr>
            </a:solidFill>
            <a:miter lim="800000"/>
          </a:ln>
        </p:spPr>
        <p:txBody>
          <a:bodyPr vert="horz" wrap="square" lIns="91440" tIns="45720" rIns="91440" bIns="45720" numCol="1" anchor="t" anchorCtr="0" compatLnSpc="1">
            <a:spAutoFit/>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514350" indent="-514350" eaLnBrk="1" hangingPunct="1">
              <a:lnSpc>
                <a:spcPts val="4900"/>
              </a:lnSpc>
              <a:buFont typeface="+mj-lt"/>
              <a:buAutoNum type="arabicPeriod"/>
              <a:defRPr/>
            </a:pPr>
            <a:r>
              <a:rPr lang="zh-CN" altLang="en-US" sz="2400" kern="0" dirty="0">
                <a:solidFill>
                  <a:srgbClr val="002060"/>
                </a:solidFill>
                <a:latin typeface="微软雅黑 Light" panose="020B0502040204020203" pitchFamily="34" charset="-122"/>
                <a:ea typeface="微软雅黑 Light" panose="020B0502040204020203" pitchFamily="34" charset="-122"/>
              </a:rPr>
              <a:t>掌握多项式定义和运算</a:t>
            </a:r>
            <a:endParaRPr lang="en-US" altLang="zh-CN" sz="2400" kern="0" dirty="0">
              <a:solidFill>
                <a:srgbClr val="002060"/>
              </a:solidFill>
              <a:latin typeface="微软雅黑 Light" panose="020B0502040204020203" pitchFamily="34" charset="-122"/>
              <a:ea typeface="微软雅黑 Light" panose="020B0502040204020203" pitchFamily="34" charset="-122"/>
            </a:endParaRPr>
          </a:p>
          <a:p>
            <a:pPr marL="514350" indent="-514350" eaLnBrk="1" hangingPunct="1">
              <a:lnSpc>
                <a:spcPts val="4900"/>
              </a:lnSpc>
              <a:buFont typeface="+mj-lt"/>
              <a:buAutoNum type="arabicPeriod"/>
              <a:defRPr/>
            </a:pPr>
            <a:r>
              <a:rPr lang="zh-CN" altLang="en-US" sz="2400" kern="0" dirty="0">
                <a:solidFill>
                  <a:srgbClr val="002060"/>
                </a:solidFill>
                <a:latin typeface="微软雅黑 Light" panose="020B0502040204020203" pitchFamily="34" charset="-122"/>
                <a:ea typeface="微软雅黑 Light" panose="020B0502040204020203" pitchFamily="34" charset="-122"/>
              </a:rPr>
              <a:t>掌握</a:t>
            </a:r>
            <a:r>
              <a:rPr lang="en-US" altLang="zh-CN" sz="2400" kern="0" dirty="0" err="1">
                <a:solidFill>
                  <a:srgbClr val="FF0000"/>
                </a:solidFill>
                <a:latin typeface="微软雅黑 Light" panose="020B0502040204020203" pitchFamily="34" charset="-122"/>
                <a:ea typeface="微软雅黑 Light" panose="020B0502040204020203" pitchFamily="34" charset="-122"/>
              </a:rPr>
              <a:t>polyfit</a:t>
            </a:r>
            <a:r>
              <a:rPr lang="zh-CN" altLang="en-US" sz="2400" kern="0" dirty="0">
                <a:solidFill>
                  <a:srgbClr val="002060"/>
                </a:solidFill>
                <a:latin typeface="微软雅黑 Light" panose="020B0502040204020203" pitchFamily="34" charset="-122"/>
                <a:ea typeface="微软雅黑 Light" panose="020B0502040204020203" pitchFamily="34" charset="-122"/>
              </a:rPr>
              <a:t>拟合多项式、</a:t>
            </a:r>
            <a:r>
              <a:rPr lang="en-US" altLang="zh-CN" sz="2400" kern="0" dirty="0" err="1">
                <a:solidFill>
                  <a:srgbClr val="FF0000"/>
                </a:solidFill>
                <a:latin typeface="微软雅黑 Light" panose="020B0502040204020203" pitchFamily="34" charset="-122"/>
                <a:ea typeface="微软雅黑 Light" panose="020B0502040204020203" pitchFamily="34" charset="-122"/>
              </a:rPr>
              <a:t>polyval</a:t>
            </a:r>
            <a:r>
              <a:rPr lang="zh-CN" altLang="en-US" sz="2400" kern="0" dirty="0">
                <a:solidFill>
                  <a:srgbClr val="002060"/>
                </a:solidFill>
                <a:latin typeface="微软雅黑 Light" panose="020B0502040204020203" pitchFamily="34" charset="-122"/>
                <a:ea typeface="微软雅黑 Light" panose="020B0502040204020203" pitchFamily="34" charset="-122"/>
              </a:rPr>
              <a:t>求值和</a:t>
            </a:r>
            <a:r>
              <a:rPr lang="en-US" altLang="zh-CN" sz="2400" kern="0" dirty="0" err="1">
                <a:solidFill>
                  <a:srgbClr val="FF0000"/>
                </a:solidFill>
                <a:latin typeface="微软雅黑 Light" panose="020B0502040204020203" pitchFamily="34" charset="-122"/>
                <a:ea typeface="微软雅黑 Light" panose="020B0502040204020203" pitchFamily="34" charset="-122"/>
              </a:rPr>
              <a:t>refcurve</a:t>
            </a:r>
            <a:r>
              <a:rPr lang="zh-CN" altLang="en-US" sz="2400" kern="0" dirty="0">
                <a:solidFill>
                  <a:srgbClr val="002060"/>
                </a:solidFill>
                <a:latin typeface="微软雅黑 Light" panose="020B0502040204020203" pitchFamily="34" charset="-122"/>
                <a:ea typeface="微软雅黑 Light" panose="020B0502040204020203" pitchFamily="34" charset="-122"/>
              </a:rPr>
              <a:t>可视化</a:t>
            </a:r>
            <a:endParaRPr lang="en-US" altLang="zh-CN" sz="2400" kern="0" dirty="0">
              <a:solidFill>
                <a:srgbClr val="002060"/>
              </a:solidFill>
              <a:latin typeface="微软雅黑 Light" panose="020B0502040204020203" pitchFamily="34" charset="-122"/>
              <a:ea typeface="微软雅黑 Light" panose="020B0502040204020203" pitchFamily="34" charset="-122"/>
            </a:endParaRPr>
          </a:p>
          <a:p>
            <a:pPr marL="514350" indent="-514350" eaLnBrk="1" hangingPunct="1">
              <a:lnSpc>
                <a:spcPts val="4900"/>
              </a:lnSpc>
              <a:buFont typeface="+mj-lt"/>
              <a:buAutoNum type="arabicPeriod"/>
              <a:defRPr/>
            </a:pPr>
            <a:r>
              <a:rPr lang="zh-CN" altLang="en-US" sz="2400" kern="0" dirty="0">
                <a:solidFill>
                  <a:srgbClr val="002060"/>
                </a:solidFill>
                <a:latin typeface="微软雅黑 Light" panose="020B0502040204020203" pitchFamily="34" charset="-122"/>
                <a:ea typeface="微软雅黑 Light" panose="020B0502040204020203" pitchFamily="34" charset="-122"/>
              </a:rPr>
              <a:t>掌握用</a:t>
            </a:r>
            <a:r>
              <a:rPr lang="en-US" altLang="zh-CN" sz="2400" kern="0" dirty="0">
                <a:solidFill>
                  <a:srgbClr val="FF0000"/>
                </a:solidFill>
                <a:latin typeface="微软雅黑 Light" panose="020B0502040204020203" pitchFamily="34" charset="-122"/>
                <a:ea typeface="微软雅黑 Light" panose="020B0502040204020203" pitchFamily="34" charset="-122"/>
              </a:rPr>
              <a:t>fit</a:t>
            </a:r>
            <a:r>
              <a:rPr lang="zh-CN" altLang="en-US" sz="2400" kern="0" dirty="0">
                <a:solidFill>
                  <a:srgbClr val="FF0000"/>
                </a:solidFill>
                <a:latin typeface="微软雅黑 Light" panose="020B0502040204020203" pitchFamily="34" charset="-122"/>
                <a:ea typeface="微软雅黑 Light" panose="020B0502040204020203" pitchFamily="34" charset="-122"/>
              </a:rPr>
              <a:t>拟合</a:t>
            </a:r>
            <a:r>
              <a:rPr lang="zh-CN" altLang="en-US" sz="2400" kern="0" dirty="0">
                <a:solidFill>
                  <a:srgbClr val="002060"/>
                </a:solidFill>
                <a:latin typeface="微软雅黑 Light" panose="020B0502040204020203" pitchFamily="34" charset="-122"/>
                <a:ea typeface="微软雅黑 Light" panose="020B0502040204020203" pitchFamily="34" charset="-122"/>
              </a:rPr>
              <a:t>曲线和曲面及可视化</a:t>
            </a:r>
            <a:r>
              <a:rPr lang="en-US" altLang="zh-CN" sz="2400" kern="0" dirty="0" err="1">
                <a:solidFill>
                  <a:srgbClr val="FF0000"/>
                </a:solidFill>
                <a:latin typeface="微软雅黑 Light" panose="020B0502040204020203" pitchFamily="34" charset="-122"/>
                <a:ea typeface="微软雅黑 Light" panose="020B0502040204020203" pitchFamily="34" charset="-122"/>
              </a:rPr>
              <a:t>plotfit</a:t>
            </a:r>
            <a:r>
              <a:rPr lang="en-US" altLang="zh-CN" sz="2400" kern="0" dirty="0">
                <a:solidFill>
                  <a:srgbClr val="FF0000"/>
                </a:solidFill>
                <a:latin typeface="微软雅黑 Light" panose="020B0502040204020203" pitchFamily="34" charset="-122"/>
                <a:ea typeface="微软雅黑 Light" panose="020B0502040204020203" pitchFamily="34" charset="-122"/>
              </a:rPr>
              <a:t> </a:t>
            </a:r>
          </a:p>
          <a:p>
            <a:pPr marL="514350" indent="-514350" eaLnBrk="1" hangingPunct="1">
              <a:lnSpc>
                <a:spcPts val="4900"/>
              </a:lnSpc>
              <a:buFont typeface="+mj-lt"/>
              <a:buAutoNum type="arabicPeriod"/>
              <a:defRPr/>
            </a:pPr>
            <a:r>
              <a:rPr lang="zh-CN" altLang="en-US" sz="2400" kern="0" dirty="0">
                <a:solidFill>
                  <a:srgbClr val="002060"/>
                </a:solidFill>
                <a:latin typeface="微软雅黑 Light" panose="020B0502040204020203" pitchFamily="34" charset="-122"/>
                <a:ea typeface="微软雅黑 Light" panose="020B0502040204020203" pitchFamily="34" charset="-122"/>
              </a:rPr>
              <a:t>学会多项式插值</a:t>
            </a:r>
            <a:r>
              <a:rPr lang="en-US" altLang="zh-CN" sz="2400" kern="0" dirty="0">
                <a:solidFill>
                  <a:srgbClr val="FF0000"/>
                </a:solidFill>
                <a:latin typeface="微软雅黑 Light" panose="020B0502040204020203" pitchFamily="34" charset="-122"/>
                <a:ea typeface="微软雅黑 Light" panose="020B0502040204020203" pitchFamily="34" charset="-122"/>
              </a:rPr>
              <a:t>interp1</a:t>
            </a:r>
            <a:r>
              <a:rPr lang="zh-CN" altLang="en-US" sz="2400" kern="0" dirty="0">
                <a:solidFill>
                  <a:srgbClr val="002060"/>
                </a:solidFill>
                <a:latin typeface="微软雅黑 Light" panose="020B0502040204020203" pitchFamily="34" charset="-122"/>
                <a:ea typeface="微软雅黑 Light" panose="020B0502040204020203" pitchFamily="34" charset="-122"/>
              </a:rPr>
              <a:t>，特别是三次样条插值</a:t>
            </a:r>
            <a:r>
              <a:rPr lang="en-US" altLang="zh-CN" sz="2400" kern="0" dirty="0">
                <a:solidFill>
                  <a:srgbClr val="FF0000"/>
                </a:solidFill>
                <a:latin typeface="微软雅黑 Light" panose="020B0502040204020203" pitchFamily="34" charset="-122"/>
                <a:ea typeface="微软雅黑 Light" panose="020B0502040204020203" pitchFamily="34" charset="-122"/>
              </a:rPr>
              <a:t>spline</a:t>
            </a:r>
          </a:p>
          <a:p>
            <a:pPr marL="514350" indent="-514350" eaLnBrk="1" hangingPunct="1">
              <a:lnSpc>
                <a:spcPts val="4900"/>
              </a:lnSpc>
              <a:buFont typeface="+mj-lt"/>
              <a:buAutoNum type="arabicPeriod"/>
              <a:defRPr/>
            </a:pPr>
            <a:r>
              <a:rPr lang="zh-CN" altLang="en-US" sz="2400" kern="0" dirty="0">
                <a:solidFill>
                  <a:srgbClr val="002060"/>
                </a:solidFill>
                <a:latin typeface="微软雅黑 Light" panose="020B0502040204020203" pitchFamily="34" charset="-122"/>
                <a:ea typeface="微软雅黑 Light" panose="020B0502040204020203" pitchFamily="34" charset="-122"/>
              </a:rPr>
              <a:t>了解曲线拟合和插值的区别</a:t>
            </a:r>
            <a:endParaRPr lang="zh-CN" altLang="en-US" sz="2400" kern="0" dirty="0">
              <a:solidFill>
                <a:srgbClr val="FF0000"/>
              </a:solidFill>
              <a:effectLst>
                <a:outerShdw blurRad="38100" dist="38100" dir="2700000" algn="tl">
                  <a:srgbClr val="000000">
                    <a:alpha val="43137"/>
                  </a:srgbClr>
                </a:outerShdw>
              </a:effectLst>
              <a:latin typeface="微软雅黑 Light" panose="020B0502040204020203" pitchFamily="34" charset="-122"/>
              <a:ea typeface="微软雅黑 Light" panose="020B0502040204020203" pitchFamily="34" charset="-122"/>
            </a:endParaRPr>
          </a:p>
        </p:txBody>
      </p:sp>
      <p:sp>
        <p:nvSpPr>
          <p:cNvPr id="5" name="矩形 1"/>
          <p:cNvSpPr txBox="1">
            <a:spLocks noChangeArrowheads="1"/>
          </p:cNvSpPr>
          <p:nvPr/>
        </p:nvSpPr>
        <p:spPr bwMode="auto">
          <a:xfrm>
            <a:off x="150869" y="816939"/>
            <a:ext cx="3775393" cy="480131"/>
          </a:xfrm>
          <a:prstGeom prst="rect">
            <a:avLst/>
          </a:prstGeom>
          <a:solidFill>
            <a:schemeClr val="bg1"/>
          </a:solidFill>
          <a:ln w="9525">
            <a:noFill/>
            <a:miter lim="800000"/>
          </a:ln>
        </p:spPr>
        <p:txBody>
          <a:bodyPr wrap="none">
            <a:spAutoFit/>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lnSpc>
                <a:spcPct val="90000"/>
              </a:lnSpc>
              <a:buFont typeface="Arial" panose="020B0604020202020204" pitchFamily="34" charset="0"/>
              <a:buNone/>
            </a:pPr>
            <a:r>
              <a:rPr lang="zh-CN" altLang="en-US" sz="2800" kern="100" dirty="0">
                <a:solidFill>
                  <a:srgbClr val="002060"/>
                </a:solidFill>
                <a:latin typeface="微软雅黑" panose="020B0503020204020204" pitchFamily="34" charset="-122"/>
                <a:ea typeface="微软雅黑" panose="020B0503020204020204" pitchFamily="34" charset="-122"/>
              </a:rPr>
              <a:t>曲线拟合插值学习目标</a:t>
            </a:r>
            <a:endParaRPr lang="en-US" altLang="zh-CN" sz="2800" kern="100" dirty="0">
              <a:solidFill>
                <a:srgbClr val="002060"/>
              </a:solidFill>
              <a:latin typeface="微软雅黑" panose="020B0503020204020204" pitchFamily="34" charset="-122"/>
              <a:ea typeface="微软雅黑" panose="020B0503020204020204" pitchFamily="34" charset="-122"/>
            </a:endParaRPr>
          </a:p>
        </p:txBody>
      </p:sp>
      <p:sp>
        <p:nvSpPr>
          <p:cNvPr id="6" name="AutoShape 13"/>
          <p:cNvSpPr/>
          <p:nvPr/>
        </p:nvSpPr>
        <p:spPr bwMode="auto">
          <a:xfrm>
            <a:off x="4889078" y="734491"/>
            <a:ext cx="4168920" cy="570970"/>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r>
              <a:rPr lang="zh-CN" altLang="en-US" sz="2000" b="1" dirty="0">
                <a:solidFill>
                  <a:srgbClr val="FFFF00"/>
                </a:solidFill>
                <a:latin typeface="微软雅黑 Light" panose="020B0502040204020203" pitchFamily="34" charset="-122"/>
                <a:ea typeface="微软雅黑 Light" panose="020B0502040204020203" pitchFamily="34" charset="-122"/>
              </a:rPr>
              <a:t>掌握数据建模的方法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p:nvPr/>
        </p:nvSpPr>
        <p:spPr bwMode="auto">
          <a:xfrm>
            <a:off x="291572" y="2543445"/>
            <a:ext cx="5279851" cy="756285"/>
          </a:xfrm>
          <a:prstGeom prst="rect">
            <a:avLst/>
          </a:prstGeom>
          <a:noFill/>
          <a:ln w="0">
            <a:noFill/>
            <a:miter lim="800000"/>
          </a:ln>
        </p:spPr>
        <p:txBody>
          <a:bodyPr vert="horz" wrap="square" lIns="91440" tIns="45720" rIns="91440" bIns="45720" numCol="1" anchor="b" anchorCtr="0" compatLnSpc="1">
            <a:noAutofit/>
          </a:bodyPr>
          <a:lstStyle>
            <a:lvl1pPr algn="l" rtl="0" eaLnBrk="0" fontAlgn="base" hangingPunct="0">
              <a:lnSpc>
                <a:spcPct val="85000"/>
              </a:lnSpc>
              <a:spcBef>
                <a:spcPct val="0"/>
              </a:spcBef>
              <a:spcAft>
                <a:spcPct val="0"/>
              </a:spcAft>
              <a:defRPr sz="3400" b="1">
                <a:solidFill>
                  <a:srgbClr val="002E5C"/>
                </a:solidFill>
                <a:latin typeface="+mj-lt"/>
                <a:ea typeface="+mj-ea"/>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pPr>
              <a:spcBef>
                <a:spcPts val="0"/>
              </a:spcBef>
              <a:spcAft>
                <a:spcPts val="0"/>
              </a:spcAft>
            </a:pPr>
            <a:r>
              <a:rPr lang="en-US" altLang="ko-KR" sz="3000" kern="1200" dirty="0" err="1">
                <a:solidFill>
                  <a:srgbClr val="0070C0"/>
                </a:solidFill>
                <a:latin typeface="微软雅黑 Light" panose="020B0502040204020203" pitchFamily="34" charset="-122"/>
                <a:ea typeface="微软雅黑 Light" panose="020B0502040204020203" pitchFamily="34" charset="-122"/>
                <a:cs typeface="+mn-cs"/>
              </a:rPr>
              <a:t>多项式运算</a:t>
            </a:r>
            <a:r>
              <a:rPr lang="en-US" altLang="ko-KR" sz="3200" kern="1200" dirty="0">
                <a:solidFill>
                  <a:srgbClr val="0070C0"/>
                </a:solidFill>
                <a:latin typeface="微软雅黑 Light" panose="020B0502040204020203" pitchFamily="34" charset="-122"/>
                <a:ea typeface="微软雅黑 Light" panose="020B0502040204020203" pitchFamily="34" charset="-122"/>
                <a:cs typeface="+mn-cs"/>
              </a:rPr>
              <a:t>  </a:t>
            </a:r>
            <a:endParaRPr lang="ko-KR" altLang="en-US" sz="3200" kern="1200" dirty="0">
              <a:solidFill>
                <a:srgbClr val="0070C0"/>
              </a:solidFill>
              <a:latin typeface="微软雅黑 Light" panose="020B0502040204020203" pitchFamily="34" charset="-122"/>
              <a:ea typeface="隶书" panose="02010509060101010101" pitchFamily="49" charset="-122"/>
              <a:cs typeface="+mn-cs"/>
            </a:endParaRPr>
          </a:p>
        </p:txBody>
      </p:sp>
      <p:sp>
        <p:nvSpPr>
          <p:cNvPr id="5" name="矩形 4"/>
          <p:cNvSpPr/>
          <p:nvPr/>
        </p:nvSpPr>
        <p:spPr>
          <a:xfrm>
            <a:off x="395536" y="1628222"/>
            <a:ext cx="8448062" cy="961289"/>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t="100000" r="100000"/>
            </a:path>
            <a:tileRect l="-100000" b="-100000"/>
          </a:gradFill>
          <a:ln w="57150">
            <a:noFill/>
          </a:ln>
        </p:spPr>
        <p:txBody>
          <a:bodyPr wrap="square">
            <a:spAutoFit/>
          </a:bodyPr>
          <a:lstStyle/>
          <a:p>
            <a:pPr defTabSz="63500" eaLnBrk="0">
              <a:lnSpc>
                <a:spcPct val="150000"/>
              </a:lnSpc>
              <a:spcBef>
                <a:spcPts val="0"/>
              </a:spcBef>
              <a:spcAft>
                <a:spcPts val="0"/>
              </a:spcAft>
              <a:buFont typeface="+mj-ea"/>
              <a:buAutoNum type="circleNumDbPlain"/>
            </a:pPr>
            <a:r>
              <a:rPr lang="zh-CN" altLang="en-US" sz="2000" dirty="0">
                <a:solidFill>
                  <a:srgbClr val="002060"/>
                </a:solidFill>
                <a:latin typeface="微软雅黑" panose="020B0503020204020204" pitchFamily="34" charset="-122"/>
                <a:ea typeface="微软雅黑" panose="020B0503020204020204" pitchFamily="34" charset="-122"/>
              </a:rPr>
              <a:t>  一些复杂函数难以控制，常用简单多项式函数进行逼近</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defTabSz="63500" eaLnBrk="0">
              <a:lnSpc>
                <a:spcPct val="150000"/>
              </a:lnSpc>
              <a:spcBef>
                <a:spcPts val="0"/>
              </a:spcBef>
              <a:spcAft>
                <a:spcPts val="0"/>
              </a:spcAft>
              <a:buFont typeface="+mj-ea"/>
              <a:buAutoNum type="circleNumDbPlain"/>
            </a:pPr>
            <a:r>
              <a:rPr lang="zh-CN" altLang="en-US" sz="2000" dirty="0">
                <a:solidFill>
                  <a:srgbClr val="002060"/>
                </a:solidFill>
                <a:latin typeface="微软雅黑" panose="020B0503020204020204" pitchFamily="34" charset="-122"/>
                <a:ea typeface="微软雅黑" panose="020B0503020204020204" pitchFamily="34" charset="-122"/>
              </a:rPr>
              <a:t>   实际数据常常拟合成简单多项式函数</a:t>
            </a:r>
            <a:endParaRPr lang="en-US" altLang="zh-CN" sz="2000" dirty="0">
              <a:solidFill>
                <a:srgbClr val="002060"/>
              </a:solidFill>
              <a:latin typeface="微软雅黑" panose="020B0503020204020204" pitchFamily="34" charset="-122"/>
              <a:ea typeface="微软雅黑" panose="020B0503020204020204" pitchFamily="34" charset="-122"/>
            </a:endParaRPr>
          </a:p>
        </p:txBody>
      </p:sp>
      <p:sp>
        <p:nvSpPr>
          <p:cNvPr id="6" name="矩形 5"/>
          <p:cNvSpPr/>
          <p:nvPr/>
        </p:nvSpPr>
        <p:spPr>
          <a:xfrm>
            <a:off x="323528" y="3919686"/>
            <a:ext cx="4348911" cy="596317"/>
          </a:xfrm>
          <a:prstGeom prst="rect">
            <a:avLst/>
          </a:prstGeom>
        </p:spPr>
        <p:txBody>
          <a:bodyPr wrap="square">
            <a:spAutoFit/>
          </a:bodyPr>
          <a:lstStyle/>
          <a:p>
            <a:pPr marL="457200" lvl="0" indent="-457200" defTabSz="63500" eaLnBrk="0" hangingPunct="0">
              <a:lnSpc>
                <a:spcPct val="125000"/>
              </a:lnSpc>
              <a:spcBef>
                <a:spcPts val="700"/>
              </a:spcBef>
              <a:spcAft>
                <a:spcPts val="0"/>
              </a:spcAft>
              <a:buFont typeface="Wingdings" panose="05000000000000000000" pitchFamily="2" charset="2"/>
              <a:buChar char="Ø"/>
            </a:pPr>
            <a:r>
              <a:rPr lang="en-US" altLang="ko-KR" sz="2800" b="1" kern="0" dirty="0" err="1">
                <a:solidFill>
                  <a:srgbClr val="0070C0"/>
                </a:solidFill>
                <a:latin typeface="微软雅黑 Light" panose="020B0502040204020203" pitchFamily="34" charset="-122"/>
                <a:ea typeface="微软雅黑 Light" panose="020B0502040204020203" pitchFamily="34" charset="-122"/>
                <a:sym typeface="Arial" panose="020B0604020202020204" pitchFamily="34" charset="0"/>
              </a:rPr>
              <a:t>多项式运算</a:t>
            </a:r>
            <a:endParaRPr lang="ko-KR" altLang="en-US" sz="2800" b="1" kern="0" dirty="0">
              <a:solidFill>
                <a:srgbClr val="0070C0"/>
              </a:solidFill>
              <a:latin typeface="微软雅黑 Light" panose="020B0502040204020203" pitchFamily="34" charset="-122"/>
              <a:sym typeface="Arial" panose="020B0604020202020204" pitchFamily="34" charset="0"/>
            </a:endParaRPr>
          </a:p>
        </p:txBody>
      </p:sp>
      <p:sp>
        <p:nvSpPr>
          <p:cNvPr id="8" name="矩形 7"/>
          <p:cNvSpPr/>
          <p:nvPr/>
        </p:nvSpPr>
        <p:spPr>
          <a:xfrm>
            <a:off x="324091" y="3291833"/>
            <a:ext cx="4271604" cy="596317"/>
          </a:xfrm>
          <a:prstGeom prst="rect">
            <a:avLst/>
          </a:prstGeom>
        </p:spPr>
        <p:txBody>
          <a:bodyPr wrap="square">
            <a:spAutoFit/>
          </a:bodyPr>
          <a:lstStyle/>
          <a:p>
            <a:pPr marL="457200" lvl="0" indent="-457200" defTabSz="63500" eaLnBrk="0" hangingPunct="0">
              <a:lnSpc>
                <a:spcPct val="125000"/>
              </a:lnSpc>
              <a:spcBef>
                <a:spcPts val="700"/>
              </a:spcBef>
              <a:spcAft>
                <a:spcPts val="0"/>
              </a:spcAft>
              <a:buFont typeface="Wingdings" panose="05000000000000000000" pitchFamily="2" charset="2"/>
              <a:buChar char="Ø"/>
            </a:pPr>
            <a:r>
              <a:rPr lang="en-US" altLang="ko-KR" sz="2800" b="1" dirty="0" err="1">
                <a:solidFill>
                  <a:srgbClr val="0070C0"/>
                </a:solidFill>
                <a:latin typeface="微软雅黑 Light" panose="020B0502040204020203" pitchFamily="34" charset="-122"/>
                <a:ea typeface="微软雅黑 Light" panose="020B0502040204020203" pitchFamily="34" charset="-122"/>
              </a:rPr>
              <a:t>多项式表示</a:t>
            </a:r>
            <a:r>
              <a:rPr lang="zh-CN" altLang="en-US" sz="2800" b="1" dirty="0">
                <a:solidFill>
                  <a:srgbClr val="0070C0"/>
                </a:solidFill>
                <a:latin typeface="微软雅黑 Light" panose="020B0502040204020203" pitchFamily="34" charset="-122"/>
                <a:ea typeface="微软雅黑 Light" panose="020B0502040204020203" pitchFamily="34" charset="-122"/>
              </a:rPr>
              <a:t>方</a:t>
            </a:r>
            <a:r>
              <a:rPr lang="en-US" altLang="ko-KR" sz="2800" b="1" dirty="0">
                <a:solidFill>
                  <a:srgbClr val="0070C0"/>
                </a:solidFill>
                <a:latin typeface="微软雅黑 Light" panose="020B0502040204020203" pitchFamily="34" charset="-122"/>
                <a:ea typeface="微软雅黑 Light" panose="020B0502040204020203" pitchFamily="34" charset="-122"/>
              </a:rPr>
              <a:t>法 </a:t>
            </a:r>
            <a:endParaRPr lang="ko-KR" altLang="en-US" sz="2800" b="1" kern="0" dirty="0">
              <a:solidFill>
                <a:srgbClr val="0070C0"/>
              </a:solidFill>
              <a:latin typeface="微软雅黑 Light" panose="020B0502040204020203" pitchFamily="34" charset="-122"/>
              <a:sym typeface="Arial" panose="020B0604020202020204" pitchFamily="34" charset="0"/>
            </a:endParaRPr>
          </a:p>
        </p:txBody>
      </p:sp>
      <p:sp>
        <p:nvSpPr>
          <p:cNvPr id="9" name="矩形 8"/>
          <p:cNvSpPr/>
          <p:nvPr/>
        </p:nvSpPr>
        <p:spPr>
          <a:xfrm>
            <a:off x="395536" y="708273"/>
            <a:ext cx="8568952" cy="369332"/>
          </a:xfrm>
          <a:prstGeom prst="rect">
            <a:avLst/>
          </a:prstGeom>
          <a:solidFill>
            <a:schemeClr val="bg1"/>
          </a:solid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多项式是最常见且最简单的便于控制的函数运算</a:t>
            </a:r>
            <a:r>
              <a:rPr lang="en-US" altLang="zh-CN" b="1" dirty="0">
                <a:solidFill>
                  <a:srgbClr val="0070C0"/>
                </a:solidFill>
                <a:latin typeface="微软雅黑" panose="020B0503020204020204" pitchFamily="34" charset="-122"/>
                <a:ea typeface="微软雅黑" panose="020B0503020204020204" pitchFamily="34" charset="-122"/>
                <a:cs typeface="Arial" panose="020B0604020202020204" pitchFamily="34" charset="0"/>
              </a:rPr>
              <a:t> </a:t>
            </a:r>
            <a:endParaRPr lang="zh-CN" altLang="en-US" b="1" dirty="0">
              <a:solidFill>
                <a:srgbClr val="0070C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0" name="标注: 线形(带边框和强调线) 9"/>
          <p:cNvSpPr/>
          <p:nvPr/>
        </p:nvSpPr>
        <p:spPr>
          <a:xfrm>
            <a:off x="5849139" y="2778166"/>
            <a:ext cx="3003289" cy="1715021"/>
          </a:xfrm>
          <a:prstGeom prst="accentBorderCallout1">
            <a:avLst>
              <a:gd name="adj1" fmla="val 18750"/>
              <a:gd name="adj2" fmla="val -8333"/>
              <a:gd name="adj3" fmla="val 79955"/>
              <a:gd name="adj4" fmla="val -77911"/>
            </a:avLst>
          </a:prstGeom>
          <a:solidFill>
            <a:srgbClr val="0070C0"/>
          </a:solidFill>
          <a:ln w="38100" cap="flat" cmpd="sng">
            <a:solidFill>
              <a:srgbClr val="FFFF00"/>
            </a:solidFill>
          </a:ln>
          <a:scene3d>
            <a:camera prst="orthographicFront">
              <a:rot lat="1200000" lon="600000" rev="0"/>
            </a:camera>
            <a:lightRig rig="threePt" dir="t">
              <a:rot lat="0" lon="0" rev="1200000"/>
            </a:lightRig>
          </a:scene3d>
          <a:sp3d>
            <a:bevelT w="63500" h="25400"/>
          </a:sp3d>
        </p:spPr>
        <p:style>
          <a:lnRef idx="0">
            <a:schemeClr val="accent2"/>
          </a:lnRef>
          <a:fillRef idx="3">
            <a:schemeClr val="accent2"/>
          </a:fillRef>
          <a:effectRef idx="3">
            <a:schemeClr val="accent2"/>
          </a:effectRef>
          <a:fontRef idx="minor">
            <a:schemeClr val="lt1"/>
          </a:fontRef>
        </p:style>
        <p:txBody>
          <a:bodyPr vert="horz" wrap="square" lIns="91440" tIns="45720" rIns="91440" bIns="45720" numCol="1" anchor="t">
            <a:spAutoFit/>
          </a:bodyPr>
          <a:lstStyle/>
          <a:p>
            <a:pPr marL="342900" indent="-342900" algn="l" defTabSz="63500" eaLnBrk="0" fontAlgn="base" latinLnBrk="0">
              <a:lnSpc>
                <a:spcPct val="125000"/>
              </a:lnSpc>
              <a:spcBef>
                <a:spcPts val="700"/>
              </a:spcBef>
              <a:spcAft>
                <a:spcPts val="0"/>
              </a:spcAft>
              <a:buFontTx/>
              <a:buNone/>
            </a:pPr>
            <a:r>
              <a:rPr lang="en-US" altLang="ko-KR" b="1" cap="none" dirty="0" err="1">
                <a:solidFill>
                  <a:srgbClr val="FFFF00"/>
                </a:solidFill>
                <a:latin typeface="微软雅黑" panose="020B0503020204020204" pitchFamily="34" charset="-122"/>
                <a:ea typeface="微软雅黑" panose="020B0503020204020204" pitchFamily="34" charset="-122"/>
              </a:rPr>
              <a:t>多项式求根</a:t>
            </a:r>
            <a:r>
              <a:rPr lang="en-US" altLang="zh-CN" b="1" cap="none" dirty="0" err="1">
                <a:solidFill>
                  <a:srgbClr val="FFFF00"/>
                </a:solidFill>
                <a:latin typeface="微软雅黑" panose="020B0503020204020204" pitchFamily="34" charset="-122"/>
                <a:ea typeface="微软雅黑" panose="020B0503020204020204" pitchFamily="34" charset="-122"/>
              </a:rPr>
              <a:t>roots</a:t>
            </a:r>
            <a:endParaRPr lang="ko-KR" altLang="en-US" b="1" cap="none" dirty="0">
              <a:solidFill>
                <a:srgbClr val="FFFF00"/>
              </a:solidFill>
              <a:latin typeface="微软雅黑" panose="020B0503020204020204" pitchFamily="34" charset="-122"/>
              <a:ea typeface="微软雅黑" panose="020B0503020204020204" pitchFamily="34" charset="-122"/>
            </a:endParaRPr>
          </a:p>
          <a:p>
            <a:pPr marL="342900" indent="-342900" algn="l" defTabSz="63500" eaLnBrk="0" fontAlgn="base" latinLnBrk="0">
              <a:lnSpc>
                <a:spcPct val="125000"/>
              </a:lnSpc>
              <a:spcBef>
                <a:spcPts val="700"/>
              </a:spcBef>
              <a:spcAft>
                <a:spcPts val="0"/>
              </a:spcAft>
              <a:buFontTx/>
              <a:buNone/>
            </a:pPr>
            <a:r>
              <a:rPr lang="en-US" altLang="ko-KR" b="1" cap="none" dirty="0" err="1">
                <a:solidFill>
                  <a:srgbClr val="FFFF00"/>
                </a:solidFill>
                <a:latin typeface="微软雅黑" panose="020B0503020204020204" pitchFamily="34" charset="-122"/>
                <a:ea typeface="微软雅黑" panose="020B0503020204020204" pitchFamily="34" charset="-122"/>
              </a:rPr>
              <a:t>多项式求值polyval</a:t>
            </a:r>
            <a:endParaRPr lang="en-US" altLang="ko-KR" b="1" cap="none" dirty="0">
              <a:solidFill>
                <a:srgbClr val="FFFF00"/>
              </a:solidFill>
              <a:latin typeface="微软雅黑" panose="020B0503020204020204" pitchFamily="34" charset="-122"/>
              <a:ea typeface="微软雅黑" panose="020B0503020204020204" pitchFamily="34" charset="-122"/>
            </a:endParaRPr>
          </a:p>
          <a:p>
            <a:pPr marL="342900" indent="-342900" algn="l" defTabSz="63500" eaLnBrk="0" fontAlgn="base" latinLnBrk="0">
              <a:lnSpc>
                <a:spcPct val="125000"/>
              </a:lnSpc>
              <a:spcBef>
                <a:spcPts val="700"/>
              </a:spcBef>
              <a:spcAft>
                <a:spcPts val="0"/>
              </a:spcAft>
              <a:buFontTx/>
              <a:buNone/>
            </a:pPr>
            <a:r>
              <a:rPr lang="en-US" altLang="ko-KR" b="1" cap="none" dirty="0" err="1">
                <a:solidFill>
                  <a:srgbClr val="FFFF00"/>
                </a:solidFill>
                <a:latin typeface="微软雅黑" panose="020B0503020204020204" pitchFamily="34" charset="-122"/>
                <a:ea typeface="微软雅黑" panose="020B0503020204020204" pitchFamily="34" charset="-122"/>
              </a:rPr>
              <a:t>多项式</a:t>
            </a:r>
            <a:r>
              <a:rPr lang="zh-CN" altLang="en-US" b="1" cap="none" dirty="0">
                <a:solidFill>
                  <a:srgbClr val="FFFF00"/>
                </a:solidFill>
                <a:latin typeface="微软雅黑" panose="020B0503020204020204" pitchFamily="34" charset="-122"/>
                <a:ea typeface="微软雅黑" panose="020B0503020204020204" pitchFamily="34" charset="-122"/>
              </a:rPr>
              <a:t>加减乘除</a:t>
            </a:r>
            <a:r>
              <a:rPr lang="en-US" altLang="ko-KR" b="1" cap="none" dirty="0" err="1">
                <a:solidFill>
                  <a:srgbClr val="FFFF00"/>
                </a:solidFill>
                <a:latin typeface="微软雅黑" panose="020B0503020204020204" pitchFamily="34" charset="-122"/>
                <a:ea typeface="微软雅黑" panose="020B0503020204020204" pitchFamily="34" charset="-122"/>
              </a:rPr>
              <a:t>四则运算</a:t>
            </a:r>
            <a:endParaRPr lang="en-US" altLang="ko-KR" b="1" dirty="0">
              <a:solidFill>
                <a:srgbClr val="FFFF00"/>
              </a:solidFill>
              <a:latin typeface="微软雅黑" panose="020B0503020204020204" pitchFamily="34" charset="-122"/>
              <a:ea typeface="微软雅黑" panose="020B0503020204020204" pitchFamily="34" charset="-122"/>
            </a:endParaRPr>
          </a:p>
          <a:p>
            <a:pPr marL="342900" indent="-342900" algn="l" defTabSz="63500" eaLnBrk="0" fontAlgn="base" latinLnBrk="0">
              <a:lnSpc>
                <a:spcPct val="125000"/>
              </a:lnSpc>
              <a:spcBef>
                <a:spcPts val="700"/>
              </a:spcBef>
              <a:spcAft>
                <a:spcPts val="0"/>
              </a:spcAft>
              <a:buFontTx/>
              <a:buNone/>
            </a:pPr>
            <a:r>
              <a:rPr lang="en-US" altLang="ko-KR" b="1" cap="none" dirty="0" err="1">
                <a:solidFill>
                  <a:srgbClr val="FFFF00"/>
                </a:solidFill>
                <a:latin typeface="微软雅黑" panose="020B0503020204020204" pitchFamily="34" charset="-122"/>
                <a:ea typeface="微软雅黑" panose="020B0503020204020204" pitchFamily="34" charset="-122"/>
              </a:rPr>
              <a:t>多项式的微积分</a:t>
            </a:r>
            <a:endParaRPr lang="zh-CN" altLang="en-US" b="1" dirty="0">
              <a:solidFill>
                <a:srgbClr val="FFFF00"/>
              </a:solidFill>
              <a:latin typeface="微软雅黑" panose="020B0503020204020204" pitchFamily="34" charset="-122"/>
              <a:ea typeface="微软雅黑" panose="020B0503020204020204" pitchFamily="34" charset="-122"/>
            </a:endParaRPr>
          </a:p>
        </p:txBody>
      </p:sp>
      <p:sp>
        <p:nvSpPr>
          <p:cNvPr id="11" name="标题 1"/>
          <p:cNvSpPr>
            <a:spLocks noGrp="1"/>
          </p:cNvSpPr>
          <p:nvPr>
            <p:ph type="title"/>
          </p:nvPr>
        </p:nvSpPr>
        <p:spPr>
          <a:xfrm>
            <a:off x="1115616" y="175796"/>
            <a:ext cx="6557957" cy="438150"/>
          </a:xfrm>
        </p:spPr>
        <p:txBody>
          <a:bodyPr/>
          <a:lstStyle/>
          <a:p>
            <a:r>
              <a:rPr lang="en-US" altLang="zh-CN" dirty="0"/>
              <a:t>§5.1</a:t>
            </a:r>
            <a:r>
              <a:rPr lang="zh-CN" altLang="en-US" dirty="0"/>
              <a:t>多项式</a:t>
            </a:r>
            <a:r>
              <a:rPr lang="en-US" altLang="zh-CN" sz="3200" kern="0" dirty="0">
                <a:solidFill>
                  <a:srgbClr val="FF0000"/>
                </a:solidFill>
              </a:rPr>
              <a:t>——</a:t>
            </a:r>
            <a:r>
              <a:rPr lang="zh-CN" altLang="en-US" sz="3200" dirty="0">
                <a:solidFill>
                  <a:srgbClr val="FF0000"/>
                </a:solidFill>
                <a:latin typeface="华文楷体" panose="02010600040101010101" pitchFamily="2" charset="-122"/>
                <a:ea typeface="华文楷体" panose="02010600040101010101" pitchFamily="2" charset="-122"/>
              </a:rPr>
              <a:t>最常见最简单</a:t>
            </a:r>
            <a:r>
              <a:rPr lang="zh-CN" altLang="en-US" dirty="0">
                <a:solidFill>
                  <a:srgbClr val="FF0000"/>
                </a:solidFill>
              </a:rPr>
              <a:t>连续</a:t>
            </a:r>
            <a:r>
              <a:rPr lang="zh-CN" altLang="en-US" sz="3200" dirty="0">
                <a:solidFill>
                  <a:srgbClr val="FF0000"/>
                </a:solidFill>
                <a:latin typeface="华文楷体" panose="02010600040101010101" pitchFamily="2" charset="-122"/>
                <a:ea typeface="华文楷体" panose="02010600040101010101" pitchFamily="2" charset="-122"/>
              </a:rPr>
              <a:t>函数 </a:t>
            </a:r>
            <a:endParaRPr lang="zh-CN" altLang="en-US" dirty="0"/>
          </a:p>
        </p:txBody>
      </p:sp>
      <mc:AlternateContent xmlns:mc="http://schemas.openxmlformats.org/markup-compatibility/2006" xmlns:a14="http://schemas.microsoft.com/office/drawing/2010/main">
        <mc:Choice Requires="a14">
          <p:sp>
            <p:nvSpPr>
              <p:cNvPr id="13" name="矩形 12"/>
              <p:cNvSpPr/>
              <p:nvPr/>
            </p:nvSpPr>
            <p:spPr>
              <a:xfrm>
                <a:off x="395536" y="1142662"/>
                <a:ext cx="8465324" cy="347211"/>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14:m>
                  <m:oMathPara xmlns:m="http://schemas.openxmlformats.org/officeDocument/2006/math">
                    <m:oMathParaPr>
                      <m:jc m:val="centerGroup"/>
                    </m:oMathParaPr>
                    <m:oMath xmlns:m="http://schemas.openxmlformats.org/officeDocument/2006/math">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𝒑</m:t>
                      </m:r>
                      <m:d>
                        <m:d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d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e>
                      </m:d>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sSup>
                        <m:sSup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pPr>
                        <m:e>
                          <m:sSub>
                            <m:sSub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bPr>
                            <m:e>
                              <m:r>
                                <m:rPr>
                                  <m:sty m:val="p"/>
                                </m:rP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p</m:t>
                              </m:r>
                            </m:e>
                            <m: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𝟏</m:t>
                              </m:r>
                            </m:sub>
                          </m:s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e>
                        <m: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𝒏</m:t>
                          </m:r>
                        </m:sup>
                      </m:s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sSup>
                        <m:sSup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pPr>
                        <m:e>
                          <m:sSub>
                            <m:sSub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𝒑</m:t>
                              </m:r>
                            </m:e>
                            <m: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𝟐</m:t>
                              </m:r>
                            </m:sub>
                          </m:s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e>
                        <m: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𝒏</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𝟏</m:t>
                          </m:r>
                        </m:sup>
                      </m:s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sSup>
                        <m:sSup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pPr>
                        <m:e>
                          <m:sSub>
                            <m:sSub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𝒑</m:t>
                              </m:r>
                            </m:e>
                            <m: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𝟑</m:t>
                              </m:r>
                            </m:sub>
                          </m:s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e>
                        <m: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𝒏</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𝟐</m:t>
                          </m:r>
                        </m:sup>
                      </m:s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sSub>
                        <m:sSub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𝒑</m:t>
                          </m:r>
                        </m:e>
                        <m: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𝒏</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𝟏</m:t>
                          </m:r>
                        </m:sub>
                      </m:s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𝟐</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sSub>
                        <m:sSub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𝒑</m:t>
                          </m:r>
                        </m:e>
                        <m: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𝒏</m:t>
                          </m:r>
                        </m:sub>
                      </m:s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sSub>
                        <m:sSub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b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𝒑</m:t>
                          </m:r>
                        </m:e>
                        <m:sub>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𝒏</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m:t>
                          </m:r>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𝟏</m:t>
                          </m:r>
                        </m:sub>
                      </m:sSub>
                      <m:sSup>
                        <m:sSupPr>
                          <m:ctrlPr>
                            <a:rPr lang="zh-CN" altLang="zh-CN" b="1" i="1" kern="0">
                              <a:solidFill>
                                <a:schemeClr val="bg1"/>
                              </a:solidFill>
                              <a:effectLst>
                                <a:outerShdw blurRad="38100" dist="38100" dir="2700000" algn="tl">
                                  <a:srgbClr val="000000">
                                    <a:alpha val="43137"/>
                                  </a:srgbClr>
                                </a:outerShdw>
                              </a:effectLst>
                              <a:latin typeface="Cambria Math" panose="02040503050406030204" pitchFamily="18" charset="0"/>
                            </a:rPr>
                          </m:ctrlPr>
                        </m:sSupPr>
                        <m:e>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𝒙</m:t>
                          </m:r>
                        </m:e>
                        <m:sup>
                          <m:r>
                            <a:rPr lang="en-US" altLang="zh-CN" b="1" kern="0">
                              <a:solidFill>
                                <a:schemeClr val="bg1"/>
                              </a:solidFill>
                              <a:effectLst>
                                <a:outerShdw blurRad="38100" dist="38100" dir="2700000" algn="tl">
                                  <a:srgbClr val="000000">
                                    <a:alpha val="43137"/>
                                  </a:srgbClr>
                                </a:outerShdw>
                              </a:effectLst>
                              <a:latin typeface="Cambria Math" panose="02040503050406030204" pitchFamily="18" charset="0"/>
                            </a:rPr>
                            <m:t>𝟎</m:t>
                          </m:r>
                        </m:sup>
                      </m:sSup>
                    </m:oMath>
                  </m:oMathPara>
                </a14:m>
                <a:endParaRPr lang="zh-CN" altLang="zh-CN"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13" name="矩形 12"/>
              <p:cNvSpPr>
                <a:spLocks noRot="1" noChangeAspect="1" noMove="1" noResize="1" noEditPoints="1" noAdjustHandles="1" noChangeArrowheads="1" noChangeShapeType="1" noTextEdit="1"/>
              </p:cNvSpPr>
              <p:nvPr/>
            </p:nvSpPr>
            <p:spPr>
              <a:xfrm>
                <a:off x="395536" y="1142662"/>
                <a:ext cx="8465324" cy="347211"/>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26002" y="184599"/>
            <a:ext cx="6557957" cy="438150"/>
          </a:xfrm>
        </p:spPr>
        <p:txBody>
          <a:bodyPr/>
          <a:lstStyle/>
          <a:p>
            <a:r>
              <a:rPr lang="en-US" altLang="zh-CN" b="1" dirty="0"/>
              <a:t>§5.1</a:t>
            </a:r>
            <a:r>
              <a:rPr lang="zh-CN" altLang="en-US" b="1" dirty="0"/>
              <a:t>多项式</a:t>
            </a:r>
            <a:r>
              <a:rPr lang="en-US" altLang="zh-CN" sz="3200" b="1" kern="0" dirty="0">
                <a:solidFill>
                  <a:srgbClr val="FF0000"/>
                </a:solidFill>
              </a:rPr>
              <a:t>——</a:t>
            </a:r>
            <a:r>
              <a:rPr lang="zh-CN" altLang="en-US" sz="3200" b="1" kern="0" dirty="0">
                <a:solidFill>
                  <a:srgbClr val="FF0000"/>
                </a:solidFill>
              </a:rPr>
              <a:t>多项式表示方法</a:t>
            </a:r>
            <a:endParaRPr lang="zh-CN" altLang="en-US" b="1" dirty="0"/>
          </a:p>
        </p:txBody>
      </p:sp>
      <p:sp>
        <p:nvSpPr>
          <p:cNvPr id="5" name="Rectangle 3"/>
          <p:cNvSpPr txBox="1"/>
          <p:nvPr/>
        </p:nvSpPr>
        <p:spPr bwMode="auto">
          <a:xfrm>
            <a:off x="217317" y="1468793"/>
            <a:ext cx="4658407" cy="430887"/>
          </a:xfrm>
          <a:prstGeom prst="rect">
            <a:avLst/>
          </a:prstGeom>
          <a:noFill/>
          <a:ln w="0">
            <a:noFill/>
            <a:miter lim="800000"/>
          </a:ln>
        </p:spPr>
        <p:txBody>
          <a:bodyPr vert="horz" wrap="square" lIns="91440" tIns="45720" rIns="91440" bIns="45720" numCol="1" anchor="t" anchorCtr="0" compatLnSpc="1">
            <a:spAutoFit/>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defTabSz="63500">
              <a:lnSpc>
                <a:spcPct val="100000"/>
              </a:lnSpc>
              <a:spcBef>
                <a:spcPts val="0"/>
              </a:spcBef>
              <a:spcAft>
                <a:spcPts val="0"/>
              </a:spcAft>
              <a:buFontTx/>
              <a:buNone/>
            </a:pPr>
            <a:r>
              <a:rPr lang="zh-CN" altLang="en-US" sz="2200" kern="0" dirty="0">
                <a:solidFill>
                  <a:srgbClr val="0070C0"/>
                </a:solidFill>
                <a:latin typeface="微软雅黑" panose="020B0503020204020204" pitchFamily="34" charset="-122"/>
                <a:ea typeface="微软雅黑" panose="020B0503020204020204" pitchFamily="34" charset="-122"/>
              </a:rPr>
              <a:t> 多项式函数的直接表示法：</a:t>
            </a:r>
            <a:endParaRPr lang="ko-KR" altLang="en-US" sz="2200" kern="0" dirty="0">
              <a:solidFill>
                <a:srgbClr val="0070C0"/>
              </a:solidFill>
              <a:latin typeface="微软雅黑" panose="020B0503020204020204" pitchFamily="34" charset="-122"/>
              <a:ea typeface="宋体" panose="02010600030101010101" pitchFamily="2" charset="-122"/>
            </a:endParaRPr>
          </a:p>
        </p:txBody>
      </p:sp>
      <p:sp>
        <p:nvSpPr>
          <p:cNvPr id="6" name="Text Box 5"/>
          <p:cNvSpPr txBox="1"/>
          <p:nvPr/>
        </p:nvSpPr>
        <p:spPr bwMode="auto">
          <a:xfrm>
            <a:off x="301280" y="806073"/>
            <a:ext cx="1638696" cy="400110"/>
          </a:xfrm>
          <a:prstGeom prst="homePlate">
            <a:avLst/>
          </a:prstGeom>
          <a:noFill/>
          <a:ln w="0">
            <a:noFill/>
          </a:ln>
          <a:effectLst>
            <a:outerShdw blurRad="44450" dist="27940" dir="5400000" algn="ctr">
              <a:srgbClr val="000000">
                <a:alpha val="31764"/>
              </a:srgbClr>
            </a:outerShdw>
          </a:effectLst>
          <a:scene3d>
            <a:camera prst="orthographicFront"/>
            <a:lightRig rig="balanced" dir="t">
              <a:rot lat="0" lon="0" rev="8700000"/>
            </a:lightRig>
          </a:scene3d>
          <a:sp3d>
            <a:bevelT w="190500" h="38100"/>
          </a:sp3d>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zh-CN" sz="2000" b="1" cap="none" dirty="0">
                <a:solidFill>
                  <a:schemeClr val="bg1"/>
                </a:solidFill>
                <a:highlight>
                  <a:srgbClr val="3399FF"/>
                </a:highlight>
                <a:latin typeface="微软雅黑" panose="020B0503020204020204" pitchFamily="34" charset="-122"/>
                <a:ea typeface="微软雅黑" panose="020B0503020204020204" pitchFamily="34" charset="-122"/>
              </a:rPr>
              <a:t>n</a:t>
            </a:r>
            <a:r>
              <a:rPr lang="zh-CN" altLang="en-US" sz="2000" b="1" cap="none" dirty="0">
                <a:solidFill>
                  <a:schemeClr val="bg1"/>
                </a:solidFill>
                <a:highlight>
                  <a:srgbClr val="3399FF"/>
                </a:highlight>
                <a:latin typeface="微软雅黑" panose="020B0503020204020204" pitchFamily="34" charset="-122"/>
                <a:ea typeface="微软雅黑" panose="020B0503020204020204" pitchFamily="34" charset="-122"/>
              </a:rPr>
              <a:t>次</a:t>
            </a:r>
            <a:r>
              <a:rPr lang="en-US" altLang="ko-KR" sz="2000" b="1" cap="none" dirty="0" err="1">
                <a:solidFill>
                  <a:schemeClr val="bg1"/>
                </a:solidFill>
                <a:highlight>
                  <a:srgbClr val="3399FF"/>
                </a:highlight>
                <a:latin typeface="微软雅黑" panose="020B0503020204020204" pitchFamily="34" charset="-122"/>
                <a:ea typeface="微软雅黑" panose="020B0503020204020204" pitchFamily="34" charset="-122"/>
              </a:rPr>
              <a:t>多项式p</a:t>
            </a:r>
            <a:endParaRPr lang="en-US" altLang="ko-KR" sz="2000" b="1" cap="none" dirty="0">
              <a:solidFill>
                <a:schemeClr val="bg1"/>
              </a:solidFill>
              <a:highlight>
                <a:srgbClr val="3399FF"/>
              </a:highlight>
              <a:latin typeface="微软雅黑" panose="020B0503020204020204" pitchFamily="34" charset="-122"/>
              <a:ea typeface="微软雅黑" panose="020B0503020204020204" pitchFamily="34" charset="-122"/>
            </a:endParaRPr>
          </a:p>
        </p:txBody>
      </p:sp>
      <p:sp>
        <p:nvSpPr>
          <p:cNvPr id="7" name="Text Box 7"/>
          <p:cNvSpPr txBox="1"/>
          <p:nvPr/>
        </p:nvSpPr>
        <p:spPr bwMode="auto">
          <a:xfrm>
            <a:off x="252191" y="2824436"/>
            <a:ext cx="7164705" cy="461665"/>
          </a:xfrm>
          <a:prstGeom prst="rect">
            <a:avLst/>
          </a:prstGeom>
          <a:noFill/>
          <a:ln w="0">
            <a:noFill/>
          </a:ln>
        </p:spPr>
        <p:txBody>
          <a:bodyPr vert="horz" wrap="square" lIns="91440" tIns="45720" rIns="91440" bIns="45720" numCol="1" anchor="t">
            <a:spAutoFit/>
          </a:bodyPr>
          <a:lstStyle/>
          <a:p>
            <a:pPr marL="457200" indent="-457200" eaLnBrk="0">
              <a:spcBef>
                <a:spcPts val="0"/>
              </a:spcBef>
              <a:spcAft>
                <a:spcPts val="0"/>
              </a:spcAft>
              <a:buClr>
                <a:srgbClr val="000000"/>
              </a:buClr>
              <a:buFont typeface="Wingdings" panose="05000000000000000000" pitchFamily="2" charset="2"/>
              <a:buChar char="p"/>
            </a:pPr>
            <a:r>
              <a:rPr lang="en-US" altLang="ko-KR" sz="2400" dirty="0" err="1">
                <a:solidFill>
                  <a:srgbClr val="0070C0"/>
                </a:solidFill>
                <a:latin typeface="宋体" panose="02010600030101010101" pitchFamily="2" charset="-122"/>
                <a:ea typeface="宋体" panose="02010600030101010101" pitchFamily="2" charset="-122"/>
              </a:rPr>
              <a:t>用多项式系数</a:t>
            </a:r>
            <a:r>
              <a:rPr lang="zh-CN" altLang="en-US" sz="2400" dirty="0">
                <a:solidFill>
                  <a:srgbClr val="0070C0"/>
                </a:solidFill>
                <a:latin typeface="宋体" panose="02010600030101010101" pitchFamily="2" charset="-122"/>
                <a:ea typeface="宋体" panose="02010600030101010101" pitchFamily="2" charset="-122"/>
              </a:rPr>
              <a:t>的</a:t>
            </a:r>
            <a:r>
              <a:rPr lang="en-US" altLang="ko-KR" sz="2400" cap="none" dirty="0" err="1">
                <a:solidFill>
                  <a:srgbClr val="0070C0"/>
                </a:solidFill>
                <a:latin typeface="宋体" panose="02010600030101010101" pitchFamily="2" charset="-122"/>
                <a:ea typeface="宋体" panose="02010600030101010101" pitchFamily="2" charset="-122"/>
              </a:rPr>
              <a:t>向量表示，按降幂排列</a:t>
            </a:r>
            <a:r>
              <a:rPr lang="en-US" altLang="ko-KR" sz="2400" b="1" cap="none" dirty="0">
                <a:solidFill>
                  <a:srgbClr val="0070C0"/>
                </a:solidFill>
                <a:latin typeface="宋体" panose="02010600030101010101" pitchFamily="2" charset="-122"/>
                <a:ea typeface="宋体" panose="02010600030101010101" pitchFamily="2" charset="-122"/>
              </a:rPr>
              <a:t>；</a:t>
            </a:r>
            <a:endParaRPr lang="ko-KR" altLang="en-US" sz="2400" b="1" cap="none" dirty="0">
              <a:solidFill>
                <a:srgbClr val="0070C0"/>
              </a:solidFill>
              <a:latin typeface="宋体" panose="02010600030101010101" pitchFamily="2" charset="-122"/>
            </a:endParaRPr>
          </a:p>
        </p:txBody>
      </p:sp>
      <p:sp>
        <p:nvSpPr>
          <p:cNvPr id="8" name="Text Box 8"/>
          <p:cNvSpPr txBox="1"/>
          <p:nvPr/>
        </p:nvSpPr>
        <p:spPr bwMode="auto">
          <a:xfrm>
            <a:off x="4802202" y="2139702"/>
            <a:ext cx="2085827" cy="356123"/>
          </a:xfrm>
          <a:prstGeom prst="rect">
            <a:avLst/>
          </a:prstGeom>
          <a:solidFill>
            <a:srgbClr val="C00000"/>
          </a:solidFill>
          <a:ln w="0">
            <a:noFill/>
          </a:ln>
          <a:effectLst>
            <a:outerShdw blurRad="44450" dist="27940" dir="5400000" algn="ctr">
              <a:srgbClr val="000000">
                <a:alpha val="31764"/>
              </a:srgbClr>
            </a:outerShdw>
          </a:effectLst>
          <a:scene3d>
            <a:camera prst="orthographicFront"/>
            <a:lightRig rig="balanced" dir="t">
              <a:rot lat="0" lon="0" rev="8700000"/>
            </a:lightRig>
          </a:scene3d>
          <a:sp3d>
            <a:bevelT w="190500" h="38100" prst="convex"/>
          </a:sp3d>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anchor="t">
            <a:spAutoFit/>
          </a:bodyPr>
          <a:lstStyle>
            <a:defPPr>
              <a:defRPr lang="zh-CN"/>
            </a:defPPr>
            <a:lvl1pPr marL="0" indent="0" defTabSz="914400" eaLnBrk="0" latinLnBrk="0">
              <a:lnSpc>
                <a:spcPct val="100000"/>
              </a:lnSpc>
              <a:spcBef>
                <a:spcPts val="0"/>
              </a:spcBef>
              <a:spcAft>
                <a:spcPts val="0"/>
              </a:spcAft>
              <a:buFontTx/>
              <a:buNone/>
              <a:defRPr sz="2800" b="1" cap="none">
                <a:solidFill>
                  <a:srgbClr val="FFFF00"/>
                </a:solidFill>
                <a:latin typeface="微软雅黑" panose="020B0503020204020204" pitchFamily="34" charset="-122"/>
                <a:ea typeface="微软雅黑" panose="020B0503020204020204" pitchFamily="34" charset="-122"/>
              </a:defRPr>
            </a:lvl1pPr>
          </a:lstStyle>
          <a:p>
            <a:pPr>
              <a:lnSpc>
                <a:spcPts val="2000"/>
              </a:lnSpc>
            </a:pPr>
            <a:r>
              <a:rPr lang="en-US" altLang="ko-KR" sz="2000" dirty="0">
                <a:latin typeface="华文楷体" panose="02010600040101010101" pitchFamily="2" charset="-122"/>
                <a:ea typeface="华文楷体" panose="02010600040101010101" pitchFamily="2" charset="-122"/>
              </a:rPr>
              <a:t>p=[p</a:t>
            </a:r>
            <a:r>
              <a:rPr lang="en-US" altLang="ko-KR" sz="2000" baseline="-25000" dirty="0">
                <a:latin typeface="华文楷体" panose="02010600040101010101" pitchFamily="2" charset="-122"/>
                <a:ea typeface="华文楷体" panose="02010600040101010101" pitchFamily="2" charset="-122"/>
              </a:rPr>
              <a:t>1</a:t>
            </a:r>
            <a:r>
              <a:rPr lang="en-US" altLang="ko-KR" sz="2000" dirty="0">
                <a:latin typeface="华文楷体" panose="02010600040101010101" pitchFamily="2" charset="-122"/>
                <a:ea typeface="华文楷体" panose="02010600040101010101" pitchFamily="2" charset="-122"/>
              </a:rPr>
              <a:t>,p</a:t>
            </a:r>
            <a:r>
              <a:rPr lang="en-US" altLang="ko-KR" sz="2000" baseline="-25000" dirty="0">
                <a:latin typeface="华文楷体" panose="02010600040101010101" pitchFamily="2" charset="-122"/>
                <a:ea typeface="华文楷体" panose="02010600040101010101" pitchFamily="2" charset="-122"/>
              </a:rPr>
              <a:t>2</a:t>
            </a:r>
            <a:r>
              <a:rPr lang="en-US" altLang="ko-KR" sz="2000" dirty="0">
                <a:latin typeface="华文楷体" panose="02010600040101010101" pitchFamily="2" charset="-122"/>
                <a:ea typeface="华文楷体" panose="02010600040101010101" pitchFamily="2" charset="-122"/>
              </a:rPr>
              <a:t>,...</a:t>
            </a:r>
            <a:r>
              <a:rPr lang="en-US" altLang="ko-KR" sz="2000" dirty="0" err="1">
                <a:latin typeface="华文楷体" panose="02010600040101010101" pitchFamily="2" charset="-122"/>
                <a:ea typeface="华文楷体" panose="02010600040101010101" pitchFamily="2" charset="-122"/>
              </a:rPr>
              <a:t>p</a:t>
            </a:r>
            <a:r>
              <a:rPr lang="en-US" altLang="ko-KR" sz="2000" baseline="-25000" dirty="0" err="1">
                <a:latin typeface="华文楷体" panose="02010600040101010101" pitchFamily="2" charset="-122"/>
                <a:ea typeface="华文楷体" panose="02010600040101010101" pitchFamily="2" charset="-122"/>
              </a:rPr>
              <a:t>n</a:t>
            </a:r>
            <a:r>
              <a:rPr lang="en-US" altLang="ko-KR" sz="2000" dirty="0" err="1">
                <a:latin typeface="华文楷体" panose="02010600040101010101" pitchFamily="2" charset="-122"/>
                <a:ea typeface="华文楷体" panose="02010600040101010101" pitchFamily="2" charset="-122"/>
              </a:rPr>
              <a:t>,p</a:t>
            </a:r>
            <a:r>
              <a:rPr lang="en-US" altLang="ko-KR" sz="2000" dirty="0">
                <a:latin typeface="华文楷体" panose="02010600040101010101" pitchFamily="2" charset="-122"/>
                <a:ea typeface="华文楷体" panose="02010600040101010101" pitchFamily="2" charset="-122"/>
              </a:rPr>
              <a:t> </a:t>
            </a:r>
            <a:r>
              <a:rPr lang="en-US" altLang="ko-KR" sz="2000" baseline="-25000" dirty="0">
                <a:latin typeface="华文楷体" panose="02010600040101010101" pitchFamily="2" charset="-122"/>
                <a:ea typeface="华文楷体" panose="02010600040101010101" pitchFamily="2" charset="-122"/>
              </a:rPr>
              <a:t>n+1</a:t>
            </a:r>
            <a:r>
              <a:rPr lang="en-US" altLang="ko-KR" sz="2000" dirty="0">
                <a:latin typeface="华文楷体" panose="02010600040101010101" pitchFamily="2" charset="-122"/>
                <a:ea typeface="华文楷体" panose="02010600040101010101" pitchFamily="2" charset="-122"/>
              </a:rPr>
              <a:t>]</a:t>
            </a:r>
          </a:p>
        </p:txBody>
      </p:sp>
      <p:sp>
        <p:nvSpPr>
          <p:cNvPr id="9" name="文本框 8"/>
          <p:cNvSpPr txBox="1"/>
          <p:nvPr/>
        </p:nvSpPr>
        <p:spPr>
          <a:xfrm>
            <a:off x="1439202" y="3925154"/>
            <a:ext cx="5653078" cy="604905"/>
          </a:xfrm>
          <a:prstGeom prst="rect">
            <a:avLst/>
          </a:prstGeom>
          <a:noFill/>
        </p:spPr>
        <p:txBody>
          <a:bodyPr vert="horz" wrap="square" lIns="0" tIns="0" rIns="0" bIns="0" anchor="t">
            <a:noAutofit/>
          </a:bodyPr>
          <a:lstStyle/>
          <a:p>
            <a:pPr marL="0" indent="0" algn="l" defTabSz="914400" eaLnBrk="0" fontAlgn="base" latinLnBrk="0">
              <a:lnSpc>
                <a:spcPct val="150000"/>
              </a:lnSpc>
              <a:spcBef>
                <a:spcPts val="0"/>
              </a:spcBef>
              <a:spcAft>
                <a:spcPts val="0"/>
              </a:spcAft>
              <a:buFontTx/>
              <a:buNone/>
            </a:pPr>
            <a:r>
              <a:rPr lang="zh-CN" altLang="en-US" sz="2800" b="1" cap="none" dirty="0">
                <a:solidFill>
                  <a:srgbClr val="0070C0"/>
                </a:solidFill>
                <a:latin typeface="华文楷体" panose="02010600040101010101" pitchFamily="2" charset="-122"/>
                <a:ea typeface="华文楷体" panose="02010600040101010101" pitchFamily="2" charset="-122"/>
              </a:rPr>
              <a:t>建立</a:t>
            </a:r>
            <a:r>
              <a:rPr lang="zh-CN" altLang="en-US" sz="2800" b="1" dirty="0">
                <a:solidFill>
                  <a:srgbClr val="0070C0"/>
                </a:solidFill>
                <a:latin typeface="华文楷体" panose="02010600040101010101" pitchFamily="2" charset="-122"/>
                <a:ea typeface="华文楷体" panose="02010600040101010101" pitchFamily="2" charset="-122"/>
              </a:rPr>
              <a:t>多项式</a:t>
            </a:r>
            <a:r>
              <a:rPr lang="en-US" altLang="ko-KR" sz="2800" b="1" cap="none" dirty="0">
                <a:solidFill>
                  <a:srgbClr val="0070C0"/>
                </a:solidFill>
                <a:latin typeface="华文楷体" panose="02010600040101010101" pitchFamily="2" charset="-122"/>
                <a:ea typeface="华文楷体" panose="02010600040101010101" pitchFamily="2" charset="-122"/>
              </a:rPr>
              <a:t>y=x^3+4*x+5</a:t>
            </a:r>
            <a:r>
              <a:rPr lang="zh-CN" altLang="en-US" sz="2800" b="1" cap="none" dirty="0">
                <a:solidFill>
                  <a:srgbClr val="0070C0"/>
                </a:solidFill>
                <a:latin typeface="华文楷体" panose="02010600040101010101" pitchFamily="2" charset="-122"/>
                <a:ea typeface="华文楷体" panose="02010600040101010101" pitchFamily="2" charset="-122"/>
              </a:rPr>
              <a:t>的系数向量</a:t>
            </a:r>
            <a:endParaRPr lang="ko-KR" altLang="en-US" sz="2800" b="1" cap="none" dirty="0">
              <a:solidFill>
                <a:srgbClr val="0070C0"/>
              </a:solidFill>
              <a:latin typeface="华文楷体" panose="02010600040101010101" pitchFamily="2" charset="-122"/>
            </a:endParaRPr>
          </a:p>
        </p:txBody>
      </p:sp>
      <p:sp>
        <p:nvSpPr>
          <p:cNvPr id="10" name="文本框 9"/>
          <p:cNvSpPr txBox="1"/>
          <p:nvPr/>
        </p:nvSpPr>
        <p:spPr>
          <a:xfrm>
            <a:off x="7133066" y="4021631"/>
            <a:ext cx="2010934" cy="461666"/>
          </a:xfrm>
          <a:prstGeom prst="rect">
            <a:avLst/>
          </a:prstGeom>
          <a:noFill/>
        </p:spPr>
        <p:txBody>
          <a:bodyPr vert="horz" wrap="square" lIns="0" tIns="0" rIns="0" bIns="0" anchor="t">
            <a:noAutofit/>
          </a:bodyPr>
          <a:lstStyle/>
          <a:p>
            <a:pPr marL="0" indent="0" algn="l" defTabSz="914400" eaLnBrk="0" fontAlgn="base" latinLnBrk="0">
              <a:lnSpc>
                <a:spcPct val="150000"/>
              </a:lnSpc>
              <a:spcBef>
                <a:spcPts val="0"/>
              </a:spcBef>
              <a:spcAft>
                <a:spcPts val="0"/>
              </a:spcAft>
              <a:buFontTx/>
              <a:buNone/>
            </a:pPr>
            <a:r>
              <a:rPr lang="zh-CN" altLang="en-US" sz="20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结果</a:t>
            </a:r>
            <a:r>
              <a:rPr lang="en-US" altLang="ko-KR" sz="2000" b="1" cap="none"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p=[1,0,4,5]</a:t>
            </a:r>
            <a:endParaRPr lang="ko-KR" altLang="en-US" sz="2000" b="1" cap="none" dirty="0">
              <a:solidFill>
                <a:srgbClr val="00B0F0"/>
              </a:solidFill>
              <a:latin typeface="微软雅黑" panose="020B0503020204020204" pitchFamily="34" charset="-122"/>
              <a:cs typeface="Times New Roman" panose="02020603050405020304" pitchFamily="18" charset="0"/>
            </a:endParaRPr>
          </a:p>
        </p:txBody>
      </p:sp>
      <p:sp>
        <p:nvSpPr>
          <p:cNvPr id="11" name="文本框 10"/>
          <p:cNvSpPr txBox="1"/>
          <p:nvPr/>
        </p:nvSpPr>
        <p:spPr>
          <a:xfrm>
            <a:off x="359890" y="3407466"/>
            <a:ext cx="5741670" cy="554355"/>
          </a:xfrm>
          <a:prstGeom prst="rect">
            <a:avLst/>
          </a:prstGeom>
          <a:noFill/>
        </p:spPr>
        <p:txBody>
          <a:bodyPr vert="horz" wrap="square" lIns="0" tIns="0" rIns="0" bIns="0" anchor="t">
            <a:noAutofit/>
          </a:bodyPr>
          <a:lstStyle/>
          <a:p>
            <a:pPr algn="l" defTabSz="914400" eaLnBrk="0" fontAlgn="base" latinLnBrk="0">
              <a:spcBef>
                <a:spcPts val="0"/>
              </a:spcBef>
              <a:spcAft>
                <a:spcPts val="0"/>
              </a:spcAft>
              <a:buClr>
                <a:srgbClr val="000000"/>
              </a:buClr>
              <a:buFont typeface="Wingdings" panose="05000000000000000000"/>
              <a:buChar char="p"/>
            </a:pPr>
            <a:r>
              <a:rPr lang="en-US" altLang="ko-KR" sz="2400" cap="none" dirty="0">
                <a:solidFill>
                  <a:srgbClr val="0070C0"/>
                </a:solidFill>
                <a:latin typeface="宋体" panose="02010600030101010101" pitchFamily="2" charset="-122"/>
                <a:ea typeface="宋体" panose="02010600030101010101" pitchFamily="2" charset="-122"/>
              </a:rPr>
              <a:t> </a:t>
            </a:r>
            <a:r>
              <a:rPr lang="en-US" altLang="ko-KR" sz="2400" cap="none" dirty="0" err="1">
                <a:solidFill>
                  <a:srgbClr val="0070C0"/>
                </a:solidFill>
                <a:latin typeface="宋体" panose="02010600030101010101" pitchFamily="2" charset="-122"/>
                <a:ea typeface="宋体" panose="02010600030101010101" pitchFamily="2" charset="-122"/>
              </a:rPr>
              <a:t>缺某幂次项，</a:t>
            </a:r>
            <a:r>
              <a:rPr lang="en-US" altLang="ko-KR" sz="2400" dirty="0" err="1">
                <a:solidFill>
                  <a:srgbClr val="0070C0"/>
                </a:solidFill>
                <a:latin typeface="宋体" panose="02010600030101010101" pitchFamily="2" charset="-122"/>
                <a:ea typeface="宋体" panose="02010600030101010101" pitchFamily="2" charset="-122"/>
              </a:rPr>
              <a:t>其幂次项系数为零</a:t>
            </a:r>
            <a:endParaRPr lang="zh-CN" altLang="en-US" sz="2400" dirty="0">
              <a:solidFill>
                <a:srgbClr val="0070C0"/>
              </a:solidFill>
              <a:latin typeface="宋体" panose="02010600030101010101" pitchFamily="2" charset="-122"/>
              <a:ea typeface="宋体" panose="02010600030101010101" pitchFamily="2" charset="-122"/>
            </a:endParaRPr>
          </a:p>
        </p:txBody>
      </p:sp>
      <p:sp>
        <p:nvSpPr>
          <p:cNvPr id="12" name="形状 209924"/>
          <p:cNvSpPr/>
          <p:nvPr/>
        </p:nvSpPr>
        <p:spPr>
          <a:xfrm>
            <a:off x="5004048" y="1324735"/>
            <a:ext cx="3947498" cy="731711"/>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defTabSz="63500" eaLnBrk="0">
              <a:spcBef>
                <a:spcPts val="700"/>
              </a:spcBef>
              <a:spcAft>
                <a:spcPts val="0"/>
              </a:spcAft>
            </a:pPr>
            <a:r>
              <a:rPr lang="en-US" altLang="zh-CN" sz="1400" b="1" dirty="0">
                <a:solidFill>
                  <a:srgbClr val="FFFF00"/>
                </a:solidFill>
                <a:latin typeface="微软雅黑" panose="020B0503020204020204" pitchFamily="34" charset="-122"/>
                <a:ea typeface="微软雅黑" panose="020B0503020204020204" pitchFamily="34" charset="-122"/>
              </a:rPr>
              <a:t>n</a:t>
            </a:r>
            <a:r>
              <a:rPr lang="zh-CN" altLang="en-US" sz="1400" b="1" dirty="0">
                <a:solidFill>
                  <a:srgbClr val="FFFF00"/>
                </a:solidFill>
                <a:latin typeface="微软雅黑" panose="020B0503020204020204" pitchFamily="34" charset="-122"/>
                <a:ea typeface="微软雅黑" panose="020B0503020204020204" pitchFamily="34" charset="-122"/>
              </a:rPr>
              <a:t>次多项式含有</a:t>
            </a:r>
            <a:r>
              <a:rPr lang="en-US" altLang="zh-CN" sz="1400" b="1" dirty="0">
                <a:solidFill>
                  <a:srgbClr val="FFFF00"/>
                </a:solidFill>
                <a:latin typeface="微软雅黑" panose="020B0503020204020204" pitchFamily="34" charset="-122"/>
                <a:ea typeface="微软雅黑" panose="020B0503020204020204" pitchFamily="34" charset="-122"/>
              </a:rPr>
              <a:t>n+1</a:t>
            </a:r>
            <a:r>
              <a:rPr lang="zh-CN" altLang="en-US" sz="1400" b="1" dirty="0">
                <a:solidFill>
                  <a:srgbClr val="FFFF00"/>
                </a:solidFill>
                <a:latin typeface="微软雅黑" panose="020B0503020204020204" pitchFamily="34" charset="-122"/>
                <a:ea typeface="微软雅黑" panose="020B0503020204020204" pitchFamily="34" charset="-122"/>
              </a:rPr>
              <a:t>个系数</a:t>
            </a:r>
          </a:p>
        </p:txBody>
      </p:sp>
      <p:sp>
        <p:nvSpPr>
          <p:cNvPr id="15" name="波形 14"/>
          <p:cNvSpPr/>
          <p:nvPr/>
        </p:nvSpPr>
        <p:spPr>
          <a:xfrm>
            <a:off x="379653" y="4021631"/>
            <a:ext cx="951988" cy="54990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400" b="1" dirty="0">
                <a:solidFill>
                  <a:srgbClr val="FFFF00"/>
                </a:solidFill>
                <a:latin typeface="华文楷体" panose="02010600040101010101" pitchFamily="2" charset="-122"/>
                <a:ea typeface="华文楷体" panose="02010600040101010101" pitchFamily="2" charset="-122"/>
              </a:rPr>
              <a:t>例51-1</a:t>
            </a:r>
            <a:endParaRPr lang="ko-KR" altLang="en-US" sz="2400" b="1" dirty="0">
              <a:solidFill>
                <a:srgbClr val="FFFF00"/>
              </a:solidFill>
              <a:latin typeface="华文楷体" panose="02010600040101010101" pitchFamily="2" charset="-122"/>
              <a:ea typeface="微软雅黑" panose="020B0503020204020204" pitchFamily="34" charset="-122"/>
            </a:endParaRPr>
          </a:p>
        </p:txBody>
      </p:sp>
      <p:sp>
        <p:nvSpPr>
          <p:cNvPr id="17" name="文本框 16"/>
          <p:cNvSpPr txBox="1"/>
          <p:nvPr/>
        </p:nvSpPr>
        <p:spPr>
          <a:xfrm>
            <a:off x="252191" y="2139702"/>
            <a:ext cx="4463825" cy="430887"/>
          </a:xfrm>
          <a:prstGeom prst="rect">
            <a:avLst/>
          </a:prstGeom>
          <a:noFill/>
        </p:spPr>
        <p:txBody>
          <a:bodyPr wrap="square">
            <a:spAutoFit/>
          </a:bodyPr>
          <a:lstStyle/>
          <a:p>
            <a:r>
              <a:rPr lang="zh-CN" altLang="en-US" sz="2200" b="1" kern="0" dirty="0">
                <a:solidFill>
                  <a:srgbClr val="0070C0"/>
                </a:solidFill>
                <a:latin typeface="微软雅黑" panose="020B0503020204020204" pitchFamily="34" charset="-122"/>
                <a:ea typeface="微软雅黑" panose="020B0503020204020204" pitchFamily="34" charset="-122"/>
              </a:rPr>
              <a:t>用多项式系数向量表示多项式函数</a:t>
            </a:r>
            <a:r>
              <a:rPr lang="en-US" altLang="zh-CN" sz="2200" b="1" kern="0" dirty="0">
                <a:solidFill>
                  <a:srgbClr val="0070C0"/>
                </a:solidFill>
                <a:latin typeface="微软雅黑" panose="020B0503020204020204" pitchFamily="34" charset="-122"/>
                <a:ea typeface="微软雅黑" panose="020B0503020204020204" pitchFamily="34" charset="-122"/>
              </a:rPr>
              <a:t>:</a:t>
            </a:r>
            <a:endParaRPr lang="zh-CN" altLang="en-US" sz="2200" b="1" kern="0" dirty="0">
              <a:solidFill>
                <a:srgbClr val="0070C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6" name="矩形 15"/>
              <p:cNvSpPr/>
              <p:nvPr/>
            </p:nvSpPr>
            <p:spPr>
              <a:xfrm>
                <a:off x="1763688" y="796271"/>
                <a:ext cx="7187858" cy="407099"/>
              </a:xfrm>
              <a:prstGeom prst="rect">
                <a:avLst/>
              </a:prstGeom>
              <a:solidFill>
                <a:srgbClr val="0070C0"/>
              </a:solidFill>
            </p:spPr>
            <p:txBody>
              <a:bodyPr wrap="square">
                <a:spAutoFit/>
              </a:bodyPr>
              <a:lstStyle/>
              <a:p>
                <a:pPr algn="dist"/>
                <a14:m>
                  <m:oMathPara xmlns:m="http://schemas.openxmlformats.org/officeDocument/2006/math">
                    <m:oMathParaPr>
                      <m:jc m:val="left"/>
                    </m:oMathParaPr>
                    <m:oMath xmlns:m="http://schemas.openxmlformats.org/officeDocument/2006/math">
                      <m:r>
                        <a:rPr lang="en-US" altLang="zh-CN" sz="2000" b="1" i="1" smtClean="0">
                          <a:solidFill>
                            <a:schemeClr val="bg1"/>
                          </a:solidFill>
                          <a:latin typeface="Cambria Math" panose="02040503050406030204" pitchFamily="18" charset="0"/>
                        </a:rPr>
                        <m:t>𝒑</m:t>
                      </m:r>
                      <m:d>
                        <m:dPr>
                          <m:ctrlPr>
                            <a:rPr lang="zh-CN" altLang="zh-CN" sz="2000" b="1" i="1">
                              <a:solidFill>
                                <a:schemeClr val="bg1"/>
                              </a:solidFill>
                              <a:latin typeface="Cambria Math" panose="02040503050406030204" pitchFamily="18" charset="0"/>
                            </a:rPr>
                          </m:ctrlPr>
                        </m:dPr>
                        <m:e>
                          <m:r>
                            <a:rPr lang="en-US" altLang="zh-CN" sz="2000" b="1" i="1">
                              <a:solidFill>
                                <a:schemeClr val="bg1"/>
                              </a:solidFill>
                              <a:latin typeface="Cambria Math" panose="02040503050406030204"/>
                            </a:rPr>
                            <m:t>𝒙</m:t>
                          </m:r>
                        </m:e>
                      </m:d>
                      <m:r>
                        <a:rPr lang="en-US" altLang="zh-CN" sz="2000" b="1" i="1">
                          <a:solidFill>
                            <a:schemeClr val="bg1"/>
                          </a:solidFill>
                          <a:latin typeface="Cambria Math" panose="02040503050406030204"/>
                        </a:rPr>
                        <m:t>=</m:t>
                      </m:r>
                      <m:sSup>
                        <m:sSupPr>
                          <m:ctrlPr>
                            <a:rPr lang="zh-CN" altLang="zh-CN" sz="2000" b="1" i="1">
                              <a:solidFill>
                                <a:schemeClr val="bg1"/>
                              </a:solidFill>
                              <a:latin typeface="Cambria Math" panose="02040503050406030204" pitchFamily="18" charset="0"/>
                            </a:rPr>
                          </m:ctrlPr>
                        </m:sSupPr>
                        <m:e>
                          <m:sSub>
                            <m:sSubPr>
                              <m:ctrlPr>
                                <a:rPr lang="zh-CN" altLang="zh-CN" sz="2000" b="1" i="1">
                                  <a:solidFill>
                                    <a:schemeClr val="bg1"/>
                                  </a:solidFill>
                                  <a:latin typeface="Cambria Math" panose="02040503050406030204" pitchFamily="18" charset="0"/>
                                </a:rPr>
                              </m:ctrlPr>
                            </m:sSubPr>
                            <m:e>
                              <m:r>
                                <m:rPr>
                                  <m:sty m:val="p"/>
                                </m:rPr>
                                <a:rPr lang="en-US" altLang="zh-CN" sz="2000" b="1" i="1">
                                  <a:solidFill>
                                    <a:schemeClr val="bg1"/>
                                  </a:solidFill>
                                  <a:latin typeface="Cambria Math" panose="02040503050406030204" pitchFamily="18" charset="0"/>
                                </a:rPr>
                                <m:t>p</m:t>
                              </m:r>
                            </m:e>
                            <m:sub>
                              <m:r>
                                <a:rPr lang="en-US" altLang="zh-CN" sz="2000" b="1" i="1" smtClean="0">
                                  <a:solidFill>
                                    <a:schemeClr val="bg1"/>
                                  </a:solidFill>
                                  <a:latin typeface="Cambria Math" panose="02040503050406030204" pitchFamily="18" charset="0"/>
                                </a:rPr>
                                <m:t>𝟏</m:t>
                              </m:r>
                            </m:sub>
                          </m:sSub>
                          <m:r>
                            <a:rPr lang="en-US" altLang="zh-CN" sz="2000" b="1" i="1">
                              <a:solidFill>
                                <a:schemeClr val="bg1"/>
                              </a:solidFill>
                              <a:latin typeface="Cambria Math" panose="02040503050406030204"/>
                            </a:rPr>
                            <m:t>𝒙</m:t>
                          </m:r>
                        </m:e>
                        <m:sup>
                          <m:r>
                            <a:rPr lang="en-US" altLang="zh-CN" sz="2000" b="1" i="1">
                              <a:solidFill>
                                <a:schemeClr val="bg1"/>
                              </a:solidFill>
                              <a:latin typeface="Cambria Math" panose="02040503050406030204"/>
                            </a:rPr>
                            <m:t>𝒏</m:t>
                          </m:r>
                        </m:sup>
                      </m:sSup>
                      <m:r>
                        <a:rPr lang="en-US" altLang="zh-CN" sz="2000" b="1" i="1">
                          <a:solidFill>
                            <a:schemeClr val="bg1"/>
                          </a:solidFill>
                          <a:latin typeface="Cambria Math" panose="02040503050406030204"/>
                        </a:rPr>
                        <m:t>+</m:t>
                      </m:r>
                      <m:sSup>
                        <m:sSupPr>
                          <m:ctrlPr>
                            <a:rPr lang="zh-CN" altLang="zh-CN" sz="2000" b="1" i="1">
                              <a:solidFill>
                                <a:schemeClr val="bg1"/>
                              </a:solidFill>
                              <a:latin typeface="Cambria Math" panose="02040503050406030204" pitchFamily="18" charset="0"/>
                            </a:rPr>
                          </m:ctrlPr>
                        </m:sSupPr>
                        <m:e>
                          <m:sSub>
                            <m:sSubPr>
                              <m:ctrlPr>
                                <a:rPr lang="zh-CN" altLang="zh-CN" sz="2000" b="1" i="1">
                                  <a:solidFill>
                                    <a:schemeClr val="bg1"/>
                                  </a:solidFill>
                                  <a:latin typeface="Cambria Math" panose="02040503050406030204" pitchFamily="18" charset="0"/>
                                </a:rPr>
                              </m:ctrlPr>
                            </m:sSubPr>
                            <m:e>
                              <m:r>
                                <a:rPr lang="en-US" altLang="zh-CN" sz="2000" b="1" i="1" smtClean="0">
                                  <a:solidFill>
                                    <a:schemeClr val="bg1"/>
                                  </a:solidFill>
                                  <a:latin typeface="Cambria Math" panose="02040503050406030204" pitchFamily="18" charset="0"/>
                                </a:rPr>
                                <m:t>𝒑</m:t>
                              </m:r>
                            </m:e>
                            <m:sub>
                              <m:r>
                                <a:rPr lang="en-US" altLang="zh-CN" sz="2000" b="1" i="1" smtClean="0">
                                  <a:solidFill>
                                    <a:schemeClr val="bg1"/>
                                  </a:solidFill>
                                  <a:latin typeface="Cambria Math" panose="02040503050406030204" pitchFamily="18" charset="0"/>
                                </a:rPr>
                                <m:t>𝟐</m:t>
                              </m:r>
                            </m:sub>
                          </m:sSub>
                          <m:r>
                            <a:rPr lang="en-US" altLang="zh-CN" sz="2000" b="1" i="1">
                              <a:solidFill>
                                <a:schemeClr val="bg1"/>
                              </a:solidFill>
                              <a:latin typeface="Cambria Math" panose="02040503050406030204"/>
                            </a:rPr>
                            <m:t>𝒙</m:t>
                          </m:r>
                        </m:e>
                        <m:sup>
                          <m:r>
                            <a:rPr lang="en-US" altLang="zh-CN" sz="2000" b="1" i="1">
                              <a:solidFill>
                                <a:schemeClr val="bg1"/>
                              </a:solidFill>
                              <a:latin typeface="Cambria Math" panose="02040503050406030204"/>
                            </a:rPr>
                            <m:t>𝒏</m:t>
                          </m:r>
                          <m:r>
                            <a:rPr lang="en-US" altLang="zh-CN" sz="2000" b="1" i="1">
                              <a:solidFill>
                                <a:schemeClr val="bg1"/>
                              </a:solidFill>
                              <a:latin typeface="Cambria Math" panose="02040503050406030204"/>
                            </a:rPr>
                            <m:t>−</m:t>
                          </m:r>
                          <m:r>
                            <a:rPr lang="en-US" altLang="zh-CN" sz="2000" b="1" i="1">
                              <a:solidFill>
                                <a:schemeClr val="bg1"/>
                              </a:solidFill>
                              <a:latin typeface="Cambria Math" panose="02040503050406030204"/>
                            </a:rPr>
                            <m:t>𝟏</m:t>
                          </m:r>
                        </m:sup>
                      </m:sSup>
                      <m:r>
                        <a:rPr lang="en-US" altLang="zh-CN" sz="2000" b="1" i="1">
                          <a:solidFill>
                            <a:schemeClr val="bg1"/>
                          </a:solidFill>
                          <a:latin typeface="Cambria Math" panose="02040503050406030204"/>
                        </a:rPr>
                        <m:t>…+</m:t>
                      </m:r>
                      <m:sSub>
                        <m:sSubPr>
                          <m:ctrlPr>
                            <a:rPr lang="zh-CN" altLang="zh-CN" sz="2000" b="1" i="1" smtClean="0">
                              <a:solidFill>
                                <a:schemeClr val="bg1"/>
                              </a:solidFill>
                              <a:latin typeface="Cambria Math" panose="02040503050406030204" pitchFamily="18" charset="0"/>
                            </a:rPr>
                          </m:ctrlPr>
                        </m:sSubPr>
                        <m:e>
                          <m:r>
                            <a:rPr lang="en-US" altLang="zh-CN" sz="2000" b="1" i="1" smtClean="0">
                              <a:solidFill>
                                <a:schemeClr val="bg1"/>
                              </a:solidFill>
                              <a:latin typeface="Cambria Math" panose="02040503050406030204" pitchFamily="18" charset="0"/>
                            </a:rPr>
                            <m:t>𝒑</m:t>
                          </m:r>
                        </m:e>
                        <m:sub>
                          <m:r>
                            <a:rPr lang="en-US" altLang="zh-CN" sz="2000" b="1" i="1">
                              <a:solidFill>
                                <a:schemeClr val="bg1"/>
                              </a:solidFill>
                              <a:latin typeface="Cambria Math" panose="02040503050406030204"/>
                            </a:rPr>
                            <m:t>𝒏</m:t>
                          </m:r>
                        </m:sub>
                      </m:sSub>
                      <m:r>
                        <a:rPr lang="en-US" altLang="zh-CN" sz="2000" b="1" i="1">
                          <a:solidFill>
                            <a:schemeClr val="bg1"/>
                          </a:solidFill>
                          <a:latin typeface="Cambria Math" panose="02040503050406030204"/>
                        </a:rPr>
                        <m:t>𝒙</m:t>
                      </m:r>
                      <m:r>
                        <a:rPr lang="en-US" altLang="zh-CN" sz="2000" b="1" i="1">
                          <a:solidFill>
                            <a:schemeClr val="bg1"/>
                          </a:solidFill>
                          <a:latin typeface="Cambria Math" panose="02040503050406030204"/>
                        </a:rPr>
                        <m:t>+</m:t>
                      </m:r>
                      <m:sSub>
                        <m:sSubPr>
                          <m:ctrlPr>
                            <a:rPr lang="zh-CN" altLang="zh-CN" sz="2000" b="1" i="1">
                              <a:solidFill>
                                <a:schemeClr val="bg1"/>
                              </a:solidFill>
                              <a:latin typeface="Cambria Math" panose="02040503050406030204" pitchFamily="18" charset="0"/>
                            </a:rPr>
                          </m:ctrlPr>
                        </m:sSubPr>
                        <m:e>
                          <m:r>
                            <a:rPr lang="en-US" altLang="zh-CN" sz="2000" b="1" i="1" smtClean="0">
                              <a:solidFill>
                                <a:schemeClr val="bg1"/>
                              </a:solidFill>
                              <a:latin typeface="Cambria Math" panose="02040503050406030204" pitchFamily="18" charset="0"/>
                            </a:rPr>
                            <m:t>𝒑</m:t>
                          </m:r>
                        </m:e>
                        <m:sub>
                          <m:r>
                            <a:rPr lang="en-US" altLang="zh-CN" sz="2000" b="1" i="1">
                              <a:solidFill>
                                <a:schemeClr val="bg1"/>
                              </a:solidFill>
                              <a:latin typeface="Cambria Math" panose="02040503050406030204"/>
                            </a:rPr>
                            <m:t>𝒏</m:t>
                          </m:r>
                          <m:r>
                            <a:rPr lang="en-US" altLang="zh-CN" sz="2000" b="1" i="1" smtClean="0">
                              <a:solidFill>
                                <a:schemeClr val="bg1"/>
                              </a:solidFill>
                              <a:latin typeface="Cambria Math" panose="02040503050406030204" pitchFamily="18" charset="0"/>
                            </a:rPr>
                            <m:t>+</m:t>
                          </m:r>
                          <m:r>
                            <a:rPr lang="en-US" altLang="zh-CN" sz="2000" b="1" i="1" smtClean="0">
                              <a:solidFill>
                                <a:schemeClr val="bg1"/>
                              </a:solidFill>
                              <a:latin typeface="Cambria Math" panose="02040503050406030204" pitchFamily="18" charset="0"/>
                            </a:rPr>
                            <m:t>𝟏</m:t>
                          </m:r>
                        </m:sub>
                      </m:sSub>
                      <m:sSup>
                        <m:sSupPr>
                          <m:ctrlPr>
                            <a:rPr lang="zh-CN" altLang="zh-CN" sz="2000" b="1" i="1">
                              <a:solidFill>
                                <a:schemeClr val="bg1"/>
                              </a:solidFill>
                              <a:latin typeface="Cambria Math" panose="02040503050406030204" pitchFamily="18" charset="0"/>
                            </a:rPr>
                          </m:ctrlPr>
                        </m:sSupPr>
                        <m:e>
                          <m:r>
                            <a:rPr lang="en-US" altLang="zh-CN" sz="2000" b="1" i="1">
                              <a:solidFill>
                                <a:schemeClr val="bg1"/>
                              </a:solidFill>
                              <a:latin typeface="Cambria Math" panose="02040503050406030204"/>
                            </a:rPr>
                            <m:t>𝒙</m:t>
                          </m:r>
                        </m:e>
                        <m:sup>
                          <m:r>
                            <a:rPr lang="en-US" altLang="zh-CN" sz="2000" b="1" i="1">
                              <a:solidFill>
                                <a:schemeClr val="bg1"/>
                              </a:solidFill>
                              <a:latin typeface="Cambria Math" panose="02040503050406030204"/>
                            </a:rPr>
                            <m:t>𝟎</m:t>
                          </m:r>
                        </m:sup>
                      </m:sSup>
                    </m:oMath>
                  </m:oMathPara>
                </a14:m>
                <a:endParaRPr lang="zh-CN" altLang="zh-CN" sz="2000" b="1" dirty="0">
                  <a:solidFill>
                    <a:srgbClr val="FFFF00"/>
                  </a:solidFill>
                  <a:latin typeface="华文楷体" panose="02010600040101010101" pitchFamily="2" charset="-122"/>
                  <a:ea typeface="华文楷体" panose="02010600040101010101" pitchFamily="2" charset="-122"/>
                </a:endParaRPr>
              </a:p>
            </p:txBody>
          </p:sp>
        </mc:Choice>
        <mc:Fallback xmlns="">
          <p:sp>
            <p:nvSpPr>
              <p:cNvPr id="16" name="矩形 15"/>
              <p:cNvSpPr>
                <a:spLocks noRot="1" noChangeAspect="1" noMove="1" noResize="1" noEditPoints="1" noAdjustHandles="1" noChangeArrowheads="1" noChangeShapeType="1" noTextEdit="1"/>
              </p:cNvSpPr>
              <p:nvPr/>
            </p:nvSpPr>
            <p:spPr>
              <a:xfrm>
                <a:off x="1763688" y="796271"/>
                <a:ext cx="7187858" cy="407099"/>
              </a:xfrm>
              <a:prstGeom prst="rect">
                <a:avLst/>
              </a:prstGeom>
              <a:blipFill>
                <a:blip r:embed="rId3"/>
                <a:stretch>
                  <a:fillRect b="-9091"/>
                </a:stretch>
              </a:blipFill>
            </p:spPr>
            <p:txBody>
              <a:bodyPr/>
              <a:lstStyle/>
              <a:p>
                <a:r>
                  <a:rPr lang="zh-CN" altLang="en-US">
                    <a:noFill/>
                  </a:rPr>
                  <a:t> </a:t>
                </a:r>
              </a:p>
            </p:txBody>
          </p:sp>
        </mc:Fallback>
      </mc:AlternateContent>
      <p:sp>
        <p:nvSpPr>
          <p:cNvPr id="13" name="矩形 12"/>
          <p:cNvSpPr/>
          <p:nvPr/>
        </p:nvSpPr>
        <p:spPr>
          <a:xfrm>
            <a:off x="6668648" y="806073"/>
            <a:ext cx="2282898" cy="498433"/>
          </a:xfrm>
          <a:prstGeom prst="rect">
            <a:avLst/>
          </a:prstGeom>
          <a:noFill/>
          <a:ln w="9525" cap="flat" cmpd="sng">
            <a:noFill/>
            <a:prstDash val="solid"/>
            <a:round/>
          </a:ln>
          <a:effectLst>
            <a:outerShdw blurRad="63500" sx="102000" sy="102000" algn="ctr" rotWithShape="0">
              <a:prstClr val="black">
                <a:alpha val="40000"/>
              </a:prstClr>
            </a:outerShdw>
          </a:effectLst>
        </p:spPr>
        <p:txBody>
          <a:bodyPr vert="horz" wrap="square" lIns="91440" tIns="45720" rIns="91440" bIns="45720" anchor="t">
            <a:noAutofit/>
          </a:bodyPr>
          <a:lstStyle/>
          <a:p>
            <a:pPr algn="dist" eaLnBrk="0" fontAlgn="auto">
              <a:spcBef>
                <a:spcPts val="0"/>
              </a:spcBef>
              <a:spcAft>
                <a:spcPts val="0"/>
              </a:spcAft>
            </a:pPr>
            <a:r>
              <a:rPr lang="zh-CN" altLang="en-US" sz="2000" dirty="0">
                <a:ln w="9525" cap="flat" cmpd="sng"/>
                <a:solidFill>
                  <a:srgbClr val="FFFF00"/>
                </a:solidFill>
                <a:highlight>
                  <a:srgbClr val="003B76"/>
                </a:highlight>
                <a:latin typeface="华文楷体" panose="02010600040101010101" pitchFamily="2" charset="-122"/>
                <a:ea typeface="华文楷体" panose="02010600040101010101" pitchFamily="2" charset="-122"/>
              </a:rPr>
              <a:t>多项式常数项</a:t>
            </a:r>
            <a:r>
              <a:rPr lang="en-US" altLang="zh-CN" sz="2000" dirty="0">
                <a:ln w="9525" cap="flat" cmpd="sng"/>
                <a:solidFill>
                  <a:srgbClr val="FFFF00"/>
                </a:solidFill>
                <a:highlight>
                  <a:srgbClr val="003B76"/>
                </a:highlight>
                <a:latin typeface="华文楷体" panose="02010600040101010101" pitchFamily="2" charset="-122"/>
                <a:ea typeface="华文楷体" panose="02010600040101010101" pitchFamily="2" charset="-122"/>
              </a:rPr>
              <a:t>p</a:t>
            </a:r>
            <a:r>
              <a:rPr lang="en-US" altLang="ko-KR" sz="2000" baseline="-25000" dirty="0">
                <a:solidFill>
                  <a:srgbClr val="FFFF00"/>
                </a:solidFill>
                <a:highlight>
                  <a:srgbClr val="003B76"/>
                </a:highlight>
                <a:latin typeface="华文楷体" panose="02010600040101010101" pitchFamily="2" charset="-122"/>
                <a:ea typeface="华文楷体" panose="02010600040101010101" pitchFamily="2" charset="-122"/>
              </a:rPr>
              <a:t>n+1</a:t>
            </a:r>
            <a:endParaRPr lang="zh-CN" altLang="en-US" sz="2000" dirty="0">
              <a:ln w="9525" cap="flat" cmpd="sng"/>
              <a:solidFill>
                <a:srgbClr val="FFFF00"/>
              </a:solidFill>
              <a:highlight>
                <a:srgbClr val="003B76"/>
              </a:highlight>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999"/>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7" grpId="0"/>
      <p:bldP spid="8" grpId="0" animBg="1"/>
      <p:bldP spid="9" grpId="0"/>
      <p:bldP spid="10" grpId="0"/>
      <p:bldP spid="11" grpId="0"/>
      <p:bldP spid="12" grpId="0" animBg="1"/>
      <p:bldP spid="15" grpId="0" animBg="1"/>
      <p:bldP spid="17"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p:cNvGraphicFramePr>
            <a:graphicFrameLocks noGrp="1"/>
          </p:cNvGraphicFramePr>
          <p:nvPr>
            <p:extLst>
              <p:ext uri="{D42A27DB-BD31-4B8C-83A1-F6EECF244321}">
                <p14:modId xmlns:p14="http://schemas.microsoft.com/office/powerpoint/2010/main" val="1505660072"/>
              </p:ext>
            </p:extLst>
          </p:nvPr>
        </p:nvGraphicFramePr>
        <p:xfrm>
          <a:off x="22880" y="680788"/>
          <a:ext cx="9036494" cy="3547016"/>
        </p:xfrm>
        <a:graphic>
          <a:graphicData uri="http://schemas.openxmlformats.org/drawingml/2006/table">
            <a:tbl>
              <a:tblPr/>
              <a:tblGrid>
                <a:gridCol w="948258">
                  <a:extLst>
                    <a:ext uri="{9D8B030D-6E8A-4147-A177-3AD203B41FA5}">
                      <a16:colId xmlns:a16="http://schemas.microsoft.com/office/drawing/2014/main" val="20000"/>
                    </a:ext>
                  </a:extLst>
                </a:gridCol>
                <a:gridCol w="2633885">
                  <a:extLst>
                    <a:ext uri="{9D8B030D-6E8A-4147-A177-3AD203B41FA5}">
                      <a16:colId xmlns:a16="http://schemas.microsoft.com/office/drawing/2014/main" val="20001"/>
                    </a:ext>
                  </a:extLst>
                </a:gridCol>
                <a:gridCol w="2016224">
                  <a:extLst>
                    <a:ext uri="{9D8B030D-6E8A-4147-A177-3AD203B41FA5}">
                      <a16:colId xmlns:a16="http://schemas.microsoft.com/office/drawing/2014/main" val="3941562523"/>
                    </a:ext>
                  </a:extLst>
                </a:gridCol>
                <a:gridCol w="3438127">
                  <a:extLst>
                    <a:ext uri="{9D8B030D-6E8A-4147-A177-3AD203B41FA5}">
                      <a16:colId xmlns:a16="http://schemas.microsoft.com/office/drawing/2014/main" val="209234247"/>
                    </a:ext>
                  </a:extLst>
                </a:gridCol>
              </a:tblGrid>
              <a:tr h="371549">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函数</a:t>
                      </a: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6F8FA"/>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功能</a:t>
                      </a: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6F8FA"/>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函数</a:t>
                      </a: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6F8FA"/>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示例</a:t>
                      </a: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6F8FA"/>
                    </a:solidFill>
                  </a:tcPr>
                </a:tc>
                <a:extLst>
                  <a:ext uri="{0D108BD9-81ED-4DB2-BD59-A6C34878D82A}">
                    <a16:rowId xmlns:a16="http://schemas.microsoft.com/office/drawing/2014/main" val="10000"/>
                  </a:ext>
                </a:extLst>
              </a:tr>
              <a:tr h="371549">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hlinkClick r:id="rId3" action="ppaction://hlinkfile">
                            <a:extLst>
                              <a:ext uri="{A12FA001-AC4F-418D-AE19-62706E023703}">
                                <ahyp:hlinkClr xmlns:ahyp="http://schemas.microsoft.com/office/drawing/2018/hyperlinkcolor" val="tx"/>
                              </a:ext>
                            </a:extLst>
                          </a:hlinkClick>
                        </a:rPr>
                        <a:t>roots</a:t>
                      </a:r>
                      <a:endParaRPr lang="en-US" altLang="zh-CN"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多项式</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求根</a:t>
                      </a: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r=roots(p)</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r=roots([1,2,1]) #r=[-1.0,-1.0]</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32147" marR="32147" marT="16073" marB="16073"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1"/>
                  </a:ext>
                </a:extLst>
              </a:tr>
              <a:tr h="350254">
                <a:tc>
                  <a:txBody>
                    <a:bodyPr/>
                    <a:lstStyle/>
                    <a:p>
                      <a:pPr marL="0" algn="l" defTabSz="914400" rtl="0" eaLnBrk="1" latinLnBrk="0" hangingPunct="1"/>
                      <a:r>
                        <a:rPr lang="en-US" sz="1400" kern="1200">
                          <a:solidFill>
                            <a:srgbClr val="0070C0"/>
                          </a:solidFill>
                          <a:effectLst/>
                          <a:latin typeface="微软雅黑" panose="020B0503020204020204" pitchFamily="34" charset="-122"/>
                          <a:ea typeface="微软雅黑" panose="020B0503020204020204" pitchFamily="34" charset="-122"/>
                          <a:cs typeface="+mn-cs"/>
                          <a:hlinkClick r:id="rId4" action="ppaction://hlinkfile">
                            <a:extLst>
                              <a:ext uri="{A12FA001-AC4F-418D-AE19-62706E023703}">
                                <ahyp:hlinkClr xmlns:ahyp="http://schemas.microsoft.com/office/drawing/2018/hyperlinkcolor" val="tx"/>
                              </a:ext>
                            </a:extLst>
                          </a:hlinkClick>
                        </a:rPr>
                        <a:t>poly</a:t>
                      </a:r>
                      <a:endParaRPr lang="en-US" sz="1400" kern="120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指定根</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r</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的多项式</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p=poly(r)</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p=poly([-1.0,-1.0])  #p=[1.0,2.0,1.0]</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2"/>
                  </a:ext>
                </a:extLst>
              </a:tr>
              <a:tr h="350254">
                <a:tc>
                  <a:txBody>
                    <a:bodyPr/>
                    <a:lstStyle/>
                    <a:p>
                      <a:pPr marL="0" algn="l" defTabSz="914400" rtl="0" eaLnBrk="1" latinLnBrk="0" hangingPunct="1"/>
                      <a:r>
                        <a:rPr lang="en-US" sz="1400" kern="1200">
                          <a:solidFill>
                            <a:srgbClr val="0070C0"/>
                          </a:solidFill>
                          <a:effectLst/>
                          <a:latin typeface="微软雅黑" panose="020B0503020204020204" pitchFamily="34" charset="-122"/>
                          <a:ea typeface="微软雅黑" panose="020B0503020204020204" pitchFamily="34" charset="-122"/>
                          <a:cs typeface="+mn-cs"/>
                          <a:hlinkClick r:id="rId5" action="ppaction://hlinkfile">
                            <a:extLst>
                              <a:ext uri="{A12FA001-AC4F-418D-AE19-62706E023703}">
                                <ahyp:hlinkClr xmlns:ahyp="http://schemas.microsoft.com/office/drawing/2018/hyperlinkcolor" val="tx"/>
                              </a:ext>
                            </a:extLst>
                          </a:hlinkClick>
                        </a:rPr>
                        <a:t>polyval</a:t>
                      </a:r>
                      <a:endParaRPr lang="en-US" sz="1400" kern="120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代数多项式计算：</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在</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x</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处点运算</a:t>
                      </a: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y=</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polyval</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p,x</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y=</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polyval</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([1,1],2)  #y=3</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3"/>
                  </a:ext>
                </a:extLst>
              </a:tr>
              <a:tr h="350254">
                <a:tc>
                  <a:txBody>
                    <a:bodyPr/>
                    <a:lstStyle/>
                    <a:p>
                      <a:pPr marL="0" algn="l" defTabSz="914400" rtl="0" eaLnBrk="1" latinLnBrk="0" hangingPunct="1"/>
                      <a:r>
                        <a:rPr lang="en-US" sz="1400" kern="1200" dirty="0" err="1">
                          <a:solidFill>
                            <a:srgbClr val="0070C0"/>
                          </a:solidFill>
                          <a:effectLst/>
                          <a:latin typeface="微软雅黑" panose="020B0503020204020204" pitchFamily="34" charset="-122"/>
                          <a:ea typeface="微软雅黑" panose="020B0503020204020204" pitchFamily="34" charset="-122"/>
                          <a:cs typeface="+mn-cs"/>
                          <a:hlinkClick r:id="rId6" action="ppaction://hlinkfile">
                            <a:extLst>
                              <a:ext uri="{A12FA001-AC4F-418D-AE19-62706E023703}">
                                <ahyp:hlinkClr xmlns:ahyp="http://schemas.microsoft.com/office/drawing/2018/hyperlinkcolor" val="tx"/>
                              </a:ext>
                            </a:extLst>
                          </a:hlinkClick>
                        </a:rPr>
                        <a:t>polyvalm</a:t>
                      </a:r>
                      <a:endParaRPr 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矩阵多项式：</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在方阵</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x</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矩阵运算</a:t>
                      </a: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y=</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polyvalm</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p,x</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y=</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polyvalm</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([1,1],</a:t>
                      </a:r>
                      <a:r>
                        <a:rPr lang="en-US" altLang="ko-KR" sz="1400" dirty="0">
                          <a:solidFill>
                            <a:srgbClr val="002060"/>
                          </a:solidFill>
                          <a:latin typeface="Times New Roman" panose="02020603050405020304" pitchFamily="18" charset="0"/>
                          <a:ea typeface="华文楷体" panose="02010600040101010101" pitchFamily="2" charset="-122"/>
                          <a:cs typeface="Times New Roman" panose="02020603050405020304" pitchFamily="18" charset="0"/>
                        </a:rPr>
                        <a:t> [2 4;1 0]</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 y=[3 4;1 1]</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4"/>
                  </a:ext>
                </a:extLst>
              </a:tr>
              <a:tr h="297322">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conv</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多项式乘法</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卷积</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):p1</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除以</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p2</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w=conv(p1,p2)</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w=conv([2,1,1],[2,1])  #w= [2,3,1]</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5"/>
                  </a:ext>
                </a:extLst>
              </a:tr>
              <a:tr h="0">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deconv</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多项式除法</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解卷积</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q,r</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deconv</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(p1,p2)</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altLang="zh-CN" sz="1400" kern="1200" dirty="0">
                          <a:solidFill>
                            <a:srgbClr val="0070C0"/>
                          </a:solidFill>
                          <a:effectLst/>
                          <a:latin typeface="微软雅黑" panose="020B0503020204020204" pitchFamily="34" charset="-122"/>
                          <a:ea typeface="微软雅黑" panose="020B0503020204020204" pitchFamily="34" charset="-122"/>
                          <a:cs typeface="+mn-cs"/>
                        </a:rPr>
                        <a:t>q,r=deconv([2,1,1],[2,1]) </a:t>
                      </a:r>
                      <a:endParaRPr lang="en-US" altLang="zh-CN" sz="1400" kern="1200" dirty="0">
                        <a:solidFill>
                          <a:srgbClr val="0070C0"/>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#([1.0, 0.0], [0.0, 0.0, 1.0])</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6"/>
                  </a:ext>
                </a:extLst>
              </a:tr>
              <a:tr h="350254">
                <a:tc>
                  <a:txBody>
                    <a:bodyPr/>
                    <a:lstStyle/>
                    <a:p>
                      <a:pPr marL="0" algn="l" defTabSz="914400" rtl="0" eaLnBrk="1" latinLnBrk="0" hangingPunct="1"/>
                      <a:r>
                        <a:rPr lang="en-US" sz="1400" kern="1200" dirty="0" err="1">
                          <a:solidFill>
                            <a:srgbClr val="0070C0"/>
                          </a:solidFill>
                          <a:effectLst/>
                          <a:latin typeface="微软雅黑" panose="020B0503020204020204" pitchFamily="34" charset="-122"/>
                          <a:ea typeface="微软雅黑" panose="020B0503020204020204" pitchFamily="34" charset="-122"/>
                          <a:cs typeface="+mn-cs"/>
                          <a:hlinkClick r:id="rId7" action="ppaction://hlinkfile">
                            <a:extLst>
                              <a:ext uri="{A12FA001-AC4F-418D-AE19-62706E023703}">
                                <ahyp:hlinkClr xmlns:ahyp="http://schemas.microsoft.com/office/drawing/2018/hyperlinkcolor" val="tx"/>
                              </a:ext>
                            </a:extLst>
                          </a:hlinkClick>
                        </a:rPr>
                        <a:t>polyder</a:t>
                      </a:r>
                      <a:endParaRPr 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多项式微分</a:t>
                      </a: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400" kern="1200" dirty="0">
                          <a:solidFill>
                            <a:srgbClr val="0070C0"/>
                          </a:solidFill>
                          <a:effectLst/>
                          <a:latin typeface="微软雅黑" panose="020B0503020204020204" pitchFamily="34" charset="-122"/>
                          <a:ea typeface="微软雅黑" panose="020B0503020204020204" pitchFamily="34" charset="-122"/>
                          <a:cs typeface="+mn-cs"/>
                        </a:rPr>
                        <a:t>k=</a:t>
                      </a:r>
                      <a:r>
                        <a:rPr lang="en-US" altLang="ko-KR" sz="1400" kern="1200" dirty="0" err="1">
                          <a:solidFill>
                            <a:srgbClr val="0070C0"/>
                          </a:solidFill>
                          <a:effectLst/>
                          <a:latin typeface="微软雅黑" panose="020B0503020204020204" pitchFamily="34" charset="-122"/>
                          <a:ea typeface="微软雅黑" panose="020B0503020204020204" pitchFamily="34" charset="-122"/>
                          <a:cs typeface="+mn-cs"/>
                        </a:rPr>
                        <a:t>polyder</a:t>
                      </a:r>
                      <a:r>
                        <a:rPr lang="en-US" altLang="ko-KR" sz="1400" kern="1200" dirty="0">
                          <a:solidFill>
                            <a:srgbClr val="0070C0"/>
                          </a:solidFill>
                          <a:effectLst/>
                          <a:latin typeface="微软雅黑" panose="020B0503020204020204" pitchFamily="34" charset="-122"/>
                          <a:ea typeface="微软雅黑" panose="020B0503020204020204" pitchFamily="34" charset="-122"/>
                          <a:cs typeface="+mn-cs"/>
                        </a:rPr>
                        <a:t>(</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a:t>
                      </a:r>
                      <a:r>
                        <a:rPr lang="en-US" altLang="ko-KR" sz="1400" kern="1200" dirty="0">
                          <a:solidFill>
                            <a:srgbClr val="0070C0"/>
                          </a:solidFill>
                          <a:effectLst/>
                          <a:latin typeface="微软雅黑" panose="020B0503020204020204" pitchFamily="34" charset="-122"/>
                          <a:ea typeface="微软雅黑" panose="020B0503020204020204" pitchFamily="34" charset="-122"/>
                          <a:cs typeface="+mn-cs"/>
                        </a:rPr>
                        <a:t>)</a:t>
                      </a:r>
                      <a:endParaRPr 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b="0" dirty="0">
                          <a:solidFill>
                            <a:srgbClr val="000000"/>
                          </a:solidFill>
                          <a:effectLst/>
                          <a:latin typeface="Consolas" panose="020B0609020204030204" pitchFamily="49" charset="0"/>
                        </a:rPr>
                        <a:t>d=</a:t>
                      </a:r>
                      <a:r>
                        <a:rPr lang="en-US" altLang="zh-CN" sz="1400" b="0" dirty="0" err="1">
                          <a:solidFill>
                            <a:srgbClr val="795E26"/>
                          </a:solidFill>
                          <a:effectLst/>
                          <a:latin typeface="Consolas" panose="020B0609020204030204" pitchFamily="49" charset="0"/>
                        </a:rPr>
                        <a:t>polyder</a:t>
                      </a:r>
                      <a:r>
                        <a:rPr lang="en-US" altLang="zh-CN" sz="1400" b="0" dirty="0">
                          <a:solidFill>
                            <a:srgbClr val="000000"/>
                          </a:solidFill>
                          <a:effectLst/>
                          <a:latin typeface="Consolas" panose="020B0609020204030204" pitchFamily="49" charset="0"/>
                        </a:rPr>
                        <a:t>([2,1])  #d=2</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7"/>
                  </a:ext>
                </a:extLst>
              </a:tr>
              <a:tr h="199246">
                <a:tc>
                  <a:txBody>
                    <a:bodyPr/>
                    <a:lstStyle/>
                    <a:p>
                      <a:pPr marL="0" algn="l" defTabSz="914400" rtl="0" eaLnBrk="1" latinLnBrk="0" hangingPunct="1"/>
                      <a:r>
                        <a:rPr lang="en-US" sz="1400" kern="1200" dirty="0" err="1">
                          <a:solidFill>
                            <a:srgbClr val="0070C0"/>
                          </a:solidFill>
                          <a:effectLst/>
                          <a:latin typeface="微软雅黑" panose="020B0503020204020204" pitchFamily="34" charset="-122"/>
                          <a:ea typeface="微软雅黑" panose="020B0503020204020204" pitchFamily="34" charset="-122"/>
                          <a:cs typeface="+mn-cs"/>
                          <a:hlinkClick r:id="rId8" action="ppaction://hlinkfile">
                            <a:extLst>
                              <a:ext uri="{A12FA001-AC4F-418D-AE19-62706E023703}">
                                <ahyp:hlinkClr xmlns:ahyp="http://schemas.microsoft.com/office/drawing/2018/hyperlinkcolor" val="tx"/>
                              </a:ext>
                            </a:extLst>
                          </a:hlinkClick>
                        </a:rPr>
                        <a:t>polyint</a:t>
                      </a:r>
                      <a:endParaRPr 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多项式积分</a:t>
                      </a: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1400" kern="1200" dirty="0">
                          <a:solidFill>
                            <a:srgbClr val="0070C0"/>
                          </a:solidFill>
                          <a:effectLst/>
                          <a:latin typeface="微软雅黑" panose="020B0503020204020204" pitchFamily="34" charset="-122"/>
                          <a:ea typeface="微软雅黑" panose="020B0503020204020204" pitchFamily="34" charset="-122"/>
                          <a:cs typeface="+mn-cs"/>
                        </a:rPr>
                        <a:t>q=</a:t>
                      </a:r>
                      <a:r>
                        <a:rPr lang="en-US" altLang="ko-KR" sz="1400" kern="1200" dirty="0" err="1">
                          <a:solidFill>
                            <a:srgbClr val="0070C0"/>
                          </a:solidFill>
                          <a:effectLst/>
                          <a:latin typeface="微软雅黑" panose="020B0503020204020204" pitchFamily="34" charset="-122"/>
                          <a:ea typeface="微软雅黑" panose="020B0503020204020204" pitchFamily="34" charset="-122"/>
                          <a:cs typeface="+mn-cs"/>
                        </a:rPr>
                        <a:t>polyint</a:t>
                      </a:r>
                      <a:r>
                        <a:rPr lang="en-US" altLang="ko-KR" sz="1400" kern="1200" dirty="0">
                          <a:solidFill>
                            <a:srgbClr val="0070C0"/>
                          </a:solidFill>
                          <a:effectLst/>
                          <a:latin typeface="微软雅黑" panose="020B0503020204020204" pitchFamily="34" charset="-122"/>
                          <a:ea typeface="微软雅黑" panose="020B0503020204020204" pitchFamily="34" charset="-122"/>
                          <a:cs typeface="+mn-cs"/>
                        </a:rPr>
                        <a:t>(</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a:t>
                      </a:r>
                      <a:r>
                        <a:rPr lang="en-US" altLang="ko-KR" sz="1400" kern="1200" dirty="0" err="1">
                          <a:solidFill>
                            <a:srgbClr val="0070C0"/>
                          </a:solidFill>
                          <a:effectLst/>
                          <a:latin typeface="微软雅黑" panose="020B0503020204020204" pitchFamily="34" charset="-122"/>
                          <a:ea typeface="微软雅黑" panose="020B0503020204020204" pitchFamily="34" charset="-122"/>
                          <a:cs typeface="+mn-cs"/>
                        </a:rPr>
                        <a:t>,c</a:t>
                      </a:r>
                      <a:r>
                        <a:rPr lang="en-US" altLang="ko-KR" sz="1400" kern="1200" dirty="0">
                          <a:solidFill>
                            <a:srgbClr val="0070C0"/>
                          </a:solidFill>
                          <a:effectLst/>
                          <a:latin typeface="微软雅黑" panose="020B0503020204020204" pitchFamily="34" charset="-122"/>
                          <a:ea typeface="微软雅黑" panose="020B0503020204020204" pitchFamily="34" charset="-122"/>
                          <a:cs typeface="+mn-cs"/>
                        </a:rPr>
                        <a:t>)</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b="0" dirty="0">
                          <a:solidFill>
                            <a:srgbClr val="000000"/>
                          </a:solidFill>
                          <a:effectLst/>
                          <a:latin typeface="Consolas" panose="020B0609020204030204" pitchFamily="49" charset="0"/>
                        </a:rPr>
                        <a:t>q=</a:t>
                      </a:r>
                      <a:r>
                        <a:rPr lang="en-US" altLang="zh-CN" sz="1400" b="0" dirty="0" err="1">
                          <a:solidFill>
                            <a:srgbClr val="795E26"/>
                          </a:solidFill>
                          <a:effectLst/>
                          <a:latin typeface="Consolas" panose="020B0609020204030204" pitchFamily="49" charset="0"/>
                        </a:rPr>
                        <a:t>polyint</a:t>
                      </a:r>
                      <a:r>
                        <a:rPr lang="en-US" altLang="zh-CN" sz="1400" b="0" dirty="0">
                          <a:solidFill>
                            <a:srgbClr val="000000"/>
                          </a:solidFill>
                          <a:effectLst/>
                          <a:latin typeface="Consolas" panose="020B0609020204030204" pitchFamily="49" charset="0"/>
                        </a:rPr>
                        <a:t>(2,1) #q=[2,1]</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8"/>
                  </a:ext>
                </a:extLst>
              </a:tr>
              <a:tr h="350254">
                <a:tc>
                  <a:txBody>
                    <a:bodyPr/>
                    <a:lstStyle/>
                    <a:p>
                      <a:pPr marL="0" algn="l" defTabSz="914400" rtl="0" eaLnBrk="1" latinLnBrk="0" hangingPunct="1"/>
                      <a:r>
                        <a:rPr lang="en-US" sz="1400" kern="1200" dirty="0" err="1">
                          <a:solidFill>
                            <a:srgbClr val="0070C0"/>
                          </a:solidFill>
                          <a:effectLst/>
                          <a:latin typeface="微软雅黑" panose="020B0503020204020204" pitchFamily="34" charset="-122"/>
                          <a:ea typeface="微软雅黑" panose="020B0503020204020204" pitchFamily="34" charset="-122"/>
                          <a:cs typeface="+mn-cs"/>
                          <a:hlinkClick r:id="rId9" action="ppaction://hlinkfile">
                            <a:extLst>
                              <a:ext uri="{A12FA001-AC4F-418D-AE19-62706E023703}">
                                <ahyp:hlinkClr xmlns:ahyp="http://schemas.microsoft.com/office/drawing/2018/hyperlinkcolor" val="tx"/>
                              </a:ext>
                            </a:extLst>
                          </a:hlinkClick>
                        </a:rPr>
                        <a:t>polyfit</a:t>
                      </a:r>
                      <a:r>
                        <a:rPr lang="en-US" sz="1400" kern="1200" dirty="0">
                          <a:solidFill>
                            <a:srgbClr val="0070C0"/>
                          </a:solidFill>
                          <a:effectLst/>
                          <a:latin typeface="微软雅黑" panose="020B0503020204020204" pitchFamily="34" charset="-122"/>
                          <a:ea typeface="微软雅黑" panose="020B0503020204020204" pitchFamily="34" charset="-122"/>
                          <a:cs typeface="+mn-cs"/>
                          <a:hlinkClick r:id="rId9" action="ppaction://hlinkfile">
                            <a:extLst>
                              <a:ext uri="{A12FA001-AC4F-418D-AE19-62706E023703}">
                                <ahyp:hlinkClr xmlns:ahyp="http://schemas.microsoft.com/office/drawing/2018/hyperlinkcolor" val="tx"/>
                              </a:ext>
                            </a:extLst>
                          </a:hlinkClick>
                        </a:rPr>
                        <a:t> </a:t>
                      </a:r>
                      <a:endParaRPr 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n</a:t>
                      </a:r>
                      <a:r>
                        <a:rPr lang="zh-CN" altLang="en-US" sz="1400" kern="1200" dirty="0">
                          <a:solidFill>
                            <a:srgbClr val="0070C0"/>
                          </a:solidFill>
                          <a:effectLst/>
                          <a:latin typeface="微软雅黑" panose="020B0503020204020204" pitchFamily="34" charset="-122"/>
                          <a:ea typeface="微软雅黑" panose="020B0503020204020204" pitchFamily="34" charset="-122"/>
                          <a:cs typeface="+mn-cs"/>
                        </a:rPr>
                        <a:t>次多项式曲线拟合</a:t>
                      </a: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p, =</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polyfit</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r>
                        <a:rPr lang="en-US" altLang="zh-CN" sz="1400" kern="1200" dirty="0" err="1">
                          <a:solidFill>
                            <a:srgbClr val="0070C0"/>
                          </a:solidFill>
                          <a:effectLst/>
                          <a:latin typeface="微软雅黑" panose="020B0503020204020204" pitchFamily="34" charset="-122"/>
                          <a:ea typeface="微软雅黑" panose="020B0503020204020204" pitchFamily="34" charset="-122"/>
                          <a:cs typeface="+mn-cs"/>
                        </a:rPr>
                        <a:t>x,y,n</a:t>
                      </a:r>
                      <a:r>
                        <a:rPr lang="en-US" altLang="zh-CN" sz="1400" kern="1200" dirty="0">
                          <a:solidFill>
                            <a:srgbClr val="0070C0"/>
                          </a:solidFill>
                          <a:effectLst/>
                          <a:latin typeface="微软雅黑" panose="020B0503020204020204" pitchFamily="34" charset="-122"/>
                          <a:ea typeface="微软雅黑" panose="020B0503020204020204" pitchFamily="34" charset="-122"/>
                          <a:cs typeface="+mn-cs"/>
                        </a:rPr>
                        <a:t>)</a:t>
                      </a:r>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tc>
                  <a:txBody>
                    <a:bodyPr/>
                    <a:lstStyle/>
                    <a:p>
                      <a:pPr marL="0" algn="l" defTabSz="914400" rtl="0" eaLnBrk="1" latinLnBrk="0" hangingPunct="1"/>
                      <a:endParaRPr lang="zh-CN" altLang="en-US" sz="1400" kern="1200" dirty="0">
                        <a:solidFill>
                          <a:srgbClr val="0070C0"/>
                        </a:solidFill>
                        <a:effectLst/>
                        <a:latin typeface="微软雅黑" panose="020B0503020204020204" pitchFamily="34" charset="-122"/>
                        <a:ea typeface="微软雅黑" panose="020B0503020204020204" pitchFamily="34" charset="-122"/>
                        <a:cs typeface="+mn-cs"/>
                      </a:endParaRPr>
                    </a:p>
                  </a:txBody>
                  <a:tcPr marL="16329" marR="16329" marT="8164" marB="8164"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w="25400" h="25400" prst="angle"/>
                      <a:lightRig rig="flood" dir="t"/>
                    </a:cell3D>
                    <a:solidFill>
                      <a:srgbClr val="FFFFFF"/>
                    </a:solidFill>
                  </a:tcPr>
                </a:tc>
                <a:extLst>
                  <a:ext uri="{0D108BD9-81ED-4DB2-BD59-A6C34878D82A}">
                    <a16:rowId xmlns:a16="http://schemas.microsoft.com/office/drawing/2014/main" val="10009"/>
                  </a:ext>
                </a:extLst>
              </a:tr>
            </a:tbl>
          </a:graphicData>
        </a:graphic>
      </p:graphicFrame>
      <p:sp>
        <p:nvSpPr>
          <p:cNvPr id="6" name="Text Box 4"/>
          <p:cNvSpPr txBox="1"/>
          <p:nvPr/>
        </p:nvSpPr>
        <p:spPr bwMode="auto">
          <a:xfrm>
            <a:off x="22880" y="4261763"/>
            <a:ext cx="9036494" cy="341632"/>
          </a:xfrm>
          <a:prstGeom prst="rect">
            <a:avLst/>
          </a:prstGeom>
          <a:solidFill>
            <a:schemeClr val="tx2">
              <a:lumMod val="95000"/>
              <a:lumOff val="5000"/>
            </a:schemeClr>
          </a:solidFill>
          <a:ln>
            <a:noFill/>
          </a:ln>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8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algn="dist"/>
            <a:r>
              <a:rPr lang="en-US" altLang="ko-KR" sz="1800" b="0" dirty="0" err="1">
                <a:effectLst/>
                <a:highlight>
                  <a:srgbClr val="003B76"/>
                </a:highlight>
                <a:latin typeface="隶书" panose="02010509060101010101" pitchFamily="49" charset="-122"/>
                <a:ea typeface="隶书" panose="02010509060101010101" pitchFamily="49" charset="-122"/>
                <a:sym typeface="+mn-ea"/>
              </a:rPr>
              <a:t>多项式连续函数</a:t>
            </a:r>
            <a:r>
              <a:rPr lang="en-US" altLang="ko-KR" sz="1800" b="0" dirty="0">
                <a:effectLst/>
                <a:highlight>
                  <a:srgbClr val="003B76"/>
                </a:highlight>
                <a:latin typeface="隶书" panose="02010509060101010101" pitchFamily="49" charset="-122"/>
                <a:ea typeface="隶书" panose="02010509060101010101" pitchFamily="49" charset="-122"/>
                <a:sym typeface="+mn-ea"/>
              </a:rPr>
              <a:t> </a:t>
            </a:r>
            <a:r>
              <a:rPr lang="en-US" altLang="ko-KR" sz="1800" b="0" dirty="0" err="1">
                <a:effectLst/>
                <a:highlight>
                  <a:srgbClr val="003B76"/>
                </a:highlight>
                <a:ea typeface="华文楷体" panose="02010600040101010101" pitchFamily="2" charset="-122"/>
              </a:rPr>
              <a:t>多项式求根和值,乘除,微积分,拟合曲线</a:t>
            </a:r>
            <a:r>
              <a:rPr lang="en-US" altLang="ko-KR" sz="1800" b="0" dirty="0">
                <a:effectLst/>
                <a:highlight>
                  <a:srgbClr val="003B76"/>
                </a:highlight>
                <a:ea typeface="华文楷体" panose="02010600040101010101" pitchFamily="2" charset="-122"/>
              </a:rPr>
              <a:t>,</a:t>
            </a:r>
            <a:r>
              <a:rPr lang="en-US" altLang="ko-KR" sz="1800" b="0" dirty="0">
                <a:effectLst/>
                <a:highlight>
                  <a:srgbClr val="003B76"/>
                </a:highlight>
                <a:latin typeface="隶书" panose="02010509060101010101" pitchFamily="49" charset="-122"/>
                <a:ea typeface="隶书" panose="02010509060101010101" pitchFamily="49" charset="-122"/>
                <a:sym typeface="+mn-ea"/>
              </a:rPr>
              <a:t> </a:t>
            </a:r>
            <a:r>
              <a:rPr lang="en-US" altLang="ko-KR" sz="1800" b="0" dirty="0" err="1">
                <a:effectLst/>
                <a:highlight>
                  <a:srgbClr val="003B76"/>
                </a:highlight>
                <a:latin typeface="隶书" panose="02010509060101010101" pitchFamily="49" charset="-122"/>
                <a:ea typeface="隶书" panose="02010509060101010101" pitchFamily="49" charset="-122"/>
                <a:sym typeface="+mn-ea"/>
              </a:rPr>
              <a:t>结果</a:t>
            </a:r>
            <a:r>
              <a:rPr lang="zh-CN" altLang="en-US" sz="1800" b="0" dirty="0">
                <a:effectLst/>
                <a:highlight>
                  <a:srgbClr val="003B76"/>
                </a:highlight>
                <a:latin typeface="隶书" panose="02010509060101010101" pitchFamily="49" charset="-122"/>
                <a:ea typeface="隶书" panose="02010509060101010101" pitchFamily="49" charset="-122"/>
                <a:sym typeface="+mn-ea"/>
              </a:rPr>
              <a:t>多为</a:t>
            </a:r>
            <a:r>
              <a:rPr lang="en-US" altLang="ko-KR" sz="1800" b="0" dirty="0" err="1">
                <a:effectLst/>
                <a:highlight>
                  <a:srgbClr val="003B76"/>
                </a:highlight>
                <a:latin typeface="隶书" panose="02010509060101010101" pitchFamily="49" charset="-122"/>
                <a:ea typeface="隶书" panose="02010509060101010101" pitchFamily="49" charset="-122"/>
                <a:sym typeface="+mn-ea"/>
              </a:rPr>
              <a:t>多项式，控制方便</a:t>
            </a:r>
            <a:r>
              <a:rPr lang="en-US" altLang="ko-KR" sz="1800" b="0" dirty="0">
                <a:effectLst/>
                <a:highlight>
                  <a:srgbClr val="003B76"/>
                </a:highlight>
                <a:ea typeface="华文楷体" panose="02010600040101010101" pitchFamily="2" charset="-122"/>
              </a:rPr>
              <a:t>,</a:t>
            </a:r>
          </a:p>
        </p:txBody>
      </p:sp>
      <p:sp>
        <p:nvSpPr>
          <p:cNvPr id="8" name="标题 1"/>
          <p:cNvSpPr>
            <a:spLocks noGrp="1"/>
          </p:cNvSpPr>
          <p:nvPr>
            <p:ph type="title"/>
          </p:nvPr>
        </p:nvSpPr>
        <p:spPr>
          <a:xfrm>
            <a:off x="860764" y="211964"/>
            <a:ext cx="6557957" cy="438150"/>
          </a:xfrm>
        </p:spPr>
        <p:txBody>
          <a:bodyPr/>
          <a:lstStyle/>
          <a:p>
            <a:r>
              <a:rPr lang="en-US" altLang="zh-CN" sz="2800" b="1" dirty="0"/>
              <a:t>§5.1</a:t>
            </a:r>
            <a:r>
              <a:rPr lang="zh-CN" altLang="en-US" sz="2800" b="1" dirty="0"/>
              <a:t>多项式</a:t>
            </a:r>
            <a:r>
              <a:rPr lang="en-US" altLang="zh-CN" sz="2800" b="1" kern="0" dirty="0">
                <a:solidFill>
                  <a:srgbClr val="FF0000"/>
                </a:solidFill>
              </a:rPr>
              <a:t>——</a:t>
            </a:r>
            <a:r>
              <a:rPr lang="zh-CN" altLang="en-US" sz="2800" b="1" kern="0" dirty="0">
                <a:solidFill>
                  <a:srgbClr val="FF0000"/>
                </a:solidFill>
              </a:rPr>
              <a:t>多项式运算常用函数</a:t>
            </a:r>
            <a:endParaRPr lang="zh-CN" altLang="en-US" sz="2800" b="1" dirty="0"/>
          </a:p>
        </p:txBody>
      </p:sp>
      <p:sp>
        <p:nvSpPr>
          <p:cNvPr id="10" name="Text Box 8">
            <a:extLst>
              <a:ext uri="{FF2B5EF4-FFF2-40B4-BE49-F238E27FC236}">
                <a16:creationId xmlns:a16="http://schemas.microsoft.com/office/drawing/2014/main" id="{65C2F96B-2E50-4344-AA19-64C07870877C}"/>
              </a:ext>
            </a:extLst>
          </p:cNvPr>
          <p:cNvSpPr txBox="1"/>
          <p:nvPr/>
        </p:nvSpPr>
        <p:spPr bwMode="auto">
          <a:xfrm>
            <a:off x="6948264" y="211560"/>
            <a:ext cx="2085827" cy="356123"/>
          </a:xfrm>
          <a:prstGeom prst="rect">
            <a:avLst/>
          </a:prstGeom>
          <a:solidFill>
            <a:srgbClr val="C00000"/>
          </a:solidFill>
          <a:ln w="0">
            <a:noFill/>
          </a:ln>
          <a:effectLst>
            <a:outerShdw blurRad="44450" dist="27940" dir="5400000" algn="ctr">
              <a:srgbClr val="000000">
                <a:alpha val="31764"/>
              </a:srgbClr>
            </a:outerShdw>
          </a:effectLst>
          <a:scene3d>
            <a:camera prst="orthographicFront"/>
            <a:lightRig rig="balanced" dir="t">
              <a:rot lat="0" lon="0" rev="8700000"/>
            </a:lightRig>
          </a:scene3d>
          <a:sp3d>
            <a:bevelT w="190500" h="38100" prst="convex"/>
          </a:sp3d>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anchor="t">
            <a:spAutoFit/>
          </a:bodyPr>
          <a:lstStyle>
            <a:defPPr>
              <a:defRPr lang="zh-CN"/>
            </a:defPPr>
            <a:lvl1pPr marL="0" indent="0" defTabSz="914400" eaLnBrk="0" latinLnBrk="0">
              <a:lnSpc>
                <a:spcPct val="100000"/>
              </a:lnSpc>
              <a:spcBef>
                <a:spcPts val="0"/>
              </a:spcBef>
              <a:spcAft>
                <a:spcPts val="0"/>
              </a:spcAft>
              <a:buFontTx/>
              <a:buNone/>
              <a:defRPr sz="2800" b="1" cap="none">
                <a:solidFill>
                  <a:srgbClr val="FFFF00"/>
                </a:solidFill>
                <a:latin typeface="微软雅黑" panose="020B0503020204020204" pitchFamily="34" charset="-122"/>
                <a:ea typeface="微软雅黑" panose="020B0503020204020204" pitchFamily="34" charset="-122"/>
              </a:defRPr>
            </a:lvl1pPr>
          </a:lstStyle>
          <a:p>
            <a:pPr>
              <a:lnSpc>
                <a:spcPts val="2000"/>
              </a:lnSpc>
            </a:pPr>
            <a:r>
              <a:rPr lang="en-US" altLang="ko-KR" sz="2000" dirty="0">
                <a:latin typeface="华文楷体" panose="02010600040101010101" pitchFamily="2" charset="-122"/>
                <a:ea typeface="华文楷体" panose="02010600040101010101" pitchFamily="2" charset="-122"/>
              </a:rPr>
              <a:t>p=[p</a:t>
            </a:r>
            <a:r>
              <a:rPr lang="en-US" altLang="ko-KR" sz="2000" baseline="-25000" dirty="0">
                <a:latin typeface="华文楷体" panose="02010600040101010101" pitchFamily="2" charset="-122"/>
                <a:ea typeface="华文楷体" panose="02010600040101010101" pitchFamily="2" charset="-122"/>
              </a:rPr>
              <a:t>1</a:t>
            </a:r>
            <a:r>
              <a:rPr lang="en-US" altLang="ko-KR" sz="2000" dirty="0">
                <a:latin typeface="华文楷体" panose="02010600040101010101" pitchFamily="2" charset="-122"/>
                <a:ea typeface="华文楷体" panose="02010600040101010101" pitchFamily="2" charset="-122"/>
              </a:rPr>
              <a:t>,p</a:t>
            </a:r>
            <a:r>
              <a:rPr lang="en-US" altLang="ko-KR" sz="2000" baseline="-25000" dirty="0">
                <a:latin typeface="华文楷体" panose="02010600040101010101" pitchFamily="2" charset="-122"/>
                <a:ea typeface="华文楷体" panose="02010600040101010101" pitchFamily="2" charset="-122"/>
              </a:rPr>
              <a:t>2</a:t>
            </a:r>
            <a:r>
              <a:rPr lang="en-US" altLang="ko-KR" sz="2000" dirty="0">
                <a:latin typeface="华文楷体" panose="02010600040101010101" pitchFamily="2" charset="-122"/>
                <a:ea typeface="华文楷体" panose="02010600040101010101" pitchFamily="2" charset="-122"/>
              </a:rPr>
              <a:t>,...</a:t>
            </a:r>
            <a:r>
              <a:rPr lang="en-US" altLang="ko-KR" sz="2000" dirty="0" err="1">
                <a:latin typeface="华文楷体" panose="02010600040101010101" pitchFamily="2" charset="-122"/>
                <a:ea typeface="华文楷体" panose="02010600040101010101" pitchFamily="2" charset="-122"/>
              </a:rPr>
              <a:t>p</a:t>
            </a:r>
            <a:r>
              <a:rPr lang="en-US" altLang="ko-KR" sz="2000" baseline="-25000" dirty="0" err="1">
                <a:latin typeface="华文楷体" panose="02010600040101010101" pitchFamily="2" charset="-122"/>
                <a:ea typeface="华文楷体" panose="02010600040101010101" pitchFamily="2" charset="-122"/>
              </a:rPr>
              <a:t>n</a:t>
            </a:r>
            <a:r>
              <a:rPr lang="en-US" altLang="ko-KR" sz="2000" dirty="0" err="1">
                <a:latin typeface="华文楷体" panose="02010600040101010101" pitchFamily="2" charset="-122"/>
                <a:ea typeface="华文楷体" panose="02010600040101010101" pitchFamily="2" charset="-122"/>
              </a:rPr>
              <a:t>,p</a:t>
            </a:r>
            <a:r>
              <a:rPr lang="en-US" altLang="ko-KR" sz="2000" dirty="0">
                <a:latin typeface="华文楷体" panose="02010600040101010101" pitchFamily="2" charset="-122"/>
                <a:ea typeface="华文楷体" panose="02010600040101010101" pitchFamily="2" charset="-122"/>
              </a:rPr>
              <a:t> </a:t>
            </a:r>
            <a:r>
              <a:rPr lang="en-US" altLang="ko-KR" sz="2000" baseline="-25000" dirty="0">
                <a:latin typeface="华文楷体" panose="02010600040101010101" pitchFamily="2" charset="-122"/>
                <a:ea typeface="华文楷体" panose="02010600040101010101" pitchFamily="2" charset="-122"/>
              </a:rPr>
              <a:t>n+1</a:t>
            </a:r>
            <a:r>
              <a:rPr lang="en-US" altLang="ko-KR" sz="2000" dirty="0">
                <a:latin typeface="华文楷体" panose="02010600040101010101" pitchFamily="2" charset="-122"/>
                <a:ea typeface="华文楷体" panose="02010600040101010101" pitchFamily="2" charset="-122"/>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203598"/>
            <a:ext cx="3312368" cy="857250"/>
          </a:xfrm>
        </p:spPr>
        <p:txBody>
          <a:bodyPr/>
          <a:lstStyle/>
          <a:p>
            <a:r>
              <a:rPr lang="en-US" altLang="ko-KR" sz="3600" dirty="0">
                <a:solidFill>
                  <a:srgbClr val="002060"/>
                </a:solidFill>
              </a:rPr>
              <a:t>§5.2 </a:t>
            </a:r>
            <a:r>
              <a:rPr lang="zh-CN" altLang="en-US" sz="3600" dirty="0">
                <a:solidFill>
                  <a:srgbClr val="002060"/>
                </a:solidFill>
              </a:rPr>
              <a:t>多项式</a:t>
            </a:r>
            <a:r>
              <a:rPr lang="en-US" altLang="ko-KR" sz="3600" dirty="0" err="1"/>
              <a:t>拟合</a:t>
            </a:r>
            <a:r>
              <a:rPr lang="zh-CN" altLang="en-US" sz="3600" dirty="0">
                <a:solidFill>
                  <a:srgbClr val="002060"/>
                </a:solidFill>
              </a:rPr>
              <a:t>曲线</a:t>
            </a:r>
            <a:r>
              <a:rPr lang="en-US" altLang="zh-CN" sz="3600" dirty="0" err="1">
                <a:solidFill>
                  <a:srgbClr val="FF0000"/>
                </a:solidFill>
                <a:ea typeface="隶书" panose="02010509060101010101" pitchFamily="49" charset="-122"/>
              </a:rPr>
              <a:t>polyfit</a:t>
            </a:r>
            <a:endParaRPr lang="zh-CN" altLang="en-US" sz="3600" dirty="0"/>
          </a:p>
        </p:txBody>
      </p:sp>
      <p:sp>
        <p:nvSpPr>
          <p:cNvPr id="6" name="文本框 3"/>
          <p:cNvSpPr txBox="1"/>
          <p:nvPr/>
        </p:nvSpPr>
        <p:spPr>
          <a:xfrm>
            <a:off x="251520" y="2184517"/>
            <a:ext cx="8540708" cy="344329"/>
          </a:xfrm>
          <a:prstGeom prst="rect">
            <a:avLst/>
          </a:prstGeom>
          <a:noFill/>
        </p:spPr>
        <p:txBody>
          <a:bodyPr vert="horz" wrap="square" lIns="0" tIns="0" rIns="0" bIns="0" numCol="1" anchor="t">
            <a:noAutofit/>
          </a:bodyPr>
          <a:lstStyle/>
          <a:p>
            <a:pPr eaLnBrk="0">
              <a:lnSpc>
                <a:spcPts val="3600"/>
              </a:lnSpc>
              <a:spcBef>
                <a:spcPts val="1700"/>
              </a:spcBef>
              <a:spcAft>
                <a:spcPts val="0"/>
              </a:spcAft>
            </a:pPr>
            <a:endParaRPr lang="ko-KR" altLang="en-US" sz="3200" b="1" cap="none"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3"/>
          <p:cNvSpPr txBox="1"/>
          <p:nvPr/>
        </p:nvSpPr>
        <p:spPr>
          <a:xfrm>
            <a:off x="186352" y="2301183"/>
            <a:ext cx="8771295" cy="1761950"/>
          </a:xfrm>
          <a:prstGeom prst="rect">
            <a:avLst/>
          </a:prstGeom>
          <a:noFill/>
          <a:ln>
            <a:solidFill>
              <a:schemeClr val="bg1">
                <a:lumMod val="50000"/>
              </a:schemeClr>
            </a:solidFill>
          </a:ln>
        </p:spPr>
        <p:txBody>
          <a:bodyPr vert="horz" wrap="square" lIns="0" tIns="0" rIns="0" bIns="0" numCol="1" anchor="t">
            <a:noAutofit/>
          </a:bodyPr>
          <a:lstStyle/>
          <a:p>
            <a:pPr eaLnBrk="0">
              <a:lnSpc>
                <a:spcPts val="46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§5.2.1 </a:t>
            </a:r>
            <a:r>
              <a:rPr lang="zh-CN" altLang="en-US" sz="2800" dirty="0">
                <a:solidFill>
                  <a:srgbClr val="002060"/>
                </a:solidFill>
                <a:latin typeface="华文楷体" panose="02010600040101010101" pitchFamily="2" charset="-122"/>
                <a:ea typeface="华文楷体" panose="02010600040101010101" pitchFamily="2" charset="-122"/>
              </a:rPr>
              <a:t>曲线拟合特点</a:t>
            </a:r>
            <a:endParaRPr lang="en-US" altLang="zh-CN" sz="2800" dirty="0">
              <a:solidFill>
                <a:srgbClr val="002060"/>
              </a:solidFill>
              <a:latin typeface="华文楷体" panose="02010600040101010101" pitchFamily="2" charset="-122"/>
              <a:ea typeface="华文楷体" panose="02010600040101010101" pitchFamily="2" charset="-122"/>
            </a:endParaRPr>
          </a:p>
          <a:p>
            <a:pPr eaLnBrk="0">
              <a:lnSpc>
                <a:spcPts val="46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§5.2.2 </a:t>
            </a:r>
            <a:r>
              <a:rPr lang="zh-CN" altLang="en-US" sz="2800" dirty="0">
                <a:solidFill>
                  <a:srgbClr val="002060"/>
                </a:solidFill>
                <a:latin typeface="华文楷体" panose="02010600040101010101" pitchFamily="2" charset="-122"/>
                <a:ea typeface="华文楷体" panose="02010600040101010101" pitchFamily="2" charset="-122"/>
              </a:rPr>
              <a:t>多项式曲线拟合</a:t>
            </a:r>
            <a:r>
              <a:rPr lang="en-US" altLang="zh-CN" sz="2800" dirty="0" err="1">
                <a:solidFill>
                  <a:srgbClr val="FF0000"/>
                </a:solidFill>
                <a:ea typeface="隶书" panose="02010509060101010101" pitchFamily="49" charset="-122"/>
              </a:rPr>
              <a:t>polyfit</a:t>
            </a:r>
            <a:r>
              <a:rPr lang="zh-CN" altLang="en-US" sz="2800" dirty="0">
                <a:solidFill>
                  <a:srgbClr val="002060"/>
                </a:solidFill>
                <a:latin typeface="华文楷体" panose="02010600040101010101" pitchFamily="2" charset="-122"/>
                <a:ea typeface="华文楷体" panose="02010600040101010101" pitchFamily="2" charset="-122"/>
              </a:rPr>
              <a:t>和求值</a:t>
            </a:r>
            <a:r>
              <a:rPr lang="en-US" altLang="zh-CN" sz="2800" dirty="0" err="1">
                <a:solidFill>
                  <a:srgbClr val="FF0000"/>
                </a:solidFill>
                <a:ea typeface="隶书" panose="02010509060101010101" pitchFamily="49" charset="-122"/>
              </a:rPr>
              <a:t>polyval</a:t>
            </a:r>
            <a:endParaRPr lang="en-US" altLang="zh-CN" sz="2800" dirty="0">
              <a:solidFill>
                <a:srgbClr val="FF0000"/>
              </a:solidFill>
              <a:ea typeface="隶书" panose="02010509060101010101" pitchFamily="49" charset="-122"/>
            </a:endParaRPr>
          </a:p>
          <a:p>
            <a:pPr eaLnBrk="0">
              <a:lnSpc>
                <a:spcPts val="46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§5.2.3 </a:t>
            </a:r>
            <a:r>
              <a:rPr lang="zh-CN" altLang="en-US" sz="2800" dirty="0">
                <a:solidFill>
                  <a:srgbClr val="002060"/>
                </a:solidFill>
                <a:latin typeface="华文楷体" panose="02010600040101010101" pitchFamily="2" charset="-122"/>
                <a:ea typeface="华文楷体" panose="02010600040101010101" pitchFamily="2" charset="-122"/>
              </a:rPr>
              <a:t>曲线拟合评价</a:t>
            </a:r>
            <a:endParaRPr lang="ko-KR" altLang="en-US" sz="2800" dirty="0">
              <a:solidFill>
                <a:srgbClr val="002060"/>
              </a:solidFill>
              <a:latin typeface="华文楷体" panose="02010600040101010101" pitchFamily="2" charset="-122"/>
              <a:ea typeface="隶书" panose="02010509060101010101" pitchFamily="49" charset="-122"/>
              <a:cs typeface="Times New Roman" panose="02020603050405020304" pitchFamily="18" charset="0"/>
            </a:endParaRPr>
          </a:p>
        </p:txBody>
      </p:sp>
      <p:sp>
        <p:nvSpPr>
          <p:cNvPr id="8" name="文本框 7"/>
          <p:cNvSpPr txBox="1"/>
          <p:nvPr/>
        </p:nvSpPr>
        <p:spPr>
          <a:xfrm>
            <a:off x="7019374" y="3029107"/>
            <a:ext cx="2034995" cy="369332"/>
          </a:xfrm>
          <a:prstGeom prst="rect">
            <a:avLst/>
          </a:prstGeom>
          <a:noFill/>
        </p:spPr>
        <p:txBody>
          <a:bodyPr wrap="square">
            <a:spAutoFit/>
          </a:bodyPr>
          <a:lstStyle/>
          <a:p>
            <a:pPr algn="l"/>
            <a:r>
              <a:rPr lang="zh-CN" altLang="en-US" b="1" i="0" dirty="0">
                <a:solidFill>
                  <a:srgbClr val="00B0F0"/>
                </a:solidFill>
                <a:effectLst/>
                <a:latin typeface="微软雅黑" panose="020B0503020204020204" pitchFamily="34" charset="-122"/>
                <a:ea typeface="微软雅黑" panose="020B0503020204020204" pitchFamily="34" charset="-122"/>
              </a:rPr>
              <a:t>函数库</a:t>
            </a:r>
            <a:r>
              <a:rPr lang="en-US" altLang="zh-CN" b="1" i="0" dirty="0">
                <a:solidFill>
                  <a:srgbClr val="00B0F0"/>
                </a:solidFill>
                <a:effectLst/>
                <a:latin typeface="微软雅黑" panose="020B0503020204020204" pitchFamily="34" charset="-122"/>
                <a:ea typeface="微软雅黑" panose="020B0503020204020204" pitchFamily="34" charset="-122"/>
              </a:rPr>
              <a:t>: </a:t>
            </a:r>
            <a:r>
              <a:rPr lang="en-US" altLang="zh-CN" b="1" i="0" dirty="0" err="1">
                <a:solidFill>
                  <a:srgbClr val="00B0F0"/>
                </a:solidFill>
                <a:effectLst/>
                <a:latin typeface="微软雅黑" panose="020B0503020204020204" pitchFamily="34" charset="-122"/>
                <a:ea typeface="微软雅黑" panose="020B0503020204020204" pitchFamily="34" charset="-122"/>
              </a:rPr>
              <a:t>TyMath</a:t>
            </a:r>
            <a:endParaRPr lang="en-US" altLang="zh-CN" b="1" i="0" dirty="0">
              <a:solidFill>
                <a:srgbClr val="00B0F0"/>
              </a:solidFill>
              <a:effectLst/>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317267" y="770804"/>
            <a:ext cx="6714220" cy="343171"/>
          </a:xfrm>
          <a:prstGeom prst="rect">
            <a:avLst/>
          </a:prstGeom>
          <a:solidFill>
            <a:srgbClr val="0070C0"/>
          </a:solidFill>
        </p:spPr>
        <p:txBody>
          <a:bodyPr wrap="square">
            <a:spAutoFit/>
          </a:bodyPr>
          <a:lstStyle/>
          <a:p>
            <a:pPr algn="dist">
              <a:lnSpc>
                <a:spcPts val="2100"/>
              </a:lnSpc>
            </a:pPr>
            <a:r>
              <a:rPr lang="zh-CN" altLang="en-US" sz="1600" b="1" dirty="0">
                <a:solidFill>
                  <a:schemeClr val="bg1"/>
                </a:solidFill>
                <a:latin typeface="微软雅黑" panose="020B0503020204020204" pitchFamily="34" charset="-122"/>
                <a:ea typeface="微软雅黑" panose="020B0503020204020204" pitchFamily="34" charset="-122"/>
                <a:sym typeface="+mn-ea"/>
              </a:rPr>
              <a:t>如</a:t>
            </a:r>
            <a:r>
              <a:rPr lang="en-US" altLang="zh-CN" sz="1600" b="1" dirty="0">
                <a:solidFill>
                  <a:schemeClr val="bg1"/>
                </a:solidFill>
                <a:latin typeface="微软雅黑" panose="020B0503020204020204" pitchFamily="34" charset="-122"/>
                <a:ea typeface="微软雅黑" panose="020B0503020204020204" pitchFamily="34" charset="-122"/>
                <a:sym typeface="+mn-ea"/>
              </a:rPr>
              <a:t>y=</a:t>
            </a:r>
            <a:r>
              <a:rPr lang="en-US" altLang="zh-CN" sz="1600" b="1" dirty="0">
                <a:solidFill>
                  <a:schemeClr val="bg1"/>
                </a:solidFill>
                <a:highlight>
                  <a:srgbClr val="FF0000"/>
                </a:highlight>
                <a:latin typeface="微软雅黑" panose="020B0503020204020204" pitchFamily="34" charset="-122"/>
                <a:ea typeface="微软雅黑" panose="020B0503020204020204" pitchFamily="34" charset="-122"/>
                <a:sym typeface="+mn-ea"/>
              </a:rPr>
              <a:t>a1*</a:t>
            </a:r>
            <a:r>
              <a:rPr lang="en-US" altLang="zh-CN" sz="1600" b="1" dirty="0">
                <a:solidFill>
                  <a:schemeClr val="bg1"/>
                </a:solidFill>
                <a:latin typeface="微软雅黑" panose="020B0503020204020204" pitchFamily="34" charset="-122"/>
                <a:ea typeface="微软雅黑" panose="020B0503020204020204" pitchFamily="34" charset="-122"/>
                <a:sym typeface="+mn-ea"/>
              </a:rPr>
              <a:t>x+</a:t>
            </a:r>
            <a:r>
              <a:rPr lang="en-US" altLang="zh-CN" sz="1600" b="1" dirty="0">
                <a:solidFill>
                  <a:schemeClr val="bg1"/>
                </a:solidFill>
                <a:highlight>
                  <a:srgbClr val="FF0000"/>
                </a:highlight>
                <a:latin typeface="微软雅黑" panose="020B0503020204020204" pitchFamily="34" charset="-122"/>
                <a:ea typeface="微软雅黑" panose="020B0503020204020204" pitchFamily="34" charset="-122"/>
                <a:sym typeface="+mn-ea"/>
              </a:rPr>
              <a:t>a0</a:t>
            </a:r>
            <a:r>
              <a:rPr lang="zh-CN" altLang="en-US" sz="1600" b="1" dirty="0">
                <a:solidFill>
                  <a:schemeClr val="bg1"/>
                </a:solidFill>
                <a:latin typeface="微软雅黑" panose="020B0503020204020204" pitchFamily="34" charset="-122"/>
                <a:ea typeface="微软雅黑" panose="020B0503020204020204" pitchFamily="34" charset="-122"/>
                <a:sym typeface="+mn-ea"/>
              </a:rPr>
              <a:t>线性拟合是求待定参数</a:t>
            </a:r>
            <a:r>
              <a:rPr lang="en-US" altLang="zh-CN" sz="1600" b="1" dirty="0">
                <a:solidFill>
                  <a:schemeClr val="bg1"/>
                </a:solidFill>
                <a:latin typeface="微软雅黑" panose="020B0503020204020204" pitchFamily="34" charset="-122"/>
                <a:ea typeface="微软雅黑" panose="020B0503020204020204" pitchFamily="34" charset="-122"/>
                <a:sym typeface="+mn-ea"/>
              </a:rPr>
              <a:t>(</a:t>
            </a:r>
            <a:r>
              <a:rPr lang="zh-CN" altLang="en-US" sz="1600" b="1" dirty="0">
                <a:solidFill>
                  <a:schemeClr val="bg1"/>
                </a:solidFill>
                <a:latin typeface="微软雅黑" panose="020B0503020204020204" pitchFamily="34" charset="-122"/>
                <a:ea typeface="微软雅黑" panose="020B0503020204020204" pitchFamily="34" charset="-122"/>
                <a:sym typeface="+mn-ea"/>
              </a:rPr>
              <a:t>斜率</a:t>
            </a:r>
            <a:r>
              <a:rPr lang="en-US" altLang="zh-CN" sz="1600" b="1" dirty="0">
                <a:solidFill>
                  <a:schemeClr val="bg1"/>
                </a:solidFill>
                <a:latin typeface="微软雅黑" panose="020B0503020204020204" pitchFamily="34" charset="-122"/>
                <a:ea typeface="微软雅黑" panose="020B0503020204020204" pitchFamily="34" charset="-122"/>
                <a:sym typeface="+mn-ea"/>
              </a:rPr>
              <a:t>a1</a:t>
            </a:r>
            <a:r>
              <a:rPr lang="zh-CN" altLang="en-US" sz="1600" b="1" dirty="0">
                <a:solidFill>
                  <a:schemeClr val="bg1"/>
                </a:solidFill>
                <a:latin typeface="微软雅黑" panose="020B0503020204020204" pitchFamily="34" charset="-122"/>
                <a:ea typeface="微软雅黑" panose="020B0503020204020204" pitchFamily="34" charset="-122"/>
                <a:sym typeface="+mn-ea"/>
              </a:rPr>
              <a:t>和截距</a:t>
            </a:r>
            <a:r>
              <a:rPr lang="en-US" altLang="zh-CN" sz="1600" b="1" dirty="0">
                <a:solidFill>
                  <a:schemeClr val="bg1"/>
                </a:solidFill>
                <a:latin typeface="微软雅黑" panose="020B0503020204020204" pitchFamily="34" charset="-122"/>
                <a:ea typeface="微软雅黑" panose="020B0503020204020204" pitchFamily="34" charset="-122"/>
                <a:sym typeface="+mn-ea"/>
              </a:rPr>
              <a:t>a0)</a:t>
            </a:r>
            <a:endParaRPr lang="zh-CN" altLang="en-US" sz="1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矩形 10"/>
          <p:cNvSpPr/>
          <p:nvPr/>
        </p:nvSpPr>
        <p:spPr>
          <a:xfrm>
            <a:off x="1125183" y="1615089"/>
            <a:ext cx="7938988" cy="1683410"/>
          </a:xfrm>
          <a:prstGeom prst="rect">
            <a:avLst/>
          </a:prstGeom>
        </p:spPr>
        <p:txBody>
          <a:bodyPr wrap="square">
            <a:spAutoFit/>
          </a:bodyPr>
          <a:lstStyle/>
          <a:p>
            <a:pPr>
              <a:lnSpc>
                <a:spcPts val="2400"/>
              </a:lnSpc>
            </a:pPr>
            <a:r>
              <a:rPr lang="en-US" altLang="zh-CN" sz="2000" dirty="0">
                <a:solidFill>
                  <a:srgbClr val="002060"/>
                </a:solidFill>
                <a:latin typeface="华文楷体" panose="02010600040101010101" pitchFamily="2" charset="-122"/>
                <a:ea typeface="华文楷体" panose="02010600040101010101" pitchFamily="2" charset="-122"/>
                <a:sym typeface="+mn-ea"/>
              </a:rPr>
              <a:t>拟合是</a:t>
            </a:r>
            <a:r>
              <a:rPr lang="zh-CN" altLang="en-US" sz="2000" dirty="0">
                <a:solidFill>
                  <a:srgbClr val="002060"/>
                </a:solidFill>
                <a:latin typeface="华文楷体" panose="02010600040101010101" pitchFamily="2" charset="-122"/>
                <a:ea typeface="华文楷体" panose="02010600040101010101" pitchFamily="2" charset="-122"/>
                <a:sym typeface="+mn-ea"/>
              </a:rPr>
              <a:t>数学建模常用方法，是</a:t>
            </a:r>
            <a:r>
              <a:rPr lang="en-US" altLang="zh-CN" sz="2000" dirty="0" err="1">
                <a:solidFill>
                  <a:srgbClr val="002060"/>
                </a:solidFill>
                <a:latin typeface="华文楷体" panose="02010600040101010101" pitchFamily="2" charset="-122"/>
                <a:ea typeface="华文楷体" panose="02010600040101010101" pitchFamily="2" charset="-122"/>
                <a:sym typeface="+mn-ea"/>
              </a:rPr>
              <a:t>根据一组</a:t>
            </a:r>
            <a:r>
              <a:rPr lang="zh-CN" altLang="en-US" sz="2000" dirty="0">
                <a:solidFill>
                  <a:srgbClr val="002060"/>
                </a:solidFill>
                <a:latin typeface="华文楷体" panose="02010600040101010101" pitchFamily="2" charset="-122"/>
                <a:ea typeface="华文楷体" panose="02010600040101010101" pitchFamily="2" charset="-122"/>
                <a:sym typeface="+mn-ea"/>
              </a:rPr>
              <a:t>离散采样点</a:t>
            </a:r>
            <a:r>
              <a:rPr lang="en-US" altLang="zh-CN" sz="2000" dirty="0" err="1">
                <a:solidFill>
                  <a:srgbClr val="002060"/>
                </a:solidFill>
                <a:latin typeface="华文楷体" panose="02010600040101010101" pitchFamily="2" charset="-122"/>
                <a:ea typeface="华文楷体" panose="02010600040101010101" pitchFamily="2" charset="-122"/>
                <a:sym typeface="+mn-ea"/>
              </a:rPr>
              <a:t>数据</a:t>
            </a:r>
            <a:r>
              <a:rPr lang="en-US" altLang="zh-CN" sz="2000" dirty="0">
                <a:solidFill>
                  <a:srgbClr val="002060"/>
                </a:solidFill>
                <a:latin typeface="华文楷体" panose="02010600040101010101" pitchFamily="2" charset="-122"/>
                <a:ea typeface="华文楷体" panose="02010600040101010101" pitchFamily="2" charset="-122"/>
                <a:sym typeface="+mn-ea"/>
              </a:rPr>
              <a:t>(</a:t>
            </a:r>
            <a:r>
              <a:rPr lang="en-US" altLang="zh-CN" sz="2000" dirty="0" err="1">
                <a:solidFill>
                  <a:srgbClr val="002060"/>
                </a:solidFill>
                <a:latin typeface="华文楷体" panose="02010600040101010101" pitchFamily="2" charset="-122"/>
                <a:ea typeface="华文楷体" panose="02010600040101010101" pitchFamily="2" charset="-122"/>
                <a:sym typeface="+mn-ea"/>
              </a:rPr>
              <a:t>x,y</a:t>
            </a:r>
            <a:r>
              <a:rPr lang="en-US" altLang="zh-CN" sz="2000" dirty="0">
                <a:solidFill>
                  <a:srgbClr val="002060"/>
                </a:solidFill>
                <a:latin typeface="华文楷体" panose="02010600040101010101" pitchFamily="2" charset="-122"/>
                <a:ea typeface="华文楷体" panose="02010600040101010101" pitchFamily="2" charset="-122"/>
                <a:sym typeface="+mn-ea"/>
              </a:rPr>
              <a:t>),</a:t>
            </a:r>
            <a:r>
              <a:rPr lang="en-US" altLang="zh-CN" sz="2000" dirty="0" err="1">
                <a:solidFill>
                  <a:srgbClr val="002060"/>
                </a:solidFill>
                <a:latin typeface="华文楷体" panose="02010600040101010101" pitchFamily="2" charset="-122"/>
                <a:ea typeface="华文楷体" panose="02010600040101010101" pitchFamily="2" charset="-122"/>
                <a:sym typeface="+mn-ea"/>
              </a:rPr>
              <a:t>构造一个函数</a:t>
            </a:r>
            <a:r>
              <a:rPr lang="en-US" altLang="zh-CN" sz="2000"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y</a:t>
            </a:r>
            <a:r>
              <a:rPr lang="en-US" altLang="zh-CN" sz="20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=f(</a:t>
            </a:r>
            <a:r>
              <a:rPr lang="en-US" altLang="zh-CN" sz="2000" dirty="0" err="1">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x,a</a:t>
            </a:r>
            <a:r>
              <a:rPr lang="en-US" altLang="zh-CN" sz="200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sym typeface="+mn-ea"/>
              </a:rPr>
              <a:t>)</a:t>
            </a:r>
            <a:r>
              <a:rPr lang="en-US" altLang="zh-CN" sz="2000" b="1" dirty="0">
                <a:solidFill>
                  <a:srgbClr val="FF0000"/>
                </a:solidFill>
                <a:effectLst>
                  <a:outerShdw blurRad="38100" dist="38100" dir="2700000" algn="tl">
                    <a:srgbClr val="000000">
                      <a:alpha val="41960"/>
                    </a:srgbClr>
                  </a:outerShdw>
                </a:effectLst>
                <a:latin typeface="华文楷体" panose="02010600040101010101" pitchFamily="2" charset="-122"/>
                <a:ea typeface="华文楷体" panose="02010600040101010101" pitchFamily="2" charset="-122"/>
                <a:cs typeface="Times New Roman" panose="02020603050405020304" pitchFamily="18" charset="0"/>
                <a:sym typeface="+mn-ea"/>
              </a:rPr>
              <a:t>,</a:t>
            </a:r>
            <a:r>
              <a:rPr lang="zh-CN" altLang="en-US" sz="2000" dirty="0">
                <a:solidFill>
                  <a:srgbClr val="002060"/>
                </a:solidFill>
                <a:latin typeface="华文楷体" panose="02010600040101010101" pitchFamily="2" charset="-122"/>
                <a:ea typeface="华文楷体" panose="02010600040101010101" pitchFamily="2" charset="-122"/>
                <a:sym typeface="+mn-ea"/>
              </a:rPr>
              <a:t>并且求出其待定参数</a:t>
            </a:r>
            <a:r>
              <a:rPr lang="en-US" altLang="zh-CN" sz="2000" b="1" dirty="0">
                <a:solidFill>
                  <a:srgbClr val="FF0000"/>
                </a:solidFill>
                <a:latin typeface="华文楷体" panose="02010600040101010101" pitchFamily="2" charset="-122"/>
                <a:ea typeface="华文楷体" panose="02010600040101010101" pitchFamily="2" charset="-122"/>
                <a:sym typeface="+mn-ea"/>
              </a:rPr>
              <a:t>a</a:t>
            </a:r>
            <a:r>
              <a:rPr lang="zh-CN" altLang="en-US" sz="2000" dirty="0">
                <a:solidFill>
                  <a:srgbClr val="002060"/>
                </a:solidFill>
                <a:latin typeface="华文楷体" panose="02010600040101010101" pitchFamily="2" charset="-122"/>
                <a:ea typeface="华文楷体" panose="02010600040101010101" pitchFamily="2" charset="-122"/>
                <a:sym typeface="+mn-ea"/>
              </a:rPr>
              <a:t>，从而完成对</a:t>
            </a:r>
            <a:r>
              <a:rPr lang="zh-CN" altLang="en-US" b="1" dirty="0">
                <a:solidFill>
                  <a:srgbClr val="FF0000"/>
                </a:solidFill>
                <a:latin typeface="华文楷体" panose="02010600040101010101" pitchFamily="2" charset="-122"/>
                <a:ea typeface="华文楷体" panose="02010600040101010101" pitchFamily="2" charset="-122"/>
              </a:rPr>
              <a:t>科学研究、工程实验、社会经济活动中拟合，</a:t>
            </a:r>
            <a:r>
              <a:rPr lang="zh-CN" altLang="en-US" b="1" dirty="0">
                <a:solidFill>
                  <a:srgbClr val="FF0000"/>
                </a:solidFill>
                <a:latin typeface="Arial" panose="020B0604020202020204" pitchFamily="34" charset="0"/>
              </a:rPr>
              <a:t>实现</a:t>
            </a:r>
            <a:r>
              <a:rPr lang="en-US" altLang="zh-CN" sz="2000" dirty="0" err="1">
                <a:solidFill>
                  <a:srgbClr val="002060"/>
                </a:solidFill>
                <a:latin typeface="华文楷体" panose="02010600040101010101" pitchFamily="2" charset="-122"/>
                <a:ea typeface="华文楷体" panose="02010600040101010101" pitchFamily="2" charset="-122"/>
                <a:sym typeface="+mn-ea"/>
              </a:rPr>
              <a:t>预测</a:t>
            </a:r>
            <a:r>
              <a:rPr lang="en-US" altLang="ko-KR" sz="2000" dirty="0" err="1">
                <a:solidFill>
                  <a:srgbClr val="002060"/>
                </a:solidFill>
                <a:latin typeface="华文楷体" panose="02010600040101010101" pitchFamily="2" charset="-122"/>
                <a:ea typeface="华文楷体" panose="02010600040101010101" pitchFamily="2" charset="-122"/>
              </a:rPr>
              <a:t>未知</a:t>
            </a:r>
            <a:r>
              <a:rPr lang="zh-CN" altLang="en-US" sz="2000" dirty="0">
                <a:solidFill>
                  <a:srgbClr val="002060"/>
                </a:solidFill>
                <a:latin typeface="华文楷体" panose="02010600040101010101" pitchFamily="2" charset="-122"/>
                <a:ea typeface="华文楷体" panose="02010600040101010101" pitchFamily="2" charset="-122"/>
              </a:rPr>
              <a:t>数据点</a:t>
            </a:r>
            <a:r>
              <a:rPr lang="zh-CN" altLang="en-US" sz="2000" dirty="0">
                <a:solidFill>
                  <a:srgbClr val="002060"/>
                </a:solidFill>
                <a:latin typeface="华文楷体" panose="02010600040101010101" pitchFamily="2" charset="-122"/>
                <a:ea typeface="华文楷体" panose="02010600040101010101" pitchFamily="2" charset="-122"/>
                <a:sym typeface="+mn-ea"/>
              </a:rPr>
              <a:t> </a:t>
            </a:r>
            <a:r>
              <a:rPr lang="en-US" altLang="zh-CN" sz="2000" dirty="0">
                <a:solidFill>
                  <a:srgbClr val="002060"/>
                </a:solidFill>
                <a:latin typeface="华文楷体" panose="02010600040101010101" pitchFamily="2" charset="-122"/>
                <a:ea typeface="华文楷体" panose="02010600040101010101" pitchFamily="2" charset="-122"/>
                <a:sym typeface="+mn-ea"/>
              </a:rPr>
              <a:t>。</a:t>
            </a:r>
            <a:r>
              <a:rPr lang="zh-CN" altLang="en-US" sz="2000" dirty="0">
                <a:solidFill>
                  <a:srgbClr val="002060"/>
                </a:solidFill>
                <a:latin typeface="华文楷体" panose="02010600040101010101" pitchFamily="2" charset="-122"/>
                <a:ea typeface="华文楷体" panose="02010600040101010101" pitchFamily="2" charset="-122"/>
              </a:rPr>
              <a:t>外推法是指使用观测数据范围的拟合曲线，并存在一定程度不确定性</a:t>
            </a:r>
            <a:endParaRPr lang="zh-CN" altLang="en-US" sz="2000" b="1" dirty="0">
              <a:solidFill>
                <a:srgbClr val="FF0000"/>
              </a:solidFill>
            </a:endParaRPr>
          </a:p>
          <a:p>
            <a:pPr>
              <a:lnSpc>
                <a:spcPts val="3000"/>
              </a:lnSpc>
            </a:pPr>
            <a:endParaRPr lang="en-US" altLang="zh-CN" sz="2000" dirty="0">
              <a:solidFill>
                <a:srgbClr val="002060"/>
              </a:solidFill>
              <a:latin typeface="华文楷体" panose="02010600040101010101" pitchFamily="2" charset="-122"/>
              <a:ea typeface="华文楷体" panose="02010600040101010101" pitchFamily="2" charset="-122"/>
              <a:sym typeface="+mn-ea"/>
            </a:endParaRPr>
          </a:p>
        </p:txBody>
      </p:sp>
      <p:sp>
        <p:nvSpPr>
          <p:cNvPr id="12" name="矩形 11"/>
          <p:cNvSpPr/>
          <p:nvPr/>
        </p:nvSpPr>
        <p:spPr>
          <a:xfrm>
            <a:off x="277697" y="3067666"/>
            <a:ext cx="795295" cy="461665"/>
          </a:xfrm>
          <a:prstGeom prst="rect">
            <a:avLst/>
          </a:prstGeom>
          <a:solidFill>
            <a:srgbClr val="0070C0"/>
          </a:solidFill>
          <a:ln w="28575">
            <a:noFill/>
          </a:ln>
          <a:scene3d>
            <a:camera prst="orthographicFront"/>
            <a:lightRig rig="threePt" dir="t"/>
          </a:scene3d>
          <a:sp3d>
            <a:bevelT prst="angle"/>
          </a:sp3d>
        </p:spPr>
        <p:txBody>
          <a:bodyPr wrap="square">
            <a:spAutoFit/>
          </a:bodyPr>
          <a:lstStyle/>
          <a:p>
            <a:r>
              <a:rPr lang="zh-CN" altLang="en-US" sz="2400" dirty="0">
                <a:solidFill>
                  <a:schemeClr val="bg1"/>
                </a:solidFill>
                <a:latin typeface="华文楷体" panose="02010600040101010101" pitchFamily="2" charset="-122"/>
                <a:ea typeface="华文楷体" panose="02010600040101010101" pitchFamily="2" charset="-122"/>
              </a:rPr>
              <a:t>用途</a:t>
            </a:r>
          </a:p>
        </p:txBody>
      </p:sp>
      <p:sp>
        <p:nvSpPr>
          <p:cNvPr id="13" name="矩形 12"/>
          <p:cNvSpPr/>
          <p:nvPr/>
        </p:nvSpPr>
        <p:spPr>
          <a:xfrm>
            <a:off x="1135286" y="3229630"/>
            <a:ext cx="2749471" cy="400110"/>
          </a:xfrm>
          <a:prstGeom prst="rect">
            <a:avLst/>
          </a:prstGeom>
        </p:spPr>
        <p:txBody>
          <a:bodyPr wrap="none">
            <a:spAutoFit/>
          </a:bodyPr>
          <a:lstStyle/>
          <a:p>
            <a:r>
              <a:rPr lang="zh-CN" altLang="en-US" sz="2000" dirty="0">
                <a:solidFill>
                  <a:srgbClr val="002060"/>
                </a:solidFill>
                <a:latin typeface="华文楷体" panose="02010600040101010101" pitchFamily="2" charset="-122"/>
                <a:ea typeface="华文楷体" panose="02010600040101010101" pitchFamily="2" charset="-122"/>
              </a:rPr>
              <a:t>趋势分析：预测和预报</a:t>
            </a:r>
          </a:p>
        </p:txBody>
      </p:sp>
      <p:sp>
        <p:nvSpPr>
          <p:cNvPr id="14" name="矩形 13"/>
          <p:cNvSpPr/>
          <p:nvPr/>
        </p:nvSpPr>
        <p:spPr>
          <a:xfrm>
            <a:off x="1153418" y="3643282"/>
            <a:ext cx="7938988" cy="954107"/>
          </a:xfrm>
          <a:prstGeom prst="rect">
            <a:avLst/>
          </a:prstGeom>
          <a:solidFill>
            <a:schemeClr val="bg1"/>
          </a:solidFill>
        </p:spPr>
        <p:txBody>
          <a:bodyPr wrap="square">
            <a:spAutoFit/>
          </a:bodyPr>
          <a:lstStyle/>
          <a:p>
            <a:r>
              <a:rPr lang="zh-CN" altLang="en-US" dirty="0">
                <a:solidFill>
                  <a:srgbClr val="002060"/>
                </a:solidFill>
                <a:latin typeface="华文楷体" panose="02010600040101010101" pitchFamily="2" charset="-122"/>
                <a:ea typeface="华文楷体" panose="02010600040101010101" pitchFamily="2" charset="-122"/>
              </a:rPr>
              <a:t>一组</a:t>
            </a:r>
            <a:r>
              <a:rPr lang="zh-CN" altLang="en-US" dirty="0">
                <a:solidFill>
                  <a:srgbClr val="002060"/>
                </a:solidFill>
                <a:latin typeface="华文楷体" panose="02010600040101010101" pitchFamily="2" charset="-122"/>
                <a:ea typeface="华文楷体" panose="02010600040101010101" pitchFamily="2" charset="-122"/>
                <a:sym typeface="+mn-ea"/>
              </a:rPr>
              <a:t>采样点</a:t>
            </a:r>
            <a:r>
              <a:rPr lang="zh-CN" altLang="en-US" dirty="0">
                <a:solidFill>
                  <a:srgbClr val="002060"/>
                </a:solidFill>
                <a:latin typeface="华文楷体" panose="02010600040101010101" pitchFamily="2" charset="-122"/>
                <a:ea typeface="华文楷体" panose="02010600040101010101" pitchFamily="2" charset="-122"/>
              </a:rPr>
              <a:t>可拟合成不同数学模型，确定哪个拟合模型最佳，需要假设检验。将多个拟合模型估计值和</a:t>
            </a:r>
            <a:r>
              <a:rPr lang="zh-CN" altLang="en-US" dirty="0">
                <a:solidFill>
                  <a:srgbClr val="002060"/>
                </a:solidFill>
                <a:latin typeface="华文楷体" panose="02010600040101010101" pitchFamily="2" charset="-122"/>
                <a:ea typeface="华文楷体" panose="02010600040101010101" pitchFamily="2" charset="-122"/>
                <a:sym typeface="+mn-ea"/>
              </a:rPr>
              <a:t>采样点</a:t>
            </a:r>
            <a:r>
              <a:rPr lang="en-US" altLang="zh-CN" dirty="0" err="1">
                <a:solidFill>
                  <a:srgbClr val="002060"/>
                </a:solidFill>
                <a:latin typeface="华文楷体" panose="02010600040101010101" pitchFamily="2" charset="-122"/>
                <a:ea typeface="华文楷体" panose="02010600040101010101" pitchFamily="2" charset="-122"/>
                <a:sym typeface="+mn-ea"/>
              </a:rPr>
              <a:t>数据</a:t>
            </a:r>
            <a:r>
              <a:rPr lang="en-US" altLang="zh-CN" dirty="0">
                <a:solidFill>
                  <a:srgbClr val="002060"/>
                </a:solidFill>
                <a:latin typeface="华文楷体" panose="02010600040101010101" pitchFamily="2" charset="-122"/>
                <a:ea typeface="华文楷体" panose="02010600040101010101" pitchFamily="2" charset="-122"/>
                <a:sym typeface="+mn-ea"/>
              </a:rPr>
              <a:t>(</a:t>
            </a:r>
            <a:r>
              <a:rPr lang="zh-CN" altLang="en-US" dirty="0">
                <a:solidFill>
                  <a:srgbClr val="002060"/>
                </a:solidFill>
                <a:latin typeface="华文楷体" panose="02010600040101010101" pitchFamily="2" charset="-122"/>
                <a:ea typeface="华文楷体" panose="02010600040101010101" pitchFamily="2" charset="-122"/>
              </a:rPr>
              <a:t>观测值</a:t>
            </a:r>
            <a:r>
              <a:rPr lang="en-US" altLang="zh-CN" dirty="0">
                <a:solidFill>
                  <a:srgbClr val="002060"/>
                </a:solidFill>
                <a:latin typeface="华文楷体" panose="02010600040101010101" pitchFamily="2" charset="-122"/>
                <a:ea typeface="华文楷体" panose="02010600040101010101" pitchFamily="2" charset="-122"/>
              </a:rPr>
              <a:t>)</a:t>
            </a:r>
            <a:r>
              <a:rPr lang="zh-CN" altLang="en-US" dirty="0">
                <a:solidFill>
                  <a:srgbClr val="002060"/>
                </a:solidFill>
                <a:latin typeface="华文楷体" panose="02010600040101010101" pitchFamily="2" charset="-122"/>
                <a:ea typeface="华文楷体" panose="02010600040101010101" pitchFamily="2" charset="-122"/>
              </a:rPr>
              <a:t>进行比较</a:t>
            </a:r>
            <a:r>
              <a:rPr lang="en-US" altLang="zh-CN" dirty="0">
                <a:solidFill>
                  <a:srgbClr val="002060"/>
                </a:solidFill>
                <a:latin typeface="华文楷体" panose="02010600040101010101" pitchFamily="2" charset="-122"/>
                <a:ea typeface="华文楷体" panose="02010600040101010101" pitchFamily="2" charset="-122"/>
              </a:rPr>
              <a:t>,</a:t>
            </a:r>
            <a:r>
              <a:rPr lang="zh-CN" altLang="en-US" dirty="0">
                <a:solidFill>
                  <a:srgbClr val="002060"/>
                </a:solidFill>
                <a:latin typeface="华文楷体" panose="02010600040101010101" pitchFamily="2" charset="-122"/>
                <a:ea typeface="华文楷体" panose="02010600040101010101" pitchFamily="2" charset="-122"/>
              </a:rPr>
              <a:t>检验拟合模型对</a:t>
            </a:r>
            <a:r>
              <a:rPr lang="zh-CN" altLang="en-US" dirty="0">
                <a:solidFill>
                  <a:srgbClr val="002060"/>
                </a:solidFill>
                <a:latin typeface="华文楷体" panose="02010600040101010101" pitchFamily="2" charset="-122"/>
                <a:ea typeface="华文楷体" panose="02010600040101010101" pitchFamily="2" charset="-122"/>
                <a:sym typeface="+mn-ea"/>
              </a:rPr>
              <a:t>采样点</a:t>
            </a:r>
            <a:r>
              <a:rPr lang="en-US" altLang="zh-CN" dirty="0" err="1">
                <a:solidFill>
                  <a:srgbClr val="002060"/>
                </a:solidFill>
                <a:latin typeface="华文楷体" panose="02010600040101010101" pitchFamily="2" charset="-122"/>
                <a:ea typeface="华文楷体" panose="02010600040101010101" pitchFamily="2" charset="-122"/>
                <a:sym typeface="+mn-ea"/>
              </a:rPr>
              <a:t>数据</a:t>
            </a:r>
            <a:r>
              <a:rPr lang="en-US" altLang="zh-CN" dirty="0">
                <a:solidFill>
                  <a:srgbClr val="002060"/>
                </a:solidFill>
                <a:latin typeface="华文楷体" panose="02010600040101010101" pitchFamily="2" charset="-122"/>
                <a:ea typeface="华文楷体" panose="02010600040101010101" pitchFamily="2" charset="-122"/>
                <a:sym typeface="+mn-ea"/>
              </a:rPr>
              <a:t>(</a:t>
            </a:r>
            <a:r>
              <a:rPr lang="zh-CN" altLang="en-US" dirty="0">
                <a:solidFill>
                  <a:srgbClr val="002060"/>
                </a:solidFill>
                <a:latin typeface="华文楷体" panose="02010600040101010101" pitchFamily="2" charset="-122"/>
                <a:ea typeface="华文楷体" panose="02010600040101010101" pitchFamily="2" charset="-122"/>
              </a:rPr>
              <a:t>观测值</a:t>
            </a:r>
            <a:r>
              <a:rPr lang="en-US" altLang="zh-CN" dirty="0">
                <a:solidFill>
                  <a:srgbClr val="002060"/>
                </a:solidFill>
                <a:latin typeface="华文楷体" panose="02010600040101010101" pitchFamily="2" charset="-122"/>
                <a:ea typeface="华文楷体" panose="02010600040101010101" pitchFamily="2" charset="-122"/>
              </a:rPr>
              <a:t>)</a:t>
            </a:r>
            <a:r>
              <a:rPr lang="zh-CN" altLang="en-US" dirty="0">
                <a:solidFill>
                  <a:srgbClr val="002060"/>
                </a:solidFill>
                <a:latin typeface="华文楷体" panose="02010600040101010101" pitchFamily="2" charset="-122"/>
                <a:ea typeface="华文楷体" panose="02010600040101010101" pitchFamily="2" charset="-122"/>
              </a:rPr>
              <a:t>的拟合程度，确定最佳拟合模型</a:t>
            </a:r>
            <a:r>
              <a:rPr lang="zh-CN" altLang="en-US" sz="2000" dirty="0">
                <a:solidFill>
                  <a:srgbClr val="002060"/>
                </a:solidFill>
                <a:latin typeface="华文楷体" panose="02010600040101010101" pitchFamily="2" charset="-122"/>
                <a:ea typeface="华文楷体" panose="02010600040101010101" pitchFamily="2" charset="-122"/>
              </a:rPr>
              <a:t>。</a:t>
            </a:r>
          </a:p>
        </p:txBody>
      </p:sp>
      <p:sp>
        <p:nvSpPr>
          <p:cNvPr id="15" name="矩形 14"/>
          <p:cNvSpPr/>
          <p:nvPr/>
        </p:nvSpPr>
        <p:spPr>
          <a:xfrm>
            <a:off x="3986686" y="3216170"/>
            <a:ext cx="4031873" cy="400110"/>
          </a:xfrm>
          <a:prstGeom prst="rect">
            <a:avLst/>
          </a:prstGeom>
        </p:spPr>
        <p:txBody>
          <a:bodyPr wrap="none">
            <a:spAutoFit/>
          </a:bodyPr>
          <a:lstStyle/>
          <a:p>
            <a:pPr defTabSz="0" eaLnBrk="0" hangingPunct="0">
              <a:spcBef>
                <a:spcPct val="30000"/>
              </a:spcBef>
              <a:defRPr/>
            </a:pPr>
            <a:r>
              <a:rPr lang="zh-CN" altLang="en-US" sz="2000" dirty="0">
                <a:solidFill>
                  <a:srgbClr val="002060"/>
                </a:solidFill>
                <a:latin typeface="华文楷体" panose="02010600040101010101" pitchFamily="2" charset="-122"/>
                <a:ea typeface="华文楷体" panose="02010600040101010101" pitchFamily="2" charset="-122"/>
              </a:rPr>
              <a:t>如设备元器件寿命预测、人口预测</a:t>
            </a:r>
            <a:endParaRPr lang="en-US" altLang="zh-CN" sz="2000" dirty="0">
              <a:solidFill>
                <a:srgbClr val="002060"/>
              </a:solidFill>
              <a:latin typeface="华文楷体" panose="02010600040101010101" pitchFamily="2" charset="-122"/>
              <a:ea typeface="华文楷体" panose="02010600040101010101" pitchFamily="2" charset="-122"/>
            </a:endParaRPr>
          </a:p>
        </p:txBody>
      </p:sp>
      <p:sp>
        <p:nvSpPr>
          <p:cNvPr id="16" name="矩形 15"/>
          <p:cNvSpPr/>
          <p:nvPr/>
        </p:nvSpPr>
        <p:spPr>
          <a:xfrm>
            <a:off x="266465" y="1744609"/>
            <a:ext cx="800219" cy="461665"/>
          </a:xfrm>
          <a:prstGeom prst="rect">
            <a:avLst/>
          </a:prstGeom>
          <a:solidFill>
            <a:srgbClr val="0070C0"/>
          </a:solidFill>
          <a:ln w="28575">
            <a:noFill/>
          </a:ln>
          <a:scene3d>
            <a:camera prst="orthographicFront"/>
            <a:lightRig rig="threePt" dir="t"/>
          </a:scene3d>
          <a:sp3d>
            <a:bevelT prst="angle"/>
          </a:sp3d>
        </p:spPr>
        <p:txBody>
          <a:bodyPr wrap="square">
            <a:spAutoFit/>
          </a:bodyPr>
          <a:lstStyle/>
          <a:p>
            <a:r>
              <a:rPr lang="en-US" altLang="zh-CN" sz="2400" dirty="0" err="1">
                <a:solidFill>
                  <a:schemeClr val="bg1"/>
                </a:solidFill>
                <a:latin typeface="华文楷体" panose="02010600040101010101" pitchFamily="2" charset="-122"/>
                <a:ea typeface="华文楷体" panose="02010600040101010101" pitchFamily="2" charset="-122"/>
                <a:sym typeface="+mn-ea"/>
              </a:rPr>
              <a:t>拟合</a:t>
            </a:r>
            <a:endParaRPr lang="zh-CN" altLang="en-US" sz="2400" dirty="0">
              <a:solidFill>
                <a:schemeClr val="bg1"/>
              </a:solidFill>
              <a:latin typeface="华文楷体" panose="02010600040101010101" pitchFamily="2" charset="-122"/>
              <a:ea typeface="华文楷体" panose="02010600040101010101" pitchFamily="2" charset="-122"/>
            </a:endParaRPr>
          </a:p>
        </p:txBody>
      </p:sp>
      <p:sp>
        <p:nvSpPr>
          <p:cNvPr id="23" name="矩形 22"/>
          <p:cNvSpPr/>
          <p:nvPr/>
        </p:nvSpPr>
        <p:spPr>
          <a:xfrm>
            <a:off x="4412843" y="1201934"/>
            <a:ext cx="1313714" cy="400110"/>
          </a:xfrm>
          <a:prstGeom prst="rect">
            <a:avLst/>
          </a:prstGeom>
        </p:spPr>
        <p:txBody>
          <a:bodyPr wrap="square">
            <a:spAutoFit/>
          </a:bodyPr>
          <a:lstStyle/>
          <a:p>
            <a:r>
              <a:rPr lang="en-US" altLang="zh-CN" sz="2000" dirty="0">
                <a:solidFill>
                  <a:schemeClr val="bg1"/>
                </a:solidFill>
                <a:latin typeface="隶书" panose="02010509060101010101" pitchFamily="49" charset="-122"/>
                <a:ea typeface="隶书" panose="02010509060101010101" pitchFamily="49" charset="-122"/>
              </a:rPr>
              <a:t>y</a:t>
            </a:r>
            <a:endParaRPr lang="zh-CN" altLang="en-US" sz="2000" dirty="0">
              <a:solidFill>
                <a:schemeClr val="bg1"/>
              </a:solidFill>
              <a:latin typeface="隶书" panose="02010509060101010101" pitchFamily="49" charset="-122"/>
              <a:ea typeface="隶书" panose="02010509060101010101" pitchFamily="49" charset="-122"/>
            </a:endParaRPr>
          </a:p>
        </p:txBody>
      </p:sp>
      <p:sp>
        <p:nvSpPr>
          <p:cNvPr id="24" name="矩形 23"/>
          <p:cNvSpPr/>
          <p:nvPr/>
        </p:nvSpPr>
        <p:spPr>
          <a:xfrm>
            <a:off x="5470756" y="1201934"/>
            <a:ext cx="312906" cy="400110"/>
          </a:xfrm>
          <a:prstGeom prst="rect">
            <a:avLst/>
          </a:prstGeom>
        </p:spPr>
        <p:txBody>
          <a:bodyPr wrap="none">
            <a:spAutoFit/>
          </a:bodyPr>
          <a:lstStyle/>
          <a:p>
            <a:r>
              <a:rPr lang="en-US" altLang="zh-CN" sz="2000" dirty="0">
                <a:solidFill>
                  <a:schemeClr val="bg1"/>
                </a:solidFill>
                <a:latin typeface="隶书" panose="02010509060101010101" pitchFamily="49" charset="-122"/>
                <a:ea typeface="隶书" panose="02010509060101010101" pitchFamily="49" charset="-122"/>
              </a:rPr>
              <a:t>x</a:t>
            </a:r>
            <a:endParaRPr lang="zh-CN" altLang="en-US" sz="2000" dirty="0">
              <a:solidFill>
                <a:schemeClr val="bg1"/>
              </a:solidFill>
              <a:latin typeface="隶书" panose="02010509060101010101" pitchFamily="49" charset="-122"/>
              <a:ea typeface="隶书" panose="02010509060101010101" pitchFamily="49" charset="-122"/>
            </a:endParaRPr>
          </a:p>
        </p:txBody>
      </p:sp>
      <p:sp>
        <p:nvSpPr>
          <p:cNvPr id="25" name="矩形 24"/>
          <p:cNvSpPr/>
          <p:nvPr/>
        </p:nvSpPr>
        <p:spPr>
          <a:xfrm>
            <a:off x="9827" y="1146830"/>
            <a:ext cx="7524327" cy="461665"/>
          </a:xfrm>
          <a:prstGeom prst="rect">
            <a:avLst/>
          </a:prstGeom>
        </p:spPr>
        <p:txBody>
          <a:bodyPr wrap="square">
            <a:spAutoFit/>
          </a:bodyPr>
          <a:lstStyle/>
          <a:p>
            <a:r>
              <a:rPr lang="en-US" altLang="zh-CN" sz="2200" dirty="0">
                <a:solidFill>
                  <a:srgbClr val="0070C0"/>
                </a:solidFill>
                <a:latin typeface="隶书" panose="02010509060101010101" pitchFamily="49" charset="-122"/>
                <a:ea typeface="隶书" panose="02010509060101010101" pitchFamily="49" charset="-122"/>
              </a:rPr>
              <a:t> </a:t>
            </a:r>
            <a:r>
              <a:rPr lang="zh-CN" altLang="en-US" sz="2200" dirty="0">
                <a:solidFill>
                  <a:srgbClr val="0070C0"/>
                </a:solidFill>
                <a:latin typeface="隶书" panose="02010509060101010101" pitchFamily="49" charset="-122"/>
                <a:ea typeface="隶书" panose="02010509060101010101" pitchFamily="49" charset="-122"/>
              </a:rPr>
              <a:t>拟合就是构建函数表达式</a:t>
            </a:r>
            <a:r>
              <a:rPr lang="en-US" altLang="zh-CN" sz="2200" dirty="0">
                <a:solidFill>
                  <a:srgbClr val="0070C0"/>
                </a:solidFill>
                <a:latin typeface="隶书" panose="02010509060101010101" pitchFamily="49" charset="-122"/>
                <a:ea typeface="隶书" panose="02010509060101010101" pitchFamily="49" charset="-122"/>
              </a:rPr>
              <a:t>:</a:t>
            </a:r>
            <a:r>
              <a:rPr lang="zh-CN" altLang="en-US" sz="2400" dirty="0">
                <a:solidFill>
                  <a:srgbClr val="0070C0"/>
                </a:solidFill>
                <a:latin typeface="隶书" panose="02010509060101010101" pitchFamily="49" charset="-122"/>
                <a:ea typeface="隶书" panose="02010509060101010101" pitchFamily="49" charset="-122"/>
              </a:rPr>
              <a:t>因变量</a:t>
            </a:r>
            <a:r>
              <a:rPr lang="en-US" altLang="zh-CN" sz="2200" dirty="0">
                <a:solidFill>
                  <a:srgbClr val="0070C0"/>
                </a:solidFill>
                <a:latin typeface="隶书" panose="02010509060101010101" pitchFamily="49" charset="-122"/>
                <a:ea typeface="隶书" panose="02010509060101010101" pitchFamily="49" charset="-122"/>
                <a:sym typeface="+mn-ea"/>
              </a:rPr>
              <a:t>y=f(</a:t>
            </a:r>
            <a:r>
              <a:rPr lang="zh-CN" altLang="en-US" sz="2000" dirty="0">
                <a:solidFill>
                  <a:srgbClr val="0070C0"/>
                </a:solidFill>
                <a:latin typeface="隶书" panose="02010509060101010101" pitchFamily="49" charset="-122"/>
                <a:ea typeface="隶书" panose="02010509060101010101" pitchFamily="49" charset="-122"/>
              </a:rPr>
              <a:t>自变量</a:t>
            </a:r>
            <a:r>
              <a:rPr lang="en-US" altLang="zh-CN" sz="2200" dirty="0">
                <a:solidFill>
                  <a:srgbClr val="0070C0"/>
                </a:solidFill>
                <a:latin typeface="隶书" panose="02010509060101010101" pitchFamily="49" charset="-122"/>
                <a:ea typeface="隶书" panose="02010509060101010101" pitchFamily="49" charset="-122"/>
                <a:sym typeface="+mn-ea"/>
              </a:rPr>
              <a:t>x,</a:t>
            </a:r>
            <a:r>
              <a:rPr lang="zh-CN" altLang="en-US" sz="2000" b="1" dirty="0">
                <a:solidFill>
                  <a:schemeClr val="bg1"/>
                </a:solidFill>
                <a:highlight>
                  <a:srgbClr val="FF0000"/>
                </a:highlight>
                <a:latin typeface="隶书" panose="02010509060101010101" pitchFamily="49" charset="-122"/>
                <a:ea typeface="隶书" panose="02010509060101010101" pitchFamily="49" charset="-122"/>
              </a:rPr>
              <a:t>待定参数</a:t>
            </a:r>
            <a:r>
              <a:rPr lang="en-US" altLang="zh-CN" sz="2000" b="1" dirty="0">
                <a:solidFill>
                  <a:schemeClr val="bg1"/>
                </a:solidFill>
                <a:highlight>
                  <a:srgbClr val="FF0000"/>
                </a:highlight>
                <a:latin typeface="隶书" panose="02010509060101010101" pitchFamily="49" charset="-122"/>
                <a:ea typeface="隶书" panose="02010509060101010101" pitchFamily="49" charset="-122"/>
              </a:rPr>
              <a:t>a</a:t>
            </a:r>
            <a:r>
              <a:rPr lang="en-US" altLang="zh-CN" sz="2200" dirty="0">
                <a:solidFill>
                  <a:srgbClr val="002060"/>
                </a:solidFill>
                <a:latin typeface="隶书" panose="02010509060101010101" pitchFamily="49" charset="-122"/>
                <a:ea typeface="隶书" panose="02010509060101010101" pitchFamily="49" charset="-122"/>
                <a:sym typeface="+mn-ea"/>
              </a:rPr>
              <a:t>)</a:t>
            </a:r>
            <a:endParaRPr lang="zh-CN" altLang="en-US" sz="2200" dirty="0">
              <a:solidFill>
                <a:srgbClr val="00206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27" name="AutoShape 13"/>
          <p:cNvSpPr/>
          <p:nvPr/>
        </p:nvSpPr>
        <p:spPr bwMode="auto">
          <a:xfrm>
            <a:off x="-400085" y="675468"/>
            <a:ext cx="3096344" cy="570970"/>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r>
              <a:rPr lang="zh-CN" altLang="en-US" sz="1600" b="1" dirty="0">
                <a:solidFill>
                  <a:srgbClr val="FFFF00"/>
                </a:solidFill>
                <a:latin typeface="微软雅黑" panose="020B0503020204020204" pitchFamily="34" charset="-122"/>
                <a:ea typeface="微软雅黑" panose="020B0503020204020204" pitchFamily="34" charset="-122"/>
              </a:rPr>
              <a:t>数据建模的方法</a:t>
            </a:r>
          </a:p>
        </p:txBody>
      </p:sp>
      <p:sp>
        <p:nvSpPr>
          <p:cNvPr id="17" name="矩形 16"/>
          <p:cNvSpPr/>
          <p:nvPr/>
        </p:nvSpPr>
        <p:spPr>
          <a:xfrm>
            <a:off x="258493" y="3741941"/>
            <a:ext cx="795295" cy="830997"/>
          </a:xfrm>
          <a:prstGeom prst="rect">
            <a:avLst/>
          </a:prstGeom>
          <a:solidFill>
            <a:srgbClr val="0070C0"/>
          </a:solidFill>
          <a:ln w="28575">
            <a:noFill/>
          </a:ln>
          <a:scene3d>
            <a:camera prst="orthographicFront"/>
            <a:lightRig rig="threePt" dir="t"/>
          </a:scene3d>
          <a:sp3d>
            <a:bevelT prst="angle"/>
          </a:sp3d>
        </p:spPr>
        <p:txBody>
          <a:bodyPr wrap="square">
            <a:spAutoFit/>
          </a:bodyPr>
          <a:lstStyle/>
          <a:p>
            <a:r>
              <a:rPr lang="zh-CN" altLang="en-US" sz="2400" dirty="0">
                <a:solidFill>
                  <a:schemeClr val="bg1"/>
                </a:solidFill>
                <a:latin typeface="华文楷体" panose="02010600040101010101" pitchFamily="2" charset="-122"/>
                <a:ea typeface="华文楷体" panose="02010600040101010101" pitchFamily="2" charset="-122"/>
              </a:rPr>
              <a:t>假设检验</a:t>
            </a:r>
          </a:p>
        </p:txBody>
      </p:sp>
      <p:sp>
        <p:nvSpPr>
          <p:cNvPr id="4" name="矩形 3"/>
          <p:cNvSpPr/>
          <p:nvPr/>
        </p:nvSpPr>
        <p:spPr>
          <a:xfrm>
            <a:off x="7331004" y="1161968"/>
            <a:ext cx="1733167" cy="400110"/>
          </a:xfrm>
          <a:prstGeom prst="rect">
            <a:avLst/>
          </a:prstGeom>
        </p:spPr>
        <p:txBody>
          <a:bodyPr wrap="none">
            <a:spAutoFit/>
          </a:bodyPr>
          <a:lstStyle/>
          <a:p>
            <a:r>
              <a:rPr lang="en-US" altLang="zh-CN" sz="2000" dirty="0">
                <a:solidFill>
                  <a:schemeClr val="bg1"/>
                </a:solidFill>
                <a:highlight>
                  <a:srgbClr val="21A4FF"/>
                </a:highlight>
                <a:latin typeface="隶书" panose="02010509060101010101" pitchFamily="49" charset="-122"/>
                <a:ea typeface="隶书" panose="02010509060101010101" pitchFamily="49" charset="-122"/>
              </a:rPr>
              <a:t> </a:t>
            </a:r>
            <a:r>
              <a:rPr lang="zh-CN" altLang="en-US" sz="2000" b="1" dirty="0">
                <a:solidFill>
                  <a:schemeClr val="bg1"/>
                </a:solidFill>
                <a:effectLst>
                  <a:outerShdw blurRad="38100" dist="38100" dir="2700000" algn="tl">
                    <a:srgbClr val="000000">
                      <a:alpha val="43137"/>
                    </a:srgbClr>
                  </a:outerShdw>
                </a:effectLst>
                <a:highlight>
                  <a:srgbClr val="21A4FF"/>
                </a:highlight>
                <a:latin typeface="隶书" panose="02010509060101010101" pitchFamily="49" charset="-122"/>
                <a:ea typeface="隶书" panose="02010509060101010101" pitchFamily="49" charset="-122"/>
              </a:rPr>
              <a:t>求待定参数</a:t>
            </a:r>
            <a:r>
              <a:rPr lang="en-US" altLang="zh-CN" sz="2000" b="1" dirty="0">
                <a:solidFill>
                  <a:schemeClr val="bg1"/>
                </a:solidFill>
                <a:effectLst>
                  <a:outerShdw blurRad="38100" dist="38100" dir="2700000" algn="tl">
                    <a:srgbClr val="000000">
                      <a:alpha val="43137"/>
                    </a:srgbClr>
                  </a:outerShdw>
                </a:effectLst>
                <a:highlight>
                  <a:srgbClr val="21A4FF"/>
                </a:highlight>
                <a:latin typeface="隶书" panose="02010509060101010101" pitchFamily="49" charset="-122"/>
                <a:ea typeface="隶书" panose="02010509060101010101" pitchFamily="49" charset="-122"/>
              </a:rPr>
              <a:t>a</a:t>
            </a:r>
            <a:endParaRPr lang="zh-CN" altLang="en-US" sz="2000" b="1" dirty="0">
              <a:solidFill>
                <a:schemeClr val="bg1"/>
              </a:solidFill>
              <a:effectLst>
                <a:outerShdw blurRad="38100" dist="38100" dir="2700000" algn="tl">
                  <a:srgbClr val="000000">
                    <a:alpha val="43137"/>
                  </a:srgbClr>
                </a:outerShdw>
              </a:effectLst>
              <a:highlight>
                <a:srgbClr val="21A4FF"/>
              </a:highlight>
              <a:latin typeface="隶书" panose="02010509060101010101" pitchFamily="49" charset="-122"/>
              <a:ea typeface="隶书" panose="02010509060101010101" pitchFamily="49" charset="-122"/>
            </a:endParaRPr>
          </a:p>
        </p:txBody>
      </p:sp>
      <p:sp>
        <p:nvSpPr>
          <p:cNvPr id="18" name="文本框 17"/>
          <p:cNvSpPr txBox="1"/>
          <p:nvPr/>
        </p:nvSpPr>
        <p:spPr>
          <a:xfrm>
            <a:off x="1125442" y="73630"/>
            <a:ext cx="7870546" cy="581762"/>
          </a:xfrm>
          <a:prstGeom prst="rect">
            <a:avLst/>
          </a:prstGeom>
          <a:noFill/>
          <a:ln w="6350">
            <a:noFill/>
          </a:ln>
        </p:spPr>
        <p:txBody>
          <a:bodyPr wrap="square">
            <a:spAutoFit/>
          </a:bodyPr>
          <a:lstStyle/>
          <a:p>
            <a:pPr eaLnBrk="0">
              <a:lnSpc>
                <a:spcPts val="3900"/>
              </a:lnSpc>
              <a:spcBef>
                <a:spcPts val="0"/>
              </a:spcBef>
              <a:spcAft>
                <a:spcPts val="0"/>
              </a:spcAft>
            </a:pPr>
            <a:r>
              <a:rPr lang="en-US" altLang="ko-KR" sz="3200" dirty="0">
                <a:solidFill>
                  <a:srgbClr val="002060"/>
                </a:solidFill>
                <a:latin typeface="华文楷体" panose="02010600040101010101" pitchFamily="2" charset="-122"/>
                <a:ea typeface="华文楷体" panose="02010600040101010101" pitchFamily="2" charset="-122"/>
              </a:rPr>
              <a:t>§5.2.1 </a:t>
            </a:r>
            <a:r>
              <a:rPr lang="zh-CN" altLang="en-US" sz="3200" dirty="0">
                <a:solidFill>
                  <a:srgbClr val="002060"/>
                </a:solidFill>
                <a:latin typeface="华文楷体" panose="02010600040101010101" pitchFamily="2" charset="-122"/>
                <a:ea typeface="华文楷体" panose="02010600040101010101" pitchFamily="2" charset="-122"/>
              </a:rPr>
              <a:t>曲线拟合</a:t>
            </a:r>
            <a:r>
              <a:rPr lang="en-US" altLang="zh-CN" sz="3200" kern="0" dirty="0">
                <a:solidFill>
                  <a:srgbClr val="FF0000"/>
                </a:solidFill>
                <a:latin typeface="华文楷体" panose="02010600040101010101" pitchFamily="2" charset="-122"/>
                <a:ea typeface="华文楷体" panose="02010600040101010101" pitchFamily="2" charset="-122"/>
              </a:rPr>
              <a:t>——</a:t>
            </a:r>
            <a:r>
              <a:rPr lang="zh-CN" altLang="en-US" sz="3200" dirty="0">
                <a:solidFill>
                  <a:srgbClr val="FF0000"/>
                </a:solidFill>
                <a:latin typeface="华文楷体" panose="02010600040101010101" pitchFamily="2" charset="-122"/>
                <a:ea typeface="华文楷体" panose="02010600040101010101" pitchFamily="2" charset="-122"/>
              </a:rPr>
              <a:t>数学建模方法之一</a:t>
            </a:r>
            <a:endParaRPr lang="en-US" altLang="zh-CN" sz="3200" dirty="0">
              <a:solidFill>
                <a:srgbClr val="FF0000"/>
              </a:solidFill>
              <a:latin typeface="华文楷体" panose="02010600040101010101" pitchFamily="2" charset="-122"/>
              <a:ea typeface="华文楷体" panose="02010600040101010101" pitchFamily="2" charset="-122"/>
            </a:endParaRPr>
          </a:p>
        </p:txBody>
      </p:sp>
      <p:sp>
        <p:nvSpPr>
          <p:cNvPr id="19" name="矩形 18"/>
          <p:cNvSpPr/>
          <p:nvPr/>
        </p:nvSpPr>
        <p:spPr>
          <a:xfrm>
            <a:off x="1148087" y="2934725"/>
            <a:ext cx="7893179" cy="399579"/>
          </a:xfrm>
          <a:prstGeom prst="rect">
            <a:avLst/>
          </a:prstGeom>
        </p:spPr>
        <p:txBody>
          <a:bodyPr wrap="square">
            <a:spAutoFit/>
          </a:bodyPr>
          <a:lstStyle/>
          <a:p>
            <a:pPr defTabSz="0" eaLnBrk="0" hangingPunct="0">
              <a:spcBef>
                <a:spcPct val="30000"/>
              </a:spcBef>
              <a:defRPr/>
            </a:pPr>
            <a:r>
              <a:rPr lang="zh-CN" altLang="en-US" sz="2000" dirty="0">
                <a:solidFill>
                  <a:srgbClr val="002060"/>
                </a:solidFill>
                <a:latin typeface="华文楷体" panose="02010600040101010101" pitchFamily="2" charset="-122"/>
                <a:ea typeface="华文楷体" panose="02010600040101010101" pitchFamily="2" charset="-122"/>
              </a:rPr>
              <a:t>拟合实验数据，建立拟合模型，揭示变量之间内在关系规律</a:t>
            </a:r>
            <a:endParaRPr lang="en-US" altLang="zh-CN" sz="2000" dirty="0">
              <a:solidFill>
                <a:srgbClr val="00206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p:bldP spid="14" grpId="0" animBg="1"/>
      <p:bldP spid="15" grpId="0"/>
      <p:bldP spid="16" grpId="0" animBg="1"/>
      <p:bldP spid="23" grpId="0"/>
      <p:bldP spid="24" grpId="0"/>
      <p:bldP spid="25" grpId="0"/>
      <p:bldP spid="17" grpId="0" animBg="1"/>
      <p:bldP spid="4"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5029" y="2181801"/>
            <a:ext cx="4990469" cy="523220"/>
          </a:xfrm>
          <a:prstGeom prst="rect">
            <a:avLst/>
          </a:prstGeom>
          <a:solidFill>
            <a:schemeClr val="bg1"/>
          </a:solidFill>
          <a:ln>
            <a:solidFill>
              <a:schemeClr val="bg1"/>
            </a:solidFill>
          </a:ln>
        </p:spPr>
        <p:txBody>
          <a:bodyPr wrap="square">
            <a:spAutoFit/>
          </a:bodyPr>
          <a:lstStyle/>
          <a:p>
            <a:endParaRPr lang="zh-CN" altLang="en-US" sz="2800" dirty="0">
              <a:solidFill>
                <a:srgbClr val="FF0000"/>
              </a:solidFill>
              <a:latin typeface="华文楷体" panose="02010600040101010101" pitchFamily="2" charset="-122"/>
              <a:ea typeface="华文楷体" panose="02010600040101010101" pitchFamily="2" charset="-122"/>
            </a:endParaRPr>
          </a:p>
        </p:txBody>
      </p:sp>
      <p:sp>
        <p:nvSpPr>
          <p:cNvPr id="6" name="矩形 5"/>
          <p:cNvSpPr/>
          <p:nvPr/>
        </p:nvSpPr>
        <p:spPr>
          <a:xfrm>
            <a:off x="47596" y="1458473"/>
            <a:ext cx="5388500" cy="3149965"/>
          </a:xfrm>
          <a:prstGeom prst="rect">
            <a:avLst/>
          </a:prstGeom>
          <a:solidFill>
            <a:schemeClr val="bg1"/>
          </a:solidFill>
          <a:ln>
            <a:solidFill>
              <a:schemeClr val="bg1"/>
            </a:solidFill>
          </a:ln>
        </p:spPr>
        <p:txBody>
          <a:bodyPr wrap="square">
            <a:spAutoFit/>
          </a:bodyPr>
          <a:lstStyle/>
          <a:p>
            <a:pPr marL="514350" indent="-514350">
              <a:lnSpc>
                <a:spcPts val="3000"/>
              </a:lnSpc>
              <a:buFont typeface="+mj-ea"/>
              <a:buAutoNum type="circleNumDbPlain" startAt="2"/>
            </a:pPr>
            <a:r>
              <a:rPr lang="zh-CN" altLang="en-US" sz="2200" dirty="0">
                <a:solidFill>
                  <a:srgbClr val="002060"/>
                </a:solidFill>
                <a:latin typeface="华文楷体" panose="02010600040101010101" pitchFamily="2" charset="-122"/>
                <a:ea typeface="华文楷体" panose="02010600040101010101" pitchFamily="2" charset="-122"/>
              </a:rPr>
              <a:t>建模</a:t>
            </a:r>
            <a:r>
              <a:rPr lang="en-US" altLang="zh-CN"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选择散点图曲线相配的</a:t>
            </a:r>
            <a:endParaRPr lang="en-US" altLang="zh-CN" sz="2200" dirty="0">
              <a:solidFill>
                <a:srgbClr val="002060"/>
              </a:solidFill>
              <a:latin typeface="华文楷体" panose="02010600040101010101" pitchFamily="2" charset="-122"/>
              <a:ea typeface="华文楷体" panose="02010600040101010101" pitchFamily="2" charset="-122"/>
            </a:endParaRPr>
          </a:p>
          <a:p>
            <a:pPr>
              <a:lnSpc>
                <a:spcPts val="3000"/>
              </a:lnSpc>
            </a:pPr>
            <a:r>
              <a:rPr lang="zh-CN" altLang="en-US" sz="2200" dirty="0">
                <a:solidFill>
                  <a:srgbClr val="002060"/>
                </a:solidFill>
                <a:latin typeface="华文楷体" panose="02010600040101010101" pitchFamily="2" charset="-122"/>
                <a:ea typeface="华文楷体" panose="02010600040101010101" pitchFamily="2" charset="-122"/>
              </a:rPr>
              <a:t>        函数原型</a:t>
            </a:r>
            <a:r>
              <a:rPr lang="en-US" altLang="zh-CN" sz="2200" b="1" dirty="0">
                <a:solidFill>
                  <a:srgbClr val="0070C0"/>
                </a:solidFill>
                <a:latin typeface="微软雅黑" panose="020B0503020204020204" pitchFamily="34" charset="-122"/>
                <a:ea typeface="微软雅黑" panose="020B0503020204020204" pitchFamily="34" charset="-122"/>
              </a:rPr>
              <a:t>y=f(</a:t>
            </a:r>
            <a:r>
              <a:rPr lang="en-US" altLang="zh-CN" sz="2200" b="1" dirty="0" err="1">
                <a:solidFill>
                  <a:srgbClr val="0070C0"/>
                </a:solidFill>
                <a:latin typeface="微软雅黑" panose="020B0503020204020204" pitchFamily="34" charset="-122"/>
                <a:ea typeface="微软雅黑" panose="020B0503020204020204" pitchFamily="34" charset="-122"/>
              </a:rPr>
              <a:t>a,x</a:t>
            </a:r>
            <a:r>
              <a:rPr lang="en-US" altLang="zh-CN" sz="2200" b="1" dirty="0">
                <a:solidFill>
                  <a:srgbClr val="0070C0"/>
                </a:solidFill>
                <a:latin typeface="微软雅黑" panose="020B0503020204020204" pitchFamily="34" charset="-122"/>
                <a:ea typeface="微软雅黑" panose="020B0503020204020204" pitchFamily="34" charset="-122"/>
              </a:rPr>
              <a:t>)</a:t>
            </a:r>
            <a:r>
              <a:rPr lang="zh-CN" altLang="en-US" sz="2200" b="1" dirty="0">
                <a:solidFill>
                  <a:srgbClr val="FF0000"/>
                </a:solidFill>
                <a:latin typeface="微软雅黑" panose="020B0503020204020204" pitchFamily="34" charset="-122"/>
                <a:ea typeface="微软雅黑" panose="020B0503020204020204" pitchFamily="34" charset="-122"/>
              </a:rPr>
              <a:t>；</a:t>
            </a:r>
            <a:endParaRPr lang="en-US" altLang="zh-CN" sz="2200" b="1" dirty="0">
              <a:solidFill>
                <a:srgbClr val="FF0000"/>
              </a:solidFill>
              <a:latin typeface="微软雅黑" panose="020B0503020204020204" pitchFamily="34" charset="-122"/>
              <a:ea typeface="微软雅黑" panose="020B0503020204020204" pitchFamily="34" charset="-122"/>
            </a:endParaRPr>
          </a:p>
          <a:p>
            <a:pPr marL="514350" indent="-514350">
              <a:lnSpc>
                <a:spcPts val="3000"/>
              </a:lnSpc>
              <a:buFont typeface="+mj-ea"/>
              <a:buAutoNum type="circleNumDbPlain" startAt="3"/>
            </a:pPr>
            <a:r>
              <a:rPr lang="zh-CN" altLang="en-US" sz="2200" dirty="0">
                <a:solidFill>
                  <a:srgbClr val="002060"/>
                </a:solidFill>
                <a:latin typeface="华文楷体" panose="02010600040101010101" pitchFamily="2" charset="-122"/>
                <a:ea typeface="华文楷体" panose="02010600040101010101" pitchFamily="2" charset="-122"/>
              </a:rPr>
              <a:t>用相应拟合命令求函数原型待定参数</a:t>
            </a:r>
            <a:r>
              <a:rPr lang="en-US" altLang="zh-CN" sz="2200" dirty="0">
                <a:solidFill>
                  <a:srgbClr val="FFFF00"/>
                </a:solidFill>
                <a:highlight>
                  <a:srgbClr val="21A4FF"/>
                </a:highlight>
                <a:latin typeface="华文楷体" panose="02010600040101010101" pitchFamily="2" charset="-122"/>
                <a:ea typeface="华文楷体" panose="02010600040101010101" pitchFamily="2" charset="-122"/>
              </a:rPr>
              <a:t>a</a:t>
            </a:r>
            <a:r>
              <a:rPr lang="zh-CN" altLang="en-US" sz="2200" dirty="0">
                <a:solidFill>
                  <a:srgbClr val="FF000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 </a:t>
            </a:r>
            <a:endParaRPr lang="en-US" altLang="zh-CN" sz="2200" dirty="0">
              <a:solidFill>
                <a:srgbClr val="002060"/>
              </a:solidFill>
              <a:latin typeface="华文楷体" panose="02010600040101010101" pitchFamily="2" charset="-122"/>
              <a:ea typeface="华文楷体" panose="02010600040101010101" pitchFamily="2" charset="-122"/>
            </a:endParaRPr>
          </a:p>
          <a:p>
            <a:pPr marL="514350" indent="-514350">
              <a:lnSpc>
                <a:spcPts val="3000"/>
              </a:lnSpc>
              <a:buFont typeface="+mj-ea"/>
              <a:buAutoNum type="circleNumDbPlain" startAt="3"/>
            </a:pPr>
            <a:r>
              <a:rPr lang="zh-CN" altLang="en-US" sz="2200" dirty="0">
                <a:solidFill>
                  <a:srgbClr val="002060"/>
                </a:solidFill>
                <a:latin typeface="华文楷体" panose="02010600040101010101" pitchFamily="2" charset="-122"/>
                <a:ea typeface="华文楷体" panose="02010600040101010101" pitchFamily="2" charset="-122"/>
              </a:rPr>
              <a:t>为观察拟合效果，在散点图上绘制拟合函数</a:t>
            </a:r>
            <a:r>
              <a:rPr lang="en-US" altLang="zh-CN" sz="2200" b="1" dirty="0">
                <a:solidFill>
                  <a:srgbClr val="0070C0"/>
                </a:solidFill>
                <a:latin typeface="微软雅黑" panose="020B0503020204020204" pitchFamily="34" charset="-122"/>
                <a:ea typeface="微软雅黑" panose="020B0503020204020204" pitchFamily="34" charset="-122"/>
              </a:rPr>
              <a:t>y=f(</a:t>
            </a:r>
            <a:r>
              <a:rPr lang="en-US" altLang="zh-CN" sz="2200" b="1" dirty="0" err="1">
                <a:solidFill>
                  <a:srgbClr val="0070C0"/>
                </a:solidFill>
                <a:latin typeface="微软雅黑" panose="020B0503020204020204" pitchFamily="34" charset="-122"/>
                <a:ea typeface="微软雅黑" panose="020B0503020204020204" pitchFamily="34" charset="-122"/>
              </a:rPr>
              <a:t>a,x</a:t>
            </a:r>
            <a:r>
              <a:rPr lang="en-US" altLang="zh-CN" sz="2200" b="1" dirty="0">
                <a:solidFill>
                  <a:srgbClr val="0070C0"/>
                </a:solidFill>
                <a:latin typeface="微软雅黑" panose="020B0503020204020204" pitchFamily="34" charset="-122"/>
                <a:ea typeface="微软雅黑" panose="020B0503020204020204" pitchFamily="34" charset="-122"/>
              </a:rPr>
              <a:t>)</a:t>
            </a:r>
            <a:r>
              <a:rPr lang="zh-CN" altLang="en-US" sz="2200" dirty="0">
                <a:solidFill>
                  <a:srgbClr val="002060"/>
                </a:solidFill>
                <a:latin typeface="华文楷体" panose="02010600040101010101" pitchFamily="2" charset="-122"/>
                <a:ea typeface="华文楷体" panose="02010600040101010101" pitchFamily="2" charset="-122"/>
              </a:rPr>
              <a:t>曲线</a:t>
            </a:r>
            <a:endParaRPr lang="en-US" altLang="zh-CN" sz="2200" dirty="0">
              <a:solidFill>
                <a:srgbClr val="002060"/>
              </a:solidFill>
              <a:latin typeface="华文楷体" panose="02010600040101010101" pitchFamily="2" charset="-122"/>
              <a:ea typeface="华文楷体" panose="02010600040101010101" pitchFamily="2" charset="-122"/>
            </a:endParaRPr>
          </a:p>
          <a:p>
            <a:pPr marL="514350" indent="-514350">
              <a:lnSpc>
                <a:spcPts val="3000"/>
              </a:lnSpc>
              <a:buFont typeface="+mj-ea"/>
              <a:buAutoNum type="circleNumDbPlain" startAt="3"/>
            </a:pPr>
            <a:r>
              <a:rPr lang="zh-CN" altLang="en-US" sz="2200" dirty="0">
                <a:solidFill>
                  <a:srgbClr val="002060"/>
                </a:solidFill>
                <a:latin typeface="华文楷体" panose="02010600040101010101" pitchFamily="2" charset="-122"/>
                <a:ea typeface="华文楷体" panose="02010600040101010101" pitchFamily="2" charset="-122"/>
              </a:rPr>
              <a:t>用拟合度</a:t>
            </a:r>
            <a:r>
              <a:rPr lang="en-US" altLang="zh-CN" sz="2200" dirty="0">
                <a:solidFill>
                  <a:srgbClr val="002060"/>
                </a:solidFill>
                <a:latin typeface="华文楷体" panose="02010600040101010101" pitchFamily="2" charset="-122"/>
                <a:ea typeface="华文楷体" panose="02010600040101010101" pitchFamily="2" charset="-122"/>
              </a:rPr>
              <a:t>R</a:t>
            </a:r>
            <a:r>
              <a:rPr lang="zh-CN" altLang="en-US" sz="2200" dirty="0">
                <a:solidFill>
                  <a:srgbClr val="002060"/>
                </a:solidFill>
                <a:latin typeface="华文楷体" panose="02010600040101010101" pitchFamily="2" charset="-122"/>
                <a:ea typeface="华文楷体" panose="02010600040101010101" pitchFamily="2" charset="-122"/>
              </a:rPr>
              <a:t>方和残差平方和</a:t>
            </a:r>
            <a:r>
              <a:rPr lang="en-US" altLang="zh-CN" sz="2200" dirty="0" err="1">
                <a:solidFill>
                  <a:srgbClr val="002060"/>
                </a:solidFill>
                <a:latin typeface="华文楷体" panose="02010600040101010101" pitchFamily="2" charset="-122"/>
                <a:ea typeface="华文楷体" panose="02010600040101010101" pitchFamily="2" charset="-122"/>
              </a:rPr>
              <a:t>sse</a:t>
            </a:r>
            <a:r>
              <a:rPr lang="zh-CN" altLang="en-US" sz="2200" dirty="0">
                <a:solidFill>
                  <a:srgbClr val="002060"/>
                </a:solidFill>
                <a:latin typeface="华文楷体" panose="02010600040101010101" pitchFamily="2" charset="-122"/>
                <a:ea typeface="华文楷体" panose="02010600040101010101" pitchFamily="2" charset="-122"/>
              </a:rPr>
              <a:t>评价拟合效果</a:t>
            </a:r>
            <a:r>
              <a:rPr lang="en-US" altLang="zh-CN" sz="2200" dirty="0">
                <a:solidFill>
                  <a:srgbClr val="002060"/>
                </a:solidFill>
                <a:latin typeface="华文楷体" panose="02010600040101010101" pitchFamily="2" charset="-122"/>
                <a:ea typeface="华文楷体" panose="02010600040101010101" pitchFamily="2" charset="-122"/>
              </a:rPr>
              <a:t> </a:t>
            </a:r>
            <a:endParaRPr lang="zh-CN" altLang="en-US" sz="2200" dirty="0">
              <a:solidFill>
                <a:srgbClr val="002060"/>
              </a:solidFill>
              <a:latin typeface="华文楷体" panose="02010600040101010101" pitchFamily="2" charset="-122"/>
              <a:ea typeface="华文楷体" panose="02010600040101010101" pitchFamily="2" charset="-122"/>
            </a:endParaRPr>
          </a:p>
          <a:p>
            <a:pPr marL="514350" indent="-514350">
              <a:lnSpc>
                <a:spcPts val="3000"/>
              </a:lnSpc>
              <a:buFont typeface="+mj-ea"/>
              <a:buAutoNum type="circleNumDbPlain" startAt="3"/>
            </a:pPr>
            <a:r>
              <a:rPr lang="zh-CN" altLang="en-US" sz="2200" dirty="0">
                <a:solidFill>
                  <a:srgbClr val="002060"/>
                </a:solidFill>
                <a:latin typeface="华文楷体" panose="02010600040101010101" pitchFamily="2" charset="-122"/>
                <a:ea typeface="华文楷体" panose="02010600040101010101" pitchFamily="2" charset="-122"/>
              </a:rPr>
              <a:t>用拟合好函数</a:t>
            </a:r>
            <a:r>
              <a:rPr lang="en-US" altLang="zh-CN" sz="2000" b="1" dirty="0">
                <a:solidFill>
                  <a:srgbClr val="0070C0"/>
                </a:solidFill>
                <a:latin typeface="微软雅黑" panose="020B0503020204020204" pitchFamily="34" charset="-122"/>
                <a:ea typeface="微软雅黑" panose="020B0503020204020204" pitchFamily="34" charset="-122"/>
              </a:rPr>
              <a:t>y=f(</a:t>
            </a:r>
            <a:r>
              <a:rPr lang="en-US" altLang="zh-CN" sz="2000" b="1" dirty="0" err="1">
                <a:solidFill>
                  <a:srgbClr val="0070C0"/>
                </a:solidFill>
                <a:latin typeface="微软雅黑" panose="020B0503020204020204" pitchFamily="34" charset="-122"/>
                <a:ea typeface="微软雅黑" panose="020B0503020204020204" pitchFamily="34" charset="-122"/>
              </a:rPr>
              <a:t>a,x</a:t>
            </a:r>
            <a:r>
              <a:rPr lang="en-US" altLang="zh-CN"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预测未知数</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0767" y="1563638"/>
            <a:ext cx="3955637" cy="304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7"/>
          <p:cNvSpPr/>
          <p:nvPr/>
        </p:nvSpPr>
        <p:spPr>
          <a:xfrm>
            <a:off x="5546209" y="2477254"/>
            <a:ext cx="1978119" cy="537263"/>
          </a:xfrm>
          <a:prstGeom prst="rect">
            <a:avLst/>
          </a:prstGeom>
          <a:noFill/>
          <a:ln>
            <a:noFill/>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sz="1600" dirty="0">
                <a:solidFill>
                  <a:srgbClr val="FF0000"/>
                </a:solidFill>
                <a:latin typeface="华文楷体" panose="02010600040101010101" pitchFamily="2" charset="-122"/>
                <a:ea typeface="华文楷体" panose="02010600040101010101" pitchFamily="2" charset="-122"/>
              </a:rPr>
              <a:t>测得</a:t>
            </a:r>
            <a:r>
              <a:rPr lang="en-US" altLang="zh-CN" sz="1600" dirty="0">
                <a:solidFill>
                  <a:srgbClr val="FF0000"/>
                </a:solidFill>
                <a:latin typeface="华文楷体" panose="02010600040101010101" pitchFamily="2" charset="-122"/>
                <a:ea typeface="华文楷体" panose="02010600040101010101" pitchFamily="2" charset="-122"/>
              </a:rPr>
              <a:t>m</a:t>
            </a:r>
            <a:r>
              <a:rPr lang="zh-CN" altLang="en-US" sz="1600" dirty="0">
                <a:solidFill>
                  <a:srgbClr val="FF0000"/>
                </a:solidFill>
                <a:latin typeface="华文楷体" panose="02010600040101010101" pitchFamily="2" charset="-122"/>
                <a:ea typeface="华文楷体" panose="02010600040101010101" pitchFamily="2" charset="-122"/>
              </a:rPr>
              <a:t>个采样点数据</a:t>
            </a:r>
            <a:r>
              <a:rPr lang="en-US" altLang="zh-CN" sz="1600" dirty="0">
                <a:solidFill>
                  <a:srgbClr val="FF0000"/>
                </a:solidFill>
                <a:latin typeface="华文楷体" panose="02010600040101010101" pitchFamily="2" charset="-122"/>
                <a:ea typeface="华文楷体" panose="02010600040101010101" pitchFamily="2" charset="-122"/>
              </a:rPr>
              <a:t>,</a:t>
            </a:r>
            <a:r>
              <a:rPr lang="zh-CN" altLang="en-US" sz="1600" dirty="0">
                <a:solidFill>
                  <a:srgbClr val="FF0000"/>
                </a:solidFill>
                <a:latin typeface="华文楷体" panose="02010600040101010101" pitchFamily="2" charset="-122"/>
                <a:ea typeface="华文楷体" panose="02010600040101010101" pitchFamily="2" charset="-122"/>
              </a:rPr>
              <a:t>绘制 </a:t>
            </a:r>
            <a:r>
              <a:rPr lang="en-US" altLang="ko-KR" sz="1600" dirty="0">
                <a:solidFill>
                  <a:srgbClr val="FF0000"/>
                </a:solidFill>
                <a:latin typeface="华文楷体" panose="02010600040101010101" pitchFamily="2" charset="-122"/>
                <a:ea typeface="华文楷体" panose="02010600040101010101" pitchFamily="2" charset="-122"/>
              </a:rPr>
              <a:t>(</a:t>
            </a:r>
            <a:r>
              <a:rPr lang="en-US" altLang="ko-KR" sz="1600" dirty="0" err="1">
                <a:solidFill>
                  <a:srgbClr val="FF0000"/>
                </a:solidFill>
                <a:latin typeface="华文楷体" panose="02010600040101010101" pitchFamily="2" charset="-122"/>
                <a:ea typeface="华文楷体" panose="02010600040101010101" pitchFamily="2" charset="-122"/>
              </a:rPr>
              <a:t>x</a:t>
            </a:r>
            <a:r>
              <a:rPr lang="en-US" altLang="zh-CN" sz="1600" dirty="0" err="1">
                <a:solidFill>
                  <a:srgbClr val="FF0000"/>
                </a:solidFill>
                <a:latin typeface="华文楷体" panose="02010600040101010101" pitchFamily="2" charset="-122"/>
                <a:ea typeface="华文楷体" panose="02010600040101010101" pitchFamily="2" charset="-122"/>
              </a:rPr>
              <a:t>i,yi</a:t>
            </a:r>
            <a:r>
              <a:rPr lang="en-US" altLang="ko-KR" sz="1600" dirty="0">
                <a:solidFill>
                  <a:srgbClr val="FF0000"/>
                </a:solidFill>
                <a:latin typeface="华文楷体" panose="02010600040101010101" pitchFamily="2" charset="-122"/>
                <a:ea typeface="华文楷体" panose="02010600040101010101" pitchFamily="2" charset="-122"/>
              </a:rPr>
              <a:t>)</a:t>
            </a:r>
            <a:r>
              <a:rPr lang="zh-CN" altLang="en-US" sz="1600" dirty="0">
                <a:solidFill>
                  <a:srgbClr val="FF0000"/>
                </a:solidFill>
                <a:latin typeface="华文楷体" panose="02010600040101010101" pitchFamily="2" charset="-122"/>
                <a:ea typeface="华文楷体" panose="02010600040101010101" pitchFamily="2" charset="-122"/>
              </a:rPr>
              <a:t>散点图</a:t>
            </a:r>
          </a:p>
        </p:txBody>
      </p:sp>
      <p:sp>
        <p:nvSpPr>
          <p:cNvPr id="9" name="矩形 8"/>
          <p:cNvSpPr/>
          <p:nvPr/>
        </p:nvSpPr>
        <p:spPr>
          <a:xfrm>
            <a:off x="5601214" y="3463197"/>
            <a:ext cx="2238263" cy="343620"/>
          </a:xfrm>
          <a:prstGeom prst="rect">
            <a:avLst/>
          </a:prstGeom>
          <a:noFill/>
          <a:ln>
            <a:noFill/>
          </a:ln>
          <a:effectLst/>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zh-CN" altLang="en-US" dirty="0">
                <a:solidFill>
                  <a:srgbClr val="FF0000"/>
                </a:solidFill>
                <a:latin typeface="华文楷体" panose="02010600040101010101" pitchFamily="2" charset="-122"/>
                <a:ea typeface="华文楷体" panose="02010600040101010101" pitchFamily="2" charset="-122"/>
                <a:sym typeface="+mn-ea"/>
              </a:rPr>
              <a:t>绘制拟合函数</a:t>
            </a:r>
            <a:r>
              <a:rPr lang="en-US" altLang="zh-CN" kern="0"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y=f(</a:t>
            </a:r>
            <a:r>
              <a:rPr lang="en-US" altLang="zh-CN" kern="0" dirty="0" err="1">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x,a</a:t>
            </a:r>
            <a:r>
              <a:rPr lang="en-US" altLang="zh-CN" kern="0"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kern="0" dirty="0">
              <a:solidFill>
                <a:srgbClr val="FF00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endParaRPr>
          </a:p>
        </p:txBody>
      </p:sp>
      <p:cxnSp>
        <p:nvCxnSpPr>
          <p:cNvPr id="10" name="连接符: 曲线 9"/>
          <p:cNvCxnSpPr/>
          <p:nvPr/>
        </p:nvCxnSpPr>
        <p:spPr>
          <a:xfrm rot="5400000" flipH="1" flipV="1">
            <a:off x="5971070" y="2252290"/>
            <a:ext cx="484378" cy="150742"/>
          </a:xfrm>
          <a:prstGeom prst="curvedConnector3">
            <a:avLst/>
          </a:prstGeom>
          <a:ln>
            <a:solidFill>
              <a:srgbClr val="FF0000"/>
            </a:solidFill>
            <a:tailEnd type="triangle"/>
          </a:ln>
        </p:spPr>
        <p:style>
          <a:lnRef idx="3">
            <a:schemeClr val="accent6"/>
          </a:lnRef>
          <a:fillRef idx="0">
            <a:schemeClr val="accent6"/>
          </a:fillRef>
          <a:effectRef idx="2">
            <a:schemeClr val="accent6"/>
          </a:effectRef>
          <a:fontRef idx="minor">
            <a:schemeClr val="tx1"/>
          </a:fontRef>
        </p:style>
      </p:cxnSp>
      <p:cxnSp>
        <p:nvCxnSpPr>
          <p:cNvPr id="11" name="连接符: 曲线 10"/>
          <p:cNvCxnSpPr/>
          <p:nvPr/>
        </p:nvCxnSpPr>
        <p:spPr>
          <a:xfrm flipV="1">
            <a:off x="7752532" y="3245372"/>
            <a:ext cx="476939" cy="435650"/>
          </a:xfrm>
          <a:prstGeom prst="curvedConnector3">
            <a:avLst/>
          </a:prstGeom>
          <a:ln>
            <a:solidFill>
              <a:srgbClr val="FF0000"/>
            </a:solidFill>
            <a:tailEnd type="triangle"/>
          </a:ln>
        </p:spPr>
        <p:style>
          <a:lnRef idx="3">
            <a:schemeClr val="accent6"/>
          </a:lnRef>
          <a:fillRef idx="0">
            <a:schemeClr val="accent6"/>
          </a:fillRef>
          <a:effectRef idx="2">
            <a:schemeClr val="accent6"/>
          </a:effectRef>
          <a:fontRef idx="minor">
            <a:schemeClr val="tx1"/>
          </a:fontRef>
        </p:style>
      </p:cxnSp>
      <p:sp>
        <p:nvSpPr>
          <p:cNvPr id="12" name="矩形 11"/>
          <p:cNvSpPr/>
          <p:nvPr/>
        </p:nvSpPr>
        <p:spPr>
          <a:xfrm>
            <a:off x="66504" y="675889"/>
            <a:ext cx="8809459" cy="400110"/>
          </a:xfrm>
          <a:prstGeom prst="rect">
            <a:avLst/>
          </a:prstGeom>
          <a:solidFill>
            <a:schemeClr val="bg1"/>
          </a:solidFill>
          <a:ln>
            <a:noFill/>
          </a:ln>
        </p:spPr>
        <p:txBody>
          <a:bodyPr wrap="square">
            <a:spAutoFit/>
          </a:bodyPr>
          <a:lstStyle/>
          <a:p>
            <a:pPr algn="dist" defTabSz="0" eaLnBrk="0" hangingPunct="0">
              <a:spcBef>
                <a:spcPct val="30000"/>
              </a:spcBef>
              <a:defRPr/>
            </a:pPr>
            <a:r>
              <a:rPr lang="zh-CN" altLang="en-US" sz="2000" b="1" dirty="0">
                <a:solidFill>
                  <a:srgbClr val="0070C0"/>
                </a:solidFill>
                <a:latin typeface="微软雅黑" panose="020B0503020204020204" pitchFamily="34" charset="-122"/>
                <a:ea typeface="微软雅黑" panose="020B0503020204020204" pitchFamily="34" charset="-122"/>
              </a:rPr>
              <a:t>变量之间一般存在的函数关系</a:t>
            </a:r>
            <a:r>
              <a:rPr lang="en-US" altLang="zh-CN"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当无法理论推导获得时</a:t>
            </a:r>
            <a:r>
              <a:rPr lang="en-US" altLang="zh-CN"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则可以采用曲线拟合</a:t>
            </a:r>
            <a:endParaRPr lang="en-US" altLang="zh-CN" sz="2000" b="1" dirty="0">
              <a:solidFill>
                <a:srgbClr val="0070C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313102" y="59265"/>
            <a:ext cx="7303126" cy="581762"/>
          </a:xfrm>
          <a:prstGeom prst="rect">
            <a:avLst/>
          </a:prstGeom>
          <a:noFill/>
          <a:ln w="6350">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§5.2.1 </a:t>
            </a:r>
            <a:r>
              <a:rPr lang="zh-CN" altLang="en-US" sz="2800" dirty="0">
                <a:solidFill>
                  <a:srgbClr val="002060"/>
                </a:solidFill>
                <a:latin typeface="华文楷体" panose="02010600040101010101" pitchFamily="2" charset="-122"/>
                <a:ea typeface="华文楷体" panose="02010600040101010101" pitchFamily="2" charset="-122"/>
              </a:rPr>
              <a:t>曲线拟合</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数学建模的拟合步骤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13" name="矩形 12"/>
          <p:cNvSpPr/>
          <p:nvPr/>
        </p:nvSpPr>
        <p:spPr>
          <a:xfrm>
            <a:off x="81221" y="1061097"/>
            <a:ext cx="8845592" cy="430631"/>
          </a:xfrm>
          <a:prstGeom prst="rect">
            <a:avLst/>
          </a:prstGeom>
          <a:solidFill>
            <a:schemeClr val="bg1"/>
          </a:solidFill>
          <a:ln>
            <a:solidFill>
              <a:schemeClr val="bg1"/>
            </a:solidFill>
          </a:ln>
        </p:spPr>
        <p:txBody>
          <a:bodyPr wrap="square">
            <a:spAutoFit/>
          </a:bodyPr>
          <a:lstStyle/>
          <a:p>
            <a:pPr marL="514350" indent="-514350">
              <a:lnSpc>
                <a:spcPts val="2700"/>
              </a:lnSpc>
              <a:buFont typeface="+mj-ea"/>
              <a:buAutoNum type="circleNumDbPlain"/>
            </a:pPr>
            <a:r>
              <a:rPr lang="zh-CN" altLang="en-US" sz="2200" dirty="0">
                <a:solidFill>
                  <a:srgbClr val="002060"/>
                </a:solidFill>
                <a:latin typeface="华文楷体" panose="02010600040101010101" pitchFamily="2" charset="-122"/>
                <a:ea typeface="华文楷体" panose="02010600040101010101" pitchFamily="2" charset="-122"/>
              </a:rPr>
              <a:t>测得</a:t>
            </a:r>
            <a:r>
              <a:rPr lang="en-US" altLang="zh-CN" sz="2200" b="1" dirty="0">
                <a:solidFill>
                  <a:schemeClr val="tx1">
                    <a:lumMod val="85000"/>
                    <a:lumOff val="15000"/>
                  </a:schemeClr>
                </a:solidFill>
                <a:latin typeface="华文楷体" panose="02010600040101010101" pitchFamily="2" charset="-122"/>
                <a:ea typeface="华文楷体" panose="02010600040101010101" pitchFamily="2" charset="-122"/>
              </a:rPr>
              <a:t>m</a:t>
            </a:r>
            <a:r>
              <a:rPr lang="zh-CN" altLang="en-US" sz="2200" dirty="0">
                <a:solidFill>
                  <a:srgbClr val="002060"/>
                </a:solidFill>
                <a:latin typeface="华文楷体" panose="02010600040101010101" pitchFamily="2" charset="-122"/>
                <a:ea typeface="华文楷体" panose="02010600040101010101" pitchFamily="2" charset="-122"/>
              </a:rPr>
              <a:t>个采样点数据</a:t>
            </a:r>
            <a:r>
              <a:rPr lang="en-US" altLang="zh-CN" sz="2200" dirty="0">
                <a:solidFill>
                  <a:srgbClr val="002060"/>
                </a:solidFill>
                <a:latin typeface="华文楷体" panose="02010600040101010101" pitchFamily="2" charset="-122"/>
                <a:ea typeface="华文楷体" panose="02010600040101010101" pitchFamily="2" charset="-122"/>
              </a:rPr>
              <a:t>(</a:t>
            </a:r>
            <a:r>
              <a:rPr lang="en-US" altLang="zh-CN" sz="2200" dirty="0" err="1">
                <a:solidFill>
                  <a:srgbClr val="002060"/>
                </a:solidFill>
                <a:latin typeface="华文楷体" panose="02010600040101010101" pitchFamily="2" charset="-122"/>
                <a:ea typeface="华文楷体" panose="02010600040101010101" pitchFamily="2" charset="-122"/>
              </a:rPr>
              <a:t>x,y</a:t>
            </a:r>
            <a:r>
              <a:rPr lang="en-US" altLang="zh-CN"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，并画出其散点图</a:t>
            </a:r>
            <a:r>
              <a:rPr lang="en-US" altLang="zh-CN" sz="2000" b="1" dirty="0">
                <a:solidFill>
                  <a:srgbClr val="FF0000"/>
                </a:solidFill>
                <a:latin typeface="微软雅黑" panose="020B0503020204020204" pitchFamily="34" charset="-122"/>
                <a:ea typeface="微软雅黑" panose="020B0503020204020204" pitchFamily="34" charset="-122"/>
              </a:rPr>
              <a:t>scatter(x,y,‘</a:t>
            </a:r>
            <a:r>
              <a:rPr lang="en-US" altLang="zh-CN" sz="2000" b="1" dirty="0" err="1">
                <a:solidFill>
                  <a:srgbClr val="FF0000"/>
                </a:solidFill>
                <a:latin typeface="微软雅黑" panose="020B0503020204020204" pitchFamily="34" charset="-122"/>
                <a:ea typeface="微软雅黑" panose="020B0503020204020204" pitchFamily="34" charset="-122"/>
              </a:rPr>
              <a:t>ro</a:t>
            </a:r>
            <a:r>
              <a:rPr lang="en-US" altLang="zh-CN" sz="2000" b="1" dirty="0">
                <a:solidFill>
                  <a:srgbClr val="FF0000"/>
                </a:solidFill>
                <a:latin typeface="微软雅黑" panose="020B0503020204020204" pitchFamily="34" charset="-122"/>
                <a:ea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8" grpId="0" animBg="1"/>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srcRect l="33464" t="27571" r="9443" b="16400"/>
          <a:stretch>
            <a:fillRect/>
          </a:stretch>
        </p:blipFill>
        <p:spPr>
          <a:xfrm>
            <a:off x="379485" y="2392936"/>
            <a:ext cx="4750713" cy="2508117"/>
          </a:xfrm>
          <a:prstGeom prst="rect">
            <a:avLst/>
          </a:prstGeom>
        </p:spPr>
      </p:pic>
      <p:pic>
        <p:nvPicPr>
          <p:cNvPr id="4" name="图片 3"/>
          <p:cNvPicPr>
            <a:picLocks noChangeAspect="1"/>
          </p:cNvPicPr>
          <p:nvPr/>
        </p:nvPicPr>
        <p:blipFill rotWithShape="1">
          <a:blip r:embed="rId4"/>
          <a:srcRect l="33802" t="32500" r="9050" b="29643"/>
          <a:stretch>
            <a:fillRect/>
          </a:stretch>
        </p:blipFill>
        <p:spPr>
          <a:xfrm>
            <a:off x="4953313" y="2307070"/>
            <a:ext cx="3790575" cy="1436594"/>
          </a:xfrm>
          <a:prstGeom prst="rect">
            <a:avLst/>
          </a:prstGeom>
        </p:spPr>
      </p:pic>
      <p:pic>
        <p:nvPicPr>
          <p:cNvPr id="5" name="图片 4"/>
          <p:cNvPicPr>
            <a:picLocks noChangeAspect="1"/>
          </p:cNvPicPr>
          <p:nvPr/>
        </p:nvPicPr>
        <p:blipFill rotWithShape="1">
          <a:blip r:embed="rId5"/>
          <a:srcRect l="33464" t="33900" r="34643" b="28244"/>
          <a:stretch>
            <a:fillRect/>
          </a:stretch>
        </p:blipFill>
        <p:spPr>
          <a:xfrm>
            <a:off x="6084168" y="3703785"/>
            <a:ext cx="2449945" cy="1315361"/>
          </a:xfrm>
          <a:prstGeom prst="rect">
            <a:avLst/>
          </a:prstGeom>
          <a:ln>
            <a:solidFill>
              <a:schemeClr val="bg1">
                <a:lumMod val="65000"/>
              </a:schemeClr>
            </a:solidFill>
          </a:ln>
        </p:spPr>
      </p:pic>
      <p:sp>
        <p:nvSpPr>
          <p:cNvPr id="9" name="矩形 8"/>
          <p:cNvSpPr/>
          <p:nvPr/>
        </p:nvSpPr>
        <p:spPr>
          <a:xfrm>
            <a:off x="447153" y="1920345"/>
            <a:ext cx="3092513" cy="369332"/>
          </a:xfrm>
          <a:prstGeom prst="rect">
            <a:avLst/>
          </a:prstGeom>
          <a:solidFill>
            <a:schemeClr val="bg1"/>
          </a:solidFill>
        </p:spPr>
        <p:txBody>
          <a:bodyPr wrap="none">
            <a:spAutoFit/>
          </a:bodyPr>
          <a:lstStyle/>
          <a:p>
            <a:pPr defTabSz="0" eaLnBrk="0" hangingPunct="0">
              <a:buFont typeface="+mj-ea"/>
              <a:buAutoNum type="circleNumDbPlain" startAt="2"/>
              <a:defRPr/>
            </a:pPr>
            <a:r>
              <a:rPr lang="zh-CN" altLang="en-US" b="1" dirty="0">
                <a:solidFill>
                  <a:srgbClr val="0070C0"/>
                </a:solidFill>
                <a:latin typeface="微软雅黑" panose="020B0503020204020204" pitchFamily="34" charset="-122"/>
                <a:ea typeface="微软雅黑" panose="020B0503020204020204" pitchFamily="34" charset="-122"/>
              </a:rPr>
              <a:t>  常见六种曲线的函数原型</a:t>
            </a:r>
            <a:endParaRPr lang="en-US" altLang="zh-CN" b="1" dirty="0">
              <a:solidFill>
                <a:srgbClr val="0070C0"/>
              </a:solidFill>
              <a:latin typeface="微软雅黑" panose="020B0503020204020204" pitchFamily="34" charset="-122"/>
              <a:ea typeface="微软雅黑" panose="020B0503020204020204" pitchFamily="34" charset="-122"/>
            </a:endParaRPr>
          </a:p>
        </p:txBody>
      </p:sp>
      <p:sp>
        <p:nvSpPr>
          <p:cNvPr id="12" name="矩形 11"/>
          <p:cNvSpPr/>
          <p:nvPr/>
        </p:nvSpPr>
        <p:spPr>
          <a:xfrm>
            <a:off x="447929" y="1474856"/>
            <a:ext cx="2683911" cy="369332"/>
          </a:xfrm>
          <a:prstGeom prst="rect">
            <a:avLst/>
          </a:prstGeom>
          <a:solidFill>
            <a:schemeClr val="bg1"/>
          </a:solidFill>
          <a:ln>
            <a:solidFill>
              <a:schemeClr val="bg1"/>
            </a:solidFill>
          </a:ln>
        </p:spPr>
        <p:txBody>
          <a:bodyPr wrap="square">
            <a:spAutoFit/>
          </a:bodyPr>
          <a:lstStyle/>
          <a:p>
            <a:pPr>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  函数原型常选多项式</a:t>
            </a:r>
          </a:p>
        </p:txBody>
      </p:sp>
      <mc:AlternateContent xmlns:mc="http://schemas.openxmlformats.org/markup-compatibility/2006" xmlns:a14="http://schemas.microsoft.com/office/drawing/2010/main">
        <mc:Choice Requires="a14">
          <p:sp>
            <p:nvSpPr>
              <p:cNvPr id="13" name="矩形 12"/>
              <p:cNvSpPr/>
              <p:nvPr/>
            </p:nvSpPr>
            <p:spPr>
              <a:xfrm>
                <a:off x="3347864" y="1484002"/>
                <a:ext cx="5317691" cy="347211"/>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14:m>
                  <m:oMathPara xmlns:m="http://schemas.openxmlformats.org/officeDocument/2006/math">
                    <m:oMathParaPr>
                      <m:jc m:val="centerGroup"/>
                    </m:oMathParaPr>
                    <m:oMath xmlns:m="http://schemas.openxmlformats.org/officeDocument/2006/math">
                      <m:r>
                        <m:rPr>
                          <m:sty m:val="p"/>
                        </m:rPr>
                        <a:rPr lang="en-US" altLang="zh-CN">
                          <a:solidFill>
                            <a:schemeClr val="bg1"/>
                          </a:solidFill>
                          <a:latin typeface="Cambria Math" panose="02040503050406030204" pitchFamily="18" charset="0"/>
                          <a:ea typeface="隶书" panose="02010509060101010101" pitchFamily="49" charset="-122"/>
                        </a:rPr>
                        <m:t>y</m:t>
                      </m:r>
                      <m:r>
                        <a:rPr lang="en-US" altLang="zh-CN">
                          <a:solidFill>
                            <a:schemeClr val="bg1"/>
                          </a:solidFill>
                          <a:latin typeface="Cambria Math" panose="02040503050406030204" pitchFamily="18" charset="0"/>
                          <a:ea typeface="隶书" panose="02010509060101010101" pitchFamily="49" charset="-122"/>
                        </a:rPr>
                        <m:t>=</m:t>
                      </m:r>
                      <m:r>
                        <a:rPr lang="en-US" altLang="zh-CN">
                          <a:solidFill>
                            <a:schemeClr val="bg1"/>
                          </a:solidFill>
                          <a:latin typeface="Cambria Math" panose="02040503050406030204" pitchFamily="18" charset="0"/>
                          <a:ea typeface="隶书" panose="02010509060101010101" pitchFamily="49" charset="-122"/>
                        </a:rPr>
                        <m:t>𝒇</m:t>
                      </m:r>
                      <m:d>
                        <m:dPr>
                          <m:ctrlPr>
                            <a:rPr lang="zh-CN" altLang="zh-CN" i="1">
                              <a:solidFill>
                                <a:schemeClr val="bg1"/>
                              </a:solidFill>
                              <a:latin typeface="Cambria Math" panose="02040503050406030204" pitchFamily="18" charset="0"/>
                              <a:ea typeface="隶书" panose="02010509060101010101" pitchFamily="49" charset="-122"/>
                            </a:rPr>
                          </m:ctrlPr>
                        </m:dPr>
                        <m:e>
                          <m:r>
                            <a:rPr lang="en-US" altLang="zh-CN">
                              <a:solidFill>
                                <a:schemeClr val="bg1"/>
                              </a:solidFill>
                              <a:latin typeface="Cambria Math" panose="02040503050406030204" pitchFamily="18" charset="0"/>
                              <a:ea typeface="隶书" panose="02010509060101010101" pitchFamily="49" charset="-122"/>
                            </a:rPr>
                            <m:t>𝒙</m:t>
                          </m:r>
                        </m:e>
                      </m:d>
                      <m:r>
                        <a:rPr lang="en-US" altLang="zh-CN">
                          <a:solidFill>
                            <a:schemeClr val="bg1"/>
                          </a:solidFill>
                          <a:latin typeface="Cambria Math" panose="02040503050406030204" pitchFamily="18" charset="0"/>
                          <a:ea typeface="隶书" panose="02010509060101010101" pitchFamily="49" charset="-122"/>
                        </a:rPr>
                        <m:t>=</m:t>
                      </m:r>
                      <m:sSup>
                        <m:sSupPr>
                          <m:ctrlPr>
                            <a:rPr lang="zh-CN" altLang="zh-CN" i="1">
                              <a:solidFill>
                                <a:schemeClr val="bg1"/>
                              </a:solidFill>
                              <a:latin typeface="Cambria Math" panose="02040503050406030204" pitchFamily="18" charset="0"/>
                              <a:ea typeface="隶书" panose="02010509060101010101" pitchFamily="49" charset="-122"/>
                            </a:rPr>
                          </m:ctrlPr>
                        </m:sSupPr>
                        <m:e>
                          <m:sSub>
                            <m:sSubPr>
                              <m:ctrlPr>
                                <a:rPr lang="zh-CN" altLang="zh-CN" i="1">
                                  <a:solidFill>
                                    <a:schemeClr val="bg1"/>
                                  </a:solidFill>
                                  <a:latin typeface="Cambria Math" panose="02040503050406030204" pitchFamily="18" charset="0"/>
                                  <a:ea typeface="隶书" panose="02010509060101010101" pitchFamily="49" charset="-122"/>
                                </a:rPr>
                              </m:ctrlPr>
                            </m:sSubPr>
                            <m:e>
                              <m:r>
                                <a:rPr lang="en-US" altLang="zh-CN">
                                  <a:solidFill>
                                    <a:schemeClr val="bg1"/>
                                  </a:solidFill>
                                  <a:latin typeface="Cambria Math" panose="02040503050406030204" pitchFamily="18" charset="0"/>
                                  <a:ea typeface="隶书" panose="02010509060101010101" pitchFamily="49" charset="-122"/>
                                </a:rPr>
                                <m:t>𝒂</m:t>
                              </m:r>
                            </m:e>
                            <m:sub>
                              <m:r>
                                <a:rPr lang="en-US" altLang="zh-CN">
                                  <a:solidFill>
                                    <a:schemeClr val="bg1"/>
                                  </a:solidFill>
                                  <a:latin typeface="Cambria Math" panose="02040503050406030204" pitchFamily="18" charset="0"/>
                                  <a:ea typeface="隶书" panose="02010509060101010101" pitchFamily="49" charset="-122"/>
                                </a:rPr>
                                <m:t>𝟎</m:t>
                              </m:r>
                            </m:sub>
                          </m:sSub>
                          <m:r>
                            <a:rPr lang="en-US" altLang="zh-CN">
                              <a:solidFill>
                                <a:schemeClr val="bg1"/>
                              </a:solidFill>
                              <a:latin typeface="Cambria Math" panose="02040503050406030204" pitchFamily="18" charset="0"/>
                              <a:ea typeface="隶书" panose="02010509060101010101" pitchFamily="49" charset="-122"/>
                            </a:rPr>
                            <m:t>𝒙</m:t>
                          </m:r>
                        </m:e>
                        <m:sup>
                          <m:r>
                            <m:rPr>
                              <m:sty m:val="p"/>
                            </m:rPr>
                            <a:rPr lang="en-US" altLang="zh-CN">
                              <a:solidFill>
                                <a:schemeClr val="bg1"/>
                              </a:solidFill>
                              <a:latin typeface="Cambria Math" panose="02040503050406030204" pitchFamily="18" charset="0"/>
                              <a:ea typeface="隶书" panose="02010509060101010101" pitchFamily="49" charset="-122"/>
                            </a:rPr>
                            <m:t>n</m:t>
                          </m:r>
                        </m:sup>
                      </m:sSup>
                      <m:r>
                        <a:rPr lang="en-US" altLang="zh-CN">
                          <a:solidFill>
                            <a:schemeClr val="bg1"/>
                          </a:solidFill>
                          <a:latin typeface="Cambria Math" panose="02040503050406030204" pitchFamily="18" charset="0"/>
                          <a:ea typeface="隶书" panose="02010509060101010101" pitchFamily="49" charset="-122"/>
                        </a:rPr>
                        <m:t>+</m:t>
                      </m:r>
                      <m:sSup>
                        <m:sSupPr>
                          <m:ctrlPr>
                            <a:rPr lang="zh-CN" altLang="zh-CN" i="1">
                              <a:solidFill>
                                <a:schemeClr val="bg1"/>
                              </a:solidFill>
                              <a:latin typeface="Cambria Math" panose="02040503050406030204" pitchFamily="18" charset="0"/>
                              <a:ea typeface="隶书" panose="02010509060101010101" pitchFamily="49" charset="-122"/>
                            </a:rPr>
                          </m:ctrlPr>
                        </m:sSupPr>
                        <m:e>
                          <m:sSub>
                            <m:sSubPr>
                              <m:ctrlPr>
                                <a:rPr lang="zh-CN" altLang="zh-CN" i="1">
                                  <a:solidFill>
                                    <a:schemeClr val="bg1"/>
                                  </a:solidFill>
                                  <a:latin typeface="Cambria Math" panose="02040503050406030204" pitchFamily="18" charset="0"/>
                                  <a:ea typeface="隶书" panose="02010509060101010101" pitchFamily="49" charset="-122"/>
                                </a:rPr>
                              </m:ctrlPr>
                            </m:sSubPr>
                            <m:e>
                              <m:r>
                                <a:rPr lang="en-US" altLang="zh-CN">
                                  <a:solidFill>
                                    <a:schemeClr val="bg1"/>
                                  </a:solidFill>
                                  <a:latin typeface="Cambria Math" panose="02040503050406030204" pitchFamily="18" charset="0"/>
                                  <a:ea typeface="隶书" panose="02010509060101010101" pitchFamily="49" charset="-122"/>
                                </a:rPr>
                                <m:t>𝒂</m:t>
                              </m:r>
                            </m:e>
                            <m:sub>
                              <m:r>
                                <a:rPr lang="en-US" altLang="zh-CN">
                                  <a:solidFill>
                                    <a:schemeClr val="bg1"/>
                                  </a:solidFill>
                                  <a:latin typeface="Cambria Math" panose="02040503050406030204" pitchFamily="18" charset="0"/>
                                  <a:ea typeface="隶书" panose="02010509060101010101" pitchFamily="49" charset="-122"/>
                                </a:rPr>
                                <m:t>𝟏</m:t>
                              </m:r>
                            </m:sub>
                          </m:sSub>
                          <m:r>
                            <a:rPr lang="en-US" altLang="zh-CN">
                              <a:solidFill>
                                <a:schemeClr val="bg1"/>
                              </a:solidFill>
                              <a:latin typeface="Cambria Math" panose="02040503050406030204" pitchFamily="18" charset="0"/>
                              <a:ea typeface="隶书" panose="02010509060101010101" pitchFamily="49" charset="-122"/>
                            </a:rPr>
                            <m:t>𝒙</m:t>
                          </m:r>
                        </m:e>
                        <m:sup>
                          <m:r>
                            <a:rPr lang="en-US" altLang="zh-CN">
                              <a:solidFill>
                                <a:schemeClr val="bg1"/>
                              </a:solidFill>
                              <a:latin typeface="Cambria Math" panose="02040503050406030204" pitchFamily="18" charset="0"/>
                              <a:ea typeface="隶书" panose="02010509060101010101" pitchFamily="49" charset="-122"/>
                            </a:rPr>
                            <m:t>𝒏</m:t>
                          </m:r>
                          <m:r>
                            <a:rPr lang="en-US" altLang="zh-CN">
                              <a:solidFill>
                                <a:schemeClr val="bg1"/>
                              </a:solidFill>
                              <a:latin typeface="Cambria Math" panose="02040503050406030204" pitchFamily="18" charset="0"/>
                              <a:ea typeface="隶书" panose="02010509060101010101" pitchFamily="49" charset="-122"/>
                            </a:rPr>
                            <m:t>−</m:t>
                          </m:r>
                          <m:r>
                            <a:rPr lang="en-US" altLang="zh-CN">
                              <a:solidFill>
                                <a:schemeClr val="bg1"/>
                              </a:solidFill>
                              <a:latin typeface="Cambria Math" panose="02040503050406030204" pitchFamily="18" charset="0"/>
                              <a:ea typeface="隶书" panose="02010509060101010101" pitchFamily="49" charset="-122"/>
                            </a:rPr>
                            <m:t>𝟏</m:t>
                          </m:r>
                        </m:sup>
                      </m:sSup>
                      <m:r>
                        <a:rPr lang="en-US" altLang="zh-CN">
                          <a:solidFill>
                            <a:schemeClr val="bg1"/>
                          </a:solidFill>
                          <a:latin typeface="Cambria Math" panose="02040503050406030204" pitchFamily="18" charset="0"/>
                          <a:ea typeface="隶书" panose="02010509060101010101" pitchFamily="49" charset="-122"/>
                        </a:rPr>
                        <m:t>…+</m:t>
                      </m:r>
                      <m:sSub>
                        <m:sSubPr>
                          <m:ctrlPr>
                            <a:rPr lang="zh-CN" altLang="zh-CN" i="1">
                              <a:solidFill>
                                <a:schemeClr val="bg1"/>
                              </a:solidFill>
                              <a:latin typeface="Cambria Math" panose="02040503050406030204" pitchFamily="18" charset="0"/>
                              <a:ea typeface="隶书" panose="02010509060101010101" pitchFamily="49" charset="-122"/>
                            </a:rPr>
                          </m:ctrlPr>
                        </m:sSubPr>
                        <m:e>
                          <m:r>
                            <a:rPr lang="en-US" altLang="zh-CN">
                              <a:solidFill>
                                <a:schemeClr val="bg1"/>
                              </a:solidFill>
                              <a:latin typeface="Cambria Math" panose="02040503050406030204" pitchFamily="18" charset="0"/>
                              <a:ea typeface="隶书" panose="02010509060101010101" pitchFamily="49" charset="-122"/>
                            </a:rPr>
                            <m:t>𝒂</m:t>
                          </m:r>
                        </m:e>
                        <m:sub>
                          <m:r>
                            <a:rPr lang="en-US" altLang="zh-CN">
                              <a:solidFill>
                                <a:schemeClr val="bg1"/>
                              </a:solidFill>
                              <a:latin typeface="Cambria Math" panose="02040503050406030204" pitchFamily="18" charset="0"/>
                              <a:ea typeface="隶书" panose="02010509060101010101" pitchFamily="49" charset="-122"/>
                            </a:rPr>
                            <m:t>𝒏</m:t>
                          </m:r>
                          <m:r>
                            <a:rPr lang="en-US" altLang="zh-CN">
                              <a:solidFill>
                                <a:schemeClr val="bg1"/>
                              </a:solidFill>
                              <a:latin typeface="Cambria Math" panose="02040503050406030204" pitchFamily="18" charset="0"/>
                              <a:ea typeface="隶书" panose="02010509060101010101" pitchFamily="49" charset="-122"/>
                            </a:rPr>
                            <m:t>−</m:t>
                          </m:r>
                          <m:r>
                            <a:rPr lang="en-US" altLang="zh-CN">
                              <a:solidFill>
                                <a:schemeClr val="bg1"/>
                              </a:solidFill>
                              <a:latin typeface="Cambria Math" panose="02040503050406030204" pitchFamily="18" charset="0"/>
                              <a:ea typeface="隶书" panose="02010509060101010101" pitchFamily="49" charset="-122"/>
                            </a:rPr>
                            <m:t>𝟏</m:t>
                          </m:r>
                        </m:sub>
                      </m:sSub>
                      <m:r>
                        <a:rPr lang="en-US" altLang="zh-CN">
                          <a:solidFill>
                            <a:schemeClr val="bg1"/>
                          </a:solidFill>
                          <a:latin typeface="Cambria Math" panose="02040503050406030204" pitchFamily="18" charset="0"/>
                          <a:ea typeface="隶书" panose="02010509060101010101" pitchFamily="49" charset="-122"/>
                        </a:rPr>
                        <m:t>𝒙</m:t>
                      </m:r>
                      <m:r>
                        <a:rPr lang="en-US" altLang="zh-CN">
                          <a:solidFill>
                            <a:schemeClr val="bg1"/>
                          </a:solidFill>
                          <a:latin typeface="Cambria Math" panose="02040503050406030204" pitchFamily="18" charset="0"/>
                          <a:ea typeface="隶书" panose="02010509060101010101" pitchFamily="49" charset="-122"/>
                        </a:rPr>
                        <m:t>+</m:t>
                      </m:r>
                      <m:sSub>
                        <m:sSubPr>
                          <m:ctrlPr>
                            <a:rPr lang="zh-CN" altLang="zh-CN" i="1">
                              <a:solidFill>
                                <a:schemeClr val="bg1"/>
                              </a:solidFill>
                              <a:latin typeface="Cambria Math" panose="02040503050406030204" pitchFamily="18" charset="0"/>
                              <a:ea typeface="隶书" panose="02010509060101010101" pitchFamily="49" charset="-122"/>
                            </a:rPr>
                          </m:ctrlPr>
                        </m:sSubPr>
                        <m:e>
                          <m:r>
                            <a:rPr lang="en-US" altLang="zh-CN">
                              <a:solidFill>
                                <a:schemeClr val="bg1"/>
                              </a:solidFill>
                              <a:latin typeface="Cambria Math" panose="02040503050406030204" pitchFamily="18" charset="0"/>
                              <a:ea typeface="隶书" panose="02010509060101010101" pitchFamily="49" charset="-122"/>
                            </a:rPr>
                            <m:t>𝒂</m:t>
                          </m:r>
                        </m:e>
                        <m:sub>
                          <m:r>
                            <a:rPr lang="en-US" altLang="zh-CN">
                              <a:solidFill>
                                <a:schemeClr val="bg1"/>
                              </a:solidFill>
                              <a:latin typeface="Cambria Math" panose="02040503050406030204" pitchFamily="18" charset="0"/>
                              <a:ea typeface="隶书" panose="02010509060101010101" pitchFamily="49" charset="-122"/>
                            </a:rPr>
                            <m:t>𝒏</m:t>
                          </m:r>
                        </m:sub>
                      </m:sSub>
                      <m:sSup>
                        <m:sSupPr>
                          <m:ctrlPr>
                            <a:rPr lang="zh-CN" altLang="zh-CN" i="1">
                              <a:solidFill>
                                <a:schemeClr val="bg1"/>
                              </a:solidFill>
                              <a:latin typeface="Cambria Math" panose="02040503050406030204" pitchFamily="18" charset="0"/>
                              <a:ea typeface="隶书" panose="02010509060101010101" pitchFamily="49" charset="-122"/>
                            </a:rPr>
                          </m:ctrlPr>
                        </m:sSupPr>
                        <m:e>
                          <m:r>
                            <a:rPr lang="en-US" altLang="zh-CN">
                              <a:solidFill>
                                <a:schemeClr val="bg1"/>
                              </a:solidFill>
                              <a:latin typeface="Cambria Math" panose="02040503050406030204" pitchFamily="18" charset="0"/>
                              <a:ea typeface="隶书" panose="02010509060101010101" pitchFamily="49" charset="-122"/>
                            </a:rPr>
                            <m:t>𝒙</m:t>
                          </m:r>
                        </m:e>
                        <m:sup>
                          <m:r>
                            <a:rPr lang="en-US" altLang="zh-CN">
                              <a:solidFill>
                                <a:schemeClr val="bg1"/>
                              </a:solidFill>
                              <a:latin typeface="Cambria Math" panose="02040503050406030204" pitchFamily="18" charset="0"/>
                              <a:ea typeface="隶书" panose="02010509060101010101" pitchFamily="49" charset="-122"/>
                            </a:rPr>
                            <m:t>𝟎</m:t>
                          </m:r>
                        </m:sup>
                      </m:sSup>
                    </m:oMath>
                  </m:oMathPara>
                </a14:m>
                <a:endParaRPr lang="zh-CN" altLang="zh-CN" dirty="0">
                  <a:solidFill>
                    <a:schemeClr val="bg1"/>
                  </a:solidFill>
                  <a:latin typeface="隶书" panose="02010509060101010101" pitchFamily="49" charset="-122"/>
                  <a:ea typeface="隶书" panose="02010509060101010101" pitchFamily="49"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3347864" y="1484002"/>
                <a:ext cx="5317691" cy="347211"/>
              </a:xfrm>
              <a:prstGeom prst="rect">
                <a:avLst/>
              </a:prstGeom>
              <a:blipFill>
                <a:blip r:embed="rId6"/>
                <a:stretch>
                  <a:fillRect/>
                </a:stretch>
              </a:blipFill>
            </p:spPr>
            <p:txBody>
              <a:bodyPr/>
              <a:lstStyle/>
              <a:p>
                <a:r>
                  <a:rPr lang="zh-CN" altLang="en-US">
                    <a:noFill/>
                  </a:rPr>
                  <a:t> </a:t>
                </a:r>
              </a:p>
            </p:txBody>
          </p:sp>
        </mc:Fallback>
      </mc:AlternateContent>
      <p:sp>
        <p:nvSpPr>
          <p:cNvPr id="8" name="矩形 7"/>
          <p:cNvSpPr/>
          <p:nvPr/>
        </p:nvSpPr>
        <p:spPr>
          <a:xfrm>
            <a:off x="5728598" y="1856462"/>
            <a:ext cx="3161083" cy="400110"/>
          </a:xfrm>
          <a:prstGeom prst="rect">
            <a:avLst/>
          </a:prstGeom>
          <a:ln>
            <a:solidFill>
              <a:schemeClr val="bg1"/>
            </a:solidFill>
          </a:ln>
        </p:spPr>
        <p:txBody>
          <a:bodyPr wrap="square">
            <a:spAutoFit/>
          </a:bodyPr>
          <a:lstStyle/>
          <a:p>
            <a:pPr lvl="0">
              <a:spcBef>
                <a:spcPct val="30000"/>
              </a:spcBef>
              <a:defRPr/>
            </a:pPr>
            <a:r>
              <a:rPr lang="zh-CN" altLang="en-US" sz="2000" dirty="0">
                <a:solidFill>
                  <a:srgbClr val="FF0000"/>
                </a:solidFill>
                <a:latin typeface="隶书" panose="02010509060101010101" pitchFamily="49" charset="-122"/>
                <a:ea typeface="隶书" panose="02010509060101010101" pitchFamily="49" charset="-122"/>
              </a:rPr>
              <a:t>多数曲线可拟合成多项式</a:t>
            </a:r>
            <a:endParaRPr lang="ko-KR" altLang="en-US" sz="2000" b="1" dirty="0">
              <a:solidFill>
                <a:srgbClr val="FF0000"/>
              </a:solidFill>
              <a:latin typeface="隶书" panose="02010509060101010101" pitchFamily="49" charset="-122"/>
              <a:ea typeface="隶书" panose="02010509060101010101" pitchFamily="49" charset="-122"/>
            </a:endParaRPr>
          </a:p>
        </p:txBody>
      </p:sp>
      <p:sp>
        <p:nvSpPr>
          <p:cNvPr id="6" name="矩形 5"/>
          <p:cNvSpPr/>
          <p:nvPr/>
        </p:nvSpPr>
        <p:spPr>
          <a:xfrm>
            <a:off x="450695" y="635907"/>
            <a:ext cx="8461735" cy="789255"/>
          </a:xfrm>
          <a:prstGeom prst="rect">
            <a:avLst/>
          </a:prstGeom>
          <a:ln>
            <a:noFill/>
          </a:ln>
        </p:spPr>
        <p:txBody>
          <a:bodyPr wrap="square">
            <a:spAutoFit/>
          </a:bodyPr>
          <a:lstStyle/>
          <a:p>
            <a:pPr>
              <a:lnSpc>
                <a:spcPts val="2800"/>
              </a:lnSpc>
            </a:pPr>
            <a:r>
              <a:rPr lang="zh-CN" altLang="en-US" sz="2000" b="1" dirty="0">
                <a:solidFill>
                  <a:srgbClr val="0070C0"/>
                </a:solidFill>
                <a:latin typeface="华文楷体" panose="02010600040101010101" pitchFamily="2" charset="-122"/>
                <a:ea typeface="华文楷体" panose="02010600040101010101" pitchFamily="2" charset="-122"/>
              </a:rPr>
              <a:t>一般先根据观测值</a:t>
            </a:r>
            <a:r>
              <a:rPr lang="en-US" altLang="zh-CN" sz="2000" b="1" dirty="0">
                <a:solidFill>
                  <a:srgbClr val="0070C0"/>
                </a:solidFill>
                <a:latin typeface="华文楷体" panose="02010600040101010101" pitchFamily="2" charset="-122"/>
                <a:ea typeface="华文楷体" panose="02010600040101010101" pitchFamily="2" charset="-122"/>
              </a:rPr>
              <a:t>(</a:t>
            </a:r>
            <a:r>
              <a:rPr lang="en-US" altLang="zh-CN" sz="2000" b="1" dirty="0" err="1">
                <a:solidFill>
                  <a:srgbClr val="0070C0"/>
                </a:solidFill>
                <a:latin typeface="华文楷体" panose="02010600040101010101" pitchFamily="2" charset="-122"/>
                <a:ea typeface="华文楷体" panose="02010600040101010101" pitchFamily="2" charset="-122"/>
              </a:rPr>
              <a:t>xi,yi</a:t>
            </a:r>
            <a:r>
              <a:rPr lang="en-US" altLang="zh-CN" sz="2000" b="1" dirty="0">
                <a:solidFill>
                  <a:srgbClr val="0070C0"/>
                </a:solidFill>
                <a:latin typeface="华文楷体" panose="02010600040101010101" pitchFamily="2" charset="-122"/>
                <a:ea typeface="华文楷体" panose="02010600040101010101" pitchFamily="2" charset="-122"/>
              </a:rPr>
              <a:t>)</a:t>
            </a:r>
            <a:r>
              <a:rPr lang="zh-CN" altLang="en-US" sz="2000" b="1" dirty="0">
                <a:solidFill>
                  <a:srgbClr val="0070C0"/>
                </a:solidFill>
                <a:latin typeface="华文楷体" panose="02010600040101010101" pitchFamily="2" charset="-122"/>
                <a:ea typeface="华文楷体" panose="02010600040101010101" pitchFamily="2" charset="-122"/>
              </a:rPr>
              <a:t>描出散点图，看一看散点的分布同哪类函数原型曲线</a:t>
            </a:r>
            <a:r>
              <a:rPr lang="en-US" altLang="zh-CN" sz="2000" b="1" dirty="0">
                <a:solidFill>
                  <a:srgbClr val="0070C0"/>
                </a:solidFill>
                <a:latin typeface="华文楷体" panose="02010600040101010101" pitchFamily="2" charset="-122"/>
                <a:ea typeface="华文楷体" panose="02010600040101010101" pitchFamily="2" charset="-122"/>
              </a:rPr>
              <a:t>y=f(</a:t>
            </a:r>
            <a:r>
              <a:rPr lang="en-US" altLang="zh-CN" sz="2000" b="1" dirty="0" err="1">
                <a:solidFill>
                  <a:srgbClr val="0070C0"/>
                </a:solidFill>
                <a:latin typeface="华文楷体" panose="02010600040101010101" pitchFamily="2" charset="-122"/>
                <a:ea typeface="华文楷体" panose="02010600040101010101" pitchFamily="2" charset="-122"/>
              </a:rPr>
              <a:t>x,a</a:t>
            </a:r>
            <a:r>
              <a:rPr lang="en-US" altLang="zh-CN" sz="2000" b="1" dirty="0">
                <a:solidFill>
                  <a:srgbClr val="0070C0"/>
                </a:solidFill>
                <a:latin typeface="华文楷体" panose="02010600040101010101" pitchFamily="2" charset="-122"/>
                <a:ea typeface="华文楷体" panose="02010600040101010101" pitchFamily="2" charset="-122"/>
              </a:rPr>
              <a:t>)</a:t>
            </a:r>
            <a:r>
              <a:rPr lang="zh-CN" altLang="en-US" sz="2000" b="1" dirty="0">
                <a:solidFill>
                  <a:srgbClr val="0070C0"/>
                </a:solidFill>
                <a:latin typeface="华文楷体" panose="02010600040101010101" pitchFamily="2" charset="-122"/>
                <a:ea typeface="华文楷体" panose="02010600040101010101" pitchFamily="2" charset="-122"/>
              </a:rPr>
              <a:t>接近就选择哪个</a:t>
            </a:r>
            <a:r>
              <a:rPr lang="en-US" altLang="zh-CN" sz="2000" b="1" dirty="0">
                <a:solidFill>
                  <a:srgbClr val="0070C0"/>
                </a:solidFill>
                <a:latin typeface="华文楷体" panose="02010600040101010101" pitchFamily="2" charset="-122"/>
                <a:ea typeface="华文楷体" panose="02010600040101010101" pitchFamily="2" charset="-122"/>
              </a:rPr>
              <a:t>,</a:t>
            </a:r>
            <a:r>
              <a:rPr lang="zh-CN" altLang="en-US" sz="2000" b="1" dirty="0">
                <a:solidFill>
                  <a:srgbClr val="0070C0"/>
                </a:solidFill>
                <a:latin typeface="华文楷体" panose="02010600040101010101" pitchFamily="2" charset="-122"/>
                <a:ea typeface="华文楷体" panose="02010600040101010101" pitchFamily="2" charset="-122"/>
              </a:rPr>
              <a:t>从而求出这些原型的待定参数</a:t>
            </a:r>
            <a:r>
              <a:rPr lang="en-US" altLang="zh-CN" sz="2000" b="1" dirty="0">
                <a:solidFill>
                  <a:srgbClr val="0070C0"/>
                </a:solidFill>
                <a:latin typeface="华文楷体" panose="02010600040101010101" pitchFamily="2" charset="-122"/>
                <a:ea typeface="华文楷体" panose="02010600040101010101" pitchFamily="2" charset="-122"/>
              </a:rPr>
              <a:t>a</a:t>
            </a:r>
            <a:r>
              <a:rPr lang="zh-CN" altLang="en-US" sz="2000" b="1" dirty="0">
                <a:solidFill>
                  <a:srgbClr val="0070C0"/>
                </a:solidFill>
                <a:latin typeface="华文楷体" panose="02010600040101010101" pitchFamily="2" charset="-122"/>
                <a:ea typeface="华文楷体" panose="02010600040101010101" pitchFamily="2" charset="-122"/>
              </a:rPr>
              <a:t>、</a:t>
            </a:r>
            <a:r>
              <a:rPr lang="en-US" altLang="zh-CN" sz="2000" b="1" dirty="0">
                <a:solidFill>
                  <a:srgbClr val="0070C0"/>
                </a:solidFill>
                <a:latin typeface="华文楷体" panose="02010600040101010101" pitchFamily="2" charset="-122"/>
                <a:ea typeface="华文楷体" panose="02010600040101010101" pitchFamily="2" charset="-122"/>
              </a:rPr>
              <a:t>b</a:t>
            </a:r>
            <a:r>
              <a:rPr lang="zh-CN" altLang="en-US" sz="2000" b="1" dirty="0">
                <a:solidFill>
                  <a:srgbClr val="0070C0"/>
                </a:solidFill>
                <a:latin typeface="华文楷体" panose="02010600040101010101" pitchFamily="2" charset="-122"/>
                <a:ea typeface="华文楷体" panose="02010600040101010101" pitchFamily="2" charset="-122"/>
              </a:rPr>
              <a:t>等</a:t>
            </a:r>
          </a:p>
        </p:txBody>
      </p:sp>
      <p:sp>
        <p:nvSpPr>
          <p:cNvPr id="14" name="文本框 13"/>
          <p:cNvSpPr txBox="1"/>
          <p:nvPr/>
        </p:nvSpPr>
        <p:spPr>
          <a:xfrm>
            <a:off x="1025194" y="42795"/>
            <a:ext cx="7228112" cy="581762"/>
          </a:xfrm>
          <a:prstGeom prst="rect">
            <a:avLst/>
          </a:prstGeom>
          <a:noFill/>
          <a:ln w="6350">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§5.2.1 </a:t>
            </a:r>
            <a:r>
              <a:rPr lang="zh-CN" altLang="en-US" sz="2800" dirty="0">
                <a:solidFill>
                  <a:srgbClr val="002060"/>
                </a:solidFill>
                <a:latin typeface="华文楷体" panose="02010600040101010101" pitchFamily="2" charset="-122"/>
                <a:ea typeface="华文楷体" panose="02010600040101010101" pitchFamily="2" charset="-122"/>
              </a:rPr>
              <a:t>曲线拟合</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拟合用函数原型</a:t>
            </a:r>
            <a:r>
              <a:rPr lang="en-US" altLang="zh-CN" sz="2800" dirty="0">
                <a:solidFill>
                  <a:srgbClr val="FF0000"/>
                </a:solidFill>
                <a:latin typeface="华文楷体" panose="02010600040101010101" pitchFamily="2" charset="-122"/>
                <a:ea typeface="华文楷体" panose="02010600040101010101" pitchFamily="2" charset="-122"/>
              </a:rPr>
              <a:t>y=f(</a:t>
            </a:r>
            <a:r>
              <a:rPr lang="en-US" altLang="zh-CN" sz="2800" dirty="0" err="1">
                <a:solidFill>
                  <a:srgbClr val="FF0000"/>
                </a:solidFill>
                <a:latin typeface="华文楷体" panose="02010600040101010101" pitchFamily="2" charset="-122"/>
                <a:ea typeface="华文楷体" panose="02010600040101010101" pitchFamily="2" charset="-122"/>
              </a:rPr>
              <a:t>x,a</a:t>
            </a:r>
            <a:r>
              <a:rPr lang="en-US" altLang="zh-CN" sz="2800" dirty="0">
                <a:solidFill>
                  <a:srgbClr val="FF0000"/>
                </a:solidFill>
                <a:latin typeface="华文楷体" panose="02010600040101010101" pitchFamily="2" charset="-122"/>
                <a:ea typeface="华文楷体" panose="02010600040101010101" pitchFamily="2" charset="-122"/>
              </a:rPr>
              <a:t>)</a:t>
            </a:r>
          </a:p>
        </p:txBody>
      </p:sp>
      <p:sp>
        <p:nvSpPr>
          <p:cNvPr id="11" name="矩形 10">
            <a:extLst>
              <a:ext uri="{FF2B5EF4-FFF2-40B4-BE49-F238E27FC236}">
                <a16:creationId xmlns:a16="http://schemas.microsoft.com/office/drawing/2014/main" id="{A6491395-F8D0-469A-9EBA-DB984E3AE31C}"/>
              </a:ext>
            </a:extLst>
          </p:cNvPr>
          <p:cNvSpPr/>
          <p:nvPr/>
        </p:nvSpPr>
        <p:spPr>
          <a:xfrm>
            <a:off x="501623" y="3451276"/>
            <a:ext cx="2440995" cy="584775"/>
          </a:xfrm>
          <a:prstGeom prst="rect">
            <a:avLst/>
          </a:prstGeom>
        </p:spPr>
        <p:txBody>
          <a:bodyPr wrap="square">
            <a:spAutoFit/>
          </a:bodyPr>
          <a:lstStyle/>
          <a:p>
            <a:r>
              <a:rPr lang="zh-CN" altLang="en-US" sz="1600" dirty="0">
                <a:solidFill>
                  <a:srgbClr val="0070C0"/>
                </a:solidFill>
                <a:latin typeface="华文楷体" panose="02010600040101010101" pitchFamily="2" charset="-122"/>
                <a:ea typeface="华文楷体" panose="02010600040101010101" pitchFamily="2" charset="-122"/>
              </a:rPr>
              <a:t>实验数据基本模型未知时，常用</a:t>
            </a:r>
            <a:r>
              <a:rPr lang="en-US" altLang="ko-KR" sz="1600" dirty="0" err="1">
                <a:solidFill>
                  <a:srgbClr val="0070C0"/>
                </a:solidFill>
                <a:latin typeface="华文楷体" panose="02010600040101010101" pitchFamily="2" charset="-122"/>
                <a:ea typeface="华文楷体" panose="02010600040101010101" pitchFamily="2" charset="-122"/>
              </a:rPr>
              <a:t>幂函数</a:t>
            </a:r>
            <a:r>
              <a:rPr lang="zh-CN" altLang="en-US" sz="1600" dirty="0">
                <a:solidFill>
                  <a:srgbClr val="0070C0"/>
                </a:solidFill>
                <a:latin typeface="华文楷体" panose="02010600040101010101" pitchFamily="2" charset="-122"/>
                <a:ea typeface="华文楷体" panose="02010600040101010101" pitchFamily="2" charset="-122"/>
              </a:rPr>
              <a:t>拟合</a:t>
            </a:r>
            <a:endParaRPr lang="en-US" altLang="ko-KR" sz="1600" dirty="0">
              <a:solidFill>
                <a:srgbClr val="0070C0"/>
              </a:solidFill>
              <a:latin typeface="华文楷体" panose="02010600040101010101" pitchFamily="2" charset="-122"/>
              <a:ea typeface="华文楷体" panose="02010600040101010101" pitchFamily="2" charset="-122"/>
            </a:endParaRPr>
          </a:p>
        </p:txBody>
      </p:sp>
      <p:sp>
        <p:nvSpPr>
          <p:cNvPr id="15" name="矩形 14">
            <a:extLst>
              <a:ext uri="{FF2B5EF4-FFF2-40B4-BE49-F238E27FC236}">
                <a16:creationId xmlns:a16="http://schemas.microsoft.com/office/drawing/2014/main" id="{4F9100FA-725A-4D34-98E7-F5C4C227D050}"/>
              </a:ext>
            </a:extLst>
          </p:cNvPr>
          <p:cNvSpPr/>
          <p:nvPr/>
        </p:nvSpPr>
        <p:spPr>
          <a:xfrm>
            <a:off x="533372" y="4441186"/>
            <a:ext cx="3462564" cy="584775"/>
          </a:xfrm>
          <a:prstGeom prst="rect">
            <a:avLst/>
          </a:prstGeom>
        </p:spPr>
        <p:txBody>
          <a:bodyPr wrap="square">
            <a:spAutoFit/>
          </a:bodyPr>
          <a:lstStyle/>
          <a:p>
            <a:r>
              <a:rPr lang="zh-CN" altLang="en-US" sz="1600" dirty="0">
                <a:solidFill>
                  <a:srgbClr val="0070C0"/>
                </a:solidFill>
                <a:latin typeface="华文楷体" panose="02010600040101010101" pitchFamily="2" charset="-122"/>
                <a:ea typeface="华文楷体" panose="02010600040101010101" pitchFamily="2" charset="-122"/>
              </a:rPr>
              <a:t>指数函数常用与自身大小增加或减小的量，如人口增长和放射元素衰减</a:t>
            </a:r>
            <a:endParaRPr lang="en-US" altLang="ko-KR" sz="1600" dirty="0">
              <a:solidFill>
                <a:srgbClr val="0070C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P spid="8" grpId="0" animBg="1"/>
      <p:bldP spid="11"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矩形 7"/>
              <p:cNvSpPr/>
              <p:nvPr/>
            </p:nvSpPr>
            <p:spPr>
              <a:xfrm>
                <a:off x="438057" y="2847850"/>
                <a:ext cx="3739031" cy="438903"/>
              </a:xfrm>
              <a:prstGeom prst="rect">
                <a:avLst/>
              </a:prstGeom>
              <a:noFill/>
              <a:effectLst>
                <a:outerShdw blurRad="63500" sx="102000" sy="102000" algn="ctr" rotWithShape="0">
                  <a:prstClr val="black">
                    <a:alpha val="40000"/>
                  </a:prstClr>
                </a:outerShdw>
              </a:effectLst>
            </p:spPr>
            <p:txBody>
              <a:bodyPr wrap="square">
                <a:spAutoFit/>
              </a:bodyPr>
              <a:lstStyle/>
              <a:p>
                <a14:m>
                  <m:oMath xmlns:m="http://schemas.openxmlformats.org/officeDocument/2006/math">
                    <m:r>
                      <a:rPr lang="en-US" altLang="zh-CN" sz="2200" b="0" i="1" smtClean="0">
                        <a:solidFill>
                          <a:srgbClr val="002060"/>
                        </a:solidFill>
                        <a:latin typeface="Cambria Math" panose="02040503050406030204" pitchFamily="18" charset="0"/>
                        <a:ea typeface="隶书" panose="02010509060101010101" pitchFamily="49" charset="-122"/>
                        <a:sym typeface="+mn-ea"/>
                      </a:rPr>
                      <m:t>𝐽</m:t>
                    </m:r>
                    <m:r>
                      <a:rPr lang="en-US" altLang="zh-CN" sz="2200" b="0" i="1" smtClean="0">
                        <a:solidFill>
                          <a:srgbClr val="002060"/>
                        </a:solidFill>
                        <a:latin typeface="Cambria Math" panose="02040503050406030204" pitchFamily="18" charset="0"/>
                        <a:ea typeface="隶书" panose="02010509060101010101" pitchFamily="49" charset="-122"/>
                        <a:sym typeface="+mn-ea"/>
                      </a:rPr>
                      <m:t>=</m:t>
                    </m:r>
                    <m:r>
                      <a:rPr lang="en-US" altLang="zh-CN" sz="2200" b="0" i="1" smtClean="0">
                        <a:solidFill>
                          <a:srgbClr val="002060"/>
                        </a:solidFill>
                        <a:latin typeface="Cambria Math" panose="02040503050406030204" pitchFamily="18" charset="0"/>
                        <a:ea typeface="隶书" panose="02010509060101010101" pitchFamily="49" charset="-122"/>
                        <a:sym typeface="+mn-ea"/>
                      </a:rPr>
                      <m:t>𝑚𝑖𝑛</m:t>
                    </m:r>
                    <m:nary>
                      <m:naryPr>
                        <m:chr m:val="∑"/>
                        <m:ctrlPr>
                          <a:rPr lang="en-US" altLang="zh-CN" sz="2200" b="0" i="1" smtClean="0">
                            <a:solidFill>
                              <a:srgbClr val="002060"/>
                            </a:solidFill>
                            <a:latin typeface="Cambria Math" panose="02040503050406030204" pitchFamily="18" charset="0"/>
                            <a:ea typeface="隶书" panose="02010509060101010101" pitchFamily="49" charset="-122"/>
                            <a:sym typeface="+mn-ea"/>
                          </a:rPr>
                        </m:ctrlPr>
                      </m:naryPr>
                      <m:sub>
                        <m:r>
                          <m:rPr>
                            <m:brk m:alnAt="23"/>
                          </m:rPr>
                          <a:rPr lang="en-US" altLang="zh-CN" sz="2200" b="0" i="1" smtClean="0">
                            <a:solidFill>
                              <a:srgbClr val="002060"/>
                            </a:solidFill>
                            <a:latin typeface="Cambria Math" panose="02040503050406030204" pitchFamily="18" charset="0"/>
                            <a:ea typeface="隶书" panose="02010509060101010101" pitchFamily="49" charset="-122"/>
                            <a:sym typeface="+mn-ea"/>
                          </a:rPr>
                          <m:t>𝑖</m:t>
                        </m:r>
                        <m:r>
                          <a:rPr lang="en-US" altLang="zh-CN" sz="2200" b="0" i="1" smtClean="0">
                            <a:solidFill>
                              <a:srgbClr val="002060"/>
                            </a:solidFill>
                            <a:latin typeface="Cambria Math" panose="02040503050406030204" pitchFamily="18" charset="0"/>
                            <a:ea typeface="隶书" panose="02010509060101010101" pitchFamily="49" charset="-122"/>
                            <a:sym typeface="+mn-ea"/>
                          </a:rPr>
                          <m:t>=1</m:t>
                        </m:r>
                      </m:sub>
                      <m:sup>
                        <m:r>
                          <a:rPr lang="en-US" altLang="zh-CN" sz="2200" b="0" i="1" smtClean="0">
                            <a:solidFill>
                              <a:srgbClr val="002060"/>
                            </a:solidFill>
                            <a:latin typeface="Cambria Math" panose="02040503050406030204" pitchFamily="18" charset="0"/>
                            <a:ea typeface="隶书" panose="02010509060101010101" pitchFamily="49" charset="-122"/>
                            <a:sym typeface="+mn-ea"/>
                          </a:rPr>
                          <m:t>𝑚</m:t>
                        </m:r>
                      </m:sup>
                      <m:e>
                        <m:sSup>
                          <m:sSupPr>
                            <m:ctrlPr>
                              <a:rPr lang="en-US" altLang="zh-CN" sz="2200" b="0" i="1" smtClean="0">
                                <a:solidFill>
                                  <a:srgbClr val="002060"/>
                                </a:solidFill>
                                <a:latin typeface="Cambria Math" panose="02040503050406030204" pitchFamily="18" charset="0"/>
                                <a:ea typeface="隶书" panose="02010509060101010101" pitchFamily="49" charset="-122"/>
                                <a:sym typeface="+mn-ea"/>
                              </a:rPr>
                            </m:ctrlPr>
                          </m:sSupPr>
                          <m:e>
                            <m:r>
                              <a:rPr lang="en-US" altLang="zh-CN" sz="2200" i="1">
                                <a:solidFill>
                                  <a:srgbClr val="002060"/>
                                </a:solidFill>
                                <a:latin typeface="Cambria Math" panose="02040503050406030204" pitchFamily="18" charset="0"/>
                                <a:ea typeface="隶书" panose="02010509060101010101" pitchFamily="49" charset="-122"/>
                                <a:sym typeface="+mn-ea"/>
                              </a:rPr>
                              <m:t>[</m:t>
                            </m:r>
                            <m:r>
                              <a:rPr lang="en-US" altLang="zh-CN" sz="2200" i="1">
                                <a:solidFill>
                                  <a:srgbClr val="002060"/>
                                </a:solidFill>
                                <a:latin typeface="Cambria Math" panose="02040503050406030204" pitchFamily="18" charset="0"/>
                                <a:ea typeface="隶书" panose="02010509060101010101" pitchFamily="49" charset="-122"/>
                                <a:sym typeface="+mn-ea"/>
                              </a:rPr>
                              <m:t>𝑦𝑖</m:t>
                            </m:r>
                            <m:d>
                              <m:dPr>
                                <m:ctrlPr>
                                  <a:rPr lang="en-US" altLang="zh-CN" sz="2200" i="1">
                                    <a:solidFill>
                                      <a:srgbClr val="002060"/>
                                    </a:solidFill>
                                    <a:latin typeface="Cambria Math" panose="02040503050406030204" pitchFamily="18" charset="0"/>
                                    <a:ea typeface="隶书" panose="02010509060101010101" pitchFamily="49" charset="-122"/>
                                    <a:sym typeface="+mn-ea"/>
                                  </a:rPr>
                                </m:ctrlPr>
                              </m:dPr>
                              <m:e>
                                <m:r>
                                  <a:rPr lang="en-US" altLang="zh-CN" sz="2200" i="1">
                                    <a:solidFill>
                                      <a:srgbClr val="002060"/>
                                    </a:solidFill>
                                    <a:latin typeface="Cambria Math" panose="02040503050406030204" pitchFamily="18" charset="0"/>
                                    <a:ea typeface="隶书" panose="02010509060101010101" pitchFamily="49" charset="-122"/>
                                    <a:sym typeface="+mn-ea"/>
                                  </a:rPr>
                                  <m:t>𝑎</m:t>
                                </m:r>
                                <m:r>
                                  <a:rPr lang="en-US" altLang="zh-CN" sz="2200" i="1">
                                    <a:solidFill>
                                      <a:srgbClr val="002060"/>
                                    </a:solidFill>
                                    <a:latin typeface="Cambria Math" panose="02040503050406030204" pitchFamily="18" charset="0"/>
                                    <a:ea typeface="隶书" panose="02010509060101010101" pitchFamily="49" charset="-122"/>
                                    <a:sym typeface="+mn-ea"/>
                                  </a:rPr>
                                  <m:t>,</m:t>
                                </m:r>
                                <m:r>
                                  <a:rPr lang="en-US" altLang="zh-CN" sz="2200" i="1">
                                    <a:solidFill>
                                      <a:srgbClr val="002060"/>
                                    </a:solidFill>
                                    <a:latin typeface="Cambria Math" panose="02040503050406030204" pitchFamily="18" charset="0"/>
                                    <a:ea typeface="隶书" panose="02010509060101010101" pitchFamily="49" charset="-122"/>
                                    <a:sym typeface="+mn-ea"/>
                                  </a:rPr>
                                  <m:t>𝑥𝑖</m:t>
                                </m:r>
                              </m:e>
                            </m:d>
                            <m:r>
                              <a:rPr lang="en-US" altLang="zh-CN" sz="2200" i="1">
                                <a:solidFill>
                                  <a:srgbClr val="002060"/>
                                </a:solidFill>
                                <a:latin typeface="Cambria Math" panose="02040503050406030204" pitchFamily="18" charset="0"/>
                                <a:ea typeface="隶书" panose="02010509060101010101" pitchFamily="49" charset="-122"/>
                                <a:sym typeface="+mn-ea"/>
                              </a:rPr>
                              <m:t>−</m:t>
                            </m:r>
                            <m:r>
                              <a:rPr lang="en-US" altLang="zh-CN" sz="2200" i="1">
                                <a:solidFill>
                                  <a:srgbClr val="002060"/>
                                </a:solidFill>
                                <a:latin typeface="Cambria Math" panose="02040503050406030204" pitchFamily="18" charset="0"/>
                                <a:ea typeface="隶书" panose="02010509060101010101" pitchFamily="49" charset="-122"/>
                                <a:sym typeface="+mn-ea"/>
                              </a:rPr>
                              <m:t>𝑦𝑖</m:t>
                            </m:r>
                            <m:r>
                              <a:rPr lang="en-US" altLang="zh-CN" sz="2200" b="0" i="1" smtClean="0">
                                <a:solidFill>
                                  <a:srgbClr val="002060"/>
                                </a:solidFill>
                                <a:latin typeface="Cambria Math" panose="02040503050406030204" pitchFamily="18" charset="0"/>
                                <a:ea typeface="隶书" panose="02010509060101010101" pitchFamily="49" charset="-122"/>
                                <a:sym typeface="+mn-ea"/>
                              </a:rPr>
                              <m:t>]</m:t>
                            </m:r>
                          </m:e>
                          <m:sup>
                            <m:r>
                              <a:rPr lang="en-US" altLang="zh-CN" sz="2200" b="0" i="1" smtClean="0">
                                <a:solidFill>
                                  <a:srgbClr val="002060"/>
                                </a:solidFill>
                                <a:latin typeface="Cambria Math" panose="02040503050406030204" pitchFamily="18" charset="0"/>
                                <a:ea typeface="隶书" panose="02010509060101010101" pitchFamily="49" charset="-122"/>
                                <a:sym typeface="+mn-ea"/>
                              </a:rPr>
                              <m:t>2</m:t>
                            </m:r>
                          </m:sup>
                        </m:sSup>
                      </m:e>
                    </m:nary>
                  </m:oMath>
                </a14:m>
                <a:r>
                  <a:rPr lang="zh-CN" altLang="en-US" sz="2200" dirty="0">
                    <a:solidFill>
                      <a:srgbClr val="002060"/>
                    </a:solidFill>
                    <a:latin typeface="隶书" panose="02010509060101010101" pitchFamily="49" charset="-122"/>
                    <a:ea typeface="隶书" panose="02010509060101010101" pitchFamily="49" charset="-122"/>
                    <a:sym typeface="+mn-ea"/>
                  </a:rPr>
                  <a:t>  </a:t>
                </a:r>
              </a:p>
            </p:txBody>
          </p:sp>
        </mc:Choice>
        <mc:Fallback xmlns="">
          <p:sp>
            <p:nvSpPr>
              <p:cNvPr id="8" name="矩形 7"/>
              <p:cNvSpPr>
                <a:spLocks noRot="1" noChangeAspect="1" noMove="1" noResize="1" noEditPoints="1" noAdjustHandles="1" noChangeArrowheads="1" noChangeShapeType="1" noTextEdit="1"/>
              </p:cNvSpPr>
              <p:nvPr/>
            </p:nvSpPr>
            <p:spPr>
              <a:xfrm>
                <a:off x="438057" y="2847850"/>
                <a:ext cx="3739031" cy="438903"/>
              </a:xfrm>
              <a:prstGeom prst="rect">
                <a:avLst/>
              </a:prstGeom>
              <a:blipFill>
                <a:blip r:embed="rId3"/>
                <a:stretch>
                  <a:fillRect t="-79167" b="-128125"/>
                </a:stretch>
              </a:blipFill>
              <a:effectLst>
                <a:outerShdw blurRad="63500" sx="102000" sy="102000" algn="ctr" rotWithShape="0">
                  <a:prstClr val="black">
                    <a:alpha val="40000"/>
                  </a:prst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 y="695567"/>
                <a:ext cx="6948264" cy="917559"/>
              </a:xfrm>
              <a:prstGeom prst="rect">
                <a:avLst/>
              </a:prstGeom>
              <a:solidFill>
                <a:schemeClr val="bg1"/>
              </a:solidFill>
              <a:ln>
                <a:noFill/>
              </a:ln>
            </p:spPr>
            <p:txBody>
              <a:bodyPr wrap="square">
                <a:spAutoFit/>
              </a:bodyPr>
              <a:lstStyle/>
              <a:p>
                <a:pPr>
                  <a:lnSpc>
                    <a:spcPts val="3400"/>
                  </a:lnSpc>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   有</a:t>
                </a:r>
                <a:r>
                  <a:rPr lang="en-US" altLang="zh-CN" b="1" dirty="0">
                    <a:solidFill>
                      <a:srgbClr val="0070C0"/>
                    </a:solidFill>
                    <a:latin typeface="微软雅黑" panose="020B0503020204020204" pitchFamily="34" charset="-122"/>
                    <a:ea typeface="微软雅黑" panose="020B0503020204020204" pitchFamily="34" charset="-122"/>
                  </a:rPr>
                  <a:t>m</a:t>
                </a:r>
                <a:r>
                  <a:rPr lang="zh-CN" altLang="en-US" b="1" dirty="0">
                    <a:solidFill>
                      <a:srgbClr val="0070C0"/>
                    </a:solidFill>
                    <a:latin typeface="微软雅黑" panose="020B0503020204020204" pitchFamily="34" charset="-122"/>
                    <a:ea typeface="微软雅黑" panose="020B0503020204020204" pitchFamily="34" charset="-122"/>
                  </a:rPr>
                  <a:t>个实验观测值即采样点</a:t>
                </a:r>
                <a:r>
                  <a:rPr lang="en-US" altLang="ko-KR" b="1" dirty="0" err="1">
                    <a:solidFill>
                      <a:srgbClr val="0070C0"/>
                    </a:solidFill>
                    <a:latin typeface="微软雅黑" panose="020B0503020204020204" pitchFamily="34" charset="-122"/>
                    <a:ea typeface="微软雅黑" panose="020B0503020204020204" pitchFamily="34" charset="-122"/>
                  </a:rPr>
                  <a:t>数据</a:t>
                </a:r>
                <a:r>
                  <a:rPr lang="en-US" altLang="zh-CN" b="1" dirty="0">
                    <a:solidFill>
                      <a:srgbClr val="0070C0"/>
                    </a:solidFill>
                    <a:latin typeface="微软雅黑" panose="020B0503020204020204" pitchFamily="34" charset="-122"/>
                    <a:ea typeface="微软雅黑" panose="020B0503020204020204" pitchFamily="34" charset="-122"/>
                  </a:rPr>
                  <a:t>(</a:t>
                </a:r>
                <a:r>
                  <a:rPr lang="en-US" altLang="ko-KR" b="1" dirty="0" err="1">
                    <a:solidFill>
                      <a:srgbClr val="0070C0"/>
                    </a:solidFill>
                    <a:latin typeface="微软雅黑" panose="020B0503020204020204" pitchFamily="34" charset="-122"/>
                    <a:ea typeface="微软雅黑" panose="020B0503020204020204" pitchFamily="34" charset="-122"/>
                  </a:rPr>
                  <a:t>xi,yi</a:t>
                </a:r>
                <a:r>
                  <a:rPr lang="en-US" altLang="ko-KR" b="1" dirty="0">
                    <a:solidFill>
                      <a:srgbClr val="0070C0"/>
                    </a:solidFill>
                    <a:latin typeface="微软雅黑" panose="020B0503020204020204" pitchFamily="34" charset="-122"/>
                    <a:ea typeface="微软雅黑" panose="020B0503020204020204" pitchFamily="34" charset="-122"/>
                  </a:rPr>
                  <a:t>）</a:t>
                </a:r>
                <a14:m>
                  <m:oMath xmlns:m="http://schemas.openxmlformats.org/officeDocument/2006/math">
                    <m:r>
                      <a:rPr lang="en-US" altLang="zh-CN" b="1" i="1">
                        <a:solidFill>
                          <a:srgbClr val="0070C0"/>
                        </a:solidFill>
                        <a:latin typeface="Cambria Math" panose="02040503050406030204" pitchFamily="18" charset="0"/>
                        <a:ea typeface="幼圆" panose="02010509060101010101" pitchFamily="49" charset="-122"/>
                      </a:rPr>
                      <m:t>{</m:t>
                    </m:r>
                    <m:sSub>
                      <m:sSubPr>
                        <m:ctrlPr>
                          <a:rPr lang="en-US" altLang="zh-CN" b="1" i="1">
                            <a:solidFill>
                              <a:srgbClr val="0070C0"/>
                            </a:solidFill>
                            <a:latin typeface="Cambria Math" panose="02040503050406030204" pitchFamily="18" charset="0"/>
                            <a:ea typeface="幼圆" panose="02010509060101010101" pitchFamily="49" charset="-122"/>
                          </a:rPr>
                        </m:ctrlPr>
                      </m:sSubPr>
                      <m:e>
                        <m:r>
                          <a:rPr lang="en-US" altLang="zh-CN" b="1" i="1">
                            <a:solidFill>
                              <a:srgbClr val="0070C0"/>
                            </a:solidFill>
                            <a:latin typeface="Cambria Math" panose="02040503050406030204" pitchFamily="18" charset="0"/>
                            <a:ea typeface="幼圆" panose="02010509060101010101" pitchFamily="49" charset="-122"/>
                          </a:rPr>
                          <m:t>𝒙</m:t>
                        </m:r>
                      </m:e>
                      <m:sub>
                        <m:r>
                          <a:rPr lang="en-US" altLang="zh-CN" b="1" i="1">
                            <a:solidFill>
                              <a:srgbClr val="0070C0"/>
                            </a:solidFill>
                            <a:latin typeface="Cambria Math" panose="02040503050406030204" pitchFamily="18" charset="0"/>
                            <a:ea typeface="幼圆" panose="02010509060101010101" pitchFamily="49" charset="-122"/>
                          </a:rPr>
                          <m:t>𝒊</m:t>
                        </m:r>
                      </m:sub>
                    </m:sSub>
                    <m:r>
                      <a:rPr lang="en-US" altLang="zh-CN" b="1" i="1">
                        <a:solidFill>
                          <a:srgbClr val="0070C0"/>
                        </a:solidFill>
                        <a:latin typeface="Cambria Math" panose="02040503050406030204" pitchFamily="18" charset="0"/>
                        <a:ea typeface="幼圆" panose="02010509060101010101" pitchFamily="49" charset="-122"/>
                      </a:rPr>
                      <m:t>,</m:t>
                    </m:r>
                    <m:sSub>
                      <m:sSubPr>
                        <m:ctrlPr>
                          <a:rPr lang="en-US" altLang="zh-CN" b="1" i="1">
                            <a:solidFill>
                              <a:srgbClr val="0070C0"/>
                            </a:solidFill>
                            <a:latin typeface="Cambria Math" panose="02040503050406030204" pitchFamily="18" charset="0"/>
                            <a:ea typeface="幼圆" panose="02010509060101010101" pitchFamily="49" charset="-122"/>
                          </a:rPr>
                        </m:ctrlPr>
                      </m:sSubPr>
                      <m:e>
                        <m:r>
                          <a:rPr lang="en-US" altLang="zh-CN" b="1" i="1">
                            <a:solidFill>
                              <a:srgbClr val="0070C0"/>
                            </a:solidFill>
                            <a:latin typeface="Cambria Math" panose="02040503050406030204" pitchFamily="18" charset="0"/>
                            <a:ea typeface="幼圆" panose="02010509060101010101" pitchFamily="49" charset="-122"/>
                          </a:rPr>
                          <m:t>𝒚</m:t>
                        </m:r>
                      </m:e>
                      <m:sub>
                        <m:r>
                          <a:rPr lang="en-US" altLang="zh-CN" b="1" i="1">
                            <a:solidFill>
                              <a:srgbClr val="0070C0"/>
                            </a:solidFill>
                            <a:latin typeface="Cambria Math" panose="02040503050406030204" pitchFamily="18" charset="0"/>
                            <a:ea typeface="幼圆" panose="02010509060101010101" pitchFamily="49" charset="-122"/>
                          </a:rPr>
                          <m:t>𝒊</m:t>
                        </m:r>
                      </m:sub>
                    </m:sSub>
                    <m:r>
                      <a:rPr lang="en-US" altLang="zh-CN" b="1" i="1">
                        <a:solidFill>
                          <a:srgbClr val="0070C0"/>
                        </a:solidFill>
                        <a:latin typeface="Cambria Math" panose="02040503050406030204" pitchFamily="18" charset="0"/>
                        <a:ea typeface="幼圆" panose="02010509060101010101" pitchFamily="49" charset="-122"/>
                      </a:rPr>
                      <m:t>|</m:t>
                    </m:r>
                    <m:r>
                      <a:rPr lang="en-US" altLang="zh-CN" b="1" i="1">
                        <a:solidFill>
                          <a:srgbClr val="0070C0"/>
                        </a:solidFill>
                        <a:latin typeface="Cambria Math" panose="02040503050406030204" pitchFamily="18" charset="0"/>
                        <a:ea typeface="幼圆" panose="02010509060101010101" pitchFamily="49" charset="-122"/>
                      </a:rPr>
                      <m:t>𝒊</m:t>
                    </m:r>
                    <m:r>
                      <a:rPr lang="en-US" altLang="zh-CN" b="1" i="1">
                        <a:solidFill>
                          <a:srgbClr val="0070C0"/>
                        </a:solidFill>
                        <a:latin typeface="Cambria Math" panose="02040503050406030204" pitchFamily="18" charset="0"/>
                        <a:ea typeface="幼圆" panose="02010509060101010101" pitchFamily="49" charset="-122"/>
                      </a:rPr>
                      <m:t>=</m:t>
                    </m:r>
                    <m:r>
                      <a:rPr lang="en-US" altLang="zh-CN" b="1" i="1">
                        <a:solidFill>
                          <a:srgbClr val="0070C0"/>
                        </a:solidFill>
                        <a:latin typeface="Cambria Math" panose="02040503050406030204" pitchFamily="18" charset="0"/>
                        <a:ea typeface="幼圆" panose="02010509060101010101" pitchFamily="49" charset="-122"/>
                      </a:rPr>
                      <m:t>𝟏</m:t>
                    </m:r>
                    <m:r>
                      <a:rPr lang="en-US" altLang="zh-CN" b="1" i="1">
                        <a:solidFill>
                          <a:srgbClr val="0070C0"/>
                        </a:solidFill>
                        <a:latin typeface="Cambria Math" panose="02040503050406030204" pitchFamily="18" charset="0"/>
                        <a:ea typeface="幼圆" panose="02010509060101010101" pitchFamily="49" charset="-122"/>
                      </a:rPr>
                      <m:t>,</m:t>
                    </m:r>
                    <m:r>
                      <a:rPr lang="en-US" altLang="zh-CN" b="1" i="1">
                        <a:solidFill>
                          <a:srgbClr val="0070C0"/>
                        </a:solidFill>
                        <a:latin typeface="Cambria Math" panose="02040503050406030204" pitchFamily="18" charset="0"/>
                        <a:ea typeface="幼圆" panose="02010509060101010101" pitchFamily="49" charset="-122"/>
                      </a:rPr>
                      <m:t>𝟐</m:t>
                    </m:r>
                    <m:r>
                      <a:rPr lang="en-US" altLang="zh-CN" b="1" i="1">
                        <a:solidFill>
                          <a:srgbClr val="0070C0"/>
                        </a:solidFill>
                        <a:latin typeface="Cambria Math" panose="02040503050406030204" pitchFamily="18" charset="0"/>
                        <a:ea typeface="幼圆" panose="02010509060101010101" pitchFamily="49" charset="-122"/>
                      </a:rPr>
                      <m:t>,…,</m:t>
                    </m:r>
                    <m:r>
                      <a:rPr lang="en-US" altLang="zh-CN" b="1" i="1" smtClean="0">
                        <a:solidFill>
                          <a:srgbClr val="0070C0"/>
                        </a:solidFill>
                        <a:latin typeface="Cambria Math" panose="02040503050406030204" pitchFamily="18" charset="0"/>
                        <a:ea typeface="幼圆" panose="02010509060101010101" pitchFamily="49" charset="-122"/>
                      </a:rPr>
                      <m:t>𝒎</m:t>
                    </m:r>
                    <m:r>
                      <a:rPr lang="en-US" altLang="zh-CN" b="1" i="1">
                        <a:solidFill>
                          <a:srgbClr val="0070C0"/>
                        </a:solidFill>
                        <a:latin typeface="Cambria Math" panose="02040503050406030204" pitchFamily="18" charset="0"/>
                        <a:ea typeface="幼圆" panose="02010509060101010101" pitchFamily="49" charset="-122"/>
                      </a:rPr>
                      <m:t>} </m:t>
                    </m:r>
                  </m:oMath>
                </a14:m>
                <a:endParaRPr lang="en-US" altLang="zh-CN" b="1" dirty="0">
                  <a:solidFill>
                    <a:srgbClr val="0070C0"/>
                  </a:solidFill>
                  <a:latin typeface="微软雅黑" panose="020B0503020204020204" pitchFamily="34" charset="-122"/>
                  <a:ea typeface="微软雅黑" panose="020B0503020204020204" pitchFamily="34" charset="-122"/>
                </a:endParaRPr>
              </a:p>
              <a:p>
                <a:pPr>
                  <a:lnSpc>
                    <a:spcPts val="3400"/>
                  </a:lnSpc>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   采样点</a:t>
                </a:r>
                <a:r>
                  <a:rPr lang="en-US" altLang="zh-CN" b="1" dirty="0">
                    <a:solidFill>
                      <a:srgbClr val="0070C0"/>
                    </a:solidFill>
                    <a:latin typeface="微软雅黑" panose="020B0503020204020204" pitchFamily="34" charset="-122"/>
                    <a:ea typeface="微软雅黑" panose="020B0503020204020204" pitchFamily="34" charset="-122"/>
                  </a:rPr>
                  <a:t>xi</a:t>
                </a:r>
                <a:r>
                  <a:rPr lang="zh-CN" altLang="en-US" b="1" dirty="0">
                    <a:solidFill>
                      <a:srgbClr val="0070C0"/>
                    </a:solidFill>
                    <a:latin typeface="微软雅黑" panose="020B0503020204020204" pitchFamily="34" charset="-122"/>
                    <a:ea typeface="微软雅黑" panose="020B0503020204020204" pitchFamily="34" charset="-122"/>
                  </a:rPr>
                  <a:t>带入</a:t>
                </a:r>
                <a:r>
                  <a:rPr lang="en-US" altLang="ko-KR" b="1" dirty="0" err="1">
                    <a:solidFill>
                      <a:srgbClr val="0070C0"/>
                    </a:solidFill>
                    <a:latin typeface="微软雅黑" panose="020B0503020204020204" pitchFamily="34" charset="-122"/>
                    <a:ea typeface="微软雅黑" panose="020B0503020204020204" pitchFamily="34" charset="-122"/>
                  </a:rPr>
                  <a:t>原型函数</a:t>
                </a:r>
                <a:r>
                  <a:rPr lang="en-US" altLang="zh-CN" b="1" dirty="0">
                    <a:solidFill>
                      <a:schemeClr val="bg1"/>
                    </a:solidFill>
                    <a:latin typeface="华文楷体" panose="02010600040101010101" pitchFamily="2" charset="-122"/>
                    <a:ea typeface="华文楷体" panose="02010600040101010101" pitchFamily="2" charset="-122"/>
                  </a:rPr>
                  <a:t> </a:t>
                </a:r>
                <a:r>
                  <a:rPr lang="en-US" altLang="zh-CN" b="1" dirty="0">
                    <a:solidFill>
                      <a:srgbClr val="FF0000"/>
                    </a:solidFill>
                    <a:latin typeface="微软雅黑" panose="020B0503020204020204" pitchFamily="34" charset="-122"/>
                    <a:ea typeface="微软雅黑" panose="020B0503020204020204" pitchFamily="34" charset="-122"/>
                  </a:rPr>
                  <a:t>y=f(</a:t>
                </a:r>
                <a:r>
                  <a:rPr lang="en-US" altLang="zh-CN" b="1" dirty="0" err="1">
                    <a:solidFill>
                      <a:srgbClr val="FF0000"/>
                    </a:solidFill>
                    <a:latin typeface="微软雅黑" panose="020B0503020204020204" pitchFamily="34" charset="-122"/>
                    <a:ea typeface="微软雅黑" panose="020B0503020204020204" pitchFamily="34" charset="-122"/>
                  </a:rPr>
                  <a:t>a,x</a:t>
                </a:r>
                <a:r>
                  <a:rPr lang="en-US" altLang="zh-CN" b="1" dirty="0">
                    <a:solidFill>
                      <a:srgbClr val="FF0000"/>
                    </a:solidFill>
                    <a:latin typeface="微软雅黑" panose="020B0503020204020204" pitchFamily="34" charset="-122"/>
                    <a:ea typeface="微软雅黑" panose="020B0503020204020204" pitchFamily="34" charset="-122"/>
                  </a:rPr>
                  <a:t>)</a:t>
                </a:r>
                <a:r>
                  <a:rPr lang="zh-CN" altLang="en-US" b="1" dirty="0">
                    <a:solidFill>
                      <a:srgbClr val="0070C0"/>
                    </a:solidFill>
                    <a:latin typeface="微软雅黑" panose="020B0503020204020204" pitchFamily="34" charset="-122"/>
                    <a:ea typeface="微软雅黑" panose="020B0503020204020204" pitchFamily="34" charset="-122"/>
                  </a:rPr>
                  <a:t>计算拟合估计值</a:t>
                </a:r>
                <a:r>
                  <a:rPr lang="en-US" altLang="ko-KR" b="1" dirty="0" err="1">
                    <a:solidFill>
                      <a:srgbClr val="0070C0"/>
                    </a:solidFill>
                    <a:latin typeface="微软雅黑" panose="020B0503020204020204" pitchFamily="34" charset="-122"/>
                    <a:ea typeface="微软雅黑" panose="020B0503020204020204" pitchFamily="34" charset="-122"/>
                  </a:rPr>
                  <a:t>yi</a:t>
                </a:r>
                <a:r>
                  <a:rPr lang="en-US" altLang="ko-KR" b="1" dirty="0">
                    <a:solidFill>
                      <a:srgbClr val="0070C0"/>
                    </a:solidFill>
                    <a:latin typeface="微软雅黑" panose="020B0503020204020204" pitchFamily="34" charset="-122"/>
                    <a:ea typeface="微软雅黑" panose="020B0503020204020204" pitchFamily="34" charset="-122"/>
                  </a:rPr>
                  <a:t>(</a:t>
                </a:r>
                <a:r>
                  <a:rPr lang="en-US" altLang="ko-KR" b="1" dirty="0" err="1">
                    <a:solidFill>
                      <a:srgbClr val="0070C0"/>
                    </a:solidFill>
                    <a:latin typeface="微软雅黑" panose="020B0503020204020204" pitchFamily="34" charset="-122"/>
                    <a:ea typeface="微软雅黑" panose="020B0503020204020204" pitchFamily="34" charset="-122"/>
                  </a:rPr>
                  <a:t>a,xi</a:t>
                </a:r>
                <a:r>
                  <a:rPr lang="en-US" altLang="ko-KR" b="1" dirty="0">
                    <a:solidFill>
                      <a:srgbClr val="0070C0"/>
                    </a:solidFill>
                    <a:latin typeface="微软雅黑" panose="020B0503020204020204" pitchFamily="34" charset="-122"/>
                    <a:ea typeface="微软雅黑" panose="020B0503020204020204" pitchFamily="34" charset="-122"/>
                  </a:rPr>
                  <a:t>)</a:t>
                </a:r>
                <a:endParaRPr lang="ko-KR" altLang="en-US" b="1" dirty="0">
                  <a:solidFill>
                    <a:srgbClr val="0070C0"/>
                  </a:solidFill>
                  <a:latin typeface="微软雅黑" panose="020B0503020204020204" pitchFamily="34" charset="-122"/>
                  <a:ea typeface="隶书" panose="02010509060101010101" pitchFamily="49" charset="-122"/>
                </a:endParaRPr>
              </a:p>
            </p:txBody>
          </p:sp>
        </mc:Choice>
        <mc:Fallback xmlns="">
          <p:sp>
            <p:nvSpPr>
              <p:cNvPr id="13" name="矩形 12"/>
              <p:cNvSpPr>
                <a:spLocks noRot="1" noChangeAspect="1" noMove="1" noResize="1" noEditPoints="1" noAdjustHandles="1" noChangeArrowheads="1" noChangeShapeType="1" noTextEdit="1"/>
              </p:cNvSpPr>
              <p:nvPr/>
            </p:nvSpPr>
            <p:spPr>
              <a:xfrm>
                <a:off x="1" y="695567"/>
                <a:ext cx="6948264" cy="917559"/>
              </a:xfrm>
              <a:prstGeom prst="rect">
                <a:avLst/>
              </a:prstGeom>
              <a:blipFill>
                <a:blip r:embed="rId4"/>
                <a:stretch>
                  <a:fillRect l="-877" b="-10596"/>
                </a:stretch>
              </a:blipFill>
              <a:ln>
                <a:noFill/>
              </a:ln>
            </p:spPr>
            <p:txBody>
              <a:bodyPr/>
              <a:lstStyle/>
              <a:p>
                <a:r>
                  <a:rPr lang="zh-CN" altLang="en-US">
                    <a:noFill/>
                  </a:rPr>
                  <a:t> </a:t>
                </a:r>
              </a:p>
            </p:txBody>
          </p:sp>
        </mc:Fallback>
      </mc:AlternateContent>
      <p:sp>
        <p:nvSpPr>
          <p:cNvPr id="14" name="矩形 13"/>
          <p:cNvSpPr/>
          <p:nvPr/>
        </p:nvSpPr>
        <p:spPr>
          <a:xfrm>
            <a:off x="6400" y="2338629"/>
            <a:ext cx="4105838" cy="369332"/>
          </a:xfrm>
          <a:prstGeom prst="rect">
            <a:avLst/>
          </a:prstGeom>
          <a:noFill/>
          <a:effectLst>
            <a:outerShdw blurRad="63500" sx="102000" sy="102000" algn="ctr" rotWithShape="0">
              <a:prstClr val="black">
                <a:alpha val="40000"/>
              </a:prstClr>
            </a:outerShdw>
          </a:effectLst>
        </p:spPr>
        <p:txBody>
          <a:bodyPr wrap="square">
            <a:spAutoFit/>
          </a:bodyPr>
          <a:lstStyle/>
          <a:p>
            <a:pPr marL="457200" indent="-457200">
              <a:buFont typeface="+mj-ea"/>
              <a:buAutoNum type="circleNumDbPlain" startAt="4"/>
            </a:pPr>
            <a:r>
              <a:rPr lang="zh-CN" altLang="en-US" b="1" dirty="0">
                <a:solidFill>
                  <a:srgbClr val="0070C0"/>
                </a:solidFill>
                <a:latin typeface="微软雅黑" panose="020B0503020204020204" pitchFamily="34" charset="-122"/>
                <a:ea typeface="微软雅黑" panose="020B0503020204020204" pitchFamily="34" charset="-122"/>
                <a:sym typeface="+mn-ea"/>
              </a:rPr>
              <a:t>最小二乘法拟合目标函数</a:t>
            </a:r>
            <a:r>
              <a:rPr lang="en-US" altLang="zh-CN" b="1" dirty="0">
                <a:solidFill>
                  <a:srgbClr val="0070C0"/>
                </a:solidFill>
                <a:latin typeface="微软雅黑" panose="020B0503020204020204" pitchFamily="34" charset="-122"/>
                <a:ea typeface="微软雅黑" panose="020B0503020204020204" pitchFamily="34" charset="-122"/>
                <a:sym typeface="+mn-ea"/>
              </a:rPr>
              <a:t>J</a:t>
            </a:r>
            <a:r>
              <a:rPr lang="zh-CN" altLang="en-US" b="1" dirty="0">
                <a:solidFill>
                  <a:srgbClr val="0070C0"/>
                </a:solidFill>
                <a:latin typeface="微软雅黑" panose="020B0503020204020204" pitchFamily="34" charset="-122"/>
                <a:ea typeface="微软雅黑" panose="020B0503020204020204" pitchFamily="34" charset="-122"/>
                <a:sym typeface="+mn-ea"/>
              </a:rPr>
              <a:t>：</a:t>
            </a:r>
          </a:p>
        </p:txBody>
      </p:sp>
      <p:sp>
        <p:nvSpPr>
          <p:cNvPr id="15" name="矩形 14"/>
          <p:cNvSpPr/>
          <p:nvPr/>
        </p:nvSpPr>
        <p:spPr>
          <a:xfrm>
            <a:off x="-9211" y="1789228"/>
            <a:ext cx="6051348" cy="369332"/>
          </a:xfrm>
          <a:prstGeom prst="rect">
            <a:avLst/>
          </a:prstGeom>
          <a:noFill/>
          <a:effectLst>
            <a:outerShdw blurRad="63500" sx="102000" sy="102000" algn="ctr" rotWithShape="0">
              <a:prstClr val="black">
                <a:alpha val="40000"/>
              </a:prstClr>
            </a:outerShdw>
          </a:effectLst>
        </p:spPr>
        <p:txBody>
          <a:bodyPr wrap="square">
            <a:spAutoFit/>
          </a:bodyPr>
          <a:lstStyle/>
          <a:p>
            <a:pPr>
              <a:buClr>
                <a:srgbClr val="0070C0"/>
              </a:buClr>
              <a:buFont typeface="+mj-ea"/>
              <a:buAutoNum type="circleNumDbPlain" startAt="3"/>
            </a:pPr>
            <a:r>
              <a:rPr lang="zh-CN" altLang="en-US" b="1" dirty="0">
                <a:solidFill>
                  <a:srgbClr val="002060"/>
                </a:solidFill>
                <a:latin typeface="华文楷体" panose="02010600040101010101" pitchFamily="2" charset="-122"/>
                <a:ea typeface="华文楷体" panose="02010600040101010101" pitchFamily="2" charset="-122"/>
                <a:sym typeface="+mn-ea"/>
              </a:rPr>
              <a:t>   </a:t>
            </a:r>
            <a:r>
              <a:rPr lang="zh-CN" altLang="en-US" b="1" dirty="0">
                <a:solidFill>
                  <a:srgbClr val="0070C0"/>
                </a:solidFill>
                <a:latin typeface="微软雅黑" panose="020B0503020204020204" pitchFamily="34" charset="-122"/>
                <a:ea typeface="微软雅黑" panose="020B0503020204020204" pitchFamily="34" charset="-122"/>
                <a:sym typeface="+mn-ea"/>
              </a:rPr>
              <a:t>残差</a:t>
            </a:r>
            <a:r>
              <a:rPr lang="en-US" altLang="zh-CN" b="1" dirty="0">
                <a:solidFill>
                  <a:srgbClr val="0070C0"/>
                </a:solidFill>
                <a:latin typeface="微软雅黑" panose="020B0503020204020204" pitchFamily="34" charset="-122"/>
                <a:ea typeface="微软雅黑" panose="020B0503020204020204" pitchFamily="34" charset="-122"/>
                <a:sym typeface="+mn-ea"/>
              </a:rPr>
              <a:t>e</a:t>
            </a:r>
            <a:r>
              <a:rPr lang="zh-CN" altLang="en-US" b="1" dirty="0">
                <a:solidFill>
                  <a:srgbClr val="0070C0"/>
                </a:solidFill>
                <a:latin typeface="微软雅黑" panose="020B0503020204020204" pitchFamily="34" charset="-122"/>
                <a:ea typeface="微软雅黑" panose="020B0503020204020204" pitchFamily="34" charset="-122"/>
                <a:sym typeface="+mn-ea"/>
              </a:rPr>
              <a:t>：拟合值和观测值之差</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rPr>
              <a:t>e=</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rPr>
              <a:t>yi</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rPr>
              <a:t>(</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rPr>
              <a:t>a,xi</a:t>
            </a:r>
            <a:r>
              <a:rPr lang="en-US" altLang="zh-CN"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rPr>
              <a:t>)-</a:t>
            </a:r>
            <a:r>
              <a:rPr lang="en-US" altLang="zh-CN" dirty="0" err="1">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rPr>
              <a:t>yi</a:t>
            </a:r>
            <a:endParaRPr lang="zh-CN" altLang="en-US" dirty="0">
              <a:solidFill>
                <a:srgbClr val="002060"/>
              </a:solidFill>
              <a:latin typeface="Times New Roman" panose="02020603050405020304" pitchFamily="18" charset="0"/>
              <a:ea typeface="隶书" panose="02010509060101010101" pitchFamily="49" charset="-122"/>
              <a:cs typeface="Times New Roman" panose="02020603050405020304" pitchFamily="18" charset="0"/>
              <a:sym typeface="+mn-ea"/>
            </a:endParaRPr>
          </a:p>
        </p:txBody>
      </p:sp>
      <p:sp>
        <p:nvSpPr>
          <p:cNvPr id="23" name="矩形 22"/>
          <p:cNvSpPr/>
          <p:nvPr/>
        </p:nvSpPr>
        <p:spPr>
          <a:xfrm>
            <a:off x="4117960" y="2877949"/>
            <a:ext cx="819549" cy="400110"/>
          </a:xfrm>
          <a:prstGeom prst="rect">
            <a:avLst/>
          </a:prstGeom>
          <a:noFill/>
          <a:ln>
            <a:noFill/>
          </a:ln>
          <a:effectLst>
            <a:outerShdw blurRad="63500" sx="102000" sy="102000" algn="ctr" rotWithShape="0">
              <a:prstClr val="black">
                <a:alpha val="40000"/>
              </a:prstClr>
            </a:outerShdw>
          </a:effectLst>
        </p:spPr>
        <p:txBody>
          <a:bodyPr wrap="square">
            <a:spAutoFit/>
          </a:bodyPr>
          <a:lstStyle/>
          <a:p>
            <a:r>
              <a:rPr lang="zh-CN" altLang="en-US" sz="2000" b="1" dirty="0">
                <a:solidFill>
                  <a:srgbClr val="FF0000"/>
                </a:solidFill>
                <a:latin typeface="微软雅黑" panose="020B0503020204020204" pitchFamily="34" charset="-122"/>
                <a:ea typeface="微软雅黑" panose="020B0503020204020204" pitchFamily="34" charset="-122"/>
                <a:sym typeface="+mn-ea"/>
              </a:rPr>
              <a:t>最小</a:t>
            </a:r>
          </a:p>
        </p:txBody>
      </p:sp>
      <p:sp>
        <p:nvSpPr>
          <p:cNvPr id="25" name="文本框 24"/>
          <p:cNvSpPr txBox="1"/>
          <p:nvPr/>
        </p:nvSpPr>
        <p:spPr>
          <a:xfrm>
            <a:off x="797938" y="39849"/>
            <a:ext cx="6797629" cy="567463"/>
          </a:xfrm>
          <a:prstGeom prst="rect">
            <a:avLst/>
          </a:prstGeom>
          <a:noFill/>
        </p:spPr>
        <p:txBody>
          <a:bodyPr wrap="square">
            <a:spAutoFit/>
          </a:bodyPr>
          <a:lstStyle/>
          <a:p>
            <a:pPr eaLnBrk="0">
              <a:lnSpc>
                <a:spcPts val="3900"/>
              </a:lnSpc>
              <a:spcBef>
                <a:spcPts val="0"/>
              </a:spcBef>
              <a:spcAft>
                <a:spcPts val="0"/>
              </a:spcAft>
            </a:pPr>
            <a:r>
              <a:rPr lang="en-US" altLang="ko-KR" sz="2800" b="1" dirty="0">
                <a:solidFill>
                  <a:srgbClr val="002060"/>
                </a:solidFill>
                <a:latin typeface="华文楷体" panose="02010600040101010101" pitchFamily="2" charset="-122"/>
                <a:ea typeface="华文楷体" panose="02010600040101010101" pitchFamily="2" charset="-122"/>
              </a:rPr>
              <a:t>§5.2.1</a:t>
            </a:r>
            <a:r>
              <a:rPr lang="zh-CN" altLang="en-US" sz="2800" b="1" dirty="0">
                <a:solidFill>
                  <a:srgbClr val="002060"/>
                </a:solidFill>
                <a:latin typeface="华文楷体" panose="02010600040101010101" pitchFamily="2" charset="-122"/>
                <a:ea typeface="华文楷体" panose="02010600040101010101" pitchFamily="2" charset="-122"/>
              </a:rPr>
              <a:t>曲线拟合</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800" b="1" dirty="0">
                <a:solidFill>
                  <a:srgbClr val="FF0000"/>
                </a:solidFill>
                <a:latin typeface="华文楷体" panose="02010600040101010101" pitchFamily="2" charset="-122"/>
                <a:ea typeface="华文楷体" panose="02010600040101010101" pitchFamily="2" charset="-122"/>
              </a:rPr>
              <a:t>最小二乘法拟合原理</a:t>
            </a:r>
            <a:endParaRPr lang="en-US" altLang="zh-CN" sz="2800" b="1" dirty="0">
              <a:solidFill>
                <a:srgbClr val="FF0000"/>
              </a:solidFill>
              <a:latin typeface="华文楷体" panose="02010600040101010101" pitchFamily="2" charset="-122"/>
              <a:ea typeface="华文楷体" panose="02010600040101010101" pitchFamily="2" charset="-122"/>
            </a:endParaRPr>
          </a:p>
        </p:txBody>
      </p:sp>
      <p:sp>
        <p:nvSpPr>
          <p:cNvPr id="24" name="矩形 23"/>
          <p:cNvSpPr/>
          <p:nvPr/>
        </p:nvSpPr>
        <p:spPr>
          <a:xfrm>
            <a:off x="107504" y="3795962"/>
            <a:ext cx="9018395" cy="792012"/>
          </a:xfrm>
          <a:prstGeom prst="rect">
            <a:avLst/>
          </a:prstGeom>
          <a:solidFill>
            <a:schemeClr val="bg1"/>
          </a:solidFill>
        </p:spPr>
        <p:txBody>
          <a:bodyPr wrap="square">
            <a:spAutoFit/>
          </a:bodyPr>
          <a:lstStyle/>
          <a:p>
            <a:pPr algn="dist">
              <a:lnSpc>
                <a:spcPts val="2900"/>
              </a:lnSpc>
            </a:pP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思考：</a:t>
            </a:r>
            <a:r>
              <a:rPr lang="en-US" altLang="ko-KR" sz="1600" b="1"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yi</a:t>
            </a:r>
            <a:r>
              <a:rPr lang="en-US" altLang="ko-KR"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ko-KR" sz="1600" b="1"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a,xi</a:t>
            </a:r>
            <a:r>
              <a:rPr lang="en-US" altLang="ko-KR"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1"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yi</a:t>
            </a: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时</a:t>
            </a:r>
            <a:r>
              <a:rPr lang="en-US" altLang="zh-CN"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 所有的估计值和观测值相等，意味拟合曲线</a:t>
            </a:r>
            <a:r>
              <a:rPr lang="en-US" altLang="ko-KR"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y(xi)</a:t>
            </a: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经过全部取样点</a:t>
            </a:r>
            <a:r>
              <a:rPr lang="en-US" altLang="zh-CN" sz="1600" b="1"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yi</a:t>
            </a: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ts val="2900"/>
              </a:lnSpc>
            </a:pP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残差</a:t>
            </a:r>
            <a:r>
              <a:rPr lang="en-US" altLang="ko-KR" sz="1600" b="1" kern="0" dirty="0" err="1">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平方和最小</a:t>
            </a: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值</a:t>
            </a:r>
            <a:r>
              <a:rPr lang="en-US" altLang="zh-CN"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J</a:t>
            </a:r>
            <a:r>
              <a:rPr lang="zh-CN" altLang="en-US"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为</a:t>
            </a:r>
            <a:r>
              <a:rPr lang="en-US" altLang="zh-CN" sz="1600" b="1"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0,R2=1</a:t>
            </a:r>
            <a:r>
              <a:rPr lang="en-US" altLang="zh-CN" sz="1600" kern="0"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a:t>
            </a:r>
            <a:endParaRPr lang="zh-CN" altLang="en-US" sz="1400" b="1" kern="0" dirty="0">
              <a:solidFill>
                <a:srgbClr val="FFFF00"/>
              </a:solidFill>
              <a:highlight>
                <a:srgbClr val="FF0000"/>
              </a:highlight>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4578" name="Picture 2" descr="最小二乘法(Least squares)的前世今生"/>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59943" y="171860"/>
            <a:ext cx="1420989" cy="1383024"/>
          </a:xfrm>
          <a:prstGeom prst="rect">
            <a:avLst/>
          </a:prstGeom>
          <a:noFill/>
          <a:extLst>
            <a:ext uri="{909E8E84-426E-40DD-AFC4-6F175D3DCCD1}">
              <a14:hiddenFill xmlns:a14="http://schemas.microsoft.com/office/drawing/2010/main">
                <a:solidFill>
                  <a:srgbClr val="FFFFFF"/>
                </a:solidFill>
              </a14:hiddenFill>
            </a:ext>
          </a:extLst>
        </p:spPr>
      </p:pic>
      <p:sp>
        <p:nvSpPr>
          <p:cNvPr id="26" name="文本框 25"/>
          <p:cNvSpPr txBox="1"/>
          <p:nvPr/>
        </p:nvSpPr>
        <p:spPr>
          <a:xfrm>
            <a:off x="7452320" y="976445"/>
            <a:ext cx="444780" cy="646331"/>
          </a:xfrm>
          <a:prstGeom prst="rect">
            <a:avLst/>
          </a:prstGeom>
          <a:noFill/>
        </p:spPr>
        <p:txBody>
          <a:bodyPr wrap="square">
            <a:spAutoFit/>
          </a:bodyPr>
          <a:lstStyle/>
          <a:p>
            <a:r>
              <a:rPr lang="zh-CN" altLang="en-US" sz="1800" dirty="0">
                <a:solidFill>
                  <a:schemeClr val="bg1"/>
                </a:solidFill>
                <a:latin typeface="华文楷体" panose="02010600040101010101" pitchFamily="2" charset="-122"/>
                <a:ea typeface="华文楷体" panose="02010600040101010101" pitchFamily="2" charset="-122"/>
                <a:sym typeface="+mn-ea"/>
              </a:rPr>
              <a:t>高斯</a:t>
            </a:r>
            <a:endParaRPr lang="zh-CN" altLang="en-US" dirty="0">
              <a:solidFill>
                <a:schemeClr val="bg1"/>
              </a:solidFill>
            </a:endParaRPr>
          </a:p>
        </p:txBody>
      </p:sp>
      <p:pic>
        <p:nvPicPr>
          <p:cNvPr id="2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0970" y="1586734"/>
            <a:ext cx="3739031" cy="2425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椭圆 28"/>
          <p:cNvSpPr/>
          <p:nvPr/>
        </p:nvSpPr>
        <p:spPr>
          <a:xfrm>
            <a:off x="7335700" y="1904137"/>
            <a:ext cx="188628" cy="133750"/>
          </a:xfrm>
          <a:prstGeom prst="ellipse">
            <a:avLst/>
          </a:prstGeom>
          <a:noFill/>
          <a:ln>
            <a:solidFill>
              <a:srgbClr val="FF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flipH="1">
            <a:off x="7335700" y="2088791"/>
            <a:ext cx="172494" cy="158036"/>
          </a:xfrm>
          <a:prstGeom prst="ellipse">
            <a:avLst/>
          </a:prstGeom>
          <a:noFill/>
          <a:ln>
            <a:solidFill>
              <a:srgbClr val="FF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7452093" y="1779662"/>
            <a:ext cx="1512395" cy="307777"/>
          </a:xfrm>
          <a:prstGeom prst="rect">
            <a:avLst/>
          </a:prstGeom>
        </p:spPr>
        <p:txBody>
          <a:bodyPr wrap="square">
            <a:spAutoFit/>
          </a:bodyPr>
          <a:lstStyle/>
          <a:p>
            <a:r>
              <a:rPr lang="zh-CN" altLang="en-US" sz="1400" dirty="0">
                <a:solidFill>
                  <a:srgbClr val="FF0000"/>
                </a:solidFill>
                <a:latin typeface="隶书" panose="02010509060101010101" pitchFamily="49" charset="-122"/>
                <a:ea typeface="隶书" panose="02010509060101010101" pitchFamily="49" charset="-122"/>
              </a:rPr>
              <a:t>采样点观测值</a:t>
            </a:r>
            <a:r>
              <a:rPr lang="en-US" altLang="zh-CN" sz="1400" dirty="0" err="1">
                <a:solidFill>
                  <a:srgbClr val="FF0000"/>
                </a:solidFill>
                <a:latin typeface="隶书" panose="02010509060101010101" pitchFamily="49" charset="-122"/>
                <a:ea typeface="隶书" panose="02010509060101010101" pitchFamily="49" charset="-122"/>
              </a:rPr>
              <a:t>yi</a:t>
            </a:r>
            <a:endParaRPr lang="zh-CN" altLang="en-US" sz="1400" dirty="0">
              <a:solidFill>
                <a:srgbClr val="FF0000"/>
              </a:solidFill>
            </a:endParaRPr>
          </a:p>
        </p:txBody>
      </p:sp>
      <p:sp>
        <p:nvSpPr>
          <p:cNvPr id="32" name="矩形 31"/>
          <p:cNvSpPr/>
          <p:nvPr/>
        </p:nvSpPr>
        <p:spPr>
          <a:xfrm>
            <a:off x="5642986" y="2036310"/>
            <a:ext cx="1952582" cy="316988"/>
          </a:xfrm>
          <a:prstGeom prst="rect">
            <a:avLst/>
          </a:prstGeom>
        </p:spPr>
        <p:txBody>
          <a:bodyPr wrap="square">
            <a:spAutoFit/>
          </a:bodyPr>
          <a:lstStyle/>
          <a:p>
            <a:r>
              <a:rPr lang="zh-CN" altLang="en-US" sz="1400" dirty="0">
                <a:solidFill>
                  <a:srgbClr val="FF0000"/>
                </a:solidFill>
                <a:latin typeface="隶书" panose="02010509060101010101" pitchFamily="49" charset="-122"/>
                <a:ea typeface="隶书" panose="02010509060101010101" pitchFamily="49" charset="-122"/>
              </a:rPr>
              <a:t>拟合估计值</a:t>
            </a:r>
            <a:r>
              <a:rPr lang="en-US" altLang="ko-KR" sz="1400" dirty="0" err="1">
                <a:solidFill>
                  <a:srgbClr val="FF0000"/>
                </a:solidFill>
                <a:latin typeface="隶书" panose="02010509060101010101" pitchFamily="49" charset="-122"/>
                <a:ea typeface="隶书" panose="02010509060101010101" pitchFamily="49" charset="-122"/>
              </a:rPr>
              <a:t>yi</a:t>
            </a:r>
            <a:r>
              <a:rPr lang="en-US" altLang="ko-KR" sz="1400" dirty="0">
                <a:solidFill>
                  <a:srgbClr val="FF0000"/>
                </a:solidFill>
                <a:latin typeface="隶书" panose="02010509060101010101" pitchFamily="49" charset="-122"/>
                <a:ea typeface="隶书" panose="02010509060101010101" pitchFamily="49" charset="-122"/>
              </a:rPr>
              <a:t>(</a:t>
            </a:r>
            <a:r>
              <a:rPr lang="en-US" altLang="ko-KR" sz="1400" dirty="0" err="1">
                <a:solidFill>
                  <a:srgbClr val="FF0000"/>
                </a:solidFill>
                <a:latin typeface="隶书" panose="02010509060101010101" pitchFamily="49" charset="-122"/>
                <a:ea typeface="隶书" panose="02010509060101010101" pitchFamily="49" charset="-122"/>
              </a:rPr>
              <a:t>a,xi</a:t>
            </a:r>
            <a:r>
              <a:rPr lang="en-US" altLang="ko-KR" sz="1400" dirty="0">
                <a:solidFill>
                  <a:srgbClr val="FF0000"/>
                </a:solidFill>
                <a:latin typeface="隶书" panose="02010509060101010101" pitchFamily="49" charset="-122"/>
                <a:ea typeface="隶书" panose="02010509060101010101" pitchFamily="49" charset="-122"/>
              </a:rPr>
              <a:t>)</a:t>
            </a:r>
            <a:endParaRPr lang="zh-CN" altLang="en-US" sz="1400" dirty="0">
              <a:solidFill>
                <a:srgbClr val="FF0000"/>
              </a:solidFill>
            </a:endParaRPr>
          </a:p>
        </p:txBody>
      </p:sp>
      <p:sp>
        <p:nvSpPr>
          <p:cNvPr id="33" name="矩形 32"/>
          <p:cNvSpPr/>
          <p:nvPr/>
        </p:nvSpPr>
        <p:spPr>
          <a:xfrm>
            <a:off x="6042137" y="2344570"/>
            <a:ext cx="3012789" cy="494302"/>
          </a:xfrm>
          <a:prstGeom prst="rect">
            <a:avLst/>
          </a:prstGeom>
        </p:spPr>
        <p:txBody>
          <a:bodyPr wrap="square">
            <a:spAutoFit/>
          </a:bodyPr>
          <a:lstStyle/>
          <a:p>
            <a:pPr eaLnBrk="0">
              <a:lnSpc>
                <a:spcPts val="1600"/>
              </a:lnSpc>
              <a:spcBef>
                <a:spcPts val="0"/>
              </a:spcBef>
              <a:spcAft>
                <a:spcPts val="0"/>
              </a:spcAft>
            </a:pPr>
            <a:r>
              <a:rPr lang="zh-CN" altLang="en-US" sz="1200" b="1" dirty="0">
                <a:solidFill>
                  <a:srgbClr val="00B0F0"/>
                </a:solidFill>
                <a:latin typeface="华文楷体" panose="02010600040101010101" pitchFamily="2" charset="-122"/>
                <a:ea typeface="华文楷体" panose="02010600040101010101" pitchFamily="2" charset="-122"/>
              </a:rPr>
              <a:t>通常</a:t>
            </a:r>
            <a:r>
              <a:rPr lang="en-US" altLang="ko-KR" sz="1200" b="1" dirty="0" err="1">
                <a:solidFill>
                  <a:srgbClr val="00B0F0"/>
                </a:solidFill>
                <a:latin typeface="华文楷体" panose="02010600040101010101" pitchFamily="2" charset="-122"/>
                <a:ea typeface="华文楷体" panose="02010600040101010101" pitchFamily="2" charset="-122"/>
              </a:rPr>
              <a:t>实验</a:t>
            </a:r>
            <a:r>
              <a:rPr lang="zh-CN" altLang="en-US" sz="1200" b="1" dirty="0">
                <a:solidFill>
                  <a:srgbClr val="00B0F0"/>
                </a:solidFill>
                <a:latin typeface="华文楷体" panose="02010600040101010101" pitchFamily="2" charset="-122"/>
                <a:ea typeface="华文楷体" panose="02010600040101010101" pitchFamily="2" charset="-122"/>
              </a:rPr>
              <a:t>数据</a:t>
            </a:r>
            <a:r>
              <a:rPr lang="en-US" altLang="ko-KR" sz="1200" b="1" dirty="0" err="1">
                <a:solidFill>
                  <a:srgbClr val="00B0F0"/>
                </a:solidFill>
                <a:latin typeface="华文楷体" panose="02010600040101010101" pitchFamily="2" charset="-122"/>
                <a:ea typeface="华文楷体" panose="02010600040101010101" pitchFamily="2" charset="-122"/>
              </a:rPr>
              <a:t>不准确，已知</a:t>
            </a:r>
            <a:r>
              <a:rPr lang="zh-CN" altLang="en-US" sz="1200" b="1" dirty="0">
                <a:solidFill>
                  <a:srgbClr val="00B0F0"/>
                </a:solidFill>
                <a:latin typeface="华文楷体" panose="02010600040101010101" pitchFamily="2" charset="-122"/>
                <a:ea typeface="华文楷体" panose="02010600040101010101" pitchFamily="2" charset="-122"/>
              </a:rPr>
              <a:t>实验值</a:t>
            </a:r>
            <a:r>
              <a:rPr lang="en-US" altLang="zh-CN" sz="1200" b="1" dirty="0" err="1">
                <a:solidFill>
                  <a:srgbClr val="00B0F0"/>
                </a:solidFill>
                <a:latin typeface="华文楷体" panose="02010600040101010101" pitchFamily="2" charset="-122"/>
                <a:ea typeface="华文楷体" panose="02010600040101010101" pitchFamily="2" charset="-122"/>
              </a:rPr>
              <a:t>yi</a:t>
            </a:r>
            <a:r>
              <a:rPr lang="en-US" altLang="ko-KR" sz="1200" b="1" dirty="0" err="1">
                <a:solidFill>
                  <a:srgbClr val="00B0F0"/>
                </a:solidFill>
                <a:latin typeface="华文楷体" panose="02010600040101010101" pitchFamily="2" charset="-122"/>
                <a:ea typeface="华文楷体" panose="02010600040101010101" pitchFamily="2" charset="-122"/>
              </a:rPr>
              <a:t>不一定经过</a:t>
            </a:r>
            <a:r>
              <a:rPr lang="zh-CN" altLang="en-US" sz="1200" b="1" dirty="0">
                <a:solidFill>
                  <a:srgbClr val="00B0F0"/>
                </a:solidFill>
                <a:latin typeface="华文楷体" panose="02010600040101010101" pitchFamily="2" charset="-122"/>
                <a:ea typeface="华文楷体" panose="02010600040101010101" pitchFamily="2" charset="-122"/>
              </a:rPr>
              <a:t>预测估计值</a:t>
            </a:r>
            <a:r>
              <a:rPr lang="en-US" altLang="ko-KR" sz="1200" b="1" dirty="0" err="1">
                <a:solidFill>
                  <a:srgbClr val="00B0F0"/>
                </a:solidFill>
                <a:latin typeface="华文楷体" panose="02010600040101010101" pitchFamily="2" charset="-122"/>
                <a:ea typeface="华文楷体" panose="02010600040101010101" pitchFamily="2" charset="-122"/>
              </a:rPr>
              <a:t>yi</a:t>
            </a:r>
            <a:r>
              <a:rPr lang="en-US" altLang="ko-KR" sz="1200" b="1" dirty="0">
                <a:solidFill>
                  <a:srgbClr val="00B0F0"/>
                </a:solidFill>
                <a:latin typeface="华文楷体" panose="02010600040101010101" pitchFamily="2" charset="-122"/>
                <a:ea typeface="华文楷体" panose="02010600040101010101" pitchFamily="2" charset="-122"/>
              </a:rPr>
              <a:t>(</a:t>
            </a:r>
            <a:r>
              <a:rPr lang="en-US" altLang="zh-CN" sz="1200" b="1" dirty="0" err="1">
                <a:solidFill>
                  <a:srgbClr val="00B0F0"/>
                </a:solidFill>
                <a:latin typeface="华文楷体" panose="02010600040101010101" pitchFamily="2" charset="-122"/>
                <a:ea typeface="华文楷体" panose="02010600040101010101" pitchFamily="2" charset="-122"/>
              </a:rPr>
              <a:t>a,</a:t>
            </a:r>
            <a:r>
              <a:rPr lang="en-US" altLang="ko-KR" sz="1200" b="1" dirty="0" err="1">
                <a:solidFill>
                  <a:srgbClr val="00B0F0"/>
                </a:solidFill>
                <a:latin typeface="华文楷体" panose="02010600040101010101" pitchFamily="2" charset="-122"/>
                <a:ea typeface="华文楷体" panose="02010600040101010101" pitchFamily="2" charset="-122"/>
              </a:rPr>
              <a:t>xi</a:t>
            </a:r>
            <a:r>
              <a:rPr lang="en-US" altLang="ko-KR" sz="1200" b="1" dirty="0">
                <a:solidFill>
                  <a:srgbClr val="00B0F0"/>
                </a:solidFill>
                <a:latin typeface="华文楷体" panose="02010600040101010101" pitchFamily="2" charset="-122"/>
                <a:ea typeface="华文楷体" panose="02010600040101010101" pitchFamily="2" charset="-122"/>
              </a:rPr>
              <a:t>)</a:t>
            </a:r>
            <a:r>
              <a:rPr lang="zh-CN" altLang="en-US" sz="1200" b="1" dirty="0">
                <a:solidFill>
                  <a:srgbClr val="00B0F0"/>
                </a:solidFill>
                <a:latin typeface="华文楷体" panose="02010600040101010101" pitchFamily="2" charset="-122"/>
                <a:ea typeface="华文楷体" panose="02010600040101010101" pitchFamily="2" charset="-122"/>
              </a:rPr>
              <a:t>，存在残差</a:t>
            </a:r>
            <a:endParaRPr lang="ko-KR" altLang="en-US" sz="1200" b="1" dirty="0">
              <a:solidFill>
                <a:srgbClr val="00B0F0"/>
              </a:solidFill>
              <a:latin typeface="华文楷体" panose="02010600040101010101" pitchFamily="2" charset="-122"/>
            </a:endParaRPr>
          </a:p>
        </p:txBody>
      </p:sp>
      <p:sp>
        <p:nvSpPr>
          <p:cNvPr id="19" name="形状 209924"/>
          <p:cNvSpPr/>
          <p:nvPr/>
        </p:nvSpPr>
        <p:spPr>
          <a:xfrm>
            <a:off x="5847068" y="3147892"/>
            <a:ext cx="920083" cy="488582"/>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b="1" dirty="0">
                <a:solidFill>
                  <a:srgbClr val="FFFF00"/>
                </a:solidFill>
                <a:latin typeface="华文楷体" panose="02010600040101010101" pitchFamily="2" charset="-122"/>
                <a:ea typeface="华文楷体" panose="02010600040101010101" pitchFamily="2" charset="-122"/>
                <a:sym typeface="+mn-ea"/>
              </a:rPr>
              <a:t>注意</a:t>
            </a:r>
            <a:endParaRPr lang="en-US" altLang="zh-CN" sz="1400" b="1" dirty="0">
              <a:solidFill>
                <a:srgbClr val="FFFF00"/>
              </a:solidFill>
              <a:latin typeface="华文楷体" panose="02010600040101010101" pitchFamily="2" charset="-122"/>
              <a:ea typeface="华文楷体" panose="02010600040101010101" pitchFamily="2" charset="-122"/>
              <a:sym typeface="+mn-ea"/>
            </a:endParaRPr>
          </a:p>
        </p:txBody>
      </p:sp>
      <p:sp>
        <p:nvSpPr>
          <p:cNvPr id="22" name="矩形 21"/>
          <p:cNvSpPr/>
          <p:nvPr/>
        </p:nvSpPr>
        <p:spPr>
          <a:xfrm>
            <a:off x="63165" y="3366251"/>
            <a:ext cx="6028598" cy="416589"/>
          </a:xfrm>
          <a:prstGeom prst="rect">
            <a:avLst/>
          </a:prstGeom>
          <a:noFill/>
          <a:ln>
            <a:noFill/>
          </a:ln>
          <a:effectLst/>
        </p:spPr>
        <p:style>
          <a:lnRef idx="3">
            <a:schemeClr val="lt1"/>
          </a:lnRef>
          <a:fillRef idx="1">
            <a:schemeClr val="accent1"/>
          </a:fillRef>
          <a:effectRef idx="1">
            <a:schemeClr val="accent1"/>
          </a:effectRef>
          <a:fontRef idx="minor">
            <a:schemeClr val="lt1"/>
          </a:fontRef>
        </p:style>
        <p:txBody>
          <a:bodyPr wrap="square">
            <a:spAutoFit/>
          </a:bodyPr>
          <a:lstStyle/>
          <a:p>
            <a:pPr>
              <a:lnSpc>
                <a:spcPts val="2800"/>
              </a:lnSpc>
              <a:buClr>
                <a:srgbClr val="0070C0"/>
              </a:buClr>
              <a:buFont typeface="+mj-ea"/>
              <a:buAutoNum type="circleNumDbPlain" startAt="5"/>
            </a:pPr>
            <a:r>
              <a:rPr lang="zh-CN" altLang="en-US" sz="1700" b="1" dirty="0">
                <a:solidFill>
                  <a:srgbClr val="0070C0"/>
                </a:solidFill>
                <a:latin typeface="微软雅黑" panose="020B0503020204020204" pitchFamily="34" charset="-122"/>
                <a:ea typeface="微软雅黑" panose="020B0503020204020204" pitchFamily="34" charset="-122"/>
                <a:sym typeface="+mn-ea"/>
              </a:rPr>
              <a:t>   最小二乘法拟合就是</a:t>
            </a:r>
            <a:r>
              <a:rPr lang="zh-CN" altLang="en-US" sz="1700" b="1" dirty="0">
                <a:solidFill>
                  <a:srgbClr val="0070C0"/>
                </a:solidFill>
                <a:latin typeface="微软雅黑" panose="020B0503020204020204" pitchFamily="34" charset="-122"/>
                <a:ea typeface="微软雅黑" panose="020B0503020204020204" pitchFamily="34" charset="-122"/>
              </a:rPr>
              <a:t>残差</a:t>
            </a:r>
            <a:r>
              <a:rPr lang="en-US" altLang="ko-KR" sz="1700" b="1" dirty="0" err="1">
                <a:solidFill>
                  <a:srgbClr val="0070C0"/>
                </a:solidFill>
                <a:latin typeface="微软雅黑" panose="020B0503020204020204" pitchFamily="34" charset="-122"/>
                <a:ea typeface="微软雅黑" panose="020B0503020204020204" pitchFamily="34" charset="-122"/>
              </a:rPr>
              <a:t>平方和J最小</a:t>
            </a:r>
            <a:r>
              <a:rPr lang="zh-CN" altLang="en-US" sz="1700" b="1" dirty="0">
                <a:solidFill>
                  <a:srgbClr val="0070C0"/>
                </a:solidFill>
                <a:latin typeface="微软雅黑" panose="020B0503020204020204" pitchFamily="34" charset="-122"/>
                <a:ea typeface="微软雅黑" panose="020B0503020204020204" pitchFamily="34" charset="-122"/>
              </a:rPr>
              <a:t>时</a:t>
            </a:r>
            <a:r>
              <a:rPr lang="en-US" altLang="zh-CN" sz="1700" b="1" dirty="0">
                <a:solidFill>
                  <a:srgbClr val="0070C0"/>
                </a:solidFill>
                <a:latin typeface="微软雅黑" panose="020B0503020204020204" pitchFamily="34" charset="-122"/>
                <a:ea typeface="微软雅黑" panose="020B0503020204020204" pitchFamily="34" charset="-122"/>
              </a:rPr>
              <a:t>, </a:t>
            </a:r>
            <a:r>
              <a:rPr lang="zh-CN" altLang="en-US" sz="1700" b="1" dirty="0">
                <a:solidFill>
                  <a:srgbClr val="0070C0"/>
                </a:solidFill>
                <a:latin typeface="微软雅黑" panose="020B0503020204020204" pitchFamily="34" charset="-122"/>
                <a:ea typeface="微软雅黑" panose="020B0503020204020204" pitchFamily="34" charset="-122"/>
              </a:rPr>
              <a:t>求待定参数</a:t>
            </a:r>
            <a:r>
              <a:rPr lang="en-US" altLang="zh-CN" sz="1700" b="1" dirty="0">
                <a:solidFill>
                  <a:srgbClr val="0070C0"/>
                </a:solidFill>
                <a:latin typeface="微软雅黑" panose="020B0503020204020204" pitchFamily="34" charset="-122"/>
                <a:ea typeface="微软雅黑" panose="020B0503020204020204" pitchFamily="34" charset="-122"/>
              </a:rPr>
              <a:t>a</a:t>
            </a:r>
          </a:p>
        </p:txBody>
      </p:sp>
      <p:sp>
        <p:nvSpPr>
          <p:cNvPr id="21" name="文本框 20">
            <a:extLst>
              <a:ext uri="{FF2B5EF4-FFF2-40B4-BE49-F238E27FC236}">
                <a16:creationId xmlns:a16="http://schemas.microsoft.com/office/drawing/2014/main" id="{E145ACC5-74E0-4F8B-A0D9-FAAAEC5DE7A5}"/>
              </a:ext>
            </a:extLst>
          </p:cNvPr>
          <p:cNvSpPr txBox="1"/>
          <p:nvPr/>
        </p:nvSpPr>
        <p:spPr>
          <a:xfrm>
            <a:off x="3251831" y="4227826"/>
            <a:ext cx="5580611" cy="287771"/>
          </a:xfrm>
          <a:prstGeom prst="rect">
            <a:avLst/>
          </a:prstGeom>
          <a:solidFill>
            <a:srgbClr val="C0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2000" b="1" kern="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sz="1400" dirty="0"/>
              <a:t>是不是经过所有观测点的拟合效果就一定最好吗</a:t>
            </a:r>
            <a:r>
              <a:rPr lang="en-US" altLang="zh-CN" sz="1400" dirty="0"/>
              <a:t>?</a:t>
            </a:r>
            <a:endParaRPr lang="zh-CN" altLang="en-US" sz="1400" dirty="0"/>
          </a:p>
        </p:txBody>
      </p:sp>
      <p:sp>
        <p:nvSpPr>
          <p:cNvPr id="27" name="文本框 26">
            <a:extLst>
              <a:ext uri="{FF2B5EF4-FFF2-40B4-BE49-F238E27FC236}">
                <a16:creationId xmlns:a16="http://schemas.microsoft.com/office/drawing/2014/main" id="{70D0E247-1AD2-4D57-9AD8-5B0500FCA28A}"/>
              </a:ext>
            </a:extLst>
          </p:cNvPr>
          <p:cNvSpPr txBox="1"/>
          <p:nvPr/>
        </p:nvSpPr>
        <p:spPr>
          <a:xfrm>
            <a:off x="6655541" y="3078004"/>
            <a:ext cx="2020682" cy="523220"/>
          </a:xfrm>
          <a:prstGeom prst="rect">
            <a:avLst/>
          </a:prstGeom>
          <a:noFill/>
        </p:spPr>
        <p:txBody>
          <a:bodyPr wrap="square">
            <a:spAutoFit/>
          </a:bodyPr>
          <a:lstStyle/>
          <a:p>
            <a:r>
              <a:rPr lang="zh-CN" altLang="en-US" sz="1400" b="1" dirty="0">
                <a:solidFill>
                  <a:srgbClr val="FF0000"/>
                </a:solidFill>
                <a:latin typeface="华文楷体" panose="02010600040101010101" pitchFamily="2" charset="-122"/>
                <a:ea typeface="华文楷体" panose="02010600040101010101" pitchFamily="2" charset="-122"/>
              </a:rPr>
              <a:t>拟合曲线并不要求通过</a:t>
            </a:r>
            <a:endParaRPr lang="en-US" altLang="zh-CN" sz="1400" b="1" dirty="0">
              <a:solidFill>
                <a:srgbClr val="FF0000"/>
              </a:solidFill>
              <a:latin typeface="华文楷体" panose="02010600040101010101" pitchFamily="2" charset="-122"/>
              <a:ea typeface="华文楷体" panose="02010600040101010101" pitchFamily="2" charset="-122"/>
            </a:endParaRPr>
          </a:p>
          <a:p>
            <a:r>
              <a:rPr lang="zh-CN" altLang="en-US" sz="1400" b="1" dirty="0">
                <a:solidFill>
                  <a:srgbClr val="FF0000"/>
                </a:solidFill>
                <a:latin typeface="华文楷体" panose="02010600040101010101" pitchFamily="2" charset="-122"/>
                <a:ea typeface="华文楷体" panose="02010600040101010101" pitchFamily="2" charset="-122"/>
              </a:rPr>
              <a:t>所有采样数据点</a:t>
            </a:r>
            <a:endParaRPr lang="en-US" altLang="zh-CN" sz="1400" b="1" dirty="0">
              <a:solidFill>
                <a:srgbClr val="FF0000"/>
              </a:solidFill>
              <a:latin typeface="华文楷体" panose="02010600040101010101" pitchFamily="2" charset="-122"/>
              <a:ea typeface="华文楷体" panose="020106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23" grpId="0"/>
      <p:bldP spid="29" grpId="0" animBg="1"/>
      <p:bldP spid="30" grpId="0" animBg="1"/>
      <p:bldP spid="31" grpId="0"/>
      <p:bldP spid="32" grpId="0"/>
      <p:bldP spid="33" grpId="0"/>
      <p:bldP spid="19" grpId="0" animBg="1"/>
      <p:bldP spid="22" grpId="0" animBg="1"/>
      <p:bldP spid="21" grpId="0" animBg="1"/>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76888" y="58366"/>
            <a:ext cx="8136904" cy="523220"/>
          </a:xfrm>
          <a:prstGeom prst="rect">
            <a:avLst/>
          </a:prstGeom>
          <a:noFill/>
        </p:spPr>
        <p:txBody>
          <a:bodyPr wrap="square">
            <a:spAutoFit/>
          </a:bodyPr>
          <a:lstStyle/>
          <a:p>
            <a:r>
              <a:rPr lang="en-US" altLang="ko-KR" sz="2800" b="1" dirty="0">
                <a:solidFill>
                  <a:srgbClr val="002060"/>
                </a:solidFill>
                <a:latin typeface="华文楷体" panose="02010600040101010101" pitchFamily="2" charset="-122"/>
                <a:ea typeface="华文楷体" panose="02010600040101010101" pitchFamily="2" charset="-122"/>
              </a:rPr>
              <a:t>§5.2.2 </a:t>
            </a:r>
            <a:r>
              <a:rPr lang="zh-CN" altLang="en-US" sz="2800" b="1" dirty="0">
                <a:solidFill>
                  <a:srgbClr val="002060"/>
                </a:solidFill>
                <a:latin typeface="华文楷体" panose="02010600040101010101" pitchFamily="2" charset="-122"/>
                <a:ea typeface="华文楷体" panose="02010600040101010101" pitchFamily="2" charset="-122"/>
              </a:rPr>
              <a:t>多项式拟合</a:t>
            </a:r>
            <a:r>
              <a:rPr lang="en-US" altLang="zh-CN" sz="2800" b="1" kern="0" dirty="0" err="1">
                <a:solidFill>
                  <a:srgbClr val="FF0000"/>
                </a:solidFill>
                <a:latin typeface="华文楷体" panose="02010600040101010101" pitchFamily="2" charset="-122"/>
                <a:ea typeface="华文楷体" panose="02010600040101010101" pitchFamily="2" charset="-122"/>
              </a:rPr>
              <a:t>polyfit</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800" b="1" kern="0" dirty="0">
                <a:solidFill>
                  <a:srgbClr val="FF0000"/>
                </a:solidFill>
                <a:latin typeface="华文楷体" panose="02010600040101010101" pitchFamily="2" charset="-122"/>
                <a:ea typeface="华文楷体" panose="02010600040101010101" pitchFamily="2" charset="-122"/>
              </a:rPr>
              <a:t>多项式拟合特点</a:t>
            </a:r>
            <a:endParaRPr lang="zh-CN" altLang="en-US" sz="2800" b="1" dirty="0"/>
          </a:p>
        </p:txBody>
      </p:sp>
      <p:sp>
        <p:nvSpPr>
          <p:cNvPr id="8" name="文本框 7"/>
          <p:cNvSpPr txBox="1"/>
          <p:nvPr/>
        </p:nvSpPr>
        <p:spPr>
          <a:xfrm>
            <a:off x="349789" y="4078831"/>
            <a:ext cx="4093373" cy="37151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8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marL="457200" indent="-457200">
              <a:buFont typeface="Wingdings" panose="05000000000000000000" pitchFamily="2" charset="2"/>
              <a:buChar char="p"/>
            </a:pPr>
            <a:r>
              <a:rPr lang="zh-CN" altLang="en-US" sz="2000" dirty="0">
                <a:latin typeface="华文楷体" panose="02010600040101010101" pitchFamily="2" charset="-122"/>
                <a:ea typeface="华文楷体" panose="02010600040101010101" pitchFamily="2" charset="-122"/>
              </a:rPr>
              <a:t>最常见</a:t>
            </a:r>
            <a:r>
              <a:rPr lang="en-US" altLang="ko-KR" sz="2000" dirty="0">
                <a:latin typeface="华文楷体" panose="02010600040101010101" pitchFamily="2" charset="-122"/>
                <a:ea typeface="华文楷体" panose="02010600040101010101" pitchFamily="2" charset="-122"/>
              </a:rPr>
              <a:t>线</a:t>
            </a:r>
            <a:r>
              <a:rPr lang="zh-CN" altLang="en-US" sz="2000" dirty="0">
                <a:latin typeface="华文楷体" panose="02010600040101010101" pitchFamily="2" charset="-122"/>
                <a:ea typeface="华文楷体" panose="02010600040101010101" pitchFamily="2" charset="-122"/>
              </a:rPr>
              <a:t>性拟合：</a:t>
            </a:r>
            <a:r>
              <a:rPr lang="en-US" altLang="zh-CN" sz="2000" dirty="0">
                <a:latin typeface="华文楷体" panose="02010600040101010101" pitchFamily="2" charset="-122"/>
                <a:ea typeface="华文楷体" panose="02010600040101010101" pitchFamily="2" charset="-122"/>
              </a:rPr>
              <a:t>y= a1*x+ a2</a:t>
            </a:r>
            <a:endParaRPr lang="zh-CN" altLang="en-US" sz="2000" dirty="0">
              <a:latin typeface="华文楷体" panose="02010600040101010101" pitchFamily="2" charset="-122"/>
              <a:ea typeface="华文楷体" panose="02010600040101010101" pitchFamily="2" charset="-122"/>
            </a:endParaRPr>
          </a:p>
        </p:txBody>
      </p:sp>
      <p:sp>
        <p:nvSpPr>
          <p:cNvPr id="9" name="文本框 8"/>
          <p:cNvSpPr txBox="1"/>
          <p:nvPr/>
        </p:nvSpPr>
        <p:spPr>
          <a:xfrm>
            <a:off x="378356" y="2710127"/>
            <a:ext cx="3380668"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8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marL="457200" indent="-457200">
              <a:buFont typeface="Wingdings" panose="05000000000000000000" pitchFamily="2" charset="2"/>
              <a:buChar char="p"/>
            </a:pPr>
            <a:r>
              <a:rPr lang="en-US" altLang="zh-CN" sz="2000" dirty="0">
                <a:latin typeface="华文楷体" panose="02010600040101010101" pitchFamily="2" charset="-122"/>
                <a:ea typeface="华文楷体" panose="02010600040101010101" pitchFamily="2" charset="-122"/>
              </a:rPr>
              <a:t>n</a:t>
            </a:r>
            <a:r>
              <a:rPr lang="zh-CN" altLang="en-US" sz="2000" dirty="0">
                <a:latin typeface="华文楷体" panose="02010600040101010101" pitchFamily="2" charset="-122"/>
                <a:ea typeface="华文楷体" panose="02010600040101010101" pitchFamily="2" charset="-122"/>
              </a:rPr>
              <a:t>次</a:t>
            </a:r>
            <a:r>
              <a:rPr lang="en-US" altLang="ko-KR" sz="2000" dirty="0" err="1">
                <a:latin typeface="华文楷体" panose="02010600040101010101" pitchFamily="2" charset="-122"/>
                <a:ea typeface="华文楷体" panose="02010600040101010101" pitchFamily="2" charset="-122"/>
              </a:rPr>
              <a:t>多项式拟合</a:t>
            </a:r>
            <a:r>
              <a:rPr lang="zh-CN" altLang="en-US" sz="2000" dirty="0">
                <a:latin typeface="华文楷体" panose="02010600040101010101" pitchFamily="2" charset="-122"/>
                <a:ea typeface="华文楷体" panose="02010600040101010101" pitchFamily="2" charset="-122"/>
              </a:rPr>
              <a:t>最高次数</a:t>
            </a:r>
            <a:endParaRPr lang="en-US" altLang="ko-KR" sz="2000" dirty="0">
              <a:latin typeface="华文楷体" panose="02010600040101010101" pitchFamily="2" charset="-122"/>
              <a:ea typeface="华文楷体" panose="02010600040101010101" pitchFamily="2" charset="-122"/>
            </a:endParaRPr>
          </a:p>
        </p:txBody>
      </p:sp>
      <p:sp>
        <p:nvSpPr>
          <p:cNvPr id="10" name="Text Box 8"/>
          <p:cNvSpPr txBox="1"/>
          <p:nvPr/>
        </p:nvSpPr>
        <p:spPr bwMode="auto">
          <a:xfrm>
            <a:off x="5800717" y="4062679"/>
            <a:ext cx="2076887" cy="430887"/>
          </a:xfrm>
          <a:prstGeom prst="rect">
            <a:avLst/>
          </a:prstGeom>
          <a:noFill/>
          <a:ln w="0">
            <a:noFill/>
          </a:ln>
        </p:spPr>
        <p:txBody>
          <a:bodyPr vert="horz" wrap="square" lIns="91440" tIns="45720" rIns="91440" bIns="45720" anchor="t">
            <a:spAutoFit/>
          </a:bodyPr>
          <a:lstStyle>
            <a:defPPr>
              <a:defRPr lang="zh-CN"/>
            </a:defPPr>
            <a:lvl1pPr fontAlgn="auto">
              <a:spcBef>
                <a:spcPts val="0"/>
              </a:spcBef>
              <a:spcAft>
                <a:spcPts val="0"/>
              </a:spcAft>
              <a:defRPr sz="2200" b="1">
                <a:solidFill>
                  <a:srgbClr val="0070C0"/>
                </a:solidFill>
                <a:latin typeface="微软雅黑" panose="020B0503020204020204" pitchFamily="34" charset="-122"/>
                <a:ea typeface="微软雅黑" panose="020B0503020204020204" pitchFamily="34"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a:defRPr>
                <a:solidFill>
                  <a:schemeClr val="tx1"/>
                </a:solidFill>
                <a:latin typeface="Arial" panose="020B0604020202020204" pitchFamily="34" charset="0"/>
                <a:ea typeface="宋体" panose="02010600030101010101" pitchFamily="2" charset="-122"/>
              </a:defRPr>
            </a:lvl6pPr>
            <a:lvl7pPr>
              <a:defRPr>
                <a:solidFill>
                  <a:schemeClr val="tx1"/>
                </a:solidFill>
                <a:latin typeface="Arial" panose="020B0604020202020204" pitchFamily="34" charset="0"/>
                <a:ea typeface="宋体" panose="02010600030101010101" pitchFamily="2" charset="-122"/>
              </a:defRPr>
            </a:lvl7pPr>
            <a:lvl8pPr>
              <a:defRPr>
                <a:solidFill>
                  <a:schemeClr val="tx1"/>
                </a:solidFill>
                <a:latin typeface="Arial" panose="020B0604020202020204" pitchFamily="34" charset="0"/>
                <a:ea typeface="宋体" panose="02010600030101010101" pitchFamily="2" charset="-122"/>
              </a:defRPr>
            </a:lvl8pPr>
            <a:lvl9pPr>
              <a:defRPr>
                <a:solidFill>
                  <a:schemeClr val="tx1"/>
                </a:solidFill>
                <a:latin typeface="Arial" panose="020B0604020202020204" pitchFamily="34" charset="0"/>
                <a:ea typeface="宋体" panose="02010600030101010101" pitchFamily="2" charset="-122"/>
              </a:defRPr>
            </a:lvl9pPr>
          </a:lstStyle>
          <a:p>
            <a:r>
              <a:rPr lang="zh-CN" altLang="en-US" dirty="0"/>
              <a:t>求</a:t>
            </a:r>
            <a:r>
              <a:rPr lang="en-US" altLang="ko-KR" dirty="0"/>
              <a:t>P=[a1, a2]</a:t>
            </a:r>
            <a:endParaRPr lang="ko-KR" altLang="en-US" dirty="0"/>
          </a:p>
        </p:txBody>
      </p:sp>
      <p:sp>
        <p:nvSpPr>
          <p:cNvPr id="13" name="矩形 12"/>
          <p:cNvSpPr/>
          <p:nvPr/>
        </p:nvSpPr>
        <p:spPr>
          <a:xfrm>
            <a:off x="4685015" y="4062678"/>
            <a:ext cx="1253712" cy="430887"/>
          </a:xfrm>
          <a:prstGeom prst="rect">
            <a:avLst/>
          </a:prstGeom>
          <a:noFill/>
          <a:ln w="0">
            <a:noFill/>
          </a:ln>
        </p:spPr>
        <p:txBody>
          <a:bodyPr vert="horz" wrap="square" lIns="91440" tIns="45720" rIns="91440" bIns="45720" anchor="t">
            <a:spAutoFit/>
          </a:bodyPr>
          <a:lstStyle/>
          <a:p>
            <a:pPr fontAlgn="auto">
              <a:spcBef>
                <a:spcPts val="0"/>
              </a:spcBef>
              <a:spcAft>
                <a:spcPts val="0"/>
              </a:spcAft>
            </a:pPr>
            <a:r>
              <a:rPr lang="en-US" altLang="ko-KR" sz="2200" b="1" dirty="0">
                <a:solidFill>
                  <a:srgbClr val="0070C0"/>
                </a:solidFill>
                <a:latin typeface="微软雅黑" panose="020B0503020204020204" pitchFamily="34" charset="-122"/>
                <a:ea typeface="微软雅黑" panose="020B0503020204020204" pitchFamily="34" charset="-122"/>
              </a:rPr>
              <a:t>n=1</a:t>
            </a:r>
            <a:r>
              <a:rPr lang="zh-CN" altLang="en-US" sz="2200" b="1" dirty="0">
                <a:solidFill>
                  <a:srgbClr val="0070C0"/>
                </a:solidFill>
                <a:latin typeface="微软雅黑" panose="020B0503020204020204" pitchFamily="34" charset="-122"/>
                <a:ea typeface="微软雅黑" panose="020B0503020204020204" pitchFamily="34" charset="-122"/>
              </a:rPr>
              <a:t>时</a:t>
            </a:r>
          </a:p>
        </p:txBody>
      </p:sp>
      <p:sp>
        <p:nvSpPr>
          <p:cNvPr id="14" name="矩形 13"/>
          <p:cNvSpPr/>
          <p:nvPr/>
        </p:nvSpPr>
        <p:spPr>
          <a:xfrm>
            <a:off x="6166911" y="1345418"/>
            <a:ext cx="2128617" cy="343620"/>
          </a:xfrm>
          <a:prstGeom prst="rect">
            <a:avLst/>
          </a:prstGeom>
          <a:solidFill>
            <a:srgbClr val="C0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ko-KR" b="1" kern="0" dirty="0" err="1">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函数原型</a:t>
            </a:r>
            <a:r>
              <a:rPr lang="zh-CN" altLang="en-US" b="1" kern="0" dirty="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是多项式</a:t>
            </a:r>
            <a:endParaRPr lang="ko-KR" altLang="en-US" b="1" kern="0" dirty="0">
              <a:solidFill>
                <a:srgbClr val="FFFF00"/>
              </a:solidFill>
              <a:effectLst>
                <a:outerShdw blurRad="38100" dist="38100" dir="2700000" algn="tl">
                  <a:srgbClr val="000000">
                    <a:alpha val="43137"/>
                  </a:srgbClr>
                </a:outerShdw>
              </a:effectLst>
              <a:latin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矩形 14"/>
              <p:cNvSpPr/>
              <p:nvPr/>
            </p:nvSpPr>
            <p:spPr>
              <a:xfrm>
                <a:off x="335907" y="1966069"/>
                <a:ext cx="8628581" cy="461665"/>
              </a:xfrm>
              <a:prstGeom prst="rect">
                <a:avLst/>
              </a:prstGeom>
            </p:spPr>
            <p:txBody>
              <a:bodyPr wrap="none">
                <a:spAutoFit/>
              </a:bodyPr>
              <a:lstStyle/>
              <a:p>
                <a:pPr marL="342900" indent="-342900" fontAlgn="auto">
                  <a:spcBef>
                    <a:spcPts val="0"/>
                  </a:spcBef>
                  <a:spcAft>
                    <a:spcPts val="0"/>
                  </a:spcAft>
                  <a:buFont typeface="Wingdings" panose="05000000000000000000" pitchFamily="2" charset="2"/>
                  <a:buChar char="p"/>
                </a:pPr>
                <a:r>
                  <a:rPr lang="en-US" altLang="zh-CN" sz="2400" dirty="0">
                    <a:solidFill>
                      <a:srgbClr val="002060"/>
                    </a:solidFill>
                    <a:latin typeface="华文楷体" panose="02010600040101010101" pitchFamily="2" charset="-122"/>
                    <a:ea typeface="华文楷体" panose="02010600040101010101" pitchFamily="2" charset="-122"/>
                  </a:rPr>
                  <a:t>m</a:t>
                </a:r>
                <a:r>
                  <a:rPr lang="zh-CN" altLang="en-US" sz="2400" dirty="0">
                    <a:solidFill>
                      <a:srgbClr val="002060"/>
                    </a:solidFill>
                    <a:latin typeface="华文楷体" panose="02010600040101010101" pitchFamily="2" charset="-122"/>
                    <a:ea typeface="华文楷体" panose="02010600040101010101" pitchFamily="2" charset="-122"/>
                  </a:rPr>
                  <a:t>个采样点</a:t>
                </a:r>
                <a14:m>
                  <m:oMath xmlns:m="http://schemas.openxmlformats.org/officeDocument/2006/math">
                    <m:r>
                      <a:rPr lang="en-US" altLang="zh-CN" sz="2400">
                        <a:solidFill>
                          <a:srgbClr val="002060"/>
                        </a:solidFill>
                        <a:latin typeface="Cambria Math" panose="02040503050406030204" pitchFamily="18" charset="0"/>
                        <a:ea typeface="隶书" panose="02010509060101010101" pitchFamily="49" charset="-122"/>
                      </a:rPr>
                      <m:t>{</m:t>
                    </m:r>
                    <m:sSub>
                      <m:sSubPr>
                        <m:ctrlPr>
                          <a:rPr lang="en-US" altLang="zh-CN" sz="2400" i="1">
                            <a:solidFill>
                              <a:srgbClr val="002060"/>
                            </a:solidFill>
                            <a:latin typeface="Cambria Math" panose="02040503050406030204" pitchFamily="18" charset="0"/>
                            <a:ea typeface="隶书" panose="02010509060101010101" pitchFamily="49" charset="-122"/>
                          </a:rPr>
                        </m:ctrlPr>
                      </m:sSubPr>
                      <m:e>
                        <m:r>
                          <a:rPr lang="en-US" altLang="zh-CN" sz="2400">
                            <a:solidFill>
                              <a:srgbClr val="002060"/>
                            </a:solidFill>
                            <a:latin typeface="Cambria Math" panose="02040503050406030204" pitchFamily="18" charset="0"/>
                            <a:ea typeface="隶书" panose="02010509060101010101" pitchFamily="49" charset="-122"/>
                          </a:rPr>
                          <m:t>𝒙</m:t>
                        </m:r>
                      </m:e>
                      <m:sub>
                        <m:r>
                          <a:rPr lang="en-US" altLang="zh-CN" sz="2400">
                            <a:solidFill>
                              <a:srgbClr val="002060"/>
                            </a:solidFill>
                            <a:latin typeface="Cambria Math" panose="02040503050406030204" pitchFamily="18" charset="0"/>
                            <a:ea typeface="隶书" panose="02010509060101010101" pitchFamily="49" charset="-122"/>
                          </a:rPr>
                          <m:t>𝒊</m:t>
                        </m:r>
                      </m:sub>
                    </m:sSub>
                    <m:r>
                      <a:rPr lang="en-US" altLang="zh-CN" sz="2400">
                        <a:solidFill>
                          <a:srgbClr val="002060"/>
                        </a:solidFill>
                        <a:latin typeface="Cambria Math" panose="02040503050406030204" pitchFamily="18" charset="0"/>
                        <a:ea typeface="隶书" panose="02010509060101010101" pitchFamily="49" charset="-122"/>
                      </a:rPr>
                      <m:t>,</m:t>
                    </m:r>
                    <m:sSub>
                      <m:sSubPr>
                        <m:ctrlPr>
                          <a:rPr lang="en-US" altLang="zh-CN" sz="2400" i="1">
                            <a:solidFill>
                              <a:srgbClr val="002060"/>
                            </a:solidFill>
                            <a:latin typeface="Cambria Math" panose="02040503050406030204" pitchFamily="18" charset="0"/>
                            <a:ea typeface="隶书" panose="02010509060101010101" pitchFamily="49" charset="-122"/>
                          </a:rPr>
                        </m:ctrlPr>
                      </m:sSubPr>
                      <m:e>
                        <m:r>
                          <a:rPr lang="en-US" altLang="zh-CN" sz="2400">
                            <a:solidFill>
                              <a:srgbClr val="002060"/>
                            </a:solidFill>
                            <a:latin typeface="Cambria Math" panose="02040503050406030204" pitchFamily="18" charset="0"/>
                            <a:ea typeface="隶书" panose="02010509060101010101" pitchFamily="49" charset="-122"/>
                          </a:rPr>
                          <m:t>𝒚</m:t>
                        </m:r>
                      </m:e>
                      <m:sub>
                        <m:r>
                          <a:rPr lang="en-US" altLang="zh-CN" sz="2400">
                            <a:solidFill>
                              <a:srgbClr val="002060"/>
                            </a:solidFill>
                            <a:latin typeface="Cambria Math" panose="02040503050406030204" pitchFamily="18" charset="0"/>
                            <a:ea typeface="隶书" panose="02010509060101010101" pitchFamily="49" charset="-122"/>
                          </a:rPr>
                          <m:t>𝒊</m:t>
                        </m:r>
                      </m:sub>
                    </m:sSub>
                    <m:r>
                      <a:rPr lang="en-US" altLang="zh-CN" sz="2400">
                        <a:solidFill>
                          <a:srgbClr val="002060"/>
                        </a:solidFill>
                        <a:latin typeface="Cambria Math" panose="02040503050406030204" pitchFamily="18" charset="0"/>
                        <a:ea typeface="隶书" panose="02010509060101010101" pitchFamily="49" charset="-122"/>
                      </a:rPr>
                      <m:t>|</m:t>
                    </m:r>
                    <m:r>
                      <a:rPr lang="en-US" altLang="zh-CN" sz="2400">
                        <a:solidFill>
                          <a:srgbClr val="002060"/>
                        </a:solidFill>
                        <a:latin typeface="Cambria Math" panose="02040503050406030204" pitchFamily="18" charset="0"/>
                        <a:ea typeface="隶书" panose="02010509060101010101" pitchFamily="49" charset="-122"/>
                      </a:rPr>
                      <m:t>𝒊</m:t>
                    </m:r>
                    <m:r>
                      <a:rPr lang="en-US" altLang="zh-CN" sz="2400">
                        <a:solidFill>
                          <a:srgbClr val="002060"/>
                        </a:solidFill>
                        <a:latin typeface="Cambria Math" panose="02040503050406030204" pitchFamily="18" charset="0"/>
                        <a:ea typeface="隶书" panose="02010509060101010101" pitchFamily="49" charset="-122"/>
                      </a:rPr>
                      <m:t>=</m:t>
                    </m:r>
                    <m:r>
                      <a:rPr lang="en-US" altLang="zh-CN" sz="2400">
                        <a:solidFill>
                          <a:srgbClr val="002060"/>
                        </a:solidFill>
                        <a:latin typeface="Cambria Math" panose="02040503050406030204" pitchFamily="18" charset="0"/>
                        <a:ea typeface="隶书" panose="02010509060101010101" pitchFamily="49" charset="-122"/>
                      </a:rPr>
                      <m:t>𝟏</m:t>
                    </m:r>
                    <m:r>
                      <a:rPr lang="en-US" altLang="zh-CN" sz="2400">
                        <a:solidFill>
                          <a:srgbClr val="002060"/>
                        </a:solidFill>
                        <a:latin typeface="Cambria Math" panose="02040503050406030204" pitchFamily="18" charset="0"/>
                        <a:ea typeface="隶书" panose="02010509060101010101" pitchFamily="49" charset="-122"/>
                      </a:rPr>
                      <m:t>,</m:t>
                    </m:r>
                    <m:r>
                      <a:rPr lang="en-US" altLang="zh-CN" sz="2400">
                        <a:solidFill>
                          <a:srgbClr val="002060"/>
                        </a:solidFill>
                        <a:latin typeface="Cambria Math" panose="02040503050406030204" pitchFamily="18" charset="0"/>
                        <a:ea typeface="隶书" panose="02010509060101010101" pitchFamily="49" charset="-122"/>
                      </a:rPr>
                      <m:t>𝟐</m:t>
                    </m:r>
                    <m:r>
                      <a:rPr lang="en-US" altLang="zh-CN" sz="2400">
                        <a:solidFill>
                          <a:srgbClr val="002060"/>
                        </a:solidFill>
                        <a:latin typeface="Cambria Math" panose="02040503050406030204" pitchFamily="18" charset="0"/>
                        <a:ea typeface="隶书" panose="02010509060101010101" pitchFamily="49" charset="-122"/>
                      </a:rPr>
                      <m:t>,…,</m:t>
                    </m:r>
                    <m:r>
                      <a:rPr lang="en-US" altLang="zh-CN" sz="2400">
                        <a:solidFill>
                          <a:srgbClr val="002060"/>
                        </a:solidFill>
                        <a:latin typeface="Cambria Math" panose="02040503050406030204" pitchFamily="18" charset="0"/>
                        <a:ea typeface="隶书" panose="02010509060101010101" pitchFamily="49" charset="-122"/>
                      </a:rPr>
                      <m:t>𝒎</m:t>
                    </m:r>
                    <m:r>
                      <a:rPr lang="en-US" altLang="zh-CN" sz="2400">
                        <a:solidFill>
                          <a:srgbClr val="002060"/>
                        </a:solidFill>
                        <a:latin typeface="Cambria Math" panose="02040503050406030204" pitchFamily="18" charset="0"/>
                        <a:ea typeface="隶书" panose="02010509060101010101" pitchFamily="49" charset="-122"/>
                      </a:rPr>
                      <m:t>}</m:t>
                    </m:r>
                    <m:r>
                      <a:rPr lang="zh-CN" altLang="en-US" sz="2400">
                        <a:solidFill>
                          <a:srgbClr val="002060"/>
                        </a:solidFill>
                        <a:latin typeface="Cambria Math" panose="02040503050406030204" pitchFamily="18" charset="0"/>
                        <a:ea typeface="隶书" panose="02010509060101010101" pitchFamily="49" charset="-122"/>
                      </a:rPr>
                      <m:t>构造</m:t>
                    </m:r>
                  </m:oMath>
                </a14:m>
                <a:r>
                  <a:rPr lang="en-US" altLang="zh-CN" sz="2400" dirty="0">
                    <a:solidFill>
                      <a:srgbClr val="002060"/>
                    </a:solidFill>
                    <a:latin typeface="华文楷体" panose="02010600040101010101" pitchFamily="2" charset="-122"/>
                    <a:ea typeface="华文楷体" panose="02010600040101010101" pitchFamily="2" charset="-122"/>
                  </a:rPr>
                  <a:t>n</a:t>
                </a:r>
                <a:r>
                  <a:rPr lang="zh-CN" altLang="en-US" sz="2400" dirty="0">
                    <a:solidFill>
                      <a:srgbClr val="002060"/>
                    </a:solidFill>
                    <a:latin typeface="华文楷体" panose="02010600040101010101" pitchFamily="2" charset="-122"/>
                    <a:ea typeface="华文楷体" panose="02010600040101010101" pitchFamily="2" charset="-122"/>
                  </a:rPr>
                  <a:t>次多项式拟合，且</a:t>
                </a:r>
                <a:r>
                  <a:rPr lang="en-US" altLang="zh-CN" sz="2400" dirty="0">
                    <a:solidFill>
                      <a:srgbClr val="002060"/>
                    </a:solidFill>
                    <a:latin typeface="华文楷体" panose="02010600040101010101" pitchFamily="2" charset="-122"/>
                    <a:ea typeface="华文楷体" panose="02010600040101010101" pitchFamily="2" charset="-122"/>
                  </a:rPr>
                  <a:t>n&lt;m</a:t>
                </a:r>
                <a:endParaRPr lang="zh-CN" altLang="en-US" sz="2400" dirty="0">
                  <a:solidFill>
                    <a:srgbClr val="002060"/>
                  </a:solidFill>
                  <a:latin typeface="华文楷体" panose="02010600040101010101" pitchFamily="2" charset="-122"/>
                  <a:ea typeface="华文楷体" panose="02010600040101010101" pitchFamily="2" charset="-122"/>
                </a:endParaRPr>
              </a:p>
            </p:txBody>
          </p:sp>
        </mc:Choice>
        <mc:Fallback xmlns="">
          <p:sp>
            <p:nvSpPr>
              <p:cNvPr id="15" name="矩形 14"/>
              <p:cNvSpPr>
                <a:spLocks noRot="1" noChangeAspect="1" noMove="1" noResize="1" noEditPoints="1" noAdjustHandles="1" noChangeArrowheads="1" noChangeShapeType="1" noTextEdit="1"/>
              </p:cNvSpPr>
              <p:nvPr/>
            </p:nvSpPr>
            <p:spPr>
              <a:xfrm>
                <a:off x="335907" y="1966069"/>
                <a:ext cx="8628581" cy="461665"/>
              </a:xfrm>
              <a:prstGeom prst="rect">
                <a:avLst/>
              </a:prstGeom>
              <a:blipFill>
                <a:blip r:embed="rId3"/>
                <a:stretch>
                  <a:fillRect l="-918" t="-10667" r="-212" b="-30667"/>
                </a:stretch>
              </a:blipFill>
            </p:spPr>
            <p:txBody>
              <a:bodyPr/>
              <a:lstStyle/>
              <a:p>
                <a:r>
                  <a:rPr lang="zh-CN" altLang="en-US">
                    <a:noFill/>
                  </a:rPr>
                  <a:t> </a:t>
                </a:r>
              </a:p>
            </p:txBody>
          </p:sp>
        </mc:Fallback>
      </mc:AlternateContent>
      <p:sp>
        <p:nvSpPr>
          <p:cNvPr id="16" name="Text Box 8"/>
          <p:cNvSpPr txBox="1"/>
          <p:nvPr/>
        </p:nvSpPr>
        <p:spPr bwMode="auto">
          <a:xfrm>
            <a:off x="331578" y="3398757"/>
            <a:ext cx="6181605" cy="400110"/>
          </a:xfrm>
          <a:prstGeom prst="rect">
            <a:avLst/>
          </a:prstGeom>
          <a:solidFill>
            <a:schemeClr val="bg1"/>
          </a:solidFill>
          <a:ln>
            <a:noFill/>
          </a:ln>
        </p:spPr>
        <p:txBody>
          <a:bodyPr wrap="square">
            <a:spAutoFit/>
          </a:bodyPr>
          <a:lstStyle>
            <a:defPPr>
              <a:defRPr lang="zh-CN"/>
            </a:defPPr>
            <a:lvl1pPr marL="0" marR="0" lvl="0" indent="0" algn="dist" defTabSz="914400" eaLnBrk="1" latinLnBrk="0" hangingPunct="1">
              <a:lnSpc>
                <a:spcPct val="100000"/>
              </a:lnSpc>
              <a:spcBef>
                <a:spcPct val="30000"/>
              </a:spcBef>
              <a:buClrTx/>
              <a:buSzTx/>
              <a:buFontTx/>
              <a:buNone/>
              <a:defRPr sz="2000" b="1" i="0">
                <a:solidFill>
                  <a:srgbClr val="0070C0"/>
                </a:solidFill>
                <a:effectLst/>
                <a:latin typeface="微软雅黑" panose="020B0503020204020204" pitchFamily="34" charset="-122"/>
                <a:ea typeface="微软雅黑" panose="020B0503020204020204" pitchFamily="34"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a:defRPr>
                <a:solidFill>
                  <a:schemeClr val="tx1"/>
                </a:solidFill>
                <a:latin typeface="Arial" panose="020B0604020202020204" pitchFamily="34" charset="0"/>
                <a:ea typeface="宋体" panose="02010600030101010101" pitchFamily="2" charset="-122"/>
              </a:defRPr>
            </a:lvl6pPr>
            <a:lvl7pPr>
              <a:defRPr>
                <a:solidFill>
                  <a:schemeClr val="tx1"/>
                </a:solidFill>
                <a:latin typeface="Arial" panose="020B0604020202020204" pitchFamily="34" charset="0"/>
                <a:ea typeface="宋体" panose="02010600030101010101" pitchFamily="2" charset="-122"/>
              </a:defRPr>
            </a:lvl7pPr>
            <a:lvl8pPr>
              <a:defRPr>
                <a:solidFill>
                  <a:schemeClr val="tx1"/>
                </a:solidFill>
                <a:latin typeface="Arial" panose="020B0604020202020204" pitchFamily="34" charset="0"/>
                <a:ea typeface="宋体" panose="02010600030101010101" pitchFamily="2" charset="-122"/>
              </a:defRPr>
            </a:lvl8pPr>
            <a:lvl9pPr>
              <a:defRPr>
                <a:solidFill>
                  <a:schemeClr val="tx1"/>
                </a:solidFill>
                <a:latin typeface="Arial" panose="020B0604020202020204" pitchFamily="34" charset="0"/>
                <a:ea typeface="宋体" panose="02010600030101010101" pitchFamily="2" charset="-122"/>
              </a:defRPr>
            </a:lvl9pPr>
          </a:lstStyle>
          <a:p>
            <a:pPr marL="342900" indent="-342900" algn="l">
              <a:buFont typeface="Wingdings" panose="05000000000000000000" pitchFamily="2" charset="2"/>
              <a:buChar char="p"/>
            </a:pPr>
            <a:r>
              <a:rPr lang="en-US" altLang="zh-CN" dirty="0"/>
              <a:t>n</a:t>
            </a:r>
            <a:r>
              <a:rPr lang="zh-CN" altLang="en-US" dirty="0"/>
              <a:t>次多项式拟合就是求</a:t>
            </a:r>
            <a:r>
              <a:rPr lang="en-US" altLang="zh-CN" dirty="0"/>
              <a:t>n+1</a:t>
            </a:r>
            <a:r>
              <a:rPr lang="zh-CN" altLang="en-US" dirty="0"/>
              <a:t>个待定多项式系数</a:t>
            </a:r>
          </a:p>
        </p:txBody>
      </p:sp>
      <p:sp>
        <p:nvSpPr>
          <p:cNvPr id="19" name="矩形 18"/>
          <p:cNvSpPr/>
          <p:nvPr/>
        </p:nvSpPr>
        <p:spPr>
          <a:xfrm>
            <a:off x="392983" y="718735"/>
            <a:ext cx="7520113" cy="400110"/>
          </a:xfrm>
          <a:prstGeom prst="rect">
            <a:avLst/>
          </a:prstGeom>
          <a:solidFill>
            <a:schemeClr val="bg1"/>
          </a:solidFill>
          <a:ln>
            <a:noFill/>
          </a:ln>
        </p:spPr>
        <p:txBody>
          <a:bodyPr wrap="square">
            <a:spAutoFit/>
          </a:bodyPr>
          <a:lstStyle/>
          <a:p>
            <a:pPr marL="0" marR="0" lvl="0" indent="0" algn="dist" defTabSz="914400" rtl="0" eaLnBrk="1" fontAlgn="base" latinLnBrk="0" hangingPunct="1">
              <a:lnSpc>
                <a:spcPct val="100000"/>
              </a:lnSpc>
              <a:spcBef>
                <a:spcPct val="30000"/>
              </a:spcBef>
              <a:spcAft>
                <a:spcPct val="0"/>
              </a:spcAft>
              <a:buClrTx/>
              <a:buSzTx/>
              <a:buFontTx/>
              <a:buNone/>
              <a:defRPr/>
            </a:pPr>
            <a:r>
              <a:rPr lang="zh-CN" altLang="en-US" sz="2000" b="1" i="0" dirty="0">
                <a:solidFill>
                  <a:srgbClr val="0070C0"/>
                </a:solidFill>
                <a:effectLst/>
                <a:latin typeface="微软雅黑" panose="020B0503020204020204" pitchFamily="34" charset="-122"/>
                <a:ea typeface="微软雅黑" panose="020B0503020204020204" pitchFamily="34" charset="-122"/>
              </a:rPr>
              <a:t>闭区间上连续函数都可被多项式</a:t>
            </a:r>
            <a:r>
              <a:rPr lang="zh-CN" altLang="en-US" sz="2000" b="1" dirty="0">
                <a:solidFill>
                  <a:srgbClr val="0070C0"/>
                </a:solidFill>
                <a:latin typeface="微软雅黑" panose="020B0503020204020204" pitchFamily="34" charset="-122"/>
                <a:ea typeface="微软雅黑" panose="020B0503020204020204" pitchFamily="34" charset="-122"/>
              </a:rPr>
              <a:t>逼近，多数曲线可拟合成多项式  </a:t>
            </a:r>
            <a:endParaRPr lang="ko-KR" altLang="en-US" sz="2000" b="1" dirty="0">
              <a:solidFill>
                <a:srgbClr val="0070C0"/>
              </a:solidFill>
              <a:latin typeface="微软雅黑" panose="020B0503020204020204" pitchFamily="34"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20" name="矩形 19"/>
              <p:cNvSpPr/>
              <p:nvPr/>
            </p:nvSpPr>
            <p:spPr>
              <a:xfrm>
                <a:off x="5308545" y="2686381"/>
                <a:ext cx="3442071" cy="312586"/>
              </a:xfrm>
              <a:prstGeom prst="rect">
                <a:avLst/>
              </a:prstGeom>
              <a:solidFill>
                <a:srgbClr val="0070C0"/>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rgbClr val="FFFF00"/>
                          </a:solidFill>
                          <a:latin typeface="Cambria Math" panose="02040503050406030204" pitchFamily="18" charset="0"/>
                        </a:rPr>
                        <m:t>𝒑</m:t>
                      </m:r>
                      <m:r>
                        <a:rPr lang="en-US" altLang="zh-CN" sz="1400" b="1" i="1" smtClean="0">
                          <a:solidFill>
                            <a:srgbClr val="FFFF00"/>
                          </a:solidFill>
                          <a:latin typeface="Cambria Math" panose="02040503050406030204"/>
                        </a:rPr>
                        <m:t>=</m:t>
                      </m:r>
                      <m:sSup>
                        <m:sSupPr>
                          <m:ctrlPr>
                            <a:rPr lang="zh-CN" altLang="zh-CN" sz="1400" b="1" i="1">
                              <a:solidFill>
                                <a:srgbClr val="FFFF00"/>
                              </a:solidFill>
                              <a:latin typeface="Cambria Math" panose="02040503050406030204" pitchFamily="18" charset="0"/>
                            </a:rPr>
                          </m:ctrlPr>
                        </m:sSupPr>
                        <m:e>
                          <m:sSub>
                            <m:sSubPr>
                              <m:ctrlPr>
                                <a:rPr lang="zh-CN" altLang="zh-CN" sz="1400" b="1" i="1">
                                  <a:solidFill>
                                    <a:srgbClr val="FFFF00"/>
                                  </a:solidFill>
                                  <a:latin typeface="Cambria Math" panose="02040503050406030204" pitchFamily="18" charset="0"/>
                                </a:rPr>
                              </m:ctrlPr>
                            </m:sSubPr>
                            <m:e>
                              <m:r>
                                <a:rPr lang="en-US" altLang="zh-CN" sz="1400" b="1" i="1">
                                  <a:solidFill>
                                    <a:srgbClr val="FFFF00"/>
                                  </a:solidFill>
                                  <a:latin typeface="Cambria Math" panose="02040503050406030204"/>
                                </a:rPr>
                                <m:t>𝒂</m:t>
                              </m:r>
                            </m:e>
                            <m:sub>
                              <m:r>
                                <a:rPr lang="en-US" altLang="zh-CN" sz="1400" b="1" i="1" smtClean="0">
                                  <a:solidFill>
                                    <a:srgbClr val="FFFF00"/>
                                  </a:solidFill>
                                  <a:latin typeface="Cambria Math" panose="02040503050406030204" pitchFamily="18" charset="0"/>
                                </a:rPr>
                                <m:t>𝟏</m:t>
                              </m:r>
                            </m:sub>
                          </m:sSub>
                          <m:r>
                            <a:rPr lang="en-US" altLang="zh-CN" sz="1400" b="1" i="1">
                              <a:solidFill>
                                <a:srgbClr val="FFFF00"/>
                              </a:solidFill>
                              <a:latin typeface="Cambria Math" panose="02040503050406030204"/>
                            </a:rPr>
                            <m:t>𝒙</m:t>
                          </m:r>
                        </m:e>
                        <m:sup>
                          <m:r>
                            <a:rPr lang="en-US" altLang="zh-CN" sz="1400" b="1" i="1">
                              <a:solidFill>
                                <a:srgbClr val="FFFF00"/>
                              </a:solidFill>
                              <a:latin typeface="Cambria Math" panose="02040503050406030204"/>
                            </a:rPr>
                            <m:t>𝒏</m:t>
                          </m:r>
                        </m:sup>
                      </m:sSup>
                      <m:r>
                        <a:rPr lang="en-US" altLang="zh-CN" sz="1400" b="1" i="1">
                          <a:solidFill>
                            <a:srgbClr val="FFFF00"/>
                          </a:solidFill>
                          <a:latin typeface="Cambria Math" panose="02040503050406030204"/>
                        </a:rPr>
                        <m:t>+</m:t>
                      </m:r>
                      <m:sSup>
                        <m:sSupPr>
                          <m:ctrlPr>
                            <a:rPr lang="zh-CN" altLang="zh-CN" sz="1400" b="1" i="1">
                              <a:solidFill>
                                <a:srgbClr val="FFFF00"/>
                              </a:solidFill>
                              <a:latin typeface="Cambria Math" panose="02040503050406030204" pitchFamily="18" charset="0"/>
                            </a:rPr>
                          </m:ctrlPr>
                        </m:sSupPr>
                        <m:e>
                          <m:sSub>
                            <m:sSubPr>
                              <m:ctrlPr>
                                <a:rPr lang="zh-CN" altLang="zh-CN" sz="1400" b="1" i="1">
                                  <a:solidFill>
                                    <a:srgbClr val="FFFF00"/>
                                  </a:solidFill>
                                  <a:latin typeface="Cambria Math" panose="02040503050406030204" pitchFamily="18" charset="0"/>
                                </a:rPr>
                              </m:ctrlPr>
                            </m:sSubPr>
                            <m:e>
                              <m:r>
                                <a:rPr lang="en-US" altLang="zh-CN" sz="1400" b="1" i="1">
                                  <a:solidFill>
                                    <a:srgbClr val="FFFF00"/>
                                  </a:solidFill>
                                  <a:latin typeface="Cambria Math" panose="02040503050406030204"/>
                                </a:rPr>
                                <m:t>𝒂</m:t>
                              </m:r>
                            </m:e>
                            <m:sub>
                              <m:r>
                                <a:rPr lang="en-US" altLang="zh-CN" sz="1400" b="1" i="1" smtClean="0">
                                  <a:solidFill>
                                    <a:srgbClr val="FFFF00"/>
                                  </a:solidFill>
                                  <a:latin typeface="Cambria Math" panose="02040503050406030204" pitchFamily="18" charset="0"/>
                                </a:rPr>
                                <m:t>𝟐</m:t>
                              </m:r>
                            </m:sub>
                          </m:sSub>
                          <m:r>
                            <a:rPr lang="en-US" altLang="zh-CN" sz="1400" b="1" i="1">
                              <a:solidFill>
                                <a:srgbClr val="FFFF00"/>
                              </a:solidFill>
                              <a:latin typeface="Cambria Math" panose="02040503050406030204"/>
                            </a:rPr>
                            <m:t>𝒙</m:t>
                          </m:r>
                        </m:e>
                        <m:sup>
                          <m:r>
                            <a:rPr lang="en-US" altLang="zh-CN" sz="1400" b="1" i="1">
                              <a:solidFill>
                                <a:srgbClr val="FFFF00"/>
                              </a:solidFill>
                              <a:latin typeface="Cambria Math" panose="02040503050406030204"/>
                            </a:rPr>
                            <m:t>𝒏</m:t>
                          </m:r>
                          <m:r>
                            <a:rPr lang="en-US" altLang="zh-CN" sz="1400" b="1" i="1">
                              <a:solidFill>
                                <a:srgbClr val="FFFF00"/>
                              </a:solidFill>
                              <a:latin typeface="Cambria Math" panose="02040503050406030204"/>
                            </a:rPr>
                            <m:t>−</m:t>
                          </m:r>
                          <m:r>
                            <a:rPr lang="en-US" altLang="zh-CN" sz="1400" b="1" i="1">
                              <a:solidFill>
                                <a:srgbClr val="FFFF00"/>
                              </a:solidFill>
                              <a:latin typeface="Cambria Math" panose="02040503050406030204"/>
                            </a:rPr>
                            <m:t>𝟏</m:t>
                          </m:r>
                        </m:sup>
                      </m:sSup>
                      <m:r>
                        <a:rPr lang="en-US" altLang="zh-CN" sz="1400" b="1" i="1">
                          <a:solidFill>
                            <a:srgbClr val="FFFF00"/>
                          </a:solidFill>
                          <a:latin typeface="Cambria Math" panose="02040503050406030204"/>
                        </a:rPr>
                        <m:t>+…+</m:t>
                      </m:r>
                      <m:sSub>
                        <m:sSubPr>
                          <m:ctrlPr>
                            <a:rPr lang="zh-CN" altLang="zh-CN" sz="1400" b="1" i="1">
                              <a:solidFill>
                                <a:srgbClr val="FFFF00"/>
                              </a:solidFill>
                              <a:latin typeface="Cambria Math" panose="02040503050406030204" pitchFamily="18" charset="0"/>
                            </a:rPr>
                          </m:ctrlPr>
                        </m:sSubPr>
                        <m:e>
                          <m:r>
                            <a:rPr lang="en-US" altLang="zh-CN" sz="1400" b="1" i="1">
                              <a:solidFill>
                                <a:srgbClr val="FFFF00"/>
                              </a:solidFill>
                              <a:latin typeface="Cambria Math" panose="02040503050406030204"/>
                            </a:rPr>
                            <m:t>𝒂</m:t>
                          </m:r>
                        </m:e>
                        <m:sub>
                          <m:r>
                            <a:rPr lang="en-US" altLang="zh-CN" sz="1400" b="1" i="1">
                              <a:solidFill>
                                <a:srgbClr val="FFFF00"/>
                              </a:solidFill>
                              <a:latin typeface="Cambria Math" panose="02040503050406030204"/>
                            </a:rPr>
                            <m:t>𝒏</m:t>
                          </m:r>
                        </m:sub>
                      </m:sSub>
                      <m:r>
                        <a:rPr lang="en-US" altLang="zh-CN" sz="1400" b="1" i="1">
                          <a:solidFill>
                            <a:srgbClr val="FFFF00"/>
                          </a:solidFill>
                          <a:latin typeface="Cambria Math" panose="02040503050406030204"/>
                        </a:rPr>
                        <m:t>𝒙</m:t>
                      </m:r>
                      <m:r>
                        <a:rPr lang="en-US" altLang="zh-CN" sz="1400" b="1" i="1">
                          <a:solidFill>
                            <a:srgbClr val="FFFF00"/>
                          </a:solidFill>
                          <a:latin typeface="Cambria Math" panose="02040503050406030204"/>
                        </a:rPr>
                        <m:t>+</m:t>
                      </m:r>
                      <m:sSub>
                        <m:sSubPr>
                          <m:ctrlPr>
                            <a:rPr lang="zh-CN" altLang="zh-CN" sz="1400" b="1" i="1">
                              <a:solidFill>
                                <a:srgbClr val="FFFF00"/>
                              </a:solidFill>
                              <a:latin typeface="Cambria Math" panose="02040503050406030204" pitchFamily="18" charset="0"/>
                            </a:rPr>
                          </m:ctrlPr>
                        </m:sSubPr>
                        <m:e>
                          <m:r>
                            <a:rPr lang="en-US" altLang="zh-CN" sz="1400" b="1" i="1">
                              <a:solidFill>
                                <a:srgbClr val="FFFF00"/>
                              </a:solidFill>
                              <a:latin typeface="Cambria Math" panose="02040503050406030204"/>
                            </a:rPr>
                            <m:t>𝒂</m:t>
                          </m:r>
                        </m:e>
                        <m:sub>
                          <m:r>
                            <a:rPr lang="en-US" altLang="zh-CN" sz="1400" b="1" i="1">
                              <a:solidFill>
                                <a:srgbClr val="FFFF00"/>
                              </a:solidFill>
                              <a:latin typeface="Cambria Math" panose="02040503050406030204"/>
                            </a:rPr>
                            <m:t>𝒏</m:t>
                          </m:r>
                          <m:r>
                            <a:rPr lang="en-US" altLang="zh-CN" sz="1400" b="1" i="1" smtClean="0">
                              <a:solidFill>
                                <a:srgbClr val="FFFF00"/>
                              </a:solidFill>
                              <a:latin typeface="Cambria Math" panose="02040503050406030204" pitchFamily="18" charset="0"/>
                            </a:rPr>
                            <m:t>+</m:t>
                          </m:r>
                          <m:r>
                            <a:rPr lang="en-US" altLang="zh-CN" sz="1400" b="1" i="1" smtClean="0">
                              <a:solidFill>
                                <a:srgbClr val="FFFF00"/>
                              </a:solidFill>
                              <a:latin typeface="Cambria Math" panose="02040503050406030204" pitchFamily="18" charset="0"/>
                            </a:rPr>
                            <m:t>𝟏</m:t>
                          </m:r>
                        </m:sub>
                      </m:sSub>
                      <m:sSup>
                        <m:sSupPr>
                          <m:ctrlPr>
                            <a:rPr lang="zh-CN" altLang="zh-CN" sz="1400" b="1" i="1">
                              <a:solidFill>
                                <a:srgbClr val="FFFF00"/>
                              </a:solidFill>
                              <a:latin typeface="Cambria Math" panose="02040503050406030204" pitchFamily="18" charset="0"/>
                            </a:rPr>
                          </m:ctrlPr>
                        </m:sSupPr>
                        <m:e>
                          <m:r>
                            <a:rPr lang="en-US" altLang="zh-CN" sz="1400" b="1" i="1">
                              <a:solidFill>
                                <a:srgbClr val="FFFF00"/>
                              </a:solidFill>
                              <a:latin typeface="Cambria Math" panose="02040503050406030204"/>
                            </a:rPr>
                            <m:t>𝒙</m:t>
                          </m:r>
                        </m:e>
                        <m:sup>
                          <m:r>
                            <a:rPr lang="en-US" altLang="zh-CN" sz="1400" b="1" i="1">
                              <a:solidFill>
                                <a:srgbClr val="FFFF00"/>
                              </a:solidFill>
                              <a:latin typeface="Cambria Math" panose="02040503050406030204"/>
                            </a:rPr>
                            <m:t>𝟎</m:t>
                          </m:r>
                        </m:sup>
                      </m:sSup>
                    </m:oMath>
                  </m:oMathPara>
                </a14:m>
                <a:endParaRPr lang="zh-CN" altLang="zh-CN" sz="1400" b="1" dirty="0">
                  <a:solidFill>
                    <a:srgbClr val="FFFF00"/>
                  </a:solidFill>
                  <a:latin typeface="华文楷体" panose="02010600040101010101" pitchFamily="2" charset="-122"/>
                  <a:ea typeface="华文楷体" panose="02010600040101010101" pitchFamily="2" charset="-122"/>
                </a:endParaRPr>
              </a:p>
            </p:txBody>
          </p:sp>
        </mc:Choice>
        <mc:Fallback xmlns="">
          <p:sp>
            <p:nvSpPr>
              <p:cNvPr id="20" name="矩形 19"/>
              <p:cNvSpPr>
                <a:spLocks noRot="1" noChangeAspect="1" noMove="1" noResize="1" noEditPoints="1" noAdjustHandles="1" noChangeArrowheads="1" noChangeShapeType="1" noTextEdit="1"/>
              </p:cNvSpPr>
              <p:nvPr/>
            </p:nvSpPr>
            <p:spPr>
              <a:xfrm>
                <a:off x="5308545" y="2686381"/>
                <a:ext cx="3442071" cy="312586"/>
              </a:xfrm>
              <a:prstGeom prst="rect">
                <a:avLst/>
              </a:prstGeom>
              <a:blipFill>
                <a:blip r:embed="rId4"/>
                <a:stretch>
                  <a:fillRect b="-1961"/>
                </a:stretch>
              </a:blipFill>
            </p:spPr>
            <p:txBody>
              <a:bodyPr/>
              <a:lstStyle/>
              <a:p>
                <a:r>
                  <a:rPr lang="zh-CN" altLang="en-US">
                    <a:noFill/>
                  </a:rPr>
                  <a:t> </a:t>
                </a:r>
              </a:p>
            </p:txBody>
          </p:sp>
        </mc:Fallback>
      </mc:AlternateContent>
      <p:sp>
        <p:nvSpPr>
          <p:cNvPr id="21" name="文本框 20"/>
          <p:cNvSpPr txBox="1"/>
          <p:nvPr/>
        </p:nvSpPr>
        <p:spPr>
          <a:xfrm>
            <a:off x="373599" y="1315249"/>
            <a:ext cx="5745690" cy="400110"/>
          </a:xfrm>
          <a:prstGeom prst="rect">
            <a:avLst/>
          </a:prstGeom>
          <a:noFill/>
        </p:spPr>
        <p:txBody>
          <a:bodyPr wrap="square">
            <a:spAutoFit/>
          </a:bodyPr>
          <a:lstStyle/>
          <a:p>
            <a:pPr algn="dist"/>
            <a:r>
              <a:rPr lang="zh-CN" altLang="en-US" sz="2000" b="1" dirty="0">
                <a:solidFill>
                  <a:srgbClr val="0070C0"/>
                </a:solidFill>
                <a:latin typeface="微软雅黑" panose="020B0503020204020204" pitchFamily="34" charset="-122"/>
                <a:ea typeface="微软雅黑" panose="020B0503020204020204" pitchFamily="34" charset="-122"/>
              </a:rPr>
              <a:t>多数曲线</a:t>
            </a:r>
            <a:r>
              <a:rPr lang="en-US" altLang="ko-KR" sz="2000" b="1" dirty="0" err="1">
                <a:solidFill>
                  <a:srgbClr val="0070C0"/>
                </a:solidFill>
                <a:latin typeface="微软雅黑" panose="020B0503020204020204" pitchFamily="34" charset="-122"/>
                <a:ea typeface="微软雅黑" panose="020B0503020204020204" pitchFamily="34" charset="-122"/>
              </a:rPr>
              <a:t>拟合</a:t>
            </a:r>
            <a:r>
              <a:rPr lang="zh-CN" altLang="en-US" sz="2000" b="1" dirty="0">
                <a:solidFill>
                  <a:srgbClr val="0070C0"/>
                </a:solidFill>
                <a:latin typeface="微软雅黑" panose="020B0503020204020204" pitchFamily="34" charset="-122"/>
                <a:ea typeface="微软雅黑" panose="020B0503020204020204" pitchFamily="34" charset="-122"/>
              </a:rPr>
              <a:t>最</a:t>
            </a:r>
            <a:r>
              <a:rPr lang="en-US" altLang="ko-KR" sz="2000" b="1" dirty="0" err="1">
                <a:solidFill>
                  <a:srgbClr val="0070C0"/>
                </a:solidFill>
                <a:latin typeface="微软雅黑" panose="020B0503020204020204" pitchFamily="34" charset="-122"/>
                <a:ea typeface="微软雅黑" panose="020B0503020204020204" pitchFamily="34" charset="-122"/>
              </a:rPr>
              <a:t>常用</a:t>
            </a:r>
            <a:r>
              <a:rPr lang="zh-CN" altLang="en-US" sz="2000" b="1" dirty="0">
                <a:solidFill>
                  <a:srgbClr val="0070C0"/>
                </a:solidFill>
                <a:latin typeface="微软雅黑" panose="020B0503020204020204" pitchFamily="34" charset="-122"/>
                <a:ea typeface="微软雅黑" panose="020B0503020204020204" pitchFamily="34" charset="-122"/>
              </a:rPr>
              <a:t>的是多项式形式</a:t>
            </a:r>
            <a:r>
              <a:rPr lang="en-US" altLang="ko-KR" sz="2000" b="1" dirty="0">
                <a:solidFill>
                  <a:srgbClr val="0070C0"/>
                </a:solidFill>
                <a:latin typeface="微软雅黑" panose="020B0503020204020204" pitchFamily="34" charset="-122"/>
                <a:ea typeface="微软雅黑" panose="020B0503020204020204" pitchFamily="34" charset="-122"/>
              </a:rPr>
              <a:t>,</a:t>
            </a:r>
            <a:r>
              <a:rPr lang="zh-CN" altLang="en-US" sz="2000" b="1" dirty="0">
                <a:solidFill>
                  <a:srgbClr val="0070C0"/>
                </a:solidFill>
                <a:latin typeface="微软雅黑" panose="020B0503020204020204" pitchFamily="34" charset="-122"/>
                <a:ea typeface="微软雅黑" panose="020B0503020204020204" pitchFamily="34" charset="-122"/>
              </a:rPr>
              <a:t>即</a:t>
            </a:r>
          </a:p>
        </p:txBody>
      </p:sp>
      <p:sp>
        <p:nvSpPr>
          <p:cNvPr id="22" name="文本框 21"/>
          <p:cNvSpPr txBox="1"/>
          <p:nvPr/>
        </p:nvSpPr>
        <p:spPr>
          <a:xfrm>
            <a:off x="4033548" y="2686381"/>
            <a:ext cx="1078936" cy="371512"/>
          </a:xfrm>
          <a:prstGeom prst="rect">
            <a:avLst/>
          </a:prstGeom>
          <a:solidFill>
            <a:srgbClr val="C0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2400" b="1" kern="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2000" dirty="0"/>
              <a:t>n=m-1</a:t>
            </a:r>
            <a:endParaRPr lang="zh-CN" altLang="en-US" sz="2000" dirty="0"/>
          </a:p>
        </p:txBody>
      </p:sp>
      <p:sp>
        <p:nvSpPr>
          <p:cNvPr id="23" name="文本框 22"/>
          <p:cNvSpPr txBox="1"/>
          <p:nvPr/>
        </p:nvSpPr>
        <p:spPr>
          <a:xfrm>
            <a:off x="6020385" y="3368293"/>
            <a:ext cx="2319448" cy="343620"/>
          </a:xfrm>
          <a:prstGeom prst="rect">
            <a:avLst/>
          </a:prstGeom>
          <a:solidFill>
            <a:srgbClr val="C0000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gn="dist">
              <a:lnSpc>
                <a:spcPct val="90000"/>
              </a:lnSpc>
              <a:defRPr sz="2400" b="1" kern="0">
                <a:solidFill>
                  <a:srgbClr val="FFFF00"/>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zh-CN" altLang="en-US" sz="1800" dirty="0"/>
              <a:t>向量</a:t>
            </a:r>
            <a:r>
              <a:rPr lang="en-US" altLang="ko-KR" sz="1800" dirty="0"/>
              <a:t>P=[a1,a2...an+1]</a:t>
            </a:r>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p:bldP spid="13" grpId="0"/>
      <p:bldP spid="15" grpId="0"/>
      <p:bldP spid="16" grpId="0" animBg="1"/>
      <p:bldP spid="20" grpId="0" animBg="1"/>
      <p:bldP spid="22"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3"/>
          <p:cNvSpPr txBox="1"/>
          <p:nvPr/>
        </p:nvSpPr>
        <p:spPr bwMode="auto">
          <a:xfrm>
            <a:off x="238372" y="2213302"/>
            <a:ext cx="5299541" cy="580878"/>
          </a:xfrm>
          <a:prstGeom prst="rect">
            <a:avLst/>
          </a:prstGeom>
          <a:solidFill>
            <a:schemeClr val="bg1"/>
          </a:solidFill>
          <a:ln w="0" cap="flat" cmpd="sng">
            <a:noFill/>
            <a:prstDash val="solid"/>
            <a:miter lim="800000"/>
          </a:ln>
        </p:spPr>
        <p:txBody>
          <a:bodyPr vert="horz" wrap="square" lIns="91440" tIns="45720" rIns="91440" bIns="45720" numCol="1" anchor="t" anchorCtr="0" compatLnSpc="1">
            <a:noAutofit/>
          </a:bodyPr>
          <a:lstStyle>
            <a:defPPr>
              <a:defRPr lang="zh-CN"/>
            </a:defPPr>
            <a:lvl1pPr marL="457200" indent="-457200" defTabSz="63500" eaLnBrk="0" hangingPunct="0">
              <a:lnSpc>
                <a:spcPts val="3300"/>
              </a:lnSpc>
              <a:spcBef>
                <a:spcPts val="600"/>
              </a:spcBef>
              <a:spcAft>
                <a:spcPts val="0"/>
              </a:spcAft>
              <a:buClr>
                <a:srgbClr val="0070C0"/>
              </a:buClr>
              <a:buFont typeface="+mj-ea"/>
              <a:buAutoNum type="circleNumDbPlain"/>
              <a:defRPr sz="2000" b="1">
                <a:solidFill>
                  <a:srgbClr val="0070C0"/>
                </a:solidFill>
                <a:latin typeface="微软雅黑" panose="020B0503020204020204" pitchFamily="34" charset="-122"/>
                <a:ea typeface="微软雅黑" panose="020B0503020204020204" pitchFamily="34" charset="-122"/>
              </a:defRPr>
            </a:lvl1pPr>
            <a:lvl2pPr marL="742950" indent="-285750" defTabSz="0" eaLnBrk="0" hangingPunct="0">
              <a:spcBef>
                <a:spcPct val="20000"/>
              </a:spcBef>
              <a:buFont typeface="Arial" panose="020B0604020202020204" pitchFamily="34" charset="0"/>
              <a:buChar char="–"/>
              <a:defRPr sz="2800">
                <a:latin typeface="+mn-lt"/>
                <a:ea typeface="+mn-ea"/>
              </a:defRPr>
            </a:lvl2pPr>
            <a:lvl3pPr marL="1143000" indent="-228600" defTabSz="0" eaLnBrk="0" hangingPunct="0">
              <a:spcBef>
                <a:spcPct val="20000"/>
              </a:spcBef>
              <a:buFont typeface="Arial" panose="020B0604020202020204" pitchFamily="34" charset="0"/>
              <a:buChar char="•"/>
              <a:defRPr sz="2400">
                <a:latin typeface="+mn-lt"/>
                <a:ea typeface="+mn-ea"/>
              </a:defRPr>
            </a:lvl3pPr>
            <a:lvl4pPr marL="1600200" indent="-228600" defTabSz="0" eaLnBrk="0" hangingPunct="0">
              <a:spcBef>
                <a:spcPct val="20000"/>
              </a:spcBef>
              <a:buFont typeface="Arial" panose="020B0604020202020204" pitchFamily="34" charset="0"/>
              <a:buChar char="–"/>
              <a:defRPr sz="2000">
                <a:latin typeface="+mn-lt"/>
                <a:ea typeface="+mn-ea"/>
              </a:defRPr>
            </a:lvl4pPr>
            <a:lvl5pPr marL="2057400" indent="-228600" defTabSz="0" eaLnBrk="0" hangingPunct="0">
              <a:spcBef>
                <a:spcPct val="20000"/>
              </a:spcBef>
              <a:buFont typeface="Arial" panose="020B0604020202020204" pitchFamily="34" charset="0"/>
              <a:buChar char="»"/>
              <a:defRPr sz="2000">
                <a:latin typeface="+mn-lt"/>
                <a:ea typeface="+mn-ea"/>
              </a:defRPr>
            </a:lvl5pPr>
            <a:lvl6pPr marL="2514600" indent="-228600" defTabSz="0" fontAlgn="base">
              <a:spcBef>
                <a:spcPct val="20000"/>
              </a:spcBef>
              <a:spcAft>
                <a:spcPct val="0"/>
              </a:spcAft>
              <a:buFont typeface="Arial" panose="020B0604020202020204" pitchFamily="34" charset="0"/>
              <a:buChar char="»"/>
              <a:defRPr sz="2000">
                <a:latin typeface="+mn-lt"/>
                <a:ea typeface="+mn-ea"/>
              </a:defRPr>
            </a:lvl6pPr>
            <a:lvl7pPr marL="2971800" indent="-228600" defTabSz="0" fontAlgn="base">
              <a:spcBef>
                <a:spcPct val="20000"/>
              </a:spcBef>
              <a:spcAft>
                <a:spcPct val="0"/>
              </a:spcAft>
              <a:buFont typeface="Arial" panose="020B0604020202020204" pitchFamily="34" charset="0"/>
              <a:buChar char="»"/>
              <a:defRPr sz="2000">
                <a:latin typeface="+mn-lt"/>
                <a:ea typeface="+mn-ea"/>
              </a:defRPr>
            </a:lvl7pPr>
            <a:lvl8pPr marL="3429000" indent="-228600" defTabSz="0" fontAlgn="base">
              <a:spcBef>
                <a:spcPct val="20000"/>
              </a:spcBef>
              <a:spcAft>
                <a:spcPct val="0"/>
              </a:spcAft>
              <a:buFont typeface="Arial" panose="020B0604020202020204" pitchFamily="34" charset="0"/>
              <a:buChar char="»"/>
              <a:defRPr sz="2000">
                <a:latin typeface="+mn-lt"/>
                <a:ea typeface="+mn-ea"/>
              </a:defRPr>
            </a:lvl8pPr>
            <a:lvl9pPr marL="3886200" indent="-228600" defTabSz="0" fontAlgn="base">
              <a:spcBef>
                <a:spcPct val="20000"/>
              </a:spcBef>
              <a:spcAft>
                <a:spcPct val="0"/>
              </a:spcAft>
              <a:buFont typeface="Arial" panose="020B0604020202020204" pitchFamily="34" charset="0"/>
              <a:buChar char="»"/>
              <a:defRPr sz="2000">
                <a:latin typeface="+mn-lt"/>
                <a:ea typeface="+mn-ea"/>
              </a:defRPr>
            </a:lvl9pPr>
          </a:lstStyle>
          <a:p>
            <a:pPr marL="0" indent="0">
              <a:buFont typeface="+mj-ea"/>
              <a:buAutoNum type="circleNumDbPlain" startAt="2"/>
            </a:pPr>
            <a:r>
              <a:rPr lang="zh-CN" altLang="en-US" sz="1600" dirty="0"/>
              <a:t> 考虑误差的拟合</a:t>
            </a:r>
            <a:r>
              <a:rPr lang="en-US" altLang="zh-CN" sz="1600" dirty="0" err="1"/>
              <a:t>polyfit</a:t>
            </a:r>
            <a:r>
              <a:rPr lang="zh-CN" altLang="en-US" sz="1600" dirty="0"/>
              <a:t>和求值</a:t>
            </a:r>
            <a:r>
              <a:rPr lang="en-US" altLang="zh-CN" sz="1600" dirty="0" err="1"/>
              <a:t>polyval</a:t>
            </a:r>
            <a:endParaRPr lang="zh-CN" altLang="en-US" sz="1600" dirty="0"/>
          </a:p>
        </p:txBody>
      </p:sp>
      <p:sp>
        <p:nvSpPr>
          <p:cNvPr id="14" name="Rectangle 3"/>
          <p:cNvSpPr txBox="1"/>
          <p:nvPr/>
        </p:nvSpPr>
        <p:spPr bwMode="auto">
          <a:xfrm>
            <a:off x="285225" y="679072"/>
            <a:ext cx="5566444" cy="503892"/>
          </a:xfrm>
          <a:prstGeom prst="rect">
            <a:avLst/>
          </a:prstGeom>
          <a:solidFill>
            <a:schemeClr val="bg1"/>
          </a:solidFill>
          <a:ln w="0" cap="flat" cmpd="sng">
            <a:noFill/>
            <a:prstDash val="solid"/>
            <a:miter lim="800000"/>
          </a:ln>
        </p:spPr>
        <p:txBody>
          <a:bodyPr vert="horz" wrap="square" lIns="91440" tIns="45720" rIns="91440" bIns="45720" numCol="1" anchor="t" anchorCtr="0" compatLnSpc="1">
            <a:noAutofit/>
          </a:bodyPr>
          <a:lstStyle>
            <a:defPPr>
              <a:defRPr lang="zh-CN"/>
            </a:defPPr>
            <a:lvl1pPr marL="0" indent="0" defTabSz="63500" eaLnBrk="0" hangingPunct="0">
              <a:lnSpc>
                <a:spcPts val="3300"/>
              </a:lnSpc>
              <a:spcBef>
                <a:spcPts val="600"/>
              </a:spcBef>
              <a:spcAft>
                <a:spcPts val="0"/>
              </a:spcAft>
              <a:buClr>
                <a:srgbClr val="FF0000"/>
              </a:buClr>
              <a:buFont typeface="Arial" panose="020B0604020202020204" pitchFamily="34" charset="0"/>
              <a:buNone/>
              <a:defRPr sz="2000" b="1">
                <a:solidFill>
                  <a:srgbClr val="00B0F0"/>
                </a:solidFill>
                <a:latin typeface="微软雅黑" panose="020B0503020204020204" pitchFamily="34" charset="-122"/>
                <a:ea typeface="微软雅黑" panose="020B0503020204020204" pitchFamily="34" charset="-122"/>
              </a:defRPr>
            </a:lvl1pPr>
            <a:lvl2pPr marL="742950" indent="-285750" defTabSz="0" eaLnBrk="0" hangingPunct="0">
              <a:spcBef>
                <a:spcPct val="20000"/>
              </a:spcBef>
              <a:buFont typeface="Arial" panose="020B0604020202020204" pitchFamily="34" charset="0"/>
              <a:buChar char="–"/>
              <a:defRPr sz="2800">
                <a:latin typeface="+mn-lt"/>
                <a:ea typeface="+mn-ea"/>
              </a:defRPr>
            </a:lvl2pPr>
            <a:lvl3pPr marL="1143000" indent="-228600" defTabSz="0" eaLnBrk="0" hangingPunct="0">
              <a:spcBef>
                <a:spcPct val="20000"/>
              </a:spcBef>
              <a:buFont typeface="Arial" panose="020B0604020202020204" pitchFamily="34" charset="0"/>
              <a:buChar char="•"/>
              <a:defRPr sz="2400">
                <a:latin typeface="+mn-lt"/>
                <a:ea typeface="+mn-ea"/>
              </a:defRPr>
            </a:lvl3pPr>
            <a:lvl4pPr marL="1600200" indent="-228600" defTabSz="0" eaLnBrk="0" hangingPunct="0">
              <a:spcBef>
                <a:spcPct val="20000"/>
              </a:spcBef>
              <a:buFont typeface="Arial" panose="020B0604020202020204" pitchFamily="34" charset="0"/>
              <a:buChar char="–"/>
              <a:defRPr sz="2000">
                <a:latin typeface="+mn-lt"/>
                <a:ea typeface="+mn-ea"/>
              </a:defRPr>
            </a:lvl4pPr>
            <a:lvl5pPr marL="2057400" indent="-228600" defTabSz="0" eaLnBrk="0" hangingPunct="0">
              <a:spcBef>
                <a:spcPct val="20000"/>
              </a:spcBef>
              <a:buFont typeface="Arial" panose="020B0604020202020204" pitchFamily="34" charset="0"/>
              <a:buChar char="»"/>
              <a:defRPr sz="2000">
                <a:latin typeface="+mn-lt"/>
                <a:ea typeface="+mn-ea"/>
              </a:defRPr>
            </a:lvl5pPr>
            <a:lvl6pPr marL="2514600" indent="-228600" defTabSz="0" fontAlgn="base">
              <a:spcBef>
                <a:spcPct val="20000"/>
              </a:spcBef>
              <a:spcAft>
                <a:spcPct val="0"/>
              </a:spcAft>
              <a:buFont typeface="Arial" panose="020B0604020202020204" pitchFamily="34" charset="0"/>
              <a:buChar char="»"/>
              <a:defRPr sz="2000">
                <a:latin typeface="+mn-lt"/>
                <a:ea typeface="+mn-ea"/>
              </a:defRPr>
            </a:lvl6pPr>
            <a:lvl7pPr marL="2971800" indent="-228600" defTabSz="0" fontAlgn="base">
              <a:spcBef>
                <a:spcPct val="20000"/>
              </a:spcBef>
              <a:spcAft>
                <a:spcPct val="0"/>
              </a:spcAft>
              <a:buFont typeface="Arial" panose="020B0604020202020204" pitchFamily="34" charset="0"/>
              <a:buChar char="»"/>
              <a:defRPr sz="2000">
                <a:latin typeface="+mn-lt"/>
                <a:ea typeface="+mn-ea"/>
              </a:defRPr>
            </a:lvl7pPr>
            <a:lvl8pPr marL="3429000" indent="-228600" defTabSz="0" fontAlgn="base">
              <a:spcBef>
                <a:spcPct val="20000"/>
              </a:spcBef>
              <a:spcAft>
                <a:spcPct val="0"/>
              </a:spcAft>
              <a:buFont typeface="Arial" panose="020B0604020202020204" pitchFamily="34" charset="0"/>
              <a:buChar char="»"/>
              <a:defRPr sz="2000">
                <a:latin typeface="+mn-lt"/>
                <a:ea typeface="+mn-ea"/>
              </a:defRPr>
            </a:lvl8pPr>
            <a:lvl9pPr marL="3886200" indent="-228600" defTabSz="0" fontAlgn="base">
              <a:spcBef>
                <a:spcPct val="20000"/>
              </a:spcBef>
              <a:spcAft>
                <a:spcPct val="0"/>
              </a:spcAft>
              <a:buFont typeface="Arial" panose="020B0604020202020204" pitchFamily="34" charset="0"/>
              <a:buChar char="»"/>
              <a:defRPr sz="2000">
                <a:latin typeface="+mn-lt"/>
                <a:ea typeface="+mn-ea"/>
              </a:defRPr>
            </a:lvl9pPr>
          </a:lstStyle>
          <a:p>
            <a:pPr>
              <a:lnSpc>
                <a:spcPts val="2200"/>
              </a:lnSpc>
              <a:buClr>
                <a:srgbClr val="0070C0"/>
              </a:buClr>
              <a:buFont typeface="+mj-ea"/>
              <a:buAutoNum type="circleNumDbPlain"/>
            </a:pPr>
            <a:r>
              <a:rPr lang="zh-CN" altLang="en-US" sz="1600" dirty="0">
                <a:solidFill>
                  <a:srgbClr val="0070C0"/>
                </a:solidFill>
              </a:rPr>
              <a:t> 不考虑误差的多项式拟合</a:t>
            </a:r>
            <a:r>
              <a:rPr lang="en-US" altLang="zh-CN" sz="1600" dirty="0" err="1">
                <a:solidFill>
                  <a:srgbClr val="0070C0"/>
                </a:solidFill>
              </a:rPr>
              <a:t>polyfit</a:t>
            </a:r>
            <a:r>
              <a:rPr lang="zh-CN" altLang="en-US" sz="1600" dirty="0">
                <a:solidFill>
                  <a:srgbClr val="0070C0"/>
                </a:solidFill>
              </a:rPr>
              <a:t>和求值</a:t>
            </a:r>
            <a:r>
              <a:rPr lang="en-US" altLang="zh-CN" sz="1600" dirty="0" err="1">
                <a:solidFill>
                  <a:srgbClr val="0070C0"/>
                </a:solidFill>
              </a:rPr>
              <a:t>polyval</a:t>
            </a:r>
            <a:endParaRPr lang="zh-CN" altLang="en-US" sz="1600" dirty="0">
              <a:solidFill>
                <a:srgbClr val="0070C0"/>
              </a:solidFill>
            </a:endParaRPr>
          </a:p>
        </p:txBody>
      </p:sp>
      <p:sp>
        <p:nvSpPr>
          <p:cNvPr id="6" name="Text Box 4"/>
          <p:cNvSpPr txBox="1"/>
          <p:nvPr/>
        </p:nvSpPr>
        <p:spPr bwMode="auto">
          <a:xfrm>
            <a:off x="590688" y="2797787"/>
            <a:ext cx="2049640"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r>
              <a:rPr lang="en-US" altLang="ko-KR" sz="1600" b="0" dirty="0">
                <a:latin typeface="微软雅黑" panose="020B0503020204020204" pitchFamily="34" charset="-122"/>
                <a:ea typeface="微软雅黑" panose="020B0503020204020204" pitchFamily="34" charset="-122"/>
              </a:rPr>
              <a:t>p,   = </a:t>
            </a:r>
            <a:r>
              <a:rPr lang="en-US" altLang="ko-KR" sz="1600" b="0" dirty="0" err="1">
                <a:latin typeface="微软雅黑" panose="020B0503020204020204" pitchFamily="34" charset="-122"/>
                <a:ea typeface="微软雅黑" panose="020B0503020204020204" pitchFamily="34" charset="-122"/>
              </a:rPr>
              <a:t>polyfit</a:t>
            </a:r>
            <a:r>
              <a:rPr lang="en-US" altLang="ko-KR" sz="1600" b="0" dirty="0">
                <a:latin typeface="微软雅黑" panose="020B0503020204020204" pitchFamily="34" charset="-122"/>
                <a:ea typeface="微软雅黑" panose="020B0503020204020204" pitchFamily="34" charset="-122"/>
              </a:rPr>
              <a:t>(x,y,n)</a:t>
            </a:r>
            <a:endParaRPr lang="ko-KR" altLang="en-US" sz="1600" b="0" dirty="0">
              <a:latin typeface="微软雅黑" panose="020B0503020204020204" pitchFamily="34" charset="-122"/>
            </a:endParaRPr>
          </a:p>
        </p:txBody>
      </p:sp>
      <p:sp>
        <p:nvSpPr>
          <p:cNvPr id="8" name="矩形 7"/>
          <p:cNvSpPr/>
          <p:nvPr/>
        </p:nvSpPr>
        <p:spPr>
          <a:xfrm rot="21333131">
            <a:off x="7309969" y="2221512"/>
            <a:ext cx="184731" cy="523220"/>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endParaRPr lang="en-US" altLang="zh-CN" sz="2800" b="1" cap="none" dirty="0">
              <a:solidFill>
                <a:srgbClr val="FFFF00"/>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endParaRPr>
          </a:p>
        </p:txBody>
      </p:sp>
      <p:sp>
        <p:nvSpPr>
          <p:cNvPr id="9" name="Text Box 4"/>
          <p:cNvSpPr txBox="1"/>
          <p:nvPr/>
        </p:nvSpPr>
        <p:spPr bwMode="auto">
          <a:xfrm>
            <a:off x="575514" y="1103609"/>
            <a:ext cx="2088232"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000" b="1" kern="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defRPr>
            </a:lvl1pPr>
          </a:lstStyle>
          <a:p>
            <a:r>
              <a:rPr lang="en-US" altLang="zh-CN" sz="1600" b="0" dirty="0">
                <a:effectLst/>
              </a:rPr>
              <a:t>p</a:t>
            </a:r>
            <a:r>
              <a:rPr lang="zh-CN" altLang="en-US" sz="1600" b="0" dirty="0">
                <a:effectLst/>
              </a:rPr>
              <a:t>，</a:t>
            </a:r>
            <a:r>
              <a:rPr lang="en-US" altLang="ko-KR" sz="1600" b="0" dirty="0">
                <a:effectLst/>
              </a:rPr>
              <a:t> = polyfit(</a:t>
            </a:r>
            <a:r>
              <a:rPr lang="en-US" altLang="ko-KR" sz="1600" b="0" dirty="0" err="1">
                <a:effectLst/>
              </a:rPr>
              <a:t>x,y,n</a:t>
            </a:r>
            <a:r>
              <a:rPr lang="en-US" altLang="ko-KR" sz="1600" b="0" dirty="0">
                <a:effectLst/>
              </a:rPr>
              <a:t>)</a:t>
            </a:r>
            <a:endParaRPr lang="ko-KR" altLang="en-US" sz="1600" b="0" dirty="0">
              <a:effectLst/>
            </a:endParaRPr>
          </a:p>
        </p:txBody>
      </p:sp>
      <p:sp>
        <p:nvSpPr>
          <p:cNvPr id="10" name="Rectangle 3"/>
          <p:cNvSpPr txBox="1"/>
          <p:nvPr/>
        </p:nvSpPr>
        <p:spPr bwMode="auto">
          <a:xfrm>
            <a:off x="2824480" y="999943"/>
            <a:ext cx="5971901" cy="796207"/>
          </a:xfrm>
          <a:prstGeom prst="rect">
            <a:avLst/>
          </a:prstGeom>
          <a:noFill/>
          <a:ln w="0" cap="flat" cmpd="sng">
            <a:noFill/>
            <a:prstDash val="solid"/>
            <a:miter lim="800000"/>
          </a:ln>
        </p:spPr>
        <p:txBody>
          <a:bodyPr vert="horz" wrap="square" lIns="91440" tIns="45720" rIns="91440" bIns="45720" numCol="1" anchor="t" anchorCtr="0" compatLnSpc="1">
            <a:noAutofit/>
          </a:bodyPr>
          <a:lstStyle>
            <a:defPPr>
              <a:defRPr lang="zh-CN"/>
            </a:defPPr>
            <a:lvl1pPr marL="0" indent="0" defTabSz="63500" eaLnBrk="0" hangingPunct="0">
              <a:lnSpc>
                <a:spcPts val="3300"/>
              </a:lnSpc>
              <a:spcBef>
                <a:spcPts val="600"/>
              </a:spcBef>
              <a:spcAft>
                <a:spcPts val="0"/>
              </a:spcAft>
              <a:buClr>
                <a:srgbClr val="FF0000"/>
              </a:buClr>
              <a:buFont typeface="Arial" panose="020B0604020202020204" pitchFamily="34" charset="0"/>
              <a:buNone/>
              <a:defRPr sz="1800" b="1" kern="0">
                <a:solidFill>
                  <a:srgbClr val="002060"/>
                </a:solidFill>
                <a:latin typeface="等线 Light" panose="02010600030101010101" pitchFamily="2" charset="-122"/>
                <a:ea typeface="等线 Light" panose="02010600030101010101" pitchFamily="2" charset="-122"/>
              </a:defRPr>
            </a:lvl1pPr>
            <a:lvl2pPr marL="742950" indent="-285750" defTabSz="0" eaLnBrk="0" hangingPunct="0">
              <a:spcBef>
                <a:spcPct val="20000"/>
              </a:spcBef>
              <a:buFont typeface="Arial" panose="020B0604020202020204" pitchFamily="34" charset="0"/>
              <a:buChar char="–"/>
              <a:defRPr sz="2800">
                <a:latin typeface="+mn-lt"/>
                <a:ea typeface="+mn-ea"/>
              </a:defRPr>
            </a:lvl2pPr>
            <a:lvl3pPr marL="1143000" indent="-228600" defTabSz="0" eaLnBrk="0" hangingPunct="0">
              <a:spcBef>
                <a:spcPct val="20000"/>
              </a:spcBef>
              <a:buFont typeface="Arial" panose="020B0604020202020204" pitchFamily="34" charset="0"/>
              <a:buChar char="•"/>
              <a:defRPr sz="2400">
                <a:latin typeface="+mn-lt"/>
                <a:ea typeface="+mn-ea"/>
              </a:defRPr>
            </a:lvl3pPr>
            <a:lvl4pPr marL="1600200" indent="-228600" defTabSz="0" eaLnBrk="0" hangingPunct="0">
              <a:spcBef>
                <a:spcPct val="20000"/>
              </a:spcBef>
              <a:buFont typeface="Arial" panose="020B0604020202020204" pitchFamily="34" charset="0"/>
              <a:buChar char="–"/>
              <a:defRPr sz="2000">
                <a:latin typeface="+mn-lt"/>
                <a:ea typeface="+mn-ea"/>
              </a:defRPr>
            </a:lvl4pPr>
            <a:lvl5pPr marL="2057400" indent="-228600" defTabSz="0" eaLnBrk="0" hangingPunct="0">
              <a:spcBef>
                <a:spcPct val="20000"/>
              </a:spcBef>
              <a:buFont typeface="Arial" panose="020B0604020202020204" pitchFamily="34" charset="0"/>
              <a:buChar char="»"/>
              <a:defRPr sz="2000">
                <a:latin typeface="+mn-lt"/>
                <a:ea typeface="+mn-ea"/>
              </a:defRPr>
            </a:lvl5pPr>
            <a:lvl6pPr marL="2514600" indent="-228600" defTabSz="0" fontAlgn="base">
              <a:spcBef>
                <a:spcPct val="20000"/>
              </a:spcBef>
              <a:spcAft>
                <a:spcPct val="0"/>
              </a:spcAft>
              <a:buFont typeface="Arial" panose="020B0604020202020204" pitchFamily="34" charset="0"/>
              <a:buChar char="»"/>
              <a:defRPr sz="2000">
                <a:latin typeface="+mn-lt"/>
                <a:ea typeface="+mn-ea"/>
              </a:defRPr>
            </a:lvl6pPr>
            <a:lvl7pPr marL="2971800" indent="-228600" defTabSz="0" fontAlgn="base">
              <a:spcBef>
                <a:spcPct val="20000"/>
              </a:spcBef>
              <a:spcAft>
                <a:spcPct val="0"/>
              </a:spcAft>
              <a:buFont typeface="Arial" panose="020B0604020202020204" pitchFamily="34" charset="0"/>
              <a:buChar char="»"/>
              <a:defRPr sz="2000">
                <a:latin typeface="+mn-lt"/>
                <a:ea typeface="+mn-ea"/>
              </a:defRPr>
            </a:lvl7pPr>
            <a:lvl8pPr marL="3429000" indent="-228600" defTabSz="0" fontAlgn="base">
              <a:spcBef>
                <a:spcPct val="20000"/>
              </a:spcBef>
              <a:spcAft>
                <a:spcPct val="0"/>
              </a:spcAft>
              <a:buFont typeface="Arial" panose="020B0604020202020204" pitchFamily="34" charset="0"/>
              <a:buChar char="»"/>
              <a:defRPr sz="2000">
                <a:latin typeface="+mn-lt"/>
                <a:ea typeface="+mn-ea"/>
              </a:defRPr>
            </a:lvl8pPr>
            <a:lvl9pPr marL="3886200" indent="-228600" defTabSz="0" fontAlgn="base">
              <a:spcBef>
                <a:spcPct val="20000"/>
              </a:spcBef>
              <a:spcAft>
                <a:spcPct val="0"/>
              </a:spcAft>
              <a:buFont typeface="Arial" panose="020B0604020202020204" pitchFamily="34" charset="0"/>
              <a:buChar char="»"/>
              <a:defRPr sz="2000">
                <a:latin typeface="+mn-lt"/>
                <a:ea typeface="+mn-ea"/>
              </a:defRPr>
            </a:lvl9pPr>
          </a:lstStyle>
          <a:p>
            <a:pPr>
              <a:lnSpc>
                <a:spcPts val="2100"/>
              </a:lnSpc>
              <a:spcBef>
                <a:spcPts val="0"/>
              </a:spcBef>
              <a:buFont typeface="Wingdings" panose="05000000000000000000" pitchFamily="2" charset="2"/>
              <a:buChar char="p"/>
            </a:pPr>
            <a:r>
              <a:rPr lang="en-US" altLang="ko-KR" b="0" dirty="0">
                <a:latin typeface="华文楷体" panose="02010600040101010101" pitchFamily="2" charset="-122"/>
                <a:ea typeface="华文楷体" panose="02010600040101010101" pitchFamily="2" charset="-122"/>
              </a:rPr>
              <a:t> </a:t>
            </a:r>
            <a:r>
              <a:rPr lang="en-US" altLang="ko-KR" b="0" dirty="0" err="1">
                <a:latin typeface="华文楷体" panose="02010600040101010101" pitchFamily="2" charset="-122"/>
                <a:ea typeface="华文楷体" panose="02010600040101010101" pitchFamily="2" charset="-122"/>
              </a:rPr>
              <a:t>x、y</a:t>
            </a:r>
            <a:r>
              <a:rPr lang="zh-CN" altLang="en-US" b="0" dirty="0">
                <a:latin typeface="华文楷体" panose="02010600040101010101" pitchFamily="2" charset="-122"/>
                <a:ea typeface="华文楷体" panose="02010600040101010101" pitchFamily="2" charset="-122"/>
              </a:rPr>
              <a:t>为</a:t>
            </a:r>
            <a:r>
              <a:rPr lang="en-US" altLang="ko-KR" b="0" dirty="0" err="1">
                <a:latin typeface="华文楷体" panose="02010600040101010101" pitchFamily="2" charset="-122"/>
                <a:ea typeface="华文楷体" panose="02010600040101010101" pitchFamily="2" charset="-122"/>
              </a:rPr>
              <a:t>已知横、纵坐标</a:t>
            </a:r>
            <a:r>
              <a:rPr lang="zh-CN" altLang="en-US" b="0" dirty="0">
                <a:latin typeface="华文楷体" panose="02010600040101010101" pitchFamily="2" charset="-122"/>
                <a:ea typeface="华文楷体" panose="02010600040101010101" pitchFamily="2" charset="-122"/>
              </a:rPr>
              <a:t>的采样点</a:t>
            </a:r>
            <a:r>
              <a:rPr lang="en-US" altLang="ko-KR" b="0" dirty="0" err="1">
                <a:latin typeface="华文楷体" panose="02010600040101010101" pitchFamily="2" charset="-122"/>
                <a:ea typeface="华文楷体" panose="02010600040101010101" pitchFamily="2" charset="-122"/>
              </a:rPr>
              <a:t>数据</a:t>
            </a:r>
            <a:r>
              <a:rPr lang="zh-CN" altLang="en-US" b="0" dirty="0">
                <a:latin typeface="华文楷体" panose="02010600040101010101" pitchFamily="2" charset="-122"/>
                <a:ea typeface="华文楷体" panose="02010600040101010101" pitchFamily="2" charset="-122"/>
              </a:rPr>
              <a:t>，必须</a:t>
            </a:r>
            <a:r>
              <a:rPr lang="zh-CN" altLang="en-US" b="0" dirty="0">
                <a:solidFill>
                  <a:srgbClr val="FF0000"/>
                </a:solidFill>
                <a:latin typeface="微软雅黑" panose="020B0503020204020204" pitchFamily="34" charset="-122"/>
                <a:ea typeface="微软雅黑" panose="020B0503020204020204" pitchFamily="34" charset="-122"/>
              </a:rPr>
              <a:t>列向量</a:t>
            </a:r>
            <a:r>
              <a:rPr lang="en-US" altLang="ko-KR" b="0" dirty="0">
                <a:solidFill>
                  <a:srgbClr val="FF0000"/>
                </a:solidFill>
                <a:latin typeface="微软雅黑" panose="020B0503020204020204" pitchFamily="34" charset="-122"/>
                <a:ea typeface="微软雅黑" panose="020B0503020204020204" pitchFamily="34" charset="-122"/>
              </a:rPr>
              <a:t> </a:t>
            </a:r>
            <a:endParaRPr lang="ko-KR" altLang="en-US" b="0" dirty="0">
              <a:solidFill>
                <a:srgbClr val="FF0000"/>
              </a:solidFill>
              <a:latin typeface="微软雅黑" panose="020B0503020204020204" pitchFamily="34" charset="-122"/>
            </a:endParaRPr>
          </a:p>
          <a:p>
            <a:pPr>
              <a:lnSpc>
                <a:spcPts val="2100"/>
              </a:lnSpc>
              <a:spcBef>
                <a:spcPts val="0"/>
              </a:spcBef>
              <a:buFont typeface="Wingdings" panose="05000000000000000000" pitchFamily="2" charset="2"/>
              <a:buChar char="p"/>
            </a:pPr>
            <a:r>
              <a:rPr lang="en-US" altLang="ko-KR" b="0" dirty="0">
                <a:latin typeface="华文楷体" panose="02010600040101010101" pitchFamily="2" charset="-122"/>
                <a:ea typeface="华文楷体" panose="02010600040101010101" pitchFamily="2" charset="-122"/>
              </a:rPr>
              <a:t> </a:t>
            </a:r>
            <a:r>
              <a:rPr lang="en-US" altLang="ko-KR" b="0" dirty="0" err="1">
                <a:latin typeface="华文楷体" panose="02010600040101010101" pitchFamily="2" charset="-122"/>
                <a:ea typeface="华文楷体" panose="02010600040101010101" pitchFamily="2" charset="-122"/>
              </a:rPr>
              <a:t>n为拟合的多项式次数</a:t>
            </a:r>
            <a:r>
              <a:rPr lang="zh-CN" altLang="en-US" b="0" dirty="0">
                <a:latin typeface="华文楷体" panose="02010600040101010101" pitchFamily="2" charset="-122"/>
                <a:ea typeface="华文楷体" panose="02010600040101010101" pitchFamily="2" charset="-122"/>
              </a:rPr>
              <a:t>；</a:t>
            </a:r>
            <a:endParaRPr lang="en-US" altLang="zh-CN" b="0" dirty="0">
              <a:latin typeface="华文楷体" panose="02010600040101010101" pitchFamily="2" charset="-122"/>
              <a:ea typeface="华文楷体" panose="02010600040101010101" pitchFamily="2" charset="-122"/>
            </a:endParaRPr>
          </a:p>
          <a:p>
            <a:pPr>
              <a:lnSpc>
                <a:spcPts val="2100"/>
              </a:lnSpc>
              <a:spcBef>
                <a:spcPts val="0"/>
              </a:spcBef>
              <a:buFont typeface="Wingdings" panose="05000000000000000000" pitchFamily="2" charset="2"/>
              <a:buChar char="p"/>
            </a:pPr>
            <a:r>
              <a:rPr lang="en-US" altLang="ko-KR" b="0" dirty="0">
                <a:latin typeface="华文楷体" panose="02010600040101010101" pitchFamily="2" charset="-122"/>
                <a:ea typeface="华文楷体" panose="02010600040101010101" pitchFamily="2" charset="-122"/>
              </a:rPr>
              <a:t> p</a:t>
            </a:r>
            <a:r>
              <a:rPr lang="zh-CN" altLang="en-US" b="0" dirty="0">
                <a:latin typeface="华文楷体" panose="02010600040101010101" pitchFamily="2" charset="-122"/>
                <a:ea typeface="华文楷体" panose="02010600040101010101" pitchFamily="2" charset="-122"/>
              </a:rPr>
              <a:t>是</a:t>
            </a:r>
            <a:r>
              <a:rPr lang="en-US" altLang="zh-CN" b="0" dirty="0">
                <a:latin typeface="华文楷体" panose="02010600040101010101" pitchFamily="2" charset="-122"/>
                <a:ea typeface="华文楷体" panose="02010600040101010101" pitchFamily="2" charset="-122"/>
              </a:rPr>
              <a:t>n</a:t>
            </a:r>
            <a:r>
              <a:rPr lang="zh-CN" altLang="en-US" b="0" dirty="0">
                <a:latin typeface="华文楷体" panose="02010600040101010101" pitchFamily="2" charset="-122"/>
                <a:ea typeface="华文楷体" panose="02010600040101010101" pitchFamily="2" charset="-122"/>
              </a:rPr>
              <a:t>次多项式的系数向量</a:t>
            </a:r>
            <a:r>
              <a:rPr lang="en-US" altLang="zh-CN" b="0" dirty="0">
                <a:latin typeface="华文楷体" panose="02010600040101010101" pitchFamily="2" charset="-122"/>
                <a:ea typeface="华文楷体" panose="02010600040101010101" pitchFamily="2" charset="-122"/>
              </a:rPr>
              <a:t>,</a:t>
            </a:r>
            <a:r>
              <a:rPr lang="zh-CN" altLang="en-US" b="0" dirty="0">
                <a:latin typeface="华文楷体" panose="02010600040101010101" pitchFamily="2" charset="-122"/>
                <a:ea typeface="华文楷体" panose="02010600040101010101" pitchFamily="2" charset="-122"/>
              </a:rPr>
              <a:t>要求</a:t>
            </a:r>
            <a:r>
              <a:rPr lang="en-US" altLang="zh-CN" b="0" dirty="0">
                <a:latin typeface="华文楷体" panose="02010600040101010101" pitchFamily="2" charset="-122"/>
                <a:ea typeface="华文楷体" panose="02010600040101010101" pitchFamily="2" charset="-122"/>
              </a:rPr>
              <a:t>p</a:t>
            </a:r>
            <a:r>
              <a:rPr lang="zh-CN" altLang="en-US" b="0" dirty="0">
                <a:latin typeface="华文楷体" panose="02010600040101010101" pitchFamily="2" charset="-122"/>
                <a:ea typeface="华文楷体" panose="02010600040101010101" pitchFamily="2" charset="-122"/>
              </a:rPr>
              <a:t>后面加逗号</a:t>
            </a:r>
            <a:endParaRPr lang="en-US" altLang="zh-CN" b="0" dirty="0">
              <a:latin typeface="华文楷体" panose="02010600040101010101" pitchFamily="2" charset="-122"/>
              <a:ea typeface="华文楷体" panose="02010600040101010101" pitchFamily="2" charset="-122"/>
            </a:endParaRPr>
          </a:p>
        </p:txBody>
      </p:sp>
      <p:sp>
        <p:nvSpPr>
          <p:cNvPr id="12" name="Rectangle 3"/>
          <p:cNvSpPr txBox="1"/>
          <p:nvPr/>
        </p:nvSpPr>
        <p:spPr bwMode="auto">
          <a:xfrm>
            <a:off x="2289936" y="1818091"/>
            <a:ext cx="3125287" cy="503892"/>
          </a:xfrm>
          <a:prstGeom prst="rect">
            <a:avLst/>
          </a:prstGeom>
          <a:noFill/>
          <a:ln w="0" cap="flat" cmpd="sng">
            <a:noFill/>
            <a:prstDash val="solid"/>
            <a:miter lim="800000"/>
          </a:ln>
        </p:spPr>
        <p:txBody>
          <a:bodyPr vert="horz" wrap="square" lIns="91440" tIns="45720" rIns="91440" bIns="45720" numCol="1" anchor="t" anchorCtr="0" compatLnSpc="1">
            <a:noAutofit/>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defTabSz="63500">
              <a:lnSpc>
                <a:spcPts val="3300"/>
              </a:lnSpc>
              <a:spcBef>
                <a:spcPts val="600"/>
              </a:spcBef>
              <a:spcAft>
                <a:spcPts val="0"/>
              </a:spcAft>
              <a:buClr>
                <a:srgbClr val="FF0000"/>
              </a:buClr>
              <a:buNone/>
            </a:pPr>
            <a:r>
              <a:rPr lang="zh-CN" altLang="en-US" sz="1600" b="1" dirty="0">
                <a:solidFill>
                  <a:srgbClr val="0070C0"/>
                </a:solidFill>
                <a:latin typeface="微软雅黑" panose="020B0503020204020204" pitchFamily="34" charset="-122"/>
                <a:ea typeface="微软雅黑" panose="020B0503020204020204" pitchFamily="34" charset="-122"/>
              </a:rPr>
              <a:t>求拟合多项式</a:t>
            </a:r>
            <a:r>
              <a:rPr lang="en-US" altLang="zh-CN" sz="1600" b="1" dirty="0">
                <a:solidFill>
                  <a:srgbClr val="0070C0"/>
                </a:solidFill>
                <a:latin typeface="微软雅黑" panose="020B0503020204020204" pitchFamily="34" charset="-122"/>
                <a:ea typeface="微软雅黑" panose="020B0503020204020204" pitchFamily="34" charset="-122"/>
              </a:rPr>
              <a:t>p</a:t>
            </a:r>
            <a:r>
              <a:rPr lang="zh-CN" altLang="en-US" sz="1600" b="1" dirty="0">
                <a:solidFill>
                  <a:srgbClr val="0070C0"/>
                </a:solidFill>
                <a:latin typeface="微软雅黑" panose="020B0503020204020204" pitchFamily="34" charset="-122"/>
                <a:ea typeface="微软雅黑" panose="020B0503020204020204" pitchFamily="34" charset="-122"/>
              </a:rPr>
              <a:t>在</a:t>
            </a:r>
            <a:r>
              <a:rPr lang="en-US" altLang="zh-CN" sz="1600" b="1" dirty="0">
                <a:solidFill>
                  <a:srgbClr val="0070C0"/>
                </a:solidFill>
                <a:latin typeface="微软雅黑" panose="020B0503020204020204" pitchFamily="34" charset="-122"/>
                <a:ea typeface="微软雅黑" panose="020B0503020204020204" pitchFamily="34" charset="-122"/>
              </a:rPr>
              <a:t>x</a:t>
            </a:r>
            <a:r>
              <a:rPr lang="zh-CN" altLang="en-US" sz="1600" b="1" dirty="0">
                <a:solidFill>
                  <a:srgbClr val="0070C0"/>
                </a:solidFill>
                <a:latin typeface="微软雅黑" panose="020B0503020204020204" pitchFamily="34" charset="-122"/>
                <a:ea typeface="微软雅黑" panose="020B0503020204020204" pitchFamily="34" charset="-122"/>
              </a:rPr>
              <a:t>处的预测值</a:t>
            </a:r>
            <a:r>
              <a:rPr lang="en-US" altLang="zh-CN" sz="1600" b="1" dirty="0">
                <a:solidFill>
                  <a:srgbClr val="0070C0"/>
                </a:solidFill>
                <a:latin typeface="微软雅黑" panose="020B0503020204020204" pitchFamily="34" charset="-122"/>
                <a:ea typeface="微软雅黑" panose="020B0503020204020204" pitchFamily="34" charset="-122"/>
              </a:rPr>
              <a:t>Y</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3" name="Text Box 4"/>
          <p:cNvSpPr txBox="1"/>
          <p:nvPr/>
        </p:nvSpPr>
        <p:spPr bwMode="auto">
          <a:xfrm>
            <a:off x="576758" y="1933172"/>
            <a:ext cx="1713178"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r>
              <a:rPr lang="en-US" altLang="zh-CN" sz="1600" b="0" dirty="0">
                <a:latin typeface="微软雅黑" panose="020B0503020204020204" pitchFamily="34" charset="-122"/>
                <a:ea typeface="微软雅黑" panose="020B0503020204020204" pitchFamily="34" charset="-122"/>
              </a:rPr>
              <a:t>Y</a:t>
            </a:r>
            <a:r>
              <a:rPr lang="zh-CN" altLang="zh-CN" sz="1600" b="0" dirty="0">
                <a:latin typeface="微软雅黑" panose="020B0503020204020204" pitchFamily="34" charset="-122"/>
                <a:ea typeface="微软雅黑" panose="020B0503020204020204" pitchFamily="34" charset="-122"/>
              </a:rPr>
              <a:t>=polyval(p,</a:t>
            </a:r>
            <a:r>
              <a:rPr lang="en-US" altLang="zh-CN" sz="1600" b="0" dirty="0">
                <a:latin typeface="微软雅黑" panose="020B0503020204020204" pitchFamily="34" charset="-122"/>
                <a:ea typeface="微软雅黑" panose="020B0503020204020204" pitchFamily="34" charset="-122"/>
              </a:rPr>
              <a:t>x</a:t>
            </a:r>
            <a:r>
              <a:rPr lang="zh-CN" altLang="zh-CN" sz="1600" b="0" dirty="0">
                <a:latin typeface="微软雅黑" panose="020B0503020204020204" pitchFamily="34" charset="-122"/>
                <a:ea typeface="微软雅黑" panose="020B0503020204020204" pitchFamily="34" charset="-122"/>
              </a:rPr>
              <a:t>)</a:t>
            </a:r>
            <a:endParaRPr lang="ko-KR" altLang="en-US" sz="1600" b="0" dirty="0">
              <a:latin typeface="微软雅黑" panose="020B0503020204020204" pitchFamily="34" charset="-122"/>
            </a:endParaRPr>
          </a:p>
        </p:txBody>
      </p:sp>
      <p:sp>
        <p:nvSpPr>
          <p:cNvPr id="15" name="Text Box 4"/>
          <p:cNvSpPr txBox="1"/>
          <p:nvPr/>
        </p:nvSpPr>
        <p:spPr bwMode="auto">
          <a:xfrm>
            <a:off x="570911" y="3497662"/>
            <a:ext cx="2468048" cy="3139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32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r>
              <a:rPr lang="en-US" altLang="zh-CN" sz="1600" b="0" dirty="0">
                <a:latin typeface="微软雅黑" panose="020B0503020204020204" pitchFamily="34" charset="-122"/>
                <a:ea typeface="微软雅黑" panose="020B0503020204020204" pitchFamily="34" charset="-122"/>
              </a:rPr>
              <a:t>Y</a:t>
            </a:r>
            <a:r>
              <a:rPr lang="zh-CN" altLang="zh-CN"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       </a:t>
            </a:r>
            <a:r>
              <a:rPr lang="zh-CN" altLang="zh-CN" sz="1600" b="0" dirty="0">
                <a:latin typeface="微软雅黑" panose="020B0503020204020204" pitchFamily="34" charset="-122"/>
                <a:ea typeface="微软雅黑" panose="020B0503020204020204" pitchFamily="34" charset="-122"/>
              </a:rPr>
              <a:t>=polyval(p,</a:t>
            </a:r>
            <a:r>
              <a:rPr lang="en-US" altLang="zh-CN" sz="1600" b="0" dirty="0">
                <a:latin typeface="微软雅黑" panose="020B0503020204020204" pitchFamily="34" charset="-122"/>
                <a:ea typeface="微软雅黑" panose="020B0503020204020204" pitchFamily="34" charset="-122"/>
              </a:rPr>
              <a:t>x</a:t>
            </a:r>
            <a:r>
              <a:rPr lang="zh-CN" altLang="zh-CN"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    </a:t>
            </a:r>
            <a:r>
              <a:rPr lang="zh-CN" altLang="zh-CN" sz="1600" b="0" dirty="0">
                <a:latin typeface="微软雅黑" panose="020B0503020204020204" pitchFamily="34" charset="-122"/>
                <a:ea typeface="微软雅黑" panose="020B0503020204020204" pitchFamily="34" charset="-122"/>
              </a:rPr>
              <a:t>)</a:t>
            </a:r>
            <a:r>
              <a:rPr lang="en-US" altLang="zh-CN" sz="1600" b="0" dirty="0">
                <a:latin typeface="微软雅黑" panose="020B0503020204020204" pitchFamily="34" charset="-122"/>
                <a:ea typeface="微软雅黑" panose="020B0503020204020204" pitchFamily="34" charset="-122"/>
              </a:rPr>
              <a:t> </a:t>
            </a:r>
            <a:endParaRPr lang="ko-KR" altLang="en-US" sz="1600" b="0" dirty="0">
              <a:latin typeface="微软雅黑" panose="020B0503020204020204" pitchFamily="34" charset="-122"/>
            </a:endParaRPr>
          </a:p>
        </p:txBody>
      </p:sp>
      <p:sp>
        <p:nvSpPr>
          <p:cNvPr id="16" name="矩形 15"/>
          <p:cNvSpPr/>
          <p:nvPr/>
        </p:nvSpPr>
        <p:spPr>
          <a:xfrm>
            <a:off x="787420" y="3449965"/>
            <a:ext cx="659155" cy="400110"/>
          </a:xfrm>
          <a:prstGeom prst="rect">
            <a:avLst/>
          </a:prstGeom>
          <a:noFill/>
        </p:spPr>
        <p:txBody>
          <a:bodyPr wrap="none">
            <a:spAutoFit/>
          </a:bodyPr>
          <a:lstStyle/>
          <a:p>
            <a:r>
              <a:rPr lang="zh-CN" altLang="zh-CN" sz="2000" dirty="0">
                <a:solidFill>
                  <a:srgbClr val="FFFF00"/>
                </a:solidFill>
                <a:highlight>
                  <a:srgbClr val="FF0000"/>
                </a:highlight>
                <a:latin typeface="华文楷体" panose="02010600040101010101" pitchFamily="2" charset="-122"/>
                <a:ea typeface="华文楷体" panose="02010600040101010101" pitchFamily="2" charset="-122"/>
              </a:rPr>
              <a:t>delta</a:t>
            </a:r>
            <a:endParaRPr lang="zh-CN" altLang="en-US" sz="2000" dirty="0">
              <a:solidFill>
                <a:srgbClr val="FFFF00"/>
              </a:solidFill>
              <a:highlight>
                <a:srgbClr val="FF0000"/>
              </a:highlight>
              <a:latin typeface="华文楷体" panose="02010600040101010101" pitchFamily="2" charset="-122"/>
              <a:ea typeface="华文楷体" panose="02010600040101010101" pitchFamily="2" charset="-122"/>
            </a:endParaRPr>
          </a:p>
        </p:txBody>
      </p:sp>
      <p:sp>
        <p:nvSpPr>
          <p:cNvPr id="18" name="Rectangle 3"/>
          <p:cNvSpPr txBox="1"/>
          <p:nvPr/>
        </p:nvSpPr>
        <p:spPr bwMode="auto">
          <a:xfrm>
            <a:off x="3004956" y="3256136"/>
            <a:ext cx="5734154" cy="582789"/>
          </a:xfrm>
          <a:prstGeom prst="rect">
            <a:avLst/>
          </a:prstGeom>
          <a:solidFill>
            <a:schemeClr val="bg1"/>
          </a:solidFill>
          <a:ln w="0" cap="flat" cmpd="sng">
            <a:noFill/>
            <a:prstDash val="solid"/>
            <a:miter lim="800000"/>
          </a:ln>
        </p:spPr>
        <p:txBody>
          <a:bodyPr vert="horz" wrap="square" lIns="91440" tIns="45720" rIns="91440" bIns="45720" numCol="1" anchor="t" anchorCtr="0" compatLnSpc="1">
            <a:noAutofit/>
          </a:bodyPr>
          <a:lstStyle>
            <a:defPPr>
              <a:defRPr lang="zh-CN"/>
            </a:defPPr>
            <a:lvl1pPr marL="342900" indent="-342900" defTabSz="63500" eaLnBrk="0" hangingPunct="0">
              <a:spcBef>
                <a:spcPts val="0"/>
              </a:spcBef>
              <a:spcAft>
                <a:spcPts val="0"/>
              </a:spcAft>
              <a:buClr>
                <a:srgbClr val="FF0000"/>
              </a:buClr>
              <a:buFont typeface="Wingdings" panose="05000000000000000000"/>
              <a:buChar char="p"/>
              <a:defRPr sz="2000" kern="0">
                <a:solidFill>
                  <a:srgbClr val="002060"/>
                </a:solidFill>
                <a:latin typeface="微软雅黑" panose="020B0503020204020204" pitchFamily="34" charset="-122"/>
                <a:ea typeface="微软雅黑" panose="020B0503020204020204" pitchFamily="34" charset="-122"/>
              </a:defRPr>
            </a:lvl1pPr>
            <a:lvl2pPr marL="742950" indent="-285750" defTabSz="0" eaLnBrk="0" hangingPunct="0">
              <a:spcBef>
                <a:spcPct val="20000"/>
              </a:spcBef>
              <a:buFont typeface="Arial" panose="020B0604020202020204" pitchFamily="34" charset="0"/>
              <a:buChar char="–"/>
              <a:defRPr sz="2800">
                <a:latin typeface="+mn-lt"/>
                <a:ea typeface="+mn-ea"/>
              </a:defRPr>
            </a:lvl2pPr>
            <a:lvl3pPr marL="1143000" indent="-228600" defTabSz="0" eaLnBrk="0" hangingPunct="0">
              <a:spcBef>
                <a:spcPct val="20000"/>
              </a:spcBef>
              <a:buFont typeface="Arial" panose="020B0604020202020204" pitchFamily="34" charset="0"/>
              <a:buChar char="•"/>
              <a:defRPr sz="2400">
                <a:latin typeface="+mn-lt"/>
                <a:ea typeface="+mn-ea"/>
              </a:defRPr>
            </a:lvl3pPr>
            <a:lvl4pPr marL="1600200" indent="-228600" defTabSz="0" eaLnBrk="0" hangingPunct="0">
              <a:spcBef>
                <a:spcPct val="20000"/>
              </a:spcBef>
              <a:buFont typeface="Arial" panose="020B0604020202020204" pitchFamily="34" charset="0"/>
              <a:buChar char="–"/>
              <a:defRPr sz="2000">
                <a:latin typeface="+mn-lt"/>
                <a:ea typeface="+mn-ea"/>
              </a:defRPr>
            </a:lvl4pPr>
            <a:lvl5pPr marL="2057400" indent="-228600" defTabSz="0" eaLnBrk="0" hangingPunct="0">
              <a:spcBef>
                <a:spcPct val="20000"/>
              </a:spcBef>
              <a:buFont typeface="Arial" panose="020B0604020202020204" pitchFamily="34" charset="0"/>
              <a:buChar char="»"/>
              <a:defRPr sz="2000">
                <a:latin typeface="+mn-lt"/>
                <a:ea typeface="+mn-ea"/>
              </a:defRPr>
            </a:lvl5pPr>
            <a:lvl6pPr marL="2514600" indent="-228600" defTabSz="0" fontAlgn="base">
              <a:spcBef>
                <a:spcPct val="20000"/>
              </a:spcBef>
              <a:spcAft>
                <a:spcPct val="0"/>
              </a:spcAft>
              <a:buFont typeface="Arial" panose="020B0604020202020204" pitchFamily="34" charset="0"/>
              <a:buChar char="»"/>
              <a:defRPr sz="2000">
                <a:latin typeface="+mn-lt"/>
                <a:ea typeface="+mn-ea"/>
              </a:defRPr>
            </a:lvl6pPr>
            <a:lvl7pPr marL="2971800" indent="-228600" defTabSz="0" fontAlgn="base">
              <a:spcBef>
                <a:spcPct val="20000"/>
              </a:spcBef>
              <a:spcAft>
                <a:spcPct val="0"/>
              </a:spcAft>
              <a:buFont typeface="Arial" panose="020B0604020202020204" pitchFamily="34" charset="0"/>
              <a:buChar char="»"/>
              <a:defRPr sz="2000">
                <a:latin typeface="+mn-lt"/>
                <a:ea typeface="+mn-ea"/>
              </a:defRPr>
            </a:lvl7pPr>
            <a:lvl8pPr marL="3429000" indent="-228600" defTabSz="0" fontAlgn="base">
              <a:spcBef>
                <a:spcPct val="20000"/>
              </a:spcBef>
              <a:spcAft>
                <a:spcPct val="0"/>
              </a:spcAft>
              <a:buFont typeface="Arial" panose="020B0604020202020204" pitchFamily="34" charset="0"/>
              <a:buChar char="»"/>
              <a:defRPr sz="2000">
                <a:latin typeface="+mn-lt"/>
                <a:ea typeface="+mn-ea"/>
              </a:defRPr>
            </a:lvl8pPr>
            <a:lvl9pPr marL="3886200" indent="-228600" defTabSz="0" fontAlgn="base">
              <a:spcBef>
                <a:spcPct val="20000"/>
              </a:spcBef>
              <a:spcAft>
                <a:spcPct val="0"/>
              </a:spcAft>
              <a:buFont typeface="Arial" panose="020B0604020202020204" pitchFamily="34" charset="0"/>
              <a:buChar char="»"/>
              <a:defRPr sz="2000">
                <a:latin typeface="+mn-lt"/>
                <a:ea typeface="+mn-ea"/>
              </a:defRPr>
            </a:lvl9pPr>
          </a:lstStyle>
          <a:p>
            <a:pPr marL="0" indent="0">
              <a:lnSpc>
                <a:spcPts val="2200"/>
              </a:lnSpc>
            </a:pPr>
            <a:r>
              <a:rPr lang="en-US" altLang="zh-CN" sz="1800" dirty="0">
                <a:latin typeface="华文楷体" panose="02010600040101010101" pitchFamily="2" charset="-122"/>
                <a:ea typeface="华文楷体" panose="02010600040101010101" pitchFamily="2" charset="-122"/>
                <a:sym typeface="Arial" panose="020B0604020202020204" pitchFamily="34" charset="0"/>
              </a:rPr>
              <a:t>  detla</a:t>
            </a:r>
            <a:r>
              <a:rPr lang="zh-CN" altLang="en-US" sz="1800" dirty="0">
                <a:latin typeface="华文楷体" panose="02010600040101010101" pitchFamily="2" charset="-122"/>
                <a:ea typeface="华文楷体" panose="02010600040101010101" pitchFamily="2" charset="-122"/>
                <a:sym typeface="Arial" panose="020B0604020202020204" pitchFamily="34" charset="0"/>
              </a:rPr>
              <a:t>是用polyfit的</a:t>
            </a:r>
            <a:r>
              <a:rPr lang="zh-CN" altLang="en-US" sz="1800" dirty="0">
                <a:latin typeface="华文楷体" panose="02010600040101010101" pitchFamily="2" charset="-122"/>
                <a:ea typeface="华文楷体" panose="02010600040101010101" pitchFamily="2" charset="-122"/>
              </a:rPr>
              <a:t>误差</a:t>
            </a:r>
            <a:r>
              <a:rPr lang="en-US" altLang="zh-CN" sz="1800" dirty="0">
                <a:latin typeface="华文楷体" panose="02010600040101010101" pitchFamily="2" charset="-122"/>
                <a:ea typeface="华文楷体" panose="02010600040101010101" pitchFamily="2" charset="-122"/>
                <a:sym typeface="Arial" panose="020B0604020202020204" pitchFamily="34" charset="0"/>
              </a:rPr>
              <a:t>s</a:t>
            </a:r>
            <a:r>
              <a:rPr lang="zh-CN" altLang="en-US" sz="1800" dirty="0">
                <a:latin typeface="华文楷体" panose="02010600040101010101" pitchFamily="2" charset="-122"/>
                <a:ea typeface="华文楷体" panose="02010600040101010101" pitchFamily="2" charset="-122"/>
                <a:sym typeface="Arial" panose="020B0604020202020204" pitchFamily="34" charset="0"/>
              </a:rPr>
              <a:t>计算</a:t>
            </a:r>
            <a:r>
              <a:rPr lang="en-US" altLang="zh-CN" sz="1800" dirty="0">
                <a:latin typeface="华文楷体" panose="02010600040101010101" pitchFamily="2" charset="-122"/>
                <a:ea typeface="华文楷体" panose="02010600040101010101" pitchFamily="2" charset="-122"/>
                <a:sym typeface="Arial" panose="020B0604020202020204" pitchFamily="34" charset="0"/>
              </a:rPr>
              <a:t>x</a:t>
            </a:r>
            <a:r>
              <a:rPr lang="zh-CN" altLang="en-US" sz="1800" dirty="0">
                <a:latin typeface="华文楷体" panose="02010600040101010101" pitchFamily="2" charset="-122"/>
                <a:ea typeface="华文楷体" panose="02010600040101010101" pitchFamily="2" charset="-122"/>
                <a:sym typeface="Arial" panose="020B0604020202020204" pitchFamily="34" charset="0"/>
              </a:rPr>
              <a:t>处预测值</a:t>
            </a:r>
            <a:r>
              <a:rPr lang="en-US" altLang="zh-CN" sz="1800" dirty="0">
                <a:latin typeface="华文楷体" panose="02010600040101010101" pitchFamily="2" charset="-122"/>
                <a:ea typeface="华文楷体" panose="02010600040101010101" pitchFamily="2" charset="-122"/>
                <a:sym typeface="Arial" panose="020B0604020202020204" pitchFamily="34" charset="0"/>
              </a:rPr>
              <a:t>Y</a:t>
            </a:r>
            <a:r>
              <a:rPr lang="zh-CN" altLang="en-US" sz="1800" dirty="0">
                <a:latin typeface="华文楷体" panose="02010600040101010101" pitchFamily="2" charset="-122"/>
                <a:ea typeface="华文楷体" panose="02010600040101010101" pitchFamily="2" charset="-122"/>
                <a:sym typeface="Arial" panose="020B0604020202020204" pitchFamily="34" charset="0"/>
              </a:rPr>
              <a:t>的误差估计值</a:t>
            </a:r>
            <a:endParaRPr lang="en-US" altLang="zh-CN" sz="1800" dirty="0">
              <a:latin typeface="华文楷体" panose="02010600040101010101" pitchFamily="2" charset="-122"/>
              <a:ea typeface="华文楷体" panose="02010600040101010101" pitchFamily="2" charset="-122"/>
              <a:sym typeface="Arial" panose="020B0604020202020204" pitchFamily="34" charset="0"/>
            </a:endParaRPr>
          </a:p>
          <a:p>
            <a:pPr marL="0" indent="0">
              <a:lnSpc>
                <a:spcPts val="2200"/>
              </a:lnSpc>
            </a:pPr>
            <a:r>
              <a:rPr lang="zh-CN" altLang="en-US" sz="1800" dirty="0">
                <a:latin typeface="华文楷体" panose="02010600040101010101" pitchFamily="2" charset="-122"/>
                <a:ea typeface="华文楷体" panose="02010600040101010101" pitchFamily="2" charset="-122"/>
                <a:sym typeface="Arial" panose="020B0604020202020204" pitchFamily="34" charset="0"/>
              </a:rPr>
              <a:t>  预测的</a:t>
            </a:r>
            <a:r>
              <a:rPr lang="en-US" altLang="zh-CN" sz="1800" dirty="0" err="1">
                <a:latin typeface="华文楷体" panose="02010600040101010101" pitchFamily="2" charset="-122"/>
                <a:ea typeface="华文楷体" panose="02010600040101010101" pitchFamily="2" charset="-122"/>
                <a:sym typeface="Arial" panose="020B0604020202020204" pitchFamily="34" charset="0"/>
              </a:rPr>
              <a:t>Y±delta</a:t>
            </a:r>
            <a:r>
              <a:rPr lang="zh-CN" altLang="en-US" sz="1800" dirty="0">
                <a:latin typeface="华文楷体" panose="02010600040101010101" pitchFamily="2" charset="-122"/>
                <a:ea typeface="华文楷体" panose="02010600040101010101" pitchFamily="2" charset="-122"/>
                <a:sym typeface="Arial" panose="020B0604020202020204" pitchFamily="34" charset="0"/>
              </a:rPr>
              <a:t>将至少包含</a:t>
            </a:r>
            <a:r>
              <a:rPr lang="en-US" altLang="zh-CN" sz="1800" dirty="0">
                <a:latin typeface="华文楷体" panose="02010600040101010101" pitchFamily="2" charset="-122"/>
                <a:ea typeface="华文楷体" panose="02010600040101010101" pitchFamily="2" charset="-122"/>
                <a:sym typeface="Arial" panose="020B0604020202020204" pitchFamily="34" charset="0"/>
              </a:rPr>
              <a:t>68%</a:t>
            </a:r>
            <a:r>
              <a:rPr lang="zh-CN" altLang="en-US" sz="1800" dirty="0">
                <a:latin typeface="华文楷体" panose="02010600040101010101" pitchFamily="2" charset="-122"/>
                <a:ea typeface="华文楷体" panose="02010600040101010101" pitchFamily="2" charset="-122"/>
                <a:sym typeface="Arial" panose="020B0604020202020204" pitchFamily="34" charset="0"/>
              </a:rPr>
              <a:t>的预测值</a:t>
            </a:r>
            <a:endParaRPr lang="ko-KR" altLang="en-US" sz="1800" dirty="0">
              <a:latin typeface="华文楷体" panose="02010600040101010101" pitchFamily="2" charset="-122"/>
              <a:ea typeface="等线 Light" panose="02010600030101010101" pitchFamily="2" charset="-122"/>
              <a:sym typeface="Arial" panose="020B0604020202020204" pitchFamily="34" charset="0"/>
            </a:endParaRPr>
          </a:p>
        </p:txBody>
      </p:sp>
      <p:sp>
        <p:nvSpPr>
          <p:cNvPr id="20" name="标注: 线形(带边框和强调线) 19"/>
          <p:cNvSpPr/>
          <p:nvPr/>
        </p:nvSpPr>
        <p:spPr>
          <a:xfrm>
            <a:off x="2541444" y="3431353"/>
            <a:ext cx="238042" cy="424732"/>
          </a:xfrm>
          <a:prstGeom prst="accentBorderCallout1">
            <a:avLst>
              <a:gd name="adj1" fmla="val 18750"/>
              <a:gd name="adj2" fmla="val -8333"/>
              <a:gd name="adj3" fmla="val -84994"/>
              <a:gd name="adj4" fmla="val -681970"/>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华文楷体" panose="02010600040101010101" pitchFamily="2" charset="-122"/>
              <a:ea typeface="华文楷体" panose="02010600040101010101" pitchFamily="2" charset="-122"/>
            </a:endParaRPr>
          </a:p>
        </p:txBody>
      </p:sp>
      <p:sp>
        <p:nvSpPr>
          <p:cNvPr id="21" name="文本框 20"/>
          <p:cNvSpPr txBox="1"/>
          <p:nvPr/>
        </p:nvSpPr>
        <p:spPr>
          <a:xfrm>
            <a:off x="971600" y="96720"/>
            <a:ext cx="7920880" cy="523220"/>
          </a:xfrm>
          <a:prstGeom prst="rect">
            <a:avLst/>
          </a:prstGeom>
          <a:noFill/>
        </p:spPr>
        <p:txBody>
          <a:bodyPr wrap="square">
            <a:spAutoFit/>
          </a:bodyPr>
          <a:lstStyle/>
          <a:p>
            <a:r>
              <a:rPr lang="en-US" altLang="ko-KR" sz="2800" b="1" dirty="0">
                <a:solidFill>
                  <a:srgbClr val="002060"/>
                </a:solidFill>
                <a:latin typeface="华文楷体" panose="02010600040101010101" pitchFamily="2" charset="-122"/>
                <a:ea typeface="华文楷体" panose="02010600040101010101" pitchFamily="2" charset="-122"/>
              </a:rPr>
              <a:t>§5.2.2 </a:t>
            </a:r>
            <a:r>
              <a:rPr lang="zh-CN" altLang="en-US" sz="2800" b="1" dirty="0">
                <a:solidFill>
                  <a:srgbClr val="002060"/>
                </a:solidFill>
                <a:latin typeface="华文楷体" panose="02010600040101010101" pitchFamily="2" charset="-122"/>
                <a:ea typeface="华文楷体" panose="02010600040101010101" pitchFamily="2" charset="-122"/>
              </a:rPr>
              <a:t>多项式拟合</a:t>
            </a:r>
            <a:r>
              <a:rPr lang="en-US" altLang="zh-CN" sz="2800" b="1" kern="0" dirty="0" err="1">
                <a:solidFill>
                  <a:srgbClr val="FF0000"/>
                </a:solidFill>
                <a:latin typeface="华文楷体" panose="02010600040101010101" pitchFamily="2" charset="-122"/>
                <a:ea typeface="华文楷体" panose="02010600040101010101" pitchFamily="2" charset="-122"/>
              </a:rPr>
              <a:t>polyfit</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800" b="1" kern="0" dirty="0">
                <a:solidFill>
                  <a:srgbClr val="FF0000"/>
                </a:solidFill>
                <a:latin typeface="华文楷体" panose="02010600040101010101" pitchFamily="2" charset="-122"/>
                <a:ea typeface="华文楷体" panose="02010600040101010101" pitchFamily="2" charset="-122"/>
              </a:rPr>
              <a:t>拟合和求值以及绘图</a:t>
            </a:r>
            <a:endParaRPr lang="zh-CN" altLang="en-US" sz="2800" b="1" dirty="0"/>
          </a:p>
        </p:txBody>
      </p:sp>
      <p:sp>
        <p:nvSpPr>
          <p:cNvPr id="22" name="文本框 21"/>
          <p:cNvSpPr txBox="1"/>
          <p:nvPr/>
        </p:nvSpPr>
        <p:spPr>
          <a:xfrm>
            <a:off x="841550" y="2828314"/>
            <a:ext cx="275447" cy="289951"/>
          </a:xfrm>
          <a:prstGeom prst="rect">
            <a:avLst/>
          </a:prstGeom>
          <a:noFill/>
        </p:spPr>
        <p:txBody>
          <a:bodyPr wrap="square">
            <a:spAutoFit/>
          </a:bodyPr>
          <a:lstStyle/>
          <a:p>
            <a:pPr>
              <a:lnSpc>
                <a:spcPts val="1200"/>
              </a:lnSpc>
            </a:pPr>
            <a:r>
              <a:rPr lang="en-US" altLang="ko-KR" sz="2400" b="1" dirty="0">
                <a:solidFill>
                  <a:srgbClr val="FFFF00"/>
                </a:solidFill>
                <a:highlight>
                  <a:srgbClr val="FF0000"/>
                </a:highlight>
                <a:latin typeface="华文楷体" panose="02010600040101010101" pitchFamily="2" charset="-122"/>
                <a:ea typeface="华文楷体" panose="02010600040101010101" pitchFamily="2" charset="-122"/>
              </a:rPr>
              <a:t>s</a:t>
            </a:r>
            <a:endParaRPr lang="zh-CN" altLang="en-US" sz="2400" b="1" dirty="0">
              <a:highlight>
                <a:srgbClr val="FF0000"/>
              </a:highlight>
            </a:endParaRPr>
          </a:p>
        </p:txBody>
      </p:sp>
      <p:sp>
        <p:nvSpPr>
          <p:cNvPr id="23" name="文本框 22"/>
          <p:cNvSpPr txBox="1"/>
          <p:nvPr/>
        </p:nvSpPr>
        <p:spPr>
          <a:xfrm>
            <a:off x="2511672" y="3440622"/>
            <a:ext cx="267813" cy="400110"/>
          </a:xfrm>
          <a:prstGeom prst="rect">
            <a:avLst/>
          </a:prstGeom>
          <a:noFill/>
        </p:spPr>
        <p:txBody>
          <a:bodyPr wrap="square">
            <a:spAutoFit/>
          </a:bodyPr>
          <a:lstStyle/>
          <a:p>
            <a:r>
              <a:rPr lang="en-US" altLang="ko-KR" sz="2000" b="1" dirty="0">
                <a:solidFill>
                  <a:srgbClr val="FFFF00"/>
                </a:solidFill>
                <a:highlight>
                  <a:srgbClr val="FF0000"/>
                </a:highlight>
                <a:latin typeface="华文楷体" panose="02010600040101010101" pitchFamily="2" charset="-122"/>
                <a:ea typeface="华文楷体" panose="02010600040101010101" pitchFamily="2" charset="-122"/>
              </a:rPr>
              <a:t>s</a:t>
            </a:r>
            <a:endParaRPr lang="zh-CN" altLang="en-US" sz="2000" b="1" dirty="0">
              <a:highlight>
                <a:srgbClr val="FF0000"/>
              </a:highlight>
            </a:endParaRPr>
          </a:p>
        </p:txBody>
      </p:sp>
      <p:sp>
        <p:nvSpPr>
          <p:cNvPr id="24" name="Rectangle 1"/>
          <p:cNvSpPr>
            <a:spLocks noChangeArrowheads="1"/>
          </p:cNvSpPr>
          <p:nvPr/>
        </p:nvSpPr>
        <p:spPr bwMode="auto">
          <a:xfrm>
            <a:off x="552741" y="4236017"/>
            <a:ext cx="1506647" cy="320079"/>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r</a:t>
            </a:r>
            <a:r>
              <a:rPr lang="zh-CN"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efcurve</a:t>
            </a: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1600" kern="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Rectangle 3"/>
          <p:cNvSpPr txBox="1"/>
          <p:nvPr/>
        </p:nvSpPr>
        <p:spPr bwMode="auto">
          <a:xfrm>
            <a:off x="179512" y="3781969"/>
            <a:ext cx="3360383" cy="503892"/>
          </a:xfrm>
          <a:prstGeom prst="rect">
            <a:avLst/>
          </a:prstGeom>
          <a:noFill/>
          <a:ln w="0" cap="flat" cmpd="sng">
            <a:noFill/>
            <a:prstDash val="solid"/>
            <a:miter lim="800000"/>
          </a:ln>
        </p:spPr>
        <p:txBody>
          <a:bodyPr vert="horz" wrap="square" lIns="91440" tIns="45720" rIns="91440" bIns="45720" numCol="1" anchor="t" anchorCtr="0" compatLnSpc="1">
            <a:noAutofit/>
          </a:bodyPr>
          <a:lstStyle>
            <a:defPPr>
              <a:defRPr lang="zh-CN"/>
            </a:defPPr>
            <a:lvl1pPr marL="457200" indent="-457200" defTabSz="63500" eaLnBrk="0" hangingPunct="0">
              <a:lnSpc>
                <a:spcPts val="3300"/>
              </a:lnSpc>
              <a:spcBef>
                <a:spcPts val="600"/>
              </a:spcBef>
              <a:spcAft>
                <a:spcPts val="0"/>
              </a:spcAft>
              <a:buClr>
                <a:srgbClr val="0070C0"/>
              </a:buClr>
              <a:buFont typeface="+mj-ea"/>
              <a:buAutoNum type="circleNumDbPlain"/>
              <a:defRPr sz="2000" b="1">
                <a:solidFill>
                  <a:srgbClr val="0070C0"/>
                </a:solidFill>
                <a:latin typeface="微软雅黑" panose="020B0503020204020204" pitchFamily="34" charset="-122"/>
                <a:ea typeface="微软雅黑" panose="020B0503020204020204" pitchFamily="34" charset="-122"/>
              </a:defRPr>
            </a:lvl1pPr>
            <a:lvl2pPr marL="742950" indent="-285750" defTabSz="0" eaLnBrk="0" hangingPunct="0">
              <a:spcBef>
                <a:spcPct val="20000"/>
              </a:spcBef>
              <a:buFont typeface="Arial" panose="020B0604020202020204" pitchFamily="34" charset="0"/>
              <a:buChar char="–"/>
              <a:defRPr sz="2800">
                <a:latin typeface="+mn-lt"/>
                <a:ea typeface="+mn-ea"/>
              </a:defRPr>
            </a:lvl2pPr>
            <a:lvl3pPr marL="1143000" indent="-228600" defTabSz="0" eaLnBrk="0" hangingPunct="0">
              <a:spcBef>
                <a:spcPct val="20000"/>
              </a:spcBef>
              <a:buFont typeface="Arial" panose="020B0604020202020204" pitchFamily="34" charset="0"/>
              <a:buChar char="•"/>
              <a:defRPr sz="2400">
                <a:latin typeface="+mn-lt"/>
                <a:ea typeface="+mn-ea"/>
              </a:defRPr>
            </a:lvl3pPr>
            <a:lvl4pPr marL="1600200" indent="-228600" defTabSz="0" eaLnBrk="0" hangingPunct="0">
              <a:spcBef>
                <a:spcPct val="20000"/>
              </a:spcBef>
              <a:buFont typeface="Arial" panose="020B0604020202020204" pitchFamily="34" charset="0"/>
              <a:buChar char="–"/>
              <a:defRPr sz="2000">
                <a:latin typeface="+mn-lt"/>
                <a:ea typeface="+mn-ea"/>
              </a:defRPr>
            </a:lvl4pPr>
            <a:lvl5pPr marL="2057400" indent="-228600" defTabSz="0" eaLnBrk="0" hangingPunct="0">
              <a:spcBef>
                <a:spcPct val="20000"/>
              </a:spcBef>
              <a:buFont typeface="Arial" panose="020B0604020202020204" pitchFamily="34" charset="0"/>
              <a:buChar char="»"/>
              <a:defRPr sz="2000">
                <a:latin typeface="+mn-lt"/>
                <a:ea typeface="+mn-ea"/>
              </a:defRPr>
            </a:lvl5pPr>
            <a:lvl6pPr marL="2514600" indent="-228600" defTabSz="0" fontAlgn="base">
              <a:spcBef>
                <a:spcPct val="20000"/>
              </a:spcBef>
              <a:spcAft>
                <a:spcPct val="0"/>
              </a:spcAft>
              <a:buFont typeface="Arial" panose="020B0604020202020204" pitchFamily="34" charset="0"/>
              <a:buChar char="»"/>
              <a:defRPr sz="2000">
                <a:latin typeface="+mn-lt"/>
                <a:ea typeface="+mn-ea"/>
              </a:defRPr>
            </a:lvl6pPr>
            <a:lvl7pPr marL="2971800" indent="-228600" defTabSz="0" fontAlgn="base">
              <a:spcBef>
                <a:spcPct val="20000"/>
              </a:spcBef>
              <a:spcAft>
                <a:spcPct val="0"/>
              </a:spcAft>
              <a:buFont typeface="Arial" panose="020B0604020202020204" pitchFamily="34" charset="0"/>
              <a:buChar char="»"/>
              <a:defRPr sz="2000">
                <a:latin typeface="+mn-lt"/>
                <a:ea typeface="+mn-ea"/>
              </a:defRPr>
            </a:lvl7pPr>
            <a:lvl8pPr marL="3429000" indent="-228600" defTabSz="0" fontAlgn="base">
              <a:spcBef>
                <a:spcPct val="20000"/>
              </a:spcBef>
              <a:spcAft>
                <a:spcPct val="0"/>
              </a:spcAft>
              <a:buFont typeface="Arial" panose="020B0604020202020204" pitchFamily="34" charset="0"/>
              <a:buChar char="»"/>
              <a:defRPr sz="2000">
                <a:latin typeface="+mn-lt"/>
                <a:ea typeface="+mn-ea"/>
              </a:defRPr>
            </a:lvl8pPr>
            <a:lvl9pPr marL="3886200" indent="-228600" defTabSz="0" fontAlgn="base">
              <a:spcBef>
                <a:spcPct val="20000"/>
              </a:spcBef>
              <a:spcAft>
                <a:spcPct val="0"/>
              </a:spcAft>
              <a:buFont typeface="Arial" panose="020B0604020202020204" pitchFamily="34" charset="0"/>
              <a:buChar char="»"/>
              <a:defRPr sz="2000">
                <a:latin typeface="+mn-lt"/>
                <a:ea typeface="+mn-ea"/>
              </a:defRPr>
            </a:lvl9pPr>
          </a:lstStyle>
          <a:p>
            <a:pPr marL="0" indent="0">
              <a:buFont typeface="+mj-ea"/>
              <a:buAutoNum type="circleNumDbPlain" startAt="3"/>
            </a:pPr>
            <a:r>
              <a:rPr lang="zh-CN" altLang="en-US" sz="1600" dirty="0"/>
              <a:t> 绘制多项式</a:t>
            </a:r>
            <a:r>
              <a:rPr lang="en-US" altLang="zh-CN" sz="1600" dirty="0"/>
              <a:t>p</a:t>
            </a:r>
            <a:r>
              <a:rPr lang="zh-CN" altLang="en-US" sz="1600" dirty="0"/>
              <a:t>曲线在原始数据上</a:t>
            </a:r>
          </a:p>
        </p:txBody>
      </p:sp>
      <p:sp>
        <p:nvSpPr>
          <p:cNvPr id="11" name="AutoShape 13"/>
          <p:cNvSpPr/>
          <p:nvPr/>
        </p:nvSpPr>
        <p:spPr bwMode="auto">
          <a:xfrm>
            <a:off x="6084168" y="594075"/>
            <a:ext cx="3384376" cy="449232"/>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eaLnBrk="0">
              <a:spcBef>
                <a:spcPts val="0"/>
              </a:spcBef>
              <a:spcAft>
                <a:spcPts val="0"/>
              </a:spcAft>
            </a:pPr>
            <a:r>
              <a:rPr lang="en-US" altLang="ko-KR" sz="1600" b="1" dirty="0" err="1">
                <a:solidFill>
                  <a:srgbClr val="FFFF00"/>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线性拟合</a:t>
            </a:r>
            <a:r>
              <a:rPr lang="en-US" altLang="zh-CN" sz="1600" b="1" dirty="0" err="1">
                <a:solidFill>
                  <a:srgbClr val="FFFF00"/>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n</a:t>
            </a:r>
            <a:r>
              <a:rPr lang="en-US" altLang="zh-CN" sz="1600" b="1" dirty="0">
                <a:solidFill>
                  <a:srgbClr val="FFFF00"/>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=1</a:t>
            </a:r>
          </a:p>
        </p:txBody>
      </p:sp>
      <p:sp>
        <p:nvSpPr>
          <p:cNvPr id="25" name="文本框 24"/>
          <p:cNvSpPr txBox="1"/>
          <p:nvPr/>
        </p:nvSpPr>
        <p:spPr>
          <a:xfrm>
            <a:off x="2182707" y="4216298"/>
            <a:ext cx="5392756" cy="369332"/>
          </a:xfrm>
          <a:prstGeom prst="rect">
            <a:avLst/>
          </a:prstGeom>
          <a:noFill/>
        </p:spPr>
        <p:txBody>
          <a:bodyPr wrap="square">
            <a:spAutoFit/>
          </a:bodyPr>
          <a:lstStyle/>
          <a:p>
            <a:pPr defTabSz="63500" eaLnBrk="0" hangingPunct="0">
              <a:lnSpc>
                <a:spcPts val="2200"/>
              </a:lnSpc>
              <a:spcBef>
                <a:spcPts val="0"/>
              </a:spcBef>
              <a:spcAft>
                <a:spcPts val="0"/>
              </a:spcAft>
              <a:buClr>
                <a:srgbClr val="FF0000"/>
              </a:buClr>
              <a:buFont typeface="Wingdings" panose="05000000000000000000"/>
              <a:buChar char="p"/>
            </a:pPr>
            <a:r>
              <a:rPr lang="zh-CN" altLang="en-US" kern="0" dirty="0">
                <a:solidFill>
                  <a:srgbClr val="002060"/>
                </a:solidFill>
                <a:latin typeface="华文楷体" panose="02010600040101010101" pitchFamily="2" charset="-122"/>
                <a:ea typeface="华文楷体" panose="02010600040101010101" pitchFamily="2" charset="-122"/>
              </a:rPr>
              <a:t>将带有系数的多项式参考曲线添加</a:t>
            </a:r>
            <a:r>
              <a:rPr lang="en-US" altLang="zh-CN" kern="0" dirty="0">
                <a:solidFill>
                  <a:srgbClr val="002060"/>
                </a:solidFill>
                <a:latin typeface="华文楷体" panose="02010600040101010101" pitchFamily="2" charset="-122"/>
                <a:ea typeface="华文楷体" panose="02010600040101010101" pitchFamily="2" charset="-122"/>
              </a:rPr>
              <a:t>p</a:t>
            </a:r>
            <a:r>
              <a:rPr lang="zh-CN" altLang="en-US" kern="0" dirty="0">
                <a:solidFill>
                  <a:srgbClr val="002060"/>
                </a:solidFill>
                <a:latin typeface="华文楷体" panose="02010600040101010101" pitchFamily="2" charset="-122"/>
                <a:ea typeface="华文楷体" panose="02010600040101010101" pitchFamily="2" charset="-122"/>
              </a:rPr>
              <a:t>到当前图中</a:t>
            </a:r>
          </a:p>
        </p:txBody>
      </p:sp>
      <p:sp>
        <p:nvSpPr>
          <p:cNvPr id="4" name="Rectangle 3"/>
          <p:cNvSpPr txBox="1"/>
          <p:nvPr/>
        </p:nvSpPr>
        <p:spPr bwMode="auto">
          <a:xfrm>
            <a:off x="3012475" y="2635167"/>
            <a:ext cx="5427084" cy="535972"/>
          </a:xfrm>
          <a:prstGeom prst="rect">
            <a:avLst/>
          </a:prstGeom>
          <a:solidFill>
            <a:schemeClr val="bg1"/>
          </a:solidFill>
          <a:ln w="0" cap="flat" cmpd="sng">
            <a:noFill/>
            <a:prstDash val="solid"/>
            <a:miter lim="800000"/>
          </a:ln>
        </p:spPr>
        <p:txBody>
          <a:bodyPr vert="horz" wrap="square" lIns="91440" tIns="45720" rIns="91440" bIns="45720" numCol="1" anchor="t" anchorCtr="0" compatLnSpc="1">
            <a:noAutofit/>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defTabSz="63500">
              <a:lnSpc>
                <a:spcPts val="2200"/>
              </a:lnSpc>
              <a:spcBef>
                <a:spcPts val="600"/>
              </a:spcBef>
              <a:spcAft>
                <a:spcPts val="0"/>
              </a:spcAft>
              <a:buClr>
                <a:srgbClr val="FF0000"/>
              </a:buClr>
              <a:buFont typeface="Wingdings" panose="05000000000000000000" pitchFamily="2" charset="2"/>
              <a:buChar char="p"/>
            </a:pPr>
            <a:r>
              <a:rPr lang="en-US" altLang="zh-CN" sz="1800" kern="0" dirty="0">
                <a:solidFill>
                  <a:srgbClr val="002060"/>
                </a:solidFill>
                <a:latin typeface="华文楷体" panose="02010600040101010101" pitchFamily="2" charset="-122"/>
                <a:ea typeface="华文楷体" panose="02010600040101010101" pitchFamily="2" charset="-122"/>
              </a:rPr>
              <a:t>s</a:t>
            </a:r>
            <a:r>
              <a:rPr lang="zh-CN" altLang="en-US" sz="1800" kern="0" dirty="0">
                <a:solidFill>
                  <a:srgbClr val="002060"/>
                </a:solidFill>
                <a:latin typeface="华文楷体" panose="02010600040101010101" pitchFamily="2" charset="-122"/>
                <a:ea typeface="华文楷体" panose="02010600040101010101" pitchFamily="2" charset="-122"/>
              </a:rPr>
              <a:t>是误差估计结构体变量，表示拟合中误差 </a:t>
            </a:r>
            <a:endParaRPr lang="en-US" altLang="zh-CN" sz="1800" kern="0" dirty="0">
              <a:solidFill>
                <a:srgbClr val="002060"/>
              </a:solidFill>
              <a:latin typeface="华文楷体" panose="02010600040101010101" pitchFamily="2" charset="-122"/>
              <a:ea typeface="华文楷体" panose="02010600040101010101" pitchFamily="2" charset="-122"/>
            </a:endParaRPr>
          </a:p>
          <a:p>
            <a:pPr defTabSz="63500">
              <a:lnSpc>
                <a:spcPts val="2200"/>
              </a:lnSpc>
              <a:spcBef>
                <a:spcPts val="0"/>
              </a:spcBef>
              <a:spcAft>
                <a:spcPts val="0"/>
              </a:spcAft>
              <a:buClr>
                <a:srgbClr val="FF0000"/>
              </a:buClr>
              <a:buFont typeface="Wingdings" panose="05000000000000000000"/>
              <a:buChar char="p"/>
            </a:pPr>
            <a:r>
              <a:rPr lang="en-US" altLang="zh-CN" sz="1800" kern="0" dirty="0">
                <a:solidFill>
                  <a:srgbClr val="002060"/>
                </a:solidFill>
                <a:latin typeface="华文楷体" panose="02010600040101010101" pitchFamily="2" charset="-122"/>
                <a:ea typeface="华文楷体" panose="02010600040101010101" pitchFamily="2" charset="-122"/>
              </a:rPr>
              <a:t>s</a:t>
            </a:r>
            <a:r>
              <a:rPr lang="zh-CN" altLang="en-US" sz="1800" kern="0" dirty="0">
                <a:solidFill>
                  <a:srgbClr val="002060"/>
                </a:solidFill>
                <a:latin typeface="华文楷体" panose="02010600040101010101" pitchFamily="2" charset="-122"/>
                <a:ea typeface="华文楷体" panose="02010600040101010101" pitchFamily="2" charset="-122"/>
              </a:rPr>
              <a:t>用作</a:t>
            </a:r>
            <a:r>
              <a:rPr lang="en-US" altLang="zh-CN" sz="1800" kern="0" dirty="0" err="1">
                <a:solidFill>
                  <a:srgbClr val="002060"/>
                </a:solidFill>
                <a:latin typeface="华文楷体" panose="02010600040101010101" pitchFamily="2" charset="-122"/>
                <a:ea typeface="华文楷体" panose="02010600040101010101" pitchFamily="2" charset="-122"/>
              </a:rPr>
              <a:t>polyval</a:t>
            </a:r>
            <a:r>
              <a:rPr lang="zh-CN" altLang="en-US" sz="1800" kern="0" dirty="0">
                <a:solidFill>
                  <a:srgbClr val="002060"/>
                </a:solidFill>
                <a:latin typeface="华文楷体" panose="02010600040101010101" pitchFamily="2" charset="-122"/>
                <a:ea typeface="华文楷体" panose="02010600040101010101" pitchFamily="2" charset="-122"/>
              </a:rPr>
              <a:t>的输入来获取误差估计值</a:t>
            </a:r>
            <a:endParaRPr lang="ko-KR" altLang="en-US" sz="1800" kern="0" dirty="0">
              <a:solidFill>
                <a:srgbClr val="002060"/>
              </a:solidFill>
              <a:latin typeface="华文楷体" panose="02010600040101010101" pitchFamily="2" charset="-122"/>
              <a:ea typeface="等线 Light"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 end="1"/>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6" grpId="0" animBg="1"/>
      <p:bldP spid="12" grpId="0"/>
      <p:bldP spid="13" grpId="0" animBg="1"/>
      <p:bldP spid="15" grpId="0" animBg="1"/>
      <p:bldP spid="16" grpId="0"/>
      <p:bldP spid="20" grpId="0" animBg="1"/>
      <p:bldP spid="22" grpId="0"/>
      <p:bldP spid="23" grpId="0"/>
      <p:bldP spid="24" grpId="0" animBg="1"/>
      <p:bldP spid="27" grpId="0"/>
      <p:bldP spid="11" grpId="0" animBg="1"/>
      <p:bldP spid="2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a:srcRect l="6688" t="12319" r="5973" b="8000"/>
          <a:stretch>
            <a:fillRect/>
          </a:stretch>
        </p:blipFill>
        <p:spPr>
          <a:xfrm>
            <a:off x="6559946" y="2427734"/>
            <a:ext cx="2529280" cy="1881696"/>
          </a:xfrm>
          <a:prstGeom prst="rect">
            <a:avLst/>
          </a:prstGeom>
        </p:spPr>
      </p:pic>
      <p:sp>
        <p:nvSpPr>
          <p:cNvPr id="8" name="文本框 7"/>
          <p:cNvSpPr txBox="1"/>
          <p:nvPr/>
        </p:nvSpPr>
        <p:spPr>
          <a:xfrm>
            <a:off x="825806" y="59868"/>
            <a:ext cx="8316416" cy="523220"/>
          </a:xfrm>
          <a:prstGeom prst="rect">
            <a:avLst/>
          </a:prstGeom>
          <a:noFill/>
        </p:spPr>
        <p:txBody>
          <a:bodyPr wrap="square">
            <a:spAutoFit/>
          </a:bodyPr>
          <a:lstStyle/>
          <a:p>
            <a:r>
              <a:rPr lang="en-US" altLang="ko-KR" sz="2800" dirty="0">
                <a:solidFill>
                  <a:srgbClr val="002060"/>
                </a:solidFill>
                <a:latin typeface="华文楷体" panose="02010600040101010101" pitchFamily="2" charset="-122"/>
                <a:ea typeface="华文楷体" panose="02010600040101010101" pitchFamily="2" charset="-122"/>
              </a:rPr>
              <a:t>§5.2.2 </a:t>
            </a:r>
            <a:r>
              <a:rPr lang="zh-CN" altLang="en-US" sz="2800" dirty="0">
                <a:solidFill>
                  <a:srgbClr val="002060"/>
                </a:solidFill>
                <a:latin typeface="华文楷体" panose="02010600040101010101" pitchFamily="2" charset="-122"/>
                <a:ea typeface="华文楷体" panose="02010600040101010101" pitchFamily="2" charset="-122"/>
              </a:rPr>
              <a:t>多项式拟合</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压降与</a:t>
            </a:r>
            <a:r>
              <a:rPr lang="zh-CN" altLang="en-US" sz="2800" b="0"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温度的线性</a:t>
            </a:r>
            <a:r>
              <a:rPr lang="zh-CN" altLang="en-US" sz="2800" kern="0"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拟合</a:t>
            </a:r>
            <a:endParaRPr lang="zh-CN" altLang="en-US" sz="2800" dirty="0">
              <a:solidFill>
                <a:srgbClr val="FF0000"/>
              </a:solidFill>
            </a:endParaRPr>
          </a:p>
        </p:txBody>
      </p:sp>
      <p:sp>
        <p:nvSpPr>
          <p:cNvPr id="15" name="文本框 14"/>
          <p:cNvSpPr txBox="1"/>
          <p:nvPr/>
        </p:nvSpPr>
        <p:spPr>
          <a:xfrm>
            <a:off x="1185162" y="4296474"/>
            <a:ext cx="7904064" cy="315471"/>
          </a:xfrm>
          <a:prstGeom prst="rect">
            <a:avLst/>
          </a:prstGeom>
          <a:solidFill>
            <a:schemeClr val="bg1"/>
          </a:solidFill>
        </p:spPr>
        <p:txBody>
          <a:bodyPr vert="horz" wrap="square" lIns="68580" tIns="34290" rIns="68580" bIns="34290" anchor="t">
            <a:spAutoFit/>
          </a:bodyPr>
          <a:lstStyle>
            <a:defPPr>
              <a:defRPr lang="zh-CN"/>
            </a:defPPr>
            <a:lvl1pPr defTabSz="685800" eaLnBrk="0">
              <a:spcBef>
                <a:spcPts val="0"/>
              </a:spcBef>
              <a:spcAft>
                <a:spcPts val="0"/>
              </a:spcAft>
              <a:buClr>
                <a:srgbClr val="000000"/>
              </a:buClr>
              <a:defRPr sz="1600" b="1" cap="none">
                <a:solidFill>
                  <a:srgbClr val="002060"/>
                </a:solidFill>
                <a:latin typeface="微软雅黑" panose="020B0503020204020204" pitchFamily="34" charset="-122"/>
                <a:ea typeface="微软雅黑" panose="020B0503020204020204" pitchFamily="34" charset="-122"/>
              </a:defRPr>
            </a:lvl1pPr>
          </a:lstStyle>
          <a:p>
            <a:pPr algn="dist"/>
            <a:r>
              <a:rPr lang="zh-CN" altLang="en-US" dirty="0">
                <a:solidFill>
                  <a:srgbClr val="00B0F0"/>
                </a:solidFill>
              </a:rPr>
              <a:t>请用</a:t>
            </a:r>
            <a:r>
              <a:rPr lang="en-US" altLang="zh-CN" dirty="0">
                <a:solidFill>
                  <a:srgbClr val="00B0F0"/>
                </a:solidFill>
              </a:rPr>
              <a:t>polyfit5</a:t>
            </a:r>
            <a:r>
              <a:rPr lang="zh-CN" altLang="en-US" dirty="0">
                <a:solidFill>
                  <a:srgbClr val="00B0F0"/>
                </a:solidFill>
              </a:rPr>
              <a:t>或</a:t>
            </a:r>
            <a:r>
              <a:rPr lang="en-US" altLang="zh-CN" dirty="0">
                <a:solidFill>
                  <a:srgbClr val="00B0F0"/>
                </a:solidFill>
              </a:rPr>
              <a:t>9</a:t>
            </a:r>
            <a:r>
              <a:rPr lang="zh-CN" altLang="en-US" dirty="0">
                <a:solidFill>
                  <a:srgbClr val="00B0F0"/>
                </a:solidFill>
              </a:rPr>
              <a:t>次多项式拟合</a:t>
            </a:r>
            <a:r>
              <a:rPr lang="en-US" altLang="zh-CN" dirty="0">
                <a:solidFill>
                  <a:srgbClr val="00B0F0"/>
                </a:solidFill>
              </a:rPr>
              <a:t>, </a:t>
            </a:r>
            <a:r>
              <a:rPr lang="en-US" altLang="zh-CN" dirty="0" err="1">
                <a:solidFill>
                  <a:srgbClr val="00B0F0"/>
                </a:solidFill>
              </a:rPr>
              <a:t>refcurve</a:t>
            </a:r>
            <a:r>
              <a:rPr lang="zh-CN" altLang="en-US" dirty="0">
                <a:solidFill>
                  <a:srgbClr val="00B0F0"/>
                </a:solidFill>
              </a:rPr>
              <a:t>可视化，判断拟合次数越高，拟合效果越好</a:t>
            </a:r>
            <a:endParaRPr lang="en-US" altLang="zh-CN" dirty="0">
              <a:solidFill>
                <a:srgbClr val="00B0F0"/>
              </a:solidFill>
            </a:endParaRPr>
          </a:p>
        </p:txBody>
      </p:sp>
      <p:sp>
        <p:nvSpPr>
          <p:cNvPr id="16" name="波形 15"/>
          <p:cNvSpPr/>
          <p:nvPr/>
        </p:nvSpPr>
        <p:spPr>
          <a:xfrm>
            <a:off x="73215" y="4245604"/>
            <a:ext cx="1142384"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课堂练习</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4" name="Rectangle 1"/>
          <p:cNvSpPr>
            <a:spLocks noChangeArrowheads="1"/>
          </p:cNvSpPr>
          <p:nvPr/>
        </p:nvSpPr>
        <p:spPr bwMode="auto">
          <a:xfrm>
            <a:off x="179513" y="653237"/>
            <a:ext cx="8964488" cy="392864"/>
          </a:xfrm>
          <a:prstGeom prst="rect">
            <a:avLst/>
          </a:prstGeom>
          <a:noFill/>
          <a:ln>
            <a:noFill/>
          </a:ln>
          <a:effectLst/>
        </p:spPr>
        <p:txBody>
          <a:bodyPr vert="horz" wrap="square" lIns="91440" tIns="45720" rIns="91440" bIns="45720" numCol="1" anchor="ctr" anchorCtr="0" compatLnSpc="1">
            <a:spAutoFit/>
          </a:bodyPr>
          <a:lstStyle>
            <a:lvl1pPr eaLnBrk="0" hangingPunct="0">
              <a:tabLst>
                <a:tab pos="417195" algn="l"/>
              </a:tabLst>
              <a:defRPr>
                <a:solidFill>
                  <a:schemeClr val="tx1"/>
                </a:solidFill>
                <a:latin typeface="Arial" panose="020B0604020202020204" pitchFamily="34" charset="0"/>
              </a:defRPr>
            </a:lvl1pPr>
            <a:lvl2pPr eaLnBrk="0" hangingPunct="0">
              <a:tabLst>
                <a:tab pos="417195" algn="l"/>
              </a:tabLst>
              <a:defRPr>
                <a:solidFill>
                  <a:schemeClr val="tx1"/>
                </a:solidFill>
                <a:latin typeface="Arial" panose="020B0604020202020204" pitchFamily="34" charset="0"/>
              </a:defRPr>
            </a:lvl2pPr>
            <a:lvl3pPr eaLnBrk="0" hangingPunct="0">
              <a:tabLst>
                <a:tab pos="417195" algn="l"/>
              </a:tabLst>
              <a:defRPr>
                <a:solidFill>
                  <a:schemeClr val="tx1"/>
                </a:solidFill>
                <a:latin typeface="Arial" panose="020B0604020202020204" pitchFamily="34" charset="0"/>
              </a:defRPr>
            </a:lvl3pPr>
            <a:lvl4pPr eaLnBrk="0" hangingPunct="0">
              <a:tabLst>
                <a:tab pos="417195" algn="l"/>
              </a:tabLst>
              <a:defRPr>
                <a:solidFill>
                  <a:schemeClr val="tx1"/>
                </a:solidFill>
                <a:latin typeface="Arial" panose="020B0604020202020204" pitchFamily="34" charset="0"/>
              </a:defRPr>
            </a:lvl4pPr>
            <a:lvl5pPr eaLnBrk="0" hangingPunct="0">
              <a:tabLst>
                <a:tab pos="417195" algn="l"/>
              </a:tabLst>
              <a:defRPr>
                <a:solidFill>
                  <a:schemeClr val="tx1"/>
                </a:solidFill>
                <a:latin typeface="Arial" panose="020B0604020202020204" pitchFamily="34" charset="0"/>
              </a:defRPr>
            </a:lvl5pPr>
            <a:lvl6pPr eaLnBrk="0" fontAlgn="base" hangingPunct="0">
              <a:spcBef>
                <a:spcPct val="0"/>
              </a:spcBef>
              <a:spcAft>
                <a:spcPct val="0"/>
              </a:spcAft>
              <a:tabLst>
                <a:tab pos="417195" algn="l"/>
              </a:tabLst>
              <a:defRPr>
                <a:solidFill>
                  <a:schemeClr val="tx1"/>
                </a:solidFill>
                <a:latin typeface="Arial" panose="020B0604020202020204" pitchFamily="34" charset="0"/>
              </a:defRPr>
            </a:lvl6pPr>
            <a:lvl7pPr eaLnBrk="0" fontAlgn="base" hangingPunct="0">
              <a:spcBef>
                <a:spcPct val="0"/>
              </a:spcBef>
              <a:spcAft>
                <a:spcPct val="0"/>
              </a:spcAft>
              <a:tabLst>
                <a:tab pos="417195" algn="l"/>
              </a:tabLst>
              <a:defRPr>
                <a:solidFill>
                  <a:schemeClr val="tx1"/>
                </a:solidFill>
                <a:latin typeface="Arial" panose="020B0604020202020204" pitchFamily="34" charset="0"/>
              </a:defRPr>
            </a:lvl7pPr>
            <a:lvl8pPr eaLnBrk="0" fontAlgn="base" hangingPunct="0">
              <a:spcBef>
                <a:spcPct val="0"/>
              </a:spcBef>
              <a:spcAft>
                <a:spcPct val="0"/>
              </a:spcAft>
              <a:tabLst>
                <a:tab pos="417195" algn="l"/>
              </a:tabLst>
              <a:defRPr>
                <a:solidFill>
                  <a:schemeClr val="tx1"/>
                </a:solidFill>
                <a:latin typeface="Arial" panose="020B0604020202020204" pitchFamily="34" charset="0"/>
              </a:defRPr>
            </a:lvl8pPr>
            <a:lvl9pPr eaLnBrk="0" fontAlgn="base" hangingPunct="0">
              <a:spcBef>
                <a:spcPct val="0"/>
              </a:spcBef>
              <a:spcAft>
                <a:spcPct val="0"/>
              </a:spcAft>
              <a:tabLst>
                <a:tab pos="417195" algn="l"/>
              </a:tabLst>
              <a:defRPr>
                <a:solidFill>
                  <a:schemeClr val="tx1"/>
                </a:solidFill>
                <a:latin typeface="Arial" panose="020B0604020202020204" pitchFamily="34" charset="0"/>
              </a:defRPr>
            </a:lvl9pPr>
          </a:lstStyle>
          <a:p>
            <a:pPr marL="0" marR="0" lvl="0" indent="0" algn="dist" defTabSz="914400" rtl="0" eaLnBrk="0" fontAlgn="base" latinLnBrk="0" hangingPunct="0">
              <a:lnSpc>
                <a:spcPts val="2600"/>
              </a:lnSpc>
              <a:spcBef>
                <a:spcPct val="0"/>
              </a:spcBef>
              <a:spcAft>
                <a:spcPct val="0"/>
              </a:spcAft>
              <a:buClrTx/>
              <a:buSzTx/>
              <a:buFontTx/>
              <a:buNone/>
              <a:tabLst>
                <a:tab pos="417195" algn="l"/>
              </a:tabLst>
            </a:pPr>
            <a:r>
              <a:rPr kumimoji="0" lang="en-US" altLang="zh-CN" sz="1600" b="1" i="0" u="none" strike="noStrike" cap="none" normalizeH="0" baseline="0" dirty="0">
                <a:ln>
                  <a:noFill/>
                </a:ln>
                <a:solidFill>
                  <a:srgbClr val="0070C0"/>
                </a:solidFill>
                <a:effectLst/>
                <a:latin typeface="微软雅黑 Light" panose="020B0502040204020203" pitchFamily="34" charset="-122"/>
                <a:ea typeface="微软雅黑 Light" panose="020B0502040204020203" pitchFamily="34" charset="-122"/>
                <a:cs typeface="Times New Roman" panose="02020603050405020304" pitchFamily="18" charset="0"/>
              </a:rPr>
              <a:t>                </a:t>
            </a:r>
            <a:r>
              <a:rPr kumimoji="0" lang="zh-CN"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大物 “</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PN</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结正向压降</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4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关系的研究与应用”，建立温度</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和压降</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的关系</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预测</a:t>
            </a:r>
            <a:r>
              <a:rPr kumimoji="0" lang="en-US" altLang="zh-CN"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100</a:t>
            </a:r>
            <a:r>
              <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度时压降</a:t>
            </a:r>
            <a:endParaRPr kumimoji="0" lang="zh-CN" altLang="en-US" sz="14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17" name="波形 16"/>
          <p:cNvSpPr/>
          <p:nvPr/>
        </p:nvSpPr>
        <p:spPr>
          <a:xfrm>
            <a:off x="102354" y="712515"/>
            <a:ext cx="879078"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例52-1-1</a:t>
            </a:r>
            <a:endParaRPr lang="ko-KR" altLang="en-US" sz="1600" b="1" dirty="0">
              <a:solidFill>
                <a:srgbClr val="FFFF00"/>
              </a:solidFill>
              <a:latin typeface="微软雅黑" panose="020B0503020204020204" pitchFamily="34" charset="-122"/>
            </a:endParaRPr>
          </a:p>
        </p:txBody>
      </p:sp>
      <p:sp>
        <p:nvSpPr>
          <p:cNvPr id="18" name="内容占位符 2"/>
          <p:cNvSpPr txBox="1"/>
          <p:nvPr/>
        </p:nvSpPr>
        <p:spPr>
          <a:xfrm>
            <a:off x="6952538" y="2715766"/>
            <a:ext cx="2155966" cy="635526"/>
          </a:xfrm>
          <a:prstGeom prst="rect">
            <a:avLst/>
          </a:prstGeom>
          <a:noFill/>
          <a:ln>
            <a:noFill/>
          </a:ln>
        </p:spPr>
        <p:txBody>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tabLst>
                <a:tab pos="417195" algn="l"/>
              </a:tabLst>
            </a:pPr>
            <a:r>
              <a:rPr lang="zh-CN" altLang="en-US" sz="1400" b="0" dirty="0">
                <a:solidFill>
                  <a:srgbClr val="003B76"/>
                </a:solidFill>
                <a:latin typeface="微软雅黑" panose="020B0503020204020204" pitchFamily="34" charset="-122"/>
                <a:ea typeface="微软雅黑" panose="020B0503020204020204" pitchFamily="34" charset="-122"/>
              </a:rPr>
              <a:t>压降</a:t>
            </a:r>
            <a:r>
              <a:rPr lang="en-US" altLang="zh-CN" sz="1400" b="0" dirty="0">
                <a:solidFill>
                  <a:srgbClr val="003B76"/>
                </a:solidFill>
                <a:latin typeface="微软雅黑" panose="020B0503020204020204" pitchFamily="34" charset="-122"/>
                <a:ea typeface="微软雅黑" panose="020B0503020204020204" pitchFamily="34" charset="-122"/>
              </a:rPr>
              <a:t>y</a:t>
            </a:r>
            <a:r>
              <a:rPr lang="zh-CN" altLang="en-US" sz="1400" b="0" dirty="0">
                <a:solidFill>
                  <a:srgbClr val="003B76"/>
                </a:solidFill>
                <a:latin typeface="微软雅黑" panose="020B0503020204020204" pitchFamily="34" charset="-122"/>
                <a:ea typeface="微软雅黑" panose="020B0503020204020204" pitchFamily="34" charset="-122"/>
              </a:rPr>
              <a:t>与温度</a:t>
            </a:r>
            <a:r>
              <a:rPr lang="en-US" altLang="zh-CN" sz="1400" b="0" dirty="0">
                <a:solidFill>
                  <a:srgbClr val="003B76"/>
                </a:solidFill>
                <a:latin typeface="微软雅黑" panose="020B0503020204020204" pitchFamily="34" charset="-122"/>
                <a:ea typeface="微软雅黑" panose="020B0503020204020204" pitchFamily="34" charset="-122"/>
              </a:rPr>
              <a:t>x</a:t>
            </a:r>
            <a:r>
              <a:rPr lang="zh-CN" altLang="en-US" sz="1400" b="0" dirty="0">
                <a:solidFill>
                  <a:srgbClr val="003B76"/>
                </a:solidFill>
                <a:latin typeface="微软雅黑" panose="020B0503020204020204" pitchFamily="34" charset="-122"/>
                <a:ea typeface="微软雅黑" panose="020B0503020204020204" pitchFamily="34" charset="-122"/>
              </a:rPr>
              <a:t>的线性关系</a:t>
            </a:r>
            <a:endParaRPr lang="en-US" altLang="zh-CN" sz="1400" b="0" dirty="0">
              <a:solidFill>
                <a:srgbClr val="003B76"/>
              </a:solidFill>
              <a:latin typeface="微软雅黑" panose="020B0503020204020204" pitchFamily="34" charset="-122"/>
              <a:ea typeface="微软雅黑" panose="020B0503020204020204" pitchFamily="34" charset="-122"/>
            </a:endParaRPr>
          </a:p>
          <a:p>
            <a:pPr marL="0" indent="0">
              <a:buNone/>
              <a:tabLst>
                <a:tab pos="417195" algn="l"/>
              </a:tabLst>
            </a:pPr>
            <a:r>
              <a:rPr lang="en-US" altLang="zh-CN" sz="1400" b="0" dirty="0">
                <a:solidFill>
                  <a:srgbClr val="FF0000"/>
                </a:solidFill>
                <a:latin typeface="微软雅黑" panose="020B0503020204020204" pitchFamily="34" charset="-122"/>
                <a:ea typeface="微软雅黑" panose="020B0503020204020204" pitchFamily="34" charset="-122"/>
              </a:rPr>
              <a:t>y=</a:t>
            </a:r>
            <a:r>
              <a:rPr lang="zh-CN" altLang="en-US" sz="1400" b="0" dirty="0">
                <a:solidFill>
                  <a:srgbClr val="FF0000"/>
                </a:solidFill>
                <a:latin typeface="微软雅黑" panose="020B0503020204020204" pitchFamily="34" charset="-122"/>
                <a:ea typeface="微软雅黑" panose="020B0503020204020204" pitchFamily="34" charset="-122"/>
              </a:rPr>
              <a:t> -0.002</a:t>
            </a:r>
            <a:r>
              <a:rPr lang="en-US" altLang="zh-CN" sz="1400" b="0" dirty="0">
                <a:solidFill>
                  <a:srgbClr val="FF0000"/>
                </a:solidFill>
                <a:latin typeface="微软雅黑" panose="020B0503020204020204" pitchFamily="34" charset="-122"/>
                <a:ea typeface="微软雅黑" panose="020B0503020204020204" pitchFamily="34" charset="-122"/>
              </a:rPr>
              <a:t>6x+0.4999</a:t>
            </a:r>
          </a:p>
          <a:p>
            <a:pPr marL="0" indent="0">
              <a:buFontTx/>
              <a:buNone/>
              <a:tabLst>
                <a:tab pos="417195" algn="l"/>
              </a:tabLst>
            </a:pPr>
            <a:endParaRPr lang="zh-CN" altLang="en-US" sz="1400" b="0" kern="0" dirty="0">
              <a:solidFill>
                <a:srgbClr val="0070C0"/>
              </a:solidFill>
              <a:latin typeface="华文楷体" panose="02010600040101010101" pitchFamily="2" charset="-122"/>
              <a:ea typeface="华文楷体" panose="02010600040101010101" pitchFamily="2" charset="-122"/>
            </a:endParaRPr>
          </a:p>
        </p:txBody>
      </p:sp>
      <p:graphicFrame>
        <p:nvGraphicFramePr>
          <p:cNvPr id="12" name="表格 11"/>
          <p:cNvGraphicFramePr>
            <a:graphicFrameLocks noGrp="1"/>
          </p:cNvGraphicFramePr>
          <p:nvPr>
            <p:extLst>
              <p:ext uri="{D42A27DB-BD31-4B8C-83A1-F6EECF244321}">
                <p14:modId xmlns:p14="http://schemas.microsoft.com/office/powerpoint/2010/main" val="1929200927"/>
              </p:ext>
            </p:extLst>
          </p:nvPr>
        </p:nvGraphicFramePr>
        <p:xfrm>
          <a:off x="102354" y="1131590"/>
          <a:ext cx="8941939" cy="482918"/>
        </p:xfrm>
        <a:graphic>
          <a:graphicData uri="http://schemas.openxmlformats.org/drawingml/2006/table">
            <a:tbl>
              <a:tblPr firstRow="1" firstCol="1" bandRow="1">
                <a:tableStyleId>{5C22544A-7EE6-4342-B048-85BDC9FD1C3A}</a:tableStyleId>
              </a:tblPr>
              <a:tblGrid>
                <a:gridCol w="806791">
                  <a:extLst>
                    <a:ext uri="{9D8B030D-6E8A-4147-A177-3AD203B41FA5}">
                      <a16:colId xmlns:a16="http://schemas.microsoft.com/office/drawing/2014/main" val="20000"/>
                    </a:ext>
                  </a:extLst>
                </a:gridCol>
                <a:gridCol w="817489">
                  <a:extLst>
                    <a:ext uri="{9D8B030D-6E8A-4147-A177-3AD203B41FA5}">
                      <a16:colId xmlns:a16="http://schemas.microsoft.com/office/drawing/2014/main" val="20001"/>
                    </a:ext>
                  </a:extLst>
                </a:gridCol>
                <a:gridCol w="812139">
                  <a:extLst>
                    <a:ext uri="{9D8B030D-6E8A-4147-A177-3AD203B41FA5}">
                      <a16:colId xmlns:a16="http://schemas.microsoft.com/office/drawing/2014/main" val="20002"/>
                    </a:ext>
                  </a:extLst>
                </a:gridCol>
                <a:gridCol w="813190">
                  <a:extLst>
                    <a:ext uri="{9D8B030D-6E8A-4147-A177-3AD203B41FA5}">
                      <a16:colId xmlns:a16="http://schemas.microsoft.com/office/drawing/2014/main" val="20003"/>
                    </a:ext>
                  </a:extLst>
                </a:gridCol>
                <a:gridCol w="813190">
                  <a:extLst>
                    <a:ext uri="{9D8B030D-6E8A-4147-A177-3AD203B41FA5}">
                      <a16:colId xmlns:a16="http://schemas.microsoft.com/office/drawing/2014/main" val="20004"/>
                    </a:ext>
                  </a:extLst>
                </a:gridCol>
                <a:gridCol w="813190">
                  <a:extLst>
                    <a:ext uri="{9D8B030D-6E8A-4147-A177-3AD203B41FA5}">
                      <a16:colId xmlns:a16="http://schemas.microsoft.com/office/drawing/2014/main" val="20005"/>
                    </a:ext>
                  </a:extLst>
                </a:gridCol>
                <a:gridCol w="813190">
                  <a:extLst>
                    <a:ext uri="{9D8B030D-6E8A-4147-A177-3AD203B41FA5}">
                      <a16:colId xmlns:a16="http://schemas.microsoft.com/office/drawing/2014/main" val="20006"/>
                    </a:ext>
                  </a:extLst>
                </a:gridCol>
                <a:gridCol w="813190">
                  <a:extLst>
                    <a:ext uri="{9D8B030D-6E8A-4147-A177-3AD203B41FA5}">
                      <a16:colId xmlns:a16="http://schemas.microsoft.com/office/drawing/2014/main" val="20007"/>
                    </a:ext>
                  </a:extLst>
                </a:gridCol>
                <a:gridCol w="813190">
                  <a:extLst>
                    <a:ext uri="{9D8B030D-6E8A-4147-A177-3AD203B41FA5}">
                      <a16:colId xmlns:a16="http://schemas.microsoft.com/office/drawing/2014/main" val="20008"/>
                    </a:ext>
                  </a:extLst>
                </a:gridCol>
                <a:gridCol w="813190">
                  <a:extLst>
                    <a:ext uri="{9D8B030D-6E8A-4147-A177-3AD203B41FA5}">
                      <a16:colId xmlns:a16="http://schemas.microsoft.com/office/drawing/2014/main" val="20009"/>
                    </a:ext>
                  </a:extLst>
                </a:gridCol>
                <a:gridCol w="813190">
                  <a:extLst>
                    <a:ext uri="{9D8B030D-6E8A-4147-A177-3AD203B41FA5}">
                      <a16:colId xmlns:a16="http://schemas.microsoft.com/office/drawing/2014/main" val="20010"/>
                    </a:ext>
                  </a:extLst>
                </a:gridCol>
              </a:tblGrid>
              <a:tr h="0">
                <a:tc>
                  <a:txBody>
                    <a:bodyPr/>
                    <a:lstStyle/>
                    <a:p>
                      <a:pPr algn="l" eaLnBrk="0">
                        <a:lnSpc>
                          <a:spcPct val="150000"/>
                        </a:lnSpc>
                        <a:tabLst>
                          <a:tab pos="417195" algn="l"/>
                        </a:tabLst>
                      </a:pPr>
                      <a:r>
                        <a:rPr lang="en-US" sz="1200" kern="100" dirty="0">
                          <a:solidFill>
                            <a:schemeClr val="bg1"/>
                          </a:solidFill>
                          <a:effectLst/>
                        </a:rPr>
                        <a:t>x/</a:t>
                      </a:r>
                      <a:r>
                        <a:rPr lang="zh-CN" sz="1200" kern="100" dirty="0">
                          <a:solidFill>
                            <a:schemeClr val="bg1"/>
                          </a:solidFill>
                          <a:effectLst/>
                        </a:rPr>
                        <a:t>℃</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40</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45</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50</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55</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60</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65</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70</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75</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80</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85</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0000"/>
                  </a:ext>
                </a:extLst>
              </a:tr>
              <a:tr h="0">
                <a:tc>
                  <a:txBody>
                    <a:bodyPr/>
                    <a:lstStyle/>
                    <a:p>
                      <a:pPr algn="l" eaLnBrk="0">
                        <a:lnSpc>
                          <a:spcPct val="150000"/>
                        </a:lnSpc>
                        <a:tabLst>
                          <a:tab pos="417195" algn="l"/>
                        </a:tabLst>
                      </a:pPr>
                      <a:r>
                        <a:rPr lang="en-US" sz="1200" kern="100" dirty="0">
                          <a:solidFill>
                            <a:schemeClr val="bg1"/>
                          </a:solidFill>
                          <a:effectLst/>
                        </a:rPr>
                        <a:t>y/V</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0.3943</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0.3809</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0.3705</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0.3587</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0.3455</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0.3331</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0.3193</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a:solidFill>
                            <a:schemeClr val="bg1"/>
                          </a:solidFill>
                          <a:effectLst/>
                        </a:rPr>
                        <a:t>0.3049</a:t>
                      </a:r>
                      <a:endParaRPr lang="zh-CN" sz="1200" kern="10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0.2909</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tc>
                  <a:txBody>
                    <a:bodyPr/>
                    <a:lstStyle/>
                    <a:p>
                      <a:pPr algn="l" eaLnBrk="0">
                        <a:lnSpc>
                          <a:spcPct val="150000"/>
                        </a:lnSpc>
                        <a:tabLst>
                          <a:tab pos="417195" algn="l"/>
                        </a:tabLst>
                      </a:pPr>
                      <a:r>
                        <a:rPr lang="en-US" sz="1200" kern="100" dirty="0">
                          <a:solidFill>
                            <a:schemeClr val="bg1"/>
                          </a:solidFill>
                          <a:effectLst/>
                        </a:rPr>
                        <a:t>0.2771</a:t>
                      </a:r>
                      <a:endParaRPr lang="zh-CN" sz="1200" kern="100" dirty="0">
                        <a:solidFill>
                          <a:schemeClr val="bg1"/>
                        </a:solidFill>
                        <a:effectLst/>
                        <a:latin typeface="Times New Roman" panose="02020603050405020304" pitchFamily="18" charset="0"/>
                        <a:ea typeface="宋体" panose="02010600030101010101" pitchFamily="2" charset="-122"/>
                      </a:endParaRPr>
                    </a:p>
                  </a:txBody>
                  <a:tcPr marL="68580" marR="68580" marT="0" marB="0">
                    <a:solidFill>
                      <a:srgbClr val="0070C0"/>
                    </a:solidFill>
                  </a:tcPr>
                </a:tc>
                <a:extLst>
                  <a:ext uri="{0D108BD9-81ED-4DB2-BD59-A6C34878D82A}">
                    <a16:rowId xmlns:a16="http://schemas.microsoft.com/office/drawing/2014/main" val="10001"/>
                  </a:ext>
                </a:extLst>
              </a:tr>
            </a:tbl>
          </a:graphicData>
        </a:graphic>
      </p:graphicFrame>
      <p:sp>
        <p:nvSpPr>
          <p:cNvPr id="13" name="文本框 12"/>
          <p:cNvSpPr txBox="1"/>
          <p:nvPr/>
        </p:nvSpPr>
        <p:spPr>
          <a:xfrm>
            <a:off x="118262" y="1650422"/>
            <a:ext cx="9086989" cy="2610138"/>
          </a:xfrm>
          <a:prstGeom prst="rect">
            <a:avLst/>
          </a:prstGeom>
          <a:noFill/>
        </p:spPr>
        <p:txBody>
          <a:bodyPr wrap="square">
            <a:spAutoFit/>
          </a:bodyPr>
          <a:lstStyle/>
          <a:p>
            <a:pPr>
              <a:lnSpc>
                <a:spcPts val="2200"/>
              </a:lnSpc>
            </a:pP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40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85</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温度 </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0.3943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0.3809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0.3705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0.3587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0.3455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0.3331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0.3193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0.3049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0.2909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0.2771</a:t>
            </a:r>
            <a:r>
              <a:rPr lang="en-US" altLang="zh-CN" sz="1600" b="0" dirty="0">
                <a:solidFill>
                  <a:srgbClr val="000000"/>
                </a:solidFill>
                <a:effectLst/>
                <a:latin typeface="Consolas" panose="020B0609020204030204" pitchFamily="49" charset="0"/>
              </a:rPr>
              <a:t>];</a:t>
            </a:r>
          </a:p>
          <a:p>
            <a:pPr>
              <a:lnSpc>
                <a:spcPts val="2200"/>
              </a:lnSpc>
            </a:pPr>
            <a:r>
              <a:rPr lang="en-US" altLang="zh-CN" sz="1600" b="0" dirty="0">
                <a:solidFill>
                  <a:srgbClr val="795E26"/>
                </a:solidFill>
                <a:effectLst/>
                <a:latin typeface="Consolas" panose="020B0609020204030204" pitchFamily="49" charset="0"/>
              </a:rPr>
              <a:t>scatter</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散点图</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err="1">
                <a:solidFill>
                  <a:srgbClr val="795E26"/>
                </a:solidFill>
                <a:effectLst/>
                <a:latin typeface="Consolas" panose="020B0609020204030204" pitchFamily="49" charset="0"/>
              </a:rPr>
              <a:t>xlabel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温度</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ylabel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压降</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2200"/>
              </a:lnSpc>
            </a:pPr>
            <a:r>
              <a:rPr lang="en-US" altLang="zh-CN" sz="1600" b="0" dirty="0">
                <a:solidFill>
                  <a:srgbClr val="000000"/>
                </a:solidFill>
                <a:effectLst/>
                <a:latin typeface="Consolas" panose="020B0609020204030204" pitchFamily="49" charset="0"/>
              </a:rPr>
              <a:t>p,=</a:t>
            </a:r>
            <a:r>
              <a:rPr lang="en-US" altLang="zh-CN" sz="1600" b="0" dirty="0" err="1">
                <a:solidFill>
                  <a:srgbClr val="795E26"/>
                </a:solidFill>
                <a:effectLst/>
                <a:latin typeface="Consolas" panose="020B0609020204030204" pitchFamily="49" charset="0"/>
              </a:rPr>
              <a:t>polyfit</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必须加逗号</a:t>
            </a:r>
            <a:endParaRPr lang="zh-CN" altLang="en-US" sz="1600" b="0" dirty="0">
              <a:solidFill>
                <a:srgbClr val="000000"/>
              </a:solidFill>
              <a:effectLst/>
              <a:latin typeface="Consolas" panose="020B0609020204030204" pitchFamily="49" charset="0"/>
            </a:endParaRPr>
          </a:p>
          <a:p>
            <a:pPr>
              <a:lnSpc>
                <a:spcPts val="2200"/>
              </a:lnSpc>
            </a:pPr>
            <a:r>
              <a:rPr lang="en-US" altLang="zh-CN" sz="1600" dirty="0">
                <a:solidFill>
                  <a:srgbClr val="000000"/>
                </a:solidFill>
                <a:latin typeface="Consolas" panose="020B0609020204030204" pitchFamily="49" charset="0"/>
              </a:rPr>
              <a:t>y100=</a:t>
            </a:r>
            <a:r>
              <a:rPr lang="en-US" altLang="zh-CN" sz="1600" dirty="0" err="1">
                <a:solidFill>
                  <a:srgbClr val="795E26"/>
                </a:solidFill>
                <a:latin typeface="Consolas" panose="020B0609020204030204" pitchFamily="49" charset="0"/>
              </a:rPr>
              <a:t>polyval</a:t>
            </a:r>
            <a:r>
              <a:rPr lang="en-US" altLang="zh-CN" sz="1600" dirty="0">
                <a:solidFill>
                  <a:srgbClr val="000000"/>
                </a:solidFill>
                <a:latin typeface="Consolas" panose="020B0609020204030204" pitchFamily="49" charset="0"/>
              </a:rPr>
              <a:t>(p,</a:t>
            </a:r>
            <a:r>
              <a:rPr lang="en-US" altLang="zh-CN" sz="1600" dirty="0">
                <a:solidFill>
                  <a:srgbClr val="098658"/>
                </a:solidFill>
                <a:latin typeface="Consolas" panose="020B0609020204030204" pitchFamily="49" charset="0"/>
              </a:rPr>
              <a:t>100</a:t>
            </a:r>
            <a:r>
              <a:rPr lang="en-US" altLang="zh-CN" sz="1600" dirty="0">
                <a:solidFill>
                  <a:srgbClr val="000000"/>
                </a:solidFill>
                <a:latin typeface="Consolas" panose="020B0609020204030204" pitchFamily="49" charset="0"/>
              </a:rPr>
              <a:t>) </a:t>
            </a:r>
            <a:r>
              <a:rPr lang="en-US" altLang="zh-CN" sz="1600" dirty="0">
                <a:solidFill>
                  <a:srgbClr val="008000"/>
                </a:solidFill>
                <a:latin typeface="Consolas" panose="020B0609020204030204" pitchFamily="49" charset="0"/>
              </a:rPr>
              <a:t>#</a:t>
            </a:r>
            <a:r>
              <a:rPr lang="zh-CN" altLang="en-US" sz="1600" dirty="0">
                <a:solidFill>
                  <a:srgbClr val="008000"/>
                </a:solidFill>
                <a:latin typeface="Consolas" panose="020B0609020204030204" pitchFamily="49" charset="0"/>
              </a:rPr>
              <a:t>求</a:t>
            </a:r>
            <a:r>
              <a:rPr lang="en-US" altLang="zh-CN" sz="1600" dirty="0">
                <a:solidFill>
                  <a:srgbClr val="008000"/>
                </a:solidFill>
                <a:latin typeface="Consolas" panose="020B0609020204030204" pitchFamily="49" charset="0"/>
              </a:rPr>
              <a:t>t=100</a:t>
            </a:r>
            <a:r>
              <a:rPr lang="zh-CN" altLang="en-US" sz="1600" dirty="0">
                <a:solidFill>
                  <a:srgbClr val="008000"/>
                </a:solidFill>
                <a:latin typeface="Consolas" panose="020B0609020204030204" pitchFamily="49" charset="0"/>
              </a:rPr>
              <a:t>时压降</a:t>
            </a:r>
            <a:r>
              <a:rPr lang="en-US" altLang="zh-CN" sz="1600" dirty="0">
                <a:solidFill>
                  <a:srgbClr val="008000"/>
                </a:solidFill>
                <a:latin typeface="Consolas" panose="020B0609020204030204" pitchFamily="49" charset="0"/>
              </a:rPr>
              <a:t>0.24009</a:t>
            </a:r>
          </a:p>
          <a:p>
            <a:pPr>
              <a:lnSpc>
                <a:spcPts val="2200"/>
              </a:lnSpc>
            </a:pPr>
            <a:r>
              <a:rPr lang="en-US" altLang="zh-CN" sz="1600" b="0" dirty="0" err="1">
                <a:solidFill>
                  <a:srgbClr val="795E26"/>
                </a:solidFill>
                <a:effectLst/>
                <a:latin typeface="Consolas" panose="020B0609020204030204" pitchFamily="49" charset="0"/>
              </a:rPr>
              <a:t>refcurve</a:t>
            </a:r>
            <a:r>
              <a:rPr lang="en-US" altLang="zh-CN" sz="1600" b="0" dirty="0">
                <a:solidFill>
                  <a:srgbClr val="000000"/>
                </a:solidFill>
                <a:effectLst/>
                <a:latin typeface="Consolas" panose="020B0609020204030204" pitchFamily="49" charset="0"/>
              </a:rPr>
              <a:t>(p)</a:t>
            </a:r>
          </a:p>
          <a:p>
            <a:pPr>
              <a:lnSpc>
                <a:spcPts val="2200"/>
              </a:lnSpc>
            </a:pPr>
            <a:r>
              <a:rPr lang="en-US" altLang="zh-CN" sz="1600" b="0" dirty="0">
                <a:solidFill>
                  <a:srgbClr val="795E26"/>
                </a:solidFill>
                <a:effectLst/>
                <a:latin typeface="Consolas" panose="020B0609020204030204" pitchFamily="49" charset="0"/>
              </a:rPr>
              <a:t>legend</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原始数据</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拟合平均值</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2200"/>
              </a:lnSpc>
            </a:pPr>
            <a:r>
              <a:rPr lang="en-US" altLang="zh-CN" sz="1600" b="0" dirty="0" err="1">
                <a:solidFill>
                  <a:srgbClr val="795E26"/>
                </a:solidFill>
                <a:effectLst/>
                <a:latin typeface="Consolas" panose="020B0609020204030204" pitchFamily="49" charset="0"/>
              </a:rPr>
              <a:t>println</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en-US" altLang="zh-CN" sz="1600" b="0" dirty="0" err="1">
                <a:solidFill>
                  <a:srgbClr val="A31515"/>
                </a:solidFill>
                <a:effectLst/>
                <a:latin typeface="Consolas" panose="020B0609020204030204" pitchFamily="49" charset="0"/>
              </a:rPr>
              <a:t>yy</a:t>
            </a:r>
            <a:r>
              <a:rPr lang="en-US" altLang="zh-CN" sz="1600" b="0" dirty="0">
                <a:solidFill>
                  <a:srgbClr val="A31515"/>
                </a:solidFill>
                <a:effectLst/>
                <a:latin typeface="Consolas" panose="020B0609020204030204" pitchFamily="49" charset="0"/>
              </a:rPr>
              <a:t>(x)=</a:t>
            </a:r>
            <a:r>
              <a:rPr lang="en-US" altLang="zh-CN" sz="1600" b="0" dirty="0">
                <a:solidFill>
                  <a:srgbClr val="001080"/>
                </a:solidFill>
                <a:effectLst/>
                <a:latin typeface="Consolas" panose="020B0609020204030204" pitchFamily="49" charset="0"/>
              </a:rPr>
              <a:t>$(p[</a:t>
            </a:r>
            <a:r>
              <a:rPr lang="en-US" altLang="zh-CN" sz="1600" b="0" dirty="0">
                <a:solidFill>
                  <a:srgbClr val="098658"/>
                </a:solidFill>
                <a:effectLst/>
                <a:latin typeface="Consolas" panose="020B0609020204030204" pitchFamily="49" charset="0"/>
              </a:rPr>
              <a:t>1</a:t>
            </a:r>
            <a:r>
              <a:rPr lang="en-US" altLang="zh-CN" sz="1600" b="0" dirty="0">
                <a:solidFill>
                  <a:srgbClr val="00108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x+</a:t>
            </a:r>
            <a:r>
              <a:rPr lang="en-US" altLang="zh-CN" sz="1600" b="0" dirty="0">
                <a:solidFill>
                  <a:srgbClr val="001080"/>
                </a:solidFill>
                <a:effectLst/>
                <a:latin typeface="Consolas" panose="020B0609020204030204" pitchFamily="49" charset="0"/>
              </a:rPr>
              <a:t>$(p[</a:t>
            </a:r>
            <a:r>
              <a:rPr lang="en-US" altLang="zh-CN" sz="1600" b="0" dirty="0">
                <a:solidFill>
                  <a:srgbClr val="098658"/>
                </a:solidFill>
                <a:effectLst/>
                <a:latin typeface="Consolas" panose="020B0609020204030204" pitchFamily="49" charset="0"/>
              </a:rPr>
              <a:t>2</a:t>
            </a:r>
            <a:r>
              <a:rPr lang="en-US" altLang="zh-CN" sz="1600" b="0" dirty="0">
                <a:solidFill>
                  <a:srgbClr val="00108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打印压降</a:t>
            </a:r>
            <a:r>
              <a:rPr lang="en-US" altLang="zh-CN" sz="1600" b="0" dirty="0">
                <a:solidFill>
                  <a:srgbClr val="008000"/>
                </a:solidFill>
                <a:effectLst/>
                <a:latin typeface="Consolas" panose="020B0609020204030204" pitchFamily="49" charset="0"/>
              </a:rPr>
              <a:t>y</a:t>
            </a:r>
            <a:r>
              <a:rPr lang="zh-CN" altLang="en-US" sz="1600" b="0" dirty="0">
                <a:solidFill>
                  <a:srgbClr val="008000"/>
                </a:solidFill>
                <a:effectLst/>
                <a:latin typeface="Consolas" panose="020B0609020204030204" pitchFamily="49" charset="0"/>
              </a:rPr>
              <a:t>与温度</a:t>
            </a:r>
            <a:r>
              <a:rPr lang="en-US" altLang="zh-CN" sz="1600" b="0" dirty="0">
                <a:solidFill>
                  <a:srgbClr val="008000"/>
                </a:solidFill>
                <a:effectLst/>
                <a:latin typeface="Consolas" panose="020B0609020204030204" pitchFamily="49" charset="0"/>
              </a:rPr>
              <a:t>x</a:t>
            </a:r>
            <a:r>
              <a:rPr lang="zh-CN" altLang="en-US" sz="1600" b="0" dirty="0">
                <a:solidFill>
                  <a:srgbClr val="008000"/>
                </a:solidFill>
                <a:effectLst/>
                <a:latin typeface="Consolas" panose="020B0609020204030204" pitchFamily="49" charset="0"/>
              </a:rPr>
              <a:t>的线性函数式</a:t>
            </a:r>
            <a:endParaRPr lang="zh-CN" altLang="en-US" sz="1600" b="0" dirty="0">
              <a:solidFill>
                <a:srgbClr val="000000"/>
              </a:solidFill>
              <a:effectLst/>
              <a:latin typeface="Consolas" panose="020B0609020204030204" pitchFamily="49" charset="0"/>
            </a:endParaRPr>
          </a:p>
        </p:txBody>
      </p:sp>
      <p:sp>
        <p:nvSpPr>
          <p:cNvPr id="20" name="矩形 19">
            <a:extLst>
              <a:ext uri="{FF2B5EF4-FFF2-40B4-BE49-F238E27FC236}">
                <a16:creationId xmlns:a16="http://schemas.microsoft.com/office/drawing/2014/main" id="{44C98A71-D216-4F5C-999F-94FA9D185E7B}"/>
              </a:ext>
            </a:extLst>
          </p:cNvPr>
          <p:cNvSpPr/>
          <p:nvPr/>
        </p:nvSpPr>
        <p:spPr>
          <a:xfrm>
            <a:off x="6760197" y="1698740"/>
            <a:ext cx="2132283" cy="284693"/>
          </a:xfrm>
          <a:prstGeom prst="rect">
            <a:avLst/>
          </a:prstGeom>
          <a:noFill/>
        </p:spPr>
        <p:txBody>
          <a:bodyPr vert="horz" wrap="square" lIns="68580" tIns="34290" rIns="68580" bIns="34290" anchor="t">
            <a:spAutoFit/>
          </a:bodyPr>
          <a:lstStyle/>
          <a:p>
            <a:pPr defTabSz="685800" eaLnBrk="0">
              <a:spcBef>
                <a:spcPts val="0"/>
              </a:spcBef>
              <a:spcAft>
                <a:spcPts val="0"/>
              </a:spcAft>
              <a:buClr>
                <a:srgbClr val="000000"/>
              </a:buClr>
            </a:pPr>
            <a:r>
              <a:rPr lang="en-US" altLang="zh-CN" sz="1400" dirty="0">
                <a:solidFill>
                  <a:srgbClr val="FF0000"/>
                </a:solidFill>
                <a:latin typeface="微软雅黑" panose="020B0503020204020204" charset="-122"/>
                <a:ea typeface="微软雅黑" panose="020B0503020204020204" charset="-122"/>
              </a:rPr>
              <a:t>x</a:t>
            </a:r>
            <a:r>
              <a:rPr lang="zh-CN" altLang="en-US" sz="1400" dirty="0">
                <a:solidFill>
                  <a:srgbClr val="FF0000"/>
                </a:solidFill>
                <a:latin typeface="微软雅黑" panose="020B0503020204020204" charset="-122"/>
                <a:ea typeface="微软雅黑" panose="020B0503020204020204" charset="-122"/>
              </a:rPr>
              <a:t>和</a:t>
            </a:r>
            <a:r>
              <a:rPr lang="en-US" altLang="zh-CN" sz="1400" dirty="0">
                <a:solidFill>
                  <a:srgbClr val="FF0000"/>
                </a:solidFill>
                <a:latin typeface="微软雅黑" panose="020B0503020204020204" charset="-122"/>
                <a:ea typeface="微软雅黑" panose="020B0503020204020204" charset="-122"/>
              </a:rPr>
              <a:t>y</a:t>
            </a:r>
            <a:r>
              <a:rPr lang="zh-CN" altLang="en-US" sz="1400" dirty="0">
                <a:solidFill>
                  <a:srgbClr val="FF0000"/>
                </a:solidFill>
                <a:latin typeface="微软雅黑" panose="020B0503020204020204" charset="-122"/>
                <a:ea typeface="微软雅黑" panose="020B0503020204020204" charset="-122"/>
              </a:rPr>
              <a:t>输入必须一维列向量</a:t>
            </a:r>
          </a:p>
        </p:txBody>
      </p:sp>
      <p:sp>
        <p:nvSpPr>
          <p:cNvPr id="21" name="形状 6">
            <a:extLst>
              <a:ext uri="{FF2B5EF4-FFF2-40B4-BE49-F238E27FC236}">
                <a16:creationId xmlns:a16="http://schemas.microsoft.com/office/drawing/2014/main" id="{1ABD85F0-6CB8-48B6-8445-7722C30FFAF6}"/>
              </a:ext>
            </a:extLst>
          </p:cNvPr>
          <p:cNvSpPr/>
          <p:nvPr/>
        </p:nvSpPr>
        <p:spPr>
          <a:xfrm>
            <a:off x="5620181" y="1635646"/>
            <a:ext cx="1260349" cy="388469"/>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dirty="0">
                <a:solidFill>
                  <a:srgbClr val="FFFF00"/>
                </a:solidFill>
                <a:latin typeface="隶书" panose="02010509060101010101" pitchFamily="49" charset="-122"/>
                <a:ea typeface="隶书" panose="02010509060101010101" pitchFamily="49" charset="-122"/>
              </a:rPr>
              <a:t>注意</a:t>
            </a:r>
            <a:endParaRPr lang="en-US" altLang="zh-CN" sz="1400" dirty="0">
              <a:solidFill>
                <a:srgbClr val="FFFF00"/>
              </a:solidFill>
              <a:latin typeface="隶书" panose="02010509060101010101" pitchFamily="49" charset="-122"/>
              <a:ea typeface="隶书" panose="02010509060101010101" pitchFamily="49" charset="-122"/>
            </a:endParaRPr>
          </a:p>
        </p:txBody>
      </p:sp>
      <p:sp>
        <p:nvSpPr>
          <p:cNvPr id="19" name="矩形 18">
            <a:extLst>
              <a:ext uri="{FF2B5EF4-FFF2-40B4-BE49-F238E27FC236}">
                <a16:creationId xmlns:a16="http://schemas.microsoft.com/office/drawing/2014/main" id="{50ACCEF3-401E-452E-8118-AAA7D99C04B8}"/>
              </a:ext>
            </a:extLst>
          </p:cNvPr>
          <p:cNvSpPr/>
          <p:nvPr/>
        </p:nvSpPr>
        <p:spPr>
          <a:xfrm>
            <a:off x="4316273" y="2335915"/>
            <a:ext cx="2343959" cy="931024"/>
          </a:xfrm>
          <a:prstGeom prst="rect">
            <a:avLst/>
          </a:prstGeom>
          <a:noFill/>
        </p:spPr>
        <p:txBody>
          <a:bodyPr vert="horz" wrap="square" lIns="68580" tIns="34290" rIns="68580" bIns="34290" anchor="t">
            <a:spAutoFit/>
          </a:bodyPr>
          <a:lstStyle/>
          <a:p>
            <a:pPr defTabSz="685800" eaLnBrk="0">
              <a:spcBef>
                <a:spcPts val="0"/>
              </a:spcBef>
              <a:spcAft>
                <a:spcPts val="0"/>
              </a:spcAft>
              <a:buClr>
                <a:srgbClr val="000000"/>
              </a:buClr>
            </a:pPr>
            <a:r>
              <a:rPr lang="zh-CN" altLang="en-US" sz="1400" dirty="0">
                <a:solidFill>
                  <a:srgbClr val="FF0000"/>
                </a:solidFill>
                <a:latin typeface="微软雅黑" panose="020B0503020204020204" charset="-122"/>
                <a:ea typeface="微软雅黑" panose="020B0503020204020204" charset="-122"/>
              </a:rPr>
              <a:t>函数有多个输出，只给一个输出量</a:t>
            </a:r>
            <a:r>
              <a:rPr lang="en-US" altLang="zh-CN" sz="1400" dirty="0">
                <a:solidFill>
                  <a:srgbClr val="FF0000"/>
                </a:solidFill>
                <a:latin typeface="微软雅黑" panose="020B0503020204020204" charset="-122"/>
                <a:ea typeface="微软雅黑" panose="020B0503020204020204" charset="-122"/>
              </a:rPr>
              <a:t>p</a:t>
            </a:r>
            <a:r>
              <a:rPr lang="zh-CN" altLang="en-US" sz="1400" dirty="0">
                <a:solidFill>
                  <a:srgbClr val="FF0000"/>
                </a:solidFill>
                <a:latin typeface="微软雅黑" panose="020B0503020204020204" charset="-122"/>
                <a:ea typeface="微软雅黑" panose="020B0503020204020204" charset="-122"/>
              </a:rPr>
              <a:t>，代表所有输出量；如输出量</a:t>
            </a:r>
            <a:r>
              <a:rPr lang="en-US" altLang="zh-CN" sz="1400" dirty="0">
                <a:solidFill>
                  <a:srgbClr val="FF0000"/>
                </a:solidFill>
                <a:latin typeface="微软雅黑" panose="020B0503020204020204" charset="-122"/>
                <a:ea typeface="微软雅黑" panose="020B0503020204020204" charset="-122"/>
              </a:rPr>
              <a:t>p</a:t>
            </a:r>
            <a:r>
              <a:rPr lang="zh-CN" altLang="en-US" sz="1400" dirty="0">
                <a:solidFill>
                  <a:srgbClr val="FF0000"/>
                </a:solidFill>
                <a:latin typeface="微软雅黑" panose="020B0503020204020204" charset="-122"/>
                <a:ea typeface="微软雅黑" panose="020B0503020204020204" charset="-122"/>
              </a:rPr>
              <a:t>加逗号，则</a:t>
            </a:r>
            <a:r>
              <a:rPr lang="en-US" altLang="zh-CN" sz="1400" dirty="0">
                <a:solidFill>
                  <a:srgbClr val="FF0000"/>
                </a:solidFill>
                <a:latin typeface="微软雅黑" panose="020B0503020204020204" charset="-122"/>
                <a:ea typeface="微软雅黑" panose="020B0503020204020204" charset="-122"/>
              </a:rPr>
              <a:t>p</a:t>
            </a:r>
            <a:r>
              <a:rPr lang="zh-CN" altLang="en-US" sz="1400" dirty="0">
                <a:solidFill>
                  <a:srgbClr val="FF0000"/>
                </a:solidFill>
                <a:latin typeface="微软雅黑" panose="020B0503020204020204" charset="-122"/>
                <a:ea typeface="微软雅黑" panose="020B0503020204020204" charset="-122"/>
              </a:rPr>
              <a:t>只表示多项式系数向量</a:t>
            </a:r>
          </a:p>
        </p:txBody>
      </p:sp>
      <p:sp>
        <p:nvSpPr>
          <p:cNvPr id="22" name="形状 6">
            <a:extLst>
              <a:ext uri="{FF2B5EF4-FFF2-40B4-BE49-F238E27FC236}">
                <a16:creationId xmlns:a16="http://schemas.microsoft.com/office/drawing/2014/main" id="{FD6074D8-6A7E-44AD-AD59-02049CF1E81F}"/>
              </a:ext>
            </a:extLst>
          </p:cNvPr>
          <p:cNvSpPr/>
          <p:nvPr/>
        </p:nvSpPr>
        <p:spPr>
          <a:xfrm>
            <a:off x="3563888" y="2403054"/>
            <a:ext cx="752385" cy="625424"/>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dirty="0">
                <a:solidFill>
                  <a:srgbClr val="FFFF00"/>
                </a:solidFill>
                <a:latin typeface="隶书" panose="02010509060101010101" pitchFamily="49" charset="-122"/>
                <a:ea typeface="隶书" panose="02010509060101010101" pitchFamily="49" charset="-122"/>
              </a:rPr>
              <a:t>注</a:t>
            </a:r>
            <a:endParaRPr lang="en-US" altLang="zh-CN" sz="1400" dirty="0">
              <a:solidFill>
                <a:srgbClr val="FFFF00"/>
              </a:solidFill>
              <a:latin typeface="隶书" panose="02010509060101010101" pitchFamily="49" charset="-122"/>
              <a:ea typeface="隶书" panose="02010509060101010101" pitchFamily="49" charset="-122"/>
            </a:endParaRPr>
          </a:p>
          <a:p>
            <a:r>
              <a:rPr lang="zh-CN" altLang="en-US" sz="1400" dirty="0">
                <a:solidFill>
                  <a:srgbClr val="FFFF00"/>
                </a:solidFill>
                <a:latin typeface="隶书" panose="02010509060101010101" pitchFamily="49" charset="-122"/>
                <a:ea typeface="隶书" panose="02010509060101010101" pitchFamily="49" charset="-122"/>
              </a:rPr>
              <a:t>意</a:t>
            </a:r>
            <a:endParaRPr lang="en-US" altLang="zh-CN" sz="1400" dirty="0">
              <a:solidFill>
                <a:srgbClr val="FFFF00"/>
              </a:solidFill>
              <a:latin typeface="隶书" panose="02010509060101010101" pitchFamily="49" charset="-122"/>
              <a:ea typeface="隶书" panose="02010509060101010101" pitchFamily="49"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日期占位符 1"/>
          <p:cNvSpPr txBox="1"/>
          <p:nvPr/>
        </p:nvSpPr>
        <p:spPr>
          <a:xfrm>
            <a:off x="518937" y="4212214"/>
            <a:ext cx="2133600" cy="357188"/>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25E81C68-AD67-4B59-A707-20F6CB98CF04}" type="datetime1">
              <a:rPr lang="zh-CN" altLang="en-US" smtClean="0"/>
              <a:t>2025/4/8</a:t>
            </a:fld>
            <a:endParaRPr lang="zh-CN" altLang="en-US"/>
          </a:p>
        </p:txBody>
      </p:sp>
      <p:sp>
        <p:nvSpPr>
          <p:cNvPr id="10" name="矩形 9"/>
          <p:cNvSpPr/>
          <p:nvPr/>
        </p:nvSpPr>
        <p:spPr>
          <a:xfrm>
            <a:off x="260820" y="1032347"/>
            <a:ext cx="8708753" cy="3600794"/>
          </a:xfrm>
          <a:prstGeom prst="rect">
            <a:avLst/>
          </a:prstGeom>
          <a:solidFill>
            <a:schemeClr val="bg1"/>
          </a:solidFill>
          <a:ln>
            <a:noFill/>
          </a:ln>
        </p:spPr>
        <p:txBody>
          <a:bodyPr wrap="square">
            <a:spAutoFit/>
          </a:bodyPr>
          <a:lstStyle/>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x=[16.0 31.7 -0.4 23.9 7.4 16.8 4.9 36.4 28.6 24.9];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道琼斯</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y=[16.6 31.5 -3.2 30.0 7.6 10.1 1.3 37.6 23.0 33.4];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标准普尔</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500</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scatter(x,y,'or','linewidth',3)</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hold on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叠加绘图</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;box on</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y1=</a:t>
            </a:r>
            <a:r>
              <a:rPr lang="en-US" altLang="zh-CN" dirty="0" err="1">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polyfit</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(x,y,1);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线性拟合</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yy1=poly2sym(y1)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符号型拟合多项式</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y9=</a:t>
            </a:r>
            <a:r>
              <a:rPr lang="en-US" altLang="zh-CN" dirty="0" err="1">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polyfit</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(x,y,9);  %9</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次拟合</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yy9=poly2sym(y9)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符号型拟合多项式</a:t>
            </a:r>
          </a:p>
          <a:p>
            <a:pPr>
              <a:lnSpc>
                <a:spcPts val="2500"/>
              </a:lnSpc>
            </a:pPr>
            <a:r>
              <a:rPr lang="en-US" altLang="zh-CN" dirty="0" err="1">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fplot</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([yy1,yy9],[-1,38]) %</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绘制符号多项式</a:t>
            </a:r>
          </a:p>
          <a:p>
            <a:pPr>
              <a:lnSpc>
                <a:spcPts val="2500"/>
              </a:lnSpc>
            </a:pPr>
            <a:r>
              <a:rPr lang="en-US" altLang="zh-CN" dirty="0" err="1">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xlabel</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道琼斯</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a:t>
            </a:r>
            <a:r>
              <a:rPr lang="en-US" altLang="zh-CN" dirty="0" err="1">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ylabel</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标普</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500')</a:t>
            </a:r>
          </a:p>
          <a:p>
            <a:pPr>
              <a:lnSpc>
                <a:spcPts val="2500"/>
              </a:lnSpc>
            </a:pP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legend('</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原始</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线性拟合</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','9</a:t>
            </a:r>
            <a:r>
              <a:rPr lang="zh-CN" altLang="en-US"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次拟合</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a:t>
            </a:r>
            <a:r>
              <a:rPr lang="en-US" altLang="zh-CN" dirty="0" err="1">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location','southwest</a:t>
            </a:r>
            <a:r>
              <a:rPr lang="en-US" altLang="zh-CN" dirty="0">
                <a:solidFill>
                  <a:srgbClr val="002060"/>
                </a:solidFill>
                <a:latin typeface="Times New Roman" panose="02020603050405020304" pitchFamily="18" charset="0"/>
                <a:ea typeface="华文宋体" panose="02010600040101010101" pitchFamily="2" charset="-122"/>
                <a:cs typeface="Times New Roman" panose="02020603050405020304" pitchFamily="18" charset="0"/>
              </a:rPr>
              <a:t>' )</a:t>
            </a:r>
          </a:p>
        </p:txBody>
      </p:sp>
      <p:sp>
        <p:nvSpPr>
          <p:cNvPr id="11" name="矩形 10"/>
          <p:cNvSpPr/>
          <p:nvPr/>
        </p:nvSpPr>
        <p:spPr>
          <a:xfrm>
            <a:off x="755575" y="678529"/>
            <a:ext cx="5557793" cy="358881"/>
          </a:xfrm>
          <a:prstGeom prst="rect">
            <a:avLst/>
          </a:prstGeom>
          <a:solidFill>
            <a:schemeClr val="bg1"/>
          </a:solidFill>
        </p:spPr>
        <p:txBody>
          <a:bodyPr wrap="square">
            <a:spAutoFit/>
          </a:bodyPr>
          <a:lstStyle/>
          <a:p>
            <a:pPr>
              <a:lnSpc>
                <a:spcPts val="2200"/>
              </a:lnSpc>
            </a:pPr>
            <a:r>
              <a:rPr lang="zh-CN" altLang="en-US" b="1" kern="0" dirty="0">
                <a:solidFill>
                  <a:srgbClr val="0070C0"/>
                </a:solidFill>
                <a:latin typeface="微软雅黑" panose="020B0503020204020204" pitchFamily="34" charset="-122"/>
                <a:ea typeface="微软雅黑" panose="020B0503020204020204" pitchFamily="34" charset="-122"/>
              </a:rPr>
              <a:t>分别</a:t>
            </a:r>
            <a:r>
              <a:rPr lang="en-US" altLang="zh-CN" b="1" kern="0" dirty="0">
                <a:solidFill>
                  <a:srgbClr val="0070C0"/>
                </a:solidFill>
                <a:latin typeface="微软雅黑" panose="020B0503020204020204" pitchFamily="34" charset="-122"/>
                <a:ea typeface="微软雅黑" panose="020B0503020204020204" pitchFamily="34" charset="-122"/>
              </a:rPr>
              <a:t>1</a:t>
            </a:r>
            <a:r>
              <a:rPr lang="zh-CN" altLang="en-US" b="1" kern="0" dirty="0">
                <a:solidFill>
                  <a:srgbClr val="0070C0"/>
                </a:solidFill>
                <a:latin typeface="微软雅黑" panose="020B0503020204020204" pitchFamily="34" charset="-122"/>
                <a:ea typeface="微软雅黑" panose="020B0503020204020204" pitchFamily="34" charset="-122"/>
              </a:rPr>
              <a:t>次多项式和</a:t>
            </a:r>
            <a:r>
              <a:rPr lang="en-US" altLang="zh-CN" b="1" kern="0" dirty="0">
                <a:solidFill>
                  <a:srgbClr val="0070C0"/>
                </a:solidFill>
                <a:latin typeface="微软雅黑" panose="020B0503020204020204" pitchFamily="34" charset="-122"/>
                <a:ea typeface="微软雅黑" panose="020B0503020204020204" pitchFamily="34" charset="-122"/>
              </a:rPr>
              <a:t>9</a:t>
            </a:r>
            <a:r>
              <a:rPr lang="zh-CN" altLang="en-US" b="1" kern="0" dirty="0">
                <a:solidFill>
                  <a:srgbClr val="0070C0"/>
                </a:solidFill>
                <a:latin typeface="微软雅黑" panose="020B0503020204020204" pitchFamily="34" charset="-122"/>
                <a:ea typeface="微软雅黑" panose="020B0503020204020204" pitchFamily="34" charset="-122"/>
              </a:rPr>
              <a:t>次多项式拟合预测股票的收益率</a:t>
            </a:r>
            <a:endParaRPr lang="zh-CN" altLang="en-US" b="1" dirty="0">
              <a:solidFill>
                <a:srgbClr val="0070C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波形 15"/>
          <p:cNvSpPr/>
          <p:nvPr/>
        </p:nvSpPr>
        <p:spPr>
          <a:xfrm>
            <a:off x="6452309" y="755354"/>
            <a:ext cx="2468162" cy="326166"/>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dist" eaLnBrk="0" fontAlgn="auto">
              <a:lnSpc>
                <a:spcPct val="140000"/>
              </a:lnSpc>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将</a:t>
            </a:r>
            <a:r>
              <a:rPr lang="en-US" altLang="zh-CN" sz="1600" b="1" dirty="0" err="1">
                <a:solidFill>
                  <a:srgbClr val="FFFF00"/>
                </a:solidFill>
                <a:latin typeface="微软雅黑" panose="020B0503020204020204" pitchFamily="34" charset="-122"/>
                <a:ea typeface="微软雅黑" panose="020B0503020204020204" pitchFamily="34" charset="-122"/>
              </a:rPr>
              <a:t>matlab</a:t>
            </a:r>
            <a:r>
              <a:rPr lang="zh-CN" altLang="en-US" sz="1600" b="1" dirty="0">
                <a:solidFill>
                  <a:srgbClr val="FFFF00"/>
                </a:solidFill>
                <a:latin typeface="微软雅黑" panose="020B0503020204020204" pitchFamily="34" charset="-122"/>
                <a:ea typeface="微软雅黑" panose="020B0503020204020204" pitchFamily="34" charset="-122"/>
              </a:rPr>
              <a:t>改为</a:t>
            </a:r>
            <a:r>
              <a:rPr lang="en-US" altLang="zh-CN" sz="1600" b="1" dirty="0">
                <a:solidFill>
                  <a:srgbClr val="FFFF00"/>
                </a:solidFill>
                <a:latin typeface="微软雅黑" panose="020B0503020204020204" pitchFamily="34" charset="-122"/>
                <a:ea typeface="微软雅黑" panose="020B0503020204020204" pitchFamily="34" charset="-122"/>
              </a:rPr>
              <a:t>Julia</a:t>
            </a:r>
            <a:r>
              <a:rPr lang="zh-CN" altLang="en-US" sz="1600" b="1" dirty="0">
                <a:solidFill>
                  <a:srgbClr val="FFFF00"/>
                </a:solidFill>
                <a:latin typeface="微软雅黑" panose="020B0503020204020204" pitchFamily="34" charset="-122"/>
                <a:ea typeface="微软雅黑" panose="020B0503020204020204" pitchFamily="34" charset="-122"/>
              </a:rPr>
              <a:t>代码</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8" name="内容占位符 2"/>
          <p:cNvSpPr txBox="1"/>
          <p:nvPr/>
        </p:nvSpPr>
        <p:spPr>
          <a:xfrm>
            <a:off x="4469827" y="1722128"/>
            <a:ext cx="4636503" cy="630103"/>
          </a:xfrm>
          <a:prstGeom prst="rect">
            <a:avLst/>
          </a:prstGeom>
          <a:solidFill>
            <a:schemeClr val="bg1"/>
          </a:solidFill>
        </p:spPr>
        <p:txBody>
          <a:bodyPr/>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fontAlgn="base">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marL="0" indent="0" algn="just">
              <a:lnSpc>
                <a:spcPts val="1900"/>
              </a:lnSpc>
              <a:buNone/>
            </a:pPr>
            <a:r>
              <a:rPr lang="en-US" altLang="zh-CN" sz="1400" kern="0" dirty="0">
                <a:solidFill>
                  <a:srgbClr val="FF0000"/>
                </a:solidFill>
                <a:latin typeface="隶书" panose="02010509060101010101" pitchFamily="49" charset="-122"/>
                <a:ea typeface="隶书" panose="02010509060101010101" pitchFamily="49" charset="-122"/>
              </a:rPr>
              <a:t>        </a:t>
            </a:r>
            <a:r>
              <a:rPr lang="en-US" altLang="zh-CN" sz="1400" b="1" kern="0" dirty="0">
                <a:solidFill>
                  <a:srgbClr val="FF0000"/>
                </a:solidFill>
                <a:latin typeface="华文宋体" panose="02010600040101010101" pitchFamily="2" charset="-122"/>
                <a:ea typeface="华文宋体" panose="02010600040101010101" pitchFamily="2" charset="-122"/>
              </a:rPr>
              <a:t>1988</a:t>
            </a:r>
            <a:r>
              <a:rPr lang="zh-CN" altLang="en-US" sz="1400" b="1" kern="0" dirty="0">
                <a:solidFill>
                  <a:srgbClr val="FF0000"/>
                </a:solidFill>
                <a:latin typeface="华文宋体" panose="02010600040101010101" pitchFamily="2" charset="-122"/>
                <a:ea typeface="华文宋体" panose="02010600040101010101" pitchFamily="2" charset="-122"/>
              </a:rPr>
              <a:t>年至</a:t>
            </a:r>
            <a:r>
              <a:rPr lang="en-US" altLang="zh-CN" sz="1400" b="1" kern="0" dirty="0">
                <a:solidFill>
                  <a:srgbClr val="FF0000"/>
                </a:solidFill>
                <a:latin typeface="华文宋体" panose="02010600040101010101" pitchFamily="2" charset="-122"/>
                <a:ea typeface="华文宋体" panose="02010600040101010101" pitchFamily="2" charset="-122"/>
              </a:rPr>
              <a:t>1997</a:t>
            </a:r>
            <a:r>
              <a:rPr lang="zh-CN" altLang="en-US" sz="1400" b="1" kern="0" dirty="0">
                <a:solidFill>
                  <a:srgbClr val="FF0000"/>
                </a:solidFill>
                <a:latin typeface="华文宋体" panose="02010600040101010101" pitchFamily="2" charset="-122"/>
                <a:ea typeface="华文宋体" panose="02010600040101010101" pitchFamily="2" charset="-122"/>
              </a:rPr>
              <a:t>年股票收益率</a:t>
            </a:r>
            <a:r>
              <a:rPr lang="en-US" altLang="zh-CN" sz="1400" b="1" kern="0" dirty="0">
                <a:solidFill>
                  <a:srgbClr val="FF0000"/>
                </a:solidFill>
                <a:latin typeface="华文宋体" panose="02010600040101010101" pitchFamily="2" charset="-122"/>
                <a:ea typeface="华文宋体" panose="02010600040101010101" pitchFamily="2" charset="-122"/>
              </a:rPr>
              <a:t>:</a:t>
            </a:r>
            <a:r>
              <a:rPr lang="zh-CN" altLang="en-US" sz="1400" b="1" kern="0" dirty="0">
                <a:solidFill>
                  <a:srgbClr val="FF0000"/>
                </a:solidFill>
                <a:latin typeface="华文宋体" panose="02010600040101010101" pitchFamily="2" charset="-122"/>
                <a:ea typeface="华文宋体" panose="02010600040101010101" pitchFamily="2" charset="-122"/>
              </a:rPr>
              <a:t>根据</a:t>
            </a:r>
            <a:r>
              <a:rPr lang="en-US" altLang="zh-CN" sz="1400" b="1" kern="0" dirty="0">
                <a:solidFill>
                  <a:srgbClr val="FF0000"/>
                </a:solidFill>
                <a:latin typeface="华文宋体" panose="02010600040101010101" pitchFamily="2" charset="-122"/>
                <a:ea typeface="华文宋体" panose="02010600040101010101" pitchFamily="2" charset="-122"/>
              </a:rPr>
              <a:t>10</a:t>
            </a:r>
            <a:r>
              <a:rPr lang="zh-CN" altLang="en-US" sz="1400" b="1" kern="0" dirty="0">
                <a:solidFill>
                  <a:srgbClr val="FF0000"/>
                </a:solidFill>
                <a:latin typeface="华文宋体" panose="02010600040101010101" pitchFamily="2" charset="-122"/>
                <a:ea typeface="华文宋体" panose="02010600040101010101" pitchFamily="2" charset="-122"/>
              </a:rPr>
              <a:t>个采样点建立标准普尔指数</a:t>
            </a:r>
            <a:r>
              <a:rPr lang="en-US" altLang="zh-CN" sz="1400" b="1" kern="0" dirty="0">
                <a:solidFill>
                  <a:srgbClr val="FF0000"/>
                </a:solidFill>
                <a:latin typeface="华文宋体" panose="02010600040101010101" pitchFamily="2" charset="-122"/>
                <a:ea typeface="华文宋体" panose="02010600040101010101" pitchFamily="2" charset="-122"/>
              </a:rPr>
              <a:t>y</a:t>
            </a:r>
            <a:r>
              <a:rPr lang="zh-CN" altLang="en-US" sz="1400" b="1" kern="0" dirty="0">
                <a:solidFill>
                  <a:srgbClr val="FF0000"/>
                </a:solidFill>
                <a:latin typeface="华文宋体" panose="02010600040101010101" pitchFamily="2" charset="-122"/>
                <a:ea typeface="华文宋体" panose="02010600040101010101" pitchFamily="2" charset="-122"/>
              </a:rPr>
              <a:t>与道琼斯工业指数</a:t>
            </a:r>
            <a:r>
              <a:rPr lang="en-US" altLang="zh-CN" sz="1400" b="1" kern="0" dirty="0">
                <a:solidFill>
                  <a:srgbClr val="FF0000"/>
                </a:solidFill>
                <a:latin typeface="华文宋体" panose="02010600040101010101" pitchFamily="2" charset="-122"/>
                <a:ea typeface="华文宋体" panose="02010600040101010101" pitchFamily="2" charset="-122"/>
              </a:rPr>
              <a:t>x</a:t>
            </a:r>
            <a:r>
              <a:rPr lang="zh-CN" altLang="en-US" sz="1400" b="1" kern="0" dirty="0">
                <a:solidFill>
                  <a:srgbClr val="FF0000"/>
                </a:solidFill>
                <a:latin typeface="华文宋体" panose="02010600040101010101" pitchFamily="2" charset="-122"/>
                <a:ea typeface="华文宋体" panose="02010600040101010101" pitchFamily="2" charset="-122"/>
              </a:rPr>
              <a:t>的</a:t>
            </a:r>
            <a:r>
              <a:rPr lang="en-US" altLang="zh-CN" sz="1400" b="1" kern="0" dirty="0">
                <a:solidFill>
                  <a:srgbClr val="FF0000"/>
                </a:solidFill>
                <a:latin typeface="华文宋体" panose="02010600040101010101" pitchFamily="2" charset="-122"/>
                <a:ea typeface="华文宋体" panose="02010600040101010101" pitchFamily="2" charset="-122"/>
              </a:rPr>
              <a:t>1</a:t>
            </a:r>
            <a:r>
              <a:rPr lang="zh-CN" altLang="en-US" sz="1400" b="1" kern="0" dirty="0">
                <a:solidFill>
                  <a:srgbClr val="FF0000"/>
                </a:solidFill>
                <a:latin typeface="华文宋体" panose="02010600040101010101" pitchFamily="2" charset="-122"/>
                <a:ea typeface="华文宋体" panose="02010600040101010101" pitchFamily="2" charset="-122"/>
              </a:rPr>
              <a:t>次和</a:t>
            </a:r>
            <a:r>
              <a:rPr lang="en-US" altLang="zh-CN" sz="1400" b="1" kern="0" dirty="0">
                <a:solidFill>
                  <a:srgbClr val="FF0000"/>
                </a:solidFill>
                <a:latin typeface="华文宋体" panose="02010600040101010101" pitchFamily="2" charset="-122"/>
                <a:ea typeface="华文宋体" panose="02010600040101010101" pitchFamily="2" charset="-122"/>
              </a:rPr>
              <a:t>9</a:t>
            </a:r>
            <a:r>
              <a:rPr lang="zh-CN" altLang="en-US" sz="1400" b="1" kern="0" dirty="0">
                <a:solidFill>
                  <a:srgbClr val="FF0000"/>
                </a:solidFill>
                <a:latin typeface="华文宋体" panose="02010600040101010101" pitchFamily="2" charset="-122"/>
                <a:ea typeface="华文宋体" panose="02010600040101010101" pitchFamily="2" charset="-122"/>
              </a:rPr>
              <a:t>次拟合关系</a:t>
            </a:r>
          </a:p>
        </p:txBody>
      </p:sp>
      <p:sp>
        <p:nvSpPr>
          <p:cNvPr id="17" name="波形 16"/>
          <p:cNvSpPr/>
          <p:nvPr/>
        </p:nvSpPr>
        <p:spPr>
          <a:xfrm>
            <a:off x="236310" y="667634"/>
            <a:ext cx="765584"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400" b="1" dirty="0">
                <a:solidFill>
                  <a:srgbClr val="FFFF00"/>
                </a:solidFill>
                <a:latin typeface="微软雅黑" panose="020B0503020204020204" pitchFamily="34" charset="-122"/>
                <a:ea typeface="微软雅黑" panose="020B0503020204020204" pitchFamily="34" charset="-122"/>
              </a:rPr>
              <a:t>例52-2</a:t>
            </a:r>
            <a:endParaRPr lang="ko-KR" altLang="en-US" sz="1400" b="1" dirty="0">
              <a:solidFill>
                <a:srgbClr val="FFFF00"/>
              </a:solidFill>
              <a:latin typeface="微软雅黑" panose="020B0503020204020204" pitchFamily="34" charset="-122"/>
            </a:endParaRPr>
          </a:p>
        </p:txBody>
      </p:sp>
      <p:sp>
        <p:nvSpPr>
          <p:cNvPr id="9" name="文本框 8"/>
          <p:cNvSpPr txBox="1"/>
          <p:nvPr/>
        </p:nvSpPr>
        <p:spPr>
          <a:xfrm>
            <a:off x="518937" y="40298"/>
            <a:ext cx="8565066" cy="567463"/>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 2.3 </a:t>
            </a:r>
            <a:r>
              <a:rPr lang="zh-CN" altLang="en-US" sz="2800" dirty="0">
                <a:solidFill>
                  <a:srgbClr val="002060"/>
                </a:solidFill>
                <a:latin typeface="华文楷体" panose="02010600040101010101" pitchFamily="2" charset="-122"/>
                <a:ea typeface="华文楷体" panose="02010600040101010101" pitchFamily="2" charset="-122"/>
              </a:rPr>
              <a:t>曲线拟合评价</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拟合度</a:t>
            </a:r>
            <a:r>
              <a:rPr lang="en-US" altLang="zh-CN" sz="2800" kern="0" dirty="0">
                <a:solidFill>
                  <a:srgbClr val="FF0000"/>
                </a:solidFill>
                <a:latin typeface="华文楷体" panose="02010600040101010101" pitchFamily="2" charset="-122"/>
                <a:ea typeface="华文楷体" panose="02010600040101010101" pitchFamily="2" charset="-122"/>
              </a:rPr>
              <a:t>R2=1</a:t>
            </a:r>
            <a:r>
              <a:rPr lang="zh-CN" altLang="en-US" sz="2800" kern="0" dirty="0">
                <a:solidFill>
                  <a:srgbClr val="FF0000"/>
                </a:solidFill>
                <a:latin typeface="华文楷体" panose="02010600040101010101" pitchFamily="2" charset="-122"/>
                <a:ea typeface="华文楷体" panose="02010600040101010101" pitchFamily="2" charset="-122"/>
              </a:rPr>
              <a:t>效果一定最好</a:t>
            </a:r>
            <a:r>
              <a:rPr lang="en-US" altLang="zh-CN" sz="2800" kern="0" dirty="0">
                <a:solidFill>
                  <a:srgbClr val="FF0000"/>
                </a:solidFill>
                <a:latin typeface="华文楷体" panose="02010600040101010101" pitchFamily="2" charset="-122"/>
                <a:ea typeface="华文楷体" panose="02010600040101010101" pitchFamily="2" charset="-122"/>
              </a:rPr>
              <a:t>?</a:t>
            </a:r>
          </a:p>
        </p:txBody>
      </p:sp>
      <p:sp>
        <p:nvSpPr>
          <p:cNvPr id="12" name="日期占位符 1"/>
          <p:cNvSpPr txBox="1"/>
          <p:nvPr/>
        </p:nvSpPr>
        <p:spPr>
          <a:xfrm>
            <a:off x="7543777" y="4698127"/>
            <a:ext cx="1425796" cy="357188"/>
          </a:xfrm>
          <a:prstGeom prst="rect">
            <a:avLst/>
          </a:prstGeom>
        </p:spPr>
        <p:txBody>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25E81C68-AD67-4B59-A707-20F6CB98CF04}" type="datetime1">
              <a:rPr lang="zh-CN" altLang="en-US" smtClean="0"/>
              <a:t>2025/4/8</a:t>
            </a:fld>
            <a:endParaRPr lang="zh-CN" altLang="en-US" dirty="0"/>
          </a:p>
        </p:txBody>
      </p:sp>
      <p:pic>
        <p:nvPicPr>
          <p:cNvPr id="13" name="图片 12"/>
          <p:cNvPicPr>
            <a:picLocks noChangeAspect="1"/>
          </p:cNvPicPr>
          <p:nvPr/>
        </p:nvPicPr>
        <p:blipFill>
          <a:blip r:embed="rId2"/>
          <a:stretch>
            <a:fillRect/>
          </a:stretch>
        </p:blipFill>
        <p:spPr>
          <a:xfrm>
            <a:off x="4475911" y="2202455"/>
            <a:ext cx="4776609" cy="2422422"/>
          </a:xfrm>
          <a:prstGeom prst="rect">
            <a:avLst/>
          </a:prstGeom>
        </p:spPr>
      </p:pic>
      <p:sp>
        <p:nvSpPr>
          <p:cNvPr id="14" name="矩形 13"/>
          <p:cNvSpPr/>
          <p:nvPr/>
        </p:nvSpPr>
        <p:spPr>
          <a:xfrm>
            <a:off x="5632604" y="2989905"/>
            <a:ext cx="3456384" cy="1008609"/>
          </a:xfrm>
          <a:prstGeom prst="rect">
            <a:avLst/>
          </a:prstGeom>
          <a:noFill/>
        </p:spPr>
        <p:txBody>
          <a:bodyPr wrap="square">
            <a:spAutoFit/>
          </a:bodyPr>
          <a:lstStyle/>
          <a:p>
            <a:pPr>
              <a:lnSpc>
                <a:spcPts val="2500"/>
              </a:lnSpc>
            </a:pPr>
            <a:r>
              <a:rPr lang="en-US" altLang="zh-CN" sz="1600" dirty="0">
                <a:solidFill>
                  <a:srgbClr val="0070C0"/>
                </a:solidFill>
                <a:latin typeface="隶书" panose="02010509060101010101" pitchFamily="49" charset="-122"/>
                <a:ea typeface="隶书" panose="02010509060101010101" pitchFamily="49" charset="-122"/>
              </a:rPr>
              <a:t>9</a:t>
            </a:r>
            <a:r>
              <a:rPr lang="zh-CN" altLang="en-US" sz="1600" dirty="0">
                <a:solidFill>
                  <a:srgbClr val="0070C0"/>
                </a:solidFill>
                <a:latin typeface="隶书" panose="02010509060101010101" pitchFamily="49" charset="-122"/>
                <a:ea typeface="隶书" panose="02010509060101010101" pitchFamily="49" charset="-122"/>
              </a:rPr>
              <a:t>次拟合曲线经过全部实验点</a:t>
            </a:r>
            <a:r>
              <a:rPr lang="en-US" altLang="zh-CN" sz="1600" dirty="0" err="1">
                <a:solidFill>
                  <a:srgbClr val="0070C0"/>
                </a:solidFill>
                <a:latin typeface="隶书" panose="02010509060101010101" pitchFamily="49" charset="-122"/>
                <a:ea typeface="隶书" panose="02010509060101010101" pitchFamily="49" charset="-122"/>
              </a:rPr>
              <a:t>yi</a:t>
            </a:r>
            <a:r>
              <a:rPr lang="zh-CN" altLang="en-US" sz="1600" dirty="0">
                <a:solidFill>
                  <a:srgbClr val="0070C0"/>
                </a:solidFill>
                <a:latin typeface="隶书" panose="02010509060101010101" pitchFamily="49" charset="-122"/>
                <a:ea typeface="隶书" panose="02010509060101010101" pitchFamily="49" charset="-122"/>
              </a:rPr>
              <a:t>，</a:t>
            </a:r>
            <a:endParaRPr lang="en-US" altLang="zh-CN" sz="1600" dirty="0">
              <a:solidFill>
                <a:srgbClr val="0070C0"/>
              </a:solidFill>
              <a:latin typeface="隶书" panose="02010509060101010101" pitchFamily="49" charset="-122"/>
              <a:ea typeface="隶书" panose="02010509060101010101" pitchFamily="49" charset="-122"/>
            </a:endParaRPr>
          </a:p>
          <a:p>
            <a:pPr>
              <a:lnSpc>
                <a:spcPts val="2500"/>
              </a:lnSpc>
            </a:pPr>
            <a:r>
              <a:rPr lang="zh-CN" altLang="en-US" sz="1600" kern="0"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残差</a:t>
            </a:r>
            <a:r>
              <a:rPr lang="en-US" altLang="ko-KR" sz="1600" kern="0" dirty="0" err="1">
                <a:solidFill>
                  <a:srgbClr val="0070C0"/>
                </a:solidFill>
                <a:latin typeface="Times New Roman" panose="02020603050405020304" pitchFamily="18" charset="0"/>
                <a:ea typeface="隶书" panose="02010509060101010101" pitchFamily="49" charset="-122"/>
                <a:cs typeface="Times New Roman" panose="02020603050405020304" pitchFamily="18" charset="0"/>
              </a:rPr>
              <a:t>平方和最小</a:t>
            </a:r>
            <a:r>
              <a:rPr lang="zh-CN" altLang="en-US" sz="1600" kern="0"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值为</a:t>
            </a:r>
            <a:r>
              <a:rPr lang="en-US" altLang="zh-CN" sz="1600" kern="0" dirty="0">
                <a:solidFill>
                  <a:srgbClr val="0070C0"/>
                </a:solidFill>
                <a:latin typeface="Times New Roman" panose="02020603050405020304" pitchFamily="18" charset="0"/>
                <a:ea typeface="隶书" panose="02010509060101010101" pitchFamily="49" charset="-122"/>
                <a:cs typeface="Times New Roman" panose="02020603050405020304" pitchFamily="18" charset="0"/>
              </a:rPr>
              <a:t>0,</a:t>
            </a:r>
            <a:r>
              <a:rPr lang="zh-CN" altLang="en-US" sz="1600" dirty="0">
                <a:solidFill>
                  <a:srgbClr val="0070C0"/>
                </a:solidFill>
                <a:latin typeface="隶书" panose="02010509060101010101" pitchFamily="49" charset="-122"/>
                <a:ea typeface="隶书" panose="02010509060101010101" pitchFamily="49" charset="-122"/>
              </a:rPr>
              <a:t> 即拟合度rr=1，但是噪音太大，外推效果更差</a:t>
            </a:r>
          </a:p>
        </p:txBody>
      </p:sp>
      <p:sp>
        <p:nvSpPr>
          <p:cNvPr id="18" name="波形 17">
            <a:extLst>
              <a:ext uri="{FF2B5EF4-FFF2-40B4-BE49-F238E27FC236}">
                <a16:creationId xmlns:a16="http://schemas.microsoft.com/office/drawing/2014/main" id="{F4DC7CAC-1C38-4B47-BD94-8902BC8F49A1}"/>
              </a:ext>
            </a:extLst>
          </p:cNvPr>
          <p:cNvSpPr/>
          <p:nvPr/>
        </p:nvSpPr>
        <p:spPr>
          <a:xfrm>
            <a:off x="4475911" y="1677740"/>
            <a:ext cx="765584"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400" b="1" dirty="0">
                <a:solidFill>
                  <a:srgbClr val="FFFF00"/>
                </a:solidFill>
                <a:latin typeface="微软雅黑" panose="020B0503020204020204" pitchFamily="34" charset="-122"/>
                <a:ea typeface="微软雅黑" panose="020B0503020204020204" pitchFamily="34" charset="-122"/>
              </a:rPr>
              <a:t>例52-2</a:t>
            </a:r>
            <a:endParaRPr lang="ko-KR" altLang="en-US" sz="1400" b="1" dirty="0">
              <a:solidFill>
                <a:srgbClr val="FFFF00"/>
              </a:solidFill>
              <a:latin typeface="微软雅黑" panose="020B0503020204020204" pitchFamily="34" charset="-122"/>
            </a:endParaRPr>
          </a:p>
        </p:txBody>
      </p:sp>
    </p:spTree>
    <p:extLst>
      <p:ext uri="{BB962C8B-B14F-4D97-AF65-F5344CB8AC3E}">
        <p14:creationId xmlns:p14="http://schemas.microsoft.com/office/powerpoint/2010/main" val="1846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1383" y="900417"/>
            <a:ext cx="9079668" cy="312201"/>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177800" marR="0" indent="-177800" algn="ctr" defTabSz="914400" rtl="0" eaLnBrk="0" fontAlgn="base" latinLnBrk="0" hangingPunct="0">
              <a:lnSpc>
                <a:spcPct val="110000"/>
              </a:lnSpc>
              <a:spcBef>
                <a:spcPct val="0"/>
              </a:spcBef>
              <a:spcAft>
                <a:spcPct val="0"/>
              </a:spcAft>
              <a:buClrTx/>
              <a:buSzTx/>
              <a:buFontTx/>
              <a:buNone/>
            </a:pPr>
            <a:endParaRPr kumimoji="0" lang="zh-CN" altLang="en-US" sz="1400" b="1" i="0" u="none" strike="noStrike" cap="none" normalizeH="0" baseline="0">
              <a:ln>
                <a:noFill/>
              </a:ln>
              <a:solidFill>
                <a:srgbClr val="00B0F0"/>
              </a:solidFill>
              <a:effectLst/>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4" name="形状 2"/>
              <p:cNvSpPr/>
              <p:nvPr/>
            </p:nvSpPr>
            <p:spPr>
              <a:xfrm>
                <a:off x="1502134" y="1361743"/>
                <a:ext cx="5940660" cy="346249"/>
              </a:xfrm>
              <a:prstGeom prst="rect">
                <a:avLst/>
              </a:prstGeom>
            </p:spPr>
            <p:txBody>
              <a:bodyPr vert="horz" wrap="square" lIns="68580" tIns="34290" rIns="68580" bIns="34290" numCol="1" anchor="t">
                <a:spAutoFit/>
              </a:bodyPr>
              <a:lstStyle/>
              <a:p>
                <a:pPr defTabSz="685800" eaLnBrk="0" fontAlgn="auto">
                  <a:spcBef>
                    <a:spcPts val="0"/>
                  </a:spcBef>
                  <a:spcAft>
                    <a:spcPts val="0"/>
                  </a:spcAft>
                </a:pPr>
                <a:r>
                  <a:rPr lang="zh-CN" altLang="en-US" dirty="0">
                    <a:latin typeface="华文楷体" panose="02010600040101010101" pitchFamily="2" charset="-122"/>
                    <a:ea typeface="华文楷体" panose="02010600040101010101" pitchFamily="2" charset="-122"/>
                  </a:rPr>
                  <a:t>原始观测数据</a:t>
                </a:r>
                <a14:m>
                  <m:oMath xmlns:m="http://schemas.openxmlformats.org/officeDocument/2006/math">
                    <m:r>
                      <a:rPr lang="en-US" altLang="ko-KR">
                        <a:latin typeface="Cambria Math" panose="02040503050406030204" pitchFamily="18" charset="0"/>
                        <a:ea typeface="华文楷体" panose="02010600040101010101" pitchFamily="2" charset="-122"/>
                      </a:rPr>
                      <m:t>𝑦𝑖</m:t>
                    </m:r>
                  </m:oMath>
                </a14:m>
                <a:r>
                  <a:rPr lang="zh-CN" altLang="en-US" dirty="0">
                    <a:latin typeface="华文楷体" panose="02010600040101010101" pitchFamily="2" charset="-122"/>
                    <a:ea typeface="华文楷体" panose="02010600040101010101" pitchFamily="2" charset="-122"/>
                  </a:rPr>
                  <a:t>和拟合估计数据</a:t>
                </a:r>
                <a14:m>
                  <m:oMath xmlns:m="http://schemas.openxmlformats.org/officeDocument/2006/math">
                    <m:r>
                      <a:rPr lang="en-US" altLang="ko-KR">
                        <a:latin typeface="Cambria Math" panose="02040503050406030204" pitchFamily="18" charset="0"/>
                        <a:ea typeface="华文楷体" panose="02010600040101010101" pitchFamily="2" charset="-122"/>
                      </a:rPr>
                      <m:t>𝑦</m:t>
                    </m:r>
                    <m:d>
                      <m:dPr>
                        <m:ctrlPr>
                          <a:rPr lang="en-US" altLang="zh-CN" i="1">
                            <a:latin typeface="Cambria Math" panose="02040503050406030204" pitchFamily="18" charset="0"/>
                            <a:ea typeface="华文楷体" panose="02010600040101010101" pitchFamily="2" charset="-122"/>
                          </a:rPr>
                        </m:ctrlPr>
                      </m:dPr>
                      <m:e>
                        <m:r>
                          <a:rPr lang="en-US" altLang="zh-CN">
                            <a:latin typeface="Cambria Math" panose="02040503050406030204" pitchFamily="18" charset="0"/>
                            <a:ea typeface="华文楷体" panose="02010600040101010101" pitchFamily="2" charset="-122"/>
                          </a:rPr>
                          <m:t>𝑥𝑖</m:t>
                        </m:r>
                      </m:e>
                    </m:d>
                  </m:oMath>
                </a14:m>
                <a:r>
                  <a:rPr lang="zh-CN" altLang="en-US" dirty="0">
                    <a:latin typeface="华文楷体" panose="02010600040101010101" pitchFamily="2" charset="-122"/>
                    <a:ea typeface="华文楷体" panose="02010600040101010101" pitchFamily="2" charset="-122"/>
                  </a:rPr>
                  <a:t>之差的平方和</a:t>
                </a:r>
                <a:endParaRPr lang="ko-KR" altLang="en-US" dirty="0">
                  <a:latin typeface="华文楷体" panose="02010600040101010101" pitchFamily="2" charset="-122"/>
                  <a:ea typeface="华文楷体" panose="02010600040101010101" pitchFamily="2" charset="-122"/>
                </a:endParaRPr>
              </a:p>
            </p:txBody>
          </p:sp>
        </mc:Choice>
        <mc:Fallback xmlns="">
          <p:sp>
            <p:nvSpPr>
              <p:cNvPr id="4" name="形状 2"/>
              <p:cNvSpPr>
                <a:spLocks noRot="1" noChangeAspect="1" noMove="1" noResize="1" noEditPoints="1" noAdjustHandles="1" noChangeArrowheads="1" noChangeShapeType="1" noTextEdit="1"/>
              </p:cNvSpPr>
              <p:nvPr/>
            </p:nvSpPr>
            <p:spPr>
              <a:xfrm>
                <a:off x="1502134" y="1361743"/>
                <a:ext cx="5940660" cy="346249"/>
              </a:xfrm>
              <a:prstGeom prst="rect">
                <a:avLst/>
              </a:prstGeom>
              <a:blipFill>
                <a:blip r:embed="rId3"/>
                <a:stretch>
                  <a:fillRect l="-1231" t="-10526"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780435" y="1670156"/>
                <a:ext cx="3026847" cy="312778"/>
              </a:xfrm>
              <a:prstGeom prst="rect">
                <a:avLst/>
              </a:prstGeom>
              <a:ln w="3175">
                <a:noFill/>
              </a:ln>
            </p:spPr>
            <p:txBody>
              <a:bodyPr wrap="square">
                <a:spAutoFit/>
              </a:bodyPr>
              <a:lstStyle/>
              <a:p>
                <a:pPr defTabSz="685800" eaLnBrk="0" fontAlgn="auto">
                  <a:spcBef>
                    <a:spcPts val="0"/>
                  </a:spcBef>
                  <a:spcAft>
                    <a:spcPts val="0"/>
                  </a:spcAft>
                </a:pPr>
                <a14:m>
                  <m:oMath xmlns:m="http://schemas.openxmlformats.org/officeDocument/2006/math">
                    <m:r>
                      <a:rPr lang="en-US" altLang="ko-KR" sz="1400" b="0" i="1" smtClean="0">
                        <a:solidFill>
                          <a:srgbClr val="FF0000"/>
                        </a:solidFill>
                        <a:latin typeface="Cambria Math" panose="02040503050406030204" pitchFamily="18" charset="0"/>
                        <a:ea typeface="微软雅黑" panose="020B0503020204020204" pitchFamily="34" charset="-122"/>
                      </a:rPr>
                      <m:t>𝑆𝑆𝐸</m:t>
                    </m:r>
                    <m:r>
                      <a:rPr lang="en-US" altLang="ko-KR" sz="1400" b="0" i="1" smtClean="0">
                        <a:solidFill>
                          <a:srgbClr val="FF0000"/>
                        </a:solidFill>
                        <a:latin typeface="Cambria Math" panose="02040503050406030204" pitchFamily="18" charset="0"/>
                        <a:ea typeface="微软雅黑" panose="020B0503020204020204" pitchFamily="34" charset="-122"/>
                      </a:rPr>
                      <m:t>=</m:t>
                    </m:r>
                    <m:nary>
                      <m:naryPr>
                        <m:chr m:val="∑"/>
                        <m:ctrlPr>
                          <a:rPr lang="en-US" altLang="ko-KR" sz="1400" i="1">
                            <a:solidFill>
                              <a:srgbClr val="FF0000"/>
                            </a:solidFill>
                            <a:latin typeface="Cambria Math" panose="02040503050406030204" pitchFamily="18" charset="0"/>
                            <a:ea typeface="微软雅黑" panose="020B0503020204020204" pitchFamily="34" charset="-122"/>
                          </a:rPr>
                        </m:ctrlPr>
                      </m:naryPr>
                      <m:sub>
                        <m:r>
                          <m:rPr>
                            <m:brk m:alnAt="23"/>
                          </m:rPr>
                          <a:rPr lang="en-US" altLang="ko-KR" sz="1400" b="0" i="1">
                            <a:solidFill>
                              <a:srgbClr val="FF0000"/>
                            </a:solidFill>
                            <a:latin typeface="Cambria Math" panose="02040503050406030204" pitchFamily="18" charset="0"/>
                            <a:ea typeface="微软雅黑" panose="020B0503020204020204" pitchFamily="34" charset="-122"/>
                          </a:rPr>
                          <m:t>𝑖</m:t>
                        </m:r>
                        <m:r>
                          <a:rPr lang="en-US" altLang="ko-KR" sz="1400" b="0" i="1">
                            <a:solidFill>
                              <a:srgbClr val="FF0000"/>
                            </a:solidFill>
                            <a:latin typeface="Cambria Math" panose="02040503050406030204" pitchFamily="18" charset="0"/>
                            <a:ea typeface="微软雅黑" panose="020B0503020204020204" pitchFamily="34" charset="-122"/>
                          </a:rPr>
                          <m:t>=1</m:t>
                        </m:r>
                      </m:sub>
                      <m:sup>
                        <m:r>
                          <a:rPr lang="en-US" altLang="ko-KR" sz="1400" b="0" i="1" smtClean="0">
                            <a:solidFill>
                              <a:srgbClr val="FF0000"/>
                            </a:solidFill>
                            <a:latin typeface="Cambria Math" panose="02040503050406030204" pitchFamily="18" charset="0"/>
                            <a:ea typeface="微软雅黑" panose="020B0503020204020204" pitchFamily="34" charset="-122"/>
                          </a:rPr>
                          <m:t>𝑚</m:t>
                        </m:r>
                      </m:sup>
                      <m:e>
                        <m:sSup>
                          <m:sSupPr>
                            <m:ctrlPr>
                              <a:rPr lang="en-US" altLang="ko-KR" sz="1400" i="1">
                                <a:solidFill>
                                  <a:srgbClr val="FF0000"/>
                                </a:solidFill>
                                <a:latin typeface="Cambria Math" panose="02040503050406030204" pitchFamily="18" charset="0"/>
                                <a:ea typeface="微软雅黑" panose="020B0503020204020204" pitchFamily="34" charset="-122"/>
                              </a:rPr>
                            </m:ctrlPr>
                          </m:sSupPr>
                          <m:e>
                            <m:r>
                              <a:rPr lang="en-US" altLang="ko-KR" sz="1400" b="0" i="1">
                                <a:solidFill>
                                  <a:srgbClr val="FF0000"/>
                                </a:solidFill>
                                <a:latin typeface="Cambria Math" panose="02040503050406030204" pitchFamily="18" charset="0"/>
                                <a:ea typeface="微软雅黑" panose="020B0503020204020204" pitchFamily="34" charset="-122"/>
                              </a:rPr>
                              <m:t>(</m:t>
                            </m:r>
                            <m:r>
                              <a:rPr lang="en-US" altLang="ko-KR" sz="1400" b="0" i="1">
                                <a:solidFill>
                                  <a:srgbClr val="FF0000"/>
                                </a:solidFill>
                                <a:latin typeface="Cambria Math" panose="02040503050406030204" pitchFamily="18" charset="0"/>
                                <a:ea typeface="微软雅黑" panose="020B0503020204020204" pitchFamily="34" charset="-122"/>
                              </a:rPr>
                              <m:t>𝑦𝑖</m:t>
                            </m:r>
                            <m:r>
                              <a:rPr lang="en-US" altLang="ko-KR" sz="1400" b="0" i="1">
                                <a:solidFill>
                                  <a:srgbClr val="FF0000"/>
                                </a:solidFill>
                                <a:latin typeface="Cambria Math" panose="02040503050406030204" pitchFamily="18" charset="0"/>
                                <a:ea typeface="微软雅黑" panose="020B0503020204020204" pitchFamily="34" charset="-122"/>
                              </a:rPr>
                              <m:t>−</m:t>
                            </m:r>
                            <m:r>
                              <a:rPr lang="en-US" altLang="ko-KR" sz="1400" b="0" i="1">
                                <a:solidFill>
                                  <a:srgbClr val="FF0000"/>
                                </a:solidFill>
                                <a:latin typeface="Cambria Math" panose="02040503050406030204" pitchFamily="18" charset="0"/>
                                <a:ea typeface="微软雅黑" panose="020B0503020204020204" pitchFamily="34" charset="-122"/>
                              </a:rPr>
                              <m:t>𝑦</m:t>
                            </m:r>
                            <m:d>
                              <m:dPr>
                                <m:ctrlPr>
                                  <a:rPr lang="en-US" altLang="zh-CN" sz="1400" i="1">
                                    <a:solidFill>
                                      <a:srgbClr val="FF0000"/>
                                    </a:solidFill>
                                    <a:latin typeface="Cambria Math" panose="02040503050406030204" pitchFamily="18" charset="0"/>
                                    <a:ea typeface="微软雅黑" panose="020B0503020204020204" pitchFamily="34" charset="-122"/>
                                  </a:rPr>
                                </m:ctrlPr>
                              </m:dPr>
                              <m:e>
                                <m:r>
                                  <a:rPr lang="en-US" altLang="zh-CN" sz="1400" b="0" i="1">
                                    <a:solidFill>
                                      <a:srgbClr val="FF0000"/>
                                    </a:solidFill>
                                    <a:latin typeface="Cambria Math" panose="02040503050406030204" pitchFamily="18" charset="0"/>
                                    <a:ea typeface="微软雅黑" panose="020B0503020204020204" pitchFamily="34" charset="-122"/>
                                  </a:rPr>
                                  <m:t>𝑥𝑖</m:t>
                                </m:r>
                              </m:e>
                            </m:d>
                            <m:r>
                              <a:rPr lang="en-US" altLang="ko-KR" sz="1400" b="0" i="1">
                                <a:solidFill>
                                  <a:srgbClr val="FF0000"/>
                                </a:solidFill>
                                <a:latin typeface="Cambria Math" panose="02040503050406030204" pitchFamily="18" charset="0"/>
                                <a:ea typeface="微软雅黑" panose="020B0503020204020204" pitchFamily="34" charset="-122"/>
                              </a:rPr>
                              <m:t>)</m:t>
                            </m:r>
                          </m:e>
                          <m:sup>
                            <m:r>
                              <a:rPr lang="en-US" altLang="ko-KR" sz="1400" b="0" i="1">
                                <a:solidFill>
                                  <a:srgbClr val="FF0000"/>
                                </a:solidFill>
                                <a:latin typeface="Cambria Math" panose="02040503050406030204" pitchFamily="18" charset="0"/>
                                <a:ea typeface="微软雅黑" panose="020B0503020204020204" pitchFamily="34" charset="-122"/>
                              </a:rPr>
                              <m:t>2</m:t>
                            </m:r>
                          </m:sup>
                        </m:sSup>
                        <m:r>
                          <a:rPr lang="en-US" altLang="ko-KR" sz="1400" b="0" i="1">
                            <a:solidFill>
                              <a:srgbClr val="FF0000"/>
                            </a:solidFill>
                            <a:latin typeface="Cambria Math" panose="02040503050406030204" pitchFamily="18" charset="0"/>
                            <a:ea typeface="微软雅黑" panose="020B0503020204020204" pitchFamily="34" charset="-122"/>
                          </a:rPr>
                          <m:t>  </m:t>
                        </m:r>
                      </m:e>
                    </m:nary>
                  </m:oMath>
                </a14:m>
                <a:r>
                  <a:rPr lang="zh-CN" altLang="en-US" sz="1400" dirty="0">
                    <a:solidFill>
                      <a:srgbClr val="FF0000"/>
                    </a:solidFill>
                    <a:latin typeface="华文楷体" panose="02010600040101010101" pitchFamily="2" charset="-122"/>
                    <a:ea typeface="华文楷体" panose="02010600040101010101" pitchFamily="2" charset="-122"/>
                  </a:rPr>
                  <a:t> </a:t>
                </a:r>
                <a:endParaRPr lang="ko-KR" altLang="en-US" sz="1400" dirty="0">
                  <a:solidFill>
                    <a:srgbClr val="FF0000"/>
                  </a:solidFill>
                  <a:latin typeface="华文楷体" panose="02010600040101010101" pitchFamily="2" charset="-122"/>
                  <a:ea typeface="微软雅黑" panose="020B0503020204020204" pitchFamily="34"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1780435" y="1670156"/>
                <a:ext cx="3026847" cy="312778"/>
              </a:xfrm>
              <a:prstGeom prst="rect">
                <a:avLst/>
              </a:prstGeom>
              <a:blipFill>
                <a:blip r:embed="rId4"/>
                <a:stretch>
                  <a:fillRect t="-100000" b="-158824"/>
                </a:stretch>
              </a:blipFill>
              <a:ln w="317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形状 2"/>
              <p:cNvSpPr/>
              <p:nvPr/>
            </p:nvSpPr>
            <p:spPr>
              <a:xfrm>
                <a:off x="1449294" y="2785947"/>
                <a:ext cx="5318070" cy="315471"/>
              </a:xfrm>
              <a:prstGeom prst="rect">
                <a:avLst/>
              </a:prstGeom>
            </p:spPr>
            <p:txBody>
              <a:bodyPr vert="horz" wrap="square" lIns="68580" tIns="34290" rIns="68580" bIns="34290" numCol="1" anchor="t">
                <a:spAutoFit/>
              </a:bodyPr>
              <a:lstStyle/>
              <a:p>
                <a:pPr defTabSz="685800" eaLnBrk="0" fontAlgn="auto">
                  <a:spcBef>
                    <a:spcPts val="0"/>
                  </a:spcBef>
                  <a:spcAft>
                    <a:spcPts val="0"/>
                  </a:spcAft>
                </a:pPr>
                <a:r>
                  <a:rPr lang="zh-CN" altLang="en-US" sz="1600" dirty="0">
                    <a:latin typeface="华文楷体" panose="02010600040101010101" pitchFamily="2" charset="-122"/>
                    <a:ea typeface="华文楷体" panose="02010600040101010101" pitchFamily="2" charset="-122"/>
                  </a:rPr>
                  <a:t>原始观测数据</a:t>
                </a:r>
                <a14:m>
                  <m:oMath xmlns:m="http://schemas.openxmlformats.org/officeDocument/2006/math">
                    <m:r>
                      <a:rPr lang="en-US" altLang="ko-KR" sz="1600">
                        <a:latin typeface="Cambria Math" panose="02040503050406030204" pitchFamily="18" charset="0"/>
                        <a:ea typeface="华文楷体" panose="02010600040101010101" pitchFamily="2" charset="-122"/>
                      </a:rPr>
                      <m:t>𝑦𝑖</m:t>
                    </m:r>
                  </m:oMath>
                </a14:m>
                <a:r>
                  <a:rPr lang="zh-CN" altLang="en-US" sz="1600" dirty="0">
                    <a:latin typeface="华文楷体" panose="02010600040101010101" pitchFamily="2" charset="-122"/>
                    <a:ea typeface="华文楷体" panose="02010600040101010101" pitchFamily="2" charset="-122"/>
                  </a:rPr>
                  <a:t>和平均数据</a:t>
                </a:r>
                <a14:m>
                  <m:oMath xmlns:m="http://schemas.openxmlformats.org/officeDocument/2006/math">
                    <m:acc>
                      <m:accPr>
                        <m:chr m:val="̅"/>
                        <m:ctrlPr>
                          <a:rPr lang="en-US" altLang="ko-KR" sz="1600" i="1">
                            <a:latin typeface="Cambria Math" panose="02040503050406030204" pitchFamily="18" charset="0"/>
                            <a:ea typeface="华文楷体" panose="02010600040101010101" pitchFamily="2" charset="-122"/>
                          </a:rPr>
                        </m:ctrlPr>
                      </m:accPr>
                      <m:e>
                        <m:r>
                          <a:rPr lang="en-US" altLang="zh-CN" sz="1600">
                            <a:latin typeface="Cambria Math" panose="02040503050406030204" pitchFamily="18" charset="0"/>
                            <a:ea typeface="华文楷体" panose="02010600040101010101" pitchFamily="2" charset="-122"/>
                          </a:rPr>
                          <m:t>𝑦</m:t>
                        </m:r>
                      </m:e>
                    </m:acc>
                  </m:oMath>
                </a14:m>
                <a:r>
                  <a:rPr lang="zh-CN" altLang="en-US" sz="1600" dirty="0">
                    <a:latin typeface="华文楷体" panose="02010600040101010101" pitchFamily="2" charset="-122"/>
                    <a:ea typeface="华文楷体" panose="02010600040101010101" pitchFamily="2" charset="-122"/>
                  </a:rPr>
                  <a:t>之差的平方和</a:t>
                </a:r>
                <a:endParaRPr lang="en-US" altLang="ko-KR" sz="1600" dirty="0">
                  <a:latin typeface="华文楷体" panose="02010600040101010101" pitchFamily="2" charset="-122"/>
                  <a:ea typeface="华文楷体" panose="02010600040101010101" pitchFamily="2" charset="-122"/>
                </a:endParaRPr>
              </a:p>
            </p:txBody>
          </p:sp>
        </mc:Choice>
        <mc:Fallback xmlns="">
          <p:sp>
            <p:nvSpPr>
              <p:cNvPr id="6" name="形状 2"/>
              <p:cNvSpPr>
                <a:spLocks noRot="1" noChangeAspect="1" noMove="1" noResize="1" noEditPoints="1" noAdjustHandles="1" noChangeArrowheads="1" noChangeShapeType="1" noTextEdit="1"/>
              </p:cNvSpPr>
              <p:nvPr/>
            </p:nvSpPr>
            <p:spPr>
              <a:xfrm>
                <a:off x="1449294" y="2785947"/>
                <a:ext cx="5318070" cy="315471"/>
              </a:xfrm>
              <a:prstGeom prst="rect">
                <a:avLst/>
              </a:prstGeom>
              <a:blipFill>
                <a:blip r:embed="rId5"/>
                <a:stretch>
                  <a:fillRect l="-1147" t="-7692" b="-28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97476" y="3170832"/>
                <a:ext cx="5047644" cy="344325"/>
              </a:xfrm>
              <a:prstGeom prst="rect">
                <a:avLst/>
              </a:prstGeom>
              <a:solidFill>
                <a:schemeClr val="bg1"/>
              </a:solidFill>
              <a:ln w="3175">
                <a:noFill/>
              </a:ln>
            </p:spPr>
            <p:txBody>
              <a:bodyPr wrap="square">
                <a:spAutoFit/>
              </a:bodyPr>
              <a:lstStyle/>
              <a:p>
                <a:pPr defTabSz="685800" eaLnBrk="0" fontAlgn="auto">
                  <a:spcBef>
                    <a:spcPts val="0"/>
                  </a:spcBef>
                  <a:spcAft>
                    <a:spcPts val="0"/>
                  </a:spcAft>
                </a:pPr>
                <a:r>
                  <a:rPr lang="zh-CN" altLang="en-US" sz="1600" dirty="0">
                    <a:latin typeface="华文楷体" panose="02010600040101010101" pitchFamily="2" charset="-122"/>
                    <a:ea typeface="华文楷体" panose="02010600040101010101" pitchFamily="2" charset="-122"/>
                  </a:rPr>
                  <a:t>拟合前的</a:t>
                </a:r>
                <a14:m>
                  <m:oMath xmlns:m="http://schemas.openxmlformats.org/officeDocument/2006/math">
                    <m:r>
                      <a:rPr lang="zh-CN" altLang="en-US" sz="1600">
                        <a:latin typeface="Cambria Math" panose="02040503050406030204" pitchFamily="18" charset="0"/>
                        <a:ea typeface="华文楷体" panose="02010600040101010101" pitchFamily="2" charset="-122"/>
                      </a:rPr>
                      <m:t>总平方</m:t>
                    </m:r>
                    <m:r>
                      <a:rPr lang="zh-CN" altLang="en-US" sz="1600" dirty="0">
                        <a:latin typeface="Cambria Math" panose="02040503050406030204" pitchFamily="18" charset="0"/>
                        <a:ea typeface="华文楷体" panose="02010600040101010101" pitchFamily="2" charset="-122"/>
                      </a:rPr>
                      <m:t>：</m:t>
                    </m:r>
                    <m:r>
                      <a:rPr lang="en-US" altLang="ko-KR" sz="1600">
                        <a:latin typeface="Cambria Math" panose="02040503050406030204" pitchFamily="18" charset="0"/>
                        <a:ea typeface="华文楷体" panose="02010600040101010101" pitchFamily="2" charset="-122"/>
                      </a:rPr>
                      <m:t>𝑆𝑆𝑇</m:t>
                    </m:r>
                    <m:r>
                      <a:rPr lang="en-US" altLang="ko-KR" sz="1600">
                        <a:latin typeface="Cambria Math" panose="02040503050406030204" pitchFamily="18" charset="0"/>
                        <a:ea typeface="华文楷体" panose="02010600040101010101" pitchFamily="2" charset="-122"/>
                      </a:rPr>
                      <m:t>=</m:t>
                    </m:r>
                    <m:nary>
                      <m:naryPr>
                        <m:chr m:val="∑"/>
                        <m:ctrlPr>
                          <a:rPr lang="en-US" altLang="ko-KR" sz="1600" i="1">
                            <a:latin typeface="Cambria Math" panose="02040503050406030204" pitchFamily="18" charset="0"/>
                            <a:ea typeface="华文楷体" panose="02010600040101010101" pitchFamily="2" charset="-122"/>
                          </a:rPr>
                        </m:ctrlPr>
                      </m:naryPr>
                      <m:sub>
                        <m:r>
                          <m:rPr>
                            <m:brk m:alnAt="23"/>
                          </m:rPr>
                          <a:rPr lang="en-US" altLang="ko-KR" sz="1600">
                            <a:latin typeface="Cambria Math" panose="02040503050406030204" pitchFamily="18" charset="0"/>
                            <a:ea typeface="华文楷体" panose="02010600040101010101" pitchFamily="2" charset="-122"/>
                          </a:rPr>
                          <m:t>𝑖</m:t>
                        </m:r>
                        <m:r>
                          <a:rPr lang="en-US" altLang="ko-KR" sz="1600">
                            <a:latin typeface="Cambria Math" panose="02040503050406030204" pitchFamily="18" charset="0"/>
                            <a:ea typeface="华文楷体" panose="02010600040101010101" pitchFamily="2" charset="-122"/>
                          </a:rPr>
                          <m:t>=1</m:t>
                        </m:r>
                      </m:sub>
                      <m:sup>
                        <m:r>
                          <a:rPr lang="en-US" altLang="ko-KR" sz="1600" smtClean="0">
                            <a:latin typeface="Cambria Math" panose="02040503050406030204" pitchFamily="18" charset="0"/>
                            <a:ea typeface="华文楷体" panose="02010600040101010101" pitchFamily="2" charset="-122"/>
                          </a:rPr>
                          <m:t>𝑚</m:t>
                        </m:r>
                      </m:sup>
                      <m:e>
                        <m:sSup>
                          <m:sSupPr>
                            <m:ctrlPr>
                              <a:rPr lang="en-US" altLang="ko-KR" sz="1600" i="1">
                                <a:latin typeface="Cambria Math" panose="02040503050406030204" pitchFamily="18" charset="0"/>
                                <a:ea typeface="华文楷体" panose="02010600040101010101" pitchFamily="2" charset="-122"/>
                              </a:rPr>
                            </m:ctrlPr>
                          </m:sSupPr>
                          <m:e>
                            <m:r>
                              <a:rPr lang="en-US" altLang="ko-KR" sz="1600">
                                <a:latin typeface="Cambria Math" panose="02040503050406030204" pitchFamily="18" charset="0"/>
                                <a:ea typeface="华文楷体" panose="02010600040101010101" pitchFamily="2" charset="-122"/>
                              </a:rPr>
                              <m:t>(</m:t>
                            </m:r>
                            <m:r>
                              <a:rPr lang="en-US" altLang="ko-KR" sz="1600">
                                <a:latin typeface="Cambria Math" panose="02040503050406030204" pitchFamily="18" charset="0"/>
                                <a:ea typeface="华文楷体" panose="02010600040101010101" pitchFamily="2" charset="-122"/>
                              </a:rPr>
                              <m:t>𝑦𝑖</m:t>
                            </m:r>
                            <m:r>
                              <a:rPr lang="en-US" altLang="ko-KR" sz="1600">
                                <a:latin typeface="Cambria Math" panose="02040503050406030204" pitchFamily="18" charset="0"/>
                                <a:ea typeface="华文楷体" panose="02010600040101010101" pitchFamily="2" charset="-122"/>
                              </a:rPr>
                              <m:t>−</m:t>
                            </m:r>
                            <m:acc>
                              <m:accPr>
                                <m:chr m:val="̅"/>
                                <m:ctrlPr>
                                  <a:rPr lang="en-US" altLang="ko-KR" sz="1600" i="1">
                                    <a:latin typeface="Cambria Math" panose="02040503050406030204" pitchFamily="18" charset="0"/>
                                    <a:ea typeface="华文楷体" panose="02010600040101010101" pitchFamily="2" charset="-122"/>
                                  </a:rPr>
                                </m:ctrlPr>
                              </m:accPr>
                              <m:e>
                                <m:r>
                                  <a:rPr lang="en-US" altLang="zh-CN" sz="1600">
                                    <a:latin typeface="Cambria Math" panose="02040503050406030204" pitchFamily="18" charset="0"/>
                                    <a:ea typeface="华文楷体" panose="02010600040101010101" pitchFamily="2" charset="-122"/>
                                  </a:rPr>
                                  <m:t>𝑦</m:t>
                                </m:r>
                              </m:e>
                            </m:acc>
                            <m:r>
                              <a:rPr lang="en-US" altLang="ko-KR" sz="1600">
                                <a:latin typeface="Cambria Math" panose="02040503050406030204" pitchFamily="18" charset="0"/>
                                <a:ea typeface="华文楷体" panose="02010600040101010101" pitchFamily="2" charset="-122"/>
                              </a:rPr>
                              <m:t>)</m:t>
                            </m:r>
                          </m:e>
                          <m:sup>
                            <m:r>
                              <a:rPr lang="en-US" altLang="ko-KR" sz="1600">
                                <a:latin typeface="Cambria Math" panose="02040503050406030204" pitchFamily="18" charset="0"/>
                                <a:ea typeface="华文楷体" panose="02010600040101010101" pitchFamily="2" charset="-122"/>
                              </a:rPr>
                              <m:t>2</m:t>
                            </m:r>
                          </m:sup>
                        </m:sSup>
                      </m:e>
                    </m:nary>
                  </m:oMath>
                </a14:m>
                <a:r>
                  <a:rPr lang="zh-CN" altLang="en-US" sz="1600" i="1" dirty="0">
                    <a:solidFill>
                      <a:srgbClr val="FF0000"/>
                    </a:solidFill>
                    <a:latin typeface="华文楷体" panose="02010600040101010101" pitchFamily="2" charset="-122"/>
                    <a:ea typeface="华文楷体" panose="02010600040101010101" pitchFamily="2" charset="-122"/>
                  </a:rPr>
                  <a:t>    </a:t>
                </a:r>
                <a:endParaRPr lang="ko-KR" altLang="en-US" sz="1600" i="1" dirty="0">
                  <a:solidFill>
                    <a:srgbClr val="FF0000"/>
                  </a:solidFill>
                  <a:latin typeface="华文楷体" panose="0201060004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97476" y="3170832"/>
                <a:ext cx="5047644" cy="344325"/>
              </a:xfrm>
              <a:prstGeom prst="rect">
                <a:avLst/>
              </a:prstGeom>
              <a:blipFill>
                <a:blip r:embed="rId6"/>
                <a:stretch>
                  <a:fillRect l="-725" t="-105263" b="-164912"/>
                </a:stretch>
              </a:blipFill>
              <a:ln w="3175">
                <a:noFill/>
              </a:ln>
            </p:spPr>
            <p:txBody>
              <a:bodyPr/>
              <a:lstStyle/>
              <a:p>
                <a:r>
                  <a:rPr lang="zh-CN" altLang="en-US">
                    <a:noFill/>
                  </a:rPr>
                  <a:t> </a:t>
                </a:r>
              </a:p>
            </p:txBody>
          </p:sp>
        </mc:Fallback>
      </mc:AlternateContent>
      <p:sp>
        <p:nvSpPr>
          <p:cNvPr id="8" name="矩形 7"/>
          <p:cNvSpPr/>
          <p:nvPr/>
        </p:nvSpPr>
        <p:spPr>
          <a:xfrm>
            <a:off x="3729117" y="3168042"/>
            <a:ext cx="3038247" cy="361061"/>
          </a:xfrm>
          <a:prstGeom prst="rect">
            <a:avLst/>
          </a:prstGeom>
          <a:noFill/>
          <a:ln>
            <a:noFill/>
          </a:ln>
        </p:spPr>
        <p:txBody>
          <a:bodyPr wrap="square">
            <a:spAutoFit/>
          </a:bodyPr>
          <a:lstStyle/>
          <a:p>
            <a:pPr>
              <a:lnSpc>
                <a:spcPts val="2200"/>
              </a:lnSpc>
            </a:pPr>
            <a:r>
              <a:rPr lang="zh-CN" altLang="en-US" sz="1600" b="1" dirty="0">
                <a:solidFill>
                  <a:srgbClr val="0070C0"/>
                </a:solidFill>
                <a:latin typeface="华文楷体" panose="02010600040101010101" pitchFamily="2" charset="-122"/>
                <a:ea typeface="华文楷体" panose="02010600040101010101" pitchFamily="2" charset="-122"/>
              </a:rPr>
              <a:t>代码</a:t>
            </a:r>
            <a:r>
              <a:rPr lang="es-ES" altLang="zh-CN" sz="1600" b="1" dirty="0">
                <a:solidFill>
                  <a:srgbClr val="0070C0"/>
                </a:solidFill>
                <a:latin typeface="华文楷体" panose="02010600040101010101" pitchFamily="2" charset="-122"/>
                <a:ea typeface="华文楷体" panose="02010600040101010101" pitchFamily="2" charset="-122"/>
              </a:rPr>
              <a:t>sum((y-mean(y)).^2)</a:t>
            </a:r>
          </a:p>
        </p:txBody>
      </p:sp>
      <p:sp>
        <p:nvSpPr>
          <p:cNvPr id="9" name="矩形 8"/>
          <p:cNvSpPr/>
          <p:nvPr/>
        </p:nvSpPr>
        <p:spPr>
          <a:xfrm>
            <a:off x="4324797" y="1630827"/>
            <a:ext cx="1759371" cy="361061"/>
          </a:xfrm>
          <a:prstGeom prst="rect">
            <a:avLst/>
          </a:prstGeom>
          <a:noFill/>
          <a:ln>
            <a:noFill/>
          </a:ln>
        </p:spPr>
        <p:txBody>
          <a:bodyPr wrap="square">
            <a:spAutoFit/>
          </a:bodyPr>
          <a:lstStyle/>
          <a:p>
            <a:pPr>
              <a:lnSpc>
                <a:spcPts val="2200"/>
              </a:lnSpc>
            </a:pPr>
            <a:r>
              <a:rPr lang="zh-CN" altLang="en-US" sz="1600" b="1" dirty="0">
                <a:solidFill>
                  <a:srgbClr val="0070C0"/>
                </a:solidFill>
                <a:latin typeface="华文楷体" panose="02010600040101010101" pitchFamily="2" charset="-122"/>
                <a:ea typeface="华文楷体" panose="02010600040101010101" pitchFamily="2" charset="-122"/>
              </a:rPr>
              <a:t>代码</a:t>
            </a:r>
            <a:r>
              <a:rPr lang="es-ES" altLang="zh-CN" sz="1600" b="1" dirty="0">
                <a:solidFill>
                  <a:srgbClr val="0070C0"/>
                </a:solidFill>
                <a:latin typeface="华文楷体" panose="02010600040101010101" pitchFamily="2" charset="-122"/>
                <a:ea typeface="华文楷体" panose="02010600040101010101" pitchFamily="2" charset="-122"/>
              </a:rPr>
              <a:t>sum((y-yfit).^2)</a:t>
            </a:r>
          </a:p>
        </p:txBody>
      </p:sp>
      <p:sp>
        <p:nvSpPr>
          <p:cNvPr id="10" name="矩形 9"/>
          <p:cNvSpPr/>
          <p:nvPr/>
        </p:nvSpPr>
        <p:spPr>
          <a:xfrm>
            <a:off x="79941" y="1368749"/>
            <a:ext cx="1574470" cy="338554"/>
          </a:xfrm>
          <a:prstGeom prst="rect">
            <a:avLst/>
          </a:prstGeom>
          <a:noFill/>
        </p:spPr>
        <p:txBody>
          <a:bodyPr wrap="none">
            <a:spAutoFit/>
          </a:bodyPr>
          <a:lstStyle/>
          <a:p>
            <a:pPr eaLnBrk="0" hangingPunct="0"/>
            <a:r>
              <a:rPr lang="zh-CN" altLang="en-US" sz="1600" b="1" dirty="0">
                <a:solidFill>
                  <a:srgbClr val="FF0000"/>
                </a:solidFill>
                <a:latin typeface="微软雅黑" panose="020B0503020204020204" pitchFamily="34" charset="-122"/>
                <a:ea typeface="微软雅黑" panose="020B0503020204020204" pitchFamily="34" charset="-122"/>
                <a:sym typeface="+mn-ea"/>
              </a:rPr>
              <a:t>残差</a:t>
            </a:r>
            <a:r>
              <a:rPr lang="en-US" altLang="ko-KR" sz="1600" b="1" dirty="0" err="1">
                <a:solidFill>
                  <a:srgbClr val="FF0000"/>
                </a:solidFill>
                <a:latin typeface="微软雅黑" panose="020B0503020204020204" pitchFamily="34" charset="-122"/>
                <a:ea typeface="微软雅黑" panose="020B0503020204020204" pitchFamily="34" charset="-122"/>
              </a:rPr>
              <a:t>平方和SSE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a:xfrm>
            <a:off x="103673" y="2806086"/>
            <a:ext cx="1441420" cy="338554"/>
          </a:xfrm>
          <a:prstGeom prst="rect">
            <a:avLst/>
          </a:prstGeom>
          <a:noFill/>
        </p:spPr>
        <p:txBody>
          <a:bodyPr wrap="none">
            <a:spAutoFit/>
          </a:bodyPr>
          <a:lstStyle/>
          <a:p>
            <a:pPr eaLnBrk="0" hangingPunct="0"/>
            <a:r>
              <a:rPr lang="zh-CN" altLang="en-US" sz="1600" b="1" dirty="0">
                <a:solidFill>
                  <a:srgbClr val="FF0000"/>
                </a:solidFill>
                <a:latin typeface="微软雅黑" panose="020B0503020204020204" pitchFamily="34" charset="-122"/>
                <a:ea typeface="微软雅黑" panose="020B0503020204020204" pitchFamily="34" charset="-122"/>
                <a:sym typeface="+mn-ea"/>
              </a:rPr>
              <a:t>总</a:t>
            </a:r>
            <a:r>
              <a:rPr lang="en-US" altLang="ko-KR" sz="1600" b="1" dirty="0" err="1">
                <a:solidFill>
                  <a:srgbClr val="FF0000"/>
                </a:solidFill>
                <a:latin typeface="微软雅黑" panose="020B0503020204020204" pitchFamily="34" charset="-122"/>
                <a:ea typeface="微软雅黑" panose="020B0503020204020204" pitchFamily="34" charset="-122"/>
              </a:rPr>
              <a:t>平方和</a:t>
            </a:r>
            <a:r>
              <a:rPr lang="en-US" altLang="ko-KR" sz="1600" b="1" dirty="0">
                <a:solidFill>
                  <a:srgbClr val="FF0000"/>
                </a:solidFill>
                <a:latin typeface="微软雅黑" panose="020B0503020204020204" pitchFamily="34" charset="-122"/>
                <a:ea typeface="微软雅黑" panose="020B0503020204020204" pitchFamily="34" charset="-122"/>
              </a:rPr>
              <a:t> SST</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389552" y="3557485"/>
            <a:ext cx="2224508" cy="362796"/>
          </a:xfrm>
          <a:prstGeom prst="rect">
            <a:avLst/>
          </a:prstGeom>
          <a:noFill/>
        </p:spPr>
        <p:txBody>
          <a:bodyPr vert="horz" wrap="square" lIns="0" tIns="0" rIns="0" bIns="0" anchor="t">
            <a:noAutofit/>
          </a:bodyPr>
          <a:lstStyle/>
          <a:p>
            <a:pPr defTabSz="685800" eaLnBrk="0" fontAlgn="auto">
              <a:spcBef>
                <a:spcPts val="0"/>
              </a:spcBef>
              <a:spcAft>
                <a:spcPts val="0"/>
              </a:spcAft>
            </a:pPr>
            <a:r>
              <a:rPr lang="zh-CN" altLang="en-US" sz="1600" dirty="0">
                <a:solidFill>
                  <a:srgbClr val="FF0000"/>
                </a:solidFill>
                <a:latin typeface="华文楷体" panose="02010600040101010101" pitchFamily="2" charset="-122"/>
                <a:ea typeface="华文楷体" panose="02010600040101010101" pitchFamily="2" charset="-122"/>
              </a:rPr>
              <a:t>（R^2</a:t>
            </a:r>
            <a:r>
              <a:rPr lang="en-US" altLang="zh-CN" sz="1600" dirty="0">
                <a:solidFill>
                  <a:srgbClr val="FF0000"/>
                </a:solidFill>
                <a:latin typeface="华文楷体" panose="02010600040101010101" pitchFamily="2" charset="-122"/>
                <a:ea typeface="华文楷体" panose="02010600040101010101" pitchFamily="2" charset="-122"/>
              </a:rPr>
              <a:t>)</a:t>
            </a:r>
            <a:r>
              <a:rPr lang="zh-CN" altLang="en-US" sz="1600" dirty="0">
                <a:solidFill>
                  <a:srgbClr val="FF0000"/>
                </a:solidFill>
                <a:latin typeface="华文楷体" panose="02010600040101010101" pitchFamily="2" charset="-122"/>
                <a:ea typeface="华文楷体" panose="02010600040101010101" pitchFamily="2" charset="-122"/>
              </a:rPr>
              <a:t>=1-SSE/SST</a:t>
            </a:r>
            <a:endParaRPr lang="ko-KR" altLang="en-US" sz="1600" dirty="0">
              <a:solidFill>
                <a:srgbClr val="FF0000"/>
              </a:solidFill>
              <a:latin typeface="华文楷体" panose="02010600040101010101" pitchFamily="2" charset="-122"/>
            </a:endParaRPr>
          </a:p>
        </p:txBody>
      </p:sp>
      <p:sp>
        <p:nvSpPr>
          <p:cNvPr id="14" name="矩形 13"/>
          <p:cNvSpPr/>
          <p:nvPr/>
        </p:nvSpPr>
        <p:spPr>
          <a:xfrm>
            <a:off x="4606060" y="3526053"/>
            <a:ext cx="1178528" cy="338554"/>
          </a:xfrm>
          <a:prstGeom prst="rect">
            <a:avLst/>
          </a:prstGeom>
          <a:ln>
            <a:noFill/>
          </a:ln>
        </p:spPr>
        <p:txBody>
          <a:bodyPr wrap="none">
            <a:spAutoFit/>
          </a:bodyPr>
          <a:lstStyle/>
          <a:p>
            <a:r>
              <a:rPr lang="en-US" altLang="zh-CN" sz="1600" dirty="0">
                <a:solidFill>
                  <a:srgbClr val="FF0000"/>
                </a:solidFill>
                <a:latin typeface="华文楷体" panose="02010600040101010101" pitchFamily="2" charset="-122"/>
                <a:ea typeface="华文楷体" panose="02010600040101010101" pitchFamily="2" charset="-122"/>
              </a:rPr>
              <a:t>R</a:t>
            </a:r>
            <a:r>
              <a:rPr lang="zh-CN" altLang="en-US" sz="1600" dirty="0">
                <a:solidFill>
                  <a:srgbClr val="FF0000"/>
                </a:solidFill>
                <a:latin typeface="华文楷体" panose="02010600040101010101" pitchFamily="2" charset="-122"/>
                <a:ea typeface="华文楷体" panose="02010600040101010101" pitchFamily="2" charset="-122"/>
              </a:rPr>
              <a:t>^2在</a:t>
            </a:r>
            <a:r>
              <a:rPr lang="en-US" altLang="zh-CN" sz="1600" dirty="0">
                <a:solidFill>
                  <a:srgbClr val="FF0000"/>
                </a:solidFill>
                <a:latin typeface="华文楷体" panose="02010600040101010101" pitchFamily="2" charset="-122"/>
                <a:ea typeface="华文楷体" panose="02010600040101010101" pitchFamily="2" charset="-122"/>
              </a:rPr>
              <a:t>0-1</a:t>
            </a:r>
            <a:r>
              <a:rPr lang="zh-CN" altLang="en-US" sz="1600" dirty="0">
                <a:solidFill>
                  <a:srgbClr val="FF0000"/>
                </a:solidFill>
                <a:latin typeface="华文楷体" panose="02010600040101010101" pitchFamily="2" charset="-122"/>
                <a:ea typeface="华文楷体" panose="02010600040101010101" pitchFamily="2" charset="-122"/>
              </a:rPr>
              <a:t>间</a:t>
            </a:r>
            <a:endParaRPr lang="zh-CN" altLang="en-US" sz="1600" dirty="0">
              <a:latin typeface="华文楷体" panose="02010600040101010101" pitchFamily="2" charset="-122"/>
              <a:ea typeface="华文楷体" panose="02010600040101010101" pitchFamily="2" charset="-122"/>
            </a:endParaRPr>
          </a:p>
        </p:txBody>
      </p:sp>
      <p:sp>
        <p:nvSpPr>
          <p:cNvPr id="16" name="形状 2"/>
          <p:cNvSpPr/>
          <p:nvPr/>
        </p:nvSpPr>
        <p:spPr>
          <a:xfrm>
            <a:off x="103025" y="2462771"/>
            <a:ext cx="6053152" cy="284693"/>
          </a:xfrm>
          <a:prstGeom prst="rect">
            <a:avLst/>
          </a:prstGeom>
        </p:spPr>
        <p:txBody>
          <a:bodyPr vert="horz" wrap="square" lIns="68580" tIns="34290" rIns="68580" bIns="34290" numCol="1" anchor="t">
            <a:spAutoFit/>
          </a:bodyPr>
          <a:lstStyle/>
          <a:p>
            <a:pPr defTabSz="685800" eaLnBrk="0" fontAlgn="auto">
              <a:spcBef>
                <a:spcPts val="0"/>
              </a:spcBef>
              <a:spcAft>
                <a:spcPts val="0"/>
              </a:spcAft>
            </a:pPr>
            <a:r>
              <a:rPr lang="zh-CN" altLang="en-US" sz="1400" dirty="0">
                <a:latin typeface="华文楷体" panose="02010600040101010101" pitchFamily="2" charset="-122"/>
                <a:ea typeface="华文楷体" panose="02010600040101010101" pitchFamily="2" charset="-122"/>
              </a:rPr>
              <a:t> </a:t>
            </a:r>
            <a:r>
              <a:rPr lang="zh-CN" altLang="en-US" sz="1400" b="1" kern="0" dirty="0">
                <a:solidFill>
                  <a:srgbClr val="0070C0"/>
                </a:solidFill>
                <a:latin typeface="微软雅黑" panose="020B0503020204020204" pitchFamily="34" charset="-122"/>
                <a:ea typeface="微软雅黑" panose="020B0503020204020204" pitchFamily="34" charset="-122"/>
              </a:rPr>
              <a:t>同样拟合曲线的数据，</a:t>
            </a:r>
            <a:r>
              <a:rPr lang="en-US" altLang="zh-CN" sz="1400" b="1" kern="0" dirty="0">
                <a:solidFill>
                  <a:srgbClr val="0070C0"/>
                </a:solidFill>
                <a:latin typeface="微软雅黑" panose="020B0503020204020204" pitchFamily="34" charset="-122"/>
                <a:ea typeface="微软雅黑" panose="020B0503020204020204" pitchFamily="34" charset="-122"/>
              </a:rPr>
              <a:t>SSE</a:t>
            </a:r>
            <a:r>
              <a:rPr lang="zh-CN" altLang="en-US" sz="1400" b="1" kern="0" dirty="0">
                <a:solidFill>
                  <a:srgbClr val="0070C0"/>
                </a:solidFill>
                <a:latin typeface="微软雅黑" panose="020B0503020204020204" pitchFamily="34" charset="-122"/>
                <a:ea typeface="微软雅黑" panose="020B0503020204020204" pitchFamily="34" charset="-122"/>
              </a:rPr>
              <a:t>和</a:t>
            </a:r>
            <a:r>
              <a:rPr lang="en-US" altLang="zh-CN" sz="1400" b="1" kern="0" dirty="0">
                <a:solidFill>
                  <a:srgbClr val="0070C0"/>
                </a:solidFill>
                <a:latin typeface="微软雅黑" panose="020B0503020204020204" pitchFamily="34" charset="-122"/>
                <a:ea typeface="微软雅黑" panose="020B0503020204020204" pitchFamily="34" charset="-122"/>
              </a:rPr>
              <a:t>RMSE</a:t>
            </a:r>
            <a:r>
              <a:rPr lang="zh-CN" altLang="en-US" sz="1400" b="1" kern="0" dirty="0">
                <a:solidFill>
                  <a:srgbClr val="0070C0"/>
                </a:solidFill>
                <a:latin typeface="微软雅黑" panose="020B0503020204020204" pitchFamily="34" charset="-122"/>
                <a:ea typeface="微软雅黑" panose="020B0503020204020204" pitchFamily="34" charset="-122"/>
              </a:rPr>
              <a:t>越小，误差越小，拟合模型效果越好。</a:t>
            </a:r>
            <a:endParaRPr lang="ko-KR" altLang="en-US" sz="1400" b="1" kern="0" dirty="0">
              <a:solidFill>
                <a:srgbClr val="0070C0"/>
              </a:solidFill>
              <a:latin typeface="微软雅黑" panose="020B0503020204020204" pitchFamily="34" charset="-122"/>
              <a:ea typeface="微软雅黑" panose="020B0503020204020204" pitchFamily="34" charset="-122"/>
            </a:endParaRPr>
          </a:p>
        </p:txBody>
      </p:sp>
      <p:sp>
        <p:nvSpPr>
          <p:cNvPr id="17" name="矩形 16"/>
          <p:cNvSpPr/>
          <p:nvPr/>
        </p:nvSpPr>
        <p:spPr>
          <a:xfrm>
            <a:off x="80215" y="700362"/>
            <a:ext cx="9000836" cy="307777"/>
          </a:xfrm>
          <a:prstGeom prst="rect">
            <a:avLst/>
          </a:prstGeom>
          <a:solidFill>
            <a:schemeClr val="bg1"/>
          </a:solidFill>
        </p:spPr>
        <p:txBody>
          <a:bodyPr wrap="square">
            <a:spAutoFit/>
          </a:bodyPr>
          <a:lstStyle/>
          <a:p>
            <a:pPr algn="dist"/>
            <a:r>
              <a:rPr lang="zh-CN" altLang="en-US" sz="1400" b="1" dirty="0">
                <a:solidFill>
                  <a:srgbClr val="0070C0"/>
                </a:solidFill>
                <a:latin typeface="微软雅黑" panose="020B0503020204020204" pitchFamily="34" charset="-122"/>
                <a:ea typeface="微软雅黑" panose="020B0503020204020204" pitchFamily="34" charset="-122"/>
              </a:rPr>
              <a:t>拟合度检验是检验预测模型</a:t>
            </a:r>
            <a:r>
              <a:rPr lang="en-US" altLang="zh-CN" sz="1400" b="1" dirty="0">
                <a:solidFill>
                  <a:srgbClr val="0070C0"/>
                </a:solidFill>
                <a:latin typeface="微软雅黑" panose="020B0503020204020204" pitchFamily="34" charset="-122"/>
                <a:ea typeface="微软雅黑" panose="020B0503020204020204" pitchFamily="34" charset="-122"/>
              </a:rPr>
              <a:t>y=f(</a:t>
            </a:r>
            <a:r>
              <a:rPr lang="en-US" altLang="zh-CN" sz="1400" b="1" dirty="0" err="1">
                <a:solidFill>
                  <a:srgbClr val="0070C0"/>
                </a:solidFill>
                <a:latin typeface="微软雅黑" panose="020B0503020204020204" pitchFamily="34" charset="-122"/>
                <a:ea typeface="微软雅黑" panose="020B0503020204020204" pitchFamily="34" charset="-122"/>
              </a:rPr>
              <a:t>a,x</a:t>
            </a:r>
            <a:r>
              <a:rPr lang="en-US" altLang="zh-CN" sz="1400" b="1" dirty="0">
                <a:solidFill>
                  <a:srgbClr val="0070C0"/>
                </a:solidFill>
                <a:latin typeface="微软雅黑" panose="020B0503020204020204" pitchFamily="34" charset="-122"/>
                <a:ea typeface="微软雅黑" panose="020B0503020204020204" pitchFamily="34" charset="-122"/>
              </a:rPr>
              <a:t>)</a:t>
            </a:r>
            <a:r>
              <a:rPr lang="zh-CN" altLang="en-US" sz="1400" b="1" dirty="0">
                <a:solidFill>
                  <a:srgbClr val="0070C0"/>
                </a:solidFill>
                <a:latin typeface="微软雅黑" panose="020B0503020204020204" pitchFamily="34" charset="-122"/>
                <a:ea typeface="微软雅黑" panose="020B0503020204020204" pitchFamily="34" charset="-122"/>
              </a:rPr>
              <a:t>，比较预测结果与实际情况吻合程度</a:t>
            </a:r>
            <a:r>
              <a:rPr lang="en-US" altLang="zh-CN" sz="1400" b="1" dirty="0">
                <a:solidFill>
                  <a:srgbClr val="0070C0"/>
                </a:solidFill>
                <a:latin typeface="微软雅黑" panose="020B0503020204020204" pitchFamily="34" charset="-122"/>
                <a:ea typeface="微软雅黑" panose="020B0503020204020204" pitchFamily="34" charset="-122"/>
              </a:rPr>
              <a:t>,</a:t>
            </a:r>
            <a:r>
              <a:rPr lang="zh-CN" altLang="en-US" sz="1400" b="1" dirty="0">
                <a:solidFill>
                  <a:srgbClr val="0070C0"/>
                </a:solidFill>
                <a:latin typeface="微软雅黑" panose="020B0503020204020204" pitchFamily="34" charset="-122"/>
                <a:ea typeface="微软雅黑" panose="020B0503020204020204" pitchFamily="34" charset="-122"/>
              </a:rPr>
              <a:t>用</a:t>
            </a:r>
            <a:r>
              <a:rPr lang="en-US" altLang="zh-CN" sz="1400" b="1" dirty="0">
                <a:solidFill>
                  <a:srgbClr val="0070C0"/>
                </a:solidFill>
                <a:latin typeface="微软雅黑" panose="020B0503020204020204" pitchFamily="34" charset="-122"/>
                <a:ea typeface="微软雅黑" panose="020B0503020204020204" pitchFamily="34" charset="-122"/>
              </a:rPr>
              <a:t>R2</a:t>
            </a:r>
            <a:r>
              <a:rPr lang="zh-CN" altLang="en-US" sz="1400" b="1" dirty="0">
                <a:solidFill>
                  <a:srgbClr val="0070C0"/>
                </a:solidFill>
                <a:latin typeface="微软雅黑" panose="020B0503020204020204" pitchFamily="34" charset="-122"/>
                <a:ea typeface="微软雅黑" panose="020B0503020204020204" pitchFamily="34" charset="-122"/>
              </a:rPr>
              <a:t>表示</a:t>
            </a:r>
          </a:p>
        </p:txBody>
      </p:sp>
      <p:sp>
        <p:nvSpPr>
          <p:cNvPr id="21" name="文本框 20"/>
          <p:cNvSpPr txBox="1"/>
          <p:nvPr/>
        </p:nvSpPr>
        <p:spPr>
          <a:xfrm>
            <a:off x="1226375" y="84081"/>
            <a:ext cx="7106332" cy="567463"/>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 2.3 </a:t>
            </a:r>
            <a:r>
              <a:rPr lang="zh-CN" altLang="en-US" sz="2800" dirty="0">
                <a:solidFill>
                  <a:srgbClr val="002060"/>
                </a:solidFill>
                <a:latin typeface="华文楷体" panose="02010600040101010101" pitchFamily="2" charset="-122"/>
                <a:ea typeface="华文楷体" panose="02010600040101010101" pitchFamily="2" charset="-122"/>
              </a:rPr>
              <a:t>曲线拟合评价</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统计拟合度检验</a:t>
            </a:r>
            <a:r>
              <a:rPr lang="en-US" altLang="zh-CN" sz="2800" kern="0" dirty="0">
                <a:solidFill>
                  <a:srgbClr val="FF0000"/>
                </a:solidFill>
                <a:latin typeface="华文楷体" panose="02010600040101010101" pitchFamily="2" charset="-122"/>
                <a:ea typeface="华文楷体" panose="02010600040101010101" pitchFamily="2" charset="-122"/>
              </a:rPr>
              <a:t> </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3" name="文本框 22"/>
          <p:cNvSpPr txBox="1"/>
          <p:nvPr/>
        </p:nvSpPr>
        <p:spPr>
          <a:xfrm>
            <a:off x="22073" y="967177"/>
            <a:ext cx="9167973" cy="369332"/>
          </a:xfrm>
          <a:prstGeom prst="rect">
            <a:avLst/>
          </a:prstGeom>
          <a:noFill/>
          <a:effectLst/>
        </p:spPr>
        <p:txBody>
          <a:bodyPr wrap="square">
            <a:spAutoFit/>
          </a:bodyPr>
          <a:lstStyle/>
          <a:p>
            <a:r>
              <a:rPr lang="zh-CN" altLang="en-US" dirty="0">
                <a:solidFill>
                  <a:srgbClr val="00B0F0"/>
                </a:solidFill>
                <a:latin typeface="微软雅黑" panose="020B0503020204020204" pitchFamily="34" charset="-122"/>
                <a:ea typeface="微软雅黑" panose="020B0503020204020204" pitchFamily="34" charset="-122"/>
              </a:rPr>
              <a:t>通常一个曲线数据可以建立多个预测模型，通过对其</a:t>
            </a:r>
            <a:r>
              <a:rPr lang="zh-CN" altLang="en-US" i="0" dirty="0">
                <a:solidFill>
                  <a:srgbClr val="00B0F0"/>
                </a:solidFill>
                <a:effectLst/>
                <a:latin typeface="微软雅黑" panose="020B0503020204020204" pitchFamily="34" charset="-122"/>
                <a:ea typeface="微软雅黑" panose="020B0503020204020204" pitchFamily="34" charset="-122"/>
              </a:rPr>
              <a:t>拟合度检验，选择拟合度好模型预测</a:t>
            </a:r>
            <a:endParaRPr lang="en-US" altLang="zh-CN" kern="1200" dirty="0">
              <a:solidFill>
                <a:srgbClr val="00B0F0"/>
              </a:solidFill>
              <a:effectLst/>
              <a:latin typeface="微软雅黑" panose="020B0503020204020204" pitchFamily="34" charset="-122"/>
              <a:ea typeface="微软雅黑" panose="020B0503020204020204" pitchFamily="34" charset="-122"/>
            </a:endParaRPr>
          </a:p>
        </p:txBody>
      </p:sp>
      <p:pic>
        <p:nvPicPr>
          <p:cNvPr id="25" name="Picture 2"/>
          <p:cNvPicPr>
            <a:picLocks noChangeAspect="1" noChangeArrowheads="1"/>
          </p:cNvPicPr>
          <p:nvPr/>
        </p:nvPicPr>
        <p:blipFill rotWithShape="1">
          <a:blip r:embed="rId7">
            <a:extLst>
              <a:ext uri="{28A0092B-C50C-407E-A947-70E740481C1C}">
                <a14:useLocalDpi xmlns:a14="http://schemas.microsoft.com/office/drawing/2010/main" val="0"/>
              </a:ext>
            </a:extLst>
          </a:blip>
          <a:srcRect l="31229" t="38458" r="51731" b="17107"/>
          <a:stretch>
            <a:fillRect/>
          </a:stretch>
        </p:blipFill>
        <p:spPr bwMode="auto">
          <a:xfrm>
            <a:off x="7858047" y="1581898"/>
            <a:ext cx="1035625" cy="15183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文本框 25"/>
              <p:cNvSpPr txBox="1"/>
              <p:nvPr/>
            </p:nvSpPr>
            <p:spPr>
              <a:xfrm>
                <a:off x="7304790" y="1491630"/>
                <a:ext cx="41866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400" i="1" smtClean="0">
                          <a:solidFill>
                            <a:srgbClr val="FF0000"/>
                          </a:solidFill>
                          <a:highlight>
                            <a:srgbClr val="FFFF00"/>
                          </a:highlight>
                          <a:latin typeface="Cambria Math" panose="02040503050406030204" pitchFamily="18" charset="0"/>
                          <a:ea typeface="微软雅黑" panose="020B0503020204020204" pitchFamily="34" charset="-122"/>
                        </a:rPr>
                        <m:t>𝑦𝑖</m:t>
                      </m:r>
                    </m:oMath>
                  </m:oMathPara>
                </a14:m>
                <a:endParaRPr lang="zh-CN" altLang="en-US" sz="1400" dirty="0"/>
              </a:p>
            </p:txBody>
          </p:sp>
        </mc:Choice>
        <mc:Fallback xmlns="">
          <p:sp>
            <p:nvSpPr>
              <p:cNvPr id="26" name="文本框 25"/>
              <p:cNvSpPr txBox="1">
                <a:spLocks noRot="1" noChangeAspect="1" noMove="1" noResize="1" noEditPoints="1" noAdjustHandles="1" noChangeArrowheads="1" noChangeShapeType="1" noTextEdit="1"/>
              </p:cNvSpPr>
              <p:nvPr/>
            </p:nvSpPr>
            <p:spPr>
              <a:xfrm>
                <a:off x="7304790" y="1491630"/>
                <a:ext cx="418665" cy="307777"/>
              </a:xfrm>
              <a:prstGeom prst="rect">
                <a:avLst/>
              </a:prstGeom>
              <a:blipFill>
                <a:blip r:embed="rId8"/>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p:cNvSpPr txBox="1"/>
              <p:nvPr/>
            </p:nvSpPr>
            <p:spPr>
              <a:xfrm>
                <a:off x="7236296" y="1784695"/>
                <a:ext cx="85865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ko-KR" sz="1400" i="1" smtClean="0">
                          <a:solidFill>
                            <a:srgbClr val="FF0000"/>
                          </a:solidFill>
                          <a:highlight>
                            <a:srgbClr val="FFFF00"/>
                          </a:highlight>
                          <a:latin typeface="Cambria Math" panose="02040503050406030204" pitchFamily="18" charset="0"/>
                          <a:ea typeface="微软雅黑" panose="020B0503020204020204" pitchFamily="34" charset="-122"/>
                        </a:rPr>
                        <m:t>𝑦</m:t>
                      </m:r>
                      <m:d>
                        <m:dPr>
                          <m:ctrlPr>
                            <a:rPr lang="en-US" altLang="zh-CN" sz="1400" i="1">
                              <a:solidFill>
                                <a:srgbClr val="FF0000"/>
                              </a:solidFill>
                              <a:highlight>
                                <a:srgbClr val="FFFF00"/>
                              </a:highlight>
                              <a:latin typeface="Cambria Math" panose="02040503050406030204" pitchFamily="18" charset="0"/>
                              <a:ea typeface="微软雅黑" panose="020B0503020204020204" pitchFamily="34" charset="-122"/>
                            </a:rPr>
                          </m:ctrlPr>
                        </m:dPr>
                        <m:e>
                          <m:r>
                            <a:rPr lang="en-US" altLang="zh-CN" sz="1400" i="1">
                              <a:solidFill>
                                <a:srgbClr val="FF0000"/>
                              </a:solidFill>
                              <a:highlight>
                                <a:srgbClr val="FFFF00"/>
                              </a:highlight>
                              <a:latin typeface="Cambria Math" panose="02040503050406030204" pitchFamily="18" charset="0"/>
                              <a:ea typeface="微软雅黑" panose="020B0503020204020204" pitchFamily="34" charset="-122"/>
                            </a:rPr>
                            <m:t>𝑥𝑖</m:t>
                          </m:r>
                        </m:e>
                      </m:d>
                    </m:oMath>
                  </m:oMathPara>
                </a14:m>
                <a:endParaRPr lang="zh-CN" altLang="en-US" sz="1400" dirty="0"/>
              </a:p>
            </p:txBody>
          </p:sp>
        </mc:Choice>
        <mc:Fallback xmlns="">
          <p:sp>
            <p:nvSpPr>
              <p:cNvPr id="27" name="文本框 26"/>
              <p:cNvSpPr txBox="1">
                <a:spLocks noRot="1" noChangeAspect="1" noMove="1" noResize="1" noEditPoints="1" noAdjustHandles="1" noChangeArrowheads="1" noChangeShapeType="1" noTextEdit="1"/>
              </p:cNvSpPr>
              <p:nvPr/>
            </p:nvSpPr>
            <p:spPr>
              <a:xfrm>
                <a:off x="7236296" y="1784695"/>
                <a:ext cx="858653" cy="307777"/>
              </a:xfrm>
              <a:prstGeom prst="rect">
                <a:avLst/>
              </a:prstGeom>
              <a:blipFill>
                <a:blip r:embed="rId9"/>
                <a:stretch>
                  <a:fillRect b="-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p:cNvSpPr txBox="1"/>
              <p:nvPr/>
            </p:nvSpPr>
            <p:spPr>
              <a:xfrm>
                <a:off x="7252712" y="2128606"/>
                <a:ext cx="39851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altLang="ko-KR" sz="1400" i="1" smtClean="0">
                              <a:solidFill>
                                <a:srgbClr val="FF0000"/>
                              </a:solidFill>
                              <a:highlight>
                                <a:srgbClr val="FFFF00"/>
                              </a:highlight>
                              <a:latin typeface="Cambria Math" panose="02040503050406030204" pitchFamily="18" charset="0"/>
                              <a:ea typeface="微软雅黑" panose="020B0503020204020204" pitchFamily="34" charset="-122"/>
                            </a:rPr>
                          </m:ctrlPr>
                        </m:accPr>
                        <m:e>
                          <m:r>
                            <a:rPr lang="en-US" altLang="zh-CN" sz="1400" i="1">
                              <a:solidFill>
                                <a:srgbClr val="FF0000"/>
                              </a:solidFill>
                              <a:highlight>
                                <a:srgbClr val="FFFF00"/>
                              </a:highlight>
                              <a:latin typeface="Cambria Math" panose="02040503050406030204" pitchFamily="18" charset="0"/>
                              <a:ea typeface="微软雅黑" panose="020B0503020204020204" pitchFamily="34" charset="-122"/>
                            </a:rPr>
                            <m:t>𝑦</m:t>
                          </m:r>
                        </m:e>
                      </m:acc>
                    </m:oMath>
                  </m:oMathPara>
                </a14:m>
                <a:endParaRPr lang="zh-CN" altLang="en-US" sz="1400" dirty="0"/>
              </a:p>
            </p:txBody>
          </p:sp>
        </mc:Choice>
        <mc:Fallback xmlns="">
          <p:sp>
            <p:nvSpPr>
              <p:cNvPr id="28" name="文本框 27"/>
              <p:cNvSpPr txBox="1">
                <a:spLocks noRot="1" noChangeAspect="1" noMove="1" noResize="1" noEditPoints="1" noAdjustHandles="1" noChangeArrowheads="1" noChangeShapeType="1" noTextEdit="1"/>
              </p:cNvSpPr>
              <p:nvPr/>
            </p:nvSpPr>
            <p:spPr>
              <a:xfrm>
                <a:off x="7252712" y="2128606"/>
                <a:ext cx="398519" cy="307777"/>
              </a:xfrm>
              <a:prstGeom prst="rect">
                <a:avLst/>
              </a:prstGeom>
              <a:blipFill>
                <a:blip r:embed="rId10"/>
                <a:stretch>
                  <a:fillRect b="-1961"/>
                </a:stretch>
              </a:blipFill>
            </p:spPr>
            <p:txBody>
              <a:bodyPr/>
              <a:lstStyle/>
              <a:p>
                <a:r>
                  <a:rPr lang="zh-CN" altLang="en-US">
                    <a:noFill/>
                  </a:rPr>
                  <a:t> </a:t>
                </a:r>
              </a:p>
            </p:txBody>
          </p:sp>
        </mc:Fallback>
      </mc:AlternateContent>
      <p:sp>
        <p:nvSpPr>
          <p:cNvPr id="30" name="文本框 29"/>
          <p:cNvSpPr txBox="1"/>
          <p:nvPr/>
        </p:nvSpPr>
        <p:spPr>
          <a:xfrm>
            <a:off x="8017034" y="2379116"/>
            <a:ext cx="1127313" cy="523220"/>
          </a:xfrm>
          <a:prstGeom prst="rect">
            <a:avLst/>
          </a:prstGeom>
          <a:noFill/>
        </p:spPr>
        <p:txBody>
          <a:bodyPr wrap="square">
            <a:spAutoFit/>
          </a:bodyPr>
          <a:lstStyle/>
          <a:p>
            <a:r>
              <a:rPr lang="en-US" altLang="ko-KR" sz="1400" b="1" dirty="0">
                <a:solidFill>
                  <a:srgbClr val="FF0000"/>
                </a:solidFill>
                <a:latin typeface="华文楷体" panose="02010600040101010101" pitchFamily="2" charset="-122"/>
                <a:ea typeface="华文楷体" panose="02010600040101010101" pitchFamily="2" charset="-122"/>
              </a:rPr>
              <a:t>SST=AC</a:t>
            </a:r>
          </a:p>
          <a:p>
            <a:r>
              <a:rPr lang="en-US" altLang="zh-CN" sz="1400" b="1" dirty="0">
                <a:solidFill>
                  <a:srgbClr val="FF0000"/>
                </a:solidFill>
                <a:latin typeface="华文楷体" panose="02010600040101010101" pitchFamily="2" charset="-122"/>
                <a:ea typeface="华文楷体" panose="02010600040101010101" pitchFamily="2" charset="-122"/>
              </a:rPr>
              <a:t>SSE=AB</a:t>
            </a:r>
            <a:endParaRPr lang="zh-CN" altLang="en-US" sz="1400" b="1" dirty="0">
              <a:solidFill>
                <a:srgbClr val="FF0000"/>
              </a:solidFill>
            </a:endParaRPr>
          </a:p>
        </p:txBody>
      </p:sp>
      <p:sp>
        <p:nvSpPr>
          <p:cNvPr id="31" name="矩形 30"/>
          <p:cNvSpPr/>
          <p:nvPr/>
        </p:nvSpPr>
        <p:spPr>
          <a:xfrm>
            <a:off x="97476" y="4247334"/>
            <a:ext cx="2456122" cy="338554"/>
          </a:xfrm>
          <a:prstGeom prst="rect">
            <a:avLst/>
          </a:prstGeom>
          <a:solidFill>
            <a:schemeClr val="bg1"/>
          </a:solidFill>
        </p:spPr>
        <p:txBody>
          <a:bodyPr wrap="none">
            <a:spAutoFit/>
          </a:bodyPr>
          <a:lstStyle/>
          <a:p>
            <a:pPr eaLnBrk="0" hangingPunct="0"/>
            <a:r>
              <a:rPr lang="en-US" altLang="ko-KR" sz="1600" b="1" dirty="0" err="1">
                <a:solidFill>
                  <a:srgbClr val="FF0000"/>
                </a:solidFill>
                <a:latin typeface="微软雅黑" panose="020B0503020204020204" pitchFamily="34" charset="-122"/>
                <a:ea typeface="微软雅黑" panose="020B0503020204020204" pitchFamily="34" charset="-122"/>
              </a:rPr>
              <a:t>矫正</a:t>
            </a:r>
            <a:r>
              <a:rPr lang="zh-CN" altLang="en-US" sz="1600" b="1" dirty="0">
                <a:solidFill>
                  <a:srgbClr val="FF0000"/>
                </a:solidFill>
                <a:latin typeface="微软雅黑" panose="020B0503020204020204" pitchFamily="34" charset="-122"/>
                <a:ea typeface="微软雅黑" panose="020B0503020204020204" pitchFamily="34" charset="-122"/>
              </a:rPr>
              <a:t>后调整决定</a:t>
            </a:r>
            <a:r>
              <a:rPr lang="en-US" altLang="ko-KR" sz="1600" b="1" dirty="0">
                <a:solidFill>
                  <a:srgbClr val="FF0000"/>
                </a:solidFill>
                <a:latin typeface="微软雅黑" panose="020B0503020204020204" pitchFamily="34" charset="-122"/>
                <a:ea typeface="微软雅黑" panose="020B0503020204020204" pitchFamily="34" charset="-122"/>
              </a:rPr>
              <a:t>系数R^2</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2873970" y="4263491"/>
            <a:ext cx="3480180" cy="338554"/>
          </a:xfrm>
          <a:prstGeom prst="rect">
            <a:avLst/>
          </a:prstGeom>
          <a:solidFill>
            <a:schemeClr val="bg1"/>
          </a:solidFill>
          <a:ln w="3175">
            <a:noFill/>
          </a:ln>
        </p:spPr>
        <p:txBody>
          <a:bodyPr wrap="square">
            <a:spAutoFit/>
          </a:bodyPr>
          <a:lstStyle>
            <a:defPPr>
              <a:defRPr lang="zh-CN"/>
            </a:defPPr>
            <a:lvl1pPr defTabSz="685800" eaLnBrk="0" fontAlgn="auto">
              <a:spcBef>
                <a:spcPts val="0"/>
              </a:spcBef>
              <a:spcAft>
                <a:spcPts val="0"/>
              </a:spcAft>
              <a:defRPr sz="2000">
                <a:latin typeface="华文楷体" panose="02010600040101010101" pitchFamily="2" charset="-122"/>
                <a:ea typeface="华文楷体" panose="0201060004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a:defRPr>
                <a:solidFill>
                  <a:schemeClr val="tx1"/>
                </a:solidFill>
                <a:latin typeface="Arial" panose="020B0604020202020204" pitchFamily="34" charset="0"/>
                <a:ea typeface="宋体" panose="02010600030101010101" pitchFamily="2" charset="-122"/>
              </a:defRPr>
            </a:lvl6pPr>
            <a:lvl7pPr>
              <a:defRPr>
                <a:solidFill>
                  <a:schemeClr val="tx1"/>
                </a:solidFill>
                <a:latin typeface="Arial" panose="020B0604020202020204" pitchFamily="34" charset="0"/>
                <a:ea typeface="宋体" panose="02010600030101010101" pitchFamily="2" charset="-122"/>
              </a:defRPr>
            </a:lvl7pPr>
            <a:lvl8pPr>
              <a:defRPr>
                <a:solidFill>
                  <a:schemeClr val="tx1"/>
                </a:solidFill>
                <a:latin typeface="Arial" panose="020B0604020202020204" pitchFamily="34" charset="0"/>
                <a:ea typeface="宋体" panose="02010600030101010101" pitchFamily="2" charset="-122"/>
              </a:defRPr>
            </a:lvl8pPr>
            <a:lvl9pPr>
              <a:defRPr>
                <a:solidFill>
                  <a:schemeClr val="tx1"/>
                </a:solidFill>
                <a:latin typeface="Arial" panose="020B0604020202020204" pitchFamily="34" charset="0"/>
                <a:ea typeface="宋体" panose="02010600030101010101" pitchFamily="2" charset="-122"/>
              </a:defRPr>
            </a:lvl9pPr>
          </a:lstStyle>
          <a:p>
            <a:r>
              <a:rPr lang="en-US" altLang="zh-CN" sz="1600" dirty="0">
                <a:solidFill>
                  <a:srgbClr val="FF0000"/>
                </a:solidFill>
              </a:rPr>
              <a:t>R</a:t>
            </a:r>
            <a:r>
              <a:rPr lang="zh-CN" altLang="en-US" sz="1600" dirty="0">
                <a:solidFill>
                  <a:srgbClr val="FF0000"/>
                </a:solidFill>
              </a:rPr>
              <a:t>^2=1-</a:t>
            </a:r>
            <a:r>
              <a:rPr lang="en-US" altLang="zh-CN" sz="1600" dirty="0">
                <a:solidFill>
                  <a:srgbClr val="FF0000"/>
                </a:solidFill>
              </a:rPr>
              <a:t>((m-1)/(m-N))</a:t>
            </a:r>
            <a:r>
              <a:rPr lang="zh-CN" altLang="en-US" sz="1600" dirty="0">
                <a:solidFill>
                  <a:srgbClr val="FF0000"/>
                </a:solidFill>
              </a:rPr>
              <a:t>SSE/SST</a:t>
            </a:r>
            <a:r>
              <a:rPr lang="en-US" altLang="zh-CN" sz="1600" dirty="0">
                <a:solidFill>
                  <a:srgbClr val="FF0000"/>
                </a:solidFill>
              </a:rPr>
              <a:t> </a:t>
            </a:r>
            <a:endParaRPr lang="ko-KR" altLang="en-US" sz="1600" dirty="0">
              <a:solidFill>
                <a:srgbClr val="FF0000"/>
              </a:solidFill>
            </a:endParaRPr>
          </a:p>
        </p:txBody>
      </p:sp>
      <p:sp>
        <p:nvSpPr>
          <p:cNvPr id="33" name="矩形 32"/>
          <p:cNvSpPr/>
          <p:nvPr/>
        </p:nvSpPr>
        <p:spPr>
          <a:xfrm>
            <a:off x="5991916" y="4220576"/>
            <a:ext cx="2901756" cy="361061"/>
          </a:xfrm>
          <a:prstGeom prst="rect">
            <a:avLst/>
          </a:prstGeom>
          <a:solidFill>
            <a:schemeClr val="bg1"/>
          </a:solidFill>
          <a:ln>
            <a:noFill/>
          </a:ln>
        </p:spPr>
        <p:txBody>
          <a:bodyPr wrap="square">
            <a:spAutoFit/>
          </a:bodyPr>
          <a:lstStyle/>
          <a:p>
            <a:pPr>
              <a:lnSpc>
                <a:spcPts val="2200"/>
              </a:lnSpc>
            </a:pPr>
            <a:r>
              <a:rPr lang="zh-CN" altLang="en-US" sz="1600" b="1" dirty="0">
                <a:solidFill>
                  <a:srgbClr val="0070C0"/>
                </a:solidFill>
                <a:latin typeface="华文楷体" panose="02010600040101010101" pitchFamily="2" charset="-122"/>
                <a:ea typeface="华文楷体" panose="02010600040101010101" pitchFamily="2" charset="-122"/>
              </a:rPr>
              <a:t>采样点数量</a:t>
            </a:r>
            <a:r>
              <a:rPr lang="en-US" altLang="zh-CN" sz="1600" b="1" dirty="0">
                <a:solidFill>
                  <a:srgbClr val="0070C0"/>
                </a:solidFill>
                <a:latin typeface="华文楷体" panose="02010600040101010101" pitchFamily="2" charset="-122"/>
                <a:ea typeface="华文楷体" panose="02010600040101010101" pitchFamily="2" charset="-122"/>
              </a:rPr>
              <a:t>m,</a:t>
            </a:r>
            <a:r>
              <a:rPr lang="zh-CN" altLang="en-US" sz="1600" b="1" dirty="0">
                <a:solidFill>
                  <a:srgbClr val="0070C0"/>
                </a:solidFill>
                <a:latin typeface="华文楷体" panose="02010600040101010101" pitchFamily="2" charset="-122"/>
                <a:ea typeface="华文楷体" panose="02010600040101010101" pitchFamily="2" charset="-122"/>
              </a:rPr>
              <a:t> 待定参数数量</a:t>
            </a:r>
            <a:r>
              <a:rPr lang="en-US" altLang="zh-CN" sz="1600" b="1" dirty="0">
                <a:solidFill>
                  <a:srgbClr val="0070C0"/>
                </a:solidFill>
                <a:latin typeface="华文楷体" panose="02010600040101010101" pitchFamily="2" charset="-122"/>
                <a:ea typeface="华文楷体" panose="02010600040101010101" pitchFamily="2" charset="-122"/>
              </a:rPr>
              <a:t>N</a:t>
            </a:r>
            <a:endParaRPr lang="zh-CN" altLang="en-US" sz="1600" b="1" dirty="0">
              <a:solidFill>
                <a:srgbClr val="0070C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4" name="矩形 33"/>
              <p:cNvSpPr/>
              <p:nvPr/>
            </p:nvSpPr>
            <p:spPr>
              <a:xfrm>
                <a:off x="1539538" y="2051612"/>
                <a:ext cx="5981578" cy="398314"/>
              </a:xfrm>
              <a:prstGeom prst="rect">
                <a:avLst/>
              </a:prstGeom>
              <a:ln w="3175">
                <a:noFill/>
              </a:ln>
            </p:spPr>
            <p:txBody>
              <a:bodyPr wrap="square">
                <a:spAutoFit/>
              </a:bodyPr>
              <a:lstStyle/>
              <a:p>
                <a:pPr defTabSz="685800" eaLnBrk="0" fontAlgn="auto">
                  <a:spcBef>
                    <a:spcPts val="0"/>
                  </a:spcBef>
                  <a:spcAft>
                    <a:spcPts val="0"/>
                  </a:spcAft>
                </a:pPr>
                <a14:m>
                  <m:oMath xmlns:m="http://schemas.openxmlformats.org/officeDocument/2006/math">
                    <m:r>
                      <a:rPr lang="en-US" altLang="ko-KR" sz="1400" b="0" i="1" smtClean="0">
                        <a:solidFill>
                          <a:srgbClr val="FF0000"/>
                        </a:solidFill>
                        <a:latin typeface="Cambria Math" panose="02040503050406030204" pitchFamily="18" charset="0"/>
                        <a:ea typeface="微软雅黑" panose="020B0503020204020204" pitchFamily="34" charset="-122"/>
                      </a:rPr>
                      <m:t>𝑅𝑀𝑆𝐸</m:t>
                    </m:r>
                    <m:r>
                      <a:rPr lang="en-US" altLang="ko-KR" sz="1400" b="0" i="1" smtClean="0">
                        <a:solidFill>
                          <a:srgbClr val="FF0000"/>
                        </a:solidFill>
                        <a:latin typeface="Cambria Math" panose="02040503050406030204" pitchFamily="18" charset="0"/>
                        <a:ea typeface="微软雅黑" panose="020B0503020204020204" pitchFamily="34" charset="-122"/>
                      </a:rPr>
                      <m:t>=(</m:t>
                    </m:r>
                    <m:f>
                      <m:fPr>
                        <m:ctrlPr>
                          <a:rPr lang="en-US" altLang="ko-KR" sz="1400" i="1">
                            <a:solidFill>
                              <a:srgbClr val="FF0000"/>
                            </a:solidFill>
                            <a:latin typeface="Cambria Math" panose="02040503050406030204" pitchFamily="18" charset="0"/>
                            <a:ea typeface="微软雅黑" panose="020B0503020204020204" pitchFamily="34" charset="-122"/>
                          </a:rPr>
                        </m:ctrlPr>
                      </m:fPr>
                      <m:num>
                        <m:r>
                          <a:rPr lang="en-US" altLang="ko-KR" sz="1400" i="1">
                            <a:solidFill>
                              <a:srgbClr val="FF0000"/>
                            </a:solidFill>
                            <a:latin typeface="Cambria Math" panose="02040503050406030204" pitchFamily="18" charset="0"/>
                            <a:ea typeface="微软雅黑" panose="020B0503020204020204" pitchFamily="34" charset="-122"/>
                          </a:rPr>
                          <m:t>𝑆𝑆𝐸</m:t>
                        </m:r>
                      </m:num>
                      <m:den>
                        <m:r>
                          <m:rPr>
                            <m:sty m:val="p"/>
                          </m:rPr>
                          <a:rPr lang="en-US" altLang="zh-CN" sz="1400" i="1">
                            <a:solidFill>
                              <a:srgbClr val="FF0000"/>
                            </a:solidFill>
                            <a:latin typeface="Cambria Math" panose="02040503050406030204" pitchFamily="18" charset="0"/>
                            <a:ea typeface="微软雅黑" panose="020B0503020204020204" pitchFamily="34" charset="-122"/>
                          </a:rPr>
                          <m:t>m</m:t>
                        </m:r>
                      </m:den>
                    </m:f>
                    <m:r>
                      <a:rPr lang="en-US" altLang="zh-CN" sz="1400" b="0" i="1" smtClean="0">
                        <a:solidFill>
                          <a:srgbClr val="FF0000"/>
                        </a:solidFill>
                        <a:latin typeface="Cambria Math" panose="02040503050406030204" pitchFamily="18" charset="0"/>
                        <a:ea typeface="微软雅黑" panose="020B0503020204020204" pitchFamily="34" charset="-122"/>
                      </a:rPr>
                      <m:t>)</m:t>
                    </m:r>
                    <m:r>
                      <a:rPr lang="en-US" altLang="ko-KR" sz="1400" i="1" baseline="30000">
                        <a:solidFill>
                          <a:srgbClr val="FF0000"/>
                        </a:solidFill>
                        <a:latin typeface="Cambria Math" panose="02040503050406030204" pitchFamily="18" charset="0"/>
                        <a:ea typeface="微软雅黑" panose="020B0503020204020204" pitchFamily="34" charset="-122"/>
                      </a:rPr>
                      <m:t>1/2</m:t>
                    </m:r>
                    <m:r>
                      <a:rPr lang="en-US" altLang="zh-CN" sz="1400" b="0" i="1" smtClean="0">
                        <a:solidFill>
                          <a:srgbClr val="FF0000"/>
                        </a:solidFill>
                        <a:latin typeface="Cambria Math" panose="02040503050406030204" pitchFamily="18" charset="0"/>
                        <a:ea typeface="微软雅黑" panose="020B0503020204020204" pitchFamily="34" charset="-122"/>
                      </a:rPr>
                      <m:t>=</m:t>
                    </m:r>
                    <m:r>
                      <a:rPr lang="en-US" altLang="ko-KR" sz="1400" b="0" i="1" smtClean="0">
                        <a:solidFill>
                          <a:srgbClr val="FF0000"/>
                        </a:solidFill>
                        <a:latin typeface="Cambria Math" panose="02040503050406030204" pitchFamily="18" charset="0"/>
                        <a:ea typeface="微软雅黑" panose="020B0503020204020204" pitchFamily="34" charset="-122"/>
                      </a:rPr>
                      <m:t>((</m:t>
                    </m:r>
                    <m:nary>
                      <m:naryPr>
                        <m:chr m:val="∑"/>
                        <m:ctrlPr>
                          <a:rPr lang="en-US" altLang="ko-KR" sz="1400" i="1">
                            <a:solidFill>
                              <a:srgbClr val="FF0000"/>
                            </a:solidFill>
                            <a:latin typeface="Cambria Math" panose="02040503050406030204" pitchFamily="18" charset="0"/>
                            <a:ea typeface="微软雅黑" panose="020B0503020204020204" pitchFamily="34" charset="-122"/>
                          </a:rPr>
                        </m:ctrlPr>
                      </m:naryPr>
                      <m:sub>
                        <m:r>
                          <m:rPr>
                            <m:brk m:alnAt="23"/>
                          </m:rPr>
                          <a:rPr lang="en-US" altLang="ko-KR" sz="1400" b="0" i="1">
                            <a:solidFill>
                              <a:srgbClr val="FF0000"/>
                            </a:solidFill>
                            <a:latin typeface="Cambria Math" panose="02040503050406030204" pitchFamily="18" charset="0"/>
                            <a:ea typeface="微软雅黑" panose="020B0503020204020204" pitchFamily="34" charset="-122"/>
                          </a:rPr>
                          <m:t>𝑖</m:t>
                        </m:r>
                        <m:r>
                          <a:rPr lang="en-US" altLang="ko-KR" sz="1400" b="0" i="1">
                            <a:solidFill>
                              <a:srgbClr val="FF0000"/>
                            </a:solidFill>
                            <a:latin typeface="Cambria Math" panose="02040503050406030204" pitchFamily="18" charset="0"/>
                            <a:ea typeface="微软雅黑" panose="020B0503020204020204" pitchFamily="34" charset="-122"/>
                          </a:rPr>
                          <m:t>=1</m:t>
                        </m:r>
                      </m:sub>
                      <m:sup>
                        <m:r>
                          <a:rPr lang="en-US" altLang="ko-KR" sz="1400" b="0" i="1" smtClean="0">
                            <a:solidFill>
                              <a:srgbClr val="FF0000"/>
                            </a:solidFill>
                            <a:latin typeface="Cambria Math" panose="02040503050406030204" pitchFamily="18" charset="0"/>
                            <a:ea typeface="微软雅黑" panose="020B0503020204020204" pitchFamily="34" charset="-122"/>
                          </a:rPr>
                          <m:t>𝑚</m:t>
                        </m:r>
                      </m:sup>
                      <m:e>
                        <m:sSup>
                          <m:sSupPr>
                            <m:ctrlPr>
                              <a:rPr lang="en-US" altLang="ko-KR" sz="1400" i="1">
                                <a:solidFill>
                                  <a:srgbClr val="FF0000"/>
                                </a:solidFill>
                                <a:latin typeface="Cambria Math" panose="02040503050406030204" pitchFamily="18" charset="0"/>
                                <a:ea typeface="微软雅黑" panose="020B0503020204020204" pitchFamily="34" charset="-122"/>
                              </a:rPr>
                            </m:ctrlPr>
                          </m:sSupPr>
                          <m:e>
                            <m:r>
                              <a:rPr lang="en-US" altLang="ko-KR" sz="1400" b="0" i="1">
                                <a:solidFill>
                                  <a:srgbClr val="FF0000"/>
                                </a:solidFill>
                                <a:latin typeface="Cambria Math" panose="02040503050406030204" pitchFamily="18" charset="0"/>
                                <a:ea typeface="微软雅黑" panose="020B0503020204020204" pitchFamily="34" charset="-122"/>
                              </a:rPr>
                              <m:t>(</m:t>
                            </m:r>
                            <m:r>
                              <a:rPr lang="en-US" altLang="ko-KR" sz="1400" b="0" i="1">
                                <a:solidFill>
                                  <a:srgbClr val="FF0000"/>
                                </a:solidFill>
                                <a:latin typeface="Cambria Math" panose="02040503050406030204" pitchFamily="18" charset="0"/>
                                <a:ea typeface="微软雅黑" panose="020B0503020204020204" pitchFamily="34" charset="-122"/>
                              </a:rPr>
                              <m:t>𝑦𝑖</m:t>
                            </m:r>
                            <m:r>
                              <a:rPr lang="en-US" altLang="ko-KR" sz="1400" b="0" i="1">
                                <a:solidFill>
                                  <a:srgbClr val="FF0000"/>
                                </a:solidFill>
                                <a:latin typeface="Cambria Math" panose="02040503050406030204" pitchFamily="18" charset="0"/>
                                <a:ea typeface="微软雅黑" panose="020B0503020204020204" pitchFamily="34" charset="-122"/>
                              </a:rPr>
                              <m:t>−</m:t>
                            </m:r>
                            <m:r>
                              <a:rPr lang="en-US" altLang="ko-KR" sz="1400" b="0" i="1">
                                <a:solidFill>
                                  <a:srgbClr val="FF0000"/>
                                </a:solidFill>
                                <a:latin typeface="Cambria Math" panose="02040503050406030204" pitchFamily="18" charset="0"/>
                                <a:ea typeface="微软雅黑" panose="020B0503020204020204" pitchFamily="34" charset="-122"/>
                              </a:rPr>
                              <m:t>𝑦</m:t>
                            </m:r>
                            <m:d>
                              <m:dPr>
                                <m:ctrlPr>
                                  <a:rPr lang="en-US" altLang="zh-CN" sz="1400" i="1">
                                    <a:solidFill>
                                      <a:srgbClr val="FF0000"/>
                                    </a:solidFill>
                                    <a:latin typeface="Cambria Math" panose="02040503050406030204" pitchFamily="18" charset="0"/>
                                    <a:ea typeface="微软雅黑" panose="020B0503020204020204" pitchFamily="34" charset="-122"/>
                                  </a:rPr>
                                </m:ctrlPr>
                              </m:dPr>
                              <m:e>
                                <m:r>
                                  <a:rPr lang="en-US" altLang="zh-CN" sz="1400" b="0" i="1">
                                    <a:solidFill>
                                      <a:srgbClr val="FF0000"/>
                                    </a:solidFill>
                                    <a:latin typeface="Cambria Math" panose="02040503050406030204" pitchFamily="18" charset="0"/>
                                    <a:ea typeface="微软雅黑" panose="020B0503020204020204" pitchFamily="34" charset="-122"/>
                                  </a:rPr>
                                  <m:t>𝑥𝑖</m:t>
                                </m:r>
                              </m:e>
                            </m:d>
                            <m:r>
                              <a:rPr lang="en-US" altLang="ko-KR" sz="1400" b="0" i="1">
                                <a:solidFill>
                                  <a:srgbClr val="FF0000"/>
                                </a:solidFill>
                                <a:latin typeface="Cambria Math" panose="02040503050406030204" pitchFamily="18" charset="0"/>
                                <a:ea typeface="微软雅黑" panose="020B0503020204020204" pitchFamily="34" charset="-122"/>
                              </a:rPr>
                              <m:t>)</m:t>
                            </m:r>
                          </m:e>
                          <m:sup>
                            <m:r>
                              <a:rPr lang="en-US" altLang="ko-KR" sz="1400" b="0" i="1">
                                <a:solidFill>
                                  <a:srgbClr val="FF0000"/>
                                </a:solidFill>
                                <a:latin typeface="Cambria Math" panose="02040503050406030204" pitchFamily="18" charset="0"/>
                                <a:ea typeface="微软雅黑" panose="020B0503020204020204" pitchFamily="34" charset="-122"/>
                              </a:rPr>
                              <m:t>2</m:t>
                            </m:r>
                          </m:sup>
                        </m:sSup>
                        <m:r>
                          <a:rPr lang="en-US" altLang="ko-KR" sz="1400" b="0" i="1" smtClean="0">
                            <a:solidFill>
                              <a:srgbClr val="FF0000"/>
                            </a:solidFill>
                            <a:latin typeface="Cambria Math" panose="02040503050406030204" pitchFamily="18" charset="0"/>
                            <a:ea typeface="微软雅黑" panose="020B0503020204020204" pitchFamily="34" charset="-122"/>
                          </a:rPr>
                          <m:t>)/</m:t>
                        </m:r>
                        <m:r>
                          <m:rPr>
                            <m:sty m:val="p"/>
                          </m:rPr>
                          <a:rPr lang="en-US" altLang="zh-CN" sz="1400" i="1">
                            <a:solidFill>
                              <a:srgbClr val="FF0000"/>
                            </a:solidFill>
                            <a:latin typeface="Cambria Math" panose="02040503050406030204" pitchFamily="18" charset="0"/>
                            <a:ea typeface="微软雅黑" panose="020B0503020204020204" pitchFamily="34" charset="-122"/>
                          </a:rPr>
                          <m:t>m</m:t>
                        </m:r>
                        <m:r>
                          <a:rPr lang="en-US" altLang="ko-KR" sz="1400" b="0" i="1">
                            <a:solidFill>
                              <a:srgbClr val="FF0000"/>
                            </a:solidFill>
                            <a:latin typeface="Cambria Math" panose="02040503050406030204" pitchFamily="18" charset="0"/>
                            <a:ea typeface="微软雅黑" panose="020B0503020204020204" pitchFamily="34" charset="-122"/>
                          </a:rPr>
                          <m:t> </m:t>
                        </m:r>
                        <m:r>
                          <a:rPr lang="en-US" altLang="ko-KR" sz="1400" b="0" i="1" smtClean="0">
                            <a:solidFill>
                              <a:srgbClr val="FF0000"/>
                            </a:solidFill>
                            <a:latin typeface="Cambria Math" panose="02040503050406030204" pitchFamily="18" charset="0"/>
                            <a:ea typeface="微软雅黑" panose="020B0503020204020204" pitchFamily="34" charset="-122"/>
                          </a:rPr>
                          <m:t>)</m:t>
                        </m:r>
                        <m:r>
                          <a:rPr lang="en-US" altLang="ko-KR" sz="1400" b="0" i="1" baseline="30000" smtClean="0">
                            <a:solidFill>
                              <a:srgbClr val="FF0000"/>
                            </a:solidFill>
                            <a:latin typeface="Cambria Math" panose="02040503050406030204" pitchFamily="18" charset="0"/>
                            <a:ea typeface="微软雅黑" panose="020B0503020204020204" pitchFamily="34" charset="-122"/>
                          </a:rPr>
                          <m:t>1/2</m:t>
                        </m:r>
                        <m:r>
                          <a:rPr lang="en-US" altLang="ko-KR" sz="1400" b="0" i="1">
                            <a:solidFill>
                              <a:srgbClr val="FF0000"/>
                            </a:solidFill>
                            <a:latin typeface="Cambria Math" panose="02040503050406030204" pitchFamily="18" charset="0"/>
                            <a:ea typeface="微软雅黑" panose="020B0503020204020204" pitchFamily="34" charset="-122"/>
                          </a:rPr>
                          <m:t> </m:t>
                        </m:r>
                      </m:e>
                    </m:nary>
                  </m:oMath>
                </a14:m>
                <a:r>
                  <a:rPr lang="zh-CN" altLang="en-US" sz="1400" dirty="0">
                    <a:solidFill>
                      <a:srgbClr val="FF0000"/>
                    </a:solidFill>
                    <a:latin typeface="华文楷体" panose="02010600040101010101" pitchFamily="2" charset="-122"/>
                    <a:ea typeface="华文楷体" panose="02010600040101010101" pitchFamily="2" charset="-122"/>
                  </a:rPr>
                  <a:t> </a:t>
                </a:r>
                <a:endParaRPr lang="ko-KR" altLang="en-US" sz="1400" dirty="0">
                  <a:solidFill>
                    <a:srgbClr val="FF0000"/>
                  </a:solidFill>
                  <a:latin typeface="华文楷体" panose="02010600040101010101" pitchFamily="2" charset="-122"/>
                  <a:ea typeface="微软雅黑" panose="020B0503020204020204" pitchFamily="34" charset="-122"/>
                </a:endParaRPr>
              </a:p>
            </p:txBody>
          </p:sp>
        </mc:Choice>
        <mc:Fallback xmlns="">
          <p:sp>
            <p:nvSpPr>
              <p:cNvPr id="34" name="矩形 33"/>
              <p:cNvSpPr>
                <a:spLocks noRot="1" noChangeAspect="1" noMove="1" noResize="1" noEditPoints="1" noAdjustHandles="1" noChangeArrowheads="1" noChangeShapeType="1" noTextEdit="1"/>
              </p:cNvSpPr>
              <p:nvPr/>
            </p:nvSpPr>
            <p:spPr>
              <a:xfrm>
                <a:off x="1539538" y="2051612"/>
                <a:ext cx="5981578" cy="398314"/>
              </a:xfrm>
              <a:prstGeom prst="rect">
                <a:avLst/>
              </a:prstGeom>
              <a:blipFill>
                <a:blip r:embed="rId11"/>
                <a:stretch>
                  <a:fillRect t="-67692" b="-113846"/>
                </a:stretch>
              </a:blipFill>
              <a:ln w="3175">
                <a:noFill/>
              </a:ln>
            </p:spPr>
            <p:txBody>
              <a:bodyPr/>
              <a:lstStyle/>
              <a:p>
                <a:r>
                  <a:rPr lang="zh-CN" altLang="en-US">
                    <a:noFill/>
                  </a:rPr>
                  <a:t> </a:t>
                </a:r>
              </a:p>
            </p:txBody>
          </p:sp>
        </mc:Fallback>
      </mc:AlternateContent>
      <p:sp>
        <p:nvSpPr>
          <p:cNvPr id="36" name="文本框 35"/>
          <p:cNvSpPr txBox="1"/>
          <p:nvPr/>
        </p:nvSpPr>
        <p:spPr>
          <a:xfrm>
            <a:off x="79941" y="3895503"/>
            <a:ext cx="5140131" cy="307777"/>
          </a:xfrm>
          <a:prstGeom prst="rect">
            <a:avLst/>
          </a:prstGeom>
          <a:solidFill>
            <a:schemeClr val="bg1"/>
          </a:solidFill>
        </p:spPr>
        <p:txBody>
          <a:bodyPr wrap="square">
            <a:spAutoFit/>
          </a:bodyPr>
          <a:lstStyle/>
          <a:p>
            <a:r>
              <a:rPr lang="zh-CN" altLang="en-US" sz="1400" b="1" kern="0" dirty="0">
                <a:solidFill>
                  <a:srgbClr val="0070C0"/>
                </a:solidFill>
                <a:latin typeface="微软雅黑" panose="020B0503020204020204" pitchFamily="34" charset="-122"/>
                <a:ea typeface="微软雅黑" panose="020B0503020204020204" pitchFamily="34" charset="-122"/>
              </a:rPr>
              <a:t>拟合度越高拟合越好，一般超过</a:t>
            </a:r>
            <a:r>
              <a:rPr lang="en-US" altLang="zh-CN" sz="1400" b="1" kern="0" dirty="0">
                <a:solidFill>
                  <a:srgbClr val="0070C0"/>
                </a:solidFill>
                <a:latin typeface="微软雅黑" panose="020B0503020204020204" pitchFamily="34" charset="-122"/>
                <a:ea typeface="微软雅黑" panose="020B0503020204020204" pitchFamily="34" charset="-122"/>
              </a:rPr>
              <a:t>0.8</a:t>
            </a:r>
            <a:r>
              <a:rPr lang="zh-CN" altLang="en-US" sz="1400" b="1" kern="0" dirty="0">
                <a:solidFill>
                  <a:srgbClr val="0070C0"/>
                </a:solidFill>
                <a:latin typeface="微软雅黑" panose="020B0503020204020204" pitchFamily="34" charset="-122"/>
                <a:ea typeface="微软雅黑" panose="020B0503020204020204" pitchFamily="34" charset="-122"/>
              </a:rPr>
              <a:t>的模型拟合优度就比较好</a:t>
            </a:r>
            <a:r>
              <a:rPr lang="en-US" altLang="zh-CN" sz="1400" b="1" kern="0" dirty="0">
                <a:solidFill>
                  <a:srgbClr val="0070C0"/>
                </a:solidFill>
                <a:latin typeface="微软雅黑" panose="020B0503020204020204" pitchFamily="34" charset="-122"/>
                <a:ea typeface="微软雅黑" panose="020B0503020204020204" pitchFamily="34" charset="-122"/>
              </a:rPr>
              <a:t>,</a:t>
            </a:r>
          </a:p>
        </p:txBody>
      </p:sp>
      <p:sp>
        <p:nvSpPr>
          <p:cNvPr id="37" name="矩形 36"/>
          <p:cNvSpPr/>
          <p:nvPr/>
        </p:nvSpPr>
        <p:spPr>
          <a:xfrm>
            <a:off x="103024" y="2051612"/>
            <a:ext cx="1394934" cy="338554"/>
          </a:xfrm>
          <a:prstGeom prst="rect">
            <a:avLst/>
          </a:prstGeom>
          <a:noFill/>
        </p:spPr>
        <p:txBody>
          <a:bodyPr wrap="none">
            <a:spAutoFit/>
          </a:bodyPr>
          <a:lstStyle/>
          <a:p>
            <a:pPr eaLnBrk="0" hangingPunct="0"/>
            <a:r>
              <a:rPr lang="zh-CN" altLang="en-US" sz="1600" b="1" dirty="0">
                <a:solidFill>
                  <a:srgbClr val="FF0000"/>
                </a:solidFill>
                <a:latin typeface="微软雅黑" panose="020B0503020204020204" pitchFamily="34" charset="-122"/>
                <a:ea typeface="微软雅黑" panose="020B0503020204020204" pitchFamily="34" charset="-122"/>
                <a:sym typeface="+mn-ea"/>
              </a:rPr>
              <a:t>均方根</a:t>
            </a:r>
            <a:r>
              <a:rPr lang="en-US" altLang="zh-CN" sz="1600" b="1" dirty="0">
                <a:solidFill>
                  <a:srgbClr val="FF0000"/>
                </a:solidFill>
                <a:latin typeface="微软雅黑" panose="020B0503020204020204" pitchFamily="34" charset="-122"/>
                <a:ea typeface="微软雅黑" panose="020B0503020204020204" pitchFamily="34" charset="-122"/>
                <a:sym typeface="+mn-ea"/>
              </a:rPr>
              <a:t>RM</a:t>
            </a:r>
            <a:r>
              <a:rPr lang="en-US" altLang="ko-KR" sz="1600" b="1" dirty="0">
                <a:solidFill>
                  <a:srgbClr val="FF0000"/>
                </a:solidFill>
                <a:latin typeface="微软雅黑" panose="020B0503020204020204" pitchFamily="34" charset="-122"/>
                <a:ea typeface="微软雅黑" panose="020B0503020204020204" pitchFamily="34" charset="-122"/>
              </a:rPr>
              <a:t>SE</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118217EA-94FF-4BA3-929B-A250D997FFB1}"/>
              </a:ext>
            </a:extLst>
          </p:cNvPr>
          <p:cNvSpPr txBox="1"/>
          <p:nvPr/>
        </p:nvSpPr>
        <p:spPr>
          <a:xfrm>
            <a:off x="79941" y="3521003"/>
            <a:ext cx="2331819" cy="338554"/>
          </a:xfrm>
          <a:prstGeom prst="rect">
            <a:avLst/>
          </a:prstGeom>
          <a:noFill/>
        </p:spPr>
        <p:txBody>
          <a:bodyPr wrap="square">
            <a:spAutoFit/>
          </a:bodyPr>
          <a:lstStyle/>
          <a:p>
            <a:pPr eaLnBrk="0" hangingPunct="0"/>
            <a:r>
              <a:rPr lang="zh-CN" altLang="en-US" sz="1600" b="1" dirty="0">
                <a:solidFill>
                  <a:srgbClr val="FF0000"/>
                </a:solidFill>
                <a:latin typeface="微软雅黑" panose="020B0503020204020204" pitchFamily="34" charset="-122"/>
                <a:ea typeface="微软雅黑" panose="020B0503020204020204" pitchFamily="34" charset="-122"/>
                <a:sym typeface="+mn-ea"/>
              </a:rPr>
              <a:t>拟合度</a:t>
            </a:r>
            <a:r>
              <a:rPr lang="en-US" altLang="zh-CN" sz="1600" b="1" dirty="0">
                <a:solidFill>
                  <a:srgbClr val="FF0000"/>
                </a:solidFill>
                <a:latin typeface="微软雅黑" panose="020B0503020204020204" pitchFamily="34" charset="-122"/>
                <a:ea typeface="微软雅黑" panose="020B0503020204020204" pitchFamily="34" charset="-122"/>
                <a:sym typeface="+mn-ea"/>
              </a:rPr>
              <a:t>—</a:t>
            </a:r>
            <a:r>
              <a:rPr lang="zh-CN" altLang="en-US" sz="1600" b="1" dirty="0">
                <a:solidFill>
                  <a:srgbClr val="FF0000"/>
                </a:solidFill>
                <a:latin typeface="微软雅黑" panose="020B0503020204020204" pitchFamily="34" charset="-122"/>
                <a:ea typeface="微软雅黑" panose="020B0503020204020204" pitchFamily="34" charset="-122"/>
                <a:sym typeface="+mn-ea"/>
              </a:rPr>
              <a:t>决定系数</a:t>
            </a:r>
            <a:r>
              <a:rPr lang="en-US" altLang="zh-CN" sz="1600" b="1" dirty="0">
                <a:solidFill>
                  <a:srgbClr val="FF0000"/>
                </a:solidFill>
                <a:latin typeface="微软雅黑" panose="020B0503020204020204" pitchFamily="34" charset="-122"/>
                <a:ea typeface="微软雅黑" panose="020B0503020204020204" pitchFamily="34" charset="-122"/>
                <a:sym typeface="+mn-ea"/>
              </a:rPr>
              <a:t>R^2</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50554595-4A41-4453-8013-BA7AA655CDE8}"/>
              </a:ext>
            </a:extLst>
          </p:cNvPr>
          <p:cNvSpPr txBox="1"/>
          <p:nvPr/>
        </p:nvSpPr>
        <p:spPr>
          <a:xfrm>
            <a:off x="5004048" y="3859557"/>
            <a:ext cx="3090901" cy="338554"/>
          </a:xfrm>
          <a:prstGeom prst="rect">
            <a:avLst/>
          </a:prstGeom>
          <a:noFill/>
        </p:spPr>
        <p:txBody>
          <a:bodyPr wrap="square">
            <a:spAutoFit/>
          </a:bodyPr>
          <a:lstStyle/>
          <a:p>
            <a:r>
              <a:rPr lang="zh-CN" altLang="en-US" sz="1600" b="1" kern="0" dirty="0">
                <a:solidFill>
                  <a:srgbClr val="0070C0"/>
                </a:solidFill>
                <a:latin typeface="微软雅黑" panose="020B0503020204020204" pitchFamily="34" charset="-122"/>
                <a:ea typeface="微软雅黑" panose="020B0503020204020204" pitchFamily="34" charset="-122"/>
              </a:rPr>
              <a:t>但是</a:t>
            </a:r>
            <a:r>
              <a:rPr lang="en-US" altLang="zh-CN" sz="1600" b="1" kern="0" dirty="0">
                <a:solidFill>
                  <a:srgbClr val="0070C0"/>
                </a:solidFill>
                <a:latin typeface="微软雅黑" panose="020B0503020204020204" pitchFamily="34" charset="-122"/>
                <a:ea typeface="微软雅黑" panose="020B0503020204020204" pitchFamily="34" charset="-122"/>
              </a:rPr>
              <a:t>R^2=1</a:t>
            </a:r>
            <a:r>
              <a:rPr lang="zh-CN" altLang="en-US" sz="1600" b="1" kern="0" dirty="0">
                <a:solidFill>
                  <a:srgbClr val="0070C0"/>
                </a:solidFill>
                <a:latin typeface="微软雅黑" panose="020B0503020204020204" pitchFamily="34" charset="-122"/>
                <a:ea typeface="微软雅黑" panose="020B0503020204020204" pitchFamily="34" charset="-122"/>
              </a:rPr>
              <a:t>并不一定最好</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animBg="1"/>
      <p:bldP spid="9" grpId="0" animBg="1"/>
      <p:bldP spid="10" grpId="0"/>
      <p:bldP spid="11" grpId="0"/>
      <p:bldP spid="12" grpId="0"/>
      <p:bldP spid="14" grpId="0" animBg="1"/>
      <p:bldP spid="16" grpId="0"/>
      <p:bldP spid="31" grpId="0" animBg="1"/>
      <p:bldP spid="32" grpId="0" animBg="1"/>
      <p:bldP spid="33" grpId="0" animBg="1"/>
      <p:bldP spid="34" grpId="0"/>
      <p:bldP spid="36" grpId="0" animBg="1"/>
      <p:bldP spid="37" grpId="0"/>
      <p:bldP spid="35" grpId="0"/>
      <p:bldP spid="3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36174" y="662350"/>
            <a:ext cx="9071651" cy="663451"/>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hangingPunct="0">
              <a:tabLst>
                <a:tab pos="417195" algn="l"/>
              </a:tabLst>
              <a:defRPr>
                <a:solidFill>
                  <a:schemeClr val="tx1"/>
                </a:solidFill>
                <a:latin typeface="Arial" panose="020B0604020202020204" pitchFamily="34" charset="0"/>
              </a:defRPr>
            </a:lvl1pPr>
            <a:lvl2pPr eaLnBrk="0" hangingPunct="0">
              <a:tabLst>
                <a:tab pos="417195" algn="l"/>
              </a:tabLst>
              <a:defRPr>
                <a:solidFill>
                  <a:schemeClr val="tx1"/>
                </a:solidFill>
                <a:latin typeface="Arial" panose="020B0604020202020204" pitchFamily="34" charset="0"/>
              </a:defRPr>
            </a:lvl2pPr>
            <a:lvl3pPr eaLnBrk="0" hangingPunct="0">
              <a:tabLst>
                <a:tab pos="417195" algn="l"/>
              </a:tabLst>
              <a:defRPr>
                <a:solidFill>
                  <a:schemeClr val="tx1"/>
                </a:solidFill>
                <a:latin typeface="Arial" panose="020B0604020202020204" pitchFamily="34" charset="0"/>
              </a:defRPr>
            </a:lvl3pPr>
            <a:lvl4pPr eaLnBrk="0" hangingPunct="0">
              <a:tabLst>
                <a:tab pos="417195" algn="l"/>
              </a:tabLst>
              <a:defRPr>
                <a:solidFill>
                  <a:schemeClr val="tx1"/>
                </a:solidFill>
                <a:latin typeface="Arial" panose="020B0604020202020204" pitchFamily="34" charset="0"/>
              </a:defRPr>
            </a:lvl4pPr>
            <a:lvl5pPr eaLnBrk="0" hangingPunct="0">
              <a:tabLst>
                <a:tab pos="417195" algn="l"/>
              </a:tabLst>
              <a:defRPr>
                <a:solidFill>
                  <a:schemeClr val="tx1"/>
                </a:solidFill>
                <a:latin typeface="Arial" panose="020B0604020202020204" pitchFamily="34" charset="0"/>
              </a:defRPr>
            </a:lvl5pPr>
            <a:lvl6pPr eaLnBrk="0" fontAlgn="base" hangingPunct="0">
              <a:spcBef>
                <a:spcPct val="0"/>
              </a:spcBef>
              <a:spcAft>
                <a:spcPct val="0"/>
              </a:spcAft>
              <a:tabLst>
                <a:tab pos="417195" algn="l"/>
              </a:tabLst>
              <a:defRPr>
                <a:solidFill>
                  <a:schemeClr val="tx1"/>
                </a:solidFill>
                <a:latin typeface="Arial" panose="020B0604020202020204" pitchFamily="34" charset="0"/>
              </a:defRPr>
            </a:lvl6pPr>
            <a:lvl7pPr eaLnBrk="0" fontAlgn="base" hangingPunct="0">
              <a:spcBef>
                <a:spcPct val="0"/>
              </a:spcBef>
              <a:spcAft>
                <a:spcPct val="0"/>
              </a:spcAft>
              <a:tabLst>
                <a:tab pos="417195" algn="l"/>
              </a:tabLst>
              <a:defRPr>
                <a:solidFill>
                  <a:schemeClr val="tx1"/>
                </a:solidFill>
                <a:latin typeface="Arial" panose="020B0604020202020204" pitchFamily="34" charset="0"/>
              </a:defRPr>
            </a:lvl7pPr>
            <a:lvl8pPr eaLnBrk="0" fontAlgn="base" hangingPunct="0">
              <a:spcBef>
                <a:spcPct val="0"/>
              </a:spcBef>
              <a:spcAft>
                <a:spcPct val="0"/>
              </a:spcAft>
              <a:tabLst>
                <a:tab pos="417195" algn="l"/>
              </a:tabLst>
              <a:defRPr>
                <a:solidFill>
                  <a:schemeClr val="tx1"/>
                </a:solidFill>
                <a:latin typeface="Arial" panose="020B0604020202020204" pitchFamily="34" charset="0"/>
              </a:defRPr>
            </a:lvl8pPr>
            <a:lvl9pPr eaLnBrk="0" fontAlgn="base" hangingPunct="0">
              <a:spcBef>
                <a:spcPct val="0"/>
              </a:spcBef>
              <a:spcAft>
                <a:spcPct val="0"/>
              </a:spcAft>
              <a:tabLst>
                <a:tab pos="417195" algn="l"/>
              </a:tabLst>
              <a:defRPr>
                <a:solidFill>
                  <a:schemeClr val="tx1"/>
                </a:solidFill>
                <a:latin typeface="Arial" panose="020B0604020202020204" pitchFamily="34" charset="0"/>
              </a:defRPr>
            </a:lvl9pPr>
          </a:lstStyle>
          <a:p>
            <a:pPr lvl="0">
              <a:lnSpc>
                <a:spcPts val="2300"/>
              </a:lnSpc>
            </a:pPr>
            <a:r>
              <a:rPr kumimoji="0" lang="en-US" altLang="zh-CN" sz="1600" b="1" i="0" u="none" strike="noStrike" cap="none" normalizeH="0" baseline="0" dirty="0">
                <a:ln>
                  <a:noFill/>
                </a:ln>
                <a:solidFill>
                  <a:srgbClr val="0070C0"/>
                </a:solidFill>
                <a:effectLst/>
                <a:latin typeface="微软雅黑 Light" panose="020B0502040204020203" pitchFamily="34" charset="-122"/>
                <a:ea typeface="微软雅黑 Light" panose="020B0502040204020203" pitchFamily="34" charset="-122"/>
                <a:cs typeface="Times New Roman" panose="02020603050405020304" pitchFamily="18" charset="0"/>
              </a:rPr>
              <a:t>                </a:t>
            </a:r>
            <a:r>
              <a:rPr kumimoji="0" lang="zh-CN"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大物实验“</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PN</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结正向压降</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关系的研究与应用”，分别采用</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次、</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次和</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次多项式拟合</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压降</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 </a:t>
            </a:r>
            <a:r>
              <a:rPr lang="zh-CN" altLang="en-US"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关系，比较拟合度 </a:t>
            </a:r>
            <a:endPar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5649832" y="2139702"/>
            <a:ext cx="3124433" cy="2318000"/>
          </a:xfrm>
          <a:prstGeom prst="rect">
            <a:avLst/>
          </a:prstGeom>
        </p:spPr>
      </p:pic>
      <p:sp>
        <p:nvSpPr>
          <p:cNvPr id="9" name="文本框 8"/>
          <p:cNvSpPr txBox="1"/>
          <p:nvPr/>
        </p:nvSpPr>
        <p:spPr>
          <a:xfrm>
            <a:off x="131908" y="1203598"/>
            <a:ext cx="6624736" cy="3456524"/>
          </a:xfrm>
          <a:prstGeom prst="rect">
            <a:avLst/>
          </a:prstGeom>
          <a:noFill/>
        </p:spPr>
        <p:txBody>
          <a:bodyPr wrap="square">
            <a:spAutoFit/>
          </a:bodyPr>
          <a:lstStyle/>
          <a:p>
            <a:pPr>
              <a:lnSpc>
                <a:spcPts val="2200"/>
              </a:lnSpc>
            </a:pPr>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40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85</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温度 </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0.3943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0.3809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0.3705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0.3587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0.3455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0.3331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0.3193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0.3049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0.2909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0.2771</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必输向量</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a:solidFill>
                  <a:srgbClr val="795E26"/>
                </a:solidFill>
                <a:effectLst/>
                <a:latin typeface="Consolas" panose="020B0609020204030204" pitchFamily="49" charset="0"/>
              </a:rPr>
              <a:t>scatter</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散点图</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err="1">
                <a:solidFill>
                  <a:srgbClr val="795E26"/>
                </a:solidFill>
                <a:effectLst/>
                <a:latin typeface="Consolas" panose="020B0609020204030204" pitchFamily="49" charset="0"/>
              </a:rPr>
              <a:t>xlabel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温度</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ylabel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压降</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pPr>
              <a:lnSpc>
                <a:spcPts val="2200"/>
              </a:lnSpc>
            </a:pPr>
            <a:r>
              <a:rPr lang="en-US" altLang="zh-CN" sz="1600" b="0" dirty="0">
                <a:solidFill>
                  <a:srgbClr val="000000"/>
                </a:solidFill>
                <a:effectLst/>
                <a:latin typeface="Consolas" panose="020B0609020204030204" pitchFamily="49" charset="0"/>
              </a:rPr>
              <a:t>p1,=</a:t>
            </a:r>
            <a:r>
              <a:rPr lang="en-US" altLang="zh-CN" sz="1600" b="0" dirty="0" err="1">
                <a:solidFill>
                  <a:srgbClr val="795E26"/>
                </a:solidFill>
                <a:effectLst/>
                <a:latin typeface="Consolas" panose="020B0609020204030204" pitchFamily="49" charset="0"/>
              </a:rPr>
              <a:t>polyfit</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#1</a:t>
            </a:r>
            <a:r>
              <a:rPr lang="zh-CN" altLang="en-US" sz="1600" b="0" dirty="0">
                <a:solidFill>
                  <a:srgbClr val="008000"/>
                </a:solidFill>
                <a:effectLst/>
                <a:latin typeface="Consolas" panose="020B0609020204030204" pitchFamily="49" charset="0"/>
              </a:rPr>
              <a:t>次拟合</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a:solidFill>
                  <a:srgbClr val="000000"/>
                </a:solidFill>
                <a:effectLst/>
                <a:latin typeface="Consolas" panose="020B0609020204030204" pitchFamily="49" charset="0"/>
              </a:rPr>
              <a:t>p5,=</a:t>
            </a:r>
            <a:r>
              <a:rPr lang="en-US" altLang="zh-CN" sz="1600" b="0" dirty="0" err="1">
                <a:solidFill>
                  <a:srgbClr val="795E26"/>
                </a:solidFill>
                <a:effectLst/>
                <a:latin typeface="Consolas" panose="020B0609020204030204" pitchFamily="49" charset="0"/>
              </a:rPr>
              <a:t>polyfit</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5</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#5</a:t>
            </a:r>
            <a:r>
              <a:rPr lang="zh-CN" altLang="en-US" sz="1600" b="0" dirty="0">
                <a:solidFill>
                  <a:srgbClr val="008000"/>
                </a:solidFill>
                <a:effectLst/>
                <a:latin typeface="Consolas" panose="020B0609020204030204" pitchFamily="49" charset="0"/>
              </a:rPr>
              <a:t>次拟合</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a:solidFill>
                  <a:srgbClr val="000000"/>
                </a:solidFill>
                <a:effectLst/>
                <a:latin typeface="Consolas" panose="020B0609020204030204" pitchFamily="49" charset="0"/>
              </a:rPr>
              <a:t>p9,=</a:t>
            </a:r>
            <a:r>
              <a:rPr lang="en-US" altLang="zh-CN" sz="1600" b="0" dirty="0" err="1">
                <a:solidFill>
                  <a:srgbClr val="795E26"/>
                </a:solidFill>
                <a:effectLst/>
                <a:latin typeface="Consolas" panose="020B0609020204030204" pitchFamily="49" charset="0"/>
              </a:rPr>
              <a:t>polyfit</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9</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#9</a:t>
            </a:r>
            <a:r>
              <a:rPr lang="zh-CN" altLang="en-US" sz="1600" b="0" dirty="0">
                <a:solidFill>
                  <a:srgbClr val="008000"/>
                </a:solidFill>
                <a:effectLst/>
                <a:latin typeface="Consolas" panose="020B0609020204030204" pitchFamily="49" charset="0"/>
              </a:rPr>
              <a:t>次拟合</a:t>
            </a:r>
            <a:endParaRPr lang="zh-CN" altLang="en-US" sz="1600" b="0" dirty="0">
              <a:solidFill>
                <a:srgbClr val="000000"/>
              </a:solidFill>
              <a:effectLst/>
              <a:latin typeface="Consolas" panose="020B0609020204030204" pitchFamily="49" charset="0"/>
            </a:endParaRPr>
          </a:p>
          <a:p>
            <a:pPr>
              <a:lnSpc>
                <a:spcPts val="2200"/>
              </a:lnSpc>
            </a:pPr>
            <a:r>
              <a:rPr lang="en-US" altLang="zh-CN" sz="1600" b="0" dirty="0" err="1">
                <a:solidFill>
                  <a:srgbClr val="795E26"/>
                </a:solidFill>
                <a:effectLst/>
                <a:latin typeface="Consolas" panose="020B0609020204030204" pitchFamily="49" charset="0"/>
              </a:rPr>
              <a:t>refcurve</a:t>
            </a:r>
            <a:r>
              <a:rPr lang="en-US" altLang="zh-CN" sz="1600" b="0" dirty="0">
                <a:solidFill>
                  <a:srgbClr val="000000"/>
                </a:solidFill>
                <a:effectLst/>
                <a:latin typeface="Consolas" panose="020B0609020204030204" pitchFamily="49" charset="0"/>
              </a:rPr>
              <a:t>(p1)</a:t>
            </a:r>
          </a:p>
          <a:p>
            <a:pPr>
              <a:lnSpc>
                <a:spcPts val="2200"/>
              </a:lnSpc>
            </a:pPr>
            <a:r>
              <a:rPr lang="en-US" altLang="zh-CN" sz="1600" b="0" dirty="0" err="1">
                <a:solidFill>
                  <a:srgbClr val="795E26"/>
                </a:solidFill>
                <a:effectLst/>
                <a:latin typeface="Consolas" panose="020B0609020204030204" pitchFamily="49" charset="0"/>
              </a:rPr>
              <a:t>refcurve</a:t>
            </a:r>
            <a:r>
              <a:rPr lang="en-US" altLang="zh-CN" sz="1600" b="0" dirty="0">
                <a:solidFill>
                  <a:srgbClr val="000000"/>
                </a:solidFill>
                <a:effectLst/>
                <a:latin typeface="Consolas" panose="020B0609020204030204" pitchFamily="49" charset="0"/>
              </a:rPr>
              <a:t>(p5)</a:t>
            </a:r>
          </a:p>
          <a:p>
            <a:pPr>
              <a:lnSpc>
                <a:spcPts val="2200"/>
              </a:lnSpc>
            </a:pPr>
            <a:r>
              <a:rPr lang="en-US" altLang="zh-CN" sz="1600" b="0" dirty="0" err="1">
                <a:solidFill>
                  <a:srgbClr val="795E26"/>
                </a:solidFill>
                <a:effectLst/>
                <a:latin typeface="Consolas" panose="020B0609020204030204" pitchFamily="49" charset="0"/>
              </a:rPr>
              <a:t>refcurve</a:t>
            </a:r>
            <a:r>
              <a:rPr lang="en-US" altLang="zh-CN" sz="1600" b="0" dirty="0">
                <a:solidFill>
                  <a:srgbClr val="000000"/>
                </a:solidFill>
                <a:effectLst/>
                <a:latin typeface="Consolas" panose="020B0609020204030204" pitchFamily="49" charset="0"/>
              </a:rPr>
              <a:t>(p9)</a:t>
            </a:r>
          </a:p>
          <a:p>
            <a:pPr>
              <a:lnSpc>
                <a:spcPts val="2200"/>
              </a:lnSpc>
            </a:pPr>
            <a:r>
              <a:rPr lang="en-US" altLang="zh-CN" sz="1600" b="0" dirty="0">
                <a:solidFill>
                  <a:srgbClr val="795E26"/>
                </a:solidFill>
                <a:effectLst/>
                <a:latin typeface="Consolas" panose="020B0609020204030204" pitchFamily="49" charset="0"/>
              </a:rPr>
              <a:t>legend</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原始数据</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线性</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"5</a:t>
            </a:r>
            <a:r>
              <a:rPr lang="zh-CN" altLang="en-US" sz="1600" b="0" dirty="0">
                <a:solidFill>
                  <a:srgbClr val="A31515"/>
                </a:solidFill>
                <a:effectLst/>
                <a:latin typeface="Consolas" panose="020B0609020204030204" pitchFamily="49" charset="0"/>
              </a:rPr>
              <a:t>次</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"9</a:t>
            </a:r>
            <a:r>
              <a:rPr lang="zh-CN" altLang="en-US" sz="1600" b="0" dirty="0">
                <a:solidFill>
                  <a:srgbClr val="A31515"/>
                </a:solidFill>
                <a:effectLst/>
                <a:latin typeface="Consolas" panose="020B0609020204030204" pitchFamily="49" charset="0"/>
              </a:rPr>
              <a:t>次</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p:txBody>
      </p:sp>
      <p:sp>
        <p:nvSpPr>
          <p:cNvPr id="12" name="文本框 11"/>
          <p:cNvSpPr txBox="1"/>
          <p:nvPr/>
        </p:nvSpPr>
        <p:spPr>
          <a:xfrm>
            <a:off x="1226374" y="55203"/>
            <a:ext cx="7522089" cy="567463"/>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 2.3 </a:t>
            </a:r>
            <a:r>
              <a:rPr lang="zh-CN" altLang="en-US" sz="2800" dirty="0">
                <a:solidFill>
                  <a:srgbClr val="002060"/>
                </a:solidFill>
                <a:latin typeface="华文楷体" panose="02010600040101010101" pitchFamily="2" charset="-122"/>
                <a:ea typeface="华文楷体" panose="02010600040101010101" pitchFamily="2" charset="-122"/>
              </a:rPr>
              <a:t>曲线拟合评价</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统计拟合度检验案例</a:t>
            </a:r>
            <a:r>
              <a:rPr lang="en-US" altLang="zh-CN" sz="2800" kern="0" dirty="0">
                <a:solidFill>
                  <a:srgbClr val="FF0000"/>
                </a:solidFill>
                <a:latin typeface="华文楷体" panose="02010600040101010101" pitchFamily="2" charset="-122"/>
                <a:ea typeface="华文楷体" panose="02010600040101010101" pitchFamily="2" charset="-122"/>
              </a:rPr>
              <a:t> </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14" name="波形 13"/>
          <p:cNvSpPr/>
          <p:nvPr/>
        </p:nvSpPr>
        <p:spPr>
          <a:xfrm>
            <a:off x="179511" y="662350"/>
            <a:ext cx="864097"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600" b="1" dirty="0">
                <a:solidFill>
                  <a:srgbClr val="FFFF00"/>
                </a:solidFill>
                <a:latin typeface="微软雅黑" panose="020B0503020204020204" pitchFamily="34" charset="-122"/>
                <a:ea typeface="微软雅黑" panose="020B0503020204020204" pitchFamily="34" charset="-122"/>
              </a:rPr>
              <a:t>例52-1-2</a:t>
            </a:r>
            <a:endParaRPr lang="ko-KR" altLang="en-US" sz="1600" b="1" dirty="0">
              <a:solidFill>
                <a:srgbClr val="FFFF00"/>
              </a:solidFill>
              <a:latin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54169" y="1394978"/>
            <a:ext cx="8856613" cy="3293209"/>
          </a:xfrm>
          <a:prstGeom prst="rect">
            <a:avLst/>
          </a:prstGeom>
          <a:noFill/>
        </p:spPr>
        <p:txBody>
          <a:bodyPr wrap="square">
            <a:spAutoFit/>
          </a:bodyPr>
          <a:lstStyle/>
          <a:p>
            <a:r>
              <a:rPr lang="en-US" altLang="zh-CN" sz="1600" b="0" dirty="0">
                <a:solidFill>
                  <a:srgbClr val="AF00DB"/>
                </a:solidFill>
                <a:effectLst/>
                <a:latin typeface="Consolas" panose="020B0609020204030204" pitchFamily="49" charset="0"/>
              </a:rPr>
              <a:t>for</a:t>
            </a:r>
            <a:r>
              <a:rPr lang="en-US" altLang="zh-CN" sz="1600" b="0" dirty="0">
                <a:solidFill>
                  <a:srgbClr val="000000"/>
                </a:solidFill>
                <a:effectLst/>
                <a:latin typeface="Consolas" panose="020B0609020204030204" pitchFamily="49" charset="0"/>
              </a:rPr>
              <a:t> ii=</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9 #</a:t>
            </a:r>
            <a:r>
              <a:rPr lang="zh-CN" altLang="en-US" sz="1600" b="0" dirty="0">
                <a:solidFill>
                  <a:srgbClr val="098658"/>
                </a:solidFill>
                <a:effectLst/>
                <a:latin typeface="Consolas" panose="020B0609020204030204" pitchFamily="49" charset="0"/>
              </a:rPr>
              <a:t>多项式次数</a:t>
            </a:r>
            <a:endParaRPr lang="en-US" altLang="zh-CN" sz="1600" b="0" dirty="0">
              <a:solidFill>
                <a:srgbClr val="000000"/>
              </a:solidFill>
              <a:effectLst/>
              <a:latin typeface="Consolas" panose="020B0609020204030204" pitchFamily="49" charset="0"/>
            </a:endParaRPr>
          </a:p>
          <a:p>
            <a:r>
              <a:rPr lang="en-US" altLang="zh-CN" sz="1600" b="0" dirty="0">
                <a:solidFill>
                  <a:srgbClr val="000000"/>
                </a:solidFill>
                <a:effectLst/>
                <a:latin typeface="Consolas" panose="020B0609020204030204" pitchFamily="49" charset="0"/>
              </a:rPr>
              <a:t>    x=[</a:t>
            </a:r>
            <a:r>
              <a:rPr lang="en-US" altLang="zh-CN" sz="1600" b="0" dirty="0">
                <a:solidFill>
                  <a:srgbClr val="098658"/>
                </a:solidFill>
                <a:effectLst/>
                <a:latin typeface="Consolas" panose="020B0609020204030204" pitchFamily="49" charset="0"/>
              </a:rPr>
              <a:t>40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85</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温度 </a:t>
            </a:r>
            <a:endParaRPr lang="zh-CN" altLang="en-US" sz="1600" b="0" dirty="0">
              <a:solidFill>
                <a:srgbClr val="000000"/>
              </a:solidFill>
              <a:effectLst/>
              <a:latin typeface="Consolas" panose="020B0609020204030204" pitchFamily="49" charset="0"/>
            </a:endParaRPr>
          </a:p>
          <a:p>
            <a:r>
              <a:rPr lang="zh-CN" altLang="en-US" sz="1600" b="0" dirty="0">
                <a:solidFill>
                  <a:srgbClr val="000000"/>
                </a:solidFill>
                <a:effectLst/>
                <a:latin typeface="Consolas" panose="020B0609020204030204" pitchFamily="49" charset="0"/>
              </a:rPr>
              <a:t>    </a:t>
            </a:r>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0.3943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0.3809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0.3705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0.3587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0.3455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0.3331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0.3193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0.3049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0.2909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0.2771</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必输向量</a:t>
            </a:r>
            <a:endParaRPr lang="zh-CN" altLang="en-US" sz="1600" b="0" dirty="0">
              <a:solidFill>
                <a:srgbClr val="000000"/>
              </a:solidFill>
              <a:effectLst/>
              <a:latin typeface="Consolas" panose="020B0609020204030204" pitchFamily="49" charset="0"/>
            </a:endParaRPr>
          </a:p>
          <a:p>
            <a:r>
              <a:rPr lang="zh-CN" altLang="en-US"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yi</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polyfit</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x,y,ii</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yfitv</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polyval</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yi,x</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sse</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sum</a:t>
            </a:r>
            <a:r>
              <a:rPr lang="en-US" altLang="zh-CN" sz="1600" b="0" dirty="0">
                <a:solidFill>
                  <a:srgbClr val="000000"/>
                </a:solidFill>
                <a:effectLst/>
                <a:latin typeface="Consolas" panose="020B0609020204030204" pitchFamily="49" charset="0"/>
              </a:rPr>
              <a:t>((y .-</a:t>
            </a:r>
            <a:r>
              <a:rPr lang="en-US" altLang="zh-CN" sz="1600" b="0" dirty="0" err="1">
                <a:solidFill>
                  <a:srgbClr val="000000"/>
                </a:solidFill>
                <a:effectLst/>
                <a:latin typeface="Consolas" panose="020B0609020204030204" pitchFamily="49" charset="0"/>
              </a:rPr>
              <a:t>yfitv</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误差平方和</a:t>
            </a:r>
            <a:endParaRPr lang="zh-CN" altLang="en-US" sz="1600" b="0" dirty="0">
              <a:solidFill>
                <a:srgbClr val="000000"/>
              </a:solidFill>
              <a:effectLst/>
              <a:latin typeface="Consolas" panose="020B0609020204030204" pitchFamily="49" charset="0"/>
            </a:endParaRPr>
          </a:p>
          <a:p>
            <a:r>
              <a:rPr lang="zh-CN" altLang="en-US" sz="1600" b="0" dirty="0">
                <a:solidFill>
                  <a:srgbClr val="000000"/>
                </a:solidFill>
                <a:effectLst/>
                <a:latin typeface="Consolas" panose="020B0609020204030204" pitchFamily="49" charset="0"/>
              </a:rPr>
              <a:t>    </a:t>
            </a:r>
            <a:r>
              <a:rPr lang="en-US" altLang="zh-CN" sz="1600" b="0" dirty="0" err="1">
                <a:solidFill>
                  <a:srgbClr val="000000"/>
                </a:solidFill>
                <a:effectLst/>
                <a:latin typeface="Consolas" panose="020B0609020204030204" pitchFamily="49" charset="0"/>
              </a:rPr>
              <a:t>sst</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sum</a:t>
            </a:r>
            <a:r>
              <a:rPr lang="en-US" altLang="zh-CN" sz="1600" b="0" dirty="0">
                <a:solidFill>
                  <a:srgbClr val="000000"/>
                </a:solidFill>
                <a:effectLst/>
                <a:latin typeface="Consolas" panose="020B0609020204030204" pitchFamily="49" charset="0"/>
              </a:rPr>
              <a:t>((y .-</a:t>
            </a:r>
            <a:r>
              <a:rPr lang="en-US" altLang="zh-CN" sz="1600" b="0" dirty="0">
                <a:solidFill>
                  <a:srgbClr val="795E26"/>
                </a:solidFill>
                <a:effectLst/>
                <a:latin typeface="Consolas" panose="020B0609020204030204" pitchFamily="49" charset="0"/>
              </a:rPr>
              <a:t>mean</a:t>
            </a:r>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总平方和</a:t>
            </a:r>
            <a:endParaRPr lang="zh-CN" altLang="en-US" sz="1600" b="0" dirty="0">
              <a:solidFill>
                <a:srgbClr val="000000"/>
              </a:solidFill>
              <a:effectLst/>
              <a:latin typeface="Consolas" panose="020B0609020204030204" pitchFamily="49" charset="0"/>
            </a:endParaRPr>
          </a:p>
          <a:p>
            <a:r>
              <a:rPr lang="zh-CN" altLang="en-US" sz="1600" b="0" dirty="0">
                <a:solidFill>
                  <a:srgbClr val="000000"/>
                </a:solidFill>
                <a:effectLst/>
                <a:latin typeface="Consolas" panose="020B0609020204030204" pitchFamily="49" charset="0"/>
              </a:rPr>
              <a:t>    </a:t>
            </a:r>
            <a:r>
              <a:rPr lang="en-US" altLang="zh-CN" sz="1600" b="0" dirty="0">
                <a:solidFill>
                  <a:srgbClr val="000000"/>
                </a:solidFill>
                <a:effectLst/>
                <a:latin typeface="Consolas" panose="020B0609020204030204" pitchFamily="49" charset="0"/>
              </a:rPr>
              <a:t>R2=</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-sse/</a:t>
            </a:r>
            <a:r>
              <a:rPr lang="en-US" altLang="zh-CN" sz="1600" b="0" dirty="0" err="1">
                <a:solidFill>
                  <a:srgbClr val="000000"/>
                </a:solidFill>
                <a:effectLst/>
                <a:latin typeface="Consolas" panose="020B0609020204030204" pitchFamily="49" charset="0"/>
              </a:rPr>
              <a:t>sst</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求拟合度 </a:t>
            </a:r>
            <a:endParaRPr lang="zh-CN" altLang="en-US" sz="1600" b="0" dirty="0">
              <a:solidFill>
                <a:srgbClr val="000000"/>
              </a:solidFill>
              <a:effectLst/>
              <a:latin typeface="Consolas" panose="020B0609020204030204" pitchFamily="49" charset="0"/>
            </a:endParaRPr>
          </a:p>
          <a:p>
            <a:r>
              <a:rPr lang="zh-CN" altLang="en-US"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矫正求拟合度</a:t>
            </a:r>
            <a:endParaRPr lang="zh-CN" altLang="en-US" sz="1600" b="0" dirty="0">
              <a:solidFill>
                <a:srgbClr val="000000"/>
              </a:solidFill>
              <a:effectLst/>
              <a:latin typeface="Consolas" panose="020B0609020204030204" pitchFamily="49" charset="0"/>
            </a:endParaRPr>
          </a:p>
          <a:p>
            <a:r>
              <a:rPr lang="zh-CN" altLang="en-US" sz="1600" b="0" dirty="0">
                <a:solidFill>
                  <a:srgbClr val="000000"/>
                </a:solidFill>
                <a:effectLst/>
                <a:latin typeface="Consolas" panose="020B0609020204030204" pitchFamily="49" charset="0"/>
              </a:rPr>
              <a:t>    </a:t>
            </a:r>
            <a:r>
              <a:rPr lang="en-US" altLang="zh-CN" sz="1600" b="0" dirty="0">
                <a:solidFill>
                  <a:srgbClr val="000000"/>
                </a:solidFill>
                <a:effectLst/>
                <a:latin typeface="Consolas" panose="020B0609020204030204" pitchFamily="49" charset="0"/>
              </a:rPr>
              <a:t>Rz2=</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-ii-</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sse</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sst</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    </a:t>
            </a:r>
            <a:r>
              <a:rPr lang="en-US" altLang="zh-CN" sz="1600" b="0" dirty="0" err="1">
                <a:solidFill>
                  <a:srgbClr val="795E26"/>
                </a:solidFill>
                <a:effectLst/>
                <a:latin typeface="Consolas" panose="020B0609020204030204" pitchFamily="49" charset="0"/>
              </a:rPr>
              <a:t>println</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en-US" altLang="zh-CN" sz="1600" b="0" dirty="0" err="1">
                <a:solidFill>
                  <a:srgbClr val="A31515"/>
                </a:solidFill>
                <a:effectLst/>
                <a:latin typeface="Consolas" panose="020B0609020204030204" pitchFamily="49" charset="0"/>
              </a:rPr>
              <a:t>sse</a:t>
            </a:r>
            <a:r>
              <a:rPr lang="en-US" altLang="zh-CN" sz="1600" b="0" dirty="0">
                <a:solidFill>
                  <a:srgbClr val="A31515"/>
                </a:solidFill>
                <a:effectLst/>
                <a:latin typeface="Consolas" panose="020B0609020204030204" pitchFamily="49" charset="0"/>
              </a:rPr>
              <a:t>=</a:t>
            </a:r>
            <a:r>
              <a:rPr lang="en-US" altLang="zh-CN" sz="1600" b="0" dirty="0">
                <a:solidFill>
                  <a:srgbClr val="001080"/>
                </a:solidFill>
                <a:effectLst/>
                <a:latin typeface="Consolas" panose="020B0609020204030204" pitchFamily="49" charset="0"/>
              </a:rPr>
              <a:t>$sse</a:t>
            </a:r>
            <a:r>
              <a:rPr lang="en-US" altLang="zh-CN" sz="1600" b="0" dirty="0">
                <a:solidFill>
                  <a:srgbClr val="A31515"/>
                </a:solidFill>
                <a:effectLst/>
                <a:latin typeface="Consolas" panose="020B0609020204030204" pitchFamily="49" charset="0"/>
              </a:rPr>
              <a:t>,R2=</a:t>
            </a:r>
            <a:r>
              <a:rPr lang="en-US" altLang="zh-CN" sz="1600" b="0" dirty="0">
                <a:solidFill>
                  <a:srgbClr val="001080"/>
                </a:solidFill>
                <a:effectLst/>
                <a:latin typeface="Consolas" panose="020B0609020204030204" pitchFamily="49" charset="0"/>
              </a:rPr>
              <a:t>$R2</a:t>
            </a:r>
            <a:r>
              <a:rPr lang="en-US" altLang="zh-CN" sz="1600" b="0" dirty="0">
                <a:solidFill>
                  <a:srgbClr val="A31515"/>
                </a:solidFill>
                <a:effectLst/>
                <a:latin typeface="Consolas" panose="020B0609020204030204" pitchFamily="49" charset="0"/>
              </a:rPr>
              <a:t>,Rz2=</a:t>
            </a:r>
            <a:r>
              <a:rPr lang="en-US" altLang="zh-CN" sz="1600" b="0" dirty="0">
                <a:solidFill>
                  <a:srgbClr val="001080"/>
                </a:solidFill>
                <a:effectLst/>
                <a:latin typeface="Consolas" panose="020B0609020204030204" pitchFamily="49" charset="0"/>
              </a:rPr>
              <a:t>$Rz2</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 </a:t>
            </a:r>
          </a:p>
          <a:p>
            <a:r>
              <a:rPr lang="en-US" altLang="zh-CN" sz="1600" b="0" dirty="0">
                <a:solidFill>
                  <a:srgbClr val="AF00DB"/>
                </a:solidFill>
                <a:effectLst/>
                <a:latin typeface="Consolas" panose="020B0609020204030204" pitchFamily="49" charset="0"/>
              </a:rPr>
              <a:t>end</a:t>
            </a:r>
            <a:endParaRPr lang="en-US" altLang="zh-CN" sz="1600" b="0" dirty="0">
              <a:solidFill>
                <a:srgbClr val="000000"/>
              </a:solidFill>
              <a:effectLst/>
              <a:latin typeface="Consolas" panose="020B0609020204030204" pitchFamily="49" charset="0"/>
            </a:endParaRPr>
          </a:p>
        </p:txBody>
      </p:sp>
      <p:sp>
        <p:nvSpPr>
          <p:cNvPr id="6" name="文本框 5"/>
          <p:cNvSpPr txBox="1"/>
          <p:nvPr/>
        </p:nvSpPr>
        <p:spPr>
          <a:xfrm>
            <a:off x="933247" y="80710"/>
            <a:ext cx="7399460" cy="1067600"/>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 2. 3 </a:t>
            </a:r>
            <a:r>
              <a:rPr lang="zh-CN" altLang="en-US" sz="2800" dirty="0">
                <a:solidFill>
                  <a:srgbClr val="002060"/>
                </a:solidFill>
                <a:latin typeface="华文楷体" panose="02010600040101010101" pitchFamily="2" charset="-122"/>
                <a:ea typeface="华文楷体" panose="02010600040101010101" pitchFamily="2" charset="-122"/>
              </a:rPr>
              <a:t>曲线拟合评价</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统计拟合度检验案例</a:t>
            </a:r>
            <a:r>
              <a:rPr lang="en-US" altLang="zh-CN" sz="2800" kern="0" dirty="0">
                <a:solidFill>
                  <a:srgbClr val="FF0000"/>
                </a:solidFill>
                <a:latin typeface="华文楷体" panose="02010600040101010101" pitchFamily="2" charset="-122"/>
                <a:ea typeface="华文楷体" panose="02010600040101010101" pitchFamily="2" charset="-122"/>
              </a:rPr>
              <a:t> </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7" name="文本框 6"/>
          <p:cNvSpPr txBox="1"/>
          <p:nvPr/>
        </p:nvSpPr>
        <p:spPr>
          <a:xfrm>
            <a:off x="5312274" y="2398067"/>
            <a:ext cx="3529253" cy="1685526"/>
          </a:xfrm>
          <a:prstGeom prst="rect">
            <a:avLst/>
          </a:prstGeom>
          <a:noFill/>
          <a:ln>
            <a:solidFill>
              <a:schemeClr val="bg1">
                <a:lumMod val="50000"/>
              </a:schemeClr>
            </a:solidFill>
          </a:ln>
        </p:spPr>
        <p:txBody>
          <a:bodyPr wrap="square">
            <a:spAutoFit/>
          </a:bodyPr>
          <a:lstStyle/>
          <a:p>
            <a:pPr>
              <a:lnSpc>
                <a:spcPts val="1800"/>
              </a:lnSpc>
            </a:pPr>
            <a:r>
              <a:rPr lang="en-US" altLang="zh-CN"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次拟合效果</a:t>
            </a:r>
            <a:endParaRPr lang="en-US" altLang="zh-CN"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ts val="1800"/>
              </a:lnSpc>
            </a:pPr>
            <a:r>
              <a:rPr lang="zh-CN" altLang="en-US" sz="1200" dirty="0"/>
              <a:t>sse=2.3608e-5,R2=0.9983,Rz2=0.998</a:t>
            </a:r>
            <a:r>
              <a:rPr lang="en-US" altLang="zh-CN" sz="1200" dirty="0"/>
              <a:t>1</a:t>
            </a:r>
            <a:endParaRPr lang="zh-CN" altLang="en-US" sz="1200" dirty="0"/>
          </a:p>
          <a:p>
            <a:pPr>
              <a:lnSpc>
                <a:spcPts val="1800"/>
              </a:lnSpc>
            </a:pPr>
            <a:r>
              <a:rPr lang="en-US" altLang="zh-CN"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次拟合效果</a:t>
            </a:r>
            <a:endParaRPr lang="en-US" altLang="zh-CN"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ts val="1800"/>
              </a:lnSpc>
            </a:pPr>
            <a:r>
              <a:rPr lang="zh-CN" altLang="en-US" sz="1200" dirty="0"/>
              <a:t>sse=1.082</a:t>
            </a:r>
            <a:r>
              <a:rPr lang="en-US" altLang="zh-CN" sz="1200" dirty="0"/>
              <a:t>8</a:t>
            </a:r>
            <a:r>
              <a:rPr lang="zh-CN" altLang="en-US" sz="1200" dirty="0"/>
              <a:t>e-6,R2=0.9999,Rz2=0.9998</a:t>
            </a:r>
          </a:p>
          <a:p>
            <a:pPr>
              <a:lnSpc>
                <a:spcPts val="1800"/>
              </a:lnSpc>
            </a:pPr>
            <a:r>
              <a:rPr lang="en-US" altLang="zh-CN"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rPr>
              <a:t>次拟合效果</a:t>
            </a:r>
            <a:endParaRPr lang="en-US" altLang="zh-CN" sz="1200" b="1" dirty="0">
              <a:solidFill>
                <a:srgbClr val="00B0F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ts val="1800"/>
              </a:lnSpc>
            </a:pPr>
            <a:r>
              <a:rPr lang="zh-CN" altLang="en-US" sz="1200" dirty="0">
                <a:solidFill>
                  <a:srgbClr val="0070C0"/>
                </a:solidFill>
              </a:rPr>
              <a:t>Warning: Polynomial is badly conditioned.</a:t>
            </a:r>
            <a:endParaRPr lang="en-US" altLang="zh-CN" sz="1200" dirty="0">
              <a:solidFill>
                <a:srgbClr val="0070C0"/>
              </a:solidFill>
            </a:endParaRPr>
          </a:p>
          <a:p>
            <a:pPr>
              <a:lnSpc>
                <a:spcPts val="1800"/>
              </a:lnSpc>
            </a:pPr>
            <a:r>
              <a:rPr lang="zh-CN" altLang="en-US" sz="1200" dirty="0">
                <a:solidFill>
                  <a:srgbClr val="0070C0"/>
                </a:solidFill>
              </a:rPr>
              <a:t> </a:t>
            </a:r>
            <a:r>
              <a:rPr lang="zh-CN" altLang="en-US" sz="1200" dirty="0"/>
              <a:t>sse=4.6373e-5,R2=0.996</a:t>
            </a:r>
            <a:r>
              <a:rPr lang="en-US" altLang="zh-CN" sz="1200" dirty="0"/>
              <a:t>7</a:t>
            </a:r>
            <a:r>
              <a:rPr lang="zh-CN" altLang="en-US" sz="1200" dirty="0"/>
              <a:t>,Rz2=-Inf</a:t>
            </a:r>
            <a:endParaRPr lang="zh-CN" altLang="en-US" sz="1200" dirty="0">
              <a:solidFill>
                <a:srgbClr val="0070C0"/>
              </a:solidFill>
            </a:endParaRPr>
          </a:p>
        </p:txBody>
      </p:sp>
      <p:sp>
        <p:nvSpPr>
          <p:cNvPr id="8" name="AutoShape 13"/>
          <p:cNvSpPr>
            <a:spLocks noChangeArrowheads="1"/>
          </p:cNvSpPr>
          <p:nvPr/>
        </p:nvSpPr>
        <p:spPr bwMode="auto">
          <a:xfrm rot="192104">
            <a:off x="4610996" y="4063746"/>
            <a:ext cx="735807" cy="772649"/>
          </a:xfrm>
          <a:prstGeom prst="irregularSeal2">
            <a:avLst/>
          </a:prstGeom>
          <a:gradFill rotWithShape="1">
            <a:gsLst>
              <a:gs pos="0">
                <a:srgbClr val="000076"/>
              </a:gs>
              <a:gs pos="50000">
                <a:srgbClr val="0000FF"/>
              </a:gs>
              <a:gs pos="100000">
                <a:srgbClr val="000076"/>
              </a:gs>
            </a:gsLst>
            <a:lin ang="5400000" scaled="1"/>
          </a:gradFill>
          <a:ln w="57150">
            <a:solidFill>
              <a:srgbClr val="00FF00"/>
            </a:solidFill>
            <a:miter lim="800000"/>
          </a:ln>
          <a:scene3d>
            <a:camera prst="orthographicFront"/>
            <a:lightRig rig="threePt" dir="t"/>
          </a:scene3d>
          <a:sp3d>
            <a:bevelT prst="angle"/>
          </a:sp3d>
        </p:spPr>
        <p:txBody>
          <a:bodyPr wrap="none" anchor="ctr"/>
          <a:lstStyle>
            <a:defPPr>
              <a:defRPr lang="zh-CN"/>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a:lstStyle>
          <a:p>
            <a:pPr algn="ctr"/>
            <a:r>
              <a:rPr lang="zh-CN" altLang="en-US" sz="1600" b="1" dirty="0">
                <a:solidFill>
                  <a:srgbClr val="FFFF00"/>
                </a:solidFill>
                <a:effectLst>
                  <a:outerShdw blurRad="38100" dist="38100" dir="2700000" algn="tl">
                    <a:srgbClr val="000000">
                      <a:alpha val="43137"/>
                    </a:srgbClr>
                  </a:outerShdw>
                </a:effectLst>
                <a:latin typeface="Times New Roman" panose="02020603050405020304" pitchFamily="18" charset="0"/>
                <a:ea typeface="楷体_GB2312" pitchFamily="49" charset="-122"/>
              </a:rPr>
              <a:t>注意</a:t>
            </a:r>
          </a:p>
        </p:txBody>
      </p:sp>
      <p:sp>
        <p:nvSpPr>
          <p:cNvPr id="9" name="文本框 8"/>
          <p:cNvSpPr txBox="1"/>
          <p:nvPr/>
        </p:nvSpPr>
        <p:spPr>
          <a:xfrm>
            <a:off x="5204693" y="4256145"/>
            <a:ext cx="3744416" cy="338554"/>
          </a:xfrm>
          <a:prstGeom prst="rect">
            <a:avLst/>
          </a:prstGeom>
          <a:noFill/>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在数据范围内，不是拟合系数越高越好</a:t>
            </a:r>
            <a:endParaRPr lang="zh-CN" altLang="en-US" sz="1600" dirty="0">
              <a:solidFill>
                <a:srgbClr val="FF0000"/>
              </a:solidFill>
            </a:endParaRPr>
          </a:p>
        </p:txBody>
      </p:sp>
      <p:sp>
        <p:nvSpPr>
          <p:cNvPr id="10" name="Rectangle 1"/>
          <p:cNvSpPr>
            <a:spLocks noChangeArrowheads="1"/>
          </p:cNvSpPr>
          <p:nvPr/>
        </p:nvSpPr>
        <p:spPr bwMode="auto">
          <a:xfrm>
            <a:off x="54169" y="693428"/>
            <a:ext cx="9071651" cy="702244"/>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hangingPunct="0">
              <a:tabLst>
                <a:tab pos="417195" algn="l"/>
              </a:tabLst>
              <a:defRPr>
                <a:solidFill>
                  <a:schemeClr val="tx1"/>
                </a:solidFill>
                <a:latin typeface="Arial" panose="020B0604020202020204" pitchFamily="34" charset="0"/>
              </a:defRPr>
            </a:lvl1pPr>
            <a:lvl2pPr eaLnBrk="0" hangingPunct="0">
              <a:tabLst>
                <a:tab pos="417195" algn="l"/>
              </a:tabLst>
              <a:defRPr>
                <a:solidFill>
                  <a:schemeClr val="tx1"/>
                </a:solidFill>
                <a:latin typeface="Arial" panose="020B0604020202020204" pitchFamily="34" charset="0"/>
              </a:defRPr>
            </a:lvl2pPr>
            <a:lvl3pPr eaLnBrk="0" hangingPunct="0">
              <a:tabLst>
                <a:tab pos="417195" algn="l"/>
              </a:tabLst>
              <a:defRPr>
                <a:solidFill>
                  <a:schemeClr val="tx1"/>
                </a:solidFill>
                <a:latin typeface="Arial" panose="020B0604020202020204" pitchFamily="34" charset="0"/>
              </a:defRPr>
            </a:lvl3pPr>
            <a:lvl4pPr eaLnBrk="0" hangingPunct="0">
              <a:tabLst>
                <a:tab pos="417195" algn="l"/>
              </a:tabLst>
              <a:defRPr>
                <a:solidFill>
                  <a:schemeClr val="tx1"/>
                </a:solidFill>
                <a:latin typeface="Arial" panose="020B0604020202020204" pitchFamily="34" charset="0"/>
              </a:defRPr>
            </a:lvl4pPr>
            <a:lvl5pPr eaLnBrk="0" hangingPunct="0">
              <a:tabLst>
                <a:tab pos="417195" algn="l"/>
              </a:tabLst>
              <a:defRPr>
                <a:solidFill>
                  <a:schemeClr val="tx1"/>
                </a:solidFill>
                <a:latin typeface="Arial" panose="020B0604020202020204" pitchFamily="34" charset="0"/>
              </a:defRPr>
            </a:lvl5pPr>
            <a:lvl6pPr eaLnBrk="0" fontAlgn="base" hangingPunct="0">
              <a:spcBef>
                <a:spcPct val="0"/>
              </a:spcBef>
              <a:spcAft>
                <a:spcPct val="0"/>
              </a:spcAft>
              <a:tabLst>
                <a:tab pos="417195" algn="l"/>
              </a:tabLst>
              <a:defRPr>
                <a:solidFill>
                  <a:schemeClr val="tx1"/>
                </a:solidFill>
                <a:latin typeface="Arial" panose="020B0604020202020204" pitchFamily="34" charset="0"/>
              </a:defRPr>
            </a:lvl6pPr>
            <a:lvl7pPr eaLnBrk="0" fontAlgn="base" hangingPunct="0">
              <a:spcBef>
                <a:spcPct val="0"/>
              </a:spcBef>
              <a:spcAft>
                <a:spcPct val="0"/>
              </a:spcAft>
              <a:tabLst>
                <a:tab pos="417195" algn="l"/>
              </a:tabLst>
              <a:defRPr>
                <a:solidFill>
                  <a:schemeClr val="tx1"/>
                </a:solidFill>
                <a:latin typeface="Arial" panose="020B0604020202020204" pitchFamily="34" charset="0"/>
              </a:defRPr>
            </a:lvl7pPr>
            <a:lvl8pPr eaLnBrk="0" fontAlgn="base" hangingPunct="0">
              <a:spcBef>
                <a:spcPct val="0"/>
              </a:spcBef>
              <a:spcAft>
                <a:spcPct val="0"/>
              </a:spcAft>
              <a:tabLst>
                <a:tab pos="417195" algn="l"/>
              </a:tabLst>
              <a:defRPr>
                <a:solidFill>
                  <a:schemeClr val="tx1"/>
                </a:solidFill>
                <a:latin typeface="Arial" panose="020B0604020202020204" pitchFamily="34" charset="0"/>
              </a:defRPr>
            </a:lvl8pPr>
            <a:lvl9pPr eaLnBrk="0" fontAlgn="base" hangingPunct="0">
              <a:spcBef>
                <a:spcPct val="0"/>
              </a:spcBef>
              <a:spcAft>
                <a:spcPct val="0"/>
              </a:spcAft>
              <a:tabLst>
                <a:tab pos="417195" algn="l"/>
              </a:tabLst>
              <a:defRPr>
                <a:solidFill>
                  <a:schemeClr val="tx1"/>
                </a:solidFill>
                <a:latin typeface="Arial" panose="020B0604020202020204" pitchFamily="34" charset="0"/>
              </a:defRPr>
            </a:lvl9pPr>
          </a:lstStyle>
          <a:p>
            <a:pPr lvl="0">
              <a:lnSpc>
                <a:spcPts val="2500"/>
              </a:lnSpc>
            </a:pPr>
            <a:r>
              <a:rPr kumimoji="0" lang="en-US" altLang="zh-CN" sz="1600" b="1" i="0" u="none" strike="noStrike" cap="none" normalizeH="0" baseline="0" dirty="0">
                <a:ln>
                  <a:noFill/>
                </a:ln>
                <a:solidFill>
                  <a:srgbClr val="0070C0"/>
                </a:solidFill>
                <a:effectLst/>
                <a:latin typeface="微软雅黑 Light" panose="020B0502040204020203" pitchFamily="34" charset="-122"/>
                <a:ea typeface="微软雅黑 Light" panose="020B0502040204020203" pitchFamily="34" charset="-122"/>
                <a:cs typeface="Times New Roman" panose="02020603050405020304" pitchFamily="18" charset="0"/>
              </a:rPr>
              <a:t>              </a:t>
            </a:r>
            <a:r>
              <a:rPr kumimoji="0" lang="zh-CN"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大物实验“</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PN</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结正向压降</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关系的研究与应用”，分别采用</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次、</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次和</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9</a:t>
            </a:r>
            <a:r>
              <a:rPr lang="zh-CN" altLang="en-US"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次多项式拟合</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压降</a:t>
            </a:r>
            <a:r>
              <a:rPr kumimoji="0" lang="en-US" altLang="zh-CN"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y</a:t>
            </a:r>
            <a:r>
              <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与温度</a:t>
            </a:r>
            <a:r>
              <a:rPr lang="en-US" altLang="zh-CN"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x </a:t>
            </a:r>
            <a:r>
              <a:rPr lang="zh-CN" altLang="en-US" sz="16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关系，比较拟合度 </a:t>
            </a:r>
            <a:endPar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11" name="波形 10"/>
          <p:cNvSpPr/>
          <p:nvPr/>
        </p:nvSpPr>
        <p:spPr>
          <a:xfrm>
            <a:off x="140135" y="694121"/>
            <a:ext cx="740722" cy="364713"/>
          </a:xfrm>
          <a:prstGeom prst="wave">
            <a:avLst>
              <a:gd name="adj1" fmla="val 12500"/>
              <a:gd name="adj2" fmla="val 0"/>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1400" b="1" dirty="0">
                <a:solidFill>
                  <a:srgbClr val="FFFF00"/>
                </a:solidFill>
                <a:latin typeface="微软雅黑" panose="020B0503020204020204" pitchFamily="34" charset="-122"/>
                <a:ea typeface="微软雅黑" panose="020B0503020204020204" pitchFamily="34" charset="-122"/>
              </a:rPr>
              <a:t>例52-1-2</a:t>
            </a:r>
            <a:endParaRPr lang="ko-KR" altLang="en-US" sz="1400" b="1" dirty="0">
              <a:solidFill>
                <a:srgbClr val="FFFF00"/>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51720" y="202628"/>
            <a:ext cx="6768752" cy="438150"/>
          </a:xfrm>
        </p:spPr>
        <p:txBody>
          <a:bodyPr/>
          <a:lstStyle/>
          <a:p>
            <a:r>
              <a:rPr lang="zh-CN" altLang="en-US" kern="0" dirty="0"/>
              <a:t>机器学习中</a:t>
            </a:r>
            <a:r>
              <a:rPr lang="zh-CN" altLang="en-US" dirty="0"/>
              <a:t>欠拟合和过拟合</a:t>
            </a:r>
          </a:p>
        </p:txBody>
      </p:sp>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t="19541" b="17302"/>
          <a:stretch>
            <a:fillRect/>
          </a:stretch>
        </p:blipFill>
        <p:spPr>
          <a:xfrm>
            <a:off x="3403079" y="1743944"/>
            <a:ext cx="2373923" cy="2575498"/>
          </a:xfrm>
          <a:prstGeom prst="rect">
            <a:avLst/>
          </a:prstGeom>
        </p:spPr>
      </p:pic>
      <p:pic>
        <p:nvPicPr>
          <p:cNvPr id="11" name="图片 10"/>
          <p:cNvPicPr>
            <a:picLocks noChangeAspect="1"/>
          </p:cNvPicPr>
          <p:nvPr/>
        </p:nvPicPr>
        <p:blipFill rotWithShape="1">
          <a:blip r:embed="rId4" cstate="print">
            <a:extLst>
              <a:ext uri="{28A0092B-C50C-407E-A947-70E740481C1C}">
                <a14:useLocalDpi xmlns:a14="http://schemas.microsoft.com/office/drawing/2010/main" val="0"/>
              </a:ext>
            </a:extLst>
          </a:blip>
          <a:srcRect t="14010" r="1285" b="29991"/>
          <a:stretch>
            <a:fillRect/>
          </a:stretch>
        </p:blipFill>
        <p:spPr>
          <a:xfrm>
            <a:off x="6514092" y="1826318"/>
            <a:ext cx="2343412" cy="2575499"/>
          </a:xfrm>
          <a:prstGeom prst="rect">
            <a:avLst/>
          </a:prstGeom>
        </p:spPr>
      </p:pic>
      <p:pic>
        <p:nvPicPr>
          <p:cNvPr id="13" name="图片 12"/>
          <p:cNvPicPr>
            <a:picLocks noChangeAspect="1"/>
          </p:cNvPicPr>
          <p:nvPr/>
        </p:nvPicPr>
        <p:blipFill rotWithShape="1">
          <a:blip r:embed="rId5">
            <a:extLst>
              <a:ext uri="{28A0092B-C50C-407E-A947-70E740481C1C}">
                <a14:useLocalDpi xmlns:a14="http://schemas.microsoft.com/office/drawing/2010/main" val="0"/>
              </a:ext>
            </a:extLst>
          </a:blip>
          <a:srcRect t="22000" r="31800" b="47200"/>
          <a:stretch>
            <a:fillRect/>
          </a:stretch>
        </p:blipFill>
        <p:spPr>
          <a:xfrm>
            <a:off x="134609" y="1013575"/>
            <a:ext cx="3199123" cy="3130294"/>
          </a:xfrm>
          <a:prstGeom prst="rect">
            <a:avLst/>
          </a:prstGeom>
        </p:spPr>
      </p:pic>
      <p:pic>
        <p:nvPicPr>
          <p:cNvPr id="7" name="图片 6"/>
          <p:cNvPicPr>
            <a:picLocks noChangeAspect="1"/>
          </p:cNvPicPr>
          <p:nvPr/>
        </p:nvPicPr>
        <p:blipFill rotWithShape="1">
          <a:blip r:embed="rId6" cstate="print">
            <a:extLst>
              <a:ext uri="{28A0092B-C50C-407E-A947-70E740481C1C}">
                <a14:useLocalDpi xmlns:a14="http://schemas.microsoft.com/office/drawing/2010/main" val="0"/>
              </a:ext>
            </a:extLst>
          </a:blip>
          <a:srcRect l="-1" t="47442" r="-3013" b="41374"/>
          <a:stretch>
            <a:fillRect/>
          </a:stretch>
        </p:blipFill>
        <p:spPr>
          <a:xfrm>
            <a:off x="387139" y="4061998"/>
            <a:ext cx="2863527" cy="514887"/>
          </a:xfrm>
          <a:prstGeom prst="rect">
            <a:avLst/>
          </a:prstGeom>
          <a:ln>
            <a:noFill/>
          </a:ln>
          <a:effectLst>
            <a:outerShdw blurRad="190500" algn="tl" rotWithShape="0">
              <a:srgbClr val="000000">
                <a:alpha val="70000"/>
              </a:srgbClr>
            </a:outerShdw>
          </a:effectLst>
        </p:spPr>
      </p:pic>
      <p:sp>
        <p:nvSpPr>
          <p:cNvPr id="12" name="标题 1"/>
          <p:cNvSpPr txBox="1"/>
          <p:nvPr/>
        </p:nvSpPr>
        <p:spPr bwMode="auto">
          <a:xfrm>
            <a:off x="3707905" y="3799741"/>
            <a:ext cx="4536504" cy="438150"/>
          </a:xfrm>
          <a:prstGeom prst="rect">
            <a:avLst/>
          </a:prstGeom>
          <a:noFill/>
          <a:ln w="9525">
            <a:noFill/>
            <a:miter lim="800000"/>
          </a:ln>
        </p:spPr>
        <p:txBody>
          <a:bodyPr vert="horz" wrap="none" lIns="91440" tIns="45720" rIns="91440" bIns="45720" numCol="1" anchor="b" anchorCtr="0" compatLnSpc="1"/>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endParaRPr lang="zh-CN" altLang="en-US" kern="0" dirty="0"/>
          </a:p>
        </p:txBody>
      </p:sp>
      <p:pic>
        <p:nvPicPr>
          <p:cNvPr id="8" name="图片 7"/>
          <p:cNvPicPr>
            <a:picLocks noChangeAspect="1"/>
          </p:cNvPicPr>
          <p:nvPr/>
        </p:nvPicPr>
        <p:blipFill>
          <a:blip r:embed="rId7"/>
          <a:stretch>
            <a:fillRect/>
          </a:stretch>
        </p:blipFill>
        <p:spPr>
          <a:xfrm>
            <a:off x="3508405" y="679850"/>
            <a:ext cx="5467720" cy="1112732"/>
          </a:xfrm>
          <a:prstGeom prst="rect">
            <a:avLst/>
          </a:prstGeom>
        </p:spPr>
      </p:pic>
      <p:sp>
        <p:nvSpPr>
          <p:cNvPr id="14" name="Rectangle 1"/>
          <p:cNvSpPr>
            <a:spLocks noChangeArrowheads="1"/>
          </p:cNvSpPr>
          <p:nvPr/>
        </p:nvSpPr>
        <p:spPr bwMode="auto">
          <a:xfrm>
            <a:off x="323528" y="679850"/>
            <a:ext cx="2663618" cy="362407"/>
          </a:xfrm>
          <a:prstGeom prst="rect">
            <a:avLst/>
          </a:prstGeom>
          <a:solidFill>
            <a:schemeClr val="bg1"/>
          </a:solidFill>
          <a:ln>
            <a:noFill/>
          </a:ln>
          <a:effectLst/>
        </p:spPr>
        <p:txBody>
          <a:bodyPr vert="horz" wrap="square" lIns="91440" tIns="45720" rIns="91440" bIns="45720" numCol="1" anchor="ctr" anchorCtr="0" compatLnSpc="1">
            <a:spAutoFit/>
          </a:bodyPr>
          <a:lstStyle>
            <a:lvl1pPr eaLnBrk="0" hangingPunct="0">
              <a:tabLst>
                <a:tab pos="417195" algn="l"/>
              </a:tabLst>
              <a:defRPr>
                <a:solidFill>
                  <a:schemeClr val="tx1"/>
                </a:solidFill>
                <a:latin typeface="Arial" panose="020B0604020202020204" pitchFamily="34" charset="0"/>
              </a:defRPr>
            </a:lvl1pPr>
            <a:lvl2pPr eaLnBrk="0" hangingPunct="0">
              <a:tabLst>
                <a:tab pos="417195" algn="l"/>
              </a:tabLst>
              <a:defRPr>
                <a:solidFill>
                  <a:schemeClr val="tx1"/>
                </a:solidFill>
                <a:latin typeface="Arial" panose="020B0604020202020204" pitchFamily="34" charset="0"/>
              </a:defRPr>
            </a:lvl2pPr>
            <a:lvl3pPr eaLnBrk="0" hangingPunct="0">
              <a:tabLst>
                <a:tab pos="417195" algn="l"/>
              </a:tabLst>
              <a:defRPr>
                <a:solidFill>
                  <a:schemeClr val="tx1"/>
                </a:solidFill>
                <a:latin typeface="Arial" panose="020B0604020202020204" pitchFamily="34" charset="0"/>
              </a:defRPr>
            </a:lvl3pPr>
            <a:lvl4pPr eaLnBrk="0" hangingPunct="0">
              <a:tabLst>
                <a:tab pos="417195" algn="l"/>
              </a:tabLst>
              <a:defRPr>
                <a:solidFill>
                  <a:schemeClr val="tx1"/>
                </a:solidFill>
                <a:latin typeface="Arial" panose="020B0604020202020204" pitchFamily="34" charset="0"/>
              </a:defRPr>
            </a:lvl4pPr>
            <a:lvl5pPr eaLnBrk="0" hangingPunct="0">
              <a:tabLst>
                <a:tab pos="417195" algn="l"/>
              </a:tabLst>
              <a:defRPr>
                <a:solidFill>
                  <a:schemeClr val="tx1"/>
                </a:solidFill>
                <a:latin typeface="Arial" panose="020B0604020202020204" pitchFamily="34" charset="0"/>
              </a:defRPr>
            </a:lvl5pPr>
            <a:lvl6pPr eaLnBrk="0" fontAlgn="base" hangingPunct="0">
              <a:spcBef>
                <a:spcPct val="0"/>
              </a:spcBef>
              <a:spcAft>
                <a:spcPct val="0"/>
              </a:spcAft>
              <a:tabLst>
                <a:tab pos="417195" algn="l"/>
              </a:tabLst>
              <a:defRPr>
                <a:solidFill>
                  <a:schemeClr val="tx1"/>
                </a:solidFill>
                <a:latin typeface="Arial" panose="020B0604020202020204" pitchFamily="34" charset="0"/>
              </a:defRPr>
            </a:lvl6pPr>
            <a:lvl7pPr eaLnBrk="0" fontAlgn="base" hangingPunct="0">
              <a:spcBef>
                <a:spcPct val="0"/>
              </a:spcBef>
              <a:spcAft>
                <a:spcPct val="0"/>
              </a:spcAft>
              <a:tabLst>
                <a:tab pos="417195" algn="l"/>
              </a:tabLst>
              <a:defRPr>
                <a:solidFill>
                  <a:schemeClr val="tx1"/>
                </a:solidFill>
                <a:latin typeface="Arial" panose="020B0604020202020204" pitchFamily="34" charset="0"/>
              </a:defRPr>
            </a:lvl7pPr>
            <a:lvl8pPr eaLnBrk="0" fontAlgn="base" hangingPunct="0">
              <a:spcBef>
                <a:spcPct val="0"/>
              </a:spcBef>
              <a:spcAft>
                <a:spcPct val="0"/>
              </a:spcAft>
              <a:tabLst>
                <a:tab pos="417195" algn="l"/>
              </a:tabLst>
              <a:defRPr>
                <a:solidFill>
                  <a:schemeClr val="tx1"/>
                </a:solidFill>
                <a:latin typeface="Arial" panose="020B0604020202020204" pitchFamily="34" charset="0"/>
              </a:defRPr>
            </a:lvl8pPr>
            <a:lvl9pPr eaLnBrk="0" fontAlgn="base" hangingPunct="0">
              <a:spcBef>
                <a:spcPct val="0"/>
              </a:spcBef>
              <a:spcAft>
                <a:spcPct val="0"/>
              </a:spcAft>
              <a:tabLst>
                <a:tab pos="417195" algn="l"/>
              </a:tabLst>
              <a:defRPr>
                <a:solidFill>
                  <a:schemeClr val="tx1"/>
                </a:solidFill>
                <a:latin typeface="Arial" panose="020B0604020202020204" pitchFamily="34" charset="0"/>
              </a:defRPr>
            </a:lvl9pPr>
          </a:lstStyle>
          <a:p>
            <a:pPr lvl="0">
              <a:lnSpc>
                <a:spcPts val="2300"/>
              </a:lnSpc>
            </a:pPr>
            <a:r>
              <a:rPr lang="zh-CN" altLang="en-US" sz="1600" b="1" dirty="0">
                <a:solidFill>
                  <a:srgbClr val="0070C0"/>
                </a:solidFill>
                <a:latin typeface="微软雅黑" panose="020B0503020204020204" pitchFamily="34" charset="-122"/>
                <a:ea typeface="微软雅黑" panose="020B0503020204020204" pitchFamily="34" charset="-122"/>
              </a:rPr>
              <a:t>多项式拟合正弦</a:t>
            </a:r>
            <a:r>
              <a:rPr lang="en-US" altLang="zh-CN" sz="1600" b="1" dirty="0">
                <a:solidFill>
                  <a:srgbClr val="0070C0"/>
                </a:solidFill>
                <a:latin typeface="微软雅黑" panose="020B0503020204020204" pitchFamily="34" charset="-122"/>
                <a:ea typeface="微软雅黑" panose="020B0503020204020204" pitchFamily="34" charset="-122"/>
              </a:rPr>
              <a:t>sin</a:t>
            </a:r>
            <a:r>
              <a:rPr lang="zh-CN" altLang="en-US" sz="1600" b="1" dirty="0">
                <a:solidFill>
                  <a:srgbClr val="0070C0"/>
                </a:solidFill>
                <a:latin typeface="微软雅黑" panose="020B0503020204020204" pitchFamily="34" charset="-122"/>
                <a:ea typeface="微软雅黑" panose="020B0503020204020204" pitchFamily="34" charset="-122"/>
              </a:rPr>
              <a:t>曲线</a:t>
            </a:r>
            <a:endParaRPr kumimoji="0" lang="zh-CN" altLang="en-US" sz="16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endParaRPr>
          </a:p>
        </p:txBody>
      </p:sp>
      <p:sp>
        <p:nvSpPr>
          <p:cNvPr id="10" name="矩形 9"/>
          <p:cNvSpPr/>
          <p:nvPr/>
        </p:nvSpPr>
        <p:spPr>
          <a:xfrm>
            <a:off x="593294" y="3224016"/>
            <a:ext cx="904415" cy="246221"/>
          </a:xfrm>
          <a:prstGeom prst="rect">
            <a:avLst/>
          </a:prstGeom>
          <a:solidFill>
            <a:srgbClr val="FF0000"/>
          </a:solidFill>
        </p:spPr>
        <p:txBody>
          <a:bodyPr wrap="none">
            <a:spAutoFit/>
          </a:bodyPr>
          <a:lstStyle/>
          <a:p>
            <a:r>
              <a:rPr lang="en-US" altLang="zh-CN" sz="1000" b="1" dirty="0">
                <a:solidFill>
                  <a:schemeClr val="bg1"/>
                </a:solidFill>
                <a:highlight>
                  <a:srgbClr val="FF0000"/>
                </a:highlight>
                <a:latin typeface="微软雅黑" panose="020B0503020204020204" pitchFamily="34" charset="-122"/>
                <a:ea typeface="微软雅黑" panose="020B0503020204020204" pitchFamily="34" charset="-122"/>
              </a:rPr>
              <a:t>3</a:t>
            </a:r>
            <a:r>
              <a:rPr lang="zh-CN" altLang="en-US" sz="1000" b="1" dirty="0">
                <a:solidFill>
                  <a:schemeClr val="bg1"/>
                </a:solidFill>
                <a:highlight>
                  <a:srgbClr val="FF0000"/>
                </a:highlight>
                <a:latin typeface="微软雅黑" panose="020B0503020204020204" pitchFamily="34" charset="-122"/>
                <a:ea typeface="微软雅黑" panose="020B0503020204020204" pitchFamily="34" charset="-122"/>
              </a:rPr>
              <a:t>次正常拟合</a:t>
            </a:r>
          </a:p>
        </p:txBody>
      </p:sp>
      <p:sp>
        <p:nvSpPr>
          <p:cNvPr id="15" name="矩形 14"/>
          <p:cNvSpPr/>
          <p:nvPr/>
        </p:nvSpPr>
        <p:spPr>
          <a:xfrm>
            <a:off x="2102282" y="2270945"/>
            <a:ext cx="776175" cy="246221"/>
          </a:xfrm>
          <a:prstGeom prst="rect">
            <a:avLst/>
          </a:prstGeom>
          <a:solidFill>
            <a:srgbClr val="FF0000"/>
          </a:solidFill>
        </p:spPr>
        <p:txBody>
          <a:bodyPr wrap="none">
            <a:spAutoFit/>
          </a:bodyPr>
          <a:lstStyle/>
          <a:p>
            <a:r>
              <a:rPr lang="en-US" altLang="zh-CN" sz="1000" b="1" dirty="0">
                <a:solidFill>
                  <a:schemeClr val="bg1"/>
                </a:solidFill>
                <a:highlight>
                  <a:srgbClr val="FF0000"/>
                </a:highlight>
                <a:latin typeface="微软雅黑" panose="020B0503020204020204" pitchFamily="34" charset="-122"/>
                <a:ea typeface="微软雅黑" panose="020B0503020204020204" pitchFamily="34" charset="-122"/>
              </a:rPr>
              <a:t>1</a:t>
            </a:r>
            <a:r>
              <a:rPr lang="zh-CN" altLang="en-US" sz="1000" b="1" dirty="0">
                <a:solidFill>
                  <a:schemeClr val="bg1"/>
                </a:solidFill>
                <a:highlight>
                  <a:srgbClr val="FF0000"/>
                </a:highlight>
                <a:latin typeface="微软雅黑" panose="020B0503020204020204" pitchFamily="34" charset="-122"/>
                <a:ea typeface="微软雅黑" panose="020B0503020204020204" pitchFamily="34" charset="-122"/>
              </a:rPr>
              <a:t>次欠拟合</a:t>
            </a:r>
          </a:p>
        </p:txBody>
      </p:sp>
      <p:sp>
        <p:nvSpPr>
          <p:cNvPr id="16" name="矩形 15"/>
          <p:cNvSpPr/>
          <p:nvPr/>
        </p:nvSpPr>
        <p:spPr>
          <a:xfrm>
            <a:off x="2115954" y="3205215"/>
            <a:ext cx="776175" cy="246221"/>
          </a:xfrm>
          <a:prstGeom prst="rect">
            <a:avLst/>
          </a:prstGeom>
          <a:solidFill>
            <a:srgbClr val="FF0000"/>
          </a:solidFill>
        </p:spPr>
        <p:txBody>
          <a:bodyPr wrap="none">
            <a:spAutoFit/>
          </a:bodyPr>
          <a:lstStyle/>
          <a:p>
            <a:r>
              <a:rPr lang="en-US" altLang="zh-CN" sz="1000" b="1" dirty="0">
                <a:solidFill>
                  <a:schemeClr val="bg1"/>
                </a:solidFill>
                <a:highlight>
                  <a:srgbClr val="FF0000"/>
                </a:highlight>
                <a:latin typeface="微软雅黑" panose="020B0503020204020204" pitchFamily="34" charset="-122"/>
                <a:ea typeface="微软雅黑" panose="020B0503020204020204" pitchFamily="34" charset="-122"/>
              </a:rPr>
              <a:t>9</a:t>
            </a:r>
            <a:r>
              <a:rPr lang="zh-CN" altLang="en-US" sz="1000" b="1" dirty="0">
                <a:solidFill>
                  <a:schemeClr val="bg1"/>
                </a:solidFill>
                <a:highlight>
                  <a:srgbClr val="FF0000"/>
                </a:highlight>
                <a:latin typeface="微软雅黑" panose="020B0503020204020204" pitchFamily="34" charset="-122"/>
                <a:ea typeface="微软雅黑" panose="020B0503020204020204" pitchFamily="34" charset="-122"/>
              </a:rPr>
              <a:t>次过拟合</a:t>
            </a:r>
          </a:p>
        </p:txBody>
      </p:sp>
      <p:sp>
        <p:nvSpPr>
          <p:cNvPr id="17" name="矩形 16"/>
          <p:cNvSpPr/>
          <p:nvPr/>
        </p:nvSpPr>
        <p:spPr>
          <a:xfrm>
            <a:off x="462381" y="2270945"/>
            <a:ext cx="902811" cy="307777"/>
          </a:xfrm>
          <a:prstGeom prst="rect">
            <a:avLst/>
          </a:prstGeom>
          <a:noFill/>
        </p:spPr>
        <p:txBody>
          <a:bodyPr wrap="none">
            <a:spAutoFit/>
          </a:bodyPr>
          <a:lstStyle/>
          <a:p>
            <a:r>
              <a:rPr lang="zh-CN" altLang="en-US" sz="1400" b="1" dirty="0">
                <a:solidFill>
                  <a:srgbClr val="FF0000"/>
                </a:solidFill>
                <a:highlight>
                  <a:srgbClr val="FFFF00"/>
                </a:highlight>
                <a:latin typeface="微软雅黑" panose="020B0503020204020204" pitchFamily="34" charset="-122"/>
                <a:ea typeface="微软雅黑" panose="020B0503020204020204" pitchFamily="34" charset="-122"/>
              </a:rPr>
              <a:t>数据特征</a:t>
            </a:r>
          </a:p>
        </p:txBody>
      </p:sp>
      <p:sp>
        <p:nvSpPr>
          <p:cNvPr id="18" name="文本框 17"/>
          <p:cNvSpPr txBox="1"/>
          <p:nvPr/>
        </p:nvSpPr>
        <p:spPr>
          <a:xfrm>
            <a:off x="3720319" y="4319442"/>
            <a:ext cx="995697" cy="307777"/>
          </a:xfrm>
          <a:prstGeom prst="rect">
            <a:avLst/>
          </a:prstGeom>
          <a:noFill/>
        </p:spPr>
        <p:txBody>
          <a:bodyPr wrap="square">
            <a:spAutoFit/>
          </a:bodyPr>
          <a:lstStyle>
            <a:defPPr>
              <a:defRPr lang="zh-CN"/>
            </a:defPPr>
            <a:lvl1pPr>
              <a:defRPr sz="1400" b="1">
                <a:solidFill>
                  <a:srgbClr val="FF0000"/>
                </a:solidFill>
                <a:highlight>
                  <a:srgbClr val="FFFF00"/>
                </a:highlight>
                <a:latin typeface="微软雅黑" panose="020B0503020204020204" pitchFamily="34" charset="-122"/>
                <a:ea typeface="微软雅黑" panose="020B0503020204020204" pitchFamily="34" charset="-122"/>
              </a:defRPr>
            </a:lvl1pPr>
          </a:lstStyle>
          <a:p>
            <a:r>
              <a:rPr lang="zh-CN" altLang="en-US" dirty="0"/>
              <a:t>数据噪音</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内容占位符 1"/>
          <p:cNvSpPr txBox="1"/>
          <p:nvPr/>
        </p:nvSpPr>
        <p:spPr>
          <a:xfrm>
            <a:off x="3201126" y="2114572"/>
            <a:ext cx="5924378" cy="385170"/>
          </a:xfrm>
          <a:prstGeom prst="rect">
            <a:avLst/>
          </a:prstGeom>
          <a:noFill/>
        </p:spPr>
        <p:txBody>
          <a:bodyPr wrap="square">
            <a:spAutoFit/>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en-US" altLang="zh-CN" sz="1800" b="0" dirty="0">
                <a:solidFill>
                  <a:srgbClr val="002060"/>
                </a:solidFill>
                <a:latin typeface="华文楷体" panose="02010600040101010101" pitchFamily="2" charset="-122"/>
                <a:ea typeface="华文楷体" panose="02010600040101010101" pitchFamily="2" charset="-122"/>
              </a:rPr>
              <a:t>fit</a:t>
            </a:r>
            <a:r>
              <a:rPr lang="zh-CN" altLang="en-US" sz="1800" b="0" dirty="0">
                <a:solidFill>
                  <a:srgbClr val="002060"/>
                </a:solidFill>
                <a:latin typeface="华文楷体" panose="02010600040101010101" pitchFamily="2" charset="-122"/>
                <a:ea typeface="华文楷体" panose="02010600040101010101" pitchFamily="2" charset="-122"/>
              </a:rPr>
              <a:t>按指定模型</a:t>
            </a:r>
            <a:r>
              <a:rPr lang="en-US" altLang="zh-CN" sz="1800" b="0" dirty="0" err="1">
                <a:solidFill>
                  <a:srgbClr val="FF0000"/>
                </a:solidFill>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fitType</a:t>
            </a:r>
            <a:r>
              <a:rPr lang="zh-CN" altLang="en-US" sz="1800" b="0" dirty="0">
                <a:solidFill>
                  <a:srgbClr val="002060"/>
                </a:solidFill>
                <a:latin typeface="华文楷体" panose="02010600040101010101" pitchFamily="2" charset="-122"/>
                <a:ea typeface="华文楷体" panose="02010600040101010101" pitchFamily="2" charset="-122"/>
              </a:rPr>
              <a:t>将采样数据</a:t>
            </a:r>
            <a:r>
              <a:rPr lang="en-US" altLang="zh-CN" sz="1800" b="0" dirty="0" err="1">
                <a:solidFill>
                  <a:srgbClr val="002060"/>
                </a:solidFill>
                <a:latin typeface="华文楷体" panose="02010600040101010101" pitchFamily="2" charset="-122"/>
                <a:ea typeface="华文楷体" panose="02010600040101010101" pitchFamily="2" charset="-122"/>
              </a:rPr>
              <a:t>x,y,z</a:t>
            </a:r>
            <a:r>
              <a:rPr lang="zh-CN" altLang="en-US" sz="1800" b="0" dirty="0">
                <a:solidFill>
                  <a:srgbClr val="002060"/>
                </a:solidFill>
                <a:latin typeface="华文楷体" panose="02010600040101010101" pitchFamily="2" charset="-122"/>
                <a:ea typeface="华文楷体" panose="02010600040101010101" pitchFamily="2" charset="-122"/>
              </a:rPr>
              <a:t>拟合成曲面</a:t>
            </a:r>
          </a:p>
        </p:txBody>
      </p:sp>
      <p:sp>
        <p:nvSpPr>
          <p:cNvPr id="15" name="文本框 14"/>
          <p:cNvSpPr txBox="1"/>
          <p:nvPr/>
        </p:nvSpPr>
        <p:spPr>
          <a:xfrm>
            <a:off x="683568" y="45968"/>
            <a:ext cx="8352928" cy="567463"/>
          </a:xfrm>
          <a:prstGeom prst="rect">
            <a:avLst/>
          </a:prstGeom>
          <a:noFill/>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 </a:t>
            </a:r>
            <a:r>
              <a:rPr lang="zh-CN" altLang="en-US" sz="2800" kern="0" dirty="0">
                <a:solidFill>
                  <a:srgbClr val="FF0000"/>
                </a:solidFill>
                <a:latin typeface="华文楷体" panose="02010600040101010101" pitchFamily="2" charset="-122"/>
                <a:ea typeface="华文楷体" panose="02010600040101010101" pitchFamily="2" charset="-122"/>
              </a:rPr>
              <a:t>拟合函数</a:t>
            </a:r>
            <a:r>
              <a:rPr lang="en-US" altLang="zh-CN" sz="2800" kern="0" dirty="0">
                <a:solidFill>
                  <a:srgbClr val="FF0000"/>
                </a:solidFill>
                <a:latin typeface="华文楷体" panose="02010600040101010101" pitchFamily="2" charset="-122"/>
                <a:ea typeface="华文楷体" panose="02010600040101010101" pitchFamily="2" charset="-122"/>
              </a:rPr>
              <a:t>fit</a:t>
            </a:r>
            <a:r>
              <a:rPr lang="zh-CN" altLang="en-US" sz="2800" kern="0" dirty="0">
                <a:solidFill>
                  <a:srgbClr val="FF0000"/>
                </a:solidFill>
                <a:latin typeface="华文楷体" panose="02010600040101010101" pitchFamily="2" charset="-122"/>
                <a:ea typeface="华文楷体" panose="02010600040101010101" pitchFamily="2" charset="-122"/>
              </a:rPr>
              <a:t>及输入参数</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18" name="文本框 17"/>
          <p:cNvSpPr txBox="1"/>
          <p:nvPr/>
        </p:nvSpPr>
        <p:spPr>
          <a:xfrm>
            <a:off x="3563888" y="1222826"/>
            <a:ext cx="5190125" cy="369332"/>
          </a:xfrm>
          <a:prstGeom prst="rect">
            <a:avLst/>
          </a:prstGeom>
          <a:solidFill>
            <a:schemeClr val="bg1"/>
          </a:solidFill>
        </p:spPr>
        <p:txBody>
          <a:bodyPr wrap="square">
            <a:spAutoFit/>
          </a:bodyPr>
          <a:lstStyle/>
          <a:p>
            <a:r>
              <a:rPr lang="en-US" altLang="zh-CN" dirty="0">
                <a:solidFill>
                  <a:srgbClr val="002060"/>
                </a:solidFill>
                <a:latin typeface="华文楷体" panose="02010600040101010101" pitchFamily="2" charset="-122"/>
                <a:ea typeface="华文楷体" panose="02010600040101010101" pitchFamily="2" charset="-122"/>
              </a:rPr>
              <a:t>fit</a:t>
            </a:r>
            <a:r>
              <a:rPr lang="zh-CN" altLang="en-US" dirty="0">
                <a:solidFill>
                  <a:srgbClr val="002060"/>
                </a:solidFill>
                <a:latin typeface="华文楷体" panose="02010600040101010101" pitchFamily="2" charset="-122"/>
                <a:ea typeface="华文楷体" panose="02010600040101010101" pitchFamily="2" charset="-122"/>
              </a:rPr>
              <a:t>按指定模型</a:t>
            </a:r>
            <a:r>
              <a:rPr lang="en-US" altLang="zh-CN" dirty="0" err="1">
                <a:solidFill>
                  <a:srgbClr val="FF0000"/>
                </a:solidFill>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fitType</a:t>
            </a:r>
            <a:r>
              <a:rPr lang="zh-CN" altLang="en-US" dirty="0">
                <a:solidFill>
                  <a:srgbClr val="002060"/>
                </a:solidFill>
                <a:latin typeface="华文楷体" panose="02010600040101010101" pitchFamily="2" charset="-122"/>
                <a:ea typeface="华文楷体" panose="02010600040101010101" pitchFamily="2" charset="-122"/>
              </a:rPr>
              <a:t>将采样数据</a:t>
            </a:r>
            <a:r>
              <a:rPr lang="en-US" altLang="zh-CN" dirty="0" err="1">
                <a:solidFill>
                  <a:srgbClr val="FF0000"/>
                </a:solidFill>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x,y</a:t>
            </a:r>
            <a:r>
              <a:rPr lang="zh-CN" altLang="en-US" dirty="0">
                <a:solidFill>
                  <a:srgbClr val="FF0000"/>
                </a:solidFill>
                <a:latin typeface="华文楷体" panose="02010600040101010101" pitchFamily="2" charset="-122"/>
                <a:ea typeface="华文楷体" panose="02010600040101010101" pitchFamily="2" charset="-122"/>
              </a:rPr>
              <a:t> </a:t>
            </a:r>
            <a:r>
              <a:rPr lang="zh-CN" altLang="en-US" dirty="0">
                <a:solidFill>
                  <a:srgbClr val="002060"/>
                </a:solidFill>
                <a:latin typeface="华文楷体" panose="02010600040101010101" pitchFamily="2" charset="-122"/>
                <a:ea typeface="华文楷体" panose="02010600040101010101" pitchFamily="2" charset="-122"/>
              </a:rPr>
              <a:t>拟合成曲线</a:t>
            </a:r>
          </a:p>
        </p:txBody>
      </p:sp>
      <p:sp>
        <p:nvSpPr>
          <p:cNvPr id="16" name="Text Box 3"/>
          <p:cNvSpPr txBox="1"/>
          <p:nvPr/>
        </p:nvSpPr>
        <p:spPr bwMode="auto">
          <a:xfrm>
            <a:off x="140019" y="1227167"/>
            <a:ext cx="3260361"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stStyle>
          <a:p>
            <a:pPr marL="0" lvl="0" indent="0" algn="dist" eaLnBrk="0" hangingPunct="0">
              <a:lnSpc>
                <a:spcPct val="100000"/>
              </a:lnSpc>
            </a:pPr>
            <a:r>
              <a:rPr kumimoji="0" lang="zh-CN" altLang="zh-CN" sz="1400" i="0" u="none" strike="noStrike" cap="none" normalizeH="0" baseline="0" dirty="0">
                <a:ln>
                  <a:noFill/>
                </a:ln>
                <a:effectLst/>
                <a:latin typeface="Arial Unicode MS"/>
                <a:ea typeface="source-code-pro"/>
              </a:rPr>
              <a:t>fitobject=fit(fitType,x,y)</a:t>
            </a:r>
            <a:r>
              <a:rPr kumimoji="0" lang="zh-CN" altLang="zh-CN" sz="1400" i="0" u="none" strike="noStrike" cap="none" normalizeH="0" baseline="0" dirty="0">
                <a:ln>
                  <a:noFill/>
                </a:ln>
                <a:effectLst/>
              </a:rPr>
              <a:t> </a:t>
            </a:r>
            <a:endParaRPr kumimoji="0" lang="zh-CN" altLang="zh-CN" sz="1400" i="0" u="none" strike="noStrike" cap="none" normalizeH="0" baseline="0" dirty="0">
              <a:ln>
                <a:noFill/>
              </a:ln>
              <a:effectLst/>
              <a:latin typeface="Arial" panose="020B0604020202020204" pitchFamily="34" charset="0"/>
            </a:endParaRPr>
          </a:p>
        </p:txBody>
      </p:sp>
      <p:sp>
        <p:nvSpPr>
          <p:cNvPr id="10" name="文本框 9"/>
          <p:cNvSpPr txBox="1"/>
          <p:nvPr/>
        </p:nvSpPr>
        <p:spPr>
          <a:xfrm>
            <a:off x="81566" y="718339"/>
            <a:ext cx="8769617" cy="400110"/>
          </a:xfrm>
          <a:prstGeom prst="rect">
            <a:avLst/>
          </a:prstGeom>
          <a:solidFill>
            <a:schemeClr val="bg1"/>
          </a:solidFill>
        </p:spPr>
        <p:txBody>
          <a:bodyPr wrap="square">
            <a:spAutoFit/>
          </a:bodyPr>
          <a:lstStyle/>
          <a:p>
            <a:pPr algn="dist"/>
            <a:r>
              <a:rPr lang="zh-CN" altLang="en-US" sz="2000" b="1" dirty="0">
                <a:solidFill>
                  <a:srgbClr val="0070C0"/>
                </a:solidFill>
                <a:latin typeface="微软雅黑" panose="020B0503020204020204" pitchFamily="34" charset="-122"/>
                <a:ea typeface="微软雅黑" panose="020B0503020204020204" pitchFamily="34" charset="-122"/>
              </a:rPr>
              <a:t>拟合函数</a:t>
            </a:r>
            <a:r>
              <a:rPr lang="en-US" altLang="zh-CN" sz="2000" b="1" dirty="0">
                <a:solidFill>
                  <a:srgbClr val="0070C0"/>
                </a:solidFill>
                <a:latin typeface="微软雅黑" panose="020B0503020204020204" pitchFamily="34" charset="-122"/>
                <a:ea typeface="微软雅黑" panose="020B0503020204020204" pitchFamily="34" charset="-122"/>
              </a:rPr>
              <a:t>fit</a:t>
            </a:r>
            <a:r>
              <a:rPr lang="zh-CN" altLang="en-US" b="1" dirty="0">
                <a:solidFill>
                  <a:srgbClr val="0070C0"/>
                </a:solidFill>
                <a:latin typeface="微软雅黑" panose="020B0503020204020204" pitchFamily="34" charset="-122"/>
                <a:ea typeface="微软雅黑" panose="020B0503020204020204" pitchFamily="34" charset="-122"/>
              </a:rPr>
              <a:t>：</a:t>
            </a:r>
            <a:r>
              <a:rPr lang="zh-CN" altLang="en-US" b="1" dirty="0">
                <a:solidFill>
                  <a:srgbClr val="00B0F0"/>
                </a:solidFill>
                <a:latin typeface="微软雅黑" panose="020B0503020204020204" pitchFamily="34" charset="-122"/>
                <a:ea typeface="微软雅黑" panose="020B0503020204020204" pitchFamily="34" charset="-122"/>
              </a:rPr>
              <a:t>位于</a:t>
            </a:r>
            <a:r>
              <a:rPr lang="en-US" altLang="zh-CN" b="1" dirty="0" err="1">
                <a:solidFill>
                  <a:srgbClr val="00B0F0"/>
                </a:solidFill>
                <a:latin typeface="微软雅黑" panose="020B0503020204020204" pitchFamily="34" charset="-122"/>
                <a:ea typeface="微软雅黑" panose="020B0503020204020204" pitchFamily="34" charset="-122"/>
              </a:rPr>
              <a:t>TyCurveFitting</a:t>
            </a:r>
            <a:r>
              <a:rPr lang="zh-CN" altLang="en-US" b="1" dirty="0">
                <a:solidFill>
                  <a:srgbClr val="00B0F0"/>
                </a:solidFill>
                <a:latin typeface="微软雅黑" panose="020B0503020204020204" pitchFamily="34" charset="-122"/>
                <a:ea typeface="微软雅黑" panose="020B0503020204020204" pitchFamily="34" charset="-122"/>
              </a:rPr>
              <a:t>函数库</a:t>
            </a:r>
            <a:r>
              <a:rPr lang="zh-CN" altLang="en-US" dirty="0">
                <a:solidFill>
                  <a:srgbClr val="00B0F0"/>
                </a:solidFill>
                <a:latin typeface="华文楷体" panose="02010600040101010101" pitchFamily="2" charset="-122"/>
                <a:ea typeface="华文楷体" panose="02010600040101010101" pitchFamily="2" charset="-122"/>
              </a:rPr>
              <a:t>和</a:t>
            </a:r>
            <a:r>
              <a:rPr lang="en-US" altLang="zh-CN" b="1" dirty="0" err="1">
                <a:solidFill>
                  <a:srgbClr val="00B0F0"/>
                </a:solidFill>
                <a:latin typeface="微软雅黑" panose="020B0503020204020204" pitchFamily="34" charset="-122"/>
                <a:ea typeface="微软雅黑" panose="020B0503020204020204" pitchFamily="34" charset="-122"/>
              </a:rPr>
              <a:t>TyMachineLearning</a:t>
            </a:r>
            <a:r>
              <a:rPr lang="zh-CN" altLang="en-US" b="1" dirty="0">
                <a:solidFill>
                  <a:srgbClr val="00B0F0"/>
                </a:solidFill>
                <a:latin typeface="微软雅黑" panose="020B0503020204020204" pitchFamily="34" charset="-122"/>
                <a:ea typeface="微软雅黑" panose="020B0503020204020204" pitchFamily="34" charset="-122"/>
              </a:rPr>
              <a:t>函数库</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30894" y="3345479"/>
            <a:ext cx="5408374" cy="1310808"/>
          </a:xfrm>
          <a:prstGeom prst="rect">
            <a:avLst/>
          </a:prstGeom>
          <a:noFill/>
        </p:spPr>
        <p:txBody>
          <a:bodyPr wrap="square">
            <a:spAutoFit/>
          </a:bodyPr>
          <a:lstStyle/>
          <a:p>
            <a:pPr marL="342900" indent="-342900">
              <a:lnSpc>
                <a:spcPts val="2400"/>
              </a:lnSpc>
              <a:buFont typeface="Wingdings" panose="05000000000000000000" pitchFamily="2" charset="2"/>
              <a:buChar char="p"/>
            </a:pPr>
            <a:r>
              <a:rPr lang="zh-CN" altLang="en-US" dirty="0">
                <a:solidFill>
                  <a:srgbClr val="002060"/>
                </a:solidFill>
                <a:latin typeface="华文楷体" panose="02010600040101010101" pitchFamily="2" charset="-122"/>
                <a:ea typeface="华文楷体" panose="02010600040101010101" pitchFamily="2" charset="-122"/>
              </a:rPr>
              <a:t>字符串表示内置模型或函数表达式，如“</a:t>
            </a:r>
            <a:r>
              <a:rPr lang="en-US" altLang="zh-CN" dirty="0">
                <a:solidFill>
                  <a:srgbClr val="002060"/>
                </a:solidFill>
                <a:latin typeface="华文楷体" panose="02010600040101010101" pitchFamily="2" charset="-122"/>
                <a:ea typeface="华文楷体" panose="02010600040101010101" pitchFamily="2" charset="-122"/>
              </a:rPr>
              <a:t>poly1</a:t>
            </a:r>
            <a:r>
              <a:rPr lang="zh-CN" altLang="en-US" dirty="0">
                <a:solidFill>
                  <a:srgbClr val="002060"/>
                </a:solidFill>
                <a:latin typeface="华文楷体" panose="02010600040101010101" pitchFamily="2" charset="-122"/>
                <a:ea typeface="华文楷体" panose="02010600040101010101" pitchFamily="2" charset="-122"/>
              </a:rPr>
              <a:t>”</a:t>
            </a:r>
            <a:endParaRPr lang="en-US" altLang="zh-CN" dirty="0">
              <a:solidFill>
                <a:srgbClr val="002060"/>
              </a:solidFill>
              <a:latin typeface="华文楷体" panose="02010600040101010101" pitchFamily="2" charset="-122"/>
              <a:ea typeface="华文楷体" panose="02010600040101010101" pitchFamily="2" charset="-122"/>
            </a:endParaRPr>
          </a:p>
          <a:p>
            <a:pPr marL="342900" indent="-342900">
              <a:lnSpc>
                <a:spcPts val="2400"/>
              </a:lnSpc>
              <a:buFont typeface="Wingdings" panose="05000000000000000000" pitchFamily="2" charset="2"/>
              <a:buChar char="p"/>
            </a:pPr>
            <a:r>
              <a:rPr lang="zh-CN" altLang="en-US" dirty="0">
                <a:solidFill>
                  <a:srgbClr val="002060"/>
                </a:solidFill>
                <a:latin typeface="华文楷体" panose="02010600040101010101" pitchFamily="2" charset="-122"/>
                <a:ea typeface="华文楷体" panose="02010600040101010101" pitchFamily="2" charset="-122"/>
              </a:rPr>
              <a:t>内置模型名称构成</a:t>
            </a:r>
            <a:r>
              <a:rPr lang="en-US" altLang="zh-CN" sz="1600" dirty="0">
                <a:solidFill>
                  <a:srgbClr val="002060"/>
                </a:solidFill>
                <a:latin typeface="华文楷体" panose="02010600040101010101" pitchFamily="2" charset="-122"/>
                <a:ea typeface="华文楷体" panose="02010600040101010101" pitchFamily="2" charset="-122"/>
              </a:rPr>
              <a:t>:</a:t>
            </a:r>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内置模型名称</a:t>
            </a:r>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模型阶数</a:t>
            </a:r>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 </a:t>
            </a:r>
            <a:endParaRPr lang="en-US" altLang="zh-CN" sz="1600" b="1" dirty="0">
              <a:solidFill>
                <a:srgbClr val="00B0F0"/>
              </a:solidFill>
              <a:latin typeface="微软雅黑" panose="020B0503020204020204" pitchFamily="34" charset="-122"/>
              <a:ea typeface="微软雅黑" panose="020B0503020204020204" pitchFamily="34" charset="-122"/>
            </a:endParaRPr>
          </a:p>
          <a:p>
            <a:pPr marL="342900" indent="-342900">
              <a:lnSpc>
                <a:spcPts val="2400"/>
              </a:lnSpc>
              <a:buFont typeface="Wingdings" panose="05000000000000000000" pitchFamily="2" charset="2"/>
              <a:buChar char="p"/>
            </a:pPr>
            <a:r>
              <a:rPr lang="zh-CN" altLang="en-US" dirty="0">
                <a:solidFill>
                  <a:srgbClr val="002060"/>
                </a:solidFill>
                <a:latin typeface="华文楷体" panose="02010600040101010101" pitchFamily="2" charset="-122"/>
                <a:ea typeface="华文楷体" panose="02010600040101010101" pitchFamily="2" charset="-122"/>
              </a:rPr>
              <a:t>内置模型也可指定数学函数如“</a:t>
            </a:r>
            <a:r>
              <a:rPr lang="en-US" altLang="zh-CN" dirty="0">
                <a:solidFill>
                  <a:srgbClr val="002060"/>
                </a:solidFill>
                <a:latin typeface="华文楷体" panose="02010600040101010101" pitchFamily="2" charset="-122"/>
                <a:ea typeface="华文楷体" panose="02010600040101010101" pitchFamily="2" charset="-122"/>
              </a:rPr>
              <a:t>exp</a:t>
            </a:r>
            <a:r>
              <a:rPr lang="zh-CN" altLang="en-US" dirty="0">
                <a:solidFill>
                  <a:srgbClr val="002060"/>
                </a:solidFill>
                <a:latin typeface="华文楷体" panose="02010600040101010101" pitchFamily="2" charset="-122"/>
                <a:ea typeface="华文楷体" panose="02010600040101010101" pitchFamily="2" charset="-122"/>
              </a:rPr>
              <a:t>” 模型</a:t>
            </a:r>
            <a:endParaRPr lang="en-US" altLang="zh-CN" dirty="0">
              <a:solidFill>
                <a:srgbClr val="002060"/>
              </a:solidFill>
              <a:latin typeface="华文楷体" panose="02010600040101010101" pitchFamily="2" charset="-122"/>
              <a:ea typeface="华文楷体" panose="02010600040101010101" pitchFamily="2" charset="-122"/>
            </a:endParaRPr>
          </a:p>
          <a:p>
            <a:pPr marL="342900" indent="-342900">
              <a:lnSpc>
                <a:spcPts val="2400"/>
              </a:lnSpc>
              <a:buFont typeface="Wingdings" panose="05000000000000000000" pitchFamily="2" charset="2"/>
              <a:buChar char="p"/>
            </a:pPr>
            <a:r>
              <a:rPr lang="zh-CN" altLang="en-US" dirty="0">
                <a:solidFill>
                  <a:srgbClr val="002060"/>
                </a:solidFill>
                <a:latin typeface="华文楷体" panose="02010600040101010101" pitchFamily="2" charset="-122"/>
                <a:ea typeface="华文楷体" panose="02010600040101010101" pitchFamily="2" charset="-122"/>
              </a:rPr>
              <a:t>也可用</a:t>
            </a:r>
            <a:r>
              <a:rPr lang="en-US" altLang="zh-CN" dirty="0" err="1">
                <a:solidFill>
                  <a:srgbClr val="002060"/>
                </a:solidFill>
                <a:latin typeface="华文楷体" panose="02010600040101010101" pitchFamily="2" charset="-122"/>
                <a:ea typeface="华文楷体" panose="02010600040101010101" pitchFamily="2" charset="-122"/>
              </a:rPr>
              <a:t>fittype</a:t>
            </a:r>
            <a:r>
              <a:rPr lang="zh-CN" altLang="en-US" dirty="0">
                <a:solidFill>
                  <a:srgbClr val="002060"/>
                </a:solidFill>
                <a:latin typeface="华文楷体" panose="02010600040101010101" pitchFamily="2" charset="-122"/>
                <a:ea typeface="华文楷体" panose="02010600040101010101" pitchFamily="2" charset="-122"/>
              </a:rPr>
              <a:t>自定义拟合模型</a:t>
            </a:r>
            <a:endParaRPr lang="en-US" altLang="zh-CN" dirty="0">
              <a:solidFill>
                <a:srgbClr val="002060"/>
              </a:solidFill>
              <a:latin typeface="华文楷体" panose="02010600040101010101" pitchFamily="2" charset="-122"/>
              <a:ea typeface="华文楷体" panose="02010600040101010101" pitchFamily="2" charset="-122"/>
            </a:endParaRPr>
          </a:p>
        </p:txBody>
      </p:sp>
      <p:sp>
        <p:nvSpPr>
          <p:cNvPr id="17" name="Text Box 3"/>
          <p:cNvSpPr txBox="1"/>
          <p:nvPr/>
        </p:nvSpPr>
        <p:spPr bwMode="auto">
          <a:xfrm>
            <a:off x="122099" y="2162617"/>
            <a:ext cx="3092449"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lvl="0" indent="0" eaLnBrk="0" hangingPunct="0">
              <a:lnSpc>
                <a:spcPct val="100000"/>
              </a:lnSpc>
              <a:defRPr kumimoji="0" sz="16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pPr algn="dist"/>
            <a:r>
              <a:rPr lang="zh-CN" altLang="zh-CN" sz="1400" b="1" dirty="0"/>
              <a:t>fitobject=fit(fitType,[x y],</a:t>
            </a:r>
            <a:r>
              <a:rPr lang="zh-CN" altLang="zh-CN" sz="1400" b="1" dirty="0">
                <a:highlight>
                  <a:srgbClr val="FF0000"/>
                </a:highlight>
              </a:rPr>
              <a:t>z</a:t>
            </a:r>
            <a:r>
              <a:rPr lang="zh-CN" altLang="zh-CN" sz="1400" b="1" dirty="0"/>
              <a:t>) </a:t>
            </a:r>
          </a:p>
        </p:txBody>
      </p:sp>
      <p:sp>
        <p:nvSpPr>
          <p:cNvPr id="12" name="Text Box 3"/>
          <p:cNvSpPr txBox="1"/>
          <p:nvPr/>
        </p:nvSpPr>
        <p:spPr bwMode="auto">
          <a:xfrm>
            <a:off x="140019" y="1670261"/>
            <a:ext cx="5190124"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pPr algn="dist"/>
            <a:r>
              <a:rPr lang="zh-CN" altLang="zh-CN" sz="1400" b="1" dirty="0"/>
              <a:t>fitobject= </a:t>
            </a:r>
            <a:r>
              <a:rPr lang="en-US" altLang="zh-CN" sz="1400" b="1" dirty="0" err="1">
                <a:highlight>
                  <a:srgbClr val="FF0000"/>
                </a:highlight>
              </a:rPr>
              <a:t>TyCurveFitting</a:t>
            </a:r>
            <a:r>
              <a:rPr lang="en-US" altLang="zh-CN" sz="1400" b="1" dirty="0" err="1"/>
              <a:t>.fit</a:t>
            </a:r>
            <a:r>
              <a:rPr lang="en-US" altLang="zh-CN" sz="1400" b="1" dirty="0"/>
              <a:t>(</a:t>
            </a:r>
            <a:r>
              <a:rPr lang="zh-CN" altLang="zh-CN" sz="1400" b="1" dirty="0"/>
              <a:t>(fitType,x,y</a:t>
            </a:r>
            <a:r>
              <a:rPr lang="en-US" altLang="zh-CN" sz="1400" b="1" dirty="0"/>
              <a:t>)</a:t>
            </a:r>
            <a:endParaRPr lang="zh-CN" altLang="zh-CN" sz="1400" b="1" dirty="0"/>
          </a:p>
        </p:txBody>
      </p:sp>
      <p:sp>
        <p:nvSpPr>
          <p:cNvPr id="22" name="内容占位符 1"/>
          <p:cNvSpPr txBox="1"/>
          <p:nvPr/>
        </p:nvSpPr>
        <p:spPr>
          <a:xfrm>
            <a:off x="5351937" y="1631355"/>
            <a:ext cx="3610483" cy="385170"/>
          </a:xfrm>
          <a:prstGeom prst="rect">
            <a:avLst/>
          </a:prstGeom>
          <a:noFill/>
        </p:spPr>
        <p:txBody>
          <a:bodyPr wrap="square">
            <a:spAutoFit/>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buNone/>
            </a:pPr>
            <a:r>
              <a:rPr lang="zh-CN" altLang="en-US" sz="1800" b="0" dirty="0">
                <a:solidFill>
                  <a:srgbClr val="002060"/>
                </a:solidFill>
                <a:latin typeface="华文楷体" panose="02010600040101010101" pitchFamily="2" charset="-122"/>
                <a:ea typeface="华文楷体" panose="02010600040101010101" pitchFamily="2" charset="-122"/>
              </a:rPr>
              <a:t>两库同时加载，要指明是拟合库</a:t>
            </a:r>
          </a:p>
        </p:txBody>
      </p:sp>
      <p:sp>
        <p:nvSpPr>
          <p:cNvPr id="19" name="文本框 18"/>
          <p:cNvSpPr txBox="1"/>
          <p:nvPr/>
        </p:nvSpPr>
        <p:spPr>
          <a:xfrm>
            <a:off x="6228184" y="3040305"/>
            <a:ext cx="2660018" cy="338554"/>
          </a:xfrm>
          <a:prstGeom prst="rect">
            <a:avLst/>
          </a:prstGeom>
          <a:solidFill>
            <a:schemeClr val="bg1"/>
          </a:solidFill>
        </p:spPr>
        <p:txBody>
          <a:bodyPr wrap="square">
            <a:spAutoFit/>
          </a:bodyPr>
          <a:lstStyle/>
          <a:p>
            <a:pPr marL="342900" indent="-342900">
              <a:buFont typeface="Wingdings" panose="05000000000000000000" pitchFamily="2" charset="2"/>
              <a:buChar char="p"/>
            </a:pPr>
            <a:r>
              <a:rPr lang="zh-CN" altLang="en-US" sz="1600" b="1" dirty="0">
                <a:solidFill>
                  <a:srgbClr val="00B0F0"/>
                </a:solidFill>
                <a:latin typeface="微软雅黑" panose="020B0503020204020204" pitchFamily="34" charset="-122"/>
                <a:ea typeface="微软雅黑" panose="020B0503020204020204" pitchFamily="34" charset="-122"/>
              </a:rPr>
              <a:t>内置拟合模型和方程</a:t>
            </a:r>
            <a:endParaRPr lang="zh-CN" altLang="en-US" sz="1600" b="1" dirty="0">
              <a:solidFill>
                <a:srgbClr val="00B0F0"/>
              </a:solidFill>
              <a:latin typeface="华文楷体" panose="02010600040101010101" pitchFamily="2" charset="-122"/>
              <a:ea typeface="华文楷体" panose="02010600040101010101" pitchFamily="2" charset="-122"/>
            </a:endParaRPr>
          </a:p>
        </p:txBody>
      </p:sp>
      <p:sp>
        <p:nvSpPr>
          <p:cNvPr id="23" name="文本框 22"/>
          <p:cNvSpPr txBox="1"/>
          <p:nvPr/>
        </p:nvSpPr>
        <p:spPr>
          <a:xfrm>
            <a:off x="30894" y="3005495"/>
            <a:ext cx="5876260" cy="369332"/>
          </a:xfrm>
          <a:prstGeom prst="rect">
            <a:avLst/>
          </a:prstGeom>
          <a:noFill/>
        </p:spPr>
        <p:txBody>
          <a:bodyPr wrap="square">
            <a:spAutoFit/>
          </a:bodyPr>
          <a:lstStyle/>
          <a:p>
            <a:r>
              <a:rPr lang="en-US" altLang="zh-CN" b="1" dirty="0" err="1">
                <a:solidFill>
                  <a:srgbClr val="0070C0"/>
                </a:solidFill>
                <a:latin typeface="微软雅黑" panose="020B0503020204020204" pitchFamily="34" charset="-122"/>
                <a:ea typeface="微软雅黑" panose="020B0503020204020204" pitchFamily="34" charset="-122"/>
              </a:rPr>
              <a:t>fitType</a:t>
            </a:r>
            <a:r>
              <a:rPr lang="zh-CN" altLang="en-US" b="1" dirty="0">
                <a:solidFill>
                  <a:srgbClr val="0070C0"/>
                </a:solidFill>
                <a:latin typeface="微软雅黑" panose="020B0503020204020204" pitchFamily="34" charset="-122"/>
                <a:ea typeface="微软雅黑" panose="020B0503020204020204" pitchFamily="34" charset="-122"/>
              </a:rPr>
              <a:t>：</a:t>
            </a:r>
            <a:r>
              <a:rPr lang="zh-CN" altLang="en-US" sz="1600" b="1" i="0" dirty="0">
                <a:solidFill>
                  <a:srgbClr val="00B0F0"/>
                </a:solidFill>
                <a:effectLst/>
                <a:latin typeface="微软雅黑" panose="020B0503020204020204" pitchFamily="34" charset="-122"/>
                <a:ea typeface="微软雅黑" panose="020B0503020204020204" pitchFamily="34" charset="-122"/>
              </a:rPr>
              <a:t>指定的拟合模型，可用内置模型，也可自定义模型</a:t>
            </a:r>
            <a:endParaRPr lang="zh-CN" altLang="en-US" sz="1600" dirty="0"/>
          </a:p>
        </p:txBody>
      </p:sp>
      <p:graphicFrame>
        <p:nvGraphicFramePr>
          <p:cNvPr id="24" name="表格 8">
            <a:extLst>
              <a:ext uri="{FF2B5EF4-FFF2-40B4-BE49-F238E27FC236}">
                <a16:creationId xmlns:a16="http://schemas.microsoft.com/office/drawing/2014/main" id="{06739937-423C-4A61-B18A-2215B1144657}"/>
              </a:ext>
            </a:extLst>
          </p:cNvPr>
          <p:cNvGraphicFramePr>
            <a:graphicFrameLocks noGrp="1"/>
          </p:cNvGraphicFramePr>
          <p:nvPr>
            <p:extLst>
              <p:ext uri="{D42A27DB-BD31-4B8C-83A1-F6EECF244321}">
                <p14:modId xmlns:p14="http://schemas.microsoft.com/office/powerpoint/2010/main" val="211501040"/>
              </p:ext>
            </p:extLst>
          </p:nvPr>
        </p:nvGraphicFramePr>
        <p:xfrm>
          <a:off x="6297085" y="3452152"/>
          <a:ext cx="2548983" cy="1063814"/>
        </p:xfrm>
        <a:graphic>
          <a:graphicData uri="http://schemas.openxmlformats.org/drawingml/2006/table">
            <a:tbl>
              <a:tblPr firstRow="1" bandRow="1">
                <a:tableStyleId>{68D230F3-CF80-4859-8CE7-A43EE81993B5}</a:tableStyleId>
              </a:tblPr>
              <a:tblGrid>
                <a:gridCol w="1078949">
                  <a:extLst>
                    <a:ext uri="{9D8B030D-6E8A-4147-A177-3AD203B41FA5}">
                      <a16:colId xmlns:a16="http://schemas.microsoft.com/office/drawing/2014/main" val="1687736966"/>
                    </a:ext>
                  </a:extLst>
                </a:gridCol>
                <a:gridCol w="1470034">
                  <a:extLst>
                    <a:ext uri="{9D8B030D-6E8A-4147-A177-3AD203B41FA5}">
                      <a16:colId xmlns:a16="http://schemas.microsoft.com/office/drawing/2014/main" val="521721518"/>
                    </a:ext>
                  </a:extLst>
                </a:gridCol>
              </a:tblGrid>
              <a:tr h="191841">
                <a:tc>
                  <a:txBody>
                    <a:bodyPr/>
                    <a:lstStyle/>
                    <a:p>
                      <a:pPr algn="l"/>
                      <a:r>
                        <a:rPr kumimoji="0" lang="zh-CN" altLang="zh-CN" sz="10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多项式模型名称</a:t>
                      </a:r>
                      <a:endParaRPr lang="zh-CN" altLang="en-US" sz="1000" b="1" dirty="0">
                        <a:solidFill>
                          <a:schemeClr val="bg1"/>
                        </a:solidFill>
                        <a:effectLst/>
                      </a:endParaRPr>
                    </a:p>
                  </a:txBody>
                  <a:tcPr marL="66368" marR="66368" marT="33184" marB="33184" anchor="ctr">
                    <a:solidFill>
                      <a:srgbClr val="0070C0"/>
                    </a:solidFill>
                  </a:tcPr>
                </a:tc>
                <a:tc>
                  <a:txBody>
                    <a:bodyPr/>
                    <a:lstStyle/>
                    <a:p>
                      <a:pPr algn="l"/>
                      <a:r>
                        <a:rPr lang="zh-CN" altLang="en-US" sz="1000" b="1" dirty="0">
                          <a:solidFill>
                            <a:schemeClr val="bg1"/>
                          </a:solidFill>
                          <a:effectLst/>
                        </a:rPr>
                        <a:t>方程</a:t>
                      </a:r>
                    </a:p>
                  </a:txBody>
                  <a:tcPr marL="66368" marR="66368" marT="33184" marB="33184" anchor="ctr">
                    <a:solidFill>
                      <a:srgbClr val="0070C0"/>
                    </a:solidFill>
                  </a:tcPr>
                </a:tc>
                <a:extLst>
                  <a:ext uri="{0D108BD9-81ED-4DB2-BD59-A6C34878D82A}">
                    <a16:rowId xmlns:a16="http://schemas.microsoft.com/office/drawing/2014/main" val="607840803"/>
                  </a:ext>
                </a:extLst>
              </a:tr>
              <a:tr h="281682">
                <a:tc>
                  <a:txBody>
                    <a:bodyPr/>
                    <a:lstStyle/>
                    <a:p>
                      <a:pPr algn="l"/>
                      <a:r>
                        <a:rPr lang="en-US" sz="1000" b="1" dirty="0">
                          <a:effectLst/>
                        </a:rPr>
                        <a:t>poly1 </a:t>
                      </a:r>
                      <a:endParaRPr lang="zh-CN" altLang="en-US" sz="1000" b="1" dirty="0">
                        <a:effectLst/>
                      </a:endParaRPr>
                    </a:p>
                  </a:txBody>
                  <a:tcPr anchor="ctr"/>
                </a:tc>
                <a:tc>
                  <a:txBody>
                    <a:bodyPr/>
                    <a:lstStyle/>
                    <a:p>
                      <a:pPr algn="l"/>
                      <a:r>
                        <a:rPr lang="en-US" sz="1000" b="1">
                          <a:effectLst/>
                        </a:rPr>
                        <a:t>Y = p1*x+p2</a:t>
                      </a:r>
                    </a:p>
                  </a:txBody>
                  <a:tcPr anchor="ctr"/>
                </a:tc>
                <a:extLst>
                  <a:ext uri="{0D108BD9-81ED-4DB2-BD59-A6C34878D82A}">
                    <a16:rowId xmlns:a16="http://schemas.microsoft.com/office/drawing/2014/main" val="68534230"/>
                  </a:ext>
                </a:extLst>
              </a:tr>
              <a:tr h="281682">
                <a:tc>
                  <a:txBody>
                    <a:bodyPr/>
                    <a:lstStyle/>
                    <a:p>
                      <a:pPr algn="l"/>
                      <a:r>
                        <a:rPr lang="en-US" sz="1000" b="1" dirty="0">
                          <a:effectLst/>
                        </a:rPr>
                        <a:t>poly9</a:t>
                      </a:r>
                    </a:p>
                  </a:txBody>
                  <a:tcPr anchor="ctr"/>
                </a:tc>
                <a:tc>
                  <a:txBody>
                    <a:bodyPr/>
                    <a:lstStyle/>
                    <a:p>
                      <a:pPr algn="l"/>
                      <a:r>
                        <a:rPr lang="es-ES" sz="1000" b="1" dirty="0">
                          <a:effectLst/>
                        </a:rPr>
                        <a:t>Y = p1*x^9+...+p10</a:t>
                      </a:r>
                    </a:p>
                  </a:txBody>
                  <a:tcPr anchor="ctr"/>
                </a:tc>
                <a:extLst>
                  <a:ext uri="{0D108BD9-81ED-4DB2-BD59-A6C34878D82A}">
                    <a16:rowId xmlns:a16="http://schemas.microsoft.com/office/drawing/2014/main" val="2663170019"/>
                  </a:ext>
                </a:extLst>
              </a:tr>
              <a:tr h="281682">
                <a:tc>
                  <a:txBody>
                    <a:bodyPr/>
                    <a:lstStyle/>
                    <a:p>
                      <a:pPr algn="l"/>
                      <a:r>
                        <a:rPr lang="en-US" sz="1000" b="1">
                          <a:effectLst/>
                        </a:rPr>
                        <a:t>[“poly”，10]</a:t>
                      </a:r>
                    </a:p>
                  </a:txBody>
                  <a:tcPr anchor="ctr"/>
                </a:tc>
                <a:tc>
                  <a:txBody>
                    <a:bodyPr/>
                    <a:lstStyle/>
                    <a:p>
                      <a:pPr algn="l"/>
                      <a:r>
                        <a:rPr lang="es-ES" sz="1000" b="1" dirty="0">
                          <a:effectLst/>
                        </a:rPr>
                        <a:t>Y = p1*x^10+...+p11</a:t>
                      </a:r>
                    </a:p>
                  </a:txBody>
                  <a:tcPr anchor="ctr"/>
                </a:tc>
                <a:extLst>
                  <a:ext uri="{0D108BD9-81ED-4DB2-BD59-A6C34878D82A}">
                    <a16:rowId xmlns:a16="http://schemas.microsoft.com/office/drawing/2014/main" val="1559477667"/>
                  </a:ext>
                </a:extLst>
              </a:tr>
            </a:tbl>
          </a:graphicData>
        </a:graphic>
      </p:graphicFrame>
      <p:sp>
        <p:nvSpPr>
          <p:cNvPr id="20" name="文本框 19">
            <a:extLst>
              <a:ext uri="{FF2B5EF4-FFF2-40B4-BE49-F238E27FC236}">
                <a16:creationId xmlns:a16="http://schemas.microsoft.com/office/drawing/2014/main" id="{49CEE493-8FA4-4535-BBC1-1B0398A4BB78}"/>
              </a:ext>
            </a:extLst>
          </p:cNvPr>
          <p:cNvSpPr txBox="1"/>
          <p:nvPr/>
        </p:nvSpPr>
        <p:spPr>
          <a:xfrm>
            <a:off x="20509" y="2579112"/>
            <a:ext cx="8507897" cy="369332"/>
          </a:xfrm>
          <a:prstGeom prst="rect">
            <a:avLst/>
          </a:prstGeom>
          <a:no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r>
              <a:rPr lang="en-US" altLang="zh-CN" dirty="0"/>
              <a:t>f</a:t>
            </a:r>
            <a:r>
              <a:rPr lang="zh-CN" altLang="zh-CN" dirty="0"/>
              <a:t>itobject</a:t>
            </a:r>
            <a:r>
              <a:rPr lang="en-US" altLang="zh-CN" dirty="0"/>
              <a:t>:</a:t>
            </a:r>
            <a:r>
              <a:rPr lang="zh-CN" altLang="en-US" sz="1600" dirty="0">
                <a:solidFill>
                  <a:srgbClr val="00B0F0"/>
                </a:solidFill>
              </a:rPr>
              <a:t>拟合结果，对拟合结果</a:t>
            </a:r>
            <a:r>
              <a:rPr lang="en-US" altLang="zh-CN" sz="1600" dirty="0"/>
              <a:t>f</a:t>
            </a:r>
            <a:r>
              <a:rPr lang="zh-CN" altLang="zh-CN" sz="1600" dirty="0"/>
              <a:t>itobject</a:t>
            </a:r>
            <a:r>
              <a:rPr lang="zh-CN" altLang="en-US" sz="1600" dirty="0"/>
              <a:t>进行</a:t>
            </a:r>
            <a:r>
              <a:rPr lang="zh-CN" altLang="en-US" sz="1600" dirty="0">
                <a:solidFill>
                  <a:srgbClr val="00B0F0"/>
                </a:solidFill>
              </a:rPr>
              <a:t>绘图、求值、计算信赖区间、积分、微分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animBg="1"/>
      <p:bldP spid="16" grpId="0" animBg="1"/>
      <p:bldP spid="17" grpId="0" animBg="1"/>
      <p:bldP spid="12" grpId="0" animBg="1"/>
      <p:bldP spid="22" grpId="0"/>
      <p:bldP spid="19" grpId="0" animBg="1"/>
      <p:bldP spid="23"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B89E5AF-D33F-4C16-BBB5-22F87601B847}"/>
              </a:ext>
            </a:extLst>
          </p:cNvPr>
          <p:cNvPicPr>
            <a:picLocks noChangeAspect="1"/>
          </p:cNvPicPr>
          <p:nvPr/>
        </p:nvPicPr>
        <p:blipFill rotWithShape="1">
          <a:blip r:embed="rId2"/>
          <a:srcRect l="1355"/>
          <a:stretch/>
        </p:blipFill>
        <p:spPr>
          <a:xfrm>
            <a:off x="520262" y="2139702"/>
            <a:ext cx="8416820" cy="2452813"/>
          </a:xfrm>
          <a:prstGeom prst="rect">
            <a:avLst/>
          </a:prstGeom>
          <a:ln>
            <a:solidFill>
              <a:schemeClr val="bg1">
                <a:lumMod val="50000"/>
              </a:schemeClr>
            </a:solidFill>
          </a:ln>
        </p:spPr>
      </p:pic>
      <p:sp>
        <p:nvSpPr>
          <p:cNvPr id="5" name="文本框 4">
            <a:extLst>
              <a:ext uri="{FF2B5EF4-FFF2-40B4-BE49-F238E27FC236}">
                <a16:creationId xmlns:a16="http://schemas.microsoft.com/office/drawing/2014/main" id="{78F6AEEE-A821-4F49-98B8-7188D3F6AFC7}"/>
              </a:ext>
            </a:extLst>
          </p:cNvPr>
          <p:cNvSpPr txBox="1"/>
          <p:nvPr/>
        </p:nvSpPr>
        <p:spPr>
          <a:xfrm>
            <a:off x="1080807" y="120815"/>
            <a:ext cx="7776864" cy="567463"/>
          </a:xfrm>
          <a:prstGeom prst="rect">
            <a:avLst/>
          </a:prstGeom>
          <a:noFill/>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 </a:t>
            </a:r>
            <a:r>
              <a:rPr lang="en-US" altLang="zh-CN" sz="2800" kern="0" dirty="0" err="1">
                <a:solidFill>
                  <a:srgbClr val="FF0000"/>
                </a:solidFill>
                <a:latin typeface="华文楷体" panose="02010600040101010101" pitchFamily="2" charset="-122"/>
                <a:ea typeface="华文楷体" panose="02010600040101010101" pitchFamily="2" charset="-122"/>
              </a:rPr>
              <a:t>syslab</a:t>
            </a:r>
            <a:r>
              <a:rPr lang="zh-CN" altLang="en-US" sz="2800" kern="0" dirty="0">
                <a:solidFill>
                  <a:srgbClr val="FF0000"/>
                </a:solidFill>
                <a:latin typeface="华文楷体" panose="02010600040101010101" pitchFamily="2" charset="-122"/>
                <a:ea typeface="华文楷体" panose="02010600040101010101" pitchFamily="2" charset="-122"/>
              </a:rPr>
              <a:t>常见内置模型</a:t>
            </a:r>
            <a:endParaRPr lang="en-US" altLang="zh-CN" sz="2800" dirty="0">
              <a:solidFill>
                <a:srgbClr val="FF0000"/>
              </a:solidFill>
              <a:latin typeface="华文楷体" panose="02010600040101010101" pitchFamily="2" charset="-122"/>
              <a:ea typeface="华文楷体" panose="02010600040101010101" pitchFamily="2" charset="-122"/>
            </a:endParaRPr>
          </a:p>
        </p:txBody>
      </p:sp>
      <p:graphicFrame>
        <p:nvGraphicFramePr>
          <p:cNvPr id="6" name="表格 5">
            <a:extLst>
              <a:ext uri="{FF2B5EF4-FFF2-40B4-BE49-F238E27FC236}">
                <a16:creationId xmlns:a16="http://schemas.microsoft.com/office/drawing/2014/main" id="{54934F83-3787-45D9-A29B-9DFB48C69274}"/>
              </a:ext>
            </a:extLst>
          </p:cNvPr>
          <p:cNvGraphicFramePr>
            <a:graphicFrameLocks noGrp="1"/>
          </p:cNvGraphicFramePr>
          <p:nvPr>
            <p:extLst>
              <p:ext uri="{D42A27DB-BD31-4B8C-83A1-F6EECF244321}">
                <p14:modId xmlns:p14="http://schemas.microsoft.com/office/powerpoint/2010/main" val="1566100705"/>
              </p:ext>
            </p:extLst>
          </p:nvPr>
        </p:nvGraphicFramePr>
        <p:xfrm>
          <a:off x="467544" y="801689"/>
          <a:ext cx="8568952" cy="1057952"/>
        </p:xfrm>
        <a:graphic>
          <a:graphicData uri="http://schemas.openxmlformats.org/drawingml/2006/table">
            <a:tbl>
              <a:tblPr/>
              <a:tblGrid>
                <a:gridCol w="2460924">
                  <a:extLst>
                    <a:ext uri="{9D8B030D-6E8A-4147-A177-3AD203B41FA5}">
                      <a16:colId xmlns:a16="http://schemas.microsoft.com/office/drawing/2014/main" val="340290902"/>
                    </a:ext>
                  </a:extLst>
                </a:gridCol>
                <a:gridCol w="6108028">
                  <a:extLst>
                    <a:ext uri="{9D8B030D-6E8A-4147-A177-3AD203B41FA5}">
                      <a16:colId xmlns:a16="http://schemas.microsoft.com/office/drawing/2014/main" val="958745318"/>
                    </a:ext>
                  </a:extLst>
                </a:gridCol>
              </a:tblGrid>
              <a:tr h="226491">
                <a:tc>
                  <a:txBody>
                    <a:bodyPr/>
                    <a:lstStyle/>
                    <a:p>
                      <a:pPr algn="l"/>
                      <a:endParaRPr lang="zh-CN" altLang="en-US" sz="130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6F8FA"/>
                    </a:solidFill>
                  </a:tcPr>
                </a:tc>
                <a:tc>
                  <a:txBody>
                    <a:bodyPr/>
                    <a:lstStyle/>
                    <a:p>
                      <a:pPr algn="l"/>
                      <a:endParaRPr lang="zh-CN" altLang="en-US" sz="1300" dirty="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6F8FA"/>
                    </a:solidFill>
                  </a:tcPr>
                </a:tc>
                <a:extLst>
                  <a:ext uri="{0D108BD9-81ED-4DB2-BD59-A6C34878D82A}">
                    <a16:rowId xmlns:a16="http://schemas.microsoft.com/office/drawing/2014/main" val="3420273475"/>
                  </a:ext>
                </a:extLst>
              </a:tr>
              <a:tr h="226491">
                <a:tc>
                  <a:txBody>
                    <a:bodyPr/>
                    <a:lstStyle/>
                    <a:p>
                      <a:pPr algn="l"/>
                      <a:endParaRPr lang="en-US" sz="130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FFFFF"/>
                    </a:solidFill>
                  </a:tcPr>
                </a:tc>
                <a:tc>
                  <a:txBody>
                    <a:bodyPr/>
                    <a:lstStyle/>
                    <a:p>
                      <a:pPr algn="l"/>
                      <a:endParaRPr lang="es-ES" sz="130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4183525740"/>
                  </a:ext>
                </a:extLst>
              </a:tr>
              <a:tr h="226491">
                <a:tc>
                  <a:txBody>
                    <a:bodyPr/>
                    <a:lstStyle/>
                    <a:p>
                      <a:pPr algn="l"/>
                      <a:endParaRPr lang="en-US" sz="130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FFFFF"/>
                    </a:solidFill>
                  </a:tcPr>
                </a:tc>
                <a:tc>
                  <a:txBody>
                    <a:bodyPr/>
                    <a:lstStyle/>
                    <a:p>
                      <a:pPr algn="l"/>
                      <a:endParaRPr lang="es-ES" sz="1300" dirty="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1128997878"/>
                  </a:ext>
                </a:extLst>
              </a:tr>
              <a:tr h="226491">
                <a:tc>
                  <a:txBody>
                    <a:bodyPr/>
                    <a:lstStyle/>
                    <a:p>
                      <a:pPr algn="l"/>
                      <a:endParaRPr lang="en-US" sz="130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FFFFF"/>
                    </a:solidFill>
                  </a:tcPr>
                </a:tc>
                <a:tc>
                  <a:txBody>
                    <a:bodyPr/>
                    <a:lstStyle/>
                    <a:p>
                      <a:pPr algn="l"/>
                      <a:endParaRPr lang="es-ES" sz="1300" dirty="0">
                        <a:effectLst/>
                      </a:endParaRPr>
                    </a:p>
                  </a:txBody>
                  <a:tcPr marL="66368" marR="66368" marT="33184" marB="33184"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FFFFFF"/>
                    </a:solidFill>
                  </a:tcPr>
                </a:tc>
                <a:extLst>
                  <a:ext uri="{0D108BD9-81ED-4DB2-BD59-A6C34878D82A}">
                    <a16:rowId xmlns:a16="http://schemas.microsoft.com/office/drawing/2014/main" val="3461284437"/>
                  </a:ext>
                </a:extLst>
              </a:tr>
            </a:tbl>
          </a:graphicData>
        </a:graphic>
      </p:graphicFrame>
      <p:graphicFrame>
        <p:nvGraphicFramePr>
          <p:cNvPr id="8" name="表格 8">
            <a:extLst>
              <a:ext uri="{FF2B5EF4-FFF2-40B4-BE49-F238E27FC236}">
                <a16:creationId xmlns:a16="http://schemas.microsoft.com/office/drawing/2014/main" id="{FEFC7EFF-42E2-459D-AE7A-60109B092F03}"/>
              </a:ext>
            </a:extLst>
          </p:cNvPr>
          <p:cNvGraphicFramePr>
            <a:graphicFrameLocks noGrp="1"/>
          </p:cNvGraphicFramePr>
          <p:nvPr>
            <p:extLst>
              <p:ext uri="{D42A27DB-BD31-4B8C-83A1-F6EECF244321}">
                <p14:modId xmlns:p14="http://schemas.microsoft.com/office/powerpoint/2010/main" val="3717973562"/>
              </p:ext>
            </p:extLst>
          </p:nvPr>
        </p:nvGraphicFramePr>
        <p:xfrm>
          <a:off x="479546" y="771550"/>
          <a:ext cx="8457536" cy="1284880"/>
        </p:xfrm>
        <a:graphic>
          <a:graphicData uri="http://schemas.openxmlformats.org/drawingml/2006/table">
            <a:tbl>
              <a:tblPr firstRow="1" bandRow="1">
                <a:tableStyleId>{68D230F3-CF80-4859-8CE7-A43EE81993B5}</a:tableStyleId>
              </a:tblPr>
              <a:tblGrid>
                <a:gridCol w="1915252">
                  <a:extLst>
                    <a:ext uri="{9D8B030D-6E8A-4147-A177-3AD203B41FA5}">
                      <a16:colId xmlns:a16="http://schemas.microsoft.com/office/drawing/2014/main" val="1687736966"/>
                    </a:ext>
                  </a:extLst>
                </a:gridCol>
                <a:gridCol w="6542284">
                  <a:extLst>
                    <a:ext uri="{9D8B030D-6E8A-4147-A177-3AD203B41FA5}">
                      <a16:colId xmlns:a16="http://schemas.microsoft.com/office/drawing/2014/main" val="521721518"/>
                    </a:ext>
                  </a:extLst>
                </a:gridCol>
              </a:tblGrid>
              <a:tr h="321220">
                <a:tc>
                  <a:txBody>
                    <a:bodyPr/>
                    <a:lstStyle/>
                    <a:p>
                      <a:pPr algn="l"/>
                      <a:r>
                        <a:rPr lang="zh-CN" altLang="en-US" sz="1200" b="0">
                          <a:solidFill>
                            <a:schemeClr val="bg1"/>
                          </a:solidFill>
                          <a:effectLst/>
                        </a:rPr>
                        <a:t>曲面多项式名称的示例</a:t>
                      </a:r>
                    </a:p>
                  </a:txBody>
                  <a:tcPr marL="66368" marR="66368" marT="33184" marB="33184" anchor="ctr">
                    <a:solidFill>
                      <a:srgbClr val="0070C0"/>
                    </a:solidFill>
                  </a:tcPr>
                </a:tc>
                <a:tc>
                  <a:txBody>
                    <a:bodyPr/>
                    <a:lstStyle/>
                    <a:p>
                      <a:pPr algn="l"/>
                      <a:r>
                        <a:rPr lang="zh-CN" altLang="en-US" sz="1200" b="0" dirty="0">
                          <a:solidFill>
                            <a:schemeClr val="bg1"/>
                          </a:solidFill>
                          <a:effectLst/>
                        </a:rPr>
                        <a:t>二元函数方程</a:t>
                      </a:r>
                      <a:r>
                        <a:rPr lang="en-US" altLang="zh-CN" sz="1200" b="0" dirty="0">
                          <a:solidFill>
                            <a:schemeClr val="bg1"/>
                          </a:solidFill>
                          <a:effectLst/>
                        </a:rPr>
                        <a:t>z=f(</a:t>
                      </a:r>
                      <a:r>
                        <a:rPr lang="en-US" altLang="zh-CN" sz="1200" b="0" dirty="0" err="1">
                          <a:solidFill>
                            <a:schemeClr val="bg1"/>
                          </a:solidFill>
                          <a:effectLst/>
                        </a:rPr>
                        <a:t>x,y</a:t>
                      </a:r>
                      <a:r>
                        <a:rPr lang="en-US" altLang="zh-CN" sz="1200" b="0" dirty="0">
                          <a:solidFill>
                            <a:schemeClr val="bg1"/>
                          </a:solidFill>
                          <a:effectLst/>
                        </a:rPr>
                        <a:t>)</a:t>
                      </a:r>
                      <a:endParaRPr lang="zh-CN" altLang="en-US" sz="1200" b="0" dirty="0">
                        <a:solidFill>
                          <a:schemeClr val="bg1"/>
                        </a:solidFill>
                        <a:effectLst/>
                      </a:endParaRPr>
                    </a:p>
                  </a:txBody>
                  <a:tcPr marL="66368" marR="66368" marT="33184" marB="33184" anchor="ctr">
                    <a:solidFill>
                      <a:srgbClr val="0070C0"/>
                    </a:solidFill>
                  </a:tcPr>
                </a:tc>
                <a:extLst>
                  <a:ext uri="{0D108BD9-81ED-4DB2-BD59-A6C34878D82A}">
                    <a16:rowId xmlns:a16="http://schemas.microsoft.com/office/drawing/2014/main" val="607840803"/>
                  </a:ext>
                </a:extLst>
              </a:tr>
              <a:tr h="321220">
                <a:tc>
                  <a:txBody>
                    <a:bodyPr/>
                    <a:lstStyle/>
                    <a:p>
                      <a:pPr algn="l"/>
                      <a:r>
                        <a:rPr lang="en-US" sz="1300">
                          <a:effectLst/>
                        </a:rPr>
                        <a:t>“poly21”</a:t>
                      </a:r>
                    </a:p>
                  </a:txBody>
                  <a:tcPr marL="66368" marR="66368" marT="33184" marB="33184" anchor="ctr"/>
                </a:tc>
                <a:tc>
                  <a:txBody>
                    <a:bodyPr/>
                    <a:lstStyle/>
                    <a:p>
                      <a:pPr algn="l"/>
                      <a:r>
                        <a:rPr lang="es-ES" sz="1300" dirty="0">
                          <a:effectLst/>
                        </a:rPr>
                        <a:t>Z = p00 + p10*</a:t>
                      </a:r>
                      <a:r>
                        <a:rPr lang="es-ES" sz="1300" b="1" dirty="0">
                          <a:solidFill>
                            <a:srgbClr val="FF0000"/>
                          </a:solidFill>
                          <a:effectLst/>
                        </a:rPr>
                        <a:t>x</a:t>
                      </a:r>
                      <a:r>
                        <a:rPr lang="es-ES" sz="1300" dirty="0">
                          <a:effectLst/>
                        </a:rPr>
                        <a:t> + p01*</a:t>
                      </a:r>
                      <a:r>
                        <a:rPr lang="es-ES" sz="1300" b="1" kern="1200" dirty="0">
                          <a:solidFill>
                            <a:srgbClr val="FF0000"/>
                          </a:solidFill>
                          <a:effectLst/>
                          <a:latin typeface="+mn-lt"/>
                          <a:ea typeface="+mn-ea"/>
                          <a:cs typeface="+mn-cs"/>
                        </a:rPr>
                        <a:t>y </a:t>
                      </a:r>
                      <a:r>
                        <a:rPr lang="es-ES" sz="1300" dirty="0">
                          <a:effectLst/>
                        </a:rPr>
                        <a:t>+ p20*</a:t>
                      </a:r>
                      <a:r>
                        <a:rPr lang="es-ES" sz="1300" b="1" kern="1200" dirty="0">
                          <a:solidFill>
                            <a:srgbClr val="FF0000"/>
                          </a:solidFill>
                          <a:effectLst/>
                          <a:latin typeface="+mn-lt"/>
                          <a:ea typeface="+mn-ea"/>
                          <a:cs typeface="+mn-cs"/>
                        </a:rPr>
                        <a:t>x^2 </a:t>
                      </a:r>
                      <a:r>
                        <a:rPr lang="es-ES" sz="1300" dirty="0">
                          <a:effectLst/>
                        </a:rPr>
                        <a:t>+ p11</a:t>
                      </a:r>
                      <a:r>
                        <a:rPr lang="es-ES" sz="1300" dirty="0">
                          <a:solidFill>
                            <a:srgbClr val="FF0000"/>
                          </a:solidFill>
                          <a:effectLst/>
                        </a:rPr>
                        <a:t>*x*</a:t>
                      </a:r>
                      <a:r>
                        <a:rPr lang="es-ES" sz="1300" dirty="0">
                          <a:effectLst/>
                        </a:rPr>
                        <a:t>y</a:t>
                      </a:r>
                    </a:p>
                  </a:txBody>
                  <a:tcPr marL="66368" marR="66368" marT="33184" marB="33184" anchor="ctr"/>
                </a:tc>
                <a:extLst>
                  <a:ext uri="{0D108BD9-81ED-4DB2-BD59-A6C34878D82A}">
                    <a16:rowId xmlns:a16="http://schemas.microsoft.com/office/drawing/2014/main" val="68534230"/>
                  </a:ext>
                </a:extLst>
              </a:tr>
              <a:tr h="321220">
                <a:tc>
                  <a:txBody>
                    <a:bodyPr/>
                    <a:lstStyle/>
                    <a:p>
                      <a:pPr algn="l"/>
                      <a:r>
                        <a:rPr lang="en-US" sz="1300">
                          <a:effectLst/>
                        </a:rPr>
                        <a:t>“poly13”</a:t>
                      </a:r>
                    </a:p>
                  </a:txBody>
                  <a:tcPr marL="66368" marR="66368" marT="33184" marB="33184" anchor="ctr"/>
                </a:tc>
                <a:tc>
                  <a:txBody>
                    <a:bodyPr/>
                    <a:lstStyle/>
                    <a:p>
                      <a:pPr algn="l"/>
                      <a:r>
                        <a:rPr lang="es-ES" sz="1300" dirty="0">
                          <a:effectLst/>
                        </a:rPr>
                        <a:t>Z = p00 + p10*x + p01*y + p11*x*y + p02*y^2 + p12*x*y^2 + p03*</a:t>
                      </a:r>
                      <a:r>
                        <a:rPr lang="es-ES" sz="1300" b="1" kern="1200" dirty="0">
                          <a:solidFill>
                            <a:srgbClr val="FF0000"/>
                          </a:solidFill>
                          <a:effectLst/>
                          <a:latin typeface="+mn-lt"/>
                          <a:ea typeface="+mn-ea"/>
                          <a:cs typeface="+mn-cs"/>
                        </a:rPr>
                        <a:t>y^3</a:t>
                      </a:r>
                    </a:p>
                  </a:txBody>
                  <a:tcPr marL="66368" marR="66368" marT="33184" marB="33184" anchor="ctr"/>
                </a:tc>
                <a:extLst>
                  <a:ext uri="{0D108BD9-81ED-4DB2-BD59-A6C34878D82A}">
                    <a16:rowId xmlns:a16="http://schemas.microsoft.com/office/drawing/2014/main" val="2663170019"/>
                  </a:ext>
                </a:extLst>
              </a:tr>
              <a:tr h="321220">
                <a:tc>
                  <a:txBody>
                    <a:bodyPr/>
                    <a:lstStyle/>
                    <a:p>
                      <a:pPr algn="l"/>
                      <a:r>
                        <a:rPr lang="en-US" sz="1300">
                          <a:effectLst/>
                        </a:rPr>
                        <a:t>“poly55”</a:t>
                      </a:r>
                    </a:p>
                  </a:txBody>
                  <a:tcPr marL="66368" marR="66368" marT="33184" marB="33184" anchor="ctr"/>
                </a:tc>
                <a:tc>
                  <a:txBody>
                    <a:bodyPr/>
                    <a:lstStyle/>
                    <a:p>
                      <a:pPr algn="l"/>
                      <a:r>
                        <a:rPr lang="es-ES" sz="1300" dirty="0">
                          <a:effectLst/>
                        </a:rPr>
                        <a:t>Z = p00 + p10*x + p01*y + ... + p14*x*y^4 + p05*y^5</a:t>
                      </a:r>
                    </a:p>
                  </a:txBody>
                  <a:tcPr marL="66368" marR="66368" marT="33184" marB="33184" anchor="ctr"/>
                </a:tc>
                <a:extLst>
                  <a:ext uri="{0D108BD9-81ED-4DB2-BD59-A6C34878D82A}">
                    <a16:rowId xmlns:a16="http://schemas.microsoft.com/office/drawing/2014/main" val="1559477667"/>
                  </a:ext>
                </a:extLst>
              </a:tr>
            </a:tbl>
          </a:graphicData>
        </a:graphic>
      </p:graphicFrame>
      <p:graphicFrame>
        <p:nvGraphicFramePr>
          <p:cNvPr id="2" name="表格 1">
            <a:extLst>
              <a:ext uri="{FF2B5EF4-FFF2-40B4-BE49-F238E27FC236}">
                <a16:creationId xmlns:a16="http://schemas.microsoft.com/office/drawing/2014/main" id="{BF2D951A-0F59-4501-BA26-3E2E0867C901}"/>
              </a:ext>
            </a:extLst>
          </p:cNvPr>
          <p:cNvGraphicFramePr>
            <a:graphicFrameLocks noGrp="1"/>
          </p:cNvGraphicFramePr>
          <p:nvPr>
            <p:extLst>
              <p:ext uri="{D42A27DB-BD31-4B8C-83A1-F6EECF244321}">
                <p14:modId xmlns:p14="http://schemas.microsoft.com/office/powerpoint/2010/main" val="812045695"/>
              </p:ext>
            </p:extLst>
          </p:nvPr>
        </p:nvGraphicFramePr>
        <p:xfrm>
          <a:off x="4967698" y="810370"/>
          <a:ext cx="4032448" cy="321220"/>
        </p:xfrm>
        <a:graphic>
          <a:graphicData uri="http://schemas.openxmlformats.org/drawingml/2006/table">
            <a:tbl>
              <a:tblPr firstRow="1" bandRow="1">
                <a:tableStyleId>{68D230F3-CF80-4859-8CE7-A43EE81993B5}</a:tableStyleId>
              </a:tblPr>
              <a:tblGrid>
                <a:gridCol w="2376264">
                  <a:extLst>
                    <a:ext uri="{9D8B030D-6E8A-4147-A177-3AD203B41FA5}">
                      <a16:colId xmlns:a16="http://schemas.microsoft.com/office/drawing/2014/main" val="3696899558"/>
                    </a:ext>
                  </a:extLst>
                </a:gridCol>
                <a:gridCol w="1656184">
                  <a:extLst>
                    <a:ext uri="{9D8B030D-6E8A-4147-A177-3AD203B41FA5}">
                      <a16:colId xmlns:a16="http://schemas.microsoft.com/office/drawing/2014/main" val="3244645418"/>
                    </a:ext>
                  </a:extLst>
                </a:gridCol>
              </a:tblGrid>
              <a:tr h="321220">
                <a:tc>
                  <a:txBody>
                    <a:bodyPr/>
                    <a:lstStyle/>
                    <a:p>
                      <a:pPr algn="l"/>
                      <a:r>
                        <a:rPr lang="zh-CN" altLang="en-US" sz="1200" b="1" dirty="0">
                          <a:solidFill>
                            <a:schemeClr val="bg1"/>
                          </a:solidFill>
                          <a:effectLst/>
                        </a:rPr>
                        <a:t>双数多项式 </a:t>
                      </a:r>
                      <a:r>
                        <a:rPr lang="en-US" sz="1200" b="1" dirty="0">
                          <a:solidFill>
                            <a:schemeClr val="bg1"/>
                          </a:solidFill>
                          <a:effectLst/>
                        </a:rPr>
                        <a:t>[“</a:t>
                      </a:r>
                      <a:r>
                        <a:rPr lang="en-US" sz="1200" b="1" dirty="0" err="1">
                          <a:solidFill>
                            <a:schemeClr val="bg1"/>
                          </a:solidFill>
                          <a:effectLst/>
                        </a:rPr>
                        <a:t>poly”，n</a:t>
                      </a:r>
                      <a:r>
                        <a:rPr lang="en-US" sz="1200" b="1" dirty="0">
                          <a:solidFill>
                            <a:schemeClr val="bg1"/>
                          </a:solidFill>
                          <a:effectLst/>
                        </a:rPr>
                        <a:t>]</a:t>
                      </a:r>
                    </a:p>
                  </a:txBody>
                  <a:tcPr anchor="ctr"/>
                </a:tc>
                <a:tc>
                  <a:txBody>
                    <a:bodyPr/>
                    <a:lstStyle/>
                    <a:p>
                      <a:pPr algn="l"/>
                      <a:r>
                        <a:rPr lang="es-ES" sz="1200" b="1" dirty="0">
                          <a:solidFill>
                            <a:schemeClr val="bg1"/>
                          </a:solidFill>
                          <a:effectLst/>
                        </a:rPr>
                        <a:t>Y = p1*x^10+...+p11</a:t>
                      </a:r>
                    </a:p>
                  </a:txBody>
                  <a:tcPr anchor="ctr"/>
                </a:tc>
                <a:extLst>
                  <a:ext uri="{0D108BD9-81ED-4DB2-BD59-A6C34878D82A}">
                    <a16:rowId xmlns:a16="http://schemas.microsoft.com/office/drawing/2014/main" val="2239054778"/>
                  </a:ext>
                </a:extLst>
              </a:tr>
            </a:tbl>
          </a:graphicData>
        </a:graphic>
      </p:graphicFrame>
    </p:spTree>
    <p:extLst>
      <p:ext uri="{BB962C8B-B14F-4D97-AF65-F5344CB8AC3E}">
        <p14:creationId xmlns:p14="http://schemas.microsoft.com/office/powerpoint/2010/main" val="13070698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28879658"/>
              </p:ext>
            </p:extLst>
          </p:nvPr>
        </p:nvGraphicFramePr>
        <p:xfrm>
          <a:off x="4952919" y="745361"/>
          <a:ext cx="3960770" cy="3852251"/>
        </p:xfrm>
        <a:graphic>
          <a:graphicData uri="http://schemas.openxmlformats.org/drawingml/2006/table">
            <a:tbl>
              <a:tblPr>
                <a:effectLst/>
              </a:tblPr>
              <a:tblGrid>
                <a:gridCol w="1258347">
                  <a:extLst>
                    <a:ext uri="{9D8B030D-6E8A-4147-A177-3AD203B41FA5}">
                      <a16:colId xmlns:a16="http://schemas.microsoft.com/office/drawing/2014/main" val="20000"/>
                    </a:ext>
                  </a:extLst>
                </a:gridCol>
                <a:gridCol w="2702423">
                  <a:extLst>
                    <a:ext uri="{9D8B030D-6E8A-4147-A177-3AD203B41FA5}">
                      <a16:colId xmlns:a16="http://schemas.microsoft.com/office/drawing/2014/main" val="20001"/>
                    </a:ext>
                  </a:extLst>
                </a:gridCol>
              </a:tblGrid>
              <a:tr h="311067">
                <a:tc>
                  <a:txBody>
                    <a:bodyPr/>
                    <a:lstStyle/>
                    <a:p>
                      <a:pPr algn="l"/>
                      <a:r>
                        <a:rPr lang="zh-CN" altLang="en-US" sz="1600" b="1" dirty="0">
                          <a:solidFill>
                            <a:schemeClr val="tx1"/>
                          </a:solidFill>
                          <a:effectLst/>
                          <a:latin typeface="华文楷体" panose="02010600040101010101" pitchFamily="2" charset="-122"/>
                          <a:ea typeface="华文楷体" panose="02010600040101010101" pitchFamily="2" charset="-122"/>
                        </a:rPr>
                        <a:t>字段名</a:t>
                      </a:r>
                      <a:endParaRPr lang="zh-CN" altLang="en-US" sz="1600" dirty="0">
                        <a:solidFill>
                          <a:schemeClr val="tx1"/>
                        </a:solidFill>
                        <a:effectLst/>
                        <a:latin typeface="华文楷体" panose="02010600040101010101" pitchFamily="2" charset="-122"/>
                        <a:ea typeface="华文楷体" panose="02010600040101010101" pitchFamily="2"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t="100000"/>
                      </a:path>
                      <a:tileRect r="-100000" b="-100000"/>
                    </a:gra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描述</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path path="circle">
                        <a:fillToRect l="100000" t="100000"/>
                      </a:path>
                      <a:tileRect r="-100000" b="-100000"/>
                    </a:gradFill>
                  </a:tcPr>
                </a:tc>
                <a:extLst>
                  <a:ext uri="{0D108BD9-81ED-4DB2-BD59-A6C34878D82A}">
                    <a16:rowId xmlns:a16="http://schemas.microsoft.com/office/drawing/2014/main" val="10000"/>
                  </a:ext>
                </a:extLst>
              </a:tr>
              <a:tr h="298662">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Myf</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用于求值的函数</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8283">
                <a:tc>
                  <a:txBody>
                    <a:bodyPr/>
                    <a:lstStyle/>
                    <a:p>
                      <a:pPr algn="l"/>
                      <a:r>
                        <a:rPr lang="en-US" altLang="zh-CN" sz="1600" kern="1200" dirty="0">
                          <a:solidFill>
                            <a:schemeClr val="bg1"/>
                          </a:solidFill>
                          <a:effectLst/>
                          <a:latin typeface="微软雅黑" panose="020B0503020204020204" pitchFamily="34" charset="-122"/>
                          <a:ea typeface="微软雅黑" panose="020B0503020204020204" pitchFamily="34" charset="-122"/>
                          <a:cs typeface="+mn-cs"/>
                        </a:rPr>
                        <a:t>e</a:t>
                      </a:r>
                      <a:r>
                        <a:rPr lang="en-US" sz="1600" kern="1200" dirty="0">
                          <a:solidFill>
                            <a:schemeClr val="bg1"/>
                          </a:solidFill>
                          <a:effectLst/>
                          <a:latin typeface="微软雅黑" panose="020B0503020204020204" pitchFamily="34" charset="-122"/>
                          <a:ea typeface="微软雅黑" panose="020B0503020204020204" pitchFamily="34" charset="-122"/>
                          <a:cs typeface="+mn-cs"/>
                        </a:rPr>
                        <a:t>xpr</a:t>
                      </a: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b="1" kern="1200" dirty="0">
                          <a:solidFill>
                            <a:srgbClr val="FF0000"/>
                          </a:solidFill>
                          <a:effectLst/>
                          <a:latin typeface="微软雅黑" panose="020B0503020204020204" pitchFamily="34" charset="-122"/>
                          <a:ea typeface="微软雅黑" panose="020B0503020204020204" pitchFamily="34" charset="-122"/>
                          <a:cs typeface="+mn-cs"/>
                        </a:rPr>
                        <a:t>拟合模型 </a:t>
                      </a:r>
                      <a:r>
                        <a:rPr lang="en-US" sz="1600" b="1" kern="1200" dirty="0" err="1">
                          <a:solidFill>
                            <a:srgbClr val="FF0000"/>
                          </a:solidFill>
                          <a:effectLst/>
                          <a:latin typeface="微软雅黑" panose="020B0503020204020204" pitchFamily="34" charset="-122"/>
                          <a:ea typeface="微软雅黑" panose="020B0503020204020204" pitchFamily="34" charset="-122"/>
                          <a:cs typeface="+mn-cs"/>
                        </a:rPr>
                        <a:t>FitType</a:t>
                      </a:r>
                      <a:endParaRPr lang="en-US" sz="1600" b="1" kern="1200" dirty="0">
                        <a:solidFill>
                          <a:srgbClr val="FF0000"/>
                        </a:solidFill>
                        <a:effectLst/>
                        <a:latin typeface="微软雅黑" panose="020B0503020204020204" pitchFamily="34" charset="-122"/>
                        <a:ea typeface="微软雅黑" panose="020B0503020204020204" pitchFamily="34" charset="-122"/>
                        <a:cs typeface="+mn-cs"/>
                      </a:endParaRP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98662">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x_data</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横坐标</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8662">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y_data</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纵坐标</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98662">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z_data</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竖坐标</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8662">
                <a:tc>
                  <a:txBody>
                    <a:bodyPr/>
                    <a:lstStyle/>
                    <a:p>
                      <a:pPr algn="l"/>
                      <a:r>
                        <a:rPr lang="en-US" sz="1600" dirty="0">
                          <a:solidFill>
                            <a:schemeClr val="bg1"/>
                          </a:solidFill>
                          <a:effectLst/>
                          <a:latin typeface="微软雅黑" panose="020B0503020204020204" pitchFamily="34" charset="-122"/>
                          <a:ea typeface="微软雅黑" panose="020B0503020204020204" pitchFamily="34" charset="-122"/>
                        </a:rPr>
                        <a:t>options</a:t>
                      </a: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选项</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98662">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iparams</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初值</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35208">
                <a:tc>
                  <a:txBody>
                    <a:bodyPr/>
                    <a:lstStyle/>
                    <a:p>
                      <a:pPr marL="0" algn="l" defTabSz="914400" rtl="0" eaLnBrk="1" latinLnBrk="0" hangingPunct="1"/>
                      <a:r>
                        <a:rPr lang="en-US" sz="1600" kern="1200" dirty="0">
                          <a:solidFill>
                            <a:schemeClr val="bg1"/>
                          </a:solidFill>
                          <a:effectLst/>
                          <a:latin typeface="微软雅黑" panose="020B0503020204020204" pitchFamily="34" charset="-122"/>
                          <a:ea typeface="微软雅黑" panose="020B0503020204020204" pitchFamily="34" charset="-122"/>
                          <a:cs typeface="+mn-cs"/>
                        </a:rPr>
                        <a:t>params</a:t>
                      </a: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marL="0" algn="l" defTabSz="914400" rtl="0" eaLnBrk="1" latinLnBrk="0" hangingPunct="1"/>
                      <a:r>
                        <a:rPr lang="zh-CN" altLang="en-US" sz="1600" b="1" kern="1200" dirty="0">
                          <a:solidFill>
                            <a:srgbClr val="FF0000"/>
                          </a:solidFill>
                          <a:effectLst/>
                          <a:latin typeface="微软雅黑" panose="020B0503020204020204" pitchFamily="34" charset="-122"/>
                          <a:ea typeface="微软雅黑" panose="020B0503020204020204" pitchFamily="34" charset="-122"/>
                          <a:cs typeface="+mn-cs"/>
                        </a:rPr>
                        <a:t>拟合待定参数 </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481711">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probvalues</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问题参数</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298662">
                <a:tc>
                  <a:txBody>
                    <a:bodyPr/>
                    <a:lstStyle/>
                    <a:p>
                      <a:pPr algn="l"/>
                      <a:r>
                        <a:rPr lang="en-US" sz="1600" dirty="0" err="1">
                          <a:solidFill>
                            <a:schemeClr val="bg1"/>
                          </a:solidFill>
                          <a:effectLst/>
                          <a:latin typeface="微软雅黑" panose="020B0503020204020204" pitchFamily="34" charset="-122"/>
                          <a:ea typeface="微软雅黑" panose="020B0503020204020204" pitchFamily="34" charset="-122"/>
                        </a:rPr>
                        <a:t>pre_data</a:t>
                      </a:r>
                      <a:endParaRPr lang="en-US" sz="1600" dirty="0">
                        <a:solidFill>
                          <a:schemeClr val="bg1"/>
                        </a:solidFill>
                        <a:effectLst/>
                        <a:latin typeface="微软雅黑" panose="020B0503020204020204" pitchFamily="34" charset="-122"/>
                        <a:ea typeface="微软雅黑" panose="020B0503020204020204" pitchFamily="34" charset="-122"/>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rgbClr val="0070C0"/>
                    </a:solidFill>
                  </a:tcPr>
                </a:tc>
                <a:tc>
                  <a:txBody>
                    <a:bodyPr/>
                    <a:lstStyle/>
                    <a:p>
                      <a:pPr algn="l"/>
                      <a:r>
                        <a:rPr lang="zh-CN" altLang="en-US" sz="1600" dirty="0">
                          <a:solidFill>
                            <a:schemeClr val="tx1"/>
                          </a:solidFill>
                          <a:effectLst/>
                          <a:latin typeface="华文楷体" panose="02010600040101010101" pitchFamily="2" charset="-122"/>
                          <a:ea typeface="华文楷体" panose="02010600040101010101" pitchFamily="2" charset="-122"/>
                        </a:rPr>
                        <a:t>放缩参数</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315348">
                <a:tc>
                  <a:txBody>
                    <a:bodyPr/>
                    <a:lstStyle/>
                    <a:p>
                      <a:pPr marL="0" algn="l" defTabSz="914400" rtl="0" eaLnBrk="1" latinLnBrk="0" hangingPunct="1"/>
                      <a:r>
                        <a:rPr lang="en-US" sz="1600" kern="1200" dirty="0" err="1">
                          <a:solidFill>
                            <a:schemeClr val="bg1"/>
                          </a:solidFill>
                          <a:effectLst/>
                          <a:latin typeface="微软雅黑" panose="020B0503020204020204" pitchFamily="34" charset="-122"/>
                          <a:ea typeface="微软雅黑" panose="020B0503020204020204" pitchFamily="34" charset="-122"/>
                          <a:cs typeface="+mn-cs"/>
                        </a:rPr>
                        <a:t>s_data</a:t>
                      </a:r>
                      <a:endParaRPr lang="en-US" sz="1600" kern="1200" dirty="0">
                        <a:solidFill>
                          <a:schemeClr val="bg1"/>
                        </a:solidFill>
                        <a:effectLst/>
                        <a:latin typeface="微软雅黑" panose="020B0503020204020204" pitchFamily="34" charset="-122"/>
                        <a:ea typeface="微软雅黑" panose="020B0503020204020204" pitchFamily="34" charset="-122"/>
                        <a:cs typeface="+mn-cs"/>
                      </a:endParaRPr>
                    </a:p>
                  </a:txBody>
                  <a:tcPr marL="28575" marR="28575" marT="14287" marB="14287" anchor="ctr">
                    <a:lnL w="12700" cap="flat" cmpd="sng" algn="ctr">
                      <a:solidFill>
                        <a:schemeClr val="tx1"/>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a:txBody>
                    <a:bodyPr/>
                    <a:lstStyle/>
                    <a:p>
                      <a:pPr algn="l"/>
                      <a:r>
                        <a:rPr lang="zh-CN" altLang="en-US" sz="1600" b="1" kern="1200" dirty="0">
                          <a:solidFill>
                            <a:srgbClr val="FF0000"/>
                          </a:solidFill>
                          <a:effectLst/>
                          <a:latin typeface="微软雅黑" panose="020B0503020204020204" pitchFamily="34" charset="-122"/>
                          <a:ea typeface="微软雅黑" panose="020B0503020204020204" pitchFamily="34" charset="-122"/>
                          <a:cs typeface="+mn-cs"/>
                        </a:rPr>
                        <a:t>统计优度（拟合度）</a:t>
                      </a:r>
                    </a:p>
                  </a:txBody>
                  <a:tcPr marL="28575" marR="28575" marT="14287" marB="14287" anchor="ctr">
                    <a:lnL w="6350" cap="flat" cmpd="sng" algn="ctr">
                      <a:solidFill>
                        <a:srgbClr val="DFE2E5"/>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DFE2E5"/>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bl>
          </a:graphicData>
        </a:graphic>
      </p:graphicFrame>
      <p:sp>
        <p:nvSpPr>
          <p:cNvPr id="6" name="文本框 5"/>
          <p:cNvSpPr txBox="1"/>
          <p:nvPr/>
        </p:nvSpPr>
        <p:spPr>
          <a:xfrm>
            <a:off x="82246" y="1101962"/>
            <a:ext cx="3900357" cy="338554"/>
          </a:xfrm>
          <a:prstGeom prst="rect">
            <a:avLst/>
          </a:prstGeom>
          <a:noFill/>
        </p:spPr>
        <p:txBody>
          <a:bodyPr wrap="square">
            <a:spAutoFit/>
          </a:bodyPr>
          <a:lstStyle>
            <a:defPPr>
              <a:defRPr lang="zh-CN"/>
            </a:defPPr>
            <a:lvl1pPr>
              <a:defRPr b="1" i="0">
                <a:solidFill>
                  <a:srgbClr val="0070C0"/>
                </a:solidFill>
                <a:effectLst/>
                <a:latin typeface="微软雅黑" panose="020B0503020204020204" pitchFamily="34" charset="-122"/>
                <a:ea typeface="微软雅黑" panose="020B0503020204020204" pitchFamily="34" charset="-122"/>
              </a:defRPr>
            </a:lvl1pPr>
          </a:lstStyle>
          <a:p>
            <a:pPr marL="342900" indent="-342900">
              <a:buFont typeface="+mj-ea"/>
              <a:buAutoNum type="circleNumDbPlain"/>
            </a:pPr>
            <a:r>
              <a:rPr lang="zh-CN" altLang="en-US" sz="1600" b="0" dirty="0"/>
              <a:t>拟合对象</a:t>
            </a:r>
            <a:r>
              <a:rPr lang="en-US" altLang="zh-CN" sz="1600" b="0" dirty="0" err="1"/>
              <a:t>fitobject</a:t>
            </a:r>
            <a:r>
              <a:rPr lang="zh-CN" altLang="en-US" sz="1600" b="0" dirty="0"/>
              <a:t>是结构体变量</a:t>
            </a:r>
            <a:r>
              <a:rPr lang="en-US" altLang="zh-CN" sz="1600" b="0" dirty="0"/>
              <a:t> </a:t>
            </a:r>
            <a:endParaRPr lang="zh-CN" altLang="en-US" sz="1600" b="0" dirty="0"/>
          </a:p>
        </p:txBody>
      </p:sp>
      <p:sp>
        <p:nvSpPr>
          <p:cNvPr id="8" name="矩形 7"/>
          <p:cNvSpPr/>
          <p:nvPr/>
        </p:nvSpPr>
        <p:spPr>
          <a:xfrm>
            <a:off x="100473" y="1817705"/>
            <a:ext cx="4248617" cy="343877"/>
          </a:xfrm>
          <a:prstGeom prst="rect">
            <a:avLst/>
          </a:prstGeom>
          <a:noFill/>
          <a:ln w="9525">
            <a:noFill/>
            <a:miter lim="800000"/>
          </a:ln>
          <a:scene3d>
            <a:camera prst="orthographicFront"/>
            <a:lightRig rig="threePt" dir="t"/>
          </a:scene3d>
          <a:sp3d>
            <a:bevelT prst="angle"/>
          </a:sp3d>
        </p:spPr>
        <p:txBody>
          <a:bodyPr vert="horz" wrap="square" lIns="91440" tIns="45720" rIns="91440" bIns="45720" numCol="1" anchor="t" anchorCtr="0" compatLnSpc="1">
            <a:spAutoFit/>
          </a:bodyPr>
          <a:lstStyle/>
          <a:p>
            <a:pPr marL="342900" indent="-342900" eaLnBrk="0" hangingPunct="0">
              <a:lnSpc>
                <a:spcPct val="110000"/>
              </a:lnSpc>
              <a:buFont typeface="+mj-ea"/>
              <a:buAutoNum type="circleNumDbPlain" startAt="3"/>
            </a:pPr>
            <a:r>
              <a:rPr lang="zh-CN" altLang="en-US" sz="1600" kern="0" dirty="0">
                <a:solidFill>
                  <a:srgbClr val="0070C0"/>
                </a:solidFill>
                <a:latin typeface="微软雅黑" panose="020B0503020204020204" pitchFamily="34" charset="-122"/>
                <a:ea typeface="微软雅黑" panose="020B0503020204020204" pitchFamily="34" charset="-122"/>
              </a:rPr>
              <a:t>访问拟合对象内容</a:t>
            </a:r>
            <a:r>
              <a:rPr lang="en-US" altLang="zh-CN" sz="1600" kern="0" dirty="0">
                <a:solidFill>
                  <a:srgbClr val="0070C0"/>
                </a:solidFill>
                <a:latin typeface="微软雅黑" panose="020B0503020204020204" pitchFamily="34" charset="-122"/>
                <a:ea typeface="微软雅黑" panose="020B0503020204020204" pitchFamily="34" charset="-122"/>
              </a:rPr>
              <a:t>: </a:t>
            </a:r>
            <a:r>
              <a:rPr lang="en-US" altLang="zh-CN" sz="1600" dirty="0" err="1">
                <a:solidFill>
                  <a:srgbClr val="FFFF00"/>
                </a:solidFill>
                <a:highlight>
                  <a:srgbClr val="FF0000"/>
                </a:highlight>
                <a:latin typeface="Arial Unicode MS"/>
                <a:ea typeface="source-code-pro"/>
              </a:rPr>
              <a:t>fitobject</a:t>
            </a:r>
            <a:r>
              <a:rPr lang="en-US" altLang="zh-CN" sz="1600" dirty="0">
                <a:solidFill>
                  <a:srgbClr val="FFFF00"/>
                </a:solidFill>
                <a:highlight>
                  <a:srgbClr val="FF0000"/>
                </a:highlight>
                <a:latin typeface="Arial Unicode MS"/>
                <a:ea typeface="source-code-pro"/>
              </a:rPr>
              <a:t>.</a:t>
            </a:r>
            <a:r>
              <a:rPr lang="zh-CN" altLang="en-US" sz="1600" dirty="0">
                <a:solidFill>
                  <a:srgbClr val="FFFF00"/>
                </a:solidFill>
                <a:highlight>
                  <a:srgbClr val="FF0000"/>
                </a:highlight>
                <a:latin typeface="Arial Unicode MS"/>
                <a:ea typeface="source-code-pro"/>
              </a:rPr>
              <a:t>字段名</a:t>
            </a:r>
          </a:p>
        </p:txBody>
      </p:sp>
      <p:sp>
        <p:nvSpPr>
          <p:cNvPr id="9" name="矩形 8"/>
          <p:cNvSpPr/>
          <p:nvPr/>
        </p:nvSpPr>
        <p:spPr>
          <a:xfrm>
            <a:off x="119714" y="2577995"/>
            <a:ext cx="4067944" cy="344325"/>
          </a:xfrm>
          <a:prstGeom prst="rect">
            <a:avLst/>
          </a:prstGeom>
          <a:noFill/>
          <a:ln w="9525">
            <a:noFill/>
            <a:miter lim="800000"/>
          </a:ln>
        </p:spPr>
        <p:txBody>
          <a:bodyPr vert="horz" wrap="square" lIns="91440" tIns="45720" rIns="91440" bIns="45720" numCol="1" anchor="t" anchorCtr="0" compatLnSpc="1">
            <a:spAutoFit/>
          </a:bodyPr>
          <a:lstStyle/>
          <a:p>
            <a:pPr marL="342900" indent="-342900" eaLnBrk="0" hangingPunct="0">
              <a:lnSpc>
                <a:spcPct val="110000"/>
              </a:lnSpc>
              <a:buClr>
                <a:srgbClr val="0070C0"/>
              </a:buClr>
              <a:buFont typeface="+mj-ea"/>
              <a:buAutoNum type="circleNumDbPlain" startAt="5"/>
            </a:pPr>
            <a:r>
              <a:rPr lang="zh-CN" altLang="en-US" sz="1600" kern="0" dirty="0">
                <a:solidFill>
                  <a:srgbClr val="0070C0"/>
                </a:solidFill>
                <a:latin typeface="微软雅黑" panose="020B0503020204020204" pitchFamily="34" charset="-122"/>
                <a:ea typeface="微软雅黑" panose="020B0503020204020204" pitchFamily="34" charset="-122"/>
              </a:rPr>
              <a:t>访问所求待定参数   </a:t>
            </a:r>
            <a:r>
              <a:rPr lang="en-US" altLang="zh-CN" sz="1600" kern="0" dirty="0" err="1">
                <a:solidFill>
                  <a:srgbClr val="FF0000"/>
                </a:solidFill>
                <a:latin typeface="微软雅黑" panose="020B0503020204020204" pitchFamily="34" charset="-122"/>
                <a:ea typeface="微软雅黑" panose="020B0503020204020204" pitchFamily="34" charset="-122"/>
              </a:rPr>
              <a:t>fitobject.params</a:t>
            </a:r>
            <a:endParaRPr lang="zh-CN" altLang="en-US" sz="1600" kern="0" dirty="0">
              <a:solidFill>
                <a:srgbClr val="FF0000"/>
              </a:solidFill>
              <a:latin typeface="微软雅黑" panose="020B0503020204020204" pitchFamily="34" charset="-122"/>
              <a:ea typeface="微软雅黑" panose="020B0503020204020204" pitchFamily="34" charset="-122"/>
            </a:endParaRPr>
          </a:p>
        </p:txBody>
      </p:sp>
      <p:sp>
        <p:nvSpPr>
          <p:cNvPr id="10" name="矩形 9"/>
          <p:cNvSpPr/>
          <p:nvPr/>
        </p:nvSpPr>
        <p:spPr>
          <a:xfrm>
            <a:off x="132277" y="2947707"/>
            <a:ext cx="3960770" cy="344325"/>
          </a:xfrm>
          <a:prstGeom prst="rect">
            <a:avLst/>
          </a:prstGeom>
          <a:noFill/>
          <a:ln w="9525">
            <a:noFill/>
            <a:miter lim="800000"/>
          </a:ln>
        </p:spPr>
        <p:txBody>
          <a:bodyPr vert="horz" wrap="square" lIns="91440" tIns="45720" rIns="91440" bIns="45720" numCol="1" anchor="t" anchorCtr="0" compatLnSpc="1">
            <a:spAutoFit/>
          </a:bodyPr>
          <a:lstStyle/>
          <a:p>
            <a:pPr marL="342900" indent="-342900" eaLnBrk="0" hangingPunct="0">
              <a:lnSpc>
                <a:spcPct val="110000"/>
              </a:lnSpc>
              <a:buClr>
                <a:srgbClr val="0070C0"/>
              </a:buClr>
              <a:buFont typeface="+mj-ea"/>
              <a:buAutoNum type="circleNumDbPlain" startAt="6"/>
            </a:pPr>
            <a:r>
              <a:rPr lang="zh-CN" altLang="en-US" sz="1600" kern="0" dirty="0">
                <a:solidFill>
                  <a:srgbClr val="0070C0"/>
                </a:solidFill>
                <a:latin typeface="微软雅黑" panose="020B0503020204020204" pitchFamily="34" charset="-122"/>
                <a:ea typeface="微软雅黑" panose="020B0503020204020204" pitchFamily="34" charset="-122"/>
              </a:rPr>
              <a:t>访问拟合度    </a:t>
            </a:r>
            <a:r>
              <a:rPr lang="en-US" altLang="zh-CN" sz="1600" kern="0" dirty="0" err="1">
                <a:solidFill>
                  <a:srgbClr val="FF0000"/>
                </a:solidFill>
                <a:latin typeface="微软雅黑" panose="020B0503020204020204" pitchFamily="34" charset="-122"/>
                <a:ea typeface="微软雅黑" panose="020B0503020204020204" pitchFamily="34" charset="-122"/>
              </a:rPr>
              <a:t>fitobject.s_data</a:t>
            </a:r>
            <a:endParaRPr lang="zh-CN" altLang="en-US" sz="1600" kern="0"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p:nvSpPr>
        <p:spPr>
          <a:xfrm>
            <a:off x="143925" y="3318812"/>
            <a:ext cx="3711655" cy="344325"/>
          </a:xfrm>
          <a:prstGeom prst="rect">
            <a:avLst/>
          </a:prstGeom>
          <a:noFill/>
          <a:ln w="9525">
            <a:noFill/>
            <a:miter lim="800000"/>
          </a:ln>
        </p:spPr>
        <p:txBody>
          <a:bodyPr vert="horz" wrap="square" lIns="91440" tIns="45720" rIns="91440" bIns="45720" numCol="1" anchor="t" anchorCtr="0" compatLnSpc="1">
            <a:spAutoFit/>
          </a:bodyPr>
          <a:lstStyle/>
          <a:p>
            <a:pPr eaLnBrk="0" hangingPunct="0">
              <a:lnSpc>
                <a:spcPct val="110000"/>
              </a:lnSpc>
              <a:buClr>
                <a:srgbClr val="0070C0"/>
              </a:buClr>
            </a:pPr>
            <a:r>
              <a:rPr lang="zh-CN" altLang="en-US" sz="1600" kern="0" dirty="0">
                <a:solidFill>
                  <a:srgbClr val="0070C0"/>
                </a:solidFill>
                <a:latin typeface="微软雅黑" panose="020B0503020204020204" pitchFamily="34" charset="-122"/>
                <a:ea typeface="微软雅黑" panose="020B0503020204020204" pitchFamily="34" charset="-122"/>
              </a:rPr>
              <a:t>     可以访问</a:t>
            </a:r>
            <a:r>
              <a:rPr lang="zh-CN" altLang="en-US" sz="1600" dirty="0">
                <a:solidFill>
                  <a:srgbClr val="0070C0"/>
                </a:solidFill>
                <a:latin typeface="微软雅黑" panose="020B0503020204020204" pitchFamily="34" charset="-122"/>
                <a:ea typeface="微软雅黑" panose="020B0503020204020204" pitchFamily="34" charset="-122"/>
              </a:rPr>
              <a:t>SSE </a:t>
            </a:r>
            <a:r>
              <a:rPr lang="en-US" altLang="zh-CN" sz="1600" dirty="0">
                <a:solidFill>
                  <a:srgbClr val="0070C0"/>
                </a:solidFill>
                <a:latin typeface="微软雅黑" panose="020B0503020204020204" pitchFamily="34" charset="-122"/>
                <a:ea typeface="微软雅黑" panose="020B0503020204020204" pitchFamily="34" charset="-122"/>
              </a:rPr>
              <a:t>,</a:t>
            </a:r>
            <a:r>
              <a:rPr lang="zh-CN" altLang="en-US" sz="1600" dirty="0">
                <a:solidFill>
                  <a:srgbClr val="0070C0"/>
                </a:solidFill>
                <a:latin typeface="微软雅黑" panose="020B0503020204020204" pitchFamily="34" charset="-122"/>
                <a:ea typeface="微软雅黑" panose="020B0503020204020204" pitchFamily="34" charset="-122"/>
              </a:rPr>
              <a:t>R方</a:t>
            </a:r>
            <a:r>
              <a:rPr lang="zh-CN" altLang="en-US" sz="1600" kern="0" dirty="0">
                <a:solidFill>
                  <a:srgbClr val="0070C0"/>
                </a:solidFill>
                <a:latin typeface="微软雅黑" panose="020B0503020204020204" pitchFamily="34" charset="-122"/>
                <a:ea typeface="微软雅黑" panose="020B0503020204020204" pitchFamily="34" charset="-122"/>
              </a:rPr>
              <a:t>拟合度信息</a:t>
            </a:r>
          </a:p>
        </p:txBody>
      </p:sp>
      <p:sp>
        <p:nvSpPr>
          <p:cNvPr id="13" name="文本框 12"/>
          <p:cNvSpPr txBox="1"/>
          <p:nvPr/>
        </p:nvSpPr>
        <p:spPr>
          <a:xfrm>
            <a:off x="139308" y="4044814"/>
            <a:ext cx="4726025" cy="615168"/>
          </a:xfrm>
          <a:prstGeom prst="rect">
            <a:avLst/>
          </a:prstGeom>
          <a:noFill/>
          <a:ln w="9525">
            <a:noFill/>
            <a:miter lim="800000"/>
          </a:ln>
        </p:spPr>
        <p:txBody>
          <a:bodyPr vert="horz" wrap="square" lIns="91440" tIns="45720" rIns="91440" bIns="45720" numCol="1" anchor="t" anchorCtr="0" compatLnSpc="1">
            <a:spAutoFit/>
          </a:bodyPr>
          <a:lstStyle>
            <a:defPPr>
              <a:defRPr lang="zh-CN"/>
            </a:defPPr>
            <a:lvl1pPr marL="342900" indent="-342900" eaLnBrk="0" hangingPunct="0">
              <a:lnSpc>
                <a:spcPct val="110000"/>
              </a:lnSpc>
              <a:buClr>
                <a:srgbClr val="0070C0"/>
              </a:buClr>
              <a:buFont typeface="+mj-ea"/>
              <a:buAutoNum type="circleNumDbPlain" startAt="6"/>
              <a:defRPr sz="1600" b="1" kern="0">
                <a:solidFill>
                  <a:srgbClr val="0070C0"/>
                </a:solidFill>
                <a:latin typeface="微软雅黑" panose="020B0503020204020204" pitchFamily="34" charset="-122"/>
                <a:ea typeface="微软雅黑" panose="020B0503020204020204" pitchFamily="34" charset="-122"/>
              </a:defRPr>
            </a:lvl1pPr>
          </a:lstStyle>
          <a:p>
            <a:pPr>
              <a:buFont typeface="+mj-ea"/>
              <a:buAutoNum type="circleNumDbPlain" startAt="8"/>
            </a:pPr>
            <a:r>
              <a:rPr lang="zh-CN" altLang="en-US" b="0" dirty="0">
                <a:hlinkClick r:id="rId3" action="ppaction://hlinkfile">
                  <a:extLst>
                    <a:ext uri="{A12FA001-AC4F-418D-AE19-62706E023703}">
                      <ahyp:hlinkClr xmlns:ahyp="http://schemas.microsoft.com/office/drawing/2018/hyperlinkcolor" val="tx"/>
                    </a:ext>
                  </a:extLst>
                </a:hlinkClick>
              </a:rPr>
              <a:t>对结果</a:t>
            </a:r>
            <a:r>
              <a:rPr lang="en-US" altLang="zh-CN" b="0" dirty="0" err="1"/>
              <a:t>fitobject</a:t>
            </a:r>
            <a:r>
              <a:rPr lang="zh-CN" altLang="en-US" b="0" dirty="0">
                <a:hlinkClick r:id="rId3" action="ppaction://hlinkfile">
                  <a:extLst>
                    <a:ext uri="{A12FA001-AC4F-418D-AE19-62706E023703}">
                      <ahyp:hlinkClr xmlns:ahyp="http://schemas.microsoft.com/office/drawing/2018/hyperlinkcolor" val="tx"/>
                    </a:ext>
                  </a:extLst>
                </a:hlinkClick>
              </a:rPr>
              <a:t>可</a:t>
            </a:r>
            <a:r>
              <a:rPr lang="zh-CN" altLang="en-US" b="0" dirty="0"/>
              <a:t>后</a:t>
            </a:r>
            <a:r>
              <a:rPr lang="zh-CN" altLang="en-US" b="0" dirty="0">
                <a:hlinkClick r:id="rId3" action="ppaction://hlinkfile">
                  <a:extLst>
                    <a:ext uri="{A12FA001-AC4F-418D-AE19-62706E023703}">
                      <ahyp:hlinkClr xmlns:ahyp="http://schemas.microsoft.com/office/drawing/2018/hyperlinkcolor" val="tx"/>
                    </a:ext>
                  </a:extLst>
                </a:hlinkClick>
              </a:rPr>
              <a:t>处理</a:t>
            </a:r>
            <a:r>
              <a:rPr lang="zh-CN" altLang="en-US" b="0" dirty="0"/>
              <a:t>，如绘图</a:t>
            </a:r>
            <a:r>
              <a:rPr lang="en-US" altLang="zh-CN" b="0" dirty="0"/>
              <a:t>,</a:t>
            </a:r>
            <a:r>
              <a:rPr lang="zh-CN" altLang="en-US" b="0" dirty="0"/>
              <a:t>求值、     绘图、微分积</a:t>
            </a:r>
          </a:p>
        </p:txBody>
      </p:sp>
      <p:sp>
        <p:nvSpPr>
          <p:cNvPr id="14" name="文本框 13"/>
          <p:cNvSpPr txBox="1"/>
          <p:nvPr/>
        </p:nvSpPr>
        <p:spPr>
          <a:xfrm>
            <a:off x="83067" y="1439082"/>
            <a:ext cx="4235312" cy="338554"/>
          </a:xfrm>
          <a:prstGeom prst="rect">
            <a:avLst/>
          </a:prstGeom>
          <a:noFill/>
        </p:spPr>
        <p:txBody>
          <a:bodyPr wrap="square">
            <a:spAutoFit/>
          </a:bodyPr>
          <a:lstStyle/>
          <a:p>
            <a:pPr marL="342900" indent="-342900">
              <a:buFont typeface="+mj-ea"/>
              <a:buAutoNum type="circleNumDbPlain" startAt="2"/>
            </a:pPr>
            <a:r>
              <a:rPr lang="zh-CN" altLang="en-US" sz="1600" i="0" dirty="0">
                <a:solidFill>
                  <a:srgbClr val="0070C0"/>
                </a:solidFill>
                <a:effectLst/>
                <a:latin typeface="微软雅黑" panose="020B0503020204020204" pitchFamily="34" charset="-122"/>
                <a:ea typeface="微软雅黑" panose="020B0503020204020204" pitchFamily="34" charset="-122"/>
              </a:rPr>
              <a:t>结构体名字为</a:t>
            </a:r>
            <a:r>
              <a:rPr lang="en-US" altLang="zh-CN" sz="1600" i="0" dirty="0" err="1">
                <a:solidFill>
                  <a:srgbClr val="FF0000"/>
                </a:solidFill>
                <a:effectLst/>
                <a:latin typeface="微软雅黑" panose="020B0503020204020204" pitchFamily="34" charset="-122"/>
                <a:ea typeface="微软雅黑" panose="020B0503020204020204" pitchFamily="34" charset="-122"/>
              </a:rPr>
              <a:t>fitobject</a:t>
            </a:r>
            <a:r>
              <a:rPr lang="zh-CN" altLang="en-US" sz="1600" i="0" dirty="0">
                <a:solidFill>
                  <a:srgbClr val="FF0000"/>
                </a:solidFill>
                <a:effectLst/>
                <a:latin typeface="微软雅黑" panose="020B0503020204020204" pitchFamily="34" charset="-122"/>
                <a:ea typeface="微软雅黑" panose="020B0503020204020204" pitchFamily="34" charset="-122"/>
              </a:rPr>
              <a:t>，字段名如表所示</a:t>
            </a:r>
            <a:endParaRPr lang="zh-CN" altLang="en-US" sz="1600" dirty="0">
              <a:solidFill>
                <a:srgbClr val="FF0000"/>
              </a:solidFill>
            </a:endParaRPr>
          </a:p>
        </p:txBody>
      </p:sp>
      <p:sp>
        <p:nvSpPr>
          <p:cNvPr id="17" name="文本框 16"/>
          <p:cNvSpPr txBox="1"/>
          <p:nvPr/>
        </p:nvSpPr>
        <p:spPr>
          <a:xfrm>
            <a:off x="863588" y="37642"/>
            <a:ext cx="8064896" cy="567463"/>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600" b="1" kern="0" dirty="0">
                <a:solidFill>
                  <a:srgbClr val="FF0000"/>
                </a:solidFill>
                <a:latin typeface="华文楷体" panose="02010600040101010101" pitchFamily="2" charset="-122"/>
                <a:ea typeface="华文楷体" panose="02010600040101010101" pitchFamily="2" charset="-122"/>
              </a:rPr>
              <a:t>拟合结果</a:t>
            </a:r>
            <a:r>
              <a:rPr lang="en-US" altLang="zh-CN" sz="2600" b="1" kern="0" dirty="0" err="1">
                <a:solidFill>
                  <a:srgbClr val="FF0000"/>
                </a:solidFill>
                <a:latin typeface="华文楷体" panose="02010600040101010101" pitchFamily="2" charset="-122"/>
                <a:ea typeface="华文楷体" panose="02010600040101010101" pitchFamily="2" charset="-122"/>
              </a:rPr>
              <a:t>fitobject</a:t>
            </a:r>
            <a:endParaRPr lang="en-US" altLang="zh-CN" sz="2600" b="1" dirty="0">
              <a:solidFill>
                <a:srgbClr val="FF0000"/>
              </a:solidFill>
              <a:latin typeface="华文楷体" panose="02010600040101010101" pitchFamily="2" charset="-122"/>
              <a:ea typeface="华文楷体" panose="02010600040101010101" pitchFamily="2" charset="-122"/>
            </a:endParaRPr>
          </a:p>
        </p:txBody>
      </p:sp>
      <p:sp>
        <p:nvSpPr>
          <p:cNvPr id="5" name="Text Box 3"/>
          <p:cNvSpPr txBox="1"/>
          <p:nvPr/>
        </p:nvSpPr>
        <p:spPr bwMode="auto">
          <a:xfrm>
            <a:off x="198715" y="738485"/>
            <a:ext cx="3981348"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lvl="0" indent="0" algn="dist" eaLnBrk="0" hangingPunct="0">
              <a:lnSpc>
                <a:spcPct val="100000"/>
              </a:lnSpc>
              <a:defRPr kumimoji="0" sz="1600" b="1"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r>
              <a:rPr lang="zh-CN" altLang="en-US" sz="1400" b="0" dirty="0"/>
              <a:t>输出参数</a:t>
            </a:r>
            <a:r>
              <a:rPr lang="zh-CN" altLang="zh-CN" sz="1400" b="0" dirty="0"/>
              <a:t>fitobject=fit(fitType,x,y) </a:t>
            </a:r>
          </a:p>
        </p:txBody>
      </p:sp>
      <p:sp>
        <p:nvSpPr>
          <p:cNvPr id="16" name="矩形 15"/>
          <p:cNvSpPr/>
          <p:nvPr/>
        </p:nvSpPr>
        <p:spPr>
          <a:xfrm>
            <a:off x="112120" y="2186969"/>
            <a:ext cx="4051320" cy="344325"/>
          </a:xfrm>
          <a:prstGeom prst="rect">
            <a:avLst/>
          </a:prstGeom>
          <a:noFill/>
          <a:ln w="9525">
            <a:noFill/>
            <a:miter lim="800000"/>
          </a:ln>
        </p:spPr>
        <p:txBody>
          <a:bodyPr vert="horz" wrap="square" lIns="91440" tIns="45720" rIns="91440" bIns="45720" numCol="1" anchor="t" anchorCtr="0" compatLnSpc="1">
            <a:spAutoFit/>
          </a:bodyPr>
          <a:lstStyle/>
          <a:p>
            <a:pPr marL="342900" indent="-342900" eaLnBrk="0" hangingPunct="0">
              <a:lnSpc>
                <a:spcPct val="110000"/>
              </a:lnSpc>
              <a:buClr>
                <a:srgbClr val="0070C0"/>
              </a:buClr>
              <a:buFont typeface="+mj-ea"/>
              <a:buAutoNum type="circleNumDbPlain" startAt="4"/>
            </a:pPr>
            <a:r>
              <a:rPr lang="zh-CN" altLang="en-US" sz="1600" kern="0" dirty="0">
                <a:solidFill>
                  <a:srgbClr val="0070C0"/>
                </a:solidFill>
                <a:latin typeface="微软雅黑" panose="020B0503020204020204" pitchFamily="34" charset="-122"/>
                <a:ea typeface="微软雅黑" panose="020B0503020204020204" pitchFamily="34" charset="-122"/>
              </a:rPr>
              <a:t>访问函数原型     </a:t>
            </a:r>
            <a:r>
              <a:rPr lang="en-US" altLang="zh-CN" sz="1600" kern="0" dirty="0" err="1">
                <a:solidFill>
                  <a:srgbClr val="FF0000"/>
                </a:solidFill>
                <a:latin typeface="微软雅黑" panose="020B0503020204020204" pitchFamily="34" charset="-122"/>
                <a:ea typeface="微软雅黑" panose="020B0503020204020204" pitchFamily="34" charset="-122"/>
              </a:rPr>
              <a:t>fitobject.expr</a:t>
            </a:r>
            <a:endParaRPr lang="zh-CN" altLang="en-US" sz="1600" kern="0" dirty="0">
              <a:solidFill>
                <a:srgbClr val="FF0000"/>
              </a:solidFill>
              <a:latin typeface="微软雅黑" panose="020B0503020204020204" pitchFamily="34" charset="-122"/>
              <a:ea typeface="微软雅黑" panose="020B0503020204020204" pitchFamily="34" charset="-122"/>
            </a:endParaRPr>
          </a:p>
        </p:txBody>
      </p:sp>
      <p:sp>
        <p:nvSpPr>
          <p:cNvPr id="19" name="矩形 18"/>
          <p:cNvSpPr/>
          <p:nvPr/>
        </p:nvSpPr>
        <p:spPr>
          <a:xfrm>
            <a:off x="139308" y="3668423"/>
            <a:ext cx="4449514" cy="615168"/>
          </a:xfrm>
          <a:prstGeom prst="rect">
            <a:avLst/>
          </a:prstGeom>
          <a:noFill/>
          <a:ln w="9525">
            <a:noFill/>
            <a:miter lim="800000"/>
          </a:ln>
        </p:spPr>
        <p:txBody>
          <a:bodyPr vert="horz" wrap="square" lIns="91440" tIns="45720" rIns="91440" bIns="45720" numCol="1" anchor="t" anchorCtr="0" compatLnSpc="1">
            <a:spAutoFit/>
          </a:bodyPr>
          <a:lstStyle/>
          <a:p>
            <a:pPr marL="342900" indent="-342900" eaLnBrk="0" hangingPunct="0">
              <a:lnSpc>
                <a:spcPct val="110000"/>
              </a:lnSpc>
              <a:buClr>
                <a:srgbClr val="0070C0"/>
              </a:buClr>
              <a:buFont typeface="+mj-ea"/>
              <a:buAutoNum type="circleNumDbPlain" startAt="7"/>
            </a:pPr>
            <a:r>
              <a:rPr lang="zh-CN" altLang="en-US" sz="1600" kern="0" dirty="0">
                <a:solidFill>
                  <a:srgbClr val="0070C0"/>
                </a:solidFill>
                <a:latin typeface="微软雅黑" panose="020B0503020204020204" pitchFamily="34" charset="-122"/>
                <a:ea typeface="微软雅黑" panose="020B0503020204020204" pitchFamily="34" charset="-122"/>
              </a:rPr>
              <a:t>预测拟合函数任意</a:t>
            </a:r>
            <a:r>
              <a:rPr lang="en-US" altLang="zh-CN" sz="1600" kern="0" dirty="0">
                <a:solidFill>
                  <a:srgbClr val="0070C0"/>
                </a:solidFill>
                <a:latin typeface="微软雅黑" panose="020B0503020204020204" pitchFamily="34" charset="-122"/>
                <a:ea typeface="微软雅黑" panose="020B0503020204020204" pitchFamily="34" charset="-122"/>
              </a:rPr>
              <a:t>x</a:t>
            </a:r>
            <a:r>
              <a:rPr lang="zh-CN" altLang="en-US" sz="1600" kern="0" dirty="0">
                <a:solidFill>
                  <a:srgbClr val="0070C0"/>
                </a:solidFill>
                <a:latin typeface="微软雅黑" panose="020B0503020204020204" pitchFamily="34" charset="-122"/>
                <a:ea typeface="微软雅黑" panose="020B0503020204020204" pitchFamily="34" charset="-122"/>
              </a:rPr>
              <a:t>处函数值 </a:t>
            </a:r>
            <a:r>
              <a:rPr lang="en-US" altLang="zh-CN" sz="1600" dirty="0">
                <a:solidFill>
                  <a:srgbClr val="FFFF00"/>
                </a:solidFill>
                <a:highlight>
                  <a:srgbClr val="FF0000"/>
                </a:highlight>
                <a:latin typeface="Arial Unicode MS"/>
                <a:ea typeface="source-code-pro"/>
              </a:rPr>
              <a:t>y=f</a:t>
            </a:r>
            <a:r>
              <a:rPr lang="zh-CN" altLang="zh-CN" sz="1600" dirty="0">
                <a:solidFill>
                  <a:srgbClr val="FFFF00"/>
                </a:solidFill>
                <a:highlight>
                  <a:srgbClr val="FF0000"/>
                </a:highlight>
                <a:latin typeface="Arial Unicode MS"/>
                <a:ea typeface="source-code-pro"/>
              </a:rPr>
              <a:t>itobject</a:t>
            </a:r>
            <a:r>
              <a:rPr lang="en-US" altLang="zh-CN" sz="1600" dirty="0">
                <a:solidFill>
                  <a:srgbClr val="FFFF00"/>
                </a:solidFill>
                <a:highlight>
                  <a:srgbClr val="FF0000"/>
                </a:highlight>
                <a:latin typeface="Arial Unicode MS"/>
                <a:ea typeface="source-code-pro"/>
              </a:rPr>
              <a:t>(x)</a:t>
            </a:r>
            <a:endParaRPr lang="zh-CN" altLang="en-US" sz="1600" kern="0" dirty="0">
              <a:solidFill>
                <a:srgbClr val="0070C0"/>
              </a:solidFill>
              <a:latin typeface="微软雅黑" panose="020B0503020204020204" pitchFamily="34" charset="-122"/>
              <a:ea typeface="微软雅黑" panose="020B0503020204020204" pitchFamily="34" charset="-122"/>
            </a:endParaRPr>
          </a:p>
          <a:p>
            <a:pPr marL="342900" indent="-342900" eaLnBrk="0" hangingPunct="0">
              <a:lnSpc>
                <a:spcPct val="110000"/>
              </a:lnSpc>
              <a:buClr>
                <a:srgbClr val="0070C0"/>
              </a:buClr>
              <a:buFont typeface="+mj-ea"/>
              <a:buAutoNum type="circleNumDbPlain" startAt="7"/>
            </a:pPr>
            <a:endParaRPr lang="zh-CN" altLang="en-US" sz="1600" kern="0" dirty="0">
              <a:solidFill>
                <a:srgbClr val="0070C0"/>
              </a:solidFill>
              <a:latin typeface="微软雅黑" panose="020B0503020204020204" pitchFamily="34" charset="-122"/>
              <a:ea typeface="微软雅黑" panose="020B0503020204020204" pitchFamily="34" charset="-122"/>
            </a:endParaRPr>
          </a:p>
        </p:txBody>
      </p:sp>
      <p:sp>
        <p:nvSpPr>
          <p:cNvPr id="2" name="对话气泡: 矩形 1">
            <a:extLst>
              <a:ext uri="{FF2B5EF4-FFF2-40B4-BE49-F238E27FC236}">
                <a16:creationId xmlns:a16="http://schemas.microsoft.com/office/drawing/2014/main" id="{623EB139-A877-48E6-83E6-F6FF3297FEDE}"/>
              </a:ext>
            </a:extLst>
          </p:cNvPr>
          <p:cNvSpPr/>
          <p:nvPr/>
        </p:nvSpPr>
        <p:spPr bwMode="auto">
          <a:xfrm>
            <a:off x="2644820" y="1524740"/>
            <a:ext cx="1584176" cy="239745"/>
          </a:xfrm>
          <a:prstGeom prst="wedgeRectCallout">
            <a:avLst>
              <a:gd name="adj1" fmla="val 100741"/>
              <a:gd name="adj2" fmla="val -41274"/>
            </a:avLst>
          </a:prstGeom>
          <a:noFill/>
          <a:ln w="127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spAutoFit/>
          </a:bodyPr>
          <a:lstStyle/>
          <a:p>
            <a:pPr marL="177800" marR="0" indent="-177800" algn="ctr" defTabSz="914400" rtl="0" eaLnBrk="0" fontAlgn="base" latinLnBrk="0" hangingPunct="0">
              <a:lnSpc>
                <a:spcPct val="11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Times New Roman" panose="02020603050405020304" pitchFamily="18" charset="0"/>
            </a:endParaRPr>
          </a:p>
        </p:txBody>
      </p:sp>
    </p:spTree>
    <p:extLst>
      <p:ext uri="{BB962C8B-B14F-4D97-AF65-F5344CB8AC3E}">
        <p14:creationId xmlns:p14="http://schemas.microsoft.com/office/powerpoint/2010/main" val="103011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p:bldP spid="13" grpId="0"/>
      <p:bldP spid="16" grpId="0"/>
      <p:bldP spid="19" grpId="0"/>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5568" y="1309579"/>
            <a:ext cx="8972863" cy="400110"/>
          </a:xfrm>
          <a:prstGeom prst="rect">
            <a:avLst/>
          </a:prstGeom>
          <a:noFill/>
        </p:spPr>
        <p:txBody>
          <a:bodyPr wrap="square">
            <a:spAutoFit/>
          </a:bodyPr>
          <a:lstStyle>
            <a:defPPr>
              <a:defRPr lang="zh-CN"/>
            </a:defPPr>
            <a:lvl1pPr>
              <a:spcBef>
                <a:spcPct val="20000"/>
              </a:spcBef>
              <a:buFont typeface="Arial" panose="020B0604020202020204" pitchFamily="34" charset="0"/>
              <a:buNone/>
              <a:defRPr sz="1800" b="1" kern="0">
                <a:solidFill>
                  <a:srgbClr val="00B0F0"/>
                </a:solidFill>
                <a:latin typeface="微软雅黑" panose="020B0503020204020204" pitchFamily="34" charset="-122"/>
                <a:ea typeface="微软雅黑" panose="020B0503020204020204" pitchFamily="34" charset="-122"/>
              </a:defRPr>
            </a:lvl1pPr>
            <a:lvl2pPr marL="742950" indent="-285750">
              <a:spcBef>
                <a:spcPct val="20000"/>
              </a:spcBef>
              <a:buFont typeface="Arial" panose="020B0604020202020204" pitchFamily="34" charset="0"/>
              <a:buChar char="–"/>
              <a:defRPr sz="2800">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latin typeface="Calibri" panose="020F0502020204030204" charset="0"/>
                <a:ea typeface="宋体" panose="02010600030101010101" pitchFamily="2" charset="-122"/>
              </a:defRPr>
            </a:lvl9pPr>
          </a:lstStyle>
          <a:p>
            <a:r>
              <a:rPr lang="zh-CN" altLang="en-US" sz="2000" dirty="0">
                <a:solidFill>
                  <a:srgbClr val="0070C0"/>
                </a:solidFill>
              </a:rPr>
              <a:t> </a:t>
            </a:r>
            <a:r>
              <a:rPr lang="en-US" altLang="zh-CN" sz="2000" dirty="0" err="1">
                <a:solidFill>
                  <a:srgbClr val="0070C0"/>
                </a:solidFill>
              </a:rPr>
              <a:t>plotfit</a:t>
            </a:r>
            <a:r>
              <a:rPr lang="zh-CN" altLang="en-US" sz="2000" dirty="0">
                <a:solidFill>
                  <a:srgbClr val="0070C0"/>
                </a:solidFill>
              </a:rPr>
              <a:t>将拟合结果</a:t>
            </a:r>
            <a:r>
              <a:rPr lang="en-US" altLang="zh-CN" sz="2000" dirty="0">
                <a:solidFill>
                  <a:srgbClr val="0070C0"/>
                </a:solidFill>
              </a:rPr>
              <a:t> (</a:t>
            </a:r>
            <a:r>
              <a:rPr lang="en-US" altLang="zh-CN" sz="2000" dirty="0" err="1">
                <a:solidFill>
                  <a:srgbClr val="0070C0"/>
                </a:solidFill>
              </a:rPr>
              <a:t>fitobject</a:t>
            </a:r>
            <a:r>
              <a:rPr lang="en-US" altLang="zh-CN" sz="2000" dirty="0">
                <a:solidFill>
                  <a:srgbClr val="0070C0"/>
                </a:solidFill>
              </a:rPr>
              <a:t>)</a:t>
            </a:r>
            <a:r>
              <a:rPr lang="zh-CN" altLang="en-US" sz="2000" dirty="0">
                <a:solidFill>
                  <a:srgbClr val="0070C0"/>
                </a:solidFill>
              </a:rPr>
              <a:t> 和采样数据</a:t>
            </a:r>
            <a:r>
              <a:rPr lang="en-US" altLang="zh-CN" sz="2000" dirty="0">
                <a:solidFill>
                  <a:srgbClr val="0070C0"/>
                </a:solidFill>
              </a:rPr>
              <a:t>x</a:t>
            </a:r>
            <a:r>
              <a:rPr lang="zh-CN" altLang="en-US" sz="2000" dirty="0">
                <a:solidFill>
                  <a:srgbClr val="0070C0"/>
                </a:solidFill>
              </a:rPr>
              <a:t>和</a:t>
            </a:r>
            <a:r>
              <a:rPr lang="en-US" altLang="zh-CN" sz="2000" dirty="0">
                <a:solidFill>
                  <a:srgbClr val="0070C0"/>
                </a:solidFill>
              </a:rPr>
              <a:t>y</a:t>
            </a:r>
            <a:r>
              <a:rPr lang="zh-CN" altLang="en-US" sz="2000" dirty="0">
                <a:solidFill>
                  <a:srgbClr val="0070C0"/>
                </a:solidFill>
              </a:rPr>
              <a:t> 画在一起，</a:t>
            </a:r>
            <a:r>
              <a:rPr lang="zh-CN" altLang="en-US" sz="2000" i="0" dirty="0">
                <a:solidFill>
                  <a:srgbClr val="0070C0"/>
                </a:solidFill>
                <a:effectLst/>
                <a:latin typeface="微软雅黑" panose="020B0503020204020204" pitchFamily="34" charset="-122"/>
                <a:ea typeface="微软雅黑" panose="020B0503020204020204" pitchFamily="34" charset="-122"/>
              </a:rPr>
              <a:t>拟合结果可视化</a:t>
            </a:r>
            <a:endParaRPr lang="zh-CN" altLang="en-US" sz="2000" dirty="0">
              <a:solidFill>
                <a:srgbClr val="0070C0"/>
              </a:solidFill>
            </a:endParaRPr>
          </a:p>
        </p:txBody>
      </p:sp>
      <p:sp>
        <p:nvSpPr>
          <p:cNvPr id="7" name="Text Box 3"/>
          <p:cNvSpPr txBox="1"/>
          <p:nvPr/>
        </p:nvSpPr>
        <p:spPr bwMode="auto">
          <a:xfrm>
            <a:off x="515205" y="2834532"/>
            <a:ext cx="3624748"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r>
              <a:rPr lang="en-US" altLang="zh-CN" sz="1600" dirty="0" err="1">
                <a:highlight>
                  <a:srgbClr val="FF0000"/>
                </a:highlight>
              </a:rPr>
              <a:t>TyCurveFitting</a:t>
            </a:r>
            <a:r>
              <a:rPr lang="en-US" altLang="zh-CN" sz="1600" dirty="0" err="1"/>
              <a:t>.plotfit</a:t>
            </a:r>
            <a:r>
              <a:rPr lang="en-US" altLang="zh-CN" sz="1600" dirty="0"/>
              <a:t>(</a:t>
            </a:r>
            <a:r>
              <a:rPr lang="zh-CN" altLang="zh-CN" sz="1600" dirty="0"/>
              <a:t>fitobject</a:t>
            </a:r>
            <a:r>
              <a:rPr lang="en-US" altLang="zh-CN" sz="1600" dirty="0"/>
              <a:t>,</a:t>
            </a:r>
            <a:r>
              <a:rPr lang="en-US" altLang="zh-CN" sz="1600" dirty="0" err="1"/>
              <a:t>x,y,</a:t>
            </a:r>
            <a:r>
              <a:rPr lang="en-US" altLang="zh-CN" sz="1600" dirty="0" err="1">
                <a:latin typeface="微软雅黑" panose="020B0503020204020204" pitchFamily="34" charset="-122"/>
                <a:ea typeface="微软雅黑" panose="020B0503020204020204" pitchFamily="34" charset="-122"/>
              </a:rPr>
              <a:t>fmt</a:t>
            </a:r>
            <a:r>
              <a:rPr lang="en-US" altLang="zh-CN" sz="1600" dirty="0"/>
              <a:t>)</a:t>
            </a:r>
            <a:endParaRPr lang="zh-CN" altLang="zh-CN" sz="1600" dirty="0"/>
          </a:p>
        </p:txBody>
      </p:sp>
      <p:sp>
        <p:nvSpPr>
          <p:cNvPr id="11" name="文本框 10"/>
          <p:cNvSpPr txBox="1"/>
          <p:nvPr/>
        </p:nvSpPr>
        <p:spPr>
          <a:xfrm>
            <a:off x="252259" y="33331"/>
            <a:ext cx="8683352" cy="567463"/>
          </a:xfrm>
          <a:prstGeom prst="rect">
            <a:avLst/>
          </a:prstGeom>
          <a:solidFill>
            <a:schemeClr val="bg1"/>
          </a:solidFill>
        </p:spPr>
        <p:txBody>
          <a:bodyPr wrap="square">
            <a:spAutoFit/>
          </a:bodyPr>
          <a:lstStyle/>
          <a:p>
            <a:pPr eaLnBrk="0">
              <a:lnSpc>
                <a:spcPts val="3900"/>
              </a:lnSpc>
              <a:spcBef>
                <a:spcPts val="0"/>
              </a:spcBef>
              <a:spcAft>
                <a:spcPts val="0"/>
              </a:spcAft>
            </a:pPr>
            <a:r>
              <a:rPr lang="en-US" altLang="ko-KR" sz="2800" b="1" dirty="0">
                <a:solidFill>
                  <a:srgbClr val="0070C0"/>
                </a:solidFill>
                <a:latin typeface="华文楷体" panose="02010600040101010101" pitchFamily="2" charset="-122"/>
                <a:ea typeface="华文楷体" panose="02010600040101010101" pitchFamily="2" charset="-122"/>
              </a:rPr>
              <a:t>§5.3 </a:t>
            </a:r>
            <a:r>
              <a:rPr lang="en-US" altLang="zh-CN" sz="2800" b="1" dirty="0">
                <a:solidFill>
                  <a:srgbClr val="0070C0"/>
                </a:solidFill>
                <a:latin typeface="华文楷体" panose="02010600040101010101" pitchFamily="2" charset="-122"/>
                <a:ea typeface="华文楷体" panose="02010600040101010101" pitchFamily="2" charset="-122"/>
              </a:rPr>
              <a:t>fit</a:t>
            </a:r>
            <a:r>
              <a:rPr lang="zh-CN" altLang="en-US" sz="2800" b="1" dirty="0">
                <a:solidFill>
                  <a:srgbClr val="0070C0"/>
                </a:solidFill>
                <a:latin typeface="华文楷体" panose="02010600040101010101" pitchFamily="2" charset="-122"/>
                <a:ea typeface="华文楷体" panose="02010600040101010101" pitchFamily="2" charset="-122"/>
              </a:rPr>
              <a:t>拟合</a:t>
            </a:r>
            <a:r>
              <a:rPr lang="zh-CN" altLang="en-US" sz="2800" b="1" i="0" dirty="0">
                <a:solidFill>
                  <a:srgbClr val="0070C0"/>
                </a:solidFill>
                <a:effectLst/>
                <a:latin typeface="华文楷体" panose="02010600040101010101" pitchFamily="2" charset="-122"/>
                <a:ea typeface="华文楷体" panose="02010600040101010101" pitchFamily="2" charset="-122"/>
              </a:rPr>
              <a:t>曲线</a:t>
            </a:r>
            <a:r>
              <a:rPr lang="zh-CN" altLang="en-US" sz="2800" b="1" dirty="0">
                <a:solidFill>
                  <a:srgbClr val="0070C0"/>
                </a:solidFill>
                <a:latin typeface="华文楷体" panose="02010600040101010101" pitchFamily="2" charset="-122"/>
                <a:ea typeface="华文楷体" panose="02010600040101010101" pitchFamily="2" charset="-122"/>
              </a:rPr>
              <a:t>或曲面</a:t>
            </a:r>
            <a:r>
              <a:rPr lang="en-US" altLang="zh-CN" sz="2800" b="1" kern="0" dirty="0">
                <a:solidFill>
                  <a:srgbClr val="FF0000"/>
                </a:solidFill>
                <a:latin typeface="华文楷体" panose="02010600040101010101" pitchFamily="2" charset="-122"/>
                <a:ea typeface="华文楷体" panose="02010600040101010101" pitchFamily="2" charset="-122"/>
              </a:rPr>
              <a:t>——</a:t>
            </a:r>
            <a:r>
              <a:rPr lang="en-US" altLang="zh-CN" sz="2800" b="1" kern="0" dirty="0" err="1">
                <a:solidFill>
                  <a:srgbClr val="FF0000"/>
                </a:solidFill>
                <a:latin typeface="华文楷体" panose="02010600040101010101" pitchFamily="2" charset="-122"/>
                <a:ea typeface="华文楷体" panose="02010600040101010101" pitchFamily="2" charset="-122"/>
              </a:rPr>
              <a:t>plotfit</a:t>
            </a:r>
            <a:r>
              <a:rPr lang="zh-CN" altLang="zh-CN" sz="2800" b="1" kern="0" dirty="0">
                <a:solidFill>
                  <a:srgbClr val="FF0000"/>
                </a:solidFill>
                <a:latin typeface="华文楷体" panose="02010600040101010101" pitchFamily="2" charset="-122"/>
                <a:ea typeface="华文楷体" panose="02010600040101010101" pitchFamily="2" charset="-122"/>
              </a:rPr>
              <a:t>绘制</a:t>
            </a:r>
            <a:r>
              <a:rPr lang="zh-CN" altLang="en-US" sz="2800" b="1" kern="0" dirty="0">
                <a:solidFill>
                  <a:srgbClr val="FF0000"/>
                </a:solidFill>
                <a:latin typeface="华文楷体" panose="02010600040101010101" pitchFamily="2" charset="-122"/>
                <a:ea typeface="华文楷体" panose="02010600040101010101" pitchFamily="2" charset="-122"/>
              </a:rPr>
              <a:t>拟合结果</a:t>
            </a:r>
            <a:r>
              <a:rPr lang="en-US" altLang="zh-CN" sz="2800" b="1" kern="0" dirty="0" err="1">
                <a:solidFill>
                  <a:srgbClr val="FF0000"/>
                </a:solidFill>
                <a:latin typeface="华文楷体" panose="02010600040101010101" pitchFamily="2" charset="-122"/>
                <a:ea typeface="华文楷体" panose="02010600040101010101" pitchFamily="2" charset="-122"/>
              </a:rPr>
              <a:t>fitobject</a:t>
            </a:r>
            <a:endParaRPr lang="zh-CN" altLang="zh-CN" sz="2800" b="1" kern="0" dirty="0">
              <a:solidFill>
                <a:srgbClr val="FF0000"/>
              </a:solidFill>
              <a:latin typeface="华文楷体" panose="02010600040101010101" pitchFamily="2" charset="-122"/>
              <a:ea typeface="华文楷体" panose="02010600040101010101" pitchFamily="2" charset="-122"/>
            </a:endParaRPr>
          </a:p>
        </p:txBody>
      </p:sp>
      <p:sp>
        <p:nvSpPr>
          <p:cNvPr id="14" name="矩形 4"/>
          <p:cNvSpPr>
            <a:spLocks noChangeArrowheads="1"/>
          </p:cNvSpPr>
          <p:nvPr/>
        </p:nvSpPr>
        <p:spPr bwMode="auto">
          <a:xfrm>
            <a:off x="123953" y="1833376"/>
            <a:ext cx="3727968" cy="369332"/>
          </a:xfrm>
          <a:prstGeom prst="rect">
            <a:avLst/>
          </a:prstGeom>
          <a:solidFill>
            <a:schemeClr val="bg1"/>
          </a:solidFill>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marL="342900" indent="-342900">
              <a:buFont typeface="+mj-ea"/>
              <a:buAutoNum type="circleNumDbPlain"/>
            </a:pPr>
            <a:r>
              <a:rPr lang="zh-CN" altLang="en-US" sz="1800" dirty="0">
                <a:solidFill>
                  <a:srgbClr val="0070C0"/>
                </a:solidFill>
                <a:latin typeface="微软雅黑" panose="020B0503020204020204" pitchFamily="34" charset="-122"/>
                <a:ea typeface="微软雅黑" panose="020B0503020204020204" pitchFamily="34" charset="-122"/>
              </a:rPr>
              <a:t>只加载</a:t>
            </a:r>
            <a:r>
              <a:rPr lang="en-US" altLang="zh-CN" sz="1800" dirty="0" err="1">
                <a:solidFill>
                  <a:srgbClr val="0070C0"/>
                </a:solidFill>
                <a:latin typeface="微软雅黑" panose="020B0503020204020204" pitchFamily="34" charset="-122"/>
                <a:ea typeface="微软雅黑" panose="020B0503020204020204" pitchFamily="34" charset="-122"/>
              </a:rPr>
              <a:t>TyCurveFitting</a:t>
            </a:r>
            <a:r>
              <a:rPr lang="en-US" altLang="zh-CN" sz="1800" dirty="0">
                <a:solidFill>
                  <a:srgbClr val="0070C0"/>
                </a:solidFill>
                <a:latin typeface="微软雅黑" panose="020B0503020204020204" pitchFamily="34" charset="-122"/>
                <a:ea typeface="微软雅黑" panose="020B0503020204020204" pitchFamily="34" charset="-122"/>
              </a:rPr>
              <a:t> </a:t>
            </a:r>
            <a:r>
              <a:rPr lang="zh-CN" altLang="en-US" sz="1800" dirty="0">
                <a:solidFill>
                  <a:srgbClr val="0070C0"/>
                </a:solidFill>
                <a:latin typeface="微软雅黑" panose="020B0503020204020204" pitchFamily="34" charset="-122"/>
                <a:ea typeface="微软雅黑" panose="020B0503020204020204" pitchFamily="34" charset="-122"/>
              </a:rPr>
              <a:t>函数库 </a:t>
            </a:r>
            <a:endParaRPr lang="ko-KR" altLang="en-US" sz="1800" dirty="0">
              <a:solidFill>
                <a:srgbClr val="0070C0"/>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134554" y="2352696"/>
            <a:ext cx="8972863" cy="369332"/>
          </a:xfrm>
          <a:prstGeom prst="rect">
            <a:avLst/>
          </a:prstGeom>
          <a:noFill/>
        </p:spPr>
        <p:txBody>
          <a:bodyPr wrap="square">
            <a:spAutoFit/>
          </a:bodyPr>
          <a:lstStyle>
            <a:defPPr>
              <a:defRPr lang="zh-CN"/>
            </a:defPPr>
            <a:lvl1pPr>
              <a:defRPr b="1" kern="0">
                <a:solidFill>
                  <a:srgbClr val="00B0F0"/>
                </a:solidFill>
                <a:latin typeface="微软雅黑" panose="020B0503020204020204" pitchFamily="34" charset="-122"/>
                <a:ea typeface="微软雅黑" panose="020B0503020204020204" pitchFamily="34" charset="-122"/>
                <a:cs typeface="宋体" panose="02010600030101010101" pitchFamily="2" charset="-122"/>
              </a:defRPr>
            </a:lvl1pPr>
          </a:lstStyle>
          <a:p>
            <a:pPr marL="342900" indent="-342900">
              <a:buFont typeface="+mj-ea"/>
              <a:buAutoNum type="circleNumDbPlain" startAt="2"/>
            </a:pPr>
            <a:r>
              <a:rPr lang="zh-CN" altLang="en-US" b="0" dirty="0">
                <a:solidFill>
                  <a:srgbClr val="0070C0"/>
                </a:solidFill>
              </a:rPr>
              <a:t>加载</a:t>
            </a:r>
            <a:r>
              <a:rPr lang="en-US" altLang="zh-CN" sz="1800" b="0" kern="0" dirty="0" err="1">
                <a:solidFill>
                  <a:srgbClr val="FF0000"/>
                </a:solidFill>
              </a:rPr>
              <a:t>TyCurveFitting</a:t>
            </a:r>
            <a:r>
              <a:rPr lang="zh-CN" altLang="en-US" b="0" dirty="0">
                <a:solidFill>
                  <a:srgbClr val="FF0000"/>
                </a:solidFill>
              </a:rPr>
              <a:t>和</a:t>
            </a:r>
            <a:r>
              <a:rPr lang="en-US" altLang="zh-CN" b="0" dirty="0" err="1">
                <a:solidFill>
                  <a:srgbClr val="FF0000"/>
                </a:solidFill>
              </a:rPr>
              <a:t>TyDeepLearning</a:t>
            </a:r>
            <a:r>
              <a:rPr lang="zh-CN" altLang="en-US" b="0" dirty="0">
                <a:solidFill>
                  <a:srgbClr val="0070C0"/>
                </a:solidFill>
              </a:rPr>
              <a:t>两个函数库时，命令前标注函数库名</a:t>
            </a:r>
          </a:p>
        </p:txBody>
      </p:sp>
      <p:sp>
        <p:nvSpPr>
          <p:cNvPr id="5" name="Text Box 3"/>
          <p:cNvSpPr txBox="1"/>
          <p:nvPr/>
        </p:nvSpPr>
        <p:spPr bwMode="auto">
          <a:xfrm>
            <a:off x="3851921" y="1823340"/>
            <a:ext cx="2304255"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r>
              <a:rPr lang="en-US" altLang="zh-CN" sz="1600" dirty="0" err="1"/>
              <a:t>plotfit</a:t>
            </a:r>
            <a:r>
              <a:rPr lang="en-US" altLang="zh-CN" sz="1600" dirty="0"/>
              <a:t>(</a:t>
            </a:r>
            <a:r>
              <a:rPr lang="zh-CN" altLang="zh-CN" sz="1600" dirty="0"/>
              <a:t>fitobject</a:t>
            </a:r>
            <a:r>
              <a:rPr lang="en-US" altLang="zh-CN" sz="1600" dirty="0"/>
              <a:t>,</a:t>
            </a:r>
            <a:r>
              <a:rPr lang="en-US" altLang="zh-CN" sz="1600" dirty="0" err="1"/>
              <a:t>x,y,</a:t>
            </a:r>
            <a:r>
              <a:rPr lang="en-US" altLang="zh-CN" sz="1600" dirty="0" err="1">
                <a:latin typeface="微软雅黑" panose="020B0503020204020204" pitchFamily="34" charset="-122"/>
                <a:ea typeface="微软雅黑" panose="020B0503020204020204" pitchFamily="34" charset="-122"/>
              </a:rPr>
              <a:t>fmt</a:t>
            </a:r>
            <a:r>
              <a:rPr lang="en-US" altLang="zh-CN" sz="1600" dirty="0"/>
              <a:t>)</a:t>
            </a:r>
            <a:endParaRPr lang="zh-CN" altLang="zh-CN" sz="1600" dirty="0"/>
          </a:p>
        </p:txBody>
      </p:sp>
      <p:sp>
        <p:nvSpPr>
          <p:cNvPr id="17" name="文本框 16"/>
          <p:cNvSpPr txBox="1"/>
          <p:nvPr/>
        </p:nvSpPr>
        <p:spPr>
          <a:xfrm>
            <a:off x="497616" y="3270979"/>
            <a:ext cx="8322856"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采样数据点</a:t>
            </a:r>
            <a:r>
              <a:rPr lang="en-US" altLang="zh-CN" dirty="0">
                <a:solidFill>
                  <a:srgbClr val="0070C0"/>
                </a:solidFill>
                <a:latin typeface="微软雅黑" panose="020B0503020204020204" pitchFamily="34" charset="-122"/>
                <a:ea typeface="微软雅黑" panose="020B0503020204020204" pitchFamily="34" charset="-122"/>
              </a:rPr>
              <a:t>x</a:t>
            </a:r>
            <a:r>
              <a:rPr lang="zh-CN" altLang="en-US" dirty="0">
                <a:solidFill>
                  <a:srgbClr val="0070C0"/>
                </a:solidFill>
                <a:latin typeface="微软雅黑" panose="020B0503020204020204" pitchFamily="34" charset="-122"/>
                <a:ea typeface="微软雅黑" panose="020B0503020204020204" pitchFamily="34" charset="-122"/>
              </a:rPr>
              <a:t>和</a:t>
            </a:r>
            <a:r>
              <a:rPr lang="en-US" altLang="zh-CN" dirty="0">
                <a:solidFill>
                  <a:srgbClr val="0070C0"/>
                </a:solidFill>
                <a:latin typeface="微软雅黑" panose="020B0503020204020204" pitchFamily="34" charset="-122"/>
                <a:ea typeface="微软雅黑" panose="020B0503020204020204" pitchFamily="34" charset="-122"/>
              </a:rPr>
              <a:t>y,   </a:t>
            </a:r>
            <a:r>
              <a:rPr lang="zh-CN" altLang="en-US" dirty="0">
                <a:solidFill>
                  <a:srgbClr val="0070C0"/>
                </a:solidFill>
                <a:latin typeface="微软雅黑" panose="020B0503020204020204" pitchFamily="34" charset="-122"/>
                <a:ea typeface="微软雅黑" panose="020B0503020204020204" pitchFamily="34" charset="-122"/>
              </a:rPr>
              <a:t>绘制线条基本属性</a:t>
            </a:r>
            <a:r>
              <a:rPr lang="en-US" altLang="zh-CN" dirty="0" err="1">
                <a:solidFill>
                  <a:srgbClr val="0070C0"/>
                </a:solidFill>
                <a:latin typeface="微软雅黑" panose="020B0503020204020204" pitchFamily="34" charset="-122"/>
                <a:ea typeface="微软雅黑" panose="020B0503020204020204" pitchFamily="34" charset="-122"/>
              </a:rPr>
              <a:t>fmt</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线型、颜色、标记符，“</a:t>
            </a:r>
            <a:r>
              <a:rPr lang="en-US" altLang="zh-CN" dirty="0">
                <a:solidFill>
                  <a:srgbClr val="0070C0"/>
                </a:solidFill>
                <a:latin typeface="微软雅黑" panose="020B0503020204020204" pitchFamily="34" charset="-122"/>
                <a:ea typeface="微软雅黑" panose="020B0503020204020204" pitchFamily="34" charset="-122"/>
              </a:rPr>
              <a:t>-</a:t>
            </a:r>
            <a:r>
              <a:rPr lang="en-US" altLang="zh-CN" dirty="0" err="1">
                <a:solidFill>
                  <a:srgbClr val="0070C0"/>
                </a:solidFill>
                <a:latin typeface="微软雅黑" panose="020B0503020204020204" pitchFamily="34" charset="-122"/>
                <a:ea typeface="微软雅黑" panose="020B0503020204020204" pitchFamily="34" charset="-122"/>
              </a:rPr>
              <a:t>rd</a:t>
            </a:r>
            <a:r>
              <a:rPr lang="zh-CN" altLang="en-US" dirty="0">
                <a:solidFill>
                  <a:srgbClr val="0070C0"/>
                </a:solidFill>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a:t>
            </a:r>
            <a:r>
              <a:rPr lang="zh-CN" altLang="en-US" dirty="0">
                <a:solidFill>
                  <a:srgbClr val="0070C0"/>
                </a:solidFill>
                <a:latin typeface="微软雅黑" panose="020B0503020204020204" pitchFamily="34" charset="-122"/>
                <a:ea typeface="微软雅黑" panose="020B0503020204020204" pitchFamily="34" charset="-122"/>
              </a:rPr>
              <a:t>可忽略</a:t>
            </a:r>
            <a:endParaRPr lang="zh-CN" altLang="en-US" dirty="0">
              <a:solidFill>
                <a:srgbClr val="0070C0"/>
              </a:solidFill>
            </a:endParaRPr>
          </a:p>
        </p:txBody>
      </p:sp>
      <p:sp>
        <p:nvSpPr>
          <p:cNvPr id="19" name="文本框 18"/>
          <p:cNvSpPr txBox="1"/>
          <p:nvPr/>
        </p:nvSpPr>
        <p:spPr>
          <a:xfrm>
            <a:off x="149977" y="4187864"/>
            <a:ext cx="3269895" cy="369332"/>
          </a:xfrm>
          <a:prstGeom prst="rect">
            <a:avLst/>
          </a:prstGeom>
          <a:noFill/>
        </p:spPr>
        <p:txBody>
          <a:bodyPr wrap="square">
            <a:spAutoFit/>
          </a:bodyPr>
          <a:lstStyle/>
          <a:p>
            <a:pPr>
              <a:buFont typeface="+mj-ea"/>
              <a:buAutoNum type="circleNumDbPlain" startAt="4"/>
            </a:pPr>
            <a:r>
              <a:rPr lang="zh-CN" altLang="en-US" kern="0" dirty="0">
                <a:solidFill>
                  <a:srgbClr val="0070C0"/>
                </a:solidFill>
                <a:latin typeface="微软雅黑" panose="020B0503020204020204" pitchFamily="34" charset="-122"/>
                <a:ea typeface="微软雅黑" panose="020B0503020204020204" pitchFamily="34" charset="-122"/>
                <a:cs typeface="宋体" panose="02010600030101010101" pitchFamily="2" charset="-122"/>
              </a:rPr>
              <a:t> 绘制残差图 </a:t>
            </a:r>
            <a:r>
              <a:rPr lang="en-US" altLang="zh-CN" kern="0" dirty="0">
                <a:solidFill>
                  <a:srgbClr val="FF0000"/>
                </a:solidFill>
                <a:latin typeface="微软雅黑" panose="020B0503020204020204" pitchFamily="34" charset="-122"/>
                <a:ea typeface="微软雅黑" panose="020B0503020204020204" pitchFamily="34" charset="-122"/>
                <a:cs typeface="宋体" panose="02010600030101010101" pitchFamily="2" charset="-122"/>
              </a:rPr>
              <a:t>residuals</a:t>
            </a:r>
            <a:r>
              <a:rPr lang="en-US" altLang="zh-CN" kern="0" dirty="0">
                <a:solidFill>
                  <a:srgbClr val="0070C0"/>
                </a:solidFill>
                <a:latin typeface="微软雅黑" panose="020B0503020204020204" pitchFamily="34" charset="-122"/>
                <a:ea typeface="微软雅黑" panose="020B0503020204020204" pitchFamily="34" charset="-122"/>
                <a:cs typeface="宋体" panose="02010600030101010101" pitchFamily="2" charset="-122"/>
              </a:rPr>
              <a:t>:</a:t>
            </a:r>
            <a:endParaRPr lang="zh-CN" altLang="en-US" kern="0" dirty="0">
              <a:solidFill>
                <a:srgbClr val="0070C0"/>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20" name="文本框 19"/>
          <p:cNvSpPr txBox="1"/>
          <p:nvPr/>
        </p:nvSpPr>
        <p:spPr>
          <a:xfrm>
            <a:off x="3480804" y="763329"/>
            <a:ext cx="2455329" cy="400110"/>
          </a:xfrm>
          <a:prstGeom prst="rect">
            <a:avLst/>
          </a:prstGeom>
          <a:solidFill>
            <a:schemeClr val="bg1"/>
          </a:solidFill>
        </p:spPr>
        <p:txBody>
          <a:bodyPr wrap="square">
            <a:spAutoFit/>
          </a:bodyPr>
          <a:lstStyle/>
          <a:p>
            <a:r>
              <a:rPr lang="zh-CN" altLang="en-US" sz="2000" b="1" i="0" dirty="0">
                <a:solidFill>
                  <a:srgbClr val="0070C0"/>
                </a:solidFill>
                <a:effectLst/>
                <a:latin typeface="微软雅黑" panose="020B0503020204020204" pitchFamily="34" charset="-122"/>
                <a:ea typeface="微软雅黑" panose="020B0503020204020204" pitchFamily="34" charset="-122"/>
              </a:rPr>
              <a:t>拟合结果</a:t>
            </a:r>
            <a:r>
              <a:rPr lang="en-US" altLang="zh-CN" sz="2000" b="1" i="0" dirty="0" err="1">
                <a:solidFill>
                  <a:srgbClr val="0070C0"/>
                </a:solidFill>
                <a:effectLst/>
                <a:latin typeface="微软雅黑" panose="020B0503020204020204" pitchFamily="34" charset="-122"/>
                <a:ea typeface="微软雅黑" panose="020B0503020204020204" pitchFamily="34" charset="-122"/>
              </a:rPr>
              <a:t>fitbject</a:t>
            </a:r>
            <a:endParaRPr lang="zh-CN" altLang="en-US" sz="2000" dirty="0">
              <a:solidFill>
                <a:srgbClr val="0070C0"/>
              </a:solidFill>
              <a:latin typeface="微软雅黑" panose="020B0503020204020204" pitchFamily="34" charset="-122"/>
              <a:ea typeface="微软雅黑" panose="020B0503020204020204" pitchFamily="34" charset="-122"/>
            </a:endParaRPr>
          </a:p>
        </p:txBody>
      </p:sp>
      <p:sp>
        <p:nvSpPr>
          <p:cNvPr id="21" name="Text Box 3"/>
          <p:cNvSpPr txBox="1"/>
          <p:nvPr/>
        </p:nvSpPr>
        <p:spPr bwMode="auto">
          <a:xfrm>
            <a:off x="2936849" y="4187864"/>
            <a:ext cx="3147319"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algn="dist" defTabSz="914400" eaLnBrk="0" latinLnBrk="0" hangingPunct="0">
              <a:lnSpc>
                <a:spcPct val="100000"/>
              </a:lnSpc>
              <a:buClrTx/>
              <a:buSzTx/>
              <a:buFontTx/>
              <a:buNone/>
              <a:defRPr kumimoji="0" sz="18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pPr algn="l"/>
            <a:r>
              <a:rPr lang="en-US" altLang="zh-CN" sz="1400" dirty="0" err="1"/>
              <a:t>plotfit</a:t>
            </a:r>
            <a:r>
              <a:rPr lang="en-US" altLang="zh-CN" sz="1400" dirty="0"/>
              <a:t>(</a:t>
            </a:r>
            <a:r>
              <a:rPr lang="zh-CN" altLang="zh-CN" sz="1400" dirty="0"/>
              <a:t>fitobject</a:t>
            </a:r>
            <a:r>
              <a:rPr lang="en-US" altLang="zh-CN" sz="1400" dirty="0"/>
              <a:t>,</a:t>
            </a:r>
            <a:r>
              <a:rPr lang="en-US" altLang="zh-CN" sz="1400" dirty="0" err="1"/>
              <a:t>x,y</a:t>
            </a:r>
            <a:r>
              <a:rPr lang="zh-CN" altLang="en-US" sz="1400" dirty="0"/>
              <a:t>，</a:t>
            </a:r>
            <a:r>
              <a:rPr lang="en-US" altLang="zh-CN" sz="1400" dirty="0" err="1"/>
              <a:t>fmt</a:t>
            </a:r>
            <a:r>
              <a:rPr lang="en-US" altLang="zh-CN" sz="1400" dirty="0"/>
              <a:t> ,</a:t>
            </a:r>
            <a:r>
              <a:rPr lang="zh-CN" altLang="en-US" sz="1400" dirty="0"/>
              <a:t> </a:t>
            </a:r>
            <a:r>
              <a:rPr lang="zh-CN" altLang="zh-CN" sz="1400" dirty="0"/>
              <a:t>"</a:t>
            </a:r>
            <a:r>
              <a:rPr lang="en-US" altLang="zh-CN" sz="1400" dirty="0"/>
              <a:t> </a:t>
            </a:r>
            <a:r>
              <a:rPr lang="zh-CN" altLang="zh-CN" sz="1400" dirty="0"/>
              <a:t>residuals"</a:t>
            </a:r>
            <a:r>
              <a:rPr lang="en-US" altLang="zh-CN" sz="1400" dirty="0"/>
              <a:t>)</a:t>
            </a:r>
            <a:endParaRPr lang="zh-CN" altLang="zh-CN" sz="1400" dirty="0"/>
          </a:p>
        </p:txBody>
      </p:sp>
      <p:sp>
        <p:nvSpPr>
          <p:cNvPr id="12" name="Text Box 3"/>
          <p:cNvSpPr txBox="1"/>
          <p:nvPr/>
        </p:nvSpPr>
        <p:spPr bwMode="auto">
          <a:xfrm>
            <a:off x="5704578" y="773563"/>
            <a:ext cx="2323806"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stStyle>
          <a:p>
            <a:pPr marL="0" lvl="0" indent="0" eaLnBrk="0" hangingPunct="0">
              <a:lnSpc>
                <a:spcPct val="100000"/>
              </a:lnSpc>
            </a:pPr>
            <a:r>
              <a:rPr kumimoji="0" lang="zh-CN" altLang="zh-CN" sz="1600" b="0" i="0" u="none" strike="noStrike" cap="none" normalizeH="0" baseline="0" dirty="0">
                <a:ln>
                  <a:noFill/>
                </a:ln>
                <a:effectLst/>
                <a:latin typeface="Arial Unicode MS"/>
                <a:ea typeface="source-code-pro"/>
              </a:rPr>
              <a:t>fitobject=fit(fitType,x,y)</a:t>
            </a:r>
            <a:r>
              <a:rPr kumimoji="0" lang="zh-CN" altLang="zh-CN" sz="1600" b="0" i="0" u="none" strike="noStrike" cap="none" normalizeH="0" baseline="0" dirty="0">
                <a:ln>
                  <a:noFill/>
                </a:ln>
                <a:effectLst/>
              </a:rPr>
              <a:t> </a:t>
            </a:r>
            <a:endParaRPr kumimoji="0" lang="zh-CN" altLang="zh-CN" sz="1600" b="0" i="0" u="none" strike="noStrike" cap="none" normalizeH="0" baseline="0" dirty="0">
              <a:ln>
                <a:noFill/>
              </a:ln>
              <a:effectLst/>
              <a:latin typeface="Arial" panose="020B0604020202020204" pitchFamily="34" charset="0"/>
            </a:endParaRPr>
          </a:p>
        </p:txBody>
      </p:sp>
      <p:sp>
        <p:nvSpPr>
          <p:cNvPr id="16" name="文本框 15"/>
          <p:cNvSpPr txBox="1"/>
          <p:nvPr/>
        </p:nvSpPr>
        <p:spPr>
          <a:xfrm>
            <a:off x="6284077" y="1788377"/>
            <a:ext cx="2735970" cy="369332"/>
          </a:xfrm>
          <a:prstGeom prst="rect">
            <a:avLst/>
          </a:prstGeom>
          <a:noFill/>
        </p:spPr>
        <p:txBody>
          <a:bodyPr wrap="square">
            <a:spAutoFit/>
          </a:bodyPr>
          <a:lstStyle/>
          <a:p>
            <a:r>
              <a:rPr lang="en-US" altLang="zh-CN" dirty="0">
                <a:solidFill>
                  <a:srgbClr val="0070C0"/>
                </a:solidFill>
              </a:rPr>
              <a:t>x</a:t>
            </a:r>
            <a:r>
              <a:rPr lang="zh-CN" altLang="en-US" dirty="0">
                <a:solidFill>
                  <a:srgbClr val="0070C0"/>
                </a:solidFill>
              </a:rPr>
              <a:t>，</a:t>
            </a:r>
            <a:r>
              <a:rPr lang="en-US" altLang="zh-CN" dirty="0">
                <a:solidFill>
                  <a:srgbClr val="0070C0"/>
                </a:solidFill>
              </a:rPr>
              <a:t>y,</a:t>
            </a:r>
            <a:r>
              <a:rPr lang="zh-CN" altLang="en-US" dirty="0">
                <a:solidFill>
                  <a:srgbClr val="0070C0"/>
                </a:solidFill>
              </a:rPr>
              <a:t>线属性</a:t>
            </a:r>
            <a:r>
              <a:rPr lang="en-US" altLang="zh-CN" dirty="0" err="1">
                <a:solidFill>
                  <a:srgbClr val="0070C0"/>
                </a:solidFill>
              </a:rPr>
              <a:t>fmt</a:t>
            </a:r>
            <a:r>
              <a:rPr lang="zh-CN" altLang="en-US" dirty="0">
                <a:solidFill>
                  <a:srgbClr val="0070C0"/>
                </a:solidFill>
              </a:rPr>
              <a:t>可省略</a:t>
            </a:r>
          </a:p>
        </p:txBody>
      </p:sp>
      <p:sp>
        <p:nvSpPr>
          <p:cNvPr id="18" name="文本框 17">
            <a:extLst>
              <a:ext uri="{FF2B5EF4-FFF2-40B4-BE49-F238E27FC236}">
                <a16:creationId xmlns:a16="http://schemas.microsoft.com/office/drawing/2014/main" id="{232CCAA9-C33A-4C24-88E0-4CA82806E8F0}"/>
              </a:ext>
            </a:extLst>
          </p:cNvPr>
          <p:cNvSpPr txBox="1"/>
          <p:nvPr/>
        </p:nvSpPr>
        <p:spPr>
          <a:xfrm>
            <a:off x="152726" y="3709367"/>
            <a:ext cx="1901719" cy="369332"/>
          </a:xfrm>
          <a:prstGeom prst="rect">
            <a:avLst/>
          </a:prstGeom>
          <a:solidFill>
            <a:schemeClr val="bg1"/>
          </a:solidFill>
        </p:spPr>
        <p:txBody>
          <a:bodyPr wrap="square">
            <a:spAutoFit/>
          </a:bodyPr>
          <a:lstStyle/>
          <a:p>
            <a:pPr marL="342900" indent="-342900">
              <a:buFont typeface="+mj-ea"/>
              <a:buAutoNum type="circleNumDbPlain" startAt="3"/>
            </a:pPr>
            <a:r>
              <a:rPr lang="zh-CN" altLang="en-US" kern="0" dirty="0">
                <a:solidFill>
                  <a:srgbClr val="0070C0"/>
                </a:solidFill>
                <a:latin typeface="微软雅黑" panose="020B0503020204020204" pitchFamily="34" charset="-122"/>
                <a:ea typeface="微软雅黑" panose="020B0503020204020204" pitchFamily="34" charset="-122"/>
              </a:rPr>
              <a:t>绘制预测区间</a:t>
            </a:r>
          </a:p>
        </p:txBody>
      </p:sp>
      <p:sp>
        <p:nvSpPr>
          <p:cNvPr id="22" name="Text Box 3">
            <a:extLst>
              <a:ext uri="{FF2B5EF4-FFF2-40B4-BE49-F238E27FC236}">
                <a16:creationId xmlns:a16="http://schemas.microsoft.com/office/drawing/2014/main" id="{C6890600-93BC-4835-AA0F-E809E0E1BD18}"/>
              </a:ext>
            </a:extLst>
          </p:cNvPr>
          <p:cNvSpPr txBox="1"/>
          <p:nvPr/>
        </p:nvSpPr>
        <p:spPr bwMode="auto">
          <a:xfrm>
            <a:off x="5736383" y="3724756"/>
            <a:ext cx="2500023"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r>
              <a:rPr lang="en-US" altLang="zh-CN" sz="1600" dirty="0" err="1"/>
              <a:t>plotfit</a:t>
            </a:r>
            <a:r>
              <a:rPr lang="en-US" altLang="zh-CN" sz="1600" dirty="0"/>
              <a:t>(</a:t>
            </a:r>
            <a:r>
              <a:rPr lang="zh-CN" altLang="zh-CN" sz="1600" dirty="0"/>
              <a:t>fitobject</a:t>
            </a:r>
            <a:r>
              <a:rPr lang="en-US" altLang="zh-CN" sz="1600" dirty="0"/>
              <a:t>,</a:t>
            </a:r>
            <a:r>
              <a:rPr lang="zh-CN" altLang="zh-CN" sz="1600" dirty="0">
                <a:highlight>
                  <a:srgbClr val="FF0000"/>
                </a:highlight>
              </a:rPr>
              <a:t>“</a:t>
            </a:r>
            <a:r>
              <a:rPr lang="en-US" altLang="zh-CN" sz="1600" dirty="0" err="1">
                <a:highlight>
                  <a:srgbClr val="FF0000"/>
                </a:highlight>
              </a:rPr>
              <a:t>predfun</a:t>
            </a:r>
            <a:r>
              <a:rPr lang="zh-CN" altLang="zh-CN" sz="1600" dirty="0">
                <a:highlight>
                  <a:srgbClr val="FF0000"/>
                </a:highlight>
              </a:rPr>
              <a:t>"</a:t>
            </a:r>
            <a:r>
              <a:rPr lang="en-US" altLang="zh-CN" sz="1600" dirty="0">
                <a:highlight>
                  <a:srgbClr val="FF0000"/>
                </a:highlight>
              </a:rPr>
              <a:t>)</a:t>
            </a:r>
            <a:endParaRPr lang="zh-CN" altLang="zh-CN" sz="1600" dirty="0">
              <a:highlight>
                <a:srgbClr val="FF0000"/>
              </a:highlight>
            </a:endParaRPr>
          </a:p>
        </p:txBody>
      </p:sp>
      <p:sp>
        <p:nvSpPr>
          <p:cNvPr id="24" name="AutoShape 13">
            <a:extLst>
              <a:ext uri="{FF2B5EF4-FFF2-40B4-BE49-F238E27FC236}">
                <a16:creationId xmlns:a16="http://schemas.microsoft.com/office/drawing/2014/main" id="{531183C2-0EF0-4885-A8E6-5A6A65E8BCD8}"/>
              </a:ext>
            </a:extLst>
          </p:cNvPr>
          <p:cNvSpPr/>
          <p:nvPr/>
        </p:nvSpPr>
        <p:spPr bwMode="auto">
          <a:xfrm>
            <a:off x="-37636" y="763329"/>
            <a:ext cx="3457508" cy="449232"/>
          </a:xfrm>
          <a:prstGeom prst="irregularSeal2">
            <a:avLst/>
          </a:prstGeom>
          <a:solidFill>
            <a:srgbClr val="FF0000"/>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r>
              <a:rPr lang="zh-CN" altLang="en-US" b="1" kern="0" dirty="0">
                <a:solidFill>
                  <a:srgbClr val="FFFF00"/>
                </a:solidFill>
                <a:latin typeface="华文楷体" panose="02010600040101010101" pitchFamily="2" charset="-122"/>
                <a:ea typeface="华文楷体" panose="02010600040101010101" pitchFamily="2" charset="-122"/>
              </a:rPr>
              <a:t>拟合结果可视化</a:t>
            </a:r>
            <a:endParaRPr lang="zh-CN" altLang="en-US" dirty="0">
              <a:solidFill>
                <a:srgbClr val="FFFF00"/>
              </a:solidFill>
            </a:endParaRPr>
          </a:p>
        </p:txBody>
      </p:sp>
      <p:sp>
        <p:nvSpPr>
          <p:cNvPr id="26" name="Text Box 3">
            <a:extLst>
              <a:ext uri="{FF2B5EF4-FFF2-40B4-BE49-F238E27FC236}">
                <a16:creationId xmlns:a16="http://schemas.microsoft.com/office/drawing/2014/main" id="{B6EE5D1B-B4DF-435E-9248-D13785CE7134}"/>
              </a:ext>
            </a:extLst>
          </p:cNvPr>
          <p:cNvSpPr txBox="1"/>
          <p:nvPr/>
        </p:nvSpPr>
        <p:spPr bwMode="auto">
          <a:xfrm>
            <a:off x="2084861" y="3738204"/>
            <a:ext cx="1794947"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r>
              <a:rPr lang="en-US" altLang="zh-CN" sz="1600" dirty="0" err="1">
                <a:highlight>
                  <a:srgbClr val="003B76"/>
                </a:highlight>
              </a:rPr>
              <a:t>xlim</a:t>
            </a:r>
            <a:r>
              <a:rPr lang="en-US" altLang="zh-CN" sz="1600" dirty="0">
                <a:highlight>
                  <a:srgbClr val="003B76"/>
                </a:highlight>
              </a:rPr>
              <a:t>([</a:t>
            </a:r>
            <a:r>
              <a:rPr lang="en-US" altLang="zh-CN" sz="1600" dirty="0" err="1">
                <a:highlight>
                  <a:srgbClr val="003B76"/>
                </a:highlight>
              </a:rPr>
              <a:t>xmin,xmax</a:t>
            </a:r>
            <a:r>
              <a:rPr lang="en-US" altLang="zh-CN" sz="1600" dirty="0">
                <a:highlight>
                  <a:srgbClr val="003B76"/>
                </a:highlight>
              </a:rPr>
              <a:t>])</a:t>
            </a:r>
            <a:endParaRPr lang="zh-CN" altLang="zh-CN" sz="1600" dirty="0">
              <a:highlight>
                <a:srgbClr val="003B76"/>
              </a:highlight>
            </a:endParaRPr>
          </a:p>
        </p:txBody>
      </p:sp>
      <p:sp>
        <p:nvSpPr>
          <p:cNvPr id="27" name="文本框 26">
            <a:extLst>
              <a:ext uri="{FF2B5EF4-FFF2-40B4-BE49-F238E27FC236}">
                <a16:creationId xmlns:a16="http://schemas.microsoft.com/office/drawing/2014/main" id="{88364E29-393F-4895-B3E6-4E53E5BD2A2C}"/>
              </a:ext>
            </a:extLst>
          </p:cNvPr>
          <p:cNvSpPr txBox="1"/>
          <p:nvPr/>
        </p:nvSpPr>
        <p:spPr>
          <a:xfrm>
            <a:off x="3952787" y="3720639"/>
            <a:ext cx="1794946" cy="369332"/>
          </a:xfrm>
          <a:prstGeom prst="rect">
            <a:avLst/>
          </a:prstGeom>
          <a:noFill/>
        </p:spPr>
        <p:txBody>
          <a:bodyPr wrap="square">
            <a:spAutoFit/>
          </a:bodyPr>
          <a:lstStyle/>
          <a:p>
            <a:r>
              <a:rPr lang="zh-CN" altLang="en-US" dirty="0">
                <a:solidFill>
                  <a:srgbClr val="0070C0"/>
                </a:solidFill>
                <a:latin typeface="微软雅黑" panose="020B0503020204020204" pitchFamily="34" charset="-122"/>
                <a:ea typeface="微软雅黑" panose="020B0503020204020204" pitchFamily="34" charset="-122"/>
              </a:rPr>
              <a:t>预测</a:t>
            </a:r>
            <a:r>
              <a:rPr lang="en-US" altLang="zh-CN" dirty="0">
                <a:solidFill>
                  <a:srgbClr val="0070C0"/>
                </a:solidFill>
                <a:latin typeface="微软雅黑" panose="020B0503020204020204" pitchFamily="34" charset="-122"/>
                <a:ea typeface="微软雅黑" panose="020B0503020204020204" pitchFamily="34" charset="-122"/>
              </a:rPr>
              <a:t>x</a:t>
            </a:r>
            <a:r>
              <a:rPr lang="zh-CN" altLang="en-US" dirty="0">
                <a:solidFill>
                  <a:srgbClr val="0070C0"/>
                </a:solidFill>
                <a:latin typeface="微软雅黑" panose="020B0503020204020204" pitchFamily="34" charset="-122"/>
                <a:ea typeface="微软雅黑" panose="020B0503020204020204" pitchFamily="34" charset="-122"/>
              </a:rPr>
              <a:t>范围内</a:t>
            </a:r>
            <a:r>
              <a:rPr lang="en-US" altLang="zh-CN" dirty="0">
                <a:solidFill>
                  <a:srgbClr val="0070C0"/>
                </a:solidFill>
                <a:latin typeface="微软雅黑" panose="020B0503020204020204" pitchFamily="34" charset="-122"/>
                <a:ea typeface="微软雅黑" panose="020B0503020204020204" pitchFamily="34" charset="-122"/>
              </a:rPr>
              <a:t>y</a:t>
            </a:r>
            <a:r>
              <a:rPr lang="zh-CN" altLang="en-US" dirty="0">
                <a:solidFill>
                  <a:srgbClr val="0070C0"/>
                </a:solidFill>
                <a:latin typeface="微软雅黑" panose="020B0503020204020204" pitchFamily="34" charset="-122"/>
                <a:ea typeface="微软雅黑" panose="020B0503020204020204" pitchFamily="34" charset="-122"/>
              </a:rPr>
              <a:t>值</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animBg="1"/>
      <p:bldP spid="15" grpId="0"/>
      <p:bldP spid="5" grpId="0" animBg="1"/>
      <p:bldP spid="17" grpId="0"/>
      <p:bldP spid="19" grpId="0"/>
      <p:bldP spid="21" grpId="0" animBg="1"/>
      <p:bldP spid="16" grpId="0"/>
      <p:bldP spid="18" grpId="0" animBg="1"/>
      <p:bldP spid="22" grpId="0" animBg="1"/>
      <p:bldP spid="26" grpId="0" animBg="1"/>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62685" y="1553735"/>
            <a:ext cx="8981315" cy="2850780"/>
          </a:xfrm>
          <a:prstGeom prst="rect">
            <a:avLst/>
          </a:prstGeom>
          <a:noFill/>
        </p:spPr>
        <p:txBody>
          <a:bodyPr wrap="square">
            <a:spAutoFit/>
          </a:bodyPr>
          <a:lstStyle/>
          <a:p>
            <a:pPr>
              <a:lnSpc>
                <a:spcPts val="1800"/>
              </a:lnSpc>
            </a:pPr>
            <a:r>
              <a:rPr lang="en-US" altLang="zh-CN" sz="1400" b="0" dirty="0">
                <a:solidFill>
                  <a:srgbClr val="000000"/>
                </a:solidFill>
                <a:effectLst/>
                <a:latin typeface="Consolas" panose="020B0609020204030204" pitchFamily="49" charset="0"/>
              </a:rPr>
              <a:t>t=</a:t>
            </a:r>
            <a:r>
              <a:rPr lang="en-US" altLang="zh-CN" sz="1400" b="0" dirty="0">
                <a:solidFill>
                  <a:srgbClr val="098658"/>
                </a:solidFill>
                <a:effectLst/>
                <a:latin typeface="Consolas" panose="020B0609020204030204" pitchFamily="49" charset="0"/>
              </a:rPr>
              <a:t>1900</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10</a:t>
            </a:r>
            <a:r>
              <a:rPr lang="en-US" altLang="zh-CN" sz="1400" b="0" dirty="0">
                <a:solidFill>
                  <a:srgbClr val="000000"/>
                </a:solidFill>
                <a:effectLst/>
                <a:latin typeface="Consolas" panose="020B0609020204030204" pitchFamily="49" charset="0"/>
              </a:rPr>
              <a:t>:</a:t>
            </a:r>
            <a:r>
              <a:rPr lang="en-US" altLang="zh-CN" sz="1400" b="0" dirty="0">
                <a:solidFill>
                  <a:srgbClr val="098658"/>
                </a:solidFill>
                <a:effectLst/>
                <a:latin typeface="Consolas" panose="020B0609020204030204" pitchFamily="49" charset="0"/>
              </a:rPr>
              <a:t>1990</a:t>
            </a:r>
            <a:r>
              <a:rPr lang="en-US" altLang="zh-CN" sz="1400" b="0" dirty="0">
                <a:solidFill>
                  <a:srgbClr val="000000"/>
                </a:solidFill>
                <a:effectLst/>
                <a:latin typeface="Consolas" panose="020B0609020204030204" pitchFamily="49" charset="0"/>
              </a:rPr>
              <a:t>; </a:t>
            </a:r>
            <a:r>
              <a:rPr lang="en-US" altLang="zh-CN" sz="1400" b="0" dirty="0">
                <a:solidFill>
                  <a:srgbClr val="008000"/>
                </a:solidFill>
                <a:effectLst/>
                <a:latin typeface="Consolas" panose="020B0609020204030204" pitchFamily="49" charset="0"/>
              </a:rPr>
              <a:t># 1900-1990</a:t>
            </a:r>
            <a:r>
              <a:rPr lang="zh-CN" altLang="en-US" sz="1400" b="0" dirty="0">
                <a:solidFill>
                  <a:srgbClr val="008000"/>
                </a:solidFill>
                <a:effectLst/>
                <a:latin typeface="Consolas" panose="020B0609020204030204" pitchFamily="49" charset="0"/>
              </a:rPr>
              <a:t>年步长为</a:t>
            </a:r>
            <a:r>
              <a:rPr lang="en-US" altLang="zh-CN" sz="1400" b="0" dirty="0">
                <a:solidFill>
                  <a:srgbClr val="008000"/>
                </a:solidFill>
                <a:effectLst/>
                <a:latin typeface="Consolas" panose="020B0609020204030204" pitchFamily="49" charset="0"/>
              </a:rPr>
              <a:t>10</a:t>
            </a:r>
            <a:r>
              <a:rPr lang="zh-CN" altLang="en-US" sz="1400" b="0" dirty="0">
                <a:solidFill>
                  <a:srgbClr val="008000"/>
                </a:solidFill>
                <a:effectLst/>
                <a:latin typeface="Consolas" panose="020B0609020204030204" pitchFamily="49" charset="0"/>
              </a:rPr>
              <a:t>的</a:t>
            </a:r>
            <a:r>
              <a:rPr lang="en-US" altLang="zh-CN" sz="1400" b="0" dirty="0">
                <a:solidFill>
                  <a:srgbClr val="008000"/>
                </a:solidFill>
                <a:effectLst/>
                <a:latin typeface="Consolas" panose="020B0609020204030204" pitchFamily="49" charset="0"/>
              </a:rPr>
              <a:t>x</a:t>
            </a:r>
            <a:r>
              <a:rPr lang="zh-CN" altLang="en-US" sz="1400" b="0" dirty="0">
                <a:solidFill>
                  <a:srgbClr val="008000"/>
                </a:solidFill>
                <a:effectLst/>
                <a:latin typeface="Consolas" panose="020B0609020204030204" pitchFamily="49" charset="0"/>
              </a:rPr>
              <a:t>轴年份数据</a:t>
            </a:r>
            <a:endParaRPr lang="zh-CN" altLang="en-US" sz="1400" b="0" dirty="0">
              <a:solidFill>
                <a:srgbClr val="000000"/>
              </a:solidFill>
              <a:effectLst/>
              <a:latin typeface="Consolas" panose="020B0609020204030204" pitchFamily="49" charset="0"/>
            </a:endParaRPr>
          </a:p>
          <a:p>
            <a:pPr>
              <a:lnSpc>
                <a:spcPts val="1800"/>
              </a:lnSpc>
            </a:pPr>
            <a:r>
              <a:rPr lang="en-US" altLang="zh-CN" sz="1400" b="0" dirty="0">
                <a:solidFill>
                  <a:srgbClr val="000000"/>
                </a:solidFill>
                <a:effectLst/>
                <a:latin typeface="Consolas" panose="020B0609020204030204" pitchFamily="49" charset="0"/>
              </a:rPr>
              <a:t>y=[</a:t>
            </a:r>
            <a:r>
              <a:rPr lang="en-US" altLang="zh-CN" sz="1400" b="0" dirty="0">
                <a:solidFill>
                  <a:srgbClr val="098658"/>
                </a:solidFill>
                <a:effectLst/>
                <a:latin typeface="Consolas" panose="020B0609020204030204" pitchFamily="49" charset="0"/>
              </a:rPr>
              <a:t>75.99</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91.97</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105.71</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123.20</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131.66</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150.69</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179.32</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203.21</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226.50</a:t>
            </a:r>
            <a:r>
              <a:rPr lang="en-US" altLang="zh-CN" sz="1400" b="0" dirty="0">
                <a:solidFill>
                  <a:srgbClr val="000000"/>
                </a:solidFill>
                <a:effectLst/>
                <a:latin typeface="Consolas" panose="020B0609020204030204" pitchFamily="49" charset="0"/>
              </a:rPr>
              <a:t>, </a:t>
            </a:r>
            <a:r>
              <a:rPr lang="en-US" altLang="zh-CN" sz="1400" b="0" dirty="0">
                <a:solidFill>
                  <a:srgbClr val="098658"/>
                </a:solidFill>
                <a:effectLst/>
                <a:latin typeface="Consolas" panose="020B0609020204030204" pitchFamily="49" charset="0"/>
              </a:rPr>
              <a:t>249.63</a:t>
            </a:r>
            <a:r>
              <a:rPr lang="en-US" altLang="zh-CN" sz="1400" b="0" dirty="0">
                <a:solidFill>
                  <a:srgbClr val="000000"/>
                </a:solidFill>
                <a:effectLst/>
                <a:latin typeface="Consolas" panose="020B0609020204030204" pitchFamily="49" charset="0"/>
              </a:rPr>
              <a:t>];</a:t>
            </a:r>
          </a:p>
          <a:p>
            <a:pPr>
              <a:lnSpc>
                <a:spcPts val="1800"/>
              </a:lnSpc>
            </a:pPr>
            <a:r>
              <a:rPr lang="en-US" altLang="zh-CN" sz="1400" b="0" dirty="0">
                <a:solidFill>
                  <a:srgbClr val="000000"/>
                </a:solidFill>
                <a:effectLst/>
                <a:latin typeface="Consolas" panose="020B0609020204030204" pitchFamily="49" charset="0"/>
              </a:rPr>
              <a:t>f2=</a:t>
            </a:r>
            <a:r>
              <a:rPr lang="en-US" altLang="zh-CN" sz="1400" b="0" dirty="0" err="1">
                <a:solidFill>
                  <a:srgbClr val="000000"/>
                </a:solidFill>
                <a:effectLst/>
                <a:latin typeface="Consolas" panose="020B0609020204030204" pitchFamily="49" charset="0"/>
              </a:rPr>
              <a:t>TyCurveFitting.</a:t>
            </a:r>
            <a:r>
              <a:rPr lang="en-US" altLang="zh-CN" sz="1400" b="0" dirty="0" err="1">
                <a:solidFill>
                  <a:srgbClr val="795E26"/>
                </a:solidFill>
                <a:effectLst/>
                <a:latin typeface="Consolas" panose="020B0609020204030204" pitchFamily="49" charset="0"/>
              </a:rPr>
              <a:t>fit</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"poly2"</a:t>
            </a:r>
            <a:r>
              <a:rPr lang="en-US" altLang="zh-CN" sz="1400" b="0" dirty="0">
                <a:solidFill>
                  <a:srgbClr val="000000"/>
                </a:solidFill>
                <a:effectLst/>
                <a:latin typeface="Consolas" panose="020B0609020204030204" pitchFamily="49" charset="0"/>
              </a:rPr>
              <a:t>,t,y)</a:t>
            </a:r>
          </a:p>
          <a:p>
            <a:pPr>
              <a:lnSpc>
                <a:spcPts val="1800"/>
              </a:lnSpc>
            </a:pPr>
            <a:r>
              <a:rPr lang="en-US" altLang="zh-CN" sz="1400" b="1" dirty="0" err="1">
                <a:solidFill>
                  <a:srgbClr val="FF0000"/>
                </a:solidFill>
                <a:effectLst/>
                <a:latin typeface="Consolas" panose="020B0609020204030204" pitchFamily="49" charset="0"/>
              </a:rPr>
              <a:t>plotfit</a:t>
            </a:r>
            <a:r>
              <a:rPr lang="en-US" altLang="zh-CN" sz="1400" b="1" dirty="0">
                <a:solidFill>
                  <a:srgbClr val="FF0000"/>
                </a:solidFill>
                <a:effectLst/>
                <a:latin typeface="Consolas" panose="020B0609020204030204" pitchFamily="49" charset="0"/>
              </a:rPr>
              <a:t>(f2,t,y)</a:t>
            </a:r>
          </a:p>
          <a:p>
            <a:pPr>
              <a:lnSpc>
                <a:spcPts val="1800"/>
              </a:lnSpc>
            </a:pPr>
            <a:r>
              <a:rPr lang="en-US" altLang="zh-CN" sz="1400" b="0" dirty="0">
                <a:solidFill>
                  <a:srgbClr val="000000"/>
                </a:solidFill>
                <a:effectLst/>
                <a:latin typeface="Consolas" panose="020B0609020204030204" pitchFamily="49" charset="0"/>
              </a:rPr>
              <a:t>ex=f2.expr</a:t>
            </a:r>
          </a:p>
          <a:p>
            <a:pPr>
              <a:lnSpc>
                <a:spcPts val="1800"/>
              </a:lnSpc>
            </a:pPr>
            <a:r>
              <a:rPr lang="en-US" altLang="zh-CN" sz="1400" b="0" dirty="0" err="1">
                <a:solidFill>
                  <a:srgbClr val="795E26"/>
                </a:solidFill>
                <a:effectLst/>
                <a:latin typeface="Consolas" panose="020B0609020204030204" pitchFamily="49" charset="0"/>
              </a:rPr>
              <a:t>println</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函数原型</a:t>
            </a:r>
            <a:r>
              <a:rPr lang="en-US" altLang="zh-CN" sz="1400" b="0" dirty="0">
                <a:solidFill>
                  <a:srgbClr val="A31515"/>
                </a:solidFill>
                <a:effectLst/>
                <a:latin typeface="Consolas" panose="020B0609020204030204" pitchFamily="49" charset="0"/>
              </a:rPr>
              <a:t>ex=</a:t>
            </a:r>
            <a:r>
              <a:rPr lang="en-US" altLang="zh-CN" sz="1400" b="0" dirty="0">
                <a:solidFill>
                  <a:srgbClr val="001080"/>
                </a:solidFill>
                <a:effectLst/>
                <a:latin typeface="Consolas" panose="020B0609020204030204" pitchFamily="49" charset="0"/>
              </a:rPr>
              <a:t>$ex</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p>
          <a:p>
            <a:pPr>
              <a:lnSpc>
                <a:spcPts val="1800"/>
              </a:lnSpc>
            </a:pPr>
            <a:r>
              <a:rPr lang="en-US" altLang="zh-CN" sz="1400" b="0" dirty="0" err="1">
                <a:solidFill>
                  <a:srgbClr val="000000"/>
                </a:solidFill>
                <a:effectLst/>
                <a:latin typeface="Consolas" panose="020B0609020204030204" pitchFamily="49" charset="0"/>
              </a:rPr>
              <a:t>fitR</a:t>
            </a:r>
            <a:r>
              <a:rPr lang="en-US" altLang="zh-CN" sz="1400" b="0" dirty="0">
                <a:solidFill>
                  <a:srgbClr val="000000"/>
                </a:solidFill>
                <a:effectLst/>
                <a:latin typeface="Consolas" panose="020B0609020204030204" pitchFamily="49" charset="0"/>
              </a:rPr>
              <a:t>=f2.s_data</a:t>
            </a:r>
          </a:p>
          <a:p>
            <a:pPr>
              <a:lnSpc>
                <a:spcPts val="1800"/>
              </a:lnSpc>
            </a:pPr>
            <a:r>
              <a:rPr lang="en-US" altLang="zh-CN" sz="1400" b="0" dirty="0" err="1">
                <a:solidFill>
                  <a:srgbClr val="795E26"/>
                </a:solidFill>
                <a:effectLst/>
                <a:latin typeface="Consolas" panose="020B0609020204030204" pitchFamily="49" charset="0"/>
              </a:rPr>
              <a:t>println</a:t>
            </a:r>
            <a:r>
              <a:rPr lang="en-US" altLang="zh-CN" sz="1400" b="0" dirty="0">
                <a:solidFill>
                  <a:srgbClr val="000000"/>
                </a:solidFill>
                <a:effectLst/>
                <a:latin typeface="Consolas" panose="020B0609020204030204" pitchFamily="49" charset="0"/>
              </a:rPr>
              <a:t>(</a:t>
            </a:r>
            <a:r>
              <a:rPr lang="en-US" altLang="zh-CN" sz="1400" b="0" dirty="0">
                <a:solidFill>
                  <a:srgbClr val="A31515"/>
                </a:solidFill>
                <a:effectLst/>
                <a:latin typeface="Consolas" panose="020B0609020204030204" pitchFamily="49" charset="0"/>
              </a:rPr>
              <a:t>"</a:t>
            </a:r>
            <a:r>
              <a:rPr lang="zh-CN" altLang="en-US" sz="1400" b="0" dirty="0">
                <a:solidFill>
                  <a:srgbClr val="A31515"/>
                </a:solidFill>
                <a:effectLst/>
                <a:latin typeface="Consolas" panose="020B0609020204030204" pitchFamily="49" charset="0"/>
              </a:rPr>
              <a:t>拟合度</a:t>
            </a:r>
            <a:r>
              <a:rPr lang="en-US" altLang="zh-CN" sz="1400" b="0" dirty="0" err="1">
                <a:solidFill>
                  <a:srgbClr val="A31515"/>
                </a:solidFill>
                <a:effectLst/>
                <a:latin typeface="Consolas" panose="020B0609020204030204" pitchFamily="49" charset="0"/>
              </a:rPr>
              <a:t>fitR</a:t>
            </a:r>
            <a:r>
              <a:rPr lang="en-US" altLang="zh-CN" sz="1400" b="0" dirty="0">
                <a:solidFill>
                  <a:srgbClr val="A31515"/>
                </a:solidFill>
                <a:effectLst/>
                <a:latin typeface="Consolas" panose="020B0609020204030204" pitchFamily="49" charset="0"/>
              </a:rPr>
              <a:t>=</a:t>
            </a:r>
            <a:r>
              <a:rPr lang="en-US" altLang="zh-CN" sz="1400" b="0" dirty="0">
                <a:solidFill>
                  <a:srgbClr val="001080"/>
                </a:solidFill>
                <a:effectLst/>
                <a:latin typeface="Consolas" panose="020B0609020204030204" pitchFamily="49" charset="0"/>
              </a:rPr>
              <a:t>$</a:t>
            </a:r>
            <a:r>
              <a:rPr lang="en-US" altLang="zh-CN" sz="1400" b="0" dirty="0" err="1">
                <a:solidFill>
                  <a:srgbClr val="001080"/>
                </a:solidFill>
                <a:effectLst/>
                <a:latin typeface="Consolas" panose="020B0609020204030204" pitchFamily="49" charset="0"/>
              </a:rPr>
              <a:t>fitR</a:t>
            </a:r>
            <a:r>
              <a:rPr lang="en-US" altLang="zh-CN" sz="1400" b="0" dirty="0">
                <a:solidFill>
                  <a:srgbClr val="A31515"/>
                </a:solidFill>
                <a:effectLst/>
                <a:latin typeface="Consolas" panose="020B0609020204030204" pitchFamily="49" charset="0"/>
              </a:rPr>
              <a:t>"</a:t>
            </a:r>
            <a:r>
              <a:rPr lang="en-US" altLang="zh-CN" sz="1400" b="0" dirty="0">
                <a:solidFill>
                  <a:srgbClr val="000000"/>
                </a:solidFill>
                <a:effectLst/>
                <a:latin typeface="Consolas" panose="020B0609020204030204" pitchFamily="49" charset="0"/>
              </a:rPr>
              <a:t>)</a:t>
            </a:r>
          </a:p>
          <a:p>
            <a:pPr>
              <a:lnSpc>
                <a:spcPts val="1800"/>
              </a:lnSpc>
            </a:pPr>
            <a:r>
              <a:rPr lang="en-US" altLang="zh-CN" sz="1400" dirty="0">
                <a:solidFill>
                  <a:srgbClr val="000000"/>
                </a:solidFill>
                <a:latin typeface="Consolas" panose="020B0609020204030204" pitchFamily="49" charset="0"/>
              </a:rPr>
              <a:t>p=f2.params #</a:t>
            </a:r>
            <a:r>
              <a:rPr lang="zh-CN" altLang="en-US" sz="1400" dirty="0">
                <a:solidFill>
                  <a:srgbClr val="000000"/>
                </a:solidFill>
                <a:latin typeface="Consolas" panose="020B0609020204030204" pitchFamily="49" charset="0"/>
              </a:rPr>
              <a:t>待定参数</a:t>
            </a:r>
            <a:endParaRPr lang="en-US" altLang="zh-CN" sz="1400" dirty="0">
              <a:solidFill>
                <a:srgbClr val="000000"/>
              </a:solidFill>
              <a:latin typeface="Consolas" panose="020B0609020204030204" pitchFamily="49" charset="0"/>
            </a:endParaRPr>
          </a:p>
          <a:p>
            <a:pPr>
              <a:lnSpc>
                <a:spcPts val="1800"/>
              </a:lnSpc>
            </a:pPr>
            <a:r>
              <a:rPr lang="en-US" altLang="zh-CN" sz="1400" dirty="0" err="1">
                <a:solidFill>
                  <a:srgbClr val="795E26"/>
                </a:solidFill>
                <a:latin typeface="Consolas" panose="020B0609020204030204" pitchFamily="49" charset="0"/>
              </a:rPr>
              <a:t>println</a:t>
            </a:r>
            <a:r>
              <a:rPr lang="en-US" altLang="zh-CN" sz="1400" dirty="0">
                <a:solidFill>
                  <a:srgbClr val="000000"/>
                </a:solidFill>
                <a:latin typeface="Consolas" panose="020B0609020204030204" pitchFamily="49" charset="0"/>
              </a:rPr>
              <a:t>(</a:t>
            </a:r>
            <a:r>
              <a:rPr lang="en-US" altLang="zh-CN" sz="1400" dirty="0">
                <a:solidFill>
                  <a:srgbClr val="A31515"/>
                </a:solidFill>
                <a:latin typeface="Consolas" panose="020B0609020204030204" pitchFamily="49" charset="0"/>
              </a:rPr>
              <a:t>"</a:t>
            </a:r>
            <a:r>
              <a:rPr lang="zh-CN" altLang="en-US" sz="1400" dirty="0">
                <a:solidFill>
                  <a:srgbClr val="A31515"/>
                </a:solidFill>
                <a:latin typeface="Consolas" panose="020B0609020204030204" pitchFamily="49" charset="0"/>
              </a:rPr>
              <a:t>待定参数</a:t>
            </a:r>
            <a:r>
              <a:rPr lang="en-US" altLang="zh-CN" sz="1400" dirty="0">
                <a:solidFill>
                  <a:srgbClr val="A31515"/>
                </a:solidFill>
                <a:latin typeface="Consolas" panose="020B0609020204030204" pitchFamily="49" charset="0"/>
              </a:rPr>
              <a:t>p=</a:t>
            </a:r>
            <a:r>
              <a:rPr lang="en-US" altLang="zh-CN" sz="1400" dirty="0">
                <a:solidFill>
                  <a:srgbClr val="001080"/>
                </a:solidFill>
                <a:latin typeface="Consolas" panose="020B0609020204030204" pitchFamily="49" charset="0"/>
              </a:rPr>
              <a:t>$p</a:t>
            </a:r>
            <a:r>
              <a:rPr lang="en-US" altLang="zh-CN" sz="1400" dirty="0">
                <a:solidFill>
                  <a:srgbClr val="A31515"/>
                </a:solidFill>
                <a:latin typeface="Consolas" panose="020B0609020204030204" pitchFamily="49" charset="0"/>
              </a:rPr>
              <a:t>"</a:t>
            </a:r>
            <a:r>
              <a:rPr lang="en-US" altLang="zh-CN" sz="1400" dirty="0">
                <a:solidFill>
                  <a:srgbClr val="000000"/>
                </a:solidFill>
                <a:latin typeface="Consolas" panose="020B0609020204030204" pitchFamily="49" charset="0"/>
              </a:rPr>
              <a:t>)</a:t>
            </a:r>
          </a:p>
          <a:p>
            <a:pPr>
              <a:lnSpc>
                <a:spcPts val="1800"/>
              </a:lnSpc>
            </a:pPr>
            <a:r>
              <a:rPr lang="en-US" altLang="zh-CN" sz="1400" dirty="0" err="1">
                <a:solidFill>
                  <a:srgbClr val="795E26"/>
                </a:solidFill>
                <a:latin typeface="Consolas" panose="020B0609020204030204" pitchFamily="49" charset="0"/>
              </a:rPr>
              <a:t>println</a:t>
            </a:r>
            <a:r>
              <a:rPr lang="en-US" altLang="zh-CN" sz="1400" dirty="0">
                <a:solidFill>
                  <a:srgbClr val="000000"/>
                </a:solidFill>
                <a:latin typeface="Consolas" panose="020B0609020204030204" pitchFamily="49" charset="0"/>
              </a:rPr>
              <a:t>(</a:t>
            </a:r>
            <a:r>
              <a:rPr lang="en-US" altLang="zh-CN" sz="1400" dirty="0">
                <a:solidFill>
                  <a:srgbClr val="A31515"/>
                </a:solidFill>
                <a:latin typeface="Consolas" panose="020B0609020204030204" pitchFamily="49" charset="0"/>
              </a:rPr>
              <a:t>"</a:t>
            </a:r>
            <a:r>
              <a:rPr lang="en-US" altLang="zh-CN" sz="1400" dirty="0" err="1">
                <a:solidFill>
                  <a:srgbClr val="A31515"/>
                </a:solidFill>
                <a:latin typeface="Consolas" panose="020B0609020204030204" pitchFamily="49" charset="0"/>
              </a:rPr>
              <a:t>yy</a:t>
            </a:r>
            <a:r>
              <a:rPr lang="en-US" altLang="zh-CN" sz="1400" dirty="0">
                <a:solidFill>
                  <a:srgbClr val="A31515"/>
                </a:solidFill>
                <a:latin typeface="Consolas" panose="020B0609020204030204" pitchFamily="49" charset="0"/>
              </a:rPr>
              <a:t>(t)=</a:t>
            </a:r>
            <a:r>
              <a:rPr lang="en-US" altLang="zh-CN" sz="1400" dirty="0">
                <a:solidFill>
                  <a:srgbClr val="001080"/>
                </a:solidFill>
                <a:latin typeface="Consolas" panose="020B0609020204030204" pitchFamily="49" charset="0"/>
              </a:rPr>
              <a:t>$(p[</a:t>
            </a:r>
            <a:r>
              <a:rPr lang="en-US" altLang="zh-CN" sz="1400" dirty="0">
                <a:solidFill>
                  <a:srgbClr val="098658"/>
                </a:solidFill>
                <a:latin typeface="Consolas" panose="020B0609020204030204" pitchFamily="49" charset="0"/>
              </a:rPr>
              <a:t>1</a:t>
            </a:r>
            <a:r>
              <a:rPr lang="en-US" altLang="zh-CN" sz="1400" dirty="0">
                <a:solidFill>
                  <a:srgbClr val="001080"/>
                </a:solidFill>
                <a:latin typeface="Consolas" panose="020B0609020204030204" pitchFamily="49" charset="0"/>
              </a:rPr>
              <a:t>])</a:t>
            </a:r>
            <a:r>
              <a:rPr lang="en-US" altLang="zh-CN" sz="1400" dirty="0">
                <a:solidFill>
                  <a:srgbClr val="A31515"/>
                </a:solidFill>
                <a:latin typeface="Consolas" panose="020B0609020204030204" pitchFamily="49" charset="0"/>
              </a:rPr>
              <a:t>t^2+(</a:t>
            </a:r>
            <a:r>
              <a:rPr lang="en-US" altLang="zh-CN" sz="1400" dirty="0">
                <a:solidFill>
                  <a:srgbClr val="001080"/>
                </a:solidFill>
                <a:latin typeface="Consolas" panose="020B0609020204030204" pitchFamily="49" charset="0"/>
              </a:rPr>
              <a:t>$(p[</a:t>
            </a:r>
            <a:r>
              <a:rPr lang="en-US" altLang="zh-CN" sz="1400" dirty="0">
                <a:solidFill>
                  <a:srgbClr val="098658"/>
                </a:solidFill>
                <a:latin typeface="Consolas" panose="020B0609020204030204" pitchFamily="49" charset="0"/>
              </a:rPr>
              <a:t>2</a:t>
            </a:r>
            <a:r>
              <a:rPr lang="en-US" altLang="zh-CN" sz="1400" dirty="0">
                <a:solidFill>
                  <a:srgbClr val="001080"/>
                </a:solidFill>
                <a:latin typeface="Consolas" panose="020B0609020204030204" pitchFamily="49" charset="0"/>
              </a:rPr>
              <a:t>]))</a:t>
            </a:r>
            <a:r>
              <a:rPr lang="en-US" altLang="zh-CN" sz="1400" dirty="0">
                <a:solidFill>
                  <a:srgbClr val="A31515"/>
                </a:solidFill>
                <a:latin typeface="Consolas" panose="020B0609020204030204" pitchFamily="49" charset="0"/>
              </a:rPr>
              <a:t>t+</a:t>
            </a:r>
            <a:r>
              <a:rPr lang="en-US" altLang="zh-CN" sz="1400" dirty="0">
                <a:solidFill>
                  <a:srgbClr val="001080"/>
                </a:solidFill>
                <a:latin typeface="Consolas" panose="020B0609020204030204" pitchFamily="49" charset="0"/>
              </a:rPr>
              <a:t>$(p[</a:t>
            </a:r>
            <a:r>
              <a:rPr lang="en-US" altLang="zh-CN" sz="1400" dirty="0">
                <a:solidFill>
                  <a:srgbClr val="098658"/>
                </a:solidFill>
                <a:latin typeface="Consolas" panose="020B0609020204030204" pitchFamily="49" charset="0"/>
              </a:rPr>
              <a:t>3</a:t>
            </a:r>
            <a:r>
              <a:rPr lang="en-US" altLang="zh-CN" sz="1400" dirty="0">
                <a:solidFill>
                  <a:srgbClr val="001080"/>
                </a:solidFill>
                <a:latin typeface="Consolas" panose="020B0609020204030204" pitchFamily="49" charset="0"/>
              </a:rPr>
              <a:t>])</a:t>
            </a:r>
            <a:r>
              <a:rPr lang="en-US" altLang="zh-CN" sz="1400" dirty="0">
                <a:solidFill>
                  <a:srgbClr val="A31515"/>
                </a:solidFill>
                <a:latin typeface="Consolas" panose="020B0609020204030204" pitchFamily="49" charset="0"/>
              </a:rPr>
              <a:t>"</a:t>
            </a:r>
            <a:r>
              <a:rPr lang="en-US" altLang="zh-CN" sz="1400" dirty="0">
                <a:solidFill>
                  <a:srgbClr val="000000"/>
                </a:solidFill>
                <a:latin typeface="Consolas" panose="020B0609020204030204" pitchFamily="49" charset="0"/>
              </a:rPr>
              <a:t>)</a:t>
            </a:r>
          </a:p>
          <a:p>
            <a:pPr>
              <a:lnSpc>
                <a:spcPts val="1800"/>
              </a:lnSpc>
            </a:pPr>
            <a:endParaRPr lang="en-US" altLang="zh-CN" sz="1400" b="0" dirty="0">
              <a:solidFill>
                <a:srgbClr val="000000"/>
              </a:solidFill>
              <a:effectLst/>
              <a:latin typeface="Consolas" panose="020B0609020204030204" pitchFamily="49" charset="0"/>
            </a:endParaRPr>
          </a:p>
        </p:txBody>
      </p:sp>
      <p:pic>
        <p:nvPicPr>
          <p:cNvPr id="5" name="图片 4"/>
          <p:cNvPicPr>
            <a:picLocks noChangeAspect="1"/>
          </p:cNvPicPr>
          <p:nvPr/>
        </p:nvPicPr>
        <p:blipFill rotWithShape="1">
          <a:blip r:embed="rId3"/>
          <a:srcRect l="5114" t="13601" r="7475" b="8000"/>
          <a:stretch>
            <a:fillRect/>
          </a:stretch>
        </p:blipFill>
        <p:spPr>
          <a:xfrm>
            <a:off x="4723933" y="2149453"/>
            <a:ext cx="2047171" cy="1577185"/>
          </a:xfrm>
          <a:prstGeom prst="rect">
            <a:avLst/>
          </a:prstGeom>
        </p:spPr>
      </p:pic>
      <p:graphicFrame>
        <p:nvGraphicFramePr>
          <p:cNvPr id="7" name="表格 6"/>
          <p:cNvGraphicFramePr>
            <a:graphicFrameLocks noGrp="1"/>
          </p:cNvGraphicFramePr>
          <p:nvPr>
            <p:extLst>
              <p:ext uri="{D42A27DB-BD31-4B8C-83A1-F6EECF244321}">
                <p14:modId xmlns:p14="http://schemas.microsoft.com/office/powerpoint/2010/main" val="1338871724"/>
              </p:ext>
            </p:extLst>
          </p:nvPr>
        </p:nvGraphicFramePr>
        <p:xfrm>
          <a:off x="269606" y="1109002"/>
          <a:ext cx="8767472" cy="408496"/>
        </p:xfrm>
        <a:graphic>
          <a:graphicData uri="http://schemas.openxmlformats.org/drawingml/2006/table">
            <a:tbl>
              <a:tblPr firstRow="1" firstCol="1" bandRow="1">
                <a:tableStyleId>{5C22544A-7EE6-4342-B048-85BDC9FD1C3A}</a:tableStyleId>
              </a:tblPr>
              <a:tblGrid>
                <a:gridCol w="698036">
                  <a:extLst>
                    <a:ext uri="{9D8B030D-6E8A-4147-A177-3AD203B41FA5}">
                      <a16:colId xmlns:a16="http://schemas.microsoft.com/office/drawing/2014/main" val="20000"/>
                    </a:ext>
                  </a:extLst>
                </a:gridCol>
                <a:gridCol w="699254">
                  <a:extLst>
                    <a:ext uri="{9D8B030D-6E8A-4147-A177-3AD203B41FA5}">
                      <a16:colId xmlns:a16="http://schemas.microsoft.com/office/drawing/2014/main" val="20001"/>
                    </a:ext>
                  </a:extLst>
                </a:gridCol>
                <a:gridCol w="699254">
                  <a:extLst>
                    <a:ext uri="{9D8B030D-6E8A-4147-A177-3AD203B41FA5}">
                      <a16:colId xmlns:a16="http://schemas.microsoft.com/office/drawing/2014/main" val="20002"/>
                    </a:ext>
                  </a:extLst>
                </a:gridCol>
                <a:gridCol w="838130">
                  <a:extLst>
                    <a:ext uri="{9D8B030D-6E8A-4147-A177-3AD203B41FA5}">
                      <a16:colId xmlns:a16="http://schemas.microsoft.com/office/drawing/2014/main" val="20003"/>
                    </a:ext>
                  </a:extLst>
                </a:gridCol>
                <a:gridCol w="839348">
                  <a:extLst>
                    <a:ext uri="{9D8B030D-6E8A-4147-A177-3AD203B41FA5}">
                      <a16:colId xmlns:a16="http://schemas.microsoft.com/office/drawing/2014/main" val="20004"/>
                    </a:ext>
                  </a:extLst>
                </a:gridCol>
                <a:gridCol w="838130">
                  <a:extLst>
                    <a:ext uri="{9D8B030D-6E8A-4147-A177-3AD203B41FA5}">
                      <a16:colId xmlns:a16="http://schemas.microsoft.com/office/drawing/2014/main" val="20005"/>
                    </a:ext>
                  </a:extLst>
                </a:gridCol>
                <a:gridCol w="839348">
                  <a:extLst>
                    <a:ext uri="{9D8B030D-6E8A-4147-A177-3AD203B41FA5}">
                      <a16:colId xmlns:a16="http://schemas.microsoft.com/office/drawing/2014/main" val="20006"/>
                    </a:ext>
                  </a:extLst>
                </a:gridCol>
                <a:gridCol w="838130">
                  <a:extLst>
                    <a:ext uri="{9D8B030D-6E8A-4147-A177-3AD203B41FA5}">
                      <a16:colId xmlns:a16="http://schemas.microsoft.com/office/drawing/2014/main" val="20007"/>
                    </a:ext>
                  </a:extLst>
                </a:gridCol>
                <a:gridCol w="839348">
                  <a:extLst>
                    <a:ext uri="{9D8B030D-6E8A-4147-A177-3AD203B41FA5}">
                      <a16:colId xmlns:a16="http://schemas.microsoft.com/office/drawing/2014/main" val="20008"/>
                    </a:ext>
                  </a:extLst>
                </a:gridCol>
                <a:gridCol w="838130">
                  <a:extLst>
                    <a:ext uri="{9D8B030D-6E8A-4147-A177-3AD203B41FA5}">
                      <a16:colId xmlns:a16="http://schemas.microsoft.com/office/drawing/2014/main" val="20009"/>
                    </a:ext>
                  </a:extLst>
                </a:gridCol>
                <a:gridCol w="800364">
                  <a:extLst>
                    <a:ext uri="{9D8B030D-6E8A-4147-A177-3AD203B41FA5}">
                      <a16:colId xmlns:a16="http://schemas.microsoft.com/office/drawing/2014/main" val="20010"/>
                    </a:ext>
                  </a:extLst>
                </a:gridCol>
              </a:tblGrid>
              <a:tr h="200928">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年份</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1900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1910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1920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1930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1940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1950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1960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1970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1980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rPr>
                        <a:t>1990</a:t>
                      </a:r>
                      <a:endParaRPr lang="ko-KR" altLang="en-US" sz="1000" b="1" kern="100" cap="none" dirty="0">
                        <a:solidFill>
                          <a:schemeClr val="bg1"/>
                        </a:solidFill>
                        <a:effectLst>
                          <a:outerShdw blurRad="38100" dist="38100" dir="2700000" algn="tl">
                            <a:srgbClr val="000000">
                              <a:alpha val="43137"/>
                            </a:srgbClr>
                          </a:outerShdw>
                        </a:effectLst>
                        <a:latin typeface="华文楷体" panose="02010600040101010101" pitchFamily="2"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12700" cap="flat" cmpd="sng" algn="ctr">
                      <a:solidFill>
                        <a:srgbClr val="FFFFFF">
                          <a:alpha val="100000"/>
                        </a:srgbClr>
                      </a:solidFill>
                      <a:prstDash val="solid"/>
                      <a:round/>
                      <a:headEnd type="none" w="med" len="med"/>
                      <a:tailEnd type="none" w="med" len="med"/>
                    </a:lnT>
                    <a:lnB w="38100" cap="flat" cmpd="sng" algn="ctr">
                      <a:solidFill>
                        <a:srgbClr val="FFFFFF">
                          <a:alpha val="100000"/>
                        </a:srgbClr>
                      </a:solidFill>
                      <a:prstDash val="solid"/>
                      <a:round/>
                      <a:headEnd type="none" w="med" len="med"/>
                      <a:tailEnd type="none" w="med" len="med"/>
                    </a:lnB>
                    <a:solidFill>
                      <a:srgbClr val="0070C0"/>
                    </a:solidFill>
                  </a:tcPr>
                </a:tc>
                <a:extLst>
                  <a:ext uri="{0D108BD9-81ED-4DB2-BD59-A6C34878D82A}">
                    <a16:rowId xmlns:a16="http://schemas.microsoft.com/office/drawing/2014/main" val="10000"/>
                  </a:ext>
                </a:extLst>
              </a:tr>
              <a:tr h="200928">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人口</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75.99</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91.97</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105.71</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123.20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131.66</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150.69</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179.32</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203.21</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226.50</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tc>
                  <a:txBody>
                    <a:bodyPr/>
                    <a:lstStyle/>
                    <a:p>
                      <a:pPr marL="0" indent="0" algn="just" defTabSz="914400" eaLnBrk="0" fontAlgn="auto" latinLnBrk="0">
                        <a:lnSpc>
                          <a:spcPct val="150000"/>
                        </a:lnSpc>
                        <a:spcBef>
                          <a:spcPts val="0"/>
                        </a:spcBef>
                        <a:spcAft>
                          <a:spcPts val="0"/>
                        </a:spcAft>
                        <a:buFontTx/>
                        <a:buNone/>
                      </a:pPr>
                      <a:r>
                        <a:rPr lang="en-US" altLang="ko-KR"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249.63</a:t>
                      </a:r>
                      <a:endParaRPr lang="ko-KR" altLang="en-US" sz="1000" b="1" kern="100" cap="none"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txBody>
                  <a:tcPr marL="51435" marR="51435" marT="0" marB="0">
                    <a:lnL w="12700" cap="flat" cmpd="sng" algn="ctr">
                      <a:solidFill>
                        <a:srgbClr val="FFFFFF">
                          <a:alpha val="100000"/>
                        </a:srgbClr>
                      </a:solidFill>
                      <a:prstDash val="solid"/>
                      <a:round/>
                      <a:headEnd type="none" w="med" len="med"/>
                      <a:tailEnd type="none" w="med" len="med"/>
                    </a:lnL>
                    <a:lnR w="12700" cap="flat" cmpd="sng" algn="ctr">
                      <a:solidFill>
                        <a:srgbClr val="FFFFFF">
                          <a:alpha val="100000"/>
                        </a:srgbClr>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alpha val="100000"/>
                        </a:srgbClr>
                      </a:solidFill>
                      <a:prstDash val="solid"/>
                      <a:round/>
                      <a:headEnd type="none" w="med" len="med"/>
                      <a:tailEnd type="none" w="med" len="med"/>
                    </a:lnB>
                    <a:solidFill>
                      <a:srgbClr val="0070C0"/>
                    </a:solidFill>
                  </a:tcPr>
                </a:tc>
                <a:extLst>
                  <a:ext uri="{0D108BD9-81ED-4DB2-BD59-A6C34878D82A}">
                    <a16:rowId xmlns:a16="http://schemas.microsoft.com/office/drawing/2014/main" val="10001"/>
                  </a:ext>
                </a:extLst>
              </a:tr>
            </a:tbl>
          </a:graphicData>
        </a:graphic>
      </p:graphicFrame>
      <p:sp>
        <p:nvSpPr>
          <p:cNvPr id="8" name="矩形 7"/>
          <p:cNvSpPr/>
          <p:nvPr/>
        </p:nvSpPr>
        <p:spPr>
          <a:xfrm>
            <a:off x="436441" y="687319"/>
            <a:ext cx="8694287" cy="346249"/>
          </a:xfrm>
          <a:prstGeom prst="rect">
            <a:avLst/>
          </a:prstGeom>
          <a:solidFill>
            <a:srgbClr val="FFFFFF"/>
          </a:solidFill>
        </p:spPr>
        <p:txBody>
          <a:bodyPr vert="horz" wrap="square" lIns="68580" tIns="34290" rIns="68580" bIns="34290" anchor="t">
            <a:spAutoFit/>
          </a:bodyPr>
          <a:lstStyle/>
          <a:p>
            <a:pPr algn="dist" defTabSz="685800" eaLnBrk="0">
              <a:spcBef>
                <a:spcPts val="0"/>
              </a:spcBef>
              <a:spcAft>
                <a:spcPts val="0"/>
              </a:spcAft>
              <a:buClr>
                <a:srgbClr val="000000"/>
              </a:buClr>
            </a:pPr>
            <a:r>
              <a:rPr lang="en-US" altLang="ko-KR" cap="none" dirty="0">
                <a:solidFill>
                  <a:srgbClr val="0070C0"/>
                </a:solidFill>
                <a:latin typeface="微软雅黑" panose="020B0503020204020204" pitchFamily="34" charset="-122"/>
                <a:ea typeface="微软雅黑" panose="020B0503020204020204" pitchFamily="34" charset="-122"/>
              </a:rPr>
              <a:t>            </a:t>
            </a:r>
            <a:r>
              <a:rPr lang="en-US" altLang="ko-KR" sz="1600" b="1" cap="none" dirty="0">
                <a:solidFill>
                  <a:srgbClr val="0070C0"/>
                </a:solidFill>
                <a:latin typeface="微软雅黑" panose="020B0503020204020204" pitchFamily="34" charset="-122"/>
                <a:ea typeface="微软雅黑" panose="020B0503020204020204" pitchFamily="34" charset="-122"/>
              </a:rPr>
              <a:t>美国1900年~90年10年人口普查数据：(</a:t>
            </a:r>
            <a:r>
              <a:rPr lang="en-US" altLang="ko-KR" sz="1600" b="1" cap="none" dirty="0" err="1">
                <a:solidFill>
                  <a:srgbClr val="0070C0"/>
                </a:solidFill>
                <a:latin typeface="微软雅黑" panose="020B0503020204020204" pitchFamily="34" charset="-122"/>
                <a:ea typeface="微软雅黑" panose="020B0503020204020204" pitchFamily="34" charset="-122"/>
              </a:rPr>
              <a:t>百万</a:t>
            </a:r>
            <a:r>
              <a:rPr lang="en-US" altLang="ko-KR" sz="1600" b="1" cap="none" dirty="0">
                <a:solidFill>
                  <a:srgbClr val="0070C0"/>
                </a:solidFill>
                <a:latin typeface="微软雅黑" panose="020B0503020204020204" pitchFamily="34" charset="-122"/>
                <a:ea typeface="微软雅黑" panose="020B0503020204020204" pitchFamily="34" charset="-122"/>
              </a:rPr>
              <a:t>)</a:t>
            </a:r>
            <a:r>
              <a:rPr lang="en-US" altLang="zh-CN" sz="1600" b="1" cap="none" dirty="0">
                <a:solidFill>
                  <a:srgbClr val="0070C0"/>
                </a:solidFill>
                <a:latin typeface="微软雅黑" panose="020B0503020204020204" pitchFamily="34" charset="-122"/>
                <a:ea typeface="微软雅黑" panose="020B0503020204020204" pitchFamily="34" charset="-122"/>
              </a:rPr>
              <a:t>, </a:t>
            </a:r>
            <a:r>
              <a:rPr lang="zh-CN" altLang="en-US" sz="1600" b="1" cap="none" dirty="0">
                <a:solidFill>
                  <a:srgbClr val="0070C0"/>
                </a:solidFill>
                <a:latin typeface="微软雅黑" panose="020B0503020204020204" pitchFamily="34" charset="-122"/>
                <a:ea typeface="微软雅黑" panose="020B0503020204020204" pitchFamily="34" charset="-122"/>
              </a:rPr>
              <a:t>访问待定参数和拟合评价</a:t>
            </a:r>
            <a:r>
              <a:rPr lang="en-US" altLang="zh-CN" sz="1600" b="1" cap="none" dirty="0">
                <a:solidFill>
                  <a:srgbClr val="0070C0"/>
                </a:solidFill>
                <a:latin typeface="微软雅黑" panose="020B0503020204020204" pitchFamily="34" charset="-122"/>
                <a:ea typeface="微软雅黑" panose="020B0503020204020204" pitchFamily="34" charset="-122"/>
              </a:rPr>
              <a:t>,</a:t>
            </a:r>
            <a:r>
              <a:rPr lang="zh-CN" altLang="en-US" sz="1600" b="1" cap="none" dirty="0">
                <a:solidFill>
                  <a:srgbClr val="0070C0"/>
                </a:solidFill>
                <a:latin typeface="微软雅黑" panose="020B0503020204020204" pitchFamily="34" charset="-122"/>
                <a:ea typeface="微软雅黑" panose="020B0503020204020204" pitchFamily="34" charset="-122"/>
              </a:rPr>
              <a:t>并进行预测</a:t>
            </a:r>
            <a:endParaRPr lang="ko-KR" altLang="en-US" sz="1600" b="1" cap="none" dirty="0">
              <a:solidFill>
                <a:srgbClr val="0070C0"/>
              </a:solidFill>
              <a:latin typeface="微软雅黑" panose="020B0503020204020204" pitchFamily="34" charset="-122"/>
              <a:ea typeface="微软雅黑" panose="020B0503020204020204" pitchFamily="34" charset="-122"/>
            </a:endParaRPr>
          </a:p>
        </p:txBody>
      </p:sp>
      <p:sp>
        <p:nvSpPr>
          <p:cNvPr id="13" name="波形 12"/>
          <p:cNvSpPr/>
          <p:nvPr/>
        </p:nvSpPr>
        <p:spPr>
          <a:xfrm>
            <a:off x="261407" y="658469"/>
            <a:ext cx="1016537" cy="38414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5-3-1</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2" name="Rectangle 1"/>
          <p:cNvSpPr>
            <a:spLocks noChangeArrowheads="1"/>
          </p:cNvSpPr>
          <p:nvPr/>
        </p:nvSpPr>
        <p:spPr bwMode="auto">
          <a:xfrm>
            <a:off x="769675" y="827601"/>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6" name="文本框 15"/>
          <p:cNvSpPr txBox="1"/>
          <p:nvPr/>
        </p:nvSpPr>
        <p:spPr>
          <a:xfrm>
            <a:off x="230630" y="4485031"/>
            <a:ext cx="8845424" cy="276999"/>
          </a:xfrm>
          <a:prstGeom prst="rect">
            <a:avLst/>
          </a:prstGeom>
          <a:solidFill>
            <a:srgbClr val="0070C0"/>
          </a:solidFill>
        </p:spPr>
        <p:txBody>
          <a:bodyPr wrap="square">
            <a:spAutoFit/>
          </a:bodyPr>
          <a:lstStyle/>
          <a:p>
            <a:pPr algn="dist"/>
            <a:r>
              <a:rPr lang="en-US" altLang="zh-CN" sz="1200" dirty="0">
                <a:solidFill>
                  <a:schemeClr val="bg1"/>
                </a:solidFill>
                <a:effectLst/>
                <a:latin typeface="微软雅黑" panose="020B0503020204020204" pitchFamily="34" charset="-122"/>
                <a:ea typeface="微软雅黑" panose="020B0503020204020204" pitchFamily="34" charset="-122"/>
              </a:rPr>
              <a:t> </a:t>
            </a:r>
            <a:r>
              <a:rPr lang="zh-CN" altLang="en-US" sz="1200" dirty="0">
                <a:solidFill>
                  <a:schemeClr val="bg1"/>
                </a:solidFill>
                <a:latin typeface="微软雅黑" panose="020B0503020204020204" pitchFamily="34" charset="-122"/>
                <a:ea typeface="微软雅黑" panose="020B0503020204020204" pitchFamily="34" charset="-122"/>
              </a:rPr>
              <a:t>二次多项式拟合模型：</a:t>
            </a:r>
            <a:r>
              <a:rPr lang="zh-CN" altLang="en-US" sz="1200" dirty="0">
                <a:solidFill>
                  <a:schemeClr val="bg1"/>
                </a:solidFill>
                <a:highlight>
                  <a:srgbClr val="FF0000"/>
                </a:highlight>
              </a:rPr>
              <a:t>yy(t)=0.009</a:t>
            </a:r>
            <a:r>
              <a:rPr lang="en-US" altLang="zh-CN" sz="1200" dirty="0">
                <a:solidFill>
                  <a:schemeClr val="bg1"/>
                </a:solidFill>
                <a:highlight>
                  <a:srgbClr val="FF0000"/>
                </a:highlight>
              </a:rPr>
              <a:t>3</a:t>
            </a:r>
            <a:r>
              <a:rPr lang="zh-CN" altLang="en-US" sz="1200" dirty="0">
                <a:solidFill>
                  <a:schemeClr val="bg1"/>
                </a:solidFill>
                <a:highlight>
                  <a:srgbClr val="FF0000"/>
                </a:highlight>
              </a:rPr>
              <a:t>t^2+(-34.141</a:t>
            </a:r>
            <a:r>
              <a:rPr lang="en-US" altLang="zh-CN" sz="1200" dirty="0">
                <a:solidFill>
                  <a:schemeClr val="bg1"/>
                </a:solidFill>
                <a:highlight>
                  <a:srgbClr val="FF0000"/>
                </a:highlight>
              </a:rPr>
              <a:t>1</a:t>
            </a:r>
            <a:r>
              <a:rPr lang="zh-CN" altLang="en-US" sz="1200" dirty="0">
                <a:solidFill>
                  <a:schemeClr val="bg1"/>
                </a:solidFill>
                <a:highlight>
                  <a:srgbClr val="FF0000"/>
                </a:highlight>
              </a:rPr>
              <a:t>)t+31474.44077</a:t>
            </a:r>
            <a:r>
              <a:rPr lang="zh-CN" altLang="en-US" sz="1200" dirty="0">
                <a:solidFill>
                  <a:schemeClr val="bg1"/>
                </a:solidFill>
                <a:latin typeface="微软雅黑" panose="020B0503020204020204" pitchFamily="34" charset="-122"/>
                <a:ea typeface="微软雅黑" panose="020B0503020204020204" pitchFamily="34" charset="-122"/>
              </a:rPr>
              <a:t>， 拟合度</a:t>
            </a:r>
            <a:r>
              <a:rPr lang="en-US" altLang="zh-CN" sz="1200" dirty="0">
                <a:solidFill>
                  <a:schemeClr val="bg1"/>
                </a:solidFill>
                <a:latin typeface="微软雅黑" panose="020B0503020204020204" pitchFamily="34" charset="-122"/>
                <a:ea typeface="微软雅黑" panose="020B0503020204020204" pitchFamily="34" charset="-122"/>
              </a:rPr>
              <a:t>0.9967283345</a:t>
            </a:r>
            <a:r>
              <a:rPr lang="zh-CN" altLang="en-US" sz="1200" dirty="0">
                <a:solidFill>
                  <a:schemeClr val="bg1"/>
                </a:solidFill>
                <a:latin typeface="微软雅黑" panose="020B0503020204020204" pitchFamily="34" charset="-122"/>
                <a:ea typeface="微软雅黑" panose="020B0503020204020204" pitchFamily="34" charset="-122"/>
              </a:rPr>
              <a:t>，拟合效果很好</a:t>
            </a:r>
            <a:endParaRPr lang="en-US" altLang="zh-CN" sz="1200" dirty="0">
              <a:solidFill>
                <a:schemeClr val="bg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175374" y="2384079"/>
            <a:ext cx="3635896" cy="1169551"/>
          </a:xfrm>
          <a:prstGeom prst="rect">
            <a:avLst/>
          </a:prstGeom>
          <a:noFill/>
        </p:spPr>
        <p:txBody>
          <a:bodyPr wrap="square">
            <a:spAutoFit/>
          </a:bodyPr>
          <a:lstStyle/>
          <a:p>
            <a:r>
              <a:rPr lang="zh-CN" altLang="en-US" sz="1400" b="1" dirty="0">
                <a:solidFill>
                  <a:srgbClr val="00B0F0"/>
                </a:solidFill>
                <a:latin typeface="微软雅黑" panose="020B0503020204020204" pitchFamily="34" charset="-122"/>
                <a:ea typeface="微软雅黑" panose="020B0503020204020204" pitchFamily="34" charset="-122"/>
              </a:rPr>
              <a:t>拟合结果：</a:t>
            </a:r>
            <a:endParaRPr lang="en-US" altLang="zh-CN" sz="1400" b="1" dirty="0">
              <a:solidFill>
                <a:srgbClr val="00B0F0"/>
              </a:solidFill>
              <a:latin typeface="微软雅黑" panose="020B0503020204020204" pitchFamily="34" charset="-122"/>
              <a:ea typeface="微软雅黑" panose="020B0503020204020204" pitchFamily="34" charset="-122"/>
            </a:endParaRPr>
          </a:p>
          <a:p>
            <a:r>
              <a:rPr lang="zh-CN" altLang="en-US" sz="1400" b="1" dirty="0">
                <a:solidFill>
                  <a:srgbClr val="00B0F0"/>
                </a:solidFill>
                <a:latin typeface="微软雅黑" panose="020B0503020204020204" pitchFamily="34" charset="-122"/>
                <a:ea typeface="微软雅黑" panose="020B0503020204020204" pitchFamily="34" charset="-122"/>
              </a:rPr>
              <a:t>函数原型</a:t>
            </a:r>
            <a:r>
              <a:rPr lang="en-US" altLang="zh-CN" sz="1400" dirty="0">
                <a:solidFill>
                  <a:srgbClr val="00B0F0"/>
                </a:solidFill>
              </a:rPr>
              <a:t>ex=Linear model poly2:</a:t>
            </a:r>
          </a:p>
          <a:p>
            <a:r>
              <a:rPr lang="en-US" altLang="zh-CN" sz="1400" dirty="0">
                <a:solidFill>
                  <a:srgbClr val="00B0F0"/>
                </a:solidFill>
              </a:rPr>
              <a:t>y(p1,p2,p3,x) = p1*x^2 + p2*x + p3</a:t>
            </a:r>
          </a:p>
          <a:p>
            <a:r>
              <a:rPr lang="zh-CN" altLang="en-US" sz="1400" b="1" dirty="0">
                <a:solidFill>
                  <a:srgbClr val="00B0F0"/>
                </a:solidFill>
                <a:latin typeface="微软雅黑" panose="020B0503020204020204" pitchFamily="34" charset="-122"/>
                <a:ea typeface="微软雅黑" panose="020B0503020204020204" pitchFamily="34" charset="-122"/>
              </a:rPr>
              <a:t>待定参数</a:t>
            </a:r>
            <a:r>
              <a:rPr lang="en-US" altLang="zh-CN" sz="1400" dirty="0">
                <a:solidFill>
                  <a:srgbClr val="00B0F0"/>
                </a:solidFill>
              </a:rPr>
              <a:t>p=[0.0093, -34.14108, 31474.440]</a:t>
            </a:r>
          </a:p>
          <a:p>
            <a:r>
              <a:rPr lang="zh-CN" altLang="en-US" sz="1400" b="1" dirty="0">
                <a:solidFill>
                  <a:srgbClr val="00B0F0"/>
                </a:solidFill>
                <a:latin typeface="微软雅黑" panose="020B0503020204020204" pitchFamily="34" charset="-122"/>
                <a:ea typeface="微软雅黑" panose="020B0503020204020204" pitchFamily="34" charset="-122"/>
              </a:rPr>
              <a:t>调整</a:t>
            </a:r>
            <a:r>
              <a:rPr lang="en-US" altLang="zh-CN" sz="1400" b="1" dirty="0">
                <a:solidFill>
                  <a:srgbClr val="00B0F0"/>
                </a:solidFill>
                <a:latin typeface="微软雅黑" panose="020B0503020204020204" pitchFamily="34" charset="-122"/>
                <a:ea typeface="微软雅黑" panose="020B0503020204020204" pitchFamily="34" charset="-122"/>
              </a:rPr>
              <a:t>R</a:t>
            </a:r>
            <a:r>
              <a:rPr lang="zh-CN" altLang="en-US" sz="1400" b="1" dirty="0">
                <a:solidFill>
                  <a:srgbClr val="00B0F0"/>
                </a:solidFill>
                <a:latin typeface="微软雅黑" panose="020B0503020204020204" pitchFamily="34" charset="-122"/>
                <a:ea typeface="微软雅黑" panose="020B0503020204020204" pitchFamily="34" charset="-122"/>
              </a:rPr>
              <a:t>方</a:t>
            </a:r>
            <a:r>
              <a:rPr lang="en-US" altLang="zh-CN" sz="1400" b="1" dirty="0">
                <a:solidFill>
                  <a:srgbClr val="00B0F0"/>
                </a:solidFill>
                <a:latin typeface="微软雅黑" panose="020B0503020204020204" pitchFamily="34" charset="-122"/>
                <a:ea typeface="微软雅黑" panose="020B0503020204020204" pitchFamily="34" charset="-122"/>
              </a:rPr>
              <a:t>: </a:t>
            </a:r>
            <a:r>
              <a:rPr lang="en-US" altLang="zh-CN" sz="1400" dirty="0">
                <a:solidFill>
                  <a:srgbClr val="00B0F0"/>
                </a:solidFill>
              </a:rPr>
              <a:t>0.9958    RMSE: 3.8225</a:t>
            </a:r>
          </a:p>
        </p:txBody>
      </p:sp>
      <p:sp>
        <p:nvSpPr>
          <p:cNvPr id="11" name="文本框 10">
            <a:extLst>
              <a:ext uri="{FF2B5EF4-FFF2-40B4-BE49-F238E27FC236}">
                <a16:creationId xmlns:a16="http://schemas.microsoft.com/office/drawing/2014/main" id="{848DEC7E-21D3-44A3-874C-D7D2B72B4B96}"/>
              </a:ext>
            </a:extLst>
          </p:cNvPr>
          <p:cNvSpPr txBox="1"/>
          <p:nvPr/>
        </p:nvSpPr>
        <p:spPr>
          <a:xfrm>
            <a:off x="895265" y="29030"/>
            <a:ext cx="8122420" cy="560346"/>
          </a:xfrm>
          <a:prstGeom prst="rect">
            <a:avLst/>
          </a:prstGeom>
          <a:noFill/>
        </p:spPr>
        <p:txBody>
          <a:bodyPr wrap="square">
            <a:spAutoFit/>
          </a:bodyPr>
          <a:lstStyle/>
          <a:p>
            <a:pPr eaLnBrk="0">
              <a:lnSpc>
                <a:spcPts val="3900"/>
              </a:lnSpc>
              <a:spcBef>
                <a:spcPts val="0"/>
              </a:spcBef>
              <a:spcAft>
                <a:spcPts val="0"/>
              </a:spcAft>
            </a:pPr>
            <a:r>
              <a:rPr lang="en-US" altLang="ko-KR" sz="2600" dirty="0">
                <a:solidFill>
                  <a:srgbClr val="002060"/>
                </a:solidFill>
                <a:latin typeface="华文楷体" panose="02010600040101010101" pitchFamily="2" charset="-122"/>
                <a:ea typeface="华文楷体" panose="02010600040101010101" pitchFamily="2" charset="-122"/>
              </a:rPr>
              <a:t>§5.3 </a:t>
            </a:r>
            <a:r>
              <a:rPr lang="en-US" altLang="zh-CN" sz="2600" dirty="0">
                <a:solidFill>
                  <a:srgbClr val="002060"/>
                </a:solidFill>
                <a:latin typeface="华文楷体" panose="02010600040101010101" pitchFamily="2" charset="-122"/>
                <a:ea typeface="华文楷体" panose="02010600040101010101" pitchFamily="2" charset="-122"/>
              </a:rPr>
              <a:t>fit</a:t>
            </a:r>
            <a:r>
              <a:rPr lang="zh-CN" altLang="en-US" sz="2600" dirty="0">
                <a:solidFill>
                  <a:srgbClr val="002060"/>
                </a:solidFill>
                <a:latin typeface="华文楷体" panose="02010600040101010101" pitchFamily="2" charset="-122"/>
                <a:ea typeface="华文楷体" panose="02010600040101010101" pitchFamily="2" charset="-122"/>
              </a:rPr>
              <a:t>拟合</a:t>
            </a:r>
            <a:r>
              <a:rPr lang="zh-CN" altLang="en-US" sz="2600" b="0" i="0" dirty="0">
                <a:solidFill>
                  <a:srgbClr val="002060"/>
                </a:solidFill>
                <a:effectLst/>
                <a:latin typeface="华文楷体" panose="02010600040101010101" pitchFamily="2" charset="-122"/>
                <a:ea typeface="华文楷体" panose="02010600040101010101" pitchFamily="2" charset="-122"/>
              </a:rPr>
              <a:t>曲线</a:t>
            </a:r>
            <a:r>
              <a:rPr lang="zh-CN" altLang="en-US" sz="2600" dirty="0">
                <a:solidFill>
                  <a:srgbClr val="002060"/>
                </a:solidFill>
                <a:latin typeface="华文楷体" panose="02010600040101010101" pitchFamily="2" charset="-122"/>
                <a:ea typeface="华文楷体" panose="02010600040101010101" pitchFamily="2" charset="-122"/>
              </a:rPr>
              <a:t>或曲面</a:t>
            </a:r>
            <a:r>
              <a:rPr lang="en-US" altLang="zh-CN" sz="2600" kern="0" dirty="0">
                <a:solidFill>
                  <a:srgbClr val="FF0000"/>
                </a:solidFill>
                <a:latin typeface="华文楷体" panose="02010600040101010101" pitchFamily="2" charset="-122"/>
                <a:ea typeface="华文楷体" panose="02010600040101010101" pitchFamily="2" charset="-122"/>
              </a:rPr>
              <a:t>——2</a:t>
            </a:r>
            <a:r>
              <a:rPr lang="zh-CN" altLang="en-US" sz="2600" kern="0" dirty="0">
                <a:solidFill>
                  <a:srgbClr val="FF0000"/>
                </a:solidFill>
                <a:latin typeface="华文楷体" panose="02010600040101010101" pitchFamily="2" charset="-122"/>
                <a:ea typeface="华文楷体" panose="02010600040101010101" pitchFamily="2" charset="-122"/>
              </a:rPr>
              <a:t>次“</a:t>
            </a:r>
            <a:r>
              <a:rPr lang="en-US" altLang="zh-CN" sz="2600" kern="0" dirty="0">
                <a:solidFill>
                  <a:srgbClr val="FF0000"/>
                </a:solidFill>
                <a:latin typeface="华文楷体" panose="02010600040101010101" pitchFamily="2" charset="-122"/>
                <a:ea typeface="华文楷体" panose="02010600040101010101" pitchFamily="2" charset="-122"/>
              </a:rPr>
              <a:t>poly2</a:t>
            </a:r>
            <a:r>
              <a:rPr lang="zh-CN" altLang="en-US" sz="2600" kern="0" dirty="0">
                <a:solidFill>
                  <a:srgbClr val="FF0000"/>
                </a:solidFill>
                <a:latin typeface="华文楷体" panose="02010600040101010101" pitchFamily="2" charset="-122"/>
                <a:ea typeface="华文楷体" panose="02010600040101010101" pitchFamily="2" charset="-122"/>
              </a:rPr>
              <a:t>”</a:t>
            </a:r>
            <a:r>
              <a:rPr lang="en-US" altLang="zh-CN" sz="2600" kern="0" dirty="0">
                <a:solidFill>
                  <a:srgbClr val="FF0000"/>
                </a:solidFill>
                <a:latin typeface="华文楷体" panose="02010600040101010101" pitchFamily="2" charset="-122"/>
                <a:ea typeface="华文楷体" panose="02010600040101010101" pitchFamily="2" charset="-122"/>
              </a:rPr>
              <a:t> </a:t>
            </a:r>
            <a:r>
              <a:rPr lang="zh-CN" altLang="en-US" sz="2600" kern="0" dirty="0">
                <a:solidFill>
                  <a:srgbClr val="FF0000"/>
                </a:solidFill>
                <a:latin typeface="华文楷体" panose="02010600040101010101" pitchFamily="2" charset="-122"/>
                <a:ea typeface="华文楷体" panose="02010600040101010101" pitchFamily="2" charset="-122"/>
              </a:rPr>
              <a:t>拟合人口</a:t>
            </a:r>
            <a:endParaRPr lang="en-US" altLang="zh-CN" sz="2600" dirty="0">
              <a:solidFill>
                <a:srgbClr val="FF0000"/>
              </a:solidFill>
              <a:latin typeface="华文楷体" panose="02010600040101010101" pitchFamily="2" charset="-122"/>
              <a:ea typeface="华文楷体" panose="02010600040101010101" pitchFamily="2" charset="-122"/>
            </a:endParaRPr>
          </a:p>
        </p:txBody>
      </p:sp>
      <p:sp>
        <p:nvSpPr>
          <p:cNvPr id="12" name="文本框 11">
            <a:extLst>
              <a:ext uri="{FF2B5EF4-FFF2-40B4-BE49-F238E27FC236}">
                <a16:creationId xmlns:a16="http://schemas.microsoft.com/office/drawing/2014/main" id="{3F64306A-3F50-4190-81B9-BE32F4126741}"/>
              </a:ext>
            </a:extLst>
          </p:cNvPr>
          <p:cNvSpPr txBox="1"/>
          <p:nvPr/>
        </p:nvSpPr>
        <p:spPr>
          <a:xfrm>
            <a:off x="162685" y="4122303"/>
            <a:ext cx="6336704" cy="362728"/>
          </a:xfrm>
          <a:prstGeom prst="rect">
            <a:avLst/>
          </a:prstGeom>
          <a:noFill/>
        </p:spPr>
        <p:txBody>
          <a:bodyPr wrap="square">
            <a:spAutoFit/>
          </a:bodyPr>
          <a:lstStyle/>
          <a:p>
            <a:pPr>
              <a:lnSpc>
                <a:spcPts val="2300"/>
              </a:lnSpc>
            </a:pPr>
            <a:r>
              <a:rPr lang="en-US" altLang="zh-CN" sz="1600" b="0" dirty="0">
                <a:solidFill>
                  <a:srgbClr val="000000"/>
                </a:solidFill>
                <a:effectLst/>
                <a:latin typeface="Consolas" panose="020B0609020204030204" pitchFamily="49" charset="0"/>
              </a:rPr>
              <a:t>y2050=</a:t>
            </a:r>
            <a:r>
              <a:rPr lang="en-US" altLang="zh-CN" sz="1600" b="0" dirty="0">
                <a:solidFill>
                  <a:srgbClr val="795E26"/>
                </a:solidFill>
                <a:effectLst/>
                <a:latin typeface="Consolas" panose="020B0609020204030204" pitchFamily="49" charset="0"/>
              </a:rPr>
              <a:t>f2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2050</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1" dirty="0">
                <a:solidFill>
                  <a:srgbClr val="0070C0"/>
                </a:solidFill>
                <a:latin typeface="微软雅黑" panose="020B0503020204020204" pitchFamily="34" charset="-122"/>
                <a:ea typeface="微软雅黑" panose="020B0503020204020204" pitchFamily="34" charset="-122"/>
              </a:rPr>
              <a:t>预测</a:t>
            </a:r>
            <a:r>
              <a:rPr lang="en-US" altLang="zh-CN" sz="1600" b="1" dirty="0">
                <a:solidFill>
                  <a:srgbClr val="0070C0"/>
                </a:solidFill>
                <a:latin typeface="微软雅黑" panose="020B0503020204020204" pitchFamily="34" charset="-122"/>
                <a:ea typeface="微软雅黑" panose="020B0503020204020204" pitchFamily="34" charset="-122"/>
              </a:rPr>
              <a:t>2050</a:t>
            </a:r>
            <a:r>
              <a:rPr lang="zh-CN" altLang="en-US" sz="1600" b="1" dirty="0">
                <a:solidFill>
                  <a:srgbClr val="0070C0"/>
                </a:solidFill>
                <a:latin typeface="微软雅黑" panose="020B0503020204020204" pitchFamily="34" charset="-122"/>
                <a:ea typeface="微软雅黑" panose="020B0503020204020204" pitchFamily="34" charset="-122"/>
              </a:rPr>
              <a:t>人口数  </a:t>
            </a:r>
            <a:r>
              <a:rPr lang="en-US" altLang="zh-CN" sz="1600" b="0" dirty="0">
                <a:solidFill>
                  <a:srgbClr val="FF0000"/>
                </a:solidFill>
                <a:effectLst/>
                <a:latin typeface="Consolas" panose="020B0609020204030204" pitchFamily="49" charset="0"/>
              </a:rPr>
              <a:t>450.68500000007407</a:t>
            </a:r>
          </a:p>
        </p:txBody>
      </p:sp>
      <p:sp>
        <p:nvSpPr>
          <p:cNvPr id="19" name="文本框 18">
            <a:extLst>
              <a:ext uri="{FF2B5EF4-FFF2-40B4-BE49-F238E27FC236}">
                <a16:creationId xmlns:a16="http://schemas.microsoft.com/office/drawing/2014/main" id="{70EC55DE-5A77-42AD-9C36-75E30FB23997}"/>
              </a:ext>
            </a:extLst>
          </p:cNvPr>
          <p:cNvSpPr txBox="1"/>
          <p:nvPr/>
        </p:nvSpPr>
        <p:spPr>
          <a:xfrm>
            <a:off x="7079776" y="2019503"/>
            <a:ext cx="2050952" cy="1228350"/>
          </a:xfrm>
          <a:prstGeom prst="rect">
            <a:avLst/>
          </a:prstGeom>
          <a:noFill/>
        </p:spPr>
        <p:txBody>
          <a:bodyPr wrap="square">
            <a:spAutoFit/>
          </a:bodyPr>
          <a:lstStyle/>
          <a:p>
            <a:pPr>
              <a:lnSpc>
                <a:spcPts val="1800"/>
              </a:lnSpc>
            </a:pPr>
            <a:r>
              <a:rPr lang="en-US" altLang="zh-CN" sz="1200" dirty="0">
                <a:solidFill>
                  <a:srgbClr val="FF0000"/>
                </a:solidFill>
                <a:latin typeface="Consolas" panose="020B0609020204030204" pitchFamily="49" charset="0"/>
              </a:rPr>
              <a:t>#</a:t>
            </a:r>
            <a:r>
              <a:rPr lang="zh-CN" altLang="en-US" sz="1200" dirty="0">
                <a:solidFill>
                  <a:srgbClr val="FF0000"/>
                </a:solidFill>
                <a:latin typeface="Consolas" panose="020B0609020204030204" pitchFamily="49" charset="0"/>
              </a:rPr>
              <a:t>人口预测范围</a:t>
            </a:r>
            <a:endParaRPr lang="en-US" altLang="zh-CN" sz="1200" dirty="0">
              <a:solidFill>
                <a:srgbClr val="FF0000"/>
              </a:solidFill>
              <a:latin typeface="Consolas" panose="020B0609020204030204" pitchFamily="49" charset="0"/>
            </a:endParaRPr>
          </a:p>
          <a:p>
            <a:pPr>
              <a:lnSpc>
                <a:spcPts val="1800"/>
              </a:lnSpc>
            </a:pPr>
            <a:r>
              <a:rPr lang="en-US" altLang="zh-CN" sz="1200" dirty="0" err="1">
                <a:solidFill>
                  <a:srgbClr val="FF0000"/>
                </a:solidFill>
                <a:latin typeface="Consolas" panose="020B0609020204030204" pitchFamily="49" charset="0"/>
              </a:rPr>
              <a:t>xlim</a:t>
            </a:r>
            <a:r>
              <a:rPr lang="en-US" altLang="zh-CN" sz="1200" dirty="0">
                <a:solidFill>
                  <a:srgbClr val="FF0000"/>
                </a:solidFill>
                <a:latin typeface="Consolas" panose="020B0609020204030204" pitchFamily="49" charset="0"/>
              </a:rPr>
              <a:t>([1900,2050])  </a:t>
            </a:r>
          </a:p>
          <a:p>
            <a:pPr>
              <a:lnSpc>
                <a:spcPts val="1800"/>
              </a:lnSpc>
            </a:pPr>
            <a:r>
              <a:rPr lang="en-US" altLang="zh-CN" sz="1200" dirty="0">
                <a:solidFill>
                  <a:srgbClr val="FF0000"/>
                </a:solidFill>
                <a:latin typeface="Consolas" panose="020B0609020204030204" pitchFamily="49" charset="0"/>
              </a:rPr>
              <a:t>#predfun</a:t>
            </a:r>
            <a:r>
              <a:rPr lang="zh-CN" altLang="en-US" sz="1200" dirty="0">
                <a:solidFill>
                  <a:srgbClr val="FF0000"/>
                </a:solidFill>
                <a:latin typeface="Consolas" panose="020B0609020204030204" pitchFamily="49" charset="0"/>
              </a:rPr>
              <a:t>提供拟合区间</a:t>
            </a:r>
            <a:endParaRPr lang="en-US" altLang="zh-CN" sz="1200" dirty="0">
              <a:solidFill>
                <a:srgbClr val="FF0000"/>
              </a:solidFill>
              <a:latin typeface="Consolas" panose="020B0609020204030204" pitchFamily="49" charset="0"/>
            </a:endParaRPr>
          </a:p>
          <a:p>
            <a:pPr>
              <a:lnSpc>
                <a:spcPts val="1800"/>
              </a:lnSpc>
            </a:pPr>
            <a:r>
              <a:rPr lang="en-US" altLang="zh-CN" sz="1200" dirty="0" err="1">
                <a:solidFill>
                  <a:srgbClr val="FF0000"/>
                </a:solidFill>
                <a:latin typeface="Consolas" panose="020B0609020204030204" pitchFamily="49" charset="0"/>
              </a:rPr>
              <a:t>plotfit</a:t>
            </a:r>
            <a:r>
              <a:rPr lang="en-US" altLang="zh-CN" sz="1200" dirty="0">
                <a:solidFill>
                  <a:srgbClr val="FF0000"/>
                </a:solidFill>
                <a:latin typeface="Consolas" panose="020B0609020204030204" pitchFamily="49" charset="0"/>
              </a:rPr>
              <a:t>(f2,"predfun")  </a:t>
            </a:r>
            <a:endParaRPr lang="zh-CN" altLang="en-US" sz="1200" dirty="0">
              <a:solidFill>
                <a:srgbClr val="FF0000"/>
              </a:solidFill>
              <a:latin typeface="Consolas" panose="020B0609020204030204" pitchFamily="49" charset="0"/>
            </a:endParaRPr>
          </a:p>
        </p:txBody>
      </p:sp>
      <p:pic>
        <p:nvPicPr>
          <p:cNvPr id="9" name="图片 8">
            <a:extLst>
              <a:ext uri="{FF2B5EF4-FFF2-40B4-BE49-F238E27FC236}">
                <a16:creationId xmlns:a16="http://schemas.microsoft.com/office/drawing/2014/main" id="{AE7A704D-0821-4AC1-A2FE-F17648EA1126}"/>
              </a:ext>
            </a:extLst>
          </p:cNvPr>
          <p:cNvPicPr>
            <a:picLocks noChangeAspect="1"/>
          </p:cNvPicPr>
          <p:nvPr/>
        </p:nvPicPr>
        <p:blipFill>
          <a:blip r:embed="rId4"/>
          <a:stretch>
            <a:fillRect/>
          </a:stretch>
        </p:blipFill>
        <p:spPr>
          <a:xfrm>
            <a:off x="6977578" y="3016441"/>
            <a:ext cx="2023670" cy="1491125"/>
          </a:xfrm>
          <a:prstGeom prst="rect">
            <a:avLst/>
          </a:prstGeom>
        </p:spPr>
      </p:pic>
      <p:sp>
        <p:nvSpPr>
          <p:cNvPr id="20" name="文本框 19">
            <a:extLst>
              <a:ext uri="{FF2B5EF4-FFF2-40B4-BE49-F238E27FC236}">
                <a16:creationId xmlns:a16="http://schemas.microsoft.com/office/drawing/2014/main" id="{8AF63020-7990-4218-98E3-8CFBDFC4CE3D}"/>
              </a:ext>
            </a:extLst>
          </p:cNvPr>
          <p:cNvSpPr txBox="1"/>
          <p:nvPr/>
        </p:nvSpPr>
        <p:spPr>
          <a:xfrm>
            <a:off x="6644012" y="3806919"/>
            <a:ext cx="2392484" cy="461665"/>
          </a:xfrm>
          <a:prstGeom prst="rect">
            <a:avLst/>
          </a:prstGeom>
          <a:noFill/>
        </p:spPr>
        <p:txBody>
          <a:bodyPr wrap="square">
            <a:spAutoFit/>
          </a:bodyPr>
          <a:lstStyle>
            <a:defPPr>
              <a:defRPr lang="zh-CN"/>
            </a:defPPr>
            <a:lvl1pPr marL="0" indent="0">
              <a:buFont typeface="+mj-ea"/>
              <a:buNone/>
              <a:defRPr b="1" i="0">
                <a:solidFill>
                  <a:srgbClr val="0070C0"/>
                </a:solidFill>
                <a:effectLst/>
                <a:latin typeface="微软雅黑" panose="020B0503020204020204" pitchFamily="34" charset="-122"/>
                <a:ea typeface="微软雅黑" panose="020B0503020204020204" pitchFamily="34" charset="-122"/>
              </a:defRPr>
            </a:lvl1pPr>
          </a:lstStyle>
          <a:p>
            <a:r>
              <a:rPr lang="en-US" altLang="zh-CN" sz="1200" dirty="0">
                <a:solidFill>
                  <a:srgbClr val="FF0000"/>
                </a:solidFill>
              </a:rPr>
              <a:t>poly5\9</a:t>
            </a:r>
            <a:r>
              <a:rPr lang="zh-CN" altLang="en-US" sz="1200" dirty="0">
                <a:solidFill>
                  <a:srgbClr val="FF0000"/>
                </a:solidFill>
              </a:rPr>
              <a:t>或</a:t>
            </a:r>
            <a:r>
              <a:rPr lang="en-US" altLang="zh-CN" sz="1200" dirty="0">
                <a:solidFill>
                  <a:srgbClr val="FF0000"/>
                </a:solidFill>
              </a:rPr>
              <a:t>exp </a:t>
            </a:r>
            <a:r>
              <a:rPr lang="zh-CN" altLang="en-US" sz="1200" dirty="0">
                <a:solidFill>
                  <a:srgbClr val="FF0000"/>
                </a:solidFill>
              </a:rPr>
              <a:t>人口拟合</a:t>
            </a:r>
            <a:r>
              <a:rPr lang="en-US" altLang="zh-CN" sz="1200" dirty="0">
                <a:solidFill>
                  <a:srgbClr val="FF0000"/>
                </a:solidFill>
              </a:rPr>
              <a:t>, </a:t>
            </a:r>
            <a:r>
              <a:rPr lang="zh-CN" altLang="en-US" sz="1200" dirty="0">
                <a:solidFill>
                  <a:srgbClr val="FF0000"/>
                </a:solidFill>
              </a:rPr>
              <a:t>绘制</a:t>
            </a:r>
            <a:endParaRPr lang="en-US" altLang="zh-CN" sz="1200" dirty="0">
              <a:solidFill>
                <a:srgbClr val="FF0000"/>
              </a:solidFill>
            </a:endParaRPr>
          </a:p>
          <a:p>
            <a:r>
              <a:rPr lang="en-US" altLang="zh-CN" sz="1200" dirty="0">
                <a:solidFill>
                  <a:srgbClr val="FF0000"/>
                </a:solidFill>
              </a:rPr>
              <a:t>1900-2050</a:t>
            </a:r>
            <a:r>
              <a:rPr lang="zh-CN" altLang="en-US" sz="1200" dirty="0">
                <a:solidFill>
                  <a:srgbClr val="FF0000"/>
                </a:solidFill>
              </a:rPr>
              <a:t>间人口图</a:t>
            </a:r>
            <a:endParaRPr lang="en-US" altLang="zh-CN" sz="1200" dirty="0">
              <a:solidFill>
                <a:srgbClr val="FF0000"/>
              </a:solidFill>
            </a:endParaRPr>
          </a:p>
        </p:txBody>
      </p:sp>
      <p:sp>
        <p:nvSpPr>
          <p:cNvPr id="21" name="波形 20">
            <a:extLst>
              <a:ext uri="{FF2B5EF4-FFF2-40B4-BE49-F238E27FC236}">
                <a16:creationId xmlns:a16="http://schemas.microsoft.com/office/drawing/2014/main" id="{863323FB-BC36-4C90-8BD7-715A69911E48}"/>
              </a:ext>
            </a:extLst>
          </p:cNvPr>
          <p:cNvSpPr/>
          <p:nvPr/>
        </p:nvSpPr>
        <p:spPr>
          <a:xfrm>
            <a:off x="6092842" y="3904863"/>
            <a:ext cx="576064" cy="319770"/>
          </a:xfrm>
          <a:prstGeom prst="wave">
            <a:avLst/>
          </a:prstGeom>
          <a:solidFill>
            <a:srgbClr val="003B76"/>
          </a:soli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200" b="1" dirty="0">
                <a:solidFill>
                  <a:srgbClr val="FFFF00"/>
                </a:solidFill>
                <a:latin typeface="微软雅黑" panose="020B0503020204020204" pitchFamily="34" charset="-122"/>
                <a:ea typeface="微软雅黑" panose="020B0503020204020204" pitchFamily="34" charset="-122"/>
              </a:rPr>
              <a:t>练习</a:t>
            </a:r>
            <a:endParaRPr lang="ko-KR" altLang="en-US" sz="12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srcRect l="7088" t="13350" r="6288" b="9973"/>
          <a:stretch>
            <a:fillRect/>
          </a:stretch>
        </p:blipFill>
        <p:spPr>
          <a:xfrm>
            <a:off x="323528" y="757159"/>
            <a:ext cx="8856984" cy="3805358"/>
          </a:xfrm>
          <a:prstGeom prst="rect">
            <a:avLst/>
          </a:prstGeom>
        </p:spPr>
      </p:pic>
      <p:sp>
        <p:nvSpPr>
          <p:cNvPr id="5" name="文本框 4"/>
          <p:cNvSpPr txBox="1"/>
          <p:nvPr/>
        </p:nvSpPr>
        <p:spPr>
          <a:xfrm>
            <a:off x="1107374" y="988222"/>
            <a:ext cx="6929252" cy="1477328"/>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t = </a:t>
            </a:r>
            <a:r>
              <a:rPr lang="en-US" altLang="zh-CN" b="0" dirty="0">
                <a:solidFill>
                  <a:srgbClr val="098658"/>
                </a:solidFill>
                <a:effectLst/>
                <a:latin typeface="Consolas" panose="020B0609020204030204" pitchFamily="49" charset="0"/>
              </a:rPr>
              <a:t>1900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1990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 1900-1990</a:t>
            </a:r>
            <a:r>
              <a:rPr lang="zh-CN" altLang="en-US" b="0" dirty="0">
                <a:solidFill>
                  <a:srgbClr val="008000"/>
                </a:solidFill>
                <a:effectLst/>
                <a:latin typeface="Consolas" panose="020B0609020204030204" pitchFamily="49" charset="0"/>
              </a:rPr>
              <a:t>年步长为</a:t>
            </a:r>
            <a:r>
              <a:rPr lang="en-US" altLang="zh-CN" b="0" dirty="0">
                <a:solidFill>
                  <a:srgbClr val="008000"/>
                </a:solidFill>
                <a:effectLst/>
                <a:latin typeface="Consolas" panose="020B0609020204030204" pitchFamily="49" charset="0"/>
              </a:rPr>
              <a:t>10</a:t>
            </a:r>
            <a:r>
              <a:rPr lang="zh-CN" altLang="en-US" b="0" dirty="0">
                <a:solidFill>
                  <a:srgbClr val="008000"/>
                </a:solidFill>
                <a:effectLst/>
                <a:latin typeface="Consolas" panose="020B0609020204030204" pitchFamily="49" charset="0"/>
              </a:rPr>
              <a:t>的</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轴年份数据</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y = [</a:t>
            </a:r>
            <a:r>
              <a:rPr lang="en-US" altLang="zh-CN" b="0" dirty="0">
                <a:solidFill>
                  <a:srgbClr val="098658"/>
                </a:solidFill>
                <a:effectLst/>
                <a:latin typeface="Consolas" panose="020B0609020204030204" pitchFamily="49" charset="0"/>
              </a:rPr>
              <a:t>75.99</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91.97</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105.71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123.20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131.66</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150.69</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179.32</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203.21</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226.50</a:t>
            </a:r>
            <a:r>
              <a:rPr lang="en-US" altLang="zh-CN" b="0" dirty="0">
                <a:solidFill>
                  <a:srgbClr val="000000"/>
                </a:solidFill>
                <a:effectLst/>
                <a:latin typeface="Consolas" panose="020B0609020204030204" pitchFamily="49" charset="0"/>
              </a:rPr>
              <a:t>, </a:t>
            </a:r>
            <a:r>
              <a:rPr lang="en-US" altLang="zh-CN" b="0" dirty="0">
                <a:solidFill>
                  <a:srgbClr val="098658"/>
                </a:solidFill>
                <a:effectLst/>
                <a:latin typeface="Consolas" panose="020B0609020204030204" pitchFamily="49" charset="0"/>
              </a:rPr>
              <a:t>249.63</a:t>
            </a:r>
            <a:r>
              <a:rPr lang="en-US" altLang="zh-CN" b="0" dirty="0">
                <a:solidFill>
                  <a:srgbClr val="000000"/>
                </a:solidFill>
                <a:effectLst/>
                <a:latin typeface="Consolas" panose="020B0609020204030204" pitchFamily="49" charset="0"/>
              </a:rPr>
              <a:t>];</a:t>
            </a:r>
          </a:p>
          <a:p>
            <a:r>
              <a:rPr lang="en-US" altLang="zh-CN" b="1" dirty="0" err="1">
                <a:solidFill>
                  <a:srgbClr val="FF0000"/>
                </a:solidFill>
                <a:effectLst/>
                <a:latin typeface="Consolas" panose="020B0609020204030204" pitchFamily="49" charset="0"/>
              </a:rPr>
              <a:t>fe</a:t>
            </a:r>
            <a:r>
              <a:rPr lang="en-US" altLang="zh-CN" b="1" dirty="0">
                <a:solidFill>
                  <a:srgbClr val="FF0000"/>
                </a:solidFill>
                <a:latin typeface="Consolas" panose="020B0609020204030204" pitchFamily="49" charset="0"/>
              </a:rPr>
              <a:t>=</a:t>
            </a:r>
            <a:r>
              <a:rPr lang="en-US" altLang="zh-CN" b="1" dirty="0" err="1">
                <a:solidFill>
                  <a:srgbClr val="FF0000"/>
                </a:solidFill>
                <a:latin typeface="Consolas" panose="020B0609020204030204" pitchFamily="49" charset="0"/>
              </a:rPr>
              <a:t>TyCurveFitting.fit</a:t>
            </a:r>
            <a:r>
              <a:rPr lang="en-US" altLang="zh-CN" b="1" dirty="0">
                <a:solidFill>
                  <a:srgbClr val="FF0000"/>
                </a:solidFill>
                <a:effectLst/>
                <a:latin typeface="Consolas" panose="020B0609020204030204" pitchFamily="49" charset="0"/>
              </a:rPr>
              <a:t>("exp", t, y)</a:t>
            </a:r>
          </a:p>
          <a:p>
            <a:r>
              <a:rPr lang="en-US" altLang="zh-CN" b="0" dirty="0" err="1">
                <a:solidFill>
                  <a:srgbClr val="795E26"/>
                </a:solidFill>
                <a:effectLst/>
                <a:latin typeface="Consolas" panose="020B0609020204030204" pitchFamily="49" charset="0"/>
              </a:rPr>
              <a:t>plotfit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fe</a:t>
            </a:r>
            <a:r>
              <a:rPr lang="en-US" altLang="zh-CN" b="0" dirty="0">
                <a:solidFill>
                  <a:srgbClr val="000000"/>
                </a:solidFill>
                <a:effectLst/>
                <a:latin typeface="Consolas" panose="020B0609020204030204" pitchFamily="49" charset="0"/>
              </a:rPr>
              <a:t>, t, y)</a:t>
            </a:r>
          </a:p>
        </p:txBody>
      </p:sp>
      <p:sp>
        <p:nvSpPr>
          <p:cNvPr id="6" name="文本框 5"/>
          <p:cNvSpPr txBox="1"/>
          <p:nvPr/>
        </p:nvSpPr>
        <p:spPr>
          <a:xfrm>
            <a:off x="1204347" y="2748085"/>
            <a:ext cx="3075006" cy="923330"/>
          </a:xfrm>
          <a:prstGeom prst="rect">
            <a:avLst/>
          </a:prstGeom>
          <a:noFill/>
        </p:spPr>
        <p:txBody>
          <a:bodyPr wrap="square">
            <a:spAutoFit/>
          </a:bodyPr>
          <a:lstStyle/>
          <a:p>
            <a:r>
              <a:rPr lang="zh-CN" altLang="en-US" b="1" dirty="0">
                <a:solidFill>
                  <a:srgbClr val="0070C0"/>
                </a:solidFill>
              </a:rPr>
              <a:t>结果General model exp:</a:t>
            </a:r>
          </a:p>
          <a:p>
            <a:r>
              <a:rPr lang="zh-CN" altLang="en-US" b="1" dirty="0">
                <a:solidFill>
                  <a:srgbClr val="0070C0"/>
                </a:solidFill>
              </a:rPr>
              <a:t>y(a,b,x) = a*exp(b*x</a:t>
            </a:r>
            <a:r>
              <a:rPr lang="en-US" altLang="zh-CN" b="1" dirty="0">
                <a:solidFill>
                  <a:srgbClr val="0070C0"/>
                </a:solidFill>
              </a:rPr>
              <a:t>)</a:t>
            </a:r>
            <a:r>
              <a:rPr lang="zh-CN" altLang="en-US" b="1" dirty="0">
                <a:solidFill>
                  <a:srgbClr val="0070C0"/>
                </a:solidFill>
              </a:rPr>
              <a:t>)</a:t>
            </a:r>
            <a:r>
              <a:rPr lang="en-US" altLang="zh-CN" b="1" dirty="0">
                <a:solidFill>
                  <a:srgbClr val="0070C0"/>
                </a:solidFill>
              </a:rPr>
              <a:t>)</a:t>
            </a:r>
            <a:endParaRPr lang="zh-CN" altLang="en-US" b="1" dirty="0">
              <a:solidFill>
                <a:srgbClr val="0070C0"/>
              </a:solidFill>
            </a:endParaRPr>
          </a:p>
          <a:p>
            <a:endParaRPr lang="zh-CN" altLang="en-US" b="1" dirty="0">
              <a:solidFill>
                <a:srgbClr val="0070C0"/>
              </a:solidFill>
            </a:endParaRPr>
          </a:p>
        </p:txBody>
      </p:sp>
      <p:sp>
        <p:nvSpPr>
          <p:cNvPr id="7" name="文本框 6"/>
          <p:cNvSpPr txBox="1"/>
          <p:nvPr/>
        </p:nvSpPr>
        <p:spPr>
          <a:xfrm>
            <a:off x="5993355" y="2219425"/>
            <a:ext cx="2971133" cy="1384995"/>
          </a:xfrm>
          <a:prstGeom prst="rect">
            <a:avLst/>
          </a:prstGeom>
          <a:noFill/>
        </p:spPr>
        <p:txBody>
          <a:bodyPr wrap="square">
            <a:spAutoFit/>
          </a:bodyPr>
          <a:lstStyle/>
          <a:p>
            <a:r>
              <a:rPr lang="zh-CN" altLang="en-US" sz="1400" dirty="0">
                <a:solidFill>
                  <a:srgbClr val="FFFF00"/>
                </a:solidFill>
                <a:highlight>
                  <a:srgbClr val="800000"/>
                </a:highlight>
              </a:rPr>
              <a:t>f.s_data  </a:t>
            </a:r>
            <a:r>
              <a:rPr lang="en-US" altLang="zh-CN" sz="1400" dirty="0">
                <a:solidFill>
                  <a:srgbClr val="FFFF00"/>
                </a:solidFill>
                <a:highlight>
                  <a:srgbClr val="800000"/>
                </a:highlight>
              </a:rPr>
              <a:t>#</a:t>
            </a:r>
            <a:r>
              <a:rPr lang="zh-CN" altLang="en-US" sz="1400" dirty="0">
                <a:solidFill>
                  <a:srgbClr val="FFFF00"/>
                </a:solidFill>
                <a:highlight>
                  <a:srgbClr val="800000"/>
                </a:highlight>
              </a:rPr>
              <a:t>调用拟合评价</a:t>
            </a:r>
          </a:p>
          <a:p>
            <a:r>
              <a:rPr lang="zh-CN" altLang="en-US" sz="1400" dirty="0">
                <a:solidFill>
                  <a:srgbClr val="00B0F0"/>
                </a:solidFill>
              </a:rPr>
              <a:t>R方: 0.9950650220751576</a:t>
            </a:r>
          </a:p>
          <a:p>
            <a:r>
              <a:rPr lang="zh-CN" altLang="en-US" sz="1400" dirty="0">
                <a:solidFill>
                  <a:srgbClr val="00B0F0"/>
                </a:solidFill>
              </a:rPr>
              <a:t>SSE: 153.9096277816076</a:t>
            </a:r>
          </a:p>
          <a:p>
            <a:r>
              <a:rPr lang="zh-CN" altLang="en-US" sz="1400" dirty="0">
                <a:solidFill>
                  <a:srgbClr val="00B0F0"/>
                </a:solidFill>
              </a:rPr>
              <a:t>DFE: 8.0</a:t>
            </a:r>
          </a:p>
          <a:p>
            <a:r>
              <a:rPr lang="zh-CN" altLang="en-US" sz="1400" dirty="0">
                <a:solidFill>
                  <a:srgbClr val="00B0F0"/>
                </a:solidFill>
              </a:rPr>
              <a:t>调整R方: 0.9944481498345523</a:t>
            </a:r>
          </a:p>
          <a:p>
            <a:r>
              <a:rPr lang="zh-CN" altLang="en-US" sz="1400" dirty="0">
                <a:solidFill>
                  <a:srgbClr val="00B0F0"/>
                </a:solidFill>
              </a:rPr>
              <a:t>RMSE: 4.386194646011615</a:t>
            </a:r>
          </a:p>
        </p:txBody>
      </p:sp>
      <p:sp>
        <p:nvSpPr>
          <p:cNvPr id="8" name="文本框 7"/>
          <p:cNvSpPr txBox="1"/>
          <p:nvPr/>
        </p:nvSpPr>
        <p:spPr>
          <a:xfrm>
            <a:off x="1634117" y="91949"/>
            <a:ext cx="7258363" cy="567463"/>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en-US" altLang="zh-CN" sz="2800" kern="0" dirty="0">
                <a:solidFill>
                  <a:srgbClr val="FF0000"/>
                </a:solidFill>
                <a:latin typeface="华文楷体" panose="02010600040101010101" pitchFamily="2" charset="-122"/>
                <a:ea typeface="华文楷体" panose="02010600040101010101" pitchFamily="2" charset="-122"/>
              </a:rPr>
              <a:t>——exp</a:t>
            </a:r>
            <a:r>
              <a:rPr lang="zh-CN" altLang="en-US" sz="2800" kern="0" dirty="0">
                <a:solidFill>
                  <a:srgbClr val="FF0000"/>
                </a:solidFill>
                <a:latin typeface="华文楷体" panose="02010600040101010101" pitchFamily="2" charset="-122"/>
                <a:ea typeface="华文楷体" panose="02010600040101010101" pitchFamily="2" charset="-122"/>
              </a:rPr>
              <a:t>非线性拟合</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9" name="文本框 8"/>
          <p:cNvSpPr txBox="1"/>
          <p:nvPr/>
        </p:nvSpPr>
        <p:spPr>
          <a:xfrm>
            <a:off x="1320751" y="3341596"/>
            <a:ext cx="3873987" cy="923330"/>
          </a:xfrm>
          <a:prstGeom prst="rect">
            <a:avLst/>
          </a:prstGeom>
          <a:noFill/>
        </p:spPr>
        <p:txBody>
          <a:bodyPr wrap="square">
            <a:spAutoFit/>
          </a:bodyPr>
          <a:lstStyle/>
          <a:p>
            <a:r>
              <a:rPr lang="zh-CN" altLang="en-US" dirty="0">
                <a:solidFill>
                  <a:srgbClr val="00B0F0"/>
                </a:solidFill>
              </a:rPr>
              <a:t>结果：拟合参数与信赖区间（</a:t>
            </a:r>
            <a:r>
              <a:rPr lang="en-US" altLang="zh-CN" dirty="0">
                <a:solidFill>
                  <a:srgbClr val="00B0F0"/>
                </a:solidFill>
              </a:rPr>
              <a:t>0.95</a:t>
            </a:r>
            <a:r>
              <a:rPr lang="zh-CN" altLang="en-US" dirty="0">
                <a:solidFill>
                  <a:srgbClr val="00B0F0"/>
                </a:solidFill>
              </a:rPr>
              <a:t>）</a:t>
            </a:r>
          </a:p>
          <a:p>
            <a:r>
              <a:rPr lang="en-US" altLang="zh-CN" dirty="0">
                <a:solidFill>
                  <a:srgbClr val="00B0F0"/>
                </a:solidFill>
              </a:rPr>
              <a:t>a = 2.707688925236944e-9      </a:t>
            </a:r>
          </a:p>
          <a:p>
            <a:r>
              <a:rPr lang="en-US" altLang="zh-CN" dirty="0">
                <a:solidFill>
                  <a:srgbClr val="00B0F0"/>
                </a:solidFill>
              </a:rPr>
              <a:t>b = 0.012698162585095391        </a:t>
            </a:r>
            <a:endParaRPr lang="zh-CN" altLang="en-US" dirty="0">
              <a:solidFill>
                <a:srgbClr val="00B0F0"/>
              </a:solidFill>
            </a:endParaRPr>
          </a:p>
        </p:txBody>
      </p:sp>
      <p:sp>
        <p:nvSpPr>
          <p:cNvPr id="10" name="形状 209924"/>
          <p:cNvSpPr/>
          <p:nvPr/>
        </p:nvSpPr>
        <p:spPr>
          <a:xfrm>
            <a:off x="5705323" y="3579862"/>
            <a:ext cx="936104" cy="772611"/>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600" b="1" dirty="0">
                <a:solidFill>
                  <a:srgbClr val="FFFF00"/>
                </a:solidFill>
                <a:latin typeface="华文楷体" panose="02010600040101010101" pitchFamily="2" charset="-122"/>
                <a:ea typeface="华文楷体" panose="02010600040101010101" pitchFamily="2" charset="-122"/>
                <a:sym typeface="+mn-ea"/>
              </a:rPr>
              <a:t>注意</a:t>
            </a:r>
            <a:endParaRPr lang="en-US" altLang="zh-CN" sz="1600" b="1" dirty="0">
              <a:solidFill>
                <a:srgbClr val="FFFF00"/>
              </a:solidFill>
              <a:latin typeface="华文楷体" panose="02010600040101010101" pitchFamily="2" charset="-122"/>
              <a:ea typeface="华文楷体" panose="02010600040101010101" pitchFamily="2" charset="-122"/>
              <a:sym typeface="+mn-ea"/>
            </a:endParaRPr>
          </a:p>
        </p:txBody>
      </p:sp>
      <p:pic>
        <p:nvPicPr>
          <p:cNvPr id="11" name="图片 10"/>
          <p:cNvPicPr/>
          <p:nvPr/>
        </p:nvPicPr>
        <p:blipFill rotWithShape="1">
          <a:blip r:embed="rId4" cstate="print">
            <a:extLst>
              <a:ext uri="{28A0092B-C50C-407E-A947-70E740481C1C}">
                <a14:useLocalDpi xmlns:a14="http://schemas.microsoft.com/office/drawing/2010/main" val="0"/>
              </a:ext>
            </a:extLst>
          </a:blip>
          <a:srcRect/>
          <a:stretch>
            <a:fillRect/>
          </a:stretch>
        </p:blipFill>
        <p:spPr>
          <a:xfrm>
            <a:off x="7394757" y="118743"/>
            <a:ext cx="1208814" cy="513874"/>
          </a:xfrm>
          <a:prstGeom prst="rect">
            <a:avLst/>
          </a:prstGeom>
          <a:noFill/>
          <a:ln>
            <a:noFill/>
          </a:ln>
        </p:spPr>
      </p:pic>
      <p:sp>
        <p:nvSpPr>
          <p:cNvPr id="12" name="波形 11"/>
          <p:cNvSpPr/>
          <p:nvPr/>
        </p:nvSpPr>
        <p:spPr>
          <a:xfrm>
            <a:off x="536250" y="208703"/>
            <a:ext cx="998368"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53-1-2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E0984588-23BF-442D-B1E2-B1CECB158611}"/>
              </a:ext>
            </a:extLst>
          </p:cNvPr>
          <p:cNvSpPr txBox="1"/>
          <p:nvPr/>
        </p:nvSpPr>
        <p:spPr>
          <a:xfrm>
            <a:off x="6617561" y="3655849"/>
            <a:ext cx="1974078" cy="646331"/>
          </a:xfrm>
          <a:prstGeom prst="rect">
            <a:avLst/>
          </a:prstGeom>
          <a:noFill/>
        </p:spPr>
        <p:txBody>
          <a:bodyPr wrap="square">
            <a:spAutoFit/>
          </a:bodyPr>
          <a:lstStyle/>
          <a:p>
            <a:r>
              <a:rPr lang="zh-CN" altLang="en-US" sz="1800" b="1" dirty="0">
                <a:solidFill>
                  <a:srgbClr val="FF0000"/>
                </a:solidFill>
                <a:latin typeface="华文楷体" panose="02010600040101010101" pitchFamily="2" charset="-122"/>
                <a:ea typeface="华文楷体" panose="02010600040101010101" pitchFamily="2" charset="-122"/>
              </a:rPr>
              <a:t>拟合不要求通过</a:t>
            </a:r>
            <a:endParaRPr lang="en-US" altLang="zh-CN" sz="1800" b="1" dirty="0">
              <a:solidFill>
                <a:srgbClr val="FF0000"/>
              </a:solidFill>
              <a:latin typeface="华文楷体" panose="02010600040101010101" pitchFamily="2" charset="-122"/>
              <a:ea typeface="华文楷体" panose="02010600040101010101" pitchFamily="2" charset="-122"/>
            </a:endParaRPr>
          </a:p>
          <a:p>
            <a:r>
              <a:rPr lang="zh-CN" altLang="en-US" sz="1800" b="1" dirty="0">
                <a:solidFill>
                  <a:srgbClr val="FF0000"/>
                </a:solidFill>
                <a:latin typeface="华文楷体" panose="02010600040101010101" pitchFamily="2" charset="-122"/>
                <a:ea typeface="华文楷体" panose="02010600040101010101" pitchFamily="2" charset="-122"/>
              </a:rPr>
              <a:t>所有数据点</a:t>
            </a:r>
            <a:endParaRPr lang="en-US" altLang="zh-CN" sz="1800" b="1" dirty="0">
              <a:solidFill>
                <a:srgbClr val="FF0000"/>
              </a:solidFill>
              <a:latin typeface="华文楷体" panose="02010600040101010101" pitchFamily="2" charset="-122"/>
              <a:ea typeface="华文楷体" panose="02010600040101010101" pitchFamily="2" charset="-122"/>
              <a:sym typeface="+mn-ea"/>
            </a:endParaRPr>
          </a:p>
        </p:txBody>
      </p:sp>
      <p:sp>
        <p:nvSpPr>
          <p:cNvPr id="14" name="文本框 13">
            <a:extLst>
              <a:ext uri="{FF2B5EF4-FFF2-40B4-BE49-F238E27FC236}">
                <a16:creationId xmlns:a16="http://schemas.microsoft.com/office/drawing/2014/main" id="{4E63347C-5ADA-4DD0-84C2-DBCD8F04301D}"/>
              </a:ext>
            </a:extLst>
          </p:cNvPr>
          <p:cNvSpPr txBox="1"/>
          <p:nvPr/>
        </p:nvSpPr>
        <p:spPr>
          <a:xfrm>
            <a:off x="1116774" y="2410981"/>
            <a:ext cx="4471391" cy="369332"/>
          </a:xfrm>
          <a:prstGeom prst="rect">
            <a:avLst/>
          </a:prstGeom>
          <a:noFill/>
        </p:spPr>
        <p:txBody>
          <a:bodyPr wrap="square">
            <a:spAutoFit/>
          </a:bodyPr>
          <a:lstStyle/>
          <a:p>
            <a:r>
              <a:rPr lang="zh-CN" altLang="en-US" dirty="0"/>
              <a:t>y50=fe(2050)  </a:t>
            </a:r>
            <a:r>
              <a:rPr lang="en-US" altLang="zh-CN" dirty="0"/>
              <a:t>#</a:t>
            </a:r>
            <a:r>
              <a:rPr lang="zh-CN" altLang="en-US" dirty="0"/>
              <a:t>预测</a:t>
            </a:r>
            <a:r>
              <a:rPr lang="en-US" altLang="zh-CN" dirty="0"/>
              <a:t>2050</a:t>
            </a:r>
            <a:r>
              <a:rPr lang="zh-CN" altLang="en-US" dirty="0"/>
              <a:t>人口</a:t>
            </a:r>
            <a:r>
              <a:rPr lang="zh-CN" altLang="en-US" b="1" dirty="0">
                <a:solidFill>
                  <a:srgbClr val="FF0000"/>
                </a:solidFill>
              </a:rPr>
              <a:t>546.78897</a:t>
            </a:r>
          </a:p>
        </p:txBody>
      </p:sp>
    </p:spTree>
    <p:extLst>
      <p:ext uri="{BB962C8B-B14F-4D97-AF65-F5344CB8AC3E}">
        <p14:creationId xmlns:p14="http://schemas.microsoft.com/office/powerpoint/2010/main" val="1135793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2E2EE2-D0FD-42B2-BA13-452446526410}"/>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AA09BC28-FB99-42BD-95E7-6E4F00B14B9C}"/>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3AF72A9D-6401-4C94-A186-93DB3C8283E5}"/>
              </a:ext>
            </a:extLst>
          </p:cNvPr>
          <p:cNvPicPr>
            <a:picLocks noChangeAspect="1"/>
          </p:cNvPicPr>
          <p:nvPr/>
        </p:nvPicPr>
        <p:blipFill>
          <a:blip r:embed="rId2"/>
          <a:stretch>
            <a:fillRect/>
          </a:stretch>
        </p:blipFill>
        <p:spPr>
          <a:xfrm>
            <a:off x="0" y="166056"/>
            <a:ext cx="9144000" cy="4811387"/>
          </a:xfrm>
          <a:prstGeom prst="rect">
            <a:avLst/>
          </a:prstGeom>
        </p:spPr>
      </p:pic>
      <p:pic>
        <p:nvPicPr>
          <p:cNvPr id="7" name="图片 6">
            <a:extLst>
              <a:ext uri="{FF2B5EF4-FFF2-40B4-BE49-F238E27FC236}">
                <a16:creationId xmlns:a16="http://schemas.microsoft.com/office/drawing/2014/main" id="{D0BBFBE1-2120-4E0A-933E-39046D9932B2}"/>
              </a:ext>
            </a:extLst>
          </p:cNvPr>
          <p:cNvPicPr>
            <a:picLocks noChangeAspect="1"/>
          </p:cNvPicPr>
          <p:nvPr/>
        </p:nvPicPr>
        <p:blipFill>
          <a:blip r:embed="rId3"/>
          <a:stretch>
            <a:fillRect/>
          </a:stretch>
        </p:blipFill>
        <p:spPr>
          <a:xfrm>
            <a:off x="0" y="107984"/>
            <a:ext cx="9144000" cy="4927531"/>
          </a:xfrm>
          <a:prstGeom prst="rect">
            <a:avLst/>
          </a:prstGeom>
        </p:spPr>
      </p:pic>
      <p:sp>
        <p:nvSpPr>
          <p:cNvPr id="6" name="形状 209924">
            <a:extLst>
              <a:ext uri="{FF2B5EF4-FFF2-40B4-BE49-F238E27FC236}">
                <a16:creationId xmlns:a16="http://schemas.microsoft.com/office/drawing/2014/main" id="{5729DB40-87CC-4620-85FE-850853EB72D7}"/>
              </a:ext>
            </a:extLst>
          </p:cNvPr>
          <p:cNvSpPr/>
          <p:nvPr/>
        </p:nvSpPr>
        <p:spPr>
          <a:xfrm>
            <a:off x="0" y="-138975"/>
            <a:ext cx="755576" cy="772611"/>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600" b="1" dirty="0">
                <a:solidFill>
                  <a:srgbClr val="FFFF00"/>
                </a:solidFill>
                <a:latin typeface="华文楷体" panose="02010600040101010101" pitchFamily="2" charset="-122"/>
                <a:ea typeface="华文楷体" panose="02010600040101010101" pitchFamily="2" charset="-122"/>
                <a:sym typeface="+mn-ea"/>
              </a:rPr>
              <a:t>注意</a:t>
            </a:r>
            <a:endParaRPr lang="en-US" altLang="zh-CN" sz="1600" b="1" dirty="0">
              <a:solidFill>
                <a:srgbClr val="FFFF00"/>
              </a:solidFill>
              <a:latin typeface="华文楷体" panose="02010600040101010101" pitchFamily="2" charset="-122"/>
              <a:ea typeface="华文楷体" panose="02010600040101010101" pitchFamily="2" charset="-122"/>
              <a:sym typeface="+mn-ea"/>
            </a:endParaRPr>
          </a:p>
        </p:txBody>
      </p:sp>
    </p:spTree>
    <p:extLst>
      <p:ext uri="{BB962C8B-B14F-4D97-AF65-F5344CB8AC3E}">
        <p14:creationId xmlns:p14="http://schemas.microsoft.com/office/powerpoint/2010/main" val="33320669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2922561" y="755864"/>
            <a:ext cx="6221439" cy="400110"/>
          </a:xfrm>
          <a:prstGeom prst="rect">
            <a:avLst/>
          </a:prstGeom>
          <a:noFill/>
          <a:scene3d>
            <a:camera prst="orthographicFront"/>
            <a:lightRig rig="threePt" dir="t"/>
          </a:scene3d>
          <a:sp3d>
            <a:bevelT prst="angle"/>
          </a:sp3d>
        </p:spPr>
        <p:txBody>
          <a:bodyPr wrap="square">
            <a:spAutoFit/>
          </a:bodyPr>
          <a:lstStyle/>
          <a:p>
            <a:pPr algn="dist"/>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长期用后Cr</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Mo钢炉管组织性能与剩余寿命研究</a:t>
            </a:r>
            <a:r>
              <a:rPr lang="en-US" altLang="zh-CN" sz="2000" b="1" dirty="0">
                <a:solidFill>
                  <a:srgbClr val="002060"/>
                </a:solidFill>
                <a:latin typeface="华文楷体" panose="02010600040101010101" pitchFamily="2" charset="-122"/>
                <a:ea typeface="华文楷体" panose="02010600040101010101" pitchFamily="2" charset="-122"/>
              </a:rPr>
              <a:t>》</a:t>
            </a:r>
            <a:endParaRPr lang="zh-CN" altLang="en-US" sz="2000" b="1" dirty="0">
              <a:solidFill>
                <a:srgbClr val="002060"/>
              </a:solidFill>
              <a:latin typeface="华文楷体" panose="02010600040101010101" pitchFamily="2" charset="-122"/>
              <a:ea typeface="华文楷体" panose="02010600040101010101" pitchFamily="2" charset="-122"/>
            </a:endParaRPr>
          </a:p>
        </p:txBody>
      </p:sp>
      <p:sp>
        <p:nvSpPr>
          <p:cNvPr id="25" name="矩形 24"/>
          <p:cNvSpPr/>
          <p:nvPr/>
        </p:nvSpPr>
        <p:spPr>
          <a:xfrm>
            <a:off x="199558" y="1116603"/>
            <a:ext cx="8821379" cy="400110"/>
          </a:xfrm>
          <a:prstGeom prst="rect">
            <a:avLst/>
          </a:prstGeom>
        </p:spPr>
        <p:txBody>
          <a:bodyPr wrap="square">
            <a:spAutoFit/>
          </a:bodyPr>
          <a:lstStyle/>
          <a:p>
            <a:pPr algn="dist"/>
            <a:r>
              <a:rPr lang="zh-CN" altLang="en-US" sz="2000" b="1" dirty="0">
                <a:solidFill>
                  <a:srgbClr val="002060"/>
                </a:solidFill>
                <a:latin typeface="华文楷体" panose="02010600040101010101" pitchFamily="2" charset="-122"/>
                <a:ea typeface="华文楷体" panose="02010600040101010101" pitchFamily="2" charset="-122"/>
              </a:rPr>
              <a:t> 通过炉管t=538℃的</a:t>
            </a:r>
            <a:r>
              <a:rPr lang="en-US" altLang="zh-CN" sz="2000" b="1" dirty="0">
                <a:solidFill>
                  <a:srgbClr val="002060"/>
                </a:solidFill>
                <a:latin typeface="华文楷体" panose="02010600040101010101" pitchFamily="2" charset="-122"/>
                <a:ea typeface="华文楷体" panose="02010600040101010101" pitchFamily="2" charset="-122"/>
              </a:rPr>
              <a:t>7</a:t>
            </a:r>
            <a:r>
              <a:rPr lang="zh-CN" altLang="en-US" sz="2000" b="1" dirty="0">
                <a:solidFill>
                  <a:srgbClr val="002060"/>
                </a:solidFill>
                <a:latin typeface="华文楷体" panose="02010600040101010101" pitchFamily="2" charset="-122"/>
                <a:ea typeface="华文楷体" panose="02010600040101010101" pitchFamily="2" charset="-122"/>
              </a:rPr>
              <a:t>次持久实验，推断Cr</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Mo钢</a:t>
            </a:r>
            <a:r>
              <a:rPr lang="en-US" altLang="zh-CN" sz="2000" b="1" dirty="0">
                <a:solidFill>
                  <a:srgbClr val="002060"/>
                </a:solidFill>
                <a:latin typeface="华文楷体" panose="02010600040101010101" pitchFamily="2" charset="-122"/>
                <a:ea typeface="华文楷体" panose="02010600040101010101" pitchFamily="2" charset="-122"/>
              </a:rPr>
              <a:t>10</a:t>
            </a:r>
            <a:r>
              <a:rPr lang="zh-CN" altLang="en-US" sz="2000" b="1" dirty="0">
                <a:solidFill>
                  <a:srgbClr val="002060"/>
                </a:solidFill>
                <a:latin typeface="华文楷体" panose="02010600040101010101" pitchFamily="2" charset="-122"/>
                <a:ea typeface="华文楷体" panose="02010600040101010101" pitchFamily="2" charset="-122"/>
              </a:rPr>
              <a:t>万小时持久强度</a:t>
            </a:r>
            <a:r>
              <a:rPr lang="el-GR" altLang="zh-CN" sz="2000" b="1" dirty="0">
                <a:solidFill>
                  <a:srgbClr val="002060"/>
                </a:solidFill>
                <a:latin typeface="华文楷体" panose="02010600040101010101" pitchFamily="2" charset="-122"/>
                <a:ea typeface="华文楷体" panose="02010600040101010101" pitchFamily="2" charset="-122"/>
              </a:rPr>
              <a:t>σ</a:t>
            </a:r>
            <a:endParaRPr lang="zh-CN" altLang="en-US" sz="2000" b="1" dirty="0">
              <a:solidFill>
                <a:srgbClr val="002060"/>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graphicFrame>
            <p:nvGraphicFramePr>
              <p:cNvPr id="27" name="表格 26"/>
              <p:cNvGraphicFramePr>
                <a:graphicFrameLocks noGrp="1"/>
              </p:cNvGraphicFramePr>
              <p:nvPr>
                <p:extLst>
                  <p:ext uri="{D42A27DB-BD31-4B8C-83A1-F6EECF244321}">
                    <p14:modId xmlns:p14="http://schemas.microsoft.com/office/powerpoint/2010/main" val="2961175786"/>
                  </p:ext>
                </p:extLst>
              </p:nvPr>
            </p:nvGraphicFramePr>
            <p:xfrm>
              <a:off x="395536" y="1923678"/>
              <a:ext cx="8620487" cy="624840"/>
            </p:xfrm>
            <a:graphic>
              <a:graphicData uri="http://schemas.openxmlformats.org/drawingml/2006/table">
                <a:tbl>
                  <a:tblPr firstRow="1" bandRow="1">
                    <a:tableStyleId>{5C22544A-7EE6-4342-B048-85BDC9FD1C3A}</a:tableStyleId>
                  </a:tblPr>
                  <a:tblGrid>
                    <a:gridCol w="1521649">
                      <a:extLst>
                        <a:ext uri="{9D8B030D-6E8A-4147-A177-3AD203B41FA5}">
                          <a16:colId xmlns:a16="http://schemas.microsoft.com/office/drawing/2014/main" val="20000"/>
                        </a:ext>
                      </a:extLst>
                    </a:gridCol>
                    <a:gridCol w="1069783">
                      <a:extLst>
                        <a:ext uri="{9D8B030D-6E8A-4147-A177-3AD203B41FA5}">
                          <a16:colId xmlns:a16="http://schemas.microsoft.com/office/drawing/2014/main" val="20001"/>
                        </a:ext>
                      </a:extLst>
                    </a:gridCol>
                    <a:gridCol w="951958">
                      <a:extLst>
                        <a:ext uri="{9D8B030D-6E8A-4147-A177-3AD203B41FA5}">
                          <a16:colId xmlns:a16="http://schemas.microsoft.com/office/drawing/2014/main" val="20002"/>
                        </a:ext>
                      </a:extLst>
                    </a:gridCol>
                    <a:gridCol w="899069">
                      <a:extLst>
                        <a:ext uri="{9D8B030D-6E8A-4147-A177-3AD203B41FA5}">
                          <a16:colId xmlns:a16="http://schemas.microsoft.com/office/drawing/2014/main" val="20003"/>
                        </a:ext>
                      </a:extLst>
                    </a:gridCol>
                    <a:gridCol w="1004841">
                      <a:extLst>
                        <a:ext uri="{9D8B030D-6E8A-4147-A177-3AD203B41FA5}">
                          <a16:colId xmlns:a16="http://schemas.microsoft.com/office/drawing/2014/main" val="20004"/>
                        </a:ext>
                      </a:extLst>
                    </a:gridCol>
                    <a:gridCol w="1163499">
                      <a:extLst>
                        <a:ext uri="{9D8B030D-6E8A-4147-A177-3AD203B41FA5}">
                          <a16:colId xmlns:a16="http://schemas.microsoft.com/office/drawing/2014/main" val="20005"/>
                        </a:ext>
                      </a:extLst>
                    </a:gridCol>
                    <a:gridCol w="951958">
                      <a:extLst>
                        <a:ext uri="{9D8B030D-6E8A-4147-A177-3AD203B41FA5}">
                          <a16:colId xmlns:a16="http://schemas.microsoft.com/office/drawing/2014/main" val="20006"/>
                        </a:ext>
                      </a:extLst>
                    </a:gridCol>
                    <a:gridCol w="1057730">
                      <a:extLst>
                        <a:ext uri="{9D8B030D-6E8A-4147-A177-3AD203B41FA5}">
                          <a16:colId xmlns:a16="http://schemas.microsoft.com/office/drawing/2014/main" val="20007"/>
                        </a:ext>
                      </a:extLst>
                    </a:gridCol>
                  </a:tblGrid>
                  <a:tr h="179841">
                    <a:tc>
                      <a:txBody>
                        <a:bodyPr/>
                        <a:lstStyle/>
                        <a:p>
                          <a:pPr algn="ctr"/>
                          <a:r>
                            <a:rPr lang="el-GR" altLang="zh-CN" sz="1600" b="0" dirty="0">
                              <a:solidFill>
                                <a:schemeClr val="bg1"/>
                              </a:solidFill>
                            </a:rPr>
                            <a:t>σ</a:t>
                          </a:r>
                          <a:r>
                            <a:rPr lang="en-US" altLang="zh-CN" sz="1600" b="0" dirty="0">
                              <a:solidFill>
                                <a:schemeClr val="bg1"/>
                              </a:solidFill>
                            </a:rPr>
                            <a:t>(</a:t>
                          </a:r>
                          <a:r>
                            <a:rPr lang="en-US" altLang="zh-CN" sz="1600" b="0" dirty="0" err="1">
                              <a:solidFill>
                                <a:schemeClr val="bg1"/>
                              </a:solidFill>
                            </a:rPr>
                            <a:t>MPa</a:t>
                          </a:r>
                          <a:r>
                            <a:rPr lang="en-US" altLang="zh-CN" sz="1600" b="0" dirty="0">
                              <a:solidFill>
                                <a:schemeClr val="bg1"/>
                              </a:solidFill>
                            </a:rPr>
                            <a:t>)</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90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100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110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120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130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140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150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extLst>
                      <a:ext uri="{0D108BD9-81ED-4DB2-BD59-A6C34878D82A}">
                        <a16:rowId xmlns:a16="http://schemas.microsoft.com/office/drawing/2014/main" val="10000"/>
                      </a:ext>
                    </a:extLst>
                  </a:tr>
                  <a:tr h="179841">
                    <a:tc>
                      <a:txBody>
                        <a:bodyPr/>
                        <a:lstStyle/>
                        <a:p>
                          <a:pPr algn="ctr"/>
                          <a14:m>
                            <m:oMath xmlns:m="http://schemas.openxmlformats.org/officeDocument/2006/math">
                              <m:r>
                                <a:rPr lang="zh-CN" altLang="el-GR" sz="1600" b="0" i="1" dirty="0" smtClean="0">
                                  <a:solidFill>
                                    <a:schemeClr val="bg1"/>
                                  </a:solidFill>
                                  <a:latin typeface="Cambria Math" panose="02040503050406030204" pitchFamily="18" charset="0"/>
                                </a:rPr>
                                <m:t>𝜏</m:t>
                              </m:r>
                            </m:oMath>
                          </a14:m>
                          <a:r>
                            <a:rPr lang="en-US" altLang="zh-CN" sz="1600" b="0" i="1" dirty="0">
                              <a:solidFill>
                                <a:schemeClr val="bg1"/>
                              </a:solidFill>
                            </a:rPr>
                            <a:t>(h)</a:t>
                          </a:r>
                          <a:endParaRPr lang="zh-CN" altLang="en-US" sz="1600" b="0" i="1"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1410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648</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614</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516</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218.5</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305</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79</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extLst>
                      <a:ext uri="{0D108BD9-81ED-4DB2-BD59-A6C34878D82A}">
                        <a16:rowId xmlns:a16="http://schemas.microsoft.com/office/drawing/2014/main" val="10001"/>
                      </a:ext>
                    </a:extLst>
                  </a:tr>
                </a:tbl>
              </a:graphicData>
            </a:graphic>
          </p:graphicFrame>
        </mc:Choice>
        <mc:Fallback xmlns="">
          <p:graphicFrame>
            <p:nvGraphicFramePr>
              <p:cNvPr id="27" name="表格 26"/>
              <p:cNvGraphicFramePr>
                <a:graphicFrameLocks noGrp="1"/>
              </p:cNvGraphicFramePr>
              <p:nvPr>
                <p:extLst>
                  <p:ext uri="{D42A27DB-BD31-4B8C-83A1-F6EECF244321}">
                    <p14:modId xmlns:p14="http://schemas.microsoft.com/office/powerpoint/2010/main" val="2961175786"/>
                  </p:ext>
                </p:extLst>
              </p:nvPr>
            </p:nvGraphicFramePr>
            <p:xfrm>
              <a:off x="395536" y="1923678"/>
              <a:ext cx="8620487" cy="624840"/>
            </p:xfrm>
            <a:graphic>
              <a:graphicData uri="http://schemas.openxmlformats.org/drawingml/2006/table">
                <a:tbl>
                  <a:tblPr firstRow="1" bandRow="1">
                    <a:tableStyleId>{5C22544A-7EE6-4342-B048-85BDC9FD1C3A}</a:tableStyleId>
                  </a:tblPr>
                  <a:tblGrid>
                    <a:gridCol w="1521649">
                      <a:extLst>
                        <a:ext uri="{9D8B030D-6E8A-4147-A177-3AD203B41FA5}">
                          <a16:colId xmlns:a16="http://schemas.microsoft.com/office/drawing/2014/main" val="20000"/>
                        </a:ext>
                      </a:extLst>
                    </a:gridCol>
                    <a:gridCol w="1069783">
                      <a:extLst>
                        <a:ext uri="{9D8B030D-6E8A-4147-A177-3AD203B41FA5}">
                          <a16:colId xmlns:a16="http://schemas.microsoft.com/office/drawing/2014/main" val="20001"/>
                        </a:ext>
                      </a:extLst>
                    </a:gridCol>
                    <a:gridCol w="951958">
                      <a:extLst>
                        <a:ext uri="{9D8B030D-6E8A-4147-A177-3AD203B41FA5}">
                          <a16:colId xmlns:a16="http://schemas.microsoft.com/office/drawing/2014/main" val="20002"/>
                        </a:ext>
                      </a:extLst>
                    </a:gridCol>
                    <a:gridCol w="899069">
                      <a:extLst>
                        <a:ext uri="{9D8B030D-6E8A-4147-A177-3AD203B41FA5}">
                          <a16:colId xmlns:a16="http://schemas.microsoft.com/office/drawing/2014/main" val="20003"/>
                        </a:ext>
                      </a:extLst>
                    </a:gridCol>
                    <a:gridCol w="1004841">
                      <a:extLst>
                        <a:ext uri="{9D8B030D-6E8A-4147-A177-3AD203B41FA5}">
                          <a16:colId xmlns:a16="http://schemas.microsoft.com/office/drawing/2014/main" val="20004"/>
                        </a:ext>
                      </a:extLst>
                    </a:gridCol>
                    <a:gridCol w="1163499">
                      <a:extLst>
                        <a:ext uri="{9D8B030D-6E8A-4147-A177-3AD203B41FA5}">
                          <a16:colId xmlns:a16="http://schemas.microsoft.com/office/drawing/2014/main" val="20005"/>
                        </a:ext>
                      </a:extLst>
                    </a:gridCol>
                    <a:gridCol w="951958">
                      <a:extLst>
                        <a:ext uri="{9D8B030D-6E8A-4147-A177-3AD203B41FA5}">
                          <a16:colId xmlns:a16="http://schemas.microsoft.com/office/drawing/2014/main" val="20006"/>
                        </a:ext>
                      </a:extLst>
                    </a:gridCol>
                    <a:gridCol w="1057730">
                      <a:extLst>
                        <a:ext uri="{9D8B030D-6E8A-4147-A177-3AD203B41FA5}">
                          <a16:colId xmlns:a16="http://schemas.microsoft.com/office/drawing/2014/main" val="20007"/>
                        </a:ext>
                      </a:extLst>
                    </a:gridCol>
                  </a:tblGrid>
                  <a:tr h="312420">
                    <a:tc>
                      <a:txBody>
                        <a:bodyPr/>
                        <a:lstStyle/>
                        <a:p>
                          <a:pPr algn="ctr"/>
                          <a:r>
                            <a:rPr lang="el-GR" altLang="zh-CN" sz="1600" b="0" dirty="0">
                              <a:solidFill>
                                <a:schemeClr val="bg1"/>
                              </a:solidFill>
                            </a:rPr>
                            <a:t>σ</a:t>
                          </a:r>
                          <a:r>
                            <a:rPr lang="en-US" altLang="zh-CN" sz="1600" b="0" dirty="0">
                              <a:solidFill>
                                <a:schemeClr val="bg1"/>
                              </a:solidFill>
                            </a:rPr>
                            <a:t>(</a:t>
                          </a:r>
                          <a:r>
                            <a:rPr lang="en-US" altLang="zh-CN" sz="1600" b="0" dirty="0" err="1">
                              <a:solidFill>
                                <a:schemeClr val="bg1"/>
                              </a:solidFill>
                            </a:rPr>
                            <a:t>MPa</a:t>
                          </a:r>
                          <a:r>
                            <a:rPr lang="en-US" altLang="zh-CN" sz="1600" b="0" dirty="0">
                              <a:solidFill>
                                <a:schemeClr val="bg1"/>
                              </a:solidFill>
                            </a:rPr>
                            <a:t>)</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90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100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110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120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130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140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150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extLst>
                      <a:ext uri="{0D108BD9-81ED-4DB2-BD59-A6C34878D82A}">
                        <a16:rowId xmlns:a16="http://schemas.microsoft.com/office/drawing/2014/main" val="10000"/>
                      </a:ext>
                    </a:extLst>
                  </a:tr>
                  <a:tr h="312420">
                    <a:tc>
                      <a:txBody>
                        <a:bodyPr/>
                        <a:lstStyle/>
                        <a:p>
                          <a:endParaRPr lang="zh-CN"/>
                        </a:p>
                      </a:txBody>
                      <a:tcPr marT="34290" marB="34290">
                        <a:blipFill>
                          <a:blip r:embed="rId3"/>
                          <a:stretch>
                            <a:fillRect l="-400" t="-107692" r="-468000" b="-26923"/>
                          </a:stretch>
                        </a:blipFill>
                      </a:tcPr>
                    </a:tc>
                    <a:tc>
                      <a:txBody>
                        <a:bodyPr/>
                        <a:lstStyle/>
                        <a:p>
                          <a:pPr algn="ctr"/>
                          <a:r>
                            <a:rPr lang="en-US" altLang="zh-CN" sz="1600" b="0" dirty="0">
                              <a:solidFill>
                                <a:schemeClr val="bg1"/>
                              </a:solidFill>
                            </a:rPr>
                            <a:t>1410</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648</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614</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516</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218.5</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305</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tc>
                      <a:txBody>
                        <a:bodyPr/>
                        <a:lstStyle/>
                        <a:p>
                          <a:pPr algn="ctr"/>
                          <a:r>
                            <a:rPr lang="en-US" altLang="zh-CN" sz="1600" b="0" dirty="0">
                              <a:solidFill>
                                <a:schemeClr val="bg1"/>
                              </a:solidFill>
                            </a:rPr>
                            <a:t>79</a:t>
                          </a:r>
                          <a:endParaRPr lang="zh-CN" altLang="en-US" sz="1600" b="0" dirty="0">
                            <a:solidFill>
                              <a:schemeClr val="bg1"/>
                            </a:solidFill>
                          </a:endParaRPr>
                        </a:p>
                      </a:txBody>
                      <a:tcPr marT="34290" marB="34290">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path path="circle">
                            <a:fillToRect t="100000" r="100000"/>
                          </a:path>
                          <a:tileRect l="-100000" b="-100000"/>
                        </a:gradFill>
                      </a:tcPr>
                    </a:tc>
                    <a:extLst>
                      <a:ext uri="{0D108BD9-81ED-4DB2-BD59-A6C34878D82A}">
                        <a16:rowId xmlns:a16="http://schemas.microsoft.com/office/drawing/2014/main" val="10001"/>
                      </a:ext>
                    </a:extLst>
                  </a:tr>
                </a:tbl>
              </a:graphicData>
            </a:graphic>
          </p:graphicFrame>
        </mc:Fallback>
      </mc:AlternateContent>
      <p:cxnSp>
        <p:nvCxnSpPr>
          <p:cNvPr id="28" name="直接连接符 27"/>
          <p:cNvCxnSpPr>
            <a:cxnSpLocks/>
            <a:endCxn id="27" idx="3"/>
          </p:cNvCxnSpPr>
          <p:nvPr/>
        </p:nvCxnSpPr>
        <p:spPr bwMode="auto">
          <a:xfrm flipV="1">
            <a:off x="1673824" y="2236098"/>
            <a:ext cx="7342199" cy="30480"/>
          </a:xfrm>
          <a:prstGeom prst="line">
            <a:avLst/>
          </a:prstGeom>
          <a:ln w="19050">
            <a:solidFill>
              <a:srgbClr val="FFC000"/>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29" name="矩形 28"/>
          <p:cNvSpPr/>
          <p:nvPr/>
        </p:nvSpPr>
        <p:spPr>
          <a:xfrm>
            <a:off x="237450" y="1491630"/>
            <a:ext cx="4481762" cy="430887"/>
          </a:xfrm>
          <a:prstGeom prst="rect">
            <a:avLst/>
          </a:prstGeom>
          <a:solidFill>
            <a:schemeClr val="bg1"/>
          </a:solidFill>
        </p:spPr>
        <p:txBody>
          <a:bodyPr wrap="square">
            <a:spAutoFit/>
          </a:bodyPr>
          <a:lstStyle/>
          <a:p>
            <a:pPr marL="285750" indent="-285750">
              <a:buFont typeface="Wingdings" panose="05000000000000000000" pitchFamily="2" charset="2"/>
              <a:buChar char="u"/>
            </a:pPr>
            <a:r>
              <a:rPr lang="zh-CN" altLang="en-US" sz="2200" b="1" dirty="0">
                <a:solidFill>
                  <a:srgbClr val="0070C0"/>
                </a:solidFill>
                <a:latin typeface="华文楷体" panose="02010600040101010101" pitchFamily="2" charset="-122"/>
                <a:ea typeface="华文楷体" panose="02010600040101010101" pitchFamily="2" charset="-122"/>
              </a:rPr>
              <a:t>持久强度</a:t>
            </a:r>
            <a:r>
              <a:rPr lang="el-GR" altLang="zh-CN" sz="2200" b="1" dirty="0">
                <a:solidFill>
                  <a:srgbClr val="0070C0"/>
                </a:solidFill>
                <a:latin typeface="华文楷体" panose="02010600040101010101" pitchFamily="2" charset="-122"/>
                <a:ea typeface="华文楷体" panose="02010600040101010101" pitchFamily="2" charset="-122"/>
              </a:rPr>
              <a:t>σ</a:t>
            </a:r>
            <a:r>
              <a:rPr lang="zh-CN" altLang="en-US" sz="2200" b="1" dirty="0">
                <a:solidFill>
                  <a:srgbClr val="0070C0"/>
                </a:solidFill>
                <a:latin typeface="华文楷体" panose="02010600040101010101" pitchFamily="2" charset="-122"/>
                <a:ea typeface="华文楷体" panose="02010600040101010101" pitchFamily="2" charset="-122"/>
              </a:rPr>
              <a:t>和断裂时间</a:t>
            </a:r>
            <a:r>
              <a:rPr lang="el-GR" altLang="zh-CN" sz="2200" b="1" dirty="0">
                <a:solidFill>
                  <a:srgbClr val="0070C0"/>
                </a:solidFill>
                <a:latin typeface="华文楷体" panose="02010600040101010101" pitchFamily="2" charset="-122"/>
                <a:ea typeface="华文楷体" panose="02010600040101010101" pitchFamily="2" charset="-122"/>
              </a:rPr>
              <a:t>τ</a:t>
            </a:r>
            <a:r>
              <a:rPr lang="zh-CN" altLang="en-US" sz="2200" b="1" dirty="0">
                <a:solidFill>
                  <a:srgbClr val="0070C0"/>
                </a:solidFill>
                <a:latin typeface="华文楷体" panose="02010600040101010101" pitchFamily="2" charset="-122"/>
                <a:ea typeface="华文楷体" panose="02010600040101010101" pitchFamily="2" charset="-122"/>
              </a:rPr>
              <a:t>实验数据</a:t>
            </a:r>
          </a:p>
        </p:txBody>
      </p:sp>
      <p:sp>
        <p:nvSpPr>
          <p:cNvPr id="30" name="矩形 29"/>
          <p:cNvSpPr/>
          <p:nvPr/>
        </p:nvSpPr>
        <p:spPr>
          <a:xfrm>
            <a:off x="4894784" y="1508614"/>
            <a:ext cx="4009560" cy="362672"/>
          </a:xfrm>
          <a:prstGeom prst="rect">
            <a:avLst/>
          </a:prstGeom>
          <a:noFill/>
          <a:ln w="9525" cap="flat" cmpd="sng">
            <a:noFill/>
            <a:prstDash val="solid"/>
            <a:round/>
          </a:ln>
          <a:effectLst>
            <a:outerShdw blurRad="63500" sx="102000" sy="102000" algn="ctr" rotWithShape="0">
              <a:prstClr val="black">
                <a:alpha val="40000"/>
              </a:prstClr>
            </a:outerShdw>
          </a:effectLst>
        </p:spPr>
        <p:txBody>
          <a:bodyPr vert="horz" wrap="square" lIns="91440" tIns="45720" rIns="91440" bIns="45720" anchor="t">
            <a:noAutofit/>
          </a:bodyPr>
          <a:lstStyle/>
          <a:p>
            <a:pPr algn="dist" eaLnBrk="0" fontAlgn="auto">
              <a:spcBef>
                <a:spcPts val="0"/>
              </a:spcBef>
              <a:spcAft>
                <a:spcPts val="0"/>
              </a:spcAft>
            </a:pPr>
            <a:r>
              <a:rPr lang="en-US" altLang="zh-CN" sz="2000" b="1" dirty="0">
                <a:solidFill>
                  <a:srgbClr val="00B0F0"/>
                </a:solidFill>
                <a:latin typeface="华文楷体" panose="02010600040101010101" pitchFamily="2" charset="-122"/>
                <a:ea typeface="华文楷体" panose="02010600040101010101" pitchFamily="2" charset="-122"/>
              </a:rPr>
              <a:t>10</a:t>
            </a:r>
            <a:r>
              <a:rPr lang="zh-CN" altLang="en-US" sz="2000" b="1" dirty="0">
                <a:solidFill>
                  <a:srgbClr val="00B0F0"/>
                </a:solidFill>
                <a:latin typeface="华文楷体" panose="02010600040101010101" pitchFamily="2" charset="-122"/>
                <a:ea typeface="华文楷体" panose="02010600040101010101" pitchFamily="2" charset="-122"/>
              </a:rPr>
              <a:t>万小时</a:t>
            </a:r>
            <a:r>
              <a:rPr lang="en-US" altLang="zh-CN" sz="2000" b="1" dirty="0">
                <a:solidFill>
                  <a:srgbClr val="00B0F0"/>
                </a:solidFill>
                <a:latin typeface="华文楷体" panose="02010600040101010101" pitchFamily="2" charset="-122"/>
                <a:ea typeface="华文楷体" panose="02010600040101010101" pitchFamily="2" charset="-122"/>
              </a:rPr>
              <a:t>(</a:t>
            </a:r>
            <a:r>
              <a:rPr lang="en-US" altLang="zh-CN" sz="2000" b="1" dirty="0">
                <a:ln w="9525" cap="flat" cmpd="sng"/>
                <a:solidFill>
                  <a:srgbClr val="00B0F0"/>
                </a:solidFill>
                <a:latin typeface="华文楷体" panose="02010600040101010101" pitchFamily="2" charset="-122"/>
                <a:ea typeface="华文楷体" panose="02010600040101010101" pitchFamily="2" charset="-122"/>
              </a:rPr>
              <a:t>11</a:t>
            </a:r>
            <a:r>
              <a:rPr lang="zh-CN" altLang="en-US" sz="2000" b="1" dirty="0">
                <a:ln w="9525" cap="flat" cmpd="sng"/>
                <a:solidFill>
                  <a:srgbClr val="00B0F0"/>
                </a:solidFill>
                <a:latin typeface="华文楷体" panose="02010600040101010101" pitchFamily="2" charset="-122"/>
                <a:ea typeface="华文楷体" panose="02010600040101010101" pitchFamily="2" charset="-122"/>
              </a:rPr>
              <a:t>年</a:t>
            </a:r>
            <a:r>
              <a:rPr lang="en-US" altLang="zh-CN" sz="2000" b="1" dirty="0">
                <a:ln w="9525" cap="flat" cmpd="sng"/>
                <a:solidFill>
                  <a:srgbClr val="00B0F0"/>
                </a:solidFill>
                <a:latin typeface="华文楷体" panose="02010600040101010101" pitchFamily="2" charset="-122"/>
                <a:ea typeface="华文楷体" panose="02010600040101010101" pitchFamily="2" charset="-122"/>
              </a:rPr>
              <a:t>)</a:t>
            </a:r>
            <a:r>
              <a:rPr lang="zh-CN" altLang="en-US" sz="2000" b="1" dirty="0">
                <a:ln w="9525" cap="flat" cmpd="sng"/>
                <a:solidFill>
                  <a:srgbClr val="00B0F0"/>
                </a:solidFill>
                <a:latin typeface="华文楷体" panose="02010600040101010101" pitchFamily="2" charset="-122"/>
                <a:ea typeface="华文楷体" panose="02010600040101010101" pitchFamily="2" charset="-122"/>
              </a:rPr>
              <a:t>持久实验费</a:t>
            </a:r>
            <a:r>
              <a:rPr lang="en-US" altLang="zh-CN" sz="2000" b="1" dirty="0">
                <a:ln w="9525" cap="flat" cmpd="sng"/>
                <a:solidFill>
                  <a:srgbClr val="00B0F0"/>
                </a:solidFill>
                <a:latin typeface="华文楷体" panose="02010600040101010101" pitchFamily="2" charset="-122"/>
                <a:ea typeface="华文楷体" panose="02010600040101010101" pitchFamily="2" charset="-122"/>
              </a:rPr>
              <a:t>200</a:t>
            </a:r>
            <a:r>
              <a:rPr lang="zh-CN" altLang="en-US" sz="2000" b="1" dirty="0">
                <a:ln w="9525" cap="flat" cmpd="sng"/>
                <a:solidFill>
                  <a:srgbClr val="00B0F0"/>
                </a:solidFill>
                <a:latin typeface="华文楷体" panose="02010600040101010101" pitchFamily="2" charset="-122"/>
                <a:ea typeface="华文楷体" panose="02010600040101010101" pitchFamily="2" charset="-122"/>
              </a:rPr>
              <a:t>万</a:t>
            </a:r>
          </a:p>
        </p:txBody>
      </p:sp>
      <p:pic>
        <p:nvPicPr>
          <p:cNvPr id="31" name="图片 30"/>
          <p:cNvPicPr/>
          <p:nvPr/>
        </p:nvPicPr>
        <p:blipFill rotWithShape="1">
          <a:blip r:embed="rId4" cstate="print">
            <a:extLst>
              <a:ext uri="{28A0092B-C50C-407E-A947-70E740481C1C}">
                <a14:useLocalDpi xmlns:a14="http://schemas.microsoft.com/office/drawing/2010/main" val="0"/>
              </a:ext>
            </a:extLst>
          </a:blip>
          <a:srcRect/>
          <a:stretch>
            <a:fillRect/>
          </a:stretch>
        </p:blipFill>
        <p:spPr>
          <a:xfrm>
            <a:off x="5582776" y="2583704"/>
            <a:ext cx="938031" cy="362617"/>
          </a:xfrm>
          <a:prstGeom prst="rect">
            <a:avLst/>
          </a:prstGeom>
          <a:solidFill>
            <a:schemeClr val="bg1"/>
          </a:solidFill>
          <a:ln w="9525" cap="flat" cmpd="sng">
            <a:solidFill>
              <a:schemeClr val="bg1">
                <a:lumMod val="50000"/>
              </a:schemeClr>
            </a:solidFill>
            <a:prstDash val="solid"/>
            <a:miter lim="800000"/>
            <a:headEnd/>
            <a:tailEnd/>
          </a:ln>
          <a:scene3d>
            <a:camera prst="orthographicFront"/>
            <a:lightRig rig="threePt" dir="t"/>
          </a:scene3d>
          <a:sp3d>
            <a:contourClr>
              <a:srgbClr val="000000"/>
            </a:contourClr>
          </a:sp3d>
        </p:spPr>
      </p:pic>
      <p:sp>
        <p:nvSpPr>
          <p:cNvPr id="32" name="形状 5"/>
          <p:cNvSpPr/>
          <p:nvPr/>
        </p:nvSpPr>
        <p:spPr>
          <a:xfrm>
            <a:off x="199558" y="2548518"/>
            <a:ext cx="5943070" cy="430887"/>
          </a:xfrm>
          <a:prstGeom prst="rect">
            <a:avLst/>
          </a:prstGeom>
        </p:spPr>
        <p:txBody>
          <a:bodyPr vert="horz" wrap="square" lIns="91440" tIns="45720" rIns="91440" bIns="45720" anchor="t">
            <a:spAutoFit/>
          </a:bodyPr>
          <a:lstStyle/>
          <a:p>
            <a:pPr marL="342900" indent="-342900" eaLnBrk="0" fontAlgn="auto">
              <a:spcBef>
                <a:spcPts val="0"/>
              </a:spcBef>
              <a:spcAft>
                <a:spcPts val="0"/>
              </a:spcAft>
              <a:buFont typeface="Wingdings" panose="05000000000000000000" pitchFamily="2" charset="2"/>
              <a:buChar char="u"/>
            </a:pPr>
            <a:r>
              <a:rPr lang="zh-CN" altLang="en-US" sz="2200" b="1" dirty="0">
                <a:solidFill>
                  <a:srgbClr val="0070C0"/>
                </a:solidFill>
                <a:latin typeface="华文楷体" panose="02010600040101010101" pitchFamily="2" charset="-122"/>
                <a:ea typeface="华文楷体" panose="02010600040101010101" pitchFamily="2" charset="-122"/>
              </a:rPr>
              <a:t>持久强度</a:t>
            </a:r>
            <a:r>
              <a:rPr lang="el-GR" altLang="zh-CN" sz="2200" b="1" dirty="0">
                <a:solidFill>
                  <a:srgbClr val="0070C0"/>
                </a:solidFill>
                <a:latin typeface="华文楷体" panose="02010600040101010101" pitchFamily="2" charset="-122"/>
                <a:ea typeface="华文楷体" panose="02010600040101010101" pitchFamily="2" charset="-122"/>
              </a:rPr>
              <a:t>σ</a:t>
            </a:r>
            <a:r>
              <a:rPr lang="en-US" altLang="ko-KR" sz="2200" b="1" dirty="0" err="1">
                <a:solidFill>
                  <a:srgbClr val="0070C0"/>
                </a:solidFill>
                <a:latin typeface="华文楷体" panose="02010600040101010101" pitchFamily="2" charset="-122"/>
                <a:ea typeface="华文楷体" panose="02010600040101010101" pitchFamily="2" charset="-122"/>
              </a:rPr>
              <a:t>和断裂时间</a:t>
            </a:r>
            <a:r>
              <a:rPr lang="el-GR" altLang="zh-CN" sz="2200" b="1" dirty="0">
                <a:solidFill>
                  <a:srgbClr val="0070C0"/>
                </a:solidFill>
                <a:latin typeface="华文楷体" panose="02010600040101010101" pitchFamily="2" charset="-122"/>
                <a:ea typeface="华文楷体" panose="02010600040101010101" pitchFamily="2" charset="-122"/>
              </a:rPr>
              <a:t>τ</a:t>
            </a:r>
            <a:r>
              <a:rPr lang="en-US" altLang="ko-KR" sz="2200" b="1" dirty="0" err="1">
                <a:solidFill>
                  <a:srgbClr val="0070C0"/>
                </a:solidFill>
                <a:latin typeface="华文楷体" panose="02010600040101010101" pitchFamily="2" charset="-122"/>
                <a:ea typeface="华文楷体" panose="02010600040101010101" pitchFamily="2" charset="-122"/>
              </a:rPr>
              <a:t>经验公式</a:t>
            </a:r>
            <a:r>
              <a:rPr lang="en-US" altLang="ko-KR" sz="2200" b="1" dirty="0">
                <a:solidFill>
                  <a:srgbClr val="0070C0"/>
                </a:solidFill>
                <a:latin typeface="华文楷体" panose="02010600040101010101" pitchFamily="2" charset="-122"/>
                <a:ea typeface="华文楷体" panose="02010600040101010101" pitchFamily="2" charset="-122"/>
              </a:rPr>
              <a:t>-</a:t>
            </a:r>
            <a:r>
              <a:rPr lang="zh-CN" altLang="en-US" sz="2200" b="1" dirty="0">
                <a:solidFill>
                  <a:srgbClr val="0070C0"/>
                </a:solidFill>
                <a:latin typeface="华文楷体" panose="02010600040101010101" pitchFamily="2" charset="-122"/>
                <a:ea typeface="华文楷体" panose="02010600040101010101" pitchFamily="2" charset="-122"/>
              </a:rPr>
              <a:t>幂函数</a:t>
            </a:r>
            <a:r>
              <a:rPr lang="en-US" altLang="ko-KR" sz="2200" b="1" dirty="0">
                <a:solidFill>
                  <a:srgbClr val="002060"/>
                </a:solidFill>
                <a:latin typeface="华文楷体" panose="02010600040101010101" pitchFamily="2" charset="-122"/>
                <a:ea typeface="华文楷体" panose="02010600040101010101" pitchFamily="2" charset="-122"/>
              </a:rPr>
              <a:t>:</a:t>
            </a:r>
            <a:endParaRPr lang="ko-KR" altLang="en-US" sz="2200" b="1" dirty="0">
              <a:solidFill>
                <a:srgbClr val="002060"/>
              </a:solidFill>
              <a:latin typeface="华文楷体" panose="02010600040101010101" pitchFamily="2" charset="-122"/>
              <a:ea typeface="隶书" panose="02010509060101010101" pitchFamily="49" charset="-122"/>
            </a:endParaRPr>
          </a:p>
        </p:txBody>
      </p:sp>
      <p:sp>
        <p:nvSpPr>
          <p:cNvPr id="36" name="矩形 35"/>
          <p:cNvSpPr/>
          <p:nvPr/>
        </p:nvSpPr>
        <p:spPr>
          <a:xfrm>
            <a:off x="1318995" y="741530"/>
            <a:ext cx="2070712" cy="430887"/>
          </a:xfrm>
          <a:prstGeom prst="rect">
            <a:avLst/>
          </a:prstGeom>
        </p:spPr>
        <p:txBody>
          <a:bodyPr wrap="square">
            <a:spAutoFit/>
          </a:bodyPr>
          <a:lstStyle/>
          <a:p>
            <a:r>
              <a:rPr lang="zh-CN" altLang="en-US" sz="2200" b="1" dirty="0">
                <a:solidFill>
                  <a:srgbClr val="C00000"/>
                </a:solidFill>
                <a:latin typeface="华文楷体" panose="02010600040101010101" pitchFamily="2" charset="-122"/>
                <a:ea typeface="华文楷体" panose="02010600040101010101" pitchFamily="2" charset="-122"/>
              </a:rPr>
              <a:t>硕士学位论文</a:t>
            </a:r>
          </a:p>
        </p:txBody>
      </p:sp>
      <mc:AlternateContent xmlns:mc="http://schemas.openxmlformats.org/markup-compatibility/2006" xmlns:a14="http://schemas.microsoft.com/office/drawing/2010/main">
        <mc:Choice Requires="a14">
          <p:sp>
            <p:nvSpPr>
              <p:cNvPr id="38" name="文本框 37"/>
              <p:cNvSpPr txBox="1"/>
              <p:nvPr/>
            </p:nvSpPr>
            <p:spPr>
              <a:xfrm>
                <a:off x="997729" y="33154"/>
                <a:ext cx="7442966" cy="563103"/>
              </a:xfrm>
              <a:prstGeom prst="rect">
                <a:avLst/>
              </a:prstGeom>
              <a:noFill/>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en-US" altLang="zh-CN" sz="2800" kern="0" dirty="0">
                    <a:solidFill>
                      <a:srgbClr val="FF0000"/>
                    </a:solidFill>
                    <a:latin typeface="华文楷体" panose="02010600040101010101" pitchFamily="2" charset="-122"/>
                    <a:ea typeface="华文楷体" panose="02010600040101010101" pitchFamily="2" charset="-122"/>
                  </a:rPr>
                  <a:t>——</a:t>
                </a:r>
                <a:r>
                  <a:rPr lang="en-US" altLang="zh-CN" sz="2800" b="1" kern="0" dirty="0">
                    <a:solidFill>
                      <a:srgbClr val="FF0000"/>
                    </a:solidFill>
                    <a:latin typeface="华文楷体" panose="02010600040101010101" pitchFamily="2" charset="-122"/>
                    <a:ea typeface="华文楷体" panose="02010600040101010101" pitchFamily="2" charset="-122"/>
                  </a:rPr>
                  <a:t>——</a:t>
                </a:r>
                <a:r>
                  <a:rPr lang="en-US" altLang="ko-KR" sz="2800" b="1" dirty="0" err="1">
                    <a:solidFill>
                      <a:srgbClr val="FF0000"/>
                    </a:solidFill>
                    <a:latin typeface="华文楷体" panose="02010600040101010101" pitchFamily="2" charset="-122"/>
                    <a:ea typeface="华文楷体" panose="02010600040101010101" pitchFamily="2" charset="-122"/>
                  </a:rPr>
                  <a:t>幂函数</a:t>
                </a:r>
                <a:r>
                  <a:rPr lang="zh-CN" altLang="en-US" sz="2800" b="1" dirty="0">
                    <a:solidFill>
                      <a:srgbClr val="FF0000"/>
                    </a:solidFill>
                    <a:latin typeface="华文楷体" panose="02010600040101010101" pitchFamily="2" charset="-122"/>
                    <a:ea typeface="华文楷体" panose="02010600040101010101" pitchFamily="2" charset="-122"/>
                  </a:rPr>
                  <a:t>拟合</a:t>
                </a:r>
                <a14:m>
                  <m:oMath xmlns:m="http://schemas.openxmlformats.org/officeDocument/2006/math">
                    <m:r>
                      <a:rPr lang="en-US" altLang="zh-CN" sz="2800" b="1" i="1" smtClean="0">
                        <a:solidFill>
                          <a:srgbClr val="FF0000"/>
                        </a:solidFill>
                        <a:latin typeface="Cambria Math" panose="02040503050406030204" pitchFamily="18" charset="0"/>
                        <a:ea typeface="华文楷体" panose="02010600040101010101" pitchFamily="2" charset="-122"/>
                      </a:rPr>
                      <m:t>𝒚</m:t>
                    </m:r>
                    <m:r>
                      <a:rPr lang="en-US" altLang="zh-CN" sz="2800" b="1" i="1" smtClean="0">
                        <a:solidFill>
                          <a:srgbClr val="FF0000"/>
                        </a:solidFill>
                        <a:latin typeface="Cambria Math" panose="02040503050406030204" pitchFamily="18" charset="0"/>
                        <a:ea typeface="华文楷体" panose="02010600040101010101" pitchFamily="2" charset="-122"/>
                      </a:rPr>
                      <m:t>=</m:t>
                    </m:r>
                    <m:r>
                      <a:rPr lang="en-US" altLang="zh-CN" sz="2800" b="1" i="1" smtClean="0">
                        <a:solidFill>
                          <a:srgbClr val="FF0000"/>
                        </a:solidFill>
                        <a:latin typeface="Cambria Math" panose="02040503050406030204" pitchFamily="18" charset="0"/>
                        <a:ea typeface="华文楷体" panose="02010600040101010101" pitchFamily="2" charset="-122"/>
                      </a:rPr>
                      <m:t>𝒂</m:t>
                    </m:r>
                    <m:sSup>
                      <m:sSupPr>
                        <m:ctrlPr>
                          <a:rPr lang="en-US" altLang="zh-CN" sz="2800" b="1" i="1" smtClean="0">
                            <a:solidFill>
                              <a:srgbClr val="FF0000"/>
                            </a:solidFill>
                            <a:latin typeface="Cambria Math" panose="02040503050406030204" pitchFamily="18" charset="0"/>
                            <a:ea typeface="华文楷体" panose="02010600040101010101" pitchFamily="2" charset="-122"/>
                          </a:rPr>
                        </m:ctrlPr>
                      </m:sSupPr>
                      <m:e>
                        <m:r>
                          <a:rPr lang="en-US" altLang="zh-CN" sz="2800" b="1" i="1" smtClean="0">
                            <a:solidFill>
                              <a:srgbClr val="FF0000"/>
                            </a:solidFill>
                            <a:latin typeface="Cambria Math" panose="02040503050406030204" pitchFamily="18" charset="0"/>
                            <a:ea typeface="华文楷体" panose="02010600040101010101" pitchFamily="2" charset="-122"/>
                          </a:rPr>
                          <m:t>𝒙</m:t>
                        </m:r>
                      </m:e>
                      <m:sup>
                        <m:r>
                          <a:rPr lang="en-US" altLang="zh-CN" sz="2800" b="1" i="1" smtClean="0">
                            <a:solidFill>
                              <a:srgbClr val="FF0000"/>
                            </a:solidFill>
                            <a:latin typeface="Cambria Math" panose="02040503050406030204" pitchFamily="18" charset="0"/>
                            <a:ea typeface="华文楷体" panose="02010600040101010101" pitchFamily="2" charset="-122"/>
                          </a:rPr>
                          <m:t>𝒃</m:t>
                        </m:r>
                      </m:sup>
                    </m:sSup>
                  </m:oMath>
                </a14:m>
                <a:endParaRPr lang="en-US" altLang="zh-CN" sz="2800" b="1" dirty="0">
                  <a:solidFill>
                    <a:srgbClr val="FF0000"/>
                  </a:solidFill>
                  <a:latin typeface="华文楷体" panose="02010600040101010101" pitchFamily="2" charset="-122"/>
                  <a:ea typeface="华文楷体" panose="02010600040101010101" pitchFamily="2" charset="-122"/>
                </a:endParaRPr>
              </a:p>
            </p:txBody>
          </p:sp>
        </mc:Choice>
        <mc:Fallback xmlns="">
          <p:sp>
            <p:nvSpPr>
              <p:cNvPr id="38" name="文本框 37"/>
              <p:cNvSpPr txBox="1">
                <a:spLocks noRot="1" noChangeAspect="1" noMove="1" noResize="1" noEditPoints="1" noAdjustHandles="1" noChangeArrowheads="1" noChangeShapeType="1" noTextEdit="1"/>
              </p:cNvSpPr>
              <p:nvPr/>
            </p:nvSpPr>
            <p:spPr>
              <a:xfrm>
                <a:off x="997729" y="33154"/>
                <a:ext cx="7442966" cy="563103"/>
              </a:xfrm>
              <a:prstGeom prst="rect">
                <a:avLst/>
              </a:prstGeom>
              <a:blipFill>
                <a:blip r:embed="rId5"/>
                <a:stretch>
                  <a:fillRect l="-1720" t="-3226" b="-29032"/>
                </a:stretch>
              </a:blipFill>
            </p:spPr>
            <p:txBody>
              <a:bodyPr/>
              <a:lstStyle/>
              <a:p>
                <a:r>
                  <a:rPr lang="zh-CN" altLang="en-US">
                    <a:noFill/>
                  </a:rPr>
                  <a:t> </a:t>
                </a:r>
              </a:p>
            </p:txBody>
          </p:sp>
        </mc:Fallback>
      </mc:AlternateContent>
      <p:sp>
        <p:nvSpPr>
          <p:cNvPr id="40" name="波形 39"/>
          <p:cNvSpPr/>
          <p:nvPr/>
        </p:nvSpPr>
        <p:spPr>
          <a:xfrm>
            <a:off x="350001" y="726177"/>
            <a:ext cx="8759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F12A911B-C18E-4256-9894-F313EB4968E5}"/>
              </a:ext>
            </a:extLst>
          </p:cNvPr>
          <p:cNvSpPr txBox="1"/>
          <p:nvPr/>
        </p:nvSpPr>
        <p:spPr>
          <a:xfrm>
            <a:off x="284662" y="2946321"/>
            <a:ext cx="5664916" cy="2062103"/>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s=</a:t>
            </a:r>
            <a:r>
              <a:rPr lang="en-US" altLang="zh-CN" b="0" dirty="0">
                <a:solidFill>
                  <a:srgbClr val="098658"/>
                </a:solidFill>
                <a:effectLst/>
                <a:latin typeface="Consolas" panose="020B0609020204030204" pitchFamily="49" charset="0"/>
              </a:rPr>
              <a:t>90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150</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持久强度数据</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t=[</a:t>
            </a:r>
            <a:r>
              <a:rPr lang="en-US" altLang="zh-CN" b="0" dirty="0">
                <a:solidFill>
                  <a:srgbClr val="098658"/>
                </a:solidFill>
                <a:effectLst/>
                <a:latin typeface="Consolas" panose="020B0609020204030204" pitchFamily="49" charset="0"/>
              </a:rPr>
              <a:t>1410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648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614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516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218.5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79</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断裂时间</a:t>
            </a:r>
            <a:endParaRPr lang="en-US" altLang="zh-CN" b="0" dirty="0">
              <a:solidFill>
                <a:srgbClr val="008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fio</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TyCurveFitting.</a:t>
            </a:r>
            <a:r>
              <a:rPr lang="en-US" altLang="zh-CN" b="0" dirty="0" err="1">
                <a:solidFill>
                  <a:srgbClr val="795E26"/>
                </a:solidFill>
                <a:effectLst/>
                <a:latin typeface="Consolas" panose="020B0609020204030204" pitchFamily="49" charset="0"/>
              </a:rPr>
              <a:t>fit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en-US" altLang="zh-CN" sz="2000" b="1" dirty="0">
                <a:solidFill>
                  <a:srgbClr val="FF0000"/>
                </a:solidFill>
                <a:effectLst/>
                <a:latin typeface="Consolas" panose="020B0609020204030204" pitchFamily="49" charset="0"/>
              </a:rPr>
              <a:t>power1</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,s,t)</a:t>
            </a:r>
          </a:p>
          <a:p>
            <a:r>
              <a:rPr lang="en-US" altLang="zh-CN" b="0" dirty="0" err="1">
                <a:solidFill>
                  <a:srgbClr val="795E26"/>
                </a:solidFill>
                <a:effectLst/>
                <a:latin typeface="Consolas" panose="020B0609020204030204" pitchFamily="49" charset="0"/>
              </a:rPr>
              <a:t>xlim</a:t>
            </a:r>
            <a:r>
              <a:rPr lang="en-US" altLang="zh-CN" b="0" dirty="0">
                <a:solidFill>
                  <a:srgbClr val="795E26"/>
                </a:solidFill>
                <a:effectLst/>
                <a:latin typeface="Consolas" panose="020B0609020204030204" pitchFamily="49" charset="0"/>
              </a:rPr>
              <a:t>([30,150])</a:t>
            </a:r>
          </a:p>
          <a:p>
            <a:r>
              <a:rPr lang="en-US" altLang="zh-CN" b="0" dirty="0" err="1">
                <a:solidFill>
                  <a:srgbClr val="795E26"/>
                </a:solidFill>
                <a:effectLst/>
                <a:latin typeface="Consolas" panose="020B0609020204030204" pitchFamily="49" charset="0"/>
              </a:rPr>
              <a:t>plotfit</a:t>
            </a:r>
            <a:r>
              <a:rPr lang="en-US" altLang="zh-CN" b="0" dirty="0">
                <a:solidFill>
                  <a:srgbClr val="000000"/>
                </a:solidFill>
                <a:effectLst/>
                <a:latin typeface="Consolas" panose="020B0609020204030204" pitchFamily="49" charset="0"/>
              </a:rPr>
              <a:t>(fio,s,t</a:t>
            </a:r>
            <a:r>
              <a:rPr lang="en-US" altLang="zh-CN" b="1" dirty="0">
                <a:solidFill>
                  <a:srgbClr val="000000"/>
                </a:solidFill>
                <a:effectLst/>
                <a:latin typeface="Consolas" panose="020B0609020204030204" pitchFamily="49" charset="0"/>
              </a:rPr>
              <a:t>,</a:t>
            </a:r>
            <a:r>
              <a:rPr lang="en-US" altLang="zh-CN" b="1" dirty="0">
                <a:solidFill>
                  <a:srgbClr val="A31515"/>
                </a:solidFill>
                <a:effectLst/>
                <a:latin typeface="Consolas" panose="020B0609020204030204" pitchFamily="49" charset="0"/>
              </a:rPr>
              <a:t>"</a:t>
            </a:r>
            <a:r>
              <a:rPr lang="en-US" altLang="zh-CN" b="1" dirty="0" err="1">
                <a:solidFill>
                  <a:srgbClr val="A31515"/>
                </a:solidFill>
                <a:effectLst/>
                <a:latin typeface="Consolas" panose="020B0609020204030204" pitchFamily="49" charset="0"/>
              </a:rPr>
              <a:t>predfun</a:t>
            </a:r>
            <a:r>
              <a:rPr lang="en-US" altLang="zh-CN" b="1" dirty="0">
                <a:solidFill>
                  <a:srgbClr val="A31515"/>
                </a:solidFill>
                <a:effectLst/>
                <a:latin typeface="Consolas" panose="020B0609020204030204" pitchFamily="49" charset="0"/>
              </a:rPr>
              <a:t>"</a:t>
            </a:r>
            <a:r>
              <a:rPr lang="en-US" altLang="zh-CN" b="1" dirty="0">
                <a:solidFill>
                  <a:srgbClr val="000000"/>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强度</a:t>
            </a:r>
            <a:r>
              <a:rPr lang="en-US" altLang="zh-CN" b="0" dirty="0">
                <a:solidFill>
                  <a:srgbClr val="A31515"/>
                </a:solidFill>
                <a:effectLst/>
                <a:latin typeface="Consolas" panose="020B0609020204030204" pitchFamily="49" charset="0"/>
              </a:rPr>
              <a:t>s"</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断裂时间</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p:txBody>
      </p:sp>
      <p:pic>
        <p:nvPicPr>
          <p:cNvPr id="26" name="图片 25">
            <a:extLst>
              <a:ext uri="{FF2B5EF4-FFF2-40B4-BE49-F238E27FC236}">
                <a16:creationId xmlns:a16="http://schemas.microsoft.com/office/drawing/2014/main" id="{50BBE8C9-27BC-4A75-A60F-A3373AB62714}"/>
              </a:ext>
            </a:extLst>
          </p:cNvPr>
          <p:cNvPicPr>
            <a:picLocks noChangeAspect="1"/>
          </p:cNvPicPr>
          <p:nvPr/>
        </p:nvPicPr>
        <p:blipFill>
          <a:blip r:embed="rId6"/>
          <a:stretch>
            <a:fillRect/>
          </a:stretch>
        </p:blipFill>
        <p:spPr>
          <a:xfrm>
            <a:off x="6838710" y="2955483"/>
            <a:ext cx="2039532" cy="1547142"/>
          </a:xfrm>
          <a:prstGeom prst="rect">
            <a:avLst/>
          </a:prstGeom>
        </p:spPr>
      </p:pic>
      <p:sp>
        <p:nvSpPr>
          <p:cNvPr id="16" name="文本框 15">
            <a:extLst>
              <a:ext uri="{FF2B5EF4-FFF2-40B4-BE49-F238E27FC236}">
                <a16:creationId xmlns:a16="http://schemas.microsoft.com/office/drawing/2014/main" id="{2572EF73-BDC7-4CA1-AFD3-7FFB87B47C6E}"/>
              </a:ext>
            </a:extLst>
          </p:cNvPr>
          <p:cNvSpPr txBox="1"/>
          <p:nvPr/>
        </p:nvSpPr>
        <p:spPr>
          <a:xfrm>
            <a:off x="6669501" y="2623155"/>
            <a:ext cx="2518688" cy="584775"/>
          </a:xfrm>
          <a:prstGeom prst="rect">
            <a:avLst/>
          </a:prstGeom>
          <a:noFill/>
        </p:spPr>
        <p:txBody>
          <a:bodyPr wrap="square">
            <a:spAutoFit/>
          </a:bodyPr>
          <a:lstStyle/>
          <a:p>
            <a:r>
              <a:rPr lang="zh-CN" altLang="en-US" sz="1600" dirty="0">
                <a:solidFill>
                  <a:srgbClr val="FF0000"/>
                </a:solidFill>
              </a:rPr>
              <a:t>General model power:</a:t>
            </a:r>
          </a:p>
          <a:p>
            <a:r>
              <a:rPr lang="zh-CN" altLang="en-US" sz="1600" dirty="0">
                <a:solidFill>
                  <a:srgbClr val="FF0000"/>
                </a:solidFill>
              </a:rPr>
              <a:t>y(a,b,x) = a*x^b</a:t>
            </a:r>
          </a:p>
        </p:txBody>
      </p:sp>
    </p:spTree>
    <p:extLst>
      <p:ext uri="{BB962C8B-B14F-4D97-AF65-F5344CB8AC3E}">
        <p14:creationId xmlns:p14="http://schemas.microsoft.com/office/powerpoint/2010/main" val="3479388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406A545B-142B-4FA3-927F-041352C2EAA8}"/>
              </a:ext>
            </a:extLst>
          </p:cNvPr>
          <p:cNvSpPr txBox="1"/>
          <p:nvPr/>
        </p:nvSpPr>
        <p:spPr>
          <a:xfrm>
            <a:off x="899592" y="114173"/>
            <a:ext cx="4683826" cy="523220"/>
          </a:xfrm>
          <a:prstGeom prst="rect">
            <a:avLst/>
          </a:prstGeom>
          <a:noFill/>
        </p:spPr>
        <p:txBody>
          <a:bodyPr wrap="square">
            <a:spAutoFit/>
          </a:bodyPr>
          <a:lstStyle/>
          <a:p>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a:t>
            </a:r>
            <a:endParaRPr lang="zh-CN" altLang="en-US" sz="2800" dirty="0"/>
          </a:p>
        </p:txBody>
      </p:sp>
      <p:sp>
        <p:nvSpPr>
          <p:cNvPr id="7" name="文本框 6">
            <a:extLst>
              <a:ext uri="{FF2B5EF4-FFF2-40B4-BE49-F238E27FC236}">
                <a16:creationId xmlns:a16="http://schemas.microsoft.com/office/drawing/2014/main" id="{DBD9349C-4C70-49A9-960D-D2A7AD410F4A}"/>
              </a:ext>
            </a:extLst>
          </p:cNvPr>
          <p:cNvSpPr txBox="1"/>
          <p:nvPr/>
        </p:nvSpPr>
        <p:spPr>
          <a:xfrm>
            <a:off x="5593664" y="121602"/>
            <a:ext cx="3707964" cy="492443"/>
          </a:xfrm>
          <a:prstGeom prst="rect">
            <a:avLst/>
          </a:prstGeom>
          <a:noFill/>
        </p:spPr>
        <p:txBody>
          <a:bodyPr wrap="square">
            <a:spAutoFit/>
          </a:bodyPr>
          <a:lstStyle/>
          <a:p>
            <a:r>
              <a:rPr lang="en-US" altLang="zh-CN" sz="2600" kern="0" dirty="0" err="1">
                <a:solidFill>
                  <a:srgbClr val="FF0000"/>
                </a:solidFill>
                <a:latin typeface="华文楷体" panose="02010600040101010101" pitchFamily="2" charset="-122"/>
                <a:ea typeface="华文楷体" panose="02010600040101010101" pitchFamily="2" charset="-122"/>
                <a:hlinkClick r:id="rId2" action="ppaction://hlinkfile">
                  <a:extLst>
                    <a:ext uri="{A12FA001-AC4F-418D-AE19-62706E023703}">
                      <ahyp:hlinkClr xmlns:ahyp="http://schemas.microsoft.com/office/drawing/2018/hyperlinkcolor" val="tx"/>
                    </a:ext>
                  </a:extLst>
                </a:hlinkClick>
              </a:rPr>
              <a:t>fittype</a:t>
            </a:r>
            <a:r>
              <a:rPr lang="zh-CN" altLang="en-US" sz="2600" kern="0" dirty="0">
                <a:solidFill>
                  <a:srgbClr val="FF0000"/>
                </a:solidFill>
                <a:latin typeface="华文楷体" panose="02010600040101010101" pitchFamily="2" charset="-122"/>
                <a:ea typeface="华文楷体" panose="02010600040101010101" pitchFamily="2" charset="-122"/>
              </a:rPr>
              <a:t>自定义函数原型</a:t>
            </a:r>
          </a:p>
        </p:txBody>
      </p:sp>
      <p:sp>
        <p:nvSpPr>
          <p:cNvPr id="8" name="文本框 7">
            <a:extLst>
              <a:ext uri="{FF2B5EF4-FFF2-40B4-BE49-F238E27FC236}">
                <a16:creationId xmlns:a16="http://schemas.microsoft.com/office/drawing/2014/main" id="{79F7B10F-80E1-4F81-BE8E-ED60C9A23B96}"/>
              </a:ext>
            </a:extLst>
          </p:cNvPr>
          <p:cNvSpPr txBox="1"/>
          <p:nvPr/>
        </p:nvSpPr>
        <p:spPr>
          <a:xfrm>
            <a:off x="134689" y="1067769"/>
            <a:ext cx="4564142" cy="338554"/>
          </a:xfrm>
          <a:prstGeom prst="rect">
            <a:avLst/>
          </a:prstGeom>
          <a:solidFill>
            <a:schemeClr val="bg1"/>
          </a:solidFill>
        </p:spPr>
        <p:txBody>
          <a:bodyPr wrap="square">
            <a:spAutoFit/>
          </a:bodyPr>
          <a:lstStyle>
            <a:defPPr>
              <a:defRPr lang="zh-CN"/>
            </a:defPPr>
            <a:lvl1pPr>
              <a:defRPr b="1" i="0">
                <a:solidFill>
                  <a:srgbClr val="0070C0"/>
                </a:solidFill>
                <a:effectLst/>
                <a:latin typeface="Microsoft YaHei" panose="020B0503020204020204" pitchFamily="34" charset="-122"/>
                <a:ea typeface="Microsoft YaHei" panose="020B0503020204020204" pitchFamily="34" charset="-122"/>
              </a:defRPr>
            </a:lvl1pPr>
          </a:lstStyle>
          <a:p>
            <a:r>
              <a:rPr lang="en-US" altLang="zh-CN" sz="1600" dirty="0" err="1"/>
              <a:t>fittype</a:t>
            </a:r>
            <a:r>
              <a:rPr lang="zh-CN" altLang="en-US" sz="1600" dirty="0"/>
              <a:t>构造自定义模型并指定问题参数与自变量</a:t>
            </a:r>
          </a:p>
        </p:txBody>
      </p:sp>
      <p:sp>
        <p:nvSpPr>
          <p:cNvPr id="10" name="文本框 9">
            <a:extLst>
              <a:ext uri="{FF2B5EF4-FFF2-40B4-BE49-F238E27FC236}">
                <a16:creationId xmlns:a16="http://schemas.microsoft.com/office/drawing/2014/main" id="{97AC774F-AB5C-42BC-9908-75D1E2213A15}"/>
              </a:ext>
            </a:extLst>
          </p:cNvPr>
          <p:cNvSpPr txBox="1"/>
          <p:nvPr/>
        </p:nvSpPr>
        <p:spPr>
          <a:xfrm>
            <a:off x="113584" y="736145"/>
            <a:ext cx="8778896" cy="338554"/>
          </a:xfrm>
          <a:prstGeom prst="rect">
            <a:avLst/>
          </a:prstGeom>
          <a:solidFill>
            <a:schemeClr val="bg1"/>
          </a:solidFill>
        </p:spPr>
        <p:txBody>
          <a:bodyPr wrap="square">
            <a:spAutoFit/>
          </a:bodyPr>
          <a:lstStyle>
            <a:defPPr>
              <a:defRPr lang="zh-CN"/>
            </a:defPPr>
            <a:lvl1pPr>
              <a:defRPr b="1" i="0">
                <a:solidFill>
                  <a:srgbClr val="212121"/>
                </a:solidFill>
                <a:effectLst/>
                <a:latin typeface="Microsoft YaHei" panose="020B0503020204020204" pitchFamily="34" charset="-122"/>
                <a:ea typeface="Microsoft YaHei" panose="020B0503020204020204" pitchFamily="34" charset="-122"/>
              </a:defRPr>
            </a:lvl1pPr>
          </a:lstStyle>
          <a:p>
            <a:r>
              <a:rPr lang="en-US" altLang="zh-CN" sz="1600" dirty="0">
                <a:solidFill>
                  <a:srgbClr val="0070C0"/>
                </a:solidFill>
              </a:rPr>
              <a:t>fit</a:t>
            </a:r>
            <a:r>
              <a:rPr lang="zh-CN" altLang="en-US" sz="1600" dirty="0">
                <a:solidFill>
                  <a:srgbClr val="0070C0"/>
                </a:solidFill>
              </a:rPr>
              <a:t>可按照自定义模型</a:t>
            </a:r>
            <a:r>
              <a:rPr lang="en-US" altLang="zh-CN" sz="1600" dirty="0" err="1">
                <a:solidFill>
                  <a:srgbClr val="0070C0"/>
                </a:solidFill>
                <a:hlinkClick r:id="rId3" action="ppaction://hlinkfile">
                  <a:extLst>
                    <a:ext uri="{A12FA001-AC4F-418D-AE19-62706E023703}">
                      <ahyp:hlinkClr xmlns:ahyp="http://schemas.microsoft.com/office/drawing/2018/hyperlinkcolor" val="tx"/>
                    </a:ext>
                  </a:extLst>
                </a:hlinkClick>
              </a:rPr>
              <a:t>fitType</a:t>
            </a:r>
            <a:r>
              <a:rPr lang="zh-CN" altLang="en-US" sz="1600" dirty="0">
                <a:solidFill>
                  <a:srgbClr val="0070C0"/>
                </a:solidFill>
              </a:rPr>
              <a:t>将数据拟合成曲线曲面</a:t>
            </a:r>
          </a:p>
        </p:txBody>
      </p:sp>
      <p:sp>
        <p:nvSpPr>
          <p:cNvPr id="11" name="Text Box 3">
            <a:extLst>
              <a:ext uri="{FF2B5EF4-FFF2-40B4-BE49-F238E27FC236}">
                <a16:creationId xmlns:a16="http://schemas.microsoft.com/office/drawing/2014/main" id="{7D902FF0-502E-4C83-9E92-F0D41857584C}"/>
              </a:ext>
            </a:extLst>
          </p:cNvPr>
          <p:cNvSpPr txBox="1"/>
          <p:nvPr/>
        </p:nvSpPr>
        <p:spPr bwMode="auto">
          <a:xfrm>
            <a:off x="5004048" y="744641"/>
            <a:ext cx="3994225"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pPr algn="dist"/>
            <a:r>
              <a:rPr lang="zh-CN" altLang="zh-CN" sz="1400" b="1" dirty="0"/>
              <a:t>fitobject= </a:t>
            </a:r>
            <a:r>
              <a:rPr lang="en-US" altLang="zh-CN" sz="1400" b="1" dirty="0" err="1"/>
              <a:t>TyCurveFitting.fit</a:t>
            </a:r>
            <a:r>
              <a:rPr lang="zh-CN" altLang="zh-CN" sz="1400" b="1" dirty="0"/>
              <a:t>(</a:t>
            </a:r>
            <a:r>
              <a:rPr lang="zh-CN" altLang="zh-CN" sz="1400" b="1" dirty="0">
                <a:highlight>
                  <a:srgbClr val="FF0000"/>
                </a:highlight>
              </a:rPr>
              <a:t>fitType</a:t>
            </a:r>
            <a:r>
              <a:rPr lang="zh-CN" altLang="zh-CN" sz="1400" b="1" dirty="0"/>
              <a:t>,x,y</a:t>
            </a:r>
            <a:r>
              <a:rPr lang="en-US" altLang="zh-CN" sz="1400" b="1" dirty="0"/>
              <a:t>)</a:t>
            </a:r>
            <a:endParaRPr lang="zh-CN" altLang="zh-CN" sz="1400" b="1" dirty="0"/>
          </a:p>
        </p:txBody>
      </p:sp>
      <p:sp>
        <p:nvSpPr>
          <p:cNvPr id="4" name="Rectangle 1">
            <a:extLst>
              <a:ext uri="{FF2B5EF4-FFF2-40B4-BE49-F238E27FC236}">
                <a16:creationId xmlns:a16="http://schemas.microsoft.com/office/drawing/2014/main" id="{83F980BC-3C19-49AF-86BC-FD61C1626CD7}"/>
              </a:ext>
            </a:extLst>
          </p:cNvPr>
          <p:cNvSpPr>
            <a:spLocks noChangeArrowheads="1"/>
          </p:cNvSpPr>
          <p:nvPr/>
        </p:nvSpPr>
        <p:spPr bwMode="auto">
          <a:xfrm>
            <a:off x="4718662" y="1124265"/>
            <a:ext cx="4252865"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zh-CN" altLang="zh-CN" sz="1400" b="1" kern="0" dirty="0">
                <a:solidFill>
                  <a:schemeClr val="bg1"/>
                </a:solidFill>
                <a:latin typeface="Arial Unicode MS"/>
                <a:ea typeface="source-code-pro"/>
                <a:cs typeface="Times New Roman" panose="02020603050405020304" pitchFamily="18" charset="0"/>
              </a:rPr>
              <a:t>aFittype </a:t>
            </a:r>
            <a:r>
              <a:rPr lang="zh-CN" altLang="zh-CN" sz="1400" b="1" kern="0" dirty="0">
                <a:solidFill>
                  <a:schemeClr val="bg1"/>
                </a:solidFill>
                <a:highlight>
                  <a:srgbClr val="FF0000"/>
                </a:highlight>
                <a:latin typeface="Arial Unicode MS"/>
                <a:ea typeface="source-code-pro"/>
                <a:cs typeface="Times New Roman" panose="02020603050405020304" pitchFamily="18" charset="0"/>
              </a:rPr>
              <a:t>= f</a:t>
            </a:r>
            <a:r>
              <a:rPr lang="zh-CN" altLang="zh-CN" sz="1400" b="1" kern="0" dirty="0">
                <a:solidFill>
                  <a:schemeClr val="bg1"/>
                </a:solidFill>
                <a:highlight>
                  <a:srgbClr val="FF0000"/>
                </a:highlight>
                <a:latin typeface="Arial Unicode MS"/>
                <a:cs typeface="Times New Roman" panose="02020603050405020304" pitchFamily="18" charset="0"/>
              </a:rPr>
              <a:t>ittype</a:t>
            </a:r>
            <a:r>
              <a:rPr lang="zh-CN" altLang="zh-CN" sz="1400" b="1" kern="0" dirty="0">
                <a:solidFill>
                  <a:schemeClr val="bg1"/>
                </a:solidFill>
                <a:latin typeface="Arial Unicode MS"/>
                <a:ea typeface="source-code-pro"/>
                <a:cs typeface="Times New Roman" panose="02020603050405020304" pitchFamily="18" charset="0"/>
              </a:rPr>
              <a:t>(expression; Key=Value) </a:t>
            </a:r>
          </a:p>
        </p:txBody>
      </p:sp>
      <p:sp>
        <p:nvSpPr>
          <p:cNvPr id="13" name="文本框 12">
            <a:extLst>
              <a:ext uri="{FF2B5EF4-FFF2-40B4-BE49-F238E27FC236}">
                <a16:creationId xmlns:a16="http://schemas.microsoft.com/office/drawing/2014/main" id="{F1323D3D-10B5-49FC-9EF1-739CC2AC8AA1}"/>
              </a:ext>
            </a:extLst>
          </p:cNvPr>
          <p:cNvSpPr txBox="1"/>
          <p:nvPr/>
        </p:nvSpPr>
        <p:spPr>
          <a:xfrm>
            <a:off x="126426" y="2805553"/>
            <a:ext cx="8928992" cy="1815882"/>
          </a:xfrm>
          <a:prstGeom prst="rect">
            <a:avLst/>
          </a:prstGeom>
          <a:noFill/>
        </p:spPr>
        <p:txBody>
          <a:bodyPr wrap="square">
            <a:spAutoFit/>
          </a:bodyPr>
          <a:lstStyle/>
          <a:p>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0.25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0.75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9</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13</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14</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16</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时间</a:t>
            </a:r>
            <a:endParaRPr lang="zh-CN" altLang="en-US" sz="1600" b="0" dirty="0">
              <a:solidFill>
                <a:srgbClr val="000000"/>
              </a:solidFill>
              <a:effectLst/>
              <a:latin typeface="Consolas" panose="020B0609020204030204" pitchFamily="49" charset="0"/>
            </a:endParaRPr>
          </a:p>
          <a:p>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30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82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68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41</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35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15</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7</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4</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酒精含量</a:t>
            </a:r>
            <a:endParaRPr lang="zh-CN" altLang="en-US" sz="1600" b="0" dirty="0">
              <a:solidFill>
                <a:srgbClr val="000000"/>
              </a:solidFill>
              <a:effectLst/>
              <a:latin typeface="Consolas" panose="020B0609020204030204" pitchFamily="49" charset="0"/>
            </a:endParaRPr>
          </a:p>
          <a:p>
            <a:r>
              <a:rPr lang="en-US" altLang="zh-CN" sz="1600" b="0" dirty="0" err="1">
                <a:solidFill>
                  <a:srgbClr val="000000"/>
                </a:solidFill>
                <a:effectLst/>
                <a:latin typeface="Consolas" panose="020B0609020204030204" pitchFamily="49" charset="0"/>
              </a:rPr>
              <a:t>myfittype</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fittype</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"a*(exp(-b*x)-exp(-c*x))"</a:t>
            </a:r>
            <a:r>
              <a:rPr lang="en-US" altLang="zh-CN" sz="1600" b="0" dirty="0">
                <a:solidFill>
                  <a:srgbClr val="000000"/>
                </a:solidFill>
                <a:effectLst/>
                <a:latin typeface="Consolas" panose="020B0609020204030204" pitchFamily="49" charset="0"/>
              </a:rPr>
              <a:t>)</a:t>
            </a:r>
          </a:p>
          <a:p>
            <a:r>
              <a:rPr lang="en-US" altLang="zh-CN" sz="1600" b="0" dirty="0" err="1">
                <a:solidFill>
                  <a:srgbClr val="000000"/>
                </a:solidFill>
                <a:effectLst/>
                <a:latin typeface="Consolas" panose="020B0609020204030204" pitchFamily="49" charset="0"/>
              </a:rPr>
              <a:t>myfit</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TyCurveFitting.</a:t>
            </a:r>
            <a:r>
              <a:rPr lang="en-US" altLang="zh-CN" sz="1600" b="0" dirty="0" err="1">
                <a:solidFill>
                  <a:srgbClr val="795E26"/>
                </a:solidFill>
                <a:effectLst/>
                <a:latin typeface="Consolas" panose="020B0609020204030204" pitchFamily="49" charset="0"/>
              </a:rPr>
              <a:t>fit</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myfittype,x,y</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#fit</a:t>
            </a:r>
            <a:r>
              <a:rPr lang="zh-CN" altLang="en-US" sz="1600" b="0" dirty="0">
                <a:solidFill>
                  <a:srgbClr val="008000"/>
                </a:solidFill>
                <a:effectLst/>
                <a:latin typeface="Consolas" panose="020B0609020204030204" pitchFamily="49" charset="0"/>
              </a:rPr>
              <a:t>拟合自定义函数</a:t>
            </a:r>
            <a:endParaRPr lang="zh-CN" altLang="en-US" sz="1600" b="0" dirty="0">
              <a:solidFill>
                <a:srgbClr val="000000"/>
              </a:solidFill>
              <a:effectLst/>
              <a:latin typeface="Consolas" panose="020B0609020204030204" pitchFamily="49" charset="0"/>
            </a:endParaRPr>
          </a:p>
          <a:p>
            <a:r>
              <a:rPr lang="en-US" altLang="zh-CN" sz="1600" b="0" dirty="0" err="1">
                <a:solidFill>
                  <a:srgbClr val="795E26"/>
                </a:solidFill>
                <a:effectLst/>
                <a:latin typeface="Consolas" panose="020B0609020204030204" pitchFamily="49" charset="0"/>
              </a:rPr>
              <a:t>plotfit</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myfit,x,y</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在散点上绘制拟合曲线</a:t>
            </a:r>
            <a:endParaRPr lang="en-US" altLang="zh-CN" sz="1600" b="0" dirty="0">
              <a:solidFill>
                <a:srgbClr val="008000"/>
              </a:solidFill>
              <a:effectLst/>
              <a:latin typeface="Consolas" panose="020B0609020204030204" pitchFamily="49" charset="0"/>
            </a:endParaRPr>
          </a:p>
          <a:p>
            <a:r>
              <a:rPr lang="en-US" altLang="zh-CN" sz="1600" b="0" dirty="0" err="1">
                <a:solidFill>
                  <a:srgbClr val="795E26"/>
                </a:solidFill>
                <a:effectLst/>
                <a:latin typeface="Consolas" panose="020B0609020204030204" pitchFamily="49" charset="0"/>
              </a:rPr>
              <a:t>xlabel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时间</a:t>
            </a:r>
            <a:r>
              <a:rPr lang="en-US" altLang="zh-CN" sz="1600" b="0" dirty="0">
                <a:solidFill>
                  <a:srgbClr val="A31515"/>
                </a:solidFill>
                <a:effectLst/>
                <a:latin typeface="Consolas" panose="020B0609020204030204" pitchFamily="49" charset="0"/>
              </a:rPr>
              <a:t>x"</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ylabel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酒精含量</a:t>
            </a:r>
            <a:r>
              <a:rPr lang="en-US" altLang="zh-CN" sz="1600" b="0" dirty="0">
                <a:solidFill>
                  <a:srgbClr val="A31515"/>
                </a:solidFill>
                <a:effectLst/>
                <a:latin typeface="Consolas" panose="020B0609020204030204" pitchFamily="49" charset="0"/>
              </a:rPr>
              <a:t>y"</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e=</a:t>
            </a:r>
            <a:r>
              <a:rPr lang="en-US" altLang="zh-CN" sz="1600" b="0" dirty="0" err="1">
                <a:solidFill>
                  <a:srgbClr val="000000"/>
                </a:solidFill>
                <a:effectLst/>
                <a:latin typeface="Consolas" panose="020B0609020204030204" pitchFamily="49" charset="0"/>
              </a:rPr>
              <a:t>myfit.expr</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访问拟合函数原型</a:t>
            </a:r>
            <a:endParaRPr lang="zh-CN" altLang="en-US" sz="1600" b="0" dirty="0">
              <a:solidFill>
                <a:srgbClr val="000000"/>
              </a:solidFill>
              <a:effectLst/>
              <a:latin typeface="Consolas" panose="020B0609020204030204" pitchFamily="49" charset="0"/>
            </a:endParaRPr>
          </a:p>
        </p:txBody>
      </p:sp>
      <p:pic>
        <p:nvPicPr>
          <p:cNvPr id="15" name="图片 14">
            <a:extLst>
              <a:ext uri="{FF2B5EF4-FFF2-40B4-BE49-F238E27FC236}">
                <a16:creationId xmlns:a16="http://schemas.microsoft.com/office/drawing/2014/main" id="{164990C0-0777-41E3-A3A9-F1527348DF68}"/>
              </a:ext>
            </a:extLst>
          </p:cNvPr>
          <p:cNvPicPr>
            <a:picLocks noChangeAspect="1"/>
          </p:cNvPicPr>
          <p:nvPr/>
        </p:nvPicPr>
        <p:blipFill>
          <a:blip r:embed="rId4"/>
          <a:stretch>
            <a:fillRect/>
          </a:stretch>
        </p:blipFill>
        <p:spPr>
          <a:xfrm>
            <a:off x="6876256" y="3413037"/>
            <a:ext cx="2016224" cy="1220816"/>
          </a:xfrm>
          <a:prstGeom prst="rect">
            <a:avLst/>
          </a:prstGeom>
        </p:spPr>
      </p:pic>
      <p:pic>
        <p:nvPicPr>
          <p:cNvPr id="16" name="Picture 1">
            <a:extLst>
              <a:ext uri="{FF2B5EF4-FFF2-40B4-BE49-F238E27FC236}">
                <a16:creationId xmlns:a16="http://schemas.microsoft.com/office/drawing/2014/main" id="{AB22777F-72FC-4AAD-8E69-9DB85EAFAB2E}"/>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l="1704" t="54041" r="3787" b="2446"/>
          <a:stretch>
            <a:fillRect/>
          </a:stretch>
        </p:blipFill>
        <p:spPr bwMode="auto">
          <a:xfrm>
            <a:off x="5055112" y="1988097"/>
            <a:ext cx="3850210" cy="546108"/>
          </a:xfrm>
          <a:prstGeom prst="rect">
            <a:avLst/>
          </a:prstGeom>
          <a:noFill/>
        </p:spPr>
      </p:pic>
      <p:sp>
        <p:nvSpPr>
          <p:cNvPr id="17" name="Text Box 9">
            <a:extLst>
              <a:ext uri="{FF2B5EF4-FFF2-40B4-BE49-F238E27FC236}">
                <a16:creationId xmlns:a16="http://schemas.microsoft.com/office/drawing/2014/main" id="{B24DF3B6-7907-4DD5-9CDB-CE499BE9316C}"/>
              </a:ext>
            </a:extLst>
          </p:cNvPr>
          <p:cNvSpPr txBox="1"/>
          <p:nvPr/>
        </p:nvSpPr>
        <p:spPr bwMode="auto">
          <a:xfrm>
            <a:off x="145727" y="1939373"/>
            <a:ext cx="5002337" cy="606320"/>
          </a:xfrm>
          <a:prstGeom prst="rect">
            <a:avLst/>
          </a:prstGeom>
          <a:solidFill>
            <a:schemeClr val="bg1"/>
          </a:solidFill>
          <a:ln w="0" cap="flat" cmpd="sng">
            <a:noFill/>
            <a:prstDash val="solid"/>
          </a:ln>
        </p:spPr>
        <p:txBody>
          <a:bodyPr vert="horz" wrap="square" lIns="91440" tIns="45720" rIns="91440" bIns="45720" numCol="1" anchor="t">
            <a:spAutoFit/>
          </a:bodyPr>
          <a:lstStyle/>
          <a:p>
            <a:pPr eaLnBrk="0">
              <a:lnSpc>
                <a:spcPts val="2100"/>
              </a:lnSpc>
              <a:spcBef>
                <a:spcPts val="0"/>
              </a:spcBef>
              <a:spcAft>
                <a:spcPts val="0"/>
              </a:spcAft>
            </a:pPr>
            <a:r>
              <a:rPr lang="en-US" altLang="zh-CN" sz="1400" b="1" dirty="0">
                <a:solidFill>
                  <a:srgbClr val="0070C0"/>
                </a:solidFill>
                <a:latin typeface="微软雅黑" panose="020B0503020204020204" pitchFamily="34" charset="-122"/>
                <a:ea typeface="微软雅黑" panose="020B0503020204020204" pitchFamily="34" charset="-122"/>
              </a:rPr>
              <a:t>               2004</a:t>
            </a:r>
            <a:r>
              <a:rPr lang="zh-CN" altLang="en-US" sz="1400" b="1" dirty="0">
                <a:solidFill>
                  <a:srgbClr val="0070C0"/>
                </a:solidFill>
                <a:latin typeface="微软雅黑" panose="020B0503020204020204" pitchFamily="34" charset="-122"/>
                <a:ea typeface="微软雅黑" panose="020B0503020204020204" pitchFamily="34" charset="-122"/>
              </a:rPr>
              <a:t>年全国大学生数学建模竞赛</a:t>
            </a:r>
            <a:r>
              <a:rPr lang="en-US" altLang="zh-CN" sz="1400" b="1" dirty="0">
                <a:solidFill>
                  <a:srgbClr val="0070C0"/>
                </a:solidFill>
                <a:latin typeface="微软雅黑" panose="020B0503020204020204" pitchFamily="34" charset="-122"/>
                <a:ea typeface="微软雅黑" panose="020B0503020204020204" pitchFamily="34" charset="-122"/>
              </a:rPr>
              <a:t>C</a:t>
            </a:r>
            <a:r>
              <a:rPr lang="zh-CN" altLang="en-US" sz="1400" b="1" dirty="0">
                <a:solidFill>
                  <a:srgbClr val="0070C0"/>
                </a:solidFill>
                <a:latin typeface="微软雅黑" panose="020B0503020204020204" pitchFamily="34" charset="-122"/>
                <a:ea typeface="微软雅黑" panose="020B0503020204020204" pitchFamily="34" charset="-122"/>
              </a:rPr>
              <a:t>题（酒后驾车）</a:t>
            </a:r>
            <a:r>
              <a:rPr lang="en-US" altLang="zh-CN" sz="1400" b="1" dirty="0">
                <a:solidFill>
                  <a:srgbClr val="0070C0"/>
                </a:solidFill>
                <a:latin typeface="微软雅黑" panose="020B0503020204020204" pitchFamily="34" charset="-122"/>
                <a:ea typeface="微软雅黑" panose="020B0503020204020204" pitchFamily="34" charset="-122"/>
              </a:rPr>
              <a:t>,</a:t>
            </a:r>
            <a:r>
              <a:rPr lang="zh-CN" altLang="en-US" sz="1400" b="1" dirty="0">
                <a:solidFill>
                  <a:srgbClr val="0070C0"/>
                </a:solidFill>
                <a:latin typeface="微软雅黑" panose="020B0503020204020204" pitchFamily="34" charset="-122"/>
                <a:ea typeface="微软雅黑" panose="020B0503020204020204" pitchFamily="34" charset="-122"/>
              </a:rPr>
              <a:t> 根据采样</a:t>
            </a:r>
            <a:r>
              <a:rPr lang="en-US" altLang="zh-CN" sz="1400" b="1" dirty="0">
                <a:solidFill>
                  <a:srgbClr val="0070C0"/>
                </a:solidFill>
                <a:latin typeface="微软雅黑" panose="020B0503020204020204" pitchFamily="34" charset="-122"/>
                <a:ea typeface="微软雅黑" panose="020B0503020204020204" pitchFamily="34" charset="-122"/>
              </a:rPr>
              <a:t>23</a:t>
            </a:r>
            <a:r>
              <a:rPr lang="zh-CN" altLang="en-US" sz="1400" b="1" dirty="0">
                <a:solidFill>
                  <a:srgbClr val="0070C0"/>
                </a:solidFill>
                <a:latin typeface="微软雅黑" panose="020B0503020204020204" pitchFamily="34" charset="-122"/>
                <a:ea typeface="微软雅黑" panose="020B0503020204020204" pitchFamily="34" charset="-122"/>
              </a:rPr>
              <a:t>个点建立血液酒精含量</a:t>
            </a:r>
            <a:r>
              <a:rPr lang="en-US" altLang="zh-CN" sz="1400" b="1" dirty="0">
                <a:solidFill>
                  <a:srgbClr val="0070C0"/>
                </a:solidFill>
                <a:latin typeface="微软雅黑" panose="020B0503020204020204" pitchFamily="34" charset="-122"/>
                <a:ea typeface="微软雅黑" panose="020B0503020204020204" pitchFamily="34" charset="-122"/>
              </a:rPr>
              <a:t>y</a:t>
            </a:r>
            <a:r>
              <a:rPr lang="zh-CN" altLang="en-US" sz="1400" b="1" dirty="0">
                <a:solidFill>
                  <a:srgbClr val="0070C0"/>
                </a:solidFill>
                <a:latin typeface="微软雅黑" panose="020B0503020204020204" pitchFamily="34" charset="-122"/>
                <a:ea typeface="微软雅黑" panose="020B0503020204020204" pitchFamily="34" charset="-122"/>
              </a:rPr>
              <a:t>和时间</a:t>
            </a:r>
            <a:r>
              <a:rPr lang="en-US" altLang="zh-CN" sz="1400" b="1" dirty="0">
                <a:solidFill>
                  <a:srgbClr val="0070C0"/>
                </a:solidFill>
                <a:latin typeface="微软雅黑" panose="020B0503020204020204" pitchFamily="34" charset="-122"/>
                <a:ea typeface="微软雅黑" panose="020B0503020204020204" pitchFamily="34" charset="-122"/>
              </a:rPr>
              <a:t>t</a:t>
            </a:r>
            <a:r>
              <a:rPr lang="zh-CN" altLang="en-US" sz="1400" b="1" dirty="0">
                <a:solidFill>
                  <a:srgbClr val="0070C0"/>
                </a:solidFill>
                <a:latin typeface="微软雅黑" panose="020B0503020204020204" pitchFamily="34" charset="-122"/>
                <a:ea typeface="微软雅黑" panose="020B0503020204020204" pitchFamily="34" charset="-122"/>
              </a:rPr>
              <a:t>的数学模型  </a:t>
            </a:r>
            <a:endParaRPr lang="en-US" altLang="zh-CN" sz="1400" b="1" dirty="0">
              <a:solidFill>
                <a:srgbClr val="0070C0"/>
              </a:solidFill>
              <a:latin typeface="微软雅黑" panose="020B0503020204020204" pitchFamily="34" charset="-122"/>
              <a:ea typeface="微软雅黑" panose="020B0503020204020204" pitchFamily="34" charset="-122"/>
            </a:endParaRPr>
          </a:p>
        </p:txBody>
      </p:sp>
      <p:sp>
        <p:nvSpPr>
          <p:cNvPr id="18" name="波形 17">
            <a:extLst>
              <a:ext uri="{FF2B5EF4-FFF2-40B4-BE49-F238E27FC236}">
                <a16:creationId xmlns:a16="http://schemas.microsoft.com/office/drawing/2014/main" id="{B6EF4E45-E9DE-44B9-B7DD-543A51806500}"/>
              </a:ext>
            </a:extLst>
          </p:cNvPr>
          <p:cNvSpPr/>
          <p:nvPr/>
        </p:nvSpPr>
        <p:spPr>
          <a:xfrm>
            <a:off x="274839" y="1976061"/>
            <a:ext cx="624753" cy="29868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400" b="1" dirty="0">
                <a:solidFill>
                  <a:srgbClr val="FFFF00"/>
                </a:solidFill>
                <a:latin typeface="微软雅黑" panose="020B0503020204020204" pitchFamily="34" charset="-122"/>
                <a:ea typeface="微软雅黑" panose="020B0503020204020204" pitchFamily="34" charset="-122"/>
              </a:rPr>
              <a:t>例</a:t>
            </a:r>
            <a:r>
              <a:rPr lang="en-US" altLang="zh-CN" sz="1400" b="1" dirty="0">
                <a:solidFill>
                  <a:srgbClr val="FFFF00"/>
                </a:solidFill>
                <a:latin typeface="微软雅黑" panose="020B0503020204020204" pitchFamily="34" charset="-122"/>
                <a:ea typeface="微软雅黑" panose="020B0503020204020204" pitchFamily="34" charset="-122"/>
              </a:rPr>
              <a:t>53-3</a:t>
            </a:r>
            <a:endParaRPr lang="ko-KR" altLang="en-US" sz="1400" b="1" dirty="0">
              <a:solidFill>
                <a:srgbClr val="FFFF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15C4D70-3996-47D6-BE93-D50C35264488}"/>
                  </a:ext>
                </a:extLst>
              </p:cNvPr>
              <p:cNvSpPr txBox="1"/>
              <p:nvPr/>
            </p:nvSpPr>
            <p:spPr>
              <a:xfrm>
                <a:off x="7357658" y="3452414"/>
                <a:ext cx="1547664" cy="243143"/>
              </a:xfrm>
              <a:prstGeom prst="rect">
                <a:avLst/>
              </a:prstGeom>
              <a:solidFill>
                <a:srgbClr val="FFC000"/>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𝑦</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𝑎</m:t>
                      </m:r>
                      <m:d>
                        <m:dPr>
                          <m:ctrlPr>
                            <a:rPr lang="en-US" altLang="zh-CN" sz="1400" b="0" i="1" smtClean="0">
                              <a:latin typeface="Cambria Math" panose="02040503050406030204" pitchFamily="18" charset="0"/>
                            </a:rPr>
                          </m:ctrlPr>
                        </m:dPr>
                        <m:e>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𝑒</m:t>
                              </m:r>
                            </m:e>
                            <m:sup>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𝑏𝑥</m:t>
                              </m:r>
                            </m:sup>
                          </m:sSup>
                          <m:r>
                            <a:rPr lang="en-US" altLang="zh-CN" sz="1400" b="0" i="1" smtClean="0">
                              <a:latin typeface="Cambria Math" panose="02040503050406030204" pitchFamily="18" charset="0"/>
                            </a:rPr>
                            <m:t>−</m:t>
                          </m:r>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𝑒</m:t>
                              </m:r>
                            </m:e>
                            <m:sup>
                              <m:r>
                                <a:rPr lang="en-US" altLang="zh-CN" sz="1400" i="1">
                                  <a:latin typeface="Cambria Math" panose="02040503050406030204" pitchFamily="18" charset="0"/>
                                </a:rPr>
                                <m:t>−</m:t>
                              </m:r>
                              <m:r>
                                <a:rPr lang="en-US" altLang="zh-CN" sz="1400" b="0" i="1" smtClean="0">
                                  <a:latin typeface="Cambria Math" panose="02040503050406030204" pitchFamily="18" charset="0"/>
                                </a:rPr>
                                <m:t>𝑐</m:t>
                              </m:r>
                              <m:r>
                                <a:rPr lang="en-US" altLang="zh-CN" sz="1400" i="1">
                                  <a:latin typeface="Cambria Math" panose="02040503050406030204" pitchFamily="18" charset="0"/>
                                </a:rPr>
                                <m:t>𝑥</m:t>
                              </m:r>
                            </m:sup>
                          </m:sSup>
                        </m:e>
                      </m:d>
                    </m:oMath>
                  </m:oMathPara>
                </a14:m>
                <a:endParaRPr lang="zh-CN" altLang="en-US" sz="1400" dirty="0"/>
              </a:p>
            </p:txBody>
          </p:sp>
        </mc:Choice>
        <mc:Fallback xmlns="">
          <p:sp>
            <p:nvSpPr>
              <p:cNvPr id="21" name="文本框 20">
                <a:extLst>
                  <a:ext uri="{FF2B5EF4-FFF2-40B4-BE49-F238E27FC236}">
                    <a16:creationId xmlns:a16="http://schemas.microsoft.com/office/drawing/2014/main" id="{915C4D70-3996-47D6-BE93-D50C35264488}"/>
                  </a:ext>
                </a:extLst>
              </p:cNvPr>
              <p:cNvSpPr txBox="1">
                <a:spLocks noRot="1" noChangeAspect="1" noMove="1" noResize="1" noEditPoints="1" noAdjustHandles="1" noChangeArrowheads="1" noChangeShapeType="1" noTextEdit="1"/>
              </p:cNvSpPr>
              <p:nvPr/>
            </p:nvSpPr>
            <p:spPr>
              <a:xfrm>
                <a:off x="7357658" y="3452414"/>
                <a:ext cx="1547664" cy="243143"/>
              </a:xfrm>
              <a:prstGeom prst="rect">
                <a:avLst/>
              </a:prstGeom>
              <a:blipFill>
                <a:blip r:embed="rId6"/>
                <a:stretch>
                  <a:fillRect l="-3150" b="-1750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AB8487B5-B75D-4A3F-BF0A-F66FD4FF7C9B}"/>
              </a:ext>
            </a:extLst>
          </p:cNvPr>
          <p:cNvSpPr txBox="1"/>
          <p:nvPr/>
        </p:nvSpPr>
        <p:spPr>
          <a:xfrm>
            <a:off x="172472" y="1354349"/>
            <a:ext cx="9008039" cy="584775"/>
          </a:xfrm>
          <a:prstGeom prst="rect">
            <a:avLst/>
          </a:prstGeom>
          <a:noFill/>
        </p:spPr>
        <p:txBody>
          <a:bodyPr wrap="square">
            <a:spAutoFit/>
          </a:bodyPr>
          <a:lstStyle/>
          <a:p>
            <a:pPr marL="342900" indent="-342900">
              <a:buFont typeface="+mj-ea"/>
              <a:buAutoNum type="circleNumDbPlain"/>
            </a:pPr>
            <a:r>
              <a:rPr lang="en-US" altLang="zh-CN" sz="1600" b="1" dirty="0">
                <a:solidFill>
                  <a:srgbClr val="00B0F0"/>
                </a:solidFill>
                <a:effectLst/>
                <a:latin typeface="Consolas" panose="020B0609020204030204" pitchFamily="49" charset="0"/>
              </a:rPr>
              <a:t>expression</a:t>
            </a:r>
            <a:r>
              <a:rPr lang="zh-CN" altLang="en-US" sz="1600" b="1" dirty="0">
                <a:solidFill>
                  <a:srgbClr val="00B0F0"/>
                </a:solidFill>
                <a:effectLst/>
                <a:latin typeface="Consolas" panose="020B0609020204030204" pitchFamily="49" charset="0"/>
              </a:rPr>
              <a:t>：函数原型表达式，用字符串表示，</a:t>
            </a:r>
            <a:endParaRPr lang="en-US" altLang="zh-CN" sz="1600" b="1" dirty="0">
              <a:solidFill>
                <a:srgbClr val="00B0F0"/>
              </a:solidFill>
              <a:effectLst/>
              <a:latin typeface="Consolas" panose="020B0609020204030204" pitchFamily="49" charset="0"/>
            </a:endParaRPr>
          </a:p>
          <a:p>
            <a:pPr marL="342900" indent="-342900">
              <a:buFont typeface="+mj-ea"/>
              <a:buAutoNum type="circleNumDbPlain"/>
            </a:pPr>
            <a:r>
              <a:rPr lang="zh-CN" altLang="en-US" sz="1600" b="1" dirty="0">
                <a:solidFill>
                  <a:srgbClr val="00B0F0"/>
                </a:solidFill>
                <a:effectLst/>
                <a:latin typeface="Consolas" panose="020B0609020204030204" pitchFamily="49" charset="0"/>
              </a:rPr>
              <a:t>用</a:t>
            </a:r>
            <a:r>
              <a:rPr lang="en-US" altLang="zh-CN" sz="1600" b="1" dirty="0">
                <a:solidFill>
                  <a:srgbClr val="00B0F0"/>
                </a:solidFill>
                <a:effectLst/>
                <a:latin typeface="Consolas" panose="020B0609020204030204" pitchFamily="49" charset="0"/>
              </a:rPr>
              <a:t>key=value</a:t>
            </a:r>
            <a:r>
              <a:rPr lang="zh-CN" altLang="en-US" sz="1600" b="1" dirty="0">
                <a:solidFill>
                  <a:srgbClr val="00B0F0"/>
                </a:solidFill>
                <a:latin typeface="Consolas" panose="020B0609020204030204" pitchFamily="49" charset="0"/>
              </a:rPr>
              <a:t>指定问题参数与自变量，</a:t>
            </a:r>
            <a:r>
              <a:rPr lang="zh-CN" altLang="en-US" sz="1600" b="1" dirty="0">
                <a:solidFill>
                  <a:srgbClr val="00B0F0"/>
                </a:solidFill>
                <a:effectLst/>
                <a:latin typeface="Consolas" panose="020B0609020204030204" pitchFamily="49" charset="0"/>
              </a:rPr>
              <a:t>默认因变量</a:t>
            </a:r>
            <a:r>
              <a:rPr lang="en-US" altLang="zh-CN" sz="1600" b="1" dirty="0">
                <a:solidFill>
                  <a:srgbClr val="00B0F0"/>
                </a:solidFill>
                <a:effectLst/>
                <a:latin typeface="Consolas" panose="020B0609020204030204" pitchFamily="49" charset="0"/>
              </a:rPr>
              <a:t>y,</a:t>
            </a:r>
            <a:r>
              <a:rPr lang="zh-CN" altLang="en-US" sz="1600" b="1" dirty="0">
                <a:solidFill>
                  <a:srgbClr val="00B0F0"/>
                </a:solidFill>
                <a:effectLst/>
                <a:latin typeface="Consolas" panose="020B0609020204030204" pitchFamily="49" charset="0"/>
              </a:rPr>
              <a:t>自变量</a:t>
            </a:r>
            <a:r>
              <a:rPr lang="en-US" altLang="zh-CN" sz="1600" b="1" dirty="0">
                <a:solidFill>
                  <a:srgbClr val="00B0F0"/>
                </a:solidFill>
                <a:latin typeface="Consolas" panose="020B0609020204030204" pitchFamily="49" charset="0"/>
              </a:rPr>
              <a:t>x</a:t>
            </a:r>
            <a:r>
              <a:rPr lang="en-US" altLang="zh-CN" sz="1600" b="1" dirty="0">
                <a:solidFill>
                  <a:srgbClr val="00B0F0"/>
                </a:solidFill>
                <a:effectLst/>
                <a:latin typeface="Consolas" panose="020B0609020204030204" pitchFamily="49" charset="0"/>
              </a:rPr>
              <a:t>,</a:t>
            </a:r>
            <a:r>
              <a:rPr lang="zh-CN" altLang="en-US" sz="1600" b="1" dirty="0">
                <a:solidFill>
                  <a:srgbClr val="00B0F0"/>
                </a:solidFill>
                <a:effectLst/>
                <a:latin typeface="Consolas" panose="020B0609020204030204" pitchFamily="49" charset="0"/>
              </a:rPr>
              <a:t>待定参数</a:t>
            </a:r>
            <a:r>
              <a:rPr lang="en-US" altLang="zh-CN" sz="1600" b="1" dirty="0">
                <a:solidFill>
                  <a:srgbClr val="00B0F0"/>
                </a:solidFill>
                <a:latin typeface="Consolas" panose="020B0609020204030204" pitchFamily="49" charset="0"/>
              </a:rPr>
              <a:t>a</a:t>
            </a:r>
            <a:r>
              <a:rPr lang="zh-CN" altLang="en-US" sz="1600" b="1" dirty="0">
                <a:solidFill>
                  <a:srgbClr val="00B0F0"/>
                </a:solidFill>
                <a:latin typeface="Consolas" panose="020B0609020204030204" pitchFamily="49" charset="0"/>
              </a:rPr>
              <a:t>、</a:t>
            </a:r>
            <a:r>
              <a:rPr lang="en-US" altLang="zh-CN" sz="1600" b="1" dirty="0">
                <a:solidFill>
                  <a:srgbClr val="00B0F0"/>
                </a:solidFill>
                <a:latin typeface="Consolas" panose="020B0609020204030204" pitchFamily="49" charset="0"/>
              </a:rPr>
              <a:t>b</a:t>
            </a:r>
            <a:r>
              <a:rPr lang="zh-CN" altLang="en-US" sz="1600" b="1" dirty="0">
                <a:solidFill>
                  <a:srgbClr val="00B0F0"/>
                </a:solidFill>
                <a:latin typeface="Consolas" panose="020B0609020204030204" pitchFamily="49" charset="0"/>
              </a:rPr>
              <a:t>、</a:t>
            </a:r>
            <a:r>
              <a:rPr lang="en-US" altLang="zh-CN" sz="1600" b="1" dirty="0">
                <a:solidFill>
                  <a:srgbClr val="00B0F0"/>
                </a:solidFill>
                <a:latin typeface="Consolas" panose="020B0609020204030204" pitchFamily="49" charset="0"/>
              </a:rPr>
              <a:t>c</a:t>
            </a:r>
            <a:r>
              <a:rPr lang="zh-CN" altLang="en-US" sz="1600" b="1" dirty="0">
                <a:solidFill>
                  <a:srgbClr val="00B0F0"/>
                </a:solidFill>
                <a:effectLst/>
                <a:latin typeface="Consolas" panose="020B0609020204030204" pitchFamily="49" charset="0"/>
              </a:rPr>
              <a:t>，则缺省属性</a:t>
            </a:r>
            <a:endParaRPr lang="zh-CN" altLang="en-US" sz="1600" dirty="0"/>
          </a:p>
        </p:txBody>
      </p:sp>
      <p:sp>
        <p:nvSpPr>
          <p:cNvPr id="20" name="文本框 19">
            <a:extLst>
              <a:ext uri="{FF2B5EF4-FFF2-40B4-BE49-F238E27FC236}">
                <a16:creationId xmlns:a16="http://schemas.microsoft.com/office/drawing/2014/main" id="{6BC5C6DC-8E03-4972-8445-25BC51A9BC66}"/>
              </a:ext>
            </a:extLst>
          </p:cNvPr>
          <p:cNvSpPr txBox="1"/>
          <p:nvPr/>
        </p:nvSpPr>
        <p:spPr>
          <a:xfrm>
            <a:off x="113584" y="2531786"/>
            <a:ext cx="8884689" cy="338554"/>
          </a:xfrm>
          <a:prstGeom prst="rect">
            <a:avLst/>
          </a:prstGeom>
          <a:noFill/>
        </p:spPr>
        <p:txBody>
          <a:bodyPr wrap="square">
            <a:spAutoFit/>
          </a:bodyPr>
          <a:lstStyle/>
          <a:p>
            <a:pPr algn="dist"/>
            <a:r>
              <a:rPr lang="en-US" altLang="zh-CN" sz="1600" b="1" dirty="0">
                <a:solidFill>
                  <a:srgbClr val="00B0F0"/>
                </a:solidFill>
                <a:effectLst/>
                <a:latin typeface="微软雅黑" panose="020B0503020204020204" pitchFamily="34" charset="-122"/>
                <a:ea typeface="微软雅黑" panose="020B0503020204020204" pitchFamily="34" charset="-122"/>
              </a:rPr>
              <a:t>#</a:t>
            </a:r>
            <a:r>
              <a:rPr lang="zh-CN" altLang="en-US" sz="1600" b="1" dirty="0">
                <a:solidFill>
                  <a:srgbClr val="00B0F0"/>
                </a:solidFill>
                <a:effectLst/>
                <a:latin typeface="微软雅黑" panose="020B0503020204020204" pitchFamily="34" charset="-122"/>
                <a:ea typeface="微软雅黑" panose="020B0503020204020204" pitchFamily="34" charset="-122"/>
              </a:rPr>
              <a:t>第</a:t>
            </a:r>
            <a:r>
              <a:rPr lang="zh-CN" altLang="en-US" sz="1600" b="1" dirty="0">
                <a:solidFill>
                  <a:srgbClr val="00B0F0"/>
                </a:solidFill>
                <a:latin typeface="微软雅黑" panose="020B0503020204020204" pitchFamily="34" charset="-122"/>
                <a:ea typeface="微软雅黑" panose="020B0503020204020204" pitchFamily="34" charset="-122"/>
              </a:rPr>
              <a:t>一</a:t>
            </a:r>
            <a:r>
              <a:rPr lang="zh-CN" altLang="en-US" sz="1600" b="1" dirty="0">
                <a:solidFill>
                  <a:srgbClr val="00B0F0"/>
                </a:solidFill>
                <a:effectLst/>
                <a:latin typeface="微软雅黑" panose="020B0503020204020204" pitchFamily="34" charset="-122"/>
                <a:ea typeface="微软雅黑" panose="020B0503020204020204" pitchFamily="34" charset="-122"/>
              </a:rPr>
              <a:t>种自定义函数类型：默认</a:t>
            </a:r>
            <a:r>
              <a:rPr lang="en-US" altLang="zh-CN" sz="1600" b="1" dirty="0">
                <a:solidFill>
                  <a:srgbClr val="00B0F0"/>
                </a:solidFill>
                <a:effectLst/>
                <a:latin typeface="微软雅黑" panose="020B0503020204020204" pitchFamily="34" charset="-122"/>
                <a:ea typeface="微软雅黑" panose="020B0503020204020204" pitchFamily="34" charset="-122"/>
              </a:rPr>
              <a:t>y</a:t>
            </a:r>
            <a:r>
              <a:rPr lang="zh-CN" altLang="en-US" sz="1600" b="1" dirty="0">
                <a:solidFill>
                  <a:srgbClr val="00B0F0"/>
                </a:solidFill>
                <a:effectLst/>
                <a:latin typeface="微软雅黑" panose="020B0503020204020204" pitchFamily="34" charset="-122"/>
                <a:ea typeface="微软雅黑" panose="020B0503020204020204" pitchFamily="34" charset="-122"/>
              </a:rPr>
              <a:t>因变量，</a:t>
            </a:r>
            <a:r>
              <a:rPr lang="en-US" altLang="zh-CN" sz="1600" b="1" dirty="0">
                <a:solidFill>
                  <a:srgbClr val="00B0F0"/>
                </a:solidFill>
                <a:effectLst/>
                <a:latin typeface="微软雅黑" panose="020B0503020204020204" pitchFamily="34" charset="-122"/>
                <a:ea typeface="微软雅黑" panose="020B0503020204020204" pitchFamily="34" charset="-122"/>
              </a:rPr>
              <a:t>x</a:t>
            </a:r>
            <a:r>
              <a:rPr lang="zh-CN" altLang="en-US" sz="1600" b="1" dirty="0">
                <a:solidFill>
                  <a:srgbClr val="00B0F0"/>
                </a:solidFill>
                <a:effectLst/>
                <a:latin typeface="微软雅黑" panose="020B0503020204020204" pitchFamily="34" charset="-122"/>
                <a:ea typeface="微软雅黑" panose="020B0503020204020204" pitchFamily="34" charset="-122"/>
              </a:rPr>
              <a:t>自变量，</a:t>
            </a:r>
            <a:r>
              <a:rPr lang="en-US" altLang="zh-CN" sz="1600" b="1" dirty="0" err="1">
                <a:solidFill>
                  <a:srgbClr val="00B0F0"/>
                </a:solidFill>
                <a:effectLst/>
                <a:latin typeface="微软雅黑" panose="020B0503020204020204" pitchFamily="34" charset="-122"/>
                <a:ea typeface="微软雅黑" panose="020B0503020204020204" pitchFamily="34" charset="-122"/>
              </a:rPr>
              <a:t>a,b,c</a:t>
            </a:r>
            <a:r>
              <a:rPr lang="zh-CN" altLang="en-US" sz="1600" b="1" dirty="0">
                <a:solidFill>
                  <a:srgbClr val="00B0F0"/>
                </a:solidFill>
                <a:effectLst/>
                <a:latin typeface="微软雅黑" panose="020B0503020204020204" pitchFamily="34" charset="-122"/>
                <a:ea typeface="微软雅黑" panose="020B0503020204020204" pitchFamily="34" charset="-122"/>
              </a:rPr>
              <a:t>是待定参数，则</a:t>
            </a:r>
            <a:r>
              <a:rPr lang="en-US" altLang="zh-CN" sz="1600" b="1" dirty="0">
                <a:solidFill>
                  <a:srgbClr val="00B0F0"/>
                </a:solidFill>
                <a:effectLst/>
                <a:latin typeface="微软雅黑" panose="020B0503020204020204" pitchFamily="34" charset="-122"/>
                <a:ea typeface="微软雅黑" panose="020B0503020204020204" pitchFamily="34" charset="-122"/>
              </a:rPr>
              <a:t>key=value</a:t>
            </a:r>
            <a:r>
              <a:rPr lang="zh-CN" altLang="en-US" sz="1600" b="1" dirty="0">
                <a:solidFill>
                  <a:srgbClr val="00B0F0"/>
                </a:solidFill>
                <a:effectLst/>
                <a:latin typeface="微软雅黑" panose="020B0503020204020204" pitchFamily="34" charset="-122"/>
                <a:ea typeface="微软雅黑" panose="020B0503020204020204" pitchFamily="34" charset="-122"/>
              </a:rPr>
              <a:t>缺省</a:t>
            </a:r>
            <a:endParaRPr lang="en-US" altLang="zh-CN" sz="1600" b="1" dirty="0">
              <a:solidFill>
                <a:srgbClr val="00B0F0"/>
              </a:solidFill>
              <a:effectLst/>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EFB7F4D-D485-4521-A9E3-18DBA648F0C4}"/>
              </a:ext>
            </a:extLst>
          </p:cNvPr>
          <p:cNvSpPr txBox="1"/>
          <p:nvPr/>
        </p:nvSpPr>
        <p:spPr>
          <a:xfrm>
            <a:off x="4211960" y="4065817"/>
            <a:ext cx="3096344" cy="523220"/>
          </a:xfrm>
          <a:prstGeom prst="rect">
            <a:avLst/>
          </a:prstGeom>
          <a:noFill/>
        </p:spPr>
        <p:txBody>
          <a:bodyPr wrap="square">
            <a:spAutoFit/>
          </a:bodyPr>
          <a:lstStyle/>
          <a:p>
            <a:r>
              <a:rPr lang="zh-CN" altLang="en-US" sz="1400" b="1" dirty="0">
                <a:solidFill>
                  <a:srgbClr val="FF0000"/>
                </a:solidFill>
              </a:rPr>
              <a:t>General model:</a:t>
            </a:r>
          </a:p>
          <a:p>
            <a:r>
              <a:rPr lang="zh-CN" altLang="en-US" sz="1400" b="1" dirty="0">
                <a:solidFill>
                  <a:srgbClr val="FF0000"/>
                </a:solidFill>
              </a:rPr>
              <a:t>y(a,b,c,x) = a*(exp(-b*x)-exp(-c*x))</a:t>
            </a:r>
          </a:p>
        </p:txBody>
      </p:sp>
    </p:spTree>
    <p:extLst>
      <p:ext uri="{BB962C8B-B14F-4D97-AF65-F5344CB8AC3E}">
        <p14:creationId xmlns:p14="http://schemas.microsoft.com/office/powerpoint/2010/main" val="2310755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3">
                                            <p:txEl>
                                              <p:pRg st="5" end="5"/>
                                            </p:txEl>
                                          </p:spTgt>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4" grpId="0" animBg="1"/>
      <p:bldP spid="17" grpId="0" animBg="1"/>
      <p:bldP spid="18" grpId="0" animBg="1"/>
      <p:bldP spid="21" grpId="0" animBg="1"/>
      <p:bldP spid="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3DBE050-C5DB-45F4-8791-AEC80A045778}"/>
              </a:ext>
            </a:extLst>
          </p:cNvPr>
          <p:cNvSpPr txBox="1"/>
          <p:nvPr/>
        </p:nvSpPr>
        <p:spPr>
          <a:xfrm>
            <a:off x="0" y="1136280"/>
            <a:ext cx="9144000" cy="3139321"/>
          </a:xfrm>
          <a:prstGeom prst="rect">
            <a:avLst/>
          </a:prstGeom>
          <a:solidFill>
            <a:schemeClr val="bg1"/>
          </a:solidFill>
        </p:spPr>
        <p:txBody>
          <a:bodyPr wrap="square">
            <a:spAutoFit/>
          </a:bodyPr>
          <a:lstStyle/>
          <a:p>
            <a:r>
              <a:rPr lang="en-US" altLang="zh-CN" b="0" dirty="0">
                <a:solidFill>
                  <a:srgbClr val="000000"/>
                </a:solidFill>
                <a:effectLst/>
                <a:latin typeface="Consolas" panose="020B0609020204030204" pitchFamily="49" charset="0"/>
              </a:rPr>
              <a:t>t=[</a:t>
            </a:r>
            <a:r>
              <a:rPr lang="en-US" altLang="zh-CN" b="0" dirty="0">
                <a:solidFill>
                  <a:srgbClr val="098658"/>
                </a:solidFill>
                <a:effectLst/>
                <a:latin typeface="Consolas" panose="020B0609020204030204" pitchFamily="49" charset="0"/>
              </a:rPr>
              <a:t>0.25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0.75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9</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13</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14</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16</a:t>
            </a:r>
            <a:r>
              <a:rPr lang="en-US" altLang="zh-CN" b="0" dirty="0">
                <a:solidFill>
                  <a:srgbClr val="000000"/>
                </a:solidFill>
                <a:effectLst/>
                <a:latin typeface="Consolas" panose="020B0609020204030204" pitchFamily="49" charset="0"/>
              </a:rPr>
              <a:t>] y=[</a:t>
            </a:r>
            <a:r>
              <a:rPr lang="en-US" altLang="zh-CN" b="0" dirty="0">
                <a:solidFill>
                  <a:srgbClr val="098658"/>
                </a:solidFill>
                <a:effectLst/>
                <a:latin typeface="Consolas" panose="020B0609020204030204" pitchFamily="49" charset="0"/>
              </a:rPr>
              <a:t>30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82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68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50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41</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35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18</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15</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12</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7</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4</a:t>
            </a:r>
            <a:r>
              <a:rPr lang="en-US" altLang="zh-CN" b="0" dirty="0">
                <a:solidFill>
                  <a:srgbClr val="000000"/>
                </a:solidFill>
                <a:effectLst/>
                <a:latin typeface="Consolas" panose="020B0609020204030204" pitchFamily="49" charset="0"/>
              </a:rPr>
              <a:t>] </a:t>
            </a:r>
          </a:p>
          <a:p>
            <a:r>
              <a:rPr lang="en-US" altLang="zh-CN" sz="1800" b="0" dirty="0">
                <a:solidFill>
                  <a:srgbClr val="008000"/>
                </a:solidFill>
                <a:effectLst/>
                <a:latin typeface="Consolas" panose="020B0609020204030204" pitchFamily="49" charset="0"/>
              </a:rPr>
              <a:t>#</a:t>
            </a:r>
            <a:r>
              <a:rPr lang="zh-CN" altLang="en-US" sz="1800" b="0" dirty="0">
                <a:solidFill>
                  <a:srgbClr val="000000"/>
                </a:solidFill>
                <a:effectLst/>
                <a:latin typeface="Consolas" panose="020B0609020204030204" pitchFamily="49" charset="0"/>
              </a:rPr>
              <a:t>用</a:t>
            </a:r>
            <a:r>
              <a:rPr lang="en-US" altLang="zh-CN" sz="1800" b="0" dirty="0">
                <a:solidFill>
                  <a:srgbClr val="000000"/>
                </a:solidFill>
                <a:effectLst/>
                <a:latin typeface="Consolas" panose="020B0609020204030204" pitchFamily="49" charset="0"/>
              </a:rPr>
              <a:t>key=value</a:t>
            </a:r>
            <a:r>
              <a:rPr lang="zh-CN" altLang="en-US" sz="1800" b="0" dirty="0">
                <a:solidFill>
                  <a:srgbClr val="000000"/>
                </a:solidFill>
                <a:effectLst/>
                <a:latin typeface="Consolas" panose="020B0609020204030204" pitchFamily="49" charset="0"/>
              </a:rPr>
              <a:t>指</a:t>
            </a:r>
            <a:r>
              <a:rPr lang="zh-CN" altLang="en-US" dirty="0">
                <a:solidFill>
                  <a:srgbClr val="000000"/>
                </a:solidFill>
                <a:latin typeface="Consolas" panose="020B0609020204030204" pitchFamily="49" charset="0"/>
              </a:rPr>
              <a:t>定</a:t>
            </a:r>
            <a:r>
              <a:rPr lang="zh-CN" altLang="en-US" sz="1800" b="0" dirty="0">
                <a:solidFill>
                  <a:srgbClr val="000000"/>
                </a:solidFill>
                <a:effectLst/>
                <a:latin typeface="Consolas" panose="020B0609020204030204" pitchFamily="49" charset="0"/>
              </a:rPr>
              <a:t>自变量</a:t>
            </a:r>
            <a:r>
              <a:rPr lang="en-US" altLang="zh-CN" sz="1800" b="0" dirty="0">
                <a:solidFill>
                  <a:srgbClr val="000000"/>
                </a:solidFill>
                <a:effectLst/>
                <a:latin typeface="Consolas" panose="020B0609020204030204" pitchFamily="49" charset="0"/>
              </a:rPr>
              <a:t>t</a:t>
            </a:r>
            <a:r>
              <a:rPr lang="en-US" altLang="zh-CN" dirty="0">
                <a:solidFill>
                  <a:srgbClr val="000000"/>
                </a:solidFill>
                <a:latin typeface="Consolas" panose="020B0609020204030204" pitchFamily="49" charset="0"/>
              </a:rPr>
              <a:t>,</a:t>
            </a:r>
            <a:r>
              <a:rPr lang="zh-CN" altLang="en-US" sz="1800" b="0" dirty="0">
                <a:solidFill>
                  <a:srgbClr val="000000"/>
                </a:solidFill>
                <a:effectLst/>
                <a:latin typeface="Consolas" panose="020B0609020204030204" pitchFamily="49" charset="0"/>
              </a:rPr>
              <a:t>应变量</a:t>
            </a:r>
            <a:r>
              <a:rPr lang="en-US" altLang="zh-CN" sz="1800" b="0" dirty="0">
                <a:solidFill>
                  <a:srgbClr val="000000"/>
                </a:solidFill>
                <a:effectLst/>
                <a:latin typeface="Consolas" panose="020B0609020204030204" pitchFamily="49" charset="0"/>
              </a:rPr>
              <a:t>y</a:t>
            </a:r>
            <a:r>
              <a:rPr lang="zh-CN" altLang="en-US" sz="1800" b="0" dirty="0">
                <a:solidFill>
                  <a:srgbClr val="000000"/>
                </a:solidFill>
                <a:effectLst/>
                <a:latin typeface="Consolas" panose="020B0609020204030204" pitchFamily="49" charset="0"/>
              </a:rPr>
              <a:t>或参数</a:t>
            </a:r>
          </a:p>
          <a:p>
            <a:r>
              <a:rPr lang="en-US" altLang="zh-CN" b="0" dirty="0" err="1">
                <a:solidFill>
                  <a:srgbClr val="000000"/>
                </a:solidFill>
                <a:effectLst/>
                <a:latin typeface="Consolas" panose="020B0609020204030204" pitchFamily="49" charset="0"/>
              </a:rPr>
              <a:t>myfittype</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fittype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"a1*(exp(-a2*t)-exp(-a3*t))"</a:t>
            </a:r>
            <a:r>
              <a:rPr lang="en-US" altLang="zh-CN" b="0" dirty="0">
                <a:solidFill>
                  <a:srgbClr val="000000"/>
                </a:solidFill>
                <a:effectLst/>
                <a:latin typeface="Consolas" panose="020B0609020204030204" pitchFamily="49" charset="0"/>
              </a:rPr>
              <a:t>,dependent=</a:t>
            </a:r>
            <a:r>
              <a:rPr lang="en-US" altLang="zh-CN" b="0" dirty="0">
                <a:solidFill>
                  <a:srgbClr val="A31515"/>
                </a:solidFill>
                <a:effectLst/>
                <a:latin typeface="Consolas" panose="020B0609020204030204" pitchFamily="49" charset="0"/>
              </a:rPr>
              <a:t>"y"</a:t>
            </a:r>
            <a:r>
              <a:rPr lang="en-US" altLang="zh-CN" b="0" dirty="0">
                <a:solidFill>
                  <a:srgbClr val="000000"/>
                </a:solidFill>
                <a:effectLst/>
                <a:latin typeface="Consolas" panose="020B0609020204030204" pitchFamily="49" charset="0"/>
              </a:rPr>
              <a:t>,independent=</a:t>
            </a:r>
            <a:r>
              <a:rPr lang="en-US" altLang="zh-CN" b="0" dirty="0">
                <a:solidFill>
                  <a:srgbClr val="A31515"/>
                </a:solidFill>
                <a:effectLst/>
                <a:latin typeface="Consolas" panose="020B0609020204030204" pitchFamily="49" charset="0"/>
              </a:rPr>
              <a:t>"t"</a:t>
            </a:r>
            <a:r>
              <a:rPr lang="en-US" altLang="zh-CN" b="0" dirty="0">
                <a:solidFill>
                  <a:srgbClr val="000000"/>
                </a:solidFill>
                <a:effectLst/>
                <a:latin typeface="Consolas" panose="020B0609020204030204" pitchFamily="49" charset="0"/>
              </a:rPr>
              <a:t>,coefficients=[</a:t>
            </a:r>
            <a:r>
              <a:rPr lang="en-US" altLang="zh-CN" b="0" dirty="0">
                <a:solidFill>
                  <a:srgbClr val="A31515"/>
                </a:solidFill>
                <a:effectLst/>
                <a:latin typeface="Consolas" panose="020B0609020204030204" pitchFamily="49" charset="0"/>
              </a:rPr>
              <a:t>"a1"</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"a2"</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"a3"</a:t>
            </a:r>
            <a:r>
              <a:rPr lang="en-US" altLang="zh-CN" b="0" dirty="0">
                <a:solidFill>
                  <a:srgbClr val="000000"/>
                </a:solidFill>
                <a:effectLst/>
                <a:latin typeface="Consolas" panose="020B0609020204030204" pitchFamily="49" charset="0"/>
              </a:rPr>
              <a:t>])</a:t>
            </a:r>
          </a:p>
          <a:p>
            <a:r>
              <a:rPr lang="en-US" altLang="zh-CN" b="0" dirty="0">
                <a:solidFill>
                  <a:srgbClr val="008000"/>
                </a:solidFill>
                <a:effectLst/>
                <a:latin typeface="Consolas" panose="020B0609020204030204" pitchFamily="49" charset="0"/>
              </a:rPr>
              <a:t>#fit</a:t>
            </a:r>
            <a:r>
              <a:rPr lang="zh-CN" altLang="en-US" b="0" dirty="0">
                <a:solidFill>
                  <a:srgbClr val="008000"/>
                </a:solidFill>
                <a:effectLst/>
                <a:latin typeface="Consolas" panose="020B0609020204030204" pitchFamily="49" charset="0"/>
              </a:rPr>
              <a:t>拟合自定义函数</a:t>
            </a:r>
            <a:endParaRPr lang="en-US" altLang="zh-CN" b="0" dirty="0">
              <a:solidFill>
                <a:srgbClr val="000000"/>
              </a:solidFill>
              <a:effectLst/>
              <a:latin typeface="Consolas" panose="020B0609020204030204" pitchFamily="49" charset="0"/>
            </a:endParaRPr>
          </a:p>
          <a:p>
            <a:r>
              <a:rPr lang="en-US" altLang="zh-CN" b="0" dirty="0" err="1">
                <a:solidFill>
                  <a:srgbClr val="000000"/>
                </a:solidFill>
                <a:effectLst/>
                <a:latin typeface="Consolas" panose="020B0609020204030204" pitchFamily="49" charset="0"/>
              </a:rPr>
              <a:t>myfit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TyCurveFitting.</a:t>
            </a:r>
            <a:r>
              <a:rPr lang="en-US" altLang="zh-CN" b="0" dirty="0" err="1">
                <a:solidFill>
                  <a:srgbClr val="795E26"/>
                </a:solidFill>
                <a:effectLst/>
                <a:latin typeface="Consolas" panose="020B0609020204030204" pitchFamily="49" charset="0"/>
              </a:rPr>
              <a:t>fit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myfittype,t,y</a:t>
            </a:r>
            <a:r>
              <a:rPr lang="en-US" altLang="zh-CN" b="0" dirty="0">
                <a:solidFill>
                  <a:srgbClr val="000000"/>
                </a:solidFill>
                <a:effectLst/>
                <a:latin typeface="Consolas" panose="020B0609020204030204" pitchFamily="49" charset="0"/>
              </a:rPr>
              <a:t>)</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在散点上绘制拟合曲线</a:t>
            </a:r>
            <a:endParaRPr lang="en-US" altLang="zh-CN" b="0" dirty="0">
              <a:solidFill>
                <a:srgbClr val="795E26"/>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plotfit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myfit,t,y</a:t>
            </a:r>
            <a:r>
              <a:rPr lang="en-US" altLang="zh-CN" b="0" dirty="0">
                <a:solidFill>
                  <a:srgbClr val="000000"/>
                </a:solidFill>
                <a:effectLst/>
                <a:latin typeface="Consolas" panose="020B0609020204030204" pitchFamily="49" charset="0"/>
              </a:rPr>
              <a:t>)</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时间</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酒精含量</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e=</a:t>
            </a:r>
            <a:r>
              <a:rPr lang="en-US" altLang="zh-CN" b="0" dirty="0" err="1">
                <a:solidFill>
                  <a:srgbClr val="000000"/>
                </a:solidFill>
                <a:effectLst/>
                <a:latin typeface="Consolas" panose="020B0609020204030204" pitchFamily="49" charset="0"/>
              </a:rPr>
              <a:t>myfit.expr</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访问拟合函数原型</a:t>
            </a:r>
            <a:endParaRPr lang="zh-CN" altLang="en-US" b="0" dirty="0">
              <a:solidFill>
                <a:srgbClr val="000000"/>
              </a:solidFill>
              <a:effectLst/>
              <a:latin typeface="Consolas" panose="020B0609020204030204" pitchFamily="49" charset="0"/>
            </a:endParaRPr>
          </a:p>
        </p:txBody>
      </p:sp>
      <p:pic>
        <p:nvPicPr>
          <p:cNvPr id="7" name="图片 6">
            <a:extLst>
              <a:ext uri="{FF2B5EF4-FFF2-40B4-BE49-F238E27FC236}">
                <a16:creationId xmlns:a16="http://schemas.microsoft.com/office/drawing/2014/main" id="{3536EF5F-BFB8-45D4-BCF5-4EE1B4B30FA6}"/>
              </a:ext>
            </a:extLst>
          </p:cNvPr>
          <p:cNvPicPr>
            <a:picLocks noChangeAspect="1"/>
          </p:cNvPicPr>
          <p:nvPr/>
        </p:nvPicPr>
        <p:blipFill>
          <a:blip r:embed="rId3"/>
          <a:stretch>
            <a:fillRect/>
          </a:stretch>
        </p:blipFill>
        <p:spPr>
          <a:xfrm>
            <a:off x="6417877" y="2622145"/>
            <a:ext cx="2458053" cy="1846659"/>
          </a:xfrm>
          <a:prstGeom prst="rect">
            <a:avLst/>
          </a:prstGeom>
        </p:spPr>
      </p:pic>
      <p:sp>
        <p:nvSpPr>
          <p:cNvPr id="9" name="文本框 8">
            <a:extLst>
              <a:ext uri="{FF2B5EF4-FFF2-40B4-BE49-F238E27FC236}">
                <a16:creationId xmlns:a16="http://schemas.microsoft.com/office/drawing/2014/main" id="{8E1C8E98-69DD-46A1-8772-0B6AD259B0B8}"/>
              </a:ext>
            </a:extLst>
          </p:cNvPr>
          <p:cNvSpPr txBox="1"/>
          <p:nvPr/>
        </p:nvSpPr>
        <p:spPr>
          <a:xfrm>
            <a:off x="0" y="4222004"/>
            <a:ext cx="7061401" cy="369332"/>
          </a:xfrm>
          <a:prstGeom prst="rect">
            <a:avLst/>
          </a:prstGeom>
          <a:noFill/>
        </p:spPr>
        <p:txBody>
          <a:bodyPr wrap="square">
            <a:spAutoFit/>
          </a:bodyPr>
          <a:lstStyle/>
          <a:p>
            <a:r>
              <a:rPr lang="es-ES" altLang="zh-CN" dirty="0">
                <a:solidFill>
                  <a:srgbClr val="00B0F0"/>
                </a:solidFill>
              </a:rPr>
              <a:t>#</a:t>
            </a:r>
            <a:r>
              <a:rPr lang="zh-CN" altLang="en-US" dirty="0">
                <a:solidFill>
                  <a:srgbClr val="00B0F0"/>
                </a:solidFill>
              </a:rPr>
              <a:t>结果</a:t>
            </a:r>
            <a:r>
              <a:rPr lang="es-ES" altLang="zh-CN" dirty="0">
                <a:solidFill>
                  <a:srgbClr val="00B0F0"/>
                </a:solidFill>
              </a:rPr>
              <a:t>General model:y(a1,a2,a3,t) = a1*(exp(-a2*t)-exp(-a3*t))</a:t>
            </a:r>
            <a:endParaRPr lang="zh-CN" altLang="en-US" dirty="0">
              <a:solidFill>
                <a:srgbClr val="00B0F0"/>
              </a:solidFill>
            </a:endParaRPr>
          </a:p>
        </p:txBody>
      </p:sp>
      <p:sp>
        <p:nvSpPr>
          <p:cNvPr id="11" name="文本框 10">
            <a:extLst>
              <a:ext uri="{FF2B5EF4-FFF2-40B4-BE49-F238E27FC236}">
                <a16:creationId xmlns:a16="http://schemas.microsoft.com/office/drawing/2014/main" id="{FB8E71D5-B6E9-426E-BF48-CE368EECC84D}"/>
              </a:ext>
            </a:extLst>
          </p:cNvPr>
          <p:cNvSpPr txBox="1"/>
          <p:nvPr/>
        </p:nvSpPr>
        <p:spPr>
          <a:xfrm>
            <a:off x="899592" y="114173"/>
            <a:ext cx="4683826" cy="523220"/>
          </a:xfrm>
          <a:prstGeom prst="rect">
            <a:avLst/>
          </a:prstGeom>
          <a:noFill/>
        </p:spPr>
        <p:txBody>
          <a:bodyPr wrap="square">
            <a:spAutoFit/>
          </a:bodyPr>
          <a:lstStyle/>
          <a:p>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a:t>
            </a:r>
            <a:endParaRPr lang="zh-CN" altLang="en-US" sz="2800" dirty="0"/>
          </a:p>
        </p:txBody>
      </p:sp>
      <p:sp>
        <p:nvSpPr>
          <p:cNvPr id="12" name="文本框 11">
            <a:extLst>
              <a:ext uri="{FF2B5EF4-FFF2-40B4-BE49-F238E27FC236}">
                <a16:creationId xmlns:a16="http://schemas.microsoft.com/office/drawing/2014/main" id="{28E50EDC-E366-4C17-8F31-EF52A030404D}"/>
              </a:ext>
            </a:extLst>
          </p:cNvPr>
          <p:cNvSpPr txBox="1"/>
          <p:nvPr/>
        </p:nvSpPr>
        <p:spPr>
          <a:xfrm>
            <a:off x="5593664" y="121602"/>
            <a:ext cx="3707964" cy="492443"/>
          </a:xfrm>
          <a:prstGeom prst="rect">
            <a:avLst/>
          </a:prstGeom>
          <a:noFill/>
        </p:spPr>
        <p:txBody>
          <a:bodyPr wrap="square">
            <a:spAutoFit/>
          </a:bodyPr>
          <a:lstStyle/>
          <a:p>
            <a:r>
              <a:rPr lang="en-US" altLang="zh-CN" sz="2600" kern="0" dirty="0" err="1">
                <a:solidFill>
                  <a:srgbClr val="FF0000"/>
                </a:solidFill>
                <a:latin typeface="华文楷体" panose="02010600040101010101" pitchFamily="2" charset="-122"/>
                <a:ea typeface="华文楷体" panose="02010600040101010101" pitchFamily="2" charset="-122"/>
                <a:hlinkClick r:id="rId4" action="ppaction://hlinkfile">
                  <a:extLst>
                    <a:ext uri="{A12FA001-AC4F-418D-AE19-62706E023703}">
                      <ahyp:hlinkClr xmlns:ahyp="http://schemas.microsoft.com/office/drawing/2018/hyperlinkcolor" val="tx"/>
                    </a:ext>
                  </a:extLst>
                </a:hlinkClick>
              </a:rPr>
              <a:t>fittype</a:t>
            </a:r>
            <a:r>
              <a:rPr lang="zh-CN" altLang="en-US" sz="2600" kern="0" dirty="0">
                <a:solidFill>
                  <a:srgbClr val="FF0000"/>
                </a:solidFill>
                <a:latin typeface="华文楷体" panose="02010600040101010101" pitchFamily="2" charset="-122"/>
                <a:ea typeface="华文楷体" panose="02010600040101010101" pitchFamily="2" charset="-122"/>
              </a:rPr>
              <a:t>自定义函数原型</a:t>
            </a:r>
          </a:p>
        </p:txBody>
      </p:sp>
      <p:graphicFrame>
        <p:nvGraphicFramePr>
          <p:cNvPr id="14" name="对象 13">
            <a:extLst>
              <a:ext uri="{FF2B5EF4-FFF2-40B4-BE49-F238E27FC236}">
                <a16:creationId xmlns:a16="http://schemas.microsoft.com/office/drawing/2014/main" id="{FBFFD68E-E0C9-4662-A73E-402F160E71A4}"/>
              </a:ext>
            </a:extLst>
          </p:cNvPr>
          <p:cNvGraphicFramePr>
            <a:graphicFrameLocks noChangeAspect="1"/>
          </p:cNvGraphicFramePr>
          <p:nvPr>
            <p:extLst>
              <p:ext uri="{D42A27DB-BD31-4B8C-83A1-F6EECF244321}">
                <p14:modId xmlns:p14="http://schemas.microsoft.com/office/powerpoint/2010/main" val="2078391273"/>
              </p:ext>
            </p:extLst>
          </p:nvPr>
        </p:nvGraphicFramePr>
        <p:xfrm>
          <a:off x="7358644" y="2787774"/>
          <a:ext cx="1279594" cy="339447"/>
        </p:xfrm>
        <a:graphic>
          <a:graphicData uri="http://schemas.openxmlformats.org/presentationml/2006/ole">
            <mc:AlternateContent xmlns:mc="http://schemas.openxmlformats.org/markup-compatibility/2006">
              <mc:Choice xmlns:v="urn:schemas-microsoft-com:vml" Requires="v">
                <p:oleObj spid="_x0000_s43078" r:id="rId5" imgW="27432000" imgH="5791200" progId="">
                  <p:embed/>
                </p:oleObj>
              </mc:Choice>
              <mc:Fallback>
                <p:oleObj r:id="rId5" imgW="27432000" imgH="5791200" progId="">
                  <p:embed/>
                  <p:pic>
                    <p:nvPicPr>
                      <p:cNvPr id="16" name="对象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8644" y="2787774"/>
                        <a:ext cx="1279594" cy="339447"/>
                      </a:xfrm>
                      <a:prstGeom prst="rect">
                        <a:avLst/>
                      </a:prstGeom>
                      <a:solidFill>
                        <a:srgbClr val="FFC000"/>
                      </a:solidFill>
                      <a:ln>
                        <a:noFill/>
                      </a:ln>
                    </p:spPr>
                  </p:pic>
                </p:oleObj>
              </mc:Fallback>
            </mc:AlternateContent>
          </a:graphicData>
        </a:graphic>
      </p:graphicFrame>
      <p:sp>
        <p:nvSpPr>
          <p:cNvPr id="8" name="波形 7">
            <a:extLst>
              <a:ext uri="{FF2B5EF4-FFF2-40B4-BE49-F238E27FC236}">
                <a16:creationId xmlns:a16="http://schemas.microsoft.com/office/drawing/2014/main" id="{5087EB1A-E172-490C-8970-D4AD20D7599E}"/>
              </a:ext>
            </a:extLst>
          </p:cNvPr>
          <p:cNvSpPr/>
          <p:nvPr/>
        </p:nvSpPr>
        <p:spPr>
          <a:xfrm>
            <a:off x="8251177" y="787239"/>
            <a:ext cx="624753" cy="29868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400" b="1" dirty="0">
                <a:solidFill>
                  <a:srgbClr val="FFFF00"/>
                </a:solidFill>
                <a:latin typeface="微软雅黑" panose="020B0503020204020204" pitchFamily="34" charset="-122"/>
                <a:ea typeface="微软雅黑" panose="020B0503020204020204" pitchFamily="34" charset="-122"/>
              </a:rPr>
              <a:t>例</a:t>
            </a:r>
            <a:r>
              <a:rPr lang="en-US" altLang="zh-CN" sz="1400" b="1" dirty="0">
                <a:solidFill>
                  <a:srgbClr val="FFFF00"/>
                </a:solidFill>
                <a:latin typeface="微软雅黑" panose="020B0503020204020204" pitchFamily="34" charset="-122"/>
                <a:ea typeface="微软雅黑" panose="020B0503020204020204" pitchFamily="34" charset="-122"/>
              </a:rPr>
              <a:t>53-3</a:t>
            </a:r>
            <a:endParaRPr lang="ko-KR" altLang="en-US" sz="1400" b="1" dirty="0">
              <a:solidFill>
                <a:srgbClr val="FFFF00"/>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149E0C6C-067F-415B-A640-7473D27EB760}"/>
              </a:ext>
            </a:extLst>
          </p:cNvPr>
          <p:cNvSpPr txBox="1"/>
          <p:nvPr/>
        </p:nvSpPr>
        <p:spPr>
          <a:xfrm>
            <a:off x="0" y="766948"/>
            <a:ext cx="7920880" cy="369332"/>
          </a:xfrm>
          <a:prstGeom prst="rect">
            <a:avLst/>
          </a:prstGeom>
          <a:solidFill>
            <a:schemeClr val="bg1"/>
          </a:solidFill>
        </p:spPr>
        <p:txBody>
          <a:bodyPr wrap="square">
            <a:spAutoFit/>
          </a:bodyPr>
          <a:lstStyle/>
          <a:p>
            <a:r>
              <a:rPr lang="zh-CN" altLang="en-US" sz="1800" b="1" dirty="0">
                <a:solidFill>
                  <a:srgbClr val="00B0F0"/>
                </a:solidFill>
                <a:latin typeface="微软雅黑" panose="020B0503020204020204" pitchFamily="34" charset="-122"/>
                <a:ea typeface="微软雅黑" panose="020B0503020204020204" pitchFamily="34" charset="-122"/>
              </a:rPr>
              <a:t>第</a:t>
            </a:r>
            <a:r>
              <a:rPr lang="en-US" altLang="zh-CN" sz="1800" b="1" dirty="0">
                <a:solidFill>
                  <a:srgbClr val="00B0F0"/>
                </a:solidFill>
                <a:latin typeface="微软雅黑" panose="020B0503020204020204" pitchFamily="34" charset="-122"/>
                <a:ea typeface="微软雅黑" panose="020B0503020204020204" pitchFamily="34" charset="-122"/>
              </a:rPr>
              <a:t>2</a:t>
            </a:r>
            <a:r>
              <a:rPr lang="zh-CN" altLang="en-US" sz="1800" b="1" dirty="0">
                <a:solidFill>
                  <a:srgbClr val="00B0F0"/>
                </a:solidFill>
                <a:latin typeface="微软雅黑" panose="020B0503020204020204" pitchFamily="34" charset="-122"/>
                <a:ea typeface="微软雅黑" panose="020B0503020204020204" pitchFamily="34" charset="-122"/>
              </a:rPr>
              <a:t>种自定义</a:t>
            </a:r>
            <a:r>
              <a:rPr lang="en-US" altLang="zh-CN" sz="1800" b="1" dirty="0">
                <a:solidFill>
                  <a:srgbClr val="00B0F0"/>
                </a:solidFill>
                <a:latin typeface="微软雅黑" panose="020B0503020204020204" pitchFamily="34" charset="-122"/>
                <a:ea typeface="微软雅黑" panose="020B0503020204020204" pitchFamily="34" charset="-122"/>
              </a:rPr>
              <a:t>y</a:t>
            </a:r>
            <a:r>
              <a:rPr lang="zh-CN" altLang="en-US" sz="1800" b="1" dirty="0">
                <a:solidFill>
                  <a:srgbClr val="00B0F0"/>
                </a:solidFill>
                <a:latin typeface="微软雅黑" panose="020B0503020204020204" pitchFamily="34" charset="-122"/>
                <a:ea typeface="微软雅黑" panose="020B0503020204020204" pitchFamily="34" charset="-122"/>
              </a:rPr>
              <a:t>关于时间</a:t>
            </a:r>
            <a:r>
              <a:rPr lang="en-US" altLang="zh-CN" sz="1800" b="1" dirty="0">
                <a:solidFill>
                  <a:srgbClr val="00B0F0"/>
                </a:solidFill>
                <a:latin typeface="微软雅黑" panose="020B0503020204020204" pitchFamily="34" charset="-122"/>
                <a:ea typeface="微软雅黑" panose="020B0503020204020204" pitchFamily="34" charset="-122"/>
              </a:rPr>
              <a:t>t</a:t>
            </a:r>
            <a:r>
              <a:rPr lang="zh-CN" altLang="en-US" sz="1800" b="1" dirty="0">
                <a:solidFill>
                  <a:srgbClr val="00B0F0"/>
                </a:solidFill>
                <a:latin typeface="微软雅黑" panose="020B0503020204020204" pitchFamily="34" charset="-122"/>
                <a:ea typeface="微软雅黑" panose="020B0503020204020204" pitchFamily="34" charset="-122"/>
              </a:rPr>
              <a:t>的函数，用</a:t>
            </a:r>
            <a:r>
              <a:rPr lang="en-US" altLang="zh-CN" sz="1800" b="1" dirty="0">
                <a:solidFill>
                  <a:srgbClr val="00B0F0"/>
                </a:solidFill>
                <a:latin typeface="微软雅黑" panose="020B0503020204020204" pitchFamily="34" charset="-122"/>
                <a:ea typeface="微软雅黑" panose="020B0503020204020204" pitchFamily="34" charset="-122"/>
              </a:rPr>
              <a:t>key=value</a:t>
            </a:r>
            <a:r>
              <a:rPr lang="zh-CN" altLang="en-US" sz="1800" b="1" dirty="0">
                <a:solidFill>
                  <a:srgbClr val="00B0F0"/>
                </a:solidFill>
                <a:latin typeface="微软雅黑" panose="020B0503020204020204" pitchFamily="34" charset="-122"/>
                <a:ea typeface="微软雅黑" panose="020B0503020204020204" pitchFamily="34" charset="-122"/>
              </a:rPr>
              <a:t>指定自变量</a:t>
            </a:r>
            <a:r>
              <a:rPr lang="en-US" altLang="zh-CN" sz="1800" b="1" dirty="0">
                <a:solidFill>
                  <a:srgbClr val="00B0F0"/>
                </a:solidFill>
                <a:latin typeface="微软雅黑" panose="020B0503020204020204" pitchFamily="34" charset="-122"/>
                <a:ea typeface="微软雅黑" panose="020B0503020204020204" pitchFamily="34" charset="-122"/>
              </a:rPr>
              <a:t>t,</a:t>
            </a:r>
            <a:r>
              <a:rPr lang="zh-CN" altLang="en-US" sz="1800" b="1" dirty="0">
                <a:solidFill>
                  <a:srgbClr val="00B0F0"/>
                </a:solidFill>
                <a:latin typeface="微软雅黑" panose="020B0503020204020204" pitchFamily="34" charset="-122"/>
                <a:ea typeface="微软雅黑" panose="020B0503020204020204" pitchFamily="34" charset="-122"/>
              </a:rPr>
              <a:t>应变量</a:t>
            </a:r>
            <a:r>
              <a:rPr lang="en-US" altLang="zh-CN" sz="1800" b="1" dirty="0">
                <a:solidFill>
                  <a:srgbClr val="00B0F0"/>
                </a:solidFill>
                <a:latin typeface="微软雅黑" panose="020B0503020204020204" pitchFamily="34" charset="-122"/>
                <a:ea typeface="微软雅黑" panose="020B0503020204020204" pitchFamily="34" charset="-122"/>
              </a:rPr>
              <a:t>y</a:t>
            </a:r>
            <a:r>
              <a:rPr lang="zh-CN" altLang="en-US" sz="1800" b="1" dirty="0">
                <a:solidFill>
                  <a:srgbClr val="00B0F0"/>
                </a:solidFill>
                <a:latin typeface="微软雅黑" panose="020B0503020204020204" pitchFamily="34" charset="-122"/>
                <a:ea typeface="微软雅黑" panose="020B0503020204020204" pitchFamily="34" charset="-122"/>
              </a:rPr>
              <a:t>或参数</a:t>
            </a:r>
            <a:endParaRPr lang="en-US" altLang="zh-CN" sz="1800" b="1" dirty="0">
              <a:solidFill>
                <a:srgbClr val="00B0F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27754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422233" y="724651"/>
            <a:ext cx="8254224" cy="3863322"/>
          </a:xfrm>
          <a:prstGeom prst="rect">
            <a:avLst/>
          </a:prstGeom>
        </p:spPr>
      </p:pic>
      <p:sp>
        <p:nvSpPr>
          <p:cNvPr id="4" name="文本框 3"/>
          <p:cNvSpPr txBox="1"/>
          <p:nvPr/>
        </p:nvSpPr>
        <p:spPr>
          <a:xfrm>
            <a:off x="1547664" y="802035"/>
            <a:ext cx="7211335" cy="3539430"/>
          </a:xfrm>
          <a:prstGeom prst="rect">
            <a:avLst/>
          </a:prstGeom>
          <a:noFill/>
        </p:spPr>
        <p:txBody>
          <a:bodyPr wrap="square">
            <a:spAutoFit/>
          </a:bodyPr>
          <a:lstStyle/>
          <a:p>
            <a:r>
              <a:rPr lang="en-US" altLang="zh-CN" b="0" dirty="0">
                <a:solidFill>
                  <a:srgbClr val="000000"/>
                </a:solidFill>
                <a:effectLst/>
                <a:latin typeface="Consolas" panose="020B0609020204030204" pitchFamily="49" charset="0"/>
              </a:rPr>
              <a:t>e=</a:t>
            </a:r>
            <a:r>
              <a:rPr lang="en-US" altLang="zh-CN" b="0" dirty="0" err="1">
                <a:solidFill>
                  <a:srgbClr val="000000"/>
                </a:solidFill>
                <a:effectLst/>
                <a:latin typeface="Consolas" panose="020B0609020204030204" pitchFamily="49" charset="0"/>
              </a:rPr>
              <a:t>myfit.expr</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访问拟合函数原型</a:t>
            </a:r>
            <a:endParaRPr lang="zh-CN" altLang="en-US"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a=</a:t>
            </a:r>
            <a:r>
              <a:rPr lang="en-US" altLang="zh-CN" b="0" dirty="0" err="1">
                <a:solidFill>
                  <a:srgbClr val="000000"/>
                </a:solidFill>
                <a:effectLst/>
                <a:latin typeface="Consolas" panose="020B0609020204030204" pitchFamily="49" charset="0"/>
              </a:rPr>
              <a:t>myfit.params</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访问待定参数</a:t>
            </a:r>
            <a:r>
              <a:rPr lang="en-US" altLang="zh-CN" b="0" dirty="0">
                <a:solidFill>
                  <a:srgbClr val="008000"/>
                </a:solidFill>
                <a:effectLst/>
                <a:latin typeface="Consolas" panose="020B0609020204030204" pitchFamily="49" charset="0"/>
              </a:rPr>
              <a:t> </a:t>
            </a:r>
            <a:endParaRPr lang="en-US" altLang="zh-CN" b="0" dirty="0">
              <a:solidFill>
                <a:srgbClr val="000000"/>
              </a:solidFill>
              <a:effectLst/>
              <a:latin typeface="Consolas" panose="020B0609020204030204" pitchFamily="49" charset="0"/>
            </a:endParaRPr>
          </a:p>
          <a:p>
            <a:r>
              <a:rPr lang="en-US" altLang="zh-CN" b="0" dirty="0">
                <a:solidFill>
                  <a:srgbClr val="000000"/>
                </a:solidFill>
                <a:effectLst/>
                <a:latin typeface="Consolas" panose="020B0609020204030204" pitchFamily="49" charset="0"/>
              </a:rPr>
              <a:t>r2=</a:t>
            </a:r>
            <a:r>
              <a:rPr lang="en-US" altLang="zh-CN" b="0" dirty="0" err="1">
                <a:solidFill>
                  <a:srgbClr val="000000"/>
                </a:solidFill>
                <a:effectLst/>
                <a:latin typeface="Consolas" panose="020B0609020204030204" pitchFamily="49" charset="0"/>
              </a:rPr>
              <a:t>myfit.s_data</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拟合度</a:t>
            </a:r>
            <a:endParaRPr lang="zh-CN" altLang="en-US" b="0" dirty="0">
              <a:solidFill>
                <a:srgbClr val="000000"/>
              </a:solidFill>
              <a:effectLst/>
              <a:latin typeface="Consolas" panose="020B0609020204030204" pitchFamily="49" charset="0"/>
            </a:endParaRPr>
          </a:p>
          <a:p>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打印拟合结果</a:t>
            </a:r>
            <a:endParaRPr lang="zh-CN" altLang="en-US" b="0" dirty="0">
              <a:solidFill>
                <a:srgbClr val="000000"/>
              </a:solidFill>
              <a:effectLst/>
              <a:latin typeface="Consolas" panose="020B0609020204030204" pitchFamily="49" charset="0"/>
            </a:endParaRPr>
          </a:p>
          <a:p>
            <a:r>
              <a:rPr lang="en-US" altLang="zh-CN" b="0" dirty="0" err="1">
                <a:solidFill>
                  <a:srgbClr val="795E26"/>
                </a:solidFill>
                <a:effectLst/>
                <a:latin typeface="Consolas" panose="020B0609020204030204" pitchFamily="49" charset="0"/>
              </a:rPr>
              <a:t>println</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"e=</a:t>
            </a:r>
            <a:r>
              <a:rPr lang="en-US" altLang="zh-CN" b="0" dirty="0">
                <a:solidFill>
                  <a:srgbClr val="001080"/>
                </a:solidFill>
                <a:effectLst/>
                <a:latin typeface="Consolas" panose="020B0609020204030204" pitchFamily="49" charset="0"/>
              </a:rPr>
              <a:t>$e</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A31515"/>
                </a:solidFill>
                <a:effectLst/>
                <a:latin typeface="Consolas" panose="020B0609020204030204" pitchFamily="49" charset="0"/>
              </a:rPr>
              <a:t>a=</a:t>
            </a:r>
            <a:r>
              <a:rPr lang="en-US" altLang="zh-CN" b="0" dirty="0">
                <a:solidFill>
                  <a:srgbClr val="001080"/>
                </a:solidFill>
                <a:effectLst/>
                <a:latin typeface="Consolas" panose="020B0609020204030204" pitchFamily="49" charset="0"/>
              </a:rPr>
              <a:t>$a</a:t>
            </a:r>
            <a:r>
              <a:rPr lang="en-US" altLang="zh-CN" b="0" dirty="0">
                <a:solidFill>
                  <a:srgbClr val="A31515"/>
                </a:solidFill>
                <a:effectLst/>
                <a:latin typeface="Consolas" panose="020B0609020204030204" pitchFamily="49" charset="0"/>
              </a:rPr>
              <a:t>;</a:t>
            </a:r>
            <a:endParaRPr lang="en-US" altLang="zh-CN" b="0" dirty="0">
              <a:solidFill>
                <a:srgbClr val="000000"/>
              </a:solidFill>
              <a:effectLst/>
              <a:latin typeface="Consolas" panose="020B0609020204030204" pitchFamily="49" charset="0"/>
            </a:endParaRPr>
          </a:p>
          <a:p>
            <a:r>
              <a:rPr lang="en-US" altLang="zh-CN" b="0" dirty="0">
                <a:solidFill>
                  <a:srgbClr val="A31515"/>
                </a:solidFill>
                <a:effectLst/>
                <a:latin typeface="Consolas" panose="020B0609020204030204" pitchFamily="49" charset="0"/>
              </a:rPr>
              <a:t>r2=</a:t>
            </a:r>
            <a:r>
              <a:rPr lang="en-US" altLang="zh-CN" b="0" dirty="0">
                <a:solidFill>
                  <a:srgbClr val="001080"/>
                </a:solidFill>
                <a:effectLst/>
                <a:latin typeface="Consolas" panose="020B0609020204030204" pitchFamily="49" charset="0"/>
              </a:rPr>
              <a:t>$r2</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zh-CN" altLang="en-US" sz="1400" dirty="0">
                <a:solidFill>
                  <a:srgbClr val="00B0F0"/>
                </a:solidFill>
              </a:rPr>
              <a:t> </a:t>
            </a:r>
          </a:p>
          <a:p>
            <a:r>
              <a:rPr lang="es-ES" altLang="zh-CN" sz="1400" dirty="0">
                <a:solidFill>
                  <a:srgbClr val="00B0F0"/>
                </a:solidFill>
              </a:rPr>
              <a:t>#</a:t>
            </a:r>
            <a:r>
              <a:rPr lang="zh-CN" altLang="en-US" sz="1400" dirty="0">
                <a:solidFill>
                  <a:srgbClr val="00B0F0"/>
                </a:solidFill>
              </a:rPr>
              <a:t>结果</a:t>
            </a:r>
            <a:r>
              <a:rPr lang="es-ES" altLang="zh-CN" sz="1400" dirty="0">
                <a:solidFill>
                  <a:srgbClr val="00B0F0"/>
                </a:solidFill>
              </a:rPr>
              <a:t>General model:y(a1,a2,a3,t) = a1*(exp(-a2*t)-exp(-a3*t))</a:t>
            </a:r>
            <a:endParaRPr lang="zh-CN" altLang="en-US" sz="1400" dirty="0">
              <a:solidFill>
                <a:srgbClr val="00B0F0"/>
              </a:solidFill>
            </a:endParaRPr>
          </a:p>
          <a:p>
            <a:r>
              <a:rPr lang="zh-CN" altLang="en-US" sz="1400" dirty="0">
                <a:solidFill>
                  <a:srgbClr val="00B0F0"/>
                </a:solidFill>
              </a:rPr>
              <a:t>a=[114.43355965151814, 0.18550355119592135, 2.0078935644637825];</a:t>
            </a:r>
          </a:p>
          <a:p>
            <a:r>
              <a:rPr lang="zh-CN" altLang="en-US" sz="1400" dirty="0">
                <a:solidFill>
                  <a:srgbClr val="00B0F0"/>
                </a:solidFill>
              </a:rPr>
              <a:t>r2=R方: 0.9856911685147841</a:t>
            </a:r>
          </a:p>
          <a:p>
            <a:r>
              <a:rPr lang="zh-CN" altLang="en-US" sz="1400" dirty="0">
                <a:solidFill>
                  <a:srgbClr val="00B0F0"/>
                </a:solidFill>
              </a:rPr>
              <a:t>调整R方: 0.9842602853662625</a:t>
            </a:r>
          </a:p>
          <a:p>
            <a:r>
              <a:rPr lang="zh-CN" altLang="en-US" sz="1400" dirty="0">
                <a:solidFill>
                  <a:srgbClr val="00B0F0"/>
                </a:solidFill>
              </a:rPr>
              <a:t>RMSE: 3.3566478774237036</a:t>
            </a:r>
            <a:endParaRPr lang="en-US" altLang="zh-CN" sz="1400" dirty="0">
              <a:solidFill>
                <a:srgbClr val="00B0F0"/>
              </a:solidFill>
            </a:endParaRPr>
          </a:p>
          <a:p>
            <a:r>
              <a:rPr lang="zh-CN" altLang="en-US" sz="1400" dirty="0">
                <a:solidFill>
                  <a:srgbClr val="00B0F0"/>
                </a:solidFill>
              </a:rPr>
              <a:t>调整R方: 0.9842602853662625 拟合效果很好</a:t>
            </a:r>
          </a:p>
        </p:txBody>
      </p:sp>
      <p:sp>
        <p:nvSpPr>
          <p:cNvPr id="7" name="波形 6"/>
          <p:cNvSpPr/>
          <p:nvPr/>
        </p:nvSpPr>
        <p:spPr>
          <a:xfrm>
            <a:off x="467544" y="611308"/>
            <a:ext cx="8759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708624" y="71214"/>
            <a:ext cx="4683826" cy="523220"/>
          </a:xfrm>
          <a:prstGeom prst="rect">
            <a:avLst/>
          </a:prstGeom>
          <a:noFill/>
        </p:spPr>
        <p:txBody>
          <a:bodyPr wrap="square">
            <a:spAutoFit/>
          </a:bodyPr>
          <a:lstStyle/>
          <a:p>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a:t>
            </a:r>
            <a:endParaRPr lang="zh-CN" altLang="en-US" sz="2800" dirty="0"/>
          </a:p>
        </p:txBody>
      </p:sp>
      <p:sp>
        <p:nvSpPr>
          <p:cNvPr id="9" name="文本框 8"/>
          <p:cNvSpPr txBox="1"/>
          <p:nvPr/>
        </p:nvSpPr>
        <p:spPr>
          <a:xfrm>
            <a:off x="5051035" y="49200"/>
            <a:ext cx="3707964" cy="492443"/>
          </a:xfrm>
          <a:prstGeom prst="rect">
            <a:avLst/>
          </a:prstGeom>
          <a:noFill/>
        </p:spPr>
        <p:txBody>
          <a:bodyPr wrap="square">
            <a:spAutoFit/>
          </a:bodyPr>
          <a:lstStyle/>
          <a:p>
            <a:r>
              <a:rPr lang="en-US" altLang="zh-CN" sz="2600" kern="0" dirty="0" err="1">
                <a:solidFill>
                  <a:srgbClr val="FF0000"/>
                </a:solidFill>
                <a:latin typeface="华文楷体" panose="02010600040101010101" pitchFamily="2" charset="-122"/>
                <a:ea typeface="华文楷体" panose="02010600040101010101" pitchFamily="2" charset="-122"/>
                <a:hlinkClick r:id="rId3" action="ppaction://hlinkfile">
                  <a:extLst>
                    <a:ext uri="{A12FA001-AC4F-418D-AE19-62706E023703}">
                      <ahyp:hlinkClr xmlns:ahyp="http://schemas.microsoft.com/office/drawing/2018/hyperlinkcolor" val="tx"/>
                    </a:ext>
                  </a:extLst>
                </a:hlinkClick>
              </a:rPr>
              <a:t>fittype</a:t>
            </a:r>
            <a:r>
              <a:rPr lang="zh-CN" altLang="en-US" sz="2600" kern="0" dirty="0">
                <a:solidFill>
                  <a:srgbClr val="FF0000"/>
                </a:solidFill>
                <a:latin typeface="华文楷体" panose="02010600040101010101" pitchFamily="2" charset="-122"/>
                <a:ea typeface="华文楷体" panose="02010600040101010101" pitchFamily="2" charset="-122"/>
              </a:rPr>
              <a:t>自定义函数原型</a:t>
            </a:r>
          </a:p>
        </p:txBody>
      </p:sp>
      <mc:AlternateContent xmlns:mc="http://schemas.openxmlformats.org/markup-compatibility/2006" xmlns:a14="http://schemas.microsoft.com/office/drawing/2010/main">
        <mc:Choice Requires="a14">
          <p:sp>
            <p:nvSpPr>
              <p:cNvPr id="10" name="矩形 9"/>
              <p:cNvSpPr/>
              <p:nvPr/>
            </p:nvSpPr>
            <p:spPr>
              <a:xfrm>
                <a:off x="4355976" y="1836212"/>
                <a:ext cx="3960440" cy="341376"/>
              </a:xfrm>
              <a:prstGeom prst="rect">
                <a:avLst/>
              </a:prstGeom>
              <a:solidFill>
                <a:srgbClr val="FFC000"/>
              </a:solidFill>
              <a:effectLst>
                <a:outerShdw blurRad="50800" dist="38100" dir="8100000" algn="tr" rotWithShape="0">
                  <a:prstClr val="black">
                    <a:alpha val="40000"/>
                  </a:prstClr>
                </a:outerShdw>
              </a:effectLst>
              <a:scene3d>
                <a:camera prst="orthographicFront"/>
                <a:lightRig rig="threePt" dir="t"/>
              </a:scene3d>
              <a:sp3d>
                <a:contourClr>
                  <a:srgbClr val="000000"/>
                </a:contourClr>
              </a:sp3d>
            </p:spPr>
            <p:txBody>
              <a:bodyPr vert="horz" wrap="square" lIns="91440" tIns="45720" rIns="91440" bIns="45720" numCol="1" anchor="t">
                <a:spAutoFit/>
              </a:bodyPr>
              <a:lstStyle/>
              <a:p>
                <a:pPr eaLnBrk="0">
                  <a:spcBef>
                    <a:spcPts val="0"/>
                  </a:spcBef>
                  <a:spcAft>
                    <a:spcPts val="0"/>
                  </a:spcAft>
                </a:pPr>
                <a:r>
                  <a:rPr lang="zh-CN" altLang="en-US" sz="1600" cap="none" dirty="0">
                    <a:solidFill>
                      <a:schemeClr val="tx1"/>
                    </a:solidFill>
                    <a:latin typeface="微软雅黑" panose="020B0503020204020204" pitchFamily="34" charset="-122"/>
                    <a:ea typeface="微软雅黑" panose="020B0503020204020204" pitchFamily="34" charset="-122"/>
                  </a:rPr>
                  <a:t>拟合</a:t>
                </a:r>
                <a:r>
                  <a:rPr lang="zh-CN" altLang="en-US" sz="1600" dirty="0">
                    <a:latin typeface="微软雅黑" panose="020B0503020204020204" pitchFamily="34" charset="-122"/>
                    <a:ea typeface="微软雅黑" panose="020B0503020204020204" pitchFamily="34" charset="-122"/>
                  </a:rPr>
                  <a:t>好</a:t>
                </a:r>
                <a:r>
                  <a:rPr lang="zh-CN" altLang="en-US" sz="1600" cap="none" dirty="0">
                    <a:solidFill>
                      <a:schemeClr val="tx1"/>
                    </a:solidFill>
                    <a:latin typeface="微软雅黑" panose="020B0503020204020204" pitchFamily="34" charset="-122"/>
                    <a:ea typeface="微软雅黑" panose="020B0503020204020204" pitchFamily="34" charset="-122"/>
                  </a:rPr>
                  <a:t>函数</a:t>
                </a:r>
                <a:r>
                  <a:rPr lang="en-US" altLang="ko-KR" sz="1600" cap="none" dirty="0">
                    <a:solidFill>
                      <a:schemeClr val="tx1"/>
                    </a:solidFill>
                    <a:latin typeface="微软雅黑" panose="020B0503020204020204" pitchFamily="34" charset="-122"/>
                    <a:ea typeface="微软雅黑" panose="020B0503020204020204" pitchFamily="34" charset="-122"/>
                  </a:rPr>
                  <a:t>y= 114.43</a:t>
                </a:r>
                <a:r>
                  <a:rPr lang="en-US" altLang="zh-CN" sz="1600" cap="none" dirty="0">
                    <a:solidFill>
                      <a:schemeClr val="tx1"/>
                    </a:solidFill>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sz="1600" i="1" cap="none" smtClean="0">
                            <a:solidFill>
                              <a:schemeClr val="tx1"/>
                            </a:solidFill>
                            <a:latin typeface="Cambria Math" panose="02040503050406030204" pitchFamily="18" charset="0"/>
                            <a:ea typeface="微软雅黑" panose="020B0503020204020204" pitchFamily="34" charset="-122"/>
                          </a:rPr>
                        </m:ctrlPr>
                      </m:sSupPr>
                      <m:e>
                        <m:r>
                          <a:rPr lang="en-US" altLang="zh-CN" sz="1600" b="0" i="1" cap="none" smtClean="0">
                            <a:solidFill>
                              <a:schemeClr val="tx1"/>
                            </a:solidFill>
                            <a:latin typeface="Cambria Math" panose="02040503050406030204" pitchFamily="18" charset="0"/>
                            <a:ea typeface="微软雅黑" panose="020B0503020204020204" pitchFamily="34" charset="-122"/>
                          </a:rPr>
                          <m:t>𝑒</m:t>
                        </m:r>
                      </m:e>
                      <m:sup>
                        <m:r>
                          <a:rPr lang="en-US" altLang="zh-CN" sz="1600" b="0" i="1" cap="none" smtClean="0">
                            <a:solidFill>
                              <a:schemeClr val="tx1"/>
                            </a:solidFill>
                            <a:latin typeface="Cambria Math" panose="02040503050406030204" pitchFamily="18" charset="0"/>
                            <a:ea typeface="微软雅黑" panose="020B0503020204020204" pitchFamily="34" charset="-122"/>
                          </a:rPr>
                          <m:t>−0.1855</m:t>
                        </m:r>
                        <m:r>
                          <a:rPr lang="en-US" altLang="zh-CN" sz="1600" b="0" i="1" cap="none" smtClean="0">
                            <a:solidFill>
                              <a:schemeClr val="tx1"/>
                            </a:solidFill>
                            <a:latin typeface="Cambria Math" panose="02040503050406030204" pitchFamily="18" charset="0"/>
                            <a:ea typeface="微软雅黑" panose="020B0503020204020204" pitchFamily="34" charset="-122"/>
                          </a:rPr>
                          <m:t>𝑡</m:t>
                        </m:r>
                      </m:sup>
                    </m:sSup>
                  </m:oMath>
                </a14:m>
                <a:r>
                  <a:rPr lang="en-US" altLang="ko-KR" sz="1600" cap="none" dirty="0">
                    <a:solidFill>
                      <a:schemeClr val="tx1"/>
                    </a:solidFill>
                    <a:latin typeface="微软雅黑" panose="020B0503020204020204" pitchFamily="34" charset="-122"/>
                    <a:ea typeface="微软雅黑" panose="020B0503020204020204" pitchFamily="34" charset="-122"/>
                  </a:rPr>
                  <a:t>-</a:t>
                </a:r>
                <a:r>
                  <a:rPr lang="en-US" altLang="zh-CN" sz="1600" dirty="0">
                    <a:solidFill>
                      <a:schemeClr val="tx1"/>
                    </a:solidFill>
                    <a:latin typeface="微软雅黑" panose="020B0503020204020204" pitchFamily="34" charset="-122"/>
                    <a:ea typeface="微软雅黑" panose="020B0503020204020204" pitchFamily="34" charset="-122"/>
                  </a:rPr>
                  <a:t> </a:t>
                </a:r>
                <a14:m>
                  <m:oMath xmlns:m="http://schemas.openxmlformats.org/officeDocument/2006/math">
                    <m:sSup>
                      <m:sSupPr>
                        <m:ctrlPr>
                          <a:rPr lang="en-US" altLang="zh-CN" sz="1600" i="1">
                            <a:solidFill>
                              <a:schemeClr val="tx1"/>
                            </a:solidFill>
                            <a:latin typeface="Cambria Math" panose="02040503050406030204" pitchFamily="18" charset="0"/>
                            <a:ea typeface="微软雅黑" panose="020B0503020204020204" pitchFamily="34" charset="-122"/>
                          </a:rPr>
                        </m:ctrlPr>
                      </m:sSupPr>
                      <m:e>
                        <m:r>
                          <a:rPr lang="en-US" altLang="zh-CN" sz="1600" b="0" i="1">
                            <a:solidFill>
                              <a:schemeClr val="tx1"/>
                            </a:solidFill>
                            <a:latin typeface="Cambria Math" panose="02040503050406030204" pitchFamily="18" charset="0"/>
                            <a:ea typeface="微软雅黑" panose="020B0503020204020204" pitchFamily="34" charset="-122"/>
                          </a:rPr>
                          <m:t>𝑒</m:t>
                        </m:r>
                      </m:e>
                      <m:sup>
                        <m:r>
                          <a:rPr lang="en-US" altLang="zh-CN" sz="1600" b="0" i="1">
                            <a:solidFill>
                              <a:schemeClr val="tx1"/>
                            </a:solidFill>
                            <a:latin typeface="Cambria Math" panose="02040503050406030204" pitchFamily="18" charset="0"/>
                            <a:ea typeface="微软雅黑" panose="020B0503020204020204" pitchFamily="34" charset="-122"/>
                          </a:rPr>
                          <m:t>−</m:t>
                        </m:r>
                        <m:r>
                          <a:rPr lang="en-US" altLang="zh-CN" sz="1600" b="0" i="1" smtClean="0">
                            <a:solidFill>
                              <a:schemeClr val="tx1"/>
                            </a:solidFill>
                            <a:latin typeface="Cambria Math" panose="02040503050406030204" pitchFamily="18" charset="0"/>
                            <a:ea typeface="微软雅黑" panose="020B0503020204020204" pitchFamily="34" charset="-122"/>
                          </a:rPr>
                          <m:t>2.008</m:t>
                        </m:r>
                        <m:r>
                          <a:rPr lang="en-US" altLang="zh-CN" sz="1600" b="0" i="1" smtClean="0">
                            <a:solidFill>
                              <a:schemeClr val="tx1"/>
                            </a:solidFill>
                            <a:latin typeface="Cambria Math" panose="02040503050406030204" pitchFamily="18" charset="0"/>
                            <a:ea typeface="微软雅黑" panose="020B0503020204020204" pitchFamily="34" charset="-122"/>
                          </a:rPr>
                          <m:t>𝑡</m:t>
                        </m:r>
                      </m:sup>
                    </m:sSup>
                  </m:oMath>
                </a14:m>
                <a:r>
                  <a:rPr lang="en-US" altLang="ko-KR" sz="1600" cap="none" dirty="0">
                    <a:solidFill>
                      <a:schemeClr val="tx1"/>
                    </a:solidFill>
                    <a:latin typeface="微软雅黑" panose="020B0503020204020204" pitchFamily="34" charset="-122"/>
                    <a:ea typeface="微软雅黑" panose="020B0503020204020204" pitchFamily="34" charset="-122"/>
                  </a:rPr>
                  <a:t> )</a:t>
                </a:r>
                <a:endParaRPr lang="ko-KR" altLang="en-US" sz="1600" cap="none" dirty="0">
                  <a:solidFill>
                    <a:schemeClr val="tx1"/>
                  </a:solidFill>
                  <a:latin typeface="微软雅黑" panose="020B0503020204020204" pitchFamily="34" charset="-122"/>
                </a:endParaRPr>
              </a:p>
            </p:txBody>
          </p:sp>
        </mc:Choice>
        <mc:Fallback xmlns="">
          <p:sp>
            <p:nvSpPr>
              <p:cNvPr id="10" name="矩形 9"/>
              <p:cNvSpPr>
                <a:spLocks noRot="1" noChangeAspect="1" noMove="1" noResize="1" noEditPoints="1" noAdjustHandles="1" noChangeArrowheads="1" noChangeShapeType="1" noTextEdit="1"/>
              </p:cNvSpPr>
              <p:nvPr/>
            </p:nvSpPr>
            <p:spPr>
              <a:xfrm>
                <a:off x="4355976" y="1836212"/>
                <a:ext cx="3960440" cy="341376"/>
              </a:xfrm>
              <a:prstGeom prst="rect">
                <a:avLst/>
              </a:prstGeom>
              <a:blipFill>
                <a:blip r:embed="rId4"/>
                <a:stretch>
                  <a:fillRect/>
                </a:stretch>
              </a:blipFill>
              <a:effectLst>
                <a:outerShdw blurRad="50800" dist="38100" dir="8100000" algn="tr" rotWithShape="0">
                  <a:prstClr val="black">
                    <a:alpha val="40000"/>
                  </a:prstClr>
                </a:outerShdw>
              </a:effectLst>
            </p:spPr>
            <p:txBody>
              <a:bodyPr/>
              <a:lstStyle/>
              <a:p>
                <a:r>
                  <a:rPr lang="zh-CN"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455498" y="2501842"/>
            <a:ext cx="2756709" cy="2067532"/>
          </a:xfrm>
          <a:prstGeom prst="rect">
            <a:avLst/>
          </a:prstGeom>
        </p:spPr>
      </p:pic>
      <p:sp>
        <p:nvSpPr>
          <p:cNvPr id="8" name="文本框 7"/>
          <p:cNvSpPr txBox="1"/>
          <p:nvPr/>
        </p:nvSpPr>
        <p:spPr>
          <a:xfrm>
            <a:off x="1146964" y="30744"/>
            <a:ext cx="7474387" cy="567463"/>
          </a:xfrm>
          <a:prstGeom prst="rect">
            <a:avLst/>
          </a:prstGeom>
          <a:noFill/>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或曲面拟合</a:t>
            </a:r>
            <a:r>
              <a:rPr lang="en-US" altLang="zh-CN" sz="2800" kern="0" dirty="0">
                <a:solidFill>
                  <a:srgbClr val="002060"/>
                </a:solidFill>
                <a:latin typeface="华文楷体" panose="02010600040101010101" pitchFamily="2" charset="-122"/>
                <a:ea typeface="华文楷体" panose="02010600040101010101" pitchFamily="2" charset="-122"/>
              </a:rPr>
              <a:t>——</a:t>
            </a:r>
            <a:r>
              <a:rPr lang="zh-CN" altLang="en-US" sz="2800" kern="0" dirty="0">
                <a:solidFill>
                  <a:srgbClr val="FF0000"/>
                </a:solidFill>
                <a:latin typeface="华文楷体" panose="02010600040101010101" pitchFamily="2" charset="-122"/>
                <a:ea typeface="华文楷体" panose="02010600040101010101" pitchFamily="2" charset="-122"/>
              </a:rPr>
              <a:t>拟合多项式曲面</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9" name="文本框 8"/>
          <p:cNvSpPr txBox="1"/>
          <p:nvPr/>
        </p:nvSpPr>
        <p:spPr>
          <a:xfrm>
            <a:off x="319629" y="730991"/>
            <a:ext cx="8729046" cy="1026563"/>
          </a:xfrm>
          <a:prstGeom prst="rect">
            <a:avLst/>
          </a:prstGeom>
          <a:solidFill>
            <a:schemeClr val="accent3">
              <a:lumMod val="95000"/>
            </a:schemeClr>
          </a:solidFill>
        </p:spPr>
        <p:txBody>
          <a:bodyPr wrap="square">
            <a:spAutoFit/>
          </a:bodyPr>
          <a:lstStyle/>
          <a:p>
            <a:pPr>
              <a:lnSpc>
                <a:spcPts val="2500"/>
              </a:lnSpc>
            </a:pPr>
            <a:r>
              <a:rPr lang="zh-CN" altLang="en-US" dirty="0">
                <a:solidFill>
                  <a:srgbClr val="0070C0"/>
                </a:solidFill>
                <a:latin typeface="微软雅黑" panose="020B0503020204020204" pitchFamily="34" charset="-122"/>
                <a:ea typeface="微软雅黑" panose="020B0503020204020204" pitchFamily="34" charset="-122"/>
              </a:rPr>
              <a:t>              拟合</a:t>
            </a:r>
            <a:r>
              <a:rPr lang="en-US" altLang="zh-CN" dirty="0">
                <a:solidFill>
                  <a:srgbClr val="0070C0"/>
                </a:solidFill>
                <a:latin typeface="微软雅黑" panose="020B0503020204020204" pitchFamily="34" charset="-122"/>
                <a:ea typeface="微软雅黑" panose="020B0503020204020204" pitchFamily="34" charset="-122"/>
              </a:rPr>
              <a:t>x</a:t>
            </a:r>
            <a:r>
              <a:rPr lang="zh-CN" altLang="en-US" dirty="0">
                <a:solidFill>
                  <a:srgbClr val="0070C0"/>
                </a:solidFill>
                <a:latin typeface="微软雅黑" panose="020B0503020204020204" pitchFamily="34" charset="-122"/>
                <a:ea typeface="微软雅黑" panose="020B0503020204020204" pitchFamily="34" charset="-122"/>
              </a:rPr>
              <a:t>为</a:t>
            </a:r>
            <a:r>
              <a:rPr lang="en-US" altLang="zh-CN" dirty="0">
                <a:solidFill>
                  <a:srgbClr val="0070C0"/>
                </a:solidFill>
                <a:latin typeface="微软雅黑" panose="020B0503020204020204" pitchFamily="34" charset="-122"/>
                <a:ea typeface="微软雅黑" panose="020B0503020204020204" pitchFamily="34" charset="-122"/>
              </a:rPr>
              <a:t>2</a:t>
            </a:r>
            <a:r>
              <a:rPr lang="zh-CN" altLang="en-US" dirty="0">
                <a:solidFill>
                  <a:srgbClr val="0070C0"/>
                </a:solidFill>
                <a:latin typeface="微软雅黑" panose="020B0503020204020204" pitchFamily="34" charset="-122"/>
                <a:ea typeface="微软雅黑" panose="020B0503020204020204" pitchFamily="34" charset="-122"/>
              </a:rPr>
              <a:t>次，</a:t>
            </a:r>
            <a:r>
              <a:rPr lang="en-US" altLang="zh-CN" dirty="0">
                <a:solidFill>
                  <a:srgbClr val="0070C0"/>
                </a:solidFill>
                <a:latin typeface="微软雅黑" panose="020B0503020204020204" pitchFamily="34" charset="-122"/>
                <a:ea typeface="微软雅黑" panose="020B0503020204020204" pitchFamily="34" charset="-122"/>
              </a:rPr>
              <a:t>y</a:t>
            </a:r>
            <a:r>
              <a:rPr lang="zh-CN" altLang="en-US" dirty="0">
                <a:solidFill>
                  <a:srgbClr val="0070C0"/>
                </a:solidFill>
                <a:latin typeface="微软雅黑" panose="020B0503020204020204" pitchFamily="34" charset="-122"/>
                <a:ea typeface="微软雅黑" panose="020B0503020204020204" pitchFamily="34" charset="-122"/>
              </a:rPr>
              <a:t>为三次的多项式曲面拟合，拟合函数原型</a:t>
            </a:r>
            <a:r>
              <a:rPr lang="en-US" altLang="zh-CN" dirty="0">
                <a:solidFill>
                  <a:srgbClr val="0070C0"/>
                </a:solidFill>
                <a:latin typeface="微软雅黑" panose="020B0503020204020204" pitchFamily="34" charset="-122"/>
                <a:ea typeface="微软雅黑" panose="020B0503020204020204" pitchFamily="34" charset="-122"/>
              </a:rPr>
              <a:t>poly23</a:t>
            </a:r>
            <a:r>
              <a:rPr lang="zh-CN" altLang="en-US" dirty="0">
                <a:solidFill>
                  <a:srgbClr val="0070C0"/>
                </a:solidFill>
                <a:latin typeface="微软雅黑" panose="020B0503020204020204" pitchFamily="34" charset="-122"/>
                <a:ea typeface="微软雅黑" panose="020B0503020204020204" pitchFamily="34" charset="-122"/>
              </a:rPr>
              <a:t>如下：</a:t>
            </a:r>
            <a:endParaRPr lang="en-US" altLang="zh-CN" dirty="0">
              <a:solidFill>
                <a:srgbClr val="0070C0"/>
              </a:solidFill>
              <a:latin typeface="微软雅黑" panose="020B0503020204020204" pitchFamily="34" charset="-122"/>
              <a:ea typeface="微软雅黑" panose="020B0503020204020204" pitchFamily="34" charset="-122"/>
            </a:endParaRPr>
          </a:p>
          <a:p>
            <a:pPr>
              <a:lnSpc>
                <a:spcPts val="2500"/>
              </a:lnSpc>
            </a:pPr>
            <a:r>
              <a:rPr lang="zh-CN" altLang="en-US" dirty="0">
                <a:solidFill>
                  <a:srgbClr val="0070C0"/>
                </a:solidFill>
              </a:rPr>
              <a:t>z(p00,p01,p02,p03,p10,p11,p12,p20,p21,x,y) = p00 + p10*x + p01*y + p20*</a:t>
            </a:r>
            <a:r>
              <a:rPr lang="zh-CN" altLang="en-US" dirty="0">
                <a:solidFill>
                  <a:srgbClr val="0070C0"/>
                </a:solidFill>
                <a:highlight>
                  <a:srgbClr val="FFFF00"/>
                </a:highlight>
              </a:rPr>
              <a:t>x^2</a:t>
            </a:r>
            <a:r>
              <a:rPr lang="zh-CN" altLang="en-US" dirty="0">
                <a:solidFill>
                  <a:srgbClr val="0070C0"/>
                </a:solidFill>
              </a:rPr>
              <a:t> + p11*x*y + p02*y^2 + p21*x^2*y + p12*x*y^2 + p03*</a:t>
            </a:r>
            <a:r>
              <a:rPr lang="zh-CN" altLang="en-US" dirty="0">
                <a:solidFill>
                  <a:srgbClr val="0070C0"/>
                </a:solidFill>
                <a:highlight>
                  <a:srgbClr val="FFFF00"/>
                </a:highlight>
              </a:rPr>
              <a:t>y^3 </a:t>
            </a:r>
          </a:p>
        </p:txBody>
      </p:sp>
      <p:sp>
        <p:nvSpPr>
          <p:cNvPr id="12" name="文本框 11"/>
          <p:cNvSpPr txBox="1"/>
          <p:nvPr/>
        </p:nvSpPr>
        <p:spPr>
          <a:xfrm>
            <a:off x="319629" y="1783331"/>
            <a:ext cx="8729045" cy="1200329"/>
          </a:xfrm>
          <a:prstGeom prst="rect">
            <a:avLst/>
          </a:prstGeom>
          <a:noFill/>
          <a:ln>
            <a:solidFill>
              <a:schemeClr val="bg1">
                <a:lumMod val="85000"/>
              </a:schemeClr>
            </a:solidFill>
          </a:ln>
        </p:spPr>
        <p:txBody>
          <a:bodyPr wrap="square">
            <a:spAutoFit/>
          </a:bodyPr>
          <a:lstStyle/>
          <a:p>
            <a:r>
              <a:rPr lang="en-US" altLang="zh-CN" b="0" dirty="0">
                <a:solidFill>
                  <a:srgbClr val="AF00DB"/>
                </a:solidFill>
                <a:effectLst/>
                <a:latin typeface="Consolas" panose="020B0609020204030204" pitchFamily="49" charset="0"/>
              </a:rPr>
              <a:t>using</a:t>
            </a:r>
            <a:r>
              <a:rPr lang="en-US" altLang="zh-CN" b="0" dirty="0">
                <a:solidFill>
                  <a:srgbClr val="000000"/>
                </a:solidFill>
                <a:effectLst/>
                <a:latin typeface="Consolas" panose="020B0609020204030204" pitchFamily="49" charset="0"/>
              </a:rPr>
              <a:t> </a:t>
            </a:r>
            <a:r>
              <a:rPr lang="en-US" altLang="zh-CN" b="0" dirty="0" err="1">
                <a:solidFill>
                  <a:srgbClr val="000000"/>
                </a:solidFill>
                <a:effectLst/>
                <a:latin typeface="Consolas" panose="020B0609020204030204" pitchFamily="49" charset="0"/>
              </a:rPr>
              <a:t>TyCurveFitting</a:t>
            </a:r>
            <a:endParaRPr lang="en-US" altLang="zh-CN" b="0" dirty="0">
              <a:solidFill>
                <a:srgbClr val="000000"/>
              </a:solidFill>
              <a:effectLst/>
              <a:latin typeface="Consolas" panose="020B0609020204030204" pitchFamily="49" charset="0"/>
            </a:endParaRPr>
          </a:p>
          <a:p>
            <a:r>
              <a:rPr lang="en-US" altLang="zh-CN" b="0" dirty="0">
                <a:solidFill>
                  <a:srgbClr val="795E26"/>
                </a:solidFill>
                <a:effectLst/>
                <a:latin typeface="Consolas" panose="020B0609020204030204" pitchFamily="49" charset="0"/>
              </a:rPr>
              <a:t>include</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pkgdir</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TyCurveFitting</a:t>
            </a:r>
            <a:r>
              <a:rPr lang="en-US" altLang="zh-CN" b="0" dirty="0">
                <a:solidFill>
                  <a:srgbClr val="000000"/>
                </a:solidFill>
                <a:effectLst/>
                <a:latin typeface="Consolas" panose="020B0609020204030204" pitchFamily="49" charset="0"/>
              </a:rPr>
              <a:t>) * </a:t>
            </a:r>
            <a:r>
              <a:rPr lang="en-US" altLang="zh-CN" b="0" dirty="0">
                <a:solidFill>
                  <a:srgbClr val="A31515"/>
                </a:solidFill>
                <a:effectLst/>
                <a:latin typeface="Consolas" panose="020B0609020204030204" pitchFamily="49" charset="0"/>
              </a:rPr>
              <a:t>"/examples/docs/</a:t>
            </a:r>
            <a:r>
              <a:rPr lang="en-US" altLang="zh-CN" b="0" dirty="0" err="1">
                <a:solidFill>
                  <a:srgbClr val="A31515"/>
                </a:solidFill>
                <a:effectLst/>
                <a:latin typeface="Consolas" panose="020B0609020204030204" pitchFamily="49" charset="0"/>
              </a:rPr>
              <a:t>franke.jl</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r>
              <a:rPr lang="en-US" altLang="zh-CN" b="0" dirty="0">
                <a:solidFill>
                  <a:srgbClr val="000000"/>
                </a:solidFill>
                <a:effectLst/>
                <a:latin typeface="Consolas" panose="020B0609020204030204" pitchFamily="49" charset="0"/>
              </a:rPr>
              <a:t>sf = </a:t>
            </a:r>
            <a:r>
              <a:rPr lang="en-US" altLang="zh-CN" b="0" dirty="0">
                <a:solidFill>
                  <a:srgbClr val="795E26"/>
                </a:solidFill>
                <a:effectLst/>
                <a:latin typeface="Consolas" panose="020B0609020204030204" pitchFamily="49" charset="0"/>
              </a:rPr>
              <a:t>fit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"poly23"</a:t>
            </a:r>
            <a:r>
              <a:rPr lang="en-US" altLang="zh-CN" b="0" dirty="0">
                <a:solidFill>
                  <a:srgbClr val="000000"/>
                </a:solidFill>
                <a:effectLst/>
                <a:latin typeface="Consolas" panose="020B0609020204030204" pitchFamily="49" charset="0"/>
              </a:rPr>
              <a:t>,[x y],z)</a:t>
            </a:r>
          </a:p>
          <a:p>
            <a:r>
              <a:rPr lang="en-US" altLang="zh-CN" b="0" dirty="0">
                <a:solidFill>
                  <a:srgbClr val="795E26"/>
                </a:solidFill>
                <a:effectLst/>
                <a:latin typeface="Consolas" panose="020B0609020204030204" pitchFamily="49" charset="0"/>
              </a:rPr>
              <a:t>plot3fit</a:t>
            </a:r>
            <a:r>
              <a:rPr lang="en-US" altLang="zh-CN" b="0" dirty="0">
                <a:solidFill>
                  <a:srgbClr val="000000"/>
                </a:solidFill>
                <a:effectLst/>
                <a:latin typeface="Consolas" panose="020B0609020204030204" pitchFamily="49" charset="0"/>
              </a:rPr>
              <a:t>(sf,[x y],z)</a:t>
            </a:r>
          </a:p>
        </p:txBody>
      </p:sp>
      <p:sp>
        <p:nvSpPr>
          <p:cNvPr id="5" name="Rectangle 2"/>
          <p:cNvSpPr>
            <a:spLocks noChangeArrowheads="1"/>
          </p:cNvSpPr>
          <p:nvPr/>
        </p:nvSpPr>
        <p:spPr bwMode="auto">
          <a:xfrm>
            <a:off x="5616415" y="2486509"/>
            <a:ext cx="3432259" cy="2031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sz="1200" dirty="0">
                <a:solidFill>
                  <a:srgbClr val="00B0F0"/>
                </a:solidFill>
                <a:latin typeface="Arial Unicode MS"/>
                <a:ea typeface="Menlo"/>
              </a:rPr>
              <a:t>拟合结果：</a:t>
            </a:r>
            <a:r>
              <a:rPr kumimoji="0" lang="zh-CN" altLang="zh-CN" sz="1200" b="0" i="0" u="none" strike="noStrike" cap="none" normalizeH="0" baseline="0" dirty="0">
                <a:ln>
                  <a:noFill/>
                </a:ln>
                <a:solidFill>
                  <a:srgbClr val="00B0F0"/>
                </a:solidFill>
                <a:effectLst/>
                <a:latin typeface="Arial Unicode MS"/>
                <a:ea typeface="Menlo"/>
              </a:rPr>
              <a:t>Linear model Poly23:</a:t>
            </a:r>
            <a:endParaRPr kumimoji="0" lang="en-US" altLang="zh-CN" sz="1200" b="0"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 Coefficients (with 95% confidence bounds): </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p00 = 1.118 (0.9149, 1.321) </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p10 = -0.0002941 (-0.000502, -8.623e-05) </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p01 = 1.533 (0.7032, 2.364)</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 p20 = -1.966e-08 (-7.084e-08, 3.152e-08) </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p11 = 0.0003427 (-0.0001009, 0.0007863)</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 p02 = -6.951 (-8.421, -5.481) </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p21 = 9.563e-08 (6.276e-09, 1.85e-07)</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 p12 = -0.0004401 (-0.0007082, -0.0001721)</a:t>
            </a:r>
            <a:endParaRPr kumimoji="0" lang="en-US" altLang="zh-CN" sz="1200" b="1" i="0" u="none" strike="noStrike" cap="none" normalizeH="0" baseline="0" dirty="0">
              <a:ln>
                <a:noFill/>
              </a:ln>
              <a:solidFill>
                <a:srgbClr val="00B0F0"/>
              </a:solidFill>
              <a:effectLst/>
              <a:latin typeface="Arial Unicode MS"/>
              <a:ea typeface="Menlo"/>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200" b="1" i="0" u="none" strike="noStrike" cap="none" normalizeH="0" baseline="0" dirty="0">
                <a:ln>
                  <a:noFill/>
                </a:ln>
                <a:solidFill>
                  <a:srgbClr val="00B0F0"/>
                </a:solidFill>
                <a:effectLst/>
                <a:latin typeface="Arial Unicode MS"/>
                <a:ea typeface="Menlo"/>
              </a:rPr>
              <a:t> p03 = 4.999 (4.082, 5.917)</a:t>
            </a:r>
            <a:r>
              <a:rPr kumimoji="0" lang="zh-CN" altLang="zh-CN" sz="1200" b="1" i="0" u="none" strike="noStrike" cap="none" normalizeH="0" baseline="0" dirty="0">
                <a:ln>
                  <a:noFill/>
                </a:ln>
                <a:solidFill>
                  <a:srgbClr val="00B0F0"/>
                </a:solidFill>
                <a:effectLst/>
              </a:rPr>
              <a:t> </a:t>
            </a:r>
          </a:p>
        </p:txBody>
      </p:sp>
      <p:sp>
        <p:nvSpPr>
          <p:cNvPr id="10" name="波形 9"/>
          <p:cNvSpPr/>
          <p:nvPr/>
        </p:nvSpPr>
        <p:spPr>
          <a:xfrm>
            <a:off x="424719" y="682740"/>
            <a:ext cx="787216"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53-4</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54B8A406-2EA0-466B-BD05-8646F7668525}"/>
              </a:ext>
            </a:extLst>
          </p:cNvPr>
          <p:cNvSpPr txBox="1"/>
          <p:nvPr/>
        </p:nvSpPr>
        <p:spPr>
          <a:xfrm>
            <a:off x="611560" y="161674"/>
            <a:ext cx="8280920" cy="523220"/>
          </a:xfrm>
          <a:prstGeom prst="rect">
            <a:avLst/>
          </a:prstGeom>
          <a:noFill/>
        </p:spPr>
        <p:txBody>
          <a:bodyPr wrap="square">
            <a:spAutoFit/>
          </a:bodyPr>
          <a:lstStyle/>
          <a:p>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在拟合之前构建拟合选项</a:t>
            </a:r>
          </a:p>
        </p:txBody>
      </p:sp>
      <p:sp>
        <p:nvSpPr>
          <p:cNvPr id="10" name="Rectangle 4">
            <a:extLst>
              <a:ext uri="{FF2B5EF4-FFF2-40B4-BE49-F238E27FC236}">
                <a16:creationId xmlns:a16="http://schemas.microsoft.com/office/drawing/2014/main" id="{D6250EBE-F4E6-4A92-8EE8-87E711B0F75D}"/>
              </a:ext>
            </a:extLst>
          </p:cNvPr>
          <p:cNvSpPr>
            <a:spLocks noChangeArrowheads="1"/>
          </p:cNvSpPr>
          <p:nvPr/>
        </p:nvSpPr>
        <p:spPr bwMode="auto">
          <a:xfrm>
            <a:off x="6212308" y="4034768"/>
            <a:ext cx="13340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Arial Unicode MS"/>
                <a:ea typeface="source-code-pro"/>
              </a:rPr>
              <a:t>startpt</a:t>
            </a:r>
            <a:r>
              <a:rPr kumimoji="0" lang="zh-CN" altLang="zh-CN" b="0" i="0" u="none" strike="noStrike" cap="none" normalizeH="0" baseline="0" dirty="0">
                <a:ln>
                  <a:noFill/>
                </a:ln>
                <a:solidFill>
                  <a:srgbClr val="6BAB5B"/>
                </a:solidFill>
                <a:effectLst/>
                <a:latin typeface="Arial Unicode MS"/>
                <a:ea typeface="source-code-pro"/>
              </a:rPr>
              <a:t>=</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1</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1</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chemeClr val="tx1"/>
                </a:solidFill>
                <a:effectLst/>
              </a:rPr>
              <a:t> </a:t>
            </a:r>
          </a:p>
        </p:txBody>
      </p:sp>
      <p:sp>
        <p:nvSpPr>
          <p:cNvPr id="11" name="Rectangle 5">
            <a:extLst>
              <a:ext uri="{FF2B5EF4-FFF2-40B4-BE49-F238E27FC236}">
                <a16:creationId xmlns:a16="http://schemas.microsoft.com/office/drawing/2014/main" id="{14F39D81-9115-4EC9-83C0-894135076FD9}"/>
              </a:ext>
            </a:extLst>
          </p:cNvPr>
          <p:cNvSpPr>
            <a:spLocks noChangeArrowheads="1"/>
          </p:cNvSpPr>
          <p:nvPr/>
        </p:nvSpPr>
        <p:spPr bwMode="auto">
          <a:xfrm>
            <a:off x="6216771" y="2009957"/>
            <a:ext cx="15476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Arial Unicode MS"/>
                <a:ea typeface="source-code-pro"/>
              </a:rPr>
              <a:t>normalize</a:t>
            </a:r>
            <a:r>
              <a:rPr kumimoji="0" lang="zh-CN" altLang="zh-CN" b="0" i="0" u="none" strike="noStrike" cap="none" normalizeH="0" baseline="0" dirty="0">
                <a:ln>
                  <a:noFill/>
                </a:ln>
                <a:solidFill>
                  <a:srgbClr val="6BAB5B"/>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true</a:t>
            </a:r>
            <a:r>
              <a:rPr kumimoji="0" lang="zh-CN" altLang="zh-CN" b="0" i="0" u="none" strike="noStrike" cap="none" normalizeH="0" baseline="0" dirty="0">
                <a:ln>
                  <a:noFill/>
                </a:ln>
                <a:solidFill>
                  <a:schemeClr val="tx1"/>
                </a:solidFill>
                <a:effectLst/>
              </a:rPr>
              <a:t> </a:t>
            </a:r>
          </a:p>
        </p:txBody>
      </p:sp>
      <p:sp>
        <p:nvSpPr>
          <p:cNvPr id="12" name="Rectangle 6">
            <a:extLst>
              <a:ext uri="{FF2B5EF4-FFF2-40B4-BE49-F238E27FC236}">
                <a16:creationId xmlns:a16="http://schemas.microsoft.com/office/drawing/2014/main" id="{421A90AA-30B5-4EC8-AE97-0D5980124145}"/>
              </a:ext>
            </a:extLst>
          </p:cNvPr>
          <p:cNvSpPr>
            <a:spLocks noChangeArrowheads="1"/>
          </p:cNvSpPr>
          <p:nvPr/>
        </p:nvSpPr>
        <p:spPr bwMode="auto">
          <a:xfrm>
            <a:off x="6232002" y="2367875"/>
            <a:ext cx="190770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Arial Unicode MS"/>
                <a:ea typeface="source-code-pro"/>
              </a:rPr>
              <a:t>exclude</a:t>
            </a:r>
            <a:r>
              <a:rPr kumimoji="0" lang="zh-CN" altLang="zh-CN" b="0" i="0" u="none" strike="noStrike" cap="none" normalizeH="0" baseline="0" dirty="0">
                <a:ln>
                  <a:noFill/>
                </a:ln>
                <a:solidFill>
                  <a:srgbClr val="6BAB5B"/>
                </a:solidFill>
                <a:effectLst/>
                <a:latin typeface="Arial Unicode MS"/>
                <a:ea typeface="source-code-pro"/>
              </a:rPr>
              <a:t>=</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1</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10</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25</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chemeClr val="tx1"/>
                </a:solidFill>
                <a:effectLst/>
              </a:rPr>
              <a:t> </a:t>
            </a:r>
          </a:p>
        </p:txBody>
      </p:sp>
      <p:sp>
        <p:nvSpPr>
          <p:cNvPr id="13" name="Rectangle 7">
            <a:extLst>
              <a:ext uri="{FF2B5EF4-FFF2-40B4-BE49-F238E27FC236}">
                <a16:creationId xmlns:a16="http://schemas.microsoft.com/office/drawing/2014/main" id="{62700212-3913-4BC3-BABB-DB36BD0C3674}"/>
              </a:ext>
            </a:extLst>
          </p:cNvPr>
          <p:cNvSpPr>
            <a:spLocks noChangeArrowheads="1"/>
          </p:cNvSpPr>
          <p:nvPr/>
        </p:nvSpPr>
        <p:spPr bwMode="auto">
          <a:xfrm>
            <a:off x="6232002" y="2745592"/>
            <a:ext cx="240412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a:ln>
                  <a:noFill/>
                </a:ln>
                <a:solidFill>
                  <a:srgbClr val="000000"/>
                </a:solidFill>
                <a:effectLst/>
                <a:latin typeface="Arial Unicode MS"/>
                <a:ea typeface="source-code-pro"/>
              </a:rPr>
              <a:t>exclude</a:t>
            </a:r>
            <a:r>
              <a:rPr kumimoji="0" lang="zh-CN" altLang="zh-CN" b="0" i="0" u="none" strike="noStrike" cap="none" normalizeH="0" baseline="0">
                <a:ln>
                  <a:noFill/>
                </a:ln>
                <a:solidFill>
                  <a:srgbClr val="6BAB5B"/>
                </a:solidFill>
                <a:effectLst/>
                <a:latin typeface="Arial Unicode MS"/>
                <a:ea typeface="source-code-pro"/>
              </a:rPr>
              <a:t>=</a:t>
            </a:r>
            <a:r>
              <a:rPr kumimoji="0" lang="zh-CN" altLang="zh-CN" b="0" i="0" u="none" strike="noStrike" cap="none" normalizeH="0" baseline="0">
                <a:ln>
                  <a:noFill/>
                </a:ln>
                <a:solidFill>
                  <a:srgbClr val="000000"/>
                </a:solidFill>
                <a:effectLst/>
                <a:latin typeface="Arial Unicode MS"/>
                <a:ea typeface="source-code-pro"/>
              </a:rPr>
              <a:t>x</a:t>
            </a:r>
            <a:r>
              <a:rPr kumimoji="0" lang="zh-CN" altLang="zh-CN" b="0" i="0" u="none" strike="noStrike" cap="none" normalizeH="0" baseline="0">
                <a:ln>
                  <a:noFill/>
                </a:ln>
                <a:solidFill>
                  <a:srgbClr val="999999"/>
                </a:solidFill>
                <a:effectLst/>
                <a:latin typeface="Arial Unicode MS"/>
                <a:ea typeface="source-code-pro"/>
              </a:rPr>
              <a:t>.</a:t>
            </a:r>
            <a:r>
              <a:rPr kumimoji="0" lang="zh-CN" altLang="zh-CN" b="0" i="0" u="none" strike="noStrike" cap="none" normalizeH="0" baseline="0">
                <a:ln>
                  <a:noFill/>
                </a:ln>
                <a:solidFill>
                  <a:srgbClr val="6BAB5B"/>
                </a:solidFill>
                <a:effectLst/>
                <a:latin typeface="Arial Unicode MS"/>
                <a:ea typeface="source-code-pro"/>
              </a:rPr>
              <a:t>&lt;</a:t>
            </a:r>
            <a:r>
              <a:rPr kumimoji="0" lang="zh-CN" altLang="zh-CN" b="0" i="0" u="none" strike="noStrike" cap="none" normalizeH="0" baseline="0">
                <a:ln>
                  <a:noFill/>
                </a:ln>
                <a:solidFill>
                  <a:srgbClr val="4266D5"/>
                </a:solidFill>
                <a:effectLst/>
                <a:latin typeface="Arial Unicode MS"/>
                <a:ea typeface="source-code-pro"/>
              </a:rPr>
              <a:t>800</a:t>
            </a:r>
            <a:r>
              <a:rPr kumimoji="0" lang="zh-CN" altLang="zh-CN" b="0" i="0" u="none" strike="noStrike" cap="none" normalizeH="0" baseline="0">
                <a:ln>
                  <a:noFill/>
                </a:ln>
                <a:solidFill>
                  <a:schemeClr val="tx1"/>
                </a:solidFill>
                <a:effectLst/>
              </a:rPr>
              <a:t> </a:t>
            </a:r>
          </a:p>
        </p:txBody>
      </p:sp>
      <p:sp>
        <p:nvSpPr>
          <p:cNvPr id="14" name="Rectangle 8">
            <a:extLst>
              <a:ext uri="{FF2B5EF4-FFF2-40B4-BE49-F238E27FC236}">
                <a16:creationId xmlns:a16="http://schemas.microsoft.com/office/drawing/2014/main" id="{923A2A52-FDCA-4DBE-9FDB-DA31B2231144}"/>
              </a:ext>
            </a:extLst>
          </p:cNvPr>
          <p:cNvSpPr>
            <a:spLocks noChangeArrowheads="1"/>
          </p:cNvSpPr>
          <p:nvPr/>
        </p:nvSpPr>
        <p:spPr bwMode="auto">
          <a:xfrm>
            <a:off x="6257804" y="3670910"/>
            <a:ext cx="13340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0" i="0" u="none" strike="noStrike" cap="none" normalizeH="0" baseline="0" dirty="0">
                <a:ln>
                  <a:noFill/>
                </a:ln>
                <a:solidFill>
                  <a:srgbClr val="000000"/>
                </a:solidFill>
                <a:effectLst/>
                <a:latin typeface="Arial Unicode MS"/>
                <a:ea typeface="source-code-pro"/>
              </a:rPr>
              <a:t>lb</a:t>
            </a:r>
            <a:r>
              <a:rPr kumimoji="0" lang="zh-CN" altLang="zh-CN" b="0" i="0" u="none" strike="noStrike" cap="none" normalizeH="0" baseline="0" dirty="0">
                <a:ln>
                  <a:noFill/>
                </a:ln>
                <a:solidFill>
                  <a:srgbClr val="6BAB5B"/>
                </a:solidFill>
                <a:effectLst/>
                <a:latin typeface="Arial Unicode MS"/>
                <a:ea typeface="source-code-pro"/>
              </a:rPr>
              <a:t>=</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0</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rgbClr val="4266D5"/>
                </a:solidFill>
                <a:effectLst/>
                <a:latin typeface="Arial Unicode MS"/>
                <a:ea typeface="source-code-pro"/>
              </a:rPr>
              <a:t>0</a:t>
            </a:r>
            <a:r>
              <a:rPr kumimoji="0" lang="zh-CN" altLang="zh-CN" b="0" i="0" u="none" strike="noStrike" cap="none" normalizeH="0" baseline="0" dirty="0">
                <a:ln>
                  <a:noFill/>
                </a:ln>
                <a:solidFill>
                  <a:srgbClr val="999999"/>
                </a:solidFill>
                <a:effectLst/>
                <a:latin typeface="Arial Unicode MS"/>
                <a:ea typeface="source-code-pro"/>
              </a:rPr>
              <a:t>]</a:t>
            </a:r>
            <a:r>
              <a:rPr kumimoji="0" lang="zh-CN" altLang="zh-CN" b="0" i="0" u="none" strike="noStrike" cap="none" normalizeH="0" baseline="0" dirty="0">
                <a:ln>
                  <a:noFill/>
                </a:ln>
                <a:solidFill>
                  <a:schemeClr val="tx1"/>
                </a:solidFill>
                <a:effectLst/>
              </a:rPr>
              <a:t> </a:t>
            </a:r>
          </a:p>
        </p:txBody>
      </p:sp>
      <p:sp>
        <p:nvSpPr>
          <p:cNvPr id="15" name="文本框 14">
            <a:extLst>
              <a:ext uri="{FF2B5EF4-FFF2-40B4-BE49-F238E27FC236}">
                <a16:creationId xmlns:a16="http://schemas.microsoft.com/office/drawing/2014/main" id="{425A31AC-F40B-4148-B9CD-487139D248EB}"/>
              </a:ext>
            </a:extLst>
          </p:cNvPr>
          <p:cNvSpPr txBox="1"/>
          <p:nvPr/>
        </p:nvSpPr>
        <p:spPr>
          <a:xfrm>
            <a:off x="435941" y="929372"/>
            <a:ext cx="1979712" cy="369332"/>
          </a:xfrm>
          <a:prstGeom prst="rect">
            <a:avLst/>
          </a:prstGeom>
          <a:solidFill>
            <a:schemeClr val="bg1"/>
          </a:solidFill>
        </p:spPr>
        <p:txBody>
          <a:bodyPr wrap="square">
            <a:spAutoFit/>
          </a:bodyPr>
          <a:lstStyle/>
          <a:p>
            <a:r>
              <a:rPr lang="en-US" altLang="zh-CN" b="1" dirty="0">
                <a:solidFill>
                  <a:srgbClr val="00B0F0"/>
                </a:solidFill>
                <a:latin typeface="微软雅黑" panose="020B0503020204020204" pitchFamily="34" charset="-122"/>
                <a:ea typeface="微软雅黑" panose="020B0503020204020204" pitchFamily="34" charset="-122"/>
              </a:rPr>
              <a:t>fit</a:t>
            </a:r>
            <a:r>
              <a:rPr lang="zh-CN" altLang="en-US" b="1" dirty="0">
                <a:solidFill>
                  <a:srgbClr val="00B0F0"/>
                </a:solidFill>
                <a:latin typeface="微软雅黑" panose="020B0503020204020204" pitchFamily="34" charset="-122"/>
                <a:ea typeface="微软雅黑" panose="020B0503020204020204" pitchFamily="34" charset="-122"/>
              </a:rPr>
              <a:t>设置拟合选项</a:t>
            </a:r>
            <a:endParaRPr lang="en-US" altLang="zh-CN" b="1" dirty="0">
              <a:solidFill>
                <a:srgbClr val="00B0F0"/>
              </a:solidFill>
              <a:latin typeface="微软雅黑" panose="020B0503020204020204" pitchFamily="34" charset="-122"/>
              <a:ea typeface="微软雅黑" panose="020B0503020204020204" pitchFamily="34" charset="-122"/>
            </a:endParaRPr>
          </a:p>
        </p:txBody>
      </p:sp>
      <p:sp>
        <p:nvSpPr>
          <p:cNvPr id="6" name="Rectangle 1">
            <a:extLst>
              <a:ext uri="{FF2B5EF4-FFF2-40B4-BE49-F238E27FC236}">
                <a16:creationId xmlns:a16="http://schemas.microsoft.com/office/drawing/2014/main" id="{AEF482C6-8AD8-45F2-8E21-A5647A85C3CD}"/>
              </a:ext>
            </a:extLst>
          </p:cNvPr>
          <p:cNvSpPr>
            <a:spLocks noChangeArrowheads="1"/>
          </p:cNvSpPr>
          <p:nvPr/>
        </p:nvSpPr>
        <p:spPr bwMode="auto">
          <a:xfrm>
            <a:off x="2281175" y="929372"/>
            <a:ext cx="6718585"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kumimoji="0" lang="zh-CN" altLang="zh-CN" sz="1600" b="1" i="0" u="none" strike="noStrike" cap="none" normalizeH="0" baseline="0" dirty="0">
                <a:ln>
                  <a:noFill/>
                </a:ln>
                <a:solidFill>
                  <a:schemeClr val="bg1"/>
                </a:solidFill>
                <a:effectLst/>
                <a:latin typeface="Arial Unicode MS"/>
                <a:ea typeface="source-code-pro"/>
              </a:rPr>
              <a:t>fitobject</a:t>
            </a:r>
            <a:r>
              <a:rPr lang="zh-CN" altLang="zh-CN" sz="1600" b="1" dirty="0">
                <a:solidFill>
                  <a:schemeClr val="bg1"/>
                </a:solidFill>
                <a:latin typeface="Arial Unicode MS"/>
              </a:rPr>
              <a:t>=</a:t>
            </a:r>
            <a:r>
              <a:rPr lang="en-US" altLang="zh-CN" sz="1600" b="1" dirty="0">
                <a:solidFill>
                  <a:schemeClr val="bg1"/>
                </a:solidFill>
                <a:latin typeface="Arial Unicode MS"/>
              </a:rPr>
              <a:t> </a:t>
            </a:r>
            <a:r>
              <a:rPr lang="en-US" altLang="zh-CN" sz="1600" b="1" dirty="0" err="1">
                <a:solidFill>
                  <a:schemeClr val="bg1"/>
                </a:solidFill>
                <a:latin typeface="Arial Unicode MS"/>
              </a:rPr>
              <a:t>TyCurveFitting</a:t>
            </a:r>
            <a:r>
              <a:rPr lang="en-US" altLang="zh-CN" sz="1600" b="1" dirty="0">
                <a:solidFill>
                  <a:schemeClr val="bg1"/>
                </a:solidFill>
                <a:latin typeface="Arial Unicode MS"/>
              </a:rPr>
              <a:t>. </a:t>
            </a:r>
            <a:r>
              <a:rPr kumimoji="0" lang="zh-CN" altLang="zh-CN" sz="1600" b="1" i="0" u="none" strike="noStrike" cap="none" normalizeH="0" baseline="0" dirty="0">
                <a:ln>
                  <a:noFill/>
                </a:ln>
                <a:solidFill>
                  <a:schemeClr val="bg1"/>
                </a:solidFill>
                <a:effectLst/>
                <a:latin typeface="Arial Unicode MS"/>
                <a:ea typeface="source-code-pro"/>
              </a:rPr>
              <a:t>fit(fitType,x,y;</a:t>
            </a:r>
            <a:r>
              <a:rPr kumimoji="0" lang="zh-CN" altLang="zh-CN" sz="1600" b="1" i="0" u="none" strike="noStrike" cap="none" normalizeH="0" baseline="0" dirty="0">
                <a:ln>
                  <a:noFill/>
                </a:ln>
                <a:solidFill>
                  <a:schemeClr val="bg1"/>
                </a:solidFill>
                <a:effectLst/>
                <a:highlight>
                  <a:srgbClr val="FF0000"/>
                </a:highlight>
                <a:latin typeface="Arial Unicode MS"/>
                <a:ea typeface="source-code-pro"/>
              </a:rPr>
              <a:t>options=fitOptions</a:t>
            </a:r>
            <a:r>
              <a:rPr kumimoji="0" lang="en-US" altLang="zh-CN" sz="1600" b="1" i="0" u="none" strike="noStrike" cap="none" normalizeH="0" baseline="0" dirty="0">
                <a:ln>
                  <a:noFill/>
                </a:ln>
                <a:solidFill>
                  <a:schemeClr val="bg1"/>
                </a:solidFill>
                <a:effectLst/>
                <a:latin typeface="Arial Unicode MS"/>
                <a:ea typeface="source-code-pro"/>
              </a:rPr>
              <a:t>)</a:t>
            </a:r>
            <a:endParaRPr lang="zh-CN" altLang="zh-CN" sz="1600" b="1" kern="0" dirty="0">
              <a:solidFill>
                <a:schemeClr val="bg1"/>
              </a:solidFill>
              <a:latin typeface="Arial Unicode MS"/>
              <a:ea typeface="source-code-pro"/>
              <a:cs typeface="Times New Roman" panose="02020603050405020304" pitchFamily="18" charset="0"/>
            </a:endParaRPr>
          </a:p>
        </p:txBody>
      </p:sp>
      <p:pic>
        <p:nvPicPr>
          <p:cNvPr id="16" name="图片 15">
            <a:extLst>
              <a:ext uri="{FF2B5EF4-FFF2-40B4-BE49-F238E27FC236}">
                <a16:creationId xmlns:a16="http://schemas.microsoft.com/office/drawing/2014/main" id="{6CC8EAE9-E341-485B-BEA7-BDC66DA871E9}"/>
              </a:ext>
            </a:extLst>
          </p:cNvPr>
          <p:cNvPicPr>
            <a:picLocks noChangeAspect="1"/>
          </p:cNvPicPr>
          <p:nvPr/>
        </p:nvPicPr>
        <p:blipFill rotWithShape="1">
          <a:blip r:embed="rId3"/>
          <a:srcRect l="17233" t="23321" r="22130" b="19763"/>
          <a:stretch/>
        </p:blipFill>
        <p:spPr>
          <a:xfrm>
            <a:off x="502593" y="1563638"/>
            <a:ext cx="5544616" cy="2879946"/>
          </a:xfrm>
          <a:prstGeom prst="rect">
            <a:avLst/>
          </a:prstGeom>
        </p:spPr>
      </p:pic>
      <p:sp>
        <p:nvSpPr>
          <p:cNvPr id="17" name="文本框 16">
            <a:extLst>
              <a:ext uri="{FF2B5EF4-FFF2-40B4-BE49-F238E27FC236}">
                <a16:creationId xmlns:a16="http://schemas.microsoft.com/office/drawing/2014/main" id="{8E2A35A7-B3A8-47D3-9064-32BD95CAD78B}"/>
              </a:ext>
            </a:extLst>
          </p:cNvPr>
          <p:cNvSpPr txBox="1"/>
          <p:nvPr/>
        </p:nvSpPr>
        <p:spPr>
          <a:xfrm>
            <a:off x="6212308" y="1573561"/>
            <a:ext cx="1744068" cy="369332"/>
          </a:xfrm>
          <a:prstGeom prst="rect">
            <a:avLst/>
          </a:prstGeom>
          <a:noFill/>
        </p:spPr>
        <p:txBody>
          <a:bodyPr wrap="square">
            <a:spAutoFit/>
          </a:bodyPr>
          <a:lstStyle/>
          <a:p>
            <a:r>
              <a:rPr lang="zh-CN" altLang="en-US" b="1" dirty="0">
                <a:solidFill>
                  <a:srgbClr val="00B0F0"/>
                </a:solidFill>
                <a:latin typeface="微软雅黑" panose="020B0503020204020204" pitchFamily="34" charset="-122"/>
                <a:ea typeface="微软雅黑" panose="020B0503020204020204" pitchFamily="34" charset="-122"/>
              </a:rPr>
              <a:t>示例</a:t>
            </a:r>
            <a:endParaRPr lang="zh-CN" altLang="en-US" dirty="0"/>
          </a:p>
        </p:txBody>
      </p:sp>
    </p:spTree>
    <p:extLst>
      <p:ext uri="{BB962C8B-B14F-4D97-AF65-F5344CB8AC3E}">
        <p14:creationId xmlns:p14="http://schemas.microsoft.com/office/powerpoint/2010/main" val="564850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F02FFB7-3ACF-42B0-A7B1-0BA22A463C5D}"/>
              </a:ext>
            </a:extLst>
          </p:cNvPr>
          <p:cNvSpPr txBox="1"/>
          <p:nvPr/>
        </p:nvSpPr>
        <p:spPr>
          <a:xfrm>
            <a:off x="1376288" y="767173"/>
            <a:ext cx="7719357" cy="400110"/>
          </a:xfrm>
          <a:prstGeom prst="rect">
            <a:avLst/>
          </a:prstGeom>
          <a:solidFill>
            <a:schemeClr val="bg1"/>
          </a:solidFill>
        </p:spPr>
        <p:txBody>
          <a:bodyPr wrap="square">
            <a:spAutoFit/>
          </a:bodyPr>
          <a:lstStyle/>
          <a:p>
            <a:pPr algn="dist"/>
            <a:r>
              <a:rPr lang="en-US" altLang="zh-CN" sz="2000" b="1" dirty="0">
                <a:solidFill>
                  <a:srgbClr val="0070C0"/>
                </a:solidFill>
                <a:latin typeface="Microsoft YaHei" panose="020B0503020204020204" pitchFamily="34" charset="-122"/>
                <a:ea typeface="Microsoft YaHei" panose="020B0503020204020204" pitchFamily="34" charset="-122"/>
              </a:rPr>
              <a:t>f2=fit(“poly2”,t,y)#</a:t>
            </a:r>
            <a:r>
              <a:rPr lang="zh-CN" altLang="en-US" sz="2000" b="1" dirty="0">
                <a:solidFill>
                  <a:srgbClr val="0070C0"/>
                </a:solidFill>
                <a:latin typeface="Microsoft YaHei" panose="020B0503020204020204" pitchFamily="34" charset="-122"/>
                <a:ea typeface="Microsoft YaHei" panose="020B0503020204020204" pitchFamily="34" charset="-122"/>
              </a:rPr>
              <a:t>采用二次多项式拟合</a:t>
            </a:r>
            <a:r>
              <a:rPr lang="en-US" altLang="zh-CN" sz="2000" b="1" dirty="0">
                <a:solidFill>
                  <a:srgbClr val="0070C0"/>
                </a:solidFill>
                <a:latin typeface="Microsoft YaHei" panose="020B0503020204020204" pitchFamily="34" charset="-122"/>
                <a:ea typeface="Microsoft YaHei" panose="020B0503020204020204" pitchFamily="34" charset="-122"/>
              </a:rPr>
              <a:t>1900-1990</a:t>
            </a:r>
            <a:r>
              <a:rPr lang="zh-CN" altLang="en-US" sz="2000" b="1" dirty="0">
                <a:solidFill>
                  <a:srgbClr val="0070C0"/>
                </a:solidFill>
                <a:latin typeface="Microsoft YaHei" panose="020B0503020204020204" pitchFamily="34" charset="-122"/>
                <a:ea typeface="Microsoft YaHei" panose="020B0503020204020204" pitchFamily="34" charset="-122"/>
              </a:rPr>
              <a:t>美国人口</a:t>
            </a:r>
            <a:endParaRPr lang="en-US" altLang="zh-CN" sz="2000" b="1" dirty="0">
              <a:solidFill>
                <a:srgbClr val="0070C0"/>
              </a:solidFill>
              <a:latin typeface="Microsoft YaHei" panose="020B0503020204020204" pitchFamily="34" charset="-122"/>
              <a:ea typeface="Microsoft YaHei" panose="020B0503020204020204" pitchFamily="34" charset="-122"/>
            </a:endParaRPr>
          </a:p>
        </p:txBody>
      </p:sp>
      <p:sp>
        <p:nvSpPr>
          <p:cNvPr id="10" name="Rectangle 1">
            <a:extLst>
              <a:ext uri="{FF2B5EF4-FFF2-40B4-BE49-F238E27FC236}">
                <a16:creationId xmlns:a16="http://schemas.microsoft.com/office/drawing/2014/main" id="{F92786B3-7D44-4271-A049-2AA58499832B}"/>
              </a:ext>
            </a:extLst>
          </p:cNvPr>
          <p:cNvSpPr>
            <a:spLocks noChangeArrowheads="1"/>
          </p:cNvSpPr>
          <p:nvPr/>
        </p:nvSpPr>
        <p:spPr bwMode="auto">
          <a:xfrm>
            <a:off x="787575" y="4148688"/>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8" name="文本框 17">
            <a:extLst>
              <a:ext uri="{FF2B5EF4-FFF2-40B4-BE49-F238E27FC236}">
                <a16:creationId xmlns:a16="http://schemas.microsoft.com/office/drawing/2014/main" id="{A0A44157-D9D9-42B5-AFB6-6817BF72C767}"/>
              </a:ext>
            </a:extLst>
          </p:cNvPr>
          <p:cNvSpPr txBox="1"/>
          <p:nvPr/>
        </p:nvSpPr>
        <p:spPr>
          <a:xfrm>
            <a:off x="828546" y="68539"/>
            <a:ext cx="8032763" cy="567463"/>
          </a:xfrm>
          <a:prstGeom prst="rect">
            <a:avLst/>
          </a:prstGeom>
          <a:noFill/>
        </p:spPr>
        <p:txBody>
          <a:bodyPr wrap="square">
            <a:spAutoFit/>
          </a:bodyPr>
          <a:lstStyle/>
          <a:p>
            <a:pPr eaLnBrk="0">
              <a:lnSpc>
                <a:spcPts val="3900"/>
              </a:lnSpc>
              <a:spcBef>
                <a:spcPts val="0"/>
              </a:spcBef>
              <a:spcAft>
                <a:spcPts val="0"/>
              </a:spcAft>
            </a:pPr>
            <a:r>
              <a:rPr lang="en-US" altLang="ko-KR" sz="2800" b="1" dirty="0">
                <a:solidFill>
                  <a:srgbClr val="002060"/>
                </a:solidFill>
                <a:latin typeface="华文楷体" panose="02010600040101010101" pitchFamily="2" charset="-122"/>
                <a:ea typeface="华文楷体" panose="02010600040101010101" pitchFamily="2" charset="-122"/>
              </a:rPr>
              <a:t>§5.3 </a:t>
            </a:r>
            <a:r>
              <a:rPr lang="en-US" altLang="zh-CN" sz="2800" b="1" dirty="0">
                <a:solidFill>
                  <a:srgbClr val="002060"/>
                </a:solidFill>
                <a:latin typeface="华文楷体" panose="02010600040101010101" pitchFamily="2" charset="-122"/>
                <a:ea typeface="华文楷体" panose="02010600040101010101" pitchFamily="2" charset="-122"/>
              </a:rPr>
              <a:t>fit</a:t>
            </a:r>
            <a:r>
              <a:rPr lang="zh-CN" altLang="en-US" sz="2800" b="1" dirty="0">
                <a:solidFill>
                  <a:srgbClr val="002060"/>
                </a:solidFill>
                <a:latin typeface="华文楷体" panose="02010600040101010101" pitchFamily="2" charset="-122"/>
                <a:ea typeface="华文楷体" panose="02010600040101010101" pitchFamily="2" charset="-122"/>
              </a:rPr>
              <a:t>拟合</a:t>
            </a:r>
            <a:r>
              <a:rPr lang="zh-CN" altLang="en-US" sz="2800" b="1" i="0" dirty="0">
                <a:solidFill>
                  <a:srgbClr val="002060"/>
                </a:solidFill>
                <a:effectLst/>
                <a:latin typeface="华文楷体" panose="02010600040101010101" pitchFamily="2" charset="-122"/>
                <a:ea typeface="华文楷体" panose="02010600040101010101" pitchFamily="2" charset="-122"/>
              </a:rPr>
              <a:t>曲线</a:t>
            </a:r>
            <a:r>
              <a:rPr lang="zh-CN" altLang="en-US" sz="2800" b="1" dirty="0">
                <a:solidFill>
                  <a:srgbClr val="002060"/>
                </a:solidFill>
                <a:latin typeface="华文楷体" panose="02010600040101010101" pitchFamily="2" charset="-122"/>
                <a:ea typeface="华文楷体" panose="02010600040101010101" pitchFamily="2" charset="-122"/>
              </a:rPr>
              <a:t>或曲面</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800" b="1" kern="0" dirty="0">
                <a:solidFill>
                  <a:srgbClr val="FF0000"/>
                </a:solidFill>
                <a:latin typeface="华文楷体" panose="02010600040101010101" pitchFamily="2" charset="-122"/>
                <a:ea typeface="华文楷体" panose="02010600040101010101" pitchFamily="2" charset="-122"/>
              </a:rPr>
              <a:t>拟合数据居中和缩放</a:t>
            </a:r>
            <a:endParaRPr lang="en-US" altLang="zh-CN" sz="2800" b="1" kern="0" dirty="0">
              <a:solidFill>
                <a:srgbClr val="FF0000"/>
              </a:solidFill>
              <a:latin typeface="华文楷体" panose="02010600040101010101" pitchFamily="2" charset="-122"/>
              <a:ea typeface="华文楷体" panose="02010600040101010101" pitchFamily="2" charset="-122"/>
            </a:endParaRPr>
          </a:p>
        </p:txBody>
      </p:sp>
      <p:sp>
        <p:nvSpPr>
          <p:cNvPr id="23" name="Text Box 3">
            <a:extLst>
              <a:ext uri="{FF2B5EF4-FFF2-40B4-BE49-F238E27FC236}">
                <a16:creationId xmlns:a16="http://schemas.microsoft.com/office/drawing/2014/main" id="{5F429AE6-AE66-46B7-B92F-1EFBA1662329}"/>
              </a:ext>
            </a:extLst>
          </p:cNvPr>
          <p:cNvSpPr txBox="1"/>
          <p:nvPr/>
        </p:nvSpPr>
        <p:spPr bwMode="auto">
          <a:xfrm>
            <a:off x="3961023" y="3168204"/>
            <a:ext cx="5049158"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tabLst/>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pPr algn="dist"/>
            <a:r>
              <a:rPr lang="en-US" altLang="zh-CN" sz="1800" dirty="0"/>
              <a:t>fit(</a:t>
            </a:r>
            <a:r>
              <a:rPr lang="zh-CN" altLang="zh-CN" sz="1800" dirty="0"/>
              <a:t>fitobject</a:t>
            </a:r>
            <a:r>
              <a:rPr lang="en-US" altLang="zh-CN" sz="1800" dirty="0"/>
              <a:t>,</a:t>
            </a:r>
            <a:r>
              <a:rPr lang="en-US" altLang="zh-CN" sz="1800" dirty="0" err="1"/>
              <a:t>x,y</a:t>
            </a:r>
            <a:r>
              <a:rPr lang="en-US" altLang="zh-CN" sz="1800" dirty="0"/>
              <a:t>,</a:t>
            </a:r>
            <a:r>
              <a:rPr lang="zh-CN" altLang="zh-CN" sz="1800" dirty="0">
                <a:highlight>
                  <a:srgbClr val="FF0000"/>
                </a:highlight>
              </a:rPr>
              <a:t>normalize=true</a:t>
            </a:r>
            <a:r>
              <a:rPr lang="en-US" altLang="zh-CN" sz="1800" dirty="0">
                <a:highlight>
                  <a:srgbClr val="FF0000"/>
                </a:highlight>
              </a:rPr>
              <a:t>)</a:t>
            </a:r>
            <a:endParaRPr lang="zh-CN" altLang="zh-CN" sz="1800" dirty="0">
              <a:highlight>
                <a:srgbClr val="FF0000"/>
              </a:highlight>
            </a:endParaRPr>
          </a:p>
        </p:txBody>
      </p:sp>
      <p:sp>
        <p:nvSpPr>
          <p:cNvPr id="29" name="波形 28">
            <a:extLst>
              <a:ext uri="{FF2B5EF4-FFF2-40B4-BE49-F238E27FC236}">
                <a16:creationId xmlns:a16="http://schemas.microsoft.com/office/drawing/2014/main" id="{75E983E1-DF88-4B32-A989-67521FF248C5}"/>
              </a:ext>
            </a:extLst>
          </p:cNvPr>
          <p:cNvSpPr/>
          <p:nvPr/>
        </p:nvSpPr>
        <p:spPr>
          <a:xfrm>
            <a:off x="385285" y="779572"/>
            <a:ext cx="1016537" cy="38414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53-1-3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38C7AE01-7C39-453C-ACA1-8F56876CA538}"/>
              </a:ext>
            </a:extLst>
          </p:cNvPr>
          <p:cNvSpPr txBox="1"/>
          <p:nvPr/>
        </p:nvSpPr>
        <p:spPr>
          <a:xfrm>
            <a:off x="236905" y="3162125"/>
            <a:ext cx="3759031" cy="430887"/>
          </a:xfrm>
          <a:prstGeom prst="rect">
            <a:avLst/>
          </a:prstGeom>
          <a:noFill/>
        </p:spPr>
        <p:txBody>
          <a:bodyPr wrap="square">
            <a:spAutoFit/>
          </a:bodyPr>
          <a:lstStyle/>
          <a:p>
            <a:r>
              <a:rPr lang="zh-CN" altLang="en-US" sz="2200" b="1" i="0" dirty="0">
                <a:solidFill>
                  <a:srgbClr val="0070C0"/>
                </a:solidFill>
                <a:effectLst/>
                <a:latin typeface="Microsoft YaHei" panose="020B0503020204020204" pitchFamily="34" charset="-122"/>
                <a:ea typeface="Microsoft YaHei" panose="020B0503020204020204" pitchFamily="34" charset="-122"/>
              </a:rPr>
              <a:t>中心缩放</a:t>
            </a:r>
            <a:r>
              <a:rPr lang="zh-CN" altLang="en-US" sz="2200" b="1" dirty="0">
                <a:solidFill>
                  <a:srgbClr val="0070C0"/>
                </a:solidFill>
                <a:latin typeface="Microsoft YaHei" panose="020B0503020204020204" pitchFamily="34" charset="-122"/>
                <a:ea typeface="Microsoft YaHei" panose="020B0503020204020204" pitchFamily="34" charset="-122"/>
              </a:rPr>
              <a:t>拟合</a:t>
            </a:r>
            <a:r>
              <a:rPr lang="en-US" altLang="zh-CN" sz="2200" b="1" dirty="0">
                <a:solidFill>
                  <a:srgbClr val="0070C0"/>
                </a:solidFill>
                <a:latin typeface="Microsoft YaHei" panose="020B0503020204020204" pitchFamily="34" charset="-122"/>
                <a:ea typeface="Microsoft YaHei" panose="020B0503020204020204" pitchFamily="34" charset="-122"/>
              </a:rPr>
              <a:t>fit</a:t>
            </a:r>
            <a:r>
              <a:rPr lang="zh-CN" altLang="en-US" sz="2200" b="1" dirty="0">
                <a:solidFill>
                  <a:srgbClr val="0070C0"/>
                </a:solidFill>
                <a:latin typeface="Microsoft YaHei" panose="020B0503020204020204" pitchFamily="34" charset="-122"/>
                <a:ea typeface="Microsoft YaHei" panose="020B0503020204020204" pitchFamily="34" charset="-122"/>
              </a:rPr>
              <a:t>的调用格式：</a:t>
            </a:r>
            <a:endParaRPr lang="zh-CN" altLang="en-US" sz="2200" dirty="0"/>
          </a:p>
        </p:txBody>
      </p:sp>
      <p:sp>
        <p:nvSpPr>
          <p:cNvPr id="33" name="文本框 32">
            <a:extLst>
              <a:ext uri="{FF2B5EF4-FFF2-40B4-BE49-F238E27FC236}">
                <a16:creationId xmlns:a16="http://schemas.microsoft.com/office/drawing/2014/main" id="{086FFFB7-403F-4F83-8958-A4A7C69873A0}"/>
              </a:ext>
            </a:extLst>
          </p:cNvPr>
          <p:cNvSpPr txBox="1"/>
          <p:nvPr/>
        </p:nvSpPr>
        <p:spPr>
          <a:xfrm>
            <a:off x="215006" y="1249879"/>
            <a:ext cx="8928994" cy="769441"/>
          </a:xfrm>
          <a:prstGeom prst="rect">
            <a:avLst/>
          </a:prstGeom>
          <a:noFill/>
        </p:spPr>
        <p:txBody>
          <a:bodyPr wrap="square">
            <a:spAutoFit/>
          </a:bodyPr>
          <a:lstStyle/>
          <a:p>
            <a:r>
              <a:rPr lang="zh-CN" altLang="en-US" sz="2200" dirty="0">
                <a:solidFill>
                  <a:srgbClr val="FF0000"/>
                </a:solidFill>
              </a:rPr>
              <a:t>结果：</a:t>
            </a:r>
            <a:r>
              <a:rPr lang="en-US" altLang="zh-CN" sz="2200" dirty="0">
                <a:solidFill>
                  <a:srgbClr val="FF0000"/>
                </a:solidFill>
              </a:rPr>
              <a:t> Warning: Equation is badly conditioned. Remove repeated data points or try centering and scaling.</a:t>
            </a:r>
            <a:endParaRPr lang="zh-CN" altLang="en-US" sz="2200" dirty="0">
              <a:solidFill>
                <a:srgbClr val="FF0000"/>
              </a:solidFill>
            </a:endParaRPr>
          </a:p>
        </p:txBody>
      </p:sp>
      <p:sp>
        <p:nvSpPr>
          <p:cNvPr id="27" name="文本框 26">
            <a:extLst>
              <a:ext uri="{FF2B5EF4-FFF2-40B4-BE49-F238E27FC236}">
                <a16:creationId xmlns:a16="http://schemas.microsoft.com/office/drawing/2014/main" id="{E96D9B7E-F448-46A0-A92C-F098FE058817}"/>
              </a:ext>
            </a:extLst>
          </p:cNvPr>
          <p:cNvSpPr txBox="1"/>
          <p:nvPr/>
        </p:nvSpPr>
        <p:spPr>
          <a:xfrm>
            <a:off x="215006" y="4148688"/>
            <a:ext cx="8928994" cy="400110"/>
          </a:xfrm>
          <a:prstGeom prst="rect">
            <a:avLst/>
          </a:prstGeom>
          <a:noFill/>
        </p:spPr>
        <p:txBody>
          <a:bodyPr wrap="square">
            <a:spAutoFit/>
          </a:bodyPr>
          <a:lstStyle/>
          <a:p>
            <a:pPr marL="342900" indent="-342900">
              <a:buFont typeface="+mj-ea"/>
              <a:buAutoNum type="circleNumDbPlain" startAt="2"/>
            </a:pPr>
            <a:r>
              <a:rPr lang="zh-CN" altLang="en-US" sz="2000" dirty="0">
                <a:solidFill>
                  <a:srgbClr val="0070C0"/>
                </a:solidFill>
                <a:latin typeface="Microsoft YaHei" panose="020B0503020204020204" pitchFamily="34" charset="-122"/>
                <a:ea typeface="Microsoft YaHei" panose="020B0503020204020204" pitchFamily="34" charset="-122"/>
              </a:rPr>
              <a:t>中心缩放</a:t>
            </a:r>
            <a:r>
              <a:rPr lang="en-US" altLang="zh-CN" sz="2000" dirty="0">
                <a:solidFill>
                  <a:srgbClr val="0070C0"/>
                </a:solidFill>
                <a:latin typeface="Microsoft YaHei" panose="020B0503020204020204" pitchFamily="34" charset="-122"/>
                <a:ea typeface="Microsoft YaHei" panose="020B0503020204020204" pitchFamily="34" charset="-122"/>
              </a:rPr>
              <a:t>normalize=true</a:t>
            </a:r>
            <a:r>
              <a:rPr lang="zh-CN" altLang="en-US" sz="2000" dirty="0">
                <a:solidFill>
                  <a:srgbClr val="0070C0"/>
                </a:solidFill>
                <a:latin typeface="Microsoft YaHei" panose="020B0503020204020204" pitchFamily="34" charset="-122"/>
                <a:ea typeface="Microsoft YaHei" panose="020B0503020204020204" pitchFamily="34" charset="-122"/>
              </a:rPr>
              <a:t>：将 </a:t>
            </a:r>
            <a:r>
              <a:rPr lang="en-US" altLang="zh-CN" sz="2000" dirty="0">
                <a:solidFill>
                  <a:srgbClr val="0070C0"/>
                </a:solidFill>
                <a:latin typeface="Microsoft YaHei" panose="020B0503020204020204" pitchFamily="34" charset="-122"/>
                <a:ea typeface="Microsoft YaHei" panose="020B0503020204020204" pitchFamily="34" charset="-122"/>
              </a:rPr>
              <a:t>x </a:t>
            </a:r>
            <a:r>
              <a:rPr lang="zh-CN" altLang="en-US" sz="2000" dirty="0">
                <a:solidFill>
                  <a:srgbClr val="0070C0"/>
                </a:solidFill>
                <a:latin typeface="Microsoft YaHei" panose="020B0503020204020204" pitchFamily="34" charset="-122"/>
                <a:ea typeface="Microsoft YaHei" panose="020B0503020204020204" pitchFamily="34" charset="-122"/>
              </a:rPr>
              <a:t>中心置于零值处并缩放为具有单位标准差</a:t>
            </a:r>
          </a:p>
        </p:txBody>
      </p:sp>
      <p:sp>
        <p:nvSpPr>
          <p:cNvPr id="28" name="文本框 27">
            <a:extLst>
              <a:ext uri="{FF2B5EF4-FFF2-40B4-BE49-F238E27FC236}">
                <a16:creationId xmlns:a16="http://schemas.microsoft.com/office/drawing/2014/main" id="{5404CAD0-A405-423E-9E67-961B5DD31EFA}"/>
              </a:ext>
            </a:extLst>
          </p:cNvPr>
          <p:cNvSpPr txBox="1"/>
          <p:nvPr/>
        </p:nvSpPr>
        <p:spPr>
          <a:xfrm>
            <a:off x="236905" y="2105479"/>
            <a:ext cx="2792620" cy="430887"/>
          </a:xfrm>
          <a:prstGeom prst="rect">
            <a:avLst/>
          </a:prstGeom>
          <a:noFill/>
        </p:spPr>
        <p:txBody>
          <a:bodyPr wrap="square">
            <a:spAutoFit/>
          </a:bodyPr>
          <a:lstStyle>
            <a:defPPr>
              <a:defRPr lang="zh-CN"/>
            </a:defPPr>
            <a:lvl1pPr>
              <a:defRPr sz="2200"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dirty="0"/>
              <a:t>中心化和缩放变换：</a:t>
            </a:r>
          </a:p>
        </p:txBody>
      </p:sp>
      <p:sp>
        <p:nvSpPr>
          <p:cNvPr id="34" name="文本框 33">
            <a:extLst>
              <a:ext uri="{FF2B5EF4-FFF2-40B4-BE49-F238E27FC236}">
                <a16:creationId xmlns:a16="http://schemas.microsoft.com/office/drawing/2014/main" id="{C1D9B672-42B8-41FC-A655-EBA35E0CB026}"/>
              </a:ext>
            </a:extLst>
          </p:cNvPr>
          <p:cNvSpPr txBox="1"/>
          <p:nvPr/>
        </p:nvSpPr>
        <p:spPr>
          <a:xfrm>
            <a:off x="255697" y="2630844"/>
            <a:ext cx="8928994" cy="400110"/>
          </a:xfrm>
          <a:prstGeom prst="rect">
            <a:avLst/>
          </a:prstGeom>
          <a:noFill/>
        </p:spPr>
        <p:txBody>
          <a:bodyPr wrap="square">
            <a:spAutoFit/>
          </a:bodyPr>
          <a:lstStyle>
            <a:defPPr>
              <a:defRPr lang="zh-CN"/>
            </a:defPPr>
            <a:lvl1pPr marL="342900" indent="-342900">
              <a:buFont typeface="+mj-ea"/>
              <a:buAutoNum type="circleNumDbPlain"/>
              <a:defRPr sz="2000" b="0">
                <a:solidFill>
                  <a:srgbClr val="0070C0"/>
                </a:solidFill>
                <a:latin typeface="Microsoft YaHei" panose="020B0503020204020204" pitchFamily="34" charset="-122"/>
                <a:ea typeface="Microsoft YaHei" panose="020B0503020204020204" pitchFamily="34" charset="-122"/>
              </a:defRPr>
            </a:lvl1pPr>
          </a:lstStyle>
          <a:p>
            <a:pPr marL="0" indent="0">
              <a:buNone/>
            </a:pPr>
            <a:r>
              <a:rPr lang="zh-CN" altLang="en-US" dirty="0"/>
              <a:t>可同时改善多项式和拟合算法数值属性，避免在拟合中出现病态的范德蒙矩阵</a:t>
            </a:r>
          </a:p>
        </p:txBody>
      </p:sp>
      <p:sp>
        <p:nvSpPr>
          <p:cNvPr id="35" name="文本框 34">
            <a:extLst>
              <a:ext uri="{FF2B5EF4-FFF2-40B4-BE49-F238E27FC236}">
                <a16:creationId xmlns:a16="http://schemas.microsoft.com/office/drawing/2014/main" id="{25034356-37D8-45BB-B5D5-B5E7BA8F9F82}"/>
              </a:ext>
            </a:extLst>
          </p:cNvPr>
          <p:cNvSpPr txBox="1"/>
          <p:nvPr/>
        </p:nvSpPr>
        <p:spPr>
          <a:xfrm>
            <a:off x="215734" y="3694994"/>
            <a:ext cx="6015785" cy="400110"/>
          </a:xfrm>
          <a:prstGeom prst="rect">
            <a:avLst/>
          </a:prstGeom>
          <a:noFill/>
        </p:spPr>
        <p:txBody>
          <a:bodyPr wrap="square">
            <a:spAutoFit/>
          </a:bodyPr>
          <a:lstStyle>
            <a:defPPr>
              <a:defRPr lang="zh-CN"/>
            </a:defPPr>
            <a:lvl1pPr>
              <a:defRPr b="1">
                <a:solidFill>
                  <a:srgbClr val="0070C0"/>
                </a:solidFill>
                <a:latin typeface="Microsoft YaHei" panose="020B0503020204020204" pitchFamily="34" charset="-122"/>
                <a:ea typeface="Microsoft YaHei" panose="020B0503020204020204" pitchFamily="34" charset="-122"/>
              </a:defRPr>
            </a:lvl1pPr>
          </a:lstStyle>
          <a:p>
            <a:pPr marL="342900" indent="-342900">
              <a:buFont typeface="+mj-ea"/>
              <a:buAutoNum type="circleNumDbPlain"/>
            </a:pPr>
            <a:r>
              <a:rPr lang="zh-CN" altLang="en-US" sz="2000" b="0" dirty="0"/>
              <a:t>将采样数据</a:t>
            </a:r>
            <a:r>
              <a:rPr lang="en-US" altLang="zh-CN" sz="2000" b="0" dirty="0" err="1">
                <a:hlinkClick r:id="rId2" action="ppaction://hlinkfile">
                  <a:extLst>
                    <a:ext uri="{A12FA001-AC4F-418D-AE19-62706E023703}">
                      <ahyp:hlinkClr xmlns:ahyp="http://schemas.microsoft.com/office/drawing/2018/hyperlinkcolor" val="tx"/>
                    </a:ext>
                  </a:extLst>
                </a:hlinkClick>
              </a:rPr>
              <a:t>x,y</a:t>
            </a:r>
            <a:r>
              <a:rPr lang="zh-CN" altLang="en-US" sz="2000" b="0" dirty="0"/>
              <a:t> 按指定模型</a:t>
            </a:r>
            <a:r>
              <a:rPr lang="en-US" altLang="zh-CN" sz="2000" b="0" dirty="0" err="1">
                <a:hlinkClick r:id="rId3" action="ppaction://hlinkfile">
                  <a:extLst>
                    <a:ext uri="{A12FA001-AC4F-418D-AE19-62706E023703}">
                      <ahyp:hlinkClr xmlns:ahyp="http://schemas.microsoft.com/office/drawing/2018/hyperlinkcolor" val="tx"/>
                    </a:ext>
                  </a:extLst>
                </a:hlinkClick>
              </a:rPr>
              <a:t>fitType</a:t>
            </a:r>
            <a:r>
              <a:rPr lang="zh-CN" altLang="en-US" sz="2000" b="0" dirty="0"/>
              <a:t>拟合曲线</a:t>
            </a:r>
          </a:p>
        </p:txBody>
      </p:sp>
    </p:spTree>
    <p:extLst>
      <p:ext uri="{BB962C8B-B14F-4D97-AF65-F5344CB8AC3E}">
        <p14:creationId xmlns:p14="http://schemas.microsoft.com/office/powerpoint/2010/main" val="2271799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0" grpId="0"/>
      <p:bldP spid="27" grpId="0"/>
      <p:bldP spid="28" grpId="0"/>
      <p:bldP spid="34" grpId="0"/>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B4A99901-063E-465A-987D-8DEEC9483A94}"/>
              </a:ext>
            </a:extLst>
          </p:cNvPr>
          <p:cNvPicPr>
            <a:picLocks noChangeAspect="1"/>
          </p:cNvPicPr>
          <p:nvPr/>
        </p:nvPicPr>
        <p:blipFill rotWithShape="1">
          <a:blip r:embed="rId2"/>
          <a:srcRect l="27635" t="16775" r="33481" b="28026"/>
          <a:stretch/>
        </p:blipFill>
        <p:spPr>
          <a:xfrm>
            <a:off x="6444210" y="3018146"/>
            <a:ext cx="2511463" cy="1636103"/>
          </a:xfrm>
          <a:prstGeom prst="rect">
            <a:avLst/>
          </a:prstGeom>
        </p:spPr>
      </p:pic>
      <p:sp>
        <p:nvSpPr>
          <p:cNvPr id="5" name="文本框 4">
            <a:extLst>
              <a:ext uri="{FF2B5EF4-FFF2-40B4-BE49-F238E27FC236}">
                <a16:creationId xmlns:a16="http://schemas.microsoft.com/office/drawing/2014/main" id="{3AB4B281-729D-4D61-852C-980CF0369656}"/>
              </a:ext>
            </a:extLst>
          </p:cNvPr>
          <p:cNvSpPr txBox="1"/>
          <p:nvPr/>
        </p:nvSpPr>
        <p:spPr>
          <a:xfrm>
            <a:off x="6676947" y="4052546"/>
            <a:ext cx="1615956" cy="369332"/>
          </a:xfrm>
          <a:prstGeom prst="rect">
            <a:avLst/>
          </a:prstGeom>
          <a:noFill/>
        </p:spPr>
        <p:txBody>
          <a:bodyPr wrap="square">
            <a:spAutoFit/>
          </a:bodyPr>
          <a:lstStyle>
            <a:defPPr>
              <a:defRPr lang="zh-CN"/>
            </a:defPPr>
            <a:lvl1pPr>
              <a:defRPr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dirty="0"/>
              <a:t>缩放后图形</a:t>
            </a:r>
          </a:p>
        </p:txBody>
      </p:sp>
      <p:pic>
        <p:nvPicPr>
          <p:cNvPr id="6" name="图片 5">
            <a:extLst>
              <a:ext uri="{FF2B5EF4-FFF2-40B4-BE49-F238E27FC236}">
                <a16:creationId xmlns:a16="http://schemas.microsoft.com/office/drawing/2014/main" id="{6DA12134-8EA2-4CBA-A959-1CDD396B1975}"/>
              </a:ext>
            </a:extLst>
          </p:cNvPr>
          <p:cNvPicPr>
            <a:picLocks noChangeAspect="1"/>
          </p:cNvPicPr>
          <p:nvPr/>
        </p:nvPicPr>
        <p:blipFill rotWithShape="1">
          <a:blip r:embed="rId3"/>
          <a:srcRect l="5114" t="13601" r="7475" b="8000"/>
          <a:stretch/>
        </p:blipFill>
        <p:spPr>
          <a:xfrm>
            <a:off x="205522" y="2994934"/>
            <a:ext cx="2485003" cy="1636103"/>
          </a:xfrm>
          <a:prstGeom prst="rect">
            <a:avLst/>
          </a:prstGeom>
        </p:spPr>
      </p:pic>
      <p:sp>
        <p:nvSpPr>
          <p:cNvPr id="7" name="文本框 6">
            <a:extLst>
              <a:ext uri="{FF2B5EF4-FFF2-40B4-BE49-F238E27FC236}">
                <a16:creationId xmlns:a16="http://schemas.microsoft.com/office/drawing/2014/main" id="{17FBBC7A-6685-480C-8ADA-A3AA7DD3CADF}"/>
              </a:ext>
            </a:extLst>
          </p:cNvPr>
          <p:cNvSpPr txBox="1"/>
          <p:nvPr/>
        </p:nvSpPr>
        <p:spPr>
          <a:xfrm>
            <a:off x="1344934" y="4052546"/>
            <a:ext cx="1402040" cy="369332"/>
          </a:xfrm>
          <a:prstGeom prst="rect">
            <a:avLst/>
          </a:prstGeom>
          <a:noFill/>
        </p:spPr>
        <p:txBody>
          <a:bodyPr wrap="square">
            <a:spAutoFit/>
          </a:bodyPr>
          <a:lstStyle>
            <a:defPPr>
              <a:defRPr lang="zh-CN"/>
            </a:defPPr>
            <a:lvl1pPr>
              <a:defRPr b="1" i="0">
                <a:solidFill>
                  <a:srgbClr val="0070C0"/>
                </a:solidFill>
                <a:effectLst/>
                <a:latin typeface="Microsoft YaHei" panose="020B0503020204020204" pitchFamily="34" charset="-122"/>
                <a:ea typeface="Microsoft YaHei" panose="020B0503020204020204" pitchFamily="34" charset="-122"/>
              </a:defRPr>
            </a:lvl1pPr>
          </a:lstStyle>
          <a:p>
            <a:r>
              <a:rPr lang="zh-CN" altLang="en-US" dirty="0"/>
              <a:t>缩放前图形</a:t>
            </a:r>
          </a:p>
        </p:txBody>
      </p:sp>
      <p:sp>
        <p:nvSpPr>
          <p:cNvPr id="8" name="形状 209924">
            <a:extLst>
              <a:ext uri="{FF2B5EF4-FFF2-40B4-BE49-F238E27FC236}">
                <a16:creationId xmlns:a16="http://schemas.microsoft.com/office/drawing/2014/main" id="{AAD49227-C63F-4FF6-ACC2-4F55BE17753F}"/>
              </a:ext>
            </a:extLst>
          </p:cNvPr>
          <p:cNvSpPr/>
          <p:nvPr/>
        </p:nvSpPr>
        <p:spPr>
          <a:xfrm>
            <a:off x="3042289" y="3923850"/>
            <a:ext cx="931760" cy="734674"/>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400" dirty="0">
                <a:solidFill>
                  <a:srgbClr val="FFFF00"/>
                </a:solidFill>
                <a:latin typeface="微软雅黑" panose="020B0503020204020204" pitchFamily="34" charset="-122"/>
                <a:ea typeface="微软雅黑" panose="020B0503020204020204" pitchFamily="34" charset="-122"/>
                <a:sym typeface="+mn-ea"/>
              </a:rPr>
              <a:t>注意</a:t>
            </a:r>
            <a:endParaRPr lang="en-US" altLang="zh-CN" sz="1400" dirty="0">
              <a:solidFill>
                <a:srgbClr val="FFFF00"/>
              </a:solidFill>
              <a:latin typeface="微软雅黑" panose="020B0503020204020204" pitchFamily="34" charset="-122"/>
              <a:ea typeface="微软雅黑" panose="020B0503020204020204" pitchFamily="34" charset="-122"/>
              <a:sym typeface="+mn-ea"/>
            </a:endParaRPr>
          </a:p>
        </p:txBody>
      </p:sp>
      <p:sp>
        <p:nvSpPr>
          <p:cNvPr id="9" name="文本框 8">
            <a:extLst>
              <a:ext uri="{FF2B5EF4-FFF2-40B4-BE49-F238E27FC236}">
                <a16:creationId xmlns:a16="http://schemas.microsoft.com/office/drawing/2014/main" id="{99603E1D-A1A7-45DB-87DD-1D9F47FADBFE}"/>
              </a:ext>
            </a:extLst>
          </p:cNvPr>
          <p:cNvSpPr txBox="1"/>
          <p:nvPr/>
        </p:nvSpPr>
        <p:spPr>
          <a:xfrm>
            <a:off x="3689836" y="1707654"/>
            <a:ext cx="5115512" cy="369332"/>
          </a:xfrm>
          <a:prstGeom prst="rect">
            <a:avLst/>
          </a:prstGeom>
          <a:noFill/>
        </p:spPr>
        <p:txBody>
          <a:bodyPr wrap="square">
            <a:spAutoFit/>
          </a:bodyPr>
          <a:lstStyle/>
          <a:p>
            <a:r>
              <a:rPr lang="en-US" altLang="zh-CN" b="1" dirty="0">
                <a:solidFill>
                  <a:srgbClr val="0070C0"/>
                </a:solidFill>
                <a:latin typeface="Consolas" panose="020B0609020204030204" pitchFamily="49" charset="0"/>
              </a:rPr>
              <a:t>f22=fit("poly2",t,y, normalize=true)</a:t>
            </a:r>
          </a:p>
        </p:txBody>
      </p:sp>
      <p:sp>
        <p:nvSpPr>
          <p:cNvPr id="10" name="文本框 9">
            <a:extLst>
              <a:ext uri="{FF2B5EF4-FFF2-40B4-BE49-F238E27FC236}">
                <a16:creationId xmlns:a16="http://schemas.microsoft.com/office/drawing/2014/main" id="{8EF7F65D-FA8F-4618-9DB4-0C23B8AFF585}"/>
              </a:ext>
            </a:extLst>
          </p:cNvPr>
          <p:cNvSpPr txBox="1"/>
          <p:nvPr/>
        </p:nvSpPr>
        <p:spPr>
          <a:xfrm>
            <a:off x="296637" y="1059305"/>
            <a:ext cx="8736114" cy="954107"/>
          </a:xfrm>
          <a:prstGeom prst="rect">
            <a:avLst/>
          </a:prstGeom>
          <a:noFill/>
        </p:spPr>
        <p:txBody>
          <a:bodyPr wrap="square">
            <a:spAutoFit/>
          </a:bodyPr>
          <a:lstStyle/>
          <a:p>
            <a:r>
              <a:rPr lang="en-US" altLang="zh-CN" sz="1400" dirty="0">
                <a:solidFill>
                  <a:srgbClr val="000000"/>
                </a:solidFill>
                <a:latin typeface="Consolas" panose="020B0609020204030204" pitchFamily="49" charset="0"/>
              </a:rPr>
              <a:t>t = </a:t>
            </a:r>
            <a:r>
              <a:rPr lang="en-US" altLang="zh-CN" sz="1400" dirty="0">
                <a:solidFill>
                  <a:srgbClr val="098658"/>
                </a:solidFill>
                <a:latin typeface="Consolas" panose="020B0609020204030204" pitchFamily="49" charset="0"/>
              </a:rPr>
              <a:t>1900</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10</a:t>
            </a:r>
            <a:r>
              <a:rPr lang="en-US" altLang="zh-CN" sz="1400" dirty="0">
                <a:solidFill>
                  <a:srgbClr val="000000"/>
                </a:solidFill>
                <a:latin typeface="Consolas" panose="020B0609020204030204" pitchFamily="49" charset="0"/>
              </a:rPr>
              <a:t>:</a:t>
            </a:r>
            <a:r>
              <a:rPr lang="en-US" altLang="zh-CN" sz="1400" dirty="0">
                <a:solidFill>
                  <a:srgbClr val="098658"/>
                </a:solidFill>
                <a:latin typeface="Consolas" panose="020B0609020204030204" pitchFamily="49" charset="0"/>
              </a:rPr>
              <a:t>1990</a:t>
            </a:r>
            <a:r>
              <a:rPr lang="en-US" altLang="zh-CN" sz="1400" dirty="0">
                <a:solidFill>
                  <a:srgbClr val="000000"/>
                </a:solidFill>
                <a:latin typeface="Consolas" panose="020B0609020204030204" pitchFamily="49" charset="0"/>
              </a:rPr>
              <a:t>; </a:t>
            </a:r>
            <a:r>
              <a:rPr lang="en-US" altLang="zh-CN" sz="1400" dirty="0">
                <a:solidFill>
                  <a:srgbClr val="008000"/>
                </a:solidFill>
                <a:latin typeface="Consolas" panose="020B0609020204030204" pitchFamily="49" charset="0"/>
              </a:rPr>
              <a:t># 1900-1990</a:t>
            </a:r>
            <a:r>
              <a:rPr lang="zh-CN" altLang="en-US" sz="1400" dirty="0">
                <a:solidFill>
                  <a:srgbClr val="008000"/>
                </a:solidFill>
                <a:latin typeface="Consolas" panose="020B0609020204030204" pitchFamily="49" charset="0"/>
              </a:rPr>
              <a:t>年步长为</a:t>
            </a:r>
            <a:r>
              <a:rPr lang="en-US" altLang="zh-CN" sz="1400" dirty="0">
                <a:solidFill>
                  <a:srgbClr val="008000"/>
                </a:solidFill>
                <a:latin typeface="Consolas" panose="020B0609020204030204" pitchFamily="49" charset="0"/>
              </a:rPr>
              <a:t>10</a:t>
            </a:r>
            <a:r>
              <a:rPr lang="zh-CN" altLang="en-US" sz="1400" dirty="0">
                <a:solidFill>
                  <a:srgbClr val="008000"/>
                </a:solidFill>
                <a:latin typeface="Consolas" panose="020B0609020204030204" pitchFamily="49" charset="0"/>
              </a:rPr>
              <a:t>的</a:t>
            </a:r>
            <a:r>
              <a:rPr lang="en-US" altLang="zh-CN" sz="1400" dirty="0">
                <a:solidFill>
                  <a:srgbClr val="008000"/>
                </a:solidFill>
                <a:latin typeface="Consolas" panose="020B0609020204030204" pitchFamily="49" charset="0"/>
              </a:rPr>
              <a:t>x</a:t>
            </a:r>
            <a:r>
              <a:rPr lang="zh-CN" altLang="en-US" sz="1400" dirty="0">
                <a:solidFill>
                  <a:srgbClr val="008000"/>
                </a:solidFill>
                <a:latin typeface="Consolas" panose="020B0609020204030204" pitchFamily="49" charset="0"/>
              </a:rPr>
              <a:t>轴年份数据</a:t>
            </a:r>
            <a:endParaRPr lang="zh-CN" altLang="en-US" sz="1400" dirty="0">
              <a:solidFill>
                <a:srgbClr val="000000"/>
              </a:solidFill>
              <a:latin typeface="Consolas" panose="020B0609020204030204" pitchFamily="49" charset="0"/>
            </a:endParaRPr>
          </a:p>
          <a:p>
            <a:r>
              <a:rPr lang="en-US" altLang="zh-CN" sz="1400" dirty="0">
                <a:solidFill>
                  <a:srgbClr val="000000"/>
                </a:solidFill>
                <a:latin typeface="Consolas" panose="020B0609020204030204" pitchFamily="49" charset="0"/>
              </a:rPr>
              <a:t>y = [</a:t>
            </a:r>
            <a:r>
              <a:rPr lang="en-US" altLang="zh-CN" sz="1400" dirty="0">
                <a:solidFill>
                  <a:srgbClr val="098658"/>
                </a:solidFill>
                <a:latin typeface="Consolas" panose="020B0609020204030204" pitchFamily="49" charset="0"/>
              </a:rPr>
              <a:t>75.99</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91.97</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105.71</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123.20</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131.66</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150.69</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179.32</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203.21</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226.50</a:t>
            </a:r>
            <a:r>
              <a:rPr lang="en-US" altLang="zh-CN" sz="1400" dirty="0">
                <a:solidFill>
                  <a:srgbClr val="000000"/>
                </a:solidFill>
                <a:latin typeface="Consolas" panose="020B0609020204030204" pitchFamily="49" charset="0"/>
              </a:rPr>
              <a:t>, </a:t>
            </a:r>
            <a:r>
              <a:rPr lang="en-US" altLang="zh-CN" sz="1400" dirty="0">
                <a:solidFill>
                  <a:srgbClr val="098658"/>
                </a:solidFill>
                <a:latin typeface="Consolas" panose="020B0609020204030204" pitchFamily="49" charset="0"/>
              </a:rPr>
              <a:t>249.63</a:t>
            </a:r>
            <a:r>
              <a:rPr lang="en-US" altLang="zh-CN" sz="1400" dirty="0">
                <a:solidFill>
                  <a:srgbClr val="000000"/>
                </a:solidFill>
                <a:latin typeface="Consolas" panose="020B0609020204030204" pitchFamily="49" charset="0"/>
              </a:rPr>
              <a:t>];</a:t>
            </a:r>
          </a:p>
          <a:p>
            <a:r>
              <a:rPr lang="en-US" altLang="zh-CN" sz="1400" b="1" dirty="0">
                <a:solidFill>
                  <a:srgbClr val="0070C0"/>
                </a:solidFill>
                <a:latin typeface="Consolas" panose="020B0609020204030204" pitchFamily="49" charset="0"/>
              </a:rPr>
              <a:t>f2=fit(“poly2”,t,y)</a:t>
            </a:r>
          </a:p>
          <a:p>
            <a:r>
              <a:rPr lang="en-US" altLang="zh-CN" sz="1400" b="0" dirty="0" err="1">
                <a:solidFill>
                  <a:srgbClr val="795E26"/>
                </a:solidFill>
                <a:effectLst/>
                <a:latin typeface="Consolas" panose="020B0609020204030204" pitchFamily="49" charset="0"/>
              </a:rPr>
              <a:t>plotfit</a:t>
            </a:r>
            <a:r>
              <a:rPr lang="en-US" altLang="zh-CN" sz="1400" b="0" dirty="0">
                <a:solidFill>
                  <a:srgbClr val="000000"/>
                </a:solidFill>
                <a:effectLst/>
                <a:latin typeface="Consolas" panose="020B0609020204030204" pitchFamily="49" charset="0"/>
              </a:rPr>
              <a:t>(f2,t,y)</a:t>
            </a:r>
          </a:p>
        </p:txBody>
      </p:sp>
      <p:sp>
        <p:nvSpPr>
          <p:cNvPr id="11" name="文本框 10">
            <a:extLst>
              <a:ext uri="{FF2B5EF4-FFF2-40B4-BE49-F238E27FC236}">
                <a16:creationId xmlns:a16="http://schemas.microsoft.com/office/drawing/2014/main" id="{41228814-E151-4D6B-99A7-A44447168459}"/>
              </a:ext>
            </a:extLst>
          </p:cNvPr>
          <p:cNvSpPr txBox="1"/>
          <p:nvPr/>
        </p:nvSpPr>
        <p:spPr>
          <a:xfrm>
            <a:off x="828546" y="68539"/>
            <a:ext cx="8315454" cy="560346"/>
          </a:xfrm>
          <a:prstGeom prst="rect">
            <a:avLst/>
          </a:prstGeom>
          <a:noFill/>
        </p:spPr>
        <p:txBody>
          <a:bodyPr wrap="square">
            <a:spAutoFit/>
          </a:bodyPr>
          <a:lstStyle/>
          <a:p>
            <a:pPr eaLnBrk="0">
              <a:lnSpc>
                <a:spcPts val="3900"/>
              </a:lnSpc>
              <a:spcBef>
                <a:spcPts val="0"/>
              </a:spcBef>
              <a:spcAft>
                <a:spcPts val="0"/>
              </a:spcAft>
            </a:pPr>
            <a:r>
              <a:rPr lang="en-US" altLang="ko-KR" sz="2600" dirty="0">
                <a:solidFill>
                  <a:srgbClr val="002060"/>
                </a:solidFill>
                <a:latin typeface="华文楷体" panose="02010600040101010101" pitchFamily="2" charset="-122"/>
                <a:ea typeface="华文楷体" panose="02010600040101010101" pitchFamily="2" charset="-122"/>
              </a:rPr>
              <a:t>§5.3 </a:t>
            </a:r>
            <a:r>
              <a:rPr lang="en-US" altLang="zh-CN" sz="2600" dirty="0">
                <a:solidFill>
                  <a:srgbClr val="002060"/>
                </a:solidFill>
                <a:latin typeface="华文楷体" panose="02010600040101010101" pitchFamily="2" charset="-122"/>
                <a:ea typeface="华文楷体" panose="02010600040101010101" pitchFamily="2" charset="-122"/>
              </a:rPr>
              <a:t>fit</a:t>
            </a:r>
            <a:r>
              <a:rPr lang="zh-CN" altLang="en-US" sz="2600" dirty="0">
                <a:solidFill>
                  <a:srgbClr val="002060"/>
                </a:solidFill>
                <a:latin typeface="华文楷体" panose="02010600040101010101" pitchFamily="2" charset="-122"/>
                <a:ea typeface="华文楷体" panose="02010600040101010101" pitchFamily="2" charset="-122"/>
              </a:rPr>
              <a:t>拟合</a:t>
            </a:r>
            <a:r>
              <a:rPr lang="zh-CN" altLang="en-US" sz="2600" b="0" i="0" dirty="0">
                <a:solidFill>
                  <a:srgbClr val="002060"/>
                </a:solidFill>
                <a:effectLst/>
                <a:latin typeface="华文楷体" panose="02010600040101010101" pitchFamily="2" charset="-122"/>
                <a:ea typeface="华文楷体" panose="02010600040101010101" pitchFamily="2" charset="-122"/>
              </a:rPr>
              <a:t>曲线</a:t>
            </a:r>
            <a:r>
              <a:rPr lang="zh-CN" altLang="en-US" sz="2600" dirty="0">
                <a:solidFill>
                  <a:srgbClr val="002060"/>
                </a:solidFill>
                <a:latin typeface="华文楷体" panose="02010600040101010101" pitchFamily="2" charset="-122"/>
                <a:ea typeface="华文楷体" panose="02010600040101010101" pitchFamily="2" charset="-122"/>
              </a:rPr>
              <a:t>或曲面</a:t>
            </a:r>
            <a:r>
              <a:rPr lang="en-US" altLang="zh-CN" sz="260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人口拟合数据居中和缩放</a:t>
            </a:r>
            <a:endParaRPr lang="en-US" altLang="zh-CN" sz="2600" kern="0" dirty="0">
              <a:solidFill>
                <a:srgbClr val="FF0000"/>
              </a:solidFill>
              <a:latin typeface="华文楷体" panose="02010600040101010101" pitchFamily="2" charset="-122"/>
              <a:ea typeface="华文楷体" panose="02010600040101010101" pitchFamily="2" charset="-122"/>
            </a:endParaRPr>
          </a:p>
        </p:txBody>
      </p:sp>
      <p:sp>
        <p:nvSpPr>
          <p:cNvPr id="12" name="文本框 11">
            <a:extLst>
              <a:ext uri="{FF2B5EF4-FFF2-40B4-BE49-F238E27FC236}">
                <a16:creationId xmlns:a16="http://schemas.microsoft.com/office/drawing/2014/main" id="{B8FDADD7-02DB-4724-A61E-ADAA9575589F}"/>
              </a:ext>
            </a:extLst>
          </p:cNvPr>
          <p:cNvSpPr txBox="1"/>
          <p:nvPr/>
        </p:nvSpPr>
        <p:spPr>
          <a:xfrm>
            <a:off x="296637" y="1970720"/>
            <a:ext cx="2599773" cy="1202060"/>
          </a:xfrm>
          <a:prstGeom prst="rect">
            <a:avLst/>
          </a:prstGeom>
          <a:noFill/>
        </p:spPr>
        <p:txBody>
          <a:bodyPr wrap="square">
            <a:spAutoFit/>
          </a:bodyPr>
          <a:lstStyle/>
          <a:p>
            <a:r>
              <a:rPr lang="zh-CN" altLang="en-US" sz="1200" b="1" dirty="0">
                <a:solidFill>
                  <a:srgbClr val="0070C0"/>
                </a:solidFill>
                <a:latin typeface="微软雅黑" panose="020B0503020204020204" pitchFamily="34" charset="-122"/>
                <a:ea typeface="微软雅黑" panose="020B0503020204020204" pitchFamily="34" charset="-122"/>
              </a:rPr>
              <a:t>f</a:t>
            </a:r>
            <a:r>
              <a:rPr lang="en-US" altLang="zh-CN" sz="1200" b="1" dirty="0">
                <a:solidFill>
                  <a:srgbClr val="0070C0"/>
                </a:solidFill>
                <a:latin typeface="微软雅黑" panose="020B0503020204020204" pitchFamily="34" charset="-122"/>
                <a:ea typeface="微软雅黑" panose="020B0503020204020204" pitchFamily="34" charset="-122"/>
              </a:rPr>
              <a:t>2</a:t>
            </a:r>
            <a:r>
              <a:rPr lang="zh-CN" altLang="en-US" sz="1200" b="1" dirty="0">
                <a:solidFill>
                  <a:srgbClr val="0070C0"/>
                </a:solidFill>
                <a:latin typeface="微软雅黑" panose="020B0503020204020204" pitchFamily="34" charset="-122"/>
                <a:ea typeface="微软雅黑" panose="020B0503020204020204" pitchFamily="34" charset="-122"/>
              </a:rPr>
              <a:t>.</a:t>
            </a:r>
            <a:r>
              <a:rPr lang="en-US" altLang="zh-CN" sz="1200" b="1" dirty="0">
                <a:solidFill>
                  <a:srgbClr val="0070C0"/>
                </a:solidFill>
                <a:latin typeface="微软雅黑" panose="020B0503020204020204" pitchFamily="34" charset="-122"/>
                <a:ea typeface="微软雅黑" panose="020B0503020204020204" pitchFamily="34" charset="-122"/>
              </a:rPr>
              <a:t>p</a:t>
            </a:r>
            <a:r>
              <a:rPr lang="zh-CN" altLang="en-US" sz="1200" b="1" dirty="0">
                <a:solidFill>
                  <a:srgbClr val="0070C0"/>
                </a:solidFill>
                <a:latin typeface="微软雅黑" panose="020B0503020204020204" pitchFamily="34" charset="-122"/>
                <a:ea typeface="微软雅黑" panose="020B0503020204020204" pitchFamily="34" charset="-122"/>
              </a:rPr>
              <a:t>arams  </a:t>
            </a:r>
            <a:endParaRPr lang="en-US" altLang="zh-CN" sz="1200" b="1" dirty="0">
              <a:solidFill>
                <a:srgbClr val="0070C0"/>
              </a:solidFill>
              <a:latin typeface="微软雅黑" panose="020B0503020204020204" pitchFamily="34" charset="-122"/>
              <a:ea typeface="微软雅黑" panose="020B0503020204020204" pitchFamily="34" charset="-122"/>
            </a:endParaRPr>
          </a:p>
          <a:p>
            <a:r>
              <a:rPr lang="en-US" altLang="zh-CN" sz="1200" dirty="0">
                <a:solidFill>
                  <a:srgbClr val="00B0F0"/>
                </a:solidFill>
              </a:rPr>
              <a:t>#</a:t>
            </a:r>
            <a:r>
              <a:rPr lang="zh-CN" altLang="en-US" sz="1200" dirty="0">
                <a:solidFill>
                  <a:srgbClr val="00B0F0"/>
                </a:solidFill>
              </a:rPr>
              <a:t>结果3-element Vector{Float64}:</a:t>
            </a:r>
          </a:p>
          <a:p>
            <a:pPr>
              <a:lnSpc>
                <a:spcPts val="2000"/>
              </a:lnSpc>
            </a:pPr>
            <a:r>
              <a:rPr lang="zh-CN" altLang="en-US" sz="1200" dirty="0">
                <a:solidFill>
                  <a:srgbClr val="00B0F0"/>
                </a:solidFill>
              </a:rPr>
              <a:t>  </a:t>
            </a:r>
            <a:r>
              <a:rPr lang="en-US" altLang="zh-CN" sz="1200" dirty="0">
                <a:solidFill>
                  <a:srgbClr val="00B0F0"/>
                </a:solidFill>
              </a:rPr>
              <a:t>p1=</a:t>
            </a:r>
            <a:r>
              <a:rPr lang="zh-CN" altLang="en-US" sz="1200" dirty="0">
                <a:solidFill>
                  <a:srgbClr val="00B0F0"/>
                </a:solidFill>
              </a:rPr>
              <a:t>0.00927196969697838</a:t>
            </a:r>
          </a:p>
          <a:p>
            <a:pPr>
              <a:lnSpc>
                <a:spcPts val="2000"/>
              </a:lnSpc>
            </a:pPr>
            <a:r>
              <a:rPr lang="zh-CN" altLang="en-US" sz="1200" dirty="0">
                <a:solidFill>
                  <a:srgbClr val="00B0F0"/>
                </a:solidFill>
              </a:rPr>
              <a:t> </a:t>
            </a:r>
            <a:r>
              <a:rPr lang="en-US" altLang="zh-CN" sz="1200" dirty="0">
                <a:solidFill>
                  <a:srgbClr val="00B0F0"/>
                </a:solidFill>
              </a:rPr>
              <a:t>p2=</a:t>
            </a:r>
            <a:r>
              <a:rPr lang="zh-CN" altLang="en-US" sz="1200" dirty="0">
                <a:solidFill>
                  <a:srgbClr val="00B0F0"/>
                </a:solidFill>
              </a:rPr>
              <a:t>-34.14107727276124</a:t>
            </a:r>
          </a:p>
          <a:p>
            <a:pPr>
              <a:lnSpc>
                <a:spcPts val="2000"/>
              </a:lnSpc>
            </a:pPr>
            <a:r>
              <a:rPr lang="zh-CN" altLang="en-US" sz="1200" dirty="0">
                <a:solidFill>
                  <a:srgbClr val="00B0F0"/>
                </a:solidFill>
              </a:rPr>
              <a:t> </a:t>
            </a:r>
            <a:r>
              <a:rPr lang="en-US" altLang="zh-CN" sz="1200" dirty="0">
                <a:solidFill>
                  <a:srgbClr val="00B0F0"/>
                </a:solidFill>
              </a:rPr>
              <a:t>p3=</a:t>
            </a:r>
            <a:r>
              <a:rPr lang="zh-CN" altLang="en-US" sz="1200" dirty="0">
                <a:solidFill>
                  <a:srgbClr val="00B0F0"/>
                </a:solidFill>
              </a:rPr>
              <a:t>31474.44075760897</a:t>
            </a:r>
          </a:p>
        </p:txBody>
      </p:sp>
      <p:sp>
        <p:nvSpPr>
          <p:cNvPr id="14" name="文本框 13">
            <a:extLst>
              <a:ext uri="{FF2B5EF4-FFF2-40B4-BE49-F238E27FC236}">
                <a16:creationId xmlns:a16="http://schemas.microsoft.com/office/drawing/2014/main" id="{059E704D-3648-431C-99D8-6395F3EE1480}"/>
              </a:ext>
            </a:extLst>
          </p:cNvPr>
          <p:cNvSpPr txBox="1"/>
          <p:nvPr/>
        </p:nvSpPr>
        <p:spPr>
          <a:xfrm>
            <a:off x="3701797" y="2042143"/>
            <a:ext cx="5285473" cy="1077218"/>
          </a:xfrm>
          <a:prstGeom prst="rect">
            <a:avLst/>
          </a:prstGeom>
          <a:noFill/>
        </p:spPr>
        <p:txBody>
          <a:bodyPr wrap="square">
            <a:spAutoFit/>
          </a:bodyPr>
          <a:lstStyle/>
          <a:p>
            <a:r>
              <a:rPr lang="zh-CN" altLang="en-US" sz="1400" b="1" dirty="0">
                <a:solidFill>
                  <a:srgbClr val="0070C0"/>
                </a:solidFill>
                <a:latin typeface="微软雅黑" panose="020B0503020204020204" pitchFamily="34" charset="-122"/>
                <a:ea typeface="微软雅黑" panose="020B0503020204020204" pitchFamily="34" charset="-122"/>
              </a:rPr>
              <a:t>f</a:t>
            </a:r>
            <a:r>
              <a:rPr lang="en-US" altLang="zh-CN" sz="1400" b="1" dirty="0">
                <a:solidFill>
                  <a:srgbClr val="0070C0"/>
                </a:solidFill>
                <a:latin typeface="微软雅黑" panose="020B0503020204020204" pitchFamily="34" charset="-122"/>
                <a:ea typeface="微软雅黑" panose="020B0503020204020204" pitchFamily="34" charset="-122"/>
              </a:rPr>
              <a:t>22</a:t>
            </a:r>
            <a:r>
              <a:rPr lang="zh-CN" altLang="en-US" sz="1400" b="1" dirty="0">
                <a:solidFill>
                  <a:srgbClr val="0070C0"/>
                </a:solidFill>
                <a:latin typeface="微软雅黑" panose="020B0503020204020204" pitchFamily="34" charset="-122"/>
                <a:ea typeface="微软雅黑" panose="020B0503020204020204" pitchFamily="34" charset="-122"/>
              </a:rPr>
              <a:t>.</a:t>
            </a:r>
            <a:r>
              <a:rPr lang="en-US" altLang="zh-CN" sz="1400" b="1" dirty="0">
                <a:solidFill>
                  <a:srgbClr val="0070C0"/>
                </a:solidFill>
                <a:latin typeface="微软雅黑" panose="020B0503020204020204" pitchFamily="34" charset="-122"/>
                <a:ea typeface="微软雅黑" panose="020B0503020204020204" pitchFamily="34" charset="-122"/>
              </a:rPr>
              <a:t>p</a:t>
            </a:r>
            <a:r>
              <a:rPr lang="zh-CN" altLang="en-US" sz="1400" b="1" dirty="0">
                <a:solidFill>
                  <a:srgbClr val="0070C0"/>
                </a:solidFill>
                <a:latin typeface="微软雅黑" panose="020B0503020204020204" pitchFamily="34" charset="-122"/>
                <a:ea typeface="微软雅黑" panose="020B0503020204020204" pitchFamily="34" charset="-122"/>
              </a:rPr>
              <a:t>arams  </a:t>
            </a:r>
            <a:r>
              <a:rPr lang="en-US" altLang="zh-CN" sz="1400" b="1" dirty="0">
                <a:solidFill>
                  <a:srgbClr val="0070C0"/>
                </a:solidFill>
                <a:latin typeface="微软雅黑" panose="020B0503020204020204" pitchFamily="34" charset="-122"/>
                <a:ea typeface="微软雅黑" panose="020B0503020204020204" pitchFamily="34" charset="-122"/>
              </a:rPr>
              <a:t>##</a:t>
            </a:r>
            <a:r>
              <a:rPr lang="zh-CN" altLang="en-US" sz="1400" b="1" dirty="0">
                <a:solidFill>
                  <a:srgbClr val="0070C0"/>
                </a:solidFill>
                <a:latin typeface="微软雅黑" panose="020B0503020204020204" pitchFamily="34" charset="-122"/>
                <a:ea typeface="微软雅黑" panose="020B0503020204020204" pitchFamily="34" charset="-122"/>
              </a:rPr>
              <a:t>中心缩放的二次多项式的系数</a:t>
            </a:r>
            <a:endParaRPr lang="en-US" altLang="zh-CN" sz="1400" dirty="0">
              <a:solidFill>
                <a:srgbClr val="00B0F0"/>
              </a:solidFill>
            </a:endParaRPr>
          </a:p>
          <a:p>
            <a:r>
              <a:rPr lang="en-US" altLang="zh-CN" sz="1400" dirty="0">
                <a:solidFill>
                  <a:srgbClr val="00B0F0"/>
                </a:solidFill>
              </a:rPr>
              <a:t>#</a:t>
            </a:r>
            <a:r>
              <a:rPr lang="zh-CN" altLang="en-US" sz="1400" dirty="0">
                <a:solidFill>
                  <a:srgbClr val="00B0F0"/>
                </a:solidFill>
              </a:rPr>
              <a:t>结果：Linear model poly2:</a:t>
            </a:r>
          </a:p>
          <a:p>
            <a:r>
              <a:rPr lang="zh-CN" altLang="en-US" sz="1200" dirty="0">
                <a:solidFill>
                  <a:srgbClr val="FF0000"/>
                </a:solidFill>
              </a:rPr>
              <a:t>p1 = 8.499305555555516  (4.8935093896571535, 12.105101721453877)</a:t>
            </a:r>
          </a:p>
          <a:p>
            <a:r>
              <a:rPr lang="zh-CN" altLang="en-US" sz="1200" dirty="0">
                <a:solidFill>
                  <a:srgbClr val="FF0000"/>
                </a:solidFill>
              </a:rPr>
              <a:t>p2 = 58.339335938202424 (55.32643103339913, 61.35224084300572)</a:t>
            </a:r>
          </a:p>
          <a:p>
            <a:r>
              <a:rPr lang="zh-CN" altLang="en-US" sz="1200" dirty="0">
                <a:solidFill>
                  <a:srgbClr val="FF0000"/>
                </a:solidFill>
              </a:rPr>
              <a:t>p3 = 146.13862500000005 (141.814128769935, 150.4631212300651)</a:t>
            </a:r>
          </a:p>
        </p:txBody>
      </p:sp>
      <p:sp>
        <p:nvSpPr>
          <p:cNvPr id="15" name="波形 14">
            <a:extLst>
              <a:ext uri="{FF2B5EF4-FFF2-40B4-BE49-F238E27FC236}">
                <a16:creationId xmlns:a16="http://schemas.microsoft.com/office/drawing/2014/main" id="{59208669-E7E0-4378-8DA2-66825AC024C8}"/>
              </a:ext>
            </a:extLst>
          </p:cNvPr>
          <p:cNvSpPr/>
          <p:nvPr/>
        </p:nvSpPr>
        <p:spPr>
          <a:xfrm>
            <a:off x="367432" y="698363"/>
            <a:ext cx="1016537" cy="38414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53-1-3</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20DF3507-0DBA-488D-A3C7-27A1BC5E01E7}"/>
              </a:ext>
            </a:extLst>
          </p:cNvPr>
          <p:cNvSpPr txBox="1"/>
          <p:nvPr/>
        </p:nvSpPr>
        <p:spPr>
          <a:xfrm>
            <a:off x="1464321" y="686723"/>
            <a:ext cx="7312247" cy="338554"/>
          </a:xfrm>
          <a:prstGeom prst="rect">
            <a:avLst/>
          </a:prstGeom>
          <a:noFill/>
        </p:spPr>
        <p:txBody>
          <a:bodyPr wrap="square">
            <a:spAutoFit/>
          </a:bodyPr>
          <a:lstStyle>
            <a:defPPr>
              <a:defRPr lang="zh-CN"/>
            </a:defPPr>
            <a:lvl1pPr>
              <a:defRPr b="1" i="0">
                <a:solidFill>
                  <a:srgbClr val="0070C0"/>
                </a:solidFill>
                <a:effectLst/>
                <a:latin typeface="Microsoft YaHei" panose="020B0503020204020204" pitchFamily="34" charset="-122"/>
                <a:ea typeface="Microsoft YaHei" panose="020B0503020204020204" pitchFamily="34" charset="-122"/>
              </a:defRPr>
            </a:lvl1pPr>
          </a:lstStyle>
          <a:p>
            <a:pPr algn="dist"/>
            <a:r>
              <a:rPr lang="zh-CN" altLang="en-US" sz="1600" dirty="0"/>
              <a:t>比较中心化缩放前后的</a:t>
            </a:r>
            <a:r>
              <a:rPr lang="en-US" altLang="zh-CN" sz="1600" dirty="0"/>
              <a:t>fit</a:t>
            </a:r>
            <a:r>
              <a:rPr lang="zh-CN" altLang="en-US" sz="1600" dirty="0"/>
              <a:t>二次多项式拟合美国人口</a:t>
            </a:r>
          </a:p>
        </p:txBody>
      </p:sp>
      <p:sp>
        <p:nvSpPr>
          <p:cNvPr id="17" name="文本框 16">
            <a:extLst>
              <a:ext uri="{FF2B5EF4-FFF2-40B4-BE49-F238E27FC236}">
                <a16:creationId xmlns:a16="http://schemas.microsoft.com/office/drawing/2014/main" id="{8E201E4B-6346-409A-A3D7-86EC55170C01}"/>
              </a:ext>
            </a:extLst>
          </p:cNvPr>
          <p:cNvSpPr txBox="1"/>
          <p:nvPr/>
        </p:nvSpPr>
        <p:spPr>
          <a:xfrm>
            <a:off x="3929364" y="4061545"/>
            <a:ext cx="2773616" cy="523220"/>
          </a:xfrm>
          <a:prstGeom prst="rect">
            <a:avLst/>
          </a:prstGeom>
          <a:noFill/>
        </p:spPr>
        <p:txBody>
          <a:bodyPr wrap="square">
            <a:spAutoFit/>
          </a:bodyPr>
          <a:lstStyle/>
          <a:p>
            <a:r>
              <a:rPr lang="zh-CN" altLang="en-US" sz="1400" dirty="0">
                <a:solidFill>
                  <a:srgbClr val="FF0000"/>
                </a:solidFill>
                <a:latin typeface="微软雅黑" panose="020B0503020204020204" pitchFamily="34" charset="-122"/>
                <a:ea typeface="微软雅黑" panose="020B0503020204020204" pitchFamily="34" charset="-122"/>
                <a:sym typeface="+mn-ea"/>
              </a:rPr>
              <a:t>中心缩放前后拟合图相同，</a:t>
            </a:r>
            <a:endParaRPr lang="en-US" altLang="zh-CN" sz="1400" dirty="0">
              <a:solidFill>
                <a:srgbClr val="FF0000"/>
              </a:solidFill>
              <a:latin typeface="微软雅黑" panose="020B0503020204020204" pitchFamily="34" charset="-122"/>
              <a:ea typeface="微软雅黑" panose="020B0503020204020204" pitchFamily="34" charset="-122"/>
              <a:sym typeface="+mn-ea"/>
            </a:endParaRPr>
          </a:p>
          <a:p>
            <a:r>
              <a:rPr lang="zh-CN" altLang="en-US" sz="1400" dirty="0">
                <a:solidFill>
                  <a:srgbClr val="FF0000"/>
                </a:solidFill>
                <a:latin typeface="微软雅黑" panose="020B0503020204020204" pitchFamily="34" charset="-122"/>
                <a:ea typeface="微软雅黑" panose="020B0503020204020204" pitchFamily="34" charset="-122"/>
                <a:sym typeface="+mn-ea"/>
              </a:rPr>
              <a:t>但待定参数纵坐标也相同</a:t>
            </a:r>
            <a:endParaRPr lang="en-US" altLang="zh-CN" sz="1400" dirty="0">
              <a:solidFill>
                <a:srgbClr val="FF0000"/>
              </a:solidFill>
              <a:latin typeface="微软雅黑" panose="020B0503020204020204" pitchFamily="34" charset="-122"/>
              <a:ea typeface="微软雅黑" panose="020B0503020204020204" pitchFamily="34" charset="-122"/>
              <a:sym typeface="+mn-ea"/>
            </a:endParaRPr>
          </a:p>
        </p:txBody>
      </p:sp>
      <p:sp>
        <p:nvSpPr>
          <p:cNvPr id="18" name="文本框 17">
            <a:extLst>
              <a:ext uri="{FF2B5EF4-FFF2-40B4-BE49-F238E27FC236}">
                <a16:creationId xmlns:a16="http://schemas.microsoft.com/office/drawing/2014/main" id="{778769C9-321D-4D34-AFE3-6E11E128DD68}"/>
              </a:ext>
            </a:extLst>
          </p:cNvPr>
          <p:cNvSpPr txBox="1"/>
          <p:nvPr/>
        </p:nvSpPr>
        <p:spPr>
          <a:xfrm>
            <a:off x="3701797" y="3065298"/>
            <a:ext cx="2359550" cy="369332"/>
          </a:xfrm>
          <a:prstGeom prst="rect">
            <a:avLst/>
          </a:prstGeom>
          <a:noFill/>
        </p:spPr>
        <p:txBody>
          <a:bodyPr wrap="square">
            <a:spAutoFit/>
          </a:bodyPr>
          <a:lstStyle/>
          <a:p>
            <a:r>
              <a:rPr lang="en-US" altLang="zh-CN" b="0" dirty="0" err="1">
                <a:solidFill>
                  <a:srgbClr val="795E26"/>
                </a:solidFill>
                <a:effectLst/>
                <a:latin typeface="Consolas" panose="020B0609020204030204" pitchFamily="49" charset="0"/>
              </a:rPr>
              <a:t>plotfit</a:t>
            </a:r>
            <a:r>
              <a:rPr lang="en-US" altLang="zh-CN" b="0" dirty="0">
                <a:solidFill>
                  <a:srgbClr val="000000"/>
                </a:solidFill>
                <a:effectLst/>
                <a:latin typeface="Consolas" panose="020B0609020204030204" pitchFamily="49" charset="0"/>
              </a:rPr>
              <a:t>(f22,t,y)</a:t>
            </a:r>
          </a:p>
        </p:txBody>
      </p:sp>
      <p:sp>
        <p:nvSpPr>
          <p:cNvPr id="19" name="文本框 18">
            <a:extLst>
              <a:ext uri="{FF2B5EF4-FFF2-40B4-BE49-F238E27FC236}">
                <a16:creationId xmlns:a16="http://schemas.microsoft.com/office/drawing/2014/main" id="{6B9F5B25-41A2-4AFA-A7AA-B6D9F1EC6D4B}"/>
              </a:ext>
            </a:extLst>
          </p:cNvPr>
          <p:cNvSpPr txBox="1"/>
          <p:nvPr/>
        </p:nvSpPr>
        <p:spPr>
          <a:xfrm>
            <a:off x="416749" y="3289497"/>
            <a:ext cx="2185346" cy="523220"/>
          </a:xfrm>
          <a:prstGeom prst="rect">
            <a:avLst/>
          </a:prstGeom>
          <a:noFill/>
        </p:spPr>
        <p:txBody>
          <a:bodyPr wrap="square">
            <a:spAutoFit/>
          </a:bodyPr>
          <a:lstStyle/>
          <a:p>
            <a:r>
              <a:rPr lang="zh-CN" altLang="en-US" sz="1400" b="1" dirty="0">
                <a:solidFill>
                  <a:srgbClr val="0070C0"/>
                </a:solidFill>
              </a:rPr>
              <a:t>f2(2050)  </a:t>
            </a:r>
            <a:r>
              <a:rPr lang="en-US" altLang="zh-CN" sz="1400" b="1" dirty="0">
                <a:solidFill>
                  <a:srgbClr val="0070C0"/>
                </a:solidFill>
              </a:rPr>
              <a:t>#2050</a:t>
            </a:r>
            <a:r>
              <a:rPr lang="zh-CN" altLang="en-US" sz="1400" b="1" dirty="0">
                <a:solidFill>
                  <a:srgbClr val="0070C0"/>
                </a:solidFill>
              </a:rPr>
              <a:t>人口</a:t>
            </a:r>
          </a:p>
          <a:p>
            <a:r>
              <a:rPr lang="zh-CN" altLang="en-US" sz="1400" b="1" dirty="0">
                <a:solidFill>
                  <a:srgbClr val="0070C0"/>
                </a:solidFill>
              </a:rPr>
              <a:t>450.68500000007407</a:t>
            </a:r>
          </a:p>
        </p:txBody>
      </p:sp>
      <p:sp>
        <p:nvSpPr>
          <p:cNvPr id="20" name="文本框 19">
            <a:extLst>
              <a:ext uri="{FF2B5EF4-FFF2-40B4-BE49-F238E27FC236}">
                <a16:creationId xmlns:a16="http://schemas.microsoft.com/office/drawing/2014/main" id="{B1B593F8-95B8-4F0F-A5D0-752DBE86E342}"/>
              </a:ext>
            </a:extLst>
          </p:cNvPr>
          <p:cNvSpPr txBox="1"/>
          <p:nvPr/>
        </p:nvSpPr>
        <p:spPr>
          <a:xfrm>
            <a:off x="6626859" y="3179883"/>
            <a:ext cx="2311619" cy="523220"/>
          </a:xfrm>
          <a:prstGeom prst="rect">
            <a:avLst/>
          </a:prstGeom>
          <a:noFill/>
        </p:spPr>
        <p:txBody>
          <a:bodyPr wrap="square">
            <a:spAutoFit/>
          </a:bodyPr>
          <a:lstStyle/>
          <a:p>
            <a:r>
              <a:rPr lang="zh-CN" altLang="en-US" sz="1400" dirty="0">
                <a:solidFill>
                  <a:srgbClr val="0070C0"/>
                </a:solidFill>
              </a:rPr>
              <a:t>f22(2050)</a:t>
            </a:r>
          </a:p>
          <a:p>
            <a:r>
              <a:rPr lang="zh-CN" altLang="en-US" sz="1400" dirty="0">
                <a:solidFill>
                  <a:srgbClr val="0070C0"/>
                </a:solidFill>
              </a:rPr>
              <a:t>450.6849999999996</a:t>
            </a:r>
          </a:p>
        </p:txBody>
      </p:sp>
    </p:spTree>
    <p:extLst>
      <p:ext uri="{BB962C8B-B14F-4D97-AF65-F5344CB8AC3E}">
        <p14:creationId xmlns:p14="http://schemas.microsoft.com/office/powerpoint/2010/main" val="1922140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animBg="1"/>
      <p:bldP spid="10" grpId="0"/>
      <p:bldP spid="12" grpId="0"/>
      <p:bldP spid="17" grpId="0"/>
      <p:bldP spid="18" grpId="0"/>
      <p:bldP spid="19"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80654" y="1032448"/>
            <a:ext cx="6436478" cy="800219"/>
          </a:xfrm>
          <a:prstGeom prst="rect">
            <a:avLst/>
          </a:prstGeom>
          <a:solidFill>
            <a:schemeClr val="bg1"/>
          </a:solidFill>
        </p:spPr>
        <p:txBody>
          <a:bodyPr wrap="square">
            <a:spAutoFit/>
          </a:bodyPr>
          <a:lstStyle/>
          <a:p>
            <a:r>
              <a:rPr lang="en-US" altLang="zh-CN" sz="1600" b="0" dirty="0">
                <a:solidFill>
                  <a:srgbClr val="0070C0"/>
                </a:solidFill>
                <a:effectLst/>
                <a:latin typeface="Consolas" panose="020B0609020204030204" pitchFamily="49" charset="0"/>
              </a:rPr>
              <a:t>f5 =</a:t>
            </a:r>
            <a:r>
              <a:rPr lang="en-US" altLang="zh-CN" sz="1600" dirty="0">
                <a:solidFill>
                  <a:srgbClr val="000000"/>
                </a:solidFill>
                <a:latin typeface="Consolas" panose="020B0609020204030204" pitchFamily="49" charset="0"/>
              </a:rPr>
              <a:t> </a:t>
            </a:r>
            <a:r>
              <a:rPr lang="en-US" altLang="zh-CN" sz="1600" dirty="0" err="1">
                <a:solidFill>
                  <a:srgbClr val="000000"/>
                </a:solidFill>
                <a:latin typeface="Consolas" panose="020B0609020204030204" pitchFamily="49" charset="0"/>
              </a:rPr>
              <a:t>TyCurveFitting.</a:t>
            </a:r>
            <a:r>
              <a:rPr lang="en-US" altLang="zh-CN" sz="1600" b="0" dirty="0" err="1">
                <a:solidFill>
                  <a:srgbClr val="0070C0"/>
                </a:solidFill>
                <a:effectLst/>
                <a:latin typeface="Consolas" panose="020B0609020204030204" pitchFamily="49" charset="0"/>
              </a:rPr>
              <a:t>fit</a:t>
            </a:r>
            <a:r>
              <a:rPr lang="en-US" altLang="zh-CN" sz="1600" b="0" dirty="0">
                <a:solidFill>
                  <a:srgbClr val="0070C0"/>
                </a:solidFill>
                <a:effectLst/>
                <a:latin typeface="Consolas" panose="020B0609020204030204" pitchFamily="49" charset="0"/>
              </a:rPr>
              <a:t>("poly5",t,y,normalize=true)</a:t>
            </a:r>
          </a:p>
          <a:p>
            <a:r>
              <a:rPr lang="en-US" altLang="zh-CN" sz="1600" dirty="0" err="1">
                <a:solidFill>
                  <a:srgbClr val="0070C0"/>
                </a:solidFill>
                <a:latin typeface="Consolas" panose="020B0609020204030204" pitchFamily="49" charset="0"/>
              </a:rPr>
              <a:t>plotfit</a:t>
            </a:r>
            <a:r>
              <a:rPr lang="en-US" altLang="zh-CN" sz="1600" dirty="0">
                <a:solidFill>
                  <a:srgbClr val="0070C0"/>
                </a:solidFill>
                <a:latin typeface="Consolas" panose="020B0609020204030204" pitchFamily="49" charset="0"/>
              </a:rPr>
              <a:t>(f5,"predfun") </a:t>
            </a:r>
            <a:endParaRPr lang="en-US" altLang="zh-CN" sz="1600" b="1" dirty="0">
              <a:solidFill>
                <a:srgbClr val="0070C0"/>
              </a:solidFill>
            </a:endParaRPr>
          </a:p>
          <a:p>
            <a:endParaRPr lang="zh-CN" altLang="en-US" sz="1400" dirty="0">
              <a:solidFill>
                <a:srgbClr val="00B0F0"/>
              </a:solidFill>
            </a:endParaRPr>
          </a:p>
        </p:txBody>
      </p:sp>
      <p:sp>
        <p:nvSpPr>
          <p:cNvPr id="5" name="文本框 4"/>
          <p:cNvSpPr txBox="1"/>
          <p:nvPr/>
        </p:nvSpPr>
        <p:spPr>
          <a:xfrm>
            <a:off x="6527996" y="996317"/>
            <a:ext cx="2614651" cy="1477328"/>
          </a:xfrm>
          <a:prstGeom prst="rect">
            <a:avLst/>
          </a:prstGeom>
          <a:noFill/>
          <a:ln>
            <a:solidFill>
              <a:schemeClr val="bg1">
                <a:lumMod val="85000"/>
              </a:schemeClr>
            </a:solidFill>
          </a:ln>
        </p:spPr>
        <p:txBody>
          <a:bodyPr wrap="square">
            <a:spAutoFit/>
          </a:bodyPr>
          <a:lstStyle/>
          <a:p>
            <a:r>
              <a:rPr lang="zh-CN" altLang="en-US" sz="2000" dirty="0"/>
              <a:t>julia&gt; f5.s_data</a:t>
            </a:r>
          </a:p>
          <a:p>
            <a:r>
              <a:rPr lang="zh-CN" altLang="en-US" sz="1400" b="1" dirty="0">
                <a:solidFill>
                  <a:srgbClr val="FF0000"/>
                </a:solidFill>
              </a:rPr>
              <a:t>R方: 0.9985868953145997</a:t>
            </a:r>
          </a:p>
          <a:p>
            <a:r>
              <a:rPr lang="zh-CN" altLang="en-US" sz="1400" dirty="0">
                <a:solidFill>
                  <a:srgbClr val="00B0F0"/>
                </a:solidFill>
              </a:rPr>
              <a:t>SSE: 44.0712034498835</a:t>
            </a:r>
          </a:p>
          <a:p>
            <a:r>
              <a:rPr lang="zh-CN" altLang="en-US" sz="1400" dirty="0">
                <a:solidFill>
                  <a:srgbClr val="00B0F0"/>
                </a:solidFill>
              </a:rPr>
              <a:t>DFE: 4.0</a:t>
            </a:r>
          </a:p>
          <a:p>
            <a:r>
              <a:rPr lang="zh-CN" altLang="en-US" sz="1400" b="1" dirty="0">
                <a:solidFill>
                  <a:srgbClr val="FF0000"/>
                </a:solidFill>
              </a:rPr>
              <a:t>调整R方: 0.99682051</a:t>
            </a:r>
            <a:endParaRPr lang="en-US" altLang="zh-CN" sz="1400" b="1" dirty="0">
              <a:solidFill>
                <a:srgbClr val="FF0000"/>
              </a:solidFill>
            </a:endParaRPr>
          </a:p>
          <a:p>
            <a:r>
              <a:rPr lang="zh-CN" altLang="en-US" sz="1400" dirty="0">
                <a:solidFill>
                  <a:srgbClr val="00B0F0"/>
                </a:solidFill>
              </a:rPr>
              <a:t>RMSE: 3.3193072865389963</a:t>
            </a:r>
            <a:endParaRPr lang="en-US" altLang="zh-CN" sz="1400" dirty="0">
              <a:solidFill>
                <a:srgbClr val="00B0F0"/>
              </a:solidFill>
            </a:endParaRPr>
          </a:p>
        </p:txBody>
      </p:sp>
      <p:sp>
        <p:nvSpPr>
          <p:cNvPr id="7" name="文本框 6"/>
          <p:cNvSpPr txBox="1"/>
          <p:nvPr/>
        </p:nvSpPr>
        <p:spPr>
          <a:xfrm>
            <a:off x="214173" y="3553978"/>
            <a:ext cx="6402959" cy="951864"/>
          </a:xfrm>
          <a:prstGeom prst="rect">
            <a:avLst/>
          </a:prstGeom>
          <a:noFill/>
        </p:spPr>
        <p:txBody>
          <a:bodyPr wrap="square">
            <a:spAutoFit/>
          </a:bodyPr>
          <a:lstStyle/>
          <a:p>
            <a:pPr>
              <a:lnSpc>
                <a:spcPts val="2300"/>
              </a:lnSpc>
            </a:pPr>
            <a:r>
              <a:rPr lang="zh-CN" altLang="en-US" sz="1400" b="0" i="0" dirty="0">
                <a:solidFill>
                  <a:srgbClr val="00B0F0"/>
                </a:solidFill>
                <a:effectLst/>
                <a:latin typeface="微软雅黑" panose="020B0503020204020204" pitchFamily="34" charset="-122"/>
                <a:ea typeface="微软雅黑" panose="020B0503020204020204" pitchFamily="34" charset="-122"/>
              </a:rPr>
              <a:t>五次多项式的 </a:t>
            </a:r>
            <a:r>
              <a:rPr lang="en-US" altLang="zh-CN" sz="1400" b="0" i="0" dirty="0">
                <a:solidFill>
                  <a:srgbClr val="00B0F0"/>
                </a:solidFill>
                <a:effectLst/>
                <a:latin typeface="微软雅黑" panose="020B0503020204020204" pitchFamily="34" charset="-122"/>
                <a:ea typeface="微软雅黑" panose="020B0503020204020204" pitchFamily="34" charset="-122"/>
              </a:rPr>
              <a:t>p1</a:t>
            </a:r>
            <a:r>
              <a:rPr lang="zh-CN" altLang="en-US" sz="1400" b="0" i="0" dirty="0">
                <a:solidFill>
                  <a:srgbClr val="00B0F0"/>
                </a:solidFill>
                <a:effectLst/>
                <a:latin typeface="微软雅黑" panose="020B0503020204020204" pitchFamily="34" charset="-122"/>
                <a:ea typeface="微软雅黑" panose="020B0503020204020204" pitchFamily="34" charset="-122"/>
              </a:rPr>
              <a:t>、</a:t>
            </a:r>
            <a:r>
              <a:rPr lang="en-US" altLang="zh-CN" sz="1400" b="0" i="0" dirty="0">
                <a:solidFill>
                  <a:srgbClr val="00B0F0"/>
                </a:solidFill>
                <a:effectLst/>
                <a:latin typeface="微软雅黑" panose="020B0503020204020204" pitchFamily="34" charset="-122"/>
                <a:ea typeface="微软雅黑" panose="020B0503020204020204" pitchFamily="34" charset="-122"/>
              </a:rPr>
              <a:t>p2 </a:t>
            </a:r>
            <a:r>
              <a:rPr lang="zh-CN" altLang="en-US" sz="1400" b="0" i="0" dirty="0">
                <a:solidFill>
                  <a:srgbClr val="00B0F0"/>
                </a:solidFill>
                <a:effectLst/>
                <a:latin typeface="微软雅黑" panose="020B0503020204020204" pitchFamily="34" charset="-122"/>
                <a:ea typeface="微软雅黑" panose="020B0503020204020204" pitchFamily="34" charset="-122"/>
              </a:rPr>
              <a:t>和 </a:t>
            </a:r>
            <a:r>
              <a:rPr lang="en-US" altLang="zh-CN" sz="1400" b="0" i="0" dirty="0">
                <a:solidFill>
                  <a:srgbClr val="00B0F0"/>
                </a:solidFill>
                <a:effectLst/>
                <a:latin typeface="微软雅黑" panose="020B0503020204020204" pitchFamily="34" charset="-122"/>
                <a:ea typeface="微软雅黑" panose="020B0503020204020204" pitchFamily="34" charset="-122"/>
              </a:rPr>
              <a:t>p3 </a:t>
            </a:r>
            <a:r>
              <a:rPr lang="zh-CN" altLang="en-US" sz="1400" b="0" i="0" dirty="0">
                <a:solidFill>
                  <a:srgbClr val="00B0F0"/>
                </a:solidFill>
                <a:effectLst/>
                <a:latin typeface="微软雅黑" panose="020B0503020204020204" pitchFamily="34" charset="-122"/>
                <a:ea typeface="微软雅黑" panose="020B0503020204020204" pitchFamily="34" charset="-122"/>
              </a:rPr>
              <a:t>系数的边界过零。这意味着不能确定这些系数是否不</a:t>
            </a:r>
            <a:r>
              <a:rPr lang="zh-CN" altLang="en-US" sz="1400" dirty="0">
                <a:solidFill>
                  <a:srgbClr val="00B0F0"/>
                </a:solidFill>
                <a:latin typeface="微软雅黑" panose="020B0503020204020204" pitchFamily="34" charset="-122"/>
                <a:ea typeface="微软雅黑" panose="020B0503020204020204" pitchFamily="34" charset="-122"/>
              </a:rPr>
              <a:t>等</a:t>
            </a:r>
            <a:r>
              <a:rPr lang="zh-CN" altLang="en-US" sz="1400" b="0" i="0" dirty="0">
                <a:solidFill>
                  <a:srgbClr val="00B0F0"/>
                </a:solidFill>
                <a:effectLst/>
                <a:latin typeface="微软雅黑" panose="020B0503020204020204" pitchFamily="34" charset="-122"/>
                <a:ea typeface="微软雅黑" panose="020B0503020204020204" pitchFamily="34" charset="-122"/>
              </a:rPr>
              <a:t>于零。如果高阶模型项的系数可能为零，</a:t>
            </a:r>
            <a:r>
              <a:rPr lang="zh-CN" altLang="en-US" sz="1400" b="1" i="0" dirty="0">
                <a:solidFill>
                  <a:srgbClr val="0070C0"/>
                </a:solidFill>
                <a:effectLst/>
                <a:latin typeface="微软雅黑" panose="020B0503020204020204" pitchFamily="34" charset="-122"/>
                <a:ea typeface="微软雅黑" panose="020B0503020204020204" pitchFamily="34" charset="-122"/>
              </a:rPr>
              <a:t>表明该模型过度拟合了人口普查数据</a:t>
            </a:r>
            <a:r>
              <a:rPr lang="zh-CN" altLang="en-US" sz="1600" b="0" i="0" dirty="0">
                <a:solidFill>
                  <a:srgbClr val="00B0F0"/>
                </a:solidFill>
                <a:effectLst/>
                <a:latin typeface="微软雅黑" panose="020B0503020204020204" pitchFamily="34" charset="-122"/>
                <a:ea typeface="微软雅黑" panose="020B0503020204020204" pitchFamily="34" charset="-122"/>
              </a:rPr>
              <a:t>。</a:t>
            </a:r>
            <a:endParaRPr lang="zh-CN" altLang="en-US" sz="1600" dirty="0">
              <a:solidFill>
                <a:srgbClr val="00B0F0"/>
              </a:solidFill>
            </a:endParaRPr>
          </a:p>
        </p:txBody>
      </p:sp>
      <p:sp>
        <p:nvSpPr>
          <p:cNvPr id="8" name="标题 7"/>
          <p:cNvSpPr txBox="1">
            <a:spLocks noGrp="1"/>
          </p:cNvSpPr>
          <p:nvPr>
            <p:ph type="title"/>
          </p:nvPr>
        </p:nvSpPr>
        <p:spPr>
          <a:xfrm>
            <a:off x="1043608" y="81869"/>
            <a:ext cx="7804348" cy="567463"/>
          </a:xfrm>
          <a:prstGeom prst="rect">
            <a:avLst/>
          </a:prstGeom>
          <a:noFill/>
          <a:ln>
            <a:noFill/>
          </a:ln>
        </p:spPr>
        <p:txBody>
          <a:bodyPr wrap="square">
            <a:spAutoFit/>
          </a:bodyPr>
          <a:lstStyle/>
          <a:p>
            <a:pPr eaLnBrk="0">
              <a:lnSpc>
                <a:spcPts val="3900"/>
              </a:lnSpc>
              <a:spcBef>
                <a:spcPts val="0"/>
              </a:spcBef>
              <a:spcAft>
                <a:spcPts val="0"/>
              </a:spcAft>
            </a:pPr>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b="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800" kern="0" dirty="0">
                <a:solidFill>
                  <a:srgbClr val="FF0000"/>
                </a:solidFill>
                <a:latin typeface="华文楷体" panose="02010600040101010101" pitchFamily="2" charset="-122"/>
                <a:ea typeface="华文楷体" panose="02010600040101010101" pitchFamily="2" charset="-122"/>
              </a:rPr>
              <a:t>——5</a:t>
            </a:r>
            <a:r>
              <a:rPr lang="zh-CN" altLang="en-US" sz="2800" kern="0" dirty="0">
                <a:solidFill>
                  <a:srgbClr val="FF0000"/>
                </a:solidFill>
                <a:latin typeface="华文楷体" panose="02010600040101010101" pitchFamily="2" charset="-122"/>
                <a:ea typeface="华文楷体" panose="02010600040101010101" pitchFamily="2" charset="-122"/>
              </a:rPr>
              <a:t>次多项式拟合效果</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9" name="波形 8"/>
          <p:cNvSpPr/>
          <p:nvPr/>
        </p:nvSpPr>
        <p:spPr>
          <a:xfrm>
            <a:off x="121865" y="222722"/>
            <a:ext cx="998368"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53-1-4</a:t>
            </a:r>
            <a:endParaRPr lang="ko-KR" altLang="en-US" b="1" dirty="0">
              <a:solidFill>
                <a:srgbClr val="FFFF00"/>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3"/>
          <a:srcRect l="7476" t="8000" r="5113" b="8000"/>
          <a:stretch>
            <a:fillRect/>
          </a:stretch>
        </p:blipFill>
        <p:spPr>
          <a:xfrm>
            <a:off x="6678019" y="2756416"/>
            <a:ext cx="2402140" cy="1676446"/>
          </a:xfrm>
          <a:prstGeom prst="rect">
            <a:avLst/>
          </a:prstGeom>
        </p:spPr>
      </p:pic>
      <p:sp>
        <p:nvSpPr>
          <p:cNvPr id="11" name="文本框 10"/>
          <p:cNvSpPr txBox="1"/>
          <p:nvPr/>
        </p:nvSpPr>
        <p:spPr>
          <a:xfrm>
            <a:off x="63556" y="3234939"/>
            <a:ext cx="6636962" cy="338554"/>
          </a:xfrm>
          <a:prstGeom prst="rect">
            <a:avLst/>
          </a:prstGeom>
          <a:noFill/>
        </p:spPr>
        <p:txBody>
          <a:bodyPr wrap="square">
            <a:spAutoFit/>
          </a:bodyPr>
          <a:lstStyle/>
          <a:p>
            <a:pPr marL="342900" indent="-342900">
              <a:buFont typeface="+mj-ea"/>
              <a:buAutoNum type="circleNumDbPlain" startAt="3"/>
            </a:pPr>
            <a:r>
              <a:rPr lang="en-US" altLang="zh-CN" sz="1600" b="1" dirty="0">
                <a:solidFill>
                  <a:srgbClr val="0070C0"/>
                </a:solidFill>
                <a:latin typeface="微软雅黑" panose="020B0503020204020204" pitchFamily="34" charset="-122"/>
                <a:ea typeface="微软雅黑" panose="020B0503020204020204" pitchFamily="34" charset="-122"/>
              </a:rPr>
              <a:t>H0</a:t>
            </a:r>
            <a:r>
              <a:rPr lang="zh-CN" altLang="en-US" sz="1600" b="1" dirty="0">
                <a:solidFill>
                  <a:srgbClr val="0070C0"/>
                </a:solidFill>
                <a:latin typeface="微软雅黑" panose="020B0503020204020204" pitchFamily="34" charset="-122"/>
                <a:ea typeface="微软雅黑" panose="020B0503020204020204" pitchFamily="34" charset="-122"/>
              </a:rPr>
              <a:t>假设：</a:t>
            </a:r>
            <a:r>
              <a:rPr lang="en-US" altLang="zh-CN" sz="1600" b="1" dirty="0">
                <a:solidFill>
                  <a:srgbClr val="0070C0"/>
                </a:solidFill>
                <a:latin typeface="微软雅黑" panose="020B0503020204020204" pitchFamily="34" charset="-122"/>
                <a:ea typeface="微软雅黑" panose="020B0503020204020204" pitchFamily="34" charset="-122"/>
              </a:rPr>
              <a:t>p1=p2=p3=p4= p5=0</a:t>
            </a:r>
            <a:r>
              <a:rPr lang="zh-CN" altLang="en-US" sz="1600" b="1" dirty="0">
                <a:solidFill>
                  <a:srgbClr val="0070C0"/>
                </a:solidFill>
                <a:latin typeface="微软雅黑" panose="020B0503020204020204" pitchFamily="34" charset="-122"/>
                <a:ea typeface="微软雅黑" panose="020B0503020204020204" pitchFamily="34" charset="-122"/>
              </a:rPr>
              <a:t>；拒绝</a:t>
            </a:r>
            <a:r>
              <a:rPr lang="en-US" altLang="zh-CN" sz="1600" b="1" dirty="0">
                <a:solidFill>
                  <a:srgbClr val="0070C0"/>
                </a:solidFill>
                <a:latin typeface="微软雅黑" panose="020B0503020204020204" pitchFamily="34" charset="-122"/>
                <a:ea typeface="微软雅黑" panose="020B0503020204020204" pitchFamily="34" charset="-122"/>
              </a:rPr>
              <a:t>H0</a:t>
            </a:r>
            <a:r>
              <a:rPr lang="zh-CN" altLang="en-US" sz="1600" b="1" dirty="0">
                <a:solidFill>
                  <a:srgbClr val="0070C0"/>
                </a:solidFill>
                <a:latin typeface="微软雅黑" panose="020B0503020204020204" pitchFamily="34" charset="-122"/>
                <a:ea typeface="微软雅黑" panose="020B0503020204020204" pitchFamily="34" charset="-122"/>
              </a:rPr>
              <a:t>假设，方程才显著成立</a:t>
            </a:r>
            <a:endParaRPr lang="zh-CN" altLang="en-US" sz="1600" dirty="0">
              <a:solidFill>
                <a:srgbClr val="0070C0"/>
              </a:solidFill>
              <a:latin typeface="微软雅黑" panose="020B0503020204020204" pitchFamily="34" charset="-122"/>
              <a:ea typeface="微软雅黑" panose="020B0503020204020204" pitchFamily="34" charset="-122"/>
            </a:endParaRPr>
          </a:p>
        </p:txBody>
      </p:sp>
      <p:sp>
        <p:nvSpPr>
          <p:cNvPr id="6" name="形状 209924"/>
          <p:cNvSpPr/>
          <p:nvPr/>
        </p:nvSpPr>
        <p:spPr>
          <a:xfrm>
            <a:off x="2627418" y="4205322"/>
            <a:ext cx="864096" cy="498363"/>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sz="1200" b="1" dirty="0">
                <a:solidFill>
                  <a:srgbClr val="FFFF00"/>
                </a:solidFill>
                <a:latin typeface="微软雅黑" panose="020B0503020204020204" pitchFamily="34" charset="-122"/>
                <a:ea typeface="微软雅黑" panose="020B0503020204020204" pitchFamily="34" charset="-122"/>
                <a:sym typeface="+mn-ea"/>
              </a:rPr>
              <a:t>注意</a:t>
            </a:r>
            <a:endParaRPr lang="en-US" altLang="zh-CN" sz="1200" b="1" dirty="0">
              <a:solidFill>
                <a:srgbClr val="FFFF00"/>
              </a:solidFill>
              <a:latin typeface="微软雅黑" panose="020B0503020204020204" pitchFamily="34" charset="-122"/>
              <a:ea typeface="微软雅黑" panose="020B0503020204020204" pitchFamily="34" charset="-122"/>
              <a:sym typeface="+mn-ea"/>
            </a:endParaRPr>
          </a:p>
        </p:txBody>
      </p:sp>
      <p:sp>
        <p:nvSpPr>
          <p:cNvPr id="12" name="文本框 11"/>
          <p:cNvSpPr txBox="1"/>
          <p:nvPr/>
        </p:nvSpPr>
        <p:spPr>
          <a:xfrm>
            <a:off x="112448" y="684020"/>
            <a:ext cx="4027503" cy="369332"/>
          </a:xfrm>
          <a:prstGeom prst="rect">
            <a:avLst/>
          </a:prstGeom>
          <a:solidFill>
            <a:schemeClr val="bg1"/>
          </a:solidFill>
        </p:spPr>
        <p:txBody>
          <a:bodyPr wrap="square">
            <a:spAutoFit/>
          </a:bodyPr>
          <a:lstStyle/>
          <a:p>
            <a:pPr>
              <a:buFont typeface="+mj-ea"/>
              <a:buAutoNum type="circleNumDbPlain"/>
            </a:pPr>
            <a:r>
              <a:rPr lang="en-US" altLang="zh-CN" b="1" kern="0" dirty="0">
                <a:solidFill>
                  <a:srgbClr val="0070C0"/>
                </a:solidFill>
                <a:latin typeface="微软雅黑" panose="020B0503020204020204" pitchFamily="34" charset="-122"/>
                <a:ea typeface="微软雅黑" panose="020B0503020204020204" pitchFamily="34" charset="-122"/>
              </a:rPr>
              <a:t> 5</a:t>
            </a:r>
            <a:r>
              <a:rPr lang="zh-CN" altLang="en-US" b="1" kern="0" dirty="0">
                <a:solidFill>
                  <a:srgbClr val="0070C0"/>
                </a:solidFill>
                <a:latin typeface="微软雅黑" panose="020B0503020204020204" pitchFamily="34" charset="-122"/>
                <a:ea typeface="微软雅黑" panose="020B0503020204020204" pitchFamily="34" charset="-122"/>
              </a:rPr>
              <a:t>次多项式拟合及其待定参数结果</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362300" y="669524"/>
            <a:ext cx="2691780" cy="369332"/>
          </a:xfrm>
          <a:prstGeom prst="rect">
            <a:avLst/>
          </a:prstGeom>
          <a:solidFill>
            <a:schemeClr val="bg1"/>
          </a:solidFill>
        </p:spPr>
        <p:txBody>
          <a:bodyPr wrap="square">
            <a:spAutoFit/>
          </a:bodyPr>
          <a:lstStyle/>
          <a:p>
            <a:pPr>
              <a:buFont typeface="+mj-ea"/>
              <a:buAutoNum type="circleNumDbPlain" startAt="2"/>
            </a:pPr>
            <a:r>
              <a:rPr lang="en-US" altLang="zh-CN" b="1" kern="0" dirty="0">
                <a:solidFill>
                  <a:srgbClr val="0070C0"/>
                </a:solidFill>
                <a:latin typeface="微软雅黑" panose="020B0503020204020204" pitchFamily="34" charset="-122"/>
                <a:ea typeface="微软雅黑" panose="020B0503020204020204" pitchFamily="34" charset="-122"/>
              </a:rPr>
              <a:t> 5</a:t>
            </a:r>
            <a:r>
              <a:rPr lang="zh-CN" altLang="en-US" b="1" kern="0" dirty="0">
                <a:solidFill>
                  <a:srgbClr val="0070C0"/>
                </a:solidFill>
                <a:latin typeface="微软雅黑" panose="020B0503020204020204" pitchFamily="34" charset="-122"/>
                <a:ea typeface="微软雅黑" panose="020B0503020204020204" pitchFamily="34" charset="-122"/>
              </a:rPr>
              <a:t>次多项式拟合度评价</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3491514" y="4371770"/>
            <a:ext cx="5562566" cy="307777"/>
          </a:xfrm>
          <a:prstGeom prst="rect">
            <a:avLst/>
          </a:prstGeom>
          <a:noFill/>
        </p:spPr>
        <p:txBody>
          <a:bodyPr wrap="square">
            <a:spAutoFit/>
          </a:bodyPr>
          <a:lstStyle/>
          <a:p>
            <a:pPr algn="dist"/>
            <a:r>
              <a:rPr lang="zh-CN" altLang="en-US" sz="1400" b="1" dirty="0">
                <a:solidFill>
                  <a:srgbClr val="FF0000"/>
                </a:solidFill>
                <a:latin typeface="微软雅黑" panose="020B0503020204020204" pitchFamily="34" charset="-122"/>
                <a:ea typeface="微软雅黑" panose="020B0503020204020204" pitchFamily="34" charset="-122"/>
              </a:rPr>
              <a:t>拟合次数要适当，不是越高，预测数据范围外未知数泛化能力就越好</a:t>
            </a:r>
            <a:endParaRPr lang="en-US" altLang="zh-CN" sz="1400" b="1" dirty="0">
              <a:solidFill>
                <a:srgbClr val="FF0000"/>
              </a:solidFill>
              <a:latin typeface="微软雅黑" panose="020B0503020204020204" pitchFamily="34" charset="-122"/>
              <a:ea typeface="微软雅黑" panose="020B0503020204020204" pitchFamily="34" charset="-122"/>
              <a:sym typeface="+mn-ea"/>
            </a:endParaRPr>
          </a:p>
        </p:txBody>
      </p:sp>
      <p:sp>
        <p:nvSpPr>
          <p:cNvPr id="15" name="文本框 14"/>
          <p:cNvSpPr txBox="1"/>
          <p:nvPr/>
        </p:nvSpPr>
        <p:spPr>
          <a:xfrm>
            <a:off x="6527996" y="2387084"/>
            <a:ext cx="2614651" cy="369332"/>
          </a:xfrm>
          <a:prstGeom prst="rect">
            <a:avLst/>
          </a:prstGeom>
          <a:noFill/>
        </p:spPr>
        <p:txBody>
          <a:bodyPr wrap="square">
            <a:spAutoFit/>
          </a:bodyPr>
          <a:lstStyle/>
          <a:p>
            <a:r>
              <a:rPr lang="zh-CN" altLang="en-US" sz="1800" b="1" dirty="0">
                <a:solidFill>
                  <a:srgbClr val="FF0000"/>
                </a:solidFill>
                <a:latin typeface="微软雅黑" panose="020B0503020204020204" pitchFamily="34" charset="-122"/>
                <a:ea typeface="微软雅黑" panose="020B0503020204020204" pitchFamily="34" charset="-122"/>
              </a:rPr>
              <a:t>数据范围内拟合效果好</a:t>
            </a:r>
            <a:endParaRPr lang="zh-CN" altLang="en-US" sz="1800" dirty="0">
              <a:solidFill>
                <a:srgbClr val="FF0000"/>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5827699" y="3892532"/>
            <a:ext cx="2339059" cy="338554"/>
          </a:xfrm>
          <a:prstGeom prst="rect">
            <a:avLst/>
          </a:prstGeom>
          <a:noFill/>
        </p:spPr>
        <p:txBody>
          <a:bodyPr wrap="square">
            <a:spAutoFit/>
          </a:bodyPr>
          <a:lstStyle/>
          <a:p>
            <a:r>
              <a:rPr lang="zh-CN" altLang="en-US" sz="1600" b="1" dirty="0">
                <a:solidFill>
                  <a:srgbClr val="00B0F0"/>
                </a:solidFill>
                <a:latin typeface="微软雅黑" panose="020B0503020204020204" pitchFamily="34" charset="-122"/>
                <a:ea typeface="微软雅黑" panose="020B0503020204020204" pitchFamily="34" charset="-122"/>
              </a:rPr>
              <a:t>外推时快速偏离真实值</a:t>
            </a:r>
            <a:endParaRPr lang="zh-CN" altLang="en-US" sz="1600" dirty="0">
              <a:solidFill>
                <a:srgbClr val="00B0F0"/>
              </a:solidFill>
            </a:endParaRPr>
          </a:p>
        </p:txBody>
      </p:sp>
      <p:sp>
        <p:nvSpPr>
          <p:cNvPr id="17" name="文本框 16">
            <a:extLst>
              <a:ext uri="{FF2B5EF4-FFF2-40B4-BE49-F238E27FC236}">
                <a16:creationId xmlns:a16="http://schemas.microsoft.com/office/drawing/2014/main" id="{C9AF9687-0572-46F4-A0CD-3E86D5ECF439}"/>
              </a:ext>
            </a:extLst>
          </p:cNvPr>
          <p:cNvSpPr txBox="1"/>
          <p:nvPr/>
        </p:nvSpPr>
        <p:spPr>
          <a:xfrm>
            <a:off x="145197" y="1582055"/>
            <a:ext cx="5881303" cy="1569660"/>
          </a:xfrm>
          <a:prstGeom prst="rect">
            <a:avLst/>
          </a:prstGeom>
          <a:noFill/>
        </p:spPr>
        <p:txBody>
          <a:bodyPr wrap="square">
            <a:spAutoFit/>
          </a:bodyPr>
          <a:lstStyle/>
          <a:p>
            <a:r>
              <a:rPr lang="en-US" altLang="zh-CN" sz="1200" dirty="0">
                <a:solidFill>
                  <a:srgbClr val="FF0000"/>
                </a:solidFill>
              </a:rPr>
              <a:t>#</a:t>
            </a:r>
            <a:r>
              <a:rPr lang="zh-CN" altLang="en-US" sz="1200" dirty="0">
                <a:solidFill>
                  <a:srgbClr val="FF0000"/>
                </a:solidFill>
              </a:rPr>
              <a:t>结果</a:t>
            </a:r>
            <a:r>
              <a:rPr lang="en-US" altLang="zh-CN" sz="1200" dirty="0">
                <a:solidFill>
                  <a:srgbClr val="FF0000"/>
                </a:solidFill>
              </a:rPr>
              <a:t>Linear model poly5:</a:t>
            </a:r>
          </a:p>
          <a:p>
            <a:r>
              <a:rPr lang="en-US" altLang="zh-CN" sz="1200" b="1" dirty="0">
                <a:solidFill>
                  <a:srgbClr val="FF0000"/>
                </a:solidFill>
              </a:rPr>
              <a:t>y(p1,p2,p3,p4,p5,p6,x) = p1*x^5 + p2*x^4 + p3*x^3 + p4*x^2 + p5*x + p6</a:t>
            </a:r>
          </a:p>
          <a:p>
            <a:r>
              <a:rPr lang="en-US" altLang="zh-CN" sz="1200" dirty="0">
                <a:solidFill>
                  <a:srgbClr val="FF0000"/>
                </a:solidFill>
              </a:rPr>
              <a:t>p1 = -0.41031239458687446  (-8.805254940541737, 7.984630151367988)</a:t>
            </a:r>
          </a:p>
          <a:p>
            <a:r>
              <a:rPr lang="en-US" altLang="zh-CN" sz="1200" dirty="0">
                <a:solidFill>
                  <a:srgbClr val="FF0000"/>
                </a:solidFill>
              </a:rPr>
              <a:t>p2 = -4.981926638176625 (-11.015368825051128, 1.0515155486978784)</a:t>
            </a:r>
          </a:p>
          <a:p>
            <a:r>
              <a:rPr lang="en-US" altLang="zh-CN" sz="1200" dirty="0">
                <a:solidFill>
                  <a:srgbClr val="FF0000"/>
                </a:solidFill>
              </a:rPr>
              <a:t>p3 = 1.3120303401465396 (-22.789903478015532, 25.41396415830861)</a:t>
            </a:r>
          </a:p>
          <a:p>
            <a:r>
              <a:rPr lang="en-US" altLang="zh-CN" sz="1200" dirty="0">
                <a:solidFill>
                  <a:srgbClr val="00B0F0"/>
                </a:solidFill>
              </a:rPr>
              <a:t>p4 = 19.640705128205106 (5.655831698020219, 33.62557855838999)</a:t>
            </a:r>
          </a:p>
          <a:p>
            <a:r>
              <a:rPr lang="en-US" altLang="zh-CN" sz="1200" dirty="0">
                <a:solidFill>
                  <a:srgbClr val="00B0F0"/>
                </a:solidFill>
              </a:rPr>
              <a:t>p5 = 57.473308357092186 (42.54029400385628, 72.4063227103281)</a:t>
            </a:r>
          </a:p>
          <a:p>
            <a:r>
              <a:rPr lang="en-US" altLang="zh-CN" sz="1200" dirty="0">
                <a:solidFill>
                  <a:srgbClr val="00B0F0"/>
                </a:solidFill>
              </a:rPr>
              <a:t>p6 = 143.27718750000003 (137.66911574830354, 148.8852592516965)</a:t>
            </a:r>
            <a:endParaRPr lang="zh-CN" altLang="en-US" sz="1200" dirty="0"/>
          </a:p>
        </p:txBody>
      </p:sp>
    </p:spTree>
    <p:extLst>
      <p:ext uri="{BB962C8B-B14F-4D97-AF65-F5344CB8AC3E}">
        <p14:creationId xmlns:p14="http://schemas.microsoft.com/office/powerpoint/2010/main" val="37912509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1108" y="83492"/>
            <a:ext cx="9089835" cy="523220"/>
          </a:xfrm>
          <a:prstGeom prst="rect">
            <a:avLst/>
          </a:prstGeom>
          <a:solidFill>
            <a:schemeClr val="bg1"/>
          </a:solidFill>
        </p:spPr>
        <p:txBody>
          <a:bodyPr wrap="square">
            <a:spAutoFit/>
          </a:bodyPr>
          <a:lstStyle/>
          <a:p>
            <a:r>
              <a:rPr lang="en-US" altLang="ko-KR" sz="2800" dirty="0">
                <a:solidFill>
                  <a:srgbClr val="002060"/>
                </a:solidFill>
                <a:latin typeface="华文楷体" panose="02010600040101010101" pitchFamily="2" charset="-122"/>
                <a:ea typeface="华文楷体" panose="02010600040101010101" pitchFamily="2" charset="-122"/>
              </a:rPr>
              <a:t>§5.3 </a:t>
            </a:r>
            <a:r>
              <a:rPr lang="en-US" altLang="zh-CN" sz="2800" dirty="0">
                <a:solidFill>
                  <a:srgbClr val="002060"/>
                </a:solidFill>
                <a:latin typeface="华文楷体" panose="02010600040101010101" pitchFamily="2" charset="-122"/>
                <a:ea typeface="华文楷体" panose="02010600040101010101" pitchFamily="2" charset="-122"/>
              </a:rPr>
              <a:t>fit</a:t>
            </a:r>
            <a:r>
              <a:rPr lang="zh-CN" altLang="en-US" sz="2800" dirty="0">
                <a:solidFill>
                  <a:srgbClr val="002060"/>
                </a:solidFill>
                <a:latin typeface="华文楷体" panose="02010600040101010101" pitchFamily="2" charset="-122"/>
                <a:ea typeface="华文楷体" panose="02010600040101010101" pitchFamily="2" charset="-122"/>
              </a:rPr>
              <a:t>拟合</a:t>
            </a:r>
            <a:r>
              <a:rPr lang="zh-CN" altLang="en-US" sz="2800" i="0" dirty="0">
                <a:solidFill>
                  <a:srgbClr val="002060"/>
                </a:solidFill>
                <a:effectLst/>
                <a:latin typeface="华文楷体" panose="02010600040101010101" pitchFamily="2" charset="-122"/>
                <a:ea typeface="华文楷体" panose="02010600040101010101" pitchFamily="2" charset="-122"/>
              </a:rPr>
              <a:t>曲线</a:t>
            </a:r>
            <a:r>
              <a:rPr lang="zh-CN" altLang="en-US" sz="2800" dirty="0">
                <a:solidFill>
                  <a:srgbClr val="002060"/>
                </a:solidFill>
                <a:latin typeface="华文楷体" panose="02010600040101010101" pitchFamily="2" charset="-122"/>
                <a:ea typeface="华文楷体" panose="02010600040101010101" pitchFamily="2" charset="-122"/>
              </a:rPr>
              <a:t>或曲面</a:t>
            </a:r>
            <a:r>
              <a:rPr lang="en-US" altLang="zh-CN" sz="2600" kern="0" dirty="0">
                <a:solidFill>
                  <a:srgbClr val="FF0000"/>
                </a:solidFill>
                <a:latin typeface="华文楷体" panose="02010600040101010101" pitchFamily="2" charset="-122"/>
                <a:ea typeface="华文楷体" panose="02010600040101010101" pitchFamily="2" charset="-122"/>
              </a:rPr>
              <a:t>——</a:t>
            </a:r>
            <a:r>
              <a:rPr lang="zh-CN" altLang="en-US" sz="2600" kern="0" dirty="0">
                <a:solidFill>
                  <a:srgbClr val="FF0000"/>
                </a:solidFill>
                <a:latin typeface="华文楷体" panose="02010600040101010101" pitchFamily="2" charset="-122"/>
                <a:ea typeface="华文楷体" panose="02010600040101010101" pitchFamily="2" charset="-122"/>
              </a:rPr>
              <a:t>拟合结果</a:t>
            </a:r>
            <a:r>
              <a:rPr lang="en-US" altLang="zh-CN" sz="2600" kern="0" dirty="0" err="1">
                <a:solidFill>
                  <a:srgbClr val="FF0000"/>
                </a:solidFill>
                <a:latin typeface="华文楷体" panose="02010600040101010101" pitchFamily="2" charset="-122"/>
                <a:ea typeface="华文楷体" panose="02010600040101010101" pitchFamily="2" charset="-122"/>
              </a:rPr>
              <a:t>fitobjiect</a:t>
            </a:r>
            <a:r>
              <a:rPr lang="zh-CN" altLang="en-US" sz="2600" kern="0" dirty="0">
                <a:solidFill>
                  <a:srgbClr val="FF0000"/>
                </a:solidFill>
                <a:latin typeface="华文楷体" panose="02010600040101010101" pitchFamily="2" charset="-122"/>
                <a:ea typeface="华文楷体" panose="02010600040101010101" pitchFamily="2" charset="-122"/>
              </a:rPr>
              <a:t>后处理求导</a:t>
            </a:r>
            <a:endParaRPr lang="zh-CN" altLang="en-US" sz="2600" dirty="0"/>
          </a:p>
        </p:txBody>
      </p:sp>
      <p:sp>
        <p:nvSpPr>
          <p:cNvPr id="8" name="Rectangle 3"/>
          <p:cNvSpPr>
            <a:spLocks noChangeArrowheads="1"/>
          </p:cNvSpPr>
          <p:nvPr/>
        </p:nvSpPr>
        <p:spPr bwMode="auto">
          <a:xfrm>
            <a:off x="0" y="90100"/>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1" name="文本框 10"/>
          <p:cNvSpPr txBox="1"/>
          <p:nvPr/>
        </p:nvSpPr>
        <p:spPr>
          <a:xfrm>
            <a:off x="1722197" y="1273134"/>
            <a:ext cx="7439506" cy="356123"/>
          </a:xfrm>
          <a:prstGeom prst="rect">
            <a:avLst/>
          </a:prstGeom>
          <a:noFill/>
        </p:spPr>
        <p:txBody>
          <a:bodyPr wrap="square">
            <a:spAutoFit/>
          </a:bodyPr>
          <a:lstStyle/>
          <a:p>
            <a:pPr>
              <a:lnSpc>
                <a:spcPts val="2000"/>
              </a:lnSpc>
            </a:pPr>
            <a:r>
              <a:rPr lang="en-US" altLang="zh-CN" sz="2000" dirty="0">
                <a:solidFill>
                  <a:srgbClr val="002060"/>
                </a:solidFill>
                <a:latin typeface="华文楷体" panose="02010600040101010101" pitchFamily="2" charset="-122"/>
                <a:ea typeface="华文楷体" panose="02010600040101010101" pitchFamily="2" charset="-122"/>
              </a:rPr>
              <a:t>Key-Value</a:t>
            </a:r>
            <a:r>
              <a:rPr lang="zh-CN" altLang="en-US" sz="2000" dirty="0">
                <a:solidFill>
                  <a:srgbClr val="002060"/>
                </a:solidFill>
                <a:latin typeface="华文楷体" panose="02010600040101010101" pitchFamily="2" charset="-122"/>
                <a:ea typeface="华文楷体" panose="02010600040101010101" pitchFamily="2" charset="-122"/>
              </a:rPr>
              <a:t>关键字参数</a:t>
            </a:r>
            <a:r>
              <a:rPr lang="en-US" altLang="zh-CN" sz="2000" dirty="0">
                <a:solidFill>
                  <a:srgbClr val="002060"/>
                </a:solidFill>
                <a:latin typeface="华文楷体" panose="02010600040101010101" pitchFamily="2" charset="-122"/>
                <a:ea typeface="华文楷体" panose="02010600040101010101" pitchFamily="2" charset="-122"/>
              </a:rPr>
              <a:t>:</a:t>
            </a:r>
            <a:r>
              <a:rPr lang="zh-CN" altLang="en-US" sz="2000" dirty="0">
                <a:solidFill>
                  <a:srgbClr val="002060"/>
                </a:solidFill>
                <a:latin typeface="华文楷体" panose="02010600040101010101" pitchFamily="2" charset="-122"/>
                <a:ea typeface="华文楷体" panose="02010600040101010101" pitchFamily="2" charset="-122"/>
              </a:rPr>
              <a:t>如待定参数初始值</a:t>
            </a:r>
            <a:r>
              <a:rPr lang="en-US" altLang="zh-CN" sz="2000" dirty="0" err="1">
                <a:solidFill>
                  <a:srgbClr val="002060"/>
                </a:solidFill>
                <a:latin typeface="华文楷体" panose="02010600040101010101" pitchFamily="2" charset="-122"/>
                <a:ea typeface="华文楷体" panose="02010600040101010101" pitchFamily="2" charset="-122"/>
              </a:rPr>
              <a:t>startpt</a:t>
            </a:r>
            <a:r>
              <a:rPr lang="en-US" altLang="zh-CN" sz="2000" dirty="0">
                <a:solidFill>
                  <a:srgbClr val="002060"/>
                </a:solidFill>
                <a:latin typeface="华文楷体" panose="02010600040101010101" pitchFamily="2" charset="-122"/>
                <a:ea typeface="华文楷体" panose="02010600040101010101" pitchFamily="2" charset="-122"/>
              </a:rPr>
              <a:t>=[1,1] </a:t>
            </a:r>
            <a:r>
              <a:rPr lang="zh-CN" altLang="en-US" sz="2000" dirty="0">
                <a:solidFill>
                  <a:srgbClr val="002060"/>
                </a:solidFill>
                <a:latin typeface="华文楷体" panose="02010600040101010101" pitchFamily="2" charset="-122"/>
                <a:ea typeface="华文楷体" panose="02010600040101010101" pitchFamily="2" charset="-122"/>
              </a:rPr>
              <a:t>指定拟合初值</a:t>
            </a:r>
          </a:p>
        </p:txBody>
      </p:sp>
      <p:sp>
        <p:nvSpPr>
          <p:cNvPr id="12" name="文本框 11"/>
          <p:cNvSpPr txBox="1"/>
          <p:nvPr/>
        </p:nvSpPr>
        <p:spPr>
          <a:xfrm>
            <a:off x="1934" y="760346"/>
            <a:ext cx="5143085" cy="369332"/>
          </a:xfrm>
          <a:prstGeom prst="rect">
            <a:avLst/>
          </a:prstGeom>
          <a:solidFill>
            <a:schemeClr val="bg1"/>
          </a:solidFill>
        </p:spPr>
        <p:txBody>
          <a:bodyPr wrap="square">
            <a:spAutoFit/>
          </a:bodyPr>
          <a:lstStyle/>
          <a:p>
            <a:pPr marL="457200" indent="-457200">
              <a:buFont typeface="+mj-ea"/>
              <a:buAutoNum type="circleNumDbPlain"/>
            </a:pPr>
            <a:r>
              <a:rPr lang="zh-CN" altLang="en-US" b="1" dirty="0">
                <a:solidFill>
                  <a:srgbClr val="0070C0"/>
                </a:solidFill>
                <a:latin typeface="微软雅黑" panose="020B0503020204020204" pitchFamily="34" charset="-122"/>
                <a:ea typeface="微软雅黑" panose="020B0503020204020204" pitchFamily="34" charset="-122"/>
              </a:rPr>
              <a:t>带属性的</a:t>
            </a:r>
            <a:r>
              <a:rPr lang="en-US" altLang="zh-CN" b="1" dirty="0">
                <a:solidFill>
                  <a:srgbClr val="0070C0"/>
                </a:solidFill>
                <a:latin typeface="微软雅黑" panose="020B0503020204020204" pitchFamily="34" charset="-122"/>
                <a:ea typeface="微软雅黑" panose="020B0503020204020204" pitchFamily="34" charset="-122"/>
              </a:rPr>
              <a:t>fit</a:t>
            </a:r>
            <a:r>
              <a:rPr lang="zh-CN" altLang="en-US" b="1" dirty="0">
                <a:solidFill>
                  <a:srgbClr val="0070C0"/>
                </a:solidFill>
                <a:latin typeface="微软雅黑" panose="020B0503020204020204" pitchFamily="34" charset="-122"/>
                <a:ea typeface="微软雅黑" panose="020B0503020204020204" pitchFamily="34" charset="-122"/>
              </a:rPr>
              <a:t>拟合曲线</a:t>
            </a:r>
          </a:p>
        </p:txBody>
      </p:sp>
      <p:sp>
        <p:nvSpPr>
          <p:cNvPr id="15" name="文本框 14"/>
          <p:cNvSpPr txBox="1"/>
          <p:nvPr/>
        </p:nvSpPr>
        <p:spPr>
          <a:xfrm>
            <a:off x="0" y="1737474"/>
            <a:ext cx="2470757" cy="369332"/>
          </a:xfrm>
          <a:prstGeom prst="rect">
            <a:avLst/>
          </a:prstGeom>
          <a:solidFill>
            <a:schemeClr val="bg1"/>
          </a:solidFill>
        </p:spPr>
        <p:txBody>
          <a:bodyPr wrap="square">
            <a:spAutoFit/>
          </a:bodyPr>
          <a:lstStyle/>
          <a:p>
            <a:pPr marL="457200" indent="-457200">
              <a:buFont typeface="+mj-ea"/>
              <a:buAutoNum type="circleNumDbPlain" startAt="2"/>
            </a:pPr>
            <a:r>
              <a:rPr lang="zh-CN" altLang="en-US" b="1" dirty="0">
                <a:solidFill>
                  <a:srgbClr val="0070C0"/>
                </a:solidFill>
                <a:latin typeface="微软雅黑" panose="020B0503020204020204" pitchFamily="34" charset="-122"/>
                <a:ea typeface="微软雅黑" panose="020B0503020204020204" pitchFamily="34" charset="-122"/>
              </a:rPr>
              <a:t>拟合结果的求导</a:t>
            </a:r>
          </a:p>
        </p:txBody>
      </p:sp>
      <p:sp>
        <p:nvSpPr>
          <p:cNvPr id="16" name="Rectangle 1"/>
          <p:cNvSpPr>
            <a:spLocks noChangeArrowheads="1"/>
          </p:cNvSpPr>
          <p:nvPr/>
        </p:nvSpPr>
        <p:spPr bwMode="auto">
          <a:xfrm>
            <a:off x="516870" y="3634438"/>
            <a:ext cx="4559186"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zh-CN" altLang="zh-CN" sz="1600" kern="0" dirty="0">
                <a:solidFill>
                  <a:schemeClr val="bg1"/>
                </a:solidFill>
                <a:latin typeface="Arial Unicode MS"/>
                <a:cs typeface="Times New Roman" panose="02020603050405020304" pitchFamily="18" charset="0"/>
              </a:rPr>
              <a:t>fx, </a:t>
            </a:r>
            <a:r>
              <a:rPr lang="zh-CN" altLang="zh-CN" sz="1600" kern="0" dirty="0">
                <a:solidFill>
                  <a:schemeClr val="bg1"/>
                </a:solidFill>
                <a:highlight>
                  <a:srgbClr val="FF0000"/>
                </a:highlight>
                <a:latin typeface="Arial Unicode MS"/>
                <a:cs typeface="Times New Roman" panose="02020603050405020304" pitchFamily="18" charset="0"/>
              </a:rPr>
              <a:t>fxx</a:t>
            </a:r>
            <a:r>
              <a:rPr lang="zh-CN" altLang="zh-CN" sz="1600" kern="0" dirty="0">
                <a:solidFill>
                  <a:schemeClr val="bg1"/>
                </a:solidFill>
                <a:latin typeface="Arial Unicode MS"/>
                <a:cs typeface="Times New Roman" panose="02020603050405020304" pitchFamily="18" charset="0"/>
              </a:rPr>
              <a:t>= differentiate1(fitobject, </a:t>
            </a:r>
            <a:r>
              <a:rPr lang="en-US" altLang="zh-CN" sz="1600" kern="0" dirty="0">
                <a:solidFill>
                  <a:schemeClr val="bg1"/>
                </a:solidFill>
                <a:latin typeface="Arial Unicode MS"/>
                <a:cs typeface="Times New Roman" panose="02020603050405020304" pitchFamily="18" charset="0"/>
              </a:rPr>
              <a:t>x</a:t>
            </a:r>
            <a:r>
              <a:rPr lang="zh-CN" altLang="zh-CN" sz="1600" kern="0" dirty="0">
                <a:solidFill>
                  <a:schemeClr val="bg1"/>
                </a:solidFill>
                <a:highlight>
                  <a:srgbClr val="FF0000"/>
                </a:highlight>
                <a:latin typeface="Arial Unicode MS"/>
                <a:cs typeface="Times New Roman" panose="02020603050405020304" pitchFamily="18" charset="0"/>
              </a:rPr>
              <a:t>, order=</a:t>
            </a:r>
            <a:r>
              <a:rPr lang="en-US" altLang="zh-CN" sz="1600" kern="0" dirty="0">
                <a:solidFill>
                  <a:schemeClr val="bg1"/>
                </a:solidFill>
                <a:highlight>
                  <a:srgbClr val="FF0000"/>
                </a:highlight>
                <a:latin typeface="Arial Unicode MS"/>
                <a:cs typeface="Times New Roman" panose="02020603050405020304" pitchFamily="18" charset="0"/>
              </a:rPr>
              <a:t>2</a:t>
            </a:r>
            <a:r>
              <a:rPr lang="zh-CN" altLang="zh-CN" sz="1600" kern="0" dirty="0">
                <a:solidFill>
                  <a:schemeClr val="bg1"/>
                </a:solidFill>
                <a:latin typeface="Arial Unicode MS"/>
                <a:cs typeface="Times New Roman" panose="02020603050405020304" pitchFamily="18" charset="0"/>
              </a:rPr>
              <a:t>) </a:t>
            </a:r>
          </a:p>
        </p:txBody>
      </p:sp>
      <p:sp>
        <p:nvSpPr>
          <p:cNvPr id="17" name="Rectangle 1"/>
          <p:cNvSpPr>
            <a:spLocks noChangeArrowheads="1"/>
          </p:cNvSpPr>
          <p:nvPr/>
        </p:nvSpPr>
        <p:spPr bwMode="auto">
          <a:xfrm>
            <a:off x="1741006" y="3480507"/>
            <a:ext cx="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4" name="Rectangle 1"/>
          <p:cNvSpPr>
            <a:spLocks noChangeArrowheads="1"/>
          </p:cNvSpPr>
          <p:nvPr/>
        </p:nvSpPr>
        <p:spPr bwMode="auto">
          <a:xfrm>
            <a:off x="511820" y="2688343"/>
            <a:ext cx="4054797"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zh-CN" altLang="zh-CN" sz="1600" kern="0" dirty="0">
                <a:solidFill>
                  <a:schemeClr val="bg1"/>
                </a:solidFill>
                <a:latin typeface="Arial Unicode MS"/>
                <a:cs typeface="Times New Roman" panose="02020603050405020304" pitchFamily="18" charset="0"/>
              </a:rPr>
              <a:t>fx=differentiate1(fitobject,</a:t>
            </a:r>
            <a:r>
              <a:rPr lang="en-US" altLang="zh-CN" sz="1600" kern="0" dirty="0">
                <a:solidFill>
                  <a:schemeClr val="bg1"/>
                </a:solidFill>
                <a:latin typeface="Arial Unicode MS"/>
                <a:cs typeface="Times New Roman" panose="02020603050405020304" pitchFamily="18" charset="0"/>
              </a:rPr>
              <a:t>x</a:t>
            </a:r>
            <a:r>
              <a:rPr lang="zh-CN" altLang="zh-CN" sz="1600" kern="0" dirty="0">
                <a:solidFill>
                  <a:schemeClr val="bg1"/>
                </a:solidFill>
                <a:latin typeface="Arial Unicode MS"/>
                <a:cs typeface="Times New Roman" panose="02020603050405020304" pitchFamily="18" charset="0"/>
              </a:rPr>
              <a:t>,order=1) </a:t>
            </a:r>
          </a:p>
        </p:txBody>
      </p:sp>
      <p:sp>
        <p:nvSpPr>
          <p:cNvPr id="20" name="文本框 19"/>
          <p:cNvSpPr txBox="1"/>
          <p:nvPr/>
        </p:nvSpPr>
        <p:spPr>
          <a:xfrm>
            <a:off x="7724" y="3172235"/>
            <a:ext cx="6750458" cy="400110"/>
          </a:xfrm>
          <a:prstGeom prst="rect">
            <a:avLst/>
          </a:prstGeom>
          <a:noFill/>
        </p:spPr>
        <p:txBody>
          <a:bodyPr wrap="square">
            <a:spAutoFit/>
          </a:bodyPr>
          <a:lstStyle/>
          <a:p>
            <a:pPr marL="342900" indent="-34290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rPr>
              <a:t> 拟合结果</a:t>
            </a:r>
            <a:r>
              <a:rPr lang="en-US" altLang="zh-CN" sz="2000" dirty="0" err="1">
                <a:solidFill>
                  <a:srgbClr val="0070C0"/>
                </a:solidFill>
                <a:latin typeface="微软雅黑" panose="020B0503020204020204" pitchFamily="34" charset="-122"/>
                <a:ea typeface="微软雅黑" panose="020B0503020204020204" pitchFamily="34" charset="-122"/>
              </a:rPr>
              <a:t>fitobject</a:t>
            </a:r>
            <a:r>
              <a:rPr lang="zh-CN" altLang="en-US" sz="2000" dirty="0">
                <a:solidFill>
                  <a:srgbClr val="0070C0"/>
                </a:solidFill>
                <a:latin typeface="微软雅黑" panose="020B0503020204020204" pitchFamily="34" charset="-122"/>
                <a:ea typeface="微软雅黑" panose="020B0503020204020204" pitchFamily="34" charset="-122"/>
              </a:rPr>
              <a:t>对</a:t>
            </a:r>
            <a:r>
              <a:rPr lang="en-US" altLang="zh-CN" sz="2000" dirty="0">
                <a:solidFill>
                  <a:srgbClr val="0070C0"/>
                </a:solidFill>
                <a:latin typeface="微软雅黑" panose="020B0503020204020204" pitchFamily="34" charset="-122"/>
                <a:ea typeface="微软雅黑" panose="020B0503020204020204" pitchFamily="34" charset="-122"/>
              </a:rPr>
              <a:t>x</a:t>
            </a:r>
            <a:r>
              <a:rPr lang="zh-CN" altLang="en-US" sz="2000" dirty="0">
                <a:solidFill>
                  <a:srgbClr val="0070C0"/>
                </a:solidFill>
                <a:latin typeface="微软雅黑" panose="020B0503020204020204" pitchFamily="34" charset="-122"/>
                <a:ea typeface="微软雅黑" panose="020B0503020204020204" pitchFamily="34" charset="-122"/>
              </a:rPr>
              <a:t>指定微分点进行一阶和二阶求导</a:t>
            </a:r>
            <a:endParaRPr lang="zh-CN" altLang="en-US" sz="2000" dirty="0">
              <a:solidFill>
                <a:srgbClr val="0070C0"/>
              </a:solidFill>
            </a:endParaRPr>
          </a:p>
        </p:txBody>
      </p:sp>
      <p:sp>
        <p:nvSpPr>
          <p:cNvPr id="21" name="文本框 20"/>
          <p:cNvSpPr txBox="1"/>
          <p:nvPr/>
        </p:nvSpPr>
        <p:spPr>
          <a:xfrm>
            <a:off x="31108" y="2207340"/>
            <a:ext cx="6390418" cy="400110"/>
          </a:xfrm>
          <a:prstGeom prst="rect">
            <a:avLst/>
          </a:prstGeom>
          <a:noFill/>
        </p:spPr>
        <p:txBody>
          <a:bodyPr wrap="square">
            <a:spAutoFit/>
          </a:bodyPr>
          <a:lstStyle/>
          <a:p>
            <a:pPr marL="342900" indent="-342900">
              <a:buFont typeface="Wingdings" panose="05000000000000000000" pitchFamily="2" charset="2"/>
              <a:buChar char="p"/>
            </a:pPr>
            <a:r>
              <a:rPr lang="zh-CN" altLang="en-US" sz="2000" dirty="0">
                <a:solidFill>
                  <a:srgbClr val="0070C0"/>
                </a:solidFill>
                <a:latin typeface="微软雅黑" panose="020B0503020204020204" pitchFamily="34" charset="-122"/>
                <a:ea typeface="微软雅黑" panose="020B0503020204020204" pitchFamily="34" charset="-122"/>
              </a:rPr>
              <a:t> 拟合结果</a:t>
            </a:r>
            <a:r>
              <a:rPr lang="en-US" altLang="zh-CN" sz="2000" dirty="0" err="1">
                <a:solidFill>
                  <a:srgbClr val="0070C0"/>
                </a:solidFill>
                <a:latin typeface="微软雅黑" panose="020B0503020204020204" pitchFamily="34" charset="-122"/>
                <a:ea typeface="微软雅黑" panose="020B0503020204020204" pitchFamily="34" charset="-122"/>
              </a:rPr>
              <a:t>fitobject</a:t>
            </a:r>
            <a:r>
              <a:rPr lang="zh-CN" altLang="en-US" sz="2000" dirty="0">
                <a:solidFill>
                  <a:srgbClr val="0070C0"/>
                </a:solidFill>
                <a:latin typeface="微软雅黑" panose="020B0503020204020204" pitchFamily="34" charset="-122"/>
                <a:ea typeface="微软雅黑" panose="020B0503020204020204" pitchFamily="34" charset="-122"/>
              </a:rPr>
              <a:t>对</a:t>
            </a:r>
            <a:r>
              <a:rPr lang="en-US" altLang="zh-CN" sz="2000" dirty="0">
                <a:solidFill>
                  <a:srgbClr val="0070C0"/>
                </a:solidFill>
                <a:latin typeface="微软雅黑" panose="020B0503020204020204" pitchFamily="34" charset="-122"/>
                <a:ea typeface="微软雅黑" panose="020B0503020204020204" pitchFamily="34" charset="-122"/>
              </a:rPr>
              <a:t>x</a:t>
            </a:r>
            <a:r>
              <a:rPr lang="zh-CN" altLang="en-US" sz="2000" dirty="0">
                <a:solidFill>
                  <a:srgbClr val="0070C0"/>
                </a:solidFill>
                <a:latin typeface="微软雅黑" panose="020B0503020204020204" pitchFamily="34" charset="-122"/>
                <a:ea typeface="微软雅黑" panose="020B0503020204020204" pitchFamily="34" charset="-122"/>
              </a:rPr>
              <a:t>指定微分点进行一阶求导</a:t>
            </a:r>
            <a:endParaRPr lang="zh-CN" altLang="en-US" sz="2000" dirty="0">
              <a:solidFill>
                <a:srgbClr val="0070C0"/>
              </a:solidFill>
            </a:endParaRPr>
          </a:p>
        </p:txBody>
      </p:sp>
      <p:sp>
        <p:nvSpPr>
          <p:cNvPr id="23" name="文本框 22"/>
          <p:cNvSpPr txBox="1"/>
          <p:nvPr/>
        </p:nvSpPr>
        <p:spPr>
          <a:xfrm>
            <a:off x="4788357" y="2707712"/>
            <a:ext cx="3843823" cy="338554"/>
          </a:xfrm>
          <a:prstGeom prst="rect">
            <a:avLst/>
          </a:prstGeom>
          <a:noFill/>
        </p:spPr>
        <p:txBody>
          <a:bodyPr wrap="square">
            <a:spAutoFit/>
          </a:bodyPr>
          <a:lstStyle>
            <a:defPPr>
              <a:defRPr lang="zh-CN"/>
            </a:defPPr>
            <a:lvl1pPr>
              <a:defRPr b="1" i="0">
                <a:solidFill>
                  <a:srgbClr val="FF0000"/>
                </a:solidFill>
                <a:effectLst/>
                <a:latin typeface="微软雅黑" panose="020B0503020204020204" pitchFamily="34" charset="-122"/>
                <a:ea typeface="微软雅黑" panose="020B0503020204020204" pitchFamily="34" charset="-122"/>
              </a:defRPr>
            </a:lvl1pPr>
          </a:lstStyle>
          <a:p>
            <a:r>
              <a:rPr lang="en-US" altLang="zh-CN" sz="1600" dirty="0" err="1"/>
              <a:t>fx</a:t>
            </a:r>
            <a:r>
              <a:rPr lang="en-US" altLang="zh-CN" sz="1600" dirty="0"/>
              <a:t> - </a:t>
            </a:r>
            <a:r>
              <a:rPr lang="zh-CN" altLang="en-US" sz="1600" dirty="0"/>
              <a:t>对采样点</a:t>
            </a:r>
            <a:r>
              <a:rPr lang="en-US" altLang="zh-CN" sz="1600" dirty="0"/>
              <a:t>x </a:t>
            </a:r>
            <a:r>
              <a:rPr lang="zh-CN" altLang="en-US" sz="1600" dirty="0"/>
              <a:t>的一阶导数，结果为向量</a:t>
            </a:r>
          </a:p>
        </p:txBody>
      </p:sp>
      <p:sp>
        <p:nvSpPr>
          <p:cNvPr id="24" name="文本框 23"/>
          <p:cNvSpPr txBox="1"/>
          <p:nvPr/>
        </p:nvSpPr>
        <p:spPr>
          <a:xfrm>
            <a:off x="5179166" y="3595571"/>
            <a:ext cx="2484719" cy="369332"/>
          </a:xfrm>
          <a:prstGeom prst="rect">
            <a:avLst/>
          </a:prstGeom>
          <a:noFill/>
        </p:spPr>
        <p:txBody>
          <a:bodyPr wrap="square">
            <a:spAutoFit/>
          </a:bodyPr>
          <a:lstStyle>
            <a:defPPr>
              <a:defRPr lang="zh-CN"/>
            </a:defPPr>
            <a:lvl1pPr>
              <a:defRPr b="1" i="0">
                <a:solidFill>
                  <a:srgbClr val="FF0000"/>
                </a:solidFill>
                <a:effectLst/>
                <a:latin typeface="微软雅黑" panose="020B0503020204020204" pitchFamily="34" charset="-122"/>
                <a:ea typeface="微软雅黑" panose="020B0503020204020204" pitchFamily="34" charset="-122"/>
              </a:defRPr>
            </a:lvl1pPr>
          </a:lstStyle>
          <a:p>
            <a:r>
              <a:rPr lang="en-US" altLang="zh-CN" dirty="0" err="1"/>
              <a:t>fxx</a:t>
            </a:r>
            <a:r>
              <a:rPr lang="en-US" altLang="zh-CN" dirty="0"/>
              <a:t>-</a:t>
            </a:r>
            <a:r>
              <a:rPr lang="zh-CN" altLang="en-US" dirty="0"/>
              <a:t>对 </a:t>
            </a:r>
            <a:r>
              <a:rPr lang="en-US" altLang="zh-CN" dirty="0"/>
              <a:t>x </a:t>
            </a:r>
            <a:r>
              <a:rPr lang="zh-CN" altLang="en-US" dirty="0"/>
              <a:t>的二阶导数</a:t>
            </a:r>
          </a:p>
        </p:txBody>
      </p:sp>
      <p:sp>
        <p:nvSpPr>
          <p:cNvPr id="26" name="文本框 25"/>
          <p:cNvSpPr txBox="1"/>
          <p:nvPr/>
        </p:nvSpPr>
        <p:spPr>
          <a:xfrm>
            <a:off x="395375" y="4181768"/>
            <a:ext cx="4171242" cy="400110"/>
          </a:xfrm>
          <a:prstGeom prst="rect">
            <a:avLst/>
          </a:prstGeom>
          <a:noFill/>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rPr>
              <a:t>工具箱使用中心差分计算一阶导数</a:t>
            </a:r>
          </a:p>
        </p:txBody>
      </p:sp>
      <p:pic>
        <p:nvPicPr>
          <p:cNvPr id="28" name="图片 27"/>
          <p:cNvPicPr>
            <a:picLocks noChangeAspect="1"/>
          </p:cNvPicPr>
          <p:nvPr/>
        </p:nvPicPr>
        <p:blipFill rotWithShape="1">
          <a:blip r:embed="rId2"/>
          <a:srcRect l="26176" t="55600" r="59985" b="38594"/>
          <a:stretch>
            <a:fillRect/>
          </a:stretch>
        </p:blipFill>
        <p:spPr>
          <a:xfrm>
            <a:off x="4566617" y="4129295"/>
            <a:ext cx="3443543" cy="474277"/>
          </a:xfrm>
          <a:prstGeom prst="rect">
            <a:avLst/>
          </a:prstGeom>
        </p:spPr>
      </p:pic>
      <p:sp>
        <p:nvSpPr>
          <p:cNvPr id="30" name="文本框 29"/>
          <p:cNvSpPr txBox="1"/>
          <p:nvPr/>
        </p:nvSpPr>
        <p:spPr>
          <a:xfrm>
            <a:off x="2267744" y="1770370"/>
            <a:ext cx="2470757" cy="369332"/>
          </a:xfrm>
          <a:prstGeom prst="rect">
            <a:avLst/>
          </a:prstGeom>
          <a:noFill/>
        </p:spPr>
        <p:txBody>
          <a:bodyPr wrap="square">
            <a:spAutoFit/>
          </a:bodyPr>
          <a:lstStyle/>
          <a:p>
            <a:r>
              <a:rPr lang="en-US" altLang="zh-CN" i="0" dirty="0">
                <a:solidFill>
                  <a:srgbClr val="FF0000"/>
                </a:solidFill>
                <a:effectLst/>
                <a:latin typeface="微软雅黑" panose="020B0503020204020204" pitchFamily="34" charset="-122"/>
                <a:ea typeface="微软雅黑" panose="020B0503020204020204" pitchFamily="34" charset="-122"/>
              </a:rPr>
              <a:t>order</a:t>
            </a:r>
            <a:r>
              <a:rPr lang="en-US" altLang="zh-CN" b="1" i="0" dirty="0">
                <a:solidFill>
                  <a:srgbClr val="FF0000"/>
                </a:solidFill>
                <a:effectLst/>
                <a:latin typeface="微软雅黑" panose="020B0503020204020204" pitchFamily="34" charset="-122"/>
                <a:ea typeface="微软雅黑" panose="020B0503020204020204" pitchFamily="34" charset="-122"/>
              </a:rPr>
              <a:t> - </a:t>
            </a:r>
            <a:r>
              <a:rPr lang="zh-CN" altLang="en-US" b="1" i="0" dirty="0">
                <a:solidFill>
                  <a:srgbClr val="FF0000"/>
                </a:solidFill>
                <a:effectLst/>
                <a:latin typeface="微软雅黑" panose="020B0503020204020204" pitchFamily="34" charset="-122"/>
                <a:ea typeface="微软雅黑" panose="020B0503020204020204" pitchFamily="34" charset="-122"/>
              </a:rPr>
              <a:t>微分阶数</a:t>
            </a:r>
            <a:endParaRPr lang="zh-CN" altLang="en-US" dirty="0">
              <a:solidFill>
                <a:srgbClr val="FF0000"/>
              </a:solidFill>
            </a:endParaRPr>
          </a:p>
        </p:txBody>
      </p:sp>
      <p:sp>
        <p:nvSpPr>
          <p:cNvPr id="10" name="Text Box 3"/>
          <p:cNvSpPr txBox="1"/>
          <p:nvPr/>
        </p:nvSpPr>
        <p:spPr bwMode="auto">
          <a:xfrm>
            <a:off x="2771800" y="781191"/>
            <a:ext cx="6246618"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lvl="0" indent="0" algn="dist" eaLnBrk="0" hangingPunct="0">
              <a:lnSpc>
                <a:spcPct val="100000"/>
              </a:lnSpc>
              <a:defRPr kumimoji="0" sz="1600" b="1"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r>
              <a:rPr lang="zh-CN" altLang="zh-CN" b="0" dirty="0"/>
              <a:t>fitobject=</a:t>
            </a:r>
            <a:r>
              <a:rPr lang="en-US" altLang="zh-CN" b="0" dirty="0"/>
              <a:t> </a:t>
            </a:r>
            <a:r>
              <a:rPr lang="en-US" altLang="zh-CN" b="0" dirty="0" err="1"/>
              <a:t>TyCurveFitting</a:t>
            </a:r>
            <a:r>
              <a:rPr lang="en-US" altLang="zh-CN" b="0" dirty="0"/>
              <a:t>.</a:t>
            </a:r>
            <a:r>
              <a:rPr lang="zh-CN" altLang="zh-CN" b="0" dirty="0"/>
              <a:t>fit(fitType,x,y</a:t>
            </a:r>
            <a:r>
              <a:rPr lang="en-US" altLang="zh-CN" b="0" dirty="0"/>
              <a:t>,Key=Value</a:t>
            </a:r>
            <a:r>
              <a:rPr lang="zh-CN" altLang="zh-CN" b="0" dirty="0"/>
              <a:t>) </a:t>
            </a:r>
          </a:p>
        </p:txBody>
      </p:sp>
      <p:sp>
        <p:nvSpPr>
          <p:cNvPr id="19" name="文本框 18"/>
          <p:cNvSpPr txBox="1"/>
          <p:nvPr/>
        </p:nvSpPr>
        <p:spPr>
          <a:xfrm>
            <a:off x="1934" y="1261792"/>
            <a:ext cx="1720263" cy="369332"/>
          </a:xfrm>
          <a:prstGeom prst="rect">
            <a:avLst/>
          </a:prstGeom>
          <a:noFill/>
        </p:spPr>
        <p:txBody>
          <a:bodyPr wrap="square">
            <a:spAutoFit/>
          </a:bodyPr>
          <a:lstStyle/>
          <a:p>
            <a:r>
              <a:rPr lang="zh-CN" altLang="en-US" sz="1800" dirty="0">
                <a:solidFill>
                  <a:srgbClr val="0070C0"/>
                </a:solidFill>
              </a:rPr>
              <a:t>采样数据 </a:t>
            </a:r>
            <a:r>
              <a:rPr lang="en-US" altLang="zh-CN" sz="1800" dirty="0">
                <a:solidFill>
                  <a:srgbClr val="0070C0"/>
                </a:solidFill>
                <a:hlinkClick r:id="rId3" action="ppaction://hlinkfile"/>
              </a:rPr>
              <a:t>x</a:t>
            </a:r>
            <a:r>
              <a:rPr lang="zh-CN" altLang="en-US" sz="1800" dirty="0">
                <a:solidFill>
                  <a:srgbClr val="0070C0"/>
                </a:solidFill>
              </a:rPr>
              <a:t>和</a:t>
            </a:r>
            <a:r>
              <a:rPr lang="en-US" altLang="zh-CN" sz="1800" dirty="0">
                <a:solidFill>
                  <a:srgbClr val="0070C0"/>
                </a:solidFill>
                <a:hlinkClick r:id="rId4" action="ppaction://hlinkfile"/>
              </a:rPr>
              <a:t>y</a:t>
            </a:r>
            <a:r>
              <a:rPr lang="zh-CN" altLang="en-US" sz="1800" dirty="0">
                <a:solidFill>
                  <a:srgbClr val="0070C0"/>
                </a:solidFill>
              </a:rPr>
              <a:t>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4" grpId="0" animBg="1"/>
      <p:bldP spid="20" grpId="0"/>
      <p:bldP spid="21" grpId="0"/>
      <p:bldP spid="23" grpId="0"/>
      <p:bldP spid="24" grpId="0"/>
      <p:bldP spid="26" grpId="0"/>
      <p:bldP spid="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4"/>
          <a:srcRect l="21570" t="23228" r="22667" b="30016"/>
          <a:stretch/>
        </p:blipFill>
        <p:spPr>
          <a:xfrm>
            <a:off x="98394" y="1083587"/>
            <a:ext cx="9059164" cy="1134118"/>
          </a:xfrm>
          <a:prstGeom prst="rect">
            <a:avLst/>
          </a:prstGeom>
        </p:spPr>
      </p:pic>
      <p:pic>
        <p:nvPicPr>
          <p:cNvPr id="6" name="图片 5"/>
          <p:cNvPicPr>
            <a:picLocks noChangeAspect="1"/>
          </p:cNvPicPr>
          <p:nvPr/>
        </p:nvPicPr>
        <p:blipFill rotWithShape="1">
          <a:blip r:embed="rId5"/>
          <a:srcRect l="22962" t="41033" r="30977" b="10878"/>
          <a:stretch/>
        </p:blipFill>
        <p:spPr>
          <a:xfrm>
            <a:off x="144642" y="2556730"/>
            <a:ext cx="2752879" cy="1925441"/>
          </a:xfrm>
          <a:prstGeom prst="rect">
            <a:avLst/>
          </a:prstGeom>
        </p:spPr>
      </p:pic>
      <p:sp>
        <p:nvSpPr>
          <p:cNvPr id="9" name="矩形 8"/>
          <p:cNvSpPr/>
          <p:nvPr/>
        </p:nvSpPr>
        <p:spPr>
          <a:xfrm>
            <a:off x="1907704" y="680193"/>
            <a:ext cx="7064704" cy="461665"/>
          </a:xfrm>
          <a:prstGeom prst="rect">
            <a:avLst/>
          </a:prstGeom>
          <a:solidFill>
            <a:schemeClr val="bg1"/>
          </a:solid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根据实验测拉伸应力</a:t>
            </a:r>
            <a:r>
              <a:rPr lang="en-US" altLang="zh-CN" b="1" dirty="0">
                <a:solidFill>
                  <a:srgbClr val="0070C0"/>
                </a:solidFill>
                <a:latin typeface="微软雅黑" panose="020B0503020204020204" pitchFamily="34" charset="-122"/>
                <a:ea typeface="微软雅黑" panose="020B0503020204020204" pitchFamily="34" charset="-122"/>
              </a:rPr>
              <a:t>y-</a:t>
            </a:r>
            <a:r>
              <a:rPr lang="zh-CN" altLang="en-US" b="1" dirty="0">
                <a:solidFill>
                  <a:srgbClr val="0070C0"/>
                </a:solidFill>
                <a:latin typeface="微软雅黑" panose="020B0503020204020204" pitchFamily="34" charset="-122"/>
                <a:ea typeface="微软雅黑" panose="020B0503020204020204" pitchFamily="34" charset="-122"/>
              </a:rPr>
              <a:t>应变</a:t>
            </a:r>
            <a:r>
              <a:rPr lang="en-US" altLang="zh-CN" b="1" dirty="0">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曲线求应变硬化速率</a:t>
            </a:r>
            <a:r>
              <a:rPr lang="en-US" altLang="zh-CN" sz="2400" b="1" dirty="0">
                <a:solidFill>
                  <a:srgbClr val="FF0000"/>
                </a:solidFill>
                <a:latin typeface="微软雅黑" panose="020B0503020204020204" pitchFamily="34" charset="-122"/>
                <a:ea typeface="微软雅黑" panose="020B0503020204020204" pitchFamily="34" charset="-122"/>
              </a:rPr>
              <a:t>h=</a:t>
            </a:r>
            <a:r>
              <a:rPr lang="en-US" altLang="zh-CN" sz="2400" b="1" dirty="0" err="1">
                <a:solidFill>
                  <a:srgbClr val="FF0000"/>
                </a:solidFill>
                <a:latin typeface="微软雅黑" panose="020B0503020204020204" pitchFamily="34" charset="-122"/>
                <a:ea typeface="微软雅黑" panose="020B0503020204020204" pitchFamily="34" charset="-122"/>
              </a:rPr>
              <a:t>dy</a:t>
            </a:r>
            <a:r>
              <a:rPr lang="en-US" altLang="zh-CN" sz="2400" b="1" dirty="0">
                <a:solidFill>
                  <a:srgbClr val="FF0000"/>
                </a:solidFill>
                <a:latin typeface="微软雅黑" panose="020B0503020204020204" pitchFamily="34" charset="-122"/>
                <a:ea typeface="微软雅黑" panose="020B0503020204020204" pitchFamily="34" charset="-122"/>
              </a:rPr>
              <a:t>/dx</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1010502" y="71547"/>
            <a:ext cx="8147056" cy="523220"/>
          </a:xfrm>
          <a:prstGeom prst="rect">
            <a:avLst/>
          </a:prstGeom>
          <a:noFill/>
        </p:spPr>
        <p:txBody>
          <a:bodyPr wrap="square">
            <a:spAutoFit/>
          </a:bodyPr>
          <a:lstStyle/>
          <a:p>
            <a:r>
              <a:rPr lang="en-US" altLang="ko-KR" sz="2800" b="1" dirty="0">
                <a:solidFill>
                  <a:srgbClr val="002060"/>
                </a:solidFill>
                <a:latin typeface="华文楷体" panose="02010600040101010101" pitchFamily="2" charset="-122"/>
                <a:ea typeface="华文楷体" panose="02010600040101010101" pitchFamily="2" charset="-122"/>
              </a:rPr>
              <a:t>§5.3</a:t>
            </a:r>
            <a:r>
              <a:rPr lang="zh-CN" altLang="en-US" sz="2800" b="1" dirty="0">
                <a:solidFill>
                  <a:srgbClr val="002060"/>
                </a:solidFill>
                <a:latin typeface="华文楷体" panose="02010600040101010101" pitchFamily="2" charset="-122"/>
                <a:ea typeface="华文楷体" panose="02010600040101010101" pitchFamily="2" charset="-122"/>
              </a:rPr>
              <a:t>多项式拟合求导</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800" b="1" kern="0" dirty="0">
                <a:solidFill>
                  <a:srgbClr val="FF0000"/>
                </a:solidFill>
                <a:latin typeface="华文楷体" panose="02010600040101010101" pitchFamily="2" charset="-122"/>
                <a:ea typeface="华文楷体" panose="02010600040101010101" pitchFamily="2" charset="-122"/>
              </a:rPr>
              <a:t>多项式拟合求导案例</a:t>
            </a:r>
            <a:endParaRPr lang="zh-CN" altLang="en-US" sz="2800" b="1" dirty="0"/>
          </a:p>
        </p:txBody>
      </p:sp>
      <p:sp>
        <p:nvSpPr>
          <p:cNvPr id="24" name="波形 23"/>
          <p:cNvSpPr/>
          <p:nvPr/>
        </p:nvSpPr>
        <p:spPr>
          <a:xfrm>
            <a:off x="161882" y="751692"/>
            <a:ext cx="1506369" cy="413207"/>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例53-4</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graphicFrame>
        <p:nvGraphicFramePr>
          <p:cNvPr id="22" name="对象 21">
            <a:extLst>
              <a:ext uri="{FF2B5EF4-FFF2-40B4-BE49-F238E27FC236}">
                <a16:creationId xmlns:a16="http://schemas.microsoft.com/office/drawing/2014/main" id="{B2F96F2C-3FAD-48A7-9C77-8CDC93548799}"/>
              </a:ext>
            </a:extLst>
          </p:cNvPr>
          <p:cNvGraphicFramePr>
            <a:graphicFrameLocks noChangeAspect="1"/>
          </p:cNvGraphicFramePr>
          <p:nvPr/>
        </p:nvGraphicFramePr>
        <p:xfrm>
          <a:off x="2678991" y="2127507"/>
          <a:ext cx="2792731" cy="1830294"/>
        </p:xfrm>
        <a:graphic>
          <a:graphicData uri="http://schemas.openxmlformats.org/presentationml/2006/ole">
            <mc:AlternateContent xmlns:mc="http://schemas.openxmlformats.org/markup-compatibility/2006">
              <mc:Choice xmlns:v="urn:schemas-microsoft-com:vml" Requires="v">
                <p:oleObj spid="_x0000_s44045" name="Graph" r:id="rId6" imgW="31768415" imgH="22470745" progId="Origin50.Graph">
                  <p:embed/>
                </p:oleObj>
              </mc:Choice>
              <mc:Fallback>
                <p:oleObj name="Graph" r:id="rId6" imgW="31768415" imgH="22470745" progId="Origin50.Graph">
                  <p:embed/>
                  <p:pic>
                    <p:nvPicPr>
                      <p:cNvPr id="22" name="对象 21">
                        <a:extLst>
                          <a:ext uri="{FF2B5EF4-FFF2-40B4-BE49-F238E27FC236}">
                            <a16:creationId xmlns:a16="http://schemas.microsoft.com/office/drawing/2014/main" id="{B2F96F2C-3FAD-48A7-9C77-8CDC93548799}"/>
                          </a:ext>
                        </a:extLst>
                      </p:cNvPr>
                      <p:cNvPicPr/>
                      <p:nvPr/>
                    </p:nvPicPr>
                    <p:blipFill>
                      <a:blip r:embed="rId7"/>
                      <a:stretch>
                        <a:fillRect/>
                      </a:stretch>
                    </p:blipFill>
                    <p:spPr>
                      <a:xfrm>
                        <a:off x="2678991" y="2127507"/>
                        <a:ext cx="2792731" cy="1830294"/>
                      </a:xfrm>
                      <a:prstGeom prst="rect">
                        <a:avLst/>
                      </a:prstGeom>
                      <a:solidFill>
                        <a:schemeClr val="bg1"/>
                      </a:solidFill>
                    </p:spPr>
                  </p:pic>
                </p:oleObj>
              </mc:Fallback>
            </mc:AlternateContent>
          </a:graphicData>
        </a:graphic>
      </p:graphicFrame>
      <p:pic>
        <p:nvPicPr>
          <p:cNvPr id="7" name="图片 6"/>
          <p:cNvPicPr>
            <a:picLocks noChangeAspect="1"/>
          </p:cNvPicPr>
          <p:nvPr/>
        </p:nvPicPr>
        <p:blipFill rotWithShape="1">
          <a:blip r:embed="rId8"/>
          <a:srcRect l="48109" t="33376" r="20210" b="15406"/>
          <a:stretch>
            <a:fillRect/>
          </a:stretch>
        </p:blipFill>
        <p:spPr>
          <a:xfrm>
            <a:off x="5084030" y="1691742"/>
            <a:ext cx="2715669" cy="2701825"/>
          </a:xfrm>
          <a:prstGeom prst="rect">
            <a:avLst/>
          </a:prstGeom>
        </p:spPr>
      </p:pic>
      <p:pic>
        <p:nvPicPr>
          <p:cNvPr id="3" name="图片 2"/>
          <p:cNvPicPr>
            <a:picLocks noChangeAspect="1"/>
          </p:cNvPicPr>
          <p:nvPr/>
        </p:nvPicPr>
        <p:blipFill rotWithShape="1">
          <a:blip r:embed="rId9" cstate="print">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val="0"/>
              </a:ext>
            </a:extLst>
          </a:blip>
          <a:srcRect l="18107" r="19247" b="2180"/>
          <a:stretch>
            <a:fillRect/>
          </a:stretch>
        </p:blipFill>
        <p:spPr>
          <a:xfrm rot="5400000">
            <a:off x="7684143" y="2565457"/>
            <a:ext cx="1497995" cy="1078534"/>
          </a:xfrm>
          <a:prstGeom prst="roundRect">
            <a:avLst>
              <a:gd name="adj" fmla="val 4167"/>
            </a:avLst>
          </a:prstGeom>
          <a:solidFill>
            <a:srgbClr val="FFFFFF"/>
          </a:solidFill>
          <a:ln w="76200" cap="sq">
            <a:solidFill>
              <a:srgbClr val="EAEAEA"/>
            </a:solidFill>
            <a:miter lim="800000"/>
            <a:headEnd/>
            <a:tailEnd/>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a:extLst>
              <a:ext uri="{FF2B5EF4-FFF2-40B4-BE49-F238E27FC236}">
                <a16:creationId xmlns:a16="http://schemas.microsoft.com/office/drawing/2014/main" id="{204FBC60-1676-4B31-997D-F3212B2CC8FC}"/>
              </a:ext>
            </a:extLst>
          </p:cNvPr>
          <p:cNvPicPr>
            <a:picLocks noChangeAspect="1"/>
          </p:cNvPicPr>
          <p:nvPr/>
        </p:nvPicPr>
        <p:blipFill>
          <a:blip r:embed="rId3"/>
          <a:stretch>
            <a:fillRect/>
          </a:stretch>
        </p:blipFill>
        <p:spPr>
          <a:xfrm>
            <a:off x="5467598" y="2056917"/>
            <a:ext cx="3537397" cy="2047491"/>
          </a:xfrm>
          <a:prstGeom prst="rect">
            <a:avLst/>
          </a:prstGeom>
        </p:spPr>
      </p:pic>
      <p:pic>
        <p:nvPicPr>
          <p:cNvPr id="9" name="图片 8">
            <a:extLst>
              <a:ext uri="{FF2B5EF4-FFF2-40B4-BE49-F238E27FC236}">
                <a16:creationId xmlns:a16="http://schemas.microsoft.com/office/drawing/2014/main" id="{543169A7-9B3E-4656-A6FC-DF6CB9340F22}"/>
              </a:ext>
            </a:extLst>
          </p:cNvPr>
          <p:cNvPicPr>
            <a:picLocks noChangeAspect="1"/>
          </p:cNvPicPr>
          <p:nvPr/>
        </p:nvPicPr>
        <p:blipFill>
          <a:blip r:embed="rId4"/>
          <a:stretch>
            <a:fillRect/>
          </a:stretch>
        </p:blipFill>
        <p:spPr>
          <a:xfrm>
            <a:off x="712540" y="2123642"/>
            <a:ext cx="3787452" cy="2110198"/>
          </a:xfrm>
          <a:prstGeom prst="rect">
            <a:avLst/>
          </a:prstGeom>
        </p:spPr>
      </p:pic>
      <p:sp>
        <p:nvSpPr>
          <p:cNvPr id="4" name="矩形 3">
            <a:extLst>
              <a:ext uri="{FF2B5EF4-FFF2-40B4-BE49-F238E27FC236}">
                <a16:creationId xmlns:a16="http://schemas.microsoft.com/office/drawing/2014/main" id="{F5941A48-0E10-40CC-A7CF-EE324DCA9819}"/>
              </a:ext>
            </a:extLst>
          </p:cNvPr>
          <p:cNvSpPr/>
          <p:nvPr/>
        </p:nvSpPr>
        <p:spPr>
          <a:xfrm>
            <a:off x="1524000" y="123478"/>
            <a:ext cx="7412987" cy="461665"/>
          </a:xfrm>
          <a:prstGeom prst="rect">
            <a:avLst/>
          </a:prstGeom>
          <a:solidFill>
            <a:schemeClr val="bg1"/>
          </a:solid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根据实验测拉伸应力</a:t>
            </a:r>
            <a:r>
              <a:rPr lang="en-US" altLang="zh-CN" b="1" dirty="0">
                <a:solidFill>
                  <a:srgbClr val="0070C0"/>
                </a:solidFill>
                <a:latin typeface="微软雅黑" panose="020B0503020204020204" pitchFamily="34" charset="-122"/>
                <a:ea typeface="微软雅黑" panose="020B0503020204020204" pitchFamily="34" charset="-122"/>
              </a:rPr>
              <a:t>y-</a:t>
            </a:r>
            <a:r>
              <a:rPr lang="zh-CN" altLang="en-US" b="1" dirty="0">
                <a:solidFill>
                  <a:srgbClr val="0070C0"/>
                </a:solidFill>
                <a:latin typeface="微软雅黑" panose="020B0503020204020204" pitchFamily="34" charset="-122"/>
                <a:ea typeface="微软雅黑" panose="020B0503020204020204" pitchFamily="34" charset="-122"/>
              </a:rPr>
              <a:t>应变</a:t>
            </a:r>
            <a:r>
              <a:rPr lang="en-US" altLang="zh-CN" b="1" dirty="0">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曲线求应变硬化速率</a:t>
            </a:r>
            <a:r>
              <a:rPr lang="en-US" altLang="zh-CN" sz="2400" b="1" dirty="0">
                <a:solidFill>
                  <a:srgbClr val="FF0000"/>
                </a:solidFill>
                <a:latin typeface="微软雅黑" panose="020B0503020204020204" pitchFamily="34" charset="-122"/>
                <a:ea typeface="微软雅黑" panose="020B0503020204020204" pitchFamily="34" charset="-122"/>
              </a:rPr>
              <a:t>h=</a:t>
            </a:r>
            <a:r>
              <a:rPr lang="en-US" altLang="zh-CN" sz="2400" b="1" dirty="0" err="1">
                <a:solidFill>
                  <a:srgbClr val="FF0000"/>
                </a:solidFill>
                <a:latin typeface="微软雅黑" panose="020B0503020204020204" pitchFamily="34" charset="-122"/>
                <a:ea typeface="微软雅黑" panose="020B0503020204020204" pitchFamily="34" charset="-122"/>
              </a:rPr>
              <a:t>dy</a:t>
            </a:r>
            <a:r>
              <a:rPr lang="en-US" altLang="zh-CN" sz="2400" b="1" dirty="0">
                <a:solidFill>
                  <a:srgbClr val="FF0000"/>
                </a:solidFill>
                <a:latin typeface="微软雅黑" panose="020B0503020204020204" pitchFamily="34" charset="-122"/>
                <a:ea typeface="微软雅黑" panose="020B0503020204020204" pitchFamily="34" charset="-122"/>
              </a:rPr>
              <a:t>/dx</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5" name="波形 4">
            <a:extLst>
              <a:ext uri="{FF2B5EF4-FFF2-40B4-BE49-F238E27FC236}">
                <a16:creationId xmlns:a16="http://schemas.microsoft.com/office/drawing/2014/main" id="{6F9C3EFD-8211-42CE-B7AD-C5C27D5049B5}"/>
              </a:ext>
            </a:extLst>
          </p:cNvPr>
          <p:cNvSpPr/>
          <p:nvPr/>
        </p:nvSpPr>
        <p:spPr>
          <a:xfrm>
            <a:off x="712540" y="184293"/>
            <a:ext cx="811460" cy="413207"/>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sz="2000" b="1" dirty="0">
                <a:solidFill>
                  <a:srgbClr val="FFFF00"/>
                </a:solidFill>
                <a:latin typeface="微软雅黑" panose="020B0503020204020204" pitchFamily="34" charset="-122"/>
                <a:ea typeface="微软雅黑" panose="020B0503020204020204" pitchFamily="34" charset="-122"/>
              </a:rPr>
              <a:t>例53-4</a:t>
            </a:r>
            <a:endParaRPr lang="ko-KR" altLang="en-US" sz="2000" b="1" dirty="0">
              <a:solidFill>
                <a:srgbClr val="FFFF00"/>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5BAF1900-3951-4B2E-AC06-8852DD3C1B05}"/>
              </a:ext>
            </a:extLst>
          </p:cNvPr>
          <p:cNvSpPr txBox="1"/>
          <p:nvPr/>
        </p:nvSpPr>
        <p:spPr>
          <a:xfrm>
            <a:off x="635232" y="891343"/>
            <a:ext cx="8366687" cy="1200329"/>
          </a:xfrm>
          <a:prstGeom prst="rect">
            <a:avLst/>
          </a:prstGeom>
          <a:noFill/>
        </p:spPr>
        <p:txBody>
          <a:bodyPr wrap="square">
            <a:spAutoFit/>
          </a:bodyPr>
          <a:lstStyle/>
          <a:p>
            <a:r>
              <a:rPr lang="en-US" altLang="zh-CN" dirty="0" err="1">
                <a:solidFill>
                  <a:srgbClr val="000000"/>
                </a:solidFill>
                <a:latin typeface="Consolas" panose="020B0609020204030204" pitchFamily="49" charset="0"/>
              </a:rPr>
              <a:t>xy</a:t>
            </a:r>
            <a:r>
              <a:rPr lang="en-US" altLang="zh-CN" dirty="0">
                <a:solidFill>
                  <a:srgbClr val="000000"/>
                </a:solidFill>
                <a:latin typeface="Consolas" panose="020B0609020204030204" pitchFamily="49" charset="0"/>
              </a:rPr>
              <a:t>=</a:t>
            </a:r>
            <a:r>
              <a:rPr lang="en-US" altLang="zh-CN" dirty="0" err="1">
                <a:solidFill>
                  <a:srgbClr val="795E26"/>
                </a:solidFill>
                <a:latin typeface="Consolas" panose="020B0609020204030204" pitchFamily="49" charset="0"/>
              </a:rPr>
              <a:t>readtable</a:t>
            </a:r>
            <a:r>
              <a:rPr lang="en-US" altLang="zh-CN" dirty="0">
                <a:solidFill>
                  <a:srgbClr val="000000"/>
                </a:solidFill>
                <a:latin typeface="Consolas" panose="020B0609020204030204" pitchFamily="49" charset="0"/>
              </a:rPr>
              <a:t>(</a:t>
            </a:r>
            <a:r>
              <a:rPr lang="en-US" altLang="zh-CN" dirty="0">
                <a:solidFill>
                  <a:srgbClr val="A31515"/>
                </a:solidFill>
                <a:latin typeface="Consolas" panose="020B0609020204030204" pitchFamily="49" charset="0"/>
              </a:rPr>
              <a:t>"tens.csv"</a:t>
            </a:r>
            <a:r>
              <a:rPr lang="en-US" altLang="zh-CN" dirty="0">
                <a:solidFill>
                  <a:srgbClr val="000000"/>
                </a:solidFill>
                <a:latin typeface="Consolas" panose="020B0609020204030204" pitchFamily="49" charset="0"/>
              </a:rPr>
              <a:t>);</a:t>
            </a:r>
          </a:p>
          <a:p>
            <a:r>
              <a:rPr lang="en-US" altLang="zh-CN" dirty="0">
                <a:solidFill>
                  <a:srgbClr val="000000"/>
                </a:solidFill>
                <a:latin typeface="Consolas" panose="020B0609020204030204" pitchFamily="49" charset="0"/>
              </a:rPr>
              <a:t>x=</a:t>
            </a:r>
            <a:r>
              <a:rPr lang="en-US" altLang="zh-CN" dirty="0" err="1">
                <a:solidFill>
                  <a:srgbClr val="000000"/>
                </a:solidFill>
                <a:latin typeface="Consolas" panose="020B0609020204030204" pitchFamily="49" charset="0"/>
              </a:rPr>
              <a:t>xy</a:t>
            </a:r>
            <a:r>
              <a:rPr lang="en-US" altLang="zh-CN"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1</a:t>
            </a:r>
            <a:r>
              <a:rPr lang="en-US" altLang="zh-CN" dirty="0">
                <a:solidFill>
                  <a:srgbClr val="000000"/>
                </a:solidFill>
                <a:latin typeface="Consolas" panose="020B0609020204030204" pitchFamily="49" charset="0"/>
              </a:rPr>
              <a:t>];y=</a:t>
            </a:r>
            <a:r>
              <a:rPr lang="en-US" altLang="zh-CN" dirty="0" err="1">
                <a:solidFill>
                  <a:srgbClr val="000000"/>
                </a:solidFill>
                <a:latin typeface="Consolas" panose="020B0609020204030204" pitchFamily="49" charset="0"/>
              </a:rPr>
              <a:t>xy</a:t>
            </a:r>
            <a:r>
              <a:rPr lang="en-US" altLang="zh-CN"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2</a:t>
            </a:r>
            <a:r>
              <a:rPr lang="en-US" altLang="zh-CN" dirty="0">
                <a:solidFill>
                  <a:srgbClr val="000000"/>
                </a:solidFill>
                <a:latin typeface="Consolas" panose="020B0609020204030204" pitchFamily="49" charset="0"/>
              </a:rPr>
              <a:t>];</a:t>
            </a:r>
            <a:endParaRPr lang="en-US" altLang="zh-CN" b="0" dirty="0">
              <a:solidFill>
                <a:srgbClr val="00B0F0"/>
              </a:solidFill>
              <a:effectLst/>
              <a:latin typeface="Consolas" panose="020B0609020204030204" pitchFamily="49" charset="0"/>
            </a:endParaRPr>
          </a:p>
          <a:p>
            <a:r>
              <a:rPr lang="en-US" altLang="zh-CN" b="0" dirty="0" err="1">
                <a:solidFill>
                  <a:srgbClr val="00B0F0"/>
                </a:solidFill>
                <a:effectLst/>
                <a:latin typeface="Consolas" panose="020B0609020204030204" pitchFamily="49" charset="0"/>
              </a:rPr>
              <a:t>dxy</a:t>
            </a:r>
            <a:r>
              <a:rPr lang="en-US" altLang="zh-CN" b="0" dirty="0">
                <a:solidFill>
                  <a:srgbClr val="00B0F0"/>
                </a:solidFill>
                <a:effectLst/>
                <a:latin typeface="Consolas" panose="020B0609020204030204" pitchFamily="49" charset="0"/>
              </a:rPr>
              <a:t>= </a:t>
            </a:r>
            <a:r>
              <a:rPr lang="en-US" altLang="zh-CN" b="0" dirty="0" err="1">
                <a:solidFill>
                  <a:srgbClr val="00B0F0"/>
                </a:solidFill>
                <a:effectLst/>
                <a:latin typeface="Consolas" panose="020B0609020204030204" pitchFamily="49" charset="0"/>
              </a:rPr>
              <a:t>TyMath.gradient</a:t>
            </a:r>
            <a:r>
              <a:rPr lang="en-US" altLang="zh-CN" b="0" dirty="0">
                <a:solidFill>
                  <a:srgbClr val="00B0F0"/>
                </a:solidFill>
                <a:effectLst/>
                <a:latin typeface="Consolas" panose="020B0609020204030204" pitchFamily="49" charset="0"/>
              </a:rPr>
              <a:t>(y)./</a:t>
            </a:r>
            <a:r>
              <a:rPr lang="en-US" altLang="zh-CN" b="0" dirty="0" err="1">
                <a:solidFill>
                  <a:srgbClr val="00B0F0"/>
                </a:solidFill>
                <a:effectLst/>
                <a:latin typeface="Consolas" panose="020B0609020204030204" pitchFamily="49" charset="0"/>
              </a:rPr>
              <a:t>TyMath.gradient</a:t>
            </a:r>
            <a:r>
              <a:rPr lang="en-US" altLang="zh-CN" b="0" dirty="0">
                <a:solidFill>
                  <a:srgbClr val="00B0F0"/>
                </a:solidFill>
                <a:effectLst/>
                <a:latin typeface="Consolas" panose="020B0609020204030204" pitchFamily="49" charset="0"/>
              </a:rPr>
              <a:t>(x)</a:t>
            </a:r>
          </a:p>
          <a:p>
            <a:r>
              <a:rPr lang="en-US" altLang="zh-CN" b="0" dirty="0">
                <a:solidFill>
                  <a:srgbClr val="00B0F0"/>
                </a:solidFill>
                <a:effectLst/>
                <a:latin typeface="Consolas" panose="020B0609020204030204" pitchFamily="49" charset="0"/>
              </a:rPr>
              <a:t>plot(</a:t>
            </a:r>
            <a:r>
              <a:rPr lang="en-US" altLang="zh-CN" b="0" dirty="0" err="1">
                <a:solidFill>
                  <a:srgbClr val="00B0F0"/>
                </a:solidFill>
                <a:effectLst/>
                <a:latin typeface="Consolas" panose="020B0609020204030204" pitchFamily="49" charset="0"/>
              </a:rPr>
              <a:t>x,dxy</a:t>
            </a:r>
            <a:r>
              <a:rPr lang="en-US" altLang="zh-CN" b="0" dirty="0">
                <a:solidFill>
                  <a:srgbClr val="00B0F0"/>
                </a:solidFill>
                <a:effectLst/>
                <a:latin typeface="Consolas" panose="020B0609020204030204" pitchFamily="49" charset="0"/>
              </a:rPr>
              <a:t>)</a:t>
            </a:r>
          </a:p>
        </p:txBody>
      </p:sp>
      <p:sp>
        <p:nvSpPr>
          <p:cNvPr id="11" name="文本框 10">
            <a:extLst>
              <a:ext uri="{FF2B5EF4-FFF2-40B4-BE49-F238E27FC236}">
                <a16:creationId xmlns:a16="http://schemas.microsoft.com/office/drawing/2014/main" id="{F38811C8-8507-42FD-8CC8-CA9CBAC178E8}"/>
              </a:ext>
            </a:extLst>
          </p:cNvPr>
          <p:cNvSpPr txBox="1"/>
          <p:nvPr/>
        </p:nvSpPr>
        <p:spPr>
          <a:xfrm>
            <a:off x="6360101" y="2660755"/>
            <a:ext cx="2071359" cy="369332"/>
          </a:xfrm>
          <a:prstGeom prst="rect">
            <a:avLst/>
          </a:prstGeom>
          <a:noFill/>
        </p:spPr>
        <p:txBody>
          <a:bodyPr wrap="square">
            <a:spAutoFit/>
          </a:bodyPr>
          <a:lstStyle/>
          <a:p>
            <a:r>
              <a:rPr lang="en-US" altLang="zh-CN" b="0" dirty="0" err="1">
                <a:solidFill>
                  <a:srgbClr val="000000"/>
                </a:solidFill>
                <a:effectLst/>
                <a:latin typeface="Consolas" panose="020B0609020204030204" pitchFamily="49" charset="0"/>
              </a:rPr>
              <a:t>ylim</a:t>
            </a:r>
            <a:r>
              <a:rPr lang="en-US" altLang="zh-CN" b="0" dirty="0">
                <a:solidFill>
                  <a:srgbClr val="000000"/>
                </a:solidFill>
                <a:effectLst/>
                <a:latin typeface="Consolas" panose="020B0609020204030204" pitchFamily="49" charset="0"/>
              </a:rPr>
              <a:t>([0,60000]) </a:t>
            </a:r>
          </a:p>
        </p:txBody>
      </p:sp>
      <p:sp>
        <p:nvSpPr>
          <p:cNvPr id="21" name="矩形 20">
            <a:extLst>
              <a:ext uri="{FF2B5EF4-FFF2-40B4-BE49-F238E27FC236}">
                <a16:creationId xmlns:a16="http://schemas.microsoft.com/office/drawing/2014/main" id="{1696AA89-B937-4457-8A9B-E31FEC27EF09}"/>
              </a:ext>
            </a:extLst>
          </p:cNvPr>
          <p:cNvSpPr/>
          <p:nvPr/>
        </p:nvSpPr>
        <p:spPr>
          <a:xfrm>
            <a:off x="3685186" y="3636370"/>
            <a:ext cx="266154" cy="523220"/>
          </a:xfrm>
          <a:prstGeom prst="rect">
            <a:avLst/>
          </a:prstGeom>
        </p:spPr>
        <p:txBody>
          <a:bodyPr wrap="square">
            <a:spAutoFit/>
          </a:bodyPr>
          <a:lstStyle/>
          <a:p>
            <a:r>
              <a:rPr lang="en-US" altLang="zh-CN" sz="2800" kern="0" dirty="0">
                <a:solidFill>
                  <a:srgbClr val="002060"/>
                </a:solidFill>
                <a:latin typeface="隶书" panose="02010509060101010101" pitchFamily="49" charset="-122"/>
                <a:ea typeface="隶书" panose="02010509060101010101" pitchFamily="49" charset="-122"/>
                <a:sym typeface="Arial" panose="020B0604020202020204" pitchFamily="34" charset="0"/>
              </a:rPr>
              <a:t>x</a:t>
            </a:r>
            <a:endParaRPr lang="zh-CN" altLang="en-US" sz="2800" dirty="0"/>
          </a:p>
        </p:txBody>
      </p:sp>
      <p:graphicFrame>
        <p:nvGraphicFramePr>
          <p:cNvPr id="26" name="对象 25">
            <a:extLst>
              <a:ext uri="{FF2B5EF4-FFF2-40B4-BE49-F238E27FC236}">
                <a16:creationId xmlns:a16="http://schemas.microsoft.com/office/drawing/2014/main" id="{3D9E67CF-B510-42C7-9C32-A4B95EB88CAE}"/>
              </a:ext>
            </a:extLst>
          </p:cNvPr>
          <p:cNvGraphicFramePr>
            <a:graphicFrameLocks noChangeAspect="1"/>
          </p:cNvGraphicFramePr>
          <p:nvPr/>
        </p:nvGraphicFramePr>
        <p:xfrm>
          <a:off x="8110198" y="793443"/>
          <a:ext cx="996950" cy="857250"/>
        </p:xfrm>
        <a:graphic>
          <a:graphicData uri="http://schemas.openxmlformats.org/presentationml/2006/ole">
            <mc:AlternateContent xmlns:mc="http://schemas.openxmlformats.org/markup-compatibility/2006">
              <mc:Choice xmlns:v="urn:schemas-microsoft-com:vml" Requires="v">
                <p:oleObj spid="_x0000_s45069" name="Worksheet" showAsIcon="1" r:id="rId5" imgW="914597" imgH="787283" progId="Excel.Sheet.12">
                  <p:link updateAutomatic="1"/>
                </p:oleObj>
              </mc:Choice>
              <mc:Fallback>
                <p:oleObj name="Worksheet" showAsIcon="1" r:id="rId5" imgW="914597" imgH="787283" progId="Excel.Sheet.12">
                  <p:link updateAutomatic="1"/>
                  <p:pic>
                    <p:nvPicPr>
                      <p:cNvPr id="26" name="对象 25">
                        <a:extLst>
                          <a:ext uri="{FF2B5EF4-FFF2-40B4-BE49-F238E27FC236}">
                            <a16:creationId xmlns:a16="http://schemas.microsoft.com/office/drawing/2014/main" id="{3D9E67CF-B510-42C7-9C32-A4B95EB88CAE}"/>
                          </a:ext>
                        </a:extLst>
                      </p:cNvPr>
                      <p:cNvPicPr/>
                      <p:nvPr/>
                    </p:nvPicPr>
                    <p:blipFill>
                      <a:blip r:embed="rId6"/>
                      <a:stretch>
                        <a:fillRect/>
                      </a:stretch>
                    </p:blipFill>
                    <p:spPr>
                      <a:xfrm>
                        <a:off x="8110198" y="793443"/>
                        <a:ext cx="996950" cy="857250"/>
                      </a:xfrm>
                      <a:prstGeom prst="rect">
                        <a:avLst/>
                      </a:prstGeom>
                    </p:spPr>
                  </p:pic>
                </p:oleObj>
              </mc:Fallback>
            </mc:AlternateContent>
          </a:graphicData>
        </a:graphic>
      </p:graphicFrame>
      <p:sp>
        <p:nvSpPr>
          <p:cNvPr id="30" name="矩形 29">
            <a:extLst>
              <a:ext uri="{FF2B5EF4-FFF2-40B4-BE49-F238E27FC236}">
                <a16:creationId xmlns:a16="http://schemas.microsoft.com/office/drawing/2014/main" id="{3331D8D7-64DB-42EF-9991-712696E33A55}"/>
              </a:ext>
            </a:extLst>
          </p:cNvPr>
          <p:cNvSpPr/>
          <p:nvPr/>
        </p:nvSpPr>
        <p:spPr>
          <a:xfrm>
            <a:off x="652685" y="4267075"/>
            <a:ext cx="8455819" cy="307777"/>
          </a:xfrm>
          <a:prstGeom prst="rect">
            <a:avLst/>
          </a:prstGeom>
          <a:solidFill>
            <a:schemeClr val="bg1"/>
          </a:solidFill>
          <a:ln w="6350">
            <a:noFill/>
          </a:ln>
          <a:effectLst/>
        </p:spPr>
        <p:txBody>
          <a:bodyPr wrap="square">
            <a:spAutoFit/>
          </a:bodyPr>
          <a:lstStyle/>
          <a:p>
            <a:pPr marL="0" indent="0" algn="dist">
              <a:buNone/>
            </a:pP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要精确得到一组试验数据导数非常难</a:t>
            </a:r>
            <a:r>
              <a:rPr lang="en-US" altLang="zh-CN" sz="1400" dirty="0">
                <a:solidFill>
                  <a:schemeClr val="bg1"/>
                </a:solidFill>
                <a:highlight>
                  <a:srgbClr val="003B76"/>
                </a:highlight>
                <a:latin typeface="微软雅黑" panose="020B0503020204020204" pitchFamily="34" charset="-122"/>
                <a:ea typeface="微软雅黑" panose="020B0503020204020204" pitchFamily="34" charset="-122"/>
              </a:rPr>
              <a:t>,</a:t>
            </a:r>
            <a:r>
              <a:rPr lang="zh-CN" altLang="en-US" sz="1400" dirty="0">
                <a:solidFill>
                  <a:schemeClr val="bg1"/>
                </a:solidFill>
                <a:highlight>
                  <a:srgbClr val="003B76"/>
                </a:highlight>
                <a:latin typeface="微软雅黑" panose="020B0503020204020204" pitchFamily="34" charset="-122"/>
                <a:ea typeface="微软雅黑" panose="020B0503020204020204" pitchFamily="34" charset="-122"/>
              </a:rPr>
              <a:t>微小数据误差，求导时误差被放大，故尽量避免对实验数值直接求导</a:t>
            </a:r>
          </a:p>
        </p:txBody>
      </p:sp>
      <p:sp>
        <p:nvSpPr>
          <p:cNvPr id="19" name="形状 209924">
            <a:extLst>
              <a:ext uri="{FF2B5EF4-FFF2-40B4-BE49-F238E27FC236}">
                <a16:creationId xmlns:a16="http://schemas.microsoft.com/office/drawing/2014/main" id="{F74B788D-05E2-4A39-B960-48AC822262E5}"/>
              </a:ext>
            </a:extLst>
          </p:cNvPr>
          <p:cNvSpPr/>
          <p:nvPr/>
        </p:nvSpPr>
        <p:spPr>
          <a:xfrm>
            <a:off x="-180528" y="4104408"/>
            <a:ext cx="1126743" cy="590247"/>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注意</a:t>
            </a: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EC6D6A2-F2D6-4B7C-8475-CEAC4E6754A7}"/>
                  </a:ext>
                </a:extLst>
              </p:cNvPr>
              <p:cNvSpPr txBox="1"/>
              <p:nvPr/>
            </p:nvSpPr>
            <p:spPr>
              <a:xfrm>
                <a:off x="561614" y="630735"/>
                <a:ext cx="8335077" cy="369332"/>
              </a:xfrm>
              <a:prstGeom prst="rect">
                <a:avLst/>
              </a:prstGeom>
              <a:noFill/>
            </p:spPr>
            <p:txBody>
              <a:bodyPr wrap="square">
                <a:spAutoFit/>
              </a:bodyPr>
              <a:lstStyle/>
              <a:p>
                <a:r>
                  <a:rPr lang="en-US" altLang="zh-CN" dirty="0">
                    <a:solidFill>
                      <a:srgbClr val="00B0F0"/>
                    </a:solidFill>
                    <a:latin typeface="微软雅黑" panose="020B0503020204020204" pitchFamily="34" charset="-122"/>
                    <a:ea typeface="微软雅黑" panose="020B0503020204020204" pitchFamily="34" charset="-122"/>
                  </a:rPr>
                  <a:t>#</a:t>
                </a:r>
                <a:r>
                  <a:rPr lang="zh-CN" altLang="en-US" dirty="0">
                    <a:solidFill>
                      <a:srgbClr val="00B0F0"/>
                    </a:solidFill>
                    <a:latin typeface="微软雅黑" panose="020B0503020204020204" pitchFamily="34" charset="-122"/>
                    <a:ea typeface="微软雅黑" panose="020B0503020204020204" pitchFamily="34" charset="-122"/>
                  </a:rPr>
                  <a:t>用中心梯度</a:t>
                </a:r>
                <a:r>
                  <a:rPr lang="en-US" altLang="zh-CN" dirty="0">
                    <a:solidFill>
                      <a:srgbClr val="00B0F0"/>
                    </a:solidFill>
                    <a:latin typeface="微软雅黑" panose="020B0503020204020204" pitchFamily="34" charset="-122"/>
                    <a:ea typeface="微软雅黑" panose="020B0503020204020204" pitchFamily="34" charset="-122"/>
                  </a:rPr>
                  <a:t>gradient</a:t>
                </a:r>
                <a:r>
                  <a:rPr lang="zh-CN" altLang="en-US" dirty="0">
                    <a:solidFill>
                      <a:srgbClr val="00B0F0"/>
                    </a:solidFill>
                    <a:latin typeface="微软雅黑" panose="020B0503020204020204" pitchFamily="34" charset="-122"/>
                    <a:ea typeface="微软雅黑" panose="020B0503020204020204" pitchFamily="34" charset="-122"/>
                  </a:rPr>
                  <a:t>直接用</a:t>
                </a:r>
                <a:r>
                  <a:rPr lang="en-US" altLang="zh-CN" dirty="0">
                    <a:solidFill>
                      <a:srgbClr val="00B0F0"/>
                    </a:solidFill>
                    <a:latin typeface="微软雅黑" panose="020B0503020204020204" pitchFamily="34" charset="-122"/>
                    <a:ea typeface="微软雅黑" panose="020B0503020204020204" pitchFamily="34" charset="-122"/>
                  </a:rPr>
                  <a:t>y</a:t>
                </a:r>
                <a:r>
                  <a:rPr lang="zh-CN" altLang="en-US" dirty="0">
                    <a:solidFill>
                      <a:srgbClr val="00B0F0"/>
                    </a:solidFill>
                    <a:latin typeface="微软雅黑" panose="020B0503020204020204" pitchFamily="34" charset="-122"/>
                    <a:ea typeface="微软雅黑" panose="020B0503020204020204" pitchFamily="34" charset="-122"/>
                  </a:rPr>
                  <a:t>对</a:t>
                </a:r>
                <a:r>
                  <a:rPr lang="en-US" altLang="zh-CN" dirty="0">
                    <a:solidFill>
                      <a:srgbClr val="00B0F0"/>
                    </a:solidFill>
                    <a:latin typeface="微软雅黑" panose="020B0503020204020204" pitchFamily="34" charset="-122"/>
                    <a:ea typeface="微软雅黑" panose="020B0503020204020204" pitchFamily="34" charset="-122"/>
                  </a:rPr>
                  <a:t>x</a:t>
                </a:r>
                <a:r>
                  <a:rPr lang="zh-CN" altLang="en-US" dirty="0">
                    <a:solidFill>
                      <a:srgbClr val="00B0F0"/>
                    </a:solidFill>
                    <a:latin typeface="微软雅黑" panose="020B0503020204020204" pitchFamily="34" charset="-122"/>
                    <a:ea typeface="微软雅黑" panose="020B0503020204020204" pitchFamily="34" charset="-122"/>
                  </a:rPr>
                  <a:t>求导，计算应变硬化速率</a:t>
                </a:r>
                <a:r>
                  <a:rPr lang="en-US" altLang="zh-CN" dirty="0">
                    <a:solidFill>
                      <a:srgbClr val="00B0F0"/>
                    </a:solidFill>
                    <a:latin typeface="微软雅黑" panose="020B0503020204020204" pitchFamily="34" charset="-122"/>
                    <a:ea typeface="微软雅黑" panose="020B0503020204020204" pitchFamily="34" charset="-122"/>
                  </a:rPr>
                  <a:t>h=</a:t>
                </a:r>
                <a:r>
                  <a:rPr lang="en-US" altLang="zh-CN" dirty="0" err="1">
                    <a:solidFill>
                      <a:srgbClr val="00B0F0"/>
                    </a:solidFill>
                    <a:latin typeface="微软雅黑" panose="020B0503020204020204" pitchFamily="34" charset="-122"/>
                    <a:ea typeface="微软雅黑" panose="020B0503020204020204" pitchFamily="34" charset="-122"/>
                  </a:rPr>
                  <a:t>dy</a:t>
                </a:r>
                <a:r>
                  <a:rPr lang="en-US" altLang="zh-CN" dirty="0">
                    <a:solidFill>
                      <a:srgbClr val="00B0F0"/>
                    </a:solidFill>
                    <a:latin typeface="微软雅黑" panose="020B0503020204020204" pitchFamily="34" charset="-122"/>
                    <a:ea typeface="微软雅黑" panose="020B0503020204020204" pitchFamily="34" charset="-122"/>
                  </a:rPr>
                  <a:t>/dx=</a:t>
                </a:r>
                <a14:m>
                  <m:oMath xmlns:m="http://schemas.openxmlformats.org/officeDocument/2006/math">
                    <m:f>
                      <m:fPr>
                        <m:type m:val="lin"/>
                        <m:ctrlPr>
                          <a:rPr lang="en-US" altLang="zh-CN" i="1" smtClean="0">
                            <a:solidFill>
                              <a:srgbClr val="FF0000"/>
                            </a:solidFill>
                            <a:latin typeface="Cambria Math" panose="02040503050406030204" pitchFamily="18" charset="0"/>
                            <a:ea typeface="微软雅黑" panose="020B0503020204020204" pitchFamily="34" charset="-122"/>
                          </a:rPr>
                        </m:ctrlPr>
                      </m:fPr>
                      <m:num>
                        <m:r>
                          <a:rPr lang="en-US" altLang="zh-CN" b="0">
                            <a:solidFill>
                              <a:srgbClr val="FF0000"/>
                            </a:solidFill>
                            <a:latin typeface="Cambria Math" panose="02040503050406030204" pitchFamily="18" charset="0"/>
                            <a:ea typeface="微软雅黑" panose="020B0503020204020204" pitchFamily="34" charset="-122"/>
                          </a:rPr>
                          <m:t>∆</m:t>
                        </m:r>
                        <m:r>
                          <m:rPr>
                            <m:sty m:val="p"/>
                          </m:rPr>
                          <a:rPr lang="en-US" altLang="zh-CN" b="0" i="1">
                            <a:solidFill>
                              <a:srgbClr val="FF0000"/>
                            </a:solidFill>
                            <a:latin typeface="Cambria Math" panose="02040503050406030204" pitchFamily="18" charset="0"/>
                            <a:ea typeface="微软雅黑" panose="020B0503020204020204" pitchFamily="34" charset="-122"/>
                          </a:rPr>
                          <m:t>y</m:t>
                        </m:r>
                      </m:num>
                      <m:den>
                        <m:r>
                          <a:rPr lang="en-US" altLang="zh-CN" b="0">
                            <a:solidFill>
                              <a:srgbClr val="FF0000"/>
                            </a:solidFill>
                            <a:latin typeface="Cambria Math" panose="02040503050406030204" pitchFamily="18" charset="0"/>
                            <a:ea typeface="微软雅黑" panose="020B0503020204020204" pitchFamily="34" charset="-122"/>
                          </a:rPr>
                          <m:t>∆</m:t>
                        </m:r>
                        <m:r>
                          <m:rPr>
                            <m:sty m:val="p"/>
                          </m:rPr>
                          <a:rPr lang="en-US" altLang="zh-CN" b="0" i="1">
                            <a:solidFill>
                              <a:srgbClr val="FF0000"/>
                            </a:solidFill>
                            <a:latin typeface="Cambria Math" panose="02040503050406030204" pitchFamily="18" charset="0"/>
                            <a:ea typeface="微软雅黑" panose="020B0503020204020204" pitchFamily="34" charset="-122"/>
                          </a:rPr>
                          <m:t>x</m:t>
                        </m:r>
                      </m:den>
                    </m:f>
                  </m:oMath>
                </a14:m>
                <a:endParaRPr lang="en-US" altLang="zh-CN" dirty="0">
                  <a:solidFill>
                    <a:srgbClr val="00B0F0"/>
                  </a:solidFill>
                  <a:latin typeface="微软雅黑" panose="020B0503020204020204" pitchFamily="34" charset="-122"/>
                  <a:ea typeface="微软雅黑" panose="020B0503020204020204" pitchFamily="34" charset="-122"/>
                </a:endParaRPr>
              </a:p>
            </p:txBody>
          </p:sp>
        </mc:Choice>
        <mc:Fallback xmlns="">
          <p:sp>
            <p:nvSpPr>
              <p:cNvPr id="31" name="文本框 30">
                <a:extLst>
                  <a:ext uri="{FF2B5EF4-FFF2-40B4-BE49-F238E27FC236}">
                    <a16:creationId xmlns:a16="http://schemas.microsoft.com/office/drawing/2014/main" id="{6EC6D6A2-F2D6-4B7C-8475-CEAC4E6754A7}"/>
                  </a:ext>
                </a:extLst>
              </p:cNvPr>
              <p:cNvSpPr txBox="1">
                <a:spLocks noRot="1" noChangeAspect="1" noMove="1" noResize="1" noEditPoints="1" noAdjustHandles="1" noChangeArrowheads="1" noChangeShapeType="1" noTextEdit="1"/>
              </p:cNvSpPr>
              <p:nvPr/>
            </p:nvSpPr>
            <p:spPr>
              <a:xfrm>
                <a:off x="561614" y="630735"/>
                <a:ext cx="8335077" cy="369332"/>
              </a:xfrm>
              <a:prstGeom prst="rect">
                <a:avLst/>
              </a:prstGeom>
              <a:blipFill>
                <a:blip r:embed="rId7"/>
                <a:stretch>
                  <a:fillRect l="-585" t="-114754" b="-177049"/>
                </a:stretch>
              </a:blipFill>
            </p:spPr>
            <p:txBody>
              <a:bodyPr/>
              <a:lstStyle/>
              <a:p>
                <a:r>
                  <a:rPr lang="zh-CN" altLang="en-US">
                    <a:noFill/>
                  </a:rPr>
                  <a:t> </a:t>
                </a:r>
              </a:p>
            </p:txBody>
          </p:sp>
        </mc:Fallback>
      </mc:AlternateContent>
      <p:cxnSp>
        <p:nvCxnSpPr>
          <p:cNvPr id="37" name="直接箭头连接符 36">
            <a:extLst>
              <a:ext uri="{FF2B5EF4-FFF2-40B4-BE49-F238E27FC236}">
                <a16:creationId xmlns:a16="http://schemas.microsoft.com/office/drawing/2014/main" id="{F82A465D-C972-4991-8637-8BDDA1A55F0A}"/>
              </a:ext>
            </a:extLst>
          </p:cNvPr>
          <p:cNvCxnSpPr>
            <a:cxnSpLocks/>
          </p:cNvCxnSpPr>
          <p:nvPr/>
        </p:nvCxnSpPr>
        <p:spPr>
          <a:xfrm flipV="1">
            <a:off x="1482687" y="2404946"/>
            <a:ext cx="0" cy="129384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任意多边形: 形状 37">
            <a:extLst>
              <a:ext uri="{FF2B5EF4-FFF2-40B4-BE49-F238E27FC236}">
                <a16:creationId xmlns:a16="http://schemas.microsoft.com/office/drawing/2014/main" id="{4A09C2AA-4D82-46BA-911B-5AAE6ECE93D3}"/>
              </a:ext>
            </a:extLst>
          </p:cNvPr>
          <p:cNvSpPr/>
          <p:nvPr/>
        </p:nvSpPr>
        <p:spPr>
          <a:xfrm rot="8210543">
            <a:off x="1558399" y="2799764"/>
            <a:ext cx="1398870" cy="256943"/>
          </a:xfrm>
          <a:custGeom>
            <a:avLst/>
            <a:gdLst>
              <a:gd name="connsiteX0" fmla="*/ 0 w 3137647"/>
              <a:gd name="connsiteY0" fmla="*/ 1264025 h 1264025"/>
              <a:gd name="connsiteX1" fmla="*/ 1676400 w 3137647"/>
              <a:gd name="connsiteY1" fmla="*/ 1 h 1264025"/>
              <a:gd name="connsiteX2" fmla="*/ 3137647 w 3137647"/>
              <a:gd name="connsiteY2" fmla="*/ 1255060 h 1264025"/>
              <a:gd name="connsiteX3" fmla="*/ 3137647 w 3137647"/>
              <a:gd name="connsiteY3" fmla="*/ 1255060 h 1264025"/>
            </a:gdLst>
            <a:ahLst/>
            <a:cxnLst>
              <a:cxn ang="0">
                <a:pos x="connsiteX0" y="connsiteY0"/>
              </a:cxn>
              <a:cxn ang="0">
                <a:pos x="connsiteX1" y="connsiteY1"/>
              </a:cxn>
              <a:cxn ang="0">
                <a:pos x="connsiteX2" y="connsiteY2"/>
              </a:cxn>
              <a:cxn ang="0">
                <a:pos x="connsiteX3" y="connsiteY3"/>
              </a:cxn>
            </a:cxnLst>
            <a:rect l="l" t="t" r="r" b="b"/>
            <a:pathLst>
              <a:path w="3137647" h="1264025">
                <a:moveTo>
                  <a:pt x="0" y="1264025"/>
                </a:moveTo>
                <a:cubicBezTo>
                  <a:pt x="576729" y="632760"/>
                  <a:pt x="1153459" y="1495"/>
                  <a:pt x="1676400" y="1"/>
                </a:cubicBezTo>
                <a:cubicBezTo>
                  <a:pt x="2199341" y="-1493"/>
                  <a:pt x="3137647" y="1255060"/>
                  <a:pt x="3137647" y="1255060"/>
                </a:cubicBezTo>
                <a:lnTo>
                  <a:pt x="3137647" y="1255060"/>
                </a:lnTo>
              </a:path>
            </a:pathLst>
          </a:cu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9" name="矩形 38">
            <a:extLst>
              <a:ext uri="{FF2B5EF4-FFF2-40B4-BE49-F238E27FC236}">
                <a16:creationId xmlns:a16="http://schemas.microsoft.com/office/drawing/2014/main" id="{4B3EE04B-EC10-44DF-B732-84FFA7D9B037}"/>
              </a:ext>
            </a:extLst>
          </p:cNvPr>
          <p:cNvSpPr/>
          <p:nvPr/>
        </p:nvSpPr>
        <p:spPr>
          <a:xfrm>
            <a:off x="2199306" y="3069740"/>
            <a:ext cx="2058362" cy="307777"/>
          </a:xfrm>
          <a:prstGeom prst="rect">
            <a:avLst/>
          </a:prstGeom>
          <a:noFill/>
        </p:spPr>
        <p:txBody>
          <a:bodyPr wrap="square">
            <a:spAutoFit/>
          </a:bodyPr>
          <a:lstStyle/>
          <a:p>
            <a:r>
              <a:rPr lang="zh-CN" altLang="en-US" sz="1400" dirty="0">
                <a:solidFill>
                  <a:srgbClr val="0070C0"/>
                </a:solidFill>
                <a:latin typeface="微软雅黑" panose="020B0503020204020204" pitchFamily="34" charset="-122"/>
                <a:ea typeface="微软雅黑" panose="020B0503020204020204" pitchFamily="34" charset="-122"/>
              </a:rPr>
              <a:t>求导就是求曲线斜率</a:t>
            </a:r>
          </a:p>
        </p:txBody>
      </p:sp>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803A7CC6-718C-4012-9594-1E8094EDE1C2}"/>
                  </a:ext>
                </a:extLst>
              </p:cNvPr>
              <p:cNvSpPr/>
              <p:nvPr/>
            </p:nvSpPr>
            <p:spPr>
              <a:xfrm>
                <a:off x="1478968" y="2960114"/>
                <a:ext cx="484458" cy="3992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000" i="1" kern="0">
                              <a:solidFill>
                                <a:srgbClr val="002060"/>
                              </a:solidFill>
                              <a:latin typeface="Cambria Math" panose="02040503050406030204" pitchFamily="18" charset="0"/>
                              <a:ea typeface="隶书" panose="02010509060101010101" pitchFamily="49" charset="-122"/>
                              <a:sym typeface="Arial" panose="020B0604020202020204" pitchFamily="34" charset="0"/>
                            </a:rPr>
                          </m:ctrlPr>
                        </m:sSubPr>
                        <m:e>
                          <m:r>
                            <a:rPr lang="en-US" altLang="zh-CN" sz="2000" i="1" kern="0">
                              <a:solidFill>
                                <a:srgbClr val="002060"/>
                              </a:solidFill>
                              <a:latin typeface="Cambria Math" panose="02040503050406030204" pitchFamily="18" charset="0"/>
                              <a:ea typeface="隶书" panose="02010509060101010101" pitchFamily="49" charset="-122"/>
                              <a:sym typeface="Arial" panose="020B0604020202020204" pitchFamily="34" charset="0"/>
                            </a:rPr>
                            <m:t>𝑥</m:t>
                          </m:r>
                        </m:e>
                        <m:sub>
                          <m:r>
                            <a:rPr lang="en-US" altLang="zh-CN" sz="2000" i="1" kern="0">
                              <a:solidFill>
                                <a:srgbClr val="002060"/>
                              </a:solidFill>
                              <a:latin typeface="Cambria Math" panose="02040503050406030204" pitchFamily="18" charset="0"/>
                              <a:ea typeface="隶书" panose="02010509060101010101" pitchFamily="49" charset="-122"/>
                              <a:sym typeface="Arial" panose="020B0604020202020204" pitchFamily="34" charset="0"/>
                            </a:rPr>
                            <m:t>𝑖</m:t>
                          </m:r>
                        </m:sub>
                      </m:sSub>
                    </m:oMath>
                  </m:oMathPara>
                </a14:m>
                <a:endParaRPr lang="zh-CN" altLang="en-US" sz="2000" dirty="0"/>
              </a:p>
            </p:txBody>
          </p:sp>
        </mc:Choice>
        <mc:Fallback xmlns="">
          <p:sp>
            <p:nvSpPr>
              <p:cNvPr id="40" name="矩形 39">
                <a:extLst>
                  <a:ext uri="{FF2B5EF4-FFF2-40B4-BE49-F238E27FC236}">
                    <a16:creationId xmlns:a16="http://schemas.microsoft.com/office/drawing/2014/main" id="{803A7CC6-718C-4012-9594-1E8094EDE1C2}"/>
                  </a:ext>
                </a:extLst>
              </p:cNvPr>
              <p:cNvSpPr>
                <a:spLocks noRot="1" noChangeAspect="1" noMove="1" noResize="1" noEditPoints="1" noAdjustHandles="1" noChangeArrowheads="1" noChangeShapeType="1" noTextEdit="1"/>
              </p:cNvSpPr>
              <p:nvPr/>
            </p:nvSpPr>
            <p:spPr>
              <a:xfrm>
                <a:off x="1478968" y="2960114"/>
                <a:ext cx="484458" cy="399287"/>
              </a:xfrm>
              <a:prstGeom prst="rect">
                <a:avLst/>
              </a:prstGeom>
              <a:blipFill>
                <a:blip r:embed="rId8"/>
                <a:stretch>
                  <a:fillRect b="-461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5FED83A4-1B94-45FB-9ACA-F0A7E1E425C8}"/>
                  </a:ext>
                </a:extLst>
              </p:cNvPr>
              <p:cNvSpPr/>
              <p:nvPr/>
            </p:nvSpPr>
            <p:spPr>
              <a:xfrm>
                <a:off x="2921750" y="2353849"/>
                <a:ext cx="911406"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sz="2000" b="1" i="1" kern="0" smtClean="0">
                              <a:solidFill>
                                <a:srgbClr val="FF0000"/>
                              </a:solidFill>
                              <a:latin typeface="Cambria Math" panose="02040503050406030204" pitchFamily="18" charset="0"/>
                              <a:ea typeface="隶书" panose="02010509060101010101" pitchFamily="49" charset="-122"/>
                            </a:rPr>
                          </m:ctrlPr>
                        </m:sSupPr>
                        <m:e>
                          <m:r>
                            <a:rPr lang="en-US" altLang="zh-CN" sz="2000" b="1" i="1" kern="0" smtClean="0">
                              <a:solidFill>
                                <a:srgbClr val="FF0000"/>
                              </a:solidFill>
                              <a:latin typeface="Cambria Math" panose="02040503050406030204" pitchFamily="18" charset="0"/>
                              <a:ea typeface="隶书" panose="02010509060101010101" pitchFamily="49" charset="-122"/>
                            </a:rPr>
                            <m:t>𝒇</m:t>
                          </m:r>
                        </m:e>
                        <m:sup>
                          <m:r>
                            <a:rPr lang="en-US" altLang="zh-CN" sz="2000" b="1" i="1" kern="0" smtClean="0">
                              <a:solidFill>
                                <a:srgbClr val="FF0000"/>
                              </a:solidFill>
                              <a:latin typeface="Cambria Math" panose="02040503050406030204" pitchFamily="18" charset="0"/>
                              <a:ea typeface="隶书" panose="02010509060101010101" pitchFamily="49" charset="-122"/>
                            </a:rPr>
                            <m:t>′</m:t>
                          </m:r>
                        </m:sup>
                      </m:sSup>
                      <m:r>
                        <a:rPr lang="en-US" altLang="zh-CN" sz="2000" b="1" i="1" kern="0" smtClean="0">
                          <a:solidFill>
                            <a:srgbClr val="FF0000"/>
                          </a:solidFill>
                          <a:latin typeface="Cambria Math" panose="02040503050406030204" pitchFamily="18" charset="0"/>
                          <a:ea typeface="隶书" panose="02010509060101010101" pitchFamily="49" charset="-122"/>
                        </a:rPr>
                        <m:t>(</m:t>
                      </m:r>
                      <m:sSub>
                        <m:sSubPr>
                          <m:ctrlPr>
                            <a:rPr lang="en-US" altLang="zh-CN" sz="2000" b="1" i="1" kern="0" smtClean="0">
                              <a:solidFill>
                                <a:srgbClr val="FF0000"/>
                              </a:solidFill>
                              <a:latin typeface="Cambria Math" panose="02040503050406030204" pitchFamily="18" charset="0"/>
                              <a:ea typeface="隶书" panose="02010509060101010101" pitchFamily="49" charset="-122"/>
                            </a:rPr>
                          </m:ctrlPr>
                        </m:sSubPr>
                        <m:e>
                          <m:r>
                            <a:rPr lang="en-US" altLang="zh-CN" sz="2000" b="1" i="1" kern="0" smtClean="0">
                              <a:solidFill>
                                <a:srgbClr val="FF0000"/>
                              </a:solidFill>
                              <a:latin typeface="Cambria Math" panose="02040503050406030204" pitchFamily="18" charset="0"/>
                              <a:ea typeface="隶书" panose="02010509060101010101" pitchFamily="49" charset="-122"/>
                            </a:rPr>
                            <m:t>𝒙</m:t>
                          </m:r>
                        </m:e>
                        <m:sub>
                          <m:r>
                            <a:rPr lang="en-US" altLang="zh-CN" sz="2000" b="1" i="1" kern="0" smtClean="0">
                              <a:solidFill>
                                <a:srgbClr val="FF0000"/>
                              </a:solidFill>
                              <a:latin typeface="Cambria Math" panose="02040503050406030204" pitchFamily="18" charset="0"/>
                              <a:ea typeface="隶书" panose="02010509060101010101" pitchFamily="49" charset="-122"/>
                            </a:rPr>
                            <m:t>𝒊</m:t>
                          </m:r>
                        </m:sub>
                      </m:sSub>
                      <m:r>
                        <a:rPr lang="en-US" altLang="zh-CN" sz="2000" b="1" i="1" kern="0" smtClean="0">
                          <a:solidFill>
                            <a:srgbClr val="FF0000"/>
                          </a:solidFill>
                          <a:latin typeface="Cambria Math" panose="02040503050406030204" pitchFamily="18" charset="0"/>
                          <a:ea typeface="隶书" panose="02010509060101010101" pitchFamily="49" charset="-122"/>
                        </a:rPr>
                        <m:t>)</m:t>
                      </m:r>
                    </m:oMath>
                  </m:oMathPara>
                </a14:m>
                <a:endParaRPr lang="zh-CN" altLang="en-US" sz="2000" b="1" kern="0" dirty="0">
                  <a:solidFill>
                    <a:srgbClr val="FF0000"/>
                  </a:solidFill>
                  <a:latin typeface="隶书" panose="02010509060101010101" pitchFamily="49" charset="-122"/>
                  <a:ea typeface="隶书" panose="02010509060101010101" pitchFamily="49" charset="-122"/>
                </a:endParaRPr>
              </a:p>
            </p:txBody>
          </p:sp>
        </mc:Choice>
        <mc:Fallback xmlns="">
          <p:sp>
            <p:nvSpPr>
              <p:cNvPr id="41" name="矩形 40">
                <a:extLst>
                  <a:ext uri="{FF2B5EF4-FFF2-40B4-BE49-F238E27FC236}">
                    <a16:creationId xmlns:a16="http://schemas.microsoft.com/office/drawing/2014/main" id="{5FED83A4-1B94-45FB-9ACA-F0A7E1E425C8}"/>
                  </a:ext>
                </a:extLst>
              </p:cNvPr>
              <p:cNvSpPr>
                <a:spLocks noRot="1" noChangeAspect="1" noMove="1" noResize="1" noEditPoints="1" noAdjustHandles="1" noChangeArrowheads="1" noChangeShapeType="1" noTextEdit="1"/>
              </p:cNvSpPr>
              <p:nvPr/>
            </p:nvSpPr>
            <p:spPr>
              <a:xfrm>
                <a:off x="2921750" y="2353849"/>
                <a:ext cx="911406" cy="400110"/>
              </a:xfrm>
              <a:prstGeom prst="rect">
                <a:avLst/>
              </a:prstGeom>
              <a:blipFill>
                <a:blip r:embed="rId9"/>
                <a:stretch>
                  <a:fillRect b="-18182"/>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4D41399A-AF03-46E9-A4AD-24C8FBCD2915}"/>
              </a:ext>
            </a:extLst>
          </p:cNvPr>
          <p:cNvCxnSpPr>
            <a:cxnSpLocks/>
          </p:cNvCxnSpPr>
          <p:nvPr/>
        </p:nvCxnSpPr>
        <p:spPr>
          <a:xfrm flipH="1">
            <a:off x="1721197" y="2571750"/>
            <a:ext cx="1308564" cy="92960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43" name="椭圆 42">
            <a:extLst>
              <a:ext uri="{FF2B5EF4-FFF2-40B4-BE49-F238E27FC236}">
                <a16:creationId xmlns:a16="http://schemas.microsoft.com/office/drawing/2014/main" id="{94A3720E-36FB-4DC8-8848-5E155CCE52C3}"/>
              </a:ext>
            </a:extLst>
          </p:cNvPr>
          <p:cNvSpPr/>
          <p:nvPr/>
        </p:nvSpPr>
        <p:spPr>
          <a:xfrm>
            <a:off x="2350677" y="2971545"/>
            <a:ext cx="49400" cy="45719"/>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cxnSp>
        <p:nvCxnSpPr>
          <p:cNvPr id="44" name="直接箭头连接符 43">
            <a:extLst>
              <a:ext uri="{FF2B5EF4-FFF2-40B4-BE49-F238E27FC236}">
                <a16:creationId xmlns:a16="http://schemas.microsoft.com/office/drawing/2014/main" id="{3A516D66-784B-4BDB-AF7E-F5372B6B574B}"/>
              </a:ext>
            </a:extLst>
          </p:cNvPr>
          <p:cNvCxnSpPr>
            <a:cxnSpLocks/>
          </p:cNvCxnSpPr>
          <p:nvPr/>
        </p:nvCxnSpPr>
        <p:spPr bwMode="auto">
          <a:xfrm flipV="1">
            <a:off x="1292237" y="3536903"/>
            <a:ext cx="1972864" cy="58975"/>
          </a:xfrm>
          <a:prstGeom prst="straightConnector1">
            <a:avLst/>
          </a:prstGeom>
          <a:ln w="28575">
            <a:headEnd type="none" w="med" len="med"/>
            <a:tailEnd type="triangle"/>
          </a:ln>
        </p:spPr>
        <p:style>
          <a:lnRef idx="1">
            <a:schemeClr val="dk1"/>
          </a:lnRef>
          <a:fillRef idx="0">
            <a:schemeClr val="dk1"/>
          </a:fillRef>
          <a:effectRef idx="0">
            <a:schemeClr val="dk1"/>
          </a:effectRef>
          <a:fontRef idx="minor">
            <a:schemeClr val="tx1"/>
          </a:fontRef>
        </p:style>
      </p:cxnSp>
      <p:sp>
        <p:nvSpPr>
          <p:cNvPr id="45" name="椭圆 44">
            <a:extLst>
              <a:ext uri="{FF2B5EF4-FFF2-40B4-BE49-F238E27FC236}">
                <a16:creationId xmlns:a16="http://schemas.microsoft.com/office/drawing/2014/main" id="{BCE8CCAC-4BAA-4FB7-AB55-F4632054E5D2}"/>
              </a:ext>
            </a:extLst>
          </p:cNvPr>
          <p:cNvSpPr/>
          <p:nvPr/>
        </p:nvSpPr>
        <p:spPr>
          <a:xfrm>
            <a:off x="2278669" y="3030087"/>
            <a:ext cx="49400" cy="45719"/>
          </a:xfrm>
          <a:prstGeom prst="ellipse">
            <a:avLst/>
          </a:prstGeom>
          <a:gradFill flip="none" rotWithShape="1">
            <a:gsLst>
              <a:gs pos="0">
                <a:srgbClr val="FF0000">
                  <a:shade val="30000"/>
                  <a:satMod val="115000"/>
                </a:srgbClr>
              </a:gs>
              <a:gs pos="50000">
                <a:srgbClr val="FF0000">
                  <a:shade val="67500"/>
                  <a:satMod val="115000"/>
                </a:srgbClr>
              </a:gs>
              <a:gs pos="100000">
                <a:srgbClr val="FF0000">
                  <a:shade val="100000"/>
                  <a:satMod val="115000"/>
                </a:srgbClr>
              </a:gs>
            </a:gsLst>
            <a:lin ang="2700000" scaled="1"/>
            <a:tileRect/>
          </a:gradFill>
          <a:ln>
            <a:solidFill>
              <a:srgbClr val="C0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p>
        </p:txBody>
      </p:sp>
      <p:cxnSp>
        <p:nvCxnSpPr>
          <p:cNvPr id="46" name="直接连接符 45">
            <a:extLst>
              <a:ext uri="{FF2B5EF4-FFF2-40B4-BE49-F238E27FC236}">
                <a16:creationId xmlns:a16="http://schemas.microsoft.com/office/drawing/2014/main" id="{667640D0-B521-45B5-8A83-72677E371485}"/>
              </a:ext>
            </a:extLst>
          </p:cNvPr>
          <p:cNvCxnSpPr>
            <a:cxnSpLocks/>
          </p:cNvCxnSpPr>
          <p:nvPr/>
        </p:nvCxnSpPr>
        <p:spPr>
          <a:xfrm flipH="1">
            <a:off x="1687774" y="2642110"/>
            <a:ext cx="1414325" cy="758858"/>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664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30" grpId="0" animBg="1"/>
      <p:bldP spid="19" grpId="0" animBg="1"/>
      <p:bldP spid="38" grpId="0" animBg="1"/>
      <p:bldP spid="39" grpId="0"/>
      <p:bldP spid="40" grpId="0"/>
      <p:bldP spid="41" grpId="0"/>
      <p:bldP spid="43" grpId="0" animBg="1"/>
      <p:bldP spid="4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5675228" y="1423009"/>
            <a:ext cx="3232612" cy="2568370"/>
          </a:xfrm>
          <a:prstGeom prst="rect">
            <a:avLst/>
          </a:prstGeom>
        </p:spPr>
      </p:pic>
      <p:sp>
        <p:nvSpPr>
          <p:cNvPr id="4" name="文本框 3"/>
          <p:cNvSpPr txBox="1"/>
          <p:nvPr/>
        </p:nvSpPr>
        <p:spPr>
          <a:xfrm>
            <a:off x="1010502" y="71547"/>
            <a:ext cx="8147056" cy="523220"/>
          </a:xfrm>
          <a:prstGeom prst="rect">
            <a:avLst/>
          </a:prstGeom>
          <a:noFill/>
        </p:spPr>
        <p:txBody>
          <a:bodyPr wrap="square">
            <a:spAutoFit/>
          </a:bodyPr>
          <a:lstStyle/>
          <a:p>
            <a:r>
              <a:rPr lang="en-US" altLang="ko-KR" sz="2800" b="1" dirty="0">
                <a:solidFill>
                  <a:srgbClr val="002060"/>
                </a:solidFill>
                <a:latin typeface="华文楷体" panose="02010600040101010101" pitchFamily="2" charset="-122"/>
                <a:ea typeface="华文楷体" panose="02010600040101010101" pitchFamily="2" charset="-122"/>
              </a:rPr>
              <a:t>§5.3</a:t>
            </a:r>
            <a:r>
              <a:rPr lang="zh-CN" altLang="en-US" sz="2800" b="1" dirty="0">
                <a:solidFill>
                  <a:srgbClr val="002060"/>
                </a:solidFill>
                <a:latin typeface="华文楷体" panose="02010600040101010101" pitchFamily="2" charset="-122"/>
                <a:ea typeface="华文楷体" panose="02010600040101010101" pitchFamily="2" charset="-122"/>
              </a:rPr>
              <a:t>多项式拟合求导</a:t>
            </a:r>
            <a:r>
              <a:rPr lang="en-US" altLang="zh-CN" sz="2800" b="1" kern="0" dirty="0">
                <a:solidFill>
                  <a:srgbClr val="FF0000"/>
                </a:solidFill>
                <a:latin typeface="华文楷体" panose="02010600040101010101" pitchFamily="2" charset="-122"/>
                <a:ea typeface="华文楷体" panose="02010600040101010101" pitchFamily="2" charset="-122"/>
              </a:rPr>
              <a:t>——</a:t>
            </a:r>
            <a:r>
              <a:rPr lang="zh-CN" altLang="en-US" sz="2800" b="1" kern="0" dirty="0">
                <a:solidFill>
                  <a:srgbClr val="FF0000"/>
                </a:solidFill>
                <a:latin typeface="华文楷体" panose="02010600040101010101" pitchFamily="2" charset="-122"/>
                <a:ea typeface="华文楷体" panose="02010600040101010101" pitchFamily="2" charset="-122"/>
              </a:rPr>
              <a:t>多项式拟合求导案例</a:t>
            </a:r>
            <a:endParaRPr lang="zh-CN" altLang="en-US" sz="2800" b="1" dirty="0"/>
          </a:p>
        </p:txBody>
      </p:sp>
      <p:sp>
        <p:nvSpPr>
          <p:cNvPr id="5" name="矩形 4"/>
          <p:cNvSpPr/>
          <p:nvPr/>
        </p:nvSpPr>
        <p:spPr>
          <a:xfrm>
            <a:off x="1175035" y="656929"/>
            <a:ext cx="7784378" cy="461665"/>
          </a:xfrm>
          <a:prstGeom prst="rect">
            <a:avLst/>
          </a:prstGeom>
          <a:no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求复合材料的拉伸应力</a:t>
            </a:r>
            <a:r>
              <a:rPr lang="en-US" altLang="zh-CN" b="1" dirty="0">
                <a:solidFill>
                  <a:srgbClr val="0070C0"/>
                </a:solidFill>
                <a:latin typeface="微软雅黑" panose="020B0503020204020204" pitchFamily="34" charset="-122"/>
                <a:ea typeface="微软雅黑" panose="020B0503020204020204" pitchFamily="34" charset="-122"/>
              </a:rPr>
              <a:t>y-</a:t>
            </a:r>
            <a:r>
              <a:rPr lang="zh-CN" altLang="en-US" b="1" dirty="0">
                <a:solidFill>
                  <a:srgbClr val="0070C0"/>
                </a:solidFill>
                <a:latin typeface="微软雅黑" panose="020B0503020204020204" pitchFamily="34" charset="-122"/>
                <a:ea typeface="微软雅黑" panose="020B0503020204020204" pitchFamily="34" charset="-122"/>
              </a:rPr>
              <a:t>应变</a:t>
            </a:r>
            <a:r>
              <a:rPr lang="en-US" altLang="zh-CN" b="1" dirty="0">
                <a:solidFill>
                  <a:srgbClr val="0070C0"/>
                </a:solidFill>
                <a:latin typeface="微软雅黑" panose="020B0503020204020204" pitchFamily="34" charset="-122"/>
                <a:ea typeface="微软雅黑" panose="020B0503020204020204" pitchFamily="34" charset="-122"/>
              </a:rPr>
              <a:t>x</a:t>
            </a:r>
            <a:r>
              <a:rPr lang="zh-CN" altLang="en-US" b="1" dirty="0">
                <a:solidFill>
                  <a:srgbClr val="0070C0"/>
                </a:solidFill>
                <a:latin typeface="微软雅黑" panose="020B0503020204020204" pitchFamily="34" charset="-122"/>
                <a:ea typeface="微软雅黑" panose="020B0503020204020204" pitchFamily="34" charset="-122"/>
              </a:rPr>
              <a:t>曲线的斜率即求应变硬化率 </a:t>
            </a:r>
            <a:r>
              <a:rPr lang="en-US" altLang="zh-CN" sz="2400" b="1" dirty="0">
                <a:solidFill>
                  <a:srgbClr val="FF0000"/>
                </a:solidFill>
                <a:latin typeface="微软雅黑" panose="020B0503020204020204" pitchFamily="34" charset="-122"/>
                <a:ea typeface="微软雅黑" panose="020B0503020204020204" pitchFamily="34" charset="-122"/>
              </a:rPr>
              <a:t>h=</a:t>
            </a:r>
            <a:r>
              <a:rPr lang="en-US" altLang="zh-CN" sz="2400" b="1" dirty="0" err="1">
                <a:solidFill>
                  <a:srgbClr val="FF0000"/>
                </a:solidFill>
                <a:latin typeface="微软雅黑" panose="020B0503020204020204" pitchFamily="34" charset="-122"/>
                <a:ea typeface="微软雅黑" panose="020B0503020204020204" pitchFamily="34" charset="-122"/>
              </a:rPr>
              <a:t>dy</a:t>
            </a:r>
            <a:r>
              <a:rPr lang="en-US" altLang="zh-CN" sz="2400" b="1" dirty="0">
                <a:solidFill>
                  <a:srgbClr val="FF0000"/>
                </a:solidFill>
                <a:latin typeface="微软雅黑" panose="020B0503020204020204" pitchFamily="34" charset="-122"/>
                <a:ea typeface="微软雅黑" panose="020B0503020204020204" pitchFamily="34" charset="-122"/>
              </a:rPr>
              <a:t>/dx</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6" name="波形 5"/>
          <p:cNvSpPr/>
          <p:nvPr/>
        </p:nvSpPr>
        <p:spPr>
          <a:xfrm>
            <a:off x="130135" y="678428"/>
            <a:ext cx="1080120" cy="40938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en-US" altLang="ko-KR" b="1" dirty="0">
                <a:solidFill>
                  <a:srgbClr val="FFFF00"/>
                </a:solidFill>
                <a:latin typeface="微软雅黑" panose="020B0503020204020204" pitchFamily="34" charset="-122"/>
                <a:ea typeface="微软雅黑" panose="020B0503020204020204" pitchFamily="34" charset="-122"/>
              </a:rPr>
              <a:t>例53-4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14509" y="1046209"/>
            <a:ext cx="8301907" cy="3472746"/>
          </a:xfrm>
          <a:prstGeom prst="rect">
            <a:avLst/>
          </a:prstGeom>
          <a:noFill/>
        </p:spPr>
        <p:txBody>
          <a:bodyPr wrap="square">
            <a:spAutoFit/>
          </a:bodyPr>
          <a:lstStyle/>
          <a:p>
            <a:pPr>
              <a:lnSpc>
                <a:spcPts val="2200"/>
              </a:lnSpc>
            </a:pPr>
            <a:r>
              <a:rPr lang="en-US" altLang="zh-CN" b="0" dirty="0">
                <a:solidFill>
                  <a:srgbClr val="000000"/>
                </a:solidFill>
                <a:effectLst/>
                <a:latin typeface="Consolas" panose="020B0609020204030204" pitchFamily="49" charset="0"/>
              </a:rPr>
              <a:t>xy=</a:t>
            </a:r>
            <a:r>
              <a:rPr lang="en-US" altLang="zh-CN" b="0" dirty="0" err="1">
                <a:solidFill>
                  <a:srgbClr val="795E26"/>
                </a:solidFill>
                <a:effectLst/>
                <a:latin typeface="Consolas" panose="020B0609020204030204" pitchFamily="49" charset="0"/>
              </a:rPr>
              <a:t>readtable</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"tens.csv"</a:t>
            </a:r>
            <a:r>
              <a:rPr lang="en-US" altLang="zh-CN" b="0" dirty="0">
                <a:solidFill>
                  <a:srgbClr val="000000"/>
                </a:solidFill>
                <a:effectLst/>
                <a:latin typeface="Consolas" panose="020B0609020204030204" pitchFamily="49" charset="0"/>
              </a:rPr>
              <a:t>);</a:t>
            </a:r>
          </a:p>
          <a:p>
            <a:pPr>
              <a:lnSpc>
                <a:spcPts val="2200"/>
              </a:lnSpc>
            </a:pPr>
            <a:r>
              <a:rPr lang="en-US" altLang="zh-CN" b="0" dirty="0">
                <a:solidFill>
                  <a:srgbClr val="000000"/>
                </a:solidFill>
                <a:effectLst/>
                <a:latin typeface="Consolas" panose="020B0609020204030204" pitchFamily="49" charset="0"/>
              </a:rPr>
              <a:t>x=xy[:,</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];y=xy[:,</a:t>
            </a:r>
            <a:r>
              <a:rPr lang="en-US" altLang="zh-CN" b="0" dirty="0">
                <a:solidFill>
                  <a:srgbClr val="098658"/>
                </a:solidFill>
                <a:effectLst/>
                <a:latin typeface="Consolas" panose="020B0609020204030204" pitchFamily="49" charset="0"/>
              </a:rPr>
              <a:t>2</a:t>
            </a:r>
            <a:r>
              <a:rPr lang="en-US" altLang="zh-CN" b="0" dirty="0">
                <a:solidFill>
                  <a:srgbClr val="000000"/>
                </a:solidFill>
                <a:effectLst/>
                <a:latin typeface="Consolas" panose="020B0609020204030204" pitchFamily="49" charset="0"/>
              </a:rPr>
              <a:t>];</a:t>
            </a:r>
          </a:p>
          <a:p>
            <a:pPr>
              <a:lnSpc>
                <a:spcPts val="2200"/>
              </a:lnSpc>
            </a:pPr>
            <a:r>
              <a:rPr lang="en-US" altLang="zh-CN" b="0" dirty="0" err="1">
                <a:solidFill>
                  <a:srgbClr val="795E26"/>
                </a:solidFill>
                <a:effectLst/>
                <a:latin typeface="Consolas" panose="020B0609020204030204" pitchFamily="49" charset="0"/>
              </a:rPr>
              <a:t>yyaxis</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"right"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右坐标轴应力</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应变曲线</a:t>
            </a:r>
            <a:endParaRPr lang="zh-CN" altLang="en-US" b="0" dirty="0">
              <a:solidFill>
                <a:srgbClr val="000000"/>
              </a:solidFill>
              <a:effectLst/>
              <a:latin typeface="Consolas" panose="020B0609020204030204" pitchFamily="49" charset="0"/>
            </a:endParaRPr>
          </a:p>
          <a:p>
            <a:pPr>
              <a:lnSpc>
                <a:spcPts val="2200"/>
              </a:lnSpc>
            </a:pPr>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a:t>
            </a:r>
          </a:p>
          <a:p>
            <a:pPr>
              <a:lnSpc>
                <a:spcPts val="2200"/>
              </a:lnSpc>
            </a:pPr>
            <a:r>
              <a:rPr lang="en-US" altLang="zh-CN" b="0" dirty="0" err="1">
                <a:solidFill>
                  <a:srgbClr val="795E26"/>
                </a:solidFill>
                <a:effectLst/>
                <a:latin typeface="Consolas" panose="020B0609020204030204" pitchFamily="49" charset="0"/>
              </a:rPr>
              <a:t>xlabel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应变</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r>
              <a:rPr lang="en-US" altLang="zh-CN" b="0" dirty="0" err="1">
                <a:solidFill>
                  <a:srgbClr val="795E26"/>
                </a:solidFill>
                <a:effectLst/>
                <a:latin typeface="Consolas" panose="020B0609020204030204" pitchFamily="49" charset="0"/>
              </a:rPr>
              <a:t>ylabel</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a:t>
            </a:r>
            <a:r>
              <a:rPr lang="zh-CN" altLang="en-US" b="0" dirty="0">
                <a:solidFill>
                  <a:srgbClr val="A31515"/>
                </a:solidFill>
                <a:effectLst/>
                <a:latin typeface="Consolas" panose="020B0609020204030204" pitchFamily="49" charset="0"/>
              </a:rPr>
              <a:t>应力</a:t>
            </a:r>
            <a:r>
              <a:rPr lang="en-US" altLang="zh-CN" b="0" dirty="0">
                <a:solidFill>
                  <a:srgbClr val="A31515"/>
                </a:solidFill>
                <a:effectLst/>
                <a:latin typeface="Consolas" panose="020B0609020204030204" pitchFamily="49" charset="0"/>
              </a:rPr>
              <a:t>"</a:t>
            </a:r>
            <a:r>
              <a:rPr lang="en-US" altLang="zh-CN" b="0" dirty="0">
                <a:solidFill>
                  <a:srgbClr val="000000"/>
                </a:solidFill>
                <a:effectLst/>
                <a:latin typeface="Consolas" panose="020B0609020204030204" pitchFamily="49" charset="0"/>
              </a:rPr>
              <a:t>);</a:t>
            </a:r>
          </a:p>
          <a:p>
            <a:pPr>
              <a:lnSpc>
                <a:spcPts val="2200"/>
              </a:lnSpc>
            </a:pPr>
            <a:r>
              <a:rPr lang="en-US" altLang="zh-CN" b="0" dirty="0" err="1">
                <a:solidFill>
                  <a:srgbClr val="000000"/>
                </a:solidFill>
                <a:effectLst/>
                <a:latin typeface="Consolas" panose="020B0609020204030204" pitchFamily="49" charset="0"/>
              </a:rPr>
              <a:t>yf</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TyCurveFitting.</a:t>
            </a:r>
            <a:r>
              <a:rPr lang="en-US" altLang="zh-CN" b="0" dirty="0" err="1">
                <a:solidFill>
                  <a:srgbClr val="795E26"/>
                </a:solidFill>
                <a:effectLst/>
                <a:latin typeface="Consolas" panose="020B0609020204030204" pitchFamily="49" charset="0"/>
              </a:rPr>
              <a:t>fit</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"poly"</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22</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x,y</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#22</a:t>
            </a:r>
            <a:r>
              <a:rPr lang="zh-CN" altLang="en-US" b="0" dirty="0">
                <a:solidFill>
                  <a:srgbClr val="008000"/>
                </a:solidFill>
                <a:effectLst/>
                <a:latin typeface="Consolas" panose="020B0609020204030204" pitchFamily="49" charset="0"/>
              </a:rPr>
              <a:t>次拟合应力</a:t>
            </a:r>
            <a:r>
              <a:rPr lang="en-US" altLang="zh-CN" b="0" dirty="0">
                <a:solidFill>
                  <a:srgbClr val="008000"/>
                </a:solidFill>
                <a:effectLst/>
                <a:latin typeface="Consolas" panose="020B0609020204030204" pitchFamily="49" charset="0"/>
              </a:rPr>
              <a:t>y-</a:t>
            </a:r>
            <a:r>
              <a:rPr lang="zh-CN" altLang="en-US" b="0" dirty="0">
                <a:solidFill>
                  <a:srgbClr val="008000"/>
                </a:solidFill>
                <a:effectLst/>
                <a:latin typeface="Consolas" panose="020B0609020204030204" pitchFamily="49" charset="0"/>
              </a:rPr>
              <a:t>应变</a:t>
            </a:r>
            <a:r>
              <a:rPr lang="en-US" altLang="zh-CN" b="0" dirty="0">
                <a:solidFill>
                  <a:srgbClr val="008000"/>
                </a:solidFill>
                <a:effectLst/>
                <a:latin typeface="Consolas" panose="020B0609020204030204" pitchFamily="49" charset="0"/>
              </a:rPr>
              <a:t>x</a:t>
            </a:r>
            <a:r>
              <a:rPr lang="zh-CN" altLang="en-US" b="0" dirty="0">
                <a:solidFill>
                  <a:srgbClr val="008000"/>
                </a:solidFill>
                <a:effectLst/>
                <a:latin typeface="Consolas" panose="020B0609020204030204" pitchFamily="49" charset="0"/>
              </a:rPr>
              <a:t>曲线</a:t>
            </a:r>
            <a:endParaRPr lang="zh-CN" altLang="en-US" b="0" dirty="0">
              <a:solidFill>
                <a:srgbClr val="000000"/>
              </a:solidFill>
              <a:effectLst/>
              <a:latin typeface="Consolas" panose="020B0609020204030204" pitchFamily="49" charset="0"/>
            </a:endParaRPr>
          </a:p>
          <a:p>
            <a:pPr>
              <a:lnSpc>
                <a:spcPts val="2200"/>
              </a:lnSpc>
            </a:pPr>
            <a:r>
              <a:rPr lang="en-US" altLang="zh-CN" b="0" dirty="0" err="1">
                <a:solidFill>
                  <a:srgbClr val="000000"/>
                </a:solidFill>
                <a:effectLst/>
                <a:latin typeface="Consolas" panose="020B0609020204030204" pitchFamily="49" charset="0"/>
              </a:rPr>
              <a:t>fx</a:t>
            </a:r>
            <a:r>
              <a:rPr lang="en-US" altLang="zh-CN" b="0" dirty="0">
                <a:solidFill>
                  <a:srgbClr val="000000"/>
                </a:solidFill>
                <a:effectLst/>
                <a:latin typeface="Consolas" panose="020B0609020204030204" pitchFamily="49" charset="0"/>
              </a:rPr>
              <a:t>=</a:t>
            </a:r>
            <a:r>
              <a:rPr lang="en-US" altLang="zh-CN" b="0" dirty="0">
                <a:solidFill>
                  <a:srgbClr val="795E26"/>
                </a:solidFill>
                <a:effectLst/>
                <a:latin typeface="Consolas" panose="020B0609020204030204" pitchFamily="49" charset="0"/>
              </a:rPr>
              <a:t>differentiate1</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yf,x,order</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a:t>
            </a:r>
            <a:r>
              <a:rPr lang="en-US" altLang="zh-CN" b="0" dirty="0">
                <a:solidFill>
                  <a:srgbClr val="000000"/>
                </a:solidFill>
                <a:effectLst/>
                <a:latin typeface="Consolas" panose="020B0609020204030204" pitchFamily="49" charset="0"/>
              </a:rPr>
              <a:t>)</a:t>
            </a:r>
          </a:p>
          <a:p>
            <a:pPr>
              <a:lnSpc>
                <a:spcPts val="2200"/>
              </a:lnSpc>
            </a:pPr>
            <a:r>
              <a:rPr lang="en-US" altLang="zh-CN" b="0" dirty="0" err="1">
                <a:solidFill>
                  <a:srgbClr val="795E26"/>
                </a:solidFill>
                <a:effectLst/>
                <a:latin typeface="Consolas" panose="020B0609020204030204" pitchFamily="49" charset="0"/>
              </a:rPr>
              <a:t>yyaxis</a:t>
            </a:r>
            <a:r>
              <a:rPr lang="en-US" altLang="zh-CN" b="0" dirty="0">
                <a:solidFill>
                  <a:srgbClr val="000000"/>
                </a:solidFill>
                <a:effectLst/>
                <a:latin typeface="Consolas" panose="020B0609020204030204" pitchFamily="49" charset="0"/>
              </a:rPr>
              <a:t>(</a:t>
            </a:r>
            <a:r>
              <a:rPr lang="en-US" altLang="zh-CN" b="0" dirty="0">
                <a:solidFill>
                  <a:srgbClr val="A31515"/>
                </a:solidFill>
                <a:effectLst/>
                <a:latin typeface="Consolas" panose="020B0609020204030204" pitchFamily="49" charset="0"/>
              </a:rPr>
              <a:t>"left"</a:t>
            </a:r>
            <a:r>
              <a:rPr lang="en-US" altLang="zh-CN" b="0" dirty="0">
                <a:solidFill>
                  <a:srgbClr val="000000"/>
                </a:solidFill>
                <a:effectLst/>
                <a:latin typeface="Consolas" panose="020B0609020204030204" pitchFamily="49" charset="0"/>
              </a:rPr>
              <a:t>) </a:t>
            </a:r>
            <a:r>
              <a:rPr lang="en-US" altLang="zh-CN" b="0" dirty="0">
                <a:solidFill>
                  <a:srgbClr val="008000"/>
                </a:solidFill>
                <a:effectLst/>
                <a:latin typeface="Consolas" panose="020B0609020204030204" pitchFamily="49" charset="0"/>
              </a:rPr>
              <a:t>#</a:t>
            </a:r>
            <a:r>
              <a:rPr lang="zh-CN" altLang="en-US" b="0" dirty="0">
                <a:solidFill>
                  <a:srgbClr val="008000"/>
                </a:solidFill>
                <a:effectLst/>
                <a:latin typeface="Consolas" panose="020B0609020204030204" pitchFamily="49" charset="0"/>
              </a:rPr>
              <a:t>左坐标轴加工硬化率曲线</a:t>
            </a:r>
            <a:endParaRPr lang="zh-CN" altLang="en-US" b="0" dirty="0">
              <a:solidFill>
                <a:srgbClr val="000000"/>
              </a:solidFill>
              <a:effectLst/>
              <a:latin typeface="Consolas" panose="020B0609020204030204" pitchFamily="49" charset="0"/>
            </a:endParaRPr>
          </a:p>
          <a:p>
            <a:pPr>
              <a:lnSpc>
                <a:spcPts val="2200"/>
              </a:lnSpc>
            </a:pPr>
            <a:r>
              <a:rPr lang="en-US" altLang="zh-CN" b="0" dirty="0">
                <a:solidFill>
                  <a:srgbClr val="795E26"/>
                </a:solidFill>
                <a:effectLst/>
                <a:latin typeface="Consolas" panose="020B0609020204030204" pitchFamily="49" charset="0"/>
              </a:rPr>
              <a:t>plot</a:t>
            </a:r>
            <a:r>
              <a:rPr lang="en-US" altLang="zh-CN" b="0" dirty="0">
                <a:solidFill>
                  <a:srgbClr val="000000"/>
                </a:solidFill>
                <a:effectLst/>
                <a:latin typeface="Consolas" panose="020B0609020204030204" pitchFamily="49" charset="0"/>
              </a:rPr>
              <a:t>(</a:t>
            </a:r>
            <a:r>
              <a:rPr lang="en-US" altLang="zh-CN" b="0" dirty="0" err="1">
                <a:solidFill>
                  <a:srgbClr val="000000"/>
                </a:solidFill>
                <a:effectLst/>
                <a:latin typeface="Consolas" panose="020B0609020204030204" pitchFamily="49" charset="0"/>
              </a:rPr>
              <a:t>x,fx</a:t>
            </a:r>
            <a:r>
              <a:rPr lang="en-US" altLang="zh-CN" b="0" dirty="0">
                <a:solidFill>
                  <a:srgbClr val="000000"/>
                </a:solidFill>
                <a:effectLst/>
                <a:latin typeface="Consolas" panose="020B0609020204030204" pitchFamily="49" charset="0"/>
              </a:rPr>
              <a:t>)</a:t>
            </a:r>
          </a:p>
          <a:p>
            <a:pPr>
              <a:lnSpc>
                <a:spcPts val="2200"/>
              </a:lnSpc>
            </a:pPr>
            <a:r>
              <a:rPr lang="en-US" altLang="zh-CN" dirty="0" err="1">
                <a:solidFill>
                  <a:srgbClr val="795E26"/>
                </a:solidFill>
                <a:latin typeface="Consolas" panose="020B0609020204030204" pitchFamily="49" charset="0"/>
              </a:rPr>
              <a:t>ylabel</a:t>
            </a:r>
            <a:r>
              <a:rPr lang="en-US" altLang="zh-CN" dirty="0">
                <a:solidFill>
                  <a:srgbClr val="000000"/>
                </a:solidFill>
                <a:latin typeface="Consolas" panose="020B0609020204030204" pitchFamily="49" charset="0"/>
              </a:rPr>
              <a:t>(</a:t>
            </a:r>
            <a:r>
              <a:rPr lang="en-US" altLang="zh-CN" dirty="0">
                <a:solidFill>
                  <a:srgbClr val="A31515"/>
                </a:solidFill>
                <a:latin typeface="Consolas" panose="020B0609020204030204" pitchFamily="49" charset="0"/>
              </a:rPr>
              <a:t>"</a:t>
            </a:r>
            <a:r>
              <a:rPr lang="zh-CN" altLang="en-US" dirty="0">
                <a:solidFill>
                  <a:srgbClr val="A31515"/>
                </a:solidFill>
                <a:latin typeface="Consolas" panose="020B0609020204030204" pitchFamily="49" charset="0"/>
              </a:rPr>
              <a:t>应变硬化率</a:t>
            </a:r>
            <a:r>
              <a:rPr lang="en-US" altLang="zh-CN" dirty="0">
                <a:solidFill>
                  <a:srgbClr val="A31515"/>
                </a:solidFill>
                <a:latin typeface="Consolas" panose="020B0609020204030204" pitchFamily="49" charset="0"/>
              </a:rPr>
              <a:t>"</a:t>
            </a:r>
            <a:r>
              <a:rPr lang="en-US" altLang="zh-CN" dirty="0">
                <a:solidFill>
                  <a:srgbClr val="000000"/>
                </a:solidFill>
                <a:latin typeface="Consolas" panose="020B0609020204030204" pitchFamily="49" charset="0"/>
              </a:rPr>
              <a:t>);</a:t>
            </a:r>
          </a:p>
          <a:p>
            <a:pPr>
              <a:lnSpc>
                <a:spcPts val="2200"/>
              </a:lnSpc>
            </a:pPr>
            <a:r>
              <a:rPr lang="en-US" altLang="zh-CN" b="0" dirty="0">
                <a:solidFill>
                  <a:srgbClr val="795E26"/>
                </a:solidFill>
                <a:effectLst/>
                <a:latin typeface="Consolas" panose="020B0609020204030204" pitchFamily="49" charset="0"/>
              </a:rPr>
              <a:t>axis</a:t>
            </a:r>
            <a:r>
              <a:rPr lang="en-US" altLang="zh-CN" b="0" dirty="0">
                <a:solidFill>
                  <a:srgbClr val="000000"/>
                </a:solidFill>
                <a:effectLst/>
                <a:latin typeface="Consolas" panose="020B0609020204030204" pitchFamily="49" charset="0"/>
              </a:rPr>
              <a:t>([</a:t>
            </a:r>
            <a:r>
              <a:rPr lang="en-US" altLang="zh-CN" dirty="0">
                <a:solidFill>
                  <a:srgbClr val="098658"/>
                </a:solidFill>
                <a:latin typeface="Consolas" panose="020B0609020204030204" pitchFamily="49" charset="0"/>
              </a:rPr>
              <a:t>0</a:t>
            </a:r>
            <a:r>
              <a:rPr lang="en-US" altLang="zh-CN" dirty="0">
                <a:solidFill>
                  <a:srgbClr val="000000"/>
                </a:solidFill>
                <a:latin typeface="Consolas" panose="020B0609020204030204" pitchFamily="49" charset="0"/>
              </a:rPr>
              <a:t>,</a:t>
            </a:r>
            <a:r>
              <a:rPr lang="en-US" altLang="zh-CN" dirty="0">
                <a:solidFill>
                  <a:srgbClr val="098658"/>
                </a:solidFill>
                <a:latin typeface="Consolas" panose="020B0609020204030204" pitchFamily="49" charset="0"/>
              </a:rPr>
              <a:t>0.08,0</a:t>
            </a:r>
            <a:r>
              <a:rPr lang="en-US" altLang="zh-CN" b="0" dirty="0">
                <a:solidFill>
                  <a:srgbClr val="000000"/>
                </a:solidFill>
                <a:effectLst/>
                <a:latin typeface="Consolas" panose="020B0609020204030204" pitchFamily="49" charset="0"/>
              </a:rPr>
              <a:t>,</a:t>
            </a:r>
            <a:r>
              <a:rPr lang="en-US" altLang="zh-CN" b="0" dirty="0">
                <a:solidFill>
                  <a:srgbClr val="098658"/>
                </a:solidFill>
                <a:effectLst/>
                <a:latin typeface="Consolas" panose="020B0609020204030204" pitchFamily="49" charset="0"/>
              </a:rPr>
              <a:t>1800</a:t>
            </a:r>
            <a:r>
              <a:rPr lang="en-US" altLang="zh-CN" b="0" dirty="0">
                <a:solidFill>
                  <a:srgbClr val="000000"/>
                </a:solidFill>
                <a:effectLst/>
                <a:latin typeface="Consolas" panose="020B0609020204030204" pitchFamily="49" charset="0"/>
              </a:rPr>
              <a:t>]);</a:t>
            </a:r>
          </a:p>
          <a:p>
            <a:endParaRPr lang="en-US" altLang="zh-CN" b="0" dirty="0">
              <a:solidFill>
                <a:srgbClr val="000000"/>
              </a:solidFill>
              <a:effectLst/>
              <a:latin typeface="Consolas" panose="020B0609020204030204" pitchFamily="49" charset="0"/>
            </a:endParaRPr>
          </a:p>
        </p:txBody>
      </p:sp>
      <p:graphicFrame>
        <p:nvGraphicFramePr>
          <p:cNvPr id="9" name="对象 8"/>
          <p:cNvGraphicFramePr>
            <a:graphicFrameLocks noChangeAspect="1"/>
          </p:cNvGraphicFramePr>
          <p:nvPr/>
        </p:nvGraphicFramePr>
        <p:xfrm>
          <a:off x="7739842" y="1335534"/>
          <a:ext cx="883458" cy="759465"/>
        </p:xfrm>
        <a:graphic>
          <a:graphicData uri="http://schemas.openxmlformats.org/presentationml/2006/ole">
            <mc:AlternateContent xmlns:mc="http://schemas.openxmlformats.org/markup-compatibility/2006">
              <mc:Choice xmlns:v="urn:schemas-microsoft-com:vml" Requires="v">
                <p:oleObj spid="_x0000_s46093" name="Worksheet" showAsIcon="1" r:id="rId5" imgW="914597" imgH="787283" progId="Excel.Sheet.12">
                  <p:link updateAutomatic="1"/>
                </p:oleObj>
              </mc:Choice>
              <mc:Fallback>
                <p:oleObj name="Worksheet" showAsIcon="1" r:id="rId5" imgW="914597" imgH="787283" progId="Excel.Sheet.12">
                  <p:link updateAutomatic="1"/>
                  <p:pic>
                    <p:nvPicPr>
                      <p:cNvPr id="9" name="对象 8"/>
                      <p:cNvPicPr/>
                      <p:nvPr/>
                    </p:nvPicPr>
                    <p:blipFill>
                      <a:blip r:embed="rId6"/>
                      <a:stretch>
                        <a:fillRect/>
                      </a:stretch>
                    </p:blipFill>
                    <p:spPr>
                      <a:xfrm>
                        <a:off x="7739842" y="1335534"/>
                        <a:ext cx="883458" cy="759465"/>
                      </a:xfrm>
                      <a:prstGeom prst="rect">
                        <a:avLst/>
                      </a:prstGeom>
                    </p:spPr>
                  </p:pic>
                </p:oleObj>
              </mc:Fallback>
            </mc:AlternateContent>
          </a:graphicData>
        </a:graphic>
      </p:graphicFrame>
      <p:sp>
        <p:nvSpPr>
          <p:cNvPr id="10" name="矩形 9">
            <a:extLst>
              <a:ext uri="{FF2B5EF4-FFF2-40B4-BE49-F238E27FC236}">
                <a16:creationId xmlns:a16="http://schemas.microsoft.com/office/drawing/2014/main" id="{C36CBBC4-FCE5-4E86-87FD-3893D7ACFC6F}"/>
              </a:ext>
            </a:extLst>
          </p:cNvPr>
          <p:cNvSpPr/>
          <p:nvPr/>
        </p:nvSpPr>
        <p:spPr>
          <a:xfrm>
            <a:off x="827584" y="4295795"/>
            <a:ext cx="8382630" cy="338554"/>
          </a:xfrm>
          <a:prstGeom prst="rect">
            <a:avLst/>
          </a:prstGeom>
        </p:spPr>
        <p:txBody>
          <a:bodyPr wrap="square">
            <a:spAutoFit/>
          </a:bodyPr>
          <a:lstStyle/>
          <a:p>
            <a:pPr lvl="0" algn="dist">
              <a:spcBef>
                <a:spcPts val="0"/>
              </a:spcBef>
              <a:defRPr/>
            </a:pPr>
            <a:r>
              <a:rPr lang="zh-CN" altLang="en-US" sz="1600" b="1" dirty="0">
                <a:solidFill>
                  <a:srgbClr val="0070C0"/>
                </a:solidFill>
                <a:latin typeface="微软雅黑" panose="020B0503020204020204" pitchFamily="34" charset="-122"/>
                <a:ea typeface="微软雅黑" panose="020B0503020204020204" pitchFamily="34" charset="-122"/>
              </a:rPr>
              <a:t>如要对试验数据求导，建议最好先对实验数据拟合成函数，再对拟合函数求导 </a:t>
            </a:r>
          </a:p>
        </p:txBody>
      </p:sp>
      <p:sp>
        <p:nvSpPr>
          <p:cNvPr id="12" name="形状 209924">
            <a:extLst>
              <a:ext uri="{FF2B5EF4-FFF2-40B4-BE49-F238E27FC236}">
                <a16:creationId xmlns:a16="http://schemas.microsoft.com/office/drawing/2014/main" id="{B7078E9C-8A36-4E9D-AB26-83CB8D6249DB}"/>
              </a:ext>
            </a:extLst>
          </p:cNvPr>
          <p:cNvSpPr/>
          <p:nvPr/>
        </p:nvSpPr>
        <p:spPr>
          <a:xfrm>
            <a:off x="-135767" y="4105797"/>
            <a:ext cx="1126743" cy="590247"/>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注意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1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标题 2"/>
          <p:cNvSpPr txBox="1"/>
          <p:nvPr/>
        </p:nvSpPr>
        <p:spPr bwMode="auto">
          <a:xfrm>
            <a:off x="255508" y="1534098"/>
            <a:ext cx="8388424" cy="2235868"/>
          </a:xfrm>
          <a:prstGeom prst="rect">
            <a:avLst/>
          </a:prstGeom>
          <a:noFill/>
          <a:ln w="9525">
            <a:noFill/>
            <a:miter lim="800000"/>
          </a:ln>
        </p:spPr>
        <p:txBody>
          <a:bodyPr vert="horz" wrap="square" lIns="91440" tIns="45720" rIns="91440" bIns="45720" numCol="1" anchor="t" anchorCtr="0" compatLnSpc="1">
            <a:spAutoFit/>
          </a:bodyPr>
          <a:lstStyle>
            <a:lvl1pPr marL="177800" indent="-177800" algn="l" rtl="0" eaLnBrk="0" fontAlgn="base" hangingPunct="0">
              <a:lnSpc>
                <a:spcPct val="110000"/>
              </a:lnSpc>
              <a:spcBef>
                <a:spcPct val="0"/>
              </a:spcBef>
              <a:spcAft>
                <a:spcPct val="0"/>
              </a:spcAft>
              <a:buFont typeface="Wingdings" panose="05000000000000000000" pitchFamily="2" charset="2"/>
              <a:buChar char="Ø"/>
              <a:defRPr sz="2800" b="0">
                <a:solidFill>
                  <a:srgbClr val="002060"/>
                </a:solidFill>
                <a:latin typeface="华文楷体" panose="02010600040101010101" pitchFamily="2" charset="-122"/>
                <a:ea typeface="华文楷体" panose="02010600040101010101" pitchFamily="2" charset="-122"/>
                <a:cs typeface="+mn-cs"/>
              </a:defRPr>
            </a:lvl1pPr>
            <a:lvl2pPr marL="6350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2pPr>
            <a:lvl3pPr marL="1092200" indent="-177800" algn="l" rtl="0" eaLnBrk="0" fontAlgn="base" hangingPunct="0">
              <a:lnSpc>
                <a:spcPct val="110000"/>
              </a:lnSpc>
              <a:spcBef>
                <a:spcPct val="0"/>
              </a:spcBef>
              <a:spcAft>
                <a:spcPct val="0"/>
              </a:spcAft>
              <a:buFont typeface="Wingdings" panose="05000000000000000000" pitchFamily="2" charset="2"/>
              <a:buChar char="Ø"/>
              <a:defRPr sz="2400" b="0">
                <a:solidFill>
                  <a:srgbClr val="002060"/>
                </a:solidFill>
                <a:latin typeface="华文楷体" panose="02010600040101010101" pitchFamily="2" charset="-122"/>
                <a:ea typeface="华文楷体" panose="02010600040101010101" pitchFamily="2" charset="-122"/>
              </a:defRPr>
            </a:lvl3pPr>
            <a:lvl4pPr marL="15494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4pPr>
            <a:lvl5pPr marL="2006600" indent="-177800" algn="l" rtl="0" eaLnBrk="0" fontAlgn="base" hangingPunct="0">
              <a:lnSpc>
                <a:spcPct val="110000"/>
              </a:lnSpc>
              <a:spcBef>
                <a:spcPct val="0"/>
              </a:spcBef>
              <a:spcAft>
                <a:spcPct val="0"/>
              </a:spcAft>
              <a:buFont typeface="Wingdings" panose="05000000000000000000" pitchFamily="2" charset="2"/>
              <a:buChar char="Ø"/>
              <a:defRPr sz="2000" b="0">
                <a:solidFill>
                  <a:srgbClr val="002060"/>
                </a:solidFill>
                <a:latin typeface="华文楷体" panose="02010600040101010101" pitchFamily="2" charset="-122"/>
                <a:ea typeface="华文楷体" panose="02010600040101010101" pitchFamily="2" charset="-122"/>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nSpc>
                <a:spcPts val="4300"/>
              </a:lnSpc>
              <a:buNone/>
            </a:pPr>
            <a:r>
              <a:rPr lang="en-US" altLang="zh-CN" sz="2400" kern="0" dirty="0">
                <a:latin typeface="微软雅黑 Light" panose="020B0502040204020203" pitchFamily="34" charset="-122"/>
                <a:ea typeface="微软雅黑 Light" panose="020B0502040204020203" pitchFamily="34" charset="-122"/>
              </a:rPr>
              <a:t>§5.4.1 </a:t>
            </a:r>
            <a:r>
              <a:rPr lang="zh-CN" altLang="en-US" sz="2400" kern="0" dirty="0">
                <a:latin typeface="微软雅黑 Light" panose="020B0502040204020203" pitchFamily="34" charset="-122"/>
                <a:ea typeface="微软雅黑 Light" panose="020B0502040204020203" pitchFamily="34" charset="-122"/>
              </a:rPr>
              <a:t>插值原理及特点</a:t>
            </a:r>
            <a:endParaRPr lang="en-US" altLang="zh-CN" sz="2400" kern="0" dirty="0">
              <a:latin typeface="微软雅黑 Light" panose="020B0502040204020203" pitchFamily="34" charset="-122"/>
              <a:ea typeface="微软雅黑 Light" panose="020B0502040204020203" pitchFamily="34" charset="-122"/>
            </a:endParaRPr>
          </a:p>
          <a:p>
            <a:pPr marL="0" indent="0">
              <a:lnSpc>
                <a:spcPts val="4300"/>
              </a:lnSpc>
              <a:buNone/>
            </a:pPr>
            <a:r>
              <a:rPr lang="en-US" altLang="zh-CN" sz="2400" kern="0" dirty="0">
                <a:latin typeface="微软雅黑 Light" panose="020B0502040204020203" pitchFamily="34" charset="-122"/>
                <a:ea typeface="微软雅黑 Light" panose="020B0502040204020203" pitchFamily="34" charset="-122"/>
              </a:rPr>
              <a:t>§5.4.2 </a:t>
            </a:r>
            <a:r>
              <a:rPr lang="zh-CN" altLang="en-US" sz="2400" kern="0" dirty="0">
                <a:latin typeface="微软雅黑 Light" panose="020B0502040204020203" pitchFamily="34" charset="-122"/>
                <a:ea typeface="微软雅黑 Light" panose="020B0502040204020203" pitchFamily="34" charset="-122"/>
              </a:rPr>
              <a:t>一维多项式插值</a:t>
            </a:r>
            <a:r>
              <a:rPr lang="en-US" altLang="zh-CN" sz="2400" kern="0" dirty="0">
                <a:latin typeface="微软雅黑 Light" panose="020B0502040204020203" pitchFamily="34" charset="-122"/>
                <a:ea typeface="微软雅黑 Light" panose="020B0502040204020203" pitchFamily="34" charset="-122"/>
              </a:rPr>
              <a:t>interp1/spline </a:t>
            </a:r>
          </a:p>
          <a:p>
            <a:pPr marL="0" indent="0">
              <a:lnSpc>
                <a:spcPts val="4300"/>
              </a:lnSpc>
              <a:buNone/>
            </a:pPr>
            <a:r>
              <a:rPr lang="en-US" altLang="zh-CN" sz="2400" kern="0" dirty="0">
                <a:latin typeface="微软雅黑 Light" panose="020B0502040204020203" pitchFamily="34" charset="-122"/>
                <a:ea typeface="微软雅黑 Light" panose="020B0502040204020203" pitchFamily="34" charset="-122"/>
              </a:rPr>
              <a:t>§5.4.3 </a:t>
            </a:r>
            <a:r>
              <a:rPr lang="zh-CN" altLang="en-US" sz="2400" kern="0" dirty="0">
                <a:latin typeface="微软雅黑 Light" panose="020B0502040204020203" pitchFamily="34" charset="-122"/>
                <a:ea typeface="微软雅黑 Light" panose="020B0502040204020203" pitchFamily="34" charset="-122"/>
              </a:rPr>
              <a:t>插值和曲线拟合的区别</a:t>
            </a:r>
            <a:endParaRPr lang="en-US" altLang="zh-CN" sz="2400" kern="0" dirty="0">
              <a:latin typeface="微软雅黑 Light" panose="020B0502040204020203" pitchFamily="34" charset="-122"/>
              <a:ea typeface="微软雅黑 Light" panose="020B0502040204020203" pitchFamily="34" charset="-122"/>
            </a:endParaRPr>
          </a:p>
          <a:p>
            <a:pPr marL="0" indent="0">
              <a:lnSpc>
                <a:spcPts val="4300"/>
              </a:lnSpc>
              <a:buNone/>
            </a:pPr>
            <a:r>
              <a:rPr lang="en-US" altLang="zh-CN" sz="2400" kern="0" dirty="0">
                <a:latin typeface="微软雅黑 Light" panose="020B0502040204020203" pitchFamily="34" charset="-122"/>
                <a:ea typeface="微软雅黑 Light" panose="020B0502040204020203" pitchFamily="34" charset="-122"/>
              </a:rPr>
              <a:t>§5.4.4 </a:t>
            </a:r>
            <a:r>
              <a:rPr lang="zh-CN" altLang="en-US" sz="2400" kern="0" dirty="0">
                <a:latin typeface="微软雅黑 Light" panose="020B0502040204020203" pitchFamily="34" charset="-122"/>
                <a:ea typeface="微软雅黑 Light" panose="020B0502040204020203" pitchFamily="34" charset="-122"/>
              </a:rPr>
              <a:t>二维网格插值</a:t>
            </a:r>
            <a:r>
              <a:rPr lang="en-US" altLang="zh-CN" sz="2400" kern="0" dirty="0">
                <a:latin typeface="微软雅黑 Light" panose="020B0502040204020203" pitchFamily="34" charset="-122"/>
                <a:ea typeface="微软雅黑 Light" panose="020B0502040204020203" pitchFamily="34" charset="-122"/>
              </a:rPr>
              <a:t>interp2</a:t>
            </a:r>
          </a:p>
        </p:txBody>
      </p:sp>
      <p:sp>
        <p:nvSpPr>
          <p:cNvPr id="5" name="标题 4"/>
          <p:cNvSpPr txBox="1"/>
          <p:nvPr/>
        </p:nvSpPr>
        <p:spPr bwMode="auto">
          <a:xfrm>
            <a:off x="689829" y="126054"/>
            <a:ext cx="2710999" cy="520592"/>
          </a:xfrm>
          <a:prstGeom prst="rect">
            <a:avLst/>
          </a:prstGeom>
          <a:solidFill>
            <a:schemeClr val="bg1"/>
          </a:solidFill>
          <a:ln w="9525">
            <a:noFill/>
            <a:miter lim="800000"/>
          </a:ln>
        </p:spPr>
        <p:txBody>
          <a:bodyPr vert="horz" wrap="none" lIns="91440" tIns="45720" rIns="91440" bIns="45720" numCol="1" anchor="b" anchorCtr="0" compatLnSpc="1">
            <a:sp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§5.4</a:t>
            </a:r>
            <a:r>
              <a:rPr lang="zh-CN" altLang="en-US" kern="0" dirty="0"/>
              <a:t>数值</a:t>
            </a:r>
            <a:r>
              <a:rPr lang="en-US" altLang="ko-KR" kern="0" dirty="0" err="1"/>
              <a:t>插值</a:t>
            </a:r>
            <a:endParaRPr lang="zh-CN" altLang="en-US" kern="0" dirty="0"/>
          </a:p>
        </p:txBody>
      </p:sp>
      <p:sp>
        <p:nvSpPr>
          <p:cNvPr id="6" name="矩形 5"/>
          <p:cNvSpPr/>
          <p:nvPr/>
        </p:nvSpPr>
        <p:spPr>
          <a:xfrm>
            <a:off x="3400828" y="192824"/>
            <a:ext cx="5508941" cy="400110"/>
          </a:xfrm>
          <a:prstGeom prst="rect">
            <a:avLst/>
          </a:prstGeom>
          <a:noFill/>
          <a:ln w="0">
            <a:noFill/>
          </a:ln>
          <a:effectLst/>
          <a:scene3d>
            <a:camera prst="orthographicFront"/>
            <a:lightRig rig="soft" dir="t"/>
          </a:scene3d>
          <a:sp3d contourW="44450" prstMaterial="matte">
            <a:bevelT w="63500" h="63500" prst="angle"/>
            <a:contourClr>
              <a:srgbClr val="FFFFFF"/>
            </a:contourClr>
          </a:sp3d>
        </p:spPr>
        <p:txBody>
          <a:bodyPr vert="horz" wrap="square" lIns="91440" tIns="45720" rIns="91440" bIns="45720" numCol="1" anchor="t">
            <a:spAutoFit/>
          </a:bodyPr>
          <a:lstStyle/>
          <a:p>
            <a:pPr algn="dist" eaLnBrk="0">
              <a:spcBef>
                <a:spcPts val="0"/>
              </a:spcBef>
              <a:spcAft>
                <a:spcPts val="0"/>
              </a:spcAft>
            </a:pPr>
            <a:r>
              <a:rPr lang="en-US" altLang="ko-KR" sz="2000" dirty="0" err="1">
                <a:solidFill>
                  <a:srgbClr val="0070C0"/>
                </a:solidFill>
                <a:latin typeface="微软雅黑" panose="020B0503020204020204" pitchFamily="34" charset="-122"/>
                <a:ea typeface="微软雅黑" panose="020B0503020204020204" pitchFamily="34" charset="-122"/>
              </a:rPr>
              <a:t>根据已知数据点推算</a:t>
            </a:r>
            <a:r>
              <a:rPr lang="zh-CN" altLang="en-US" sz="2000" dirty="0">
                <a:solidFill>
                  <a:srgbClr val="0070C0"/>
                </a:solidFill>
                <a:latin typeface="微软雅黑" panose="020B0503020204020204" pitchFamily="34" charset="-122"/>
                <a:ea typeface="微软雅黑" panose="020B0503020204020204" pitchFamily="34" charset="-122"/>
              </a:rPr>
              <a:t>出</a:t>
            </a:r>
            <a:r>
              <a:rPr lang="en-US" altLang="ko-KR" sz="2000" dirty="0" err="1">
                <a:solidFill>
                  <a:srgbClr val="0070C0"/>
                </a:solidFill>
                <a:latin typeface="微软雅黑" panose="020B0503020204020204" pitchFamily="34" charset="-122"/>
                <a:ea typeface="微软雅黑" panose="020B0503020204020204" pitchFamily="34" charset="-122"/>
              </a:rPr>
              <a:t>未知</a:t>
            </a:r>
            <a:r>
              <a:rPr lang="zh-CN" altLang="en-US" sz="2000" dirty="0">
                <a:solidFill>
                  <a:srgbClr val="0070C0"/>
                </a:solidFill>
                <a:latin typeface="微软雅黑" panose="020B0503020204020204" pitchFamily="34" charset="-122"/>
                <a:ea typeface="微软雅黑" panose="020B0503020204020204" pitchFamily="34" charset="-122"/>
              </a:rPr>
              <a:t>数据点</a:t>
            </a:r>
            <a:r>
              <a:rPr lang="en-US" altLang="ko-KR" sz="2000" dirty="0">
                <a:solidFill>
                  <a:srgbClr val="0070C0"/>
                </a:solidFill>
                <a:latin typeface="微软雅黑" panose="020B0503020204020204" pitchFamily="34" charset="-122"/>
                <a:ea typeface="微软雅黑" panose="020B0503020204020204" pitchFamily="34" charset="-122"/>
              </a:rPr>
              <a:t>值</a:t>
            </a:r>
            <a:endParaRPr lang="ko-KR" altLang="en-US" sz="2000" dirty="0">
              <a:solidFill>
                <a:srgbClr val="0070C0"/>
              </a:solidFill>
              <a:latin typeface="微软雅黑" panose="020B0503020204020204" pitchFamily="34" charset="-122"/>
            </a:endParaRPr>
          </a:p>
        </p:txBody>
      </p:sp>
      <p:sp>
        <p:nvSpPr>
          <p:cNvPr id="7" name="矩形 6"/>
          <p:cNvSpPr/>
          <p:nvPr/>
        </p:nvSpPr>
        <p:spPr>
          <a:xfrm>
            <a:off x="179512" y="3838277"/>
            <a:ext cx="8823638" cy="781752"/>
          </a:xfrm>
          <a:prstGeom prst="rect">
            <a:avLst/>
          </a:prstGeom>
          <a:solidFill>
            <a:schemeClr val="bg1"/>
          </a:solidFill>
        </p:spPr>
        <p:txBody>
          <a:bodyPr wrap="square">
            <a:spAutoFit/>
          </a:bodyPr>
          <a:lstStyle/>
          <a:p>
            <a:pPr>
              <a:lnSpc>
                <a:spcPts val="2800"/>
              </a:lnSpc>
            </a:pPr>
            <a:r>
              <a:rPr lang="zh-CN" altLang="en-US" sz="2000" dirty="0">
                <a:solidFill>
                  <a:srgbClr val="00B0F0"/>
                </a:solidFill>
                <a:latin typeface="微软雅黑" panose="020B0503020204020204" pitchFamily="34" charset="-122"/>
                <a:ea typeface="微软雅黑" panose="020B0503020204020204" pitchFamily="34" charset="-122"/>
              </a:rPr>
              <a:t>          插值用于许多领域，如气象学、测绘学和医学成像</a:t>
            </a:r>
            <a:r>
              <a:rPr lang="en-US" altLang="zh-CN" sz="2000" dirty="0">
                <a:solidFill>
                  <a:srgbClr val="00B0F0"/>
                </a:solidFill>
                <a:latin typeface="微软雅黑" panose="020B0503020204020204" pitchFamily="34" charset="-122"/>
                <a:ea typeface="微软雅黑" panose="020B0503020204020204" pitchFamily="34" charset="-122"/>
              </a:rPr>
              <a:t>(</a:t>
            </a:r>
            <a:r>
              <a:rPr lang="zh-CN" altLang="en-US" sz="2000" dirty="0">
                <a:solidFill>
                  <a:srgbClr val="000000"/>
                </a:solidFill>
                <a:latin typeface="宋体" panose="02010600030101010101" pitchFamily="2" charset="-122"/>
                <a:ea typeface="宋体" panose="02010600030101010101" pitchFamily="2" charset="-122"/>
              </a:rPr>
              <a:t>提高低剂量</a:t>
            </a:r>
            <a:r>
              <a:rPr lang="en-US" altLang="zh-CN" sz="2000" dirty="0">
                <a:solidFill>
                  <a:srgbClr val="000000"/>
                </a:solidFill>
                <a:latin typeface="宋体" panose="02010600030101010101" pitchFamily="2" charset="-122"/>
                <a:ea typeface="宋体" panose="02010600030101010101" pitchFamily="2" charset="-122"/>
              </a:rPr>
              <a:t>CT</a:t>
            </a:r>
            <a:r>
              <a:rPr lang="zh-CN" altLang="en-US" sz="2000" dirty="0">
                <a:solidFill>
                  <a:srgbClr val="000000"/>
                </a:solidFill>
                <a:latin typeface="宋体" panose="02010600030101010101" pitchFamily="2" charset="-122"/>
                <a:ea typeface="宋体" panose="02010600030101010101" pitchFamily="2" charset="-122"/>
              </a:rPr>
              <a:t>图像</a:t>
            </a:r>
            <a:r>
              <a:rPr lang="en-US" altLang="zh-CN" sz="2000" dirty="0">
                <a:solidFill>
                  <a:srgbClr val="00B0F0"/>
                </a:solidFill>
                <a:latin typeface="微软雅黑" panose="020B0503020204020204" pitchFamily="34" charset="-122"/>
                <a:ea typeface="微软雅黑" panose="020B0503020204020204" pitchFamily="34" charset="-122"/>
              </a:rPr>
              <a:t>)</a:t>
            </a:r>
            <a:r>
              <a:rPr lang="zh-CN" altLang="en-US" sz="2000" dirty="0">
                <a:solidFill>
                  <a:srgbClr val="00B0F0"/>
                </a:solidFill>
                <a:latin typeface="微软雅黑" panose="020B0503020204020204" pitchFamily="34" charset="-122"/>
                <a:ea typeface="微软雅黑" panose="020B0503020204020204" pitchFamily="34" charset="-122"/>
              </a:rPr>
              <a:t>。在这些领域，经常以固定空间间隔取测量值，且可能随时间进行测量。</a:t>
            </a:r>
          </a:p>
        </p:txBody>
      </p:sp>
      <p:sp>
        <p:nvSpPr>
          <p:cNvPr id="8" name="矩形 7"/>
          <p:cNvSpPr/>
          <p:nvPr/>
        </p:nvSpPr>
        <p:spPr>
          <a:xfrm>
            <a:off x="183018" y="3821885"/>
            <a:ext cx="933501" cy="461665"/>
          </a:xfrm>
          <a:prstGeom prst="rect">
            <a:avLst/>
          </a:prstGeom>
        </p:spPr>
        <p:txBody>
          <a:bodyPr wrap="square">
            <a:spAutoFit/>
          </a:bodyPr>
          <a:lstStyle/>
          <a:p>
            <a:r>
              <a:rPr lang="zh-CN" altLang="en-US" sz="2400" dirty="0">
                <a:solidFill>
                  <a:srgbClr val="0070C0"/>
                </a:solidFill>
                <a:latin typeface="微软雅黑" panose="020B0503020204020204" pitchFamily="34" charset="-122"/>
                <a:ea typeface="微软雅黑" panose="020B0503020204020204" pitchFamily="34" charset="-122"/>
              </a:rPr>
              <a:t>应用  </a:t>
            </a:r>
          </a:p>
        </p:txBody>
      </p:sp>
      <p:sp>
        <p:nvSpPr>
          <p:cNvPr id="9" name="文本框 8"/>
          <p:cNvSpPr txBox="1"/>
          <p:nvPr/>
        </p:nvSpPr>
        <p:spPr>
          <a:xfrm>
            <a:off x="255508" y="754165"/>
            <a:ext cx="8780988" cy="323165"/>
          </a:xfrm>
          <a:prstGeom prst="rect">
            <a:avLst/>
          </a:prstGeom>
          <a:solidFill>
            <a:srgbClr val="0070C0"/>
          </a:solidFill>
          <a:effectLst/>
        </p:spPr>
        <p:txBody>
          <a:bodyPr wrap="square">
            <a:spAutoFit/>
          </a:bodyPr>
          <a:lstStyle/>
          <a:p>
            <a:pPr algn="dist"/>
            <a:r>
              <a:rPr lang="zh-CN" altLang="en-US" sz="1500" i="0" dirty="0">
                <a:solidFill>
                  <a:schemeClr val="bg1"/>
                </a:solidFill>
                <a:effectLst/>
                <a:latin typeface="微软雅黑" panose="020B0503020204020204" pitchFamily="34" charset="-122"/>
                <a:ea typeface="微软雅黑" panose="020B0503020204020204" pitchFamily="34" charset="-122"/>
              </a:rPr>
              <a:t>数据量太</a:t>
            </a:r>
            <a:r>
              <a:rPr lang="zh-CN" altLang="en-US" sz="1500" dirty="0">
                <a:solidFill>
                  <a:schemeClr val="bg1"/>
                </a:solidFill>
                <a:latin typeface="微软雅黑" panose="020B0503020204020204" pitchFamily="34" charset="-122"/>
                <a:ea typeface="微软雅黑" panose="020B0503020204020204" pitchFamily="34" charset="-122"/>
              </a:rPr>
              <a:t>少</a:t>
            </a:r>
            <a:r>
              <a:rPr lang="zh-CN" altLang="en-US" sz="1500" b="1" dirty="0">
                <a:solidFill>
                  <a:srgbClr val="FFFF00"/>
                </a:solidFill>
                <a:latin typeface="楷体_GB2312" charset="0"/>
                <a:ea typeface="楷体_GB2312" charset="0"/>
              </a:rPr>
              <a:t>或缺失</a:t>
            </a:r>
            <a:r>
              <a:rPr lang="zh-CN" altLang="en-US" sz="1500" i="0" dirty="0">
                <a:solidFill>
                  <a:schemeClr val="bg1"/>
                </a:solidFill>
                <a:effectLst/>
                <a:latin typeface="微软雅黑" panose="020B0503020204020204" pitchFamily="34" charset="-122"/>
                <a:ea typeface="微软雅黑" panose="020B0503020204020204" pitchFamily="34" charset="-122"/>
              </a:rPr>
              <a:t>，</a:t>
            </a:r>
            <a:r>
              <a:rPr lang="zh-CN" altLang="en-US" sz="1500" dirty="0">
                <a:solidFill>
                  <a:schemeClr val="bg1"/>
                </a:solidFill>
                <a:latin typeface="微软雅黑" panose="020B0503020204020204" pitchFamily="34" charset="-122"/>
                <a:ea typeface="微软雅黑" panose="020B0503020204020204" pitchFamily="34" charset="-122"/>
              </a:rPr>
              <a:t>如机器学习、深度学习用插值法得到更多样本值</a:t>
            </a:r>
            <a:r>
              <a:rPr lang="en-US" altLang="zh-CN" sz="1500" dirty="0">
                <a:solidFill>
                  <a:schemeClr val="bg1"/>
                </a:solidFill>
                <a:latin typeface="微软雅黑" panose="020B0503020204020204" pitchFamily="34" charset="-122"/>
                <a:ea typeface="微软雅黑" panose="020B0503020204020204" pitchFamily="34" charset="-122"/>
              </a:rPr>
              <a:t>,</a:t>
            </a:r>
            <a:r>
              <a:rPr lang="zh-CN" altLang="en-US" sz="1500" dirty="0">
                <a:solidFill>
                  <a:schemeClr val="bg1"/>
                </a:solidFill>
                <a:latin typeface="微软雅黑" panose="020B0503020204020204" pitchFamily="34" charset="-122"/>
                <a:ea typeface="微软雅黑" panose="020B0503020204020204" pitchFamily="34" charset="-122"/>
              </a:rPr>
              <a:t>则增</a:t>
            </a:r>
            <a:r>
              <a:rPr lang="zh-CN" altLang="en-US" sz="1500" i="0" dirty="0">
                <a:solidFill>
                  <a:schemeClr val="bg1"/>
                </a:solidFill>
                <a:effectLst/>
                <a:latin typeface="微软雅黑" panose="020B0503020204020204" pitchFamily="34" charset="-122"/>
                <a:ea typeface="微软雅黑" panose="020B0503020204020204" pitchFamily="34" charset="-122"/>
              </a:rPr>
              <a:t>加数据量提升算法执行效果</a:t>
            </a:r>
            <a:endParaRPr lang="zh-CN" altLang="en-US" sz="1500" dirty="0">
              <a:solidFill>
                <a:schemeClr val="bg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5148064" y="1158976"/>
            <a:ext cx="4098831" cy="400110"/>
          </a:xfrm>
          <a:prstGeom prst="rect">
            <a:avLst/>
          </a:prstGeom>
          <a:noFill/>
        </p:spPr>
        <p:txBody>
          <a:bodyPr wrap="square">
            <a:spAutoFit/>
          </a:bodyPr>
          <a:lstStyle/>
          <a:p>
            <a:r>
              <a:rPr lang="zh-CN" altLang="en-US" sz="2000" dirty="0">
                <a:solidFill>
                  <a:srgbClr val="00B0F0"/>
                </a:solidFill>
                <a:latin typeface="微软雅黑" panose="020B0503020204020204" pitchFamily="34" charset="-122"/>
                <a:ea typeface="微软雅黑" panose="020B0503020204020204" pitchFamily="34" charset="-122"/>
              </a:rPr>
              <a:t>插值对于重建不完整或缺失的数据</a:t>
            </a:r>
          </a:p>
        </p:txBody>
      </p:sp>
      <p:pic>
        <p:nvPicPr>
          <p:cNvPr id="13" name="图片 12"/>
          <p:cNvPicPr>
            <a:picLocks noChangeAspect="1"/>
          </p:cNvPicPr>
          <p:nvPr/>
        </p:nvPicPr>
        <p:blipFill>
          <a:blip r:embed="rId3"/>
          <a:stretch>
            <a:fillRect/>
          </a:stretch>
        </p:blipFill>
        <p:spPr>
          <a:xfrm>
            <a:off x="5744228" y="1581277"/>
            <a:ext cx="3049261" cy="2163099"/>
          </a:xfrm>
          <a:prstGeom prst="rect">
            <a:avLst/>
          </a:prstGeom>
        </p:spPr>
      </p:pic>
      <p:sp>
        <p:nvSpPr>
          <p:cNvPr id="16" name="文本框 15"/>
          <p:cNvSpPr txBox="1"/>
          <p:nvPr/>
        </p:nvSpPr>
        <p:spPr>
          <a:xfrm>
            <a:off x="5998774" y="3075806"/>
            <a:ext cx="3004376" cy="369332"/>
          </a:xfrm>
          <a:prstGeom prst="rect">
            <a:avLst/>
          </a:prstGeom>
          <a:noFill/>
        </p:spPr>
        <p:txBody>
          <a:bodyPr wrap="square">
            <a:spAutoFit/>
          </a:bodyPr>
          <a:lstStyle/>
          <a:p>
            <a:pPr algn="l" fontAlgn="b"/>
            <a:endParaRPr lang="zh-CN" altLang="en-US" b="1" dirty="0">
              <a:solidFill>
                <a:srgbClr val="FF0000"/>
              </a:solidFill>
              <a:effectLst/>
              <a:latin typeface="Arial" panose="020B0604020202020204" pitchFamily="34" charset="0"/>
            </a:endParaRPr>
          </a:p>
        </p:txBody>
      </p:sp>
      <p:pic>
        <p:nvPicPr>
          <p:cNvPr id="17" name="图片 16"/>
          <p:cNvPicPr>
            <a:picLocks noChangeAspect="1"/>
          </p:cNvPicPr>
          <p:nvPr/>
        </p:nvPicPr>
        <p:blipFill rotWithShape="1">
          <a:blip r:embed="rId4">
            <a:extLst>
              <a:ext uri="{BEBA8EAE-BF5A-486C-A8C5-ECC9F3942E4B}">
                <a14:imgProps xmlns:a14="http://schemas.microsoft.com/office/drawing/2010/main">
                  <a14:imgLayer r:embed="rId5">
                    <a14:imgEffect>
                      <a14:backgroundRemoval t="20427" b="85291" l="14549" r="83161"/>
                    </a14:imgEffect>
                  </a14:imgLayer>
                </a14:imgProps>
              </a:ext>
            </a:extLst>
          </a:blip>
          <a:srcRect l="5973" t="12319" r="8263" b="6601"/>
          <a:stretch>
            <a:fillRect/>
          </a:stretch>
        </p:blipFill>
        <p:spPr>
          <a:xfrm>
            <a:off x="3977583" y="1851771"/>
            <a:ext cx="2914689" cy="1732644"/>
          </a:xfrm>
          <a:prstGeom prst="ellipse">
            <a:avLst/>
          </a:prstGeom>
          <a:ln>
            <a:noFill/>
          </a:ln>
          <a:effectLst>
            <a:softEdge rad="112500"/>
          </a:effectLst>
        </p:spPr>
      </p:pic>
      <p:pic>
        <p:nvPicPr>
          <p:cNvPr id="38916" name="Picture 4"/>
          <p:cNvPicPr>
            <a:picLocks noChangeAspect="1" noChangeArrowheads="1"/>
          </p:cNvPicPr>
          <p:nvPr/>
        </p:nvPicPr>
        <p:blipFill rotWithShape="1">
          <a:blip r:embed="rId6">
            <a:extLst>
              <a:ext uri="{28A0092B-C50C-407E-A947-70E740481C1C}">
                <a14:useLocalDpi xmlns:a14="http://schemas.microsoft.com/office/drawing/2010/main" val="0"/>
              </a:ext>
            </a:extLst>
          </a:blip>
          <a:srcRect l="67685" t="69335" r="1473" b="4374"/>
          <a:stretch>
            <a:fillRect/>
          </a:stretch>
        </p:blipFill>
        <p:spPr bwMode="auto">
          <a:xfrm>
            <a:off x="8036172" y="2838832"/>
            <a:ext cx="928958" cy="959113"/>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F7875256-EE12-4EA1-8AB3-B346F1F9D7B4}"/>
              </a:ext>
            </a:extLst>
          </p:cNvPr>
          <p:cNvSpPr txBox="1"/>
          <p:nvPr/>
        </p:nvSpPr>
        <p:spPr>
          <a:xfrm>
            <a:off x="255508" y="1121560"/>
            <a:ext cx="2592930" cy="400110"/>
          </a:xfrm>
          <a:prstGeom prst="rect">
            <a:avLst/>
          </a:prstGeom>
          <a:noFill/>
        </p:spPr>
        <p:txBody>
          <a:bodyPr wrap="square">
            <a:spAutoFit/>
          </a:bodyPr>
          <a:lstStyle/>
          <a:p>
            <a:r>
              <a:rPr lang="en-US" altLang="zh-CN" sz="2000" b="1" i="0" dirty="0" err="1">
                <a:solidFill>
                  <a:srgbClr val="FF0000"/>
                </a:solidFill>
                <a:effectLst/>
                <a:latin typeface="微软雅黑" panose="020B0503020204020204" pitchFamily="34" charset="-122"/>
                <a:ea typeface="微软雅黑" panose="020B0503020204020204" pitchFamily="34" charset="-122"/>
              </a:rPr>
              <a:t>TyMath</a:t>
            </a:r>
            <a:r>
              <a:rPr lang="zh-CN" altLang="en-US" sz="2000" b="1" dirty="0">
                <a:solidFill>
                  <a:srgbClr val="FF0000"/>
                </a:solidFill>
                <a:latin typeface="微软雅黑" panose="020B0503020204020204" pitchFamily="34" charset="-122"/>
                <a:ea typeface="微软雅黑" panose="020B0503020204020204" pitchFamily="34" charset="-122"/>
              </a:rPr>
              <a:t>函数库</a:t>
            </a:r>
            <a:endParaRPr lang="en-US" altLang="zh-CN" sz="2000" b="1" i="0" dirty="0">
              <a:solidFill>
                <a:srgbClr val="FF0000"/>
              </a:solidFill>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A18B9ABF-4618-4D66-89AB-0EB85F4CF30C}"/>
              </a:ext>
            </a:extLst>
          </p:cNvPr>
          <p:cNvSpPr txBox="1"/>
          <p:nvPr/>
        </p:nvSpPr>
        <p:spPr bwMode="auto">
          <a:xfrm>
            <a:off x="611560" y="114656"/>
            <a:ext cx="2710999" cy="520592"/>
          </a:xfrm>
          <a:prstGeom prst="rect">
            <a:avLst/>
          </a:prstGeom>
          <a:solidFill>
            <a:schemeClr val="bg1"/>
          </a:solidFill>
          <a:ln w="9525">
            <a:noFill/>
            <a:miter lim="800000"/>
          </a:ln>
        </p:spPr>
        <p:txBody>
          <a:bodyPr vert="horz" wrap="none" lIns="91440" tIns="45720" rIns="91440" bIns="45720" numCol="1" anchor="b" anchorCtr="0" compatLnSpc="1">
            <a:spAutoFit/>
          </a:bodyPr>
          <a:lstStyle>
            <a:lvl1pPr algn="l" rtl="0" eaLnBrk="0" fontAlgn="base" hangingPunct="0">
              <a:lnSpc>
                <a:spcPct val="85000"/>
              </a:lnSpc>
              <a:spcBef>
                <a:spcPct val="0"/>
              </a:spcBef>
              <a:spcAft>
                <a:spcPct val="0"/>
              </a:spcAft>
              <a:defRPr sz="3200" b="0">
                <a:solidFill>
                  <a:srgbClr val="002060"/>
                </a:solidFill>
                <a:latin typeface="华文楷体" panose="02010600040101010101" pitchFamily="2" charset="-122"/>
                <a:ea typeface="华文楷体" panose="02010600040101010101" pitchFamily="2" charset="-122"/>
                <a:cs typeface="+mj-cs"/>
              </a:defRPr>
            </a:lvl1pPr>
            <a:lvl2pPr algn="l" rtl="0" eaLnBrk="0" fontAlgn="base" hangingPunct="0">
              <a:lnSpc>
                <a:spcPct val="85000"/>
              </a:lnSpc>
              <a:spcBef>
                <a:spcPct val="0"/>
              </a:spcBef>
              <a:spcAft>
                <a:spcPct val="0"/>
              </a:spcAft>
              <a:defRPr sz="3400" b="1">
                <a:solidFill>
                  <a:srgbClr val="002E5C"/>
                </a:solidFill>
                <a:latin typeface="Helvetica" pitchFamily="34" charset="0"/>
              </a:defRPr>
            </a:lvl2pPr>
            <a:lvl3pPr algn="l" rtl="0" eaLnBrk="0" fontAlgn="base" hangingPunct="0">
              <a:lnSpc>
                <a:spcPct val="85000"/>
              </a:lnSpc>
              <a:spcBef>
                <a:spcPct val="0"/>
              </a:spcBef>
              <a:spcAft>
                <a:spcPct val="0"/>
              </a:spcAft>
              <a:defRPr sz="3400" b="1">
                <a:solidFill>
                  <a:srgbClr val="002E5C"/>
                </a:solidFill>
                <a:latin typeface="Helvetica" pitchFamily="34" charset="0"/>
              </a:defRPr>
            </a:lvl3pPr>
            <a:lvl4pPr algn="l" rtl="0" eaLnBrk="0" fontAlgn="base" hangingPunct="0">
              <a:lnSpc>
                <a:spcPct val="85000"/>
              </a:lnSpc>
              <a:spcBef>
                <a:spcPct val="0"/>
              </a:spcBef>
              <a:spcAft>
                <a:spcPct val="0"/>
              </a:spcAft>
              <a:defRPr sz="3400" b="1">
                <a:solidFill>
                  <a:srgbClr val="002E5C"/>
                </a:solidFill>
                <a:latin typeface="Helvetica" pitchFamily="34" charset="0"/>
              </a:defRPr>
            </a:lvl4pPr>
            <a:lvl5pPr algn="l" rtl="0" eaLnBrk="0" fontAlgn="base" hangingPunct="0">
              <a:lnSpc>
                <a:spcPct val="85000"/>
              </a:lnSpc>
              <a:spcBef>
                <a:spcPct val="0"/>
              </a:spcBef>
              <a:spcAft>
                <a:spcPct val="0"/>
              </a:spcAft>
              <a:defRPr sz="3400" b="1">
                <a:solidFill>
                  <a:srgbClr val="002E5C"/>
                </a:solidFill>
                <a:latin typeface="Helvetica" pitchFamily="34" charset="0"/>
              </a:defRPr>
            </a:lvl5pPr>
            <a:lvl6pPr marL="457200" algn="l" rtl="0" eaLnBrk="1" fontAlgn="base" hangingPunct="1">
              <a:lnSpc>
                <a:spcPct val="85000"/>
              </a:lnSpc>
              <a:spcBef>
                <a:spcPct val="0"/>
              </a:spcBef>
              <a:spcAft>
                <a:spcPct val="0"/>
              </a:spcAft>
              <a:defRPr sz="3400" b="1">
                <a:solidFill>
                  <a:srgbClr val="002E5C"/>
                </a:solidFill>
                <a:latin typeface="Helvetica" pitchFamily="34" charset="0"/>
              </a:defRPr>
            </a:lvl6pPr>
            <a:lvl7pPr marL="914400" algn="l" rtl="0" eaLnBrk="1" fontAlgn="base" hangingPunct="1">
              <a:lnSpc>
                <a:spcPct val="85000"/>
              </a:lnSpc>
              <a:spcBef>
                <a:spcPct val="0"/>
              </a:spcBef>
              <a:spcAft>
                <a:spcPct val="0"/>
              </a:spcAft>
              <a:defRPr sz="3400" b="1">
                <a:solidFill>
                  <a:srgbClr val="002E5C"/>
                </a:solidFill>
                <a:latin typeface="Helvetica" pitchFamily="34" charset="0"/>
              </a:defRPr>
            </a:lvl7pPr>
            <a:lvl8pPr marL="1371600" algn="l" rtl="0" eaLnBrk="1" fontAlgn="base" hangingPunct="1">
              <a:lnSpc>
                <a:spcPct val="85000"/>
              </a:lnSpc>
              <a:spcBef>
                <a:spcPct val="0"/>
              </a:spcBef>
              <a:spcAft>
                <a:spcPct val="0"/>
              </a:spcAft>
              <a:defRPr sz="3400" b="1">
                <a:solidFill>
                  <a:srgbClr val="002E5C"/>
                </a:solidFill>
                <a:latin typeface="Helvetica" pitchFamily="34" charset="0"/>
              </a:defRPr>
            </a:lvl8pPr>
            <a:lvl9pPr marL="1828800" algn="l" rtl="0" eaLnBrk="1" fontAlgn="base" hangingPunct="1">
              <a:lnSpc>
                <a:spcPct val="85000"/>
              </a:lnSpc>
              <a:spcBef>
                <a:spcPct val="0"/>
              </a:spcBef>
              <a:spcAft>
                <a:spcPct val="0"/>
              </a:spcAft>
              <a:defRPr sz="3400" b="1">
                <a:solidFill>
                  <a:srgbClr val="002E5C"/>
                </a:solidFill>
                <a:latin typeface="Helvetica" pitchFamily="34" charset="0"/>
              </a:defRPr>
            </a:lvl9pPr>
          </a:lstStyle>
          <a:p>
            <a:r>
              <a:rPr lang="en-US" altLang="zh-CN" kern="0" dirty="0"/>
              <a:t>§5.4</a:t>
            </a:r>
            <a:r>
              <a:rPr lang="zh-CN" altLang="en-US" kern="0" dirty="0"/>
              <a:t>数值</a:t>
            </a:r>
            <a:r>
              <a:rPr lang="en-US" altLang="ko-KR" kern="0" dirty="0" err="1"/>
              <a:t>插值</a:t>
            </a:r>
            <a:endParaRPr lang="zh-CN" altLang="en-US" kern="0" dirty="0"/>
          </a:p>
        </p:txBody>
      </p:sp>
      <p:sp>
        <p:nvSpPr>
          <p:cNvPr id="6" name="矩形 5">
            <a:extLst>
              <a:ext uri="{FF2B5EF4-FFF2-40B4-BE49-F238E27FC236}">
                <a16:creationId xmlns:a16="http://schemas.microsoft.com/office/drawing/2014/main" id="{43CF79C8-41F4-4382-A30F-C765B4F9CEF5}"/>
              </a:ext>
            </a:extLst>
          </p:cNvPr>
          <p:cNvSpPr/>
          <p:nvPr/>
        </p:nvSpPr>
        <p:spPr>
          <a:xfrm>
            <a:off x="3400828" y="192824"/>
            <a:ext cx="5508941" cy="400110"/>
          </a:xfrm>
          <a:prstGeom prst="rect">
            <a:avLst/>
          </a:prstGeom>
          <a:noFill/>
          <a:ln w="0">
            <a:noFill/>
          </a:ln>
          <a:effectLst/>
          <a:scene3d>
            <a:camera prst="orthographicFront"/>
            <a:lightRig rig="soft" dir="t"/>
          </a:scene3d>
          <a:sp3d contourW="44450" prstMaterial="matte">
            <a:bevelT w="63500" h="63500" prst="angle"/>
            <a:contourClr>
              <a:srgbClr val="FFFFFF"/>
            </a:contourClr>
          </a:sp3d>
        </p:spPr>
        <p:txBody>
          <a:bodyPr vert="horz" wrap="square" lIns="91440" tIns="45720" rIns="91440" bIns="45720" numCol="1" anchor="t">
            <a:spAutoFit/>
          </a:bodyPr>
          <a:lstStyle/>
          <a:p>
            <a:pPr algn="dist" eaLnBrk="0">
              <a:spcBef>
                <a:spcPts val="0"/>
              </a:spcBef>
              <a:spcAft>
                <a:spcPts val="0"/>
              </a:spcAft>
            </a:pPr>
            <a:r>
              <a:rPr lang="en-US" altLang="ko-KR" sz="2000" dirty="0" err="1">
                <a:solidFill>
                  <a:srgbClr val="0070C0"/>
                </a:solidFill>
                <a:latin typeface="微软雅黑" panose="020B0503020204020204" pitchFamily="34" charset="-122"/>
                <a:ea typeface="微软雅黑" panose="020B0503020204020204" pitchFamily="34" charset="-122"/>
              </a:rPr>
              <a:t>根据已知数据点推算</a:t>
            </a:r>
            <a:r>
              <a:rPr lang="zh-CN" altLang="en-US" sz="2000" dirty="0">
                <a:solidFill>
                  <a:srgbClr val="0070C0"/>
                </a:solidFill>
                <a:latin typeface="微软雅黑" panose="020B0503020204020204" pitchFamily="34" charset="-122"/>
                <a:ea typeface="微软雅黑" panose="020B0503020204020204" pitchFamily="34" charset="-122"/>
              </a:rPr>
              <a:t>出</a:t>
            </a:r>
            <a:r>
              <a:rPr lang="en-US" altLang="ko-KR" sz="2000" dirty="0" err="1">
                <a:solidFill>
                  <a:srgbClr val="0070C0"/>
                </a:solidFill>
                <a:latin typeface="微软雅黑" panose="020B0503020204020204" pitchFamily="34" charset="-122"/>
                <a:ea typeface="微软雅黑" panose="020B0503020204020204" pitchFamily="34" charset="-122"/>
              </a:rPr>
              <a:t>未知</a:t>
            </a:r>
            <a:r>
              <a:rPr lang="zh-CN" altLang="en-US" sz="2000" dirty="0">
                <a:solidFill>
                  <a:srgbClr val="0070C0"/>
                </a:solidFill>
                <a:latin typeface="微软雅黑" panose="020B0503020204020204" pitchFamily="34" charset="-122"/>
                <a:ea typeface="微软雅黑" panose="020B0503020204020204" pitchFamily="34" charset="-122"/>
              </a:rPr>
              <a:t>数据点</a:t>
            </a:r>
            <a:r>
              <a:rPr lang="en-US" altLang="ko-KR" sz="2000" dirty="0">
                <a:solidFill>
                  <a:srgbClr val="0070C0"/>
                </a:solidFill>
                <a:latin typeface="微软雅黑" panose="020B0503020204020204" pitchFamily="34" charset="-122"/>
                <a:ea typeface="微软雅黑" panose="020B0503020204020204" pitchFamily="34" charset="-122"/>
              </a:rPr>
              <a:t>值</a:t>
            </a:r>
            <a:endParaRPr lang="ko-KR" altLang="en-US" sz="2000" dirty="0">
              <a:solidFill>
                <a:srgbClr val="0070C0"/>
              </a:solidFill>
              <a:latin typeface="微软雅黑" panose="020B0503020204020204" pitchFamily="34" charset="-122"/>
            </a:endParaRPr>
          </a:p>
        </p:txBody>
      </p:sp>
      <p:sp>
        <p:nvSpPr>
          <p:cNvPr id="7" name="文本框 6">
            <a:extLst>
              <a:ext uri="{FF2B5EF4-FFF2-40B4-BE49-F238E27FC236}">
                <a16:creationId xmlns:a16="http://schemas.microsoft.com/office/drawing/2014/main" id="{31323FDE-66EF-4EC0-A9C0-BCA0F9C79035}"/>
              </a:ext>
            </a:extLst>
          </p:cNvPr>
          <p:cNvSpPr txBox="1"/>
          <p:nvPr/>
        </p:nvSpPr>
        <p:spPr>
          <a:xfrm>
            <a:off x="70296" y="676409"/>
            <a:ext cx="8842007" cy="387735"/>
          </a:xfrm>
          <a:prstGeom prst="rect">
            <a:avLst/>
          </a:prstGeom>
          <a:solidFill>
            <a:schemeClr val="bg1"/>
          </a:solidFill>
        </p:spPr>
        <p:txBody>
          <a:bodyPr wrap="square">
            <a:spAutoFit/>
          </a:bodyPr>
          <a:lstStyle/>
          <a:p>
            <a:pPr algn="dist">
              <a:lnSpc>
                <a:spcPts val="2500"/>
              </a:lnSpc>
            </a:pPr>
            <a:r>
              <a:rPr lang="zh-CN" altLang="en-US" sz="1600" b="1" dirty="0">
                <a:solidFill>
                  <a:srgbClr val="0070C0"/>
                </a:solidFill>
                <a:latin typeface="微软雅黑" panose="020B0503020204020204" pitchFamily="34" charset="-122"/>
                <a:ea typeface="微软雅黑" panose="020B0503020204020204" pitchFamily="34" charset="-122"/>
              </a:rPr>
              <a:t>插值函数存在两个函数库：</a:t>
            </a:r>
            <a:r>
              <a:rPr lang="en-US" altLang="zh-CN" sz="1600" b="1" dirty="0" err="1">
                <a:solidFill>
                  <a:srgbClr val="0070C0"/>
                </a:solidFill>
                <a:latin typeface="微软雅黑" panose="020B0503020204020204" pitchFamily="34" charset="-122"/>
                <a:ea typeface="微软雅黑" panose="020B0503020204020204" pitchFamily="34" charset="-122"/>
              </a:rPr>
              <a:t>TyCurveFitting</a:t>
            </a:r>
            <a:r>
              <a:rPr lang="zh-CN" altLang="en-US" sz="1600" b="1" dirty="0">
                <a:solidFill>
                  <a:srgbClr val="0070C0"/>
                </a:solidFill>
                <a:latin typeface="微软雅黑" panose="020B0503020204020204" pitchFamily="34" charset="-122"/>
                <a:ea typeface="微软雅黑" panose="020B0503020204020204" pitchFamily="34" charset="-122"/>
              </a:rPr>
              <a:t>函数库  和</a:t>
            </a:r>
            <a:r>
              <a:rPr lang="en-US" altLang="zh-CN" sz="1600" b="1" i="0" dirty="0" err="1">
                <a:solidFill>
                  <a:srgbClr val="0070C0"/>
                </a:solidFill>
                <a:effectLst/>
                <a:latin typeface="微软雅黑" panose="020B0503020204020204" pitchFamily="34" charset="-122"/>
                <a:ea typeface="微软雅黑" panose="020B0503020204020204" pitchFamily="34" charset="-122"/>
              </a:rPr>
              <a:t>TyMath</a:t>
            </a:r>
            <a:r>
              <a:rPr lang="zh-CN" altLang="en-US" sz="1600" b="1" dirty="0">
                <a:solidFill>
                  <a:srgbClr val="0070C0"/>
                </a:solidFill>
                <a:latin typeface="微软雅黑" panose="020B0503020204020204" pitchFamily="34" charset="-122"/>
                <a:ea typeface="微软雅黑" panose="020B0503020204020204" pitchFamily="34" charset="-122"/>
              </a:rPr>
              <a:t>函数库</a:t>
            </a:r>
            <a:endParaRPr lang="en-US" altLang="zh-CN" sz="1600" b="1" dirty="0">
              <a:solidFill>
                <a:srgbClr val="0070C0"/>
              </a:solidFill>
              <a:latin typeface="微软雅黑" panose="020B0503020204020204" pitchFamily="34" charset="-122"/>
              <a:ea typeface="微软雅黑" panose="020B0503020204020204" pitchFamily="34" charset="-122"/>
            </a:endParaRPr>
          </a:p>
        </p:txBody>
      </p:sp>
      <p:sp>
        <p:nvSpPr>
          <p:cNvPr id="9" name="Text Box 3">
            <a:extLst>
              <a:ext uri="{FF2B5EF4-FFF2-40B4-BE49-F238E27FC236}">
                <a16:creationId xmlns:a16="http://schemas.microsoft.com/office/drawing/2014/main" id="{220B5272-3012-4984-977D-B509BDE8D779}"/>
              </a:ext>
            </a:extLst>
          </p:cNvPr>
          <p:cNvSpPr txBox="1"/>
          <p:nvPr/>
        </p:nvSpPr>
        <p:spPr bwMode="auto">
          <a:xfrm>
            <a:off x="2727784" y="1802673"/>
            <a:ext cx="4275544" cy="307777"/>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0" marR="0" lvl="0" indent="0" defTabSz="914400" eaLnBrk="0" latinLnBrk="0" hangingPunct="0">
              <a:lnSpc>
                <a:spcPct val="100000"/>
              </a:lnSpc>
              <a:buClrTx/>
              <a:buSzTx/>
              <a:buFontTx/>
              <a:buNone/>
              <a:defRPr kumimoji="0" sz="2000" b="0" i="0" u="none" strike="noStrike" kern="0" cap="none" normalizeH="0" baseline="0">
                <a:ln>
                  <a:noFill/>
                </a:ln>
                <a:solidFill>
                  <a:schemeClr val="bg1"/>
                </a:solidFill>
                <a:effectLst/>
                <a:latin typeface="Arial Unicode MS"/>
                <a:ea typeface="source-code-pro"/>
                <a:cs typeface="Times New Roman" panose="02020603050405020304" pitchFamily="18" charset="0"/>
              </a:defRPr>
            </a:lvl1pPr>
          </a:lstStyle>
          <a:p>
            <a:pPr algn="dist"/>
            <a:r>
              <a:rPr lang="zh-CN" altLang="zh-CN" sz="1400" dirty="0"/>
              <a:t>fitobject= </a:t>
            </a:r>
            <a:r>
              <a:rPr lang="en-US" altLang="zh-CN" sz="1400" dirty="0" err="1"/>
              <a:t>TyCurveFitting.fit</a:t>
            </a:r>
            <a:r>
              <a:rPr lang="en-US" altLang="zh-CN" sz="1400" dirty="0"/>
              <a:t>(</a:t>
            </a:r>
            <a:r>
              <a:rPr lang="zh-CN" altLang="zh-CN" sz="1400" dirty="0"/>
              <a:t>(fitType,x,y</a:t>
            </a:r>
            <a:r>
              <a:rPr lang="en-US" altLang="zh-CN" sz="1400" dirty="0"/>
              <a:t>)</a:t>
            </a:r>
            <a:endParaRPr lang="zh-CN" altLang="zh-CN" sz="1400" dirty="0"/>
          </a:p>
        </p:txBody>
      </p:sp>
      <p:sp>
        <p:nvSpPr>
          <p:cNvPr id="11" name="文本框 10">
            <a:extLst>
              <a:ext uri="{FF2B5EF4-FFF2-40B4-BE49-F238E27FC236}">
                <a16:creationId xmlns:a16="http://schemas.microsoft.com/office/drawing/2014/main" id="{54AFEF16-4D0C-4BCD-8294-6D1B6D1A96C4}"/>
              </a:ext>
            </a:extLst>
          </p:cNvPr>
          <p:cNvSpPr txBox="1"/>
          <p:nvPr/>
        </p:nvSpPr>
        <p:spPr>
          <a:xfrm>
            <a:off x="7174630" y="1771896"/>
            <a:ext cx="1694778" cy="338554"/>
          </a:xfrm>
          <a:prstGeom prst="rect">
            <a:avLst/>
          </a:prstGeom>
          <a:noFill/>
        </p:spPr>
        <p:txBody>
          <a:bodyPr wrap="square">
            <a:spAutoFit/>
          </a:bodyPr>
          <a:lstStyle/>
          <a:p>
            <a:pPr algn="dist"/>
            <a:r>
              <a:rPr lang="en-US" altLang="zh-CN" sz="1600" b="1" i="0" dirty="0" err="1">
                <a:solidFill>
                  <a:srgbClr val="00B0F0"/>
                </a:solidFill>
                <a:effectLst/>
                <a:latin typeface="微软雅黑" panose="020B0503020204020204" pitchFamily="34" charset="-122"/>
                <a:ea typeface="微软雅黑" panose="020B0503020204020204" pitchFamily="34" charset="-122"/>
              </a:rPr>
              <a:t>TyMath</a:t>
            </a:r>
            <a:r>
              <a:rPr lang="zh-CN" altLang="en-US" sz="1600" b="1" dirty="0">
                <a:solidFill>
                  <a:srgbClr val="00B0F0"/>
                </a:solidFill>
                <a:latin typeface="微软雅黑" panose="020B0503020204020204" pitchFamily="34" charset="-122"/>
                <a:ea typeface="微软雅黑" panose="020B0503020204020204" pitchFamily="34" charset="-122"/>
              </a:rPr>
              <a:t>函数库</a:t>
            </a:r>
            <a:endParaRPr lang="en-US" altLang="zh-CN" sz="1600" b="1" i="0" dirty="0">
              <a:solidFill>
                <a:srgbClr val="00B0F0"/>
              </a:solidFill>
              <a:effectLst/>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87D76721-636F-4C96-B80B-94A70268BA30}"/>
              </a:ext>
            </a:extLst>
          </p:cNvPr>
          <p:cNvSpPr txBox="1"/>
          <p:nvPr/>
        </p:nvSpPr>
        <p:spPr>
          <a:xfrm>
            <a:off x="97086" y="1797014"/>
            <a:ext cx="2645525" cy="369332"/>
          </a:xfrm>
          <a:prstGeom prst="rect">
            <a:avLst/>
          </a:prstGeom>
          <a:solidFill>
            <a:schemeClr val="bg1"/>
          </a:solidFill>
        </p:spPr>
        <p:txBody>
          <a:bodyPr wrap="square">
            <a:spAutoFit/>
          </a:bodyPr>
          <a:lstStyle>
            <a:defPPr>
              <a:defRPr lang="zh-CN"/>
            </a:defPPr>
            <a:lvl1pPr>
              <a:defRPr b="1">
                <a:solidFill>
                  <a:srgbClr val="00B0F0"/>
                </a:solidFill>
                <a:latin typeface="微软雅黑" panose="020B0503020204020204" pitchFamily="34" charset="-122"/>
                <a:ea typeface="微软雅黑" panose="020B0503020204020204" pitchFamily="34" charset="-122"/>
              </a:defRPr>
            </a:lvl1pPr>
          </a:lstStyle>
          <a:p>
            <a:r>
              <a:rPr lang="en-US" altLang="zh-CN" dirty="0" err="1"/>
              <a:t>TyCurveFitting</a:t>
            </a:r>
            <a:r>
              <a:rPr lang="zh-CN" altLang="en-US" dirty="0"/>
              <a:t>函数库</a:t>
            </a:r>
            <a:endParaRPr lang="en-US" altLang="zh-CN" dirty="0"/>
          </a:p>
        </p:txBody>
      </p:sp>
      <p:pic>
        <p:nvPicPr>
          <p:cNvPr id="16" name="图片 15">
            <a:extLst>
              <a:ext uri="{FF2B5EF4-FFF2-40B4-BE49-F238E27FC236}">
                <a16:creationId xmlns:a16="http://schemas.microsoft.com/office/drawing/2014/main" id="{128963A3-CA7A-43CF-AACA-750CE0A1CF2B}"/>
              </a:ext>
            </a:extLst>
          </p:cNvPr>
          <p:cNvPicPr>
            <a:picLocks noChangeAspect="1"/>
          </p:cNvPicPr>
          <p:nvPr/>
        </p:nvPicPr>
        <p:blipFill rotWithShape="1">
          <a:blip r:embed="rId3"/>
          <a:srcRect l="53588" t="21795" r="29827" b="26382"/>
          <a:stretch/>
        </p:blipFill>
        <p:spPr>
          <a:xfrm>
            <a:off x="7253125" y="2203124"/>
            <a:ext cx="1616283" cy="1960118"/>
          </a:xfrm>
          <a:prstGeom prst="rect">
            <a:avLst/>
          </a:prstGeom>
        </p:spPr>
      </p:pic>
      <p:pic>
        <p:nvPicPr>
          <p:cNvPr id="17" name="图片 16">
            <a:extLst>
              <a:ext uri="{FF2B5EF4-FFF2-40B4-BE49-F238E27FC236}">
                <a16:creationId xmlns:a16="http://schemas.microsoft.com/office/drawing/2014/main" id="{57F38873-46BA-491F-B672-EF7A84A5C032}"/>
              </a:ext>
            </a:extLst>
          </p:cNvPr>
          <p:cNvPicPr>
            <a:picLocks noChangeAspect="1"/>
          </p:cNvPicPr>
          <p:nvPr/>
        </p:nvPicPr>
        <p:blipFill rotWithShape="1">
          <a:blip r:embed="rId3"/>
          <a:srcRect l="2058" t="20785" r="46450" b="25854"/>
          <a:stretch/>
        </p:blipFill>
        <p:spPr>
          <a:xfrm>
            <a:off x="176283" y="2244283"/>
            <a:ext cx="6859045" cy="1918958"/>
          </a:xfrm>
          <a:prstGeom prst="rect">
            <a:avLst/>
          </a:prstGeom>
          <a:ln>
            <a:solidFill>
              <a:schemeClr val="tx1">
                <a:lumMod val="50000"/>
                <a:lumOff val="50000"/>
              </a:schemeClr>
            </a:solidFill>
          </a:ln>
        </p:spPr>
      </p:pic>
      <p:sp>
        <p:nvSpPr>
          <p:cNvPr id="12" name="文本框 11">
            <a:extLst>
              <a:ext uri="{FF2B5EF4-FFF2-40B4-BE49-F238E27FC236}">
                <a16:creationId xmlns:a16="http://schemas.microsoft.com/office/drawing/2014/main" id="{673EAB79-9260-4DBA-A985-B0F9C5093CB3}"/>
              </a:ext>
            </a:extLst>
          </p:cNvPr>
          <p:cNvSpPr txBox="1"/>
          <p:nvPr/>
        </p:nvSpPr>
        <p:spPr>
          <a:xfrm>
            <a:off x="155632" y="4247976"/>
            <a:ext cx="8842006" cy="369332"/>
          </a:xfrm>
          <a:prstGeom prst="rect">
            <a:avLst/>
          </a:prstGeom>
          <a:solidFill>
            <a:schemeClr val="bg1"/>
          </a:solidFill>
        </p:spPr>
        <p:txBody>
          <a:bodyPr wrap="square">
            <a:spAutoFit/>
          </a:bodyPr>
          <a:lstStyle>
            <a:defPPr>
              <a:defRPr lang="zh-CN"/>
            </a:defPPr>
            <a:lvl1pPr lvl="0" algn="dist">
              <a:spcBef>
                <a:spcPts val="0"/>
              </a:spcBef>
              <a:defRPr b="1">
                <a:solidFill>
                  <a:srgbClr val="0070C0"/>
                </a:solidFill>
                <a:latin typeface="微软雅黑" panose="020B0503020204020204" pitchFamily="34" charset="-122"/>
                <a:ea typeface="微软雅黑" panose="020B0503020204020204" pitchFamily="34" charset="-122"/>
              </a:defRPr>
            </a:lvl1pPr>
          </a:lstStyle>
          <a:p>
            <a:r>
              <a:rPr lang="zh-CN" altLang="en-US" dirty="0"/>
              <a:t>使用插值不仅填充缺失的数据以及进行预测、对现有数据进行平滑处理</a:t>
            </a:r>
          </a:p>
        </p:txBody>
      </p:sp>
      <p:sp>
        <p:nvSpPr>
          <p:cNvPr id="3" name="Rectangle 1">
            <a:extLst>
              <a:ext uri="{FF2B5EF4-FFF2-40B4-BE49-F238E27FC236}">
                <a16:creationId xmlns:a16="http://schemas.microsoft.com/office/drawing/2014/main" id="{05C6ADB4-8E8A-4879-9156-5AA8F3D33055}"/>
              </a:ext>
            </a:extLst>
          </p:cNvPr>
          <p:cNvSpPr>
            <a:spLocks noChangeArrowheads="1"/>
          </p:cNvSpPr>
          <p:nvPr/>
        </p:nvSpPr>
        <p:spPr bwMode="auto">
          <a:xfrm>
            <a:off x="3923928" y="3672202"/>
            <a:ext cx="3096921" cy="307777"/>
          </a:xfrm>
          <a:prstGeom prst="rect">
            <a:avLst/>
          </a:prstGeom>
          <a:solidFill>
            <a:srgbClr val="00B0F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zh-CN" altLang="zh-CN" sz="1400" kern="0" dirty="0">
                <a:solidFill>
                  <a:schemeClr val="bg1"/>
                </a:solidFill>
                <a:latin typeface="Arial Unicode MS"/>
                <a:cs typeface="Times New Roman" panose="02020603050405020304" pitchFamily="18" charset="0"/>
              </a:rPr>
              <a:t>curve = fit("smoothingspline", </a:t>
            </a:r>
            <a:r>
              <a:rPr lang="en-US" altLang="zh-CN" sz="1400" kern="0" dirty="0">
                <a:solidFill>
                  <a:schemeClr val="bg1"/>
                </a:solidFill>
                <a:latin typeface="Arial Unicode MS"/>
                <a:cs typeface="Times New Roman" panose="02020603050405020304" pitchFamily="18" charset="0"/>
              </a:rPr>
              <a:t>x</a:t>
            </a:r>
            <a:r>
              <a:rPr lang="zh-CN" altLang="zh-CN" sz="1400" kern="0" dirty="0">
                <a:solidFill>
                  <a:schemeClr val="bg1"/>
                </a:solidFill>
                <a:latin typeface="Arial Unicode MS"/>
                <a:cs typeface="Times New Roman" panose="02020603050405020304" pitchFamily="18" charset="0"/>
              </a:rPr>
              <a:t>, </a:t>
            </a:r>
            <a:r>
              <a:rPr lang="en-US" altLang="zh-CN" sz="1400" kern="0" dirty="0">
                <a:solidFill>
                  <a:schemeClr val="bg1"/>
                </a:solidFill>
                <a:latin typeface="Arial Unicode MS"/>
                <a:cs typeface="Times New Roman" panose="02020603050405020304" pitchFamily="18" charset="0"/>
              </a:rPr>
              <a:t>y</a:t>
            </a:r>
            <a:r>
              <a:rPr lang="zh-CN" altLang="zh-CN" sz="1400" kern="0" dirty="0">
                <a:solidFill>
                  <a:schemeClr val="bg1"/>
                </a:solidFill>
                <a:latin typeface="Arial Unicode MS"/>
                <a:cs typeface="Times New Roman" panose="02020603050405020304" pitchFamily="18" charset="0"/>
              </a:rPr>
              <a:t>) </a:t>
            </a:r>
          </a:p>
        </p:txBody>
      </p:sp>
      <p:sp>
        <p:nvSpPr>
          <p:cNvPr id="14" name="文本框 13">
            <a:extLst>
              <a:ext uri="{FF2B5EF4-FFF2-40B4-BE49-F238E27FC236}">
                <a16:creationId xmlns:a16="http://schemas.microsoft.com/office/drawing/2014/main" id="{45076535-BCA7-433A-8E30-2184994351F5}"/>
              </a:ext>
            </a:extLst>
          </p:cNvPr>
          <p:cNvSpPr txBox="1"/>
          <p:nvPr/>
        </p:nvSpPr>
        <p:spPr>
          <a:xfrm>
            <a:off x="7242622" y="3638266"/>
            <a:ext cx="1658437" cy="276999"/>
          </a:xfrm>
          <a:prstGeom prst="rect">
            <a:avLst/>
          </a:prstGeom>
          <a:solidFill>
            <a:schemeClr val="bg1"/>
          </a:solidFill>
        </p:spPr>
        <p:txBody>
          <a:bodyPr wrap="square">
            <a:spAutoFit/>
          </a:bodyPr>
          <a:lstStyle/>
          <a:p>
            <a:r>
              <a:rPr lang="en-US" altLang="zh-CN" sz="1200" b="1" dirty="0">
                <a:solidFill>
                  <a:srgbClr val="FF0000"/>
                </a:solidFill>
                <a:latin typeface="Arial Unicode MS"/>
                <a:ea typeface="source-code-pro"/>
              </a:rPr>
              <a:t>c</a:t>
            </a:r>
            <a:r>
              <a:rPr kumimoji="0" lang="zh-CN" altLang="zh-CN" sz="1200" b="1" i="0" u="none" strike="noStrike" cap="none" normalizeH="0" baseline="0" dirty="0">
                <a:ln>
                  <a:noFill/>
                </a:ln>
                <a:solidFill>
                  <a:srgbClr val="FF0000"/>
                </a:solidFill>
                <a:effectLst/>
                <a:latin typeface="Arial Unicode MS"/>
                <a:ea typeface="source-code-pro"/>
              </a:rPr>
              <a:t>saps</a:t>
            </a:r>
            <a:r>
              <a:rPr kumimoji="0" lang="en-US" altLang="zh-CN" sz="1200" b="1" i="0" u="none" strike="noStrike" cap="none" normalizeH="0" baseline="0" dirty="0">
                <a:ln>
                  <a:noFill/>
                </a:ln>
                <a:solidFill>
                  <a:srgbClr val="FF0000"/>
                </a:solidFill>
                <a:effectLst/>
                <a:latin typeface="Arial Unicode MS"/>
                <a:ea typeface="source-code-pro"/>
              </a:rPr>
              <a:t> </a:t>
            </a:r>
            <a:r>
              <a:rPr kumimoji="0" lang="zh-CN" altLang="en-US" sz="1200" b="1" i="0" u="none" strike="noStrike" cap="none" normalizeH="0" baseline="0" dirty="0">
                <a:ln>
                  <a:noFill/>
                </a:ln>
                <a:solidFill>
                  <a:srgbClr val="FF0000"/>
                </a:solidFill>
                <a:effectLst/>
                <a:latin typeface="Arial Unicode MS"/>
                <a:ea typeface="source-code-pro"/>
              </a:rPr>
              <a:t>三次平滑样条</a:t>
            </a:r>
            <a:endParaRPr lang="zh-CN" altLang="en-US" sz="1200" dirty="0">
              <a:solidFill>
                <a:srgbClr val="FF0000"/>
              </a:solidFill>
            </a:endParaRPr>
          </a:p>
        </p:txBody>
      </p:sp>
      <p:sp>
        <p:nvSpPr>
          <p:cNvPr id="18" name="文本框 17">
            <a:extLst>
              <a:ext uri="{FF2B5EF4-FFF2-40B4-BE49-F238E27FC236}">
                <a16:creationId xmlns:a16="http://schemas.microsoft.com/office/drawing/2014/main" id="{0227521E-EAF1-4BD5-81DB-94B5924EE99F}"/>
              </a:ext>
            </a:extLst>
          </p:cNvPr>
          <p:cNvSpPr txBox="1"/>
          <p:nvPr/>
        </p:nvSpPr>
        <p:spPr>
          <a:xfrm>
            <a:off x="96990" y="1005002"/>
            <a:ext cx="8068140" cy="792012"/>
          </a:xfrm>
          <a:prstGeom prst="rect">
            <a:avLst/>
          </a:prstGeom>
          <a:noFill/>
        </p:spPr>
        <p:txBody>
          <a:bodyPr wrap="square">
            <a:spAutoFit/>
          </a:bodyPr>
          <a:lstStyle/>
          <a:p>
            <a:pPr marL="342900" indent="-342900">
              <a:lnSpc>
                <a:spcPts val="2900"/>
              </a:lnSpc>
              <a:buFont typeface="+mj-ea"/>
              <a:buAutoNum type="circleNumDbPlain"/>
            </a:pPr>
            <a:r>
              <a:rPr lang="zh-CN" altLang="en-US" sz="1600" dirty="0">
                <a:solidFill>
                  <a:srgbClr val="002060"/>
                </a:solidFill>
                <a:latin typeface="微软雅黑" panose="020B0503020204020204" pitchFamily="34" charset="-122"/>
                <a:ea typeface="微软雅黑" panose="020B0503020204020204" pitchFamily="34" charset="-122"/>
              </a:rPr>
              <a:t>用</a:t>
            </a:r>
            <a:r>
              <a:rPr lang="en-US" altLang="zh-CN" sz="1600" dirty="0" err="1">
                <a:solidFill>
                  <a:srgbClr val="00B0F0"/>
                </a:solidFill>
                <a:latin typeface="微软雅黑" panose="020B0503020204020204" pitchFamily="34" charset="-122"/>
                <a:ea typeface="微软雅黑" panose="020B0503020204020204" pitchFamily="34" charset="-122"/>
              </a:rPr>
              <a:t>TyCurveFitting</a:t>
            </a:r>
            <a:r>
              <a:rPr lang="zh-CN" altLang="en-US" sz="1600" dirty="0">
                <a:solidFill>
                  <a:srgbClr val="00B0F0"/>
                </a:solidFill>
                <a:latin typeface="微软雅黑" panose="020B0503020204020204" pitchFamily="34" charset="-122"/>
                <a:ea typeface="微软雅黑" panose="020B0503020204020204" pitchFamily="34" charset="-122"/>
              </a:rPr>
              <a:t>函数库的</a:t>
            </a:r>
            <a:r>
              <a:rPr lang="en-US" altLang="zh-CN" sz="1600" dirty="0">
                <a:solidFill>
                  <a:srgbClr val="002060"/>
                </a:solidFill>
                <a:latin typeface="微软雅黑" panose="020B0503020204020204" pitchFamily="34" charset="-122"/>
                <a:ea typeface="微软雅黑" panose="020B0503020204020204" pitchFamily="34" charset="-122"/>
              </a:rPr>
              <a:t>fit</a:t>
            </a:r>
            <a:r>
              <a:rPr lang="zh-CN" altLang="en-US" sz="1600" dirty="0">
                <a:solidFill>
                  <a:srgbClr val="002060"/>
                </a:solidFill>
                <a:latin typeface="微软雅黑" panose="020B0503020204020204" pitchFamily="34" charset="-122"/>
                <a:ea typeface="微软雅黑" panose="020B0503020204020204" pitchFamily="34" charset="-122"/>
              </a:rPr>
              <a:t>按指定插值模型</a:t>
            </a:r>
            <a:r>
              <a:rPr lang="en-US" altLang="zh-CN" sz="1600" dirty="0" err="1">
                <a:solidFill>
                  <a:srgbClr val="FF0000"/>
                </a:solidFill>
                <a:latin typeface="微软雅黑" panose="020B0503020204020204" pitchFamily="34" charset="-122"/>
                <a:ea typeface="微软雅黑" panose="020B0503020204020204" pitchFamily="34" charset="-122"/>
                <a:hlinkClick r:id="rId4" action="ppaction://hlinkfile">
                  <a:extLst>
                    <a:ext uri="{A12FA001-AC4F-418D-AE19-62706E023703}">
                      <ahyp:hlinkClr xmlns:ahyp="http://schemas.microsoft.com/office/drawing/2018/hyperlinkcolor" val="tx"/>
                    </a:ext>
                  </a:extLst>
                </a:hlinkClick>
              </a:rPr>
              <a:t>fitType</a:t>
            </a:r>
            <a:r>
              <a:rPr lang="zh-CN" altLang="en-US" sz="1600" dirty="0">
                <a:solidFill>
                  <a:srgbClr val="002060"/>
                </a:solidFill>
                <a:latin typeface="微软雅黑" panose="020B0503020204020204" pitchFamily="34" charset="-122"/>
                <a:ea typeface="微软雅黑" panose="020B0503020204020204" pitchFamily="34" charset="-122"/>
              </a:rPr>
              <a:t>将采样数据</a:t>
            </a:r>
            <a:r>
              <a:rPr lang="en-US" altLang="zh-CN" sz="1600" dirty="0" err="1">
                <a:solidFill>
                  <a:srgbClr val="FF0000"/>
                </a:solidFill>
                <a:latin typeface="微软雅黑" panose="020B0503020204020204" pitchFamily="34" charset="-122"/>
                <a:ea typeface="微软雅黑" panose="020B0503020204020204" pitchFamily="34" charset="-122"/>
                <a:hlinkClick r:id="rId5" action="ppaction://hlinkfile">
                  <a:extLst>
                    <a:ext uri="{A12FA001-AC4F-418D-AE19-62706E023703}">
                      <ahyp:hlinkClr xmlns:ahyp="http://schemas.microsoft.com/office/drawing/2018/hyperlinkcolor" val="tx"/>
                    </a:ext>
                  </a:extLst>
                </a:hlinkClick>
              </a:rPr>
              <a:t>x,y</a:t>
            </a:r>
            <a:r>
              <a:rPr lang="zh-CN" altLang="en-US" sz="1600" dirty="0">
                <a:solidFill>
                  <a:srgbClr val="FF0000"/>
                </a:solidFill>
                <a:latin typeface="微软雅黑" panose="020B0503020204020204" pitchFamily="34" charset="-122"/>
                <a:ea typeface="微软雅黑" panose="020B0503020204020204" pitchFamily="34" charset="-122"/>
              </a:rPr>
              <a:t> </a:t>
            </a:r>
            <a:r>
              <a:rPr lang="zh-CN" altLang="en-US" sz="1600" dirty="0">
                <a:solidFill>
                  <a:srgbClr val="002060"/>
                </a:solidFill>
                <a:latin typeface="微软雅黑" panose="020B0503020204020204" pitchFamily="34" charset="-122"/>
                <a:ea typeface="微软雅黑" panose="020B0503020204020204" pitchFamily="34" charset="-122"/>
              </a:rPr>
              <a:t>进行插值</a:t>
            </a:r>
            <a:endParaRPr lang="en-US" altLang="zh-CN" sz="1600" dirty="0">
              <a:solidFill>
                <a:srgbClr val="002060"/>
              </a:solidFill>
              <a:latin typeface="微软雅黑" panose="020B0503020204020204" pitchFamily="34" charset="-122"/>
              <a:ea typeface="微软雅黑" panose="020B0503020204020204" pitchFamily="34" charset="-122"/>
            </a:endParaRPr>
          </a:p>
          <a:p>
            <a:pPr marL="342900" indent="-342900">
              <a:lnSpc>
                <a:spcPts val="2900"/>
              </a:lnSpc>
              <a:buFont typeface="+mj-ea"/>
              <a:buAutoNum type="circleNumDbPlain"/>
            </a:pPr>
            <a:r>
              <a:rPr lang="zh-CN" altLang="en-US" sz="1600" dirty="0">
                <a:solidFill>
                  <a:srgbClr val="002060"/>
                </a:solidFill>
                <a:latin typeface="微软雅黑" panose="020B0503020204020204" pitchFamily="34" charset="-122"/>
                <a:ea typeface="微软雅黑" panose="020B0503020204020204" pitchFamily="34" charset="-122"/>
              </a:rPr>
              <a:t>用 </a:t>
            </a:r>
            <a:r>
              <a:rPr lang="en-US" altLang="zh-CN" sz="1600" i="0" dirty="0" err="1">
                <a:solidFill>
                  <a:srgbClr val="00B0F0"/>
                </a:solidFill>
                <a:effectLst/>
                <a:latin typeface="微软雅黑" panose="020B0503020204020204" pitchFamily="34" charset="-122"/>
                <a:ea typeface="微软雅黑" panose="020B0503020204020204" pitchFamily="34" charset="-122"/>
              </a:rPr>
              <a:t>TyMath</a:t>
            </a:r>
            <a:r>
              <a:rPr lang="zh-CN" altLang="en-US" sz="1600" dirty="0">
                <a:solidFill>
                  <a:srgbClr val="00B0F0"/>
                </a:solidFill>
                <a:latin typeface="微软雅黑" panose="020B0503020204020204" pitchFamily="34" charset="-122"/>
                <a:ea typeface="微软雅黑" panose="020B0503020204020204" pitchFamily="34" charset="-122"/>
              </a:rPr>
              <a:t>函数库的</a:t>
            </a:r>
            <a:r>
              <a:rPr lang="zh-CN" altLang="en-US" sz="1600" dirty="0">
                <a:solidFill>
                  <a:srgbClr val="002060"/>
                </a:solidFill>
                <a:latin typeface="微软雅黑" panose="020B0503020204020204" pitchFamily="34" charset="-122"/>
                <a:ea typeface="微软雅黑" panose="020B0503020204020204" pitchFamily="34" charset="-122"/>
              </a:rPr>
              <a:t>函数进行插值</a:t>
            </a:r>
          </a:p>
        </p:txBody>
      </p:sp>
    </p:spTree>
    <p:extLst>
      <p:ext uri="{BB962C8B-B14F-4D97-AF65-F5344CB8AC3E}">
        <p14:creationId xmlns:p14="http://schemas.microsoft.com/office/powerpoint/2010/main" val="3353083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3" grpId="0" animBg="1"/>
      <p:bldP spid="12" grpId="0" animBg="1"/>
      <p:bldP spid="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544" y="836381"/>
            <a:ext cx="8421452" cy="1323439"/>
          </a:xfrm>
          <a:prstGeom prst="rect">
            <a:avLst/>
          </a:prstGeom>
        </p:spPr>
        <p:txBody>
          <a:bodyPr wrap="square">
            <a:spAutoFit/>
          </a:bodyPr>
          <a:lstStyle/>
          <a:p>
            <a:r>
              <a:rPr lang="zh-CN" altLang="en-US" sz="2000" dirty="0">
                <a:solidFill>
                  <a:srgbClr val="002060"/>
                </a:solidFill>
                <a:latin typeface="隶书" panose="02010509060101010101" pitchFamily="49" charset="-122"/>
                <a:ea typeface="隶书" panose="02010509060101010101" pitchFamily="49" charset="-122"/>
              </a:rPr>
              <a:t>            插值是离散函数数值逼近的重要方法，在已知</a:t>
            </a:r>
            <a:r>
              <a:rPr lang="zh-CN" altLang="en-US" sz="2000" dirty="0">
                <a:solidFill>
                  <a:srgbClr val="FF0000"/>
                </a:solidFill>
                <a:latin typeface="隶书" panose="02010509060101010101" pitchFamily="49" charset="-122"/>
                <a:ea typeface="隶书" panose="02010509060101010101" pitchFamily="49" charset="-122"/>
              </a:rPr>
              <a:t>采样数据</a:t>
            </a:r>
            <a:r>
              <a:rPr lang="en-US" altLang="zh-CN" sz="2000" dirty="0">
                <a:solidFill>
                  <a:srgbClr val="FF0000"/>
                </a:solidFill>
                <a:latin typeface="隶书" panose="02010509060101010101" pitchFamily="49" charset="-122"/>
                <a:ea typeface="隶书" panose="02010509060101010101" pitchFamily="49" charset="-122"/>
              </a:rPr>
              <a:t>(</a:t>
            </a:r>
            <a:r>
              <a:rPr lang="en-US" altLang="zh-CN" sz="2000" dirty="0" err="1">
                <a:solidFill>
                  <a:srgbClr val="FF0000"/>
                </a:solidFill>
                <a:latin typeface="隶书" panose="02010509060101010101" pitchFamily="49" charset="-122"/>
                <a:ea typeface="隶书" panose="02010509060101010101" pitchFamily="49" charset="-122"/>
              </a:rPr>
              <a:t>x,y</a:t>
            </a:r>
            <a:r>
              <a:rPr lang="en-US" altLang="zh-CN" sz="2000" dirty="0">
                <a:solidFill>
                  <a:srgbClr val="FF0000"/>
                </a:solidFill>
                <a:latin typeface="隶书" panose="02010509060101010101" pitchFamily="49" charset="-122"/>
                <a:ea typeface="隶书" panose="02010509060101010101" pitchFamily="49" charset="-122"/>
              </a:rPr>
              <a:t>)</a:t>
            </a:r>
            <a:r>
              <a:rPr lang="zh-CN" altLang="en-US" sz="2000" dirty="0">
                <a:solidFill>
                  <a:srgbClr val="002060"/>
                </a:solidFill>
                <a:latin typeface="隶书" panose="02010509060101010101" pitchFamily="49" charset="-122"/>
                <a:ea typeface="隶书" panose="02010509060101010101" pitchFamily="49" charset="-122"/>
              </a:rPr>
              <a:t>的基础上</a:t>
            </a:r>
            <a:r>
              <a:rPr lang="zh-CN" altLang="zh-CN" sz="2000" dirty="0">
                <a:solidFill>
                  <a:srgbClr val="002060"/>
                </a:solidFill>
                <a:latin typeface="隶书" panose="02010509060101010101" pitchFamily="49" charset="-122"/>
                <a:ea typeface="隶书" panose="02010509060101010101" pitchFamily="49" charset="-122"/>
              </a:rPr>
              <a:t>构造</a:t>
            </a:r>
            <a:r>
              <a:rPr lang="zh-CN" altLang="en-US" sz="2000" dirty="0">
                <a:solidFill>
                  <a:srgbClr val="002060"/>
                </a:solidFill>
                <a:latin typeface="隶书" panose="02010509060101010101" pitchFamily="49" charset="-122"/>
                <a:ea typeface="隶书" panose="02010509060101010101" pitchFamily="49" charset="-122"/>
              </a:rPr>
              <a:t>插值</a:t>
            </a:r>
            <a:r>
              <a:rPr lang="zh-CN" altLang="zh-CN" sz="2000" dirty="0">
                <a:solidFill>
                  <a:srgbClr val="002060"/>
                </a:solidFill>
                <a:latin typeface="隶书" panose="02010509060101010101" pitchFamily="49" charset="-122"/>
                <a:ea typeface="隶书" panose="02010509060101010101" pitchFamily="49" charset="-122"/>
              </a:rPr>
              <a:t>函数</a:t>
            </a:r>
            <a:r>
              <a:rPr lang="zh-CN" altLang="en-US" sz="2000" dirty="0">
                <a:solidFill>
                  <a:srgbClr val="002060"/>
                </a:solidFill>
                <a:latin typeface="隶书" panose="02010509060101010101" pitchFamily="49" charset="-122"/>
                <a:ea typeface="隶书" panose="02010509060101010101" pitchFamily="49" charset="-122"/>
              </a:rPr>
              <a:t>，使得这条</a:t>
            </a:r>
            <a:r>
              <a:rPr lang="zh-CN" altLang="en-US" sz="2000" dirty="0">
                <a:solidFill>
                  <a:srgbClr val="FF0000"/>
                </a:solidFill>
                <a:latin typeface="隶书" panose="02010509060101010101" pitchFamily="49" charset="-122"/>
                <a:ea typeface="隶书" panose="02010509060101010101" pitchFamily="49" charset="-122"/>
              </a:rPr>
              <a:t>插值</a:t>
            </a:r>
            <a:r>
              <a:rPr lang="zh-CN" altLang="zh-CN" sz="2000" dirty="0">
                <a:solidFill>
                  <a:srgbClr val="FF0000"/>
                </a:solidFill>
                <a:latin typeface="隶书" panose="02010509060101010101" pitchFamily="49" charset="-122"/>
                <a:ea typeface="隶书" panose="02010509060101010101" pitchFamily="49" charset="-122"/>
              </a:rPr>
              <a:t>函数</a:t>
            </a:r>
            <a:r>
              <a:rPr lang="zh-CN" altLang="en-US" sz="2000" dirty="0">
                <a:solidFill>
                  <a:srgbClr val="FF0000"/>
                </a:solidFill>
                <a:latin typeface="隶书" panose="02010509060101010101" pitchFamily="49" charset="-122"/>
                <a:ea typeface="隶书" panose="02010509060101010101" pitchFamily="49" charset="-122"/>
              </a:rPr>
              <a:t>曲线</a:t>
            </a:r>
            <a:r>
              <a:rPr lang="zh-CN" altLang="en-US" sz="2000" dirty="0">
                <a:solidFill>
                  <a:srgbClr val="002060"/>
                </a:solidFill>
                <a:latin typeface="隶书" panose="02010509060101010101" pitchFamily="49" charset="-122"/>
                <a:ea typeface="隶书" panose="02010509060101010101" pitchFamily="49" charset="-122"/>
              </a:rPr>
              <a:t>通过</a:t>
            </a:r>
            <a:r>
              <a:rPr lang="zh-CN" altLang="en-US" sz="2000" dirty="0">
                <a:solidFill>
                  <a:srgbClr val="FF0000"/>
                </a:solidFill>
                <a:latin typeface="隶书" panose="02010509060101010101" pitchFamily="49" charset="-122"/>
                <a:ea typeface="隶书" panose="02010509060101010101" pitchFamily="49" charset="-122"/>
              </a:rPr>
              <a:t>全部</a:t>
            </a:r>
            <a:r>
              <a:rPr lang="zh-CN" altLang="en-US" sz="2000" dirty="0">
                <a:solidFill>
                  <a:srgbClr val="002060"/>
                </a:solidFill>
                <a:latin typeface="隶书" panose="02010509060101010101" pitchFamily="49" charset="-122"/>
                <a:ea typeface="隶书" panose="02010509060101010101" pitchFamily="49" charset="-122"/>
              </a:rPr>
              <a:t>给定的</a:t>
            </a:r>
            <a:r>
              <a:rPr lang="zh-CN" altLang="en-US" sz="2000" dirty="0">
                <a:solidFill>
                  <a:srgbClr val="FF0000"/>
                </a:solidFill>
                <a:latin typeface="隶书" panose="02010509060101010101" pitchFamily="49" charset="-122"/>
                <a:ea typeface="隶书" panose="02010509060101010101" pitchFamily="49" charset="-122"/>
              </a:rPr>
              <a:t>已知采样数据点</a:t>
            </a:r>
            <a:r>
              <a:rPr lang="zh-CN" altLang="en-US" sz="2000" dirty="0">
                <a:solidFill>
                  <a:srgbClr val="002060"/>
                </a:solidFill>
                <a:latin typeface="隶书" panose="02010509060101010101" pitchFamily="49" charset="-122"/>
                <a:ea typeface="隶书" panose="02010509060101010101" pitchFamily="49" charset="-122"/>
              </a:rPr>
              <a:t>。利用有限的采样数据点构造插值函数曲线，估算出</a:t>
            </a:r>
            <a:r>
              <a:rPr lang="en-US" altLang="ko-KR" sz="2000" dirty="0" err="1">
                <a:solidFill>
                  <a:srgbClr val="FF0000"/>
                </a:solidFill>
                <a:latin typeface="隶书" panose="02010509060101010101" pitchFamily="49" charset="-122"/>
                <a:ea typeface="隶书" panose="02010509060101010101" pitchFamily="49" charset="-122"/>
              </a:rPr>
              <a:t>未知</a:t>
            </a:r>
            <a:r>
              <a:rPr lang="zh-CN" altLang="en-US" sz="2000" dirty="0">
                <a:solidFill>
                  <a:srgbClr val="FF0000"/>
                </a:solidFill>
                <a:latin typeface="隶书" panose="02010509060101010101" pitchFamily="49" charset="-122"/>
                <a:ea typeface="隶书" panose="02010509060101010101" pitchFamily="49" charset="-122"/>
              </a:rPr>
              <a:t>数据</a:t>
            </a:r>
            <a:r>
              <a:rPr lang="en-US" altLang="ko-KR" sz="2000" dirty="0" err="1">
                <a:solidFill>
                  <a:srgbClr val="FF0000"/>
                </a:solidFill>
                <a:latin typeface="隶书" panose="02010509060101010101" pitchFamily="49" charset="-122"/>
                <a:ea typeface="隶书" panose="02010509060101010101" pitchFamily="49" charset="-122"/>
              </a:rPr>
              <a:t>插值</a:t>
            </a:r>
            <a:r>
              <a:rPr lang="zh-CN" altLang="en-US" sz="2000" dirty="0">
                <a:solidFill>
                  <a:srgbClr val="FF0000"/>
                </a:solidFill>
                <a:latin typeface="隶书" panose="02010509060101010101" pitchFamily="49" charset="-122"/>
                <a:ea typeface="隶书" panose="02010509060101010101" pitchFamily="49" charset="-122"/>
              </a:rPr>
              <a:t>点</a:t>
            </a:r>
            <a:r>
              <a:rPr lang="zh-CN" altLang="en-US" sz="2000" dirty="0">
                <a:solidFill>
                  <a:srgbClr val="002060"/>
                </a:solidFill>
                <a:latin typeface="隶书" panose="02010509060101010101" pitchFamily="49" charset="-122"/>
                <a:ea typeface="隶书" panose="02010509060101010101" pitchFamily="49" charset="-122"/>
              </a:rPr>
              <a:t>落在插值函数曲线上</a:t>
            </a:r>
            <a:r>
              <a:rPr lang="zh-CN" altLang="en-US" sz="2000" dirty="0">
                <a:solidFill>
                  <a:srgbClr val="FF0000"/>
                </a:solidFill>
                <a:latin typeface="隶书" panose="02010509060101010101" pitchFamily="49" charset="-122"/>
                <a:ea typeface="隶书" panose="02010509060101010101" pitchFamily="49" charset="-122"/>
              </a:rPr>
              <a:t>插值结果近似值</a:t>
            </a:r>
            <a:r>
              <a:rPr lang="zh-CN" altLang="en-US" sz="2000" dirty="0">
                <a:solidFill>
                  <a:srgbClr val="002060"/>
                </a:solidFill>
                <a:latin typeface="隶书" panose="02010509060101010101" pitchFamily="49" charset="-122"/>
                <a:ea typeface="隶书" panose="02010509060101010101" pitchFamily="49" charset="-122"/>
              </a:rPr>
              <a:t>。 </a:t>
            </a:r>
          </a:p>
        </p:txBody>
      </p:sp>
      <p:pic>
        <p:nvPicPr>
          <p:cNvPr id="6" name="Picture 4"/>
          <p:cNvPicPr>
            <a:picLocks noChangeAspect="1"/>
          </p:cNvPicPr>
          <p:nvPr/>
        </p:nvPicPr>
        <p:blipFill rotWithShape="1">
          <a:blip r:embed="rId3" cstate="hqprint">
            <a:extLst>
              <a:ext uri="{28A0092B-C50C-407E-A947-70E740481C1C}">
                <a14:useLocalDpi xmlns:a14="http://schemas.microsoft.com/office/drawing/2010/main" val="0"/>
              </a:ext>
            </a:extLst>
          </a:blip>
          <a:srcRect r="3066"/>
          <a:stretch>
            <a:fillRect/>
          </a:stretch>
        </p:blipFill>
        <p:spPr bwMode="auto">
          <a:xfrm>
            <a:off x="1526232" y="2448808"/>
            <a:ext cx="6934200" cy="1153868"/>
          </a:xfrm>
          <a:prstGeom prst="rect">
            <a:avLst/>
          </a:prstGeom>
          <a:solidFill>
            <a:srgbClr val="C00000"/>
          </a:solidFill>
          <a:ln w="0">
            <a:noFill/>
          </a:ln>
        </p:spPr>
      </p:pic>
      <p:sp>
        <p:nvSpPr>
          <p:cNvPr id="9" name="矩形 8"/>
          <p:cNvSpPr/>
          <p:nvPr/>
        </p:nvSpPr>
        <p:spPr>
          <a:xfrm>
            <a:off x="4715137" y="3167474"/>
            <a:ext cx="434734" cy="58477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FF0000"/>
                </a:solidFill>
                <a:latin typeface="Arial" panose="020B0604020202020204" pitchFamily="34" charset="0"/>
                <a:ea typeface="Arial" panose="020B0604020202020204" pitchFamily="34" charset="0"/>
              </a:rPr>
              <a:t>o</a:t>
            </a:r>
            <a:endParaRPr lang="ko-KR" altLang="en-US" sz="3200" b="1" cap="none" dirty="0">
              <a:solidFill>
                <a:srgbClr val="FF0000"/>
              </a:solidFill>
              <a:latin typeface="Arial" panose="020B0604020202020204" pitchFamily="34" charset="0"/>
              <a:ea typeface="Arial" panose="020B0604020202020204" pitchFamily="34" charset="0"/>
            </a:endParaRPr>
          </a:p>
        </p:txBody>
      </p:sp>
      <p:sp>
        <p:nvSpPr>
          <p:cNvPr id="11" name="矩形 10"/>
          <p:cNvSpPr/>
          <p:nvPr/>
        </p:nvSpPr>
        <p:spPr>
          <a:xfrm flipH="1" flipV="1">
            <a:off x="4317245" y="2413985"/>
            <a:ext cx="383852" cy="532245"/>
          </a:xfrm>
          <a:prstGeom prst="rect">
            <a:avLst/>
          </a:prstGeom>
          <a:ln>
            <a:solidFill>
              <a:srgbClr val="99FF66"/>
            </a:solidFill>
          </a:ln>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800" b="1" cap="none" dirty="0">
                <a:solidFill>
                  <a:srgbClr val="00B0F0"/>
                </a:solidFill>
                <a:latin typeface="Arial" panose="020B0604020202020204" pitchFamily="34" charset="0"/>
                <a:ea typeface="Arial" panose="020B0604020202020204" pitchFamily="34" charset="0"/>
              </a:rPr>
              <a:t>o</a:t>
            </a:r>
            <a:endParaRPr lang="ko-KR" altLang="en-US" sz="2800" b="1" cap="none" dirty="0">
              <a:solidFill>
                <a:srgbClr val="00B0F0"/>
              </a:solidFill>
              <a:latin typeface="Arial" panose="020B0604020202020204" pitchFamily="34" charset="0"/>
              <a:ea typeface="Arial" panose="020B0604020202020204" pitchFamily="34" charset="0"/>
            </a:endParaRPr>
          </a:p>
        </p:txBody>
      </p:sp>
      <p:sp>
        <p:nvSpPr>
          <p:cNvPr id="12" name="矩形 11"/>
          <p:cNvSpPr/>
          <p:nvPr/>
        </p:nvSpPr>
        <p:spPr>
          <a:xfrm>
            <a:off x="3096296" y="2459014"/>
            <a:ext cx="335280" cy="584775"/>
          </a:xfrm>
          <a:prstGeom prst="rect">
            <a:avLst/>
          </a:prstGeom>
          <a:ln>
            <a:solidFill>
              <a:srgbClr val="99FF66"/>
            </a:solidFill>
          </a:ln>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00B0F0"/>
                </a:solidFill>
                <a:latin typeface="Arial" panose="020B0604020202020204" pitchFamily="34" charset="0"/>
                <a:ea typeface="Arial" panose="020B0604020202020204" pitchFamily="34" charset="0"/>
              </a:rPr>
              <a:t>o</a:t>
            </a:r>
            <a:endParaRPr lang="ko-KR" altLang="en-US" sz="3200" b="1" cap="none" dirty="0">
              <a:solidFill>
                <a:srgbClr val="00B0F0"/>
              </a:solidFill>
              <a:latin typeface="Arial" panose="020B0604020202020204" pitchFamily="34" charset="0"/>
              <a:ea typeface="Arial" panose="020B0604020202020204" pitchFamily="34" charset="0"/>
            </a:endParaRPr>
          </a:p>
        </p:txBody>
      </p:sp>
      <p:sp>
        <p:nvSpPr>
          <p:cNvPr id="15" name="矩形 14"/>
          <p:cNvSpPr/>
          <p:nvPr/>
        </p:nvSpPr>
        <p:spPr>
          <a:xfrm>
            <a:off x="3983455" y="2125444"/>
            <a:ext cx="2233304" cy="369332"/>
          </a:xfrm>
          <a:prstGeom prst="rect">
            <a:avLst/>
          </a:prstGeom>
        </p:spPr>
        <p:txBody>
          <a:bodyPr wrap="none">
            <a:spAutoFit/>
          </a:bodyPr>
          <a:lstStyle/>
          <a:p>
            <a:r>
              <a:rPr lang="zh-CN" altLang="en-US" dirty="0">
                <a:solidFill>
                  <a:srgbClr val="FF0000"/>
                </a:solidFill>
                <a:latin typeface="微软雅黑" panose="020B0503020204020204" pitchFamily="34" charset="-122"/>
                <a:ea typeface="微软雅黑" panose="020B0503020204020204" pitchFamily="34" charset="-122"/>
              </a:rPr>
              <a:t>近似估算</a:t>
            </a:r>
            <a:r>
              <a:rPr lang="en-US" altLang="ko-KR" dirty="0" err="1">
                <a:solidFill>
                  <a:srgbClr val="FF0000"/>
                </a:solidFill>
                <a:latin typeface="微软雅黑" panose="020B0503020204020204" pitchFamily="34" charset="-122"/>
                <a:ea typeface="微软雅黑" panose="020B0503020204020204" pitchFamily="34" charset="-122"/>
              </a:rPr>
              <a:t>插值结果yi</a:t>
            </a:r>
            <a:endParaRPr lang="zh-CN" altLang="en-US" dirty="0"/>
          </a:p>
        </p:txBody>
      </p:sp>
      <p:sp>
        <p:nvSpPr>
          <p:cNvPr id="16" name="矩形 15"/>
          <p:cNvSpPr/>
          <p:nvPr/>
        </p:nvSpPr>
        <p:spPr>
          <a:xfrm>
            <a:off x="1868973" y="2555406"/>
            <a:ext cx="335280" cy="584775"/>
          </a:xfrm>
          <a:prstGeom prst="rect">
            <a:avLst/>
          </a:prstGeom>
          <a:ln>
            <a:solidFill>
              <a:srgbClr val="99FF66"/>
            </a:solidFill>
          </a:ln>
        </p:spPr>
        <p:txBody>
          <a:bodyPr vert="horz" wrap="square" lIns="91440" tIns="45720" rIns="91440" bIns="45720" numCol="1" anchor="t">
            <a:spAutoFit/>
          </a:bodyPr>
          <a:lstStyle/>
          <a:p>
            <a:pPr eaLnBrk="0">
              <a:spcBef>
                <a:spcPts val="0"/>
              </a:spcBef>
              <a:spcAft>
                <a:spcPts val="0"/>
              </a:spcAft>
            </a:pPr>
            <a:r>
              <a:rPr lang="en-US" altLang="ko-KR" sz="3200" b="1" dirty="0">
                <a:solidFill>
                  <a:srgbClr val="00B0F0"/>
                </a:solidFill>
                <a:ea typeface="Arial" panose="020B0604020202020204" pitchFamily="34" charset="0"/>
              </a:rPr>
              <a:t>o</a:t>
            </a:r>
            <a:endParaRPr lang="ko-KR" altLang="en-US" sz="3200" b="1" dirty="0">
              <a:solidFill>
                <a:srgbClr val="00B0F0"/>
              </a:solidFill>
              <a:ea typeface="Arial" panose="020B0604020202020204" pitchFamily="34" charset="0"/>
            </a:endParaRPr>
          </a:p>
        </p:txBody>
      </p:sp>
      <p:sp>
        <p:nvSpPr>
          <p:cNvPr id="17" name="矩形 16"/>
          <p:cNvSpPr/>
          <p:nvPr/>
        </p:nvSpPr>
        <p:spPr>
          <a:xfrm>
            <a:off x="5529761" y="2770858"/>
            <a:ext cx="335280" cy="523220"/>
          </a:xfrm>
          <a:prstGeom prst="rect">
            <a:avLst/>
          </a:prstGeom>
          <a:ln>
            <a:solidFill>
              <a:srgbClr val="99FF66"/>
            </a:solidFill>
          </a:ln>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800" b="1" cap="none" dirty="0">
                <a:solidFill>
                  <a:srgbClr val="00B0F0"/>
                </a:solidFill>
                <a:latin typeface="Arial" panose="020B0604020202020204" pitchFamily="34" charset="0"/>
                <a:ea typeface="Arial" panose="020B0604020202020204" pitchFamily="34" charset="0"/>
              </a:rPr>
              <a:t>o</a:t>
            </a:r>
            <a:endParaRPr lang="ko-KR" altLang="en-US" sz="2800" b="1" cap="none" dirty="0">
              <a:solidFill>
                <a:srgbClr val="00B0F0"/>
              </a:solidFill>
              <a:latin typeface="Arial" panose="020B0604020202020204" pitchFamily="34" charset="0"/>
              <a:ea typeface="Arial" panose="020B0604020202020204" pitchFamily="34" charset="0"/>
            </a:endParaRPr>
          </a:p>
        </p:txBody>
      </p:sp>
      <p:sp>
        <p:nvSpPr>
          <p:cNvPr id="21" name="矩形 20"/>
          <p:cNvSpPr/>
          <p:nvPr/>
        </p:nvSpPr>
        <p:spPr>
          <a:xfrm>
            <a:off x="3553406" y="3167474"/>
            <a:ext cx="434734" cy="58477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FF0000"/>
                </a:solidFill>
                <a:latin typeface="Arial" panose="020B0604020202020204" pitchFamily="34" charset="0"/>
                <a:ea typeface="Arial" panose="020B0604020202020204" pitchFamily="34" charset="0"/>
              </a:rPr>
              <a:t>o</a:t>
            </a:r>
            <a:endParaRPr lang="ko-KR" altLang="en-US" sz="3200" b="1" cap="none" dirty="0">
              <a:solidFill>
                <a:srgbClr val="FF0000"/>
              </a:solidFill>
              <a:latin typeface="Arial" panose="020B0604020202020204" pitchFamily="34" charset="0"/>
              <a:ea typeface="Arial" panose="020B0604020202020204" pitchFamily="34" charset="0"/>
            </a:endParaRPr>
          </a:p>
        </p:txBody>
      </p:sp>
      <p:sp>
        <p:nvSpPr>
          <p:cNvPr id="22" name="矩形 21"/>
          <p:cNvSpPr/>
          <p:nvPr/>
        </p:nvSpPr>
        <p:spPr>
          <a:xfrm>
            <a:off x="4054743" y="3556748"/>
            <a:ext cx="2292615" cy="369332"/>
          </a:xfrm>
          <a:prstGeom prst="rect">
            <a:avLst/>
          </a:prstGeom>
        </p:spPr>
        <p:txBody>
          <a:bodyPr wrap="none">
            <a:spAutoFit/>
          </a:bodyPr>
          <a:lstStyle/>
          <a:p>
            <a:r>
              <a:rPr lang="en-US" altLang="ko-KR" dirty="0" err="1">
                <a:solidFill>
                  <a:srgbClr val="FF0000"/>
                </a:solidFill>
                <a:latin typeface="微软雅黑" panose="020B0503020204020204" pitchFamily="34" charset="-122"/>
                <a:ea typeface="微软雅黑" panose="020B0503020204020204" pitchFamily="34" charset="-122"/>
              </a:rPr>
              <a:t>未知</a:t>
            </a:r>
            <a:r>
              <a:rPr lang="zh-CN" altLang="en-US" dirty="0">
                <a:solidFill>
                  <a:srgbClr val="FF0000"/>
                </a:solidFill>
                <a:latin typeface="微软雅黑" panose="020B0503020204020204" pitchFamily="34" charset="-122"/>
                <a:ea typeface="微软雅黑" panose="020B0503020204020204" pitchFamily="34" charset="-122"/>
              </a:rPr>
              <a:t>数据的</a:t>
            </a:r>
            <a:r>
              <a:rPr lang="en-US" altLang="ko-KR" dirty="0" err="1">
                <a:solidFill>
                  <a:srgbClr val="FF0000"/>
                </a:solidFill>
                <a:latin typeface="微软雅黑" panose="020B0503020204020204" pitchFamily="34" charset="-122"/>
                <a:ea typeface="微软雅黑" panose="020B0503020204020204" pitchFamily="34" charset="-122"/>
              </a:rPr>
              <a:t>插值</a:t>
            </a:r>
            <a:r>
              <a:rPr lang="zh-CN" altLang="en-US" dirty="0">
                <a:solidFill>
                  <a:srgbClr val="FF0000"/>
                </a:solidFill>
                <a:latin typeface="微软雅黑" panose="020B0503020204020204" pitchFamily="34" charset="-122"/>
                <a:ea typeface="微软雅黑" panose="020B0503020204020204" pitchFamily="34" charset="-122"/>
              </a:rPr>
              <a:t>点</a:t>
            </a:r>
            <a:r>
              <a:rPr lang="en-US" altLang="zh-CN" dirty="0">
                <a:solidFill>
                  <a:srgbClr val="FF0000"/>
                </a:solidFill>
                <a:latin typeface="微软雅黑" panose="020B0503020204020204" pitchFamily="34" charset="-122"/>
                <a:ea typeface="微软雅黑" panose="020B0503020204020204" pitchFamily="34" charset="-122"/>
              </a:rPr>
              <a:t>xi</a:t>
            </a:r>
            <a:endParaRPr lang="zh-CN" altLang="en-US" dirty="0">
              <a:solidFill>
                <a:srgbClr val="FF0000"/>
              </a:solidFill>
            </a:endParaRPr>
          </a:p>
        </p:txBody>
      </p:sp>
      <p:sp>
        <p:nvSpPr>
          <p:cNvPr id="2" name="矩形 1"/>
          <p:cNvSpPr/>
          <p:nvPr/>
        </p:nvSpPr>
        <p:spPr>
          <a:xfrm>
            <a:off x="953144" y="45211"/>
            <a:ext cx="2993127" cy="584775"/>
          </a:xfrm>
          <a:prstGeom prst="rect">
            <a:avLst/>
          </a:prstGeom>
          <a:solidFill>
            <a:schemeClr val="bg1"/>
          </a:solidFill>
        </p:spPr>
        <p:txBody>
          <a:bodyPr wrap="none">
            <a:spAutoFit/>
          </a:bodyPr>
          <a:lstStyle/>
          <a:p>
            <a:r>
              <a:rPr lang="en-US" altLang="zh-CN" sz="3200" dirty="0">
                <a:solidFill>
                  <a:srgbClr val="002060"/>
                </a:solidFill>
                <a:latin typeface="华文楷体" panose="02010600040101010101" pitchFamily="2" charset="-122"/>
                <a:ea typeface="华文楷体" panose="02010600040101010101" pitchFamily="2" charset="-122"/>
              </a:rPr>
              <a:t>§5.4.1</a:t>
            </a:r>
            <a:r>
              <a:rPr lang="en-US" altLang="ko-KR" sz="3200" dirty="0">
                <a:solidFill>
                  <a:srgbClr val="002060"/>
                </a:solidFill>
                <a:latin typeface="华文楷体" panose="02010600040101010101" pitchFamily="2" charset="-122"/>
                <a:ea typeface="华文楷体" panose="02010600040101010101" pitchFamily="2" charset="-122"/>
              </a:rPr>
              <a:t>插值</a:t>
            </a:r>
            <a:r>
              <a:rPr lang="zh-CN" altLang="en-US" sz="3200" dirty="0">
                <a:solidFill>
                  <a:srgbClr val="002060"/>
                </a:solidFill>
                <a:latin typeface="华文楷体" panose="02010600040101010101" pitchFamily="2" charset="-122"/>
                <a:ea typeface="华文楷体" panose="02010600040101010101" pitchFamily="2" charset="-122"/>
              </a:rPr>
              <a:t>原理</a:t>
            </a:r>
            <a:endParaRPr lang="zh-CN" altLang="en-US" sz="3200" dirty="0">
              <a:latin typeface="华文楷体" panose="02010600040101010101" pitchFamily="2" charset="-122"/>
              <a:ea typeface="华文楷体" panose="02010600040101010101" pitchFamily="2" charset="-122"/>
            </a:endParaRPr>
          </a:p>
        </p:txBody>
      </p:sp>
      <p:sp>
        <p:nvSpPr>
          <p:cNvPr id="24" name="矩形 23"/>
          <p:cNvSpPr/>
          <p:nvPr/>
        </p:nvSpPr>
        <p:spPr>
          <a:xfrm>
            <a:off x="4019223" y="173601"/>
            <a:ext cx="4656269" cy="400110"/>
          </a:xfrm>
          <a:prstGeom prst="rect">
            <a:avLst/>
          </a:prstGeom>
          <a:noFill/>
          <a:ln w="0">
            <a:noFill/>
          </a:ln>
          <a:effectLst/>
          <a:scene3d>
            <a:camera prst="orthographicFront"/>
            <a:lightRig rig="soft" dir="t"/>
          </a:scene3d>
          <a:sp3d contourW="44450" prstMaterial="matte">
            <a:bevelT w="63500" h="63500" prst="angle"/>
            <a:contourClr>
              <a:srgbClr val="FFFFFF"/>
            </a:contourClr>
          </a:sp3d>
        </p:spPr>
        <p:txBody>
          <a:bodyPr vert="horz" wrap="square" lIns="91440" tIns="45720" rIns="91440" bIns="45720" numCol="1" anchor="t">
            <a:spAutoFit/>
          </a:bodyPr>
          <a:lstStyle/>
          <a:p>
            <a:pPr algn="dist" eaLnBrk="0">
              <a:spcBef>
                <a:spcPts val="0"/>
              </a:spcBef>
              <a:spcAft>
                <a:spcPts val="0"/>
              </a:spcAft>
            </a:pPr>
            <a:r>
              <a:rPr lang="en-US" altLang="ko-KR" sz="2000" b="1" dirty="0" err="1">
                <a:solidFill>
                  <a:srgbClr val="0070C0"/>
                </a:solidFill>
                <a:latin typeface="微软雅黑" panose="020B0503020204020204" pitchFamily="34" charset="-122"/>
                <a:ea typeface="微软雅黑" panose="020B0503020204020204" pitchFamily="34" charset="-122"/>
              </a:rPr>
              <a:t>根据已知数据点推算</a:t>
            </a:r>
            <a:r>
              <a:rPr lang="zh-CN" altLang="en-US" sz="2000" b="1" dirty="0">
                <a:solidFill>
                  <a:srgbClr val="0070C0"/>
                </a:solidFill>
                <a:latin typeface="微软雅黑" panose="020B0503020204020204" pitchFamily="34" charset="-122"/>
                <a:ea typeface="微软雅黑" panose="020B0503020204020204" pitchFamily="34" charset="-122"/>
              </a:rPr>
              <a:t>出</a:t>
            </a:r>
            <a:r>
              <a:rPr lang="en-US" altLang="ko-KR" sz="2000" b="1" dirty="0" err="1">
                <a:solidFill>
                  <a:srgbClr val="0070C0"/>
                </a:solidFill>
                <a:latin typeface="微软雅黑" panose="020B0503020204020204" pitchFamily="34" charset="-122"/>
                <a:ea typeface="微软雅黑" panose="020B0503020204020204" pitchFamily="34" charset="-122"/>
              </a:rPr>
              <a:t>未知</a:t>
            </a:r>
            <a:r>
              <a:rPr lang="zh-CN" altLang="en-US" sz="2000" b="1" dirty="0">
                <a:solidFill>
                  <a:srgbClr val="0070C0"/>
                </a:solidFill>
                <a:latin typeface="微软雅黑" panose="020B0503020204020204" pitchFamily="34" charset="-122"/>
                <a:ea typeface="微软雅黑" panose="020B0503020204020204" pitchFamily="34" charset="-122"/>
              </a:rPr>
              <a:t>数据点的</a:t>
            </a:r>
            <a:r>
              <a:rPr lang="en-US" altLang="ko-KR" sz="2000" b="1" dirty="0">
                <a:solidFill>
                  <a:srgbClr val="0070C0"/>
                </a:solidFill>
                <a:latin typeface="微软雅黑" panose="020B0503020204020204" pitchFamily="34" charset="-122"/>
                <a:ea typeface="微软雅黑" panose="020B0503020204020204" pitchFamily="34" charset="-122"/>
              </a:rPr>
              <a:t>值</a:t>
            </a:r>
            <a:endParaRPr lang="ko-KR" altLang="en-US" sz="2000" b="1" cap="none" dirty="0">
              <a:solidFill>
                <a:srgbClr val="0070C0"/>
              </a:solidFill>
              <a:latin typeface="微软雅黑" panose="020B0503020204020204" pitchFamily="34" charset="-122"/>
              <a:ea typeface="微软雅黑" panose="020B0503020204020204" pitchFamily="34" charset="-122"/>
            </a:endParaRPr>
          </a:p>
        </p:txBody>
      </p:sp>
      <p:sp>
        <p:nvSpPr>
          <p:cNvPr id="18" name="TextBox 7"/>
          <p:cNvSpPr txBox="1"/>
          <p:nvPr/>
        </p:nvSpPr>
        <p:spPr>
          <a:xfrm>
            <a:off x="519731" y="2202624"/>
            <a:ext cx="2492990" cy="400110"/>
          </a:xfrm>
          <a:prstGeom prst="rect">
            <a:avLst/>
          </a:prstGeom>
        </p:spPr>
        <p:txBody>
          <a:bodyPr wrap="none">
            <a:spAutoFit/>
          </a:bodyPr>
          <a:lstStyle>
            <a:defPPr>
              <a:defRPr lang="zh-CN"/>
            </a:defPPr>
            <a:lvl1pPr>
              <a:defRPr sz="2000">
                <a:solidFill>
                  <a:srgbClr val="FF0000"/>
                </a:solidFill>
                <a:highlight>
                  <a:srgbClr val="FFFF00"/>
                </a:highlight>
                <a:latin typeface="隶书" panose="02010509060101010101" pitchFamily="49" charset="-122"/>
                <a:ea typeface="隶书" panose="02010509060101010101" pitchFamily="49" charset="-122"/>
              </a:defRPr>
            </a:lvl1pPr>
          </a:lstStyle>
          <a:p>
            <a:r>
              <a:rPr lang="zh-CN" altLang="en-US" dirty="0">
                <a:solidFill>
                  <a:schemeClr val="bg1"/>
                </a:solidFill>
                <a:highlight>
                  <a:srgbClr val="3399FF"/>
                </a:highlight>
              </a:rPr>
              <a:t>构造插值函数</a:t>
            </a:r>
            <a:r>
              <a:rPr lang="en-US" altLang="zh-CN" dirty="0">
                <a:solidFill>
                  <a:schemeClr val="bg1"/>
                </a:solidFill>
                <a:highlight>
                  <a:srgbClr val="3399FF"/>
                </a:highlight>
              </a:rPr>
              <a:t>y=f(x)</a:t>
            </a:r>
            <a:endParaRPr lang="ko-KR" altLang="en-US" dirty="0">
              <a:solidFill>
                <a:schemeClr val="bg1"/>
              </a:solidFill>
              <a:highlight>
                <a:srgbClr val="3399FF"/>
              </a:highlight>
            </a:endParaRPr>
          </a:p>
        </p:txBody>
      </p:sp>
      <p:sp>
        <p:nvSpPr>
          <p:cNvPr id="3" name="矩形 2"/>
          <p:cNvSpPr/>
          <p:nvPr/>
        </p:nvSpPr>
        <p:spPr>
          <a:xfrm>
            <a:off x="6347358" y="2916033"/>
            <a:ext cx="1723549" cy="400110"/>
          </a:xfrm>
          <a:prstGeom prst="rect">
            <a:avLst/>
          </a:prstGeom>
        </p:spPr>
        <p:txBody>
          <a:bodyPr wrap="none">
            <a:spAutoFit/>
          </a:bodyPr>
          <a:lstStyle/>
          <a:p>
            <a:r>
              <a:rPr lang="zh-CN" altLang="en-US" sz="2000" dirty="0">
                <a:solidFill>
                  <a:schemeClr val="bg1"/>
                </a:solidFill>
                <a:highlight>
                  <a:srgbClr val="3399FF"/>
                </a:highlight>
                <a:latin typeface="隶书" panose="02010509060101010101" pitchFamily="49" charset="-122"/>
                <a:ea typeface="隶书" panose="02010509060101010101" pitchFamily="49" charset="-122"/>
              </a:rPr>
              <a:t>插值函数曲线</a:t>
            </a:r>
          </a:p>
        </p:txBody>
      </p:sp>
      <p:sp>
        <p:nvSpPr>
          <p:cNvPr id="7" name="任意多边形: 形状 6"/>
          <p:cNvSpPr/>
          <p:nvPr/>
        </p:nvSpPr>
        <p:spPr>
          <a:xfrm>
            <a:off x="1874624" y="2587920"/>
            <a:ext cx="4541003" cy="601956"/>
          </a:xfrm>
          <a:custGeom>
            <a:avLst/>
            <a:gdLst>
              <a:gd name="connsiteX0" fmla="*/ 0 w 4541003"/>
              <a:gd name="connsiteY0" fmla="*/ 413592 h 601956"/>
              <a:gd name="connsiteX1" fmla="*/ 340963 w 4541003"/>
              <a:gd name="connsiteY1" fmla="*/ 274108 h 601956"/>
              <a:gd name="connsiteX2" fmla="*/ 945396 w 4541003"/>
              <a:gd name="connsiteY2" fmla="*/ 165620 h 601956"/>
              <a:gd name="connsiteX3" fmla="*/ 1348352 w 4541003"/>
              <a:gd name="connsiteY3" fmla="*/ 157870 h 601956"/>
              <a:gd name="connsiteX4" fmla="*/ 1836549 w 4541003"/>
              <a:gd name="connsiteY4" fmla="*/ 281857 h 601956"/>
              <a:gd name="connsiteX5" fmla="*/ 2231756 w 4541003"/>
              <a:gd name="connsiteY5" fmla="*/ 188867 h 601956"/>
              <a:gd name="connsiteX6" fmla="*/ 2588217 w 4541003"/>
              <a:gd name="connsiteY6" fmla="*/ 41633 h 601956"/>
              <a:gd name="connsiteX7" fmla="*/ 2975674 w 4541003"/>
              <a:gd name="connsiteY7" fmla="*/ 2887 h 601956"/>
              <a:gd name="connsiteX8" fmla="*/ 3378630 w 4541003"/>
              <a:gd name="connsiteY8" fmla="*/ 10637 h 601956"/>
              <a:gd name="connsiteX9" fmla="*/ 3525864 w 4541003"/>
              <a:gd name="connsiteY9" fmla="*/ 72630 h 601956"/>
              <a:gd name="connsiteX10" fmla="*/ 3750590 w 4541003"/>
              <a:gd name="connsiteY10" fmla="*/ 312853 h 601956"/>
              <a:gd name="connsiteX11" fmla="*/ 3851329 w 4541003"/>
              <a:gd name="connsiteY11" fmla="*/ 475586 h 601956"/>
              <a:gd name="connsiteX12" fmla="*/ 4207790 w 4541003"/>
              <a:gd name="connsiteY12" fmla="*/ 599572 h 601956"/>
              <a:gd name="connsiteX13" fmla="*/ 4541003 w 4541003"/>
              <a:gd name="connsiteY13" fmla="*/ 545328 h 60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1003" h="601956">
                <a:moveTo>
                  <a:pt x="0" y="413592"/>
                </a:moveTo>
                <a:cubicBezTo>
                  <a:pt x="91698" y="364514"/>
                  <a:pt x="183397" y="315437"/>
                  <a:pt x="340963" y="274108"/>
                </a:cubicBezTo>
                <a:cubicBezTo>
                  <a:pt x="498529" y="232779"/>
                  <a:pt x="777498" y="184993"/>
                  <a:pt x="945396" y="165620"/>
                </a:cubicBezTo>
                <a:cubicBezTo>
                  <a:pt x="1113294" y="146247"/>
                  <a:pt x="1199827" y="138497"/>
                  <a:pt x="1348352" y="157870"/>
                </a:cubicBezTo>
                <a:cubicBezTo>
                  <a:pt x="1496878" y="177243"/>
                  <a:pt x="1689315" y="276691"/>
                  <a:pt x="1836549" y="281857"/>
                </a:cubicBezTo>
                <a:cubicBezTo>
                  <a:pt x="1983783" y="287023"/>
                  <a:pt x="2106478" y="228904"/>
                  <a:pt x="2231756" y="188867"/>
                </a:cubicBezTo>
                <a:cubicBezTo>
                  <a:pt x="2357034" y="148830"/>
                  <a:pt x="2464231" y="72630"/>
                  <a:pt x="2588217" y="41633"/>
                </a:cubicBezTo>
                <a:cubicBezTo>
                  <a:pt x="2712203" y="10636"/>
                  <a:pt x="2843939" y="8053"/>
                  <a:pt x="2975674" y="2887"/>
                </a:cubicBezTo>
                <a:cubicBezTo>
                  <a:pt x="3107410" y="-2279"/>
                  <a:pt x="3286932" y="-987"/>
                  <a:pt x="3378630" y="10637"/>
                </a:cubicBezTo>
                <a:cubicBezTo>
                  <a:pt x="3470328" y="22261"/>
                  <a:pt x="3463871" y="22261"/>
                  <a:pt x="3525864" y="72630"/>
                </a:cubicBezTo>
                <a:cubicBezTo>
                  <a:pt x="3587857" y="122999"/>
                  <a:pt x="3696346" y="245694"/>
                  <a:pt x="3750590" y="312853"/>
                </a:cubicBezTo>
                <a:cubicBezTo>
                  <a:pt x="3804834" y="380012"/>
                  <a:pt x="3775129" y="427800"/>
                  <a:pt x="3851329" y="475586"/>
                </a:cubicBezTo>
                <a:cubicBezTo>
                  <a:pt x="3927529" y="523372"/>
                  <a:pt x="4092844" y="587948"/>
                  <a:pt x="4207790" y="599572"/>
                </a:cubicBezTo>
                <a:cubicBezTo>
                  <a:pt x="4322736" y="611196"/>
                  <a:pt x="4431869" y="578262"/>
                  <a:pt x="4541003" y="545328"/>
                </a:cubicBezTo>
              </a:path>
            </a:pathLst>
          </a:cu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20" name="流程图: 联系 19"/>
          <p:cNvSpPr/>
          <p:nvPr/>
        </p:nvSpPr>
        <p:spPr bwMode="auto">
          <a:xfrm>
            <a:off x="4797820" y="2510837"/>
            <a:ext cx="195512" cy="209644"/>
          </a:xfrm>
          <a:prstGeom prst="flowChartConnector">
            <a:avLst/>
          </a:prstGeom>
          <a:solidFill>
            <a:srgbClr val="FF0000"/>
          </a:solidFill>
          <a:ln w="9525" cap="flat" cmpd="sng" algn="ctr">
            <a:solidFill>
              <a:schemeClr val="tx1"/>
            </a:solidFill>
            <a:prstDash val="solid"/>
            <a:round/>
            <a:headEnd type="none" w="med" len="med"/>
            <a:tailEnd type="none" w="med" len="med"/>
          </a:ln>
          <a:scene3d>
            <a:camera prst="orthographicFront"/>
            <a:lightRig rig="threePt" dir="t"/>
          </a:scene3d>
          <a:sp3d>
            <a:bevelT prst="angle"/>
          </a:sp3d>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9" name="流程图: 联系 18"/>
          <p:cNvSpPr/>
          <p:nvPr/>
        </p:nvSpPr>
        <p:spPr bwMode="auto">
          <a:xfrm>
            <a:off x="3680763" y="2787001"/>
            <a:ext cx="180020" cy="185534"/>
          </a:xfrm>
          <a:prstGeom prst="flowChartConnector">
            <a:avLst/>
          </a:prstGeom>
          <a:solidFill>
            <a:srgbClr val="FF0000"/>
          </a:solidFill>
          <a:ln w="9525" cap="flat" cmpd="sng" algn="ctr">
            <a:solidFill>
              <a:schemeClr val="tx1"/>
            </a:solidFill>
            <a:prstDash val="solid"/>
            <a:round/>
            <a:headEnd type="none" w="med" len="med"/>
            <a:tailEnd type="none" w="med" len="med"/>
          </a:ln>
          <a:scene3d>
            <a:camera prst="orthographicFront"/>
            <a:lightRig rig="threePt" dir="t"/>
          </a:scene3d>
          <a:sp3d>
            <a:bevelT prst="angle"/>
          </a:sp3d>
        </p:spPr>
        <p:txBody>
          <a:bodyPr vert="horz" wrap="square" lIns="91440" tIns="45720" rIns="91440" bIns="45720" numCol="1" rtlCol="0" anchor="t" anchorCtr="0" compatLnSpc="1"/>
          <a:lstStyle/>
          <a:p>
            <a:pPr eaLnBrk="0" hangingPunct="0"/>
            <a:endParaRPr lang="zh-CN" altLang="en-US" sz="2800"/>
          </a:p>
        </p:txBody>
      </p:sp>
      <p:sp>
        <p:nvSpPr>
          <p:cNvPr id="23" name="AutoShape 313349"/>
          <p:cNvSpPr/>
          <p:nvPr/>
        </p:nvSpPr>
        <p:spPr bwMode="auto">
          <a:xfrm rot="173012">
            <a:off x="6005953" y="3535660"/>
            <a:ext cx="3379244" cy="1095112"/>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68580" tIns="34290" rIns="68580" bIns="34290" anchor="ctr">
            <a:noAutofit/>
          </a:bodyPr>
          <a:lstStyle/>
          <a:p>
            <a:pPr algn="ctr" defTabSz="685800" eaLnBrk="0">
              <a:spcBef>
                <a:spcPts val="0"/>
              </a:spcBef>
              <a:spcAft>
                <a:spcPts val="0"/>
              </a:spcAft>
            </a:pPr>
            <a:endParaRPr lang="ko-KR" altLang="en-US" sz="1950" b="1" dirty="0">
              <a:solidFill>
                <a:srgbClr val="FFFF00"/>
              </a:solidFill>
              <a:latin typeface="楷体_GB2312" charset="0"/>
              <a:ea typeface="楷体_GB2312" charset="0"/>
            </a:endParaRPr>
          </a:p>
        </p:txBody>
      </p:sp>
      <p:sp>
        <p:nvSpPr>
          <p:cNvPr id="8" name="矩形 7"/>
          <p:cNvSpPr/>
          <p:nvPr/>
        </p:nvSpPr>
        <p:spPr>
          <a:xfrm>
            <a:off x="6568036" y="3850676"/>
            <a:ext cx="2232248" cy="523220"/>
          </a:xfrm>
          <a:prstGeom prst="rect">
            <a:avLst/>
          </a:prstGeom>
        </p:spPr>
        <p:txBody>
          <a:bodyPr wrap="square">
            <a:spAutoFit/>
          </a:bodyPr>
          <a:lstStyle/>
          <a:p>
            <a:r>
              <a:rPr lang="zh-CN" altLang="en-US" sz="1400" b="1" dirty="0">
                <a:solidFill>
                  <a:srgbClr val="FFFF00"/>
                </a:solidFill>
                <a:latin typeface="微软雅黑" panose="020B0503020204020204" pitchFamily="34" charset="-122"/>
                <a:ea typeface="微软雅黑" panose="020B0503020204020204" pitchFamily="34" charset="-122"/>
              </a:rPr>
              <a:t>插值</a:t>
            </a:r>
            <a:r>
              <a:rPr lang="en-US" altLang="ko-KR" sz="1400" b="1" dirty="0" err="1">
                <a:solidFill>
                  <a:srgbClr val="FFFF00"/>
                </a:solidFill>
                <a:latin typeface="微软雅黑" panose="020B0503020204020204" pitchFamily="34" charset="-122"/>
                <a:ea typeface="微软雅黑" panose="020B0503020204020204" pitchFamily="34" charset="-122"/>
              </a:rPr>
              <a:t>构造的函数必须通过</a:t>
            </a:r>
            <a:r>
              <a:rPr lang="zh-CN" altLang="en-US" sz="1400" b="1" dirty="0">
                <a:solidFill>
                  <a:srgbClr val="FFFF00"/>
                </a:solidFill>
                <a:latin typeface="微软雅黑" panose="020B0503020204020204" pitchFamily="34" charset="-122"/>
                <a:ea typeface="微软雅黑" panose="020B0503020204020204" pitchFamily="34" charset="-122"/>
              </a:rPr>
              <a:t>全部</a:t>
            </a:r>
            <a:r>
              <a:rPr lang="en-US" altLang="ko-KR" sz="1400" b="1" dirty="0" err="1">
                <a:solidFill>
                  <a:srgbClr val="FFFF00"/>
                </a:solidFill>
                <a:latin typeface="微软雅黑" panose="020B0503020204020204" pitchFamily="34" charset="-122"/>
                <a:ea typeface="微软雅黑" panose="020B0503020204020204" pitchFamily="34" charset="-122"/>
              </a:rPr>
              <a:t>已知</a:t>
            </a:r>
            <a:r>
              <a:rPr lang="zh-CN" altLang="en-US" sz="1400" b="1" dirty="0">
                <a:solidFill>
                  <a:srgbClr val="FFFF00"/>
                </a:solidFill>
                <a:latin typeface="微软雅黑" panose="020B0503020204020204" pitchFamily="34" charset="-122"/>
                <a:ea typeface="微软雅黑" panose="020B0503020204020204" pitchFamily="34" charset="-122"/>
              </a:rPr>
              <a:t>采样点</a:t>
            </a:r>
            <a:r>
              <a:rPr lang="en-US" altLang="ko-KR" sz="1400" b="1" dirty="0" err="1">
                <a:solidFill>
                  <a:srgbClr val="FFFF00"/>
                </a:solidFill>
                <a:latin typeface="微软雅黑" panose="020B0503020204020204" pitchFamily="34" charset="-122"/>
                <a:ea typeface="微软雅黑" panose="020B0503020204020204" pitchFamily="34" charset="-122"/>
              </a:rPr>
              <a:t>数据</a:t>
            </a:r>
            <a:endParaRPr lang="zh-CN" altLang="en-US" sz="1400" b="1" dirty="0">
              <a:solidFill>
                <a:srgbClr val="FFFF00"/>
              </a:solidFill>
              <a:latin typeface="微软雅黑" panose="020B0503020204020204" pitchFamily="34" charset="-122"/>
              <a:ea typeface="微软雅黑" panose="020B0503020204020204" pitchFamily="34" charset="-122"/>
            </a:endParaRPr>
          </a:p>
        </p:txBody>
      </p:sp>
      <p:sp>
        <p:nvSpPr>
          <p:cNvPr id="10" name="矩形 9"/>
          <p:cNvSpPr/>
          <p:nvPr/>
        </p:nvSpPr>
        <p:spPr>
          <a:xfrm>
            <a:off x="5868369" y="2657583"/>
            <a:ext cx="2164375" cy="369332"/>
          </a:xfrm>
          <a:prstGeom prst="rect">
            <a:avLst/>
          </a:prstGeom>
        </p:spPr>
        <p:txBody>
          <a:bodyPr wrap="none">
            <a:spAutoFit/>
          </a:bodyPr>
          <a:lstStyle/>
          <a:p>
            <a:r>
              <a:rPr lang="zh-CN" altLang="en-US" b="1" dirty="0">
                <a:solidFill>
                  <a:srgbClr val="00B0F0"/>
                </a:solidFill>
                <a:latin typeface="隶书" panose="02010509060101010101" pitchFamily="49" charset="-122"/>
                <a:ea typeface="隶书" panose="02010509060101010101" pitchFamily="49" charset="-122"/>
              </a:rPr>
              <a:t>已知采样数据</a:t>
            </a:r>
            <a:r>
              <a:rPr lang="en-US" altLang="zh-CN" b="1" dirty="0">
                <a:solidFill>
                  <a:srgbClr val="00B0F0"/>
                </a:solidFill>
                <a:latin typeface="隶书" panose="02010509060101010101" pitchFamily="49" charset="-122"/>
                <a:ea typeface="隶书" panose="02010509060101010101" pitchFamily="49" charset="-122"/>
              </a:rPr>
              <a:t>(</a:t>
            </a:r>
            <a:r>
              <a:rPr lang="en-US" altLang="zh-CN" b="1" dirty="0" err="1">
                <a:solidFill>
                  <a:srgbClr val="00B0F0"/>
                </a:solidFill>
                <a:latin typeface="隶书" panose="02010509060101010101" pitchFamily="49" charset="-122"/>
                <a:ea typeface="隶书" panose="02010509060101010101" pitchFamily="49" charset="-122"/>
              </a:rPr>
              <a:t>x,y</a:t>
            </a:r>
            <a:r>
              <a:rPr lang="en-US" altLang="zh-CN" b="1" dirty="0">
                <a:solidFill>
                  <a:srgbClr val="00B0F0"/>
                </a:solidFill>
                <a:latin typeface="隶书" panose="02010509060101010101" pitchFamily="49" charset="-122"/>
                <a:ea typeface="隶书" panose="02010509060101010101" pitchFamily="49" charset="-122"/>
              </a:rPr>
              <a:t>)</a:t>
            </a:r>
            <a:endParaRPr lang="zh-CN" altLang="en-US" b="1" dirty="0">
              <a:solidFill>
                <a:srgbClr val="00B0F0"/>
              </a:solidFill>
            </a:endParaRPr>
          </a:p>
        </p:txBody>
      </p:sp>
      <p:sp>
        <p:nvSpPr>
          <p:cNvPr id="25" name="矩形 24"/>
          <p:cNvSpPr/>
          <p:nvPr/>
        </p:nvSpPr>
        <p:spPr>
          <a:xfrm>
            <a:off x="497157" y="649722"/>
            <a:ext cx="1672253" cy="584775"/>
          </a:xfrm>
          <a:prstGeom prst="rect">
            <a:avLst/>
          </a:prstGeom>
        </p:spPr>
        <p:txBody>
          <a:bodyPr wrap="none">
            <a:spAutoFit/>
          </a:bodyPr>
          <a:lstStyle/>
          <a:p>
            <a:r>
              <a:rPr lang="zh-CN" altLang="zh-CN" sz="2800" dirty="0">
                <a:solidFill>
                  <a:srgbClr val="00B0F0"/>
                </a:solidFill>
                <a:latin typeface="隶书" panose="02010509060101010101" pitchFamily="49" charset="-122"/>
                <a:ea typeface="隶书" panose="02010509060101010101" pitchFamily="49" charset="-122"/>
              </a:rPr>
              <a:t>插值法</a:t>
            </a:r>
            <a:r>
              <a:rPr lang="zh-CN" altLang="en-US" sz="3200" dirty="0">
                <a:solidFill>
                  <a:srgbClr val="002060"/>
                </a:solidFill>
                <a:latin typeface="隶书" panose="02010509060101010101" pitchFamily="49" charset="-122"/>
                <a:ea typeface="隶书" panose="02010509060101010101" pitchFamily="49" charset="-122"/>
              </a:rPr>
              <a:t>：</a:t>
            </a:r>
          </a:p>
        </p:txBody>
      </p:sp>
      <p:sp>
        <p:nvSpPr>
          <p:cNvPr id="26" name="文本框 25"/>
          <p:cNvSpPr txBox="1"/>
          <p:nvPr/>
        </p:nvSpPr>
        <p:spPr>
          <a:xfrm>
            <a:off x="467544" y="4106513"/>
            <a:ext cx="5832648" cy="369332"/>
          </a:xfrm>
          <a:prstGeom prst="rect">
            <a:avLst/>
          </a:prstGeom>
          <a:noFill/>
        </p:spPr>
        <p:txBody>
          <a:bodyPr wrap="square">
            <a:spAutoFit/>
          </a:bodyPr>
          <a:lstStyle/>
          <a:p>
            <a:r>
              <a:rPr kumimoji="0" lang="zh-CN" altLang="zh-CN" sz="1800" b="1" i="0" u="none" strike="noStrike" cap="none" normalizeH="0" baseline="0" dirty="0">
                <a:ln>
                  <a:noFill/>
                </a:ln>
                <a:solidFill>
                  <a:srgbClr val="0070C0"/>
                </a:solidFill>
                <a:effectLst/>
                <a:latin typeface="微软雅黑" panose="020B0503020204020204" pitchFamily="34" charset="-122"/>
                <a:ea typeface="微软雅黑" panose="020B0503020204020204" pitchFamily="34" charset="-122"/>
              </a:rPr>
              <a:t>插值是在一组已知数据点的范围内添加新数据点的技术</a:t>
            </a:r>
            <a:endParaRPr lang="zh-CN" altLang="en-US"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P spid="15" grpId="0"/>
      <p:bldP spid="16" grpId="0" animBg="1"/>
      <p:bldP spid="17" grpId="0" animBg="1"/>
      <p:bldP spid="21" grpId="0"/>
      <p:bldP spid="22" grpId="0"/>
      <p:bldP spid="18" grpId="0"/>
      <p:bldP spid="3" grpId="0"/>
      <p:bldP spid="7" grpId="0" animBg="1"/>
      <p:bldP spid="20" grpId="0" animBg="1"/>
      <p:bldP spid="19" grpId="0" animBg="1"/>
      <p:bldP spid="23" grpId="0" animBg="1"/>
      <p:bldP spid="8" grpId="0"/>
      <p:bldP spid="10" grpId="0"/>
      <p:bldP spid="2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07504" y="1291852"/>
            <a:ext cx="7426095" cy="461665"/>
          </a:xfrm>
          <a:prstGeom prst="rect">
            <a:avLst/>
          </a:prstGeom>
          <a:noFill/>
          <a:ln w="28575" cap="flat" cmpd="sng">
            <a:noFill/>
            <a:prstDash val="solid"/>
          </a:ln>
          <a:effectLst>
            <a:glow rad="101600">
              <a:srgbClr val="D3F4F7">
                <a:alpha val="40035"/>
              </a:srgbClr>
            </a:glow>
            <a:innerShdw blurRad="114300">
              <a:srgbClr val="000000"/>
            </a:innerShdw>
          </a:effectLst>
          <a:scene3d>
            <a:camera prst="orthographicFront"/>
            <a:lightRig rig="threePt" dir="t"/>
          </a:scene3d>
          <a:sp3d>
            <a:bevelT prst="angle"/>
          </a:sp3d>
        </p:spPr>
        <p:txBody>
          <a:bodyPr vert="horz" wrap="square" lIns="91440" tIns="45720" rIns="91440" bIns="45720" numCol="1" anchor="t">
            <a:spAutoFit/>
          </a:bodyPr>
          <a:lstStyle/>
          <a:p>
            <a:pPr algn="ctr" eaLnBrk="0">
              <a:spcBef>
                <a:spcPts val="0"/>
              </a:spcBef>
              <a:spcAft>
                <a:spcPts val="0"/>
              </a:spcAft>
            </a:pPr>
            <a:r>
              <a:rPr lang="zh-CN" altLang="zh-CN" sz="2400" dirty="0">
                <a:solidFill>
                  <a:srgbClr val="0070C0"/>
                </a:solidFill>
                <a:latin typeface="微软雅黑" panose="020B0503020204020204" pitchFamily="34" charset="-122"/>
                <a:ea typeface="微软雅黑" panose="020B0503020204020204" pitchFamily="34" charset="-122"/>
              </a:rPr>
              <a:t>分段低次多项式或</a:t>
            </a:r>
            <a:r>
              <a:rPr lang="zh-CN" altLang="en-US" sz="2400" dirty="0">
                <a:solidFill>
                  <a:srgbClr val="0070C0"/>
                </a:solidFill>
                <a:latin typeface="微软雅黑" panose="020B0503020204020204" pitchFamily="34" charset="-122"/>
                <a:ea typeface="微软雅黑" panose="020B0503020204020204" pitchFamily="34" charset="-122"/>
              </a:rPr>
              <a:t>直接</a:t>
            </a:r>
            <a:r>
              <a:rPr lang="zh-CN" altLang="zh-CN" sz="2400" dirty="0">
                <a:solidFill>
                  <a:srgbClr val="0070C0"/>
                </a:solidFill>
                <a:latin typeface="微软雅黑" panose="020B0503020204020204" pitchFamily="34" charset="-122"/>
                <a:ea typeface="微软雅黑" panose="020B0503020204020204" pitchFamily="34" charset="-122"/>
              </a:rPr>
              <a:t>高次多项式作</a:t>
            </a:r>
            <a:r>
              <a:rPr lang="zh-CN" altLang="en-US" sz="2400" dirty="0">
                <a:solidFill>
                  <a:srgbClr val="0070C0"/>
                </a:solidFill>
                <a:latin typeface="微软雅黑" panose="020B0503020204020204" pitchFamily="34" charset="-122"/>
                <a:ea typeface="微软雅黑" panose="020B0503020204020204" pitchFamily="34" charset="-122"/>
              </a:rPr>
              <a:t>为</a:t>
            </a:r>
            <a:r>
              <a:rPr lang="zh-CN" altLang="zh-CN" sz="2400" dirty="0">
                <a:solidFill>
                  <a:srgbClr val="0070C0"/>
                </a:solidFill>
                <a:latin typeface="微软雅黑" panose="020B0503020204020204" pitchFamily="34" charset="-122"/>
                <a:ea typeface="微软雅黑" panose="020B0503020204020204" pitchFamily="34" charset="-122"/>
              </a:rPr>
              <a:t>插值函数</a:t>
            </a:r>
            <a:endParaRPr lang="en-US" altLang="zh-CN" sz="2400" dirty="0">
              <a:solidFill>
                <a:srgbClr val="0070C0"/>
              </a:solidFill>
              <a:latin typeface="微软雅黑" panose="020B0503020204020204" pitchFamily="34" charset="-122"/>
              <a:ea typeface="微软雅黑" panose="020B0503020204020204" pitchFamily="34" charset="-122"/>
            </a:endParaRPr>
          </a:p>
        </p:txBody>
      </p:sp>
      <p:sp>
        <p:nvSpPr>
          <p:cNvPr id="6" name="矩形 5"/>
          <p:cNvSpPr/>
          <p:nvPr/>
        </p:nvSpPr>
        <p:spPr>
          <a:xfrm>
            <a:off x="107504" y="783821"/>
            <a:ext cx="4150366" cy="461665"/>
          </a:xfrm>
          <a:prstGeom prst="rect">
            <a:avLst/>
          </a:prstGeom>
          <a:noFill/>
          <a:ln w="28575" cap="flat" cmpd="sng">
            <a:noFill/>
            <a:prstDash val="solid"/>
          </a:ln>
          <a:effectLst>
            <a:glow rad="101600">
              <a:srgbClr val="D3F4F7">
                <a:alpha val="40035"/>
              </a:srgbClr>
            </a:glow>
            <a:innerShdw blurRad="114300">
              <a:srgbClr val="000000"/>
            </a:innerShdw>
          </a:effectLst>
          <a:scene3d>
            <a:camera prst="orthographicFront"/>
            <a:lightRig rig="threePt" dir="t"/>
          </a:scene3d>
          <a:sp3d>
            <a:bevelT prst="angle"/>
          </a:sp3d>
        </p:spPr>
        <p:txBody>
          <a:bodyPr vert="horz" wrap="square" lIns="91440" tIns="45720" rIns="91440" bIns="45720" numCol="1" anchor="t">
            <a:spAutoFit/>
          </a:bodyPr>
          <a:lstStyle/>
          <a:p>
            <a:pPr algn="ctr" eaLnBrk="0">
              <a:spcBef>
                <a:spcPts val="0"/>
              </a:spcBef>
              <a:spcAft>
                <a:spcPts val="0"/>
              </a:spcAft>
            </a:pPr>
            <a:r>
              <a:rPr lang="zh-CN" altLang="zh-CN" sz="2400" dirty="0">
                <a:solidFill>
                  <a:srgbClr val="0070C0"/>
                </a:solidFill>
                <a:latin typeface="微软雅黑" panose="020B0503020204020204" pitchFamily="34" charset="-122"/>
                <a:ea typeface="微软雅黑" panose="020B0503020204020204" pitchFamily="34" charset="-122"/>
              </a:rPr>
              <a:t>多项式插值基本思想</a:t>
            </a:r>
            <a:r>
              <a:rPr lang="zh-CN" altLang="en-US" sz="2400" dirty="0">
                <a:solidFill>
                  <a:srgbClr val="0070C0"/>
                </a:solidFill>
                <a:latin typeface="微软雅黑" panose="020B0503020204020204" pitchFamily="34" charset="-122"/>
                <a:ea typeface="微软雅黑" panose="020B0503020204020204" pitchFamily="34" charset="-122"/>
              </a:rPr>
              <a:t>：</a:t>
            </a:r>
            <a:endParaRPr lang="en-US" altLang="zh-CN" sz="2400" dirty="0">
              <a:solidFill>
                <a:srgbClr val="0070C0"/>
              </a:solidFill>
              <a:latin typeface="微软雅黑" panose="020B0503020204020204" pitchFamily="34" charset="-122"/>
              <a:ea typeface="微软雅黑" panose="020B0503020204020204" pitchFamily="34" charset="-122"/>
            </a:endParaRPr>
          </a:p>
        </p:txBody>
      </p:sp>
      <p:pic>
        <p:nvPicPr>
          <p:cNvPr id="7" name="Picture 4"/>
          <p:cNvPicPr>
            <a:picLocks noChangeAspect="1"/>
          </p:cNvPicPr>
          <p:nvPr/>
        </p:nvPicPr>
        <p:blipFill rotWithShape="1">
          <a:blip r:embed="rId2" cstate="hqprint">
            <a:extLst>
              <a:ext uri="{28A0092B-C50C-407E-A947-70E740481C1C}">
                <a14:useLocalDpi xmlns:a14="http://schemas.microsoft.com/office/drawing/2010/main" val="0"/>
              </a:ext>
            </a:extLst>
          </a:blip>
          <a:srcRect l="1" r="26607"/>
          <a:stretch>
            <a:fillRect/>
          </a:stretch>
        </p:blipFill>
        <p:spPr bwMode="auto">
          <a:xfrm>
            <a:off x="1226559" y="2280510"/>
            <a:ext cx="7078691" cy="1555741"/>
          </a:xfrm>
          <a:prstGeom prst="rect">
            <a:avLst/>
          </a:prstGeom>
          <a:solidFill>
            <a:srgbClr val="C00000"/>
          </a:solidFill>
          <a:ln w="0">
            <a:noFill/>
          </a:ln>
        </p:spPr>
      </p:pic>
      <p:sp>
        <p:nvSpPr>
          <p:cNvPr id="8" name="任意多边形: 形状 7"/>
          <p:cNvSpPr/>
          <p:nvPr/>
        </p:nvSpPr>
        <p:spPr>
          <a:xfrm>
            <a:off x="1680992" y="2500230"/>
            <a:ext cx="6156684" cy="670151"/>
          </a:xfrm>
          <a:custGeom>
            <a:avLst/>
            <a:gdLst>
              <a:gd name="connsiteX0" fmla="*/ 0 w 4541003"/>
              <a:gd name="connsiteY0" fmla="*/ 413592 h 601956"/>
              <a:gd name="connsiteX1" fmla="*/ 340963 w 4541003"/>
              <a:gd name="connsiteY1" fmla="*/ 274108 h 601956"/>
              <a:gd name="connsiteX2" fmla="*/ 945396 w 4541003"/>
              <a:gd name="connsiteY2" fmla="*/ 165620 h 601956"/>
              <a:gd name="connsiteX3" fmla="*/ 1348352 w 4541003"/>
              <a:gd name="connsiteY3" fmla="*/ 157870 h 601956"/>
              <a:gd name="connsiteX4" fmla="*/ 1836549 w 4541003"/>
              <a:gd name="connsiteY4" fmla="*/ 281857 h 601956"/>
              <a:gd name="connsiteX5" fmla="*/ 2231756 w 4541003"/>
              <a:gd name="connsiteY5" fmla="*/ 188867 h 601956"/>
              <a:gd name="connsiteX6" fmla="*/ 2588217 w 4541003"/>
              <a:gd name="connsiteY6" fmla="*/ 41633 h 601956"/>
              <a:gd name="connsiteX7" fmla="*/ 2975674 w 4541003"/>
              <a:gd name="connsiteY7" fmla="*/ 2887 h 601956"/>
              <a:gd name="connsiteX8" fmla="*/ 3378630 w 4541003"/>
              <a:gd name="connsiteY8" fmla="*/ 10637 h 601956"/>
              <a:gd name="connsiteX9" fmla="*/ 3525864 w 4541003"/>
              <a:gd name="connsiteY9" fmla="*/ 72630 h 601956"/>
              <a:gd name="connsiteX10" fmla="*/ 3750590 w 4541003"/>
              <a:gd name="connsiteY10" fmla="*/ 312853 h 601956"/>
              <a:gd name="connsiteX11" fmla="*/ 3851329 w 4541003"/>
              <a:gd name="connsiteY11" fmla="*/ 475586 h 601956"/>
              <a:gd name="connsiteX12" fmla="*/ 4207790 w 4541003"/>
              <a:gd name="connsiteY12" fmla="*/ 599572 h 601956"/>
              <a:gd name="connsiteX13" fmla="*/ 4541003 w 4541003"/>
              <a:gd name="connsiteY13" fmla="*/ 545328 h 60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541003" h="601956">
                <a:moveTo>
                  <a:pt x="0" y="413592"/>
                </a:moveTo>
                <a:cubicBezTo>
                  <a:pt x="91698" y="364514"/>
                  <a:pt x="183397" y="315437"/>
                  <a:pt x="340963" y="274108"/>
                </a:cubicBezTo>
                <a:cubicBezTo>
                  <a:pt x="498529" y="232779"/>
                  <a:pt x="777498" y="184993"/>
                  <a:pt x="945396" y="165620"/>
                </a:cubicBezTo>
                <a:cubicBezTo>
                  <a:pt x="1113294" y="146247"/>
                  <a:pt x="1199827" y="138497"/>
                  <a:pt x="1348352" y="157870"/>
                </a:cubicBezTo>
                <a:cubicBezTo>
                  <a:pt x="1496878" y="177243"/>
                  <a:pt x="1689315" y="276691"/>
                  <a:pt x="1836549" y="281857"/>
                </a:cubicBezTo>
                <a:cubicBezTo>
                  <a:pt x="1983783" y="287023"/>
                  <a:pt x="2106478" y="228904"/>
                  <a:pt x="2231756" y="188867"/>
                </a:cubicBezTo>
                <a:cubicBezTo>
                  <a:pt x="2357034" y="148830"/>
                  <a:pt x="2464231" y="72630"/>
                  <a:pt x="2588217" y="41633"/>
                </a:cubicBezTo>
                <a:cubicBezTo>
                  <a:pt x="2712203" y="10636"/>
                  <a:pt x="2843939" y="8053"/>
                  <a:pt x="2975674" y="2887"/>
                </a:cubicBezTo>
                <a:cubicBezTo>
                  <a:pt x="3107410" y="-2279"/>
                  <a:pt x="3286932" y="-987"/>
                  <a:pt x="3378630" y="10637"/>
                </a:cubicBezTo>
                <a:cubicBezTo>
                  <a:pt x="3470328" y="22261"/>
                  <a:pt x="3463871" y="22261"/>
                  <a:pt x="3525864" y="72630"/>
                </a:cubicBezTo>
                <a:cubicBezTo>
                  <a:pt x="3587857" y="122999"/>
                  <a:pt x="3696346" y="245694"/>
                  <a:pt x="3750590" y="312853"/>
                </a:cubicBezTo>
                <a:cubicBezTo>
                  <a:pt x="3804834" y="380012"/>
                  <a:pt x="3775129" y="427800"/>
                  <a:pt x="3851329" y="475586"/>
                </a:cubicBezTo>
                <a:cubicBezTo>
                  <a:pt x="3927529" y="523372"/>
                  <a:pt x="4092844" y="587948"/>
                  <a:pt x="4207790" y="599572"/>
                </a:cubicBezTo>
                <a:cubicBezTo>
                  <a:pt x="4322736" y="611196"/>
                  <a:pt x="4431869" y="578262"/>
                  <a:pt x="4541003" y="545328"/>
                </a:cubicBezTo>
              </a:path>
            </a:pathLst>
          </a:cu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9" name="矩形 8"/>
          <p:cNvSpPr/>
          <p:nvPr/>
        </p:nvSpPr>
        <p:spPr>
          <a:xfrm>
            <a:off x="580992" y="4075382"/>
            <a:ext cx="6244017" cy="461665"/>
          </a:xfrm>
          <a:prstGeom prst="rect">
            <a:avLst/>
          </a:prstGeom>
        </p:spPr>
        <p:txBody>
          <a:bodyPr wrap="none">
            <a:spAutoFit/>
          </a:bodyPr>
          <a:lstStyle/>
          <a:p>
            <a:pPr marL="514350" indent="-514350">
              <a:buFont typeface="+mj-lt"/>
              <a:buAutoNum type="romanUcPeriod" startAt="2"/>
            </a:pPr>
            <a:r>
              <a:rPr lang="zh-CN" altLang="en-US" sz="2400" dirty="0">
                <a:solidFill>
                  <a:srgbClr val="FF0000"/>
                </a:solidFill>
                <a:latin typeface="隶书" panose="02010509060101010101" pitchFamily="49" charset="-122"/>
                <a:ea typeface="隶书" panose="02010509060101010101" pitchFamily="49" charset="-122"/>
              </a:rPr>
              <a:t>连续曲线可以用</a:t>
            </a:r>
            <a:r>
              <a:rPr lang="zh-CN" altLang="zh-CN" sz="2400" dirty="0">
                <a:solidFill>
                  <a:srgbClr val="FF0000"/>
                </a:solidFill>
                <a:latin typeface="隶书" panose="02010509060101010101" pitchFamily="49" charset="-122"/>
                <a:ea typeface="隶书" panose="02010509060101010101" pitchFamily="49" charset="-122"/>
              </a:rPr>
              <a:t>高次多项式作</a:t>
            </a:r>
            <a:r>
              <a:rPr lang="zh-CN" altLang="en-US" sz="2400" dirty="0">
                <a:solidFill>
                  <a:srgbClr val="FF0000"/>
                </a:solidFill>
                <a:latin typeface="隶书" panose="02010509060101010101" pitchFamily="49" charset="-122"/>
                <a:ea typeface="隶书" panose="02010509060101010101" pitchFamily="49" charset="-122"/>
              </a:rPr>
              <a:t>为</a:t>
            </a:r>
            <a:r>
              <a:rPr lang="zh-CN" altLang="zh-CN" sz="2400" dirty="0">
                <a:solidFill>
                  <a:srgbClr val="FF0000"/>
                </a:solidFill>
                <a:latin typeface="隶书" panose="02010509060101010101" pitchFamily="49" charset="-122"/>
                <a:ea typeface="隶书" panose="02010509060101010101" pitchFamily="49" charset="-122"/>
              </a:rPr>
              <a:t>插值函数</a:t>
            </a:r>
            <a:endParaRPr lang="zh-CN" altLang="en-US" sz="2400" dirty="0">
              <a:solidFill>
                <a:srgbClr val="FF0000"/>
              </a:solidFill>
              <a:latin typeface="隶书" panose="02010509060101010101" pitchFamily="49" charset="-122"/>
              <a:ea typeface="隶书" panose="02010509060101010101" pitchFamily="49" charset="-122"/>
            </a:endParaRPr>
          </a:p>
        </p:txBody>
      </p:sp>
      <p:sp>
        <p:nvSpPr>
          <p:cNvPr id="10" name="矩形 9"/>
          <p:cNvSpPr/>
          <p:nvPr/>
        </p:nvSpPr>
        <p:spPr>
          <a:xfrm>
            <a:off x="539552" y="1788980"/>
            <a:ext cx="8676964" cy="461665"/>
          </a:xfrm>
          <a:prstGeom prst="rect">
            <a:avLst/>
          </a:prstGeom>
        </p:spPr>
        <p:txBody>
          <a:bodyPr wrap="none">
            <a:spAutoFit/>
          </a:bodyPr>
          <a:lstStyle/>
          <a:p>
            <a:pPr marL="514350" indent="-514350">
              <a:buFont typeface="+mj-lt"/>
              <a:buAutoNum type="romanUcPeriod"/>
            </a:pPr>
            <a:r>
              <a:rPr lang="zh-CN" altLang="zh-CN" sz="2400" dirty="0">
                <a:solidFill>
                  <a:srgbClr val="FF0000"/>
                </a:solidFill>
                <a:latin typeface="隶书" panose="02010509060101010101" pitchFamily="49" charset="-122"/>
                <a:ea typeface="隶书" panose="02010509060101010101" pitchFamily="49" charset="-122"/>
              </a:rPr>
              <a:t>分段低次多项式作</a:t>
            </a:r>
            <a:r>
              <a:rPr lang="zh-CN" altLang="en-US" sz="2400" dirty="0">
                <a:solidFill>
                  <a:srgbClr val="FF0000"/>
                </a:solidFill>
                <a:latin typeface="隶书" panose="02010509060101010101" pitchFamily="49" charset="-122"/>
                <a:ea typeface="隶书" panose="02010509060101010101" pitchFamily="49" charset="-122"/>
              </a:rPr>
              <a:t>为</a:t>
            </a:r>
            <a:r>
              <a:rPr lang="zh-CN" altLang="zh-CN" sz="2400" dirty="0">
                <a:solidFill>
                  <a:srgbClr val="FF0000"/>
                </a:solidFill>
                <a:latin typeface="隶书" panose="02010509060101010101" pitchFamily="49" charset="-122"/>
                <a:ea typeface="隶书" panose="02010509060101010101" pitchFamily="49" charset="-122"/>
              </a:rPr>
              <a:t>插值函数</a:t>
            </a:r>
            <a:r>
              <a:rPr lang="en-US" altLang="zh-CN" sz="2400" dirty="0">
                <a:solidFill>
                  <a:srgbClr val="FF0000"/>
                </a:solidFill>
                <a:latin typeface="隶书" panose="02010509060101010101" pitchFamily="49" charset="-122"/>
                <a:ea typeface="隶书" panose="02010509060101010101" pitchFamily="49" charset="-122"/>
              </a:rPr>
              <a:t>,</a:t>
            </a:r>
            <a:r>
              <a:rPr lang="zh-CN" altLang="en-US" sz="2400" dirty="0">
                <a:solidFill>
                  <a:srgbClr val="FF0000"/>
                </a:solidFill>
                <a:latin typeface="隶书" panose="02010509060101010101" pitchFamily="49" charset="-122"/>
                <a:ea typeface="隶书" panose="02010509060101010101" pitchFamily="49" charset="-122"/>
              </a:rPr>
              <a:t>如分段线性插值，三次插值</a:t>
            </a:r>
          </a:p>
        </p:txBody>
      </p:sp>
      <p:cxnSp>
        <p:nvCxnSpPr>
          <p:cNvPr id="11" name="直接连接符 10"/>
          <p:cNvCxnSpPr/>
          <p:nvPr/>
        </p:nvCxnSpPr>
        <p:spPr>
          <a:xfrm flipV="1">
            <a:off x="1963711" y="2738334"/>
            <a:ext cx="1636181" cy="189244"/>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599892" y="2738334"/>
            <a:ext cx="635830" cy="15119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4242939" y="2548135"/>
            <a:ext cx="989888" cy="350007"/>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232827" y="2553751"/>
            <a:ext cx="995357"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28184" y="2548135"/>
            <a:ext cx="648072" cy="616393"/>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sp>
        <p:nvSpPr>
          <p:cNvPr id="16" name="形状 123907"/>
          <p:cNvSpPr/>
          <p:nvPr/>
        </p:nvSpPr>
        <p:spPr>
          <a:xfrm>
            <a:off x="4968547" y="3538243"/>
            <a:ext cx="3750153" cy="400110"/>
          </a:xfrm>
          <a:prstGeom prst="rect">
            <a:avLst/>
          </a:prstGeom>
          <a:solidFill>
            <a:srgbClr val="0070C0"/>
          </a:solidFill>
          <a:effectLst>
            <a:outerShdw blurRad="63500" sx="102000" sy="102000" algn="ctr" rotWithShape="0">
              <a:prstClr val="black">
                <a:alpha val="40000"/>
              </a:prstClr>
            </a:outerShdw>
          </a:effectLst>
        </p:spPr>
        <p:txBody>
          <a:bodyPr wrap="square">
            <a:spAutoFit/>
          </a:bodyPr>
          <a:lstStyle/>
          <a:p>
            <a:pPr eaLnBrk="0" hangingPunct="0">
              <a:spcBef>
                <a:spcPts val="0"/>
              </a:spcBef>
              <a:spcAft>
                <a:spcPts val="0"/>
              </a:spcAft>
            </a:pPr>
            <a:r>
              <a:rPr lang="zh-CN" altLang="en-US" sz="2000" dirty="0">
                <a:solidFill>
                  <a:schemeClr val="bg1"/>
                </a:solidFill>
                <a:latin typeface="隶书" panose="02010509060101010101" pitchFamily="49" charset="-122"/>
                <a:ea typeface="隶书" panose="02010509060101010101" pitchFamily="49" charset="-122"/>
              </a:rPr>
              <a:t>每段插值函数为线性函数</a:t>
            </a:r>
            <a:r>
              <a:rPr lang="en-US" altLang="zh-CN" sz="2000" dirty="0">
                <a:solidFill>
                  <a:schemeClr val="bg1"/>
                </a:solidFill>
                <a:latin typeface="隶书" panose="02010509060101010101" pitchFamily="49" charset="-122"/>
                <a:ea typeface="隶书" panose="02010509060101010101" pitchFamily="49" charset="-122"/>
              </a:rPr>
              <a:t>-</a:t>
            </a:r>
            <a:r>
              <a:rPr lang="zh-CN" altLang="en-US" sz="2000" dirty="0">
                <a:solidFill>
                  <a:schemeClr val="bg1"/>
                </a:solidFill>
                <a:latin typeface="隶书" panose="02010509060101010101" pitchFamily="49" charset="-122"/>
                <a:ea typeface="隶书" panose="02010509060101010101" pitchFamily="49" charset="-122"/>
              </a:rPr>
              <a:t>折线</a:t>
            </a:r>
            <a:endParaRPr lang="ko-KR" altLang="en-US" sz="2000" dirty="0">
              <a:solidFill>
                <a:schemeClr val="bg1"/>
              </a:solidFill>
              <a:latin typeface="隶书" panose="02010509060101010101" pitchFamily="49" charset="-122"/>
              <a:ea typeface="隶书" panose="02010509060101010101" pitchFamily="49" charset="-122"/>
            </a:endParaRPr>
          </a:p>
        </p:txBody>
      </p:sp>
      <p:sp>
        <p:nvSpPr>
          <p:cNvPr id="17" name="矩形 16"/>
          <p:cNvSpPr/>
          <p:nvPr/>
        </p:nvSpPr>
        <p:spPr>
          <a:xfrm>
            <a:off x="1945180" y="47690"/>
            <a:ext cx="6276077" cy="584775"/>
          </a:xfrm>
          <a:prstGeom prst="rect">
            <a:avLst/>
          </a:prstGeom>
          <a:solidFill>
            <a:schemeClr val="bg1"/>
          </a:solidFill>
        </p:spPr>
        <p:txBody>
          <a:bodyPr wrap="none">
            <a:spAutoFit/>
          </a:bodyPr>
          <a:lstStyle/>
          <a:p>
            <a:r>
              <a:rPr lang="en-US" altLang="zh-CN" sz="3200" dirty="0">
                <a:solidFill>
                  <a:srgbClr val="002060"/>
                </a:solidFill>
                <a:latin typeface="华文楷体" panose="02010600040101010101" pitchFamily="2" charset="-122"/>
                <a:ea typeface="华文楷体" panose="02010600040101010101" pitchFamily="2" charset="-122"/>
              </a:rPr>
              <a:t>§5.4.1</a:t>
            </a:r>
            <a:r>
              <a:rPr lang="en-US" altLang="ko-KR" sz="3200" dirty="0">
                <a:solidFill>
                  <a:srgbClr val="002060"/>
                </a:solidFill>
                <a:latin typeface="华文楷体" panose="02010600040101010101" pitchFamily="2" charset="-122"/>
                <a:ea typeface="华文楷体" panose="02010600040101010101" pitchFamily="2" charset="-122"/>
              </a:rPr>
              <a:t>插值</a:t>
            </a:r>
            <a:r>
              <a:rPr lang="zh-CN" altLang="en-US" sz="3200" dirty="0">
                <a:solidFill>
                  <a:srgbClr val="002060"/>
                </a:solidFill>
                <a:latin typeface="华文楷体" panose="02010600040101010101" pitchFamily="2" charset="-122"/>
                <a:ea typeface="华文楷体" panose="02010600040101010101" pitchFamily="2" charset="-122"/>
              </a:rPr>
              <a:t>原理</a:t>
            </a:r>
            <a:r>
              <a:rPr lang="en-US" altLang="zh-CN" sz="3200" dirty="0">
                <a:solidFill>
                  <a:srgbClr val="FF0000"/>
                </a:solidFill>
                <a:latin typeface="华文楷体" panose="02010600040101010101" pitchFamily="2" charset="-122"/>
                <a:ea typeface="华文楷体" panose="02010600040101010101" pitchFamily="2" charset="-122"/>
              </a:rPr>
              <a:t>———</a:t>
            </a:r>
            <a:r>
              <a:rPr lang="zh-CN" altLang="en-US" sz="3200" dirty="0">
                <a:solidFill>
                  <a:srgbClr val="FF0000"/>
                </a:solidFill>
                <a:latin typeface="华文楷体" panose="02010600040101010101" pitchFamily="2" charset="-122"/>
                <a:ea typeface="华文楷体" panose="02010600040101010101" pitchFamily="2" charset="-122"/>
              </a:rPr>
              <a:t>多项式插值</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circle(in)">
                                      <p:cBhvr>
                                        <p:cTn id="35" dur="20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animBg="1"/>
      <p:bldP spid="9" grpId="0"/>
      <p:bldP spid="10" grpId="0"/>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p:cNvPicPr>
            <a:picLocks noChangeAspect="1" noChangeArrowheads="1"/>
          </p:cNvPicPr>
          <p:nvPr/>
        </p:nvPicPr>
        <p:blipFill rotWithShape="1">
          <a:blip r:embed="rId3" cstate="print"/>
          <a:srcRect r="45533"/>
          <a:stretch>
            <a:fillRect/>
          </a:stretch>
        </p:blipFill>
        <p:spPr bwMode="auto">
          <a:xfrm>
            <a:off x="107504" y="844675"/>
            <a:ext cx="6167209" cy="1972489"/>
          </a:xfrm>
          <a:prstGeom prst="rect">
            <a:avLst/>
          </a:prstGeom>
          <a:noFill/>
          <a:ln w="9525">
            <a:noFill/>
            <a:miter lim="800000"/>
            <a:headEnd/>
            <a:tailEnd/>
          </a:ln>
        </p:spPr>
      </p:pic>
      <p:pic>
        <p:nvPicPr>
          <p:cNvPr id="5" name="Picture 4"/>
          <p:cNvPicPr>
            <a:picLocks noChangeAspect="1" noChangeArrowheads="1"/>
          </p:cNvPicPr>
          <p:nvPr/>
        </p:nvPicPr>
        <p:blipFill rotWithShape="1">
          <a:blip r:embed="rId3" cstate="print"/>
          <a:srcRect l="55406" t="15181" r="1" b="14492"/>
          <a:stretch>
            <a:fillRect/>
          </a:stretch>
        </p:blipFill>
        <p:spPr bwMode="auto">
          <a:xfrm>
            <a:off x="152932" y="2785732"/>
            <a:ext cx="5024048" cy="1524476"/>
          </a:xfrm>
          <a:prstGeom prst="rect">
            <a:avLst/>
          </a:prstGeom>
          <a:noFill/>
          <a:ln w="9525">
            <a:noFill/>
            <a:miter lim="800000"/>
            <a:headEnd/>
            <a:tailEnd/>
          </a:ln>
        </p:spPr>
      </p:pic>
      <p:cxnSp>
        <p:nvCxnSpPr>
          <p:cNvPr id="6" name="直接连接符 5"/>
          <p:cNvCxnSpPr/>
          <p:nvPr/>
        </p:nvCxnSpPr>
        <p:spPr bwMode="auto">
          <a:xfrm>
            <a:off x="208428" y="1428148"/>
            <a:ext cx="1495886" cy="0"/>
          </a:xfrm>
          <a:prstGeom prst="line">
            <a:avLst/>
          </a:prstGeom>
          <a:ln w="76200">
            <a:solidFill>
              <a:srgbClr val="C00000"/>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cxnSp>
        <p:nvCxnSpPr>
          <p:cNvPr id="7" name="直接连接符 6"/>
          <p:cNvCxnSpPr/>
          <p:nvPr/>
        </p:nvCxnSpPr>
        <p:spPr bwMode="auto">
          <a:xfrm>
            <a:off x="208428" y="2256240"/>
            <a:ext cx="1328647" cy="0"/>
          </a:xfrm>
          <a:prstGeom prst="line">
            <a:avLst/>
          </a:prstGeom>
          <a:ln w="76200">
            <a:solidFill>
              <a:srgbClr val="C00000"/>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cxnSp>
        <p:nvCxnSpPr>
          <p:cNvPr id="8" name="直接连接符 7"/>
          <p:cNvCxnSpPr/>
          <p:nvPr/>
        </p:nvCxnSpPr>
        <p:spPr bwMode="auto">
          <a:xfrm>
            <a:off x="152931" y="4013027"/>
            <a:ext cx="1114943" cy="0"/>
          </a:xfrm>
          <a:prstGeom prst="line">
            <a:avLst/>
          </a:prstGeom>
          <a:ln w="76200">
            <a:solidFill>
              <a:srgbClr val="C00000"/>
            </a:solidFill>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2"/>
          </a:lnRef>
          <a:fillRef idx="0">
            <a:schemeClr val="accent2"/>
          </a:fillRef>
          <a:effectRef idx="2">
            <a:schemeClr val="accent2"/>
          </a:effectRef>
          <a:fontRef idx="minor">
            <a:schemeClr val="tx1"/>
          </a:fontRef>
        </p:style>
      </p:cxnSp>
      <p:sp>
        <p:nvSpPr>
          <p:cNvPr id="9" name="矩形 8"/>
          <p:cNvSpPr/>
          <p:nvPr/>
        </p:nvSpPr>
        <p:spPr>
          <a:xfrm>
            <a:off x="6003739" y="2431917"/>
            <a:ext cx="2921297" cy="1971694"/>
          </a:xfrm>
          <a:prstGeom prst="rect">
            <a:avLst/>
          </a:prstGeom>
          <a:gradFill flip="none" rotWithShape="1">
            <a:gsLst>
              <a:gs pos="0">
                <a:srgbClr val="00B0F0">
                  <a:tint val="66000"/>
                  <a:satMod val="160000"/>
                </a:srgbClr>
              </a:gs>
              <a:gs pos="50000">
                <a:srgbClr val="00B0F0">
                  <a:tint val="44500"/>
                  <a:satMod val="160000"/>
                </a:srgbClr>
              </a:gs>
              <a:gs pos="100000">
                <a:srgbClr val="00B0F0">
                  <a:tint val="23500"/>
                  <a:satMod val="160000"/>
                </a:srgbClr>
              </a:gs>
            </a:gsLst>
            <a:lin ang="2700000" scaled="1"/>
            <a:tileRect/>
          </a:gradFill>
          <a:ln>
            <a:solidFill>
              <a:schemeClr val="tx1">
                <a:lumMod val="95000"/>
                <a:lumOff val="5000"/>
              </a:schemeClr>
            </a:solidFill>
          </a:ln>
          <a:scene3d>
            <a:camera prst="orthographicFront"/>
            <a:lightRig rig="threePt" dir="t"/>
          </a:scene3d>
          <a:sp3d>
            <a:bevelT prst="slope"/>
          </a:sp3d>
        </p:spPr>
        <p:txBody>
          <a:bodyPr wrap="square">
            <a:spAutoFit/>
          </a:bodyPr>
          <a:lstStyle/>
          <a:p>
            <a:pPr>
              <a:lnSpc>
                <a:spcPts val="3840"/>
              </a:lnSpc>
            </a:pPr>
            <a:r>
              <a:rPr lang="zh-CN" altLang="zh-CN" sz="2400" b="1" dirty="0">
                <a:solidFill>
                  <a:srgbClr val="002060"/>
                </a:solidFill>
                <a:latin typeface="隶书" panose="02010509060101010101" pitchFamily="49" charset="-122"/>
                <a:ea typeface="隶书" panose="02010509060101010101" pitchFamily="49" charset="-122"/>
              </a:rPr>
              <a:t>多项式插值</a:t>
            </a:r>
            <a:endParaRPr lang="en-US" altLang="zh-CN" sz="2400" b="1" dirty="0">
              <a:solidFill>
                <a:srgbClr val="002060"/>
              </a:solidFill>
              <a:latin typeface="隶书" panose="02010509060101010101" pitchFamily="49" charset="-122"/>
              <a:ea typeface="隶书" panose="02010509060101010101" pitchFamily="49" charset="-122"/>
            </a:endParaRPr>
          </a:p>
          <a:p>
            <a:pPr>
              <a:lnSpc>
                <a:spcPts val="3840"/>
              </a:lnSpc>
            </a:pPr>
            <a:r>
              <a:rPr lang="en-US" altLang="zh-CN" sz="2400" b="1" dirty="0">
                <a:solidFill>
                  <a:srgbClr val="002060"/>
                </a:solidFill>
                <a:latin typeface="隶书" panose="02010509060101010101" pitchFamily="49" charset="-122"/>
                <a:ea typeface="隶书" panose="02010509060101010101" pitchFamily="49" charset="-122"/>
              </a:rPr>
              <a:t>interp1</a:t>
            </a:r>
          </a:p>
          <a:p>
            <a:pPr>
              <a:lnSpc>
                <a:spcPts val="3840"/>
              </a:lnSpc>
            </a:pPr>
            <a:r>
              <a:rPr lang="en-US" altLang="zh-CN" sz="2400" b="1" dirty="0">
                <a:solidFill>
                  <a:srgbClr val="002060"/>
                </a:solidFill>
                <a:latin typeface="隶书" panose="02010509060101010101" pitchFamily="49" charset="-122"/>
                <a:ea typeface="隶书" panose="02010509060101010101" pitchFamily="49" charset="-122"/>
              </a:rPr>
              <a:t>interp2</a:t>
            </a:r>
          </a:p>
          <a:p>
            <a:pPr>
              <a:lnSpc>
                <a:spcPts val="3840"/>
              </a:lnSpc>
            </a:pPr>
            <a:r>
              <a:rPr lang="en-US" altLang="zh-CN" sz="2400" b="1" dirty="0">
                <a:solidFill>
                  <a:srgbClr val="002060"/>
                </a:solidFill>
                <a:latin typeface="隶书" panose="02010509060101010101" pitchFamily="49" charset="-122"/>
                <a:ea typeface="隶书" panose="02010509060101010101" pitchFamily="49" charset="-122"/>
              </a:rPr>
              <a:t>spline</a:t>
            </a:r>
          </a:p>
        </p:txBody>
      </p:sp>
      <p:sp>
        <p:nvSpPr>
          <p:cNvPr id="11" name="矩形 10"/>
          <p:cNvSpPr/>
          <p:nvPr/>
        </p:nvSpPr>
        <p:spPr>
          <a:xfrm>
            <a:off x="1635138" y="76837"/>
            <a:ext cx="6232796" cy="523220"/>
          </a:xfrm>
          <a:prstGeom prst="rect">
            <a:avLst/>
          </a:prstGeom>
          <a:solidFill>
            <a:schemeClr val="bg1"/>
          </a:solidFill>
        </p:spPr>
        <p:txBody>
          <a:bodyPr wrap="none">
            <a:spAutoFit/>
          </a:bodyPr>
          <a:lstStyle/>
          <a:p>
            <a:r>
              <a:rPr lang="en-US" altLang="zh-CN" sz="2800" dirty="0">
                <a:solidFill>
                  <a:srgbClr val="002060"/>
                </a:solidFill>
                <a:latin typeface="华文楷体" panose="02010600040101010101" pitchFamily="2" charset="-122"/>
                <a:ea typeface="华文楷体" panose="02010600040101010101" pitchFamily="2" charset="-122"/>
              </a:rPr>
              <a:t>§5.4.1</a:t>
            </a:r>
            <a:r>
              <a:rPr lang="en-US" altLang="ko-KR" sz="2800" dirty="0">
                <a:solidFill>
                  <a:srgbClr val="002060"/>
                </a:solidFill>
                <a:latin typeface="华文楷体" panose="02010600040101010101" pitchFamily="2" charset="-122"/>
                <a:ea typeface="华文楷体" panose="02010600040101010101" pitchFamily="2" charset="-122"/>
              </a:rPr>
              <a:t>插值</a:t>
            </a:r>
            <a:r>
              <a:rPr lang="zh-CN" altLang="en-US" sz="2800" dirty="0">
                <a:solidFill>
                  <a:srgbClr val="002060"/>
                </a:solidFill>
                <a:latin typeface="华文楷体" panose="02010600040101010101" pitchFamily="2" charset="-122"/>
                <a:ea typeface="华文楷体" panose="02010600040101010101" pitchFamily="2" charset="-122"/>
              </a:rPr>
              <a:t>特点</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多项式插值函数</a:t>
            </a:r>
            <a:endParaRPr lang="zh-CN" altLang="en-US" sz="2800" dirty="0">
              <a:latin typeface="华文楷体" panose="02010600040101010101" pitchFamily="2" charset="-122"/>
              <a:ea typeface="华文楷体" panose="02010600040101010101" pitchFamily="2" charset="-122"/>
            </a:endParaRPr>
          </a:p>
        </p:txBody>
      </p:sp>
      <p:sp>
        <p:nvSpPr>
          <p:cNvPr id="18" name="Rectangle 9"/>
          <p:cNvSpPr>
            <a:spLocks noChangeArrowheads="1"/>
          </p:cNvSpPr>
          <p:nvPr/>
        </p:nvSpPr>
        <p:spPr bwMode="auto">
          <a:xfrm>
            <a:off x="6426869" y="960279"/>
            <a:ext cx="2825651"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网格和散点数据插值、</a:t>
            </a:r>
            <a:endParaRPr kumimoji="0" lang="en-US" altLang="zh-CN" sz="2000" b="0"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数据网格化、</a:t>
            </a:r>
            <a:endParaRPr kumimoji="0" lang="en-US" altLang="zh-CN" sz="2000" b="0"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zh-CN" sz="2000" b="0"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t>分段多项式</a:t>
            </a:r>
            <a:br>
              <a:rPr kumimoji="0" lang="zh-CN" altLang="zh-CN" sz="2000" b="0" i="0" u="none" strike="noStrike" cap="none" normalizeH="0" baseline="0" dirty="0">
                <a:ln>
                  <a:noFill/>
                </a:ln>
                <a:solidFill>
                  <a:srgbClr val="00B0F0"/>
                </a:solidFill>
                <a:effectLst/>
                <a:latin typeface="微软雅黑" panose="020B0503020204020204" pitchFamily="34" charset="-122"/>
                <a:ea typeface="微软雅黑" panose="020B0503020204020204" pitchFamily="34" charset="-122"/>
              </a:rPr>
            </a:br>
            <a:endParaRPr kumimoji="0" lang="zh-CN" altLang="zh-CN" sz="2000" b="0" i="0" u="none" strike="noStrike" cap="none" normalizeH="0" baseline="0" dirty="0">
              <a:ln>
                <a:noFill/>
              </a:ln>
              <a:solidFill>
                <a:srgbClr val="00B0F0"/>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99591" y="123478"/>
            <a:ext cx="8023565" cy="523220"/>
          </a:xfrm>
          <a:prstGeom prst="rect">
            <a:avLst/>
          </a:prstGeom>
          <a:no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§5.4.2 </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en-US" altLang="ko-KR" sz="2800" kern="0" dirty="0" err="1">
                <a:solidFill>
                  <a:srgbClr val="FF0000"/>
                </a:solidFill>
                <a:latin typeface="华文楷体" panose="02010600040101010101" pitchFamily="2" charset="-122"/>
                <a:ea typeface="华文楷体" panose="02010600040101010101" pitchFamily="2" charset="-122"/>
              </a:rPr>
              <a:t>插值</a:t>
            </a:r>
            <a:r>
              <a:rPr lang="zh-CN" altLang="en-US" sz="2800" kern="0" dirty="0">
                <a:solidFill>
                  <a:srgbClr val="FF0000"/>
                </a:solidFill>
                <a:latin typeface="华文楷体" panose="02010600040101010101" pitchFamily="2" charset="-122"/>
                <a:ea typeface="华文楷体" panose="02010600040101010101" pitchFamily="2" charset="-122"/>
              </a:rPr>
              <a:t>特点</a:t>
            </a:r>
            <a:endParaRPr lang="zh-CN" altLang="en-US" sz="2800" dirty="0">
              <a:solidFill>
                <a:srgbClr val="FF0000"/>
              </a:solidFill>
              <a:latin typeface="华文楷体" panose="02010600040101010101" pitchFamily="2" charset="-122"/>
              <a:ea typeface="华文楷体" panose="02010600040101010101" pitchFamily="2" charset="-122"/>
            </a:endParaRPr>
          </a:p>
        </p:txBody>
      </p:sp>
      <p:pic>
        <p:nvPicPr>
          <p:cNvPr id="6" name="Picture 4"/>
          <p:cNvPicPr>
            <a:picLocks noChangeAspect="1"/>
          </p:cNvPicPr>
          <p:nvPr/>
        </p:nvPicPr>
        <p:blipFill rotWithShape="1">
          <a:blip r:embed="rId3" cstate="hqprint">
            <a:extLst>
              <a:ext uri="{28A0092B-C50C-407E-A947-70E740481C1C}">
                <a14:useLocalDpi xmlns:a14="http://schemas.microsoft.com/office/drawing/2010/main" val="0"/>
              </a:ext>
            </a:extLst>
          </a:blip>
          <a:srcRect r="3066"/>
          <a:stretch>
            <a:fillRect/>
          </a:stretch>
        </p:blipFill>
        <p:spPr bwMode="auto">
          <a:xfrm>
            <a:off x="0" y="1787322"/>
            <a:ext cx="8395447" cy="1153868"/>
          </a:xfrm>
          <a:prstGeom prst="rect">
            <a:avLst/>
          </a:prstGeom>
          <a:solidFill>
            <a:srgbClr val="C00000"/>
          </a:solidFill>
          <a:ln w="0">
            <a:noFill/>
          </a:ln>
        </p:spPr>
      </p:pic>
      <p:sp>
        <p:nvSpPr>
          <p:cNvPr id="7" name="TextBox 1"/>
          <p:cNvSpPr txBox="1"/>
          <p:nvPr/>
        </p:nvSpPr>
        <p:spPr>
          <a:xfrm>
            <a:off x="4285520" y="2692406"/>
            <a:ext cx="430154" cy="338554"/>
          </a:xfrm>
          <a:prstGeom prst="rect">
            <a:avLst/>
          </a:prstGeom>
          <a:solidFill>
            <a:srgbClr val="FFFF00"/>
          </a:solidFill>
          <a:ln w="57150" cap="flat" cmpd="sng">
            <a:solidFill>
              <a:schemeClr val="bg1"/>
            </a:solidFill>
            <a:prstDash val="solid"/>
          </a:ln>
          <a:scene3d>
            <a:camera prst="orthographicFront"/>
            <a:lightRig rig="threePt" dir="t"/>
          </a:scene3d>
          <a:sp3d>
            <a:bevelT prst="angle"/>
            <a:contourClr>
              <a:srgbClr val="000000"/>
            </a:contourClr>
          </a:sp3d>
        </p:spPr>
        <p:txBody>
          <a:bodyPr vert="horz" wrap="square" lIns="91440" tIns="45720" rIns="91440" bIns="45720" numCol="1" anchor="t">
            <a:spAutoFit/>
          </a:bodyPr>
          <a:lstStyle>
            <a:defPPr>
              <a:defRPr lang="zh-CN"/>
            </a:defPPr>
            <a:lvl1pPr marL="0" indent="0" defTabSz="914400" eaLnBrk="0" latinLnBrk="0">
              <a:lnSpc>
                <a:spcPct val="100000"/>
              </a:lnSpc>
              <a:spcBef>
                <a:spcPts val="0"/>
              </a:spcBef>
              <a:spcAft>
                <a:spcPts val="0"/>
              </a:spcAft>
              <a:buFontTx/>
              <a:buNone/>
              <a:defRPr b="0" cap="none">
                <a:latin typeface="宋体" panose="02010600030101010101" pitchFamily="2" charset="-122"/>
              </a:defRPr>
            </a:lvl1pPr>
          </a:lstStyle>
          <a:p>
            <a:r>
              <a:rPr lang="en-US" altLang="ko-KR" sz="1600" b="1" dirty="0">
                <a:solidFill>
                  <a:srgbClr val="FF0000"/>
                </a:solidFill>
              </a:rPr>
              <a:t>Xi</a:t>
            </a:r>
            <a:endParaRPr lang="ko-KR" altLang="en-US" sz="1600" b="1" dirty="0">
              <a:solidFill>
                <a:srgbClr val="FF0000"/>
              </a:solidFill>
            </a:endParaRPr>
          </a:p>
        </p:txBody>
      </p:sp>
      <p:sp>
        <p:nvSpPr>
          <p:cNvPr id="8" name="TextBox 7"/>
          <p:cNvSpPr txBox="1"/>
          <p:nvPr/>
        </p:nvSpPr>
        <p:spPr>
          <a:xfrm>
            <a:off x="3913999" y="1390160"/>
            <a:ext cx="464994" cy="338554"/>
          </a:xfrm>
          <a:prstGeom prst="rect">
            <a:avLst/>
          </a:prstGeom>
          <a:solidFill>
            <a:srgbClr val="FFFF00"/>
          </a:solidFill>
          <a:ln w="57150" cap="flat" cmpd="sng">
            <a:solidFill>
              <a:schemeClr val="bg1"/>
            </a:solidFill>
            <a:prstDash val="solid"/>
          </a:ln>
          <a:scene3d>
            <a:camera prst="orthographicFront"/>
            <a:lightRig rig="threePt" dir="t"/>
          </a:scene3d>
          <a:sp3d>
            <a:bevelT prst="angle"/>
            <a:contourClr>
              <a:srgbClr val="000000"/>
            </a:contourClr>
          </a:sp3d>
        </p:spPr>
        <p:txBody>
          <a:bodyPr vert="horz" wrap="square" lIns="91440" tIns="45720" rIns="91440" bIns="45720" numCol="1" anchor="t">
            <a:spAutoFit/>
          </a:bodyPr>
          <a:lstStyle>
            <a:defPPr>
              <a:defRPr lang="zh-CN"/>
            </a:defPPr>
            <a:lvl1pPr marL="0" indent="0" defTabSz="914400" eaLnBrk="0" latinLnBrk="0">
              <a:lnSpc>
                <a:spcPct val="100000"/>
              </a:lnSpc>
              <a:spcBef>
                <a:spcPts val="0"/>
              </a:spcBef>
              <a:spcAft>
                <a:spcPts val="0"/>
              </a:spcAft>
              <a:buFontTx/>
              <a:buNone/>
              <a:defRPr sz="1600" b="1" cap="none">
                <a:solidFill>
                  <a:srgbClr val="FF0000"/>
                </a:solidFill>
                <a:latin typeface="宋体" panose="02010600030101010101" pitchFamily="2" charset="-122"/>
              </a:defRPr>
            </a:lvl1pPr>
          </a:lstStyle>
          <a:p>
            <a:r>
              <a:rPr lang="en-US" altLang="ko-KR"/>
              <a:t>Yi</a:t>
            </a:r>
            <a:endParaRPr lang="ko-KR" altLang="en-US" dirty="0"/>
          </a:p>
        </p:txBody>
      </p:sp>
      <p:sp>
        <p:nvSpPr>
          <p:cNvPr id="9" name="矩形 8"/>
          <p:cNvSpPr/>
          <p:nvPr/>
        </p:nvSpPr>
        <p:spPr>
          <a:xfrm>
            <a:off x="3868302" y="2483470"/>
            <a:ext cx="434734" cy="58477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FF0000"/>
                </a:solidFill>
                <a:latin typeface="Arial" panose="020B0604020202020204" pitchFamily="34" charset="0"/>
                <a:ea typeface="Arial" panose="020B0604020202020204" pitchFamily="34" charset="0"/>
              </a:rPr>
              <a:t>o</a:t>
            </a:r>
            <a:endParaRPr lang="ko-KR" altLang="en-US" sz="3200" b="1" cap="none" dirty="0">
              <a:solidFill>
                <a:srgbClr val="FF0000"/>
              </a:solidFill>
              <a:latin typeface="Arial" panose="020B0604020202020204" pitchFamily="34" charset="0"/>
              <a:ea typeface="Arial" panose="020B0604020202020204" pitchFamily="34" charset="0"/>
            </a:endParaRPr>
          </a:p>
        </p:txBody>
      </p:sp>
      <p:sp>
        <p:nvSpPr>
          <p:cNvPr id="10" name="矩形 9"/>
          <p:cNvSpPr/>
          <p:nvPr/>
        </p:nvSpPr>
        <p:spPr>
          <a:xfrm flipH="1" flipV="1">
            <a:off x="3282597" y="1747675"/>
            <a:ext cx="486351" cy="523220"/>
          </a:xfrm>
          <a:prstGeom prst="rect">
            <a:avLst/>
          </a:prstGeom>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800" b="1" cap="none" dirty="0">
                <a:solidFill>
                  <a:srgbClr val="00B0F0"/>
                </a:solidFill>
                <a:latin typeface="Arial" panose="020B0604020202020204" pitchFamily="34" charset="0"/>
                <a:ea typeface="Arial" panose="020B0604020202020204" pitchFamily="34" charset="0"/>
              </a:rPr>
              <a:t>o</a:t>
            </a:r>
            <a:endParaRPr lang="ko-KR" altLang="en-US" sz="2800" b="1" cap="none" dirty="0">
              <a:solidFill>
                <a:srgbClr val="00B0F0"/>
              </a:solidFill>
              <a:latin typeface="Arial" panose="020B0604020202020204" pitchFamily="34" charset="0"/>
              <a:ea typeface="Arial" panose="020B0604020202020204" pitchFamily="34" charset="0"/>
            </a:endParaRPr>
          </a:p>
        </p:txBody>
      </p:sp>
      <p:sp>
        <p:nvSpPr>
          <p:cNvPr id="11" name="矩形 10"/>
          <p:cNvSpPr/>
          <p:nvPr/>
        </p:nvSpPr>
        <p:spPr>
          <a:xfrm>
            <a:off x="1898099" y="1791568"/>
            <a:ext cx="335280" cy="584775"/>
          </a:xfrm>
          <a:prstGeom prst="rect">
            <a:avLst/>
          </a:prstGeom>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00B0F0"/>
                </a:solidFill>
                <a:latin typeface="Arial" panose="020B0604020202020204" pitchFamily="34" charset="0"/>
                <a:ea typeface="Arial" panose="020B0604020202020204" pitchFamily="34" charset="0"/>
              </a:rPr>
              <a:t>o</a:t>
            </a:r>
            <a:endParaRPr lang="ko-KR" altLang="en-US" sz="3200" b="1" cap="none" dirty="0">
              <a:solidFill>
                <a:srgbClr val="00B0F0"/>
              </a:solidFill>
              <a:latin typeface="Arial" panose="020B0604020202020204" pitchFamily="34" charset="0"/>
              <a:ea typeface="Arial" panose="020B0604020202020204" pitchFamily="34" charset="0"/>
            </a:endParaRPr>
          </a:p>
        </p:txBody>
      </p:sp>
      <p:sp>
        <p:nvSpPr>
          <p:cNvPr id="12" name="形状 123907"/>
          <p:cNvSpPr/>
          <p:nvPr/>
        </p:nvSpPr>
        <p:spPr>
          <a:xfrm>
            <a:off x="322945" y="3107744"/>
            <a:ext cx="749919" cy="400110"/>
          </a:xfrm>
          <a:prstGeom prst="rect">
            <a:avLst/>
          </a:prstGeom>
          <a:solidFill>
            <a:srgbClr val="C00000"/>
          </a:solidFill>
          <a:effectLst>
            <a:outerShdw blurRad="63500" sx="102000" sy="102000" algn="ctr" rotWithShape="0">
              <a:prstClr val="black">
                <a:alpha val="40000"/>
              </a:prstClr>
            </a:outerShdw>
          </a:effectLst>
        </p:spPr>
        <p:txBody>
          <a:bodyPr wrap="square">
            <a:spAutoFit/>
          </a:bodyPr>
          <a:lstStyle/>
          <a:p>
            <a:pPr eaLnBrk="0" hangingPunct="0">
              <a:spcBef>
                <a:spcPts val="0"/>
              </a:spcBef>
              <a:spcAft>
                <a:spcPts val="0"/>
              </a:spcAft>
            </a:pPr>
            <a:r>
              <a:rPr lang="en-US" altLang="ko-KR" sz="2000" kern="0" dirty="0" err="1">
                <a:solidFill>
                  <a:srgbClr val="FFFF00"/>
                </a:solidFill>
                <a:latin typeface="隶书" panose="02010509060101010101" pitchFamily="49" charset="-122"/>
                <a:ea typeface="隶书" panose="02010509060101010101" pitchFamily="49" charset="-122"/>
                <a:cs typeface="+mj-cs"/>
              </a:rPr>
              <a:t>内插</a:t>
            </a:r>
            <a:endParaRPr lang="ko-KR" altLang="en-US" sz="2000" kern="0" dirty="0">
              <a:solidFill>
                <a:srgbClr val="FFFF00"/>
              </a:solidFill>
              <a:latin typeface="隶书" panose="02010509060101010101" pitchFamily="49" charset="-122"/>
              <a:ea typeface="隶书" panose="02010509060101010101" pitchFamily="49" charset="-122"/>
              <a:cs typeface="+mj-cs"/>
            </a:endParaRPr>
          </a:p>
        </p:txBody>
      </p:sp>
      <p:sp>
        <p:nvSpPr>
          <p:cNvPr id="13" name="矩形 12"/>
          <p:cNvSpPr/>
          <p:nvPr/>
        </p:nvSpPr>
        <p:spPr>
          <a:xfrm>
            <a:off x="4422583" y="1374771"/>
            <a:ext cx="1107996" cy="369332"/>
          </a:xfrm>
          <a:prstGeom prst="rect">
            <a:avLst/>
          </a:prstGeom>
        </p:spPr>
        <p:txBody>
          <a:bodyPr wrap="none">
            <a:spAutoFit/>
          </a:bodyPr>
          <a:lstStyle/>
          <a:p>
            <a:r>
              <a:rPr lang="en-US" altLang="ko-KR" b="1" dirty="0" err="1">
                <a:solidFill>
                  <a:srgbClr val="FF0000"/>
                </a:solidFill>
                <a:latin typeface="微软雅黑" panose="020B0503020204020204" pitchFamily="34" charset="-122"/>
                <a:ea typeface="微软雅黑" panose="020B0503020204020204" pitchFamily="34" charset="-122"/>
              </a:rPr>
              <a:t>插值结果</a:t>
            </a:r>
            <a:endParaRPr lang="zh-CN" altLang="en-US" dirty="0"/>
          </a:p>
        </p:txBody>
      </p:sp>
      <p:sp>
        <p:nvSpPr>
          <p:cNvPr id="14" name="矩形 13"/>
          <p:cNvSpPr/>
          <p:nvPr/>
        </p:nvSpPr>
        <p:spPr>
          <a:xfrm>
            <a:off x="402560" y="1966519"/>
            <a:ext cx="335280" cy="584775"/>
          </a:xfrm>
          <a:prstGeom prst="rect">
            <a:avLst/>
          </a:prstGeom>
        </p:spPr>
        <p:txBody>
          <a:bodyPr vert="horz" wrap="square" lIns="91440" tIns="45720" rIns="91440" bIns="45720" numCol="1" anchor="t">
            <a:spAutoFit/>
          </a:bodyPr>
          <a:lstStyle/>
          <a:p>
            <a:pPr eaLnBrk="0">
              <a:spcBef>
                <a:spcPts val="0"/>
              </a:spcBef>
              <a:spcAft>
                <a:spcPts val="0"/>
              </a:spcAft>
            </a:pPr>
            <a:r>
              <a:rPr lang="en-US" altLang="ko-KR" sz="3200" b="1" dirty="0">
                <a:solidFill>
                  <a:srgbClr val="00B0F0"/>
                </a:solidFill>
                <a:ea typeface="Arial" panose="020B0604020202020204" pitchFamily="34" charset="0"/>
              </a:rPr>
              <a:t>o</a:t>
            </a:r>
            <a:endParaRPr lang="ko-KR" altLang="en-US" sz="3200" b="1" dirty="0">
              <a:solidFill>
                <a:srgbClr val="00B0F0"/>
              </a:solidFill>
              <a:ea typeface="Arial" panose="020B0604020202020204" pitchFamily="34" charset="0"/>
            </a:endParaRPr>
          </a:p>
        </p:txBody>
      </p:sp>
      <p:sp>
        <p:nvSpPr>
          <p:cNvPr id="15" name="矩形 14"/>
          <p:cNvSpPr/>
          <p:nvPr/>
        </p:nvSpPr>
        <p:spPr>
          <a:xfrm>
            <a:off x="4849247" y="2148084"/>
            <a:ext cx="335280" cy="523220"/>
          </a:xfrm>
          <a:prstGeom prst="rect">
            <a:avLst/>
          </a:prstGeom>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800" b="1" cap="none" dirty="0">
                <a:solidFill>
                  <a:srgbClr val="00B0F0"/>
                </a:solidFill>
                <a:latin typeface="Arial" panose="020B0604020202020204" pitchFamily="34" charset="0"/>
                <a:ea typeface="Arial" panose="020B0604020202020204" pitchFamily="34" charset="0"/>
              </a:rPr>
              <a:t>o</a:t>
            </a:r>
            <a:endParaRPr lang="ko-KR" altLang="en-US" sz="2800" b="1" cap="none" dirty="0">
              <a:solidFill>
                <a:srgbClr val="00B0F0"/>
              </a:solidFill>
              <a:latin typeface="Arial" panose="020B0604020202020204" pitchFamily="34" charset="0"/>
              <a:ea typeface="Arial" panose="020B0604020202020204" pitchFamily="34" charset="0"/>
            </a:endParaRPr>
          </a:p>
        </p:txBody>
      </p:sp>
      <p:sp>
        <p:nvSpPr>
          <p:cNvPr id="16" name="流程图: 联系 13"/>
          <p:cNvSpPr/>
          <p:nvPr/>
        </p:nvSpPr>
        <p:spPr bwMode="auto">
          <a:xfrm>
            <a:off x="2598804" y="2077246"/>
            <a:ext cx="180020" cy="222020"/>
          </a:xfrm>
          <a:prstGeom prst="flowChartConnector">
            <a:avLst/>
          </a:prstGeom>
          <a:solidFill>
            <a:srgbClr val="FF0000"/>
          </a:solidFill>
          <a:ln w="9525" cap="flat" cmpd="sng" algn="ctr">
            <a:solidFill>
              <a:schemeClr val="tx1"/>
            </a:solidFill>
            <a:prstDash val="solid"/>
            <a:round/>
            <a:headEnd type="none" w="med" len="med"/>
            <a:tailEnd type="none" w="med" len="med"/>
          </a:ln>
          <a:scene3d>
            <a:camera prst="orthographicFront"/>
            <a:lightRig rig="threePt" dir="t"/>
          </a:scene3d>
          <a:sp3d>
            <a:bevelT prst="angle"/>
          </a:sp3d>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流程图: 联系 20"/>
          <p:cNvSpPr/>
          <p:nvPr/>
        </p:nvSpPr>
        <p:spPr bwMode="auto">
          <a:xfrm>
            <a:off x="4000670" y="1818100"/>
            <a:ext cx="199991" cy="199482"/>
          </a:xfrm>
          <a:prstGeom prst="flowChartConnector">
            <a:avLst/>
          </a:prstGeom>
          <a:solidFill>
            <a:srgbClr val="FF0000"/>
          </a:solidFill>
          <a:ln w="9525" cap="flat" cmpd="sng" algn="ctr">
            <a:solidFill>
              <a:schemeClr val="tx1"/>
            </a:solidFill>
            <a:prstDash val="solid"/>
            <a:round/>
            <a:headEnd type="none" w="med" len="med"/>
            <a:tailEnd type="none" w="med" len="med"/>
          </a:ln>
          <a:scene3d>
            <a:camera prst="orthographicFront"/>
            <a:lightRig rig="threePt" dir="t"/>
          </a:scene3d>
          <a:sp3d>
            <a:bevelT prst="angle"/>
          </a:sp3d>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矩形 17"/>
          <p:cNvSpPr/>
          <p:nvPr/>
        </p:nvSpPr>
        <p:spPr>
          <a:xfrm>
            <a:off x="2452102" y="2502085"/>
            <a:ext cx="434734" cy="58477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FF0000"/>
                </a:solidFill>
                <a:latin typeface="Arial" panose="020B0604020202020204" pitchFamily="34" charset="0"/>
                <a:ea typeface="Arial" panose="020B0604020202020204" pitchFamily="34" charset="0"/>
              </a:rPr>
              <a:t>o</a:t>
            </a:r>
            <a:endParaRPr lang="ko-KR" altLang="en-US" sz="3200" b="1" cap="none" dirty="0">
              <a:solidFill>
                <a:srgbClr val="FF0000"/>
              </a:solidFill>
              <a:latin typeface="Arial" panose="020B0604020202020204" pitchFamily="34" charset="0"/>
              <a:ea typeface="Arial" panose="020B0604020202020204" pitchFamily="34" charset="0"/>
            </a:endParaRPr>
          </a:p>
        </p:txBody>
      </p:sp>
      <p:sp>
        <p:nvSpPr>
          <p:cNvPr id="19" name="矩形 18"/>
          <p:cNvSpPr/>
          <p:nvPr/>
        </p:nvSpPr>
        <p:spPr>
          <a:xfrm>
            <a:off x="4740106" y="2526899"/>
            <a:ext cx="877163" cy="369332"/>
          </a:xfrm>
          <a:prstGeom prst="rect">
            <a:avLst/>
          </a:prstGeom>
        </p:spPr>
        <p:txBody>
          <a:bodyPr wrap="none">
            <a:spAutoFit/>
          </a:bodyPr>
          <a:lstStyle/>
          <a:p>
            <a:r>
              <a:rPr lang="en-US" altLang="ko-KR" b="1" dirty="0" err="1">
                <a:solidFill>
                  <a:srgbClr val="FF0000"/>
                </a:solidFill>
                <a:latin typeface="微软雅黑" panose="020B0503020204020204" pitchFamily="34" charset="-122"/>
                <a:ea typeface="微软雅黑" panose="020B0503020204020204" pitchFamily="34" charset="-122"/>
              </a:rPr>
              <a:t>插值</a:t>
            </a:r>
            <a:r>
              <a:rPr lang="zh-CN" altLang="en-US" b="1" dirty="0">
                <a:solidFill>
                  <a:srgbClr val="FF0000"/>
                </a:solidFill>
                <a:latin typeface="微软雅黑" panose="020B0503020204020204" pitchFamily="34" charset="-122"/>
                <a:ea typeface="微软雅黑" panose="020B0503020204020204" pitchFamily="34" charset="-122"/>
              </a:rPr>
              <a:t>点</a:t>
            </a:r>
            <a:endParaRPr lang="zh-CN" altLang="en-US" dirty="0"/>
          </a:p>
        </p:txBody>
      </p:sp>
      <p:sp>
        <p:nvSpPr>
          <p:cNvPr id="20" name="形状 7"/>
          <p:cNvSpPr/>
          <p:nvPr/>
        </p:nvSpPr>
        <p:spPr>
          <a:xfrm>
            <a:off x="5537060" y="3039765"/>
            <a:ext cx="697627" cy="400110"/>
          </a:xfrm>
          <a:prstGeom prst="rect">
            <a:avLst/>
          </a:prstGeom>
          <a:solidFill>
            <a:srgbClr val="C00000"/>
          </a:solidFill>
          <a:effectLst>
            <a:outerShdw blurRad="63500" sx="102000" sy="102000" algn="ctr" rotWithShape="0">
              <a:prstClr val="black">
                <a:alpha val="40000"/>
              </a:prstClr>
            </a:outerShdw>
          </a:effectLst>
        </p:spPr>
        <p:txBody>
          <a:bodyPr wrap="square">
            <a:spAutoFit/>
          </a:bodyPr>
          <a:lstStyle/>
          <a:p>
            <a:pPr eaLnBrk="0" hangingPunct="0">
              <a:spcBef>
                <a:spcPts val="0"/>
              </a:spcBef>
              <a:spcAft>
                <a:spcPts val="0"/>
              </a:spcAft>
            </a:pPr>
            <a:r>
              <a:rPr lang="en-US" altLang="ko-KR" sz="2000" kern="0" dirty="0" err="1">
                <a:solidFill>
                  <a:srgbClr val="FFFF00"/>
                </a:solidFill>
                <a:latin typeface="隶书" panose="02010509060101010101" pitchFamily="49" charset="-122"/>
                <a:ea typeface="隶书" panose="02010509060101010101" pitchFamily="49" charset="-122"/>
                <a:cs typeface="+mj-cs"/>
              </a:rPr>
              <a:t>外插</a:t>
            </a:r>
            <a:endParaRPr lang="ko-KR" altLang="en-US" sz="2000" kern="0" dirty="0">
              <a:solidFill>
                <a:srgbClr val="FFFF00"/>
              </a:solidFill>
              <a:latin typeface="隶书" panose="02010509060101010101" pitchFamily="49" charset="-122"/>
              <a:ea typeface="隶书" panose="02010509060101010101" pitchFamily="49" charset="-122"/>
              <a:cs typeface="+mj-cs"/>
            </a:endParaRPr>
          </a:p>
        </p:txBody>
      </p:sp>
      <p:sp>
        <p:nvSpPr>
          <p:cNvPr id="21" name="矩形 20"/>
          <p:cNvSpPr/>
          <p:nvPr/>
        </p:nvSpPr>
        <p:spPr>
          <a:xfrm>
            <a:off x="6131874" y="2464127"/>
            <a:ext cx="434734" cy="58477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b="1" cap="none" dirty="0">
                <a:solidFill>
                  <a:srgbClr val="FF0000"/>
                </a:solidFill>
                <a:latin typeface="Arial" panose="020B0604020202020204" pitchFamily="34" charset="0"/>
                <a:ea typeface="Arial" panose="020B0604020202020204" pitchFamily="34" charset="0"/>
              </a:rPr>
              <a:t>o</a:t>
            </a:r>
            <a:endParaRPr lang="ko-KR" altLang="en-US" sz="3200" b="1" cap="none" dirty="0">
              <a:solidFill>
                <a:srgbClr val="FF0000"/>
              </a:solidFill>
              <a:latin typeface="Arial" panose="020B0604020202020204" pitchFamily="34" charset="0"/>
              <a:ea typeface="Arial" panose="020B0604020202020204" pitchFamily="34" charset="0"/>
            </a:endParaRPr>
          </a:p>
        </p:txBody>
      </p:sp>
      <p:sp>
        <p:nvSpPr>
          <p:cNvPr id="22" name="流程图: 联系 20"/>
          <p:cNvSpPr/>
          <p:nvPr/>
        </p:nvSpPr>
        <p:spPr bwMode="auto">
          <a:xfrm>
            <a:off x="6234687" y="2319303"/>
            <a:ext cx="199991" cy="199482"/>
          </a:xfrm>
          <a:prstGeom prst="flowChartConnector">
            <a:avLst/>
          </a:prstGeom>
          <a:solidFill>
            <a:srgbClr val="FF0000"/>
          </a:solidFill>
          <a:ln w="9525" cap="flat" cmpd="sng" algn="ctr">
            <a:solidFill>
              <a:schemeClr val="tx1"/>
            </a:solidFill>
            <a:prstDash val="solid"/>
            <a:round/>
            <a:headEnd type="none" w="med" len="med"/>
            <a:tailEnd type="none" w="med" len="med"/>
          </a:ln>
          <a:scene3d>
            <a:camera prst="orthographicFront"/>
            <a:lightRig rig="threePt" dir="t"/>
          </a:scene3d>
          <a:sp3d>
            <a:bevelT prst="angle"/>
          </a:sp3d>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3" name="对话气泡: 矩形 22"/>
          <p:cNvSpPr/>
          <p:nvPr/>
        </p:nvSpPr>
        <p:spPr>
          <a:xfrm>
            <a:off x="1177163" y="3104253"/>
            <a:ext cx="2737378" cy="400110"/>
          </a:xfrm>
          <a:prstGeom prst="wedgeRectCallout">
            <a:avLst>
              <a:gd name="adj1" fmla="val 5649"/>
              <a:gd name="adj2" fmla="val -99956"/>
            </a:avLst>
          </a:prstGeom>
          <a:noFill/>
          <a:ln w="19050">
            <a:solidFill>
              <a:srgbClr val="FF0000"/>
            </a:solidFill>
          </a:ln>
        </p:spPr>
        <p:txBody>
          <a:bodyPr wrap="square">
            <a:spAutoFit/>
          </a:bodyPr>
          <a:lstStyle/>
          <a:p>
            <a:r>
              <a:rPr lang="zh-CN" altLang="en-US" sz="2000" dirty="0">
                <a:solidFill>
                  <a:srgbClr val="0070C0"/>
                </a:solidFill>
                <a:latin typeface="隶书" panose="02010509060101010101" pitchFamily="49" charset="-122"/>
                <a:ea typeface="隶书" panose="02010509060101010101" pitchFamily="49" charset="-122"/>
                <a:sym typeface="Arial" panose="020B0604020202020204" pitchFamily="34" charset="0"/>
              </a:rPr>
              <a:t>采样数据范围内的插值</a:t>
            </a:r>
            <a:endParaRPr lang="zh-CN" altLang="en-US" sz="2000" dirty="0">
              <a:solidFill>
                <a:srgbClr val="0070C0"/>
              </a:solidFill>
              <a:latin typeface="隶书" panose="02010509060101010101" pitchFamily="49" charset="-122"/>
              <a:ea typeface="隶书" panose="02010509060101010101" pitchFamily="49" charset="-122"/>
            </a:endParaRPr>
          </a:p>
        </p:txBody>
      </p:sp>
      <p:sp>
        <p:nvSpPr>
          <p:cNvPr id="24" name="对话气泡: 矩形 23"/>
          <p:cNvSpPr/>
          <p:nvPr/>
        </p:nvSpPr>
        <p:spPr>
          <a:xfrm>
            <a:off x="6234687" y="3041588"/>
            <a:ext cx="2737378" cy="400110"/>
          </a:xfrm>
          <a:prstGeom prst="wedgeRectCallout">
            <a:avLst>
              <a:gd name="adj1" fmla="val -43701"/>
              <a:gd name="adj2" fmla="val -109145"/>
            </a:avLst>
          </a:prstGeom>
          <a:noFill/>
          <a:ln w="19050">
            <a:solidFill>
              <a:srgbClr val="FF0000"/>
            </a:solidFill>
          </a:ln>
        </p:spPr>
        <p:txBody>
          <a:bodyPr wrap="square">
            <a:spAutoFit/>
          </a:bodyPr>
          <a:lstStyle/>
          <a:p>
            <a:r>
              <a:rPr lang="zh-CN" altLang="en-US" sz="2000" dirty="0">
                <a:solidFill>
                  <a:srgbClr val="0070C0"/>
                </a:solidFill>
                <a:latin typeface="隶书" panose="02010509060101010101" pitchFamily="49" charset="-122"/>
                <a:ea typeface="隶书" panose="02010509060101010101" pitchFamily="49" charset="-122"/>
                <a:sym typeface="Arial" panose="020B0604020202020204" pitchFamily="34" charset="0"/>
              </a:rPr>
              <a:t>采样数据范围外的插值</a:t>
            </a:r>
            <a:endParaRPr lang="zh-CN" altLang="en-US" sz="2000" dirty="0">
              <a:solidFill>
                <a:srgbClr val="0070C0"/>
              </a:solidFill>
              <a:latin typeface="隶书" panose="02010509060101010101" pitchFamily="49" charset="-122"/>
              <a:ea typeface="隶书" panose="02010509060101010101" pitchFamily="49" charset="-122"/>
            </a:endParaRPr>
          </a:p>
        </p:txBody>
      </p:sp>
      <p:sp>
        <p:nvSpPr>
          <p:cNvPr id="25" name="矩形 24"/>
          <p:cNvSpPr/>
          <p:nvPr/>
        </p:nvSpPr>
        <p:spPr>
          <a:xfrm>
            <a:off x="188205" y="1476811"/>
            <a:ext cx="1723549" cy="400110"/>
          </a:xfrm>
          <a:prstGeom prst="rect">
            <a:avLst/>
          </a:prstGeom>
          <a:noFill/>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插值函数曲线</a:t>
            </a:r>
          </a:p>
        </p:txBody>
      </p:sp>
      <p:sp>
        <p:nvSpPr>
          <p:cNvPr id="28" name="文本框 27"/>
          <p:cNvSpPr txBox="1"/>
          <p:nvPr/>
        </p:nvSpPr>
        <p:spPr>
          <a:xfrm>
            <a:off x="7673371" y="1397533"/>
            <a:ext cx="1249785" cy="369332"/>
          </a:xfrm>
          <a:prstGeom prst="rect">
            <a:avLst/>
          </a:prstGeom>
          <a:noFill/>
        </p:spPr>
        <p:txBody>
          <a:bodyPr wrap="square">
            <a:spAutoFit/>
          </a:bodyPr>
          <a:lstStyle/>
          <a:p>
            <a:r>
              <a:rPr lang="en-US" altLang="ko-KR" sz="1800" kern="0" dirty="0" err="1">
                <a:solidFill>
                  <a:srgbClr val="FF0000"/>
                </a:solidFill>
                <a:latin typeface="华文楷体" panose="02010600040101010101" pitchFamily="2" charset="-122"/>
                <a:ea typeface="华文楷体" panose="02010600040101010101" pitchFamily="2" charset="-122"/>
              </a:rPr>
              <a:t>函数y</a:t>
            </a:r>
            <a:r>
              <a:rPr lang="en-US" altLang="ko-KR" sz="1800" kern="0" dirty="0">
                <a:solidFill>
                  <a:srgbClr val="FF0000"/>
                </a:solidFill>
                <a:latin typeface="华文楷体" panose="02010600040101010101" pitchFamily="2" charset="-122"/>
                <a:ea typeface="华文楷体" panose="02010600040101010101" pitchFamily="2" charset="-122"/>
              </a:rPr>
              <a:t>=f(x)</a:t>
            </a:r>
            <a:endParaRPr lang="zh-CN" altLang="en-US" dirty="0"/>
          </a:p>
        </p:txBody>
      </p:sp>
      <p:sp>
        <p:nvSpPr>
          <p:cNvPr id="30" name="文本框 29"/>
          <p:cNvSpPr txBox="1"/>
          <p:nvPr/>
        </p:nvSpPr>
        <p:spPr>
          <a:xfrm>
            <a:off x="179512" y="4225185"/>
            <a:ext cx="8889697" cy="369332"/>
          </a:xfrm>
          <a:prstGeom prst="rect">
            <a:avLst/>
          </a:prstGeom>
          <a:noFill/>
        </p:spPr>
        <p:txBody>
          <a:bodyPr wrap="square">
            <a:spAutoFit/>
          </a:bodyPr>
          <a:lstStyle/>
          <a:p>
            <a:pPr algn="dist"/>
            <a:r>
              <a:rPr lang="zh-CN" altLang="en-US" b="1" dirty="0">
                <a:solidFill>
                  <a:srgbClr val="0070C0"/>
                </a:solidFill>
                <a:latin typeface="微软雅黑" panose="020B0503020204020204" pitchFamily="34" charset="-122"/>
                <a:ea typeface="微软雅黑" panose="020B0503020204020204" pitchFamily="34" charset="-122"/>
              </a:rPr>
              <a:t>内插法适用于填补数据空白和范围内预测，而外推法则更适用于数据范围外趋势预测</a:t>
            </a:r>
          </a:p>
        </p:txBody>
      </p:sp>
      <p:sp>
        <p:nvSpPr>
          <p:cNvPr id="32" name="文本框 31"/>
          <p:cNvSpPr txBox="1"/>
          <p:nvPr/>
        </p:nvSpPr>
        <p:spPr>
          <a:xfrm>
            <a:off x="138392" y="744562"/>
            <a:ext cx="7894553" cy="369332"/>
          </a:xfrm>
          <a:prstGeom prst="rect">
            <a:avLst/>
          </a:prstGeom>
          <a:solidFill>
            <a:schemeClr val="bg1"/>
          </a:solid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r>
              <a:rPr lang="zh-CN" altLang="en-US" dirty="0"/>
              <a:t>内插法在已知数据范围内部进行，外插法则在已知数据范围外部进行 </a:t>
            </a:r>
          </a:p>
        </p:txBody>
      </p:sp>
      <p:sp>
        <p:nvSpPr>
          <p:cNvPr id="34" name="文本框 33"/>
          <p:cNvSpPr txBox="1"/>
          <p:nvPr/>
        </p:nvSpPr>
        <p:spPr>
          <a:xfrm>
            <a:off x="188205" y="3769320"/>
            <a:ext cx="6227382" cy="369332"/>
          </a:xfrm>
          <a:prstGeom prst="rect">
            <a:avLst/>
          </a:prstGeom>
          <a:noFill/>
        </p:spPr>
        <p:txBody>
          <a:bodyPr wrap="square">
            <a:spAutoFit/>
          </a:bodyPr>
          <a:lstStyle>
            <a:defPPr>
              <a:defRPr lang="zh-CN"/>
            </a:defPPr>
            <a:lvl1pPr>
              <a:defRPr b="1">
                <a:solidFill>
                  <a:srgbClr val="0070C0"/>
                </a:solidFill>
                <a:latin typeface="微软雅黑" panose="020B0503020204020204" pitchFamily="34" charset="-122"/>
                <a:ea typeface="微软雅黑" panose="020B0503020204020204" pitchFamily="34" charset="-122"/>
              </a:defRPr>
            </a:lvl1pPr>
          </a:lstStyle>
          <a:p>
            <a:r>
              <a:rPr lang="zh-CN" altLang="en-US" dirty="0"/>
              <a:t>内插法基于更可靠已知数据预测结果</a:t>
            </a:r>
            <a:r>
              <a:rPr lang="en-US" altLang="zh-CN" dirty="0"/>
              <a:t>,</a:t>
            </a:r>
            <a:r>
              <a:rPr lang="zh-CN" altLang="en-US" dirty="0"/>
              <a:t>通常比外插法更准确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2" grpId="0" animBg="1"/>
      <p:bldP spid="13" grpId="0"/>
      <p:bldP spid="16" grpId="0" animBg="1"/>
      <p:bldP spid="17" grpId="0" animBg="1"/>
      <p:bldP spid="18" grpId="0"/>
      <p:bldP spid="19" grpId="0"/>
      <p:bldP spid="20" grpId="0" animBg="1"/>
      <p:bldP spid="21" grpId="0"/>
      <p:bldP spid="22" grpId="0" animBg="1"/>
      <p:bldP spid="23" grpId="0" animBg="1"/>
      <p:bldP spid="24" grpId="0" animBg="1"/>
      <p:bldP spid="30" grpId="0"/>
      <p:bldP spid="32" grpId="0" animBg="1"/>
      <p:bldP spid="3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3568" y="134123"/>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§5.4.2 </a:t>
            </a:r>
            <a:r>
              <a:rPr lang="zh-CN" altLang="en-US" sz="2800" b="1"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zh-CN" altLang="en-US" sz="2800" b="1" i="0" dirty="0">
                <a:solidFill>
                  <a:srgbClr val="FF0000"/>
                </a:solidFill>
                <a:effectLst/>
                <a:latin typeface="华文楷体" panose="02010600040101010101" pitchFamily="2" charset="-122"/>
                <a:ea typeface="华文楷体" panose="02010600040101010101" pitchFamily="2" charset="-122"/>
              </a:rPr>
              <a:t>一维数据插值</a:t>
            </a:r>
            <a:r>
              <a:rPr lang="en-US" altLang="zh-CN" sz="2800" b="1" dirty="0">
                <a:solidFill>
                  <a:srgbClr val="FF0000"/>
                </a:solidFill>
                <a:latin typeface="华文楷体" panose="02010600040101010101" pitchFamily="2" charset="-122"/>
                <a:ea typeface="华文楷体" panose="02010600040101010101" pitchFamily="2" charset="-122"/>
              </a:rPr>
              <a:t>interp1 </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5" name="矩形 4"/>
          <p:cNvSpPr/>
          <p:nvPr/>
        </p:nvSpPr>
        <p:spPr>
          <a:xfrm>
            <a:off x="69481" y="1309141"/>
            <a:ext cx="9074520" cy="1607043"/>
          </a:xfrm>
          <a:prstGeom prst="rect">
            <a:avLst/>
          </a:prstGeom>
          <a:solidFill>
            <a:schemeClr val="bg1"/>
          </a:solidFill>
          <a:ln>
            <a:solidFill>
              <a:schemeClr val="bg1"/>
            </a:solidFill>
          </a:ln>
        </p:spPr>
        <p:txBody>
          <a:bodyPr vert="horz" wrap="square" lIns="91440" tIns="45720" rIns="91440" bIns="45720" numCol="1" anchor="t">
            <a:spAutoFit/>
          </a:bodyPr>
          <a:lstStyle/>
          <a:p>
            <a:pPr eaLnBrk="0">
              <a:lnSpc>
                <a:spcPts val="3000"/>
              </a:lnSpc>
              <a:spcBef>
                <a:spcPts val="0"/>
              </a:spcBef>
              <a:spcAft>
                <a:spcPts val="0"/>
              </a:spcAft>
              <a:buFont typeface="Wingdings" panose="05000000000000000000"/>
              <a:buChar char="p"/>
            </a:pPr>
            <a:r>
              <a:rPr lang="en-US" altLang="zh-CN" sz="2200" dirty="0">
                <a:solidFill>
                  <a:srgbClr val="002060"/>
                </a:solidFill>
                <a:latin typeface="华文楷体" panose="02010600040101010101" pitchFamily="2" charset="-122"/>
                <a:ea typeface="华文楷体" panose="02010600040101010101" pitchFamily="2" charset="-122"/>
              </a:rPr>
              <a:t>x</a:t>
            </a:r>
            <a:r>
              <a:rPr lang="zh-CN" altLang="en-US" sz="2200" dirty="0">
                <a:solidFill>
                  <a:srgbClr val="002060"/>
                </a:solidFill>
                <a:latin typeface="华文楷体" panose="02010600040101010101" pitchFamily="2" charset="-122"/>
                <a:ea typeface="华文楷体" panose="02010600040101010101" pitchFamily="2" charset="-122"/>
              </a:rPr>
              <a:t>、</a:t>
            </a:r>
            <a:r>
              <a:rPr lang="en-US" altLang="ko-KR" sz="2200" dirty="0">
                <a:solidFill>
                  <a:srgbClr val="002060"/>
                </a:solidFill>
                <a:latin typeface="华文楷体" panose="02010600040101010101" pitchFamily="2" charset="-122"/>
                <a:ea typeface="华文楷体" panose="02010600040101010101" pitchFamily="2" charset="-122"/>
              </a:rPr>
              <a:t>y</a:t>
            </a:r>
            <a:r>
              <a:rPr lang="zh-CN" altLang="en-US" sz="2200" dirty="0">
                <a:solidFill>
                  <a:srgbClr val="002060"/>
                </a:solidFill>
                <a:latin typeface="华文楷体" panose="02010600040101010101" pitchFamily="2" charset="-122"/>
                <a:ea typeface="华文楷体" panose="02010600040101010101" pitchFamily="2" charset="-122"/>
              </a:rPr>
              <a:t>分别是</a:t>
            </a:r>
            <a:r>
              <a:rPr lang="en-US" altLang="ko-KR" sz="2200" dirty="0" err="1">
                <a:solidFill>
                  <a:srgbClr val="002060"/>
                </a:solidFill>
                <a:latin typeface="华文楷体" panose="02010600040101010101" pitchFamily="2" charset="-122"/>
                <a:ea typeface="华文楷体" panose="02010600040101010101" pitchFamily="2" charset="-122"/>
              </a:rPr>
              <a:t>采样点和样本值</a:t>
            </a:r>
            <a:r>
              <a:rPr lang="en-US" altLang="ko-KR"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分别是</a:t>
            </a:r>
            <a:r>
              <a:rPr lang="en-US" altLang="ko-KR" sz="2200" cap="none" dirty="0">
                <a:solidFill>
                  <a:srgbClr val="002060"/>
                </a:solidFill>
                <a:latin typeface="华文楷体" panose="02010600040101010101" pitchFamily="2" charset="-122"/>
                <a:ea typeface="华文楷体" panose="02010600040101010101" pitchFamily="2" charset="-122"/>
              </a:rPr>
              <a:t>x</a:t>
            </a:r>
            <a:r>
              <a:rPr lang="zh-CN" altLang="en-US" sz="2200" cap="none" dirty="0">
                <a:solidFill>
                  <a:srgbClr val="002060"/>
                </a:solidFill>
                <a:latin typeface="华文楷体" panose="02010600040101010101" pitchFamily="2" charset="-122"/>
                <a:ea typeface="华文楷体" panose="02010600040101010101" pitchFamily="2" charset="-122"/>
              </a:rPr>
              <a:t>和</a:t>
            </a:r>
            <a:r>
              <a:rPr lang="en-US" altLang="ko-KR" sz="2200" cap="none" dirty="0">
                <a:solidFill>
                  <a:srgbClr val="002060"/>
                </a:solidFill>
                <a:latin typeface="华文楷体" panose="02010600040101010101" pitchFamily="2" charset="-122"/>
                <a:ea typeface="华文楷体" panose="02010600040101010101" pitchFamily="2" charset="-122"/>
              </a:rPr>
              <a:t>y</a:t>
            </a:r>
            <a:r>
              <a:rPr lang="zh-CN" altLang="en-US" sz="2200" cap="none" dirty="0">
                <a:solidFill>
                  <a:srgbClr val="002060"/>
                </a:solidFill>
                <a:latin typeface="华文楷体" panose="02010600040101010101" pitchFamily="2" charset="-122"/>
                <a:ea typeface="华文楷体" panose="02010600040101010101" pitchFamily="2" charset="-122"/>
              </a:rPr>
              <a:t>轴数据</a:t>
            </a:r>
            <a:r>
              <a:rPr lang="en-US" altLang="ko-KR" sz="2200" cap="none" dirty="0">
                <a:solidFill>
                  <a:srgbClr val="002060"/>
                </a:solidFill>
                <a:latin typeface="华文楷体" panose="02010600040101010101" pitchFamily="2" charset="-122"/>
                <a:ea typeface="华文楷体" panose="02010600040101010101" pitchFamily="2" charset="-122"/>
              </a:rPr>
              <a:t> </a:t>
            </a:r>
            <a:endParaRPr lang="ko-KR" altLang="en-US" sz="2200" cap="none" dirty="0">
              <a:solidFill>
                <a:srgbClr val="002060"/>
              </a:solidFill>
              <a:latin typeface="华文楷体" panose="02010600040101010101" pitchFamily="2" charset="-122"/>
            </a:endParaRPr>
          </a:p>
          <a:p>
            <a:pPr eaLnBrk="0">
              <a:lnSpc>
                <a:spcPts val="3000"/>
              </a:lnSpc>
              <a:spcBef>
                <a:spcPts val="0"/>
              </a:spcBef>
              <a:spcAft>
                <a:spcPts val="0"/>
              </a:spcAft>
              <a:buFont typeface="Wingdings" panose="05000000000000000000"/>
              <a:buChar char="p"/>
            </a:pPr>
            <a:r>
              <a:rPr lang="en-US" altLang="ko-KR" sz="2200" cap="none" dirty="0" err="1">
                <a:solidFill>
                  <a:srgbClr val="002060"/>
                </a:solidFill>
                <a:latin typeface="华文楷体" panose="02010600040101010101" pitchFamily="2" charset="-122"/>
                <a:ea typeface="华文楷体" panose="02010600040101010101" pitchFamily="2" charset="-122"/>
              </a:rPr>
              <a:t>xi</a:t>
            </a:r>
            <a:r>
              <a:rPr lang="en-US" altLang="ko-KR" sz="2200" dirty="0" err="1">
                <a:solidFill>
                  <a:srgbClr val="002060"/>
                </a:solidFill>
                <a:latin typeface="华文楷体" panose="02010600040101010101" pitchFamily="2" charset="-122"/>
                <a:ea typeface="华文楷体" panose="02010600040101010101" pitchFamily="2" charset="-122"/>
              </a:rPr>
              <a:t>是插值点</a:t>
            </a:r>
            <a:r>
              <a:rPr lang="en-US" altLang="ko-KR"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可以</a:t>
            </a:r>
            <a:r>
              <a:rPr lang="en-US" altLang="ko-KR" sz="2200" dirty="0" err="1">
                <a:solidFill>
                  <a:srgbClr val="002060"/>
                </a:solidFill>
                <a:latin typeface="华文楷体" panose="02010600040101010101" pitchFamily="2" charset="-122"/>
                <a:ea typeface="华文楷体" panose="02010600040101010101" pitchFamily="2" charset="-122"/>
              </a:rPr>
              <a:t>向量或标量</a:t>
            </a:r>
            <a:r>
              <a:rPr lang="en-US" altLang="ko-KR"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超过范围为外插</a:t>
            </a:r>
            <a:r>
              <a:rPr lang="en-US" altLang="ko-KR" sz="2200" cap="none" dirty="0">
                <a:solidFill>
                  <a:srgbClr val="002060"/>
                </a:solidFill>
                <a:latin typeface="华文楷体" panose="02010600040101010101" pitchFamily="2" charset="-122"/>
                <a:ea typeface="华文楷体" panose="02010600040101010101" pitchFamily="2" charset="-122"/>
              </a:rPr>
              <a:t> </a:t>
            </a:r>
            <a:r>
              <a:rPr lang="zh-CN" altLang="en-US" sz="2200" cap="none" dirty="0">
                <a:solidFill>
                  <a:srgbClr val="002060"/>
                </a:solidFill>
                <a:latin typeface="华文楷体" panose="02010600040101010101" pitchFamily="2" charset="-122"/>
                <a:ea typeface="华文楷体" panose="02010600040101010101" pitchFamily="2" charset="-122"/>
              </a:rPr>
              <a:t>；</a:t>
            </a:r>
            <a:r>
              <a:rPr lang="en-US" altLang="ko-KR" sz="2200" dirty="0" err="1">
                <a:solidFill>
                  <a:srgbClr val="002060"/>
                </a:solidFill>
                <a:latin typeface="华文楷体" panose="02010600040101010101" pitchFamily="2" charset="-122"/>
                <a:ea typeface="华文楷体" panose="02010600040101010101" pitchFamily="2" charset="-122"/>
              </a:rPr>
              <a:t>插值结果</a:t>
            </a:r>
            <a:r>
              <a:rPr lang="en-US" altLang="zh-CN" sz="2200" dirty="0" err="1">
                <a:solidFill>
                  <a:srgbClr val="002060"/>
                </a:solidFill>
                <a:latin typeface="华文楷体" panose="02010600040101010101" pitchFamily="2" charset="-122"/>
                <a:ea typeface="华文楷体" panose="02010600040101010101" pitchFamily="2" charset="-122"/>
              </a:rPr>
              <a:t>y</a:t>
            </a:r>
            <a:r>
              <a:rPr lang="en-US" altLang="ko-KR" sz="2200" dirty="0" err="1">
                <a:solidFill>
                  <a:srgbClr val="002060"/>
                </a:solidFill>
                <a:latin typeface="华文楷体" panose="02010600040101010101" pitchFamily="2" charset="-122"/>
                <a:ea typeface="华文楷体" panose="02010600040101010101" pitchFamily="2" charset="-122"/>
              </a:rPr>
              <a:t>i是与</a:t>
            </a:r>
            <a:r>
              <a:rPr lang="en-US" altLang="zh-CN" sz="2200" dirty="0" err="1">
                <a:solidFill>
                  <a:srgbClr val="002060"/>
                </a:solidFill>
                <a:latin typeface="华文楷体" panose="02010600040101010101" pitchFamily="2" charset="-122"/>
                <a:ea typeface="华文楷体" panose="02010600040101010101" pitchFamily="2" charset="-122"/>
              </a:rPr>
              <a:t>x</a:t>
            </a:r>
            <a:r>
              <a:rPr lang="en-US" altLang="ko-KR" sz="2200" dirty="0" err="1">
                <a:solidFill>
                  <a:srgbClr val="002060"/>
                </a:solidFill>
                <a:latin typeface="华文楷体" panose="02010600040101010101" pitchFamily="2" charset="-122"/>
                <a:ea typeface="华文楷体" panose="02010600040101010101" pitchFamily="2" charset="-122"/>
              </a:rPr>
              <a:t>i等长</a:t>
            </a:r>
            <a:r>
              <a:rPr lang="zh-CN" altLang="en-US" sz="2200" dirty="0">
                <a:solidFill>
                  <a:srgbClr val="002060"/>
                </a:solidFill>
                <a:latin typeface="华文楷体" panose="02010600040101010101" pitchFamily="2" charset="-122"/>
                <a:ea typeface="华文楷体" panose="02010600040101010101" pitchFamily="2" charset="-122"/>
              </a:rPr>
              <a:t>的</a:t>
            </a:r>
            <a:endParaRPr lang="en-US" altLang="ko-KR" sz="2200" dirty="0">
              <a:solidFill>
                <a:srgbClr val="002060"/>
              </a:solidFill>
              <a:latin typeface="华文楷体" panose="02010600040101010101" pitchFamily="2" charset="-122"/>
              <a:ea typeface="华文楷体" panose="02010600040101010101" pitchFamily="2" charset="-122"/>
            </a:endParaRPr>
          </a:p>
          <a:p>
            <a:pPr eaLnBrk="0">
              <a:lnSpc>
                <a:spcPts val="3000"/>
              </a:lnSpc>
              <a:spcBef>
                <a:spcPts val="0"/>
              </a:spcBef>
              <a:spcAft>
                <a:spcPts val="0"/>
              </a:spcAft>
              <a:buClr>
                <a:srgbClr val="000000"/>
              </a:buClr>
              <a:buFont typeface="Wingdings" panose="05000000000000000000"/>
              <a:buChar char="p"/>
            </a:pPr>
            <a:r>
              <a:rPr lang="en-US" altLang="zh-CN" sz="2200" dirty="0">
                <a:solidFill>
                  <a:srgbClr val="002060"/>
                </a:solidFill>
                <a:latin typeface="华文楷体" panose="02010600040101010101" pitchFamily="2" charset="-122"/>
                <a:ea typeface="华文楷体" panose="02010600040101010101" pitchFamily="2" charset="-122"/>
              </a:rPr>
              <a:t>Method</a:t>
            </a:r>
            <a:r>
              <a:rPr lang="zh-CN" altLang="en-US" sz="2200" dirty="0">
                <a:solidFill>
                  <a:srgbClr val="002060"/>
                </a:solidFill>
                <a:latin typeface="华文楷体" panose="02010600040101010101" pitchFamily="2" charset="-122"/>
                <a:ea typeface="华文楷体" panose="02010600040101010101" pitchFamily="2" charset="-122"/>
              </a:rPr>
              <a:t>插值方法，默认直线插值，可以忽略</a:t>
            </a:r>
            <a:r>
              <a:rPr lang="en-US" altLang="zh-CN" sz="2200" dirty="0">
                <a:solidFill>
                  <a:srgbClr val="002060"/>
                </a:solidFill>
                <a:latin typeface="华文楷体" panose="02010600040101010101" pitchFamily="2" charset="-122"/>
                <a:ea typeface="华文楷体" panose="02010600040101010101" pitchFamily="2" charset="-122"/>
              </a:rPr>
              <a:t>,</a:t>
            </a:r>
            <a:r>
              <a:rPr lang="zh-CN" altLang="en-US" sz="2200" dirty="0">
                <a:solidFill>
                  <a:srgbClr val="002060"/>
                </a:solidFill>
                <a:latin typeface="华文楷体" panose="02010600040101010101" pitchFamily="2" charset="-122"/>
                <a:ea typeface="华文楷体" panose="02010600040101010101" pitchFamily="2" charset="-122"/>
              </a:rPr>
              <a:t>方法包括</a:t>
            </a:r>
            <a:r>
              <a:rPr lang="en-US" altLang="zh-CN" sz="2200" dirty="0"/>
              <a:t>'linear'</a:t>
            </a:r>
            <a:r>
              <a:rPr lang="zh-CN" altLang="en-US" sz="2200" dirty="0"/>
              <a:t>、</a:t>
            </a:r>
            <a:r>
              <a:rPr lang="en-US" altLang="zh-CN" sz="2200" dirty="0"/>
              <a:t>'nearest'</a:t>
            </a:r>
            <a:r>
              <a:rPr lang="zh-CN" altLang="en-US" sz="2200" dirty="0"/>
              <a:t>、</a:t>
            </a:r>
            <a:r>
              <a:rPr lang="en-US" altLang="zh-CN" sz="2200" dirty="0"/>
              <a:t>'next'</a:t>
            </a:r>
            <a:r>
              <a:rPr lang="zh-CN" altLang="en-US" sz="2200" dirty="0"/>
              <a:t>、</a:t>
            </a:r>
            <a:r>
              <a:rPr lang="en-US" altLang="zh-CN" sz="2200" dirty="0"/>
              <a:t>'previous'</a:t>
            </a:r>
            <a:r>
              <a:rPr lang="zh-CN" altLang="en-US" sz="2200" dirty="0"/>
              <a:t>、</a:t>
            </a:r>
            <a:r>
              <a:rPr lang="en-US" altLang="zh-CN" sz="2200" dirty="0"/>
              <a:t>'</a:t>
            </a:r>
            <a:r>
              <a:rPr lang="en-US" altLang="zh-CN" sz="2200" dirty="0" err="1"/>
              <a:t>pchip</a:t>
            </a:r>
            <a:r>
              <a:rPr lang="en-US" altLang="zh-CN" sz="2200" dirty="0"/>
              <a:t>'</a:t>
            </a:r>
            <a:r>
              <a:rPr lang="zh-CN" altLang="en-US" sz="2200" dirty="0"/>
              <a:t>、</a:t>
            </a:r>
            <a:r>
              <a:rPr lang="en-US" altLang="zh-CN" sz="2200" dirty="0"/>
              <a:t>'cubic'</a:t>
            </a:r>
            <a:r>
              <a:rPr lang="zh-CN" altLang="en-US" sz="2200" dirty="0"/>
              <a:t>、</a:t>
            </a:r>
            <a:r>
              <a:rPr lang="en-US" altLang="zh-CN" sz="2200" dirty="0"/>
              <a:t>'v5cubic'</a:t>
            </a:r>
            <a:r>
              <a:rPr lang="zh-CN" altLang="en-US" sz="2200" dirty="0"/>
              <a:t>、</a:t>
            </a:r>
            <a:r>
              <a:rPr lang="en-US" altLang="zh-CN" sz="2200" dirty="0"/>
              <a:t>'</a:t>
            </a:r>
            <a:r>
              <a:rPr lang="en-US" altLang="zh-CN" sz="2200" dirty="0" err="1"/>
              <a:t>makima</a:t>
            </a:r>
            <a:r>
              <a:rPr lang="en-US" altLang="zh-CN" sz="2200" dirty="0"/>
              <a:t>' </a:t>
            </a:r>
            <a:r>
              <a:rPr lang="zh-CN" altLang="en-US" sz="2200" dirty="0"/>
              <a:t>或 </a:t>
            </a:r>
            <a:r>
              <a:rPr lang="en-US" altLang="zh-CN" sz="2200" dirty="0"/>
              <a:t>'spline'</a:t>
            </a:r>
            <a:r>
              <a:rPr lang="zh-CN" altLang="en-US" sz="2200" dirty="0"/>
              <a:t>。</a:t>
            </a:r>
            <a:endParaRPr lang="ko-KR" altLang="en-US" sz="2200" cap="none" dirty="0">
              <a:solidFill>
                <a:srgbClr val="002060"/>
              </a:solidFill>
              <a:latin typeface="华文楷体" panose="02010600040101010101" pitchFamily="2" charset="-122"/>
            </a:endParaRPr>
          </a:p>
        </p:txBody>
      </p:sp>
      <p:sp>
        <p:nvSpPr>
          <p:cNvPr id="7" name="Text Box 3"/>
          <p:cNvSpPr txBox="1"/>
          <p:nvPr/>
        </p:nvSpPr>
        <p:spPr bwMode="auto">
          <a:xfrm>
            <a:off x="1757535" y="851285"/>
            <a:ext cx="7316984" cy="34362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algn="dist"/>
            <a:r>
              <a:rPr lang="en-US" altLang="ko-KR" sz="1800" dirty="0" err="1">
                <a:effectLst/>
                <a:latin typeface="华文楷体" panose="02010600040101010101" pitchFamily="2" charset="-122"/>
                <a:ea typeface="华文楷体" panose="02010600040101010101" pitchFamily="2" charset="-122"/>
              </a:rPr>
              <a:t>yi</a:t>
            </a:r>
            <a:r>
              <a:rPr lang="en-US" altLang="ko-KR" sz="1800" dirty="0">
                <a:effectLst/>
                <a:latin typeface="华文楷体" panose="02010600040101010101" pitchFamily="2" charset="-122"/>
                <a:ea typeface="华文楷体" panose="02010600040101010101" pitchFamily="2" charset="-122"/>
              </a:rPr>
              <a:t> = interp1(</a:t>
            </a:r>
            <a:r>
              <a:rPr lang="en-US" altLang="ko-KR" sz="1800" dirty="0" err="1">
                <a:effectLst/>
                <a:latin typeface="华文楷体" panose="02010600040101010101" pitchFamily="2" charset="-122"/>
                <a:ea typeface="华文楷体" panose="02010600040101010101" pitchFamily="2" charset="-122"/>
              </a:rPr>
              <a:t>x,y,xi</a:t>
            </a:r>
            <a:r>
              <a:rPr lang="en-US" altLang="ko-KR" sz="1800" dirty="0">
                <a:effectLst/>
                <a:latin typeface="华文楷体" panose="02010600040101010101" pitchFamily="2" charset="-122"/>
                <a:ea typeface="华文楷体" panose="02010600040101010101" pitchFamily="2" charset="-122"/>
              </a:rPr>
              <a:t>, </a:t>
            </a:r>
            <a:r>
              <a:rPr lang="en-US" altLang="ko-KR" sz="1800" dirty="0">
                <a:solidFill>
                  <a:srgbClr val="FFFF00"/>
                </a:solidFill>
                <a:effectLst/>
                <a:latin typeface="华文楷体" panose="02010600040101010101" pitchFamily="2" charset="-122"/>
                <a:ea typeface="华文楷体" panose="02010600040101010101" pitchFamily="2" charset="-122"/>
              </a:rPr>
              <a:t>method</a:t>
            </a:r>
            <a:r>
              <a:rPr lang="en-US" altLang="ko-KR" sz="1800" dirty="0">
                <a:effectLst/>
                <a:latin typeface="华文楷体" panose="02010600040101010101" pitchFamily="2" charset="-122"/>
                <a:ea typeface="华文楷体" panose="02010600040101010101" pitchFamily="2" charset="-122"/>
              </a:rPr>
              <a:t>)</a:t>
            </a:r>
            <a:endParaRPr lang="ko-KR" altLang="en-US" sz="1800" dirty="0">
              <a:effectLst/>
              <a:latin typeface="华文楷体" panose="02010600040101010101" pitchFamily="2" charset="-122"/>
            </a:endParaRPr>
          </a:p>
        </p:txBody>
      </p:sp>
      <p:sp>
        <p:nvSpPr>
          <p:cNvPr id="12" name="矩形 11"/>
          <p:cNvSpPr/>
          <p:nvPr/>
        </p:nvSpPr>
        <p:spPr>
          <a:xfrm>
            <a:off x="33985" y="785921"/>
            <a:ext cx="1723549" cy="400110"/>
          </a:xfrm>
          <a:prstGeom prst="rect">
            <a:avLst/>
          </a:prstGeom>
        </p:spPr>
        <p:txBody>
          <a:bodyPr wrap="none">
            <a:spAutoFit/>
          </a:bodyPr>
          <a:lstStyle/>
          <a:p>
            <a:r>
              <a:rPr lang="zh-CN" altLang="en-US" sz="2000" b="1" dirty="0">
                <a:solidFill>
                  <a:schemeClr val="bg1"/>
                </a:solidFill>
                <a:highlight>
                  <a:srgbClr val="21A4FF"/>
                </a:highlight>
                <a:latin typeface="华文楷体" panose="02010600040101010101" pitchFamily="2" charset="-122"/>
                <a:ea typeface="华文楷体" panose="02010600040101010101" pitchFamily="2" charset="-122"/>
              </a:rPr>
              <a:t>内插调用格式</a:t>
            </a:r>
          </a:p>
        </p:txBody>
      </p:sp>
      <p:sp>
        <p:nvSpPr>
          <p:cNvPr id="13" name="Rectangle 1"/>
          <p:cNvSpPr>
            <a:spLocks noChangeArrowheads="1"/>
          </p:cNvSpPr>
          <p:nvPr/>
        </p:nvSpPr>
        <p:spPr bwMode="auto">
          <a:xfrm>
            <a:off x="0" y="182433"/>
            <a:ext cx="20840" cy="92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600" b="0" i="0" u="none" strike="noStrike" cap="none" normalizeH="0" baseline="0" dirty="0">
                <a:ln>
                  <a:noFill/>
                </a:ln>
                <a:solidFill>
                  <a:schemeClr val="tx1"/>
                </a:solidFill>
                <a:effectLst/>
              </a:rPr>
              <a:t> </a:t>
            </a: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2" name="Rectangle 1"/>
          <p:cNvSpPr>
            <a:spLocks noChangeArrowheads="1"/>
          </p:cNvSpPr>
          <p:nvPr/>
        </p:nvSpPr>
        <p:spPr bwMode="auto">
          <a:xfrm>
            <a:off x="1907703" y="2976281"/>
            <a:ext cx="7094861" cy="34362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b="1" kern="0" dirty="0" err="1">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yi</a:t>
            </a:r>
            <a:r>
              <a:rPr lang="zh-CN" altLang="zh-CN" b="1" kern="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 interp1(</a:t>
            </a:r>
            <a:r>
              <a:rPr lang="en-US" altLang="zh-CN" b="1" kern="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x</a:t>
            </a:r>
            <a:r>
              <a:rPr lang="zh-CN" altLang="zh-CN" b="1" kern="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en-US" altLang="zh-CN" b="1" kern="0" dirty="0" err="1">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y,xi</a:t>
            </a:r>
            <a:r>
              <a:rPr lang="en-US" altLang="zh-CN" b="1" kern="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b="1" kern="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method,</a:t>
            </a:r>
            <a:r>
              <a:rPr lang="zh-CN" altLang="zh-CN" b="1" kern="0" dirty="0">
                <a:solidFill>
                  <a:schemeClr val="bg1"/>
                </a:solidFill>
                <a:highlight>
                  <a:srgbClr val="FF0000"/>
                </a:highlight>
                <a:latin typeface="华文楷体" panose="02010600040101010101" pitchFamily="2" charset="-122"/>
                <a:ea typeface="华文楷体" panose="02010600040101010101" pitchFamily="2" charset="-122"/>
                <a:cs typeface="Times New Roman" panose="02020603050405020304" pitchFamily="18" charset="0"/>
              </a:rPr>
              <a:t>extrapolation</a:t>
            </a:r>
            <a:r>
              <a:rPr lang="zh-CN" altLang="zh-CN" b="1" kern="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 </a:t>
            </a:r>
          </a:p>
        </p:txBody>
      </p:sp>
      <p:sp>
        <p:nvSpPr>
          <p:cNvPr id="16" name="文本框 15"/>
          <p:cNvSpPr txBox="1"/>
          <p:nvPr/>
        </p:nvSpPr>
        <p:spPr>
          <a:xfrm>
            <a:off x="45170" y="3446759"/>
            <a:ext cx="9029349" cy="1158394"/>
          </a:xfrm>
          <a:prstGeom prst="rect">
            <a:avLst/>
          </a:prstGeom>
          <a:noFill/>
        </p:spPr>
        <p:txBody>
          <a:bodyPr wrap="square">
            <a:spAutoFit/>
          </a:bodyPr>
          <a:lstStyle/>
          <a:p>
            <a:pPr marL="285750" indent="-285750" algn="l">
              <a:lnSpc>
                <a:spcPts val="2800"/>
              </a:lnSpc>
              <a:buFont typeface="Wingdings" panose="05000000000000000000" pitchFamily="2" charset="2"/>
              <a:buChar char="p"/>
            </a:pPr>
            <a:r>
              <a:rPr lang="en-US" altLang="zh-CN" sz="2200" dirty="0">
                <a:solidFill>
                  <a:srgbClr val="002060"/>
                </a:solidFill>
                <a:latin typeface="华文楷体" panose="02010600040101010101" pitchFamily="2" charset="-122"/>
                <a:ea typeface="华文楷体" panose="02010600040101010101" pitchFamily="2" charset="-122"/>
              </a:rPr>
              <a:t>extrapolation</a:t>
            </a:r>
            <a:r>
              <a:rPr lang="zh-CN" altLang="en-US" sz="2200" dirty="0">
                <a:solidFill>
                  <a:srgbClr val="002060"/>
                </a:solidFill>
                <a:latin typeface="华文楷体" panose="02010600040101010101" pitchFamily="2" charset="-122"/>
                <a:ea typeface="华文楷体" panose="02010600040101010101" pitchFamily="2" charset="-122"/>
              </a:rPr>
              <a:t>外插策略，指定为字符串或实数标量值 </a:t>
            </a:r>
          </a:p>
          <a:p>
            <a:pPr marL="285750" indent="-285750" algn="l">
              <a:lnSpc>
                <a:spcPts val="2800"/>
              </a:lnSpc>
              <a:buFont typeface="Wingdings" panose="05000000000000000000" pitchFamily="2" charset="2"/>
              <a:buChar char="p"/>
            </a:pPr>
            <a:r>
              <a:rPr lang="en-US" altLang="zh-CN" sz="2200" dirty="0">
                <a:solidFill>
                  <a:srgbClr val="002060"/>
                </a:solidFill>
                <a:latin typeface="华文楷体" panose="02010600040101010101" pitchFamily="2" charset="-122"/>
                <a:ea typeface="华文楷体" panose="02010600040101010101" pitchFamily="2" charset="-122"/>
              </a:rPr>
              <a:t>interp1 </a:t>
            </a:r>
            <a:r>
              <a:rPr lang="zh-CN" altLang="en-US" sz="2200" dirty="0">
                <a:solidFill>
                  <a:srgbClr val="002060"/>
                </a:solidFill>
                <a:latin typeface="华文楷体" panose="02010600040101010101" pitchFamily="2" charset="-122"/>
                <a:ea typeface="华文楷体" panose="02010600040101010101" pitchFamily="2" charset="-122"/>
              </a:rPr>
              <a:t>使用与内插所用类似方法 </a:t>
            </a:r>
            <a:r>
              <a:rPr lang="en-US" altLang="zh-CN" sz="2200" dirty="0" err="1">
                <a:solidFill>
                  <a:srgbClr val="002060"/>
                </a:solidFill>
                <a:latin typeface="华文楷体" panose="02010600040101010101" pitchFamily="2" charset="-122"/>
                <a:ea typeface="华文楷体" panose="02010600040101010101" pitchFamily="2" charset="-122"/>
              </a:rPr>
              <a:t>methodp</a:t>
            </a:r>
            <a:r>
              <a:rPr lang="en-US" altLang="zh-CN" sz="2200" dirty="0">
                <a:solidFill>
                  <a:srgbClr val="002060"/>
                </a:solidFill>
                <a:latin typeface="华文楷体" panose="02010600040101010101" pitchFamily="2" charset="-122"/>
                <a:ea typeface="华文楷体" panose="02010600040101010101" pitchFamily="2" charset="-122"/>
              </a:rPr>
              <a:t> </a:t>
            </a:r>
            <a:r>
              <a:rPr lang="zh-CN" altLang="en-US" sz="2200" dirty="0">
                <a:solidFill>
                  <a:srgbClr val="002060"/>
                </a:solidFill>
                <a:latin typeface="华文楷体" panose="02010600040101010101" pitchFamily="2" charset="-122"/>
                <a:ea typeface="华文楷体" panose="02010600040101010101" pitchFamily="2" charset="-122"/>
              </a:rPr>
              <a:t>来计算落在域范围外的点</a:t>
            </a:r>
          </a:p>
          <a:p>
            <a:pPr marL="285750" indent="-285750">
              <a:lnSpc>
                <a:spcPts val="2800"/>
              </a:lnSpc>
              <a:buFont typeface="Wingdings" panose="05000000000000000000" pitchFamily="2" charset="2"/>
              <a:buChar char="p"/>
            </a:pPr>
            <a:r>
              <a:rPr lang="en-US" altLang="zh-CN" sz="2200" dirty="0">
                <a:solidFill>
                  <a:srgbClr val="002060"/>
                </a:solidFill>
                <a:latin typeface="华文楷体" panose="02010600040101010101" pitchFamily="2" charset="-122"/>
                <a:ea typeface="华文楷体" panose="02010600040101010101" pitchFamily="2" charset="-122"/>
              </a:rPr>
              <a:t>extrapolation</a:t>
            </a:r>
            <a:r>
              <a:rPr lang="zh-CN" altLang="en-US" sz="2200" dirty="0">
                <a:solidFill>
                  <a:srgbClr val="002060"/>
                </a:solidFill>
                <a:latin typeface="华文楷体" panose="02010600040101010101" pitchFamily="2" charset="-122"/>
                <a:ea typeface="华文楷体" panose="02010600040101010101" pitchFamily="2" charset="-122"/>
              </a:rPr>
              <a:t>指定标量，即为 </a:t>
            </a:r>
            <a:r>
              <a:rPr lang="en-US" altLang="zh-CN" sz="2200" dirty="0">
                <a:solidFill>
                  <a:srgbClr val="002060"/>
                </a:solidFill>
                <a:latin typeface="华文楷体" panose="02010600040101010101" pitchFamily="2" charset="-122"/>
                <a:ea typeface="华文楷体" panose="02010600040101010101" pitchFamily="2" charset="-122"/>
              </a:rPr>
              <a:t>x </a:t>
            </a:r>
            <a:r>
              <a:rPr lang="zh-CN" altLang="en-US" sz="2200" dirty="0">
                <a:solidFill>
                  <a:srgbClr val="002060"/>
                </a:solidFill>
                <a:latin typeface="华文楷体" panose="02010600040101010101" pitchFamily="2" charset="-122"/>
                <a:ea typeface="华文楷体" panose="02010600040101010101" pitchFamily="2" charset="-122"/>
              </a:rPr>
              <a:t>域范围外所有插值点指定标量常量值</a:t>
            </a:r>
          </a:p>
        </p:txBody>
      </p:sp>
      <p:sp>
        <p:nvSpPr>
          <p:cNvPr id="17" name="矩形 16"/>
          <p:cNvSpPr/>
          <p:nvPr/>
        </p:nvSpPr>
        <p:spPr>
          <a:xfrm>
            <a:off x="69481" y="2950126"/>
            <a:ext cx="1723549" cy="400110"/>
          </a:xfrm>
          <a:prstGeom prst="rect">
            <a:avLst/>
          </a:prstGeom>
        </p:spPr>
        <p:txBody>
          <a:bodyPr wrap="none">
            <a:spAutoFit/>
          </a:bodyPr>
          <a:lstStyle/>
          <a:p>
            <a:r>
              <a:rPr lang="zh-CN" altLang="en-US" sz="2000" b="1" dirty="0">
                <a:solidFill>
                  <a:schemeClr val="bg1"/>
                </a:solidFill>
                <a:highlight>
                  <a:srgbClr val="21A4FF"/>
                </a:highlight>
                <a:latin typeface="华文楷体" panose="02010600040101010101" pitchFamily="2" charset="-122"/>
                <a:ea typeface="华文楷体" panose="02010600040101010101" pitchFamily="2" charset="-122"/>
              </a:rPr>
              <a:t>外插调用格式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animBg="1"/>
      <p:bldP spid="16" grpId="0"/>
      <p:bldP spid="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p:cNvGraphicFramePr>
            <a:graphicFrameLocks noGrp="1"/>
          </p:cNvGraphicFramePr>
          <p:nvPr/>
        </p:nvGraphicFramePr>
        <p:xfrm>
          <a:off x="125760" y="699542"/>
          <a:ext cx="8892480" cy="3888432"/>
        </p:xfrm>
        <a:graphic>
          <a:graphicData uri="http://schemas.openxmlformats.org/drawingml/2006/table">
            <a:tbl>
              <a:tblPr>
                <a:effectLst>
                  <a:outerShdw blurRad="50800" dist="38100" dir="5400000" algn="t" rotWithShape="0">
                    <a:prstClr val="black">
                      <a:alpha val="40000"/>
                    </a:prstClr>
                  </a:outerShdw>
                </a:effectLst>
              </a:tblPr>
              <a:tblGrid>
                <a:gridCol w="865266">
                  <a:extLst>
                    <a:ext uri="{9D8B030D-6E8A-4147-A177-3AD203B41FA5}">
                      <a16:colId xmlns:a16="http://schemas.microsoft.com/office/drawing/2014/main" val="20000"/>
                    </a:ext>
                  </a:extLst>
                </a:gridCol>
                <a:gridCol w="3580974">
                  <a:extLst>
                    <a:ext uri="{9D8B030D-6E8A-4147-A177-3AD203B41FA5}">
                      <a16:colId xmlns:a16="http://schemas.microsoft.com/office/drawing/2014/main" val="20001"/>
                    </a:ext>
                  </a:extLst>
                </a:gridCol>
                <a:gridCol w="594320">
                  <a:extLst>
                    <a:ext uri="{9D8B030D-6E8A-4147-A177-3AD203B41FA5}">
                      <a16:colId xmlns:a16="http://schemas.microsoft.com/office/drawing/2014/main" val="20002"/>
                    </a:ext>
                  </a:extLst>
                </a:gridCol>
                <a:gridCol w="3851920">
                  <a:extLst>
                    <a:ext uri="{9D8B030D-6E8A-4147-A177-3AD203B41FA5}">
                      <a16:colId xmlns:a16="http://schemas.microsoft.com/office/drawing/2014/main" val="20003"/>
                    </a:ext>
                  </a:extLst>
                </a:gridCol>
              </a:tblGrid>
              <a:tr h="168750">
                <a:tc>
                  <a:txBody>
                    <a:bodyPr/>
                    <a:lstStyle/>
                    <a:p>
                      <a:pPr algn="l"/>
                      <a:r>
                        <a:rPr lang="zh-CN" altLang="en-US" sz="900" dirty="0">
                          <a:solidFill>
                            <a:srgbClr val="0070C0"/>
                          </a:solidFill>
                          <a:effectLst/>
                        </a:rPr>
                        <a:t>方法</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描述</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dirty="0">
                          <a:solidFill>
                            <a:srgbClr val="0070C0"/>
                          </a:solidFill>
                          <a:effectLst/>
                        </a:rPr>
                        <a:t>连续性</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注释</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26729">
                <a:tc>
                  <a:txBody>
                    <a:bodyPr/>
                    <a:lstStyle/>
                    <a:p>
                      <a:pPr algn="l"/>
                      <a:r>
                        <a:rPr lang="en-US" sz="900">
                          <a:solidFill>
                            <a:srgbClr val="0070C0"/>
                          </a:solidFill>
                          <a:effectLst/>
                        </a:rPr>
                        <a:t>"linear"</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线性插值。查询点处的插入值基于各维中邻近网格点处数值的线性插值。这是默认插值方法。</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en-US" sz="900">
                          <a:solidFill>
                            <a:srgbClr val="0070C0"/>
                          </a:solidFill>
                          <a:effectLst/>
                        </a:rPr>
                        <a:t>C</a:t>
                      </a:r>
                      <a:r>
                        <a:rPr lang="en-US" sz="900" baseline="30000">
                          <a:solidFill>
                            <a:srgbClr val="0070C0"/>
                          </a:solidFill>
                          <a:effectLst/>
                        </a:rPr>
                        <a:t>0</a:t>
                      </a:r>
                      <a:endParaRPr lang="en-US" sz="900">
                        <a:solidFill>
                          <a:srgbClr val="0070C0"/>
                        </a:solidFill>
                        <a:effectLst/>
                      </a:endParaRP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a:solidFill>
                            <a:srgbClr val="0070C0"/>
                          </a:solidFill>
                          <a:effectLst/>
                        </a:rPr>
                        <a:t>需要至少 </a:t>
                      </a:r>
                      <a:r>
                        <a:rPr lang="en-US" altLang="zh-CN" sz="900">
                          <a:solidFill>
                            <a:srgbClr val="0070C0"/>
                          </a:solidFill>
                          <a:effectLst/>
                        </a:rPr>
                        <a:t>2 </a:t>
                      </a:r>
                      <a:r>
                        <a:rPr lang="zh-CN" altLang="en-US" sz="900">
                          <a:solidFill>
                            <a:srgbClr val="0070C0"/>
                          </a:solidFill>
                          <a:effectLst/>
                        </a:rPr>
                        <a:t>个点。</a:t>
                      </a:r>
                    </a:p>
                    <a:p>
                      <a:pPr algn="l">
                        <a:buFont typeface="Arial" panose="020B0604020202020204" pitchFamily="34" charset="0"/>
                        <a:buChar char="•"/>
                      </a:pPr>
                      <a:r>
                        <a:rPr lang="zh-CN" altLang="en-US" sz="900">
                          <a:solidFill>
                            <a:srgbClr val="0070C0"/>
                          </a:solidFill>
                          <a:effectLst/>
                        </a:rPr>
                        <a:t>比最近邻点插值需要更多内存和计算时间。</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484708">
                <a:tc>
                  <a:txBody>
                    <a:bodyPr/>
                    <a:lstStyle/>
                    <a:p>
                      <a:pPr algn="l"/>
                      <a:r>
                        <a:rPr lang="en-US" sz="900">
                          <a:solidFill>
                            <a:srgbClr val="0070C0"/>
                          </a:solidFill>
                          <a:effectLst/>
                        </a:rPr>
                        <a:t>"nearest"</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最近邻点插值。查询点处的插入值是距样本网格点最近的值。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不连续</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a:solidFill>
                            <a:srgbClr val="0070C0"/>
                          </a:solidFill>
                          <a:effectLst/>
                        </a:rPr>
                        <a:t>需要至少 </a:t>
                      </a:r>
                      <a:r>
                        <a:rPr lang="en-US" altLang="zh-CN" sz="900">
                          <a:solidFill>
                            <a:srgbClr val="0070C0"/>
                          </a:solidFill>
                          <a:effectLst/>
                        </a:rPr>
                        <a:t>2 </a:t>
                      </a:r>
                      <a:r>
                        <a:rPr lang="zh-CN" altLang="en-US" sz="900">
                          <a:solidFill>
                            <a:srgbClr val="0070C0"/>
                          </a:solidFill>
                          <a:effectLst/>
                        </a:rPr>
                        <a:t>个点。</a:t>
                      </a:r>
                    </a:p>
                    <a:p>
                      <a:pPr algn="l">
                        <a:buFont typeface="Arial" panose="020B0604020202020204" pitchFamily="34" charset="0"/>
                        <a:buChar char="•"/>
                      </a:pPr>
                      <a:r>
                        <a:rPr lang="zh-CN" altLang="en-US" sz="900">
                          <a:solidFill>
                            <a:srgbClr val="0070C0"/>
                          </a:solidFill>
                          <a:effectLst/>
                        </a:rPr>
                        <a:t>最低内存要求</a:t>
                      </a:r>
                    </a:p>
                    <a:p>
                      <a:pPr algn="l">
                        <a:buFont typeface="Arial" panose="020B0604020202020204" pitchFamily="34" charset="0"/>
                        <a:buChar char="•"/>
                      </a:pPr>
                      <a:r>
                        <a:rPr lang="zh-CN" altLang="en-US" sz="900">
                          <a:solidFill>
                            <a:srgbClr val="0070C0"/>
                          </a:solidFill>
                          <a:effectLst/>
                        </a:rPr>
                        <a:t>最快计算时间</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26729">
                <a:tc>
                  <a:txBody>
                    <a:bodyPr/>
                    <a:lstStyle/>
                    <a:p>
                      <a:pPr algn="l"/>
                      <a:r>
                        <a:rPr lang="en-US" sz="900">
                          <a:solidFill>
                            <a:srgbClr val="0070C0"/>
                          </a:solidFill>
                          <a:effectLst/>
                        </a:rPr>
                        <a:t>"next"</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下一个邻点插值。查询点处的插入值是下一个采样网格点的值。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不连续</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a:solidFill>
                            <a:srgbClr val="0070C0"/>
                          </a:solidFill>
                          <a:effectLst/>
                        </a:rPr>
                        <a:t>需要至少 </a:t>
                      </a:r>
                      <a:r>
                        <a:rPr lang="en-US" altLang="zh-CN" sz="900">
                          <a:solidFill>
                            <a:srgbClr val="0070C0"/>
                          </a:solidFill>
                          <a:effectLst/>
                        </a:rPr>
                        <a:t>2 </a:t>
                      </a:r>
                      <a:r>
                        <a:rPr lang="zh-CN" altLang="en-US" sz="900">
                          <a:solidFill>
                            <a:srgbClr val="0070C0"/>
                          </a:solidFill>
                          <a:effectLst/>
                        </a:rPr>
                        <a:t>个点。</a:t>
                      </a:r>
                    </a:p>
                    <a:p>
                      <a:pPr algn="l">
                        <a:buFont typeface="Arial" panose="020B0604020202020204" pitchFamily="34" charset="0"/>
                        <a:buChar char="•"/>
                      </a:pPr>
                      <a:r>
                        <a:rPr lang="zh-CN" altLang="en-US" sz="900">
                          <a:solidFill>
                            <a:srgbClr val="0070C0"/>
                          </a:solidFill>
                          <a:effectLst/>
                        </a:rPr>
                        <a:t>内存要求和计算时间与 </a:t>
                      </a:r>
                      <a:r>
                        <a:rPr lang="en-US" altLang="zh-CN" sz="900">
                          <a:solidFill>
                            <a:srgbClr val="0070C0"/>
                          </a:solidFill>
                          <a:effectLst/>
                        </a:rPr>
                        <a:t>"nearest" </a:t>
                      </a:r>
                      <a:r>
                        <a:rPr lang="zh-CN" altLang="en-US" sz="900">
                          <a:solidFill>
                            <a:srgbClr val="0070C0"/>
                          </a:solidFill>
                          <a:effectLst/>
                        </a:rPr>
                        <a:t>相同</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326729">
                <a:tc>
                  <a:txBody>
                    <a:bodyPr/>
                    <a:lstStyle/>
                    <a:p>
                      <a:pPr algn="l"/>
                      <a:r>
                        <a:rPr lang="en-US" sz="900">
                          <a:solidFill>
                            <a:srgbClr val="0070C0"/>
                          </a:solidFill>
                          <a:effectLst/>
                        </a:rPr>
                        <a:t>"previous"</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上一个邻点插值。查询点处的插入值是上一个采样网格点的值。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不连续</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a:solidFill>
                            <a:srgbClr val="0070C0"/>
                          </a:solidFill>
                          <a:effectLst/>
                        </a:rPr>
                        <a:t>需要至少 </a:t>
                      </a:r>
                      <a:r>
                        <a:rPr lang="en-US" altLang="zh-CN" sz="900">
                          <a:solidFill>
                            <a:srgbClr val="0070C0"/>
                          </a:solidFill>
                          <a:effectLst/>
                        </a:rPr>
                        <a:t>2 </a:t>
                      </a:r>
                      <a:r>
                        <a:rPr lang="zh-CN" altLang="en-US" sz="900">
                          <a:solidFill>
                            <a:srgbClr val="0070C0"/>
                          </a:solidFill>
                          <a:effectLst/>
                        </a:rPr>
                        <a:t>个点。</a:t>
                      </a:r>
                    </a:p>
                    <a:p>
                      <a:pPr algn="l">
                        <a:buFont typeface="Arial" panose="020B0604020202020204" pitchFamily="34" charset="0"/>
                        <a:buChar char="•"/>
                      </a:pPr>
                      <a:r>
                        <a:rPr lang="zh-CN" altLang="en-US" sz="900">
                          <a:solidFill>
                            <a:srgbClr val="0070C0"/>
                          </a:solidFill>
                          <a:effectLst/>
                        </a:rPr>
                        <a:t>内存要求和计算时间与 </a:t>
                      </a:r>
                      <a:r>
                        <a:rPr lang="en-US" altLang="zh-CN" sz="900">
                          <a:solidFill>
                            <a:srgbClr val="0070C0"/>
                          </a:solidFill>
                          <a:effectLst/>
                        </a:rPr>
                        <a:t>"nearest" </a:t>
                      </a:r>
                      <a:r>
                        <a:rPr lang="zh-CN" altLang="en-US" sz="900">
                          <a:solidFill>
                            <a:srgbClr val="0070C0"/>
                          </a:solidFill>
                          <a:effectLst/>
                        </a:rPr>
                        <a:t>相同</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326729">
                <a:tc>
                  <a:txBody>
                    <a:bodyPr/>
                    <a:lstStyle/>
                    <a:p>
                      <a:pPr algn="l"/>
                      <a:r>
                        <a:rPr lang="en-US" sz="900">
                          <a:solidFill>
                            <a:srgbClr val="0070C0"/>
                          </a:solidFill>
                          <a:effectLst/>
                        </a:rPr>
                        <a:t>"pchip"</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保形分段三次插值。查询点处的插入值基于邻近网格点处数值的保形分段三次插值。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en-US" sz="900">
                          <a:solidFill>
                            <a:srgbClr val="0070C0"/>
                          </a:solidFill>
                          <a:effectLst/>
                        </a:rPr>
                        <a:t>C</a:t>
                      </a:r>
                      <a:r>
                        <a:rPr lang="en-US" sz="900" baseline="30000">
                          <a:solidFill>
                            <a:srgbClr val="0070C0"/>
                          </a:solidFill>
                          <a:effectLst/>
                        </a:rPr>
                        <a:t>1</a:t>
                      </a:r>
                      <a:endParaRPr lang="en-US" sz="900">
                        <a:solidFill>
                          <a:srgbClr val="0070C0"/>
                        </a:solidFill>
                        <a:effectLst/>
                      </a:endParaRP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a:solidFill>
                            <a:srgbClr val="0070C0"/>
                          </a:solidFill>
                          <a:effectLst/>
                        </a:rPr>
                        <a:t>需要至少 </a:t>
                      </a:r>
                      <a:r>
                        <a:rPr lang="en-US" altLang="zh-CN" sz="900">
                          <a:solidFill>
                            <a:srgbClr val="0070C0"/>
                          </a:solidFill>
                          <a:effectLst/>
                        </a:rPr>
                        <a:t>4 </a:t>
                      </a:r>
                      <a:r>
                        <a:rPr lang="zh-CN" altLang="en-US" sz="900">
                          <a:solidFill>
                            <a:srgbClr val="0070C0"/>
                          </a:solidFill>
                          <a:effectLst/>
                        </a:rPr>
                        <a:t>个点。</a:t>
                      </a:r>
                    </a:p>
                    <a:p>
                      <a:pPr algn="l">
                        <a:buFont typeface="Arial" panose="020B0604020202020204" pitchFamily="34" charset="0"/>
                        <a:buChar char="•"/>
                      </a:pPr>
                      <a:r>
                        <a:rPr lang="zh-CN" altLang="en-US" sz="900">
                          <a:solidFill>
                            <a:srgbClr val="0070C0"/>
                          </a:solidFill>
                          <a:effectLst/>
                        </a:rPr>
                        <a:t>比 </a:t>
                      </a:r>
                      <a:r>
                        <a:rPr lang="en-US" altLang="zh-CN" sz="900">
                          <a:solidFill>
                            <a:srgbClr val="0070C0"/>
                          </a:solidFill>
                          <a:effectLst/>
                        </a:rPr>
                        <a:t>"linear" </a:t>
                      </a:r>
                      <a:r>
                        <a:rPr lang="zh-CN" altLang="en-US" sz="900">
                          <a:solidFill>
                            <a:srgbClr val="0070C0"/>
                          </a:solidFill>
                          <a:effectLst/>
                        </a:rPr>
                        <a:t>需要更多内存和计算时间</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168750">
                <a:tc>
                  <a:txBody>
                    <a:bodyPr/>
                    <a:lstStyle/>
                    <a:p>
                      <a:pPr algn="l"/>
                      <a:r>
                        <a:rPr lang="en-US" sz="900">
                          <a:solidFill>
                            <a:srgbClr val="0070C0"/>
                          </a:solidFill>
                          <a:effectLst/>
                        </a:rPr>
                        <a:t>"cubic"</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用于 </a:t>
                      </a:r>
                      <a:r>
                        <a:rPr lang="en-US" sz="900">
                          <a:solidFill>
                            <a:srgbClr val="0070C0"/>
                          </a:solidFill>
                          <a:effectLst/>
                        </a:rPr>
                        <a:t>Sylab </a:t>
                      </a:r>
                      <a:r>
                        <a:rPr lang="zh-CN" altLang="en-US" sz="900">
                          <a:solidFill>
                            <a:srgbClr val="0070C0"/>
                          </a:solidFill>
                          <a:effectLst/>
                        </a:rPr>
                        <a:t>的三次卷积。</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en-US" sz="900">
                          <a:solidFill>
                            <a:srgbClr val="0070C0"/>
                          </a:solidFill>
                          <a:effectLst/>
                        </a:rPr>
                        <a:t>C</a:t>
                      </a:r>
                      <a:r>
                        <a:rPr lang="en-US" sz="900" baseline="30000">
                          <a:solidFill>
                            <a:srgbClr val="0070C0"/>
                          </a:solidFill>
                          <a:effectLst/>
                        </a:rPr>
                        <a:t>1</a:t>
                      </a:r>
                      <a:endParaRPr lang="en-US" sz="900">
                        <a:solidFill>
                          <a:srgbClr val="0070C0"/>
                        </a:solidFill>
                        <a:effectLst/>
                      </a:endParaRP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rowSpan="2">
                  <a:txBody>
                    <a:bodyPr/>
                    <a:lstStyle/>
                    <a:p>
                      <a:pPr algn="l">
                        <a:buFont typeface="Arial" panose="020B0604020202020204" pitchFamily="34" charset="0"/>
                        <a:buChar char="•"/>
                      </a:pPr>
                      <a:r>
                        <a:rPr lang="zh-CN" altLang="en-US" sz="900">
                          <a:solidFill>
                            <a:srgbClr val="0070C0"/>
                          </a:solidFill>
                          <a:effectLst/>
                        </a:rPr>
                        <a:t>需要至少 </a:t>
                      </a:r>
                      <a:r>
                        <a:rPr lang="en-US" altLang="zh-CN" sz="900">
                          <a:solidFill>
                            <a:srgbClr val="0070C0"/>
                          </a:solidFill>
                          <a:effectLst/>
                        </a:rPr>
                        <a:t>3 </a:t>
                      </a:r>
                      <a:r>
                        <a:rPr lang="zh-CN" altLang="en-US" sz="900">
                          <a:solidFill>
                            <a:srgbClr val="0070C0"/>
                          </a:solidFill>
                          <a:effectLst/>
                        </a:rPr>
                        <a:t>个点。</a:t>
                      </a:r>
                    </a:p>
                    <a:p>
                      <a:pPr algn="l">
                        <a:buFont typeface="Arial" panose="020B0604020202020204" pitchFamily="34" charset="0"/>
                        <a:buChar char="•"/>
                      </a:pPr>
                      <a:r>
                        <a:rPr lang="zh-CN" altLang="en-US" sz="900">
                          <a:solidFill>
                            <a:srgbClr val="0070C0"/>
                          </a:solidFill>
                          <a:effectLst/>
                        </a:rPr>
                        <a:t>点必须均匀间隔</a:t>
                      </a:r>
                    </a:p>
                    <a:p>
                      <a:pPr algn="l">
                        <a:buFont typeface="Arial" panose="020B0604020202020204" pitchFamily="34" charset="0"/>
                        <a:buChar char="•"/>
                      </a:pPr>
                      <a:r>
                        <a:rPr lang="zh-CN" altLang="en-US" sz="900">
                          <a:solidFill>
                            <a:srgbClr val="0070C0"/>
                          </a:solidFill>
                          <a:effectLst/>
                        </a:rPr>
                        <a:t>对于不规则间隔的数据，此方法会回退到 </a:t>
                      </a:r>
                      <a:r>
                        <a:rPr lang="en-US" altLang="zh-CN" sz="900">
                          <a:solidFill>
                            <a:srgbClr val="0070C0"/>
                          </a:solidFill>
                          <a:effectLst/>
                        </a:rPr>
                        <a:t>"spline" </a:t>
                      </a:r>
                      <a:r>
                        <a:rPr lang="zh-CN" altLang="en-US" sz="900">
                          <a:solidFill>
                            <a:srgbClr val="0070C0"/>
                          </a:solidFill>
                          <a:effectLst/>
                        </a:rPr>
                        <a:t>插值</a:t>
                      </a:r>
                    </a:p>
                    <a:p>
                      <a:pPr algn="l">
                        <a:buFont typeface="Arial" panose="020B0604020202020204" pitchFamily="34" charset="0"/>
                        <a:buChar char="•"/>
                      </a:pPr>
                      <a:r>
                        <a:rPr lang="zh-CN" altLang="en-US" sz="900">
                          <a:solidFill>
                            <a:srgbClr val="0070C0"/>
                          </a:solidFill>
                          <a:effectLst/>
                        </a:rPr>
                        <a:t>内存要求和计算时间与 </a:t>
                      </a:r>
                      <a:r>
                        <a:rPr lang="en-US" altLang="zh-CN" sz="900">
                          <a:solidFill>
                            <a:srgbClr val="0070C0"/>
                          </a:solidFill>
                          <a:effectLst/>
                        </a:rPr>
                        <a:t>"pchip" </a:t>
                      </a:r>
                      <a:r>
                        <a:rPr lang="zh-CN" altLang="en-US" sz="900">
                          <a:solidFill>
                            <a:srgbClr val="0070C0"/>
                          </a:solidFill>
                          <a:effectLst/>
                        </a:rPr>
                        <a:t>相似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473936">
                <a:tc>
                  <a:txBody>
                    <a:bodyPr/>
                    <a:lstStyle/>
                    <a:p>
                      <a:pPr algn="l"/>
                      <a:r>
                        <a:rPr lang="en-US" sz="900">
                          <a:solidFill>
                            <a:srgbClr val="0070C0"/>
                          </a:solidFill>
                          <a:effectLst/>
                        </a:rPr>
                        <a:t>"v5cubic"</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dirty="0">
                          <a:solidFill>
                            <a:srgbClr val="0070C0"/>
                          </a:solidFill>
                          <a:effectLst/>
                        </a:rPr>
                        <a:t>与 </a:t>
                      </a:r>
                      <a:r>
                        <a:rPr lang="en-US" altLang="zh-CN" sz="900" dirty="0">
                          <a:solidFill>
                            <a:srgbClr val="0070C0"/>
                          </a:solidFill>
                          <a:effectLst/>
                        </a:rPr>
                        <a:t>"</a:t>
                      </a:r>
                      <a:r>
                        <a:rPr lang="en-US" sz="900" dirty="0">
                          <a:solidFill>
                            <a:srgbClr val="0070C0"/>
                          </a:solidFill>
                          <a:effectLst/>
                        </a:rPr>
                        <a:t>cubic" </a:t>
                      </a:r>
                      <a:r>
                        <a:rPr lang="zh-CN" altLang="en-US" sz="900" dirty="0">
                          <a:solidFill>
                            <a:srgbClr val="0070C0"/>
                          </a:solidFill>
                          <a:effectLst/>
                        </a:rPr>
                        <a:t>相同。</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en-US" sz="900">
                          <a:solidFill>
                            <a:srgbClr val="0070C0"/>
                          </a:solidFill>
                          <a:effectLst/>
                        </a:rPr>
                        <a:t>C</a:t>
                      </a:r>
                      <a:r>
                        <a:rPr lang="en-US" sz="900" baseline="30000">
                          <a:solidFill>
                            <a:srgbClr val="0070C0"/>
                          </a:solidFill>
                          <a:effectLst/>
                        </a:rPr>
                        <a:t>1</a:t>
                      </a:r>
                      <a:endParaRPr lang="en-US" sz="900">
                        <a:solidFill>
                          <a:srgbClr val="0070C0"/>
                        </a:solidFill>
                        <a:effectLst/>
                      </a:endParaRP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vMerge="1">
                  <a:txBody>
                    <a:bodyPr/>
                    <a:lstStyle/>
                    <a:p>
                      <a:endParaRPr lang="zh-CN"/>
                    </a:p>
                  </a:txBody>
                  <a:tcPr/>
                </a:tc>
                <a:extLst>
                  <a:ext uri="{0D108BD9-81ED-4DB2-BD59-A6C34878D82A}">
                    <a16:rowId xmlns:a16="http://schemas.microsoft.com/office/drawing/2014/main" val="10007"/>
                  </a:ext>
                </a:extLst>
              </a:tr>
              <a:tr h="642686">
                <a:tc>
                  <a:txBody>
                    <a:bodyPr/>
                    <a:lstStyle/>
                    <a:p>
                      <a:pPr algn="l"/>
                      <a:r>
                        <a:rPr lang="en-US" sz="900">
                          <a:solidFill>
                            <a:srgbClr val="0070C0"/>
                          </a:solidFill>
                          <a:effectLst/>
                        </a:rPr>
                        <a:t>"makima"</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zh-CN" altLang="en-US" sz="900">
                          <a:solidFill>
                            <a:srgbClr val="0070C0"/>
                          </a:solidFill>
                          <a:effectLst/>
                        </a:rPr>
                        <a:t>修正 </a:t>
                      </a:r>
                      <a:r>
                        <a:rPr lang="en-US" altLang="zh-CN" sz="900">
                          <a:solidFill>
                            <a:srgbClr val="0070C0"/>
                          </a:solidFill>
                          <a:effectLst/>
                        </a:rPr>
                        <a:t>Akima </a:t>
                      </a:r>
                      <a:r>
                        <a:rPr lang="zh-CN" altLang="en-US" sz="900">
                          <a:solidFill>
                            <a:srgbClr val="0070C0"/>
                          </a:solidFill>
                          <a:effectLst/>
                        </a:rPr>
                        <a:t>三次 </a:t>
                      </a:r>
                      <a:r>
                        <a:rPr lang="en-US" altLang="zh-CN" sz="900">
                          <a:solidFill>
                            <a:srgbClr val="0070C0"/>
                          </a:solidFill>
                          <a:effectLst/>
                        </a:rPr>
                        <a:t>Hermite </a:t>
                      </a:r>
                      <a:r>
                        <a:rPr lang="zh-CN" altLang="en-US" sz="900">
                          <a:solidFill>
                            <a:srgbClr val="0070C0"/>
                          </a:solidFill>
                          <a:effectLst/>
                        </a:rPr>
                        <a:t>插值。查询点处的插入值基于次数最大为 </a:t>
                      </a:r>
                      <a:r>
                        <a:rPr lang="en-US" altLang="zh-CN" sz="900">
                          <a:solidFill>
                            <a:srgbClr val="0070C0"/>
                          </a:solidFill>
                          <a:effectLst/>
                        </a:rPr>
                        <a:t>3 </a:t>
                      </a:r>
                      <a:r>
                        <a:rPr lang="zh-CN" altLang="en-US" sz="900">
                          <a:solidFill>
                            <a:srgbClr val="0070C0"/>
                          </a:solidFill>
                          <a:effectLst/>
                        </a:rPr>
                        <a:t>的多项式的分段函数。为防过冲，已修正 </a:t>
                      </a:r>
                      <a:r>
                        <a:rPr lang="en-US" altLang="zh-CN" sz="900">
                          <a:solidFill>
                            <a:srgbClr val="0070C0"/>
                          </a:solidFill>
                          <a:effectLst/>
                        </a:rPr>
                        <a:t>Akima </a:t>
                      </a:r>
                      <a:r>
                        <a:rPr lang="zh-CN" altLang="en-US" sz="900">
                          <a:solidFill>
                            <a:srgbClr val="0070C0"/>
                          </a:solidFill>
                          <a:effectLst/>
                        </a:rPr>
                        <a:t>公式。</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en-US" sz="900">
                          <a:solidFill>
                            <a:srgbClr val="0070C0"/>
                          </a:solidFill>
                          <a:effectLst/>
                        </a:rPr>
                        <a:t>C</a:t>
                      </a:r>
                      <a:r>
                        <a:rPr lang="en-US" sz="900" baseline="30000">
                          <a:solidFill>
                            <a:srgbClr val="0070C0"/>
                          </a:solidFill>
                          <a:effectLst/>
                        </a:rPr>
                        <a:t>1</a:t>
                      </a:r>
                      <a:endParaRPr lang="en-US" sz="900">
                        <a:solidFill>
                          <a:srgbClr val="0070C0"/>
                        </a:solidFill>
                        <a:effectLst/>
                      </a:endParaRP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dirty="0">
                          <a:solidFill>
                            <a:srgbClr val="0070C0"/>
                          </a:solidFill>
                          <a:effectLst/>
                        </a:rPr>
                        <a:t>需要至少 </a:t>
                      </a:r>
                      <a:r>
                        <a:rPr lang="en-US" altLang="zh-CN" sz="900" dirty="0">
                          <a:solidFill>
                            <a:srgbClr val="0070C0"/>
                          </a:solidFill>
                          <a:effectLst/>
                        </a:rPr>
                        <a:t>2 </a:t>
                      </a:r>
                      <a:r>
                        <a:rPr lang="zh-CN" altLang="en-US" sz="900" dirty="0">
                          <a:solidFill>
                            <a:srgbClr val="0070C0"/>
                          </a:solidFill>
                          <a:effectLst/>
                        </a:rPr>
                        <a:t>个点。</a:t>
                      </a:r>
                    </a:p>
                    <a:p>
                      <a:pPr algn="l">
                        <a:buFont typeface="Arial" panose="020B0604020202020204" pitchFamily="34" charset="0"/>
                        <a:buChar char="•"/>
                      </a:pPr>
                      <a:r>
                        <a:rPr lang="zh-CN" altLang="en-US" sz="900" dirty="0">
                          <a:solidFill>
                            <a:srgbClr val="0070C0"/>
                          </a:solidFill>
                          <a:effectLst/>
                        </a:rPr>
                        <a:t>产生的波动比 </a:t>
                      </a:r>
                      <a:r>
                        <a:rPr lang="en-US" altLang="zh-CN" sz="900" dirty="0">
                          <a:solidFill>
                            <a:srgbClr val="0070C0"/>
                          </a:solidFill>
                          <a:effectLst/>
                        </a:rPr>
                        <a:t>"</a:t>
                      </a:r>
                      <a:r>
                        <a:rPr lang="en-US" sz="900" dirty="0">
                          <a:solidFill>
                            <a:srgbClr val="0070C0"/>
                          </a:solidFill>
                          <a:effectLst/>
                        </a:rPr>
                        <a:t>spline" </a:t>
                      </a:r>
                      <a:r>
                        <a:rPr lang="zh-CN" altLang="en-US" sz="900" dirty="0">
                          <a:solidFill>
                            <a:srgbClr val="0070C0"/>
                          </a:solidFill>
                          <a:effectLst/>
                        </a:rPr>
                        <a:t>小，但不像 </a:t>
                      </a:r>
                      <a:r>
                        <a:rPr lang="en-US" altLang="zh-CN" sz="900" dirty="0">
                          <a:solidFill>
                            <a:srgbClr val="0070C0"/>
                          </a:solidFill>
                          <a:effectLst/>
                        </a:rPr>
                        <a:t>"</a:t>
                      </a:r>
                      <a:r>
                        <a:rPr lang="en-US" sz="900" dirty="0" err="1">
                          <a:solidFill>
                            <a:srgbClr val="0070C0"/>
                          </a:solidFill>
                          <a:effectLst/>
                        </a:rPr>
                        <a:t>pchip</a:t>
                      </a:r>
                      <a:r>
                        <a:rPr lang="en-US" sz="900" dirty="0">
                          <a:solidFill>
                            <a:srgbClr val="0070C0"/>
                          </a:solidFill>
                          <a:effectLst/>
                        </a:rPr>
                        <a:t>" </a:t>
                      </a:r>
                      <a:r>
                        <a:rPr lang="zh-CN" altLang="en-US" sz="900" dirty="0">
                          <a:solidFill>
                            <a:srgbClr val="0070C0"/>
                          </a:solidFill>
                          <a:effectLst/>
                        </a:rPr>
                        <a:t>那样急剧变平</a:t>
                      </a:r>
                    </a:p>
                    <a:p>
                      <a:pPr algn="l">
                        <a:buFont typeface="Arial" panose="020B0604020202020204" pitchFamily="34" charset="0"/>
                        <a:buChar char="•"/>
                      </a:pPr>
                      <a:r>
                        <a:rPr lang="zh-CN" altLang="en-US" sz="900" dirty="0">
                          <a:solidFill>
                            <a:srgbClr val="0070C0"/>
                          </a:solidFill>
                          <a:effectLst/>
                        </a:rPr>
                        <a:t>计算成本高于 </a:t>
                      </a:r>
                      <a:r>
                        <a:rPr lang="en-US" altLang="zh-CN" sz="900" dirty="0">
                          <a:solidFill>
                            <a:srgbClr val="0070C0"/>
                          </a:solidFill>
                          <a:effectLst/>
                        </a:rPr>
                        <a:t>"</a:t>
                      </a:r>
                      <a:r>
                        <a:rPr lang="en-US" sz="900" dirty="0" err="1">
                          <a:solidFill>
                            <a:srgbClr val="0070C0"/>
                          </a:solidFill>
                          <a:effectLst/>
                        </a:rPr>
                        <a:t>pchip</a:t>
                      </a:r>
                      <a:r>
                        <a:rPr lang="en-US" sz="900" dirty="0">
                          <a:solidFill>
                            <a:srgbClr val="0070C0"/>
                          </a:solidFill>
                          <a:effectLst/>
                        </a:rPr>
                        <a:t>"，</a:t>
                      </a:r>
                      <a:r>
                        <a:rPr lang="zh-CN" altLang="en-US" sz="900" dirty="0">
                          <a:solidFill>
                            <a:srgbClr val="0070C0"/>
                          </a:solidFill>
                          <a:effectLst/>
                        </a:rPr>
                        <a:t>但通常低于 </a:t>
                      </a:r>
                      <a:r>
                        <a:rPr lang="en-US" altLang="zh-CN" sz="900" dirty="0">
                          <a:solidFill>
                            <a:srgbClr val="0070C0"/>
                          </a:solidFill>
                          <a:effectLst/>
                        </a:rPr>
                        <a:t>"</a:t>
                      </a:r>
                      <a:r>
                        <a:rPr lang="en-US" sz="900" dirty="0">
                          <a:solidFill>
                            <a:srgbClr val="0070C0"/>
                          </a:solidFill>
                          <a:effectLst/>
                        </a:rPr>
                        <a:t>spline"</a:t>
                      </a:r>
                    </a:p>
                    <a:p>
                      <a:pPr algn="l">
                        <a:buFont typeface="Arial" panose="020B0604020202020204" pitchFamily="34" charset="0"/>
                        <a:buChar char="•"/>
                      </a:pPr>
                      <a:r>
                        <a:rPr lang="zh-CN" altLang="en-US" sz="900" dirty="0">
                          <a:solidFill>
                            <a:srgbClr val="0070C0"/>
                          </a:solidFill>
                          <a:effectLst/>
                        </a:rPr>
                        <a:t>内存要求与 </a:t>
                      </a:r>
                      <a:r>
                        <a:rPr lang="en-US" altLang="zh-CN" sz="900" dirty="0">
                          <a:solidFill>
                            <a:srgbClr val="0070C0"/>
                          </a:solidFill>
                          <a:effectLst/>
                        </a:rPr>
                        <a:t>"</a:t>
                      </a:r>
                      <a:r>
                        <a:rPr lang="en-US" sz="900" dirty="0">
                          <a:solidFill>
                            <a:srgbClr val="0070C0"/>
                          </a:solidFill>
                          <a:effectLst/>
                        </a:rPr>
                        <a:t>spline" </a:t>
                      </a:r>
                      <a:r>
                        <a:rPr lang="zh-CN" altLang="en-US" sz="900" dirty="0">
                          <a:solidFill>
                            <a:srgbClr val="0070C0"/>
                          </a:solidFill>
                          <a:effectLst/>
                        </a:rPr>
                        <a:t>类似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642686">
                <a:tc>
                  <a:txBody>
                    <a:bodyPr/>
                    <a:lstStyle/>
                    <a:p>
                      <a:pPr algn="l"/>
                      <a:r>
                        <a:rPr lang="en-US" sz="900">
                          <a:solidFill>
                            <a:srgbClr val="0070C0"/>
                          </a:solidFill>
                          <a:effectLst/>
                        </a:rPr>
                        <a:t>"spline"</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a:solidFill>
                            <a:srgbClr val="0070C0"/>
                          </a:solidFill>
                          <a:effectLst/>
                        </a:rPr>
                        <a:t>根据数据点个数采取不同算法。两个数据点：线性插值。</a:t>
                      </a:r>
                    </a:p>
                    <a:p>
                      <a:pPr algn="l">
                        <a:buFont typeface="Arial" panose="020B0604020202020204" pitchFamily="34" charset="0"/>
                        <a:buChar char="•"/>
                      </a:pPr>
                      <a:r>
                        <a:rPr lang="zh-CN" altLang="en-US" sz="900">
                          <a:solidFill>
                            <a:srgbClr val="0070C0"/>
                          </a:solidFill>
                          <a:effectLst/>
                        </a:rPr>
                        <a:t>三个数据点：抛物插值。</a:t>
                      </a:r>
                    </a:p>
                    <a:p>
                      <a:pPr algn="l">
                        <a:buFont typeface="Arial" panose="020B0604020202020204" pitchFamily="34" charset="0"/>
                        <a:buChar char="•"/>
                      </a:pPr>
                      <a:r>
                        <a:rPr lang="zh-CN" altLang="en-US" sz="900">
                          <a:solidFill>
                            <a:srgbClr val="0070C0"/>
                          </a:solidFill>
                          <a:effectLst/>
                        </a:rPr>
                        <a:t>四个数据点及以上：使用非结终止条件的样条插值。查询点处的插入值基于各维中邻近网格点处数值的三次插值。</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r>
                        <a:rPr lang="en-US" sz="900">
                          <a:solidFill>
                            <a:srgbClr val="0070C0"/>
                          </a:solidFill>
                          <a:effectLst/>
                        </a:rPr>
                        <a:t>C</a:t>
                      </a:r>
                      <a:r>
                        <a:rPr lang="en-US" sz="900" baseline="30000">
                          <a:solidFill>
                            <a:srgbClr val="0070C0"/>
                          </a:solidFill>
                          <a:effectLst/>
                        </a:rPr>
                        <a:t>2</a:t>
                      </a:r>
                      <a:endParaRPr lang="en-US" sz="900">
                        <a:solidFill>
                          <a:srgbClr val="0070C0"/>
                        </a:solidFill>
                        <a:effectLst/>
                      </a:endParaRP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tc>
                  <a:txBody>
                    <a:bodyPr/>
                    <a:lstStyle/>
                    <a:p>
                      <a:pPr algn="l">
                        <a:buFont typeface="Arial" panose="020B0604020202020204" pitchFamily="34" charset="0"/>
                        <a:buChar char="•"/>
                      </a:pPr>
                      <a:r>
                        <a:rPr lang="zh-CN" altLang="en-US" sz="900" dirty="0">
                          <a:solidFill>
                            <a:srgbClr val="0070C0"/>
                          </a:solidFill>
                          <a:effectLst/>
                        </a:rPr>
                        <a:t>需要至少 </a:t>
                      </a:r>
                      <a:r>
                        <a:rPr lang="en-US" altLang="zh-CN" sz="900" dirty="0">
                          <a:solidFill>
                            <a:srgbClr val="0070C0"/>
                          </a:solidFill>
                          <a:effectLst/>
                        </a:rPr>
                        <a:t>2 </a:t>
                      </a:r>
                      <a:r>
                        <a:rPr lang="zh-CN" altLang="en-US" sz="900" dirty="0">
                          <a:solidFill>
                            <a:srgbClr val="0070C0"/>
                          </a:solidFill>
                          <a:effectLst/>
                        </a:rPr>
                        <a:t>个点。</a:t>
                      </a:r>
                    </a:p>
                    <a:p>
                      <a:pPr algn="l">
                        <a:buFont typeface="Arial" panose="020B0604020202020204" pitchFamily="34" charset="0"/>
                        <a:buChar char="•"/>
                      </a:pPr>
                      <a:r>
                        <a:rPr lang="zh-CN" altLang="en-US" sz="900" dirty="0">
                          <a:solidFill>
                            <a:srgbClr val="0070C0"/>
                          </a:solidFill>
                          <a:effectLst/>
                        </a:rPr>
                        <a:t>比 </a:t>
                      </a:r>
                      <a:r>
                        <a:rPr lang="en-US" altLang="zh-CN" sz="900" dirty="0">
                          <a:solidFill>
                            <a:srgbClr val="0070C0"/>
                          </a:solidFill>
                          <a:effectLst/>
                        </a:rPr>
                        <a:t>"</a:t>
                      </a:r>
                      <a:r>
                        <a:rPr lang="en-US" altLang="zh-CN" sz="900" dirty="0" err="1">
                          <a:solidFill>
                            <a:srgbClr val="0070C0"/>
                          </a:solidFill>
                          <a:effectLst/>
                        </a:rPr>
                        <a:t>pchip</a:t>
                      </a:r>
                      <a:r>
                        <a:rPr lang="en-US" altLang="zh-CN" sz="900" dirty="0">
                          <a:solidFill>
                            <a:srgbClr val="0070C0"/>
                          </a:solidFill>
                          <a:effectLst/>
                        </a:rPr>
                        <a:t>" </a:t>
                      </a:r>
                      <a:r>
                        <a:rPr lang="zh-CN" altLang="en-US" sz="900" dirty="0">
                          <a:solidFill>
                            <a:srgbClr val="0070C0"/>
                          </a:solidFill>
                          <a:effectLst/>
                        </a:rPr>
                        <a:t>需要更多内存和计算时间</a:t>
                      </a:r>
                    </a:p>
                  </a:txBody>
                  <a:tcPr marL="11430" marR="11430" marT="5715" marB="5715" anchor="ctr">
                    <a:lnL w="6350" cap="flat" cmpd="sng" algn="ctr">
                      <a:solidFill>
                        <a:srgbClr val="DFE2E5"/>
                      </a:solidFill>
                      <a:prstDash val="solid"/>
                      <a:round/>
                      <a:headEnd type="none" w="med" len="med"/>
                      <a:tailEnd type="none" w="med" len="med"/>
                    </a:lnL>
                    <a:lnR w="6350" cap="flat" cmpd="sng" algn="ctr">
                      <a:solidFill>
                        <a:srgbClr val="DFE2E5"/>
                      </a:solidFill>
                      <a:prstDash val="solid"/>
                      <a:round/>
                      <a:headEnd type="none" w="med" len="med"/>
                      <a:tailEnd type="none" w="med" len="med"/>
                    </a:lnR>
                    <a:lnT w="6350" cap="flat" cmpd="sng" algn="ctr">
                      <a:solidFill>
                        <a:srgbClr val="DFE2E5"/>
                      </a:solidFill>
                      <a:prstDash val="solid"/>
                      <a:round/>
                      <a:headEnd type="none" w="med" len="med"/>
                      <a:tailEnd type="none" w="med" len="med"/>
                    </a:lnT>
                    <a:lnB w="6350" cap="flat" cmpd="sng" algn="ctr">
                      <a:solidFill>
                        <a:srgbClr val="DFE2E5"/>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bl>
          </a:graphicData>
        </a:graphic>
      </p:graphicFrame>
      <p:sp>
        <p:nvSpPr>
          <p:cNvPr id="12" name="文本框 11"/>
          <p:cNvSpPr txBox="1"/>
          <p:nvPr/>
        </p:nvSpPr>
        <p:spPr>
          <a:xfrm>
            <a:off x="898873" y="89037"/>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§5.4.2 </a:t>
            </a:r>
            <a:r>
              <a:rPr lang="zh-CN" altLang="en-US" sz="2800" b="1"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zh-CN" altLang="en-US" sz="2800" b="1" i="0" dirty="0">
                <a:solidFill>
                  <a:srgbClr val="FF0000"/>
                </a:solidFill>
                <a:effectLst/>
                <a:latin typeface="华文楷体" panose="02010600040101010101" pitchFamily="2" charset="-122"/>
                <a:ea typeface="华文楷体" panose="02010600040101010101" pitchFamily="2" charset="-122"/>
              </a:rPr>
              <a:t>数据插值</a:t>
            </a:r>
            <a:r>
              <a:rPr lang="en-US" altLang="zh-CN" sz="2800" b="1" dirty="0">
                <a:solidFill>
                  <a:srgbClr val="FF0000"/>
                </a:solidFill>
                <a:latin typeface="华文楷体" panose="02010600040101010101" pitchFamily="2" charset="-122"/>
                <a:ea typeface="华文楷体" panose="02010600040101010101" pitchFamily="2" charset="-122"/>
              </a:rPr>
              <a:t>method</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
          <p:cNvSpPr/>
          <p:nvPr/>
        </p:nvSpPr>
        <p:spPr bwMode="auto">
          <a:xfrm>
            <a:off x="151213" y="746656"/>
            <a:ext cx="6984775" cy="3885936"/>
          </a:xfrm>
          <a:prstGeom prst="rect">
            <a:avLst/>
          </a:prstGeom>
          <a:solidFill>
            <a:schemeClr val="bg1"/>
          </a:solidFill>
          <a:ln w="9525" cap="flat" cmpd="sng">
            <a:noFill/>
            <a:prstDash val="solid"/>
            <a:miter lim="800000"/>
          </a:ln>
        </p:spPr>
        <p:txBody>
          <a:bodyPr vert="horz" wrap="square" lIns="91440" tIns="45720" rIns="91440" bIns="45720" numCol="1" anchor="t">
            <a:spAutoFit/>
          </a:bodyPr>
          <a:lstStyle/>
          <a:p>
            <a:pPr marL="457200" indent="-457200" algn="l" defTabSz="914400" eaLnBrk="0" fontAlgn="base" latinLnBrk="0">
              <a:lnSpc>
                <a:spcPts val="2700"/>
              </a:lnSpc>
              <a:spcBef>
                <a:spcPts val="0"/>
              </a:spcBef>
              <a:spcAft>
                <a:spcPts val="0"/>
              </a:spcAft>
              <a:buClr>
                <a:srgbClr val="000000"/>
              </a:buClr>
              <a:buFont typeface="Wingdings" panose="05000000000000000000"/>
              <a:buChar char="p"/>
            </a:pPr>
            <a:r>
              <a:rPr lang="en-US" altLang="ko-KR" sz="2000" dirty="0">
                <a:solidFill>
                  <a:srgbClr val="002060"/>
                </a:solidFill>
                <a:latin typeface="华文楷体" panose="02010600040101010101" pitchFamily="2" charset="-122"/>
                <a:ea typeface="华文楷体" panose="02010600040101010101" pitchFamily="2" charset="-122"/>
              </a:rPr>
              <a:t>分段线性插值</a:t>
            </a:r>
            <a:r>
              <a:rPr lang="en-US" altLang="ko-KR" sz="2000" b="1" cap="none" dirty="0">
                <a:solidFill>
                  <a:srgbClr val="002060"/>
                </a:solidFill>
                <a:latin typeface="华文楷体" panose="02010600040101010101" pitchFamily="2" charset="-122"/>
                <a:ea typeface="华文楷体" panose="02010600040101010101" pitchFamily="2" charset="-122"/>
              </a:rPr>
              <a:t> </a:t>
            </a:r>
            <a:r>
              <a:rPr lang="en-US" altLang="ko-KR" sz="2000" b="1" dirty="0">
                <a:solidFill>
                  <a:srgbClr val="FF0000"/>
                </a:solidFill>
                <a:latin typeface="华文楷体" panose="02010600040101010101" pitchFamily="2" charset="-122"/>
                <a:ea typeface="华文楷体" panose="02010600040101010101" pitchFamily="2" charset="-122"/>
              </a:rPr>
              <a:t>linear</a:t>
            </a:r>
            <a:r>
              <a:rPr lang="en-US" altLang="ko-KR" sz="2000" b="1" cap="none" dirty="0">
                <a:solidFill>
                  <a:srgbClr val="002060"/>
                </a:solidFill>
                <a:latin typeface="华文楷体" panose="02010600040101010101" pitchFamily="2" charset="-122"/>
                <a:ea typeface="华文楷体" panose="02010600040101010101" pitchFamily="2" charset="-122"/>
              </a:rPr>
              <a:t>：</a:t>
            </a:r>
            <a:endParaRPr lang="ko-KR" altLang="en-US" sz="2000" b="1" cap="none" dirty="0">
              <a:solidFill>
                <a:srgbClr val="002060"/>
              </a:solidFill>
              <a:latin typeface="华文楷体" panose="02010600040101010101" pitchFamily="2" charset="-122"/>
            </a:endParaRPr>
          </a:p>
          <a:p>
            <a:pPr marL="71755" indent="0" algn="l" defTabSz="914400" eaLnBrk="0" fontAlgn="base" latinLnBrk="0">
              <a:lnSpc>
                <a:spcPts val="2700"/>
              </a:lnSpc>
              <a:spcBef>
                <a:spcPts val="0"/>
              </a:spcBef>
              <a:spcAft>
                <a:spcPts val="0"/>
              </a:spcAft>
              <a:buFontTx/>
              <a:buNone/>
            </a:pPr>
            <a:r>
              <a:rPr lang="en-US" altLang="ko-KR" sz="2000" b="0" cap="none" dirty="0">
                <a:solidFill>
                  <a:srgbClr val="002060"/>
                </a:solidFill>
                <a:latin typeface="华文楷体" panose="02010600040101010101" pitchFamily="2" charset="-122"/>
                <a:ea typeface="华文楷体" panose="02010600040101010101" pitchFamily="2" charset="-122"/>
              </a:rPr>
              <a:t>  </a:t>
            </a:r>
            <a:r>
              <a:rPr lang="en-US" altLang="ko-KR" sz="2000" b="0" cap="none" dirty="0" err="1">
                <a:solidFill>
                  <a:srgbClr val="002060"/>
                </a:solidFill>
                <a:latin typeface="华文楷体" panose="02010600040101010101" pitchFamily="2" charset="-122"/>
                <a:ea typeface="华文楷体" panose="02010600040101010101" pitchFamily="2" charset="-122"/>
              </a:rPr>
              <a:t>插值点</a:t>
            </a:r>
            <a:r>
              <a:rPr lang="zh-CN" altLang="en-US" sz="2000" b="0" cap="none" dirty="0">
                <a:solidFill>
                  <a:srgbClr val="002060"/>
                </a:solidFill>
                <a:latin typeface="华文楷体" panose="02010600040101010101" pitchFamily="2" charset="-122"/>
                <a:ea typeface="华文楷体" panose="02010600040101010101" pitchFamily="2" charset="-122"/>
              </a:rPr>
              <a:t>对应插值结果</a:t>
            </a:r>
            <a:r>
              <a:rPr lang="en-US" altLang="ko-KR" sz="2000" b="0" cap="none" dirty="0" err="1">
                <a:solidFill>
                  <a:srgbClr val="002060"/>
                </a:solidFill>
                <a:latin typeface="华文楷体" panose="02010600040101010101" pitchFamily="2" charset="-122"/>
                <a:ea typeface="华文楷体" panose="02010600040101010101" pitchFamily="2" charset="-122"/>
              </a:rPr>
              <a:t>落在两相邻数据点的连线上</a:t>
            </a:r>
            <a:r>
              <a:rPr lang="en-US" altLang="ko-KR" sz="2000" b="0" cap="none" dirty="0">
                <a:solidFill>
                  <a:srgbClr val="002060"/>
                </a:solidFill>
                <a:latin typeface="华文楷体" panose="02010600040101010101" pitchFamily="2" charset="-122"/>
                <a:ea typeface="华文楷体" panose="02010600040101010101" pitchFamily="2" charset="-122"/>
              </a:rPr>
              <a:t>. (缺省).</a:t>
            </a:r>
            <a:endParaRPr lang="ko-KR" altLang="en-US" sz="2000" b="0" cap="none" dirty="0">
              <a:solidFill>
                <a:srgbClr val="002060"/>
              </a:solidFill>
              <a:latin typeface="华文楷体" panose="02010600040101010101" pitchFamily="2" charset="-122"/>
              <a:ea typeface="Arial" panose="020B0604020202020204" pitchFamily="34" charset="0"/>
            </a:endParaRPr>
          </a:p>
          <a:p>
            <a:pPr marL="457200" indent="-457200" algn="l" defTabSz="914400" eaLnBrk="0" fontAlgn="base" latinLnBrk="0">
              <a:lnSpc>
                <a:spcPts val="2700"/>
              </a:lnSpc>
              <a:spcBef>
                <a:spcPts val="0"/>
              </a:spcBef>
              <a:spcAft>
                <a:spcPts val="0"/>
              </a:spcAft>
              <a:buClr>
                <a:srgbClr val="000000"/>
              </a:buClr>
              <a:buFont typeface="Wingdings" panose="05000000000000000000"/>
              <a:buChar char="p"/>
            </a:pPr>
            <a:r>
              <a:rPr lang="en-US" altLang="ko-KR" sz="2000" dirty="0">
                <a:solidFill>
                  <a:srgbClr val="002060"/>
                </a:solidFill>
                <a:latin typeface="华文楷体" panose="02010600040101010101" pitchFamily="2" charset="-122"/>
                <a:ea typeface="华文楷体" panose="02010600040101010101" pitchFamily="2" charset="-122"/>
              </a:rPr>
              <a:t>最邻近插值法</a:t>
            </a:r>
            <a:r>
              <a:rPr lang="en-US" altLang="ko-KR" sz="2000" b="1" cap="none" dirty="0">
                <a:solidFill>
                  <a:srgbClr val="002060"/>
                </a:solidFill>
                <a:latin typeface="华文楷体" panose="02010600040101010101" pitchFamily="2" charset="-122"/>
                <a:ea typeface="华文楷体" panose="02010600040101010101" pitchFamily="2" charset="-122"/>
              </a:rPr>
              <a:t> </a:t>
            </a:r>
            <a:r>
              <a:rPr lang="en-US" altLang="ko-KR" sz="2000" b="1" dirty="0">
                <a:solidFill>
                  <a:srgbClr val="FF0000"/>
                </a:solidFill>
                <a:latin typeface="华文楷体" panose="02010600040101010101" pitchFamily="2" charset="-122"/>
                <a:ea typeface="华文楷体" panose="02010600040101010101" pitchFamily="2" charset="-122"/>
              </a:rPr>
              <a:t>nearest</a:t>
            </a:r>
            <a:r>
              <a:rPr lang="en-US" altLang="ko-KR" sz="2000" b="1" cap="none" dirty="0">
                <a:solidFill>
                  <a:srgbClr val="002060"/>
                </a:solidFill>
                <a:latin typeface="华文楷体" panose="02010600040101010101" pitchFamily="2" charset="-122"/>
                <a:ea typeface="华文楷体" panose="02010600040101010101" pitchFamily="2" charset="-122"/>
              </a:rPr>
              <a:t>：</a:t>
            </a:r>
            <a:endParaRPr lang="ko-KR" altLang="en-US" sz="2000" b="1" cap="none" dirty="0">
              <a:solidFill>
                <a:srgbClr val="002060"/>
              </a:solidFill>
              <a:latin typeface="华文楷体" panose="02010600040101010101" pitchFamily="2" charset="-122"/>
              <a:ea typeface="微软雅黑" panose="020B0503020204020204" pitchFamily="34" charset="-122"/>
            </a:endParaRPr>
          </a:p>
          <a:p>
            <a:pPr eaLnBrk="0">
              <a:lnSpc>
                <a:spcPts val="2700"/>
              </a:lnSpc>
              <a:spcBef>
                <a:spcPts val="0"/>
              </a:spcBef>
              <a:spcAft>
                <a:spcPts val="0"/>
              </a:spcAft>
            </a:pPr>
            <a:r>
              <a:rPr lang="en-US" altLang="ko-KR" sz="2000" b="0" cap="none" dirty="0">
                <a:solidFill>
                  <a:srgbClr val="002060"/>
                </a:solidFill>
                <a:latin typeface="华文楷体" panose="02010600040101010101" pitchFamily="2" charset="-122"/>
                <a:ea typeface="华文楷体" panose="02010600040101010101" pitchFamily="2" charset="-122"/>
              </a:rPr>
              <a:t>   </a:t>
            </a:r>
            <a:r>
              <a:rPr lang="en-US" altLang="ko-KR" sz="2000" b="0" cap="none" dirty="0" err="1">
                <a:solidFill>
                  <a:srgbClr val="002060"/>
                </a:solidFill>
                <a:latin typeface="华文楷体" panose="02010600040101010101" pitchFamily="2" charset="-122"/>
                <a:ea typeface="华文楷体" panose="02010600040101010101" pitchFamily="2" charset="-122"/>
              </a:rPr>
              <a:t>两点间插值点</a:t>
            </a:r>
            <a:r>
              <a:rPr lang="zh-CN" altLang="en-US" sz="2000" b="0" cap="none" dirty="0">
                <a:solidFill>
                  <a:srgbClr val="002060"/>
                </a:solidFill>
                <a:latin typeface="华文楷体" panose="02010600040101010101" pitchFamily="2" charset="-122"/>
                <a:ea typeface="华文楷体" panose="02010600040101010101" pitchFamily="2" charset="-122"/>
              </a:rPr>
              <a:t>离哪个采样点近，</a:t>
            </a:r>
            <a:r>
              <a:rPr lang="zh-CN" altLang="en-US" sz="2000" dirty="0">
                <a:solidFill>
                  <a:srgbClr val="002060"/>
                </a:solidFill>
                <a:latin typeface="华文楷体" panose="02010600040101010101" pitchFamily="2" charset="-122"/>
                <a:ea typeface="华文楷体" panose="02010600040101010101" pitchFamily="2" charset="-122"/>
              </a:rPr>
              <a:t>就取哪个采样点样本值</a:t>
            </a:r>
            <a:endParaRPr lang="en-US" altLang="zh-CN" sz="2000" dirty="0">
              <a:solidFill>
                <a:srgbClr val="002060"/>
              </a:solidFill>
              <a:latin typeface="华文楷体" panose="02010600040101010101" pitchFamily="2" charset="-122"/>
              <a:ea typeface="华文楷体" panose="02010600040101010101" pitchFamily="2" charset="-122"/>
            </a:endParaRPr>
          </a:p>
          <a:p>
            <a:pPr eaLnBrk="0">
              <a:lnSpc>
                <a:spcPts val="2700"/>
              </a:lnSpc>
              <a:spcBef>
                <a:spcPts val="0"/>
              </a:spcBef>
              <a:spcAft>
                <a:spcPts val="0"/>
              </a:spcAft>
            </a:pPr>
            <a:r>
              <a:rPr lang="zh-CN" altLang="en-US" b="1" dirty="0">
                <a:solidFill>
                  <a:srgbClr val="0070C0"/>
                </a:solidFill>
                <a:latin typeface="微软雅黑" panose="020B0503020204020204" pitchFamily="34" charset="-122"/>
                <a:ea typeface="微软雅黑" panose="020B0503020204020204" pitchFamily="34" charset="-122"/>
              </a:rPr>
              <a:t>分段构建</a:t>
            </a:r>
            <a:r>
              <a:rPr lang="en-US" altLang="ko-KR" b="1" dirty="0">
                <a:solidFill>
                  <a:srgbClr val="0070C0"/>
                </a:solidFill>
                <a:latin typeface="微软雅黑" panose="020B0503020204020204" pitchFamily="34" charset="-122"/>
                <a:ea typeface="微软雅黑" panose="020B0503020204020204" pitchFamily="34" charset="-122"/>
              </a:rPr>
              <a:t>3次多项式</a:t>
            </a:r>
            <a:r>
              <a:rPr lang="zh-CN" altLang="en-US" b="1" dirty="0">
                <a:solidFill>
                  <a:srgbClr val="0070C0"/>
                </a:solidFill>
                <a:latin typeface="微软雅黑" panose="020B0503020204020204" pitchFamily="34" charset="-122"/>
                <a:ea typeface="微软雅黑" panose="020B0503020204020204" pitchFamily="34" charset="-122"/>
              </a:rPr>
              <a:t>插值函数</a:t>
            </a:r>
            <a:r>
              <a:rPr lang="en-US" altLang="ko-KR" b="1" dirty="0">
                <a:solidFill>
                  <a:srgbClr val="0070C0"/>
                </a:solidFill>
                <a:latin typeface="微软雅黑" panose="020B0503020204020204" pitchFamily="34" charset="-122"/>
                <a:ea typeface="微软雅黑" panose="020B0503020204020204" pitchFamily="34" charset="-122"/>
              </a:rPr>
              <a:t>，用3次多项式求插值</a:t>
            </a:r>
            <a:r>
              <a:rPr lang="zh-CN" altLang="en-US" b="1" dirty="0">
                <a:solidFill>
                  <a:srgbClr val="0070C0"/>
                </a:solidFill>
                <a:latin typeface="微软雅黑" panose="020B0503020204020204" pitchFamily="34" charset="-122"/>
                <a:ea typeface="微软雅黑" panose="020B0503020204020204" pitchFamily="34" charset="-122"/>
              </a:rPr>
              <a:t>结果的方法：</a:t>
            </a:r>
            <a:r>
              <a:rPr lang="en-US" altLang="ko-KR" b="1" dirty="0">
                <a:solidFill>
                  <a:srgbClr val="0070C0"/>
                </a:solidFill>
                <a:latin typeface="微软雅黑" panose="020B0503020204020204" pitchFamily="34" charset="-122"/>
                <a:ea typeface="微软雅黑" panose="020B0503020204020204" pitchFamily="34" charset="-122"/>
              </a:rPr>
              <a:t>    </a:t>
            </a:r>
            <a:endParaRPr lang="ko-KR" altLang="en-US" b="1" cap="none" dirty="0">
              <a:solidFill>
                <a:srgbClr val="0070C0"/>
              </a:solidFill>
              <a:latin typeface="微软雅黑" panose="020B0503020204020204" pitchFamily="34" charset="-122"/>
              <a:ea typeface="Arial" panose="020B0604020202020204" pitchFamily="34" charset="0"/>
            </a:endParaRPr>
          </a:p>
          <a:p>
            <a:pPr marL="457200" indent="-457200" eaLnBrk="0">
              <a:lnSpc>
                <a:spcPts val="2700"/>
              </a:lnSpc>
              <a:spcBef>
                <a:spcPts val="0"/>
              </a:spcBef>
              <a:spcAft>
                <a:spcPts val="0"/>
              </a:spcAft>
              <a:buClr>
                <a:srgbClr val="000000"/>
              </a:buClr>
              <a:buFont typeface="Wingdings" panose="05000000000000000000"/>
              <a:buChar char="p"/>
            </a:pPr>
            <a:r>
              <a:rPr lang="zh-CN" altLang="en-US" sz="2000" dirty="0">
                <a:solidFill>
                  <a:srgbClr val="002060"/>
                </a:solidFill>
                <a:latin typeface="华文楷体" panose="02010600040101010101" pitchFamily="2" charset="-122"/>
                <a:ea typeface="华文楷体" panose="02010600040101010101" pitchFamily="2" charset="-122"/>
              </a:rPr>
              <a:t>保形分段三次插值</a:t>
            </a:r>
            <a:r>
              <a:rPr lang="en-US" altLang="zh-CN" sz="2000" b="1" dirty="0" err="1">
                <a:solidFill>
                  <a:srgbClr val="FF0000"/>
                </a:solidFill>
                <a:latin typeface="华文楷体" panose="02010600040101010101" pitchFamily="2" charset="-122"/>
                <a:ea typeface="华文楷体" panose="02010600040101010101" pitchFamily="2" charset="-122"/>
              </a:rPr>
              <a:t>pchip</a:t>
            </a:r>
            <a:r>
              <a:rPr lang="en-US" altLang="zh-CN" sz="2000" b="1" dirty="0">
                <a:solidFill>
                  <a:srgbClr val="FF0000"/>
                </a:solidFill>
                <a:latin typeface="华文楷体" panose="02010600040101010101" pitchFamily="2" charset="-122"/>
                <a:ea typeface="华文楷体" panose="02010600040101010101" pitchFamily="2" charset="-122"/>
              </a:rPr>
              <a:t>:</a:t>
            </a:r>
            <a:r>
              <a:rPr lang="zh-CN" altLang="en-US" sz="2000" dirty="0">
                <a:solidFill>
                  <a:srgbClr val="002060"/>
                </a:solidFill>
                <a:latin typeface="华文楷体" panose="02010600040101010101" pitchFamily="2" charset="-122"/>
                <a:ea typeface="华文楷体" panose="02010600040101010101" pitchFamily="2" charset="-122"/>
              </a:rPr>
              <a:t>插值点处的插入值基于邻近网格点处数值的保形分段三次插值</a:t>
            </a:r>
            <a:r>
              <a:rPr lang="en-US" altLang="zh-CN" sz="2000" dirty="0">
                <a:solidFill>
                  <a:srgbClr val="002060"/>
                </a:solidFill>
                <a:latin typeface="华文楷体" panose="02010600040101010101" pitchFamily="2" charset="-122"/>
                <a:ea typeface="华文楷体" panose="02010600040101010101" pitchFamily="2" charset="-122"/>
              </a:rPr>
              <a:t>,</a:t>
            </a:r>
            <a:r>
              <a:rPr lang="zh-CN" altLang="en-US" sz="2000" dirty="0">
                <a:solidFill>
                  <a:srgbClr val="FF0000"/>
                </a:solidFill>
                <a:latin typeface="华文楷体" panose="02010600040101010101" pitchFamily="2" charset="-122"/>
                <a:ea typeface="华文楷体" panose="02010600040101010101" pitchFamily="2" charset="-122"/>
              </a:rPr>
              <a:t>外插采取 “</a:t>
            </a:r>
            <a:r>
              <a:rPr lang="en-US" altLang="zh-CN" sz="2000" dirty="0" err="1">
                <a:solidFill>
                  <a:srgbClr val="FF0000"/>
                </a:solidFill>
                <a:latin typeface="华文楷体" panose="02010600040101010101" pitchFamily="2" charset="-122"/>
                <a:ea typeface="华文楷体" panose="02010600040101010101" pitchFamily="2" charset="-122"/>
              </a:rPr>
              <a:t>pchip</a:t>
            </a:r>
            <a:r>
              <a:rPr lang="en-US" altLang="zh-CN" sz="2000" dirty="0">
                <a:solidFill>
                  <a:srgbClr val="FF0000"/>
                </a:solidFill>
                <a:latin typeface="华文楷体" panose="02010600040101010101" pitchFamily="2" charset="-122"/>
                <a:ea typeface="华文楷体" panose="02010600040101010101" pitchFamily="2" charset="-122"/>
              </a:rPr>
              <a:t>” </a:t>
            </a:r>
            <a:r>
              <a:rPr lang="zh-CN" altLang="en-US" sz="2000" dirty="0">
                <a:solidFill>
                  <a:srgbClr val="FF0000"/>
                </a:solidFill>
                <a:latin typeface="华文楷体" panose="02010600040101010101" pitchFamily="2" charset="-122"/>
                <a:ea typeface="华文楷体" panose="02010600040101010101" pitchFamily="2" charset="-122"/>
              </a:rPr>
              <a:t>方法</a:t>
            </a:r>
            <a:endParaRPr lang="ko-KR" altLang="en-US" sz="2000" dirty="0">
              <a:solidFill>
                <a:srgbClr val="FF0000"/>
              </a:solidFill>
              <a:latin typeface="华文楷体" panose="02010600040101010101" pitchFamily="2" charset="-122"/>
              <a:ea typeface="华文楷体" panose="02010600040101010101" pitchFamily="2" charset="-122"/>
            </a:endParaRPr>
          </a:p>
          <a:p>
            <a:pPr marL="457200" indent="-457200" algn="l" defTabSz="914400" eaLnBrk="0" fontAlgn="base" latinLnBrk="0">
              <a:lnSpc>
                <a:spcPts val="2700"/>
              </a:lnSpc>
              <a:spcBef>
                <a:spcPts val="0"/>
              </a:spcBef>
              <a:spcAft>
                <a:spcPts val="0"/>
              </a:spcAft>
              <a:buClr>
                <a:srgbClr val="000000"/>
              </a:buClr>
              <a:buFont typeface="Wingdings" panose="05000000000000000000"/>
              <a:buChar char="p"/>
            </a:pPr>
            <a:r>
              <a:rPr lang="en-US" altLang="ko-KR" sz="2000" cap="none" dirty="0">
                <a:solidFill>
                  <a:srgbClr val="002060"/>
                </a:solidFill>
                <a:latin typeface="华文楷体" panose="02010600040101010101" pitchFamily="2" charset="-122"/>
                <a:ea typeface="华文楷体" panose="02010600040101010101" pitchFamily="2" charset="-122"/>
              </a:rPr>
              <a:t>3次样条插值</a:t>
            </a:r>
            <a:r>
              <a:rPr lang="en-US" altLang="ko-KR" sz="2000" b="1" cap="none" dirty="0">
                <a:solidFill>
                  <a:srgbClr val="002060"/>
                </a:solidFill>
                <a:latin typeface="华文楷体" panose="02010600040101010101" pitchFamily="2" charset="-122"/>
                <a:ea typeface="华文楷体" panose="02010600040101010101" pitchFamily="2" charset="-122"/>
              </a:rPr>
              <a:t> </a:t>
            </a:r>
            <a:r>
              <a:rPr lang="en-US" altLang="ko-KR" sz="2000" b="1" dirty="0">
                <a:solidFill>
                  <a:srgbClr val="FF0000"/>
                </a:solidFill>
                <a:latin typeface="华文楷体" panose="02010600040101010101" pitchFamily="2" charset="-122"/>
                <a:ea typeface="华文楷体" panose="02010600040101010101" pitchFamily="2" charset="-122"/>
              </a:rPr>
              <a:t>spline</a:t>
            </a:r>
            <a:r>
              <a:rPr lang="en-US" altLang="ko-KR" sz="2000" b="1" cap="none" dirty="0">
                <a:solidFill>
                  <a:srgbClr val="002060"/>
                </a:solidFill>
                <a:latin typeface="华文楷体" panose="02010600040101010101" pitchFamily="2" charset="-122"/>
                <a:ea typeface="华文楷体" panose="02010600040101010101" pitchFamily="2" charset="-122"/>
              </a:rPr>
              <a:t>：</a:t>
            </a:r>
            <a:endParaRPr lang="ko-KR" altLang="en-US" sz="2000" b="1" cap="none" dirty="0">
              <a:solidFill>
                <a:srgbClr val="002060"/>
              </a:solidFill>
              <a:latin typeface="华文楷体" panose="02010600040101010101" pitchFamily="2" charset="-122"/>
            </a:endParaRPr>
          </a:p>
          <a:p>
            <a:pPr eaLnBrk="0">
              <a:lnSpc>
                <a:spcPts val="2700"/>
              </a:lnSpc>
              <a:spcBef>
                <a:spcPts val="0"/>
              </a:spcBef>
              <a:spcAft>
                <a:spcPts val="0"/>
              </a:spcAft>
            </a:pPr>
            <a:r>
              <a:rPr lang="en-US" altLang="ko-KR" sz="2000" b="0" cap="none" dirty="0">
                <a:solidFill>
                  <a:srgbClr val="002060"/>
                </a:solidFill>
                <a:latin typeface="华文楷体" panose="02010600040101010101" pitchFamily="2" charset="-122"/>
                <a:ea typeface="华文楷体" panose="02010600040101010101" pitchFamily="2" charset="-122"/>
              </a:rPr>
              <a:t>每分段内构造一</a:t>
            </a:r>
            <a:r>
              <a:rPr lang="zh-CN" altLang="en-US" sz="2000" b="0" cap="none" dirty="0">
                <a:solidFill>
                  <a:srgbClr val="002060"/>
                </a:solidFill>
                <a:latin typeface="华文楷体" panose="02010600040101010101" pitchFamily="2" charset="-122"/>
                <a:ea typeface="华文楷体" panose="02010600040101010101" pitchFamily="2" charset="-122"/>
              </a:rPr>
              <a:t>个</a:t>
            </a:r>
            <a:r>
              <a:rPr lang="en-US" altLang="ko-KR" sz="2000" b="0" cap="none" dirty="0">
                <a:solidFill>
                  <a:srgbClr val="002060"/>
                </a:solidFill>
                <a:latin typeface="华文楷体" panose="02010600040101010101" pitchFamily="2" charset="-122"/>
                <a:ea typeface="华文楷体" panose="02010600040101010101" pitchFamily="2" charset="-122"/>
              </a:rPr>
              <a:t>3次多项式，插值函数除满足插值条件外</a:t>
            </a:r>
            <a:r>
              <a:rPr lang="zh-CN" altLang="en-US" sz="2000" b="0" cap="none" dirty="0">
                <a:solidFill>
                  <a:srgbClr val="002060"/>
                </a:solidFill>
                <a:latin typeface="华文楷体" panose="02010600040101010101" pitchFamily="2" charset="-122"/>
                <a:ea typeface="华文楷体" panose="02010600040101010101" pitchFamily="2" charset="-122"/>
              </a:rPr>
              <a:t>，</a:t>
            </a:r>
            <a:r>
              <a:rPr lang="zh-CN" altLang="en-US" sz="2000" dirty="0">
                <a:solidFill>
                  <a:srgbClr val="FF0000"/>
                </a:solidFill>
                <a:latin typeface="华文楷体" panose="02010600040101010101" pitchFamily="2" charset="-122"/>
                <a:ea typeface="华文楷体" panose="02010600040101010101" pitchFamily="2" charset="-122"/>
                <a:sym typeface="+mn-ea"/>
              </a:rPr>
              <a:t>要求</a:t>
            </a:r>
            <a:r>
              <a:rPr lang="en-US" altLang="ko-KR" sz="2000" dirty="0" err="1">
                <a:solidFill>
                  <a:srgbClr val="FF0000"/>
                </a:solidFill>
                <a:latin typeface="华文楷体" panose="02010600040101010101" pitchFamily="2" charset="-122"/>
                <a:ea typeface="华文楷体" panose="02010600040101010101" pitchFamily="2" charset="-122"/>
              </a:rPr>
              <a:t>节点处光滑</a:t>
            </a:r>
            <a:r>
              <a:rPr lang="en-US" altLang="zh-CN" sz="2000" dirty="0">
                <a:solidFill>
                  <a:srgbClr val="FF0000"/>
                </a:solidFill>
                <a:latin typeface="华文楷体" panose="02010600040101010101" pitchFamily="2" charset="-122"/>
                <a:ea typeface="华文楷体" panose="02010600040101010101" pitchFamily="2" charset="-122"/>
                <a:sym typeface="+mn-ea"/>
              </a:rPr>
              <a:t>,</a:t>
            </a:r>
            <a:r>
              <a:rPr lang="zh-CN" altLang="en-US" sz="2000" dirty="0">
                <a:solidFill>
                  <a:srgbClr val="FF0000"/>
                </a:solidFill>
                <a:effectLst/>
                <a:latin typeface="华文楷体" panose="02010600040101010101" pitchFamily="2" charset="-122"/>
                <a:ea typeface="华文楷体" panose="02010600040101010101" pitchFamily="2" charset="-122"/>
                <a:sym typeface="+mn-ea"/>
              </a:rPr>
              <a:t>二阶导数是连续的</a:t>
            </a:r>
            <a:r>
              <a:rPr lang="en-US" altLang="ko-KR" sz="2000" b="0" cap="none" dirty="0">
                <a:solidFill>
                  <a:srgbClr val="002060"/>
                </a:solidFill>
                <a:latin typeface="华文楷体" panose="02010600040101010101" pitchFamily="2" charset="-122"/>
                <a:ea typeface="华文楷体" panose="02010600040101010101" pitchFamily="2" charset="-122"/>
              </a:rPr>
              <a:t>。</a:t>
            </a:r>
            <a:r>
              <a:rPr lang="en-US" altLang="ko-KR" sz="2000" dirty="0" err="1">
                <a:solidFill>
                  <a:srgbClr val="0070C0"/>
                </a:solidFill>
                <a:latin typeface="华文楷体" panose="02010600040101010101" pitchFamily="2" charset="-122"/>
                <a:ea typeface="华文楷体" panose="02010600040101010101" pitchFamily="2" charset="-122"/>
              </a:rPr>
              <a:t>样条插值</a:t>
            </a:r>
            <a:r>
              <a:rPr lang="zh-CN" altLang="en-US" sz="2000" dirty="0">
                <a:solidFill>
                  <a:srgbClr val="0070C0"/>
                </a:solidFill>
                <a:latin typeface="华文楷体" panose="02010600040101010101" pitchFamily="2" charset="-122"/>
                <a:ea typeface="华文楷体" panose="02010600040101010101" pitchFamily="2" charset="-122"/>
              </a:rPr>
              <a:t>对插值函数</a:t>
            </a:r>
            <a:r>
              <a:rPr lang="zh-CN" altLang="en-US" sz="2000" dirty="0">
                <a:solidFill>
                  <a:srgbClr val="FF0000"/>
                </a:solidFill>
                <a:latin typeface="华文楷体" panose="02010600040101010101" pitchFamily="2" charset="-122"/>
                <a:ea typeface="华文楷体" panose="02010600040101010101" pitchFamily="2" charset="-122"/>
              </a:rPr>
              <a:t>光滑性和连续性</a:t>
            </a:r>
            <a:r>
              <a:rPr lang="zh-CN" altLang="en-US" sz="2000" dirty="0">
                <a:solidFill>
                  <a:srgbClr val="0070C0"/>
                </a:solidFill>
                <a:latin typeface="华文楷体" panose="02010600040101010101" pitchFamily="2" charset="-122"/>
                <a:ea typeface="华文楷体" panose="02010600040101010101" pitchFamily="2" charset="-122"/>
              </a:rPr>
              <a:t>有较高要求</a:t>
            </a:r>
            <a:r>
              <a:rPr lang="en-US" altLang="zh-CN" sz="2000" dirty="0">
                <a:solidFill>
                  <a:srgbClr val="0070C0"/>
                </a:solidFill>
                <a:latin typeface="华文楷体" panose="02010600040101010101" pitchFamily="2" charset="-122"/>
                <a:ea typeface="华文楷体" panose="02010600040101010101" pitchFamily="2" charset="-122"/>
              </a:rPr>
              <a:t>,</a:t>
            </a:r>
            <a:r>
              <a:rPr lang="zh-CN" altLang="en-US" sz="2000" dirty="0">
                <a:solidFill>
                  <a:srgbClr val="0070C0"/>
                </a:solidFill>
                <a:latin typeface="华文楷体" panose="02010600040101010101" pitchFamily="2" charset="-122"/>
                <a:ea typeface="华文楷体" panose="02010600040101010101" pitchFamily="2" charset="-122"/>
              </a:rPr>
              <a:t>插值精度最高</a:t>
            </a:r>
            <a:r>
              <a:rPr lang="en-US" altLang="zh-CN" sz="2000" dirty="0">
                <a:solidFill>
                  <a:srgbClr val="0070C0"/>
                </a:solidFill>
                <a:latin typeface="华文楷体" panose="02010600040101010101" pitchFamily="2" charset="-122"/>
                <a:ea typeface="华文楷体" panose="02010600040101010101" pitchFamily="2" charset="-122"/>
              </a:rPr>
              <a:t>,</a:t>
            </a:r>
            <a:r>
              <a:rPr lang="zh-CN" altLang="en-US" sz="2000" dirty="0">
                <a:solidFill>
                  <a:srgbClr val="0070C0"/>
                </a:solidFill>
                <a:latin typeface="华文楷体" panose="02010600040101010101" pitchFamily="2" charset="-122"/>
                <a:ea typeface="华文楷体" panose="02010600040101010101" pitchFamily="2" charset="-122"/>
              </a:rPr>
              <a:t>需要更多时间内存。</a:t>
            </a:r>
            <a:endParaRPr lang="ko-KR" altLang="en-US" sz="2000" b="0" cap="none" dirty="0">
              <a:solidFill>
                <a:srgbClr val="0070C0"/>
              </a:solidFill>
              <a:latin typeface="华文楷体" panose="02010600040101010101" pitchFamily="2" charset="-122"/>
            </a:endParaRPr>
          </a:p>
        </p:txBody>
      </p:sp>
      <p:sp>
        <p:nvSpPr>
          <p:cNvPr id="5" name="矩形 4"/>
          <p:cNvSpPr/>
          <p:nvPr/>
        </p:nvSpPr>
        <p:spPr>
          <a:xfrm>
            <a:off x="3045031" y="3207756"/>
            <a:ext cx="1815002" cy="34362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n-US" altLang="ko-KR"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 </a:t>
            </a:r>
            <a:r>
              <a:rPr lang="en-US" altLang="ko-KR" b="1" kern="0" dirty="0" err="1">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yi</a:t>
            </a:r>
            <a:r>
              <a:rPr lang="en-US" altLang="ko-KR"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 = spline(</a:t>
            </a:r>
            <a:r>
              <a:rPr lang="en-US" altLang="ko-KR" b="1" kern="0" dirty="0" err="1">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x,y,xi</a:t>
            </a:r>
            <a:r>
              <a:rPr lang="en-US" altLang="ko-KR"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a:t>
            </a:r>
            <a:endParaRPr lang="ko-KR" altLang="en-US" b="1" kern="0" dirty="0">
              <a:solidFill>
                <a:schemeClr val="bg1"/>
              </a:solidFill>
              <a:effectLst>
                <a:outerShdw blurRad="38100" dist="38100" dir="2700000" algn="tl">
                  <a:srgbClr val="000000">
                    <a:alpha val="43137"/>
                  </a:srgbClr>
                </a:outerShdw>
              </a:effectLst>
              <a:latin typeface="华文楷体" panose="02010600040101010101" pitchFamily="2" charset="-122"/>
              <a:ea typeface="隶书" panose="02010509060101010101" pitchFamily="49" charset="-122"/>
              <a:cs typeface="Times New Roman" panose="02020603050405020304" pitchFamily="18" charset="0"/>
            </a:endParaRPr>
          </a:p>
        </p:txBody>
      </p:sp>
      <p:sp>
        <p:nvSpPr>
          <p:cNvPr id="6" name="Text Box 3"/>
          <p:cNvSpPr txBox="1"/>
          <p:nvPr/>
        </p:nvSpPr>
        <p:spPr bwMode="auto">
          <a:xfrm>
            <a:off x="3131840" y="781536"/>
            <a:ext cx="3574205" cy="31566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algn="dist"/>
            <a:r>
              <a:rPr lang="en-US" altLang="ko-KR" sz="1600" dirty="0" err="1">
                <a:latin typeface="华文楷体" panose="02010600040101010101" pitchFamily="2" charset="-122"/>
                <a:ea typeface="华文楷体" panose="02010600040101010101" pitchFamily="2" charset="-122"/>
              </a:rPr>
              <a:t>yi</a:t>
            </a:r>
            <a:r>
              <a:rPr lang="en-US" altLang="ko-KR" sz="1600" dirty="0">
                <a:latin typeface="华文楷体" panose="02010600040101010101" pitchFamily="2" charset="-122"/>
                <a:ea typeface="华文楷体" panose="02010600040101010101" pitchFamily="2" charset="-122"/>
              </a:rPr>
              <a:t> = interp1(</a:t>
            </a:r>
            <a:r>
              <a:rPr lang="en-US" altLang="ko-KR" sz="1600" dirty="0" err="1">
                <a:latin typeface="华文楷体" panose="02010600040101010101" pitchFamily="2" charset="-122"/>
                <a:ea typeface="华文楷体" panose="02010600040101010101" pitchFamily="2" charset="-122"/>
              </a:rPr>
              <a:t>x,y,xi</a:t>
            </a:r>
            <a:r>
              <a:rPr lang="en-US" altLang="ko-KR" sz="1600" dirty="0">
                <a:latin typeface="华文楷体" panose="02010600040101010101" pitchFamily="2" charset="-122"/>
                <a:ea typeface="华文楷体" panose="02010600040101010101" pitchFamily="2" charset="-122"/>
              </a:rPr>
              <a:t>,</a:t>
            </a:r>
            <a:r>
              <a:rPr lang="zh-CN" altLang="en-US" sz="1600" dirty="0">
                <a:highlight>
                  <a:srgbClr val="FF0000"/>
                </a:highlight>
                <a:latin typeface="华文楷体" panose="02010600040101010101" pitchFamily="2" charset="-122"/>
                <a:ea typeface="华文楷体" panose="02010600040101010101" pitchFamily="2" charset="-122"/>
              </a:rPr>
              <a:t>“</a:t>
            </a:r>
            <a:r>
              <a:rPr lang="en-US" altLang="ko-KR" sz="1600" dirty="0">
                <a:solidFill>
                  <a:srgbClr val="FFFF00"/>
                </a:solidFill>
                <a:highlight>
                  <a:srgbClr val="FF0000"/>
                </a:highlight>
                <a:latin typeface="华文楷体" panose="02010600040101010101" pitchFamily="2" charset="-122"/>
                <a:ea typeface="华文楷体" panose="02010600040101010101" pitchFamily="2" charset="-122"/>
              </a:rPr>
              <a:t>method</a:t>
            </a:r>
            <a:r>
              <a:rPr lang="zh-CN" altLang="en-US" sz="1600" dirty="0">
                <a:highlight>
                  <a:srgbClr val="FF0000"/>
                </a:highlight>
                <a:latin typeface="华文楷体" panose="02010600040101010101" pitchFamily="2" charset="-122"/>
                <a:ea typeface="华文楷体" panose="02010600040101010101" pitchFamily="2" charset="-122"/>
              </a:rPr>
              <a:t>”</a:t>
            </a:r>
            <a:r>
              <a:rPr lang="en-US" altLang="ko-KR" sz="1600" dirty="0">
                <a:latin typeface="华文楷体" panose="02010600040101010101" pitchFamily="2" charset="-122"/>
                <a:ea typeface="华文楷体" panose="02010600040101010101" pitchFamily="2" charset="-122"/>
              </a:rPr>
              <a:t>)</a:t>
            </a:r>
            <a:endParaRPr lang="ko-KR" altLang="en-US" sz="1600" dirty="0">
              <a:latin typeface="华文楷体" panose="02010600040101010101" pitchFamily="2" charset="-122"/>
            </a:endParaRPr>
          </a:p>
        </p:txBody>
      </p:sp>
      <p:pic>
        <p:nvPicPr>
          <p:cNvPr id="7" name="图片 6"/>
          <p:cNvPicPr>
            <a:picLocks noChangeAspect="1"/>
          </p:cNvPicPr>
          <p:nvPr/>
        </p:nvPicPr>
        <p:blipFill rotWithShape="1">
          <a:blip r:embed="rId3"/>
          <a:srcRect l="12207" t="55123" r="47569" b="7763"/>
          <a:stretch>
            <a:fillRect/>
          </a:stretch>
        </p:blipFill>
        <p:spPr>
          <a:xfrm>
            <a:off x="7095971" y="2715766"/>
            <a:ext cx="2150891" cy="968496"/>
          </a:xfrm>
          <a:prstGeom prst="rect">
            <a:avLst/>
          </a:prstGeom>
        </p:spPr>
      </p:pic>
      <p:pic>
        <p:nvPicPr>
          <p:cNvPr id="8" name="图片 7"/>
          <p:cNvPicPr>
            <a:picLocks noChangeAspect="1"/>
          </p:cNvPicPr>
          <p:nvPr/>
        </p:nvPicPr>
        <p:blipFill rotWithShape="1">
          <a:blip r:embed="rId3"/>
          <a:srcRect l="55477" t="55371" r="8338" b="10924"/>
          <a:stretch>
            <a:fillRect/>
          </a:stretch>
        </p:blipFill>
        <p:spPr>
          <a:xfrm>
            <a:off x="7085321" y="3651870"/>
            <a:ext cx="1934511" cy="879373"/>
          </a:xfrm>
          <a:prstGeom prst="rect">
            <a:avLst/>
          </a:prstGeom>
          <a:solidFill>
            <a:schemeClr val="bg1"/>
          </a:solidFill>
        </p:spPr>
      </p:pic>
      <p:pic>
        <p:nvPicPr>
          <p:cNvPr id="9" name="图片 8"/>
          <p:cNvPicPr>
            <a:picLocks noChangeAspect="1"/>
          </p:cNvPicPr>
          <p:nvPr/>
        </p:nvPicPr>
        <p:blipFill rotWithShape="1">
          <a:blip r:embed="rId3"/>
          <a:srcRect l="55317" t="6612" r="7278" b="54430"/>
          <a:stretch>
            <a:fillRect/>
          </a:stretch>
        </p:blipFill>
        <p:spPr>
          <a:xfrm>
            <a:off x="7073785" y="1707654"/>
            <a:ext cx="1957582" cy="994984"/>
          </a:xfrm>
          <a:prstGeom prst="rect">
            <a:avLst/>
          </a:prstGeom>
        </p:spPr>
      </p:pic>
      <p:pic>
        <p:nvPicPr>
          <p:cNvPr id="10" name="图片 9"/>
          <p:cNvPicPr>
            <a:picLocks noChangeAspect="1"/>
          </p:cNvPicPr>
          <p:nvPr/>
        </p:nvPicPr>
        <p:blipFill rotWithShape="1">
          <a:blip r:embed="rId3"/>
          <a:srcRect l="11532" t="6675" r="52244" b="56211"/>
          <a:stretch>
            <a:fillRect/>
          </a:stretch>
        </p:blipFill>
        <p:spPr>
          <a:xfrm>
            <a:off x="7079741" y="699542"/>
            <a:ext cx="1898187" cy="949094"/>
          </a:xfrm>
          <a:prstGeom prst="rect">
            <a:avLst/>
          </a:prstGeom>
        </p:spPr>
      </p:pic>
      <p:sp>
        <p:nvSpPr>
          <p:cNvPr id="11" name="矩形 1"/>
          <p:cNvSpPr/>
          <p:nvPr/>
        </p:nvSpPr>
        <p:spPr bwMode="auto">
          <a:xfrm>
            <a:off x="7580877" y="4253914"/>
            <a:ext cx="719383" cy="455766"/>
          </a:xfrm>
          <a:prstGeom prst="rect">
            <a:avLst/>
          </a:prstGeom>
        </p:spPr>
        <p:txBody>
          <a:bodyPr vert="horz" wrap="square" lIns="91440" tIns="45720" rIns="91440" bIns="45720" numCol="1" anchor="t">
            <a:spAutoFit/>
          </a:bodyPr>
          <a:lstStyle/>
          <a:p>
            <a:pPr eaLnBrk="0">
              <a:lnSpc>
                <a:spcPts val="3200"/>
              </a:lnSpc>
              <a:spcBef>
                <a:spcPts val="0"/>
              </a:spcBef>
              <a:spcAft>
                <a:spcPts val="0"/>
              </a:spcAft>
              <a:buClr>
                <a:srgbClr val="000000"/>
              </a:buClr>
            </a:pPr>
            <a:r>
              <a:rPr lang="en-US" altLang="ko-KR" sz="1600" dirty="0">
                <a:solidFill>
                  <a:srgbClr val="FF0000"/>
                </a:solidFill>
                <a:latin typeface="华文楷体" panose="02010600040101010101" pitchFamily="2" charset="-122"/>
                <a:ea typeface="华文楷体" panose="02010600040101010101" pitchFamily="2" charset="-122"/>
              </a:rPr>
              <a:t>spline </a:t>
            </a:r>
            <a:endParaRPr lang="ko-KR" altLang="en-US" sz="1600" dirty="0">
              <a:solidFill>
                <a:srgbClr val="FF0000"/>
              </a:solidFill>
              <a:latin typeface="华文楷体" panose="02010600040101010101" pitchFamily="2" charset="-122"/>
            </a:endParaRPr>
          </a:p>
        </p:txBody>
      </p:sp>
      <p:sp>
        <p:nvSpPr>
          <p:cNvPr id="12" name="矩形 1"/>
          <p:cNvSpPr/>
          <p:nvPr/>
        </p:nvSpPr>
        <p:spPr bwMode="auto">
          <a:xfrm>
            <a:off x="7607937" y="3201973"/>
            <a:ext cx="692323" cy="455766"/>
          </a:xfrm>
          <a:prstGeom prst="rect">
            <a:avLst/>
          </a:prstGeom>
        </p:spPr>
        <p:txBody>
          <a:bodyPr vert="horz" wrap="square" lIns="91440" tIns="45720" rIns="91440" bIns="45720" numCol="1" anchor="t">
            <a:spAutoFit/>
          </a:bodyPr>
          <a:lstStyle/>
          <a:p>
            <a:pPr eaLnBrk="0">
              <a:lnSpc>
                <a:spcPts val="3200"/>
              </a:lnSpc>
              <a:spcBef>
                <a:spcPts val="0"/>
              </a:spcBef>
              <a:spcAft>
                <a:spcPts val="0"/>
              </a:spcAft>
              <a:buClr>
                <a:srgbClr val="000000"/>
              </a:buClr>
            </a:pPr>
            <a:r>
              <a:rPr lang="en-US" altLang="zh-CN" sz="1600" dirty="0" err="1">
                <a:solidFill>
                  <a:srgbClr val="FF0000"/>
                </a:solidFill>
                <a:latin typeface="华文楷体" panose="02010600040101010101" pitchFamily="2" charset="-122"/>
                <a:ea typeface="华文楷体" panose="02010600040101010101" pitchFamily="2" charset="-122"/>
              </a:rPr>
              <a:t>pchip</a:t>
            </a:r>
            <a:endParaRPr lang="ko-KR" altLang="en-US" sz="1600" cap="none" dirty="0">
              <a:solidFill>
                <a:srgbClr val="002060"/>
              </a:solidFill>
              <a:latin typeface="华文楷体" panose="02010600040101010101" pitchFamily="2" charset="-122"/>
            </a:endParaRPr>
          </a:p>
        </p:txBody>
      </p:sp>
      <p:sp>
        <p:nvSpPr>
          <p:cNvPr id="13" name="矩形 1"/>
          <p:cNvSpPr/>
          <p:nvPr/>
        </p:nvSpPr>
        <p:spPr bwMode="auto">
          <a:xfrm>
            <a:off x="7509684" y="2017509"/>
            <a:ext cx="1224136" cy="458523"/>
          </a:xfrm>
          <a:prstGeom prst="rect">
            <a:avLst/>
          </a:prstGeom>
          <a:noFill/>
          <a:ln w="9525" cap="flat" cmpd="sng">
            <a:noFill/>
            <a:prstDash val="solid"/>
            <a:miter lim="800000"/>
          </a:ln>
        </p:spPr>
        <p:txBody>
          <a:bodyPr vert="horz" wrap="square" lIns="91440" tIns="45720" rIns="91440" bIns="45720" numCol="1" anchor="t">
            <a:spAutoFit/>
          </a:bodyPr>
          <a:lstStyle/>
          <a:p>
            <a:pPr eaLnBrk="0">
              <a:lnSpc>
                <a:spcPts val="3200"/>
              </a:lnSpc>
              <a:spcBef>
                <a:spcPts val="0"/>
              </a:spcBef>
              <a:spcAft>
                <a:spcPts val="0"/>
              </a:spcAft>
              <a:buClr>
                <a:srgbClr val="000000"/>
              </a:buClr>
            </a:pPr>
            <a:r>
              <a:rPr lang="en-US" altLang="ko-KR" sz="1600" dirty="0">
                <a:solidFill>
                  <a:srgbClr val="FF0000"/>
                </a:solidFill>
                <a:latin typeface="华文楷体" panose="02010600040101010101" pitchFamily="2" charset="-122"/>
                <a:ea typeface="华文楷体" panose="02010600040101010101" pitchFamily="2" charset="-122"/>
              </a:rPr>
              <a:t>nearest</a:t>
            </a:r>
            <a:endParaRPr lang="ko-KR" altLang="en-US" sz="1600" dirty="0">
              <a:solidFill>
                <a:srgbClr val="FF0000"/>
              </a:solidFill>
              <a:latin typeface="华文楷体" panose="02010600040101010101" pitchFamily="2" charset="-122"/>
            </a:endParaRPr>
          </a:p>
        </p:txBody>
      </p:sp>
      <p:sp>
        <p:nvSpPr>
          <p:cNvPr id="14" name="矩形 1"/>
          <p:cNvSpPr/>
          <p:nvPr/>
        </p:nvSpPr>
        <p:spPr bwMode="auto">
          <a:xfrm>
            <a:off x="7580877" y="1051770"/>
            <a:ext cx="895913" cy="455766"/>
          </a:xfrm>
          <a:prstGeom prst="rect">
            <a:avLst/>
          </a:prstGeom>
          <a:noFill/>
          <a:ln w="9525" cap="flat" cmpd="sng">
            <a:noFill/>
            <a:prstDash val="solid"/>
            <a:miter lim="800000"/>
          </a:ln>
        </p:spPr>
        <p:txBody>
          <a:bodyPr vert="horz" wrap="square" lIns="91440" tIns="45720" rIns="91440" bIns="45720" numCol="1" anchor="t">
            <a:spAutoFit/>
          </a:bodyPr>
          <a:lstStyle/>
          <a:p>
            <a:pPr algn="l" defTabSz="914400" eaLnBrk="0" fontAlgn="base" latinLnBrk="0">
              <a:lnSpc>
                <a:spcPts val="3200"/>
              </a:lnSpc>
              <a:spcBef>
                <a:spcPts val="0"/>
              </a:spcBef>
              <a:spcAft>
                <a:spcPts val="0"/>
              </a:spcAft>
              <a:buClr>
                <a:srgbClr val="000000"/>
              </a:buClr>
            </a:pPr>
            <a:r>
              <a:rPr lang="en-US" altLang="ko-KR" sz="1600" dirty="0">
                <a:solidFill>
                  <a:srgbClr val="FF0000"/>
                </a:solidFill>
                <a:latin typeface="华文楷体" panose="02010600040101010101" pitchFamily="2" charset="-122"/>
                <a:ea typeface="华文楷体" panose="02010600040101010101" pitchFamily="2" charset="-122"/>
              </a:rPr>
              <a:t>linear</a:t>
            </a:r>
            <a:endParaRPr lang="ko-KR" altLang="en-US" sz="1600" cap="none" dirty="0">
              <a:solidFill>
                <a:srgbClr val="002060"/>
              </a:solidFill>
              <a:latin typeface="华文楷体" panose="02010600040101010101" pitchFamily="2" charset="-122"/>
            </a:endParaRPr>
          </a:p>
        </p:txBody>
      </p:sp>
      <p:sp>
        <p:nvSpPr>
          <p:cNvPr id="15" name="文本框 14"/>
          <p:cNvSpPr txBox="1"/>
          <p:nvPr/>
        </p:nvSpPr>
        <p:spPr>
          <a:xfrm>
            <a:off x="898873" y="89037"/>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§5.4.2 </a:t>
            </a:r>
            <a:r>
              <a:rPr lang="zh-CN" altLang="en-US" sz="2800" b="1"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zh-CN" altLang="en-US" sz="2800" b="1" i="0" dirty="0">
                <a:solidFill>
                  <a:srgbClr val="FF0000"/>
                </a:solidFill>
                <a:effectLst/>
                <a:latin typeface="华文楷体" panose="02010600040101010101" pitchFamily="2" charset="-122"/>
                <a:ea typeface="华文楷体" panose="02010600040101010101" pitchFamily="2" charset="-122"/>
              </a:rPr>
              <a:t>一维数据插值</a:t>
            </a:r>
            <a:r>
              <a:rPr lang="en-US" altLang="zh-CN" sz="2800" b="1" dirty="0">
                <a:solidFill>
                  <a:srgbClr val="FF0000"/>
                </a:solidFill>
                <a:latin typeface="华文楷体" panose="02010600040101010101" pitchFamily="2" charset="-122"/>
                <a:ea typeface="华文楷体" panose="02010600040101010101" pitchFamily="2" charset="-122"/>
              </a:rPr>
              <a:t>method</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
                                            <p:txEl>
                                              <p:pRg st="7" end="7"/>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p:bldP spid="12" grpId="0"/>
      <p:bldP spid="13" grpId="0"/>
      <p:bldP spid="1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89606" y="672098"/>
            <a:ext cx="1830689" cy="4131900"/>
          </a:xfrm>
          <a:prstGeom prst="rect">
            <a:avLst/>
          </a:prstGeom>
          <a:solidFill>
            <a:schemeClr val="bg2">
              <a:lumMod val="90000"/>
              <a:alpha val="8000"/>
            </a:schemeClr>
          </a:solidFill>
          <a:ln>
            <a:noFill/>
          </a:ln>
        </p:spPr>
        <p:style>
          <a:lnRef idx="1">
            <a:schemeClr val="accent2"/>
          </a:lnRef>
          <a:fillRef idx="3">
            <a:schemeClr val="accent2"/>
          </a:fillRef>
          <a:effectRef idx="2">
            <a:schemeClr val="accent2"/>
          </a:effectRef>
          <a:fontRef idx="minor">
            <a:schemeClr val="lt1"/>
          </a:fontRef>
        </p:style>
        <p:txBody>
          <a:bodyPr vert="horz" wrap="square" lIns="68580" tIns="34290" rIns="68580" bIns="34290" numCol="1" anchor="t">
            <a:spAutoFit/>
          </a:bodyPr>
          <a:lstStyle/>
          <a:p>
            <a:pPr defTabSz="685800" eaLnBrk="0">
              <a:spcBef>
                <a:spcPts val="0"/>
              </a:spcBef>
              <a:spcAft>
                <a:spcPts val="0"/>
              </a:spcAft>
            </a:pPr>
            <a:r>
              <a:rPr lang="zh-CN" altLang="en-US" sz="1200" b="1" dirty="0">
                <a:solidFill>
                  <a:srgbClr val="FF0000"/>
                </a:solidFill>
                <a:latin typeface="Arial" panose="020B0604020202020204" pitchFamily="34" charset="0"/>
                <a:ea typeface="Arial" panose="020B0604020202020204" pitchFamily="34" charset="0"/>
              </a:rPr>
              <a:t>角度</a:t>
            </a:r>
            <a:r>
              <a:rPr lang="zh-CN" altLang="en-US" sz="1200" b="1" dirty="0">
                <a:solidFill>
                  <a:schemeClr val="tx1"/>
                </a:solidFill>
                <a:latin typeface="Arial" panose="020B0604020202020204" pitchFamily="34" charset="0"/>
                <a:ea typeface="Arial" panose="020B0604020202020204" pitchFamily="34" charset="0"/>
              </a:rPr>
              <a:t> </a:t>
            </a:r>
            <a:r>
              <a:rPr lang="en-US" altLang="zh-CN" sz="1200" b="1" dirty="0">
                <a:solidFill>
                  <a:schemeClr val="tx1"/>
                </a:solidFill>
                <a:latin typeface="Arial" panose="020B0604020202020204" pitchFamily="34" charset="0"/>
                <a:ea typeface="Arial" panose="020B0604020202020204" pitchFamily="34" charset="0"/>
              </a:rPr>
              <a:t>              </a:t>
            </a:r>
            <a:r>
              <a:rPr lang="zh-CN" altLang="en-US" sz="1200" b="1" dirty="0">
                <a:solidFill>
                  <a:srgbClr val="FF0000"/>
                </a:solidFill>
                <a:latin typeface="Arial" panose="020B0604020202020204" pitchFamily="34" charset="0"/>
                <a:ea typeface="Arial" panose="020B0604020202020204" pitchFamily="34" charset="0"/>
              </a:rPr>
              <a:t>强度</a:t>
            </a:r>
            <a:endParaRPr lang="en-US" altLang="zh-CN" sz="1200" b="1" dirty="0">
              <a:solidFill>
                <a:srgbClr val="FF0000"/>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38.025	      221</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38.075	      267</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38.125	      318</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38.175	      487</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38.225	      815</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38.275	      1502</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38.325	      3162</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38.375	      6207</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38.425	      8414</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38.475	      8156</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38.525	      5975</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38.575	      3473</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38.625	      1601</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38.675	      710</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38.725	      386</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38.775	      325</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38.825	      247</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38.875	      232</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38.925	      207</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38.975	     182</a:t>
            </a:r>
            <a:endParaRPr lang="ko-KR" altLang="en-US" sz="1200" dirty="0">
              <a:solidFill>
                <a:schemeClr val="tx1"/>
              </a:solidFill>
              <a:latin typeface="Arial" panose="020B0604020202020204" pitchFamily="34" charset="0"/>
              <a:ea typeface="Arial" panose="020B0604020202020204" pitchFamily="34" charset="0"/>
            </a:endParaRPr>
          </a:p>
          <a:p>
            <a:pPr defTabSz="685800" eaLnBrk="0">
              <a:spcBef>
                <a:spcPts val="0"/>
              </a:spcBef>
              <a:spcAft>
                <a:spcPts val="0"/>
              </a:spcAft>
            </a:pPr>
            <a:r>
              <a:rPr lang="en-US" altLang="ko-KR" sz="1200" dirty="0">
                <a:solidFill>
                  <a:schemeClr val="tx1"/>
                </a:solidFill>
                <a:latin typeface="Arial" panose="020B0604020202020204" pitchFamily="34" charset="0"/>
                <a:ea typeface="Arial" panose="020B0604020202020204" pitchFamily="34" charset="0"/>
              </a:rPr>
              <a:t>39.025 </a:t>
            </a:r>
            <a:endParaRPr lang="ko-KR" altLang="en-US" sz="1200" dirty="0">
              <a:solidFill>
                <a:schemeClr val="tx1"/>
              </a:solidFill>
              <a:latin typeface="Arial" panose="020B0604020202020204" pitchFamily="34" charset="0"/>
              <a:ea typeface="Arial" panose="020B0604020202020204" pitchFamily="34" charset="0"/>
            </a:endParaRPr>
          </a:p>
        </p:txBody>
      </p:sp>
      <p:cxnSp>
        <p:nvCxnSpPr>
          <p:cNvPr id="12" name="直接连接符 11"/>
          <p:cNvCxnSpPr/>
          <p:nvPr/>
        </p:nvCxnSpPr>
        <p:spPr bwMode="auto">
          <a:xfrm>
            <a:off x="827584" y="593252"/>
            <a:ext cx="0" cy="412180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auto">
          <a:xfrm>
            <a:off x="1901409" y="683648"/>
            <a:ext cx="30070" cy="3974666"/>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矩形 16"/>
          <p:cNvSpPr/>
          <p:nvPr/>
        </p:nvSpPr>
        <p:spPr>
          <a:xfrm>
            <a:off x="572038" y="597489"/>
            <a:ext cx="348972" cy="369332"/>
          </a:xfrm>
          <a:prstGeom prst="rect">
            <a:avLst/>
          </a:prstGeom>
          <a:noFill/>
        </p:spPr>
        <p:txBody>
          <a:bodyPr wrap="square">
            <a:spAutoFit/>
          </a:bodyPr>
          <a:lstStyle/>
          <a:p>
            <a:r>
              <a:rPr lang="en-US" altLang="zh-CN" b="1" dirty="0">
                <a:solidFill>
                  <a:srgbClr val="FFFF00"/>
                </a:solidFill>
                <a:highlight>
                  <a:srgbClr val="FF0000"/>
                </a:highlight>
                <a:latin typeface="隶书" panose="02010509060101010101" pitchFamily="49" charset="-122"/>
                <a:ea typeface="隶书" panose="02010509060101010101" pitchFamily="49" charset="-122"/>
              </a:rPr>
              <a:t>x</a:t>
            </a:r>
            <a:endParaRPr lang="zh-CN" altLang="en-US" b="1" dirty="0">
              <a:solidFill>
                <a:srgbClr val="FFFF00"/>
              </a:solidFill>
              <a:highlight>
                <a:srgbClr val="FF0000"/>
              </a:highlight>
              <a:latin typeface="隶书" panose="02010509060101010101" pitchFamily="49" charset="-122"/>
              <a:ea typeface="隶书" panose="02010509060101010101" pitchFamily="49" charset="-122"/>
            </a:endParaRPr>
          </a:p>
        </p:txBody>
      </p:sp>
      <p:sp>
        <p:nvSpPr>
          <p:cNvPr id="18" name="矩形 17"/>
          <p:cNvSpPr/>
          <p:nvPr/>
        </p:nvSpPr>
        <p:spPr>
          <a:xfrm>
            <a:off x="1573308" y="593252"/>
            <a:ext cx="348972" cy="369332"/>
          </a:xfrm>
          <a:prstGeom prst="rect">
            <a:avLst/>
          </a:prstGeom>
          <a:noFill/>
        </p:spPr>
        <p:txBody>
          <a:bodyPr wrap="square">
            <a:spAutoFit/>
          </a:bodyPr>
          <a:lstStyle/>
          <a:p>
            <a:r>
              <a:rPr lang="en-US" altLang="zh-CN" b="1" dirty="0">
                <a:solidFill>
                  <a:srgbClr val="FFFF00"/>
                </a:solidFill>
                <a:highlight>
                  <a:srgbClr val="FF0000"/>
                </a:highlight>
                <a:latin typeface="隶书" panose="02010509060101010101" pitchFamily="49" charset="-122"/>
                <a:ea typeface="隶书" panose="02010509060101010101" pitchFamily="49" charset="-122"/>
              </a:rPr>
              <a:t>y</a:t>
            </a:r>
            <a:endParaRPr lang="zh-CN" altLang="en-US" b="1" dirty="0">
              <a:solidFill>
                <a:srgbClr val="FFFF00"/>
              </a:solidFill>
              <a:highlight>
                <a:srgbClr val="FF0000"/>
              </a:highlight>
              <a:latin typeface="隶书" panose="02010509060101010101" pitchFamily="49" charset="-122"/>
              <a:ea typeface="隶书" panose="02010509060101010101" pitchFamily="49" charset="-122"/>
            </a:endParaRPr>
          </a:p>
        </p:txBody>
      </p:sp>
      <p:sp>
        <p:nvSpPr>
          <p:cNvPr id="19" name="标题 1"/>
          <p:cNvSpPr txBox="1"/>
          <p:nvPr/>
        </p:nvSpPr>
        <p:spPr>
          <a:xfrm>
            <a:off x="3217601" y="706781"/>
            <a:ext cx="5836793" cy="566144"/>
          </a:xfrm>
          <a:prstGeom prst="rect">
            <a:avLst/>
          </a:prstGeom>
          <a:solidFill>
            <a:schemeClr val="bg1"/>
          </a:solidFill>
        </p:spPr>
        <p:txBody>
          <a:bodyPr/>
          <a:lstStyle>
            <a:lvl1pPr algn="ctr" rtl="0" eaLnBrk="0" fontAlgn="base" hangingPunct="0">
              <a:spcBef>
                <a:spcPct val="0"/>
              </a:spcBef>
              <a:spcAft>
                <a:spcPct val="0"/>
              </a:spcAft>
              <a:defRPr sz="4400">
                <a:solidFill>
                  <a:schemeClr val="tx2"/>
                </a:solidFill>
                <a:latin typeface="+mj-lt"/>
                <a:ea typeface="+mj-ea"/>
                <a:cs typeface="+mj-cs"/>
                <a:sym typeface="Arial" panose="020B0604020202020204" pitchFamily="34" charset="0"/>
              </a:defRPr>
            </a:lvl1pPr>
            <a:lvl2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ea typeface="楷体_GB2312" pitchFamily="49" charset="-122"/>
                <a:sym typeface="Arial" panose="020B0604020202020204" pitchFamily="34" charset="0"/>
              </a:defRPr>
            </a:lvl9pPr>
          </a:lstStyle>
          <a:p>
            <a:pPr algn="dist"/>
            <a:r>
              <a:rPr lang="zh-CN" altLang="en-US" sz="2000" b="1" kern="0" dirty="0">
                <a:solidFill>
                  <a:srgbClr val="0070C0"/>
                </a:solidFill>
                <a:latin typeface="微软雅黑" panose="020B0503020204020204" pitchFamily="34" charset="-122"/>
                <a:ea typeface="微软雅黑" panose="020B0503020204020204" pitchFamily="34" charset="-122"/>
              </a:rPr>
              <a:t>绘制复合材料</a:t>
            </a:r>
            <a:r>
              <a:rPr lang="en-US" altLang="zh-CN" sz="2000" b="1" kern="0" dirty="0">
                <a:solidFill>
                  <a:srgbClr val="0070C0"/>
                </a:solidFill>
                <a:latin typeface="微软雅黑" panose="020B0503020204020204" pitchFamily="34" charset="-122"/>
                <a:ea typeface="微软雅黑" panose="020B0503020204020204" pitchFamily="34" charset="-122"/>
              </a:rPr>
              <a:t>XRD</a:t>
            </a:r>
            <a:r>
              <a:rPr lang="zh-CN" altLang="en-US" sz="2000" b="1" kern="0" dirty="0">
                <a:solidFill>
                  <a:srgbClr val="0070C0"/>
                </a:solidFill>
                <a:latin typeface="微软雅黑" panose="020B0503020204020204" pitchFamily="34" charset="-122"/>
                <a:ea typeface="微软雅黑" panose="020B0503020204020204" pitchFamily="34" charset="-122"/>
              </a:rPr>
              <a:t>离散试验数据曲线</a:t>
            </a:r>
          </a:p>
        </p:txBody>
      </p:sp>
      <p:sp>
        <p:nvSpPr>
          <p:cNvPr id="14" name="文本框 13"/>
          <p:cNvSpPr txBox="1"/>
          <p:nvPr/>
        </p:nvSpPr>
        <p:spPr>
          <a:xfrm>
            <a:off x="1259632" y="98873"/>
            <a:ext cx="7461147" cy="584775"/>
          </a:xfrm>
          <a:prstGeom prst="rect">
            <a:avLst/>
          </a:prstGeom>
          <a:noFill/>
        </p:spPr>
        <p:txBody>
          <a:bodyPr wrap="square">
            <a:spAutoFit/>
          </a:bodyPr>
          <a:lstStyle/>
          <a:p>
            <a:r>
              <a:rPr lang="en-US" altLang="zh-CN" sz="3200" dirty="0">
                <a:solidFill>
                  <a:srgbClr val="002060"/>
                </a:solidFill>
                <a:latin typeface="华文楷体" panose="02010600040101010101" pitchFamily="2" charset="-122"/>
                <a:ea typeface="华文楷体" panose="02010600040101010101" pitchFamily="2" charset="-122"/>
              </a:rPr>
              <a:t>§3.2.1</a:t>
            </a:r>
            <a:r>
              <a:rPr lang="zh-CN" altLang="en-US" sz="3200" dirty="0">
                <a:solidFill>
                  <a:srgbClr val="002060"/>
                </a:solidFill>
                <a:latin typeface="华文楷体" panose="02010600040101010101" pitchFamily="2" charset="-122"/>
                <a:ea typeface="华文楷体" panose="02010600040101010101" pitchFamily="2" charset="-122"/>
              </a:rPr>
              <a:t>绘图步骤</a:t>
            </a:r>
            <a:r>
              <a:rPr lang="en-US" altLang="zh-CN" sz="3200" b="0" kern="0" dirty="0">
                <a:solidFill>
                  <a:srgbClr val="FF0000"/>
                </a:solidFill>
                <a:latin typeface="华文楷体" panose="02010600040101010101" pitchFamily="2" charset="-122"/>
                <a:ea typeface="华文楷体" panose="02010600040101010101" pitchFamily="2" charset="-122"/>
              </a:rPr>
              <a:t>——</a:t>
            </a:r>
            <a:r>
              <a:rPr lang="zh-CN" altLang="en-US" sz="3200" b="0" kern="0" dirty="0">
                <a:solidFill>
                  <a:srgbClr val="FF0000"/>
                </a:solidFill>
                <a:latin typeface="华文楷体" panose="02010600040101010101" pitchFamily="2" charset="-122"/>
                <a:ea typeface="华文楷体" panose="02010600040101010101" pitchFamily="2" charset="-122"/>
              </a:rPr>
              <a:t>离散数据</a:t>
            </a:r>
            <a:r>
              <a:rPr lang="zh-CN" altLang="en-US" sz="3200" dirty="0">
                <a:solidFill>
                  <a:srgbClr val="FF0000"/>
                </a:solidFill>
                <a:latin typeface="华文楷体" panose="02010600040101010101" pitchFamily="2" charset="-122"/>
                <a:ea typeface="华文楷体" panose="02010600040101010101" pitchFamily="2" charset="-122"/>
              </a:rPr>
              <a:t>绘图步骤</a:t>
            </a:r>
            <a:endParaRPr lang="en-US" altLang="zh-CN" sz="3200" dirty="0">
              <a:solidFill>
                <a:srgbClr val="FF0000"/>
              </a:solidFill>
              <a:latin typeface="华文楷体" panose="02010600040101010101" pitchFamily="2" charset="-122"/>
              <a:ea typeface="华文楷体" panose="02010600040101010101" pitchFamily="2" charset="-122"/>
            </a:endParaRPr>
          </a:p>
        </p:txBody>
      </p:sp>
      <p:sp>
        <p:nvSpPr>
          <p:cNvPr id="4" name="矩形 3"/>
          <p:cNvSpPr/>
          <p:nvPr/>
        </p:nvSpPr>
        <p:spPr>
          <a:xfrm>
            <a:off x="2135601" y="1151487"/>
            <a:ext cx="6682362" cy="3454792"/>
          </a:xfrm>
          <a:prstGeom prst="rect">
            <a:avLst/>
          </a:prstGeom>
          <a:solidFill>
            <a:schemeClr val="bg1"/>
          </a:solidFill>
          <a:ln>
            <a:noFill/>
          </a:ln>
          <a:scene3d>
            <a:camera prst="orthographicFront"/>
            <a:lightRig rig="threePt" dir="t"/>
          </a:scene3d>
          <a:sp3d>
            <a:contourClr>
              <a:srgbClr val="000000"/>
            </a:contourClr>
          </a:sp3d>
        </p:spPr>
        <p:txBody>
          <a:bodyPr vert="horz" wrap="square" lIns="68580" tIns="34290" rIns="68580" bIns="34290" numCol="1" anchor="t">
            <a:spAutoFit/>
          </a:bodyPr>
          <a:lstStyle/>
          <a:p>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读取实验数据 </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xrd1=</a:t>
            </a:r>
            <a:r>
              <a:rPr lang="en-US" altLang="zh-CN" sz="2000" dirty="0" err="1">
                <a:solidFill>
                  <a:srgbClr val="795E26"/>
                </a:solidFill>
                <a:latin typeface="Consolas" panose="020B0609020204030204" pitchFamily="49" charset="0"/>
              </a:rPr>
              <a:t>readtable</a:t>
            </a:r>
            <a:r>
              <a:rPr lang="en-US" altLang="zh-CN" sz="2000" dirty="0">
                <a:solidFill>
                  <a:srgbClr val="000000"/>
                </a:solidFill>
                <a:latin typeface="Consolas" panose="020B0609020204030204" pitchFamily="49" charset="0"/>
              </a:rPr>
              <a:t>(</a:t>
            </a:r>
            <a:r>
              <a:rPr lang="en-US" altLang="zh-CN" sz="2000" dirty="0">
                <a:solidFill>
                  <a:srgbClr val="A31515"/>
                </a:solidFill>
                <a:latin typeface="Consolas" panose="020B0609020204030204" pitchFamily="49" charset="0"/>
              </a:rPr>
              <a:t>"xrd.txt"</a:t>
            </a:r>
            <a:r>
              <a:rPr lang="en-US" altLang="zh-CN" sz="2000" dirty="0">
                <a:solidFill>
                  <a:srgbClr val="000000"/>
                </a:solidFill>
                <a:latin typeface="Consolas" panose="020B0609020204030204" pitchFamily="49" charset="0"/>
              </a:rPr>
              <a:t>);</a:t>
            </a:r>
          </a:p>
          <a:p>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从</a:t>
            </a:r>
            <a:r>
              <a:rPr lang="en-US" altLang="zh-CN" sz="2000" dirty="0">
                <a:solidFill>
                  <a:srgbClr val="008000"/>
                </a:solidFill>
                <a:latin typeface="Consolas" panose="020B0609020204030204" pitchFamily="49" charset="0"/>
              </a:rPr>
              <a:t>xrd1</a:t>
            </a:r>
            <a:r>
              <a:rPr lang="zh-CN" altLang="en-US" sz="2000" dirty="0">
                <a:solidFill>
                  <a:srgbClr val="008000"/>
                </a:solidFill>
                <a:latin typeface="Consolas" panose="020B0609020204030204" pitchFamily="49" charset="0"/>
              </a:rPr>
              <a:t>表格中抽取第</a:t>
            </a:r>
            <a:r>
              <a:rPr lang="en-US" altLang="zh-CN" sz="2000" dirty="0">
                <a:solidFill>
                  <a:srgbClr val="008000"/>
                </a:solidFill>
                <a:latin typeface="Consolas" panose="020B0609020204030204" pitchFamily="49" charset="0"/>
              </a:rPr>
              <a:t>1</a:t>
            </a:r>
            <a:r>
              <a:rPr lang="zh-CN" altLang="en-US" sz="2000" dirty="0">
                <a:solidFill>
                  <a:srgbClr val="008000"/>
                </a:solidFill>
                <a:latin typeface="Consolas" panose="020B0609020204030204" pitchFamily="49" charset="0"/>
              </a:rPr>
              <a:t>列数据为</a:t>
            </a:r>
            <a:r>
              <a:rPr lang="en-US" altLang="zh-CN" sz="2000" dirty="0">
                <a:solidFill>
                  <a:srgbClr val="008000"/>
                </a:solidFill>
                <a:latin typeface="Consolas" panose="020B0609020204030204" pitchFamily="49" charset="0"/>
              </a:rPr>
              <a:t>x</a:t>
            </a:r>
            <a:r>
              <a:rPr lang="zh-CN" altLang="en-US" sz="2000" dirty="0">
                <a:solidFill>
                  <a:srgbClr val="008000"/>
                </a:solidFill>
                <a:latin typeface="Consolas" panose="020B0609020204030204" pitchFamily="49" charset="0"/>
              </a:rPr>
              <a:t>轴值</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x = xrd1[:, </a:t>
            </a:r>
            <a:r>
              <a:rPr lang="en-US" altLang="zh-CN" sz="2000" dirty="0">
                <a:solidFill>
                  <a:srgbClr val="098658"/>
                </a:solidFill>
                <a:latin typeface="Consolas" panose="020B0609020204030204" pitchFamily="49" charset="0"/>
              </a:rPr>
              <a:t>1</a:t>
            </a:r>
            <a:r>
              <a:rPr lang="en-US" altLang="zh-CN" sz="2000" dirty="0">
                <a:solidFill>
                  <a:srgbClr val="000000"/>
                </a:solidFill>
                <a:latin typeface="Consolas" panose="020B0609020204030204" pitchFamily="49" charset="0"/>
              </a:rPr>
              <a:t>];</a:t>
            </a:r>
          </a:p>
          <a:p>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从</a:t>
            </a:r>
            <a:r>
              <a:rPr lang="en-US" altLang="zh-CN" sz="2000" dirty="0">
                <a:solidFill>
                  <a:srgbClr val="008000"/>
                </a:solidFill>
                <a:latin typeface="Consolas" panose="020B0609020204030204" pitchFamily="49" charset="0"/>
              </a:rPr>
              <a:t>xrd1</a:t>
            </a:r>
            <a:r>
              <a:rPr lang="zh-CN" altLang="en-US" sz="2000" dirty="0">
                <a:solidFill>
                  <a:srgbClr val="008000"/>
                </a:solidFill>
                <a:latin typeface="Consolas" panose="020B0609020204030204" pitchFamily="49" charset="0"/>
              </a:rPr>
              <a:t>表格中抽取第</a:t>
            </a:r>
            <a:r>
              <a:rPr lang="en-US" altLang="zh-CN" sz="2000" dirty="0">
                <a:solidFill>
                  <a:srgbClr val="008000"/>
                </a:solidFill>
                <a:latin typeface="Consolas" panose="020B0609020204030204" pitchFamily="49" charset="0"/>
              </a:rPr>
              <a:t>2</a:t>
            </a:r>
            <a:r>
              <a:rPr lang="zh-CN" altLang="en-US" sz="2000" dirty="0">
                <a:solidFill>
                  <a:srgbClr val="008000"/>
                </a:solidFill>
                <a:latin typeface="Consolas" panose="020B0609020204030204" pitchFamily="49" charset="0"/>
              </a:rPr>
              <a:t>列数据为</a:t>
            </a:r>
            <a:r>
              <a:rPr lang="en-US" altLang="zh-CN" sz="2000" dirty="0">
                <a:solidFill>
                  <a:srgbClr val="008000"/>
                </a:solidFill>
                <a:latin typeface="Consolas" panose="020B0609020204030204" pitchFamily="49" charset="0"/>
              </a:rPr>
              <a:t>y</a:t>
            </a:r>
            <a:r>
              <a:rPr lang="zh-CN" altLang="en-US" sz="2000" dirty="0">
                <a:solidFill>
                  <a:srgbClr val="008000"/>
                </a:solidFill>
                <a:latin typeface="Consolas" panose="020B0609020204030204" pitchFamily="49" charset="0"/>
              </a:rPr>
              <a:t>轴值</a:t>
            </a:r>
            <a:endParaRPr lang="zh-CN" altLang="en-US" sz="2000" dirty="0">
              <a:solidFill>
                <a:srgbClr val="000000"/>
              </a:solidFill>
              <a:latin typeface="Consolas" panose="020B0609020204030204" pitchFamily="49" charset="0"/>
            </a:endParaRPr>
          </a:p>
          <a:p>
            <a:r>
              <a:rPr lang="en-US" altLang="zh-CN" sz="2000" dirty="0">
                <a:solidFill>
                  <a:srgbClr val="000000"/>
                </a:solidFill>
                <a:latin typeface="Consolas" panose="020B0609020204030204" pitchFamily="49" charset="0"/>
              </a:rPr>
              <a:t>y = xrd1[:, </a:t>
            </a:r>
            <a:r>
              <a:rPr lang="en-US" altLang="zh-CN" sz="2000" dirty="0">
                <a:solidFill>
                  <a:srgbClr val="098658"/>
                </a:solidFill>
                <a:latin typeface="Consolas" panose="020B0609020204030204" pitchFamily="49" charset="0"/>
              </a:rPr>
              <a:t>2</a:t>
            </a:r>
            <a:r>
              <a:rPr lang="en-US" altLang="zh-CN" sz="2000" dirty="0">
                <a:solidFill>
                  <a:srgbClr val="000000"/>
                </a:solidFill>
                <a:latin typeface="Consolas" panose="020B0609020204030204" pitchFamily="49" charset="0"/>
              </a:rPr>
              <a:t>];</a:t>
            </a:r>
          </a:p>
          <a:p>
            <a:r>
              <a:rPr lang="en-US" altLang="zh-CN" sz="2000" dirty="0">
                <a:solidFill>
                  <a:srgbClr val="795E26"/>
                </a:solidFill>
                <a:latin typeface="Consolas" panose="020B0609020204030204" pitchFamily="49" charset="0"/>
              </a:rPr>
              <a:t>plot</a:t>
            </a:r>
            <a:r>
              <a:rPr lang="en-US" altLang="zh-CN" sz="2000" dirty="0">
                <a:solidFill>
                  <a:srgbClr val="000000"/>
                </a:solidFill>
                <a:latin typeface="Consolas" panose="020B0609020204030204" pitchFamily="49" charset="0"/>
              </a:rPr>
              <a:t>(x, y, </a:t>
            </a:r>
            <a:r>
              <a:rPr lang="en-US" altLang="zh-CN" sz="2000" dirty="0">
                <a:solidFill>
                  <a:srgbClr val="A31515"/>
                </a:solidFill>
                <a:latin typeface="Consolas" panose="020B0609020204030204" pitchFamily="49" charset="0"/>
              </a:rPr>
              <a:t>"-*"</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绘制曲线</a:t>
            </a:r>
            <a:endParaRPr lang="zh-CN" altLang="en-US" sz="2000" dirty="0">
              <a:solidFill>
                <a:srgbClr val="000000"/>
              </a:solidFill>
              <a:latin typeface="Consolas" panose="020B0609020204030204" pitchFamily="49" charset="0"/>
            </a:endParaRPr>
          </a:p>
          <a:p>
            <a:r>
              <a:rPr lang="en-US" altLang="zh-CN" sz="2000" dirty="0" err="1">
                <a:solidFill>
                  <a:srgbClr val="795E26"/>
                </a:solidFill>
                <a:latin typeface="Consolas" panose="020B0609020204030204" pitchFamily="49" charset="0"/>
              </a:rPr>
              <a:t>xlabel</a:t>
            </a:r>
            <a:r>
              <a:rPr lang="en-US" altLang="zh-CN" sz="2000" dirty="0">
                <a:solidFill>
                  <a:srgbClr val="000000"/>
                </a:solidFill>
                <a:latin typeface="Consolas" panose="020B0609020204030204" pitchFamily="49" charset="0"/>
              </a:rPr>
              <a:t>(</a:t>
            </a:r>
            <a:r>
              <a:rPr lang="en-US" altLang="zh-CN" sz="2000" dirty="0">
                <a:solidFill>
                  <a:srgbClr val="A31515"/>
                </a:solidFill>
                <a:latin typeface="Consolas" panose="020B0609020204030204" pitchFamily="49" charset="0"/>
              </a:rPr>
              <a:t>"2</a:t>
            </a:r>
            <a:r>
              <a:rPr lang="el-GR" altLang="zh-CN" sz="2000" dirty="0">
                <a:solidFill>
                  <a:srgbClr val="A31515"/>
                </a:solidFill>
                <a:latin typeface="Consolas" panose="020B0609020204030204" pitchFamily="49" charset="0"/>
              </a:rPr>
              <a:t>θ,</a:t>
            </a:r>
            <a:r>
              <a:rPr lang="en-US" altLang="zh-CN" sz="2000" dirty="0">
                <a:solidFill>
                  <a:srgbClr val="A31515"/>
                </a:solidFill>
                <a:latin typeface="Consolas" panose="020B0609020204030204" pitchFamily="49" charset="0"/>
              </a:rPr>
              <a:t>deg"</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#x</a:t>
            </a:r>
            <a:r>
              <a:rPr lang="zh-CN" altLang="en-US" sz="2000" dirty="0">
                <a:solidFill>
                  <a:srgbClr val="008000"/>
                </a:solidFill>
                <a:latin typeface="Consolas" panose="020B0609020204030204" pitchFamily="49" charset="0"/>
              </a:rPr>
              <a:t>轴标注</a:t>
            </a:r>
            <a:endParaRPr lang="zh-CN" altLang="en-US" sz="2000" dirty="0">
              <a:solidFill>
                <a:srgbClr val="000000"/>
              </a:solidFill>
              <a:latin typeface="Consolas" panose="020B0609020204030204" pitchFamily="49" charset="0"/>
            </a:endParaRPr>
          </a:p>
          <a:p>
            <a:r>
              <a:rPr lang="en-US" altLang="zh-CN" sz="2000" dirty="0" err="1">
                <a:solidFill>
                  <a:srgbClr val="795E26"/>
                </a:solidFill>
                <a:latin typeface="Consolas" panose="020B0609020204030204" pitchFamily="49" charset="0"/>
              </a:rPr>
              <a:t>ylabel</a:t>
            </a:r>
            <a:r>
              <a:rPr lang="en-US" altLang="zh-CN" sz="2000" dirty="0">
                <a:solidFill>
                  <a:srgbClr val="000000"/>
                </a:solidFill>
                <a:latin typeface="Consolas" panose="020B0609020204030204" pitchFamily="49" charset="0"/>
              </a:rPr>
              <a:t>(</a:t>
            </a:r>
            <a:r>
              <a:rPr lang="en-US" altLang="zh-CN" sz="2000" dirty="0">
                <a:solidFill>
                  <a:srgbClr val="A31515"/>
                </a:solidFill>
                <a:latin typeface="Consolas" panose="020B0609020204030204" pitchFamily="49" charset="0"/>
              </a:rPr>
              <a:t>"</a:t>
            </a:r>
            <a:r>
              <a:rPr lang="en-US" altLang="zh-CN" sz="2000" dirty="0" err="1">
                <a:solidFill>
                  <a:srgbClr val="A31515"/>
                </a:solidFill>
                <a:latin typeface="Consolas" panose="020B0609020204030204" pitchFamily="49" charset="0"/>
              </a:rPr>
              <a:t>Intensity,cps</a:t>
            </a:r>
            <a:r>
              <a:rPr lang="en-US" altLang="zh-CN" sz="2000" dirty="0">
                <a:solidFill>
                  <a:srgbClr val="A31515"/>
                </a:solidFill>
                <a:latin typeface="Consolas" panose="020B0609020204030204" pitchFamily="49" charset="0"/>
              </a:rPr>
              <a:t>"</a:t>
            </a:r>
            <a:r>
              <a:rPr lang="en-US" altLang="zh-CN" sz="2000" dirty="0">
                <a:solidFill>
                  <a:srgbClr val="000000"/>
                </a:solidFill>
                <a:latin typeface="Consolas" panose="020B0609020204030204" pitchFamily="49" charset="0"/>
              </a:rPr>
              <a:t>)</a:t>
            </a:r>
          </a:p>
          <a:p>
            <a:r>
              <a:rPr lang="en-US" altLang="zh-CN" sz="2000" dirty="0">
                <a:solidFill>
                  <a:srgbClr val="000000"/>
                </a:solidFill>
                <a:latin typeface="Consolas" panose="020B0609020204030204" pitchFamily="49" charset="0"/>
              </a:rPr>
              <a:t>dim = [</a:t>
            </a:r>
            <a:r>
              <a:rPr lang="en-US" altLang="zh-CN" sz="2000" dirty="0">
                <a:solidFill>
                  <a:srgbClr val="098658"/>
                </a:solidFill>
                <a:latin typeface="Consolas" panose="020B0609020204030204" pitchFamily="49" charset="0"/>
              </a:rPr>
              <a:t>0.38</a:t>
            </a:r>
            <a:r>
              <a:rPr lang="en-US" altLang="zh-CN" sz="2000" dirty="0">
                <a:solidFill>
                  <a:srgbClr val="000000"/>
                </a:solidFill>
                <a:latin typeface="Consolas" panose="020B0609020204030204" pitchFamily="49" charset="0"/>
              </a:rPr>
              <a:t> </a:t>
            </a:r>
            <a:r>
              <a:rPr lang="en-US" altLang="zh-CN" sz="2000" dirty="0">
                <a:solidFill>
                  <a:srgbClr val="098658"/>
                </a:solidFill>
                <a:latin typeface="Consolas" panose="020B0609020204030204" pitchFamily="49" charset="0"/>
              </a:rPr>
              <a:t>0.82</a:t>
            </a:r>
            <a:r>
              <a:rPr lang="en-US" altLang="zh-CN" sz="2000" dirty="0">
                <a:solidFill>
                  <a:srgbClr val="000000"/>
                </a:solidFill>
                <a:latin typeface="Consolas" panose="020B0609020204030204" pitchFamily="49" charset="0"/>
              </a:rPr>
              <a:t> </a:t>
            </a:r>
            <a:r>
              <a:rPr lang="en-US" altLang="zh-CN" sz="2000" dirty="0">
                <a:solidFill>
                  <a:srgbClr val="098658"/>
                </a:solidFill>
                <a:latin typeface="Consolas" panose="020B0609020204030204" pitchFamily="49" charset="0"/>
              </a:rPr>
              <a:t>0.15</a:t>
            </a:r>
            <a:r>
              <a:rPr lang="en-US" altLang="zh-CN" sz="2000" dirty="0">
                <a:solidFill>
                  <a:srgbClr val="000000"/>
                </a:solidFill>
                <a:latin typeface="Consolas" panose="020B0609020204030204" pitchFamily="49" charset="0"/>
              </a:rPr>
              <a:t> </a:t>
            </a:r>
            <a:r>
              <a:rPr lang="en-US" altLang="zh-CN" sz="2000" dirty="0">
                <a:solidFill>
                  <a:srgbClr val="098658"/>
                </a:solidFill>
                <a:latin typeface="Consolas" panose="020B0609020204030204" pitchFamily="49" charset="0"/>
              </a:rPr>
              <a:t>0.1</a:t>
            </a:r>
            <a:r>
              <a:rPr lang="en-US" altLang="zh-CN" sz="2000" dirty="0">
                <a:solidFill>
                  <a:srgbClr val="000000"/>
                </a:solidFill>
                <a:latin typeface="Consolas" panose="020B0609020204030204" pitchFamily="49" charset="0"/>
              </a:rPr>
              <a:t>];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注释图形位置</a:t>
            </a:r>
            <a:endParaRPr lang="zh-CN" altLang="en-US" sz="2000" dirty="0">
              <a:solidFill>
                <a:srgbClr val="000000"/>
              </a:solidFill>
              <a:latin typeface="Consolas" panose="020B0609020204030204" pitchFamily="49" charset="0"/>
            </a:endParaRPr>
          </a:p>
          <a:p>
            <a:r>
              <a:rPr lang="en-US" altLang="zh-CN" sz="2000" dirty="0">
                <a:solidFill>
                  <a:srgbClr val="795E26"/>
                </a:solidFill>
                <a:latin typeface="Consolas" panose="020B0609020204030204" pitchFamily="49" charset="0"/>
              </a:rPr>
              <a:t>annotation</a:t>
            </a:r>
            <a:r>
              <a:rPr lang="en-US" altLang="zh-CN" sz="2000" dirty="0">
                <a:solidFill>
                  <a:srgbClr val="000000"/>
                </a:solidFill>
                <a:latin typeface="Consolas" panose="020B0609020204030204" pitchFamily="49" charset="0"/>
              </a:rPr>
              <a:t>(</a:t>
            </a:r>
            <a:r>
              <a:rPr lang="en-US" altLang="zh-CN" sz="2000" dirty="0">
                <a:solidFill>
                  <a:srgbClr val="A31515"/>
                </a:solidFill>
                <a:latin typeface="Consolas" panose="020B0609020204030204" pitchFamily="49" charset="0"/>
              </a:rPr>
              <a:t>"ellipse"</a:t>
            </a:r>
            <a:r>
              <a:rPr lang="en-US" altLang="zh-CN" sz="2000" dirty="0">
                <a:solidFill>
                  <a:srgbClr val="000000"/>
                </a:solidFill>
                <a:latin typeface="Consolas" panose="020B0609020204030204" pitchFamily="49" charset="0"/>
              </a:rPr>
              <a:t>, dim); </a:t>
            </a:r>
            <a:r>
              <a:rPr lang="en-US" altLang="zh-CN" sz="2000" dirty="0">
                <a:solidFill>
                  <a:srgbClr val="008000"/>
                </a:solidFill>
                <a:latin typeface="Consolas" panose="020B0609020204030204" pitchFamily="49" charset="0"/>
              </a:rPr>
              <a:t>#</a:t>
            </a:r>
            <a:r>
              <a:rPr lang="zh-CN" altLang="en-US" sz="2000" dirty="0">
                <a:solidFill>
                  <a:srgbClr val="008000"/>
                </a:solidFill>
                <a:latin typeface="Consolas" panose="020B0609020204030204" pitchFamily="49" charset="0"/>
              </a:rPr>
              <a:t>椭圆注释图形位置</a:t>
            </a:r>
            <a:endParaRPr lang="zh-CN" altLang="en-US" sz="2000" dirty="0">
              <a:solidFill>
                <a:srgbClr val="000000"/>
              </a:solidFill>
              <a:latin typeface="Consolas" panose="020B0609020204030204" pitchFamily="49" charset="0"/>
            </a:endParaRPr>
          </a:p>
        </p:txBody>
      </p:sp>
      <p:pic>
        <p:nvPicPr>
          <p:cNvPr id="3" name="图片 2"/>
          <p:cNvPicPr>
            <a:picLocks noChangeAspect="1"/>
          </p:cNvPicPr>
          <p:nvPr/>
        </p:nvPicPr>
        <p:blipFill rotWithShape="1">
          <a:blip r:embed="rId4"/>
          <a:srcRect l="3962" t="12228" r="30312" b="4468"/>
          <a:stretch>
            <a:fillRect/>
          </a:stretch>
        </p:blipFill>
        <p:spPr>
          <a:xfrm>
            <a:off x="6687307" y="2054312"/>
            <a:ext cx="2321789" cy="1655286"/>
          </a:xfrm>
          <a:prstGeom prst="rect">
            <a:avLst/>
          </a:prstGeom>
          <a:effectLst>
            <a:outerShdw blurRad="63500" sx="102000" sy="102000" algn="ctr" rotWithShape="0">
              <a:prstClr val="black">
                <a:alpha val="40000"/>
              </a:prstClr>
            </a:outerShdw>
          </a:effectLst>
        </p:spPr>
      </p:pic>
      <p:graphicFrame>
        <p:nvGraphicFramePr>
          <p:cNvPr id="20" name="对象 19"/>
          <p:cNvGraphicFramePr>
            <a:graphicFrameLocks noChangeAspect="1"/>
          </p:cNvGraphicFramePr>
          <p:nvPr/>
        </p:nvGraphicFramePr>
        <p:xfrm>
          <a:off x="7634866" y="2494583"/>
          <a:ext cx="1397000" cy="1196975"/>
        </p:xfrm>
        <a:graphic>
          <a:graphicData uri="http://schemas.openxmlformats.org/presentationml/2006/ole">
            <mc:AlternateContent xmlns:mc="http://schemas.openxmlformats.org/markup-compatibility/2006">
              <mc:Choice xmlns:v="urn:schemas-microsoft-com:vml" Requires="v">
                <p:oleObj spid="_x0000_s39055" name="包装程序外壳对象" showAsIcon="1" r:id="rId5" imgW="977900" imgH="839470" progId="Package">
                  <p:embed/>
                </p:oleObj>
              </mc:Choice>
              <mc:Fallback>
                <p:oleObj name="包装程序外壳对象" showAsIcon="1" r:id="rId5" imgW="977900" imgH="839470" progId="Package">
                  <p:embed/>
                  <p:pic>
                    <p:nvPicPr>
                      <p:cNvPr id="0" name="对象 19"/>
                      <p:cNvPicPr/>
                      <p:nvPr/>
                    </p:nvPicPr>
                    <p:blipFill>
                      <a:blip r:embed="rId6"/>
                      <a:stretch>
                        <a:fillRect/>
                      </a:stretch>
                    </p:blipFill>
                    <p:spPr>
                      <a:xfrm>
                        <a:off x="7634866" y="2494583"/>
                        <a:ext cx="1397000" cy="1196975"/>
                      </a:xfrm>
                      <a:prstGeom prst="rect">
                        <a:avLst/>
                      </a:prstGeom>
                    </p:spPr>
                  </p:pic>
                </p:oleObj>
              </mc:Fallback>
            </mc:AlternateContent>
          </a:graphicData>
        </a:graphic>
      </p:graphicFrame>
      <p:sp>
        <p:nvSpPr>
          <p:cNvPr id="16" name="形状 209924"/>
          <p:cNvSpPr/>
          <p:nvPr/>
        </p:nvSpPr>
        <p:spPr>
          <a:xfrm>
            <a:off x="7882353" y="1144697"/>
            <a:ext cx="1126743" cy="590247"/>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r>
              <a:rPr lang="zh-CN" altLang="en-US" b="1"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注意</a:t>
            </a:r>
          </a:p>
        </p:txBody>
      </p:sp>
      <p:sp>
        <p:nvSpPr>
          <p:cNvPr id="22" name="矩形 21"/>
          <p:cNvSpPr/>
          <p:nvPr/>
        </p:nvSpPr>
        <p:spPr>
          <a:xfrm>
            <a:off x="5479146" y="1195742"/>
            <a:ext cx="3492508" cy="369332"/>
          </a:xfrm>
          <a:prstGeom prst="rect">
            <a:avLst/>
          </a:prstGeom>
        </p:spPr>
        <p:txBody>
          <a:bodyPr wrap="square">
            <a:spAutoFit/>
          </a:bodyPr>
          <a:lstStyle/>
          <a:p>
            <a:pPr lvl="0">
              <a:spcBef>
                <a:spcPts val="0"/>
              </a:spcBef>
              <a:defRPr/>
            </a:pPr>
            <a:r>
              <a:rPr lang="zh-CN" altLang="en-US" dirty="0">
                <a:solidFill>
                  <a:srgbClr val="00B0F0"/>
                </a:solidFill>
                <a:latin typeface="微软雅黑" panose="020B0503020204020204" pitchFamily="34" charset="-122"/>
                <a:ea typeface="微软雅黑" panose="020B0503020204020204" pitchFamily="34" charset="-122"/>
              </a:rPr>
              <a:t>不完整或缺失的数据</a:t>
            </a:r>
            <a:endParaRPr lang="zh-CN" altLang="en-US" b="1" dirty="0">
              <a:solidFill>
                <a:srgbClr val="0070C0"/>
              </a:solidFill>
              <a:latin typeface="微软雅黑" panose="020B0503020204020204" pitchFamily="34" charset="-122"/>
              <a:ea typeface="微软雅黑" panose="020B0503020204020204" pitchFamily="34" charset="-122"/>
            </a:endParaRPr>
          </a:p>
        </p:txBody>
      </p:sp>
      <p:sp>
        <p:nvSpPr>
          <p:cNvPr id="23" name="波形 22">
            <a:extLst>
              <a:ext uri="{FF2B5EF4-FFF2-40B4-BE49-F238E27FC236}">
                <a16:creationId xmlns:a16="http://schemas.microsoft.com/office/drawing/2014/main" id="{8CC495F5-9DB2-42B6-9B95-ED9177E2151D}"/>
              </a:ext>
            </a:extLst>
          </p:cNvPr>
          <p:cNvSpPr/>
          <p:nvPr/>
        </p:nvSpPr>
        <p:spPr>
          <a:xfrm>
            <a:off x="2233971" y="723379"/>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54-1</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15915" y="695105"/>
            <a:ext cx="8608995" cy="4043415"/>
          </a:xfrm>
          <a:prstGeom prst="rect">
            <a:avLst/>
          </a:prstGeom>
          <a:solidFill>
            <a:schemeClr val="bg1"/>
          </a:solidFill>
        </p:spPr>
        <p:txBody>
          <a:bodyPr wrap="square">
            <a:spAutoFit/>
          </a:bodyPr>
          <a:lstStyle/>
          <a:p>
            <a:pPr>
              <a:lnSpc>
                <a:spcPts val="1400"/>
              </a:lnSpc>
            </a:pPr>
            <a:r>
              <a:rPr lang="en-US" altLang="zh-CN" sz="1200" b="0" dirty="0">
                <a:solidFill>
                  <a:srgbClr val="000000"/>
                </a:solidFill>
                <a:effectLst/>
                <a:latin typeface="Consolas" panose="020B0609020204030204" pitchFamily="49" charset="0"/>
              </a:rPr>
              <a:t>x=[</a:t>
            </a:r>
            <a:r>
              <a:rPr lang="en-US" altLang="zh-CN" sz="1200" b="0" dirty="0">
                <a:solidFill>
                  <a:srgbClr val="098658"/>
                </a:solidFill>
                <a:effectLst/>
                <a:latin typeface="Consolas" panose="020B0609020204030204" pitchFamily="49" charset="0"/>
              </a:rPr>
              <a:t>38.075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38.125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38.175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38.225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38.275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38.325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38.375</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38.425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38.475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38.525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38.575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38.625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38.675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38.725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38.775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38.825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38.875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38.925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38.975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39.025</a:t>
            </a:r>
            <a:r>
              <a:rPr lang="en-US" altLang="zh-CN" sz="1200" b="0" dirty="0">
                <a:solidFill>
                  <a:srgbClr val="000000"/>
                </a:solidFill>
                <a:effectLst/>
                <a:latin typeface="Consolas" panose="020B0609020204030204" pitchFamily="49" charset="0"/>
              </a:rPr>
              <a:t>]      </a:t>
            </a:r>
          </a:p>
          <a:p>
            <a:pPr>
              <a:lnSpc>
                <a:spcPts val="1400"/>
              </a:lnSpc>
            </a:pPr>
            <a:r>
              <a:rPr lang="en-US" altLang="zh-CN" sz="1200" b="0" dirty="0">
                <a:solidFill>
                  <a:srgbClr val="000000"/>
                </a:solidFill>
                <a:effectLst/>
                <a:latin typeface="Consolas" panose="020B0609020204030204" pitchFamily="49" charset="0"/>
              </a:rPr>
              <a:t>y=[</a:t>
            </a:r>
            <a:r>
              <a:rPr lang="en-US" altLang="zh-CN" sz="1200" b="0" dirty="0">
                <a:solidFill>
                  <a:srgbClr val="098658"/>
                </a:solidFill>
                <a:effectLst/>
                <a:latin typeface="Consolas" panose="020B0609020204030204" pitchFamily="49" charset="0"/>
              </a:rPr>
              <a:t>267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318</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487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815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1502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3162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6207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8414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8156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5975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3473</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1601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710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325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247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232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207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182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157</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000000"/>
                </a:solidFill>
                <a:effectLst/>
                <a:latin typeface="Consolas" panose="020B0609020204030204" pitchFamily="49" charset="0"/>
              </a:rPr>
              <a:t>xx=</a:t>
            </a:r>
            <a:r>
              <a:rPr lang="en-US" altLang="zh-CN" sz="1200" b="0" dirty="0">
                <a:solidFill>
                  <a:srgbClr val="098658"/>
                </a:solidFill>
                <a:effectLst/>
                <a:latin typeface="Consolas" panose="020B0609020204030204" pitchFamily="49" charset="0"/>
              </a:rPr>
              <a:t>38</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0.01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39</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插值点</a:t>
            </a:r>
            <a:endParaRPr lang="zh-CN" altLang="en-US" sz="1200" b="0" dirty="0">
              <a:solidFill>
                <a:srgbClr val="000000"/>
              </a:solidFill>
              <a:effectLst/>
              <a:latin typeface="Consolas" panose="020B0609020204030204" pitchFamily="49" charset="0"/>
            </a:endParaRPr>
          </a:p>
          <a:p>
            <a:pPr>
              <a:lnSpc>
                <a:spcPts val="1400"/>
              </a:lnSpc>
            </a:pPr>
            <a:r>
              <a:rPr lang="en-US" altLang="zh-CN" sz="1200" b="0" dirty="0">
                <a:solidFill>
                  <a:srgbClr val="795E26"/>
                </a:solidFill>
                <a:effectLst/>
                <a:latin typeface="Consolas" panose="020B0609020204030204" pitchFamily="49" charset="0"/>
              </a:rPr>
              <a:t>subplot</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000000"/>
                </a:solidFill>
                <a:effectLst/>
                <a:latin typeface="Consolas" panose="020B0609020204030204" pitchFamily="49" charset="0"/>
              </a:rPr>
              <a:t>yy</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interp1</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x,y,xx</a:t>
            </a:r>
            <a:r>
              <a:rPr lang="en-US" altLang="zh-CN" sz="1200" b="0" dirty="0">
                <a:solidFill>
                  <a:srgbClr val="000000"/>
                </a:solidFill>
                <a:effectLst/>
                <a:latin typeface="Consolas" panose="020B0609020204030204" pitchFamily="49" charset="0"/>
              </a:rPr>
              <a:t>)</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插值结果</a:t>
            </a:r>
            <a:endParaRPr lang="zh-CN" altLang="en-US" sz="1200" b="0" dirty="0">
              <a:solidFill>
                <a:srgbClr val="000000"/>
              </a:solidFill>
              <a:effectLst/>
              <a:latin typeface="Consolas" panose="020B0609020204030204" pitchFamily="49" charset="0"/>
            </a:endParaRPr>
          </a:p>
          <a:p>
            <a:pPr>
              <a:lnSpc>
                <a:spcPts val="1400"/>
              </a:lnSpc>
            </a:pPr>
            <a:r>
              <a:rPr lang="en-US" altLang="zh-CN" sz="1200" b="0" dirty="0">
                <a:solidFill>
                  <a:srgbClr val="795E26"/>
                </a:solidFill>
                <a:effectLst/>
                <a:latin typeface="Consolas" panose="020B0609020204030204" pitchFamily="49" charset="0"/>
              </a:rPr>
              <a:t>plot</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xx,yy</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"-or"</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title</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线性插值</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795E26"/>
                </a:solidFill>
                <a:effectLst/>
                <a:latin typeface="Consolas" panose="020B0609020204030204" pitchFamily="49" charset="0"/>
              </a:rPr>
              <a:t>xlabel</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raw</a:t>
            </a:r>
            <a:r>
              <a:rPr lang="en-US" altLang="zh-CN" sz="1200" b="0" dirty="0">
                <a:solidFill>
                  <a:srgbClr val="A31515"/>
                </a:solidFill>
                <a:effectLst/>
                <a:latin typeface="Consolas" panose="020B0609020204030204" pitchFamily="49" charset="0"/>
              </a:rPr>
              <a:t>"$2\</a:t>
            </a:r>
            <a:r>
              <a:rPr lang="en-US" altLang="zh-CN" sz="1200" b="0" dirty="0" err="1">
                <a:solidFill>
                  <a:srgbClr val="A31515"/>
                </a:solidFill>
                <a:effectLst/>
                <a:latin typeface="Consolas" panose="020B0609020204030204" pitchFamily="49" charset="0"/>
              </a:rPr>
              <a:t>theta$,deg</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ylabel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Intensity,cps</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795E26"/>
                </a:solidFill>
                <a:effectLst/>
                <a:latin typeface="Consolas" panose="020B0609020204030204" pitchFamily="49" charset="0"/>
              </a:rPr>
              <a:t>subplot</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000000"/>
                </a:solidFill>
                <a:effectLst/>
                <a:latin typeface="Consolas" panose="020B0609020204030204" pitchFamily="49" charset="0"/>
              </a:rPr>
              <a:t>yy</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interp1</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x,y,xx,</a:t>
            </a:r>
            <a:r>
              <a:rPr lang="en-US" altLang="zh-CN" sz="1200" b="0" dirty="0" err="1">
                <a:solidFill>
                  <a:srgbClr val="A31515"/>
                </a:solidFill>
                <a:effectLst/>
                <a:latin typeface="Consolas" panose="020B0609020204030204" pitchFamily="49" charset="0"/>
              </a:rPr>
              <a:t>"nearest</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795E26"/>
                </a:solidFill>
                <a:effectLst/>
                <a:latin typeface="Consolas" panose="020B0609020204030204" pitchFamily="49" charset="0"/>
              </a:rPr>
              <a:t>plot</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xx,yy</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"-or"</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title</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邻近插值</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795E26"/>
                </a:solidFill>
                <a:effectLst/>
                <a:latin typeface="Consolas" panose="020B0609020204030204" pitchFamily="49" charset="0"/>
              </a:rPr>
              <a:t>xlabel</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raw</a:t>
            </a:r>
            <a:r>
              <a:rPr lang="en-US" altLang="zh-CN" sz="1200" b="0" dirty="0">
                <a:solidFill>
                  <a:srgbClr val="A31515"/>
                </a:solidFill>
                <a:effectLst/>
                <a:latin typeface="Consolas" panose="020B0609020204030204" pitchFamily="49" charset="0"/>
              </a:rPr>
              <a:t>"$2\</a:t>
            </a:r>
            <a:r>
              <a:rPr lang="en-US" altLang="zh-CN" sz="1200" b="0" dirty="0" err="1">
                <a:solidFill>
                  <a:srgbClr val="A31515"/>
                </a:solidFill>
                <a:effectLst/>
                <a:latin typeface="Consolas" panose="020B0609020204030204" pitchFamily="49" charset="0"/>
              </a:rPr>
              <a:t>theta$,deg</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ylabel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Intensity,cps</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795E26"/>
                </a:solidFill>
                <a:effectLst/>
                <a:latin typeface="Consolas" panose="020B0609020204030204" pitchFamily="49" charset="0"/>
              </a:rPr>
              <a:t>subplot</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3</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000000"/>
                </a:solidFill>
                <a:effectLst/>
                <a:latin typeface="Consolas" panose="020B0609020204030204" pitchFamily="49" charset="0"/>
              </a:rPr>
              <a:t>yy</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interp1</a:t>
            </a:r>
            <a:r>
              <a:rPr lang="en-US" altLang="zh-CN" sz="1200" b="0" dirty="0">
                <a:solidFill>
                  <a:srgbClr val="000000"/>
                </a:solidFill>
                <a:effectLst/>
                <a:latin typeface="Consolas" panose="020B0609020204030204" pitchFamily="49" charset="0"/>
              </a:rPr>
              <a:t>(x,y,xx,</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pchip</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795E26"/>
                </a:solidFill>
                <a:effectLst/>
                <a:latin typeface="Consolas" panose="020B0609020204030204" pitchFamily="49" charset="0"/>
              </a:rPr>
              <a:t>plot</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xx,yy</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"-or"</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title</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保形三次插值</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795E26"/>
                </a:solidFill>
                <a:effectLst/>
                <a:latin typeface="Consolas" panose="020B0609020204030204" pitchFamily="49" charset="0"/>
              </a:rPr>
              <a:t>xlabel</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raw</a:t>
            </a:r>
            <a:r>
              <a:rPr lang="en-US" altLang="zh-CN" sz="1200" b="0" dirty="0">
                <a:solidFill>
                  <a:srgbClr val="A31515"/>
                </a:solidFill>
                <a:effectLst/>
                <a:latin typeface="Consolas" panose="020B0609020204030204" pitchFamily="49" charset="0"/>
              </a:rPr>
              <a:t>"$2\</a:t>
            </a:r>
            <a:r>
              <a:rPr lang="en-US" altLang="zh-CN" sz="1200" b="0" dirty="0" err="1">
                <a:solidFill>
                  <a:srgbClr val="A31515"/>
                </a:solidFill>
                <a:effectLst/>
                <a:latin typeface="Consolas" panose="020B0609020204030204" pitchFamily="49" charset="0"/>
              </a:rPr>
              <a:t>theta$,deg</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ylabel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Intensity,cps</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795E26"/>
                </a:solidFill>
                <a:effectLst/>
                <a:latin typeface="Consolas" panose="020B0609020204030204" pitchFamily="49" charset="0"/>
              </a:rPr>
              <a:t>subplot</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4</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000000"/>
                </a:solidFill>
                <a:effectLst/>
                <a:latin typeface="Consolas" panose="020B0609020204030204" pitchFamily="49" charset="0"/>
              </a:rPr>
              <a:t>yy</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interp1</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x,y,xx,</a:t>
            </a:r>
            <a:r>
              <a:rPr lang="en-US" altLang="zh-CN" sz="1200" b="0" dirty="0" err="1">
                <a:solidFill>
                  <a:srgbClr val="A31515"/>
                </a:solidFill>
                <a:effectLst/>
                <a:latin typeface="Consolas" panose="020B0609020204030204" pitchFamily="49" charset="0"/>
              </a:rPr>
              <a:t>"spline</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a:solidFill>
                  <a:srgbClr val="795E26"/>
                </a:solidFill>
                <a:effectLst/>
                <a:latin typeface="Consolas" panose="020B0609020204030204" pitchFamily="49" charset="0"/>
              </a:rPr>
              <a:t>plot</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xx,yy</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"-or"</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title</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三次样条插值</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795E26"/>
                </a:solidFill>
                <a:effectLst/>
                <a:latin typeface="Consolas" panose="020B0609020204030204" pitchFamily="49" charset="0"/>
              </a:rPr>
              <a:t>xlabel</a:t>
            </a:r>
            <a:r>
              <a:rPr lang="en-US" altLang="zh-CN" sz="1200" b="0" dirty="0">
                <a:solidFill>
                  <a:srgbClr val="000000"/>
                </a:solidFill>
                <a:effectLst/>
                <a:latin typeface="Consolas" panose="020B0609020204030204" pitchFamily="49" charset="0"/>
              </a:rPr>
              <a:t>(</a:t>
            </a:r>
            <a:r>
              <a:rPr lang="en-US" altLang="zh-CN" sz="1200" b="0" dirty="0">
                <a:solidFill>
                  <a:srgbClr val="795E26"/>
                </a:solidFill>
                <a:effectLst/>
                <a:latin typeface="Consolas" panose="020B0609020204030204" pitchFamily="49" charset="0"/>
              </a:rPr>
              <a:t>raw</a:t>
            </a:r>
            <a:r>
              <a:rPr lang="en-US" altLang="zh-CN" sz="1200" b="0" dirty="0">
                <a:solidFill>
                  <a:srgbClr val="A31515"/>
                </a:solidFill>
                <a:effectLst/>
                <a:latin typeface="Consolas" panose="020B0609020204030204" pitchFamily="49" charset="0"/>
              </a:rPr>
              <a:t>"$2\</a:t>
            </a:r>
            <a:r>
              <a:rPr lang="en-US" altLang="zh-CN" sz="1200" b="0" dirty="0" err="1">
                <a:solidFill>
                  <a:srgbClr val="A31515"/>
                </a:solidFill>
                <a:effectLst/>
                <a:latin typeface="Consolas" panose="020B0609020204030204" pitchFamily="49" charset="0"/>
              </a:rPr>
              <a:t>theta$,deg</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r>
              <a:rPr lang="en-US" altLang="zh-CN" sz="1200" b="0" dirty="0" err="1">
                <a:solidFill>
                  <a:srgbClr val="795E26"/>
                </a:solidFill>
                <a:effectLst/>
                <a:latin typeface="Consolas" panose="020B0609020204030204" pitchFamily="49" charset="0"/>
              </a:rPr>
              <a:t>ylabel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Intensity,cps</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a:lnSpc>
                <a:spcPts val="1400"/>
              </a:lnSpc>
            </a:pPr>
            <a:r>
              <a:rPr lang="en-US" altLang="zh-CN" sz="1200" b="0" dirty="0" err="1">
                <a:solidFill>
                  <a:srgbClr val="795E26"/>
                </a:solidFill>
                <a:effectLst/>
                <a:latin typeface="Consolas" panose="020B0609020204030204" pitchFamily="49" charset="0"/>
              </a:rPr>
              <a:t>tightlayout</a:t>
            </a:r>
            <a:r>
              <a:rPr lang="en-US" altLang="zh-CN" sz="1200" b="0" dirty="0">
                <a:solidFill>
                  <a:srgbClr val="000000"/>
                </a:solidFill>
                <a:effectLst/>
                <a:latin typeface="Consolas" panose="020B0609020204030204" pitchFamily="49" charset="0"/>
              </a:rPr>
              <a:t>()</a:t>
            </a:r>
          </a:p>
        </p:txBody>
      </p:sp>
      <p:sp>
        <p:nvSpPr>
          <p:cNvPr id="6" name="文本框 5"/>
          <p:cNvSpPr txBox="1"/>
          <p:nvPr/>
        </p:nvSpPr>
        <p:spPr>
          <a:xfrm>
            <a:off x="994207" y="80768"/>
            <a:ext cx="8064896" cy="523220"/>
          </a:xfrm>
          <a:prstGeom prst="rect">
            <a:avLst/>
          </a:prstGeom>
          <a:no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§5.4.2 </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不同</a:t>
            </a:r>
            <a:r>
              <a:rPr lang="zh-CN" altLang="en-US" sz="2800" i="0" dirty="0">
                <a:solidFill>
                  <a:srgbClr val="FF0000"/>
                </a:solidFill>
                <a:effectLst/>
                <a:latin typeface="华文楷体" panose="02010600040101010101" pitchFamily="2" charset="-122"/>
                <a:ea typeface="华文楷体" panose="02010600040101010101" pitchFamily="2" charset="-122"/>
              </a:rPr>
              <a:t>插值</a:t>
            </a:r>
            <a:r>
              <a:rPr lang="zh-CN" altLang="en-US" sz="2800" dirty="0">
                <a:solidFill>
                  <a:srgbClr val="FF0000"/>
                </a:solidFill>
                <a:latin typeface="华文楷体" panose="02010600040101010101" pitchFamily="2" charset="-122"/>
                <a:ea typeface="华文楷体" panose="02010600040101010101" pitchFamily="2" charset="-122"/>
              </a:rPr>
              <a:t>方法案例</a:t>
            </a:r>
          </a:p>
        </p:txBody>
      </p:sp>
      <p:sp>
        <p:nvSpPr>
          <p:cNvPr id="9" name="文本框 8"/>
          <p:cNvSpPr txBox="1"/>
          <p:nvPr/>
        </p:nvSpPr>
        <p:spPr>
          <a:xfrm>
            <a:off x="5004048" y="3729741"/>
            <a:ext cx="4020863" cy="808298"/>
          </a:xfrm>
          <a:prstGeom prst="rect">
            <a:avLst/>
          </a:prstGeom>
          <a:solidFill>
            <a:schemeClr val="bg1"/>
          </a:solidFill>
        </p:spPr>
        <p:txBody>
          <a:bodyPr wrap="square">
            <a:spAutoFit/>
          </a:bodyPr>
          <a:lstStyle/>
          <a:p>
            <a:pPr>
              <a:lnSpc>
                <a:spcPts val="3000"/>
              </a:lnSpc>
            </a:pPr>
            <a:r>
              <a:rPr lang="zh-CN" altLang="en-US" sz="1400" dirty="0">
                <a:solidFill>
                  <a:srgbClr val="0070C0"/>
                </a:solidFill>
                <a:effectLst/>
                <a:latin typeface="微软雅黑" panose="020B0503020204020204" pitchFamily="34" charset="-122"/>
                <a:ea typeface="微软雅黑" panose="020B0503020204020204" pitchFamily="34" charset="-122"/>
              </a:rPr>
              <a:t>        请</a:t>
            </a:r>
            <a:r>
              <a:rPr lang="zh-CN" altLang="en-US" sz="1400" dirty="0">
                <a:solidFill>
                  <a:srgbClr val="0070C0"/>
                </a:solidFill>
                <a:latin typeface="微软雅黑" panose="020B0503020204020204" pitchFamily="34" charset="-122"/>
                <a:ea typeface="微软雅黑" panose="020B0503020204020204" pitchFamily="34" charset="-122"/>
              </a:rPr>
              <a:t>用</a:t>
            </a:r>
            <a:r>
              <a:rPr lang="en-US" altLang="zh-CN" sz="1400" dirty="0">
                <a:solidFill>
                  <a:srgbClr val="0070C0"/>
                </a:solidFill>
                <a:latin typeface="微软雅黑" panose="020B0503020204020204" pitchFamily="34" charset="-122"/>
                <a:ea typeface="微软雅黑" panose="020B0503020204020204" pitchFamily="34" charset="-122"/>
              </a:rPr>
              <a:t>spline</a:t>
            </a:r>
            <a:r>
              <a:rPr lang="zh-CN" altLang="en-US" sz="1400" dirty="0">
                <a:solidFill>
                  <a:srgbClr val="0070C0"/>
                </a:solidFill>
                <a:latin typeface="微软雅黑" panose="020B0503020204020204" pitchFamily="34" charset="-122"/>
                <a:ea typeface="微软雅黑" panose="020B0503020204020204" pitchFamily="34" charset="-122"/>
              </a:rPr>
              <a:t>函数命令三次样条</a:t>
            </a:r>
            <a:r>
              <a:rPr lang="zh-CN" altLang="en-US" sz="1400" dirty="0">
                <a:solidFill>
                  <a:srgbClr val="0070C0"/>
                </a:solidFill>
                <a:effectLst/>
                <a:latin typeface="微软雅黑" panose="020B0503020204020204" pitchFamily="34" charset="-122"/>
                <a:ea typeface="微软雅黑" panose="020B0503020204020204" pitchFamily="34" charset="-122"/>
              </a:rPr>
              <a:t>插值，</a:t>
            </a:r>
            <a:r>
              <a:rPr lang="zh-CN" altLang="en-US" sz="1400" dirty="0">
                <a:solidFill>
                  <a:srgbClr val="0070C0"/>
                </a:solidFill>
                <a:latin typeface="微软雅黑" panose="020B0503020204020204" pitchFamily="34" charset="-122"/>
                <a:ea typeface="微软雅黑" panose="020B0503020204020204" pitchFamily="34" charset="-122"/>
              </a:rPr>
              <a:t>插值</a:t>
            </a:r>
            <a:r>
              <a:rPr lang="zh-CN" altLang="en-US" sz="1400" dirty="0">
                <a:solidFill>
                  <a:srgbClr val="0070C0"/>
                </a:solidFill>
                <a:effectLst/>
                <a:latin typeface="微软雅黑" panose="020B0503020204020204" pitchFamily="34" charset="-122"/>
                <a:ea typeface="微软雅黑" panose="020B0503020204020204" pitchFamily="34" charset="-122"/>
              </a:rPr>
              <a:t>点为</a:t>
            </a:r>
            <a:r>
              <a:rPr lang="en-US" altLang="zh-CN" sz="1400" dirty="0">
                <a:solidFill>
                  <a:srgbClr val="0070C0"/>
                </a:solidFill>
                <a:latin typeface="微软雅黑" panose="020B0503020204020204" pitchFamily="34" charset="-122"/>
                <a:ea typeface="微软雅黑" panose="020B0503020204020204" pitchFamily="34" charset="-122"/>
              </a:rPr>
              <a:t>xx=38:h:39,h&gt;0.02</a:t>
            </a:r>
            <a:r>
              <a:rPr lang="zh-CN" altLang="en-US" sz="1400" dirty="0">
                <a:solidFill>
                  <a:srgbClr val="0070C0"/>
                </a:solidFill>
                <a:latin typeface="微软雅黑" panose="020B0503020204020204" pitchFamily="34" charset="-122"/>
                <a:ea typeface="微软雅黑" panose="020B0503020204020204" pitchFamily="34" charset="-122"/>
              </a:rPr>
              <a:t>，绘制插值曲线</a:t>
            </a:r>
            <a:endParaRPr lang="en-US" altLang="zh-CN" sz="1400" dirty="0">
              <a:solidFill>
                <a:srgbClr val="0070C0"/>
              </a:solidFill>
              <a:latin typeface="微软雅黑" panose="020B0503020204020204" pitchFamily="34" charset="-122"/>
              <a:ea typeface="微软雅黑" panose="020B0503020204020204" pitchFamily="34" charset="-122"/>
            </a:endParaRPr>
          </a:p>
        </p:txBody>
      </p:sp>
      <p:sp>
        <p:nvSpPr>
          <p:cNvPr id="10" name="波形 9"/>
          <p:cNvSpPr/>
          <p:nvPr/>
        </p:nvSpPr>
        <p:spPr>
          <a:xfrm>
            <a:off x="4564443" y="3764470"/>
            <a:ext cx="841489"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400" b="1" dirty="0">
                <a:solidFill>
                  <a:srgbClr val="FFFF00"/>
                </a:solidFill>
                <a:latin typeface="微软雅黑" panose="020B0503020204020204" pitchFamily="34" charset="-122"/>
                <a:ea typeface="微软雅黑" panose="020B0503020204020204" pitchFamily="34" charset="-122"/>
              </a:rPr>
              <a:t>课堂练习</a:t>
            </a:r>
            <a:endParaRPr lang="ko-KR" altLang="en-US" sz="1400" b="1" dirty="0">
              <a:solidFill>
                <a:srgbClr val="FFFF00"/>
              </a:solidFill>
              <a:latin typeface="微软雅黑" panose="020B0503020204020204" pitchFamily="34" charset="-122"/>
              <a:ea typeface="微软雅黑" panose="020B0503020204020204" pitchFamily="34" charset="-122"/>
            </a:endParaRPr>
          </a:p>
        </p:txBody>
      </p:sp>
      <p:sp>
        <p:nvSpPr>
          <p:cNvPr id="11" name="矩形 10"/>
          <p:cNvSpPr/>
          <p:nvPr/>
        </p:nvSpPr>
        <p:spPr>
          <a:xfrm>
            <a:off x="6830873" y="2734673"/>
            <a:ext cx="1800199" cy="34362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nSpc>
                <a:spcPct val="90000"/>
              </a:lnSpc>
            </a:pPr>
            <a:r>
              <a:rPr lang="en-US" altLang="ko-KR"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 </a:t>
            </a:r>
            <a:r>
              <a:rPr lang="en-US" altLang="ko-KR" b="1" kern="0" dirty="0" err="1">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yi</a:t>
            </a:r>
            <a:r>
              <a:rPr lang="en-US" altLang="ko-KR"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 = spline(</a:t>
            </a:r>
            <a:r>
              <a:rPr lang="en-US" altLang="ko-KR" b="1" kern="0" dirty="0" err="1">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x,y,xi</a:t>
            </a:r>
            <a:r>
              <a:rPr lang="en-US" altLang="ko-KR" b="1" kern="0" dirty="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rPr>
              <a:t>)</a:t>
            </a:r>
            <a:endParaRPr lang="ko-KR" altLang="en-US" b="1" kern="0" dirty="0">
              <a:solidFill>
                <a:schemeClr val="bg1"/>
              </a:solidFill>
              <a:effectLst>
                <a:outerShdw blurRad="38100" dist="38100" dir="2700000" algn="tl">
                  <a:srgbClr val="000000">
                    <a:alpha val="43137"/>
                  </a:srgbClr>
                </a:outerShdw>
              </a:effectLst>
              <a:latin typeface="华文楷体" panose="02010600040101010101" pitchFamily="2" charset="-122"/>
              <a:ea typeface="隶书" panose="02010509060101010101" pitchFamily="49" charset="-122"/>
              <a:cs typeface="Times New Roman" panose="02020603050405020304" pitchFamily="18" charset="0"/>
            </a:endParaRPr>
          </a:p>
        </p:txBody>
      </p:sp>
      <p:sp>
        <p:nvSpPr>
          <p:cNvPr id="12" name="Text Box 3"/>
          <p:cNvSpPr txBox="1"/>
          <p:nvPr/>
        </p:nvSpPr>
        <p:spPr bwMode="auto">
          <a:xfrm>
            <a:off x="6035628" y="2239925"/>
            <a:ext cx="2595444" cy="343620"/>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r>
              <a:rPr lang="en-US" altLang="ko-KR" sz="1800" dirty="0" err="1">
                <a:effectLst/>
                <a:latin typeface="华文楷体" panose="02010600040101010101" pitchFamily="2" charset="-122"/>
                <a:ea typeface="华文楷体" panose="02010600040101010101" pitchFamily="2" charset="-122"/>
              </a:rPr>
              <a:t>yi</a:t>
            </a:r>
            <a:r>
              <a:rPr lang="en-US" altLang="ko-KR" sz="1800" dirty="0">
                <a:effectLst/>
                <a:latin typeface="华文楷体" panose="02010600040101010101" pitchFamily="2" charset="-122"/>
                <a:ea typeface="华文楷体" panose="02010600040101010101" pitchFamily="2" charset="-122"/>
              </a:rPr>
              <a:t> = interp1(</a:t>
            </a:r>
            <a:r>
              <a:rPr lang="en-US" altLang="ko-KR" sz="1800" dirty="0" err="1">
                <a:effectLst/>
                <a:latin typeface="华文楷体" panose="02010600040101010101" pitchFamily="2" charset="-122"/>
                <a:ea typeface="华文楷体" panose="02010600040101010101" pitchFamily="2" charset="-122"/>
              </a:rPr>
              <a:t>x,y,xi</a:t>
            </a:r>
            <a:r>
              <a:rPr lang="en-US" altLang="ko-KR" sz="1800" dirty="0">
                <a:effectLst/>
                <a:latin typeface="华文楷体" panose="02010600040101010101" pitchFamily="2" charset="-122"/>
                <a:ea typeface="华文楷体" panose="02010600040101010101" pitchFamily="2" charset="-122"/>
              </a:rPr>
              <a:t>, </a:t>
            </a:r>
            <a:r>
              <a:rPr lang="en-US" altLang="ko-KR" sz="1800" dirty="0">
                <a:solidFill>
                  <a:srgbClr val="FFFF00"/>
                </a:solidFill>
                <a:effectLst/>
                <a:latin typeface="华文楷体" panose="02010600040101010101" pitchFamily="2" charset="-122"/>
                <a:ea typeface="华文楷体" panose="02010600040101010101" pitchFamily="2" charset="-122"/>
              </a:rPr>
              <a:t>method</a:t>
            </a:r>
            <a:r>
              <a:rPr lang="en-US" altLang="ko-KR" sz="1800" dirty="0">
                <a:effectLst/>
                <a:latin typeface="华文楷体" panose="02010600040101010101" pitchFamily="2" charset="-122"/>
                <a:ea typeface="华文楷体" panose="02010600040101010101" pitchFamily="2" charset="-122"/>
              </a:rPr>
              <a:t>)</a:t>
            </a:r>
            <a:endParaRPr lang="ko-KR" altLang="en-US" sz="1800" dirty="0">
              <a:effectLst/>
              <a:latin typeface="华文楷体" panose="02010600040101010101" pitchFamily="2" charset="-122"/>
            </a:endParaRPr>
          </a:p>
        </p:txBody>
      </p:sp>
      <p:sp>
        <p:nvSpPr>
          <p:cNvPr id="13" name="矩形 2"/>
          <p:cNvSpPr/>
          <p:nvPr/>
        </p:nvSpPr>
        <p:spPr bwMode="auto">
          <a:xfrm>
            <a:off x="5119801" y="1447261"/>
            <a:ext cx="3601172" cy="584775"/>
          </a:xfrm>
          <a:prstGeom prst="rect">
            <a:avLst/>
          </a:prstGeom>
          <a:solidFill>
            <a:schemeClr val="bg1"/>
          </a:solidFill>
          <a:ln w="0">
            <a:noFill/>
          </a:ln>
        </p:spPr>
        <p:txBody>
          <a:bodyPr vert="horz" wrap="square" lIns="91440" tIns="45720" rIns="91440" bIns="45720" numCol="1" anchor="t">
            <a:spAutoFit/>
          </a:bodyPr>
          <a:lstStyle/>
          <a:p>
            <a:pPr eaLnBrk="0">
              <a:spcBef>
                <a:spcPts val="0"/>
              </a:spcBef>
              <a:spcAft>
                <a:spcPts val="0"/>
              </a:spcAft>
            </a:pPr>
            <a:r>
              <a:rPr lang="zh-CN" altLang="en-US" sz="1600" b="1" cap="none" dirty="0">
                <a:solidFill>
                  <a:srgbClr val="0070C0"/>
                </a:solidFill>
                <a:latin typeface="微软雅黑" panose="020B0503020204020204" pitchFamily="34" charset="-122"/>
                <a:ea typeface="微软雅黑" panose="020B0503020204020204" pitchFamily="34" charset="-122"/>
              </a:rPr>
              <a:t>采用</a:t>
            </a:r>
            <a:r>
              <a:rPr lang="zh-CN" altLang="en-US" sz="1600" b="1" dirty="0">
                <a:solidFill>
                  <a:srgbClr val="0070C0"/>
                </a:solidFill>
                <a:latin typeface="微软雅黑" panose="020B0503020204020204" pitchFamily="34" charset="-122"/>
                <a:ea typeface="微软雅黑" panose="020B0503020204020204" pitchFamily="34" charset="-122"/>
              </a:rPr>
              <a:t>四种</a:t>
            </a:r>
            <a:r>
              <a:rPr lang="zh-CN" altLang="en-US" sz="1600" b="1" cap="none" dirty="0">
                <a:solidFill>
                  <a:srgbClr val="0070C0"/>
                </a:solidFill>
                <a:latin typeface="微软雅黑" panose="020B0503020204020204" pitchFamily="34" charset="-122"/>
                <a:ea typeface="微软雅黑" panose="020B0503020204020204" pitchFamily="34" charset="-122"/>
              </a:rPr>
              <a:t>插值法不足缺失的</a:t>
            </a:r>
            <a:r>
              <a:rPr lang="en-US" altLang="zh-CN" sz="1600" b="1" cap="none" dirty="0" err="1">
                <a:solidFill>
                  <a:srgbClr val="0070C0"/>
                </a:solidFill>
                <a:latin typeface="微软雅黑" panose="020B0503020204020204" pitchFamily="34" charset="-122"/>
                <a:ea typeface="微软雅黑" panose="020B0503020204020204" pitchFamily="34" charset="-122"/>
              </a:rPr>
              <a:t>xrd</a:t>
            </a:r>
            <a:r>
              <a:rPr lang="zh-CN" altLang="en-US" sz="1600" b="1" cap="none" dirty="0">
                <a:solidFill>
                  <a:srgbClr val="0070C0"/>
                </a:solidFill>
                <a:latin typeface="微软雅黑" panose="020B0503020204020204" pitchFamily="34" charset="-122"/>
                <a:ea typeface="微软雅黑" panose="020B0503020204020204" pitchFamily="34" charset="-122"/>
              </a:rPr>
              <a:t>曲线数据重建，并且绘制</a:t>
            </a:r>
            <a:r>
              <a:rPr lang="en-US" altLang="zh-CN" sz="1600" b="1" cap="none" dirty="0" err="1">
                <a:solidFill>
                  <a:srgbClr val="0070C0"/>
                </a:solidFill>
                <a:latin typeface="微软雅黑" panose="020B0503020204020204" pitchFamily="34" charset="-122"/>
                <a:ea typeface="微软雅黑" panose="020B0503020204020204" pitchFamily="34" charset="-122"/>
              </a:rPr>
              <a:t>xrd</a:t>
            </a:r>
            <a:r>
              <a:rPr lang="zh-CN" altLang="en-US" sz="1600" b="1" cap="none" dirty="0">
                <a:solidFill>
                  <a:srgbClr val="0070C0"/>
                </a:solidFill>
                <a:latin typeface="微软雅黑" panose="020B0503020204020204" pitchFamily="34" charset="-122"/>
                <a:ea typeface="微软雅黑" panose="020B0503020204020204" pitchFamily="34" charset="-122"/>
              </a:rPr>
              <a:t>曲线</a:t>
            </a:r>
            <a:endParaRPr lang="ko-KR" altLang="en-US" sz="1600" b="1" cap="none" dirty="0">
              <a:solidFill>
                <a:srgbClr val="0070C0"/>
              </a:solidFill>
              <a:latin typeface="微软雅黑" panose="020B0503020204020204" pitchFamily="34" charset="-122"/>
              <a:ea typeface="微软雅黑" panose="020B0503020204020204" pitchFamily="34" charset="-122"/>
            </a:endParaRPr>
          </a:p>
        </p:txBody>
      </p:sp>
      <p:sp>
        <p:nvSpPr>
          <p:cNvPr id="14" name="波形 13">
            <a:extLst>
              <a:ext uri="{FF2B5EF4-FFF2-40B4-BE49-F238E27FC236}">
                <a16:creationId xmlns:a16="http://schemas.microsoft.com/office/drawing/2014/main" id="{71220587-D6D9-4942-9FF8-ADE5B3BFB439}"/>
              </a:ext>
            </a:extLst>
          </p:cNvPr>
          <p:cNvSpPr/>
          <p:nvPr/>
        </p:nvSpPr>
        <p:spPr>
          <a:xfrm>
            <a:off x="4147694" y="1506745"/>
            <a:ext cx="972107" cy="32120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例</a:t>
            </a:r>
            <a:r>
              <a:rPr lang="en-US" altLang="zh-CN" sz="1600" b="1" dirty="0">
                <a:solidFill>
                  <a:srgbClr val="FFFF00"/>
                </a:solidFill>
                <a:latin typeface="微软雅黑" panose="020B0503020204020204" pitchFamily="34" charset="-122"/>
                <a:ea typeface="微软雅黑" panose="020B0503020204020204" pitchFamily="34" charset="-122"/>
              </a:rPr>
              <a:t>54-1.1</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1053526"/>
            <a:ext cx="9144000" cy="3534448"/>
          </a:xfrm>
          <a:prstGeom prst="rect">
            <a:avLst/>
          </a:prstGeom>
        </p:spPr>
      </p:pic>
      <p:sp>
        <p:nvSpPr>
          <p:cNvPr id="6" name="文本框 5"/>
          <p:cNvSpPr txBox="1"/>
          <p:nvPr/>
        </p:nvSpPr>
        <p:spPr>
          <a:xfrm>
            <a:off x="755576" y="123478"/>
            <a:ext cx="8064896" cy="523220"/>
          </a:xfrm>
          <a:prstGeom prst="rect">
            <a:avLst/>
          </a:prstGeom>
          <a:no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§5.4.2 </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不同</a:t>
            </a:r>
            <a:r>
              <a:rPr lang="zh-CN" altLang="en-US" sz="2800" i="0" dirty="0">
                <a:solidFill>
                  <a:srgbClr val="FF0000"/>
                </a:solidFill>
                <a:effectLst/>
                <a:latin typeface="华文楷体" panose="02010600040101010101" pitchFamily="2" charset="-122"/>
                <a:ea typeface="华文楷体" panose="02010600040101010101" pitchFamily="2" charset="-122"/>
              </a:rPr>
              <a:t>插值</a:t>
            </a:r>
            <a:r>
              <a:rPr lang="zh-CN" altLang="en-US" sz="2800" dirty="0">
                <a:solidFill>
                  <a:srgbClr val="FF0000"/>
                </a:solidFill>
                <a:latin typeface="华文楷体" panose="02010600040101010101" pitchFamily="2" charset="-122"/>
                <a:ea typeface="华文楷体" panose="02010600040101010101" pitchFamily="2" charset="-122"/>
              </a:rPr>
              <a:t>方法案例</a:t>
            </a:r>
          </a:p>
        </p:txBody>
      </p:sp>
      <p:sp>
        <p:nvSpPr>
          <p:cNvPr id="7" name="矩形 2"/>
          <p:cNvSpPr/>
          <p:nvPr/>
        </p:nvSpPr>
        <p:spPr bwMode="auto">
          <a:xfrm>
            <a:off x="1037996" y="666372"/>
            <a:ext cx="8064896" cy="369332"/>
          </a:xfrm>
          <a:prstGeom prst="rect">
            <a:avLst/>
          </a:prstGeom>
          <a:noFill/>
          <a:ln w="0">
            <a:noFill/>
          </a:ln>
        </p:spPr>
        <p:txBody>
          <a:bodyPr vert="horz" wrap="square" lIns="91440" tIns="45720" rIns="91440" bIns="45720" numCol="1" anchor="t">
            <a:spAutoFit/>
          </a:bodyPr>
          <a:lstStyle/>
          <a:p>
            <a:pPr algn="dist" eaLnBrk="0">
              <a:spcBef>
                <a:spcPts val="0"/>
              </a:spcBef>
              <a:spcAft>
                <a:spcPts val="0"/>
              </a:spcAft>
            </a:pPr>
            <a:r>
              <a:rPr lang="zh-CN" altLang="en-US" b="1" cap="none" dirty="0">
                <a:solidFill>
                  <a:srgbClr val="0070C0"/>
                </a:solidFill>
                <a:latin typeface="微软雅黑" panose="020B0503020204020204" pitchFamily="34" charset="-122"/>
                <a:ea typeface="微软雅黑" panose="020B0503020204020204" pitchFamily="34" charset="-122"/>
              </a:rPr>
              <a:t>采用</a:t>
            </a:r>
            <a:r>
              <a:rPr lang="zh-CN" altLang="en-US" b="1" dirty="0">
                <a:solidFill>
                  <a:srgbClr val="0070C0"/>
                </a:solidFill>
                <a:latin typeface="微软雅黑" panose="020B0503020204020204" pitchFamily="34" charset="-122"/>
                <a:ea typeface="微软雅黑" panose="020B0503020204020204" pitchFamily="34" charset="-122"/>
              </a:rPr>
              <a:t>四种</a:t>
            </a:r>
            <a:r>
              <a:rPr lang="zh-CN" altLang="en-US" b="1" cap="none" dirty="0">
                <a:solidFill>
                  <a:srgbClr val="0070C0"/>
                </a:solidFill>
                <a:latin typeface="微软雅黑" panose="020B0503020204020204" pitchFamily="34" charset="-122"/>
                <a:ea typeface="微软雅黑" panose="020B0503020204020204" pitchFamily="34" charset="-122"/>
              </a:rPr>
              <a:t>插值法不足缺失的</a:t>
            </a:r>
            <a:r>
              <a:rPr lang="en-US" altLang="zh-CN" b="1" cap="none" dirty="0" err="1">
                <a:solidFill>
                  <a:srgbClr val="0070C0"/>
                </a:solidFill>
                <a:latin typeface="微软雅黑" panose="020B0503020204020204" pitchFamily="34" charset="-122"/>
                <a:ea typeface="微软雅黑" panose="020B0503020204020204" pitchFamily="34" charset="-122"/>
              </a:rPr>
              <a:t>xrd</a:t>
            </a:r>
            <a:r>
              <a:rPr lang="zh-CN" altLang="en-US" b="1" cap="none" dirty="0">
                <a:solidFill>
                  <a:srgbClr val="0070C0"/>
                </a:solidFill>
                <a:latin typeface="微软雅黑" panose="020B0503020204020204" pitchFamily="34" charset="-122"/>
                <a:ea typeface="微软雅黑" panose="020B0503020204020204" pitchFamily="34" charset="-122"/>
              </a:rPr>
              <a:t>曲线数据重建，并且绘制</a:t>
            </a:r>
            <a:r>
              <a:rPr lang="en-US" altLang="zh-CN" b="1" cap="none" dirty="0" err="1">
                <a:solidFill>
                  <a:srgbClr val="0070C0"/>
                </a:solidFill>
                <a:latin typeface="微软雅黑" panose="020B0503020204020204" pitchFamily="34" charset="-122"/>
                <a:ea typeface="微软雅黑" panose="020B0503020204020204" pitchFamily="34" charset="-122"/>
              </a:rPr>
              <a:t>xrd</a:t>
            </a:r>
            <a:r>
              <a:rPr lang="zh-CN" altLang="en-US" b="1" cap="none" dirty="0">
                <a:solidFill>
                  <a:srgbClr val="0070C0"/>
                </a:solidFill>
                <a:latin typeface="微软雅黑" panose="020B0503020204020204" pitchFamily="34" charset="-122"/>
                <a:ea typeface="微软雅黑" panose="020B0503020204020204" pitchFamily="34" charset="-122"/>
              </a:rPr>
              <a:t>曲线</a:t>
            </a:r>
            <a:endParaRPr lang="ko-KR" altLang="en-US" b="1" cap="none" dirty="0">
              <a:solidFill>
                <a:srgbClr val="0070C0"/>
              </a:solidFill>
              <a:latin typeface="微软雅黑" panose="020B0503020204020204" pitchFamily="34" charset="-122"/>
              <a:ea typeface="微软雅黑" panose="020B0503020204020204" pitchFamily="34" charset="-122"/>
            </a:endParaRPr>
          </a:p>
        </p:txBody>
      </p:sp>
      <p:sp>
        <p:nvSpPr>
          <p:cNvPr id="8" name="波形 7">
            <a:extLst>
              <a:ext uri="{FF2B5EF4-FFF2-40B4-BE49-F238E27FC236}">
                <a16:creationId xmlns:a16="http://schemas.microsoft.com/office/drawing/2014/main" id="{013E7DD6-522C-4B75-A365-241435137FCB}"/>
              </a:ext>
            </a:extLst>
          </p:cNvPr>
          <p:cNvSpPr/>
          <p:nvPr/>
        </p:nvSpPr>
        <p:spPr>
          <a:xfrm>
            <a:off x="162256" y="648551"/>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54-1</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41886" y="1228340"/>
            <a:ext cx="2473136" cy="369332"/>
          </a:xfrm>
          <a:prstGeom prst="rect">
            <a:avLst/>
          </a:prstGeom>
          <a:noFill/>
        </p:spPr>
        <p:txBody>
          <a:bodyPr wrap="square">
            <a:spAutoFit/>
          </a:bodyPr>
          <a:lstStyle/>
          <a:p>
            <a:r>
              <a:rPr lang="zh-CN" altLang="en-US" b="1" i="0" dirty="0">
                <a:solidFill>
                  <a:srgbClr val="0070C0"/>
                </a:solidFill>
                <a:effectLst/>
                <a:latin typeface="微软雅黑" panose="020B0503020204020204" pitchFamily="34" charset="-122"/>
                <a:ea typeface="微软雅黑" panose="020B0503020204020204" pitchFamily="34" charset="-122"/>
              </a:rPr>
              <a:t>三次平滑样条</a:t>
            </a:r>
            <a:r>
              <a:rPr lang="en-US" altLang="zh-CN" b="1" i="0" dirty="0">
                <a:solidFill>
                  <a:srgbClr val="0070C0"/>
                </a:solidFill>
                <a:effectLst/>
                <a:latin typeface="微软雅黑" panose="020B0503020204020204" pitchFamily="34" charset="-122"/>
                <a:ea typeface="微软雅黑" panose="020B0503020204020204" pitchFamily="34" charset="-122"/>
              </a:rPr>
              <a:t>CSAPS</a:t>
            </a:r>
            <a:endParaRPr lang="zh-CN" altLang="en-US" b="1" dirty="0">
              <a:solidFill>
                <a:srgbClr val="0070C0"/>
              </a:solidFill>
            </a:endParaRPr>
          </a:p>
        </p:txBody>
      </p:sp>
      <p:sp>
        <p:nvSpPr>
          <p:cNvPr id="9" name="文本框 8"/>
          <p:cNvSpPr txBox="1"/>
          <p:nvPr/>
        </p:nvSpPr>
        <p:spPr>
          <a:xfrm>
            <a:off x="755576" y="80457"/>
            <a:ext cx="7920880"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§5.4.2</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三次平滑样条</a:t>
            </a:r>
            <a:r>
              <a:rPr lang="en-US" altLang="zh-CN" sz="2800" dirty="0">
                <a:solidFill>
                  <a:srgbClr val="FF0000"/>
                </a:solidFill>
                <a:latin typeface="华文楷体" panose="02010600040101010101" pitchFamily="2" charset="-122"/>
                <a:ea typeface="华文楷体" panose="02010600040101010101" pitchFamily="2" charset="-122"/>
              </a:rPr>
              <a:t>CSAPS</a:t>
            </a:r>
            <a:endParaRPr lang="zh-CN" altLang="en-US" sz="2800" dirty="0">
              <a:solidFill>
                <a:srgbClr val="FF0000"/>
              </a:solidFill>
              <a:latin typeface="华文楷体" panose="02010600040101010101" pitchFamily="2" charset="-122"/>
              <a:ea typeface="华文楷体" panose="02010600040101010101" pitchFamily="2" charset="-122"/>
            </a:endParaRPr>
          </a:p>
        </p:txBody>
      </p:sp>
      <p:sp>
        <p:nvSpPr>
          <p:cNvPr id="11" name="文本框 10"/>
          <p:cNvSpPr txBox="1"/>
          <p:nvPr/>
        </p:nvSpPr>
        <p:spPr>
          <a:xfrm>
            <a:off x="186133" y="739471"/>
            <a:ext cx="8666711" cy="400110"/>
          </a:xfrm>
          <a:prstGeom prst="rect">
            <a:avLst/>
          </a:prstGeom>
          <a:solidFill>
            <a:schemeClr val="bg1"/>
          </a:solidFill>
        </p:spPr>
        <p:txBody>
          <a:bodyPr wrap="square">
            <a:spAutoFit/>
          </a:bodyPr>
          <a:lstStyle/>
          <a:p>
            <a:pPr algn="dist"/>
            <a:r>
              <a:rPr lang="zh-CN" altLang="en-US" sz="2000" b="1" i="0" dirty="0">
                <a:solidFill>
                  <a:srgbClr val="00B0F0"/>
                </a:solidFill>
                <a:effectLst/>
                <a:latin typeface="微软雅黑" panose="020B0503020204020204" pitchFamily="34" charset="-122"/>
                <a:ea typeface="微软雅黑" panose="020B0503020204020204" pitchFamily="34" charset="-122"/>
              </a:rPr>
              <a:t>在处理噪声数据，平滑的数据拟合是，三次平滑样条</a:t>
            </a:r>
            <a:r>
              <a:rPr lang="zh-CN" altLang="en-US" sz="2000" b="1" dirty="0">
                <a:solidFill>
                  <a:srgbClr val="00B0F0"/>
                </a:solidFill>
                <a:latin typeface="微软雅黑" panose="020B0503020204020204" pitchFamily="34" charset="-122"/>
                <a:ea typeface="微软雅黑" panose="020B0503020204020204" pitchFamily="34" charset="-122"/>
              </a:rPr>
              <a:t>插值函数</a:t>
            </a:r>
            <a:r>
              <a:rPr lang="en-US" altLang="zh-CN" sz="2000" b="1" dirty="0" err="1">
                <a:solidFill>
                  <a:srgbClr val="00B0F0"/>
                </a:solidFill>
                <a:latin typeface="微软雅黑" panose="020B0503020204020204" pitchFamily="34" charset="-122"/>
                <a:ea typeface="微软雅黑" panose="020B0503020204020204" pitchFamily="34" charset="-122"/>
              </a:rPr>
              <a:t>csaps</a:t>
            </a:r>
            <a:endParaRPr lang="zh-CN" altLang="en-US" sz="2000" b="1" dirty="0">
              <a:solidFill>
                <a:srgbClr val="00B0F0"/>
              </a:solidFill>
              <a:latin typeface="微软雅黑" panose="020B0503020204020204" pitchFamily="34" charset="-122"/>
              <a:ea typeface="微软雅黑" panose="020B0503020204020204" pitchFamily="34" charset="-122"/>
            </a:endParaRPr>
          </a:p>
        </p:txBody>
      </p:sp>
      <p:sp>
        <p:nvSpPr>
          <p:cNvPr id="12" name="Rectangle 1"/>
          <p:cNvSpPr>
            <a:spLocks noChangeArrowheads="1"/>
          </p:cNvSpPr>
          <p:nvPr/>
        </p:nvSpPr>
        <p:spPr bwMode="auto">
          <a:xfrm>
            <a:off x="2549814" y="1219884"/>
            <a:ext cx="2814274"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defTabSz="685800" eaLnBrk="0">
              <a:spcBef>
                <a:spcPts val="0"/>
              </a:spcBef>
              <a:spcAft>
                <a:spcPts val="0"/>
              </a:spcAft>
            </a:pPr>
            <a:r>
              <a:rPr kumimoji="0" lang="zh-CN" altLang="zh-CN" b="1" i="0" u="none" strike="noStrike" cap="none" normalizeH="0" baseline="0" dirty="0">
                <a:ln>
                  <a:noFill/>
                </a:ln>
                <a:solidFill>
                  <a:schemeClr val="bg1"/>
                </a:solidFill>
                <a:effectLst/>
                <a:latin typeface="Arial Unicode MS"/>
                <a:ea typeface="source-code-pro"/>
              </a:rPr>
              <a:t>pp,P = csaps(x,y,p)</a:t>
            </a:r>
            <a:endParaRPr lang="ko-KR" altLang="en-US" b="1" dirty="0">
              <a:solidFill>
                <a:schemeClr val="bg1"/>
              </a:solidFill>
              <a:latin typeface="微软雅黑" panose="020B0503020204020204" pitchFamily="34" charset="-122"/>
              <a:ea typeface="微软雅黑" panose="020B0503020204020204" pitchFamily="34" charset="-122"/>
            </a:endParaRPr>
          </a:p>
        </p:txBody>
      </p:sp>
      <p:sp>
        <p:nvSpPr>
          <p:cNvPr id="14" name="Rectangle 2"/>
          <p:cNvSpPr txBox="1">
            <a:spLocks noChangeArrowheads="1"/>
          </p:cNvSpPr>
          <p:nvPr/>
        </p:nvSpPr>
        <p:spPr bwMode="auto">
          <a:xfrm>
            <a:off x="167410" y="1722400"/>
            <a:ext cx="8797078" cy="2865573"/>
          </a:xfrm>
          <a:prstGeom prst="rect">
            <a:avLst/>
          </a:prstGeom>
          <a:noFill/>
          <a:ln w="9525">
            <a:solidFill>
              <a:schemeClr val="tx1"/>
            </a:solidFill>
            <a:prstDash val="sysDot"/>
            <a:miter lim="800000"/>
          </a:ln>
        </p:spPr>
        <p:txBody>
          <a:bodyPr vert="horz" wrap="square" lIns="68580" tIns="34290" rIns="68580" bIns="34290" numCol="1" anchor="t" anchorCtr="0" compatLnSpc="1"/>
          <a:lstStyle>
            <a:lvl1pPr marL="342900" indent="-342900" algn="l" defTabSz="0"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sym typeface="Arial" panose="020B0604020202020204" pitchFamily="34" charset="0"/>
              </a:defRPr>
            </a:lvl1pPr>
            <a:lvl2pPr marL="742950" indent="-285750" algn="l" defTabSz="0"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sym typeface="Arial" panose="020B0604020202020204" pitchFamily="34" charset="0"/>
              </a:defRPr>
            </a:lvl2pPr>
            <a:lvl3pPr marL="1143000" indent="-228600" algn="l" defTabSz="0"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sym typeface="Arial" panose="020B0604020202020204" pitchFamily="34" charset="0"/>
              </a:defRPr>
            </a:lvl3pPr>
            <a:lvl4pPr marL="1600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4pPr>
            <a:lvl5pPr marL="20574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5pPr>
            <a:lvl6pPr marL="25146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6pPr>
            <a:lvl7pPr marL="29718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7pPr>
            <a:lvl8pPr marL="34290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8pPr>
            <a:lvl9pPr marL="3886200" indent="-228600" algn="l" defTabSz="0"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sym typeface="Arial" panose="020B0604020202020204" pitchFamily="34" charset="0"/>
              </a:defRPr>
            </a:lvl9pPr>
          </a:lstStyle>
          <a:p>
            <a:pPr algn="just" eaLnBrk="1" hangingPunct="1">
              <a:lnSpc>
                <a:spcPts val="2500"/>
              </a:lnSpc>
              <a:buFont typeface="Wingdings" panose="05000000000000000000" pitchFamily="2" charset="2"/>
              <a:buChar char="p"/>
              <a:defRPr/>
            </a:pPr>
            <a:r>
              <a:rPr lang="zh-CN" altLang="en-US" sz="1800" kern="0" dirty="0">
                <a:solidFill>
                  <a:srgbClr val="0070C0"/>
                </a:solidFill>
                <a:latin typeface="微软雅黑" panose="020B0503020204020204" pitchFamily="34" charset="-122"/>
                <a:ea typeface="微软雅黑" panose="020B0503020204020204" pitchFamily="34" charset="-122"/>
              </a:rPr>
              <a:t>向量的采样点</a:t>
            </a:r>
            <a:r>
              <a:rPr lang="en-US" altLang="zh-CN" sz="1800" kern="0" dirty="0">
                <a:solidFill>
                  <a:srgbClr val="0070C0"/>
                </a:solidFill>
                <a:latin typeface="微软雅黑" panose="020B0503020204020204" pitchFamily="34" charset="-122"/>
                <a:ea typeface="微软雅黑" panose="020B0503020204020204" pitchFamily="34" charset="-122"/>
              </a:rPr>
              <a:t>x</a:t>
            </a:r>
            <a:r>
              <a:rPr lang="zh-CN" altLang="en-US" sz="1800" kern="0" dirty="0">
                <a:solidFill>
                  <a:srgbClr val="0070C0"/>
                </a:solidFill>
                <a:latin typeface="微软雅黑" panose="020B0503020204020204" pitchFamily="34" charset="-122"/>
                <a:ea typeface="微软雅黑" panose="020B0503020204020204" pitchFamily="34" charset="-122"/>
              </a:rPr>
              <a:t>,</a:t>
            </a:r>
            <a:r>
              <a:rPr lang="en-US" altLang="zh-CN" sz="1800" kern="0" dirty="0">
                <a:solidFill>
                  <a:srgbClr val="0070C0"/>
                </a:solidFill>
                <a:latin typeface="微软雅黑" panose="020B0503020204020204" pitchFamily="34" charset="-122"/>
                <a:ea typeface="微软雅黑" panose="020B0503020204020204" pitchFamily="34" charset="-122"/>
              </a:rPr>
              <a:t>y,</a:t>
            </a:r>
          </a:p>
          <a:p>
            <a:pPr algn="just" eaLnBrk="1" hangingPunct="1">
              <a:lnSpc>
                <a:spcPts val="2500"/>
              </a:lnSpc>
              <a:buFont typeface="Wingdings" panose="05000000000000000000" pitchFamily="2" charset="2"/>
              <a:buChar char="p"/>
              <a:defRPr/>
            </a:pPr>
            <a:r>
              <a:rPr lang="en-US" altLang="zh-CN" sz="1800" kern="0" dirty="0">
                <a:solidFill>
                  <a:srgbClr val="0070C0"/>
                </a:solidFill>
                <a:latin typeface="微软雅黑" panose="020B0503020204020204" pitchFamily="34" charset="-122"/>
                <a:ea typeface="微软雅黑" panose="020B0503020204020204" pitchFamily="34" charset="-122"/>
              </a:rPr>
              <a:t>p - </a:t>
            </a:r>
            <a:r>
              <a:rPr lang="zh-CN" altLang="en-US" sz="1800" kern="0" dirty="0">
                <a:solidFill>
                  <a:srgbClr val="0070C0"/>
                </a:solidFill>
                <a:latin typeface="微软雅黑" panose="020B0503020204020204" pitchFamily="34" charset="-122"/>
                <a:ea typeface="微软雅黑" panose="020B0503020204020204" pitchFamily="34" charset="-122"/>
              </a:rPr>
              <a:t>平滑参数</a:t>
            </a:r>
            <a:r>
              <a:rPr lang="en-US" altLang="zh-CN" sz="1800" kern="0" dirty="0">
                <a:solidFill>
                  <a:srgbClr val="0070C0"/>
                </a:solidFill>
                <a:latin typeface="微软雅黑" panose="020B0503020204020204" pitchFamily="34" charset="-122"/>
                <a:ea typeface="微软雅黑" panose="020B0503020204020204" pitchFamily="34" charset="-122"/>
              </a:rPr>
              <a:t>,</a:t>
            </a:r>
            <a:r>
              <a:rPr lang="zh-CN" altLang="en-US" sz="1800" kern="0" dirty="0">
                <a:solidFill>
                  <a:srgbClr val="0070C0"/>
                </a:solidFill>
                <a:latin typeface="微软雅黑" panose="020B0503020204020204" pitchFamily="34" charset="-122"/>
                <a:ea typeface="微软雅黑" panose="020B0503020204020204" pitchFamily="34" charset="-122"/>
              </a:rPr>
              <a:t>指定为 </a:t>
            </a:r>
            <a:r>
              <a:rPr lang="en-US" altLang="zh-CN" sz="1800" kern="0" dirty="0">
                <a:solidFill>
                  <a:srgbClr val="0070C0"/>
                </a:solidFill>
                <a:latin typeface="微软雅黑" panose="020B0503020204020204" pitchFamily="34" charset="-122"/>
                <a:ea typeface="微软雅黑" panose="020B0503020204020204" pitchFamily="34" charset="-122"/>
              </a:rPr>
              <a:t>0 </a:t>
            </a:r>
            <a:r>
              <a:rPr lang="zh-CN" altLang="en-US" sz="1800" kern="0" dirty="0">
                <a:solidFill>
                  <a:srgbClr val="0070C0"/>
                </a:solidFill>
                <a:latin typeface="微软雅黑" panose="020B0503020204020204" pitchFamily="34" charset="-122"/>
                <a:ea typeface="微软雅黑" panose="020B0503020204020204" pitchFamily="34" charset="-122"/>
              </a:rPr>
              <a:t>到 </a:t>
            </a:r>
            <a:r>
              <a:rPr lang="en-US" altLang="zh-CN" sz="1800" kern="0" dirty="0">
                <a:solidFill>
                  <a:srgbClr val="0070C0"/>
                </a:solidFill>
                <a:latin typeface="微软雅黑" panose="020B0503020204020204" pitchFamily="34" charset="-122"/>
                <a:ea typeface="微软雅黑" panose="020B0503020204020204" pitchFamily="34" charset="-122"/>
              </a:rPr>
              <a:t>1 </a:t>
            </a:r>
            <a:r>
              <a:rPr lang="zh-CN" altLang="en-US" sz="1800" kern="0" dirty="0">
                <a:solidFill>
                  <a:srgbClr val="0070C0"/>
                </a:solidFill>
                <a:latin typeface="微软雅黑" panose="020B0503020204020204" pitchFamily="34" charset="-122"/>
                <a:ea typeface="微软雅黑" panose="020B0503020204020204" pitchFamily="34" charset="-122"/>
              </a:rPr>
              <a:t>之间的标量值</a:t>
            </a:r>
            <a:r>
              <a:rPr lang="en-US" altLang="zh-CN" sz="1800" kern="0" dirty="0">
                <a:solidFill>
                  <a:srgbClr val="0070C0"/>
                </a:solidFill>
                <a:latin typeface="微软雅黑" panose="020B0503020204020204" pitchFamily="34" charset="-122"/>
                <a:ea typeface="微软雅黑" panose="020B0503020204020204" pitchFamily="34" charset="-122"/>
              </a:rPr>
              <a:t> </a:t>
            </a:r>
          </a:p>
          <a:p>
            <a:pPr algn="just" eaLnBrk="1" hangingPunct="1">
              <a:lnSpc>
                <a:spcPts val="2500"/>
              </a:lnSpc>
              <a:buFont typeface="Wingdings" panose="05000000000000000000" pitchFamily="2" charset="2"/>
              <a:buChar char="p"/>
              <a:defRPr/>
            </a:pPr>
            <a:r>
              <a:rPr lang="zh-CN" altLang="en-US" sz="1800" kern="0" dirty="0">
                <a:solidFill>
                  <a:srgbClr val="0070C0"/>
                </a:solidFill>
                <a:latin typeface="微软雅黑" panose="020B0503020204020204" pitchFamily="34" charset="-122"/>
                <a:ea typeface="微软雅黑" panose="020B0503020204020204" pitchFamily="34" charset="-122"/>
              </a:rPr>
              <a:t>当</a:t>
            </a:r>
            <a:r>
              <a:rPr lang="en-US" altLang="zh-CN" sz="1800" kern="0" dirty="0">
                <a:solidFill>
                  <a:srgbClr val="0070C0"/>
                </a:solidFill>
                <a:latin typeface="微软雅黑" panose="020B0503020204020204" pitchFamily="34" charset="-122"/>
                <a:ea typeface="微软雅黑" panose="020B0503020204020204" pitchFamily="34" charset="-122"/>
              </a:rPr>
              <a:t>p=0</a:t>
            </a:r>
            <a:r>
              <a:rPr lang="zh-CN" altLang="en-US" sz="1800" kern="0" dirty="0">
                <a:solidFill>
                  <a:srgbClr val="0070C0"/>
                </a:solidFill>
                <a:latin typeface="微软雅黑" panose="020B0503020204020204" pitchFamily="34" charset="-122"/>
                <a:ea typeface="微软雅黑" panose="020B0503020204020204" pitchFamily="34" charset="-122"/>
              </a:rPr>
              <a:t>拟合数据的最小二乘直线</a:t>
            </a:r>
            <a:endParaRPr lang="en-US" altLang="zh-CN" sz="1800" kern="0" dirty="0">
              <a:solidFill>
                <a:srgbClr val="0070C0"/>
              </a:solidFill>
              <a:latin typeface="微软雅黑" panose="020B0503020204020204" pitchFamily="34" charset="-122"/>
              <a:ea typeface="微软雅黑" panose="020B0503020204020204" pitchFamily="34" charset="-122"/>
            </a:endParaRPr>
          </a:p>
          <a:p>
            <a:pPr algn="just" eaLnBrk="1" hangingPunct="1">
              <a:lnSpc>
                <a:spcPts val="2500"/>
              </a:lnSpc>
              <a:buFont typeface="Wingdings" panose="05000000000000000000" pitchFamily="2" charset="2"/>
              <a:buChar char="p"/>
              <a:defRPr/>
            </a:pPr>
            <a:r>
              <a:rPr lang="zh-CN" altLang="en-US" sz="1800" kern="0" dirty="0">
                <a:solidFill>
                  <a:srgbClr val="0070C0"/>
                </a:solidFill>
                <a:latin typeface="微软雅黑" panose="020B0503020204020204" pitchFamily="34" charset="-122"/>
                <a:ea typeface="微软雅黑" panose="020B0503020204020204" pitchFamily="34" charset="-122"/>
              </a:rPr>
              <a:t>当</a:t>
            </a:r>
            <a:r>
              <a:rPr lang="en-US" altLang="zh-CN" sz="1800" kern="0" dirty="0">
                <a:solidFill>
                  <a:srgbClr val="0070C0"/>
                </a:solidFill>
                <a:latin typeface="微软雅黑" panose="020B0503020204020204" pitchFamily="34" charset="-122"/>
                <a:ea typeface="微软雅黑" panose="020B0503020204020204" pitchFamily="34" charset="-122"/>
              </a:rPr>
              <a:t>p=1</a:t>
            </a:r>
            <a:r>
              <a:rPr lang="zh-CN" altLang="en-US" sz="1800" kern="0" dirty="0">
                <a:solidFill>
                  <a:srgbClr val="0070C0"/>
                </a:solidFill>
                <a:latin typeface="微软雅黑" panose="020B0503020204020204" pitchFamily="34" charset="-122"/>
                <a:ea typeface="微软雅黑" panose="020B0503020204020204" pitchFamily="34" charset="-122"/>
              </a:rPr>
              <a:t>时变分或自然三次样条插值</a:t>
            </a:r>
            <a:endParaRPr lang="en-US" altLang="zh-CN" sz="1800" kern="0" dirty="0">
              <a:solidFill>
                <a:srgbClr val="0070C0"/>
              </a:solidFill>
              <a:latin typeface="微软雅黑" panose="020B0503020204020204" pitchFamily="34" charset="-122"/>
              <a:ea typeface="微软雅黑" panose="020B0503020204020204" pitchFamily="34" charset="-122"/>
            </a:endParaRPr>
          </a:p>
          <a:p>
            <a:pPr algn="just" eaLnBrk="1" hangingPunct="1">
              <a:lnSpc>
                <a:spcPts val="2500"/>
              </a:lnSpc>
              <a:buFont typeface="Wingdings" panose="05000000000000000000" pitchFamily="2" charset="2"/>
              <a:buChar char="p"/>
              <a:defRPr/>
            </a:pPr>
            <a:r>
              <a:rPr lang="zh-CN" altLang="en-US" sz="1800" kern="0" dirty="0">
                <a:solidFill>
                  <a:srgbClr val="0070C0"/>
                </a:solidFill>
                <a:latin typeface="微软雅黑" panose="020B0503020204020204" pitchFamily="34" charset="-122"/>
                <a:ea typeface="微软雅黑" panose="020B0503020204020204" pitchFamily="34" charset="-122"/>
              </a:rPr>
              <a:t>对于 </a:t>
            </a:r>
            <a:r>
              <a:rPr lang="en-US" altLang="zh-CN" sz="1800" kern="0" dirty="0">
                <a:solidFill>
                  <a:srgbClr val="0070C0"/>
                </a:solidFill>
                <a:latin typeface="微软雅黑" panose="020B0503020204020204" pitchFamily="34" charset="-122"/>
                <a:ea typeface="微软雅黑" panose="020B0503020204020204" pitchFamily="34" charset="-122"/>
              </a:rPr>
              <a:t>0 &lt; p &lt; 1 </a:t>
            </a:r>
            <a:r>
              <a:rPr lang="zh-CN" altLang="en-US" sz="1800" kern="0" dirty="0">
                <a:solidFill>
                  <a:srgbClr val="0070C0"/>
                </a:solidFill>
                <a:latin typeface="微软雅黑" panose="020B0503020204020204" pitchFamily="34" charset="-122"/>
                <a:ea typeface="微软雅黑" panose="020B0503020204020204" pitchFamily="34" charset="-122"/>
              </a:rPr>
              <a:t>是一个平滑样条，它是两个极端之间的权衡：比 </a:t>
            </a:r>
            <a:r>
              <a:rPr lang="en-US" altLang="zh-CN" sz="1800" kern="0" dirty="0">
                <a:solidFill>
                  <a:srgbClr val="0070C0"/>
                </a:solidFill>
                <a:latin typeface="微软雅黑" panose="020B0503020204020204" pitchFamily="34" charset="-122"/>
                <a:ea typeface="微软雅黑" panose="020B0503020204020204" pitchFamily="34" charset="-122"/>
              </a:rPr>
              <a:t>p=1</a:t>
            </a:r>
            <a:r>
              <a:rPr lang="zh-CN" altLang="en-US" sz="1800" kern="0" dirty="0">
                <a:solidFill>
                  <a:srgbClr val="0070C0"/>
                </a:solidFill>
                <a:latin typeface="微软雅黑" panose="020B0503020204020204" pitchFamily="34" charset="-122"/>
                <a:ea typeface="微软雅黑" panose="020B0503020204020204" pitchFamily="34" charset="-122"/>
              </a:rPr>
              <a:t>插值更平滑，比</a:t>
            </a:r>
            <a:r>
              <a:rPr lang="en-US" altLang="zh-CN" sz="1800" kern="0" dirty="0">
                <a:solidFill>
                  <a:srgbClr val="0070C0"/>
                </a:solidFill>
                <a:latin typeface="微软雅黑" panose="020B0503020204020204" pitchFamily="34" charset="-122"/>
                <a:ea typeface="微软雅黑" panose="020B0503020204020204" pitchFamily="34" charset="-122"/>
              </a:rPr>
              <a:t>p=0</a:t>
            </a:r>
            <a:r>
              <a:rPr lang="zh-CN" altLang="en-US" sz="1800" kern="0" dirty="0">
                <a:solidFill>
                  <a:srgbClr val="0070C0"/>
                </a:solidFill>
                <a:latin typeface="微软雅黑" panose="020B0503020204020204" pitchFamily="34" charset="-122"/>
                <a:ea typeface="微软雅黑" panose="020B0503020204020204" pitchFamily="34" charset="-122"/>
              </a:rPr>
              <a:t>直线更接近数据</a:t>
            </a:r>
            <a:endParaRPr lang="en-US" altLang="zh-CN" sz="1800" kern="0" dirty="0">
              <a:solidFill>
                <a:srgbClr val="0070C0"/>
              </a:solidFill>
              <a:latin typeface="微软雅黑" panose="020B0503020204020204" pitchFamily="34" charset="-122"/>
              <a:ea typeface="微软雅黑" panose="020B0503020204020204" pitchFamily="34" charset="-122"/>
            </a:endParaRPr>
          </a:p>
          <a:p>
            <a:pPr algn="just" eaLnBrk="1" hangingPunct="1">
              <a:lnSpc>
                <a:spcPts val="2500"/>
              </a:lnSpc>
              <a:buFont typeface="Wingdings" panose="05000000000000000000" pitchFamily="2" charset="2"/>
              <a:buChar char="p"/>
              <a:defRPr/>
            </a:pPr>
            <a:r>
              <a:rPr lang="en-US" altLang="zh-CN" sz="1800" kern="0" dirty="0">
                <a:solidFill>
                  <a:srgbClr val="0070C0"/>
                </a:solidFill>
                <a:latin typeface="微软雅黑" panose="020B0503020204020204" pitchFamily="34" charset="-122"/>
                <a:ea typeface="微软雅黑" panose="020B0503020204020204" pitchFamily="34" charset="-122"/>
              </a:rPr>
              <a:t>pp</a:t>
            </a:r>
            <a:r>
              <a:rPr lang="zh-CN" altLang="en-US" sz="1800" kern="0" dirty="0">
                <a:solidFill>
                  <a:srgbClr val="0070C0"/>
                </a:solidFill>
                <a:latin typeface="微软雅黑" panose="020B0503020204020204" pitchFamily="34" charset="-122"/>
                <a:ea typeface="微软雅黑" panose="020B0503020204020204" pitchFamily="34" charset="-122"/>
              </a:rPr>
              <a:t>：为</a:t>
            </a:r>
            <a:r>
              <a:rPr lang="en-US" altLang="zh-CN" sz="1800" kern="0" dirty="0">
                <a:solidFill>
                  <a:srgbClr val="0070C0"/>
                </a:solidFill>
                <a:latin typeface="微软雅黑" panose="020B0503020204020204" pitchFamily="34" charset="-122"/>
                <a:ea typeface="微软雅黑" panose="020B0503020204020204" pitchFamily="34" charset="-122"/>
              </a:rPr>
              <a:t>pp</a:t>
            </a:r>
            <a:r>
              <a:rPr lang="zh-CN" altLang="en-US" sz="1800" kern="0" dirty="0">
                <a:solidFill>
                  <a:srgbClr val="0070C0"/>
                </a:solidFill>
                <a:latin typeface="微软雅黑" panose="020B0503020204020204" pitchFamily="34" charset="-122"/>
                <a:ea typeface="微软雅黑" panose="020B0503020204020204" pitchFamily="34" charset="-122"/>
              </a:rPr>
              <a:t>型的样条，为样条结构体，如样条格式</a:t>
            </a:r>
            <a:r>
              <a:rPr lang="en-US" altLang="zh-CN" sz="1800" kern="0" dirty="0">
                <a:solidFill>
                  <a:srgbClr val="0070C0"/>
                </a:solidFill>
                <a:latin typeface="微软雅黑" panose="020B0503020204020204" pitchFamily="34" charset="-122"/>
                <a:ea typeface="微软雅黑" panose="020B0503020204020204" pitchFamily="34" charset="-122"/>
              </a:rPr>
              <a:t>Form, </a:t>
            </a:r>
            <a:r>
              <a:rPr lang="zh-CN" altLang="en-US" sz="1800" kern="0" dirty="0">
                <a:solidFill>
                  <a:srgbClr val="0070C0"/>
                </a:solidFill>
                <a:latin typeface="微软雅黑" panose="020B0503020204020204" pitchFamily="34" charset="-122"/>
                <a:ea typeface="微软雅黑" panose="020B0503020204020204" pitchFamily="34" charset="-122"/>
              </a:rPr>
              <a:t>多项式的系数</a:t>
            </a:r>
            <a:r>
              <a:rPr lang="en-US" altLang="zh-CN" sz="1800" kern="0" dirty="0" err="1">
                <a:solidFill>
                  <a:srgbClr val="0070C0"/>
                </a:solidFill>
                <a:latin typeface="微软雅黑" panose="020B0503020204020204" pitchFamily="34" charset="-122"/>
                <a:ea typeface="微软雅黑" panose="020B0503020204020204" pitchFamily="34" charset="-122"/>
              </a:rPr>
              <a:t>Coefs</a:t>
            </a:r>
            <a:endParaRPr lang="en-US" altLang="zh-CN" sz="1800" kern="0" dirty="0">
              <a:solidFill>
                <a:srgbClr val="0070C0"/>
              </a:solidFill>
              <a:latin typeface="微软雅黑" panose="020B0503020204020204" pitchFamily="34" charset="-122"/>
              <a:ea typeface="微软雅黑" panose="020B0503020204020204" pitchFamily="34" charset="-122"/>
            </a:endParaRPr>
          </a:p>
          <a:p>
            <a:pPr algn="just" eaLnBrk="1" hangingPunct="1">
              <a:lnSpc>
                <a:spcPts val="2500"/>
              </a:lnSpc>
              <a:buFont typeface="Wingdings" panose="05000000000000000000" pitchFamily="2" charset="2"/>
              <a:buChar char="p"/>
              <a:defRPr/>
            </a:pPr>
            <a:r>
              <a:rPr lang="zh-CN" altLang="en-US" sz="1800" kern="0" dirty="0">
                <a:solidFill>
                  <a:srgbClr val="0070C0"/>
                </a:solidFill>
                <a:latin typeface="微软雅黑" panose="020B0503020204020204" pitchFamily="34" charset="-122"/>
                <a:ea typeface="微软雅黑" panose="020B0503020204020204" pitchFamily="34" charset="-122"/>
              </a:rPr>
              <a:t>输出参数</a:t>
            </a:r>
            <a:r>
              <a:rPr lang="en-US" altLang="zh-CN" sz="1800" kern="0" dirty="0">
                <a:solidFill>
                  <a:srgbClr val="0070C0"/>
                </a:solidFill>
                <a:latin typeface="微软雅黑" panose="020B0503020204020204" pitchFamily="34" charset="-122"/>
                <a:ea typeface="微软雅黑" panose="020B0503020204020204" pitchFamily="34" charset="-122"/>
              </a:rPr>
              <a:t>P</a:t>
            </a:r>
            <a:r>
              <a:rPr lang="zh-CN" altLang="en-US" sz="1800" kern="0" dirty="0">
                <a:solidFill>
                  <a:srgbClr val="0070C0"/>
                </a:solidFill>
                <a:latin typeface="微软雅黑" panose="020B0503020204020204" pitchFamily="34" charset="-122"/>
                <a:ea typeface="微软雅黑" panose="020B0503020204020204" pitchFamily="34" charset="-122"/>
              </a:rPr>
              <a:t>是平滑参数，可省略</a:t>
            </a:r>
          </a:p>
        </p:txBody>
      </p:sp>
      <p:sp>
        <p:nvSpPr>
          <p:cNvPr id="16" name="Rectangle 3"/>
          <p:cNvSpPr>
            <a:spLocks noChangeArrowheads="1"/>
          </p:cNvSpPr>
          <p:nvPr/>
        </p:nvSpPr>
        <p:spPr bwMode="auto">
          <a:xfrm>
            <a:off x="0" y="4730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1000" b="0" i="0" u="none" strike="noStrike" cap="none" normalizeH="0" baseline="0">
                <a:ln>
                  <a:noFill/>
                </a:ln>
                <a:solidFill>
                  <a:srgbClr val="8A8A8A"/>
                </a:solidFill>
                <a:effectLst/>
                <a:latin typeface="微软雅黑" panose="020B0503020204020204" pitchFamily="34" charset="-122"/>
                <a:ea typeface="微软雅黑" panose="020B0503020204020204" pitchFamily="34" charset="-122"/>
              </a:rPr>
              <a:t>绘图函数</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18" name="文本框 17"/>
          <p:cNvSpPr txBox="1"/>
          <p:nvPr/>
        </p:nvSpPr>
        <p:spPr>
          <a:xfrm>
            <a:off x="7124652" y="1203598"/>
            <a:ext cx="1728192"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algn="dist" defTabSz="685800" eaLnBrk="0">
              <a:spcBef>
                <a:spcPts val="0"/>
              </a:spcBef>
              <a:spcAft>
                <a:spcPts val="0"/>
              </a:spcAft>
              <a:defRPr kumimoji="0" sz="2000" b="0" i="0" u="none" strike="noStrike" cap="none" normalizeH="0" baseline="0">
                <a:ln>
                  <a:noFill/>
                </a:ln>
                <a:solidFill>
                  <a:schemeClr val="bg1"/>
                </a:solidFill>
                <a:effectLst/>
                <a:latin typeface="Arial Unicode MS"/>
                <a:ea typeface="source-code-pro"/>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r>
              <a:rPr lang="en-US" altLang="zh-CN" sz="1800" b="1" dirty="0" err="1"/>
              <a:t>fnplt</a:t>
            </a:r>
            <a:r>
              <a:rPr lang="en-US" altLang="zh-CN" sz="1800" b="1" dirty="0"/>
              <a:t>(pp)</a:t>
            </a:r>
          </a:p>
        </p:txBody>
      </p:sp>
      <p:sp>
        <p:nvSpPr>
          <p:cNvPr id="19" name="文本框 18"/>
          <p:cNvSpPr txBox="1"/>
          <p:nvPr/>
        </p:nvSpPr>
        <p:spPr>
          <a:xfrm>
            <a:off x="5556312" y="1234376"/>
            <a:ext cx="1568340" cy="369332"/>
          </a:xfrm>
          <a:prstGeom prst="rect">
            <a:avLst/>
          </a:prstGeom>
          <a:noFill/>
        </p:spPr>
        <p:txBody>
          <a:bodyPr wrap="square">
            <a:spAutoFit/>
          </a:bodyPr>
          <a:lstStyle/>
          <a:p>
            <a:r>
              <a:rPr lang="zh-CN" altLang="en-US" b="1" i="0" dirty="0">
                <a:solidFill>
                  <a:srgbClr val="0070C0"/>
                </a:solidFill>
                <a:effectLst/>
                <a:latin typeface="微软雅黑" panose="020B0503020204020204" pitchFamily="34" charset="-122"/>
                <a:ea typeface="微软雅黑" panose="020B0503020204020204" pitchFamily="34" charset="-122"/>
              </a:rPr>
              <a:t>绘制平滑样条</a:t>
            </a:r>
            <a:endParaRPr lang="zh-CN" altLang="en-US"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755576" y="80457"/>
            <a:ext cx="7920880"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§5.4.2</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400" b="1"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三次平滑样条案例</a:t>
            </a:r>
          </a:p>
        </p:txBody>
      </p:sp>
      <p:sp>
        <p:nvSpPr>
          <p:cNvPr id="11" name="矩形 2"/>
          <p:cNvSpPr/>
          <p:nvPr/>
        </p:nvSpPr>
        <p:spPr bwMode="auto">
          <a:xfrm>
            <a:off x="1484783" y="727485"/>
            <a:ext cx="7659217" cy="369332"/>
          </a:xfrm>
          <a:prstGeom prst="rect">
            <a:avLst/>
          </a:prstGeom>
          <a:solidFill>
            <a:schemeClr val="bg1"/>
          </a:solidFill>
          <a:ln w="0">
            <a:noFill/>
          </a:ln>
        </p:spPr>
        <p:txBody>
          <a:bodyPr vert="horz" wrap="square" lIns="91440" tIns="45720" rIns="91440" bIns="45720" numCol="1" anchor="t">
            <a:spAutoFit/>
          </a:bodyPr>
          <a:lstStyle/>
          <a:p>
            <a:pPr algn="dist" eaLnBrk="0">
              <a:spcBef>
                <a:spcPts val="0"/>
              </a:spcBef>
              <a:spcAft>
                <a:spcPts val="0"/>
              </a:spcAft>
            </a:pPr>
            <a:r>
              <a:rPr lang="zh-CN" altLang="en-US" b="1" cap="none" dirty="0">
                <a:solidFill>
                  <a:srgbClr val="0070C0"/>
                </a:solidFill>
                <a:latin typeface="微软雅黑" panose="020B0503020204020204" pitchFamily="34" charset="-122"/>
                <a:ea typeface="微软雅黑" panose="020B0503020204020204" pitchFamily="34" charset="-122"/>
              </a:rPr>
              <a:t>采用</a:t>
            </a:r>
            <a:r>
              <a:rPr lang="zh-CN" altLang="en-US" b="1" dirty="0">
                <a:solidFill>
                  <a:srgbClr val="0070C0"/>
                </a:solidFill>
                <a:latin typeface="微软雅黑" panose="020B0503020204020204" pitchFamily="34" charset="-122"/>
                <a:ea typeface="微软雅黑" panose="020B0503020204020204" pitchFamily="34" charset="-122"/>
              </a:rPr>
              <a:t>三次平滑样条</a:t>
            </a:r>
            <a:r>
              <a:rPr lang="en-US" altLang="zh-CN" b="1" dirty="0" err="1">
                <a:solidFill>
                  <a:srgbClr val="0070C0"/>
                </a:solidFill>
                <a:latin typeface="微软雅黑" panose="020B0503020204020204" pitchFamily="34" charset="-122"/>
                <a:ea typeface="微软雅黑" panose="020B0503020204020204" pitchFamily="34" charset="-122"/>
              </a:rPr>
              <a:t>csaps</a:t>
            </a:r>
            <a:r>
              <a:rPr lang="zh-CN" altLang="en-US" b="1" cap="none" dirty="0">
                <a:solidFill>
                  <a:srgbClr val="0070C0"/>
                </a:solidFill>
                <a:latin typeface="微软雅黑" panose="020B0503020204020204" pitchFamily="34" charset="-122"/>
                <a:ea typeface="微软雅黑" panose="020B0503020204020204" pitchFamily="34" charset="-122"/>
              </a:rPr>
              <a:t>法</a:t>
            </a:r>
            <a:r>
              <a:rPr lang="zh-CN" altLang="en-US" b="1" dirty="0">
                <a:solidFill>
                  <a:srgbClr val="0070C0"/>
                </a:solidFill>
                <a:latin typeface="微软雅黑" panose="020B0503020204020204" pitchFamily="34" charset="-122"/>
                <a:ea typeface="微软雅黑" panose="020B0503020204020204" pitchFamily="34" charset="-122"/>
              </a:rPr>
              <a:t>不同平滑参数</a:t>
            </a:r>
            <a:r>
              <a:rPr lang="zh-CN" altLang="en-US" b="1" cap="none" dirty="0">
                <a:solidFill>
                  <a:srgbClr val="0070C0"/>
                </a:solidFill>
                <a:latin typeface="微软雅黑" panose="020B0503020204020204" pitchFamily="34" charset="-122"/>
                <a:ea typeface="微软雅黑" panose="020B0503020204020204" pitchFamily="34" charset="-122"/>
              </a:rPr>
              <a:t>平滑数据，并且绘制</a:t>
            </a:r>
            <a:r>
              <a:rPr lang="en-US" altLang="zh-CN" b="1" cap="none" dirty="0" err="1">
                <a:solidFill>
                  <a:srgbClr val="0070C0"/>
                </a:solidFill>
                <a:latin typeface="微软雅黑" panose="020B0503020204020204" pitchFamily="34" charset="-122"/>
                <a:ea typeface="微软雅黑" panose="020B0503020204020204" pitchFamily="34" charset="-122"/>
              </a:rPr>
              <a:t>xrd</a:t>
            </a:r>
            <a:r>
              <a:rPr lang="zh-CN" altLang="en-US" b="1" cap="none" dirty="0">
                <a:solidFill>
                  <a:srgbClr val="0070C0"/>
                </a:solidFill>
                <a:latin typeface="微软雅黑" panose="020B0503020204020204" pitchFamily="34" charset="-122"/>
                <a:ea typeface="微软雅黑" panose="020B0503020204020204" pitchFamily="34" charset="-122"/>
              </a:rPr>
              <a:t>曲线</a:t>
            </a:r>
            <a:endParaRPr lang="ko-KR" altLang="en-US" b="1" cap="none" dirty="0">
              <a:solidFill>
                <a:srgbClr val="0070C0"/>
              </a:solidFill>
              <a:latin typeface="微软雅黑" panose="020B0503020204020204" pitchFamily="34" charset="-122"/>
              <a:ea typeface="微软雅黑" panose="020B0503020204020204" pitchFamily="34" charset="-122"/>
            </a:endParaRPr>
          </a:p>
        </p:txBody>
      </p:sp>
      <p:sp>
        <p:nvSpPr>
          <p:cNvPr id="6" name="波形 5">
            <a:extLst>
              <a:ext uri="{FF2B5EF4-FFF2-40B4-BE49-F238E27FC236}">
                <a16:creationId xmlns:a16="http://schemas.microsoft.com/office/drawing/2014/main" id="{74AAEDDA-FD45-4E21-981A-EAADFEDEAE6B}"/>
              </a:ext>
            </a:extLst>
          </p:cNvPr>
          <p:cNvSpPr/>
          <p:nvPr/>
        </p:nvSpPr>
        <p:spPr>
          <a:xfrm>
            <a:off x="251520" y="727485"/>
            <a:ext cx="1205712"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54-1.2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A037BF9F-EEED-471F-8874-3B974E20AA51}"/>
              </a:ext>
            </a:extLst>
          </p:cNvPr>
          <p:cNvSpPr txBox="1"/>
          <p:nvPr/>
        </p:nvSpPr>
        <p:spPr>
          <a:xfrm>
            <a:off x="251520" y="1096817"/>
            <a:ext cx="8928992" cy="3539430"/>
          </a:xfrm>
          <a:prstGeom prst="rect">
            <a:avLst/>
          </a:prstGeom>
          <a:noFill/>
        </p:spPr>
        <p:txBody>
          <a:bodyPr wrap="square">
            <a:spAutoFit/>
          </a:bodyPr>
          <a:lstStyle/>
          <a:p>
            <a:r>
              <a:rPr lang="en-US" altLang="zh-CN" sz="1600" b="0" dirty="0">
                <a:solidFill>
                  <a:srgbClr val="000000"/>
                </a:solidFill>
                <a:effectLst/>
                <a:latin typeface="Consolas" panose="020B0609020204030204" pitchFamily="49" charset="0"/>
              </a:rPr>
              <a:t>x=[</a:t>
            </a:r>
            <a:r>
              <a:rPr lang="en-US" altLang="zh-CN" sz="1600" b="0" dirty="0">
                <a:solidFill>
                  <a:srgbClr val="098658"/>
                </a:solidFill>
                <a:effectLst/>
                <a:latin typeface="Consolas" panose="020B0609020204030204" pitchFamily="49" charset="0"/>
              </a:rPr>
              <a:t>38.075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38.125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38.175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38.225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38.275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38.325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38.375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38.425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38.475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38.525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38.575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38.625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38.675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38.725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38.775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38.825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38.875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38.925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38.975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39.025</a:t>
            </a:r>
            <a:r>
              <a:rPr lang="en-US" altLang="zh-CN" sz="1600" b="0" dirty="0">
                <a:solidFill>
                  <a:srgbClr val="000000"/>
                </a:solidFill>
                <a:effectLst/>
                <a:latin typeface="Consolas" panose="020B0609020204030204" pitchFamily="49" charset="0"/>
              </a:rPr>
              <a:t>]      </a:t>
            </a:r>
          </a:p>
          <a:p>
            <a:r>
              <a:rPr lang="en-US" altLang="zh-CN" sz="1600" b="0" dirty="0">
                <a:solidFill>
                  <a:srgbClr val="000000"/>
                </a:solidFill>
                <a:effectLst/>
                <a:latin typeface="Consolas" panose="020B0609020204030204" pitchFamily="49" charset="0"/>
              </a:rPr>
              <a:t>y=[</a:t>
            </a:r>
            <a:r>
              <a:rPr lang="en-US" altLang="zh-CN" sz="1600" b="0" dirty="0">
                <a:solidFill>
                  <a:srgbClr val="098658"/>
                </a:solidFill>
                <a:effectLst/>
                <a:latin typeface="Consolas" panose="020B0609020204030204" pitchFamily="49" charset="0"/>
              </a:rPr>
              <a:t>267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318</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487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815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1502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3162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6207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8414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8156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5975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3473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1601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710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325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247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232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207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182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157</a:t>
            </a:r>
            <a:r>
              <a:rPr lang="en-US" altLang="zh-CN" sz="1600" b="0" dirty="0">
                <a:solidFill>
                  <a:srgbClr val="000000"/>
                </a:solidFill>
                <a:effectLst/>
                <a:latin typeface="Consolas" panose="020B0609020204030204" pitchFamily="49" charset="0"/>
              </a:rPr>
              <a:t>]</a:t>
            </a:r>
          </a:p>
          <a:p>
            <a:r>
              <a:rPr lang="en-US" altLang="zh-CN" sz="1600" b="0" dirty="0">
                <a:solidFill>
                  <a:srgbClr val="795E26"/>
                </a:solidFill>
                <a:effectLst/>
                <a:latin typeface="Consolas" panose="020B0609020204030204" pitchFamily="49" charset="0"/>
              </a:rPr>
              <a:t>plot</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x,y,</a:t>
            </a:r>
            <a:r>
              <a:rPr lang="en-US" altLang="zh-CN" sz="1600" b="0" dirty="0" err="1">
                <a:solidFill>
                  <a:srgbClr val="A31515"/>
                </a:solidFill>
                <a:effectLst/>
                <a:latin typeface="Consolas" panose="020B0609020204030204" pitchFamily="49" charset="0"/>
              </a:rPr>
              <a:t>"or</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hold</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"on"</a:t>
            </a:r>
            <a:r>
              <a:rPr lang="en-US" altLang="zh-CN" sz="1600" b="0" dirty="0">
                <a:solidFill>
                  <a:srgbClr val="000000"/>
                </a:solidFill>
                <a:effectLst/>
                <a:latin typeface="Consolas" panose="020B0609020204030204" pitchFamily="49" charset="0"/>
              </a:rPr>
              <a:t>)</a:t>
            </a:r>
          </a:p>
          <a:p>
            <a:r>
              <a:rPr lang="en-US" altLang="zh-CN" sz="1600" b="0" dirty="0">
                <a:solidFill>
                  <a:srgbClr val="000000"/>
                </a:solidFill>
                <a:effectLst/>
                <a:latin typeface="Consolas" panose="020B0609020204030204" pitchFamily="49" charset="0"/>
              </a:rPr>
              <a:t>p0,=</a:t>
            </a:r>
            <a:r>
              <a:rPr lang="en-US" altLang="zh-CN" sz="1600" b="0" dirty="0" err="1">
                <a:solidFill>
                  <a:srgbClr val="795E26"/>
                </a:solidFill>
                <a:effectLst/>
                <a:latin typeface="Consolas" panose="020B0609020204030204" pitchFamily="49" charset="0"/>
              </a:rPr>
              <a:t>csaps</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0</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#p0</a:t>
            </a:r>
            <a:r>
              <a:rPr lang="zh-CN" altLang="en-US" sz="1600" b="0" dirty="0">
                <a:solidFill>
                  <a:srgbClr val="008000"/>
                </a:solidFill>
                <a:effectLst/>
                <a:latin typeface="Consolas" panose="020B0609020204030204" pitchFamily="49" charset="0"/>
              </a:rPr>
              <a:t>是当</a:t>
            </a:r>
            <a:r>
              <a:rPr lang="en-US" altLang="zh-CN" sz="1600" b="0" dirty="0">
                <a:solidFill>
                  <a:srgbClr val="008000"/>
                </a:solidFill>
                <a:effectLst/>
                <a:latin typeface="Consolas" panose="020B0609020204030204" pitchFamily="49" charset="0"/>
              </a:rPr>
              <a:t>p=0</a:t>
            </a:r>
            <a:r>
              <a:rPr lang="zh-CN" altLang="en-US" sz="1600" b="0" dirty="0">
                <a:solidFill>
                  <a:srgbClr val="008000"/>
                </a:solidFill>
                <a:effectLst/>
                <a:latin typeface="Consolas" panose="020B0609020204030204" pitchFamily="49" charset="0"/>
              </a:rPr>
              <a:t>拟合数据的最小二乘直线</a:t>
            </a:r>
            <a:endParaRPr lang="zh-CN" altLang="en-US" sz="1600" b="0" dirty="0">
              <a:solidFill>
                <a:srgbClr val="000000"/>
              </a:solidFill>
              <a:effectLst/>
              <a:latin typeface="Consolas" panose="020B0609020204030204" pitchFamily="49" charset="0"/>
            </a:endParaRPr>
          </a:p>
          <a:p>
            <a:r>
              <a:rPr lang="en-US" altLang="zh-CN" sz="1600" b="0" dirty="0" err="1">
                <a:solidFill>
                  <a:srgbClr val="795E26"/>
                </a:solidFill>
                <a:effectLst/>
                <a:latin typeface="Consolas" panose="020B0609020204030204" pitchFamily="49" charset="0"/>
              </a:rPr>
              <a:t>fnplt</a:t>
            </a:r>
            <a:r>
              <a:rPr lang="en-US" altLang="zh-CN" sz="1600" b="0" dirty="0">
                <a:solidFill>
                  <a:srgbClr val="000000"/>
                </a:solidFill>
                <a:effectLst/>
                <a:latin typeface="Consolas" panose="020B0609020204030204" pitchFamily="49" charset="0"/>
              </a:rPr>
              <a:t>(p0)</a:t>
            </a:r>
          </a:p>
          <a:p>
            <a:r>
              <a:rPr lang="en-US" altLang="zh-CN" sz="1600" b="0" dirty="0">
                <a:solidFill>
                  <a:srgbClr val="000000"/>
                </a:solidFill>
                <a:effectLst/>
                <a:latin typeface="Consolas" panose="020B0609020204030204" pitchFamily="49" charset="0"/>
              </a:rPr>
              <a:t>p,=</a:t>
            </a:r>
            <a:r>
              <a:rPr lang="en-US" altLang="zh-CN" sz="1600" b="0" dirty="0" err="1">
                <a:solidFill>
                  <a:srgbClr val="795E26"/>
                </a:solidFill>
                <a:effectLst/>
                <a:latin typeface="Consolas" panose="020B0609020204030204" pitchFamily="49" charset="0"/>
              </a:rPr>
              <a:t>csaps</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0.999</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#p1</a:t>
            </a:r>
            <a:r>
              <a:rPr lang="zh-CN" altLang="en-US" sz="1600" b="0" dirty="0">
                <a:solidFill>
                  <a:srgbClr val="008000"/>
                </a:solidFill>
                <a:effectLst/>
                <a:latin typeface="Consolas" panose="020B0609020204030204" pitchFamily="49" charset="0"/>
              </a:rPr>
              <a:t>当</a:t>
            </a:r>
            <a:r>
              <a:rPr lang="en-US" altLang="zh-CN" sz="1600" b="0" dirty="0">
                <a:solidFill>
                  <a:srgbClr val="008000"/>
                </a:solidFill>
                <a:effectLst/>
                <a:latin typeface="Consolas" panose="020B0609020204030204" pitchFamily="49" charset="0"/>
              </a:rPr>
              <a:t>p=1</a:t>
            </a:r>
            <a:r>
              <a:rPr lang="zh-CN" altLang="en-US" sz="1600" b="0" dirty="0">
                <a:solidFill>
                  <a:srgbClr val="008000"/>
                </a:solidFill>
                <a:effectLst/>
                <a:latin typeface="Consolas" panose="020B0609020204030204" pitchFamily="49" charset="0"/>
              </a:rPr>
              <a:t>时变分或自然三次样条插值</a:t>
            </a:r>
            <a:endParaRPr lang="zh-CN" altLang="en-US" sz="1600" b="0" dirty="0">
              <a:solidFill>
                <a:srgbClr val="000000"/>
              </a:solidFill>
              <a:effectLst/>
              <a:latin typeface="Consolas" panose="020B0609020204030204" pitchFamily="49" charset="0"/>
            </a:endParaRPr>
          </a:p>
          <a:p>
            <a:r>
              <a:rPr lang="en-US" altLang="zh-CN" sz="1600" b="0" dirty="0" err="1">
                <a:solidFill>
                  <a:srgbClr val="795E26"/>
                </a:solidFill>
                <a:effectLst/>
                <a:latin typeface="Consolas" panose="020B0609020204030204" pitchFamily="49" charset="0"/>
              </a:rPr>
              <a:t>fnplt</a:t>
            </a:r>
            <a:r>
              <a:rPr lang="en-US" altLang="zh-CN" sz="1600" b="0" dirty="0">
                <a:solidFill>
                  <a:srgbClr val="000000"/>
                </a:solidFill>
                <a:effectLst/>
                <a:latin typeface="Consolas" panose="020B0609020204030204" pitchFamily="49" charset="0"/>
              </a:rPr>
              <a:t>(p)</a:t>
            </a:r>
          </a:p>
          <a:p>
            <a:r>
              <a:rPr lang="en-US" altLang="zh-CN" sz="1600" b="0" dirty="0">
                <a:solidFill>
                  <a:srgbClr val="000000"/>
                </a:solidFill>
                <a:effectLst/>
                <a:latin typeface="Consolas" panose="020B0609020204030204" pitchFamily="49" charset="0"/>
              </a:rPr>
              <a:t>p1,=</a:t>
            </a:r>
            <a:r>
              <a:rPr lang="en-US" altLang="zh-CN" sz="1600" b="0" dirty="0" err="1">
                <a:solidFill>
                  <a:srgbClr val="795E26"/>
                </a:solidFill>
                <a:effectLst/>
                <a:latin typeface="Consolas" panose="020B0609020204030204" pitchFamily="49" charset="0"/>
              </a:rPr>
              <a:t>csaps</a:t>
            </a:r>
            <a:r>
              <a:rPr lang="en-US" altLang="zh-CN" sz="1600" b="0" dirty="0">
                <a:solidFill>
                  <a:srgbClr val="000000"/>
                </a:solidFill>
                <a:effectLst/>
                <a:latin typeface="Consolas" panose="020B0609020204030204" pitchFamily="49" charset="0"/>
              </a:rPr>
              <a:t>(x,y,</a:t>
            </a:r>
            <a:r>
              <a:rPr lang="en-US" altLang="zh-CN" sz="1600" b="0" dirty="0">
                <a:solidFill>
                  <a:srgbClr val="098658"/>
                </a:solidFill>
                <a:effectLst/>
                <a:latin typeface="Consolas" panose="020B0609020204030204" pitchFamily="49" charset="0"/>
              </a:rPr>
              <a:t>1</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#p1</a:t>
            </a:r>
            <a:r>
              <a:rPr lang="zh-CN" altLang="en-US" sz="1600" b="0" dirty="0">
                <a:solidFill>
                  <a:srgbClr val="008000"/>
                </a:solidFill>
                <a:effectLst/>
                <a:latin typeface="Consolas" panose="020B0609020204030204" pitchFamily="49" charset="0"/>
              </a:rPr>
              <a:t>当</a:t>
            </a:r>
            <a:r>
              <a:rPr lang="en-US" altLang="zh-CN" sz="1600" b="0" dirty="0">
                <a:solidFill>
                  <a:srgbClr val="008000"/>
                </a:solidFill>
                <a:effectLst/>
                <a:latin typeface="Consolas" panose="020B0609020204030204" pitchFamily="49" charset="0"/>
              </a:rPr>
              <a:t>p=1</a:t>
            </a:r>
            <a:r>
              <a:rPr lang="zh-CN" altLang="en-US" sz="1600" b="0" dirty="0">
                <a:solidFill>
                  <a:srgbClr val="008000"/>
                </a:solidFill>
                <a:effectLst/>
                <a:latin typeface="Consolas" panose="020B0609020204030204" pitchFamily="49" charset="0"/>
              </a:rPr>
              <a:t>时变分或自然三次样条插值</a:t>
            </a:r>
            <a:endParaRPr lang="zh-CN" altLang="en-US" sz="1600" b="0" dirty="0">
              <a:solidFill>
                <a:srgbClr val="000000"/>
              </a:solidFill>
              <a:effectLst/>
              <a:latin typeface="Consolas" panose="020B0609020204030204" pitchFamily="49" charset="0"/>
            </a:endParaRPr>
          </a:p>
          <a:p>
            <a:r>
              <a:rPr lang="en-US" altLang="zh-CN" sz="1600" b="0" dirty="0" err="1">
                <a:solidFill>
                  <a:srgbClr val="795E26"/>
                </a:solidFill>
                <a:effectLst/>
                <a:latin typeface="Consolas" panose="020B0609020204030204" pitchFamily="49" charset="0"/>
              </a:rPr>
              <a:t>fnplt</a:t>
            </a:r>
            <a:r>
              <a:rPr lang="en-US" altLang="zh-CN" sz="1600" b="0" dirty="0">
                <a:solidFill>
                  <a:srgbClr val="000000"/>
                </a:solidFill>
                <a:effectLst/>
                <a:latin typeface="Consolas" panose="020B0609020204030204" pitchFamily="49" charset="0"/>
              </a:rPr>
              <a:t>(p1)</a:t>
            </a:r>
          </a:p>
          <a:p>
            <a:r>
              <a:rPr lang="en-US" altLang="zh-CN" sz="1600" b="0" dirty="0" err="1">
                <a:solidFill>
                  <a:srgbClr val="795E26"/>
                </a:solidFill>
                <a:effectLst/>
                <a:latin typeface="Consolas" panose="020B0609020204030204" pitchFamily="49" charset="0"/>
              </a:rPr>
              <a:t>xlabel</a:t>
            </a:r>
            <a:r>
              <a:rPr lang="en-US" altLang="zh-CN" sz="1600" b="0" dirty="0">
                <a:solidFill>
                  <a:srgbClr val="000000"/>
                </a:solidFill>
                <a:effectLst/>
                <a:latin typeface="Consolas" panose="020B0609020204030204" pitchFamily="49" charset="0"/>
              </a:rPr>
              <a:t>(</a:t>
            </a:r>
            <a:r>
              <a:rPr lang="en-US" altLang="zh-CN" sz="1600" b="0" dirty="0">
                <a:solidFill>
                  <a:srgbClr val="795E26"/>
                </a:solidFill>
                <a:effectLst/>
                <a:latin typeface="Consolas" panose="020B0609020204030204" pitchFamily="49" charset="0"/>
              </a:rPr>
              <a:t>raw</a:t>
            </a:r>
            <a:r>
              <a:rPr lang="en-US" altLang="zh-CN" sz="1600" b="0" dirty="0">
                <a:solidFill>
                  <a:srgbClr val="A31515"/>
                </a:solidFill>
                <a:effectLst/>
                <a:latin typeface="Consolas" panose="020B0609020204030204" pitchFamily="49" charset="0"/>
              </a:rPr>
              <a:t>"$2\</a:t>
            </a:r>
            <a:r>
              <a:rPr lang="en-US" altLang="zh-CN" sz="1600" b="0" dirty="0" err="1">
                <a:solidFill>
                  <a:srgbClr val="A31515"/>
                </a:solidFill>
                <a:effectLst/>
                <a:latin typeface="Consolas" panose="020B0609020204030204" pitchFamily="49" charset="0"/>
              </a:rPr>
              <a:t>theta$,deg</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ylabel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en-US" altLang="zh-CN" sz="1600" b="0" dirty="0" err="1">
                <a:solidFill>
                  <a:srgbClr val="A31515"/>
                </a:solidFill>
                <a:effectLst/>
                <a:latin typeface="Consolas" panose="020B0609020204030204" pitchFamily="49" charset="0"/>
              </a:rPr>
              <a:t>Intensity,cps</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a:p>
            <a:r>
              <a:rPr lang="en-US" altLang="zh-CN" sz="1600" b="0" dirty="0">
                <a:solidFill>
                  <a:srgbClr val="795E26"/>
                </a:solidFill>
                <a:effectLst/>
                <a:latin typeface="Consolas" panose="020B0609020204030204" pitchFamily="49" charset="0"/>
              </a:rPr>
              <a:t>legend</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散点图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"p=0</a:t>
            </a:r>
            <a:r>
              <a:rPr lang="zh-CN" altLang="en-US" sz="1600" b="0" dirty="0">
                <a:solidFill>
                  <a:srgbClr val="A31515"/>
                </a:solidFill>
                <a:effectLst/>
                <a:latin typeface="Consolas" panose="020B0609020204030204" pitchFamily="49" charset="0"/>
              </a:rPr>
              <a:t>线图</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"p=0.999</a:t>
            </a:r>
            <a:r>
              <a:rPr lang="zh-CN" altLang="en-US" sz="1600" b="0" dirty="0">
                <a:solidFill>
                  <a:srgbClr val="A31515"/>
                </a:solidFill>
                <a:effectLst/>
                <a:latin typeface="Consolas" panose="020B0609020204030204" pitchFamily="49" charset="0"/>
              </a:rPr>
              <a:t>三次平滑样条</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"p=1</a:t>
            </a:r>
            <a:r>
              <a:rPr lang="zh-CN" altLang="en-US" sz="1600" b="0" dirty="0">
                <a:solidFill>
                  <a:srgbClr val="A31515"/>
                </a:solidFill>
                <a:effectLst/>
                <a:latin typeface="Consolas" panose="020B0609020204030204" pitchFamily="49" charset="0"/>
              </a:rPr>
              <a:t>的自然三次样条</a:t>
            </a:r>
            <a:r>
              <a:rPr lang="en-US" altLang="zh-CN" sz="1600" b="0" dirty="0">
                <a:solidFill>
                  <a:srgbClr val="A31515"/>
                </a:solidFill>
                <a:effectLst/>
                <a:latin typeface="Consolas" panose="020B0609020204030204" pitchFamily="49" charset="0"/>
              </a:rPr>
              <a:t>"</a:t>
            </a:r>
            <a:r>
              <a:rPr lang="en-US" altLang="zh-CN" sz="1600" b="0" dirty="0">
                <a:solidFill>
                  <a:srgbClr val="000000"/>
                </a:solidFill>
                <a:effectLst/>
                <a:latin typeface="Consolas" panose="020B0609020204030204" pitchFamily="49" charset="0"/>
              </a:rPr>
              <a:t>)</a:t>
            </a:r>
          </a:p>
        </p:txBody>
      </p:sp>
      <p:pic>
        <p:nvPicPr>
          <p:cNvPr id="3" name="图片 2">
            <a:extLst>
              <a:ext uri="{FF2B5EF4-FFF2-40B4-BE49-F238E27FC236}">
                <a16:creationId xmlns:a16="http://schemas.microsoft.com/office/drawing/2014/main" id="{61A3C5FF-065C-443A-8570-8761129BD215}"/>
              </a:ext>
            </a:extLst>
          </p:cNvPr>
          <p:cNvPicPr>
            <a:picLocks noChangeAspect="1"/>
          </p:cNvPicPr>
          <p:nvPr/>
        </p:nvPicPr>
        <p:blipFill>
          <a:blip r:embed="rId2"/>
          <a:stretch>
            <a:fillRect/>
          </a:stretch>
        </p:blipFill>
        <p:spPr>
          <a:xfrm>
            <a:off x="6012160" y="2155963"/>
            <a:ext cx="3016741" cy="1900313"/>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5492357" y="666928"/>
            <a:ext cx="3666902" cy="2559495"/>
          </a:xfrm>
          <a:prstGeom prst="rect">
            <a:avLst/>
          </a:prstGeom>
        </p:spPr>
      </p:pic>
      <p:pic>
        <p:nvPicPr>
          <p:cNvPr id="5" name="图片 4"/>
          <p:cNvPicPr>
            <a:picLocks noChangeAspect="1"/>
          </p:cNvPicPr>
          <p:nvPr/>
        </p:nvPicPr>
        <p:blipFill rotWithShape="1">
          <a:blip r:embed="rId3"/>
          <a:srcRect l="23989" t="31640" r="25143" b="31961"/>
          <a:stretch>
            <a:fillRect/>
          </a:stretch>
        </p:blipFill>
        <p:spPr>
          <a:xfrm>
            <a:off x="395537" y="2975531"/>
            <a:ext cx="8496941" cy="1633231"/>
          </a:xfrm>
          <a:prstGeom prst="rect">
            <a:avLst/>
          </a:prstGeom>
        </p:spPr>
      </p:pic>
      <p:pic>
        <p:nvPicPr>
          <p:cNvPr id="6" name="图片 5"/>
          <p:cNvPicPr>
            <a:picLocks noChangeAspect="1"/>
          </p:cNvPicPr>
          <p:nvPr/>
        </p:nvPicPr>
        <p:blipFill rotWithShape="1">
          <a:blip r:embed="rId4">
            <a:extLst>
              <a:ext uri="{BEBA8EAE-BF5A-486C-A8C5-ECC9F3942E4B}">
                <a14:imgProps xmlns:a14="http://schemas.microsoft.com/office/drawing/2010/main">
                  <a14:imgLayer r:embed="rId5">
                    <a14:imgEffect>
                      <a14:backgroundRemoval t="17453" b="79178" l="16747" r="84733"/>
                    </a14:imgEffect>
                    <a14:imgEffect>
                      <a14:brightnessContrast contrast="-40000"/>
                    </a14:imgEffect>
                  </a14:imgLayer>
                </a14:imgProps>
              </a:ext>
              <a:ext uri="{28A0092B-C50C-407E-A947-70E740481C1C}">
                <a14:useLocalDpi xmlns:a14="http://schemas.microsoft.com/office/drawing/2010/main" val="0"/>
              </a:ext>
            </a:extLst>
          </a:blip>
          <a:srcRect l="8249" t="9738" r="6768" b="13106"/>
          <a:stretch>
            <a:fillRect/>
          </a:stretch>
        </p:blipFill>
        <p:spPr>
          <a:xfrm>
            <a:off x="-178209" y="626989"/>
            <a:ext cx="5702826" cy="2952873"/>
          </a:xfrm>
          <a:prstGeom prst="rect">
            <a:avLst/>
          </a:prstGeom>
        </p:spPr>
      </p:pic>
      <p:sp>
        <p:nvSpPr>
          <p:cNvPr id="7" name="矩形 6"/>
          <p:cNvSpPr/>
          <p:nvPr/>
        </p:nvSpPr>
        <p:spPr>
          <a:xfrm>
            <a:off x="717514" y="2335645"/>
            <a:ext cx="935319" cy="400110"/>
          </a:xfrm>
          <a:prstGeom prst="rect">
            <a:avLst/>
          </a:prstGeom>
        </p:spPr>
        <p:txBody>
          <a:bodyPr wrap="square">
            <a:spAutoFit/>
          </a:bodyPr>
          <a:lstStyle/>
          <a:p>
            <a:r>
              <a:rPr lang="en-US" altLang="zh-CN" sz="2000" dirty="0">
                <a:solidFill>
                  <a:srgbClr val="002060"/>
                </a:solidFill>
                <a:latin typeface="隶书" panose="02010509060101010101" pitchFamily="49" charset="-122"/>
                <a:ea typeface="隶书" panose="02010509060101010101" pitchFamily="49" charset="-122"/>
              </a:rPr>
              <a:t>(</a:t>
            </a:r>
            <a:r>
              <a:rPr lang="en-US" altLang="zh-CN" sz="2000" b="1" dirty="0">
                <a:solidFill>
                  <a:srgbClr val="FF0000"/>
                </a:solidFill>
                <a:highlight>
                  <a:srgbClr val="FFFF00"/>
                </a:highlight>
                <a:latin typeface="隶书" panose="02010509060101010101" pitchFamily="49" charset="-122"/>
                <a:ea typeface="隶书" panose="02010509060101010101" pitchFamily="49" charset="-122"/>
              </a:rPr>
              <a:t>7,44</a:t>
            </a:r>
            <a:r>
              <a:rPr lang="en-US" altLang="zh-CN" sz="2000" dirty="0">
                <a:solidFill>
                  <a:srgbClr val="002060"/>
                </a:solidFill>
                <a:highlight>
                  <a:srgbClr val="FFFF00"/>
                </a:highlight>
                <a:latin typeface="隶书" panose="02010509060101010101" pitchFamily="49" charset="-122"/>
                <a:ea typeface="隶书" panose="02010509060101010101" pitchFamily="49" charset="-122"/>
              </a:rPr>
              <a:t>)</a:t>
            </a:r>
            <a:endParaRPr lang="zh-CN" altLang="en-US" sz="2000" dirty="0">
              <a:solidFill>
                <a:srgbClr val="002060"/>
              </a:solidFill>
              <a:highlight>
                <a:srgbClr val="FFFF00"/>
              </a:highlight>
              <a:latin typeface="隶书" panose="02010509060101010101" pitchFamily="49" charset="-122"/>
              <a:ea typeface="隶书" panose="02010509060101010101" pitchFamily="49" charset="-122"/>
            </a:endParaRPr>
          </a:p>
        </p:txBody>
      </p:sp>
      <p:sp>
        <p:nvSpPr>
          <p:cNvPr id="8" name="矩形 7"/>
          <p:cNvSpPr/>
          <p:nvPr/>
        </p:nvSpPr>
        <p:spPr>
          <a:xfrm>
            <a:off x="3676864" y="1568915"/>
            <a:ext cx="1220206" cy="400110"/>
          </a:xfrm>
          <a:prstGeom prst="rect">
            <a:avLst/>
          </a:prstGeom>
        </p:spPr>
        <p:txBody>
          <a:bodyPr wrap="none">
            <a:spAutoFit/>
          </a:bodyPr>
          <a:lstStyle/>
          <a:p>
            <a:r>
              <a:rPr lang="en-US" altLang="zh-CN" sz="2000" dirty="0">
                <a:solidFill>
                  <a:srgbClr val="002060"/>
                </a:solidFill>
                <a:latin typeface="隶书" panose="02010509060101010101" pitchFamily="49" charset="-122"/>
                <a:ea typeface="隶书" panose="02010509060101010101" pitchFamily="49" charset="-122"/>
              </a:rPr>
              <a:t>(</a:t>
            </a:r>
            <a:r>
              <a:rPr lang="en-US" altLang="zh-CN" sz="2000" b="1" dirty="0">
                <a:solidFill>
                  <a:srgbClr val="FF0000"/>
                </a:solidFill>
                <a:highlight>
                  <a:srgbClr val="FFFF00"/>
                </a:highlight>
                <a:latin typeface="隶书" panose="02010509060101010101" pitchFamily="49" charset="-122"/>
                <a:ea typeface="隶书" panose="02010509060101010101" pitchFamily="49" charset="-122"/>
              </a:rPr>
              <a:t>158,68</a:t>
            </a:r>
            <a:r>
              <a:rPr lang="en-US" altLang="zh-CN" sz="2000" dirty="0">
                <a:solidFill>
                  <a:srgbClr val="002060"/>
                </a:solidFill>
                <a:latin typeface="隶书" panose="02010509060101010101" pitchFamily="49" charset="-122"/>
                <a:ea typeface="隶书" panose="02010509060101010101" pitchFamily="49" charset="-122"/>
              </a:rPr>
              <a:t>)</a:t>
            </a:r>
            <a:endParaRPr lang="zh-CN" altLang="en-US" sz="2000" dirty="0">
              <a:solidFill>
                <a:srgbClr val="002060"/>
              </a:solidFill>
              <a:latin typeface="隶书" panose="02010509060101010101" pitchFamily="49" charset="-122"/>
              <a:ea typeface="隶书" panose="02010509060101010101" pitchFamily="49" charset="-122"/>
            </a:endParaRPr>
          </a:p>
        </p:txBody>
      </p:sp>
      <p:sp>
        <p:nvSpPr>
          <p:cNvPr id="9" name="流程图: 接点 8"/>
          <p:cNvSpPr/>
          <p:nvPr/>
        </p:nvSpPr>
        <p:spPr>
          <a:xfrm>
            <a:off x="1317028" y="2448079"/>
            <a:ext cx="144016" cy="144016"/>
          </a:xfrm>
          <a:prstGeom prst="flowChartConnector">
            <a:avLst/>
          </a:prstGeom>
          <a:solidFill>
            <a:srgbClr val="FF0000"/>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流程图: 接点 9"/>
          <p:cNvSpPr/>
          <p:nvPr/>
        </p:nvSpPr>
        <p:spPr>
          <a:xfrm>
            <a:off x="4322275" y="1526976"/>
            <a:ext cx="144016" cy="144016"/>
          </a:xfrm>
          <a:prstGeom prst="flowChartConnector">
            <a:avLst/>
          </a:prstGeom>
          <a:solidFill>
            <a:srgbClr val="FF0000"/>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1" name="直接连接符 10"/>
          <p:cNvCxnSpPr/>
          <p:nvPr/>
        </p:nvCxnSpPr>
        <p:spPr>
          <a:xfrm>
            <a:off x="1836883" y="747784"/>
            <a:ext cx="0" cy="1987971"/>
          </a:xfrm>
          <a:prstGeom prst="line">
            <a:avLst/>
          </a:prstGeom>
          <a:ln>
            <a:solidFill>
              <a:srgbClr val="FF0000"/>
            </a:solidFill>
            <a:prstDash val="dashDot"/>
          </a:ln>
        </p:spPr>
        <p:style>
          <a:lnRef idx="1">
            <a:schemeClr val="accent1"/>
          </a:lnRef>
          <a:fillRef idx="0">
            <a:schemeClr val="accent1"/>
          </a:fillRef>
          <a:effectRef idx="0">
            <a:schemeClr val="accent1"/>
          </a:effectRef>
          <a:fontRef idx="minor">
            <a:schemeClr val="tx1"/>
          </a:fontRef>
        </p:style>
      </p:cxnSp>
      <p:sp>
        <p:nvSpPr>
          <p:cNvPr id="12" name="矩形 11"/>
          <p:cNvSpPr/>
          <p:nvPr/>
        </p:nvSpPr>
        <p:spPr>
          <a:xfrm>
            <a:off x="2077027" y="2119977"/>
            <a:ext cx="1350050" cy="400110"/>
          </a:xfrm>
          <a:prstGeom prst="rect">
            <a:avLst/>
          </a:prstGeom>
        </p:spPr>
        <p:txBody>
          <a:bodyPr wrap="none">
            <a:spAutoFit/>
          </a:bodyPr>
          <a:lstStyle/>
          <a:p>
            <a:r>
              <a:rPr lang="en-US" altLang="zh-CN" sz="2000" dirty="0">
                <a:solidFill>
                  <a:srgbClr val="002060"/>
                </a:solidFill>
                <a:latin typeface="隶书" panose="02010509060101010101" pitchFamily="49" charset="-122"/>
                <a:ea typeface="隶书" panose="02010509060101010101" pitchFamily="49" charset="-122"/>
              </a:rPr>
              <a:t>(</a:t>
            </a:r>
            <a:r>
              <a:rPr lang="en-US" altLang="zh-CN" sz="2000" b="1" dirty="0">
                <a:solidFill>
                  <a:srgbClr val="FF0000"/>
                </a:solidFill>
                <a:latin typeface="隶书" panose="02010509060101010101" pitchFamily="49" charset="-122"/>
                <a:ea typeface="隶书" panose="02010509060101010101" pitchFamily="49" charset="-122"/>
              </a:rPr>
              <a:t>40.5,38</a:t>
            </a:r>
            <a:r>
              <a:rPr lang="en-US" altLang="zh-CN" sz="2000" dirty="0">
                <a:solidFill>
                  <a:srgbClr val="002060"/>
                </a:solidFill>
                <a:latin typeface="隶书" panose="02010509060101010101" pitchFamily="49" charset="-122"/>
                <a:ea typeface="隶书" panose="02010509060101010101" pitchFamily="49" charset="-122"/>
              </a:rPr>
              <a:t>)</a:t>
            </a:r>
            <a:endParaRPr lang="zh-CN" altLang="en-US" sz="2000" dirty="0">
              <a:solidFill>
                <a:srgbClr val="002060"/>
              </a:solidFill>
              <a:latin typeface="隶书" panose="02010509060101010101" pitchFamily="49" charset="-122"/>
              <a:ea typeface="隶书" panose="02010509060101010101" pitchFamily="49" charset="-122"/>
            </a:endParaRPr>
          </a:p>
        </p:txBody>
      </p:sp>
      <p:sp>
        <p:nvSpPr>
          <p:cNvPr id="13" name="流程图: 接点 12"/>
          <p:cNvSpPr/>
          <p:nvPr/>
        </p:nvSpPr>
        <p:spPr>
          <a:xfrm>
            <a:off x="1763688" y="2397786"/>
            <a:ext cx="144016" cy="144016"/>
          </a:xfrm>
          <a:prstGeom prst="flowChartConnector">
            <a:avLst/>
          </a:prstGeom>
          <a:solidFill>
            <a:srgbClr val="FF0000"/>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流程图: 接点 13"/>
          <p:cNvSpPr/>
          <p:nvPr/>
        </p:nvSpPr>
        <p:spPr>
          <a:xfrm>
            <a:off x="1766739" y="1587475"/>
            <a:ext cx="144016" cy="144016"/>
          </a:xfrm>
          <a:prstGeom prst="flowChartConnector">
            <a:avLst/>
          </a:prstGeom>
          <a:solidFill>
            <a:srgbClr val="FF0000"/>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2074630" y="911912"/>
            <a:ext cx="1479892" cy="400110"/>
          </a:xfrm>
          <a:prstGeom prst="rect">
            <a:avLst/>
          </a:prstGeom>
        </p:spPr>
        <p:txBody>
          <a:bodyPr wrap="none">
            <a:spAutoFit/>
          </a:bodyPr>
          <a:lstStyle/>
          <a:p>
            <a:r>
              <a:rPr lang="en-US" altLang="zh-CN" sz="2000" dirty="0">
                <a:solidFill>
                  <a:srgbClr val="002060"/>
                </a:solidFill>
                <a:latin typeface="隶书" panose="02010509060101010101" pitchFamily="49" charset="-122"/>
                <a:ea typeface="隶书" panose="02010509060101010101" pitchFamily="49" charset="-122"/>
              </a:rPr>
              <a:t>(</a:t>
            </a:r>
            <a:r>
              <a:rPr lang="en-US" altLang="zh-CN" sz="2000" b="1" dirty="0">
                <a:solidFill>
                  <a:srgbClr val="FF0000"/>
                </a:solidFill>
                <a:latin typeface="隶书" panose="02010509060101010101" pitchFamily="49" charset="-122"/>
                <a:ea typeface="隶书" panose="02010509060101010101" pitchFamily="49" charset="-122"/>
              </a:rPr>
              <a:t>40.5,100</a:t>
            </a:r>
            <a:r>
              <a:rPr lang="en-US" altLang="zh-CN" sz="2000" dirty="0">
                <a:solidFill>
                  <a:srgbClr val="002060"/>
                </a:solidFill>
                <a:latin typeface="隶书" panose="02010509060101010101" pitchFamily="49" charset="-122"/>
                <a:ea typeface="隶书" panose="02010509060101010101" pitchFamily="49" charset="-122"/>
              </a:rPr>
              <a:t>)</a:t>
            </a:r>
            <a:endParaRPr lang="zh-CN" altLang="en-US" sz="2000" dirty="0">
              <a:solidFill>
                <a:srgbClr val="002060"/>
              </a:solidFill>
              <a:latin typeface="隶书" panose="02010509060101010101" pitchFamily="49" charset="-122"/>
              <a:ea typeface="隶书" panose="02010509060101010101" pitchFamily="49" charset="-122"/>
            </a:endParaRPr>
          </a:p>
        </p:txBody>
      </p:sp>
      <p:sp>
        <p:nvSpPr>
          <p:cNvPr id="16" name="矩形 15"/>
          <p:cNvSpPr/>
          <p:nvPr/>
        </p:nvSpPr>
        <p:spPr>
          <a:xfrm>
            <a:off x="7074709" y="2514439"/>
            <a:ext cx="364202" cy="556884"/>
          </a:xfrm>
          <a:prstGeom prst="rect">
            <a:avLst/>
          </a:prstGeom>
        </p:spPr>
        <p:txBody>
          <a:bodyPr wrap="none">
            <a:spAutoFit/>
          </a:bodyPr>
          <a:lstStyle/>
          <a:p>
            <a:pPr algn="just" defTabSz="63500">
              <a:lnSpc>
                <a:spcPct val="125000"/>
              </a:lnSpc>
              <a:spcBef>
                <a:spcPts val="800"/>
              </a:spcBef>
              <a:spcAft>
                <a:spcPts val="0"/>
              </a:spcAft>
              <a:buClr>
                <a:srgbClr val="000000"/>
              </a:buClr>
            </a:pPr>
            <a:r>
              <a:rPr lang="en-US" altLang="ko-KR" sz="28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x</a:t>
            </a:r>
            <a:endParaRPr lang="ko-KR" altLang="en-US" sz="2800" b="1"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sp>
        <p:nvSpPr>
          <p:cNvPr id="17" name="矩形 16"/>
          <p:cNvSpPr/>
          <p:nvPr/>
        </p:nvSpPr>
        <p:spPr>
          <a:xfrm>
            <a:off x="1206935" y="646982"/>
            <a:ext cx="364202" cy="556884"/>
          </a:xfrm>
          <a:prstGeom prst="rect">
            <a:avLst/>
          </a:prstGeom>
        </p:spPr>
        <p:txBody>
          <a:bodyPr wrap="none">
            <a:spAutoFit/>
          </a:bodyPr>
          <a:lstStyle/>
          <a:p>
            <a:pPr algn="just" defTabSz="63500">
              <a:lnSpc>
                <a:spcPct val="125000"/>
              </a:lnSpc>
              <a:spcBef>
                <a:spcPts val="800"/>
              </a:spcBef>
              <a:spcAft>
                <a:spcPts val="0"/>
              </a:spcAft>
              <a:buClr>
                <a:srgbClr val="000000"/>
              </a:buClr>
            </a:pPr>
            <a:r>
              <a:rPr lang="en-US" altLang="ko-KR" sz="28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y</a:t>
            </a:r>
            <a:endParaRPr lang="ko-KR" altLang="en-US" sz="2800" b="1"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sp>
        <p:nvSpPr>
          <p:cNvPr id="18" name="矩形 17"/>
          <p:cNvSpPr/>
          <p:nvPr/>
        </p:nvSpPr>
        <p:spPr>
          <a:xfrm>
            <a:off x="4239599" y="2397786"/>
            <a:ext cx="1175322" cy="424155"/>
          </a:xfrm>
          <a:prstGeom prst="rect">
            <a:avLst/>
          </a:prstGeom>
        </p:spPr>
        <p:txBody>
          <a:bodyPr wrap="none">
            <a:spAutoFit/>
          </a:bodyPr>
          <a:lstStyle/>
          <a:p>
            <a:pPr algn="just" defTabSz="63500">
              <a:lnSpc>
                <a:spcPct val="125000"/>
              </a:lnSpc>
              <a:spcBef>
                <a:spcPts val="800"/>
              </a:spcBef>
              <a:spcAft>
                <a:spcPts val="0"/>
              </a:spcAft>
              <a:buClr>
                <a:srgbClr val="000000"/>
              </a:buClr>
            </a:pPr>
            <a:r>
              <a:rPr lang="zh-CN" altLang="en-US"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下边界</a:t>
            </a:r>
            <a:r>
              <a:rPr lang="en-US" altLang="zh-CN"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y</a:t>
            </a:r>
            <a:r>
              <a:rPr lang="en-US" altLang="zh-CN" sz="2000" b="1" baseline="-25000"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1</a:t>
            </a:r>
            <a:endParaRPr lang="ko-KR" altLang="en-US" sz="2000" b="1" baseline="-25000"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cxnSp>
        <p:nvCxnSpPr>
          <p:cNvPr id="19" name="直接箭头连接符 18"/>
          <p:cNvCxnSpPr/>
          <p:nvPr/>
        </p:nvCxnSpPr>
        <p:spPr>
          <a:xfrm flipH="1" flipV="1">
            <a:off x="4847087" y="2363126"/>
            <a:ext cx="297044" cy="9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0" name="矩形 19"/>
          <p:cNvSpPr/>
          <p:nvPr/>
        </p:nvSpPr>
        <p:spPr>
          <a:xfrm>
            <a:off x="4087081" y="735776"/>
            <a:ext cx="1175322" cy="424155"/>
          </a:xfrm>
          <a:prstGeom prst="rect">
            <a:avLst/>
          </a:prstGeom>
        </p:spPr>
        <p:txBody>
          <a:bodyPr wrap="none">
            <a:spAutoFit/>
          </a:bodyPr>
          <a:lstStyle/>
          <a:p>
            <a:pPr algn="just" defTabSz="63500">
              <a:lnSpc>
                <a:spcPct val="125000"/>
              </a:lnSpc>
              <a:spcBef>
                <a:spcPts val="800"/>
              </a:spcBef>
              <a:spcAft>
                <a:spcPts val="0"/>
              </a:spcAft>
              <a:buClr>
                <a:srgbClr val="000000"/>
              </a:buClr>
            </a:pPr>
            <a:r>
              <a:rPr lang="zh-CN" altLang="en-US"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上边界</a:t>
            </a:r>
            <a:r>
              <a:rPr lang="en-US" altLang="zh-CN"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y</a:t>
            </a:r>
            <a:r>
              <a:rPr lang="en-US" altLang="zh-CN" sz="2000" b="1" baseline="-25000"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2</a:t>
            </a:r>
            <a:endParaRPr lang="ko-KR" altLang="en-US" sz="2000" b="1" baseline="-25000"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cxnSp>
        <p:nvCxnSpPr>
          <p:cNvPr id="21" name="直接箭头连接符 20"/>
          <p:cNvCxnSpPr/>
          <p:nvPr/>
        </p:nvCxnSpPr>
        <p:spPr>
          <a:xfrm flipH="1">
            <a:off x="3957697" y="984970"/>
            <a:ext cx="152400" cy="18093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2" name="矩形 21"/>
          <p:cNvSpPr/>
          <p:nvPr/>
        </p:nvSpPr>
        <p:spPr>
          <a:xfrm>
            <a:off x="6620538" y="1616391"/>
            <a:ext cx="1268296" cy="556884"/>
          </a:xfrm>
          <a:prstGeom prst="rect">
            <a:avLst/>
          </a:prstGeom>
        </p:spPr>
        <p:txBody>
          <a:bodyPr wrap="none">
            <a:spAutoFit/>
          </a:bodyPr>
          <a:lstStyle/>
          <a:p>
            <a:pPr algn="just" defTabSz="63500">
              <a:lnSpc>
                <a:spcPct val="125000"/>
              </a:lnSpc>
              <a:spcBef>
                <a:spcPts val="800"/>
              </a:spcBef>
              <a:spcAft>
                <a:spcPts val="0"/>
              </a:spcAft>
              <a:buClr>
                <a:srgbClr val="000000"/>
              </a:buClr>
            </a:pPr>
            <a:r>
              <a:rPr lang="en-US" altLang="zh-CN" sz="28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27</a:t>
            </a:r>
            <a:r>
              <a:rPr lang="zh-CN" altLang="en-US" sz="28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组数</a:t>
            </a:r>
            <a:endParaRPr lang="ko-KR" altLang="en-US" sz="2800" b="1" baseline="-25000"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sp>
        <p:nvSpPr>
          <p:cNvPr id="23" name="矩形 22"/>
          <p:cNvSpPr/>
          <p:nvPr/>
        </p:nvSpPr>
        <p:spPr>
          <a:xfrm>
            <a:off x="1972266" y="1763751"/>
            <a:ext cx="1479890"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zh-CN" altLang="en-US" sz="1600" dirty="0"/>
              <a:t>x,y = ginput(n)</a:t>
            </a:r>
          </a:p>
        </p:txBody>
      </p:sp>
      <p:sp>
        <p:nvSpPr>
          <p:cNvPr id="24" name="矩形 23"/>
          <p:cNvSpPr/>
          <p:nvPr/>
        </p:nvSpPr>
        <p:spPr>
          <a:xfrm>
            <a:off x="624202" y="4062078"/>
            <a:ext cx="4238661" cy="400110"/>
          </a:xfrm>
          <a:prstGeom prst="rect">
            <a:avLst/>
          </a:prstGeom>
          <a:noFill/>
        </p:spPr>
        <p:txBody>
          <a:bodyPr wrap="none">
            <a:spAutoFit/>
          </a:bodyPr>
          <a:lstStyle/>
          <a:p>
            <a:pPr latinLnBrk="1"/>
            <a:r>
              <a:rPr lang="zh-CN" altLang="en-US" sz="2000" b="1" dirty="0">
                <a:solidFill>
                  <a:schemeClr val="bg1"/>
                </a:solidFill>
                <a:highlight>
                  <a:srgbClr val="3399FF"/>
                </a:highlight>
                <a:latin typeface="-apple-system"/>
              </a:rPr>
              <a:t>获取二维图形数据坐标的命令</a:t>
            </a:r>
            <a:r>
              <a:rPr lang="zh-CN" altLang="en-US" sz="2000" dirty="0">
                <a:solidFill>
                  <a:schemeClr val="bg1"/>
                </a:solidFill>
                <a:highlight>
                  <a:srgbClr val="3399FF"/>
                </a:highlight>
              </a:rPr>
              <a:t>ginput</a:t>
            </a:r>
            <a:endParaRPr lang="zh-CN" altLang="en-US" sz="2000" b="1" dirty="0">
              <a:solidFill>
                <a:schemeClr val="bg1"/>
              </a:solidFill>
              <a:highlight>
                <a:srgbClr val="3399FF"/>
              </a:highlight>
              <a:latin typeface="-apple-system"/>
            </a:endParaRPr>
          </a:p>
        </p:txBody>
      </p:sp>
      <p:sp>
        <p:nvSpPr>
          <p:cNvPr id="26" name="文本框 25"/>
          <p:cNvSpPr txBox="1"/>
          <p:nvPr/>
        </p:nvSpPr>
        <p:spPr>
          <a:xfrm>
            <a:off x="899592" y="123478"/>
            <a:ext cx="8064896" cy="523220"/>
          </a:xfrm>
          <a:prstGeom prst="rect">
            <a:avLst/>
          </a:prstGeom>
          <a:no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5§.4.2 </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不同</a:t>
            </a:r>
            <a:r>
              <a:rPr lang="zh-CN" altLang="en-US" sz="2800" i="0" dirty="0">
                <a:solidFill>
                  <a:srgbClr val="FF0000"/>
                </a:solidFill>
                <a:effectLst/>
                <a:latin typeface="华文楷体" panose="02010600040101010101" pitchFamily="2" charset="-122"/>
                <a:ea typeface="华文楷体" panose="02010600040101010101" pitchFamily="2" charset="-122"/>
              </a:rPr>
              <a:t>插值</a:t>
            </a:r>
            <a:r>
              <a:rPr lang="zh-CN" altLang="en-US" sz="2800" dirty="0">
                <a:solidFill>
                  <a:srgbClr val="FF0000"/>
                </a:solidFill>
                <a:latin typeface="华文楷体" panose="02010600040101010101" pitchFamily="2" charset="-122"/>
                <a:ea typeface="华文楷体" panose="02010600040101010101" pitchFamily="2" charset="-122"/>
              </a:rPr>
              <a:t>方法案例</a:t>
            </a:r>
          </a:p>
        </p:txBody>
      </p:sp>
      <p:sp>
        <p:nvSpPr>
          <p:cNvPr id="27" name="文本框 26"/>
          <p:cNvSpPr txBox="1"/>
          <p:nvPr/>
        </p:nvSpPr>
        <p:spPr>
          <a:xfrm>
            <a:off x="5820671" y="815153"/>
            <a:ext cx="2941565" cy="369332"/>
          </a:xfrm>
          <a:prstGeom prst="rect">
            <a:avLst/>
          </a:prstGeom>
          <a:noFill/>
        </p:spPr>
        <p:txBody>
          <a:bodyPr wrap="square">
            <a:spAutoFit/>
          </a:bodyPr>
          <a:lstStyle/>
          <a:p>
            <a:pPr algn="l"/>
            <a:r>
              <a:rPr lang="zh-CN" altLang="en-US" b="1" i="0" dirty="0">
                <a:solidFill>
                  <a:srgbClr val="0070C0"/>
                </a:solidFill>
                <a:effectLst/>
                <a:latin typeface="微软雅黑" panose="020B0503020204020204" pitchFamily="34" charset="-122"/>
                <a:ea typeface="微软雅黑" panose="020B0503020204020204" pitchFamily="34" charset="-122"/>
              </a:rPr>
              <a:t>积分计算国土面积</a:t>
            </a:r>
          </a:p>
        </p:txBody>
      </p:sp>
      <p:sp>
        <p:nvSpPr>
          <p:cNvPr id="28" name="波形 27"/>
          <p:cNvSpPr/>
          <p:nvPr/>
        </p:nvSpPr>
        <p:spPr>
          <a:xfrm>
            <a:off x="106649" y="795016"/>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54-2</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7197" y="665829"/>
            <a:ext cx="9009299" cy="3970318"/>
          </a:xfrm>
          <a:solidFill>
            <a:schemeClr val="bg1"/>
          </a:solidFill>
        </p:spPr>
        <p:txBody>
          <a:bodyPr/>
          <a:lstStyle/>
          <a:p>
            <a:pPr marL="0" indent="0">
              <a:lnSpc>
                <a:spcPct val="100000"/>
              </a:lnSpc>
              <a:buNone/>
            </a:pPr>
            <a:r>
              <a:rPr lang="en-US" altLang="zh-CN" sz="1200" b="0" dirty="0">
                <a:solidFill>
                  <a:srgbClr val="000000"/>
                </a:solidFill>
                <a:effectLst/>
                <a:latin typeface="Consolas" panose="020B0609020204030204" pitchFamily="49" charset="0"/>
              </a:rPr>
              <a:t>s = [</a:t>
            </a:r>
            <a:r>
              <a:rPr lang="en-US" altLang="zh-CN" sz="1200" b="0" dirty="0">
                <a:solidFill>
                  <a:srgbClr val="A31515"/>
                </a:solidFill>
                <a:effectLst/>
                <a:latin typeface="Consolas" panose="020B0609020204030204" pitchFamily="49" charset="0"/>
              </a:rPr>
              <a:t>"linear"</a:t>
            </a:r>
            <a:r>
              <a:rPr lang="en-US" altLang="zh-CN" sz="1200" b="0" dirty="0">
                <a:solidFill>
                  <a:srgbClr val="000000"/>
                </a:solidFill>
                <a:effectLst/>
                <a:latin typeface="Consolas" panose="020B0609020204030204" pitchFamily="49" charset="0"/>
              </a:rPr>
              <a:t>, </a:t>
            </a:r>
            <a:r>
              <a:rPr lang="en-US" altLang="zh-CN" sz="1200" b="0" dirty="0">
                <a:solidFill>
                  <a:srgbClr val="A31515"/>
                </a:solidFill>
                <a:effectLst/>
                <a:latin typeface="Consolas" panose="020B0609020204030204" pitchFamily="49" charset="0"/>
              </a:rPr>
              <a:t>"nearest"</a:t>
            </a:r>
            <a:r>
              <a:rPr lang="en-US" altLang="zh-CN" sz="1200" b="0" dirty="0">
                <a:solidFill>
                  <a:srgbClr val="000000"/>
                </a:solidFill>
                <a:effectLst/>
                <a:latin typeface="Consolas" panose="020B0609020204030204" pitchFamily="49" charset="0"/>
              </a:rPr>
              <a:t>, </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pchip</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 </a:t>
            </a:r>
            <a:r>
              <a:rPr lang="en-US" altLang="zh-CN" sz="1200" b="0" dirty="0">
                <a:solidFill>
                  <a:srgbClr val="A31515"/>
                </a:solidFill>
                <a:effectLst/>
                <a:latin typeface="Consolas" panose="020B0609020204030204" pitchFamily="49" charset="0"/>
              </a:rPr>
              <a:t>"spline"</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建立四种插值方法的数组</a:t>
            </a:r>
            <a:endParaRPr lang="zh-CN" altLang="en-US" sz="1200" b="0" dirty="0">
              <a:solidFill>
                <a:srgbClr val="000000"/>
              </a:solidFill>
              <a:effectLst/>
              <a:latin typeface="Consolas" panose="020B0609020204030204" pitchFamily="49" charset="0"/>
            </a:endParaRPr>
          </a:p>
          <a:p>
            <a:pPr marL="0" indent="0">
              <a:lnSpc>
                <a:spcPct val="100000"/>
              </a:lnSpc>
              <a:buNone/>
            </a:pPr>
            <a:r>
              <a:rPr lang="en-US" altLang="zh-CN" sz="1200" b="0" dirty="0">
                <a:solidFill>
                  <a:srgbClr val="AF00DB"/>
                </a:solidFill>
                <a:effectLst/>
                <a:latin typeface="Consolas" panose="020B0609020204030204" pitchFamily="49" charset="0"/>
              </a:rPr>
              <a:t>for</a:t>
            </a:r>
            <a:r>
              <a:rPr lang="en-US" altLang="zh-CN" sz="1200" b="0" dirty="0">
                <a:solidFill>
                  <a:srgbClr val="000000"/>
                </a:solidFill>
                <a:effectLst/>
                <a:latin typeface="Consolas" panose="020B0609020204030204" pitchFamily="49" charset="0"/>
              </a:rPr>
              <a:t> k = </a:t>
            </a:r>
            <a:r>
              <a:rPr lang="en-US" altLang="zh-CN" sz="1200" b="0" dirty="0">
                <a:solidFill>
                  <a:srgbClr val="098658"/>
                </a:solidFill>
                <a:effectLst/>
                <a:latin typeface="Consolas" panose="020B0609020204030204" pitchFamily="49" charset="0"/>
              </a:rPr>
              <a:t>1</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4</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绘制四个插值图形要循环</a:t>
            </a:r>
            <a:r>
              <a:rPr lang="en-US" altLang="zh-CN" sz="1200" b="0" dirty="0">
                <a:solidFill>
                  <a:srgbClr val="008000"/>
                </a:solidFill>
                <a:effectLst/>
                <a:latin typeface="Consolas" panose="020B0609020204030204" pitchFamily="49" charset="0"/>
              </a:rPr>
              <a:t>4</a:t>
            </a:r>
            <a:r>
              <a:rPr lang="zh-CN" altLang="en-US" sz="1200" b="0" dirty="0">
                <a:solidFill>
                  <a:srgbClr val="008000"/>
                </a:solidFill>
                <a:effectLst/>
                <a:latin typeface="Consolas" panose="020B0609020204030204" pitchFamily="49" charset="0"/>
              </a:rPr>
              <a:t>次</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subplot</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2</a:t>
            </a:r>
            <a:r>
              <a:rPr lang="en-US" altLang="zh-CN" sz="1200" b="0" dirty="0">
                <a:solidFill>
                  <a:srgbClr val="000000"/>
                </a:solidFill>
                <a:effectLst/>
                <a:latin typeface="Consolas" panose="020B0609020204030204" pitchFamily="49" charset="0"/>
              </a:rPr>
              <a:t>, k)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创建多子图绘制插值后曲线</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000000"/>
                </a:solidFill>
                <a:effectLst/>
                <a:latin typeface="Consolas" panose="020B0609020204030204" pitchFamily="49" charset="0"/>
              </a:rPr>
              <a:t>x = [</a:t>
            </a:r>
            <a:r>
              <a:rPr lang="en-US" altLang="zh-CN" sz="1200" b="0" dirty="0">
                <a:solidFill>
                  <a:srgbClr val="098658"/>
                </a:solidFill>
                <a:effectLst/>
                <a:latin typeface="Consolas" panose="020B0609020204030204" pitchFamily="49" charset="0"/>
              </a:rPr>
              <a:t>7.0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13.0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17.5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34.0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40.5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44.5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48.0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56.0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68.5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76.5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80.5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91.0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96.0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104.0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106.5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111.5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118.0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123.5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136.5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142.0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146.0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150.0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157.0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158.0</a:t>
            </a:r>
            <a:r>
              <a:rPr lang="en-US" altLang="zh-CN" sz="1200" b="0" dirty="0">
                <a:solidFill>
                  <a:srgbClr val="000000"/>
                </a:solidFill>
                <a:effectLst/>
                <a:latin typeface="Consolas" panose="020B0609020204030204" pitchFamily="49" charset="0"/>
              </a:rPr>
              <a:t>] </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000000"/>
                </a:solidFill>
                <a:effectLst/>
                <a:latin typeface="Consolas" panose="020B0609020204030204" pitchFamily="49" charset="0"/>
              </a:rPr>
              <a:t>y1 = [</a:t>
            </a:r>
            <a:r>
              <a:rPr lang="en-US" altLang="zh-CN" sz="1200" b="0" dirty="0">
                <a:solidFill>
                  <a:srgbClr val="098658"/>
                </a:solidFill>
                <a:effectLst/>
                <a:latin typeface="Consolas" panose="020B0609020204030204" pitchFamily="49" charset="0"/>
              </a:rPr>
              <a:t>44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38</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43</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33</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28</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32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68</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下边界线</a:t>
            </a:r>
            <a:r>
              <a:rPr lang="en-US" altLang="zh-CN" sz="1200" b="0" dirty="0">
                <a:solidFill>
                  <a:srgbClr val="008000"/>
                </a:solidFill>
                <a:effectLst/>
                <a:latin typeface="Consolas" panose="020B0609020204030204" pitchFamily="49" charset="0"/>
              </a:rPr>
              <a:t>y</a:t>
            </a:r>
            <a:r>
              <a:rPr lang="zh-CN" altLang="en-US" sz="1200" b="0" dirty="0">
                <a:solidFill>
                  <a:srgbClr val="008000"/>
                </a:solidFill>
                <a:effectLst/>
                <a:latin typeface="Consolas" panose="020B0609020204030204" pitchFamily="49" charset="0"/>
              </a:rPr>
              <a:t>轴值</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000000"/>
                </a:solidFill>
                <a:effectLst/>
                <a:latin typeface="Consolas" panose="020B0609020204030204" pitchFamily="49" charset="0"/>
              </a:rPr>
              <a:t>y2 = [</a:t>
            </a:r>
            <a:r>
              <a:rPr lang="en-US" altLang="zh-CN" sz="1200" b="0" dirty="0">
                <a:solidFill>
                  <a:srgbClr val="098658"/>
                </a:solidFill>
                <a:effectLst/>
                <a:latin typeface="Consolas" panose="020B0609020204030204" pitchFamily="49" charset="0"/>
              </a:rPr>
              <a:t>44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59</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70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72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93</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100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110</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117</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118</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118</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118</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124</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122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116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83</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81</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82</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86</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85</a:t>
            </a:r>
            <a:r>
              <a:rPr lang="en-US" altLang="zh-CN" sz="1200" b="0" dirty="0">
                <a:solidFill>
                  <a:srgbClr val="000000"/>
                </a:solidFill>
                <a:effectLst/>
                <a:latin typeface="Consolas" panose="020B0609020204030204" pitchFamily="49" charset="0"/>
              </a:rPr>
              <a:t>, </a:t>
            </a:r>
            <a:r>
              <a:rPr lang="en-US" altLang="zh-CN" sz="1200" b="0" dirty="0">
                <a:solidFill>
                  <a:srgbClr val="098658"/>
                </a:solidFill>
                <a:effectLst/>
                <a:latin typeface="Consolas" panose="020B0609020204030204" pitchFamily="49" charset="0"/>
              </a:rPr>
              <a:t>68</a:t>
            </a:r>
            <a:r>
              <a:rPr lang="en-US" altLang="zh-CN" sz="1200" b="0" dirty="0">
                <a:solidFill>
                  <a:srgbClr val="000000"/>
                </a:solidFill>
                <a:effectLst/>
                <a:latin typeface="Consolas" panose="020B0609020204030204" pitchFamily="49" charset="0"/>
              </a:rPr>
              <a:t>]</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上边界</a:t>
            </a:r>
            <a:r>
              <a:rPr lang="en-US" altLang="zh-CN" sz="1200" b="0" dirty="0">
                <a:solidFill>
                  <a:srgbClr val="008000"/>
                </a:solidFill>
                <a:effectLst/>
                <a:latin typeface="Consolas" panose="020B0609020204030204" pitchFamily="49" charset="0"/>
              </a:rPr>
              <a:t>y</a:t>
            </a:r>
            <a:r>
              <a:rPr lang="zh-CN" altLang="en-US" sz="1200" b="0" dirty="0">
                <a:solidFill>
                  <a:srgbClr val="008000"/>
                </a:solidFill>
                <a:effectLst/>
                <a:latin typeface="Consolas" panose="020B0609020204030204" pitchFamily="49" charset="0"/>
              </a:rPr>
              <a:t>值</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hold</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"on"</a:t>
            </a:r>
            <a:r>
              <a:rPr lang="en-US" altLang="zh-CN" sz="1200" b="0" dirty="0">
                <a:solidFill>
                  <a:srgbClr val="000000"/>
                </a:solidFill>
                <a:effectLst/>
                <a:latin typeface="Consolas" panose="020B0609020204030204" pitchFamily="49" charset="0"/>
              </a:rPr>
              <a:t>)</a:t>
            </a:r>
          </a:p>
          <a:p>
            <a:pPr marL="0" indent="0">
              <a:lnSpc>
                <a:spcPct val="100000"/>
              </a:lnSpc>
              <a:buNone/>
            </a:pP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plot</a:t>
            </a:r>
            <a:r>
              <a:rPr lang="en-US" altLang="zh-CN" sz="1200" b="0" dirty="0">
                <a:solidFill>
                  <a:srgbClr val="000000"/>
                </a:solidFill>
                <a:effectLst/>
                <a:latin typeface="Consolas" panose="020B0609020204030204" pitchFamily="49" charset="0"/>
              </a:rPr>
              <a:t>(x, y1, </a:t>
            </a:r>
            <a:r>
              <a:rPr lang="en-US" altLang="zh-CN" sz="1200" b="0" dirty="0">
                <a:solidFill>
                  <a:srgbClr val="A31515"/>
                </a:solidFill>
                <a:effectLst/>
                <a:latin typeface="Consolas" panose="020B0609020204030204" pitchFamily="49" charset="0"/>
              </a:rPr>
              <a:t>"go"</a:t>
            </a:r>
            <a:r>
              <a:rPr lang="en-US" altLang="zh-CN" sz="1200" b="0" dirty="0">
                <a:solidFill>
                  <a:srgbClr val="000000"/>
                </a:solidFill>
                <a:effectLst/>
                <a:latin typeface="Consolas" panose="020B0609020204030204" pitchFamily="49" charset="0"/>
              </a:rPr>
              <a:t>, x, y2, </a:t>
            </a:r>
            <a:r>
              <a:rPr lang="en-US" altLang="zh-CN" sz="1200" b="0" dirty="0">
                <a:solidFill>
                  <a:srgbClr val="A31515"/>
                </a:solidFill>
                <a:effectLst/>
                <a:latin typeface="Consolas" panose="020B0609020204030204" pitchFamily="49" charset="0"/>
              </a:rPr>
              <a:t>"</a:t>
            </a:r>
            <a:r>
              <a:rPr lang="en-US" altLang="zh-CN" sz="1200" b="0" dirty="0" err="1">
                <a:solidFill>
                  <a:srgbClr val="A31515"/>
                </a:solidFill>
                <a:effectLst/>
                <a:latin typeface="Consolas" panose="020B0609020204030204" pitchFamily="49" charset="0"/>
              </a:rPr>
              <a:t>og</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markersize</a:t>
            </a:r>
            <a:r>
              <a:rPr lang="en-US" altLang="zh-CN" sz="1200" b="0" dirty="0">
                <a:solidFill>
                  <a:srgbClr val="000000"/>
                </a:solidFill>
                <a:effectLst/>
                <a:latin typeface="Consolas" panose="020B0609020204030204" pitchFamily="49" charset="0"/>
              </a:rPr>
              <a:t>=</a:t>
            </a:r>
            <a:r>
              <a:rPr lang="en-US" altLang="zh-CN" sz="1200" b="0" dirty="0">
                <a:solidFill>
                  <a:srgbClr val="098658"/>
                </a:solidFill>
                <a:effectLst/>
                <a:latin typeface="Consolas" panose="020B0609020204030204" pitchFamily="49" charset="0"/>
              </a:rPr>
              <a:t>4</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markerfacecolor</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"g"</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画上下边界的数据点</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1" dirty="0">
                <a:solidFill>
                  <a:srgbClr val="FF0000"/>
                </a:solidFill>
                <a:effectLst/>
                <a:latin typeface="Consolas" panose="020B0609020204030204" pitchFamily="49" charset="0"/>
              </a:rPr>
              <a:t>    </a:t>
            </a:r>
            <a:r>
              <a:rPr lang="en-US" altLang="zh-CN" sz="1200" b="1" dirty="0" err="1">
                <a:solidFill>
                  <a:srgbClr val="FF0000"/>
                </a:solidFill>
                <a:effectLst/>
                <a:latin typeface="Consolas" panose="020B0609020204030204" pitchFamily="49" charset="0"/>
              </a:rPr>
              <a:t>newx</a:t>
            </a:r>
            <a:r>
              <a:rPr lang="en-US" altLang="zh-CN" sz="1200" b="1" dirty="0">
                <a:solidFill>
                  <a:srgbClr val="FF0000"/>
                </a:solidFill>
                <a:effectLst/>
                <a:latin typeface="Consolas" panose="020B0609020204030204" pitchFamily="49" charset="0"/>
              </a:rPr>
              <a:t>=</a:t>
            </a:r>
            <a:r>
              <a:rPr lang="en-US" altLang="zh-CN" sz="1200" b="1" dirty="0" err="1">
                <a:solidFill>
                  <a:srgbClr val="FF0000"/>
                </a:solidFill>
                <a:effectLst/>
                <a:latin typeface="Consolas" panose="020B0609020204030204" pitchFamily="49" charset="0"/>
              </a:rPr>
              <a:t>LinRange</a:t>
            </a:r>
            <a:r>
              <a:rPr lang="en-US" altLang="zh-CN" sz="1200" b="1" dirty="0">
                <a:solidFill>
                  <a:srgbClr val="FF0000"/>
                </a:solidFill>
                <a:effectLst/>
                <a:latin typeface="Consolas" panose="020B0609020204030204" pitchFamily="49" charset="0"/>
              </a:rPr>
              <a:t>(7.0, 158, 100) #</a:t>
            </a:r>
            <a:r>
              <a:rPr lang="zh-CN" altLang="en-US" sz="1200" b="1" dirty="0">
                <a:solidFill>
                  <a:srgbClr val="FF0000"/>
                </a:solidFill>
                <a:effectLst/>
                <a:latin typeface="Consolas" panose="020B0609020204030204" pitchFamily="49" charset="0"/>
              </a:rPr>
              <a:t>插入</a:t>
            </a:r>
            <a:r>
              <a:rPr lang="en-US" altLang="zh-CN" sz="1200" b="1" dirty="0">
                <a:solidFill>
                  <a:srgbClr val="FF0000"/>
                </a:solidFill>
                <a:effectLst/>
                <a:latin typeface="Consolas" panose="020B0609020204030204" pitchFamily="49" charset="0"/>
              </a:rPr>
              <a:t>X</a:t>
            </a:r>
            <a:r>
              <a:rPr lang="zh-CN" altLang="en-US" sz="1200" b="1" dirty="0">
                <a:solidFill>
                  <a:srgbClr val="FF0000"/>
                </a:solidFill>
                <a:effectLst/>
                <a:latin typeface="Consolas" panose="020B0609020204030204" pitchFamily="49" charset="0"/>
              </a:rPr>
              <a:t>轴插值点</a:t>
            </a:r>
          </a:p>
          <a:p>
            <a:pPr marL="0" indent="0">
              <a:lnSpc>
                <a:spcPct val="100000"/>
              </a:lnSpc>
              <a:buNone/>
            </a:pPr>
            <a:r>
              <a:rPr lang="zh-CN" altLang="en-US" sz="1200" b="1" dirty="0">
                <a:solidFill>
                  <a:srgbClr val="FF0000"/>
                </a:solidFill>
                <a:effectLst/>
                <a:latin typeface="Consolas" panose="020B0609020204030204" pitchFamily="49" charset="0"/>
              </a:rPr>
              <a:t>    </a:t>
            </a:r>
            <a:r>
              <a:rPr lang="en-US" altLang="zh-CN" sz="1200" b="1" dirty="0">
                <a:solidFill>
                  <a:srgbClr val="FF0000"/>
                </a:solidFill>
                <a:effectLst/>
                <a:latin typeface="Consolas" panose="020B0609020204030204" pitchFamily="49" charset="0"/>
              </a:rPr>
              <a:t>newy1=interp1(x, y1, </a:t>
            </a:r>
            <a:r>
              <a:rPr lang="en-US" altLang="zh-CN" sz="1200" b="1" dirty="0" err="1">
                <a:solidFill>
                  <a:srgbClr val="FF0000"/>
                </a:solidFill>
                <a:effectLst/>
                <a:latin typeface="Consolas" panose="020B0609020204030204" pitchFamily="49" charset="0"/>
              </a:rPr>
              <a:t>newx</a:t>
            </a:r>
            <a:r>
              <a:rPr lang="en-US" altLang="zh-CN" sz="1200" b="1" dirty="0">
                <a:solidFill>
                  <a:srgbClr val="FF0000"/>
                </a:solidFill>
                <a:effectLst/>
                <a:latin typeface="Consolas" panose="020B0609020204030204" pitchFamily="49" charset="0"/>
              </a:rPr>
              <a:t>, s[k]) #</a:t>
            </a:r>
            <a:r>
              <a:rPr lang="zh-CN" altLang="en-US" sz="1200" b="1" dirty="0">
                <a:solidFill>
                  <a:srgbClr val="FF0000"/>
                </a:solidFill>
                <a:effectLst/>
                <a:latin typeface="Consolas" panose="020B0609020204030204" pitchFamily="49" charset="0"/>
              </a:rPr>
              <a:t>第</a:t>
            </a:r>
            <a:r>
              <a:rPr lang="en-US" altLang="zh-CN" sz="1200" b="1" dirty="0">
                <a:solidFill>
                  <a:srgbClr val="FF0000"/>
                </a:solidFill>
                <a:effectLst/>
                <a:latin typeface="Consolas" panose="020B0609020204030204" pitchFamily="49" charset="0"/>
              </a:rPr>
              <a:t>k</a:t>
            </a:r>
            <a:r>
              <a:rPr lang="zh-CN" altLang="en-US" sz="1200" b="1" dirty="0">
                <a:solidFill>
                  <a:srgbClr val="FF0000"/>
                </a:solidFill>
                <a:effectLst/>
                <a:latin typeface="Consolas" panose="020B0609020204030204" pitchFamily="49" charset="0"/>
              </a:rPr>
              <a:t>种插值方法的下边界线性插值结果</a:t>
            </a:r>
          </a:p>
          <a:p>
            <a:pPr marL="0" indent="0">
              <a:lnSpc>
                <a:spcPct val="100000"/>
              </a:lnSpc>
              <a:buNone/>
            </a:pPr>
            <a:r>
              <a:rPr lang="zh-CN" altLang="en-US" sz="1200" b="1" dirty="0">
                <a:solidFill>
                  <a:srgbClr val="FF0000"/>
                </a:solidFill>
                <a:effectLst/>
                <a:latin typeface="Consolas" panose="020B0609020204030204" pitchFamily="49" charset="0"/>
              </a:rPr>
              <a:t>    </a:t>
            </a:r>
            <a:r>
              <a:rPr lang="en-US" altLang="zh-CN" sz="1200" b="1" dirty="0">
                <a:solidFill>
                  <a:srgbClr val="FF0000"/>
                </a:solidFill>
                <a:effectLst/>
                <a:latin typeface="Consolas" panose="020B0609020204030204" pitchFamily="49" charset="0"/>
              </a:rPr>
              <a:t>newy2=interp1(x, y2, </a:t>
            </a:r>
            <a:r>
              <a:rPr lang="en-US" altLang="zh-CN" sz="1200" b="1" dirty="0" err="1">
                <a:solidFill>
                  <a:srgbClr val="FF0000"/>
                </a:solidFill>
                <a:effectLst/>
                <a:latin typeface="Consolas" panose="020B0609020204030204" pitchFamily="49" charset="0"/>
              </a:rPr>
              <a:t>newx</a:t>
            </a:r>
            <a:r>
              <a:rPr lang="en-US" altLang="zh-CN" sz="1200" b="1" dirty="0">
                <a:solidFill>
                  <a:srgbClr val="FF0000"/>
                </a:solidFill>
                <a:effectLst/>
                <a:latin typeface="Consolas" panose="020B0609020204030204" pitchFamily="49" charset="0"/>
              </a:rPr>
              <a:t>, s[k]) #</a:t>
            </a:r>
            <a:r>
              <a:rPr lang="zh-CN" altLang="en-US" sz="1200" b="1" dirty="0">
                <a:solidFill>
                  <a:srgbClr val="FF0000"/>
                </a:solidFill>
                <a:effectLst/>
                <a:latin typeface="Consolas" panose="020B0609020204030204" pitchFamily="49" charset="0"/>
              </a:rPr>
              <a:t>第</a:t>
            </a:r>
            <a:r>
              <a:rPr lang="en-US" altLang="zh-CN" sz="1200" b="1" dirty="0">
                <a:solidFill>
                  <a:srgbClr val="FF0000"/>
                </a:solidFill>
                <a:effectLst/>
                <a:latin typeface="Consolas" panose="020B0609020204030204" pitchFamily="49" charset="0"/>
              </a:rPr>
              <a:t>k</a:t>
            </a:r>
            <a:r>
              <a:rPr lang="zh-CN" altLang="en-US" sz="1200" b="1" dirty="0">
                <a:solidFill>
                  <a:srgbClr val="FF0000"/>
                </a:solidFill>
                <a:effectLst/>
                <a:latin typeface="Consolas" panose="020B0609020204030204" pitchFamily="49" charset="0"/>
              </a:rPr>
              <a:t>种插值方法的上边界线性插值结果</a:t>
            </a:r>
          </a:p>
          <a:p>
            <a:pPr marL="0" indent="0">
              <a:lnSpc>
                <a:spcPct val="100000"/>
              </a:lnSpc>
              <a:buNone/>
            </a:pPr>
            <a:r>
              <a:rPr lang="zh-CN" altLang="en-US" sz="1200" b="1" dirty="0">
                <a:solidFill>
                  <a:srgbClr val="FF0000"/>
                </a:solidFill>
                <a:effectLst/>
                <a:latin typeface="Consolas" panose="020B0609020204030204" pitchFamily="49" charset="0"/>
              </a:rPr>
              <a:t>    </a:t>
            </a:r>
            <a:r>
              <a:rPr lang="en-US" altLang="zh-CN" sz="1200" b="1" dirty="0">
                <a:solidFill>
                  <a:srgbClr val="FF0000"/>
                </a:solidFill>
                <a:effectLst/>
                <a:latin typeface="Consolas" panose="020B0609020204030204" pitchFamily="49" charset="0"/>
              </a:rPr>
              <a:t>Area=</a:t>
            </a:r>
            <a:r>
              <a:rPr lang="en-US" altLang="zh-CN" sz="1200" b="1" dirty="0" err="1">
                <a:solidFill>
                  <a:srgbClr val="FF0000"/>
                </a:solidFill>
                <a:effectLst/>
                <a:latin typeface="Consolas" panose="020B0609020204030204" pitchFamily="49" charset="0"/>
              </a:rPr>
              <a:t>trapz</a:t>
            </a:r>
            <a:r>
              <a:rPr lang="en-US" altLang="zh-CN" sz="1200" b="1" dirty="0">
                <a:solidFill>
                  <a:srgbClr val="FF0000"/>
                </a:solidFill>
                <a:effectLst/>
                <a:latin typeface="Consolas" panose="020B0609020204030204" pitchFamily="49" charset="0"/>
              </a:rPr>
              <a:t>(</a:t>
            </a:r>
            <a:r>
              <a:rPr lang="en-US" altLang="zh-CN" sz="1200" b="1" dirty="0" err="1">
                <a:solidFill>
                  <a:srgbClr val="FF0000"/>
                </a:solidFill>
                <a:effectLst/>
                <a:latin typeface="Consolas" panose="020B0609020204030204" pitchFamily="49" charset="0"/>
              </a:rPr>
              <a:t>newx</a:t>
            </a:r>
            <a:r>
              <a:rPr lang="en-US" altLang="zh-CN" sz="1200" b="1" dirty="0">
                <a:solidFill>
                  <a:srgbClr val="FF0000"/>
                </a:solidFill>
                <a:effectLst/>
                <a:latin typeface="Consolas" panose="020B0609020204030204" pitchFamily="49" charset="0"/>
              </a:rPr>
              <a:t>,(newy2-newy1) * (40^2 / 18^2)) #</a:t>
            </a:r>
            <a:r>
              <a:rPr lang="zh-CN" altLang="en-US" sz="1200" b="1" dirty="0">
                <a:solidFill>
                  <a:srgbClr val="FF0000"/>
                </a:solidFill>
                <a:effectLst/>
                <a:latin typeface="Consolas" panose="020B0609020204030204" pitchFamily="49" charset="0"/>
              </a:rPr>
              <a:t>第</a:t>
            </a:r>
            <a:r>
              <a:rPr lang="en-US" altLang="zh-CN" sz="1200" b="1" dirty="0">
                <a:solidFill>
                  <a:srgbClr val="FF0000"/>
                </a:solidFill>
                <a:effectLst/>
                <a:latin typeface="Consolas" panose="020B0609020204030204" pitchFamily="49" charset="0"/>
              </a:rPr>
              <a:t>k</a:t>
            </a:r>
            <a:r>
              <a:rPr lang="zh-CN" altLang="en-US" sz="1200" b="1" dirty="0">
                <a:solidFill>
                  <a:srgbClr val="FF0000"/>
                </a:solidFill>
                <a:effectLst/>
                <a:latin typeface="Consolas" panose="020B0609020204030204" pitchFamily="49" charset="0"/>
              </a:rPr>
              <a:t>种插值法面积</a:t>
            </a: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plot</a:t>
            </a:r>
            <a:r>
              <a:rPr lang="en-US" altLang="zh-CN" sz="1200" b="0" dirty="0">
                <a:solidFill>
                  <a:srgbClr val="000000"/>
                </a:solidFill>
                <a:effectLst/>
                <a:latin typeface="Consolas" panose="020B0609020204030204" pitchFamily="49" charset="0"/>
              </a:rPr>
              <a:t>(</a:t>
            </a:r>
            <a:r>
              <a:rPr lang="en-US" altLang="zh-CN" sz="1200" b="0" dirty="0" err="1">
                <a:solidFill>
                  <a:srgbClr val="000000"/>
                </a:solidFill>
                <a:effectLst/>
                <a:latin typeface="Consolas" panose="020B0609020204030204" pitchFamily="49" charset="0"/>
              </a:rPr>
              <a:t>newx</a:t>
            </a:r>
            <a:r>
              <a:rPr lang="en-US" altLang="zh-CN" sz="1200" b="0" dirty="0">
                <a:solidFill>
                  <a:srgbClr val="000000"/>
                </a:solidFill>
                <a:effectLst/>
                <a:latin typeface="Consolas" panose="020B0609020204030204" pitchFamily="49" charset="0"/>
              </a:rPr>
              <a:t>, newy1, </a:t>
            </a:r>
            <a:r>
              <a:rPr lang="en-US" altLang="zh-CN" sz="1200" b="0" dirty="0">
                <a:solidFill>
                  <a:srgbClr val="A31515"/>
                </a:solidFill>
                <a:effectLst/>
                <a:latin typeface="Consolas" panose="020B0609020204030204" pitchFamily="49" charset="0"/>
              </a:rPr>
              <a:t>"-r"</a:t>
            </a:r>
            <a:r>
              <a:rPr lang="en-US" altLang="zh-CN" sz="1200" b="0" dirty="0">
                <a:solidFill>
                  <a:srgbClr val="000000"/>
                </a:solidFill>
                <a:effectLst/>
                <a:latin typeface="Consolas" panose="020B0609020204030204" pitchFamily="49" charset="0"/>
              </a:rPr>
              <a:t>, </a:t>
            </a:r>
            <a:r>
              <a:rPr lang="en-US" altLang="zh-CN" sz="1200" b="0" dirty="0" err="1">
                <a:solidFill>
                  <a:srgbClr val="000000"/>
                </a:solidFill>
                <a:effectLst/>
                <a:latin typeface="Consolas" panose="020B0609020204030204" pitchFamily="49" charset="0"/>
              </a:rPr>
              <a:t>newx</a:t>
            </a:r>
            <a:r>
              <a:rPr lang="en-US" altLang="zh-CN" sz="1200" b="0" dirty="0">
                <a:solidFill>
                  <a:srgbClr val="000000"/>
                </a:solidFill>
                <a:effectLst/>
                <a:latin typeface="Consolas" panose="020B0609020204030204" pitchFamily="49" charset="0"/>
              </a:rPr>
              <a:t>, newy2, </a:t>
            </a:r>
            <a:r>
              <a:rPr lang="en-US" altLang="zh-CN" sz="1200" b="0" dirty="0">
                <a:solidFill>
                  <a:srgbClr val="A31515"/>
                </a:solidFill>
                <a:effectLst/>
                <a:latin typeface="Consolas" panose="020B0609020204030204" pitchFamily="49" charset="0"/>
              </a:rPr>
              <a:t>"-r"</a:t>
            </a:r>
            <a:r>
              <a:rPr lang="en-US" altLang="zh-CN" sz="1200" b="0" dirty="0">
                <a:solidFill>
                  <a:srgbClr val="000000"/>
                </a:solidFill>
                <a:effectLst/>
                <a:latin typeface="Consolas" panose="020B0609020204030204" pitchFamily="49" charset="0"/>
              </a:rPr>
              <a:t>)</a:t>
            </a:r>
          </a:p>
          <a:p>
            <a:pPr marL="0" indent="0">
              <a:lnSpc>
                <a:spcPct val="100000"/>
              </a:lnSpc>
              <a:buNone/>
            </a:pPr>
            <a:r>
              <a:rPr lang="en-US" altLang="zh-CN" sz="1200" b="0" dirty="0">
                <a:solidFill>
                  <a:srgbClr val="000000"/>
                </a:solidFill>
                <a:effectLst/>
                <a:latin typeface="Consolas" panose="020B0609020204030204" pitchFamily="49" charset="0"/>
              </a:rPr>
              <a:t>    </a:t>
            </a:r>
            <a:r>
              <a:rPr lang="en-US" altLang="zh-CN" sz="1200" b="0" dirty="0" err="1">
                <a:solidFill>
                  <a:srgbClr val="795E26"/>
                </a:solidFill>
                <a:effectLst/>
                <a:latin typeface="Consolas" panose="020B0609020204030204" pitchFamily="49" charset="0"/>
              </a:rPr>
              <a:t>xlabel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东西距离</a:t>
            </a:r>
            <a:r>
              <a:rPr lang="en-US" altLang="zh-CN" sz="1200" b="0" dirty="0">
                <a:solidFill>
                  <a:srgbClr val="A31515"/>
                </a:solidFill>
                <a:effectLst/>
                <a:latin typeface="Consolas" panose="020B0609020204030204" pitchFamily="49" charset="0"/>
              </a:rPr>
              <a:t>,mm</a:t>
            </a:r>
            <a:r>
              <a:rPr lang="zh-CN" altLang="en-US" sz="1200" b="0" dirty="0">
                <a:solidFill>
                  <a:srgbClr val="A31515"/>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a:t>
            </a:r>
          </a:p>
          <a:p>
            <a:pPr marL="0" indent="0">
              <a:lnSpc>
                <a:spcPct val="100000"/>
              </a:lnSpc>
              <a:buNone/>
            </a:pPr>
            <a:r>
              <a:rPr lang="en-US" altLang="zh-CN" sz="1200" b="0" dirty="0">
                <a:solidFill>
                  <a:srgbClr val="000000"/>
                </a:solidFill>
                <a:effectLst/>
                <a:latin typeface="Consolas" panose="020B0609020204030204" pitchFamily="49" charset="0"/>
              </a:rPr>
              <a:t>    </a:t>
            </a:r>
            <a:r>
              <a:rPr lang="en-US" altLang="zh-CN" sz="1200" b="0" dirty="0" err="1">
                <a:solidFill>
                  <a:srgbClr val="795E26"/>
                </a:solidFill>
                <a:effectLst/>
                <a:latin typeface="Consolas" panose="020B0609020204030204" pitchFamily="49" charset="0"/>
              </a:rPr>
              <a:t>ylabel</a:t>
            </a:r>
            <a:r>
              <a:rPr lang="en-US" altLang="zh-CN" sz="1200" b="0" dirty="0">
                <a:solidFill>
                  <a:srgbClr val="000000"/>
                </a:solidFill>
                <a:effectLst/>
                <a:latin typeface="Consolas" panose="020B0609020204030204" pitchFamily="49" charset="0"/>
              </a:rPr>
              <a:t>(</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南北距离</a:t>
            </a:r>
            <a:r>
              <a:rPr lang="en-US" altLang="zh-CN" sz="1200" b="0" dirty="0">
                <a:solidFill>
                  <a:srgbClr val="A31515"/>
                </a:solidFill>
                <a:effectLst/>
                <a:latin typeface="Consolas" panose="020B0609020204030204" pitchFamily="49" charset="0"/>
              </a:rPr>
              <a:t>,mm"</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#y</a:t>
            </a:r>
            <a:r>
              <a:rPr lang="zh-CN" altLang="en-US" sz="1200" b="0" dirty="0">
                <a:solidFill>
                  <a:srgbClr val="008000"/>
                </a:solidFill>
                <a:effectLst/>
                <a:latin typeface="Consolas" panose="020B0609020204030204" pitchFamily="49" charset="0"/>
              </a:rPr>
              <a:t>轴标注</a:t>
            </a:r>
            <a:endParaRPr lang="zh-CN" altLang="en-US" sz="1200" b="0" dirty="0">
              <a:solidFill>
                <a:srgbClr val="000000"/>
              </a:solidFill>
              <a:effectLst/>
              <a:latin typeface="Consolas" panose="020B0609020204030204" pitchFamily="49" charset="0"/>
            </a:endParaRPr>
          </a:p>
          <a:p>
            <a:pPr marL="0" indent="0">
              <a:lnSpc>
                <a:spcPct val="100000"/>
              </a:lnSpc>
              <a:buNone/>
            </a:pPr>
            <a:r>
              <a:rPr lang="zh-CN" altLang="en-US"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title</a:t>
            </a:r>
            <a:r>
              <a:rPr lang="en-US" altLang="zh-CN" sz="1200" b="0" dirty="0">
                <a:solidFill>
                  <a:srgbClr val="000000"/>
                </a:solidFill>
                <a:effectLst/>
                <a:latin typeface="Consolas" panose="020B0609020204030204" pitchFamily="49" charset="0"/>
              </a:rPr>
              <a:t>([s[k], </a:t>
            </a:r>
            <a:r>
              <a:rPr lang="en-US" altLang="zh-CN" sz="1200" b="0" dirty="0">
                <a:solidFill>
                  <a:srgbClr val="A31515"/>
                </a:solidFill>
                <a:effectLst/>
                <a:latin typeface="Consolas" panose="020B0609020204030204" pitchFamily="49" charset="0"/>
              </a:rPr>
              <a:t>"</a:t>
            </a:r>
            <a:r>
              <a:rPr lang="zh-CN" altLang="en-US" sz="1200" b="0" dirty="0">
                <a:solidFill>
                  <a:srgbClr val="A31515"/>
                </a:solidFill>
                <a:effectLst/>
                <a:latin typeface="Consolas" panose="020B0609020204030204" pitchFamily="49" charset="0"/>
              </a:rPr>
              <a:t>面积</a:t>
            </a:r>
            <a:r>
              <a:rPr lang="en-US" altLang="zh-CN" sz="1200" b="0" dirty="0">
                <a:solidFill>
                  <a:srgbClr val="A31515"/>
                </a:solidFill>
                <a:effectLst/>
                <a:latin typeface="Consolas" panose="020B0609020204030204" pitchFamily="49" charset="0"/>
              </a:rPr>
              <a:t>="</a:t>
            </a:r>
            <a:r>
              <a:rPr lang="en-US" altLang="zh-CN" sz="1200" b="0" dirty="0">
                <a:solidFill>
                  <a:srgbClr val="000000"/>
                </a:solidFill>
                <a:effectLst/>
                <a:latin typeface="Consolas" panose="020B0609020204030204" pitchFamily="49" charset="0"/>
              </a:rPr>
              <a:t>, </a:t>
            </a:r>
            <a:r>
              <a:rPr lang="en-US" altLang="zh-CN" sz="1200" b="0" dirty="0">
                <a:solidFill>
                  <a:srgbClr val="795E26"/>
                </a:solidFill>
                <a:effectLst/>
                <a:latin typeface="Consolas" panose="020B0609020204030204" pitchFamily="49" charset="0"/>
              </a:rPr>
              <a:t>string</a:t>
            </a:r>
            <a:r>
              <a:rPr lang="en-US" altLang="zh-CN" sz="1200" b="0" dirty="0">
                <a:solidFill>
                  <a:srgbClr val="000000"/>
                </a:solidFill>
                <a:effectLst/>
                <a:latin typeface="Consolas" panose="020B0609020204030204" pitchFamily="49" charset="0"/>
              </a:rPr>
              <a:t>(Area)])</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图题</a:t>
            </a:r>
            <a:endParaRPr lang="zh-CN" altLang="en-US" sz="1200" b="0" dirty="0">
              <a:solidFill>
                <a:srgbClr val="000000"/>
              </a:solidFill>
              <a:effectLst/>
              <a:latin typeface="Consolas" panose="020B0609020204030204" pitchFamily="49" charset="0"/>
            </a:endParaRPr>
          </a:p>
          <a:p>
            <a:pPr marL="0" indent="0">
              <a:lnSpc>
                <a:spcPct val="100000"/>
              </a:lnSpc>
              <a:buNone/>
            </a:pPr>
            <a:r>
              <a:rPr lang="en-US" altLang="zh-CN" sz="1200" b="0" dirty="0">
                <a:solidFill>
                  <a:srgbClr val="AF00DB"/>
                </a:solidFill>
                <a:effectLst/>
                <a:latin typeface="Consolas" panose="020B0609020204030204" pitchFamily="49" charset="0"/>
              </a:rPr>
              <a:t>end</a:t>
            </a:r>
            <a:endParaRPr lang="en-US" altLang="zh-CN" sz="1200" b="0" dirty="0">
              <a:solidFill>
                <a:srgbClr val="000000"/>
              </a:solidFill>
              <a:effectLst/>
              <a:latin typeface="Consolas" panose="020B0609020204030204" pitchFamily="49" charset="0"/>
            </a:endParaRPr>
          </a:p>
          <a:p>
            <a:pPr marL="0" indent="0">
              <a:lnSpc>
                <a:spcPct val="100000"/>
              </a:lnSpc>
              <a:buNone/>
            </a:pPr>
            <a:r>
              <a:rPr lang="en-US" altLang="zh-CN" sz="1200" b="0" dirty="0">
                <a:solidFill>
                  <a:srgbClr val="795E26"/>
                </a:solidFill>
                <a:effectLst/>
                <a:latin typeface="Consolas" panose="020B0609020204030204" pitchFamily="49" charset="0"/>
              </a:rPr>
              <a:t>tightlayout</a:t>
            </a:r>
            <a:r>
              <a:rPr lang="en-US" altLang="zh-CN" sz="1200" b="0" dirty="0">
                <a:solidFill>
                  <a:srgbClr val="000000"/>
                </a:solidFill>
                <a:effectLst/>
                <a:latin typeface="Consolas" panose="020B0609020204030204" pitchFamily="49" charset="0"/>
              </a:rPr>
              <a:t>(); </a:t>
            </a:r>
            <a:r>
              <a:rPr lang="en-US" altLang="zh-CN" sz="1200" b="0" dirty="0">
                <a:solidFill>
                  <a:srgbClr val="008000"/>
                </a:solidFill>
                <a:effectLst/>
                <a:latin typeface="Consolas" panose="020B0609020204030204" pitchFamily="49" charset="0"/>
              </a:rPr>
              <a:t>#</a:t>
            </a:r>
            <a:r>
              <a:rPr lang="zh-CN" altLang="en-US" sz="1200" b="0" dirty="0">
                <a:solidFill>
                  <a:srgbClr val="008000"/>
                </a:solidFill>
                <a:effectLst/>
                <a:latin typeface="Consolas" panose="020B0609020204030204" pitchFamily="49" charset="0"/>
              </a:rPr>
              <a:t>紧凑布局防止题目和曲线重叠</a:t>
            </a:r>
            <a:endParaRPr lang="zh-CN" altLang="en-US" sz="1200" dirty="0"/>
          </a:p>
        </p:txBody>
      </p:sp>
      <p:sp>
        <p:nvSpPr>
          <p:cNvPr id="4" name="文本框 3"/>
          <p:cNvSpPr txBox="1"/>
          <p:nvPr/>
        </p:nvSpPr>
        <p:spPr>
          <a:xfrm>
            <a:off x="827584" y="123478"/>
            <a:ext cx="8208912" cy="492443"/>
          </a:xfrm>
          <a:prstGeom prst="rect">
            <a:avLst/>
          </a:prstGeom>
          <a:noFill/>
        </p:spPr>
        <p:txBody>
          <a:bodyPr wrap="square">
            <a:spAutoFit/>
          </a:bodyPr>
          <a:lstStyle/>
          <a:p>
            <a:r>
              <a:rPr lang="en-US" altLang="zh-CN" sz="2600" kern="0" dirty="0">
                <a:solidFill>
                  <a:srgbClr val="002060"/>
                </a:solidFill>
                <a:latin typeface="华文楷体" panose="02010600040101010101" pitchFamily="2" charset="-122"/>
                <a:ea typeface="华文楷体" panose="02010600040101010101" pitchFamily="2" charset="-122"/>
              </a:rPr>
              <a:t>§5.4.2 </a:t>
            </a:r>
            <a:r>
              <a:rPr lang="zh-CN" altLang="en-US" sz="2600" kern="0" dirty="0">
                <a:solidFill>
                  <a:srgbClr val="002060"/>
                </a:solidFill>
                <a:latin typeface="华文楷体" panose="02010600040101010101" pitchFamily="2" charset="-122"/>
                <a:ea typeface="华文楷体" panose="02010600040101010101" pitchFamily="2" charset="-122"/>
              </a:rPr>
              <a:t>一维多项式插值</a:t>
            </a:r>
            <a:r>
              <a:rPr lang="en-US" altLang="zh-CN" sz="2600" dirty="0">
                <a:solidFill>
                  <a:srgbClr val="FF0000"/>
                </a:solidFill>
                <a:latin typeface="华文楷体" panose="02010600040101010101" pitchFamily="2" charset="-122"/>
                <a:ea typeface="华文楷体" panose="02010600040101010101" pitchFamily="2" charset="-122"/>
              </a:rPr>
              <a:t>———</a:t>
            </a:r>
            <a:r>
              <a:rPr lang="zh-CN" altLang="en-US" sz="2600" dirty="0">
                <a:solidFill>
                  <a:srgbClr val="FF0000"/>
                </a:solidFill>
                <a:latin typeface="华文楷体" panose="02010600040101010101" pitchFamily="2" charset="-122"/>
                <a:ea typeface="华文楷体" panose="02010600040101010101" pitchFamily="2" charset="-122"/>
              </a:rPr>
              <a:t>不同</a:t>
            </a:r>
            <a:r>
              <a:rPr lang="zh-CN" altLang="en-US" sz="2600" i="0" dirty="0">
                <a:solidFill>
                  <a:srgbClr val="FF0000"/>
                </a:solidFill>
                <a:effectLst/>
                <a:latin typeface="华文楷体" panose="02010600040101010101" pitchFamily="2" charset="-122"/>
                <a:ea typeface="华文楷体" panose="02010600040101010101" pitchFamily="2" charset="-122"/>
              </a:rPr>
              <a:t>插值</a:t>
            </a:r>
            <a:r>
              <a:rPr lang="zh-CN" altLang="en-US" sz="2600" dirty="0">
                <a:solidFill>
                  <a:srgbClr val="FF0000"/>
                </a:solidFill>
                <a:latin typeface="华文楷体" panose="02010600040101010101" pitchFamily="2" charset="-122"/>
                <a:ea typeface="华文楷体" panose="02010600040101010101" pitchFamily="2" charset="-122"/>
              </a:rPr>
              <a:t>方法求面积案例</a:t>
            </a:r>
          </a:p>
        </p:txBody>
      </p:sp>
      <p:sp>
        <p:nvSpPr>
          <p:cNvPr id="5" name="AutoShape 13"/>
          <p:cNvSpPr/>
          <p:nvPr/>
        </p:nvSpPr>
        <p:spPr bwMode="auto">
          <a:xfrm>
            <a:off x="5220979" y="3412681"/>
            <a:ext cx="3691613" cy="556224"/>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ctr" defTabSz="914400" eaLnBrk="0" fontAlgn="base" latinLnBrk="0">
              <a:lnSpc>
                <a:spcPct val="140000"/>
              </a:lnSpc>
              <a:spcBef>
                <a:spcPts val="0"/>
              </a:spcBef>
              <a:spcAft>
                <a:spcPts val="0"/>
              </a:spcAft>
              <a:buFontTx/>
              <a:buNone/>
            </a:pPr>
            <a:r>
              <a:rPr lang="zh-CN" altLang="en-US" sz="1600" b="1" cap="none" dirty="0">
                <a:solidFill>
                  <a:srgbClr val="FFFF00"/>
                </a:solidFill>
                <a:latin typeface="宋体" panose="02010600030101010101" pitchFamily="2" charset="-122"/>
                <a:ea typeface="宋体" panose="02010600030101010101" pitchFamily="2" charset="-122"/>
              </a:rPr>
              <a:t>插值后求积分面积</a:t>
            </a:r>
            <a:endParaRPr lang="ko-KR" altLang="en-US" sz="1600" b="1" cap="none" dirty="0">
              <a:solidFill>
                <a:srgbClr val="FFFF00"/>
              </a:solidFill>
              <a:latin typeface="宋体" panose="02010600030101010101" pitchFamily="2" charset="-122"/>
              <a:ea typeface="宋体" panose="02010600030101010101" pitchFamily="2" charset="-122"/>
            </a:endParaRPr>
          </a:p>
        </p:txBody>
      </p:sp>
      <p:sp>
        <p:nvSpPr>
          <p:cNvPr id="6" name="Text Box 3"/>
          <p:cNvSpPr txBox="1"/>
          <p:nvPr/>
        </p:nvSpPr>
        <p:spPr bwMode="auto">
          <a:xfrm>
            <a:off x="5868144" y="4106179"/>
            <a:ext cx="2764449"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r>
              <a:rPr lang="zh-CN" altLang="en-US" sz="2000" dirty="0">
                <a:solidFill>
                  <a:srgbClr val="FFFF00"/>
                </a:solidFill>
              </a:rPr>
              <a:t>积分求面积</a:t>
            </a:r>
            <a:r>
              <a:rPr lang="en-US" altLang="ko-KR" sz="2000" dirty="0">
                <a:solidFill>
                  <a:srgbClr val="FFFF00"/>
                </a:solidFill>
              </a:rPr>
              <a:t> =</a:t>
            </a:r>
            <a:r>
              <a:rPr lang="en-US" altLang="ko-KR" sz="2000" dirty="0" err="1">
                <a:solidFill>
                  <a:srgbClr val="FFFF00"/>
                </a:solidFill>
              </a:rPr>
              <a:t>trapz</a:t>
            </a:r>
            <a:r>
              <a:rPr lang="en-US" altLang="ko-KR" sz="2000" dirty="0">
                <a:solidFill>
                  <a:srgbClr val="FFFF00"/>
                </a:solidFill>
              </a:rPr>
              <a:t>(</a:t>
            </a:r>
            <a:r>
              <a:rPr lang="en-US" altLang="ko-KR" sz="2000" dirty="0" err="1">
                <a:solidFill>
                  <a:srgbClr val="FFFF00"/>
                </a:solidFill>
              </a:rPr>
              <a:t>x,</a:t>
            </a:r>
            <a:r>
              <a:rPr lang="en-US" altLang="zh-CN" sz="2000" dirty="0" err="1">
                <a:solidFill>
                  <a:srgbClr val="FFFF00"/>
                </a:solidFill>
              </a:rPr>
              <a:t>y</a:t>
            </a:r>
            <a:r>
              <a:rPr lang="en-US" altLang="ko-KR" sz="2000" dirty="0">
                <a:solidFill>
                  <a:srgbClr val="FFFF00"/>
                </a:solidFill>
              </a:rPr>
              <a:t>)</a:t>
            </a:r>
            <a:endParaRPr lang="ko-KR" altLang="en-US" sz="2000" dirty="0">
              <a:solidFill>
                <a:srgbClr val="FFFF00"/>
              </a:solidFill>
            </a:endParaRPr>
          </a:p>
        </p:txBody>
      </p:sp>
      <p:sp>
        <p:nvSpPr>
          <p:cNvPr id="7" name="波形 6"/>
          <p:cNvSpPr/>
          <p:nvPr/>
        </p:nvSpPr>
        <p:spPr>
          <a:xfrm>
            <a:off x="92525" y="182400"/>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54-2</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3"/>
          <a:srcRect t="12201" r="1963" b="8000"/>
          <a:stretch>
            <a:fillRect/>
          </a:stretch>
        </p:blipFill>
        <p:spPr>
          <a:xfrm>
            <a:off x="79449" y="784163"/>
            <a:ext cx="8964488" cy="3676634"/>
          </a:xfrm>
          <a:prstGeom prst="rect">
            <a:avLst/>
          </a:prstGeom>
        </p:spPr>
      </p:pic>
      <p:sp>
        <p:nvSpPr>
          <p:cNvPr id="3" name="文本框 2"/>
          <p:cNvSpPr txBox="1"/>
          <p:nvPr/>
        </p:nvSpPr>
        <p:spPr>
          <a:xfrm>
            <a:off x="899592" y="123478"/>
            <a:ext cx="8064896" cy="523220"/>
          </a:xfrm>
          <a:prstGeom prst="rect">
            <a:avLst/>
          </a:prstGeom>
          <a:no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§5.4.2 </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不同</a:t>
            </a:r>
            <a:r>
              <a:rPr lang="zh-CN" altLang="en-US" sz="2800" i="0" dirty="0">
                <a:solidFill>
                  <a:srgbClr val="FF0000"/>
                </a:solidFill>
                <a:effectLst/>
                <a:latin typeface="华文楷体" panose="02010600040101010101" pitchFamily="2" charset="-122"/>
                <a:ea typeface="华文楷体" panose="02010600040101010101" pitchFamily="2" charset="-122"/>
              </a:rPr>
              <a:t>插值</a:t>
            </a:r>
            <a:r>
              <a:rPr lang="zh-CN" altLang="en-US" sz="2800" dirty="0">
                <a:solidFill>
                  <a:srgbClr val="FF0000"/>
                </a:solidFill>
                <a:latin typeface="华文楷体" panose="02010600040101010101" pitchFamily="2" charset="-122"/>
                <a:ea typeface="华文楷体" panose="02010600040101010101" pitchFamily="2" charset="-122"/>
              </a:rPr>
              <a:t>方法案例</a:t>
            </a:r>
          </a:p>
        </p:txBody>
      </p:sp>
      <p:sp>
        <p:nvSpPr>
          <p:cNvPr id="4" name="矩形 3"/>
          <p:cNvSpPr/>
          <p:nvPr/>
        </p:nvSpPr>
        <p:spPr>
          <a:xfrm>
            <a:off x="7524328" y="866610"/>
            <a:ext cx="540060" cy="461665"/>
          </a:xfrm>
          <a:prstGeom prst="rect">
            <a:avLst/>
          </a:prstGeom>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400" cap="none" dirty="0">
                <a:solidFill>
                  <a:srgbClr val="FF0000"/>
                </a:solidFill>
                <a:latin typeface="Arial" panose="020B0604020202020204" pitchFamily="34" charset="0"/>
                <a:ea typeface="Arial" panose="020B0604020202020204" pitchFamily="34" charset="0"/>
              </a:rPr>
              <a:t>o</a:t>
            </a:r>
            <a:endParaRPr lang="ko-KR" altLang="en-US" sz="2400" cap="none" dirty="0">
              <a:solidFill>
                <a:srgbClr val="FF0000"/>
              </a:solidFill>
              <a:latin typeface="Arial" panose="020B0604020202020204" pitchFamily="34" charset="0"/>
              <a:ea typeface="Arial" panose="020B0604020202020204" pitchFamily="34" charset="0"/>
            </a:endParaRPr>
          </a:p>
        </p:txBody>
      </p:sp>
      <p:sp>
        <p:nvSpPr>
          <p:cNvPr id="6" name="矩形 5"/>
          <p:cNvSpPr/>
          <p:nvPr/>
        </p:nvSpPr>
        <p:spPr>
          <a:xfrm>
            <a:off x="7952072" y="2931790"/>
            <a:ext cx="685964" cy="584775"/>
          </a:xfrm>
          <a:prstGeom prst="rect">
            <a:avLst/>
          </a:prstGeom>
          <a:ln w="6350">
            <a:noFill/>
          </a:ln>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3200" cap="none" dirty="0">
                <a:solidFill>
                  <a:srgbClr val="FF0000"/>
                </a:solidFill>
                <a:latin typeface="Arial" panose="020B0604020202020204" pitchFamily="34" charset="0"/>
                <a:ea typeface="Arial" panose="020B0604020202020204" pitchFamily="34" charset="0"/>
              </a:rPr>
              <a:t>o</a:t>
            </a:r>
            <a:endParaRPr lang="ko-KR" altLang="en-US" sz="3200" cap="none" dirty="0">
              <a:solidFill>
                <a:srgbClr val="FF0000"/>
              </a:solidFill>
              <a:latin typeface="Arial" panose="020B0604020202020204" pitchFamily="34" charset="0"/>
              <a:ea typeface="Arial" panose="020B0604020202020204" pitchFamily="34" charset="0"/>
            </a:endParaRPr>
          </a:p>
        </p:txBody>
      </p:sp>
      <p:sp>
        <p:nvSpPr>
          <p:cNvPr id="8" name="矩形 7"/>
          <p:cNvSpPr/>
          <p:nvPr/>
        </p:nvSpPr>
        <p:spPr>
          <a:xfrm>
            <a:off x="5724128" y="1368356"/>
            <a:ext cx="540060" cy="461665"/>
          </a:xfrm>
          <a:prstGeom prst="rect">
            <a:avLst/>
          </a:prstGeom>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400" cap="none" dirty="0">
                <a:solidFill>
                  <a:srgbClr val="FF0000"/>
                </a:solidFill>
                <a:latin typeface="Arial" panose="020B0604020202020204" pitchFamily="34" charset="0"/>
                <a:ea typeface="Arial" panose="020B0604020202020204" pitchFamily="34" charset="0"/>
              </a:rPr>
              <a:t>o</a:t>
            </a:r>
            <a:endParaRPr lang="ko-KR" altLang="en-US" sz="2400" cap="none" dirty="0">
              <a:solidFill>
                <a:srgbClr val="FF0000"/>
              </a:solidFill>
              <a:latin typeface="Arial" panose="020B0604020202020204" pitchFamily="34" charset="0"/>
              <a:ea typeface="Arial" panose="020B0604020202020204" pitchFamily="34" charset="0"/>
            </a:endParaRPr>
          </a:p>
        </p:txBody>
      </p:sp>
      <p:sp>
        <p:nvSpPr>
          <p:cNvPr id="9" name="矩形 8"/>
          <p:cNvSpPr/>
          <p:nvPr/>
        </p:nvSpPr>
        <p:spPr>
          <a:xfrm>
            <a:off x="4939931" y="2355726"/>
            <a:ext cx="3926324" cy="338554"/>
          </a:xfrm>
          <a:prstGeom prst="rect">
            <a:avLst/>
          </a:prstGeom>
        </p:spPr>
        <p:txBody>
          <a:bodyPr wrap="square">
            <a:spAutoFit/>
          </a:bodyPr>
          <a:lstStyle/>
          <a:p>
            <a:pPr algn="just" defTabSz="63500">
              <a:spcBef>
                <a:spcPts val="0"/>
              </a:spcBef>
              <a:spcAft>
                <a:spcPts val="0"/>
              </a:spcAft>
              <a:buClr>
                <a:srgbClr val="000000"/>
              </a:buClr>
            </a:pPr>
            <a:r>
              <a:rPr lang="en-US" altLang="ko-KR" sz="1600" dirty="0" err="1">
                <a:solidFill>
                  <a:schemeClr val="bg1"/>
                </a:solidFill>
                <a:highlight>
                  <a:srgbClr val="21A4FF"/>
                </a:highlight>
                <a:latin typeface="隶书" panose="02010509060101010101" pitchFamily="49" charset="-122"/>
                <a:ea typeface="隶书" panose="02010509060101010101" pitchFamily="49" charset="-122"/>
              </a:rPr>
              <a:t>邻近插值</a:t>
            </a:r>
            <a:r>
              <a:rPr lang="zh-CN" altLang="en-US" sz="1600" dirty="0">
                <a:solidFill>
                  <a:schemeClr val="bg1"/>
                </a:solidFill>
                <a:highlight>
                  <a:srgbClr val="21A4FF"/>
                </a:highlight>
                <a:latin typeface="隶书" panose="02010509060101010101" pitchFamily="49" charset="-122"/>
                <a:ea typeface="隶书" panose="02010509060101010101" pitchFamily="49" charset="-122"/>
              </a:rPr>
              <a:t>不光滑不精确部分超出数据范围</a:t>
            </a:r>
            <a:endParaRPr lang="ko-KR" altLang="en-US" sz="1600" b="1" baseline="-25000" dirty="0">
              <a:solidFill>
                <a:schemeClr val="bg1"/>
              </a:solidFill>
              <a:effectLst>
                <a:outerShdw blurRad="38100" dist="38100" dir="2700000" algn="tl">
                  <a:srgbClr val="000000">
                    <a:alpha val="43137"/>
                  </a:srgbClr>
                </a:outerShdw>
              </a:effectLst>
              <a:highlight>
                <a:srgbClr val="21A4FF"/>
              </a:highlight>
              <a:latin typeface="隶书" panose="02010509060101010101" pitchFamily="49" charset="-122"/>
            </a:endParaRPr>
          </a:p>
        </p:txBody>
      </p:sp>
      <p:sp>
        <p:nvSpPr>
          <p:cNvPr id="10" name="矩形 9"/>
          <p:cNvSpPr/>
          <p:nvPr/>
        </p:nvSpPr>
        <p:spPr>
          <a:xfrm>
            <a:off x="5203659" y="4245007"/>
            <a:ext cx="3262432" cy="357790"/>
          </a:xfrm>
          <a:prstGeom prst="rect">
            <a:avLst/>
          </a:prstGeom>
        </p:spPr>
        <p:txBody>
          <a:bodyPr wrap="none">
            <a:spAutoFit/>
          </a:bodyPr>
          <a:lstStyle/>
          <a:p>
            <a:pPr algn="just" defTabSz="63500">
              <a:lnSpc>
                <a:spcPct val="125000"/>
              </a:lnSpc>
              <a:spcBef>
                <a:spcPts val="800"/>
              </a:spcBef>
              <a:spcAft>
                <a:spcPts val="0"/>
              </a:spcAft>
              <a:buClr>
                <a:srgbClr val="000000"/>
              </a:buClr>
            </a:pPr>
            <a:r>
              <a:rPr lang="en-US" altLang="zh-CN" sz="1600" dirty="0">
                <a:solidFill>
                  <a:schemeClr val="bg1"/>
                </a:solidFill>
                <a:highlight>
                  <a:srgbClr val="21A4FF"/>
                </a:highlight>
                <a:latin typeface="隶书" panose="02010509060101010101" pitchFamily="49" charset="-122"/>
                <a:ea typeface="隶书" panose="02010509060101010101" pitchFamily="49" charset="-122"/>
              </a:rPr>
              <a:t>spline</a:t>
            </a:r>
            <a:r>
              <a:rPr lang="zh-CN" altLang="en-US" sz="1600" dirty="0">
                <a:solidFill>
                  <a:schemeClr val="bg1"/>
                </a:solidFill>
                <a:highlight>
                  <a:srgbClr val="21A4FF"/>
                </a:highlight>
                <a:latin typeface="隶书" panose="02010509060101010101" pitchFamily="49" charset="-122"/>
                <a:ea typeface="隶书" panose="02010509060101010101" pitchFamily="49" charset="-122"/>
              </a:rPr>
              <a:t>光滑，但部分超出数据范围</a:t>
            </a:r>
            <a:endParaRPr lang="ko-KR" altLang="en-US" sz="1600" dirty="0">
              <a:solidFill>
                <a:schemeClr val="bg1"/>
              </a:solidFill>
              <a:highlight>
                <a:srgbClr val="21A4FF"/>
              </a:highlight>
              <a:latin typeface="隶书" panose="02010509060101010101" pitchFamily="49" charset="-122"/>
            </a:endParaRPr>
          </a:p>
        </p:txBody>
      </p:sp>
      <p:sp>
        <p:nvSpPr>
          <p:cNvPr id="11" name="矩形 10"/>
          <p:cNvSpPr/>
          <p:nvPr/>
        </p:nvSpPr>
        <p:spPr>
          <a:xfrm>
            <a:off x="1159791" y="4225883"/>
            <a:ext cx="3159839" cy="357790"/>
          </a:xfrm>
          <a:prstGeom prst="rect">
            <a:avLst/>
          </a:prstGeom>
        </p:spPr>
        <p:txBody>
          <a:bodyPr wrap="none">
            <a:spAutoFit/>
          </a:bodyPr>
          <a:lstStyle/>
          <a:p>
            <a:pPr algn="just" defTabSz="63500">
              <a:lnSpc>
                <a:spcPct val="125000"/>
              </a:lnSpc>
              <a:spcBef>
                <a:spcPts val="800"/>
              </a:spcBef>
              <a:spcAft>
                <a:spcPts val="0"/>
              </a:spcAft>
              <a:buClr>
                <a:srgbClr val="000000"/>
              </a:buClr>
            </a:pPr>
            <a:r>
              <a:rPr lang="zh-CN" altLang="en-US" sz="1600" dirty="0">
                <a:solidFill>
                  <a:schemeClr val="bg1"/>
                </a:solidFill>
                <a:highlight>
                  <a:srgbClr val="21A4FF"/>
                </a:highlight>
                <a:latin typeface="隶书" panose="02010509060101010101" pitchFamily="49" charset="-122"/>
                <a:ea typeface="隶书" panose="02010509060101010101" pitchFamily="49" charset="-122"/>
              </a:rPr>
              <a:t>三次埃尔米特插值，具有保形性</a:t>
            </a:r>
            <a:endParaRPr lang="ko-KR" altLang="en-US" sz="1600" dirty="0">
              <a:solidFill>
                <a:schemeClr val="bg1"/>
              </a:solidFill>
              <a:highlight>
                <a:srgbClr val="21A4FF"/>
              </a:highlight>
              <a:latin typeface="隶书" panose="02010509060101010101" pitchFamily="49" charset="-122"/>
            </a:endParaRPr>
          </a:p>
        </p:txBody>
      </p:sp>
      <p:sp>
        <p:nvSpPr>
          <p:cNvPr id="12" name="波形 11"/>
          <p:cNvSpPr/>
          <p:nvPr/>
        </p:nvSpPr>
        <p:spPr>
          <a:xfrm>
            <a:off x="63578" y="682703"/>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54-2</a:t>
            </a:r>
            <a:endParaRPr lang="ko-KR" altLang="en-US" b="1" dirty="0">
              <a:solidFill>
                <a:srgbClr val="FFFF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5008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0" grpId="0"/>
      <p:bldP spid="1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76982" y="4177196"/>
            <a:ext cx="6291038"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algn="dist" eaLnBrk="0" hangingPunct="0"/>
            <a:r>
              <a:rPr lang="en-US" altLang="ko-KR" b="1" kern="0" dirty="0">
                <a:solidFill>
                  <a:schemeClr val="bg1"/>
                </a:solidFill>
                <a:latin typeface="Arial Unicode MS"/>
                <a:cs typeface="Times New Roman" panose="02020603050405020304" pitchFamily="18" charset="0"/>
              </a:rPr>
              <a:t> </a:t>
            </a:r>
            <a:r>
              <a:rPr lang="zh-CN" altLang="zh-CN" b="1" kern="0" dirty="0">
                <a:solidFill>
                  <a:schemeClr val="bg1"/>
                </a:solidFill>
                <a:latin typeface="Arial Unicode MS"/>
                <a:cs typeface="Times New Roman" panose="02020603050405020304" pitchFamily="18" charset="0"/>
              </a:rPr>
              <a:t>int= TyCurveFitting</a:t>
            </a:r>
            <a:r>
              <a:rPr lang="en-US" altLang="zh-CN" b="1" kern="0" dirty="0">
                <a:solidFill>
                  <a:schemeClr val="bg1"/>
                </a:solidFill>
                <a:latin typeface="Arial Unicode MS"/>
                <a:cs typeface="Times New Roman" panose="02020603050405020304" pitchFamily="18" charset="0"/>
              </a:rPr>
              <a:t>.</a:t>
            </a:r>
            <a:r>
              <a:rPr lang="zh-CN" altLang="zh-CN" b="1" kern="0" dirty="0">
                <a:solidFill>
                  <a:srgbClr val="FFFF00"/>
                </a:solidFill>
                <a:latin typeface="Arial Unicode MS"/>
                <a:cs typeface="Times New Roman" panose="02020603050405020304" pitchFamily="18" charset="0"/>
              </a:rPr>
              <a:t>i</a:t>
            </a:r>
            <a:r>
              <a:rPr lang="zh-CN" altLang="zh-CN" b="1" kern="0" dirty="0">
                <a:solidFill>
                  <a:schemeClr val="bg1"/>
                </a:solidFill>
                <a:latin typeface="Arial Unicode MS"/>
                <a:cs typeface="Times New Roman" panose="02020603050405020304" pitchFamily="18" charset="0"/>
              </a:rPr>
              <a:t>ntegrate(fitobject,x,x0)</a:t>
            </a:r>
            <a:endParaRPr lang="ko-KR" altLang="en-US" b="1" kern="0" dirty="0">
              <a:solidFill>
                <a:schemeClr val="bg1"/>
              </a:solidFill>
              <a:latin typeface="Arial Unicode MS"/>
              <a:cs typeface="Times New Roman" panose="02020603050405020304" pitchFamily="18" charset="0"/>
            </a:endParaRPr>
          </a:p>
        </p:txBody>
      </p:sp>
      <p:sp>
        <p:nvSpPr>
          <p:cNvPr id="6" name="文本框 5"/>
          <p:cNvSpPr txBox="1"/>
          <p:nvPr/>
        </p:nvSpPr>
        <p:spPr>
          <a:xfrm>
            <a:off x="369194" y="9293"/>
            <a:ext cx="8667301" cy="584775"/>
          </a:xfrm>
          <a:prstGeom prst="rect">
            <a:avLst/>
          </a:prstGeom>
          <a:solidFill>
            <a:schemeClr val="bg1"/>
          </a:solid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§5.4.2 </a:t>
            </a:r>
            <a:r>
              <a:rPr lang="zh-CN" altLang="en-US" sz="2800" kern="0" dirty="0">
                <a:solidFill>
                  <a:srgbClr val="002060"/>
                </a:solidFill>
                <a:latin typeface="华文楷体" panose="02010600040101010101" pitchFamily="2" charset="-122"/>
                <a:ea typeface="华文楷体" panose="02010600040101010101" pitchFamily="2" charset="-122"/>
              </a:rPr>
              <a:t>一维多项式插值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用</a:t>
            </a:r>
            <a:r>
              <a:rPr lang="en-US" altLang="zh-CN" sz="2800" dirty="0">
                <a:solidFill>
                  <a:srgbClr val="FF0000"/>
                </a:solidFill>
                <a:latin typeface="华文楷体" panose="02010600040101010101" pitchFamily="2" charset="-122"/>
                <a:ea typeface="华文楷体" panose="02010600040101010101" pitchFamily="2" charset="-122"/>
              </a:rPr>
              <a:t>fit</a:t>
            </a:r>
            <a:r>
              <a:rPr lang="zh-CN" altLang="en-US" sz="2800" dirty="0">
                <a:solidFill>
                  <a:srgbClr val="FF0000"/>
                </a:solidFill>
                <a:latin typeface="华文楷体" panose="02010600040101010101" pitchFamily="2" charset="-122"/>
                <a:ea typeface="华文楷体" panose="02010600040101010101" pitchFamily="2" charset="-122"/>
              </a:rPr>
              <a:t>插值再</a:t>
            </a:r>
            <a:r>
              <a:rPr lang="en-US" altLang="zh-CN" sz="3200" b="1" dirty="0">
                <a:solidFill>
                  <a:srgbClr val="FF0000"/>
                </a:solidFill>
                <a:latin typeface="华文楷体" panose="02010600040101010101" pitchFamily="2" charset="-122"/>
                <a:ea typeface="华文楷体" panose="02010600040101010101" pitchFamily="2" charset="-122"/>
              </a:rPr>
              <a:t>i</a:t>
            </a:r>
            <a:r>
              <a:rPr lang="en-US" altLang="zh-CN" sz="2800" dirty="0">
                <a:solidFill>
                  <a:srgbClr val="FF0000"/>
                </a:solidFill>
                <a:latin typeface="华文楷体" panose="02010600040101010101" pitchFamily="2" charset="-122"/>
                <a:ea typeface="华文楷体" panose="02010600040101010101" pitchFamily="2" charset="-122"/>
              </a:rPr>
              <a:t>ntegrate</a:t>
            </a:r>
            <a:r>
              <a:rPr lang="zh-CN" altLang="en-US" sz="2800" dirty="0">
                <a:solidFill>
                  <a:srgbClr val="FF0000"/>
                </a:solidFill>
                <a:latin typeface="华文楷体" panose="02010600040101010101" pitchFamily="2" charset="-122"/>
                <a:ea typeface="华文楷体" panose="02010600040101010101" pitchFamily="2" charset="-122"/>
              </a:rPr>
              <a:t>积分</a:t>
            </a:r>
          </a:p>
        </p:txBody>
      </p:sp>
      <p:sp>
        <p:nvSpPr>
          <p:cNvPr id="8" name="文本框 7"/>
          <p:cNvSpPr txBox="1"/>
          <p:nvPr/>
        </p:nvSpPr>
        <p:spPr>
          <a:xfrm>
            <a:off x="230608" y="3685778"/>
            <a:ext cx="8905385" cy="369332"/>
          </a:xfrm>
          <a:prstGeom prst="rect">
            <a:avLst/>
          </a:prstGeom>
          <a:noFill/>
        </p:spPr>
        <p:txBody>
          <a:bodyPr wrap="square">
            <a:spAutoFit/>
          </a:bodyPr>
          <a:lstStyle>
            <a:defPPr>
              <a:defRPr lang="zh-CN"/>
            </a:defPPr>
            <a:lvl1pPr>
              <a:defRPr sz="2000" b="1">
                <a:solidFill>
                  <a:srgbClr val="00B0F0"/>
                </a:solidFill>
                <a:latin typeface="微软雅黑" panose="020B0503020204020204" pitchFamily="34" charset="-122"/>
                <a:ea typeface="微软雅黑" panose="020B0503020204020204" pitchFamily="34" charset="-122"/>
              </a:defRPr>
            </a:lvl1pPr>
          </a:lstStyle>
          <a:p>
            <a:pPr marL="342900" indent="-342900">
              <a:buFont typeface="+mj-ea"/>
              <a:buAutoNum type="circleNumDbPlain" startAt="2"/>
            </a:pPr>
            <a:r>
              <a:rPr lang="en-US" altLang="zh-CN" sz="1800" dirty="0"/>
              <a:t>Integrate</a:t>
            </a:r>
            <a:r>
              <a:rPr lang="zh-CN" altLang="en-US" sz="1800" dirty="0"/>
              <a:t>通过插值结果</a:t>
            </a:r>
            <a:r>
              <a:rPr lang="en-US" altLang="zh-CN" sz="1800" dirty="0" err="1"/>
              <a:t>fitobject</a:t>
            </a:r>
            <a:r>
              <a:rPr lang="zh-CN" altLang="en-US" sz="1800" dirty="0"/>
              <a:t>对向量 </a:t>
            </a:r>
            <a:r>
              <a:rPr lang="en-US" altLang="zh-CN" sz="1800" dirty="0"/>
              <a:t>x </a:t>
            </a:r>
            <a:r>
              <a:rPr lang="zh-CN" altLang="en-US" sz="1800" dirty="0"/>
              <a:t>指定点从 </a:t>
            </a:r>
            <a:r>
              <a:rPr lang="en-US" altLang="zh-CN" sz="1800" dirty="0"/>
              <a:t>x0 </a:t>
            </a:r>
            <a:r>
              <a:rPr lang="zh-CN" altLang="en-US" sz="1800" dirty="0"/>
              <a:t>点开始积分得到积分值</a:t>
            </a:r>
            <a:r>
              <a:rPr lang="en-US" altLang="zh-CN" sz="1800" dirty="0"/>
              <a:t>int</a:t>
            </a:r>
            <a:endParaRPr lang="zh-CN" altLang="en-US" sz="1800" dirty="0"/>
          </a:p>
        </p:txBody>
      </p:sp>
      <p:sp>
        <p:nvSpPr>
          <p:cNvPr id="5" name="文本框 4"/>
          <p:cNvSpPr txBox="1"/>
          <p:nvPr/>
        </p:nvSpPr>
        <p:spPr>
          <a:xfrm>
            <a:off x="179512" y="697489"/>
            <a:ext cx="5688632" cy="369332"/>
          </a:xfrm>
          <a:prstGeom prst="rect">
            <a:avLst/>
          </a:prstGeom>
          <a:solidFill>
            <a:schemeClr val="bg1"/>
          </a:solidFill>
        </p:spPr>
        <p:txBody>
          <a:bodyPr wrap="square">
            <a:spAutoFit/>
          </a:bodyPr>
          <a:lstStyle>
            <a:defPPr>
              <a:defRPr lang="zh-CN"/>
            </a:defPPr>
            <a:lvl1pPr>
              <a:defRPr sz="2000" b="1">
                <a:solidFill>
                  <a:srgbClr val="00B0F0"/>
                </a:solidFill>
                <a:latin typeface="华文楷体" panose="02010600040101010101" pitchFamily="2" charset="-122"/>
                <a:ea typeface="华文楷体" panose="02010600040101010101" pitchFamily="2" charset="-122"/>
              </a:defRPr>
            </a:lvl1pPr>
          </a:lstStyle>
          <a:p>
            <a:pPr marL="342900" indent="-342900">
              <a:buFont typeface="+mj-ea"/>
              <a:buAutoNum type="circleNumDbPlain"/>
            </a:pPr>
            <a:r>
              <a:rPr lang="zh-CN" altLang="en-US" sz="1800" dirty="0">
                <a:latin typeface="微软雅黑" panose="020B0503020204020204" pitchFamily="34" charset="-122"/>
                <a:ea typeface="微软雅黑" panose="020B0503020204020204" pitchFamily="34" charset="-122"/>
              </a:rPr>
              <a:t>将 </a:t>
            </a:r>
            <a:r>
              <a:rPr lang="en-US" altLang="zh-CN" sz="1800" dirty="0" err="1">
                <a:latin typeface="微软雅黑" panose="020B0503020204020204" pitchFamily="34" charset="-122"/>
                <a:ea typeface="微软雅黑" panose="020B0503020204020204" pitchFamily="34" charset="-122"/>
                <a:hlinkClick r:id="rId3" action="ppaction://hlinkfile">
                  <a:extLst>
                    <a:ext uri="{A12FA001-AC4F-418D-AE19-62706E023703}">
                      <ahyp:hlinkClr xmlns:ahyp="http://schemas.microsoft.com/office/drawing/2018/hyperlinkcolor" val="tx"/>
                    </a:ext>
                  </a:extLst>
                </a:hlinkClick>
              </a:rPr>
              <a:t>x,y</a:t>
            </a:r>
            <a:r>
              <a:rPr lang="zh-CN" altLang="en-US" sz="1800" dirty="0">
                <a:latin typeface="微软雅黑" panose="020B0503020204020204" pitchFamily="34" charset="-122"/>
                <a:ea typeface="微软雅黑" panose="020B0503020204020204" pitchFamily="34" charset="-122"/>
              </a:rPr>
              <a:t> 数据按指定内置插值模型</a:t>
            </a:r>
            <a:r>
              <a:rPr lang="en-US" altLang="zh-CN" sz="1800" dirty="0" err="1">
                <a:latin typeface="微软雅黑" panose="020B0503020204020204" pitchFamily="34" charset="-122"/>
                <a:ea typeface="微软雅黑" panose="020B0503020204020204" pitchFamily="34" charset="-122"/>
                <a:hlinkClick r:id="rId4" action="ppaction://hlinkfile">
                  <a:extLst>
                    <a:ext uri="{A12FA001-AC4F-418D-AE19-62706E023703}">
                      <ahyp:hlinkClr xmlns:ahyp="http://schemas.microsoft.com/office/drawing/2018/hyperlinkcolor" val="tx"/>
                    </a:ext>
                  </a:extLst>
                </a:hlinkClick>
              </a:rPr>
              <a:t>fitType</a:t>
            </a:r>
            <a:r>
              <a:rPr lang="zh-CN" altLang="en-US" sz="1800" dirty="0">
                <a:latin typeface="微软雅黑" panose="020B0503020204020204" pitchFamily="34" charset="-122"/>
                <a:ea typeface="微软雅黑" panose="020B0503020204020204" pitchFamily="34" charset="-122"/>
              </a:rPr>
              <a:t>拟合曲线</a:t>
            </a:r>
          </a:p>
        </p:txBody>
      </p:sp>
      <p:sp>
        <p:nvSpPr>
          <p:cNvPr id="7" name="Text Box 3"/>
          <p:cNvSpPr txBox="1"/>
          <p:nvPr/>
        </p:nvSpPr>
        <p:spPr bwMode="auto">
          <a:xfrm>
            <a:off x="5598709" y="722817"/>
            <a:ext cx="3365779" cy="338554"/>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400" b="1" kern="0">
                <a:solidFill>
                  <a:schemeClr val="bg1"/>
                </a:solidFill>
                <a:effectLst>
                  <a:outerShdw blurRad="38100" dist="38100" dir="2700000" algn="tl">
                    <a:srgbClr val="000000">
                      <a:alpha val="43137"/>
                    </a:srgbClr>
                  </a:outerShdw>
                </a:effectLst>
                <a:latin typeface="华文楷体" panose="02010600040101010101" pitchFamily="2" charset="-122"/>
                <a:ea typeface="华文楷体" panose="02010600040101010101" pitchFamily="2" charset="-122"/>
                <a:cs typeface="Times New Roman" panose="02020603050405020304" pitchFamily="18" charset="0"/>
              </a:defRPr>
            </a:lvl1pPr>
          </a:lstStyle>
          <a:p>
            <a:pPr marL="0" lvl="0" indent="0" algn="dist" eaLnBrk="0" hangingPunct="0">
              <a:lnSpc>
                <a:spcPct val="100000"/>
              </a:lnSpc>
            </a:pPr>
            <a:r>
              <a:rPr kumimoji="0" lang="zh-CN" altLang="zh-CN" sz="1600" i="0" u="none" strike="noStrike" cap="none" normalizeH="0" baseline="0" dirty="0">
                <a:ln>
                  <a:noFill/>
                </a:ln>
                <a:effectLst/>
                <a:latin typeface="Arial Unicode MS"/>
                <a:ea typeface="source-code-pro"/>
              </a:rPr>
              <a:t>fitobject=fit(fitType,x,y)</a:t>
            </a:r>
            <a:r>
              <a:rPr kumimoji="0" lang="zh-CN" altLang="zh-CN" sz="1600" i="0" u="none" strike="noStrike" cap="none" normalizeH="0" baseline="0" dirty="0">
                <a:ln>
                  <a:noFill/>
                </a:ln>
                <a:effectLst/>
              </a:rPr>
              <a:t> </a:t>
            </a:r>
            <a:endParaRPr kumimoji="0" lang="zh-CN" altLang="zh-CN" sz="1600" i="0" u="none" strike="noStrike" cap="none" normalizeH="0" baseline="0" dirty="0">
              <a:ln>
                <a:noFill/>
              </a:ln>
              <a:effectLst/>
              <a:latin typeface="Arial" panose="020B0604020202020204" pitchFamily="34" charset="0"/>
            </a:endParaRPr>
          </a:p>
        </p:txBody>
      </p:sp>
      <p:sp>
        <p:nvSpPr>
          <p:cNvPr id="15" name="文本框 14"/>
          <p:cNvSpPr txBox="1"/>
          <p:nvPr/>
        </p:nvSpPr>
        <p:spPr>
          <a:xfrm>
            <a:off x="1838984" y="1170242"/>
            <a:ext cx="5688632" cy="369332"/>
          </a:xfrm>
          <a:prstGeom prst="rect">
            <a:avLst/>
          </a:prstGeom>
          <a:noFill/>
        </p:spPr>
        <p:txBody>
          <a:bodyPr wrap="square">
            <a:spAutoFit/>
          </a:bodyPr>
          <a:lstStyle/>
          <a:p>
            <a:r>
              <a:rPr lang="en-US" altLang="zh-CN" b="1" dirty="0" err="1">
                <a:solidFill>
                  <a:srgbClr val="00B0F0"/>
                </a:solidFill>
                <a:latin typeface="微软雅黑" panose="020B0503020204020204" pitchFamily="34" charset="-122"/>
                <a:ea typeface="微软雅黑" panose="020B0503020204020204" pitchFamily="34" charset="-122"/>
              </a:rPr>
              <a:t>fitType</a:t>
            </a:r>
            <a:r>
              <a:rPr lang="en-US" altLang="zh-CN" b="1" dirty="0">
                <a:solidFill>
                  <a:srgbClr val="00B0F0"/>
                </a:solidFill>
                <a:latin typeface="微软雅黑" panose="020B0503020204020204" pitchFamily="34" charset="-122"/>
                <a:ea typeface="微软雅黑" panose="020B0503020204020204" pitchFamily="34" charset="-122"/>
              </a:rPr>
              <a:t> </a:t>
            </a:r>
            <a:r>
              <a:rPr lang="zh-CN" altLang="en-US" b="1" dirty="0">
                <a:solidFill>
                  <a:srgbClr val="00B0F0"/>
                </a:solidFill>
                <a:latin typeface="微软雅黑" panose="020B0503020204020204" pitchFamily="34" charset="-122"/>
                <a:ea typeface="微软雅黑" panose="020B0503020204020204" pitchFamily="34" charset="-122"/>
              </a:rPr>
              <a:t>内置的插值模型，一定用字符串形式</a:t>
            </a:r>
            <a:endParaRPr lang="zh-CN" altLang="en-US" b="1" dirty="0">
              <a:solidFill>
                <a:srgbClr val="00B0F0"/>
              </a:solidFill>
              <a:latin typeface="华文楷体" panose="02010600040101010101" pitchFamily="2" charset="-122"/>
              <a:ea typeface="华文楷体" panose="02010600040101010101" pitchFamily="2" charset="-122"/>
            </a:endParaRPr>
          </a:p>
        </p:txBody>
      </p:sp>
      <p:pic>
        <p:nvPicPr>
          <p:cNvPr id="18" name="图片 17">
            <a:extLst>
              <a:ext uri="{FF2B5EF4-FFF2-40B4-BE49-F238E27FC236}">
                <a16:creationId xmlns:a16="http://schemas.microsoft.com/office/drawing/2014/main" id="{15077C94-ABEE-4C1A-9B20-9FB3D30C4058}"/>
              </a:ext>
            </a:extLst>
          </p:cNvPr>
          <p:cNvPicPr>
            <a:picLocks noChangeAspect="1"/>
          </p:cNvPicPr>
          <p:nvPr/>
        </p:nvPicPr>
        <p:blipFill rotWithShape="1">
          <a:blip r:embed="rId5"/>
          <a:srcRect l="2058" t="20785" r="46450" b="25854"/>
          <a:stretch/>
        </p:blipFill>
        <p:spPr>
          <a:xfrm>
            <a:off x="1403648" y="1580541"/>
            <a:ext cx="6437706" cy="1946465"/>
          </a:xfrm>
          <a:prstGeom prst="rect">
            <a:avLst/>
          </a:prstGeom>
          <a:ln>
            <a:solidFill>
              <a:schemeClr val="tx1">
                <a:lumMod val="95000"/>
                <a:lumOff val="5000"/>
              </a:schemeClr>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CADA4FFA-E34B-4E77-B66C-382BC8324016}"/>
              </a:ext>
            </a:extLst>
          </p:cNvPr>
          <p:cNvSpPr txBox="1"/>
          <p:nvPr/>
        </p:nvSpPr>
        <p:spPr>
          <a:xfrm>
            <a:off x="267889" y="661487"/>
            <a:ext cx="8316416" cy="3844450"/>
          </a:xfrm>
          <a:prstGeom prst="rect">
            <a:avLst/>
          </a:prstGeom>
          <a:solidFill>
            <a:schemeClr val="bg1"/>
          </a:solidFill>
        </p:spPr>
        <p:txBody>
          <a:bodyPr wrap="square">
            <a:spAutoFit/>
          </a:bodyPr>
          <a:lstStyle/>
          <a:p>
            <a:pPr>
              <a:lnSpc>
                <a:spcPts val="2100"/>
              </a:lnSpc>
            </a:pPr>
            <a:r>
              <a:rPr lang="en-US" altLang="zh-CN" sz="1600" b="0" dirty="0">
                <a:solidFill>
                  <a:srgbClr val="000000"/>
                </a:solidFill>
                <a:effectLst/>
                <a:latin typeface="Consolas" panose="020B0609020204030204" pitchFamily="49" charset="0"/>
              </a:rPr>
              <a:t>x = [</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13.0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17.5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34.0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40.5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44.5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48.0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56.0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68.5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76.5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80.5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91.0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96.0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104.0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106.5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111.5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118.0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123.5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136.5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142.0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146.0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150.0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157.0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158.0</a:t>
            </a:r>
            <a:r>
              <a:rPr lang="en-US" altLang="zh-CN" sz="1600" b="0" dirty="0">
                <a:solidFill>
                  <a:srgbClr val="000000"/>
                </a:solidFill>
                <a:effectLst/>
                <a:latin typeface="Consolas" panose="020B0609020204030204" pitchFamily="49" charset="0"/>
              </a:rPr>
              <a:t>] </a:t>
            </a:r>
          </a:p>
          <a:p>
            <a:pPr>
              <a:lnSpc>
                <a:spcPts val="2100"/>
              </a:lnSpc>
            </a:pPr>
            <a:r>
              <a:rPr lang="en-US" altLang="zh-CN" sz="1600" b="0" dirty="0">
                <a:solidFill>
                  <a:srgbClr val="000000"/>
                </a:solidFill>
                <a:effectLst/>
                <a:latin typeface="Consolas" panose="020B0609020204030204" pitchFamily="49" charset="0"/>
              </a:rPr>
              <a:t>y1 = [</a:t>
            </a:r>
            <a:r>
              <a:rPr lang="en-US" altLang="zh-CN" sz="1600" b="0" dirty="0">
                <a:solidFill>
                  <a:srgbClr val="098658"/>
                </a:solidFill>
                <a:effectLst/>
                <a:latin typeface="Consolas" panose="020B0609020204030204" pitchFamily="49" charset="0"/>
              </a:rPr>
              <a:t>44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38</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43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28</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32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68</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下边界线</a:t>
            </a:r>
            <a:r>
              <a:rPr lang="en-US" altLang="zh-CN" sz="1600" b="0" dirty="0">
                <a:solidFill>
                  <a:srgbClr val="008000"/>
                </a:solidFill>
                <a:effectLst/>
                <a:latin typeface="Consolas" panose="020B0609020204030204" pitchFamily="49" charset="0"/>
              </a:rPr>
              <a:t>y</a:t>
            </a:r>
            <a:r>
              <a:rPr lang="zh-CN" altLang="en-US" sz="1600" b="0" dirty="0">
                <a:solidFill>
                  <a:srgbClr val="008000"/>
                </a:solidFill>
                <a:effectLst/>
                <a:latin typeface="Consolas" panose="020B0609020204030204" pitchFamily="49" charset="0"/>
              </a:rPr>
              <a:t>轴值</a:t>
            </a:r>
            <a:endParaRPr lang="zh-CN" altLang="en-US" sz="1600" b="0" dirty="0">
              <a:solidFill>
                <a:srgbClr val="000000"/>
              </a:solidFill>
              <a:effectLst/>
              <a:latin typeface="Consolas" panose="020B0609020204030204" pitchFamily="49" charset="0"/>
            </a:endParaRPr>
          </a:p>
          <a:p>
            <a:pPr>
              <a:lnSpc>
                <a:spcPts val="2100"/>
              </a:lnSpc>
            </a:pPr>
            <a:r>
              <a:rPr lang="en-US" altLang="zh-CN" sz="1600" b="0" dirty="0">
                <a:solidFill>
                  <a:srgbClr val="000000"/>
                </a:solidFill>
                <a:effectLst/>
                <a:latin typeface="Consolas" panose="020B0609020204030204" pitchFamily="49" charset="0"/>
              </a:rPr>
              <a:t>y2 = [</a:t>
            </a:r>
            <a:r>
              <a:rPr lang="en-US" altLang="zh-CN" sz="1600" b="0" dirty="0">
                <a:solidFill>
                  <a:srgbClr val="098658"/>
                </a:solidFill>
                <a:effectLst/>
                <a:latin typeface="Consolas" panose="020B0609020204030204" pitchFamily="49" charset="0"/>
              </a:rPr>
              <a:t>44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59</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72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93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100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110</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117</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118</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118</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118</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124</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122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116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83</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81</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82</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86</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85</a:t>
            </a:r>
            <a:r>
              <a:rPr lang="en-US" altLang="zh-CN" sz="1600" b="0" dirty="0">
                <a:solidFill>
                  <a:srgbClr val="000000"/>
                </a:solidFill>
                <a:effectLst/>
                <a:latin typeface="Consolas" panose="020B0609020204030204" pitchFamily="49" charset="0"/>
              </a:rPr>
              <a:t>, </a:t>
            </a:r>
            <a:r>
              <a:rPr lang="en-US" altLang="zh-CN" sz="1600" b="0" dirty="0">
                <a:solidFill>
                  <a:srgbClr val="098658"/>
                </a:solidFill>
                <a:effectLst/>
                <a:latin typeface="Consolas" panose="020B0609020204030204" pitchFamily="49" charset="0"/>
              </a:rPr>
              <a:t>68</a:t>
            </a:r>
            <a:r>
              <a:rPr lang="en-US" altLang="zh-CN" sz="1600" b="0" dirty="0">
                <a:solidFill>
                  <a:srgbClr val="000000"/>
                </a:solidFill>
                <a:effectLst/>
                <a:latin typeface="Consolas" panose="020B0609020204030204" pitchFamily="49" charset="0"/>
              </a:rPr>
              <a:t>]</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上边界</a:t>
            </a:r>
            <a:r>
              <a:rPr lang="en-US" altLang="zh-CN" sz="1600" b="0" dirty="0">
                <a:solidFill>
                  <a:srgbClr val="008000"/>
                </a:solidFill>
                <a:effectLst/>
                <a:latin typeface="Consolas" panose="020B0609020204030204" pitchFamily="49" charset="0"/>
              </a:rPr>
              <a:t>y</a:t>
            </a:r>
            <a:r>
              <a:rPr lang="zh-CN" altLang="en-US" sz="1600" b="0" dirty="0">
                <a:solidFill>
                  <a:srgbClr val="008000"/>
                </a:solidFill>
                <a:effectLst/>
                <a:latin typeface="Consolas" panose="020B0609020204030204" pitchFamily="49" charset="0"/>
              </a:rPr>
              <a:t>值</a:t>
            </a:r>
            <a:endParaRPr lang="zh-CN" altLang="en-US" sz="1600" b="0" dirty="0">
              <a:solidFill>
                <a:srgbClr val="000000"/>
              </a:solidFill>
              <a:effectLst/>
              <a:latin typeface="Consolas" panose="020B0609020204030204" pitchFamily="49" charset="0"/>
            </a:endParaRPr>
          </a:p>
          <a:p>
            <a:pPr>
              <a:lnSpc>
                <a:spcPts val="2100"/>
              </a:lnSpc>
            </a:pPr>
            <a:r>
              <a:rPr lang="en-US" altLang="zh-CN" sz="1600" b="0" dirty="0">
                <a:solidFill>
                  <a:srgbClr val="000000"/>
                </a:solidFill>
                <a:effectLst/>
                <a:latin typeface="Consolas" panose="020B0609020204030204" pitchFamily="49" charset="0"/>
              </a:rPr>
              <a:t>f2=</a:t>
            </a:r>
            <a:r>
              <a:rPr lang="en-US" altLang="zh-CN" sz="1600" b="0" dirty="0" err="1">
                <a:solidFill>
                  <a:srgbClr val="000000"/>
                </a:solidFill>
                <a:effectLst/>
                <a:latin typeface="Consolas" panose="020B0609020204030204" pitchFamily="49" charset="0"/>
              </a:rPr>
              <a:t>TyCurveFitting.</a:t>
            </a:r>
            <a:r>
              <a:rPr lang="en-US" altLang="zh-CN" sz="1600" b="0" dirty="0" err="1">
                <a:solidFill>
                  <a:srgbClr val="795E26"/>
                </a:solidFill>
                <a:effectLst/>
                <a:latin typeface="Consolas" panose="020B0609020204030204" pitchFamily="49" charset="0"/>
              </a:rPr>
              <a:t>fit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"linearinterp"</a:t>
            </a:r>
            <a:r>
              <a:rPr lang="en-US" altLang="zh-CN" sz="1600" b="0" dirty="0">
                <a:solidFill>
                  <a:srgbClr val="000000"/>
                </a:solidFill>
                <a:effectLst/>
                <a:latin typeface="Consolas" panose="020B0609020204030204" pitchFamily="49" charset="0"/>
              </a:rPr>
              <a:t>,x,y2)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线性插值</a:t>
            </a:r>
            <a:endParaRPr lang="zh-CN" altLang="en-US" sz="1600" b="0" dirty="0">
              <a:solidFill>
                <a:srgbClr val="000000"/>
              </a:solidFill>
              <a:effectLst/>
              <a:latin typeface="Consolas" panose="020B0609020204030204" pitchFamily="49" charset="0"/>
            </a:endParaRPr>
          </a:p>
          <a:p>
            <a:pPr>
              <a:lnSpc>
                <a:spcPts val="2100"/>
              </a:lnSpc>
            </a:pPr>
            <a:r>
              <a:rPr lang="en-US" altLang="zh-CN" sz="1600" b="0" dirty="0">
                <a:solidFill>
                  <a:srgbClr val="000000"/>
                </a:solidFill>
                <a:effectLst/>
                <a:latin typeface="Consolas" panose="020B0609020204030204" pitchFamily="49" charset="0"/>
              </a:rPr>
              <a:t>f1=</a:t>
            </a:r>
            <a:r>
              <a:rPr lang="en-US" altLang="zh-CN" sz="1600" b="0" dirty="0" err="1">
                <a:solidFill>
                  <a:srgbClr val="000000"/>
                </a:solidFill>
                <a:effectLst/>
                <a:latin typeface="Consolas" panose="020B0609020204030204" pitchFamily="49" charset="0"/>
              </a:rPr>
              <a:t>TyCurveFitting.</a:t>
            </a:r>
            <a:r>
              <a:rPr lang="en-US" altLang="zh-CN" sz="1600" b="0" dirty="0" err="1">
                <a:solidFill>
                  <a:srgbClr val="795E26"/>
                </a:solidFill>
                <a:effectLst/>
                <a:latin typeface="Consolas" panose="020B0609020204030204" pitchFamily="49" charset="0"/>
              </a:rPr>
              <a:t>fit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"linearinterp"</a:t>
            </a:r>
            <a:r>
              <a:rPr lang="en-US" altLang="zh-CN" sz="1600" b="0" dirty="0">
                <a:solidFill>
                  <a:srgbClr val="000000"/>
                </a:solidFill>
                <a:effectLst/>
                <a:latin typeface="Consolas" panose="020B0609020204030204" pitchFamily="49" charset="0"/>
              </a:rPr>
              <a:t>,x,y1)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线性插值</a:t>
            </a:r>
            <a:endParaRPr lang="zh-CN" altLang="en-US" sz="1600" b="0" dirty="0">
              <a:solidFill>
                <a:srgbClr val="000000"/>
              </a:solidFill>
              <a:effectLst/>
              <a:latin typeface="Consolas" panose="020B0609020204030204" pitchFamily="49" charset="0"/>
            </a:endParaRPr>
          </a:p>
          <a:p>
            <a:pPr>
              <a:lnSpc>
                <a:spcPts val="2100"/>
              </a:lnSpc>
            </a:pPr>
            <a:r>
              <a:rPr lang="en-US" altLang="zh-CN" sz="1600" b="0" dirty="0">
                <a:solidFill>
                  <a:srgbClr val="000000"/>
                </a:solidFill>
                <a:effectLst/>
                <a:latin typeface="Consolas" panose="020B0609020204030204" pitchFamily="49" charset="0"/>
              </a:rPr>
              <a:t>int2=</a:t>
            </a:r>
            <a:r>
              <a:rPr lang="en-US" altLang="zh-CN" sz="1600" b="0" dirty="0" err="1">
                <a:solidFill>
                  <a:srgbClr val="000000"/>
                </a:solidFill>
                <a:effectLst/>
                <a:latin typeface="Consolas" panose="020B0609020204030204" pitchFamily="49" charset="0"/>
              </a:rPr>
              <a:t>TyCurveFitting.</a:t>
            </a:r>
            <a:r>
              <a:rPr lang="en-US" altLang="zh-CN" sz="1600" b="0" dirty="0" err="1">
                <a:solidFill>
                  <a:srgbClr val="795E26"/>
                </a:solidFill>
                <a:effectLst/>
                <a:latin typeface="Consolas" panose="020B0609020204030204" pitchFamily="49" charset="0"/>
              </a:rPr>
              <a:t>integrate</a:t>
            </a:r>
            <a:r>
              <a:rPr lang="en-US" altLang="zh-CN" sz="1600" b="0" dirty="0">
                <a:solidFill>
                  <a:srgbClr val="000000"/>
                </a:solidFill>
                <a:effectLst/>
                <a:latin typeface="Consolas" panose="020B0609020204030204" pitchFamily="49" charset="0"/>
              </a:rPr>
              <a:t>(f2,x,</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插值结果积分</a:t>
            </a:r>
            <a:endParaRPr lang="zh-CN" altLang="en-US" sz="1600" b="0" dirty="0">
              <a:solidFill>
                <a:srgbClr val="000000"/>
              </a:solidFill>
              <a:effectLst/>
              <a:latin typeface="Consolas" panose="020B0609020204030204" pitchFamily="49" charset="0"/>
            </a:endParaRPr>
          </a:p>
          <a:p>
            <a:pPr>
              <a:lnSpc>
                <a:spcPts val="2100"/>
              </a:lnSpc>
            </a:pPr>
            <a:r>
              <a:rPr lang="en-US" altLang="zh-CN" sz="1600" b="0" dirty="0">
                <a:solidFill>
                  <a:srgbClr val="000000"/>
                </a:solidFill>
                <a:effectLst/>
                <a:latin typeface="Consolas" panose="020B0609020204030204" pitchFamily="49" charset="0"/>
              </a:rPr>
              <a:t>int1=</a:t>
            </a:r>
            <a:r>
              <a:rPr lang="en-US" altLang="zh-CN" sz="1600" b="0" dirty="0" err="1">
                <a:solidFill>
                  <a:srgbClr val="000000"/>
                </a:solidFill>
                <a:effectLst/>
                <a:latin typeface="Consolas" panose="020B0609020204030204" pitchFamily="49" charset="0"/>
              </a:rPr>
              <a:t>TyCurveFitting.</a:t>
            </a:r>
            <a:r>
              <a:rPr lang="en-US" altLang="zh-CN" sz="1600" b="0" dirty="0" err="1">
                <a:solidFill>
                  <a:srgbClr val="795E26"/>
                </a:solidFill>
                <a:effectLst/>
                <a:latin typeface="Consolas" panose="020B0609020204030204" pitchFamily="49" charset="0"/>
              </a:rPr>
              <a:t>integrate</a:t>
            </a:r>
            <a:r>
              <a:rPr lang="en-US" altLang="zh-CN" sz="1600" b="0" dirty="0">
                <a:solidFill>
                  <a:srgbClr val="000000"/>
                </a:solidFill>
                <a:effectLst/>
                <a:latin typeface="Consolas" panose="020B0609020204030204" pitchFamily="49" charset="0"/>
              </a:rPr>
              <a:t>(f1,x,</a:t>
            </a:r>
            <a:r>
              <a:rPr lang="en-US" altLang="zh-CN" sz="1600" b="0" dirty="0">
                <a:solidFill>
                  <a:srgbClr val="098658"/>
                </a:solidFill>
                <a:effectLst/>
                <a:latin typeface="Consolas" panose="020B0609020204030204" pitchFamily="49" charset="0"/>
              </a:rPr>
              <a:t>7.0</a:t>
            </a:r>
            <a:r>
              <a:rPr lang="en-US" altLang="zh-CN" sz="1600" b="0" dirty="0">
                <a:solidFill>
                  <a:srgbClr val="000000"/>
                </a:solidFill>
                <a:effectLst/>
                <a:latin typeface="Consolas" panose="020B0609020204030204" pitchFamily="49" charset="0"/>
              </a:rPr>
              <a:t>)</a:t>
            </a:r>
          </a:p>
          <a:p>
            <a:pPr>
              <a:lnSpc>
                <a:spcPts val="2100"/>
              </a:lnSpc>
            </a:pPr>
            <a:r>
              <a:rPr lang="en-US" altLang="zh-CN" sz="1600" b="0" dirty="0">
                <a:solidFill>
                  <a:srgbClr val="000000"/>
                </a:solidFill>
                <a:effectLst/>
                <a:latin typeface="Consolas" panose="020B0609020204030204" pitchFamily="49" charset="0"/>
              </a:rPr>
              <a:t>int=(int2-int1)*(</a:t>
            </a:r>
            <a:r>
              <a:rPr lang="en-US" altLang="zh-CN" sz="1600" b="0" dirty="0">
                <a:solidFill>
                  <a:srgbClr val="098658"/>
                </a:solidFill>
                <a:effectLst/>
                <a:latin typeface="Consolas" panose="020B0609020204030204" pitchFamily="49" charset="0"/>
              </a:rPr>
              <a:t>40</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18</a:t>
            </a:r>
            <a:r>
              <a:rPr lang="en-US" altLang="zh-CN" sz="1600" b="0" dirty="0">
                <a:solidFill>
                  <a:srgbClr val="000000"/>
                </a:solidFill>
                <a:effectLst/>
                <a:latin typeface="Consolas" panose="020B0609020204030204" pitchFamily="49" charset="0"/>
              </a:rPr>
              <a:t>^</a:t>
            </a:r>
            <a:r>
              <a:rPr lang="en-US" altLang="zh-CN" sz="1600" b="0" dirty="0">
                <a:solidFill>
                  <a:srgbClr val="098658"/>
                </a:solidFill>
                <a:effectLst/>
                <a:latin typeface="Consolas" panose="020B0609020204030204" pitchFamily="49" charset="0"/>
              </a:rPr>
              <a:t>2</a:t>
            </a:r>
            <a:r>
              <a:rPr lang="en-US" altLang="zh-CN" sz="1600" b="0" dirty="0">
                <a:solidFill>
                  <a:srgbClr val="000000"/>
                </a:solidFill>
                <a:effectLst/>
                <a:latin typeface="Consolas" panose="020B0609020204030204" pitchFamily="49" charset="0"/>
              </a:rPr>
              <a:t>) </a:t>
            </a:r>
          </a:p>
          <a:p>
            <a:pPr>
              <a:lnSpc>
                <a:spcPts val="2100"/>
              </a:lnSpc>
            </a:pPr>
            <a:r>
              <a:rPr lang="en-US" altLang="zh-CN" sz="1600" b="0" dirty="0">
                <a:solidFill>
                  <a:srgbClr val="795E26"/>
                </a:solidFill>
                <a:effectLst/>
                <a:latin typeface="Consolas" panose="020B0609020204030204" pitchFamily="49" charset="0"/>
              </a:rPr>
              <a:t>plot</a:t>
            </a:r>
            <a:r>
              <a:rPr lang="en-US" altLang="zh-CN" sz="1600" b="0" dirty="0">
                <a:solidFill>
                  <a:srgbClr val="000000"/>
                </a:solidFill>
                <a:effectLst/>
                <a:latin typeface="Consolas" panose="020B0609020204030204" pitchFamily="49" charset="0"/>
              </a:rPr>
              <a:t>(</a:t>
            </a:r>
            <a:r>
              <a:rPr lang="en-US" altLang="zh-CN" sz="1600" b="0" dirty="0" err="1">
                <a:solidFill>
                  <a:srgbClr val="000000"/>
                </a:solidFill>
                <a:effectLst/>
                <a:latin typeface="Consolas" panose="020B0609020204030204" pitchFamily="49" charset="0"/>
              </a:rPr>
              <a:t>x,int</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"-or"</a:t>
            </a:r>
            <a:r>
              <a:rPr lang="en-US" altLang="zh-CN" sz="1600" b="0" dirty="0">
                <a:solidFill>
                  <a:srgbClr val="000000"/>
                </a:solidFill>
                <a:effectLst/>
                <a:latin typeface="Consolas" panose="020B0609020204030204" pitchFamily="49" charset="0"/>
              </a:rPr>
              <a:t>)  </a:t>
            </a:r>
            <a:r>
              <a:rPr lang="en-US" altLang="zh-CN" sz="1600" b="0" dirty="0">
                <a:solidFill>
                  <a:srgbClr val="008000"/>
                </a:solidFill>
                <a:effectLst/>
                <a:latin typeface="Consolas" panose="020B0609020204030204" pitchFamily="49" charset="0"/>
              </a:rPr>
              <a:t>#</a:t>
            </a:r>
            <a:r>
              <a:rPr lang="zh-CN" altLang="en-US" sz="1600" b="0" dirty="0">
                <a:solidFill>
                  <a:srgbClr val="008000"/>
                </a:solidFill>
                <a:effectLst/>
                <a:latin typeface="Consolas" panose="020B0609020204030204" pitchFamily="49" charset="0"/>
              </a:rPr>
              <a:t>累计积分</a:t>
            </a:r>
            <a:endParaRPr lang="zh-CN" altLang="en-US" sz="1600" b="0" dirty="0">
              <a:solidFill>
                <a:srgbClr val="000000"/>
              </a:solidFill>
              <a:effectLst/>
              <a:latin typeface="Consolas" panose="020B0609020204030204" pitchFamily="49" charset="0"/>
            </a:endParaRPr>
          </a:p>
          <a:p>
            <a:pPr>
              <a:lnSpc>
                <a:spcPts val="2100"/>
              </a:lnSpc>
            </a:pPr>
            <a:r>
              <a:rPr lang="en-US" altLang="zh-CN" sz="1600" b="0" dirty="0" err="1">
                <a:solidFill>
                  <a:srgbClr val="795E26"/>
                </a:solidFill>
                <a:effectLst/>
                <a:latin typeface="Consolas" panose="020B0609020204030204" pitchFamily="49" charset="0"/>
              </a:rPr>
              <a:t>xlabel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距离</a:t>
            </a:r>
            <a:r>
              <a:rPr lang="en-US" altLang="zh-CN" sz="1600" b="0" dirty="0">
                <a:solidFill>
                  <a:srgbClr val="A31515"/>
                </a:solidFill>
                <a:effectLst/>
                <a:latin typeface="Consolas" panose="020B0609020204030204" pitchFamily="49" charset="0"/>
              </a:rPr>
              <a:t>x"</a:t>
            </a:r>
            <a:r>
              <a:rPr lang="en-US" altLang="zh-CN" sz="1600" b="0" dirty="0">
                <a:solidFill>
                  <a:srgbClr val="000000"/>
                </a:solidFill>
                <a:effectLst/>
                <a:latin typeface="Consolas" panose="020B0609020204030204" pitchFamily="49" charset="0"/>
              </a:rPr>
              <a:t>);</a:t>
            </a:r>
            <a:r>
              <a:rPr lang="en-US" altLang="zh-CN" sz="1600" b="0" dirty="0" err="1">
                <a:solidFill>
                  <a:srgbClr val="795E26"/>
                </a:solidFill>
                <a:effectLst/>
                <a:latin typeface="Consolas" panose="020B0609020204030204" pitchFamily="49" charset="0"/>
              </a:rPr>
              <a:t>ylabel</a:t>
            </a:r>
            <a:r>
              <a:rPr lang="en-US" altLang="zh-CN" sz="1600" b="0" dirty="0">
                <a:solidFill>
                  <a:srgbClr val="000000"/>
                </a:solidFill>
                <a:effectLst/>
                <a:latin typeface="Consolas" panose="020B0609020204030204" pitchFamily="49" charset="0"/>
              </a:rPr>
              <a:t>(</a:t>
            </a:r>
            <a:r>
              <a:rPr lang="en-US" altLang="zh-CN" sz="1600" b="0" dirty="0">
                <a:solidFill>
                  <a:srgbClr val="A31515"/>
                </a:solidFill>
                <a:effectLst/>
                <a:latin typeface="Consolas" panose="020B0609020204030204" pitchFamily="49" charset="0"/>
              </a:rPr>
              <a:t>"</a:t>
            </a:r>
            <a:r>
              <a:rPr lang="zh-CN" altLang="en-US" sz="1600" b="0" dirty="0">
                <a:solidFill>
                  <a:srgbClr val="A31515"/>
                </a:solidFill>
                <a:effectLst/>
                <a:latin typeface="Consolas" panose="020B0609020204030204" pitchFamily="49" charset="0"/>
              </a:rPr>
              <a:t>面积</a:t>
            </a:r>
            <a:r>
              <a:rPr lang="en-US" altLang="zh-CN" sz="1600" b="0" dirty="0">
                <a:solidFill>
                  <a:srgbClr val="A31515"/>
                </a:solidFill>
                <a:effectLst/>
                <a:latin typeface="Consolas" panose="020B0609020204030204" pitchFamily="49" charset="0"/>
              </a:rPr>
              <a:t>int"</a:t>
            </a:r>
            <a:r>
              <a:rPr lang="en-US" altLang="zh-CN" sz="1600" b="0" dirty="0">
                <a:solidFill>
                  <a:srgbClr val="000000"/>
                </a:solidFill>
                <a:effectLst/>
                <a:latin typeface="Consolas" panose="020B0609020204030204" pitchFamily="49" charset="0"/>
              </a:rPr>
              <a:t>)</a:t>
            </a:r>
          </a:p>
        </p:txBody>
      </p:sp>
      <p:pic>
        <p:nvPicPr>
          <p:cNvPr id="5" name="图片 4">
            <a:extLst>
              <a:ext uri="{FF2B5EF4-FFF2-40B4-BE49-F238E27FC236}">
                <a16:creationId xmlns:a16="http://schemas.microsoft.com/office/drawing/2014/main" id="{4DE508F2-E5B7-4375-BD61-F7DF72A0C640}"/>
              </a:ext>
            </a:extLst>
          </p:cNvPr>
          <p:cNvPicPr>
            <a:picLocks noChangeAspect="1"/>
          </p:cNvPicPr>
          <p:nvPr/>
        </p:nvPicPr>
        <p:blipFill rotWithShape="1">
          <a:blip r:embed="rId2"/>
          <a:srcRect r="3757"/>
          <a:stretch/>
        </p:blipFill>
        <p:spPr>
          <a:xfrm>
            <a:off x="6780573" y="2706697"/>
            <a:ext cx="2327582" cy="1799240"/>
          </a:xfrm>
          <a:prstGeom prst="rect">
            <a:avLst/>
          </a:prstGeom>
        </p:spPr>
      </p:pic>
      <p:sp>
        <p:nvSpPr>
          <p:cNvPr id="8" name="文本框 7">
            <a:extLst>
              <a:ext uri="{FF2B5EF4-FFF2-40B4-BE49-F238E27FC236}">
                <a16:creationId xmlns:a16="http://schemas.microsoft.com/office/drawing/2014/main" id="{0F5CC401-5A02-49DA-AF37-43C6BB1CB3A0}"/>
              </a:ext>
            </a:extLst>
          </p:cNvPr>
          <p:cNvSpPr txBox="1"/>
          <p:nvPr/>
        </p:nvSpPr>
        <p:spPr>
          <a:xfrm>
            <a:off x="164014" y="161051"/>
            <a:ext cx="8671549" cy="461665"/>
          </a:xfrm>
          <a:prstGeom prst="rect">
            <a:avLst/>
          </a:prstGeom>
          <a:solidFill>
            <a:schemeClr val="bg1"/>
          </a:solidFill>
        </p:spPr>
        <p:txBody>
          <a:bodyPr wrap="square">
            <a:spAutoFit/>
          </a:bodyPr>
          <a:lstStyle/>
          <a:p>
            <a:r>
              <a:rPr lang="en-US" altLang="zh-CN" sz="2400" kern="0" dirty="0">
                <a:solidFill>
                  <a:srgbClr val="002060"/>
                </a:solidFill>
                <a:latin typeface="华文楷体" panose="02010600040101010101" pitchFamily="2" charset="-122"/>
                <a:ea typeface="华文楷体" panose="02010600040101010101" pitchFamily="2" charset="-122"/>
              </a:rPr>
              <a:t>§5.4.2 </a:t>
            </a:r>
            <a:r>
              <a:rPr lang="zh-CN" altLang="en-US" sz="2400" kern="0" dirty="0">
                <a:solidFill>
                  <a:srgbClr val="002060"/>
                </a:solidFill>
                <a:latin typeface="华文楷体" panose="02010600040101010101" pitchFamily="2" charset="-122"/>
                <a:ea typeface="华文楷体" panose="02010600040101010101" pitchFamily="2" charset="-122"/>
              </a:rPr>
              <a:t>一维多项式插值</a:t>
            </a:r>
            <a:r>
              <a:rPr lang="en-US" altLang="zh-CN" sz="2400" dirty="0">
                <a:solidFill>
                  <a:srgbClr val="FF0000"/>
                </a:solidFill>
                <a:latin typeface="华文楷体" panose="02010600040101010101" pitchFamily="2" charset="-122"/>
                <a:ea typeface="华文楷体" panose="02010600040101010101" pitchFamily="2" charset="-122"/>
              </a:rPr>
              <a:t>———fit</a:t>
            </a:r>
            <a:r>
              <a:rPr lang="zh-CN" altLang="en-US" sz="2400" dirty="0">
                <a:solidFill>
                  <a:srgbClr val="FF0000"/>
                </a:solidFill>
                <a:latin typeface="华文楷体" panose="02010600040101010101" pitchFamily="2" charset="-122"/>
                <a:ea typeface="华文楷体" panose="02010600040101010101" pitchFamily="2" charset="-122"/>
              </a:rPr>
              <a:t>插值再</a:t>
            </a:r>
            <a:r>
              <a:rPr lang="en-US" altLang="zh-CN" sz="2400" b="1" dirty="0">
                <a:solidFill>
                  <a:srgbClr val="FF0000"/>
                </a:solidFill>
                <a:latin typeface="华文楷体" panose="02010600040101010101" pitchFamily="2" charset="-122"/>
                <a:ea typeface="华文楷体" panose="02010600040101010101" pitchFamily="2" charset="-122"/>
              </a:rPr>
              <a:t>i</a:t>
            </a:r>
            <a:r>
              <a:rPr lang="en-US" altLang="zh-CN" sz="2400" dirty="0">
                <a:solidFill>
                  <a:srgbClr val="FF0000"/>
                </a:solidFill>
                <a:latin typeface="华文楷体" panose="02010600040101010101" pitchFamily="2" charset="-122"/>
                <a:ea typeface="华文楷体" panose="02010600040101010101" pitchFamily="2" charset="-122"/>
              </a:rPr>
              <a:t>ntegrate</a:t>
            </a:r>
            <a:r>
              <a:rPr lang="zh-CN" altLang="en-US" sz="2400" dirty="0">
                <a:solidFill>
                  <a:srgbClr val="FF0000"/>
                </a:solidFill>
                <a:latin typeface="华文楷体" panose="02010600040101010101" pitchFamily="2" charset="-122"/>
                <a:ea typeface="华文楷体" panose="02010600040101010101" pitchFamily="2" charset="-122"/>
              </a:rPr>
              <a:t>积分求国土面积</a:t>
            </a:r>
          </a:p>
        </p:txBody>
      </p:sp>
      <p:sp>
        <p:nvSpPr>
          <p:cNvPr id="9" name="波形 8">
            <a:extLst>
              <a:ext uri="{FF2B5EF4-FFF2-40B4-BE49-F238E27FC236}">
                <a16:creationId xmlns:a16="http://schemas.microsoft.com/office/drawing/2014/main" id="{40977990-0347-4D56-94DE-456C3E36F680}"/>
              </a:ext>
            </a:extLst>
          </p:cNvPr>
          <p:cNvSpPr/>
          <p:nvPr/>
        </p:nvSpPr>
        <p:spPr>
          <a:xfrm>
            <a:off x="8146435" y="661097"/>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54-2</a:t>
            </a:r>
            <a:endParaRPr lang="ko-KR" altLang="en-US" b="1" dirty="0">
              <a:solidFill>
                <a:srgbClr val="FFFF00"/>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CAF7EB1D-E596-4B86-A468-89236AF02EF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17453" b="79178" l="16747" r="84733"/>
                    </a14:imgEffect>
                    <a14:imgEffect>
                      <a14:brightnessContrast contrast="-40000"/>
                    </a14:imgEffect>
                  </a14:imgLayer>
                </a14:imgProps>
              </a:ext>
              <a:ext uri="{28A0092B-C50C-407E-A947-70E740481C1C}">
                <a14:useLocalDpi xmlns:a14="http://schemas.microsoft.com/office/drawing/2010/main" val="0"/>
              </a:ext>
            </a:extLst>
          </a:blip>
          <a:srcRect l="8249" t="9738" r="6768" b="13106"/>
          <a:stretch>
            <a:fillRect/>
          </a:stretch>
        </p:blipFill>
        <p:spPr>
          <a:xfrm>
            <a:off x="4061000" y="3396388"/>
            <a:ext cx="2707841" cy="1402096"/>
          </a:xfrm>
          <a:prstGeom prst="rect">
            <a:avLst/>
          </a:prstGeom>
        </p:spPr>
      </p:pic>
      <p:sp>
        <p:nvSpPr>
          <p:cNvPr id="11" name="矩形 10">
            <a:extLst>
              <a:ext uri="{FF2B5EF4-FFF2-40B4-BE49-F238E27FC236}">
                <a16:creationId xmlns:a16="http://schemas.microsoft.com/office/drawing/2014/main" id="{EBE122F6-11BE-4C7D-9E2A-95783C7A739A}"/>
              </a:ext>
            </a:extLst>
          </p:cNvPr>
          <p:cNvSpPr/>
          <p:nvPr/>
        </p:nvSpPr>
        <p:spPr>
          <a:xfrm>
            <a:off x="5996916" y="4227305"/>
            <a:ext cx="1175322" cy="424155"/>
          </a:xfrm>
          <a:prstGeom prst="rect">
            <a:avLst/>
          </a:prstGeom>
        </p:spPr>
        <p:txBody>
          <a:bodyPr wrap="none">
            <a:spAutoFit/>
          </a:bodyPr>
          <a:lstStyle/>
          <a:p>
            <a:pPr algn="just" defTabSz="63500">
              <a:lnSpc>
                <a:spcPct val="125000"/>
              </a:lnSpc>
              <a:spcBef>
                <a:spcPts val="800"/>
              </a:spcBef>
              <a:spcAft>
                <a:spcPts val="0"/>
              </a:spcAft>
              <a:buClr>
                <a:srgbClr val="000000"/>
              </a:buClr>
            </a:pPr>
            <a:r>
              <a:rPr lang="zh-CN" altLang="en-US"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下边界</a:t>
            </a:r>
            <a:r>
              <a:rPr lang="en-US" altLang="zh-CN"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y</a:t>
            </a:r>
            <a:r>
              <a:rPr lang="en-US" altLang="zh-CN" sz="2000" b="1" baseline="-25000"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1</a:t>
            </a:r>
            <a:endParaRPr lang="ko-KR" altLang="en-US" sz="2000" b="1" baseline="-25000"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cxnSp>
        <p:nvCxnSpPr>
          <p:cNvPr id="12" name="直接箭头连接符 11">
            <a:extLst>
              <a:ext uri="{FF2B5EF4-FFF2-40B4-BE49-F238E27FC236}">
                <a16:creationId xmlns:a16="http://schemas.microsoft.com/office/drawing/2014/main" id="{D5FB18E7-8CC1-47DF-8125-88D034CC8949}"/>
              </a:ext>
            </a:extLst>
          </p:cNvPr>
          <p:cNvCxnSpPr/>
          <p:nvPr/>
        </p:nvCxnSpPr>
        <p:spPr>
          <a:xfrm flipH="1" flipV="1">
            <a:off x="6195473" y="4234915"/>
            <a:ext cx="297044" cy="9000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3" name="矩形 12">
            <a:extLst>
              <a:ext uri="{FF2B5EF4-FFF2-40B4-BE49-F238E27FC236}">
                <a16:creationId xmlns:a16="http://schemas.microsoft.com/office/drawing/2014/main" id="{EF0F1727-603D-464A-B4BB-FA586A1598C3}"/>
              </a:ext>
            </a:extLst>
          </p:cNvPr>
          <p:cNvSpPr/>
          <p:nvPr/>
        </p:nvSpPr>
        <p:spPr>
          <a:xfrm>
            <a:off x="5409255" y="3266275"/>
            <a:ext cx="1175322" cy="424155"/>
          </a:xfrm>
          <a:prstGeom prst="rect">
            <a:avLst/>
          </a:prstGeom>
        </p:spPr>
        <p:txBody>
          <a:bodyPr wrap="none">
            <a:spAutoFit/>
          </a:bodyPr>
          <a:lstStyle/>
          <a:p>
            <a:pPr algn="just" defTabSz="63500">
              <a:lnSpc>
                <a:spcPct val="125000"/>
              </a:lnSpc>
              <a:spcBef>
                <a:spcPts val="800"/>
              </a:spcBef>
              <a:spcAft>
                <a:spcPts val="0"/>
              </a:spcAft>
              <a:buClr>
                <a:srgbClr val="000000"/>
              </a:buClr>
            </a:pPr>
            <a:r>
              <a:rPr lang="zh-CN" altLang="en-US"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上边界</a:t>
            </a:r>
            <a:r>
              <a:rPr lang="en-US" altLang="zh-CN"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y</a:t>
            </a:r>
            <a:r>
              <a:rPr lang="en-US" altLang="zh-CN" sz="2000" b="1" baseline="-25000"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2</a:t>
            </a:r>
            <a:endParaRPr lang="ko-KR" altLang="en-US" sz="2000" b="1" baseline="-25000" dirty="0">
              <a:solidFill>
                <a:srgbClr val="FF0000"/>
              </a:solidFill>
              <a:effectLst>
                <a:outerShdw blurRad="38100" dist="38100" dir="2700000" algn="tl">
                  <a:srgbClr val="000000">
                    <a:alpha val="43137"/>
                  </a:srgbClr>
                </a:outerShdw>
              </a:effectLst>
              <a:latin typeface="隶书" panose="02010509060101010101" pitchFamily="49" charset="-122"/>
            </a:endParaRPr>
          </a:p>
        </p:txBody>
      </p:sp>
      <p:cxnSp>
        <p:nvCxnSpPr>
          <p:cNvPr id="14" name="直接箭头连接符 13">
            <a:extLst>
              <a:ext uri="{FF2B5EF4-FFF2-40B4-BE49-F238E27FC236}">
                <a16:creationId xmlns:a16="http://schemas.microsoft.com/office/drawing/2014/main" id="{68CC25D0-C4BA-44B4-B512-626702D04EA6}"/>
              </a:ext>
            </a:extLst>
          </p:cNvPr>
          <p:cNvCxnSpPr/>
          <p:nvPr/>
        </p:nvCxnSpPr>
        <p:spPr>
          <a:xfrm flipH="1">
            <a:off x="6196406" y="3687107"/>
            <a:ext cx="152400" cy="180933"/>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13"/>
          <p:cNvSpPr/>
          <p:nvPr/>
        </p:nvSpPr>
        <p:spPr bwMode="auto">
          <a:xfrm rot="188106">
            <a:off x="5006253" y="-62688"/>
            <a:ext cx="4288052" cy="816811"/>
          </a:xfrm>
          <a:prstGeom prst="irregularSeal2">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numCol="1" anchor="ctr">
            <a:noAutofit/>
          </a:bodyPr>
          <a:lstStyle/>
          <a:p>
            <a:pPr marL="0" indent="0" algn="ctr" defTabSz="914400" eaLnBrk="0" fontAlgn="base" latinLnBrk="0">
              <a:lnSpc>
                <a:spcPct val="140000"/>
              </a:lnSpc>
              <a:spcBef>
                <a:spcPts val="0"/>
              </a:spcBef>
              <a:spcAft>
                <a:spcPts val="0"/>
              </a:spcAft>
              <a:buFontTx/>
              <a:buNone/>
            </a:pPr>
            <a:endParaRPr lang="ko-KR" altLang="en-US" sz="1400" b="0" cap="none" dirty="0">
              <a:solidFill>
                <a:schemeClr val="folHlink"/>
              </a:solidFill>
              <a:latin typeface="宋体" panose="02010600030101010101" pitchFamily="2" charset="-122"/>
              <a:ea typeface="宋体" panose="02010600030101010101" pitchFamily="2" charset="-122"/>
            </a:endParaRPr>
          </a:p>
        </p:txBody>
      </p:sp>
      <p:sp>
        <p:nvSpPr>
          <p:cNvPr id="4" name="矩形 4"/>
          <p:cNvSpPr/>
          <p:nvPr/>
        </p:nvSpPr>
        <p:spPr bwMode="auto">
          <a:xfrm>
            <a:off x="215516" y="703772"/>
            <a:ext cx="8820980" cy="473335"/>
          </a:xfrm>
          <a:prstGeom prst="rect">
            <a:avLst/>
          </a:prstGeom>
          <a:solidFill>
            <a:schemeClr val="bg1"/>
          </a:solidFill>
          <a:ln w="9525" cap="flat" cmpd="sng">
            <a:noFill/>
            <a:prstDash val="solid"/>
            <a:miter lim="800000"/>
          </a:ln>
        </p:spPr>
        <p:txBody>
          <a:bodyPr vert="horz" wrap="square" lIns="91440" tIns="45720" rIns="91440" bIns="45720" numCol="1" anchor="t">
            <a:spAutoFit/>
          </a:bodyPr>
          <a:lstStyle/>
          <a:p>
            <a:pPr algn="dist" defTabSz="914400" eaLnBrk="0" fontAlgn="base" latinLnBrk="0">
              <a:lnSpc>
                <a:spcPts val="3200"/>
              </a:lnSpc>
              <a:spcBef>
                <a:spcPts val="0"/>
              </a:spcBef>
              <a:spcAft>
                <a:spcPts val="0"/>
              </a:spcAft>
              <a:buClr>
                <a:srgbClr val="000000"/>
              </a:buClr>
            </a:pPr>
            <a:r>
              <a:rPr lang="zh-CN" altLang="en-US" sz="2200" b="1" cap="none" dirty="0">
                <a:solidFill>
                  <a:srgbClr val="0070C0"/>
                </a:solidFill>
                <a:latin typeface="微软雅黑" panose="020B0503020204020204" pitchFamily="34" charset="-122"/>
                <a:ea typeface="微软雅黑" panose="020B0503020204020204" pitchFamily="34" charset="-122"/>
              </a:rPr>
              <a:t>相同点：都</a:t>
            </a:r>
            <a:r>
              <a:rPr lang="en-US" altLang="ko-KR" sz="2200" b="1" cap="none" dirty="0" err="1">
                <a:solidFill>
                  <a:srgbClr val="0070C0"/>
                </a:solidFill>
                <a:latin typeface="微软雅黑" panose="020B0503020204020204" pitchFamily="34" charset="-122"/>
                <a:ea typeface="微软雅黑" panose="020B0503020204020204" pitchFamily="34" charset="-122"/>
              </a:rPr>
              <a:t>需根据已知数据构造函数</a:t>
            </a:r>
            <a:r>
              <a:rPr lang="zh-CN" altLang="en-US" sz="2200" b="1" cap="none" dirty="0">
                <a:solidFill>
                  <a:srgbClr val="0070C0"/>
                </a:solidFill>
                <a:latin typeface="微软雅黑" panose="020B0503020204020204" pitchFamily="34" charset="-122"/>
                <a:ea typeface="微软雅黑" panose="020B0503020204020204" pitchFamily="34" charset="-122"/>
              </a:rPr>
              <a:t>，再</a:t>
            </a:r>
            <a:r>
              <a:rPr lang="en-US" altLang="ko-KR" sz="2200" b="1" cap="none" dirty="0" err="1">
                <a:solidFill>
                  <a:srgbClr val="0070C0"/>
                </a:solidFill>
                <a:latin typeface="微软雅黑" panose="020B0503020204020204" pitchFamily="34" charset="-122"/>
                <a:ea typeface="微软雅黑" panose="020B0503020204020204" pitchFamily="34" charset="-122"/>
              </a:rPr>
              <a:t>推算未知点的值</a:t>
            </a:r>
            <a:endParaRPr lang="ko-KR" altLang="en-US" sz="2200" b="1" cap="none" dirty="0">
              <a:solidFill>
                <a:srgbClr val="0070C0"/>
              </a:solidFill>
              <a:latin typeface="微软雅黑" panose="020B0503020204020204" pitchFamily="34" charset="-122"/>
            </a:endParaRPr>
          </a:p>
        </p:txBody>
      </p:sp>
      <p:sp>
        <p:nvSpPr>
          <p:cNvPr id="5" name="矩形 5"/>
          <p:cNvSpPr/>
          <p:nvPr/>
        </p:nvSpPr>
        <p:spPr bwMode="auto">
          <a:xfrm>
            <a:off x="215516" y="1242085"/>
            <a:ext cx="396044" cy="1569660"/>
          </a:xfrm>
          <a:prstGeom prst="rect">
            <a:avLst/>
          </a:prstGeom>
          <a:solidFill>
            <a:srgbClr val="002060"/>
          </a:solidFill>
          <a:ln w="0">
            <a:noFill/>
          </a:ln>
          <a:effectLst>
            <a:outerShdw blurRad="184150" dist="241300" dir="11520000" sx="110000" sy="110000" algn="ctr">
              <a:srgbClr val="000000">
                <a:alpha val="17647"/>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vert="horz" wrap="squar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zh-CN" altLang="en-US" sz="2400" b="1" dirty="0">
                <a:solidFill>
                  <a:schemeClr val="bg1"/>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拟合</a:t>
            </a:r>
            <a:r>
              <a:rPr lang="zh-CN" altLang="en-US" sz="2400" b="1" cap="none" dirty="0">
                <a:solidFill>
                  <a:schemeClr val="bg1"/>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特点</a:t>
            </a:r>
            <a:endParaRPr lang="ko-KR" altLang="en-US" sz="2400" b="1" cap="none" dirty="0">
              <a:solidFill>
                <a:schemeClr val="bg1"/>
              </a:solidFill>
              <a:latin typeface="华文楷体" panose="02010600040101010101" pitchFamily="2" charset="-122"/>
              <a:ea typeface="微软雅黑" panose="020B0503020204020204" pitchFamily="34" charset="-122"/>
            </a:endParaRPr>
          </a:p>
        </p:txBody>
      </p:sp>
      <p:sp>
        <p:nvSpPr>
          <p:cNvPr id="6" name="矩形 4"/>
          <p:cNvSpPr/>
          <p:nvPr/>
        </p:nvSpPr>
        <p:spPr bwMode="auto">
          <a:xfrm>
            <a:off x="851692" y="3113168"/>
            <a:ext cx="8076792" cy="1283878"/>
          </a:xfrm>
          <a:prstGeom prst="rect">
            <a:avLst/>
          </a:prstGeom>
          <a:solidFill>
            <a:schemeClr val="bg1"/>
          </a:solidFill>
          <a:ln w="9525" cap="flat" cmpd="sng">
            <a:solidFill>
              <a:schemeClr val="tx1">
                <a:alpha val="100000"/>
              </a:schemeClr>
            </a:solidFill>
            <a:prstDash val="solid"/>
            <a:miter lim="800000"/>
          </a:ln>
        </p:spPr>
        <p:txBody>
          <a:bodyPr vert="horz" wrap="square" lIns="91440" tIns="45720" rIns="91440" bIns="45720" numCol="1" anchor="t">
            <a:spAutoFit/>
          </a:bodyPr>
          <a:lstStyle/>
          <a:p>
            <a:pPr marL="514350" indent="-514350" eaLnBrk="0">
              <a:lnSpc>
                <a:spcPts val="3200"/>
              </a:lnSpc>
              <a:spcBef>
                <a:spcPts val="0"/>
              </a:spcBef>
              <a:spcAft>
                <a:spcPts val="0"/>
              </a:spcAft>
              <a:buClr>
                <a:srgbClr val="000000"/>
              </a:buClr>
              <a:buFont typeface="+mj-ea"/>
              <a:buAutoNum type="circleNumDbPlain"/>
            </a:pPr>
            <a:r>
              <a:rPr lang="zh-CN" altLang="en-US" sz="2000" dirty="0">
                <a:solidFill>
                  <a:srgbClr val="002060"/>
                </a:solidFill>
                <a:latin typeface="微软雅黑 Light" panose="020B0502040204020203" pitchFamily="34" charset="-122"/>
                <a:ea typeface="微软雅黑 Light" panose="020B0502040204020203" pitchFamily="34" charset="-122"/>
              </a:rPr>
              <a:t>构造函数必须</a:t>
            </a:r>
            <a:r>
              <a:rPr lang="zh-CN" altLang="en-US" sz="2000" b="1" dirty="0">
                <a:solidFill>
                  <a:srgbClr val="FF0000"/>
                </a:solidFill>
                <a:latin typeface="微软雅黑 Light" panose="020B0502040204020203" pitchFamily="34" charset="-122"/>
                <a:ea typeface="微软雅黑 Light" panose="020B0502040204020203" pitchFamily="34" charset="-122"/>
              </a:rPr>
              <a:t>经过全部已知数据点</a:t>
            </a:r>
            <a:r>
              <a:rPr lang="zh-CN" altLang="en-US" sz="2000" dirty="0">
                <a:solidFill>
                  <a:srgbClr val="002060"/>
                </a:solidFill>
                <a:latin typeface="微软雅黑 Light" panose="020B0502040204020203" pitchFamily="34" charset="-122"/>
                <a:ea typeface="微软雅黑 Light" panose="020B0502040204020203" pitchFamily="34" charset="-122"/>
              </a:rPr>
              <a:t>；</a:t>
            </a:r>
            <a:endParaRPr lang="en-US" altLang="zh-CN" sz="2000" dirty="0">
              <a:solidFill>
                <a:srgbClr val="002060"/>
              </a:solidFill>
              <a:latin typeface="微软雅黑 Light" panose="020B0502040204020203" pitchFamily="34" charset="-122"/>
              <a:ea typeface="微软雅黑 Light" panose="020B0502040204020203" pitchFamily="34" charset="-122"/>
            </a:endParaRPr>
          </a:p>
          <a:p>
            <a:pPr marL="514350" indent="-514350" eaLnBrk="0">
              <a:lnSpc>
                <a:spcPts val="3200"/>
              </a:lnSpc>
              <a:spcBef>
                <a:spcPts val="0"/>
              </a:spcBef>
              <a:spcAft>
                <a:spcPts val="0"/>
              </a:spcAft>
              <a:buClr>
                <a:srgbClr val="000000"/>
              </a:buClr>
              <a:buFont typeface="+mj-ea"/>
              <a:buAutoNum type="circleNumDbPlain"/>
            </a:pPr>
            <a:r>
              <a:rPr lang="zh-CN" altLang="en-US" sz="2000" dirty="0">
                <a:solidFill>
                  <a:srgbClr val="002060"/>
                </a:solidFill>
                <a:latin typeface="微软雅黑 Light" panose="020B0502040204020203" pitchFamily="34" charset="-122"/>
                <a:ea typeface="微软雅黑 Light" panose="020B0502040204020203" pitchFamily="34" charset="-122"/>
              </a:rPr>
              <a:t>插值一般用于测量值较为</a:t>
            </a:r>
            <a:r>
              <a:rPr lang="zh-CN" altLang="en-US" sz="2000" b="1" dirty="0">
                <a:solidFill>
                  <a:srgbClr val="FF0000"/>
                </a:solidFill>
                <a:latin typeface="微软雅黑 Light" panose="020B0502040204020203" pitchFamily="34" charset="-122"/>
                <a:ea typeface="微软雅黑 Light" panose="020B0502040204020203" pitchFamily="34" charset="-122"/>
              </a:rPr>
              <a:t>准确情况</a:t>
            </a:r>
            <a:r>
              <a:rPr lang="zh-CN" altLang="en-US" sz="2000" dirty="0">
                <a:solidFill>
                  <a:srgbClr val="002060"/>
                </a:solidFill>
                <a:latin typeface="微软雅黑 Light" panose="020B0502040204020203" pitchFamily="34" charset="-122"/>
                <a:ea typeface="微软雅黑 Light" panose="020B0502040204020203" pitchFamily="34" charset="-122"/>
              </a:rPr>
              <a:t>；</a:t>
            </a:r>
            <a:endParaRPr lang="en-US" altLang="zh-CN" sz="2000" dirty="0">
              <a:solidFill>
                <a:srgbClr val="002060"/>
              </a:solidFill>
              <a:latin typeface="微软雅黑 Light" panose="020B0502040204020203" pitchFamily="34" charset="-122"/>
              <a:ea typeface="微软雅黑 Light" panose="020B0502040204020203" pitchFamily="34" charset="-122"/>
            </a:endParaRPr>
          </a:p>
          <a:p>
            <a:pPr marL="514350" indent="-514350" eaLnBrk="0">
              <a:lnSpc>
                <a:spcPts val="3200"/>
              </a:lnSpc>
              <a:spcBef>
                <a:spcPts val="0"/>
              </a:spcBef>
              <a:spcAft>
                <a:spcPts val="0"/>
              </a:spcAft>
              <a:buClr>
                <a:srgbClr val="000000"/>
              </a:buClr>
              <a:buFont typeface="+mj-ea"/>
              <a:buAutoNum type="circleNumDbPlain"/>
            </a:pPr>
            <a:r>
              <a:rPr lang="zh-CN" altLang="en-US" sz="2000" dirty="0">
                <a:solidFill>
                  <a:srgbClr val="002060"/>
                </a:solidFill>
                <a:latin typeface="微软雅黑 Light" panose="020B0502040204020203" pitchFamily="34" charset="-122"/>
                <a:ea typeface="微软雅黑 Light" panose="020B0502040204020203" pitchFamily="34" charset="-122"/>
              </a:rPr>
              <a:t>插值提供插值结果</a:t>
            </a:r>
            <a:r>
              <a:rPr lang="en-US" altLang="zh-CN" sz="2000" dirty="0">
                <a:solidFill>
                  <a:srgbClr val="002060"/>
                </a:solidFill>
                <a:latin typeface="微软雅黑 Light" panose="020B0502040204020203" pitchFamily="34" charset="-122"/>
                <a:ea typeface="微软雅黑 Light" panose="020B0502040204020203" pitchFamily="34" charset="-122"/>
              </a:rPr>
              <a:t>,</a:t>
            </a:r>
            <a:r>
              <a:rPr lang="zh-CN" altLang="en-US" sz="2000" dirty="0">
                <a:solidFill>
                  <a:srgbClr val="002060"/>
                </a:solidFill>
                <a:latin typeface="微软雅黑 Light" panose="020B0502040204020203" pitchFamily="34" charset="-122"/>
                <a:ea typeface="微软雅黑 Light" panose="020B0502040204020203" pitchFamily="34" charset="-122"/>
              </a:rPr>
              <a:t>即</a:t>
            </a:r>
            <a:r>
              <a:rPr lang="zh-CN" altLang="zh-CN" sz="2000" b="1" dirty="0">
                <a:solidFill>
                  <a:srgbClr val="FF0000"/>
                </a:solidFill>
                <a:latin typeface="微软雅黑 Light" panose="020B0502040204020203" pitchFamily="34" charset="-122"/>
                <a:ea typeface="微软雅黑 Light" panose="020B0502040204020203" pitchFamily="34" charset="-122"/>
              </a:rPr>
              <a:t>添加新数据点</a:t>
            </a:r>
            <a:r>
              <a:rPr lang="zh-CN" altLang="en-US" sz="2000" b="1" dirty="0">
                <a:solidFill>
                  <a:srgbClr val="FF0000"/>
                </a:solidFill>
                <a:latin typeface="微软雅黑 Light" panose="020B0502040204020203" pitchFamily="34" charset="-122"/>
                <a:ea typeface="微软雅黑 Light" panose="020B0502040204020203" pitchFamily="34" charset="-122"/>
              </a:rPr>
              <a:t>，内插结果比</a:t>
            </a:r>
            <a:r>
              <a:rPr lang="zh-CN" altLang="en-US" sz="2000" dirty="0">
                <a:solidFill>
                  <a:srgbClr val="002060"/>
                </a:solidFill>
                <a:latin typeface="微软雅黑 Light" panose="020B0502040204020203" pitchFamily="34" charset="-122"/>
                <a:ea typeface="微软雅黑 Light" panose="020B0502040204020203" pitchFamily="34" charset="-122"/>
              </a:rPr>
              <a:t>外插结果更可靠</a:t>
            </a:r>
            <a:endParaRPr lang="en-US" altLang="ko-KR" sz="2000" dirty="0">
              <a:solidFill>
                <a:srgbClr val="002060"/>
              </a:solidFill>
              <a:latin typeface="微软雅黑 Light" panose="020B0502040204020203" pitchFamily="34" charset="-122"/>
              <a:ea typeface="微软雅黑 Light" panose="020B0502040204020203" pitchFamily="34" charset="-122"/>
            </a:endParaRPr>
          </a:p>
        </p:txBody>
      </p:sp>
      <p:sp>
        <p:nvSpPr>
          <p:cNvPr id="7" name="矩形 4"/>
          <p:cNvSpPr/>
          <p:nvPr/>
        </p:nvSpPr>
        <p:spPr bwMode="auto">
          <a:xfrm>
            <a:off x="851691" y="1242085"/>
            <a:ext cx="8076793" cy="1694246"/>
          </a:xfrm>
          <a:prstGeom prst="rect">
            <a:avLst/>
          </a:prstGeom>
          <a:noFill/>
          <a:ln w="9525" cap="flat" cmpd="sng">
            <a:solidFill>
              <a:schemeClr val="tx1">
                <a:alpha val="100000"/>
              </a:schemeClr>
            </a:solidFill>
            <a:prstDash val="solid"/>
            <a:miter lim="800000"/>
          </a:ln>
        </p:spPr>
        <p:txBody>
          <a:bodyPr vert="horz" wrap="square" lIns="91440" tIns="45720" rIns="91440" bIns="45720" numCol="1" anchor="t">
            <a:spAutoFit/>
          </a:bodyPr>
          <a:lstStyle/>
          <a:p>
            <a:pPr marL="514350" indent="-514350" eaLnBrk="0">
              <a:lnSpc>
                <a:spcPts val="3200"/>
              </a:lnSpc>
              <a:spcBef>
                <a:spcPts val="0"/>
              </a:spcBef>
              <a:spcAft>
                <a:spcPts val="0"/>
              </a:spcAft>
              <a:buClr>
                <a:srgbClr val="000000"/>
              </a:buClr>
              <a:buFont typeface="+mj-ea"/>
              <a:buAutoNum type="circleNumDbPlain"/>
            </a:pPr>
            <a:r>
              <a:rPr lang="en-US" altLang="ko-KR" sz="2000" dirty="0">
                <a:solidFill>
                  <a:srgbClr val="002060"/>
                </a:solidFill>
                <a:latin typeface="微软雅黑 Light" panose="020B0502040204020203" pitchFamily="34" charset="-122"/>
                <a:ea typeface="微软雅黑 Light" panose="020B0502040204020203" pitchFamily="34" charset="-122"/>
              </a:rPr>
              <a:t>拟合</a:t>
            </a:r>
            <a:r>
              <a:rPr lang="zh-CN" altLang="en-US" sz="2000" dirty="0">
                <a:solidFill>
                  <a:srgbClr val="002060"/>
                </a:solidFill>
                <a:latin typeface="微软雅黑 Light" panose="020B0502040204020203" pitchFamily="34" charset="-122"/>
                <a:ea typeface="微软雅黑 Light" panose="020B0502040204020203" pitchFamily="34" charset="-122"/>
              </a:rPr>
              <a:t>或回归</a:t>
            </a:r>
            <a:r>
              <a:rPr lang="zh-CN" altLang="en-US" sz="2000" b="1" dirty="0">
                <a:solidFill>
                  <a:srgbClr val="FF0000"/>
                </a:solidFill>
                <a:latin typeface="微软雅黑 Light" panose="020B0502040204020203" pitchFamily="34" charset="-122"/>
                <a:ea typeface="微软雅黑 Light" panose="020B0502040204020203" pitchFamily="34" charset="-122"/>
              </a:rPr>
              <a:t>不必经过所有采样数据点，</a:t>
            </a:r>
            <a:endParaRPr lang="en-US" altLang="ko-KR" sz="2000" dirty="0">
              <a:solidFill>
                <a:srgbClr val="002060"/>
              </a:solidFill>
              <a:latin typeface="微软雅黑 Light" panose="020B0502040204020203" pitchFamily="34" charset="-122"/>
              <a:ea typeface="微软雅黑 Light" panose="020B0502040204020203" pitchFamily="34" charset="-122"/>
            </a:endParaRPr>
          </a:p>
          <a:p>
            <a:pPr eaLnBrk="0">
              <a:lnSpc>
                <a:spcPts val="3200"/>
              </a:lnSpc>
              <a:spcBef>
                <a:spcPts val="0"/>
              </a:spcBef>
              <a:spcAft>
                <a:spcPts val="0"/>
              </a:spcAft>
              <a:buClr>
                <a:srgbClr val="000000"/>
              </a:buClr>
              <a:buFont typeface="+mj-ea"/>
              <a:buAutoNum type="circleNumDbPlain"/>
            </a:pPr>
            <a:r>
              <a:rPr lang="en-US" altLang="ko-KR" sz="2000" dirty="0">
                <a:solidFill>
                  <a:srgbClr val="002060"/>
                </a:solidFill>
                <a:latin typeface="微软雅黑 Light" panose="020B0502040204020203" pitchFamily="34" charset="-122"/>
                <a:ea typeface="微软雅黑 Light" panose="020B0502040204020203" pitchFamily="34" charset="-122"/>
              </a:rPr>
              <a:t>   </a:t>
            </a:r>
            <a:r>
              <a:rPr lang="en-US" altLang="ko-KR" sz="2000" dirty="0" err="1">
                <a:solidFill>
                  <a:srgbClr val="002060"/>
                </a:solidFill>
                <a:latin typeface="微软雅黑 Light" panose="020B0502040204020203" pitchFamily="34" charset="-122"/>
                <a:ea typeface="微软雅黑 Light" panose="020B0502040204020203" pitchFamily="34" charset="-122"/>
              </a:rPr>
              <a:t>一般用于测量值与</a:t>
            </a:r>
            <a:r>
              <a:rPr lang="zh-CN" altLang="en-US" sz="2000" dirty="0">
                <a:solidFill>
                  <a:srgbClr val="002060"/>
                </a:solidFill>
                <a:latin typeface="微软雅黑 Light" panose="020B0502040204020203" pitchFamily="34" charset="-122"/>
                <a:ea typeface="微软雅黑 Light" panose="020B0502040204020203" pitchFamily="34" charset="-122"/>
              </a:rPr>
              <a:t>拟合</a:t>
            </a:r>
            <a:r>
              <a:rPr lang="en-US" altLang="ko-KR" sz="2000" dirty="0" err="1">
                <a:solidFill>
                  <a:srgbClr val="002060"/>
                </a:solidFill>
                <a:latin typeface="微软雅黑 Light" panose="020B0502040204020203" pitchFamily="34" charset="-122"/>
                <a:ea typeface="微软雅黑 Light" panose="020B0502040204020203" pitchFamily="34" charset="-122"/>
              </a:rPr>
              <a:t>值</a:t>
            </a:r>
            <a:r>
              <a:rPr lang="en-US" altLang="ko-KR" sz="2000" b="1" dirty="0" err="1">
                <a:solidFill>
                  <a:srgbClr val="FF0000"/>
                </a:solidFill>
                <a:latin typeface="微软雅黑 Light" panose="020B0502040204020203" pitchFamily="34" charset="-122"/>
                <a:ea typeface="微软雅黑 Light" panose="020B0502040204020203" pitchFamily="34" charset="-122"/>
              </a:rPr>
              <a:t>有误差</a:t>
            </a:r>
            <a:r>
              <a:rPr lang="zh-CN" altLang="en-US" sz="2000" b="1" dirty="0">
                <a:solidFill>
                  <a:srgbClr val="FF0000"/>
                </a:solidFill>
                <a:latin typeface="微软雅黑 Light" panose="020B0502040204020203" pitchFamily="34" charset="-122"/>
                <a:ea typeface="微软雅黑 Light" panose="020B0502040204020203" pitchFamily="34" charset="-122"/>
              </a:rPr>
              <a:t>情况</a:t>
            </a:r>
            <a:r>
              <a:rPr lang="en-US" altLang="ko-KR" sz="2000" dirty="0">
                <a:solidFill>
                  <a:srgbClr val="002060"/>
                </a:solidFill>
                <a:latin typeface="微软雅黑 Light" panose="020B0502040204020203" pitchFamily="34" charset="-122"/>
                <a:ea typeface="微软雅黑 Light" panose="020B0502040204020203" pitchFamily="34" charset="-122"/>
              </a:rPr>
              <a:t>，</a:t>
            </a:r>
            <a:r>
              <a:rPr lang="zh-CN" altLang="en-US" sz="2000" b="1" dirty="0">
                <a:solidFill>
                  <a:srgbClr val="FF0000"/>
                </a:solidFill>
                <a:latin typeface="微软雅黑 Light" panose="020B0502040204020203" pitchFamily="34" charset="-122"/>
                <a:ea typeface="微软雅黑 Light" panose="020B0502040204020203" pitchFamily="34" charset="-122"/>
              </a:rPr>
              <a:t>只均方残差最小，</a:t>
            </a:r>
            <a:endParaRPr lang="en-US" altLang="zh-CN" sz="2000" b="1" dirty="0">
              <a:solidFill>
                <a:srgbClr val="FF0000"/>
              </a:solidFill>
              <a:latin typeface="微软雅黑 Light" panose="020B0502040204020203" pitchFamily="34" charset="-122"/>
              <a:ea typeface="微软雅黑 Light" panose="020B0502040204020203" pitchFamily="34" charset="-122"/>
            </a:endParaRPr>
          </a:p>
          <a:p>
            <a:pPr eaLnBrk="0">
              <a:lnSpc>
                <a:spcPts val="3200"/>
              </a:lnSpc>
              <a:spcBef>
                <a:spcPts val="0"/>
              </a:spcBef>
              <a:spcAft>
                <a:spcPts val="0"/>
              </a:spcAft>
              <a:buClr>
                <a:srgbClr val="000000"/>
              </a:buClr>
              <a:buFont typeface="+mj-ea"/>
              <a:buAutoNum type="circleNumDbPlain"/>
            </a:pPr>
            <a:r>
              <a:rPr lang="zh-CN" altLang="en-US" sz="2000" dirty="0">
                <a:solidFill>
                  <a:srgbClr val="002060"/>
                </a:solidFill>
                <a:latin typeface="微软雅黑 Light" panose="020B0502040204020203" pitchFamily="34" charset="-122"/>
                <a:ea typeface="微软雅黑 Light" panose="020B0502040204020203" pitchFamily="34" charset="-122"/>
              </a:rPr>
              <a:t>   拟合</a:t>
            </a:r>
            <a:r>
              <a:rPr lang="en-US" altLang="ko-KR" sz="2000" dirty="0" err="1">
                <a:solidFill>
                  <a:srgbClr val="002060"/>
                </a:solidFill>
                <a:latin typeface="微软雅黑 Light" panose="020B0502040204020203" pitchFamily="34" charset="-122"/>
                <a:ea typeface="微软雅黑 Light" panose="020B0502040204020203" pitchFamily="34" charset="-122"/>
              </a:rPr>
              <a:t>构造</a:t>
            </a:r>
            <a:r>
              <a:rPr lang="zh-CN" altLang="en-US" sz="2000" dirty="0">
                <a:solidFill>
                  <a:srgbClr val="002060"/>
                </a:solidFill>
                <a:latin typeface="微软雅黑 Light" panose="020B0502040204020203" pitchFamily="34" charset="-122"/>
                <a:ea typeface="微软雅黑 Light" panose="020B0502040204020203" pitchFamily="34" charset="-122"/>
              </a:rPr>
              <a:t>光滑曲线的函数表达式</a:t>
            </a:r>
            <a:r>
              <a:rPr lang="en-US" altLang="zh-CN" sz="2000" dirty="0">
                <a:solidFill>
                  <a:srgbClr val="FF0000"/>
                </a:solidFill>
                <a:latin typeface="微软雅黑 Light" panose="020B0502040204020203" pitchFamily="34" charset="-122"/>
                <a:ea typeface="微软雅黑 Light" panose="020B0502040204020203" pitchFamily="34" charset="-122"/>
                <a:cs typeface="Times New Roman" panose="02020603050405020304" pitchFamily="18" charset="0"/>
                <a:sym typeface="+mn-ea"/>
              </a:rPr>
              <a:t>y=f(</a:t>
            </a:r>
            <a:r>
              <a:rPr lang="en-US" altLang="zh-CN" sz="2000" dirty="0" err="1">
                <a:solidFill>
                  <a:srgbClr val="FF0000"/>
                </a:solidFill>
                <a:latin typeface="微软雅黑 Light" panose="020B0502040204020203" pitchFamily="34" charset="-122"/>
                <a:ea typeface="微软雅黑 Light" panose="020B0502040204020203" pitchFamily="34" charset="-122"/>
                <a:cs typeface="Times New Roman" panose="02020603050405020304" pitchFamily="18" charset="0"/>
                <a:sym typeface="+mn-ea"/>
              </a:rPr>
              <a:t>x,a</a:t>
            </a:r>
            <a:r>
              <a:rPr lang="en-US" altLang="zh-CN" sz="2000" dirty="0">
                <a:solidFill>
                  <a:srgbClr val="FF0000"/>
                </a:solidFill>
                <a:latin typeface="微软雅黑 Light" panose="020B0502040204020203" pitchFamily="34" charset="-122"/>
                <a:ea typeface="微软雅黑 Light" panose="020B0502040204020203" pitchFamily="34" charset="-122"/>
                <a:cs typeface="Times New Roman" panose="02020603050405020304" pitchFamily="18" charset="0"/>
                <a:sym typeface="+mn-ea"/>
              </a:rPr>
              <a:t>)</a:t>
            </a:r>
            <a:r>
              <a:rPr lang="en-US" altLang="zh-CN" sz="2000" b="1" dirty="0">
                <a:solidFill>
                  <a:srgbClr val="FF0000"/>
                </a:solidFill>
                <a:effectLst>
                  <a:outerShdw blurRad="38100" dist="38100" dir="2700000" algn="tl">
                    <a:srgbClr val="000000">
                      <a:alpha val="41960"/>
                    </a:srgbClr>
                  </a:outerShdw>
                </a:effectLst>
                <a:latin typeface="微软雅黑 Light" panose="020B0502040204020203" pitchFamily="34" charset="-122"/>
                <a:ea typeface="微软雅黑 Light" panose="020B0502040204020203" pitchFamily="34" charset="-122"/>
                <a:cs typeface="Times New Roman" panose="02020603050405020304" pitchFamily="18" charset="0"/>
                <a:sym typeface="+mn-ea"/>
              </a:rPr>
              <a:t>,</a:t>
            </a:r>
            <a:r>
              <a:rPr lang="zh-CN" altLang="en-US" sz="2000" dirty="0">
                <a:solidFill>
                  <a:srgbClr val="002060"/>
                </a:solidFill>
                <a:latin typeface="微软雅黑 Light" panose="020B0502040204020203" pitchFamily="34" charset="-122"/>
                <a:ea typeface="微软雅黑 Light" panose="020B0502040204020203" pitchFamily="34" charset="-122"/>
                <a:sym typeface="+mn-ea"/>
              </a:rPr>
              <a:t> 求其待定参数</a:t>
            </a:r>
            <a:r>
              <a:rPr lang="en-US" altLang="zh-CN" sz="2000" b="1" dirty="0">
                <a:solidFill>
                  <a:srgbClr val="FF0000"/>
                </a:solidFill>
                <a:latin typeface="微软雅黑 Light" panose="020B0502040204020203" pitchFamily="34" charset="-122"/>
                <a:ea typeface="微软雅黑 Light" panose="020B0502040204020203" pitchFamily="34" charset="-122"/>
                <a:sym typeface="+mn-ea"/>
              </a:rPr>
              <a:t>a</a:t>
            </a:r>
            <a:r>
              <a:rPr lang="zh-CN" altLang="en-US" sz="2000" dirty="0">
                <a:solidFill>
                  <a:srgbClr val="002060"/>
                </a:solidFill>
                <a:latin typeface="微软雅黑 Light" panose="020B0502040204020203" pitchFamily="34" charset="-122"/>
                <a:ea typeface="微软雅黑 Light" panose="020B0502040204020203" pitchFamily="34" charset="-122"/>
                <a:sym typeface="+mn-ea"/>
              </a:rPr>
              <a:t>，建好的</a:t>
            </a:r>
            <a:r>
              <a:rPr lang="zh-CN" altLang="en-US" sz="2000" dirty="0">
                <a:solidFill>
                  <a:srgbClr val="002060"/>
                </a:solidFill>
                <a:latin typeface="微软雅黑 Light" panose="020B0502040204020203" pitchFamily="34" charset="-122"/>
                <a:ea typeface="微软雅黑 Light" panose="020B0502040204020203" pitchFamily="34" charset="-122"/>
              </a:rPr>
              <a:t>数学模型可以预测</a:t>
            </a:r>
            <a:r>
              <a:rPr lang="zh-CN" altLang="en-US" sz="2000" b="1" dirty="0">
                <a:solidFill>
                  <a:srgbClr val="FF0000"/>
                </a:solidFill>
                <a:latin typeface="微软雅黑 Light" panose="020B0502040204020203" pitchFamily="34" charset="-122"/>
                <a:ea typeface="微软雅黑 Light" panose="020B0502040204020203" pitchFamily="34" charset="-122"/>
              </a:rPr>
              <a:t>原始数据范围内外</a:t>
            </a:r>
            <a:r>
              <a:rPr lang="zh-CN" altLang="en-US" sz="2000" dirty="0">
                <a:solidFill>
                  <a:srgbClr val="002060"/>
                </a:solidFill>
                <a:latin typeface="微软雅黑 Light" panose="020B0502040204020203" pitchFamily="34" charset="-122"/>
                <a:ea typeface="微软雅黑 Light" panose="020B0502040204020203" pitchFamily="34" charset="-122"/>
              </a:rPr>
              <a:t>的未知点值。</a:t>
            </a:r>
            <a:endParaRPr lang="en-US" altLang="ko-KR" sz="2000" dirty="0">
              <a:solidFill>
                <a:srgbClr val="002060"/>
              </a:solidFill>
              <a:latin typeface="微软雅黑 Light" panose="020B0502040204020203" pitchFamily="34" charset="-122"/>
              <a:ea typeface="微软雅黑 Light" panose="020B0502040204020203" pitchFamily="34" charset="-122"/>
            </a:endParaRPr>
          </a:p>
        </p:txBody>
      </p:sp>
      <p:sp>
        <p:nvSpPr>
          <p:cNvPr id="8" name="矩形 5"/>
          <p:cNvSpPr/>
          <p:nvPr/>
        </p:nvSpPr>
        <p:spPr bwMode="auto">
          <a:xfrm>
            <a:off x="215516" y="2970277"/>
            <a:ext cx="396044" cy="1569660"/>
          </a:xfrm>
          <a:prstGeom prst="rect">
            <a:avLst/>
          </a:prstGeom>
          <a:solidFill>
            <a:srgbClr val="002060"/>
          </a:solidFill>
          <a:ln w="0">
            <a:noFill/>
          </a:ln>
          <a:effectLst>
            <a:outerShdw blurRad="184150" dist="241300" dir="11520000" sx="110000" sy="110000" algn="ctr">
              <a:srgbClr val="000000">
                <a:alpha val="17647"/>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vert="horz" wrap="square" lIns="91440" tIns="45720" rIns="91440" bIns="45720" numCol="1" anchor="t">
            <a:spAutoFit/>
          </a:bodyPr>
          <a:lstStyle/>
          <a:p>
            <a:pPr eaLnBrk="0">
              <a:spcBef>
                <a:spcPts val="0"/>
              </a:spcBef>
              <a:spcAft>
                <a:spcPts val="0"/>
              </a:spcAft>
            </a:pPr>
            <a:r>
              <a:rPr lang="zh-CN" altLang="en-US" sz="2400" b="1">
                <a:solidFill>
                  <a:schemeClr val="bg1"/>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插值</a:t>
            </a:r>
            <a:endParaRPr lang="en-US" altLang="zh-CN" sz="2400" b="1" dirty="0">
              <a:solidFill>
                <a:schemeClr val="bg1"/>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endParaRPr>
          </a:p>
          <a:p>
            <a:pPr eaLnBrk="0">
              <a:spcBef>
                <a:spcPts val="0"/>
              </a:spcBef>
              <a:spcAft>
                <a:spcPts val="0"/>
              </a:spcAft>
            </a:pPr>
            <a:r>
              <a:rPr lang="zh-CN" altLang="en-US" sz="2400" b="1">
                <a:solidFill>
                  <a:schemeClr val="bg1"/>
                </a:solidFill>
                <a:effectLst>
                  <a:outerShdw blurRad="38100" dist="38100" dir="2700000" algn="tl">
                    <a:srgbClr val="000000">
                      <a:alpha val="42745"/>
                    </a:srgbClr>
                  </a:outerShdw>
                </a:effectLst>
                <a:latin typeface="华文楷体" panose="02010600040101010101" pitchFamily="2" charset="-122"/>
                <a:ea typeface="华文楷体" panose="02010600040101010101" pitchFamily="2" charset="-122"/>
              </a:rPr>
              <a:t>特点</a:t>
            </a:r>
            <a:endParaRPr lang="ko-KR" altLang="en-US" sz="2400" b="1" dirty="0">
              <a:solidFill>
                <a:schemeClr val="bg1"/>
              </a:solidFill>
              <a:effectLst>
                <a:outerShdw blurRad="38100" dist="38100" dir="2700000" algn="tl">
                  <a:srgbClr val="000000">
                    <a:alpha val="42745"/>
                  </a:srgbClr>
                </a:outerShdw>
              </a:effectLst>
              <a:latin typeface="华文楷体" panose="02010600040101010101" pitchFamily="2" charset="-122"/>
            </a:endParaRPr>
          </a:p>
        </p:txBody>
      </p:sp>
      <p:sp>
        <p:nvSpPr>
          <p:cNvPr id="9" name="文本框 8"/>
          <p:cNvSpPr txBox="1"/>
          <p:nvPr/>
        </p:nvSpPr>
        <p:spPr>
          <a:xfrm>
            <a:off x="5834978" y="179236"/>
            <a:ext cx="3083185" cy="357755"/>
          </a:xfrm>
          <a:prstGeom prst="rect">
            <a:avLst/>
          </a:prstGeom>
          <a:noFill/>
        </p:spPr>
        <p:txBody>
          <a:bodyPr vert="horz" wrap="square" lIns="0" tIns="0" rIns="0" bIns="0" anchor="t">
            <a:noAutofit/>
          </a:bodyPr>
          <a:lstStyle/>
          <a:p>
            <a:pPr marL="0" indent="0" algn="l" defTabSz="914400" eaLnBrk="0" fontAlgn="base" latinLnBrk="0">
              <a:lnSpc>
                <a:spcPct val="100000"/>
              </a:lnSpc>
              <a:spcBef>
                <a:spcPts val="0"/>
              </a:spcBef>
              <a:spcAft>
                <a:spcPts val="0"/>
              </a:spcAft>
              <a:buFontTx/>
              <a:buNone/>
            </a:pPr>
            <a:r>
              <a:rPr lang="en-US" altLang="ko-KR" b="1" cap="none" dirty="0" err="1">
                <a:solidFill>
                  <a:srgbClr val="FFFF00"/>
                </a:solidFill>
                <a:effectLst>
                  <a:outerShdw blurRad="38100" dist="38100" dir="2700000" algn="tl">
                    <a:srgbClr val="000000">
                      <a:alpha val="42745"/>
                    </a:srgbClr>
                  </a:outerShdw>
                </a:effectLst>
                <a:latin typeface="微软雅黑" panose="020B0503020204020204" pitchFamily="34" charset="-122"/>
                <a:ea typeface="微软雅黑" panose="020B0503020204020204" pitchFamily="34" charset="-122"/>
              </a:rPr>
              <a:t>数据优化</a:t>
            </a:r>
            <a:r>
              <a:rPr lang="zh-CN" altLang="en-US" b="1" cap="none" dirty="0">
                <a:solidFill>
                  <a:srgbClr val="FFFF00"/>
                </a:solidFill>
                <a:effectLst>
                  <a:outerShdw blurRad="38100" dist="38100" dir="2700000" algn="tl">
                    <a:srgbClr val="000000">
                      <a:alpha val="42745"/>
                    </a:srgbClr>
                  </a:outerShdw>
                </a:effectLst>
                <a:latin typeface="微软雅黑" panose="020B0503020204020204" pitchFamily="34" charset="-122"/>
                <a:ea typeface="微软雅黑" panose="020B0503020204020204" pitchFamily="34" charset="-122"/>
              </a:rPr>
              <a:t>和分析最常用</a:t>
            </a:r>
            <a:r>
              <a:rPr lang="en-US" altLang="ko-KR" b="1" cap="none" dirty="0" err="1">
                <a:solidFill>
                  <a:srgbClr val="FFFF00"/>
                </a:solidFill>
                <a:effectLst>
                  <a:outerShdw blurRad="38100" dist="38100" dir="2700000" algn="tl">
                    <a:srgbClr val="000000">
                      <a:alpha val="42745"/>
                    </a:srgbClr>
                  </a:outerShdw>
                </a:effectLst>
                <a:latin typeface="微软雅黑" panose="020B0503020204020204" pitchFamily="34" charset="-122"/>
                <a:ea typeface="微软雅黑" panose="020B0503020204020204" pitchFamily="34" charset="-122"/>
              </a:rPr>
              <a:t>方法</a:t>
            </a:r>
            <a:endParaRPr lang="ko-KR" altLang="en-US" b="1" cap="none" dirty="0">
              <a:solidFill>
                <a:srgbClr val="FFFF00"/>
              </a:solidFill>
              <a:latin typeface="微软雅黑" panose="020B0503020204020204" pitchFamily="34" charset="-122"/>
            </a:endParaRPr>
          </a:p>
        </p:txBody>
      </p:sp>
      <p:sp>
        <p:nvSpPr>
          <p:cNvPr id="10" name="文本框 9"/>
          <p:cNvSpPr txBox="1"/>
          <p:nvPr/>
        </p:nvSpPr>
        <p:spPr>
          <a:xfrm>
            <a:off x="683568" y="104314"/>
            <a:ext cx="4642448"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§5.4.3  </a:t>
            </a:r>
            <a:r>
              <a:rPr lang="zh-CN" altLang="en-US" sz="2800" b="1" dirty="0">
                <a:solidFill>
                  <a:srgbClr val="002060"/>
                </a:solidFill>
                <a:latin typeface="华文楷体" panose="02010600040101010101" pitchFamily="2" charset="-122"/>
                <a:ea typeface="华文楷体" panose="02010600040101010101" pitchFamily="2" charset="-122"/>
              </a:rPr>
              <a:t>插值和曲线拟合区别</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826517" y="793482"/>
            <a:ext cx="5206331" cy="584584"/>
          </a:xfrm>
          <a:prstGeom prst="rect">
            <a:avLst/>
          </a:prstGeom>
          <a:noFill/>
          <a:ln w="9525">
            <a:noFill/>
            <a:miter lim="800000"/>
          </a:ln>
        </p:spPr>
        <p:txBody>
          <a:bodyPr vert="horz" wrap="square" lIns="91440" tIns="45720" rIns="91440" bIns="45720" numCol="1" anchor="t" anchorCtr="0" compatLnSpc="1">
            <a:spAutoFit/>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marL="0" indent="0" algn="just" eaLnBrk="1" hangingPunct="1">
              <a:lnSpc>
                <a:spcPct val="125000"/>
              </a:lnSpc>
              <a:buFontTx/>
              <a:buNone/>
            </a:pPr>
            <a:r>
              <a:rPr lang="zh-CN" altLang="en-US" kern="0" dirty="0">
                <a:solidFill>
                  <a:srgbClr val="0070C0"/>
                </a:solidFill>
                <a:latin typeface="微软雅黑 Light" panose="020B0502040204020203" pitchFamily="34" charset="-122"/>
                <a:ea typeface="微软雅黑 Light" panose="020B0502040204020203" pitchFamily="34" charset="-122"/>
              </a:rPr>
              <a:t>函数</a:t>
            </a:r>
            <a:r>
              <a:rPr lang="en-US" altLang="zh-CN" i="1" kern="0" dirty="0">
                <a:solidFill>
                  <a:srgbClr val="0070C0"/>
                </a:solidFill>
                <a:latin typeface="微软雅黑 Light" panose="020B0502040204020203" pitchFamily="34" charset="-122"/>
                <a:ea typeface="微软雅黑 Light" panose="020B0502040204020203" pitchFamily="34" charset="-122"/>
              </a:rPr>
              <a:t>z</a:t>
            </a:r>
            <a:r>
              <a:rPr lang="en-US" altLang="zh-CN" kern="0" dirty="0">
                <a:solidFill>
                  <a:srgbClr val="0070C0"/>
                </a:solidFill>
                <a:latin typeface="微软雅黑 Light" panose="020B0502040204020203" pitchFamily="34" charset="-122"/>
                <a:ea typeface="微软雅黑 Light" panose="020B0502040204020203" pitchFamily="34" charset="-122"/>
              </a:rPr>
              <a:t>=</a:t>
            </a:r>
            <a:r>
              <a:rPr lang="en-US" altLang="zh-CN" i="1" kern="0" dirty="0">
                <a:solidFill>
                  <a:srgbClr val="0070C0"/>
                </a:solidFill>
                <a:latin typeface="微软雅黑 Light" panose="020B0502040204020203" pitchFamily="34" charset="-122"/>
                <a:ea typeface="微软雅黑 Light" panose="020B0502040204020203" pitchFamily="34" charset="-122"/>
              </a:rPr>
              <a:t>f</a:t>
            </a:r>
            <a:r>
              <a:rPr lang="en-US" altLang="zh-CN" kern="0" dirty="0">
                <a:solidFill>
                  <a:srgbClr val="0070C0"/>
                </a:solidFill>
                <a:latin typeface="微软雅黑 Light" panose="020B0502040204020203" pitchFamily="34" charset="-122"/>
                <a:ea typeface="微软雅黑 Light" panose="020B0502040204020203" pitchFamily="34" charset="-122"/>
              </a:rPr>
              <a:t>(</a:t>
            </a:r>
            <a:r>
              <a:rPr lang="en-US" altLang="zh-CN" i="1" kern="0" dirty="0" err="1">
                <a:solidFill>
                  <a:srgbClr val="0070C0"/>
                </a:solidFill>
                <a:latin typeface="微软雅黑 Light" panose="020B0502040204020203" pitchFamily="34" charset="-122"/>
                <a:ea typeface="微软雅黑 Light" panose="020B0502040204020203" pitchFamily="34" charset="-122"/>
              </a:rPr>
              <a:t>x,y</a:t>
            </a:r>
            <a:r>
              <a:rPr lang="en-US" altLang="zh-CN" kern="0" dirty="0">
                <a:solidFill>
                  <a:srgbClr val="0070C0"/>
                </a:solidFill>
                <a:latin typeface="微软雅黑 Light" panose="020B0502040204020203" pitchFamily="34" charset="-122"/>
                <a:ea typeface="微软雅黑 Light" panose="020B0502040204020203" pitchFamily="34" charset="-122"/>
              </a:rPr>
              <a:t>)</a:t>
            </a:r>
            <a:r>
              <a:rPr lang="zh-CN" altLang="en-US" kern="0" dirty="0">
                <a:solidFill>
                  <a:srgbClr val="0070C0"/>
                </a:solidFill>
                <a:latin typeface="微软雅黑 Light" panose="020B0502040204020203" pitchFamily="34" charset="-122"/>
                <a:ea typeface="微软雅黑 Light" panose="020B0502040204020203" pitchFamily="34" charset="-122"/>
              </a:rPr>
              <a:t> 二维插值的原理 </a:t>
            </a:r>
          </a:p>
        </p:txBody>
      </p:sp>
      <p:pic>
        <p:nvPicPr>
          <p:cNvPr id="5" name="Picture 4"/>
          <p:cNvPicPr>
            <a:picLocks noChangeAspect="1" noChangeArrowheads="1"/>
          </p:cNvPicPr>
          <p:nvPr/>
        </p:nvPicPr>
        <p:blipFill rotWithShape="1">
          <a:blip r:embed="rId2" cstate="print"/>
          <a:srcRect l="10581" r="3141"/>
          <a:stretch>
            <a:fillRect/>
          </a:stretch>
        </p:blipFill>
        <p:spPr bwMode="auto">
          <a:xfrm>
            <a:off x="509543" y="1355879"/>
            <a:ext cx="7455250" cy="3240530"/>
          </a:xfrm>
          <a:prstGeom prst="rect">
            <a:avLst/>
          </a:prstGeom>
          <a:noFill/>
          <a:ln w="9525">
            <a:noFill/>
            <a:miter lim="800000"/>
            <a:headEnd/>
            <a:tailEnd/>
          </a:ln>
        </p:spPr>
      </p:pic>
      <p:sp>
        <p:nvSpPr>
          <p:cNvPr id="6" name="矩形 5"/>
          <p:cNvSpPr/>
          <p:nvPr/>
        </p:nvSpPr>
        <p:spPr>
          <a:xfrm>
            <a:off x="3737819" y="2424986"/>
            <a:ext cx="372218" cy="46166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400" b="1" cap="none" dirty="0">
                <a:solidFill>
                  <a:srgbClr val="FF0000"/>
                </a:solidFill>
                <a:latin typeface="Arial" panose="020B0604020202020204" pitchFamily="34" charset="0"/>
                <a:ea typeface="Arial" panose="020B0604020202020204" pitchFamily="34" charset="0"/>
              </a:rPr>
              <a:t>o</a:t>
            </a:r>
            <a:endParaRPr lang="ko-KR" altLang="en-US" sz="2400" b="1" cap="none" dirty="0">
              <a:solidFill>
                <a:srgbClr val="FF0000"/>
              </a:solidFill>
              <a:latin typeface="Arial" panose="020B0604020202020204" pitchFamily="34" charset="0"/>
              <a:ea typeface="Arial" panose="020B0604020202020204" pitchFamily="34" charset="0"/>
            </a:endParaRPr>
          </a:p>
        </p:txBody>
      </p:sp>
      <p:sp>
        <p:nvSpPr>
          <p:cNvPr id="7" name="矩形 6"/>
          <p:cNvSpPr/>
          <p:nvPr/>
        </p:nvSpPr>
        <p:spPr>
          <a:xfrm>
            <a:off x="1853139" y="2271580"/>
            <a:ext cx="372218" cy="461665"/>
          </a:xfrm>
          <a:prstGeom prst="rect">
            <a:avLst/>
          </a:prstGeom>
        </p:spPr>
        <p:txBody>
          <a:bodyPr vert="horz" wrap="none" lIns="91440" tIns="45720" rIns="91440" bIns="45720" numCol="1" anchor="t">
            <a:spAutoFit/>
          </a:bodyPr>
          <a:lstStyle/>
          <a:p>
            <a:pPr marL="0" indent="0" algn="l" defTabSz="914400" eaLnBrk="0" fontAlgn="base" latinLnBrk="0">
              <a:lnSpc>
                <a:spcPct val="100000"/>
              </a:lnSpc>
              <a:spcBef>
                <a:spcPts val="0"/>
              </a:spcBef>
              <a:spcAft>
                <a:spcPts val="0"/>
              </a:spcAft>
              <a:buFontTx/>
              <a:buNone/>
            </a:pPr>
            <a:r>
              <a:rPr lang="en-US" altLang="ko-KR" sz="2400" b="1" cap="none" dirty="0">
                <a:solidFill>
                  <a:srgbClr val="FF0000"/>
                </a:solidFill>
                <a:latin typeface="Arial" panose="020B0604020202020204" pitchFamily="34" charset="0"/>
                <a:ea typeface="Arial" panose="020B0604020202020204" pitchFamily="34" charset="0"/>
              </a:rPr>
              <a:t>o</a:t>
            </a:r>
            <a:endParaRPr lang="ko-KR" altLang="en-US" sz="2400" b="1" cap="none" dirty="0">
              <a:solidFill>
                <a:srgbClr val="FF0000"/>
              </a:solidFill>
              <a:latin typeface="Arial" panose="020B0604020202020204" pitchFamily="34" charset="0"/>
              <a:ea typeface="Arial" panose="020B0604020202020204" pitchFamily="34" charset="0"/>
            </a:endParaRPr>
          </a:p>
        </p:txBody>
      </p:sp>
      <p:cxnSp>
        <p:nvCxnSpPr>
          <p:cNvPr id="8" name="直接连接符 7"/>
          <p:cNvCxnSpPr/>
          <p:nvPr/>
        </p:nvCxnSpPr>
        <p:spPr>
          <a:xfrm>
            <a:off x="5624698" y="3102675"/>
            <a:ext cx="1476164"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cxnSp>
        <p:nvCxnSpPr>
          <p:cNvPr id="9" name="直接连接符 8"/>
          <p:cNvCxnSpPr/>
          <p:nvPr/>
        </p:nvCxnSpPr>
        <p:spPr>
          <a:xfrm>
            <a:off x="5624698" y="2094563"/>
            <a:ext cx="1476164" cy="0"/>
          </a:xfrm>
          <a:prstGeom prst="line">
            <a:avLst/>
          </a:prstGeom>
          <a:ln>
            <a:solidFill>
              <a:srgbClr val="FF0000"/>
            </a:solidFill>
          </a:ln>
        </p:spPr>
        <p:style>
          <a:lnRef idx="3">
            <a:schemeClr val="accent4"/>
          </a:lnRef>
          <a:fillRef idx="0">
            <a:schemeClr val="accent4"/>
          </a:fillRef>
          <a:effectRef idx="2">
            <a:schemeClr val="accent4"/>
          </a:effectRef>
          <a:fontRef idx="minor">
            <a:schemeClr val="tx1"/>
          </a:fontRef>
        </p:style>
      </p:cxnSp>
      <p:sp>
        <p:nvSpPr>
          <p:cNvPr id="10" name="矩形 9"/>
          <p:cNvSpPr/>
          <p:nvPr/>
        </p:nvSpPr>
        <p:spPr>
          <a:xfrm>
            <a:off x="6884838" y="1878709"/>
            <a:ext cx="144016" cy="1078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1765023" y="2042771"/>
            <a:ext cx="1338828" cy="369332"/>
          </a:xfrm>
          <a:prstGeom prst="rect">
            <a:avLst/>
          </a:prstGeom>
          <a:solidFill>
            <a:srgbClr val="FF0000"/>
          </a:solidFill>
        </p:spPr>
        <p:txBody>
          <a:bodyPr wrap="none">
            <a:spAutoFit/>
          </a:bodyPr>
          <a:lstStyle/>
          <a:p>
            <a:r>
              <a:rPr lang="zh-CN" altLang="en-US" i="1" dirty="0">
                <a:solidFill>
                  <a:srgbClr val="FFFF00"/>
                </a:solidFill>
                <a:latin typeface="隶书" panose="02010509060101010101" pitchFamily="49" charset="-122"/>
                <a:ea typeface="隶书" panose="02010509060101010101" pitchFamily="49" charset="-122"/>
              </a:rPr>
              <a:t>插值结果</a:t>
            </a:r>
            <a:r>
              <a:rPr lang="en-US" altLang="zh-CN" i="1" dirty="0" err="1">
                <a:solidFill>
                  <a:srgbClr val="FFFF00"/>
                </a:solidFill>
                <a:latin typeface="隶书" panose="02010509060101010101" pitchFamily="49" charset="-122"/>
                <a:ea typeface="隶书" panose="02010509060101010101" pitchFamily="49" charset="-122"/>
              </a:rPr>
              <a:t>zi</a:t>
            </a:r>
            <a:endParaRPr lang="zh-CN" altLang="en-US" dirty="0">
              <a:solidFill>
                <a:srgbClr val="FFFF00"/>
              </a:solidFill>
            </a:endParaRPr>
          </a:p>
        </p:txBody>
      </p:sp>
      <p:sp>
        <p:nvSpPr>
          <p:cNvPr id="12" name="矩形 11"/>
          <p:cNvSpPr/>
          <p:nvPr/>
        </p:nvSpPr>
        <p:spPr>
          <a:xfrm>
            <a:off x="4110037" y="2220091"/>
            <a:ext cx="415498" cy="369332"/>
          </a:xfrm>
          <a:prstGeom prst="rect">
            <a:avLst/>
          </a:prstGeom>
          <a:solidFill>
            <a:srgbClr val="FF0000"/>
          </a:solidFill>
        </p:spPr>
        <p:txBody>
          <a:bodyPr wrap="none">
            <a:spAutoFit/>
          </a:bodyPr>
          <a:lstStyle/>
          <a:p>
            <a:r>
              <a:rPr lang="en-US" altLang="zh-CN" i="1" dirty="0" err="1">
                <a:solidFill>
                  <a:srgbClr val="FFFF00"/>
                </a:solidFill>
                <a:latin typeface="隶书" panose="02010509060101010101" pitchFamily="49" charset="-122"/>
                <a:ea typeface="隶书" panose="02010509060101010101" pitchFamily="49" charset="-122"/>
              </a:rPr>
              <a:t>zi</a:t>
            </a:r>
            <a:endParaRPr lang="zh-CN" altLang="en-US" dirty="0">
              <a:solidFill>
                <a:srgbClr val="FFFF00"/>
              </a:solidFill>
            </a:endParaRPr>
          </a:p>
        </p:txBody>
      </p:sp>
      <p:sp>
        <p:nvSpPr>
          <p:cNvPr id="14" name="文本框 13"/>
          <p:cNvSpPr txBox="1"/>
          <p:nvPr/>
        </p:nvSpPr>
        <p:spPr>
          <a:xfrm>
            <a:off x="826517" y="107261"/>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§5.4.3 </a:t>
            </a:r>
            <a:r>
              <a:rPr lang="zh-CN" altLang="en-US" sz="2800" b="1" kern="0" dirty="0">
                <a:solidFill>
                  <a:srgbClr val="002060"/>
                </a:solidFill>
                <a:latin typeface="华文楷体" panose="02010600040101010101" pitchFamily="2" charset="-122"/>
                <a:ea typeface="华文楷体" panose="02010600040101010101" pitchFamily="2" charset="-122"/>
              </a:rPr>
              <a:t>二维多项式插值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en-US" altLang="zh-CN" sz="2800" b="1" dirty="0">
                <a:solidFill>
                  <a:srgbClr val="FF0000"/>
                </a:solidFill>
                <a:ea typeface="隶书" panose="02010509060101010101" pitchFamily="49" charset="-122"/>
              </a:rPr>
              <a:t>interp2</a:t>
            </a:r>
            <a:r>
              <a:rPr lang="zh-CN" altLang="en-US" sz="2800" b="1" dirty="0">
                <a:solidFill>
                  <a:srgbClr val="FF0000"/>
                </a:solidFill>
                <a:latin typeface="华文楷体" panose="02010600040101010101" pitchFamily="2" charset="-122"/>
                <a:ea typeface="华文楷体" panose="02010600040101010101" pitchFamily="2" charset="-122"/>
              </a:rPr>
              <a:t>插值原理</a:t>
            </a:r>
          </a:p>
        </p:txBody>
      </p:sp>
      <p:sp>
        <p:nvSpPr>
          <p:cNvPr id="15" name="文本框 14"/>
          <p:cNvSpPr txBox="1"/>
          <p:nvPr/>
        </p:nvSpPr>
        <p:spPr>
          <a:xfrm>
            <a:off x="5076055" y="3363382"/>
            <a:ext cx="3671341" cy="400110"/>
          </a:xfrm>
          <a:prstGeom prst="rect">
            <a:avLst/>
          </a:prstGeom>
          <a:noFill/>
        </p:spPr>
        <p:txBody>
          <a:bodyPr wrap="square">
            <a:spAutoFit/>
          </a:bodyPr>
          <a:lstStyle/>
          <a:p>
            <a:pPr algn="l"/>
            <a:r>
              <a:rPr lang="en-US" altLang="zh-CN" sz="2000" b="1" i="0" dirty="0">
                <a:solidFill>
                  <a:srgbClr val="FF0000"/>
                </a:solidFill>
                <a:effectLst/>
                <a:latin typeface="微软雅黑 Light" panose="020B0502040204020203" pitchFamily="34" charset="-122"/>
                <a:ea typeface="微软雅黑 Light" panose="020B0502040204020203" pitchFamily="34" charset="-122"/>
              </a:rPr>
              <a:t>interp2</a:t>
            </a:r>
            <a:r>
              <a:rPr lang="zh-CN" altLang="en-US" sz="2000" b="1" i="0" dirty="0">
                <a:solidFill>
                  <a:srgbClr val="FF0000"/>
                </a:solidFill>
                <a:effectLst/>
                <a:latin typeface="微软雅黑 Light" panose="020B0502040204020203" pitchFamily="34" charset="-122"/>
                <a:ea typeface="微软雅黑 Light" panose="020B0502040204020203" pitchFamily="34" charset="-122"/>
              </a:rPr>
              <a:t>插值节点为网格节点</a:t>
            </a:r>
          </a:p>
        </p:txBody>
      </p:sp>
      <p:sp>
        <p:nvSpPr>
          <p:cNvPr id="16" name="文本框 15"/>
          <p:cNvSpPr txBox="1"/>
          <p:nvPr/>
        </p:nvSpPr>
        <p:spPr>
          <a:xfrm>
            <a:off x="4858965" y="3787621"/>
            <a:ext cx="3888432" cy="646331"/>
          </a:xfrm>
          <a:prstGeom prst="rect">
            <a:avLst/>
          </a:prstGeom>
          <a:noFill/>
        </p:spPr>
        <p:txBody>
          <a:bodyPr wrap="square">
            <a:spAutoFit/>
          </a:bodyPr>
          <a:lstStyle/>
          <a:p>
            <a:r>
              <a:rPr lang="zh-CN" altLang="en-US" b="0" i="0" dirty="0">
                <a:solidFill>
                  <a:srgbClr val="0070C0"/>
                </a:solidFill>
                <a:effectLst/>
                <a:latin typeface="-apple-system"/>
              </a:rPr>
              <a:t>二维数据的插值，使用它的前提是数据的坐标格式</a:t>
            </a:r>
            <a:r>
              <a:rPr lang="en-US" altLang="zh-CN" b="0" i="0" dirty="0">
                <a:solidFill>
                  <a:srgbClr val="0070C0"/>
                </a:solidFill>
                <a:effectLst/>
                <a:latin typeface="-apple-system"/>
              </a:rPr>
              <a:t>,</a:t>
            </a:r>
            <a:r>
              <a:rPr lang="zh-CN" altLang="en-US" dirty="0">
                <a:solidFill>
                  <a:srgbClr val="0070C0"/>
                </a:solidFill>
                <a:latin typeface="-apple-system"/>
              </a:rPr>
              <a:t>即</a:t>
            </a:r>
            <a:r>
              <a:rPr lang="en-US" altLang="zh-CN" b="0" i="0" dirty="0">
                <a:solidFill>
                  <a:srgbClr val="0070C0"/>
                </a:solidFill>
                <a:effectLst/>
                <a:latin typeface="-apple-system"/>
              </a:rPr>
              <a:t>meshgrid2</a:t>
            </a:r>
            <a:r>
              <a:rPr lang="zh-CN" altLang="en-US" b="0" i="0" dirty="0">
                <a:solidFill>
                  <a:srgbClr val="0070C0"/>
                </a:solidFill>
                <a:effectLst/>
                <a:latin typeface="-apple-system"/>
              </a:rPr>
              <a:t>格式</a:t>
            </a:r>
            <a:endParaRPr lang="zh-CN" altLang="en-US" dirty="0">
              <a:solidFill>
                <a:srgbClr val="0070C0"/>
              </a:solidFill>
            </a:endParaRPr>
          </a:p>
        </p:txBody>
      </p:sp>
      <p:sp>
        <p:nvSpPr>
          <p:cNvPr id="17" name="文本框 16"/>
          <p:cNvSpPr txBox="1"/>
          <p:nvPr/>
        </p:nvSpPr>
        <p:spPr>
          <a:xfrm>
            <a:off x="4742320" y="1401365"/>
            <a:ext cx="4285035" cy="369332"/>
          </a:xfrm>
          <a:prstGeom prst="rect">
            <a:avLst/>
          </a:prstGeom>
          <a:noFill/>
        </p:spPr>
        <p:txBody>
          <a:bodyPr wrap="square">
            <a:spAutoFit/>
          </a:bodyPr>
          <a:lstStyle/>
          <a:p>
            <a:r>
              <a:rPr lang="en-US" altLang="zh-CN" b="1" i="0" dirty="0">
                <a:solidFill>
                  <a:srgbClr val="FF0000"/>
                </a:solidFill>
                <a:effectLst/>
                <a:latin typeface="微软雅黑" panose="020B0503020204020204" pitchFamily="34" charset="-122"/>
                <a:ea typeface="微软雅黑" panose="020B0503020204020204" pitchFamily="34" charset="-122"/>
              </a:rPr>
              <a:t>meshgrid2</a:t>
            </a:r>
            <a:r>
              <a:rPr lang="zh-CN" altLang="en-US" b="1" i="0" dirty="0">
                <a:solidFill>
                  <a:srgbClr val="FF0000"/>
                </a:solidFill>
                <a:effectLst/>
                <a:latin typeface="微软雅黑" panose="020B0503020204020204" pitchFamily="34" charset="-122"/>
                <a:ea typeface="微软雅黑" panose="020B0503020204020204" pitchFamily="34" charset="-122"/>
              </a:rPr>
              <a:t>格式的二维网格数据插值</a:t>
            </a:r>
            <a:r>
              <a:rPr lang="zh-CN" altLang="en-US" b="1" dirty="0">
                <a:solidFill>
                  <a:srgbClr val="FF0000"/>
                </a:solidFill>
                <a:latin typeface="微软雅黑" panose="020B0503020204020204" pitchFamily="34" charset="-122"/>
                <a:ea typeface="微软雅黑" panose="020B0503020204020204" pitchFamily="34" charset="-122"/>
              </a:rPr>
              <a:t>点</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animBg="1"/>
      <p:bldP spid="12" grpId="0" animBg="1"/>
      <p:bldP spid="17"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85311" y="677950"/>
            <a:ext cx="2552446" cy="461665"/>
          </a:xfrm>
          <a:prstGeom prst="rect">
            <a:avLst/>
          </a:prstGeom>
        </p:spPr>
        <p:txBody>
          <a:bodyPr wrap="square">
            <a:spAutoFit/>
          </a:bodyPr>
          <a:lstStyle/>
          <a:p>
            <a:r>
              <a:rPr lang="zh-CN" altLang="en-US" sz="2400" dirty="0">
                <a:solidFill>
                  <a:schemeClr val="bg1"/>
                </a:solidFill>
                <a:effectLst>
                  <a:outerShdw blurRad="38100" dist="38100" dir="2700000" algn="tl">
                    <a:srgbClr val="000000">
                      <a:alpha val="43137"/>
                    </a:srgbClr>
                  </a:outerShdw>
                </a:effectLst>
                <a:highlight>
                  <a:srgbClr val="21A4FF"/>
                </a:highlight>
                <a:latin typeface="隶书" panose="02010509060101010101" pitchFamily="49" charset="-122"/>
                <a:ea typeface="隶书" panose="02010509060101010101" pitchFamily="49" charset="-122"/>
              </a:rPr>
              <a:t>内插调用格式：</a:t>
            </a:r>
          </a:p>
        </p:txBody>
      </p:sp>
      <p:sp>
        <p:nvSpPr>
          <p:cNvPr id="5" name="Rectangle 2"/>
          <p:cNvSpPr txBox="1">
            <a:spLocks noChangeArrowheads="1"/>
          </p:cNvSpPr>
          <p:nvPr/>
        </p:nvSpPr>
        <p:spPr bwMode="auto">
          <a:xfrm>
            <a:off x="381282" y="1092470"/>
            <a:ext cx="8871238" cy="1790427"/>
          </a:xfrm>
          <a:prstGeom prst="rect">
            <a:avLst/>
          </a:prstGeom>
          <a:noFill/>
          <a:ln w="9525">
            <a:noFill/>
            <a:prstDash val="sysDot"/>
            <a:miter lim="800000"/>
          </a:ln>
        </p:spPr>
        <p:txBody>
          <a:bodyPr vert="horz" wrap="square" lIns="91440" tIns="45720" rIns="91440" bIns="45720" numCol="1" anchor="t" anchorCtr="0" compatLnSpc="1">
            <a:spAutoFit/>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gn="just" eaLnBrk="1" hangingPunct="1">
              <a:lnSpc>
                <a:spcPts val="3400"/>
              </a:lnSpc>
              <a:buFont typeface="Wingdings" panose="05000000000000000000" pitchFamily="2" charset="2"/>
              <a:buChar char="p"/>
              <a:defRPr/>
            </a:pPr>
            <a:r>
              <a:rPr lang="en-US" altLang="zh-CN" sz="2000" b="0" kern="0" dirty="0">
                <a:solidFill>
                  <a:srgbClr val="002060"/>
                </a:solidFill>
                <a:latin typeface="微软雅黑 Light" panose="020B0502040204020203" pitchFamily="34" charset="-122"/>
                <a:ea typeface="微软雅黑 Light" panose="020B0502040204020203" pitchFamily="34" charset="-122"/>
              </a:rPr>
              <a:t>x</a:t>
            </a:r>
            <a:r>
              <a:rPr lang="zh-CN" altLang="en-US" sz="2000" b="0" kern="0" dirty="0">
                <a:solidFill>
                  <a:srgbClr val="002060"/>
                </a:solidFill>
                <a:latin typeface="微软雅黑 Light" panose="020B0502040204020203" pitchFamily="34" charset="-122"/>
                <a:ea typeface="微软雅黑 Light" panose="020B0502040204020203" pitchFamily="34" charset="-122"/>
              </a:rPr>
              <a:t>,</a:t>
            </a:r>
            <a:r>
              <a:rPr lang="en-US" altLang="zh-CN" sz="2000" b="0" kern="0" dirty="0">
                <a:solidFill>
                  <a:srgbClr val="002060"/>
                </a:solidFill>
                <a:latin typeface="微软雅黑 Light" panose="020B0502040204020203" pitchFamily="34" charset="-122"/>
                <a:ea typeface="微软雅黑 Light" panose="020B0502040204020203" pitchFamily="34" charset="-122"/>
              </a:rPr>
              <a:t>y</a:t>
            </a:r>
            <a:r>
              <a:rPr lang="zh-CN" altLang="en-US" sz="2000" b="0" kern="0" dirty="0">
                <a:solidFill>
                  <a:srgbClr val="002060"/>
                </a:solidFill>
                <a:latin typeface="微软雅黑 Light" panose="020B0502040204020203" pitchFamily="34" charset="-122"/>
                <a:ea typeface="微软雅黑 Light" panose="020B0502040204020203" pitchFamily="34" charset="-122"/>
              </a:rPr>
              <a:t>是</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采样点</a:t>
            </a:r>
            <a:r>
              <a:rPr lang="zh-CN" altLang="en-US" sz="2000" b="0" kern="0" dirty="0">
                <a:solidFill>
                  <a:srgbClr val="002060"/>
                </a:solidFill>
                <a:latin typeface="微软雅黑 Light" panose="020B0502040204020203" pitchFamily="34" charset="-122"/>
                <a:ea typeface="微软雅黑 Light" panose="020B0502040204020203" pitchFamily="34" charset="-122"/>
              </a:rPr>
              <a:t>，</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分别是</a:t>
            </a:r>
            <a:r>
              <a:rPr lang="en-US" altLang="zh-CN" sz="2000" b="0" kern="0" dirty="0" err="1">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x,y</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和</a:t>
            </a:r>
            <a:r>
              <a:rPr lang="en-US" altLang="zh-CN"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z</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轴数据，</a:t>
            </a:r>
            <a:r>
              <a:rPr lang="zh-CN" altLang="en-US" sz="2000" b="0" kern="0" dirty="0">
                <a:solidFill>
                  <a:srgbClr val="002060"/>
                </a:solidFill>
                <a:latin typeface="微软雅黑 Light" panose="020B0502040204020203" pitchFamily="34" charset="-122"/>
                <a:ea typeface="微软雅黑 Light" panose="020B0502040204020203" pitchFamily="34" charset="-122"/>
              </a:rPr>
              <a:t>指定为实矩阵或向量</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a:t>
            </a:r>
            <a:r>
              <a:rPr lang="en-US" altLang="zh-CN" sz="2000" b="0" kern="0" dirty="0">
                <a:solidFill>
                  <a:srgbClr val="002060"/>
                </a:solidFill>
                <a:latin typeface="微软雅黑 Light" panose="020B0502040204020203" pitchFamily="34" charset="-122"/>
                <a:ea typeface="微软雅黑 Light" panose="020B0502040204020203" pitchFamily="34" charset="-122"/>
              </a:rPr>
              <a:t>z</a:t>
            </a:r>
            <a:r>
              <a:rPr lang="zh-CN" altLang="en-US" sz="2000" b="0" kern="0" dirty="0">
                <a:solidFill>
                  <a:srgbClr val="002060"/>
                </a:solidFill>
                <a:latin typeface="微软雅黑 Light" panose="020B0502040204020203" pitchFamily="34" charset="-122"/>
                <a:ea typeface="微软雅黑 Light" panose="020B0502040204020203" pitchFamily="34" charset="-122"/>
              </a:rPr>
              <a:t>是样本值</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a:t>
            </a:r>
            <a:endParaRPr lang="en-US" altLang="zh-CN"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endParaRPr>
          </a:p>
          <a:p>
            <a:pPr algn="just" eaLnBrk="1" hangingPunct="1">
              <a:lnSpc>
                <a:spcPts val="3400"/>
              </a:lnSpc>
              <a:buFont typeface="Wingdings" panose="05000000000000000000" pitchFamily="2" charset="2"/>
              <a:buChar char="p"/>
              <a:defRPr/>
            </a:pPr>
            <a:r>
              <a:rPr lang="en-US" altLang="zh-CN" sz="2000" b="0" kern="0" dirty="0">
                <a:solidFill>
                  <a:srgbClr val="002060"/>
                </a:solidFill>
                <a:latin typeface="微软雅黑 Light" panose="020B0502040204020203" pitchFamily="34" charset="-122"/>
                <a:ea typeface="微软雅黑 Light" panose="020B0502040204020203" pitchFamily="34" charset="-122"/>
              </a:rPr>
              <a:t>xi</a:t>
            </a:r>
            <a:r>
              <a:rPr lang="zh-CN" altLang="en-US" sz="2000" b="0" kern="0" dirty="0">
                <a:solidFill>
                  <a:srgbClr val="002060"/>
                </a:solidFill>
                <a:latin typeface="微软雅黑 Light" panose="020B0502040204020203" pitchFamily="34" charset="-122"/>
                <a:ea typeface="微软雅黑 Light" panose="020B0502040204020203" pitchFamily="34" charset="-122"/>
              </a:rPr>
              <a:t>,</a:t>
            </a:r>
            <a:r>
              <a:rPr lang="en-US" altLang="zh-CN" sz="2000" b="0" kern="0" dirty="0" err="1">
                <a:solidFill>
                  <a:srgbClr val="002060"/>
                </a:solidFill>
                <a:latin typeface="微软雅黑 Light" panose="020B0502040204020203" pitchFamily="34" charset="-122"/>
                <a:ea typeface="微软雅黑 Light" panose="020B0502040204020203" pitchFamily="34" charset="-122"/>
              </a:rPr>
              <a:t>yi</a:t>
            </a:r>
            <a:r>
              <a:rPr lang="zh-CN" altLang="en-US" sz="2000" b="0" kern="0" dirty="0">
                <a:solidFill>
                  <a:srgbClr val="002060"/>
                </a:solidFill>
                <a:latin typeface="微软雅黑 Light" panose="020B0502040204020203" pitchFamily="34" charset="-122"/>
                <a:ea typeface="微软雅黑 Light" panose="020B0502040204020203" pitchFamily="34" charset="-122"/>
              </a:rPr>
              <a:t>是插值点，可以标量、向量</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和矩阵</a:t>
            </a:r>
            <a:r>
              <a:rPr lang="en-US" altLang="zh-CN"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 </a:t>
            </a:r>
          </a:p>
          <a:p>
            <a:pPr algn="just" eaLnBrk="1" hangingPunct="1">
              <a:lnSpc>
                <a:spcPts val="3400"/>
              </a:lnSpc>
              <a:buFont typeface="Wingdings" panose="05000000000000000000" pitchFamily="2" charset="2"/>
              <a:buChar char="p"/>
              <a:defRPr/>
            </a:pPr>
            <a:r>
              <a:rPr lang="en-US" altLang="zh-CN"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zi</a:t>
            </a: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是插值结果</a:t>
            </a:r>
            <a:endParaRPr lang="en-US" altLang="zh-CN"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endParaRPr>
          </a:p>
          <a:p>
            <a:pPr eaLnBrk="1" hangingPunct="1">
              <a:lnSpc>
                <a:spcPts val="3400"/>
              </a:lnSpc>
              <a:buFont typeface="Wingdings" panose="05000000000000000000" pitchFamily="2" charset="2"/>
              <a:buChar char="p"/>
              <a:defRPr/>
            </a:pPr>
            <a:r>
              <a:rPr lang="zh-CN" alt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方法</a:t>
            </a:r>
            <a:r>
              <a:rPr lang="en-US" sz="2000" b="0" kern="0" dirty="0">
                <a:solidFill>
                  <a:srgbClr val="002060"/>
                </a:solidFill>
                <a:latin typeface="微软雅黑 Light" panose="020B0502040204020203" pitchFamily="34" charset="-122"/>
                <a:ea typeface="微软雅黑 Light" panose="020B0502040204020203" pitchFamily="34" charset="-122"/>
                <a:sym typeface="Arial" panose="020B0604020202020204" pitchFamily="34" charset="0"/>
              </a:rPr>
              <a:t>method</a:t>
            </a:r>
            <a:r>
              <a:rPr lang="zh-CN" altLang="zh-CN" sz="2000" b="0" kern="0" dirty="0">
                <a:solidFill>
                  <a:srgbClr val="002060"/>
                </a:solidFill>
                <a:latin typeface="微软雅黑 Light" panose="020B0502040204020203" pitchFamily="34" charset="-122"/>
                <a:ea typeface="微软雅黑 Light" panose="020B0502040204020203" pitchFamily="34" charset="-122"/>
              </a:rPr>
              <a:t>默认方法</a:t>
            </a:r>
            <a:r>
              <a:rPr lang="en-US" altLang="zh-CN" sz="2000" b="0" kern="0" dirty="0">
                <a:solidFill>
                  <a:srgbClr val="002060"/>
                </a:solidFill>
                <a:latin typeface="微软雅黑 Light" panose="020B0502040204020203" pitchFamily="34" charset="-122"/>
                <a:ea typeface="微软雅黑 Light" panose="020B0502040204020203" pitchFamily="34" charset="-122"/>
              </a:rPr>
              <a:t>“linear”,</a:t>
            </a:r>
            <a:r>
              <a:rPr lang="zh-CN" altLang="en-US" sz="2000" b="0" kern="0" dirty="0">
                <a:solidFill>
                  <a:srgbClr val="002060"/>
                </a:solidFill>
                <a:latin typeface="微软雅黑 Light" panose="020B0502040204020203" pitchFamily="34" charset="-122"/>
                <a:ea typeface="微软雅黑 Light" panose="020B0502040204020203" pitchFamily="34" charset="-122"/>
              </a:rPr>
              <a:t>还有“</a:t>
            </a:r>
            <a:r>
              <a:rPr lang="en-US" altLang="zh-CN" sz="2000" b="0" kern="0" dirty="0">
                <a:solidFill>
                  <a:srgbClr val="002060"/>
                </a:solidFill>
                <a:latin typeface="微软雅黑 Light" panose="020B0502040204020203" pitchFamily="34" charset="-122"/>
                <a:ea typeface="微软雅黑 Light" panose="020B0502040204020203" pitchFamily="34" charset="-122"/>
              </a:rPr>
              <a:t>nearest”</a:t>
            </a:r>
            <a:r>
              <a:rPr lang="zh-CN" altLang="en-US" sz="2000" b="0" kern="0" dirty="0">
                <a:solidFill>
                  <a:srgbClr val="002060"/>
                </a:solidFill>
                <a:latin typeface="微软雅黑 Light" panose="020B0502040204020203" pitchFamily="34" charset="-122"/>
                <a:ea typeface="微软雅黑 Light" panose="020B0502040204020203" pitchFamily="34" charset="-122"/>
              </a:rPr>
              <a:t>、“</a:t>
            </a:r>
            <a:r>
              <a:rPr lang="en-US" altLang="zh-CN" sz="2000" b="0" kern="0" dirty="0">
                <a:solidFill>
                  <a:srgbClr val="002060"/>
                </a:solidFill>
                <a:latin typeface="微软雅黑 Light" panose="020B0502040204020203" pitchFamily="34" charset="-122"/>
                <a:ea typeface="微软雅黑 Light" panose="020B0502040204020203" pitchFamily="34" charset="-122"/>
              </a:rPr>
              <a:t>cubic”</a:t>
            </a:r>
            <a:r>
              <a:rPr lang="zh-CN" altLang="en-US" sz="2000" b="0" kern="0" dirty="0">
                <a:solidFill>
                  <a:srgbClr val="002060"/>
                </a:solidFill>
                <a:latin typeface="微软雅黑 Light" panose="020B0502040204020203" pitchFamily="34" charset="-122"/>
                <a:ea typeface="微软雅黑 Light" panose="020B0502040204020203" pitchFamily="34" charset="-122"/>
              </a:rPr>
              <a:t>、“</a:t>
            </a:r>
            <a:r>
              <a:rPr lang="en-US" altLang="zh-CN" sz="2000" b="0" kern="0" dirty="0" err="1">
                <a:solidFill>
                  <a:srgbClr val="002060"/>
                </a:solidFill>
                <a:latin typeface="微软雅黑 Light" panose="020B0502040204020203" pitchFamily="34" charset="-122"/>
                <a:ea typeface="微软雅黑 Light" panose="020B0502040204020203" pitchFamily="34" charset="-122"/>
              </a:rPr>
              <a:t>makima</a:t>
            </a:r>
            <a:r>
              <a:rPr lang="en-US" altLang="zh-CN" sz="2000" b="0" kern="0" dirty="0">
                <a:solidFill>
                  <a:srgbClr val="002060"/>
                </a:solidFill>
                <a:latin typeface="微软雅黑 Light" panose="020B0502040204020203" pitchFamily="34" charset="-122"/>
                <a:ea typeface="微软雅黑 Light" panose="020B0502040204020203" pitchFamily="34" charset="-122"/>
              </a:rPr>
              <a:t>” </a:t>
            </a:r>
            <a:r>
              <a:rPr lang="zh-CN" altLang="en-US" sz="2000" b="0" kern="0" dirty="0">
                <a:solidFill>
                  <a:srgbClr val="002060"/>
                </a:solidFill>
                <a:latin typeface="微软雅黑 Light" panose="020B0502040204020203" pitchFamily="34" charset="-122"/>
                <a:ea typeface="微软雅黑 Light" panose="020B0502040204020203" pitchFamily="34" charset="-122"/>
              </a:rPr>
              <a:t>或 “</a:t>
            </a:r>
            <a:r>
              <a:rPr lang="en-US" altLang="zh-CN" sz="2000" b="0" kern="0" dirty="0">
                <a:solidFill>
                  <a:srgbClr val="002060"/>
                </a:solidFill>
                <a:latin typeface="微软雅黑 Light" panose="020B0502040204020203" pitchFamily="34" charset="-122"/>
                <a:ea typeface="微软雅黑 Light" panose="020B0502040204020203" pitchFamily="34" charset="-122"/>
              </a:rPr>
              <a:t>spline”</a:t>
            </a:r>
            <a:endParaRPr lang="zh-CN" altLang="en-US" sz="2000" b="0" kern="0" dirty="0">
              <a:solidFill>
                <a:srgbClr val="002060"/>
              </a:solidFill>
              <a:latin typeface="微软雅黑 Light" panose="020B0502040204020203" pitchFamily="34" charset="-122"/>
              <a:ea typeface="微软雅黑 Light" panose="020B0502040204020203" pitchFamily="34" charset="-122"/>
            </a:endParaRPr>
          </a:p>
        </p:txBody>
      </p:sp>
      <p:sp>
        <p:nvSpPr>
          <p:cNvPr id="6" name="Text Box 3"/>
          <p:cNvSpPr txBox="1"/>
          <p:nvPr/>
        </p:nvSpPr>
        <p:spPr bwMode="auto">
          <a:xfrm>
            <a:off x="2749802" y="747363"/>
            <a:ext cx="6214686"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8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algn="dist"/>
            <a:r>
              <a:rPr lang="en-US" altLang="ko-KR" sz="2000" dirty="0">
                <a:effectLst/>
              </a:rPr>
              <a:t> zi =interp</a:t>
            </a:r>
            <a:r>
              <a:rPr lang="en-US" altLang="ko-KR" sz="2000" dirty="0">
                <a:effectLst/>
                <a:highlight>
                  <a:srgbClr val="FF0000"/>
                </a:highlight>
              </a:rPr>
              <a:t>2</a:t>
            </a:r>
            <a:r>
              <a:rPr lang="en-US" altLang="ko-KR" sz="2000" dirty="0">
                <a:effectLst/>
              </a:rPr>
              <a:t>(</a:t>
            </a:r>
            <a:r>
              <a:rPr lang="en-US" altLang="ko-KR" sz="2000" dirty="0" err="1">
                <a:effectLst/>
              </a:rPr>
              <a:t>x,y,</a:t>
            </a:r>
            <a:r>
              <a:rPr lang="en-US" altLang="ko-KR" sz="2000" dirty="0" err="1">
                <a:effectLst/>
                <a:highlight>
                  <a:srgbClr val="FF0000"/>
                </a:highlight>
              </a:rPr>
              <a:t>z</a:t>
            </a:r>
            <a:r>
              <a:rPr lang="en-US" altLang="ko-KR" sz="2000" dirty="0" err="1">
                <a:effectLst/>
              </a:rPr>
              <a:t>,xi,</a:t>
            </a:r>
            <a:r>
              <a:rPr lang="en-US" altLang="ko-KR" sz="2000" dirty="0" err="1">
                <a:effectLst/>
                <a:highlight>
                  <a:srgbClr val="FF0000"/>
                </a:highlight>
              </a:rPr>
              <a:t>yi</a:t>
            </a:r>
            <a:r>
              <a:rPr lang="en-US" altLang="ko-KR" sz="2000" dirty="0" err="1">
                <a:effectLst/>
              </a:rPr>
              <a:t>,</a:t>
            </a:r>
            <a:r>
              <a:rPr lang="en-US" altLang="ko-KR" sz="2000" dirty="0" err="1">
                <a:solidFill>
                  <a:srgbClr val="FFFF00"/>
                </a:solidFill>
                <a:effectLst/>
              </a:rPr>
              <a:t>method</a:t>
            </a:r>
            <a:r>
              <a:rPr lang="en-US" altLang="ko-KR" sz="2000" dirty="0">
                <a:effectLst/>
              </a:rPr>
              <a:t>)</a:t>
            </a:r>
            <a:endParaRPr lang="ko-KR" altLang="en-US" sz="2000" dirty="0">
              <a:effectLst/>
            </a:endParaRPr>
          </a:p>
        </p:txBody>
      </p:sp>
      <p:sp>
        <p:nvSpPr>
          <p:cNvPr id="8" name="文本框 7"/>
          <p:cNvSpPr txBox="1"/>
          <p:nvPr/>
        </p:nvSpPr>
        <p:spPr>
          <a:xfrm>
            <a:off x="971600" y="107261"/>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§5.4.3 </a:t>
            </a:r>
            <a:r>
              <a:rPr lang="zh-CN" altLang="en-US" sz="2800" b="1" kern="0" dirty="0">
                <a:solidFill>
                  <a:srgbClr val="002060"/>
                </a:solidFill>
                <a:latin typeface="华文楷体" panose="02010600040101010101" pitchFamily="2" charset="-122"/>
                <a:ea typeface="华文楷体" panose="02010600040101010101" pitchFamily="2" charset="-122"/>
              </a:rPr>
              <a:t>二维多项式插值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en-US" altLang="ko-KR" sz="2800" b="1" dirty="0">
                <a:solidFill>
                  <a:srgbClr val="FF0000"/>
                </a:solidFill>
                <a:latin typeface="华文楷体" panose="02010600040101010101" pitchFamily="2" charset="-122"/>
                <a:ea typeface="华文楷体" panose="02010600040101010101" pitchFamily="2" charset="-122"/>
              </a:rPr>
              <a:t>二维插值interp2</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2" name="Rectangle 1"/>
          <p:cNvSpPr>
            <a:spLocks noChangeArrowheads="1"/>
          </p:cNvSpPr>
          <p:nvPr/>
        </p:nvSpPr>
        <p:spPr bwMode="auto">
          <a:xfrm>
            <a:off x="2843808" y="2922498"/>
            <a:ext cx="6120680" cy="3693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sz="2000" b="1"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zi</a:t>
            </a:r>
            <a:r>
              <a:rPr lang="zh-CN" altLang="zh-CN" sz="2000" b="1"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 = interp2(</a:t>
            </a:r>
            <a:r>
              <a:rPr lang="en-US" altLang="zh-CN" sz="2000" b="1" kern="0" dirty="0" err="1">
                <a:solidFill>
                  <a:schemeClr val="bg1"/>
                </a:solidFill>
                <a:latin typeface="Times New Roman" panose="02020603050405020304" pitchFamily="18" charset="0"/>
                <a:ea typeface="隶书" panose="02010509060101010101" pitchFamily="49" charset="-122"/>
                <a:cs typeface="Times New Roman" panose="02020603050405020304" pitchFamily="18" charset="0"/>
              </a:rPr>
              <a:t>x,y,z,xi,yi,m</a:t>
            </a:r>
            <a:r>
              <a:rPr lang="zh-CN" altLang="zh-CN" sz="2000" b="1"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ethod,extrapval) </a:t>
            </a:r>
          </a:p>
        </p:txBody>
      </p:sp>
      <p:sp>
        <p:nvSpPr>
          <p:cNvPr id="7" name="矩形 6"/>
          <p:cNvSpPr/>
          <p:nvPr/>
        </p:nvSpPr>
        <p:spPr>
          <a:xfrm>
            <a:off x="408580" y="2876345"/>
            <a:ext cx="2552446" cy="461665"/>
          </a:xfrm>
          <a:prstGeom prst="rect">
            <a:avLst/>
          </a:prstGeom>
        </p:spPr>
        <p:txBody>
          <a:bodyPr wrap="square">
            <a:spAutoFit/>
          </a:bodyPr>
          <a:lstStyle/>
          <a:p>
            <a:r>
              <a:rPr lang="zh-CN" altLang="en-US" sz="2400" dirty="0">
                <a:solidFill>
                  <a:schemeClr val="bg1"/>
                </a:solidFill>
                <a:effectLst>
                  <a:outerShdw blurRad="38100" dist="38100" dir="2700000" algn="tl">
                    <a:srgbClr val="000000">
                      <a:alpha val="43137"/>
                    </a:srgbClr>
                  </a:outerShdw>
                </a:effectLst>
                <a:highlight>
                  <a:srgbClr val="21A4FF"/>
                </a:highlight>
                <a:latin typeface="隶书" panose="02010509060101010101" pitchFamily="49" charset="-122"/>
                <a:ea typeface="隶书" panose="02010509060101010101" pitchFamily="49" charset="-122"/>
              </a:rPr>
              <a:t>外插调用格式：</a:t>
            </a:r>
          </a:p>
        </p:txBody>
      </p:sp>
      <p:sp>
        <p:nvSpPr>
          <p:cNvPr id="9" name="文本框 8"/>
          <p:cNvSpPr txBox="1"/>
          <p:nvPr/>
        </p:nvSpPr>
        <p:spPr>
          <a:xfrm>
            <a:off x="393010" y="3285095"/>
            <a:ext cx="6339230" cy="1354410"/>
          </a:xfrm>
          <a:prstGeom prst="rect">
            <a:avLst/>
          </a:prstGeom>
          <a:noFill/>
          <a:ln w="9525">
            <a:noFill/>
            <a:prstDash val="sysDot"/>
            <a:miter lim="800000"/>
          </a:ln>
        </p:spPr>
        <p:txBody>
          <a:bodyPr vert="horz" wrap="square" lIns="91440" tIns="45720" rIns="91440" bIns="45720" numCol="1" anchor="t" anchorCtr="0" compatLnSpc="1">
            <a:spAutoFit/>
          </a:bodyPr>
          <a:lstStyle>
            <a:defPPr>
              <a:defRPr lang="zh-CN"/>
            </a:defPPr>
            <a:lvl1pPr marL="177800" indent="-177800" algn="just" eaLnBrk="1" hangingPunct="1">
              <a:lnSpc>
                <a:spcPts val="3000"/>
              </a:lnSpc>
              <a:buFont typeface="Wingdings" panose="05000000000000000000" pitchFamily="2" charset="2"/>
              <a:buChar char="p"/>
              <a:defRPr sz="2000" b="0" kern="0">
                <a:solidFill>
                  <a:srgbClr val="002060"/>
                </a:solidFill>
                <a:latin typeface="微软雅黑 Light" panose="020B0502040204020203" pitchFamily="34" charset="-122"/>
                <a:ea typeface="微软雅黑 Light" panose="020B0502040204020203" pitchFamily="34" charset="-122"/>
              </a:defRPr>
            </a:lvl1pPr>
            <a:lvl2pPr marL="635000" indent="-177800" eaLnBrk="0" hangingPunct="0">
              <a:lnSpc>
                <a:spcPct val="110000"/>
              </a:lnSpc>
              <a:buChar char="•"/>
              <a:defRPr sz="2400" b="1">
                <a:latin typeface="+mn-lt"/>
              </a:defRPr>
            </a:lvl2pPr>
            <a:lvl3pPr marL="1092200" indent="-177800" eaLnBrk="0" hangingPunct="0">
              <a:lnSpc>
                <a:spcPct val="110000"/>
              </a:lnSpc>
              <a:buChar char="•"/>
              <a:defRPr sz="2400" b="1">
                <a:solidFill>
                  <a:srgbClr val="002E5C"/>
                </a:solidFill>
                <a:latin typeface="+mn-lt"/>
              </a:defRPr>
            </a:lvl3pPr>
            <a:lvl4pPr marL="1549400" indent="-177800" eaLnBrk="0" hangingPunct="0">
              <a:lnSpc>
                <a:spcPct val="110000"/>
              </a:lnSpc>
              <a:buChar char="•"/>
              <a:defRPr sz="2000" b="1">
                <a:solidFill>
                  <a:srgbClr val="002E5C"/>
                </a:solidFill>
                <a:latin typeface="+mn-lt"/>
              </a:defRPr>
            </a:lvl4pPr>
            <a:lvl5pPr marL="2006600" indent="-177800" eaLnBrk="0" hangingPunct="0">
              <a:lnSpc>
                <a:spcPct val="110000"/>
              </a:lnSpc>
              <a:buChar char="•"/>
              <a:defRPr sz="2000" b="1">
                <a:solidFill>
                  <a:srgbClr val="002E5C"/>
                </a:solidFill>
                <a:latin typeface="+mn-lt"/>
              </a:defRPr>
            </a:lvl5pPr>
            <a:lvl6pPr marL="2463800" indent="-177800" fontAlgn="base">
              <a:lnSpc>
                <a:spcPct val="110000"/>
              </a:lnSpc>
              <a:spcBef>
                <a:spcPct val="0"/>
              </a:spcBef>
              <a:spcAft>
                <a:spcPct val="0"/>
              </a:spcAft>
              <a:buChar char="•"/>
              <a:defRPr b="1">
                <a:solidFill>
                  <a:srgbClr val="002E5C"/>
                </a:solidFill>
                <a:latin typeface="+mn-lt"/>
              </a:defRPr>
            </a:lvl6pPr>
            <a:lvl7pPr marL="2921000" indent="-177800" fontAlgn="base">
              <a:lnSpc>
                <a:spcPct val="110000"/>
              </a:lnSpc>
              <a:spcBef>
                <a:spcPct val="0"/>
              </a:spcBef>
              <a:spcAft>
                <a:spcPct val="0"/>
              </a:spcAft>
              <a:buChar char="•"/>
              <a:defRPr b="1">
                <a:solidFill>
                  <a:srgbClr val="002E5C"/>
                </a:solidFill>
                <a:latin typeface="+mn-lt"/>
              </a:defRPr>
            </a:lvl7pPr>
            <a:lvl8pPr marL="3378200" indent="-177800" fontAlgn="base">
              <a:lnSpc>
                <a:spcPct val="110000"/>
              </a:lnSpc>
              <a:spcBef>
                <a:spcPct val="0"/>
              </a:spcBef>
              <a:spcAft>
                <a:spcPct val="0"/>
              </a:spcAft>
              <a:buChar char="•"/>
              <a:defRPr b="1">
                <a:solidFill>
                  <a:srgbClr val="002E5C"/>
                </a:solidFill>
                <a:latin typeface="+mn-lt"/>
              </a:defRPr>
            </a:lvl8pPr>
            <a:lvl9pPr marL="3835400" indent="-177800" fontAlgn="base">
              <a:lnSpc>
                <a:spcPct val="110000"/>
              </a:lnSpc>
              <a:spcBef>
                <a:spcPct val="0"/>
              </a:spcBef>
              <a:spcAft>
                <a:spcPct val="0"/>
              </a:spcAft>
              <a:buChar char="•"/>
              <a:defRPr b="1">
                <a:solidFill>
                  <a:srgbClr val="002E5C"/>
                </a:solidFill>
                <a:latin typeface="+mn-lt"/>
              </a:defRPr>
            </a:lvl9pPr>
          </a:lstStyle>
          <a:p>
            <a:pPr>
              <a:lnSpc>
                <a:spcPts val="3400"/>
              </a:lnSpc>
            </a:pPr>
            <a:r>
              <a:rPr lang="en-US" altLang="zh-CN" dirty="0"/>
              <a:t>extrapval - x</a:t>
            </a:r>
            <a:r>
              <a:rPr lang="zh-CN" altLang="en-US" dirty="0"/>
              <a:t>和</a:t>
            </a:r>
            <a:r>
              <a:rPr lang="en-US" altLang="zh-CN" dirty="0"/>
              <a:t>y</a:t>
            </a:r>
            <a:r>
              <a:rPr lang="zh-CN" altLang="en-US" dirty="0"/>
              <a:t>域范围外的函数值</a:t>
            </a:r>
            <a:endParaRPr lang="en-US" altLang="zh-CN" dirty="0"/>
          </a:p>
          <a:p>
            <a:pPr>
              <a:lnSpc>
                <a:spcPts val="3400"/>
              </a:lnSpc>
            </a:pPr>
            <a:r>
              <a:rPr lang="zh-CN" altLang="en-US" dirty="0"/>
              <a:t>可以指定为实数值</a:t>
            </a:r>
            <a:endParaRPr lang="en-US" altLang="zh-CN" dirty="0"/>
          </a:p>
          <a:p>
            <a:pPr>
              <a:lnSpc>
                <a:spcPts val="3400"/>
              </a:lnSpc>
            </a:pPr>
            <a:r>
              <a:rPr lang="zh-CN" altLang="en-US" dirty="0"/>
              <a:t>也可以字符串指示外插值方法 </a:t>
            </a:r>
          </a:p>
        </p:txBody>
      </p:sp>
      <p:sp>
        <p:nvSpPr>
          <p:cNvPr id="10" name="文本框 9"/>
          <p:cNvSpPr txBox="1"/>
          <p:nvPr/>
        </p:nvSpPr>
        <p:spPr>
          <a:xfrm>
            <a:off x="5076055" y="1611776"/>
            <a:ext cx="3960441" cy="369332"/>
          </a:xfrm>
          <a:prstGeom prst="rect">
            <a:avLst/>
          </a:prstGeom>
          <a:noFill/>
        </p:spPr>
        <p:txBody>
          <a:bodyPr wrap="square">
            <a:spAutoFit/>
          </a:bodyPr>
          <a:lstStyle/>
          <a:p>
            <a:r>
              <a:rPr lang="en-US" altLang="zh-CN" b="1" i="0" dirty="0" err="1">
                <a:solidFill>
                  <a:srgbClr val="FF0000"/>
                </a:solidFill>
                <a:effectLst/>
                <a:latin typeface="微软雅黑" panose="020B0503020204020204" pitchFamily="34" charset="-122"/>
                <a:ea typeface="微软雅黑" panose="020B0503020204020204" pitchFamily="34" charset="-122"/>
              </a:rPr>
              <a:t>meshgrid</a:t>
            </a:r>
            <a:r>
              <a:rPr lang="en-US" altLang="zh-CN" b="1" i="0" dirty="0">
                <a:solidFill>
                  <a:srgbClr val="FF0000"/>
                </a:solidFill>
                <a:effectLst/>
                <a:latin typeface="微软雅黑" panose="020B0503020204020204" pitchFamily="34" charset="-122"/>
                <a:ea typeface="微软雅黑" panose="020B0503020204020204" pitchFamily="34" charset="-122"/>
              </a:rPr>
              <a:t> </a:t>
            </a:r>
            <a:r>
              <a:rPr lang="zh-CN" altLang="en-US" b="1" i="0" dirty="0">
                <a:solidFill>
                  <a:srgbClr val="FF0000"/>
                </a:solidFill>
                <a:effectLst/>
                <a:latin typeface="微软雅黑" panose="020B0503020204020204" pitchFamily="34" charset="-122"/>
                <a:ea typeface="微软雅黑" panose="020B0503020204020204" pitchFamily="34" charset="-122"/>
              </a:rPr>
              <a:t>格式的二维网格数据插值</a:t>
            </a:r>
            <a:endParaRPr lang="zh-CN" altLang="en-US"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P spid="9" grpId="0"/>
      <p:bldP spid="10"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9134" y="932556"/>
            <a:ext cx="7992888" cy="585355"/>
          </a:xfrm>
          <a:solidFill>
            <a:schemeClr val="bg1"/>
          </a:solidFill>
        </p:spPr>
        <p:txBody>
          <a:bodyPr/>
          <a:lstStyle/>
          <a:p>
            <a:pPr algn="just">
              <a:lnSpc>
                <a:spcPts val="3300"/>
              </a:lnSpc>
            </a:pPr>
            <a:r>
              <a:rPr lang="en-US" altLang="zh-CN" sz="20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在某山区平面区域</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的</a:t>
            </a:r>
            <a:r>
              <a:rPr lang="zh-CN" altLang="en-US" sz="18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长</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2800</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等分</a:t>
            </a:r>
            <a: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份</a:t>
            </a:r>
            <a:r>
              <a:rPr lang="zh-CN" altLang="en-US" sz="18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，宽</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2400</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等分</a:t>
            </a:r>
            <a: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份，</a:t>
            </a:r>
            <a:b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b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测得</a:t>
            </a:r>
            <a: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8 * 7=56</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个节点</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高</a:t>
            </a:r>
            <a:r>
              <a:rPr lang="zh-CN" altLang="en-US" sz="18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度</a:t>
            </a:r>
            <a:r>
              <a:rPr lang="en-US" altLang="zh-CN" sz="18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z</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试作出该山区的地貌图</a:t>
            </a:r>
            <a:r>
              <a:rPr lang="en-US" altLang="zh-CN"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kern="100" dirty="0">
                <a:solidFill>
                  <a:srgbClr val="0070C0"/>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8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单位：米</a:t>
            </a:r>
            <a:r>
              <a:rPr lang="zh-CN" altLang="en-US" sz="1800"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 </a:t>
            </a:r>
            <a:endParaRPr lang="zh-CN" altLang="en-US" sz="1800" dirty="0">
              <a:solidFill>
                <a:srgbClr val="0070C0"/>
              </a:solidFill>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10"/>
          </p:nvPr>
        </p:nvSpPr>
        <p:spPr bwMode="auto">
          <a:xfrm>
            <a:off x="673224" y="4683919"/>
            <a:ext cx="2133600" cy="357188"/>
          </a:xfrm>
          <a:prstGeom prst="rect">
            <a:avLst/>
          </a:prstGeom>
          <a:noFill/>
          <a:ln>
            <a:noFill/>
          </a:ln>
        </p:spPr>
        <p:txBody>
          <a:bodyPr vert="horz" wrap="square" lIns="91440" tIns="45720" rIns="91440" bIns="45720" numCol="1" anchor="t" anchorCtr="0" compatLnSpc="1"/>
          <a:lstStyle>
            <a:defPPr>
              <a:defRPr lang="zh-CN"/>
            </a:defPPr>
            <a:lvl1pPr algn="l"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869D5C21-8453-4E8B-8FA6-9D282B0DEA91}" type="datetime1">
              <a:rPr lang="zh-CN" altLang="en-US" smtClean="0"/>
              <a:t>2025/4/8</a:t>
            </a:fld>
            <a:endParaRPr lang="zh-CN" altLang="en-US" sz="1800"/>
          </a:p>
        </p:txBody>
      </p:sp>
      <p:graphicFrame>
        <p:nvGraphicFramePr>
          <p:cNvPr id="9" name="内容占位符 8"/>
          <p:cNvGraphicFramePr>
            <a:graphicFrameLocks noGrp="1"/>
          </p:cNvGraphicFramePr>
          <p:nvPr>
            <p:ph idx="1"/>
            <p:extLst>
              <p:ext uri="{D42A27DB-BD31-4B8C-83A1-F6EECF244321}">
                <p14:modId xmlns:p14="http://schemas.microsoft.com/office/powerpoint/2010/main" val="19641144"/>
              </p:ext>
            </p:extLst>
          </p:nvPr>
        </p:nvGraphicFramePr>
        <p:xfrm>
          <a:off x="899592" y="1625343"/>
          <a:ext cx="7704856" cy="2682240"/>
        </p:xfrm>
        <a:graphic>
          <a:graphicData uri="http://schemas.openxmlformats.org/drawingml/2006/table">
            <a:tbl>
              <a:tblPr firstRow="1" firstCol="1" bandRow="1">
                <a:effectLst>
                  <a:outerShdw blurRad="50800" dist="38100" dir="5400000" algn="t" rotWithShape="0">
                    <a:prstClr val="black">
                      <a:alpha val="40000"/>
                    </a:prstClr>
                  </a:outerShdw>
                </a:effectLst>
                <a:tableStyleId>{5C22544A-7EE6-4342-B048-85BDC9FD1C3A}</a:tableStyleId>
              </a:tblPr>
              <a:tblGrid>
                <a:gridCol w="1279830">
                  <a:extLst>
                    <a:ext uri="{9D8B030D-6E8A-4147-A177-3AD203B41FA5}">
                      <a16:colId xmlns:a16="http://schemas.microsoft.com/office/drawing/2014/main" val="20000"/>
                    </a:ext>
                  </a:extLst>
                </a:gridCol>
                <a:gridCol w="6425026">
                  <a:extLst>
                    <a:ext uri="{9D8B030D-6E8A-4147-A177-3AD203B41FA5}">
                      <a16:colId xmlns:a16="http://schemas.microsoft.com/office/drawing/2014/main" val="20001"/>
                    </a:ext>
                  </a:extLst>
                </a:gridCol>
              </a:tblGrid>
              <a:tr h="334116">
                <a:tc>
                  <a:txBody>
                    <a:bodyPr/>
                    <a:lstStyle/>
                    <a:p>
                      <a:pPr algn="dist"/>
                      <a:r>
                        <a:rPr lang="zh-CN" altLang="en-US" sz="2200" kern="100" dirty="0">
                          <a:effectLst/>
                        </a:rPr>
                        <a:t>长</a:t>
                      </a:r>
                      <a:r>
                        <a:rPr lang="en-US" altLang="zh-CN" sz="2200" kern="100" dirty="0">
                          <a:effectLst/>
                        </a:rPr>
                        <a:t>X</a:t>
                      </a:r>
                      <a:r>
                        <a:rPr lang="en-US" sz="2200" kern="100" dirty="0">
                          <a:effectLst/>
                        </a:rPr>
                        <a:t>/</a:t>
                      </a:r>
                      <a:r>
                        <a:rPr lang="zh-CN" altLang="en-US" sz="2200" kern="100" dirty="0">
                          <a:effectLst/>
                        </a:rPr>
                        <a:t>宽</a:t>
                      </a:r>
                      <a:r>
                        <a:rPr lang="en-US" altLang="zh-CN" sz="2200" kern="100" dirty="0">
                          <a:effectLst/>
                        </a:rPr>
                        <a:t>y</a:t>
                      </a:r>
                      <a:endParaRPr lang="zh-CN" sz="22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bg1">
                        <a:lumMod val="65000"/>
                      </a:schemeClr>
                    </a:solidFill>
                  </a:tcPr>
                </a:tc>
                <a:tc>
                  <a:txBody>
                    <a:bodyPr/>
                    <a:lstStyle/>
                    <a:p>
                      <a:pPr algn="dist"/>
                      <a:r>
                        <a:rPr lang="en-US" sz="2200" kern="100" dirty="0">
                          <a:effectLst/>
                        </a:rPr>
                        <a:t>   0      400   800    1200  1600  2000  2400  2800</a:t>
                      </a:r>
                      <a:endParaRPr lang="zh-CN" sz="22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bg1">
                        <a:lumMod val="50000"/>
                      </a:schemeClr>
                    </a:solidFill>
                  </a:tcPr>
                </a:tc>
                <a:extLst>
                  <a:ext uri="{0D108BD9-81ED-4DB2-BD59-A6C34878D82A}">
                    <a16:rowId xmlns:a16="http://schemas.microsoft.com/office/drawing/2014/main" val="10000"/>
                  </a:ext>
                </a:extLst>
              </a:tr>
              <a:tr h="2338812">
                <a:tc>
                  <a:txBody>
                    <a:bodyPr/>
                    <a:lstStyle/>
                    <a:p>
                      <a:pPr algn="dist"/>
                      <a:r>
                        <a:rPr lang="en-US" sz="2200" kern="100" dirty="0">
                          <a:effectLst/>
                        </a:rPr>
                        <a:t>0</a:t>
                      </a:r>
                      <a:endParaRPr lang="zh-CN" sz="2200" kern="100" dirty="0">
                        <a:effectLst/>
                      </a:endParaRPr>
                    </a:p>
                    <a:p>
                      <a:pPr algn="dist"/>
                      <a:r>
                        <a:rPr lang="en-US" sz="2200" kern="100" dirty="0">
                          <a:effectLst/>
                        </a:rPr>
                        <a:t>400</a:t>
                      </a:r>
                      <a:endParaRPr lang="zh-CN" sz="2200" kern="100" dirty="0">
                        <a:effectLst/>
                      </a:endParaRPr>
                    </a:p>
                    <a:p>
                      <a:pPr algn="dist"/>
                      <a:r>
                        <a:rPr lang="en-US" sz="2200" kern="100" dirty="0">
                          <a:effectLst/>
                        </a:rPr>
                        <a:t>800</a:t>
                      </a:r>
                      <a:endParaRPr lang="zh-CN" sz="2200" kern="100" dirty="0">
                        <a:effectLst/>
                      </a:endParaRPr>
                    </a:p>
                    <a:p>
                      <a:pPr algn="dist"/>
                      <a:r>
                        <a:rPr lang="en-US" sz="2200" kern="100" dirty="0">
                          <a:effectLst/>
                        </a:rPr>
                        <a:t>1200</a:t>
                      </a:r>
                      <a:endParaRPr lang="zh-CN" sz="2200" kern="100" dirty="0">
                        <a:effectLst/>
                      </a:endParaRPr>
                    </a:p>
                    <a:p>
                      <a:pPr algn="dist"/>
                      <a:r>
                        <a:rPr lang="en-US" sz="2200" kern="100" dirty="0">
                          <a:effectLst/>
                        </a:rPr>
                        <a:t> 1600</a:t>
                      </a:r>
                      <a:endParaRPr lang="zh-CN" sz="2200" kern="100" dirty="0">
                        <a:effectLst/>
                      </a:endParaRPr>
                    </a:p>
                    <a:p>
                      <a:pPr algn="dist"/>
                      <a:r>
                        <a:rPr lang="en-US" sz="2200" kern="100" dirty="0">
                          <a:effectLst/>
                        </a:rPr>
                        <a:t> 2000</a:t>
                      </a:r>
                      <a:endParaRPr lang="zh-CN" sz="2200" kern="100" dirty="0">
                        <a:effectLst/>
                      </a:endParaRPr>
                    </a:p>
                    <a:p>
                      <a:pPr algn="dist"/>
                      <a:r>
                        <a:rPr lang="en-US" sz="2200" kern="100" dirty="0">
                          <a:effectLst/>
                        </a:rPr>
                        <a:t> 2400</a:t>
                      </a:r>
                      <a:endParaRPr lang="zh-CN" sz="22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solidFill>
                      <a:schemeClr val="bg1">
                        <a:lumMod val="65000"/>
                      </a:schemeClr>
                    </a:solidFill>
                  </a:tcPr>
                </a:tc>
                <a:tc>
                  <a:txBody>
                    <a:bodyPr/>
                    <a:lstStyle/>
                    <a:p>
                      <a:pPr algn="dist"/>
                      <a:r>
                        <a:rPr lang="en-US" sz="2200" kern="100" dirty="0">
                          <a:effectLst/>
                        </a:rPr>
                        <a:t>1430  1450  1470  1320  1280  1200  1080  940</a:t>
                      </a:r>
                      <a:endParaRPr lang="zh-CN" sz="2200" kern="100" dirty="0">
                        <a:effectLst/>
                      </a:endParaRPr>
                    </a:p>
                    <a:p>
                      <a:pPr algn="dist"/>
                      <a:r>
                        <a:rPr lang="en-US" sz="2200" kern="100" dirty="0">
                          <a:effectLst/>
                        </a:rPr>
                        <a:t>1450  1480  1500  1550  1510  1430  1300  1200</a:t>
                      </a:r>
                      <a:endParaRPr lang="zh-CN" sz="2200" kern="100" dirty="0">
                        <a:effectLst/>
                      </a:endParaRPr>
                    </a:p>
                    <a:p>
                      <a:pPr algn="dist"/>
                      <a:r>
                        <a:rPr lang="en-US" sz="2200" kern="100" dirty="0">
                          <a:effectLst/>
                        </a:rPr>
                        <a:t>1460  1500  1550  1600  1550  1600  1600  1600</a:t>
                      </a:r>
                      <a:endParaRPr lang="zh-CN" sz="2200" kern="100" dirty="0">
                        <a:effectLst/>
                      </a:endParaRPr>
                    </a:p>
                    <a:p>
                      <a:pPr algn="dist"/>
                      <a:r>
                        <a:rPr lang="en-US" sz="2200" kern="100" dirty="0">
                          <a:effectLst/>
                        </a:rPr>
                        <a:t>1370  1500  1200  1100  1550  1600  1550  1380</a:t>
                      </a:r>
                      <a:endParaRPr lang="zh-CN" sz="2200" kern="100" dirty="0">
                        <a:effectLst/>
                      </a:endParaRPr>
                    </a:p>
                    <a:p>
                      <a:pPr algn="dist"/>
                      <a:r>
                        <a:rPr lang="en-US" sz="2200" kern="100" dirty="0">
                          <a:effectLst/>
                        </a:rPr>
                        <a:t>1270  1500  1200  1100  1350  1450  1200  1150</a:t>
                      </a:r>
                      <a:endParaRPr lang="zh-CN" sz="2200" kern="100" dirty="0">
                        <a:effectLst/>
                      </a:endParaRPr>
                    </a:p>
                    <a:p>
                      <a:pPr algn="dist"/>
                      <a:r>
                        <a:rPr lang="en-US" sz="2200" kern="100" dirty="0">
                          <a:effectLst/>
                        </a:rPr>
                        <a:t>1230  1390  1500  1500  1400   900  1100  1060</a:t>
                      </a:r>
                      <a:endParaRPr lang="zh-CN" sz="2200" kern="100" dirty="0">
                        <a:effectLst/>
                      </a:endParaRPr>
                    </a:p>
                    <a:p>
                      <a:pPr algn="dist"/>
                      <a:r>
                        <a:rPr lang="en-US" sz="2200" kern="100" dirty="0">
                          <a:effectLst/>
                        </a:rPr>
                        <a:t>1180  1320  1450  1420  1400  1300   700   900</a:t>
                      </a:r>
                      <a:endParaRPr lang="zh-CN" sz="2200" kern="100" dirty="0">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100000" t="100000"/>
                      </a:path>
                      <a:tileRect r="-100000" b="-100000"/>
                    </a:gradFill>
                  </a:tcPr>
                </a:tc>
                <a:extLst>
                  <a:ext uri="{0D108BD9-81ED-4DB2-BD59-A6C34878D82A}">
                    <a16:rowId xmlns:a16="http://schemas.microsoft.com/office/drawing/2014/main" val="10001"/>
                  </a:ext>
                </a:extLst>
              </a:tr>
            </a:tbl>
          </a:graphicData>
        </a:graphic>
      </p:graphicFrame>
      <p:sp>
        <p:nvSpPr>
          <p:cNvPr id="13" name="波形 12"/>
          <p:cNvSpPr/>
          <p:nvPr/>
        </p:nvSpPr>
        <p:spPr>
          <a:xfrm>
            <a:off x="7596336" y="3985804"/>
            <a:ext cx="1224136" cy="321779"/>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lnSpc>
                <a:spcPct val="140000"/>
              </a:lnSpc>
              <a:spcBef>
                <a:spcPts val="0"/>
              </a:spcBef>
              <a:spcAft>
                <a:spcPts val="0"/>
              </a:spcAft>
            </a:pPr>
            <a:r>
              <a:rPr lang="zh-CN" altLang="zh-CN" b="1" kern="100" dirty="0">
                <a:solidFill>
                  <a:srgbClr val="FFFF00"/>
                </a:solidFill>
                <a:effectLst/>
                <a:ea typeface="宋体" panose="02010600030101010101" pitchFamily="2" charset="-122"/>
                <a:cs typeface="Times New Roman" panose="02020603050405020304" pitchFamily="18" charset="0"/>
              </a:rPr>
              <a:t>山区地貌图</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3" name="矩形 2"/>
          <p:cNvSpPr/>
          <p:nvPr/>
        </p:nvSpPr>
        <p:spPr>
          <a:xfrm>
            <a:off x="4139952" y="2381794"/>
            <a:ext cx="2315264" cy="923330"/>
          </a:xfrm>
          <a:prstGeom prst="rect">
            <a:avLst/>
          </a:prstGeom>
          <a:solidFill>
            <a:srgbClr val="FFFF00">
              <a:alpha val="32000"/>
            </a:srgbClr>
          </a:solidFill>
        </p:spPr>
        <p:txBody>
          <a:bodyPr wrap="square">
            <a:spAutoFit/>
          </a:bodyPr>
          <a:lstStyle/>
          <a:p>
            <a:r>
              <a:rPr lang="en-US" altLang="zh-CN" sz="54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rPr>
              <a:t>Z(8*7)</a:t>
            </a:r>
            <a:endParaRPr lang="zh-CN" altLang="en-US" sz="54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7" name="文本框 6"/>
          <p:cNvSpPr txBox="1"/>
          <p:nvPr/>
        </p:nvSpPr>
        <p:spPr>
          <a:xfrm>
            <a:off x="791984" y="112538"/>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§5.4.3 </a:t>
            </a:r>
            <a:r>
              <a:rPr lang="zh-CN" altLang="en-US" sz="2800" b="1" kern="0" dirty="0">
                <a:solidFill>
                  <a:srgbClr val="002060"/>
                </a:solidFill>
                <a:latin typeface="华文楷体" panose="02010600040101010101" pitchFamily="2" charset="-122"/>
                <a:ea typeface="华文楷体" panose="02010600040101010101" pitchFamily="2" charset="-122"/>
              </a:rPr>
              <a:t>二维多项式插值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en-US" altLang="ko-KR" sz="2800" b="1" cap="none" dirty="0">
                <a:solidFill>
                  <a:srgbClr val="FF0000"/>
                </a:solidFill>
                <a:latin typeface="华文楷体" panose="02010600040101010101" pitchFamily="2" charset="-122"/>
                <a:ea typeface="华文楷体" panose="02010600040101010101" pitchFamily="2" charset="-122"/>
              </a:rPr>
              <a:t>二维插值interp2</a:t>
            </a:r>
            <a:r>
              <a:rPr lang="zh-CN" altLang="en-US" sz="2800" b="1" cap="none" dirty="0">
                <a:solidFill>
                  <a:srgbClr val="FF0000"/>
                </a:solidFill>
                <a:latin typeface="华文楷体" panose="02010600040101010101" pitchFamily="2" charset="-122"/>
                <a:ea typeface="华文楷体" panose="02010600040101010101" pitchFamily="2" charset="-122"/>
              </a:rPr>
              <a:t>案例</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
        <p:nvSpPr>
          <p:cNvPr id="8" name="波形 7"/>
          <p:cNvSpPr/>
          <p:nvPr/>
        </p:nvSpPr>
        <p:spPr>
          <a:xfrm>
            <a:off x="829908" y="676353"/>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0" name="矩形 9"/>
          <p:cNvSpPr/>
          <p:nvPr/>
        </p:nvSpPr>
        <p:spPr>
          <a:xfrm>
            <a:off x="4283968" y="1603459"/>
            <a:ext cx="2315264" cy="400110"/>
          </a:xfrm>
          <a:prstGeom prst="rect">
            <a:avLst/>
          </a:prstGeom>
          <a:solidFill>
            <a:srgbClr val="FFFF00">
              <a:alpha val="32000"/>
            </a:srgbClr>
          </a:solidFill>
        </p:spPr>
        <p:txBody>
          <a:bodyPr wrap="square">
            <a:spAutoFit/>
          </a:bodyPr>
          <a:lstStyle/>
          <a:p>
            <a:r>
              <a:rPr lang="en-US" altLang="zh-CN" sz="2000" b="1" dirty="0">
                <a:solidFill>
                  <a:srgbClr val="FF0000"/>
                </a:solidFill>
              </a:rPr>
              <a:t>x0=0:400:2800</a:t>
            </a:r>
            <a:endParaRPr lang="zh-CN" altLang="en-US"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
        <p:nvSpPr>
          <p:cNvPr id="11" name="矩形 10"/>
          <p:cNvSpPr/>
          <p:nvPr/>
        </p:nvSpPr>
        <p:spPr>
          <a:xfrm>
            <a:off x="846613" y="2975680"/>
            <a:ext cx="1996804" cy="400110"/>
          </a:xfrm>
          <a:prstGeom prst="rect">
            <a:avLst/>
          </a:prstGeom>
          <a:solidFill>
            <a:srgbClr val="FFFF00">
              <a:alpha val="32000"/>
            </a:srgbClr>
          </a:solidFill>
        </p:spPr>
        <p:txBody>
          <a:bodyPr wrap="square">
            <a:spAutoFit/>
          </a:bodyPr>
          <a:lstStyle/>
          <a:p>
            <a:r>
              <a:rPr lang="en-US" altLang="zh-CN" sz="2000" b="1" dirty="0">
                <a:solidFill>
                  <a:srgbClr val="FF0000"/>
                </a:solidFill>
              </a:rPr>
              <a:t>y0=0:400:2400;</a:t>
            </a:r>
            <a:endParaRPr lang="zh-CN" altLang="en-US" sz="2000" b="1" dirty="0">
              <a:solidFill>
                <a:srgbClr val="FF0000"/>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3062" y="1079506"/>
            <a:ext cx="7920976" cy="3593291"/>
          </a:xfrm>
          <a:noFill/>
          <a:ln>
            <a:noFill/>
          </a:ln>
        </p:spPr>
        <p:txBody>
          <a:bodyPr/>
          <a:lstStyle/>
          <a:p>
            <a:pPr marL="0" indent="0">
              <a:lnSpc>
                <a:spcPts val="2100"/>
              </a:lnSpc>
              <a:buNone/>
            </a:pPr>
            <a:r>
              <a:rPr lang="en-US" altLang="zh-CN" sz="1800" dirty="0"/>
              <a:t>x0 = 0:400:2800; #x</a:t>
            </a:r>
            <a:r>
              <a:rPr lang="zh-CN" altLang="en-US" sz="1800" dirty="0"/>
              <a:t>采样点</a:t>
            </a:r>
            <a:endParaRPr lang="en-US" altLang="zh-CN" sz="1800" dirty="0"/>
          </a:p>
          <a:p>
            <a:pPr marL="0" indent="0">
              <a:lnSpc>
                <a:spcPts val="2100"/>
              </a:lnSpc>
              <a:buNone/>
            </a:pPr>
            <a:r>
              <a:rPr lang="en-US" altLang="zh-CN" sz="1800" dirty="0"/>
              <a:t>y0 = 0:400:2400; #y</a:t>
            </a:r>
            <a:r>
              <a:rPr lang="zh-CN" altLang="en-US" sz="1800" dirty="0"/>
              <a:t>采样点</a:t>
            </a:r>
          </a:p>
          <a:p>
            <a:pPr marL="0" indent="0">
              <a:lnSpc>
                <a:spcPts val="2100"/>
              </a:lnSpc>
              <a:buNone/>
            </a:pPr>
            <a:r>
              <a:rPr lang="en-US" altLang="zh-CN" sz="1800" dirty="0"/>
              <a:t>z0 = [1430 1450 1470 1320 1280 1200 1080 940</a:t>
            </a:r>
          </a:p>
          <a:p>
            <a:pPr marL="0" indent="0">
              <a:lnSpc>
                <a:spcPts val="2100"/>
              </a:lnSpc>
              <a:buNone/>
            </a:pPr>
            <a:r>
              <a:rPr lang="en-US" altLang="zh-CN" sz="1800" dirty="0"/>
              <a:t>    1450 1480 1500 1550 1510 1430 1300 1200</a:t>
            </a:r>
          </a:p>
          <a:p>
            <a:pPr marL="0" indent="0">
              <a:lnSpc>
                <a:spcPts val="2100"/>
              </a:lnSpc>
              <a:buNone/>
            </a:pPr>
            <a:r>
              <a:rPr lang="en-US" altLang="zh-CN" sz="1800" dirty="0"/>
              <a:t>    1460 1500 1550 1600 1550 1600 1600 1600</a:t>
            </a:r>
          </a:p>
          <a:p>
            <a:pPr marL="0" indent="0">
              <a:lnSpc>
                <a:spcPts val="2100"/>
              </a:lnSpc>
              <a:buNone/>
            </a:pPr>
            <a:r>
              <a:rPr lang="en-US" altLang="zh-CN" sz="1800" dirty="0"/>
              <a:t>    1370 1500 1200 1100 1550 1600 1550 1380</a:t>
            </a:r>
          </a:p>
          <a:p>
            <a:pPr marL="0" indent="0">
              <a:lnSpc>
                <a:spcPts val="2100"/>
              </a:lnSpc>
              <a:buNone/>
            </a:pPr>
            <a:r>
              <a:rPr lang="en-US" altLang="zh-CN" sz="1800" dirty="0"/>
              <a:t>    1270 1500 1200 1100 1350 1450 1200 1150</a:t>
            </a:r>
          </a:p>
          <a:p>
            <a:pPr marL="0" indent="0">
              <a:lnSpc>
                <a:spcPts val="2100"/>
              </a:lnSpc>
              <a:buNone/>
            </a:pPr>
            <a:r>
              <a:rPr lang="en-US" altLang="zh-CN" sz="1800" dirty="0"/>
              <a:t>    1230 1390 1500 1500 1400 900 1100 1060</a:t>
            </a:r>
          </a:p>
          <a:p>
            <a:pPr marL="0" indent="0">
              <a:lnSpc>
                <a:spcPts val="2100"/>
              </a:lnSpc>
              <a:buNone/>
            </a:pPr>
            <a:r>
              <a:rPr lang="en-US" altLang="zh-CN" sz="1800" dirty="0"/>
              <a:t>    1180 1320 1450 1420 1400 1300 700 900];</a:t>
            </a:r>
          </a:p>
          <a:p>
            <a:pPr marL="0" indent="0">
              <a:lnSpc>
                <a:spcPts val="2100"/>
              </a:lnSpc>
              <a:buNone/>
            </a:pPr>
            <a:r>
              <a:rPr lang="en-US" altLang="zh-CN" sz="1800" dirty="0" err="1"/>
              <a:t>surfc</a:t>
            </a:r>
            <a:r>
              <a:rPr lang="en-US" altLang="zh-CN" sz="1800" dirty="0"/>
              <a:t>(x0, y0, z0);  #</a:t>
            </a:r>
            <a:r>
              <a:rPr lang="zh-CN" altLang="en-US" sz="1800" dirty="0"/>
              <a:t>网格图</a:t>
            </a:r>
          </a:p>
          <a:p>
            <a:pPr marL="0" indent="0">
              <a:lnSpc>
                <a:spcPts val="2100"/>
              </a:lnSpc>
              <a:buNone/>
            </a:pPr>
            <a:r>
              <a:rPr lang="en-US" altLang="zh-CN" sz="1800" dirty="0" err="1"/>
              <a:t>xlabel</a:t>
            </a:r>
            <a:r>
              <a:rPr lang="en-US" altLang="zh-CN" sz="1800" dirty="0"/>
              <a:t>("x");</a:t>
            </a:r>
            <a:r>
              <a:rPr lang="en-US" altLang="zh-CN" sz="1800" dirty="0" err="1"/>
              <a:t>ylabel</a:t>
            </a:r>
            <a:r>
              <a:rPr lang="en-US" altLang="zh-CN" sz="1800" dirty="0"/>
              <a:t>("y");</a:t>
            </a:r>
            <a:r>
              <a:rPr lang="en-US" altLang="zh-CN" sz="1800" dirty="0" err="1"/>
              <a:t>zlabel</a:t>
            </a:r>
            <a:r>
              <a:rPr lang="en-US" altLang="zh-CN" sz="1800" dirty="0"/>
              <a:t>("z");</a:t>
            </a:r>
          </a:p>
          <a:p>
            <a:pPr marL="0" indent="0">
              <a:lnSpc>
                <a:spcPts val="2100"/>
              </a:lnSpc>
              <a:buNone/>
            </a:pPr>
            <a:r>
              <a:rPr lang="fr-FR" altLang="zh-CN" sz="1800" dirty="0"/>
              <a:t>figure(1);c=contourf(x0,y0,z0,30)</a:t>
            </a:r>
            <a:r>
              <a:rPr lang="en-US" altLang="zh-CN" sz="1800" dirty="0"/>
              <a:t> ;#</a:t>
            </a:r>
            <a:r>
              <a:rPr lang="zh-CN" altLang="en-US" sz="1800" dirty="0"/>
              <a:t>等高线</a:t>
            </a:r>
            <a:endParaRPr lang="fr-FR" altLang="zh-CN" sz="1800" dirty="0"/>
          </a:p>
          <a:p>
            <a:pPr marL="0" indent="0">
              <a:lnSpc>
                <a:spcPts val="2100"/>
              </a:lnSpc>
              <a:buNone/>
            </a:pPr>
            <a:r>
              <a:rPr lang="en-US" altLang="zh-CN" sz="1800" dirty="0" err="1"/>
              <a:t>clabel</a:t>
            </a:r>
            <a:r>
              <a:rPr lang="en-US" altLang="zh-CN" sz="1800" dirty="0"/>
              <a:t>(</a:t>
            </a:r>
            <a:r>
              <a:rPr lang="en-US" altLang="zh-CN" sz="1800" dirty="0" err="1"/>
              <a:t>c,inline</a:t>
            </a:r>
            <a:r>
              <a:rPr lang="en-US" altLang="zh-CN" sz="1800" dirty="0"/>
              <a:t>=false, </a:t>
            </a:r>
            <a:r>
              <a:rPr lang="en-US" altLang="zh-CN" sz="1800" dirty="0" err="1"/>
              <a:t>fontsize</a:t>
            </a:r>
            <a:r>
              <a:rPr lang="en-US" altLang="zh-CN" sz="1800" dirty="0"/>
              <a:t>=10, colors="k")</a:t>
            </a:r>
            <a:endParaRPr lang="zh-CN" altLang="zh-CN" sz="1800" dirty="0"/>
          </a:p>
        </p:txBody>
      </p:sp>
      <p:pic>
        <p:nvPicPr>
          <p:cNvPr id="7" name="图片 6"/>
          <p:cNvPicPr>
            <a:picLocks noChangeAspect="1"/>
          </p:cNvPicPr>
          <p:nvPr/>
        </p:nvPicPr>
        <p:blipFill rotWithShape="1">
          <a:blip r:embed="rId3"/>
          <a:srcRect l="8263" t="13601" r="7541" b="8000"/>
          <a:stretch>
            <a:fillRect/>
          </a:stretch>
        </p:blipFill>
        <p:spPr>
          <a:xfrm>
            <a:off x="6274807" y="2427734"/>
            <a:ext cx="2489006" cy="1728192"/>
          </a:xfrm>
          <a:prstGeom prst="rect">
            <a:avLst/>
          </a:prstGeom>
        </p:spPr>
      </p:pic>
      <p:sp>
        <p:nvSpPr>
          <p:cNvPr id="8" name="文本框 7"/>
          <p:cNvSpPr txBox="1"/>
          <p:nvPr/>
        </p:nvSpPr>
        <p:spPr>
          <a:xfrm>
            <a:off x="971600" y="107261"/>
            <a:ext cx="8064896" cy="523220"/>
          </a:xfrm>
          <a:prstGeom prst="rect">
            <a:avLst/>
          </a:prstGeom>
          <a:noFill/>
        </p:spPr>
        <p:txBody>
          <a:bodyPr wrap="square">
            <a:spAutoFit/>
          </a:bodyPr>
          <a:lstStyle/>
          <a:p>
            <a:r>
              <a:rPr lang="en-US" altLang="zh-CN" sz="2800" b="1" kern="0" dirty="0">
                <a:solidFill>
                  <a:srgbClr val="002060"/>
                </a:solidFill>
                <a:latin typeface="华文楷体" panose="02010600040101010101" pitchFamily="2" charset="-122"/>
                <a:ea typeface="华文楷体" panose="02010600040101010101" pitchFamily="2" charset="-122"/>
              </a:rPr>
              <a:t>§5.4.3 </a:t>
            </a:r>
            <a:r>
              <a:rPr lang="zh-CN" altLang="en-US" sz="2800" b="1" kern="0" dirty="0">
                <a:solidFill>
                  <a:srgbClr val="002060"/>
                </a:solidFill>
                <a:latin typeface="华文楷体" panose="02010600040101010101" pitchFamily="2" charset="-122"/>
                <a:ea typeface="华文楷体" panose="02010600040101010101" pitchFamily="2" charset="-122"/>
              </a:rPr>
              <a:t>二维多项式插值</a:t>
            </a:r>
            <a:r>
              <a:rPr lang="en-US" altLang="zh-CN" sz="2800" b="1" dirty="0">
                <a:solidFill>
                  <a:srgbClr val="FF0000"/>
                </a:solidFill>
                <a:latin typeface="华文楷体" panose="02010600040101010101" pitchFamily="2" charset="-122"/>
                <a:ea typeface="华文楷体" panose="02010600040101010101" pitchFamily="2" charset="-122"/>
              </a:rPr>
              <a:t>——</a:t>
            </a:r>
            <a:r>
              <a:rPr lang="en-US" altLang="ko-KR" sz="2800" b="1" cap="none" dirty="0">
                <a:solidFill>
                  <a:srgbClr val="FF0000"/>
                </a:solidFill>
                <a:latin typeface="华文楷体" panose="02010600040101010101" pitchFamily="2" charset="-122"/>
                <a:ea typeface="华文楷体" panose="02010600040101010101" pitchFamily="2" charset="-122"/>
              </a:rPr>
              <a:t>二维插值interp2</a:t>
            </a:r>
            <a:r>
              <a:rPr lang="zh-CN" altLang="en-US" sz="2800" b="1" cap="none" dirty="0">
                <a:solidFill>
                  <a:srgbClr val="FF0000"/>
                </a:solidFill>
                <a:latin typeface="华文楷体" panose="02010600040101010101" pitchFamily="2" charset="-122"/>
                <a:ea typeface="华文楷体" panose="02010600040101010101" pitchFamily="2" charset="-122"/>
              </a:rPr>
              <a:t>案例</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pic>
        <p:nvPicPr>
          <p:cNvPr id="4" name="图片 3"/>
          <p:cNvPicPr>
            <a:picLocks noChangeAspect="1"/>
          </p:cNvPicPr>
          <p:nvPr/>
        </p:nvPicPr>
        <p:blipFill rotWithShape="1">
          <a:blip r:embed="rId4"/>
          <a:srcRect l="6946" t="25698" r="9839" b="12399"/>
          <a:stretch>
            <a:fillRect/>
          </a:stretch>
        </p:blipFill>
        <p:spPr>
          <a:xfrm>
            <a:off x="6225447" y="735203"/>
            <a:ext cx="2784757" cy="1449770"/>
          </a:xfrm>
          <a:prstGeom prst="rect">
            <a:avLst/>
          </a:prstGeom>
        </p:spPr>
      </p:pic>
      <p:sp>
        <p:nvSpPr>
          <p:cNvPr id="11" name="文本框 10"/>
          <p:cNvSpPr txBox="1"/>
          <p:nvPr/>
        </p:nvSpPr>
        <p:spPr>
          <a:xfrm>
            <a:off x="6460055" y="4127574"/>
            <a:ext cx="2304256" cy="523220"/>
          </a:xfrm>
          <a:prstGeom prst="rect">
            <a:avLst/>
          </a:prstGeom>
          <a:noFill/>
        </p:spPr>
        <p:txBody>
          <a:bodyPr wrap="square">
            <a:spAutoFit/>
          </a:bodyPr>
          <a:lstStyle/>
          <a:p>
            <a:r>
              <a:rPr lang="en-US" altLang="zh-CN" sz="1400" b="0" i="0" dirty="0">
                <a:solidFill>
                  <a:srgbClr val="FF0000"/>
                </a:solidFill>
                <a:effectLst/>
                <a:latin typeface="-apple-system"/>
              </a:rPr>
              <a:t>inline</a:t>
            </a:r>
            <a:r>
              <a:rPr lang="zh-CN" altLang="en-US" sz="1400" b="0" i="0" dirty="0">
                <a:solidFill>
                  <a:srgbClr val="FF0000"/>
                </a:solidFill>
                <a:effectLst/>
                <a:latin typeface="-apple-system"/>
              </a:rPr>
              <a:t>指标签是否会内嵌在线条中。默认值为</a:t>
            </a:r>
            <a:r>
              <a:rPr lang="en-US" altLang="zh-CN" sz="1400" b="0" i="0" dirty="0">
                <a:solidFill>
                  <a:srgbClr val="FF0000"/>
                </a:solidFill>
                <a:effectLst/>
                <a:latin typeface="-apple-system"/>
              </a:rPr>
              <a:t>true</a:t>
            </a:r>
            <a:r>
              <a:rPr lang="zh-CN" altLang="en-US" sz="1400" b="0" i="0" dirty="0">
                <a:solidFill>
                  <a:srgbClr val="FF0000"/>
                </a:solidFill>
                <a:effectLst/>
                <a:latin typeface="-apple-system"/>
              </a:rPr>
              <a:t>。</a:t>
            </a:r>
            <a:endParaRPr lang="zh-CN" altLang="en-US" sz="1400" dirty="0">
              <a:solidFill>
                <a:srgbClr val="FF0000"/>
              </a:solidFill>
            </a:endParaRPr>
          </a:p>
        </p:txBody>
      </p:sp>
      <p:sp>
        <p:nvSpPr>
          <p:cNvPr id="12" name="文本框 11"/>
          <p:cNvSpPr txBox="1"/>
          <p:nvPr/>
        </p:nvSpPr>
        <p:spPr>
          <a:xfrm>
            <a:off x="6225447" y="2000307"/>
            <a:ext cx="2845399" cy="369332"/>
          </a:xfrm>
          <a:prstGeom prst="rect">
            <a:avLst/>
          </a:prstGeom>
          <a:noFill/>
        </p:spPr>
        <p:txBody>
          <a:bodyPr wrap="square">
            <a:spAutoFit/>
          </a:bodyPr>
          <a:lstStyle/>
          <a:p>
            <a:r>
              <a:rPr lang="zh-CN" altLang="en-US" dirty="0">
                <a:solidFill>
                  <a:srgbClr val="FF0000"/>
                </a:solidFill>
              </a:rPr>
              <a:t>绘制</a:t>
            </a:r>
            <a:r>
              <a:rPr lang="en-US" altLang="zh-CN" dirty="0">
                <a:solidFill>
                  <a:srgbClr val="FF0000"/>
                </a:solidFill>
              </a:rPr>
              <a:t>8</a:t>
            </a:r>
            <a:r>
              <a:rPr lang="zh-CN" altLang="en-US" dirty="0">
                <a:solidFill>
                  <a:srgbClr val="FF0000"/>
                </a:solidFill>
              </a:rPr>
              <a:t>*</a:t>
            </a:r>
            <a:r>
              <a:rPr lang="en-US" altLang="zh-CN" dirty="0">
                <a:solidFill>
                  <a:srgbClr val="FF0000"/>
                </a:solidFill>
              </a:rPr>
              <a:t>7=56</a:t>
            </a:r>
            <a:r>
              <a:rPr lang="zh-CN" altLang="en-US" dirty="0">
                <a:solidFill>
                  <a:srgbClr val="FF0000"/>
                </a:solidFill>
              </a:rPr>
              <a:t>节点网格曲面</a:t>
            </a:r>
          </a:p>
        </p:txBody>
      </p:sp>
      <p:sp>
        <p:nvSpPr>
          <p:cNvPr id="9" name="波形 8"/>
          <p:cNvSpPr/>
          <p:nvPr/>
        </p:nvSpPr>
        <p:spPr>
          <a:xfrm>
            <a:off x="112446" y="700776"/>
            <a:ext cx="885224" cy="327418"/>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54-4</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5" name="矩形 4"/>
          <p:cNvSpPr/>
          <p:nvPr/>
        </p:nvSpPr>
        <p:spPr>
          <a:xfrm>
            <a:off x="1043608" y="762650"/>
            <a:ext cx="4032448" cy="327418"/>
          </a:xfrm>
          <a:prstGeom prst="rect">
            <a:avLst/>
          </a:prstGeom>
          <a:solidFill>
            <a:schemeClr val="bg1"/>
          </a:solidFill>
          <a:scene3d>
            <a:camera prst="orthographicFront"/>
            <a:lightRig rig="threePt" dir="t"/>
          </a:scene3d>
          <a:sp3d>
            <a:contourClr>
              <a:srgbClr val="000000"/>
            </a:contourClr>
          </a:sp3d>
        </p:spPr>
        <p:txBody>
          <a:bodyPr vert="horz" wrap="square" lIns="0" tIns="0" rIns="0" bIns="0" anchor="t">
            <a:noAutofit/>
          </a:bodyPr>
          <a:lstStyle/>
          <a:p>
            <a:pPr algn="dist" eaLnBrk="0">
              <a:spcBef>
                <a:spcPts val="0"/>
              </a:spcBef>
              <a:spcAft>
                <a:spcPts val="0"/>
              </a:spcAft>
            </a:pPr>
            <a:r>
              <a:rPr lang="en-US" altLang="ko-KR" b="1" dirty="0">
                <a:solidFill>
                  <a:srgbClr val="0070C0"/>
                </a:solidFill>
                <a:latin typeface="微软雅黑" panose="020B0503020204020204" pitchFamily="34" charset="-122"/>
                <a:ea typeface="微软雅黑" panose="020B0503020204020204" pitchFamily="34" charset="-122"/>
              </a:rPr>
              <a:t>(1)56</a:t>
            </a:r>
            <a:r>
              <a:rPr lang="zh-CN" altLang="en-US" b="1" dirty="0">
                <a:solidFill>
                  <a:srgbClr val="0070C0"/>
                </a:solidFill>
                <a:latin typeface="微软雅黑" panose="020B0503020204020204" pitchFamily="34" charset="-122"/>
                <a:ea typeface="微软雅黑" panose="020B0503020204020204" pitchFamily="34" charset="-122"/>
              </a:rPr>
              <a:t>个采样数据绘制</a:t>
            </a:r>
            <a:r>
              <a:rPr lang="zh-CN" altLang="zh-CN" b="1" dirty="0">
                <a:solidFill>
                  <a:srgbClr val="0070C0"/>
                </a:solidFill>
                <a:latin typeface="微软雅黑" panose="020B0503020204020204" pitchFamily="34" charset="-122"/>
                <a:ea typeface="微软雅黑" panose="020B0503020204020204" pitchFamily="34" charset="-122"/>
              </a:rPr>
              <a:t>山区的地貌图</a:t>
            </a:r>
            <a:endParaRPr lang="ko-KR" altLang="en-US" b="1" dirty="0">
              <a:solidFill>
                <a:srgbClr val="0070C0"/>
              </a:solidFill>
              <a:latin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753038"/>
            <a:ext cx="3834069" cy="461665"/>
          </a:xfrm>
          <a:prstGeom prst="rect">
            <a:avLst/>
          </a:prstGeom>
          <a:solidFill>
            <a:schemeClr val="bg1"/>
          </a:solidFill>
          <a:scene3d>
            <a:camera prst="orthographicFront"/>
            <a:lightRig rig="threePt" dir="t"/>
          </a:scene3d>
          <a:sp3d>
            <a:contourClr>
              <a:srgbClr val="000000"/>
            </a:contourClr>
          </a:sp3d>
        </p:spPr>
        <p:txBody>
          <a:bodyPr vert="horz" wrap="square" lIns="0" tIns="0" rIns="0" bIns="0" anchor="t">
            <a:noAutofit/>
          </a:bodyPr>
          <a:lstStyle/>
          <a:p>
            <a:pPr eaLnBrk="0">
              <a:spcBef>
                <a:spcPts val="0"/>
              </a:spcBef>
              <a:spcAft>
                <a:spcPts val="0"/>
              </a:spcAft>
            </a:pPr>
            <a:r>
              <a:rPr lang="en-US" altLang="ko-KR" b="1" dirty="0">
                <a:solidFill>
                  <a:srgbClr val="0070C0"/>
                </a:solidFill>
                <a:latin typeface="微软雅黑" panose="020B0503020204020204" pitchFamily="34" charset="-122"/>
                <a:ea typeface="微软雅黑" panose="020B0503020204020204" pitchFamily="34" charset="-122"/>
              </a:rPr>
              <a:t>(2)</a:t>
            </a:r>
            <a:r>
              <a:rPr lang="zh-CN" altLang="en-US" b="1" dirty="0">
                <a:solidFill>
                  <a:srgbClr val="0070C0"/>
                </a:solidFill>
                <a:latin typeface="微软雅黑" panose="020B0503020204020204" pitchFamily="34" charset="-122"/>
                <a:ea typeface="微软雅黑" panose="020B0503020204020204" pitchFamily="34" charset="-122"/>
              </a:rPr>
              <a:t>插值</a:t>
            </a:r>
            <a:r>
              <a:rPr lang="en-US" altLang="zh-CN" b="1" dirty="0">
                <a:solidFill>
                  <a:srgbClr val="0070C0"/>
                </a:solidFill>
                <a:latin typeface="微软雅黑" panose="020B0503020204020204" pitchFamily="34" charset="-122"/>
                <a:ea typeface="微软雅黑" panose="020B0503020204020204" pitchFamily="34" charset="-122"/>
              </a:rPr>
              <a:t>281*241</a:t>
            </a:r>
            <a:r>
              <a:rPr lang="zh-CN" altLang="en-US" b="1" dirty="0">
                <a:solidFill>
                  <a:srgbClr val="0070C0"/>
                </a:solidFill>
                <a:latin typeface="微软雅黑" panose="020B0503020204020204" pitchFamily="34" charset="-122"/>
                <a:ea typeface="微软雅黑" panose="020B0503020204020204" pitchFamily="34" charset="-122"/>
              </a:rPr>
              <a:t>个数据绘制</a:t>
            </a:r>
            <a:r>
              <a:rPr lang="zh-CN" altLang="zh-CN" b="1" dirty="0">
                <a:solidFill>
                  <a:srgbClr val="0070C0"/>
                </a:solidFill>
                <a:latin typeface="微软雅黑" panose="020B0503020204020204" pitchFamily="34" charset="-122"/>
                <a:ea typeface="微软雅黑" panose="020B0503020204020204" pitchFamily="34" charset="-122"/>
              </a:rPr>
              <a:t>地貌图</a:t>
            </a:r>
            <a:r>
              <a:rPr lang="en-US" altLang="zh-CN" b="1" dirty="0">
                <a:solidFill>
                  <a:srgbClr val="0070C0"/>
                </a:solidFill>
                <a:latin typeface="微软雅黑" panose="020B0503020204020204" pitchFamily="34" charset="-122"/>
                <a:ea typeface="微软雅黑" panose="020B0503020204020204" pitchFamily="34" charset="-122"/>
              </a:rPr>
              <a:t> </a:t>
            </a:r>
            <a:endParaRPr lang="ko-KR" altLang="en-US" b="1" dirty="0">
              <a:solidFill>
                <a:srgbClr val="0070C0"/>
              </a:solidFill>
              <a:latin typeface="微软雅黑" panose="020B0503020204020204" pitchFamily="34" charset="-122"/>
            </a:endParaRPr>
          </a:p>
        </p:txBody>
      </p:sp>
      <p:pic>
        <p:nvPicPr>
          <p:cNvPr id="19" name="图片 18"/>
          <p:cNvPicPr>
            <a:picLocks noChangeAspect="1"/>
          </p:cNvPicPr>
          <p:nvPr/>
        </p:nvPicPr>
        <p:blipFill rotWithShape="1">
          <a:blip r:embed="rId3"/>
          <a:srcRect l="6689" t="19201" r="9837" b="13036"/>
          <a:stretch>
            <a:fillRect/>
          </a:stretch>
        </p:blipFill>
        <p:spPr>
          <a:xfrm>
            <a:off x="6174996" y="1452597"/>
            <a:ext cx="2914690" cy="1636441"/>
          </a:xfrm>
          <a:prstGeom prst="rect">
            <a:avLst/>
          </a:prstGeom>
        </p:spPr>
      </p:pic>
      <p:sp>
        <p:nvSpPr>
          <p:cNvPr id="8" name="文本框 7"/>
          <p:cNvSpPr txBox="1"/>
          <p:nvPr/>
        </p:nvSpPr>
        <p:spPr>
          <a:xfrm>
            <a:off x="971600" y="107261"/>
            <a:ext cx="8064896" cy="523220"/>
          </a:xfrm>
          <a:prstGeom prst="rect">
            <a:avLst/>
          </a:prstGeom>
          <a:noFill/>
        </p:spPr>
        <p:txBody>
          <a:bodyPr wrap="square">
            <a:spAutoFit/>
          </a:bodyPr>
          <a:lstStyle/>
          <a:p>
            <a:r>
              <a:rPr lang="en-US" altLang="zh-CN" sz="2800" kern="0" dirty="0">
                <a:solidFill>
                  <a:srgbClr val="002060"/>
                </a:solidFill>
                <a:latin typeface="华文楷体" panose="02010600040101010101" pitchFamily="2" charset="-122"/>
                <a:ea typeface="华文楷体" panose="02010600040101010101" pitchFamily="2" charset="-122"/>
              </a:rPr>
              <a:t>5.4.3 </a:t>
            </a:r>
            <a:r>
              <a:rPr lang="zh-CN" altLang="en-US" sz="2800" kern="0" dirty="0">
                <a:solidFill>
                  <a:srgbClr val="002060"/>
                </a:solidFill>
                <a:latin typeface="华文楷体" panose="02010600040101010101" pitchFamily="2" charset="-122"/>
                <a:ea typeface="华文楷体" panose="02010600040101010101" pitchFamily="2" charset="-122"/>
              </a:rPr>
              <a:t>二维多项式插值</a:t>
            </a:r>
            <a:r>
              <a:rPr lang="en-US" altLang="zh-CN" sz="2800" dirty="0">
                <a:solidFill>
                  <a:srgbClr val="FF0000"/>
                </a:solidFill>
                <a:latin typeface="华文楷体" panose="02010600040101010101" pitchFamily="2" charset="-122"/>
                <a:ea typeface="华文楷体" panose="02010600040101010101" pitchFamily="2" charset="-122"/>
              </a:rPr>
              <a:t>———</a:t>
            </a:r>
            <a:r>
              <a:rPr lang="en-US" altLang="ko-KR" sz="2800" cap="none" dirty="0">
                <a:solidFill>
                  <a:srgbClr val="FF0000"/>
                </a:solidFill>
                <a:latin typeface="华文楷体" panose="02010600040101010101" pitchFamily="2" charset="-122"/>
                <a:ea typeface="华文楷体" panose="02010600040101010101" pitchFamily="2" charset="-122"/>
              </a:rPr>
              <a:t>二维插值</a:t>
            </a:r>
            <a:r>
              <a:rPr lang="en-US" altLang="ko-KR" sz="2800" b="1" cap="none" dirty="0">
                <a:solidFill>
                  <a:srgbClr val="FF0000"/>
                </a:solidFill>
                <a:latin typeface="华文楷体" panose="02010600040101010101" pitchFamily="2" charset="-122"/>
                <a:ea typeface="华文楷体" panose="02010600040101010101" pitchFamily="2" charset="-122"/>
              </a:rPr>
              <a:t>interp2</a:t>
            </a:r>
            <a:r>
              <a:rPr lang="zh-CN" altLang="en-US" sz="2800" b="1" cap="none" dirty="0">
                <a:solidFill>
                  <a:srgbClr val="FF0000"/>
                </a:solidFill>
                <a:latin typeface="华文楷体" panose="02010600040101010101" pitchFamily="2" charset="-122"/>
                <a:ea typeface="华文楷体" panose="02010600040101010101" pitchFamily="2" charset="-122"/>
              </a:rPr>
              <a:t>案例</a:t>
            </a:r>
            <a:endParaRPr lang="zh-CN" altLang="en-US" sz="2800" dirty="0">
              <a:solidFill>
                <a:srgbClr val="FF0000"/>
              </a:solidFill>
              <a:latin typeface="华文楷体" panose="02010600040101010101" pitchFamily="2" charset="-122"/>
              <a:ea typeface="华文楷体" panose="02010600040101010101" pitchFamily="2" charset="-122"/>
            </a:endParaRPr>
          </a:p>
        </p:txBody>
      </p:sp>
      <p:sp>
        <p:nvSpPr>
          <p:cNvPr id="10" name="文本框 9"/>
          <p:cNvSpPr txBox="1"/>
          <p:nvPr/>
        </p:nvSpPr>
        <p:spPr>
          <a:xfrm>
            <a:off x="6593710" y="1408741"/>
            <a:ext cx="2271310" cy="369332"/>
          </a:xfrm>
          <a:prstGeom prst="rect">
            <a:avLst/>
          </a:prstGeom>
          <a:noFill/>
        </p:spPr>
        <p:txBody>
          <a:bodyPr wrap="square">
            <a:spAutoFit/>
          </a:bodyPr>
          <a:lstStyle/>
          <a:p>
            <a:r>
              <a:rPr lang="zh-CN" altLang="en-US" dirty="0">
                <a:solidFill>
                  <a:srgbClr val="FF0000"/>
                </a:solidFill>
              </a:rPr>
              <a:t>28</a:t>
            </a:r>
            <a:r>
              <a:rPr lang="en-US" altLang="zh-CN" dirty="0">
                <a:solidFill>
                  <a:srgbClr val="FF0000"/>
                </a:solidFill>
              </a:rPr>
              <a:t>1</a:t>
            </a:r>
            <a:r>
              <a:rPr lang="zh-CN" altLang="en-US" dirty="0">
                <a:solidFill>
                  <a:srgbClr val="FF0000"/>
                </a:solidFill>
              </a:rPr>
              <a:t>*24</a:t>
            </a:r>
            <a:r>
              <a:rPr lang="en-US" altLang="zh-CN" dirty="0">
                <a:solidFill>
                  <a:srgbClr val="FF0000"/>
                </a:solidFill>
              </a:rPr>
              <a:t>1= 67721</a:t>
            </a:r>
            <a:endParaRPr lang="zh-CN" altLang="en-US" dirty="0">
              <a:solidFill>
                <a:srgbClr val="FF0000"/>
              </a:solidFill>
            </a:endParaRPr>
          </a:p>
        </p:txBody>
      </p:sp>
      <p:sp>
        <p:nvSpPr>
          <p:cNvPr id="3" name="内容占位符 2"/>
          <p:cNvSpPr>
            <a:spLocks noGrp="1"/>
          </p:cNvSpPr>
          <p:nvPr>
            <p:ph idx="1"/>
          </p:nvPr>
        </p:nvSpPr>
        <p:spPr>
          <a:xfrm>
            <a:off x="278980" y="943366"/>
            <a:ext cx="8686800" cy="3994940"/>
          </a:xfrm>
          <a:noFill/>
          <a:ln>
            <a:noFill/>
          </a:ln>
        </p:spPr>
        <p:txBody>
          <a:bodyPr/>
          <a:lstStyle/>
          <a:p>
            <a:pPr marL="0" indent="0">
              <a:lnSpc>
                <a:spcPts val="2500"/>
              </a:lnSpc>
              <a:buNone/>
            </a:pPr>
            <a:r>
              <a:rPr lang="en-US" altLang="zh-CN" sz="2000" dirty="0"/>
              <a:t>figure(2)</a:t>
            </a:r>
          </a:p>
          <a:p>
            <a:pPr marL="0" indent="0">
              <a:lnSpc>
                <a:spcPts val="2500"/>
              </a:lnSpc>
              <a:buNone/>
            </a:pPr>
            <a:r>
              <a:rPr lang="en-US" altLang="zh-CN" sz="2000" dirty="0"/>
              <a:t>xi = 0:10:2800; #x</a:t>
            </a:r>
            <a:r>
              <a:rPr lang="zh-CN" altLang="en-US" sz="2000" dirty="0"/>
              <a:t>轴插</a:t>
            </a:r>
            <a:r>
              <a:rPr lang="en-US" altLang="zh-CN" sz="2000" dirty="0"/>
              <a:t>281</a:t>
            </a:r>
            <a:r>
              <a:rPr lang="zh-CN" altLang="en-US" sz="2000" dirty="0"/>
              <a:t>个节点向量</a:t>
            </a:r>
          </a:p>
          <a:p>
            <a:pPr marL="0" indent="0">
              <a:lnSpc>
                <a:spcPts val="2500"/>
              </a:lnSpc>
              <a:buNone/>
            </a:pPr>
            <a:r>
              <a:rPr lang="en-US" altLang="zh-CN" sz="2000" dirty="0" err="1"/>
              <a:t>yi</a:t>
            </a:r>
            <a:r>
              <a:rPr lang="en-US" altLang="zh-CN" sz="2000" dirty="0"/>
              <a:t> = 0:10:2400; #y</a:t>
            </a:r>
            <a:r>
              <a:rPr lang="zh-CN" altLang="en-US" sz="2000" dirty="0"/>
              <a:t>轴插</a:t>
            </a:r>
            <a:r>
              <a:rPr lang="en-US" altLang="zh-CN" sz="2000" dirty="0"/>
              <a:t>241</a:t>
            </a:r>
            <a:r>
              <a:rPr lang="zh-CN" altLang="en-US" sz="2000" dirty="0"/>
              <a:t>个节点向量</a:t>
            </a:r>
          </a:p>
          <a:p>
            <a:pPr marL="0" indent="0">
              <a:lnSpc>
                <a:spcPts val="2500"/>
              </a:lnSpc>
              <a:buNone/>
            </a:pPr>
            <a:r>
              <a:rPr lang="en-US" altLang="zh-CN" sz="2000" b="1" dirty="0" err="1">
                <a:solidFill>
                  <a:srgbClr val="FF0000"/>
                </a:solidFill>
              </a:rPr>
              <a:t>xi,yi</a:t>
            </a:r>
            <a:r>
              <a:rPr lang="en-US" altLang="zh-CN" sz="2000" b="1" dirty="0">
                <a:solidFill>
                  <a:srgbClr val="FF0000"/>
                </a:solidFill>
              </a:rPr>
              <a:t>=meshgrid2(</a:t>
            </a:r>
            <a:r>
              <a:rPr lang="en-US" altLang="zh-CN" sz="2000" b="1" dirty="0" err="1">
                <a:solidFill>
                  <a:srgbClr val="FF0000"/>
                </a:solidFill>
              </a:rPr>
              <a:t>xi,yi</a:t>
            </a:r>
            <a:r>
              <a:rPr lang="en-US" altLang="zh-CN" sz="2000" b="1" dirty="0">
                <a:solidFill>
                  <a:srgbClr val="FF0000"/>
                </a:solidFill>
              </a:rPr>
              <a:t>)</a:t>
            </a:r>
          </a:p>
          <a:p>
            <a:pPr marL="0" indent="0">
              <a:lnSpc>
                <a:spcPts val="2500"/>
              </a:lnSpc>
              <a:buNone/>
            </a:pPr>
            <a:r>
              <a:rPr lang="en-US" altLang="zh-CN" sz="2000" b="1" dirty="0">
                <a:solidFill>
                  <a:srgbClr val="FF0000"/>
                </a:solidFill>
              </a:rPr>
              <a:t>zi = interp2(x0, y0, z0, xi, </a:t>
            </a:r>
            <a:r>
              <a:rPr lang="en-US" altLang="zh-CN" sz="2000" b="1" dirty="0" err="1">
                <a:solidFill>
                  <a:srgbClr val="FF0000"/>
                </a:solidFill>
              </a:rPr>
              <a:t>yi</a:t>
            </a:r>
            <a:r>
              <a:rPr lang="en-US" altLang="zh-CN" sz="2000" b="1" dirty="0">
                <a:solidFill>
                  <a:srgbClr val="FF0000"/>
                </a:solidFill>
              </a:rPr>
              <a:t>, "</a:t>
            </a:r>
            <a:r>
              <a:rPr lang="en-US" altLang="zh-CN" sz="2000" b="1" dirty="0" err="1">
                <a:solidFill>
                  <a:srgbClr val="FF0000"/>
                </a:solidFill>
              </a:rPr>
              <a:t>splince</a:t>
            </a:r>
            <a:r>
              <a:rPr lang="en-US" altLang="zh-CN" sz="2000" b="1" dirty="0">
                <a:solidFill>
                  <a:srgbClr val="FF0000"/>
                </a:solidFill>
              </a:rPr>
              <a:t>");#</a:t>
            </a:r>
            <a:r>
              <a:rPr lang="zh-CN" altLang="en-US" sz="2000" b="1" dirty="0">
                <a:solidFill>
                  <a:srgbClr val="FF0000"/>
                </a:solidFill>
              </a:rPr>
              <a:t>二维插值</a:t>
            </a:r>
          </a:p>
          <a:p>
            <a:pPr marL="0" indent="0">
              <a:lnSpc>
                <a:spcPts val="2500"/>
              </a:lnSpc>
              <a:buNone/>
            </a:pPr>
            <a:r>
              <a:rPr lang="en-US" altLang="zh-CN" sz="2000" dirty="0" err="1"/>
              <a:t>surfc</a:t>
            </a:r>
            <a:r>
              <a:rPr lang="en-US" altLang="zh-CN" sz="2000" dirty="0"/>
              <a:t>(xi, </a:t>
            </a:r>
            <a:r>
              <a:rPr lang="en-US" altLang="zh-CN" sz="2000" dirty="0" err="1"/>
              <a:t>yi</a:t>
            </a:r>
            <a:r>
              <a:rPr lang="en-US" altLang="zh-CN" sz="2000" dirty="0"/>
              <a:t>, zi); #</a:t>
            </a:r>
            <a:r>
              <a:rPr lang="zh-CN" altLang="en-US" sz="2000" dirty="0"/>
              <a:t>带帷幕的网格曲面图</a:t>
            </a:r>
          </a:p>
          <a:p>
            <a:pPr marL="0" indent="0">
              <a:lnSpc>
                <a:spcPts val="2500"/>
              </a:lnSpc>
              <a:buNone/>
            </a:pPr>
            <a:r>
              <a:rPr lang="en-US" altLang="zh-CN" sz="2000" dirty="0" err="1"/>
              <a:t>xlabel</a:t>
            </a:r>
            <a:r>
              <a:rPr lang="en-US" altLang="zh-CN" sz="2000" dirty="0"/>
              <a:t>("x");</a:t>
            </a:r>
            <a:r>
              <a:rPr lang="en-US" altLang="zh-CN" sz="2000" dirty="0" err="1"/>
              <a:t>ylabel</a:t>
            </a:r>
            <a:r>
              <a:rPr lang="en-US" altLang="zh-CN" sz="2000" dirty="0"/>
              <a:t>("y");</a:t>
            </a:r>
            <a:r>
              <a:rPr lang="en-US" altLang="zh-CN" sz="2000" dirty="0" err="1"/>
              <a:t>zlabel</a:t>
            </a:r>
            <a:r>
              <a:rPr lang="en-US" altLang="zh-CN" sz="2000" dirty="0"/>
              <a:t>("z");</a:t>
            </a:r>
          </a:p>
          <a:p>
            <a:pPr marL="0" indent="0">
              <a:lnSpc>
                <a:spcPts val="2100"/>
              </a:lnSpc>
              <a:buNone/>
            </a:pPr>
            <a:r>
              <a:rPr lang="en-US" altLang="zh-CN" sz="2000" dirty="0"/>
              <a:t>figure(3)</a:t>
            </a:r>
          </a:p>
          <a:p>
            <a:pPr marL="0" indent="0">
              <a:lnSpc>
                <a:spcPts val="2100"/>
              </a:lnSpc>
              <a:buNone/>
            </a:pPr>
            <a:r>
              <a:rPr lang="en-US" altLang="zh-CN" sz="2000" dirty="0"/>
              <a:t>c=</a:t>
            </a:r>
            <a:r>
              <a:rPr lang="en-US" altLang="zh-CN" sz="2000" dirty="0" err="1"/>
              <a:t>contourf</a:t>
            </a:r>
            <a:r>
              <a:rPr lang="en-US" altLang="zh-CN" sz="2000" dirty="0"/>
              <a:t>(xi, </a:t>
            </a:r>
            <a:r>
              <a:rPr lang="en-US" altLang="zh-CN" sz="2000" dirty="0" err="1"/>
              <a:t>yi</a:t>
            </a:r>
            <a:r>
              <a:rPr lang="en-US" altLang="zh-CN" sz="2000" dirty="0"/>
              <a:t>, zi,30) </a:t>
            </a:r>
          </a:p>
          <a:p>
            <a:pPr marL="0" indent="0">
              <a:lnSpc>
                <a:spcPts val="2100"/>
              </a:lnSpc>
              <a:buNone/>
            </a:pPr>
            <a:r>
              <a:rPr lang="en-US" altLang="zh-CN" sz="2000" dirty="0" err="1"/>
              <a:t>clabel</a:t>
            </a:r>
            <a:r>
              <a:rPr lang="en-US" altLang="zh-CN" sz="2000" dirty="0"/>
              <a:t>(</a:t>
            </a:r>
            <a:r>
              <a:rPr lang="en-US" altLang="zh-CN" sz="2000" dirty="0" err="1"/>
              <a:t>c,inline</a:t>
            </a:r>
            <a:r>
              <a:rPr lang="en-US" altLang="zh-CN" sz="2000" dirty="0"/>
              <a:t>=false, </a:t>
            </a:r>
            <a:r>
              <a:rPr lang="en-US" altLang="zh-CN" sz="2000" dirty="0" err="1"/>
              <a:t>fontsize</a:t>
            </a:r>
            <a:r>
              <a:rPr lang="en-US" altLang="zh-CN" sz="2000" dirty="0"/>
              <a:t>=10, </a:t>
            </a:r>
            <a:r>
              <a:rPr lang="en-US" altLang="zh-CN" sz="2000" dirty="0" err="1"/>
              <a:t>fmt</a:t>
            </a:r>
            <a:r>
              <a:rPr lang="en-US" altLang="zh-CN" sz="2000" dirty="0"/>
              <a:t>="%.0f", colors="k")</a:t>
            </a:r>
          </a:p>
          <a:p>
            <a:pPr marL="0" indent="0">
              <a:lnSpc>
                <a:spcPts val="2100"/>
              </a:lnSpc>
              <a:buNone/>
            </a:pPr>
            <a:r>
              <a:rPr lang="en-US" altLang="zh-CN" sz="2000" dirty="0" err="1"/>
              <a:t>colorbar</a:t>
            </a:r>
            <a:r>
              <a:rPr lang="en-US" altLang="zh-CN" sz="2000" dirty="0"/>
              <a:t>(c)#</a:t>
            </a:r>
            <a:r>
              <a:rPr lang="zh-CN" altLang="en-US" sz="2000" dirty="0"/>
              <a:t>显示色阶的颜色条</a:t>
            </a:r>
            <a:endParaRPr lang="en-US" altLang="zh-CN" sz="2000" dirty="0"/>
          </a:p>
          <a:p>
            <a:pPr marL="0" indent="0">
              <a:lnSpc>
                <a:spcPts val="2100"/>
              </a:lnSpc>
              <a:buNone/>
            </a:pPr>
            <a:r>
              <a:rPr lang="es-ES" altLang="zh-CN" sz="2000" dirty="0"/>
              <a:t>xlabel("x /</a:t>
            </a:r>
            <a:r>
              <a:rPr lang="zh-CN" altLang="es-ES" sz="2000" dirty="0"/>
              <a:t>米</a:t>
            </a:r>
            <a:r>
              <a:rPr lang="es-ES" altLang="zh-CN" sz="2000" dirty="0"/>
              <a:t>");ylabel("y /</a:t>
            </a:r>
            <a:r>
              <a:rPr lang="zh-CN" altLang="es-ES" sz="2000" dirty="0"/>
              <a:t>米</a:t>
            </a:r>
            <a:r>
              <a:rPr lang="es-ES" altLang="zh-CN" sz="2000" dirty="0"/>
              <a:t>");</a:t>
            </a:r>
            <a:endParaRPr lang="en-US" altLang="zh-CN" sz="2000" dirty="0"/>
          </a:p>
          <a:p>
            <a:pPr marL="0" indent="0">
              <a:lnSpc>
                <a:spcPts val="2500"/>
              </a:lnSpc>
              <a:buNone/>
            </a:pPr>
            <a:endParaRPr lang="en-US" altLang="zh-CN" sz="2000" dirty="0"/>
          </a:p>
        </p:txBody>
      </p:sp>
      <p:sp>
        <p:nvSpPr>
          <p:cNvPr id="11" name="波形 10"/>
          <p:cNvSpPr/>
          <p:nvPr/>
        </p:nvSpPr>
        <p:spPr>
          <a:xfrm>
            <a:off x="66555" y="248853"/>
            <a:ext cx="905046"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54-4.1</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6469225" y="1099186"/>
            <a:ext cx="2520280" cy="369332"/>
          </a:xfrm>
          <a:prstGeom prst="rect">
            <a:avLst/>
          </a:prstGeom>
          <a:noFill/>
        </p:spPr>
        <p:txBody>
          <a:bodyPr wrap="square">
            <a:spAutoFit/>
          </a:bodyPr>
          <a:lstStyle/>
          <a:p>
            <a:pPr algn="l"/>
            <a:r>
              <a:rPr lang="zh-CN" altLang="en-US" b="1" i="0" dirty="0">
                <a:solidFill>
                  <a:srgbClr val="FF0000"/>
                </a:solidFill>
                <a:effectLst/>
                <a:latin typeface="PingFang SC"/>
              </a:rPr>
              <a:t>插值节点为网格节点</a:t>
            </a:r>
          </a:p>
        </p:txBody>
      </p:sp>
      <p:sp>
        <p:nvSpPr>
          <p:cNvPr id="14" name="文本框 13"/>
          <p:cNvSpPr txBox="1"/>
          <p:nvPr/>
        </p:nvSpPr>
        <p:spPr>
          <a:xfrm>
            <a:off x="4212445" y="721875"/>
            <a:ext cx="4824051" cy="338554"/>
          </a:xfrm>
          <a:prstGeom prst="rect">
            <a:avLst/>
          </a:prstGeom>
          <a:noFill/>
        </p:spPr>
        <p:txBody>
          <a:bodyPr wrap="square">
            <a:spAutoFit/>
          </a:bodyPr>
          <a:lstStyle>
            <a:defPPr>
              <a:defRPr lang="zh-CN"/>
            </a:defPPr>
            <a:lvl1pPr>
              <a:defRPr sz="1600" b="1" i="0">
                <a:solidFill>
                  <a:srgbClr val="0070C0"/>
                </a:solidFill>
                <a:effectLst/>
                <a:latin typeface="微软雅黑" panose="020B0503020204020204" pitchFamily="34" charset="-122"/>
                <a:ea typeface="微软雅黑" panose="020B0503020204020204" pitchFamily="34" charset="-122"/>
              </a:defRPr>
            </a:lvl1pPr>
          </a:lstStyle>
          <a:p>
            <a:pPr algn="dist"/>
            <a:r>
              <a:rPr lang="zh-CN" altLang="en-US" dirty="0">
                <a:solidFill>
                  <a:srgbClr val="00B0F0"/>
                </a:solidFill>
              </a:rPr>
              <a:t>如插值点</a:t>
            </a:r>
            <a:r>
              <a:rPr lang="en-US" altLang="zh-CN" dirty="0">
                <a:solidFill>
                  <a:srgbClr val="00B0F0"/>
                </a:solidFill>
              </a:rPr>
              <a:t>xi</a:t>
            </a:r>
            <a:r>
              <a:rPr lang="zh-CN" altLang="en-US" dirty="0">
                <a:solidFill>
                  <a:srgbClr val="00B0F0"/>
                </a:solidFill>
              </a:rPr>
              <a:t>和</a:t>
            </a:r>
            <a:r>
              <a:rPr lang="en-US" altLang="zh-CN" dirty="0" err="1">
                <a:solidFill>
                  <a:srgbClr val="00B0F0"/>
                </a:solidFill>
              </a:rPr>
              <a:t>yi</a:t>
            </a:r>
            <a:r>
              <a:rPr lang="zh-CN" altLang="en-US" dirty="0">
                <a:solidFill>
                  <a:srgbClr val="00B0F0"/>
                </a:solidFill>
              </a:rPr>
              <a:t>是向量，必须严格单调递增或递减</a:t>
            </a:r>
          </a:p>
        </p:txBody>
      </p:sp>
      <p:pic>
        <p:nvPicPr>
          <p:cNvPr id="17" name="图片 16"/>
          <p:cNvPicPr>
            <a:picLocks noChangeAspect="1"/>
          </p:cNvPicPr>
          <p:nvPr/>
        </p:nvPicPr>
        <p:blipFill rotWithShape="1">
          <a:blip r:embed="rId4"/>
          <a:srcRect l="5973" t="12319" r="8263" b="6601"/>
          <a:stretch>
            <a:fillRect/>
          </a:stretch>
        </p:blipFill>
        <p:spPr>
          <a:xfrm>
            <a:off x="6228183" y="2906044"/>
            <a:ext cx="2914689" cy="1732644"/>
          </a:xfrm>
          <a:prstGeom prst="rect">
            <a:avLst/>
          </a:prstGeom>
        </p:spPr>
      </p:pic>
      <p:pic>
        <p:nvPicPr>
          <p:cNvPr id="12" name="图片 11">
            <a:extLst>
              <a:ext uri="{FF2B5EF4-FFF2-40B4-BE49-F238E27FC236}">
                <a16:creationId xmlns:a16="http://schemas.microsoft.com/office/drawing/2014/main" id="{2AE8107C-C60B-496D-BF4F-312B7077A11A}"/>
              </a:ext>
            </a:extLst>
          </p:cNvPr>
          <p:cNvPicPr>
            <a:picLocks noChangeAspect="1"/>
          </p:cNvPicPr>
          <p:nvPr/>
        </p:nvPicPr>
        <p:blipFill rotWithShape="1">
          <a:blip r:embed="rId5"/>
          <a:srcRect l="8263" t="13601" r="7541" b="8000"/>
          <a:stretch>
            <a:fillRect/>
          </a:stretch>
        </p:blipFill>
        <p:spPr>
          <a:xfrm>
            <a:off x="4499992" y="2478924"/>
            <a:ext cx="1825891" cy="126777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46669"/>
            <a:ext cx="8318921" cy="3537250"/>
          </a:xfrm>
          <a:noFill/>
          <a:ln w="9525">
            <a:noFill/>
            <a:miter lim="800000"/>
          </a:ln>
        </p:spPr>
        <p:txBody>
          <a:bodyPr vert="horz" wrap="square" lIns="91440" tIns="45720" rIns="91440" bIns="45720" numCol="1" anchor="t" anchorCtr="0" compatLnSpc="1">
            <a:spAutoFit/>
          </a:bodyPr>
          <a:lstStyle/>
          <a:p>
            <a:pPr marL="0" indent="0">
              <a:lnSpc>
                <a:spcPts val="3000"/>
              </a:lnSpc>
              <a:buNone/>
            </a:pPr>
            <a:r>
              <a:rPr lang="en-US" altLang="zh-CN" sz="2200" dirty="0"/>
              <a:t>figure(4)</a:t>
            </a:r>
          </a:p>
          <a:p>
            <a:pPr marL="0" indent="0">
              <a:lnSpc>
                <a:spcPts val="3000"/>
              </a:lnSpc>
              <a:buNone/>
            </a:pPr>
            <a:r>
              <a:rPr lang="en-US" altLang="zh-CN" sz="2200" dirty="0"/>
              <a:t>x= 0:10:</a:t>
            </a:r>
            <a:r>
              <a:rPr lang="en-US" altLang="zh-CN" sz="2200" b="1" dirty="0">
                <a:solidFill>
                  <a:srgbClr val="FF0000"/>
                </a:solidFill>
              </a:rPr>
              <a:t>4000</a:t>
            </a:r>
            <a:r>
              <a:rPr lang="en-US" altLang="zh-CN" sz="2200" dirty="0"/>
              <a:t>; #x</a:t>
            </a:r>
            <a:r>
              <a:rPr lang="zh-CN" altLang="en-US" sz="2200" dirty="0"/>
              <a:t>轴插</a:t>
            </a:r>
            <a:r>
              <a:rPr lang="en-US" altLang="zh-CN" sz="2200" dirty="0"/>
              <a:t>281</a:t>
            </a:r>
            <a:r>
              <a:rPr lang="zh-CN" altLang="en-US" sz="2200" dirty="0"/>
              <a:t>个节点</a:t>
            </a:r>
          </a:p>
          <a:p>
            <a:pPr marL="0" indent="0">
              <a:lnSpc>
                <a:spcPts val="3000"/>
              </a:lnSpc>
              <a:buNone/>
            </a:pPr>
            <a:r>
              <a:rPr lang="en-US" altLang="zh-CN" sz="2200" dirty="0"/>
              <a:t>y= 0:10:3</a:t>
            </a:r>
            <a:r>
              <a:rPr lang="en-US" altLang="zh-CN" sz="2200" b="1" dirty="0">
                <a:solidFill>
                  <a:srgbClr val="FF0000"/>
                </a:solidFill>
              </a:rPr>
              <a:t>000</a:t>
            </a:r>
            <a:r>
              <a:rPr lang="en-US" altLang="zh-CN" sz="2200" dirty="0"/>
              <a:t>; #y</a:t>
            </a:r>
            <a:r>
              <a:rPr lang="zh-CN" altLang="en-US" sz="2200" dirty="0"/>
              <a:t>轴插</a:t>
            </a:r>
            <a:r>
              <a:rPr lang="en-US" altLang="zh-CN" sz="2200" dirty="0"/>
              <a:t>241</a:t>
            </a:r>
            <a:r>
              <a:rPr lang="zh-CN" altLang="en-US" sz="2200" dirty="0"/>
              <a:t>个节点</a:t>
            </a:r>
          </a:p>
          <a:p>
            <a:pPr marL="0" indent="0">
              <a:lnSpc>
                <a:spcPts val="3000"/>
              </a:lnSpc>
              <a:buNone/>
            </a:pPr>
            <a:r>
              <a:rPr lang="en-US" altLang="zh-CN" sz="2200" dirty="0">
                <a:solidFill>
                  <a:srgbClr val="FF0000"/>
                </a:solidFill>
              </a:rPr>
              <a:t>xi, </a:t>
            </a:r>
            <a:r>
              <a:rPr lang="en-US" altLang="zh-CN" sz="2200" dirty="0" err="1">
                <a:solidFill>
                  <a:srgbClr val="FF0000"/>
                </a:solidFill>
              </a:rPr>
              <a:t>yi</a:t>
            </a:r>
            <a:r>
              <a:rPr lang="en-US" altLang="zh-CN" sz="2200" dirty="0">
                <a:solidFill>
                  <a:srgbClr val="FF0000"/>
                </a:solidFill>
              </a:rPr>
              <a:t> = meshgrid2(x, y) #</a:t>
            </a:r>
            <a:r>
              <a:rPr lang="zh-CN" altLang="en-US" sz="2200" dirty="0">
                <a:solidFill>
                  <a:srgbClr val="FF0000"/>
                </a:solidFill>
              </a:rPr>
              <a:t>网格节点</a:t>
            </a:r>
            <a:endParaRPr lang="en-US" altLang="zh-CN" sz="2200" dirty="0">
              <a:solidFill>
                <a:srgbClr val="FF0000"/>
              </a:solidFill>
            </a:endParaRPr>
          </a:p>
          <a:p>
            <a:pPr marL="0" indent="0">
              <a:lnSpc>
                <a:spcPts val="3000"/>
              </a:lnSpc>
              <a:buNone/>
            </a:pPr>
            <a:r>
              <a:rPr lang="en-US" altLang="zh-CN" sz="2200" dirty="0"/>
              <a:t>#</a:t>
            </a:r>
            <a:r>
              <a:rPr lang="zh-CN" altLang="en-US" sz="2200" dirty="0"/>
              <a:t>二维外插部分的</a:t>
            </a:r>
            <a:r>
              <a:rPr lang="en-US" altLang="zh-CN" sz="2200" dirty="0"/>
              <a:t>zi</a:t>
            </a:r>
            <a:r>
              <a:rPr lang="zh-CN" altLang="en-US" sz="2200" dirty="0"/>
              <a:t>设置为</a:t>
            </a:r>
            <a:r>
              <a:rPr lang="en-US" altLang="zh-CN" sz="2200" dirty="0"/>
              <a:t>900</a:t>
            </a:r>
            <a:r>
              <a:rPr lang="zh-CN" altLang="en-US" sz="2200" dirty="0"/>
              <a:t>米</a:t>
            </a:r>
            <a:endParaRPr lang="en-US" altLang="zh-CN" sz="2200" dirty="0">
              <a:solidFill>
                <a:srgbClr val="FF0000"/>
              </a:solidFill>
            </a:endParaRPr>
          </a:p>
          <a:p>
            <a:pPr marL="0" indent="0">
              <a:lnSpc>
                <a:spcPts val="3000"/>
              </a:lnSpc>
              <a:buNone/>
            </a:pPr>
            <a:r>
              <a:rPr lang="en-US" altLang="zh-CN" sz="2200" dirty="0"/>
              <a:t>zi = interp2(x0,y0,z0, xi, </a:t>
            </a:r>
            <a:r>
              <a:rPr lang="en-US" altLang="zh-CN" sz="2200" dirty="0" err="1"/>
              <a:t>yi</a:t>
            </a:r>
            <a:r>
              <a:rPr lang="en-US" altLang="zh-CN" sz="2200" dirty="0"/>
              <a:t>, "splince",</a:t>
            </a:r>
            <a:r>
              <a:rPr lang="en-US" altLang="zh-CN" sz="2200" b="1" dirty="0">
                <a:solidFill>
                  <a:srgbClr val="FF0000"/>
                </a:solidFill>
              </a:rPr>
              <a:t>900</a:t>
            </a:r>
            <a:r>
              <a:rPr lang="en-US" altLang="zh-CN" sz="2200" dirty="0"/>
              <a:t>);</a:t>
            </a:r>
          </a:p>
          <a:p>
            <a:pPr marL="0" indent="0">
              <a:lnSpc>
                <a:spcPts val="3000"/>
              </a:lnSpc>
              <a:buNone/>
            </a:pPr>
            <a:r>
              <a:rPr lang="en-US" altLang="zh-CN" sz="2200" dirty="0"/>
              <a:t>surf(xi, </a:t>
            </a:r>
            <a:r>
              <a:rPr lang="en-US" altLang="zh-CN" sz="2200" dirty="0" err="1"/>
              <a:t>yi</a:t>
            </a:r>
            <a:r>
              <a:rPr lang="en-US" altLang="zh-CN" sz="2200" dirty="0"/>
              <a:t>, zi); #</a:t>
            </a:r>
            <a:r>
              <a:rPr lang="zh-CN" altLang="en-US" sz="2200" dirty="0"/>
              <a:t>带帷幕的网格曲面图</a:t>
            </a:r>
          </a:p>
          <a:p>
            <a:pPr marL="0" indent="0">
              <a:lnSpc>
                <a:spcPts val="3000"/>
              </a:lnSpc>
              <a:buNone/>
            </a:pPr>
            <a:r>
              <a:rPr lang="en-US" altLang="zh-CN" sz="2200" dirty="0" err="1"/>
              <a:t>xlabel</a:t>
            </a:r>
            <a:r>
              <a:rPr lang="en-US" altLang="zh-CN" sz="2200" dirty="0"/>
              <a:t>("x");</a:t>
            </a:r>
            <a:r>
              <a:rPr lang="en-US" altLang="zh-CN" sz="2200" dirty="0" err="1"/>
              <a:t>ylabel</a:t>
            </a:r>
            <a:r>
              <a:rPr lang="en-US" altLang="zh-CN" sz="2200" dirty="0"/>
              <a:t>("y");</a:t>
            </a:r>
          </a:p>
          <a:p>
            <a:pPr marL="0" indent="0">
              <a:lnSpc>
                <a:spcPts val="3000"/>
              </a:lnSpc>
              <a:buNone/>
            </a:pPr>
            <a:r>
              <a:rPr lang="en-US" altLang="zh-CN" sz="2200" dirty="0" err="1"/>
              <a:t>zlabel</a:t>
            </a:r>
            <a:r>
              <a:rPr lang="en-US" altLang="zh-CN" sz="2200" dirty="0"/>
              <a:t>("z");</a:t>
            </a:r>
            <a:endParaRPr lang="zh-CN" altLang="en-US" sz="2200" dirty="0"/>
          </a:p>
        </p:txBody>
      </p:sp>
      <p:sp>
        <p:nvSpPr>
          <p:cNvPr id="4" name="日期占位符 3"/>
          <p:cNvSpPr>
            <a:spLocks noGrp="1"/>
          </p:cNvSpPr>
          <p:nvPr>
            <p:ph type="dt" sz="half" idx="10"/>
          </p:nvPr>
        </p:nvSpPr>
        <p:spPr bwMode="auto">
          <a:xfrm>
            <a:off x="457200" y="4683919"/>
            <a:ext cx="2133600" cy="357188"/>
          </a:xfrm>
          <a:prstGeom prst="rect">
            <a:avLst/>
          </a:prstGeom>
          <a:noFill/>
          <a:ln>
            <a:noFill/>
          </a:ln>
        </p:spPr>
        <p:txBody>
          <a:bodyPr vert="horz" wrap="square" lIns="91440" tIns="45720" rIns="91440" bIns="45720" numCol="1" anchor="t" anchorCtr="0" compatLnSpc="1"/>
          <a:lstStyle>
            <a:defPPr>
              <a:defRPr lang="zh-CN"/>
            </a:defPPr>
            <a:lvl1pPr algn="l"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pPr>
              <a:defRPr/>
            </a:pPr>
            <a:fld id="{869D5C21-8453-4E8B-8FA6-9D282B0DEA91}" type="datetime1">
              <a:rPr lang="zh-CN" altLang="en-US" smtClean="0"/>
              <a:t>2025/4/8</a:t>
            </a:fld>
            <a:endParaRPr lang="zh-CN" altLang="en-US" sz="1800"/>
          </a:p>
        </p:txBody>
      </p:sp>
      <p:sp>
        <p:nvSpPr>
          <p:cNvPr id="5" name="文本框 4"/>
          <p:cNvSpPr txBox="1"/>
          <p:nvPr/>
        </p:nvSpPr>
        <p:spPr>
          <a:xfrm>
            <a:off x="827584" y="107261"/>
            <a:ext cx="8208912" cy="492443"/>
          </a:xfrm>
          <a:prstGeom prst="rect">
            <a:avLst/>
          </a:prstGeom>
          <a:noFill/>
        </p:spPr>
        <p:txBody>
          <a:bodyPr wrap="square">
            <a:spAutoFit/>
          </a:bodyPr>
          <a:lstStyle/>
          <a:p>
            <a:r>
              <a:rPr lang="en-US" altLang="zh-CN" sz="2600" kern="0" dirty="0">
                <a:solidFill>
                  <a:srgbClr val="002060"/>
                </a:solidFill>
                <a:latin typeface="华文楷体" panose="02010600040101010101" pitchFamily="2" charset="-122"/>
                <a:ea typeface="华文楷体" panose="02010600040101010101" pitchFamily="2" charset="-122"/>
              </a:rPr>
              <a:t>§5.4.3 </a:t>
            </a:r>
            <a:r>
              <a:rPr lang="zh-CN" altLang="en-US" sz="2600" kern="0" dirty="0">
                <a:solidFill>
                  <a:srgbClr val="002060"/>
                </a:solidFill>
                <a:latin typeface="华文楷体" panose="02010600040101010101" pitchFamily="2" charset="-122"/>
                <a:ea typeface="华文楷体" panose="02010600040101010101" pitchFamily="2" charset="-122"/>
              </a:rPr>
              <a:t>二维多项式插值</a:t>
            </a:r>
            <a:r>
              <a:rPr lang="en-US" altLang="zh-CN" sz="2600" dirty="0">
                <a:solidFill>
                  <a:srgbClr val="FF0000"/>
                </a:solidFill>
                <a:latin typeface="华文楷体" panose="02010600040101010101" pitchFamily="2" charset="-122"/>
                <a:ea typeface="华文楷体" panose="02010600040101010101" pitchFamily="2" charset="-122"/>
              </a:rPr>
              <a:t>———</a:t>
            </a:r>
            <a:r>
              <a:rPr lang="en-US" altLang="ko-KR" sz="2600" cap="none" dirty="0">
                <a:solidFill>
                  <a:srgbClr val="FF0000"/>
                </a:solidFill>
                <a:latin typeface="华文楷体" panose="02010600040101010101" pitchFamily="2" charset="-122"/>
                <a:ea typeface="华文楷体" panose="02010600040101010101" pitchFamily="2" charset="-122"/>
              </a:rPr>
              <a:t>二维插值interp2</a:t>
            </a:r>
            <a:r>
              <a:rPr lang="zh-CN" altLang="en-US" sz="2600" cap="none" dirty="0">
                <a:solidFill>
                  <a:srgbClr val="FF0000"/>
                </a:solidFill>
                <a:latin typeface="华文楷体" panose="02010600040101010101" pitchFamily="2" charset="-122"/>
                <a:ea typeface="华文楷体" panose="02010600040101010101" pitchFamily="2" charset="-122"/>
              </a:rPr>
              <a:t>外插案例</a:t>
            </a:r>
            <a:endParaRPr lang="zh-CN" altLang="en-US" sz="2600" dirty="0">
              <a:solidFill>
                <a:srgbClr val="FF0000"/>
              </a:solidFill>
              <a:latin typeface="华文楷体" panose="02010600040101010101" pitchFamily="2" charset="-122"/>
              <a:ea typeface="华文楷体" panose="02010600040101010101" pitchFamily="2" charset="-122"/>
            </a:endParaRPr>
          </a:p>
        </p:txBody>
      </p:sp>
      <p:sp>
        <p:nvSpPr>
          <p:cNvPr id="8" name="文本框 7"/>
          <p:cNvSpPr txBox="1"/>
          <p:nvPr/>
        </p:nvSpPr>
        <p:spPr>
          <a:xfrm>
            <a:off x="1611611" y="1244740"/>
            <a:ext cx="7293457" cy="338554"/>
          </a:xfrm>
          <a:prstGeom prst="rect">
            <a:avLst/>
          </a:prstGeom>
          <a:noFill/>
        </p:spPr>
        <p:txBody>
          <a:bodyPr wrap="square">
            <a:spAutoFit/>
          </a:bodyPr>
          <a:lstStyle>
            <a:defPPr>
              <a:defRPr lang="zh-CN"/>
            </a:defPPr>
            <a:lvl1pPr>
              <a:defRPr sz="1600" b="0" i="0">
                <a:solidFill>
                  <a:srgbClr val="0070C0"/>
                </a:solidFill>
                <a:effectLst/>
                <a:latin typeface="微软雅黑" panose="020B0503020204020204" pitchFamily="34" charset="-122"/>
                <a:ea typeface="微软雅黑" panose="020B0503020204020204" pitchFamily="34" charset="-122"/>
              </a:defRPr>
            </a:lvl1pPr>
          </a:lstStyle>
          <a:p>
            <a:pPr algn="dist"/>
            <a:r>
              <a:rPr lang="en-US" altLang="zh-CN" dirty="0"/>
              <a:t>#</a:t>
            </a:r>
            <a:r>
              <a:rPr lang="zh-CN" altLang="en-US" dirty="0"/>
              <a:t>如插值点 </a:t>
            </a:r>
            <a:r>
              <a:rPr lang="en-US" altLang="zh-CN" dirty="0"/>
              <a:t>x </a:t>
            </a:r>
            <a:r>
              <a:rPr lang="en-US" altLang="zh-CN" dirty="0" err="1"/>
              <a:t>i</a:t>
            </a:r>
            <a:r>
              <a:rPr lang="zh-CN" altLang="en-US" dirty="0"/>
              <a:t>和 </a:t>
            </a:r>
            <a:r>
              <a:rPr lang="en-US" altLang="zh-CN" dirty="0" err="1"/>
              <a:t>yi</a:t>
            </a:r>
            <a:r>
              <a:rPr lang="en-US" altLang="zh-CN" dirty="0"/>
              <a:t> </a:t>
            </a:r>
            <a:r>
              <a:rPr lang="zh-CN" altLang="en-US" dirty="0"/>
              <a:t>是矩阵，使用 </a:t>
            </a:r>
            <a:r>
              <a:rPr lang="en-US" altLang="zh-CN" dirty="0">
                <a:solidFill>
                  <a:srgbClr val="FF0000"/>
                </a:solidFill>
                <a:hlinkClick r:id="rId3" action="ppaction://hlinkfile">
                  <a:extLst>
                    <a:ext uri="{A12FA001-AC4F-418D-AE19-62706E023703}">
                      <ahyp:hlinkClr xmlns:ahyp="http://schemas.microsoft.com/office/drawing/2018/hyperlinkcolor" val="tx"/>
                    </a:ext>
                  </a:extLst>
                </a:hlinkClick>
              </a:rPr>
              <a:t>meshgrid2</a:t>
            </a:r>
            <a:r>
              <a:rPr lang="zh-CN" altLang="en-US" dirty="0">
                <a:solidFill>
                  <a:srgbClr val="FF0000"/>
                </a:solidFill>
              </a:rPr>
              <a:t> </a:t>
            </a:r>
            <a:r>
              <a:rPr lang="zh-CN" altLang="en-US" dirty="0"/>
              <a:t>函数同时创建 </a:t>
            </a:r>
            <a:r>
              <a:rPr lang="en-US" altLang="zh-CN" dirty="0"/>
              <a:t>x </a:t>
            </a:r>
            <a:r>
              <a:rPr lang="en-US" altLang="zh-CN" dirty="0" err="1"/>
              <a:t>i</a:t>
            </a:r>
            <a:r>
              <a:rPr lang="zh-CN" altLang="en-US" dirty="0"/>
              <a:t>和 </a:t>
            </a:r>
            <a:r>
              <a:rPr lang="en-US" altLang="zh-CN" dirty="0" err="1"/>
              <a:t>yi</a:t>
            </a:r>
            <a:r>
              <a:rPr lang="zh-CN" altLang="en-US" dirty="0"/>
              <a:t>矩阵</a:t>
            </a:r>
          </a:p>
        </p:txBody>
      </p:sp>
      <p:sp>
        <p:nvSpPr>
          <p:cNvPr id="9" name="波形 8"/>
          <p:cNvSpPr/>
          <p:nvPr/>
        </p:nvSpPr>
        <p:spPr>
          <a:xfrm>
            <a:off x="19330" y="384983"/>
            <a:ext cx="875740"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b="1" dirty="0">
                <a:solidFill>
                  <a:srgbClr val="FFFF00"/>
                </a:solidFill>
                <a:latin typeface="微软雅黑" panose="020B0503020204020204" pitchFamily="34" charset="-122"/>
                <a:ea typeface="微软雅黑" panose="020B0503020204020204" pitchFamily="34" charset="-122"/>
              </a:rPr>
              <a:t>例</a:t>
            </a:r>
            <a:r>
              <a:rPr lang="en-US" altLang="zh-CN" b="1" dirty="0">
                <a:solidFill>
                  <a:srgbClr val="FFFF00"/>
                </a:solidFill>
                <a:latin typeface="微软雅黑" panose="020B0503020204020204" pitchFamily="34" charset="-122"/>
                <a:ea typeface="微软雅黑" panose="020B0503020204020204" pitchFamily="34" charset="-122"/>
              </a:rPr>
              <a:t>54-4.2</a:t>
            </a:r>
            <a:endParaRPr lang="ko-KR" altLang="en-US" b="1" dirty="0">
              <a:solidFill>
                <a:srgbClr val="FFFF00"/>
              </a:solidFill>
              <a:latin typeface="微软雅黑" panose="020B0503020204020204" pitchFamily="34" charset="-122"/>
              <a:ea typeface="微软雅黑" panose="020B0503020204020204" pitchFamily="34" charset="-122"/>
            </a:endParaRPr>
          </a:p>
        </p:txBody>
      </p:sp>
      <p:sp>
        <p:nvSpPr>
          <p:cNvPr id="11" name="矩形 10"/>
          <p:cNvSpPr/>
          <p:nvPr/>
        </p:nvSpPr>
        <p:spPr>
          <a:xfrm>
            <a:off x="539552" y="821073"/>
            <a:ext cx="2776604" cy="364897"/>
          </a:xfrm>
          <a:prstGeom prst="rect">
            <a:avLst/>
          </a:prstGeom>
          <a:solidFill>
            <a:schemeClr val="bg1"/>
          </a:solidFill>
          <a:scene3d>
            <a:camera prst="orthographicFront"/>
            <a:lightRig rig="threePt" dir="t"/>
          </a:scene3d>
          <a:sp3d>
            <a:contourClr>
              <a:srgbClr val="000000"/>
            </a:contourClr>
          </a:sp3d>
        </p:spPr>
        <p:txBody>
          <a:bodyPr vert="horz" wrap="square" lIns="0" tIns="0" rIns="0" bIns="0" anchor="t">
            <a:noAutofit/>
          </a:bodyPr>
          <a:lstStyle/>
          <a:p>
            <a:pPr eaLnBrk="0">
              <a:spcBef>
                <a:spcPts val="0"/>
              </a:spcBef>
              <a:spcAft>
                <a:spcPts val="0"/>
              </a:spcAft>
            </a:pPr>
            <a:r>
              <a:rPr lang="en-US" altLang="ko-KR" sz="2000" b="1" dirty="0">
                <a:solidFill>
                  <a:srgbClr val="0070C0"/>
                </a:solidFill>
                <a:latin typeface="微软雅黑" panose="020B0503020204020204" pitchFamily="34" charset="-122"/>
                <a:ea typeface="微软雅黑" panose="020B0503020204020204" pitchFamily="34" charset="-122"/>
              </a:rPr>
              <a:t>(3)</a:t>
            </a:r>
            <a:r>
              <a:rPr lang="zh-CN" altLang="en-US" sz="2000" b="1" dirty="0">
                <a:solidFill>
                  <a:srgbClr val="0070C0"/>
                </a:solidFill>
                <a:latin typeface="微软雅黑" panose="020B0503020204020204" pitchFamily="34" charset="-122"/>
                <a:ea typeface="微软雅黑" panose="020B0503020204020204" pitchFamily="34" charset="-122"/>
              </a:rPr>
              <a:t>外插数据绘制</a:t>
            </a:r>
            <a:r>
              <a:rPr lang="zh-CN" altLang="zh-CN" sz="2000" b="1" dirty="0">
                <a:solidFill>
                  <a:srgbClr val="0070C0"/>
                </a:solidFill>
                <a:latin typeface="微软雅黑" panose="020B0503020204020204" pitchFamily="34" charset="-122"/>
                <a:ea typeface="微软雅黑" panose="020B0503020204020204" pitchFamily="34" charset="-122"/>
              </a:rPr>
              <a:t>地貌图</a:t>
            </a:r>
            <a:endParaRPr lang="ko-KR" altLang="en-US" sz="2000" b="1" dirty="0">
              <a:solidFill>
                <a:srgbClr val="0070C0"/>
              </a:solidFill>
              <a:latin typeface="微软雅黑" panose="020B0503020204020204" pitchFamily="34" charset="-122"/>
            </a:endParaRPr>
          </a:p>
        </p:txBody>
      </p:sp>
      <p:sp>
        <p:nvSpPr>
          <p:cNvPr id="7" name="Rectangle 1"/>
          <p:cNvSpPr>
            <a:spLocks noChangeArrowheads="1"/>
          </p:cNvSpPr>
          <p:nvPr/>
        </p:nvSpPr>
        <p:spPr bwMode="auto">
          <a:xfrm>
            <a:off x="3424723" y="762711"/>
            <a:ext cx="5439092" cy="3416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pPr marL="177800" indent="-177800" algn="dist">
              <a:lnSpc>
                <a:spcPct val="90000"/>
              </a:lnSpc>
            </a:pPr>
            <a:r>
              <a:rPr lang="en-US" altLang="zh-CN" b="1"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zi</a:t>
            </a:r>
            <a:r>
              <a:rPr lang="zh-CN" altLang="zh-CN" b="1"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 = interp2(</a:t>
            </a:r>
            <a:r>
              <a:rPr lang="en-US" altLang="zh-CN" b="1" kern="0" dirty="0" err="1">
                <a:solidFill>
                  <a:schemeClr val="bg1"/>
                </a:solidFill>
                <a:latin typeface="Times New Roman" panose="02020603050405020304" pitchFamily="18" charset="0"/>
                <a:ea typeface="隶书" panose="02010509060101010101" pitchFamily="49" charset="-122"/>
                <a:cs typeface="Times New Roman" panose="02020603050405020304" pitchFamily="18" charset="0"/>
              </a:rPr>
              <a:t>x,y,z,xi,yi,m</a:t>
            </a:r>
            <a:r>
              <a:rPr lang="zh-CN" altLang="zh-CN" b="1" kern="0" dirty="0">
                <a:solidFill>
                  <a:schemeClr val="bg1"/>
                </a:solidFill>
                <a:latin typeface="Times New Roman" panose="02020603050405020304" pitchFamily="18" charset="0"/>
                <a:ea typeface="隶书" panose="02010509060101010101" pitchFamily="49" charset="-122"/>
                <a:cs typeface="Times New Roman" panose="02020603050405020304" pitchFamily="18" charset="0"/>
              </a:rPr>
              <a:t>ethod,extrapval) </a:t>
            </a:r>
          </a:p>
        </p:txBody>
      </p:sp>
      <p:pic>
        <p:nvPicPr>
          <p:cNvPr id="10" name="图片 9"/>
          <p:cNvPicPr>
            <a:picLocks noChangeAspect="1"/>
          </p:cNvPicPr>
          <p:nvPr/>
        </p:nvPicPr>
        <p:blipFill rotWithShape="1">
          <a:blip r:embed="rId4"/>
          <a:srcRect l="4567" t="22001" r="7439" b="2086"/>
          <a:stretch>
            <a:fillRect/>
          </a:stretch>
        </p:blipFill>
        <p:spPr>
          <a:xfrm>
            <a:off x="5912676" y="1961128"/>
            <a:ext cx="2992392" cy="214819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163672" y="3728465"/>
            <a:ext cx="8912039" cy="348813"/>
          </a:xfrm>
          <a:prstGeom prst="rect">
            <a:avLst/>
          </a:prstGeom>
          <a:solidFill>
            <a:schemeClr val="bg1"/>
          </a:solidFill>
        </p:spPr>
        <p:txBody>
          <a:bodyPr wrap="square">
            <a:spAutoFit/>
          </a:bodyPr>
          <a:lstStyle/>
          <a:p>
            <a:pPr>
              <a:lnSpc>
                <a:spcPts val="2000"/>
              </a:lnSpc>
            </a:pPr>
            <a:endParaRPr lang="en-US" altLang="zh-CN" b="1" dirty="0">
              <a:solidFill>
                <a:srgbClr val="00B0F0"/>
              </a:solidFill>
              <a:effectLst/>
              <a:latin typeface="Consolas" panose="020B0609020204030204" pitchFamily="49" charset="0"/>
            </a:endParaRPr>
          </a:p>
        </p:txBody>
      </p:sp>
      <p:sp>
        <p:nvSpPr>
          <p:cNvPr id="4" name="Rectangle 1"/>
          <p:cNvSpPr>
            <a:spLocks noGrp="1" noChangeArrowheads="1"/>
          </p:cNvSpPr>
          <p:nvPr>
            <p:ph idx="1"/>
          </p:nvPr>
        </p:nvSpPr>
        <p:spPr bwMode="auto">
          <a:xfrm>
            <a:off x="253209" y="2757066"/>
            <a:ext cx="7758702" cy="1829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indent="0">
              <a:lnSpc>
                <a:spcPts val="2400"/>
              </a:lnSpc>
              <a:buNone/>
            </a:pPr>
            <a:r>
              <a:rPr lang="en-US" altLang="zh-CN" sz="1800" dirty="0">
                <a:effectLst/>
                <a:latin typeface="Consolas" panose="020B0609020204030204" pitchFamily="49" charset="0"/>
              </a:rPr>
              <a:t>include(</a:t>
            </a:r>
            <a:r>
              <a:rPr lang="en-US" altLang="zh-CN" sz="1800" dirty="0" err="1">
                <a:effectLst/>
                <a:latin typeface="Consolas" panose="020B0609020204030204" pitchFamily="49" charset="0"/>
              </a:rPr>
              <a:t>pkgdir</a:t>
            </a:r>
            <a:r>
              <a:rPr lang="en-US" altLang="zh-CN" sz="1800" dirty="0">
                <a:effectLst/>
                <a:latin typeface="Consolas" panose="020B0609020204030204" pitchFamily="49" charset="0"/>
              </a:rPr>
              <a:t>(</a:t>
            </a:r>
            <a:r>
              <a:rPr lang="en-US" altLang="zh-CN" sz="1800" dirty="0" err="1">
                <a:effectLst/>
                <a:latin typeface="Consolas" panose="020B0609020204030204" pitchFamily="49" charset="0"/>
              </a:rPr>
              <a:t>TyMath</a:t>
            </a:r>
            <a:r>
              <a:rPr lang="en-US" altLang="zh-CN" sz="1800" dirty="0">
                <a:effectLst/>
                <a:latin typeface="Consolas" panose="020B0609020204030204" pitchFamily="49" charset="0"/>
              </a:rPr>
              <a:t>)*"/examples/docs/</a:t>
            </a:r>
            <a:r>
              <a:rPr lang="en-US" altLang="zh-CN" sz="1800" dirty="0" err="1">
                <a:effectLst/>
                <a:latin typeface="Consolas" panose="020B0609020204030204" pitchFamily="49" charset="0"/>
              </a:rPr>
              <a:t>flujet.jl</a:t>
            </a:r>
            <a:r>
              <a:rPr lang="en-US" altLang="zh-CN" sz="1800" dirty="0">
                <a:effectLst/>
                <a:latin typeface="Consolas" panose="020B0609020204030204" pitchFamily="49" charset="0"/>
              </a:rPr>
              <a:t>")</a:t>
            </a:r>
          </a:p>
          <a:p>
            <a:pPr marL="0" indent="0">
              <a:lnSpc>
                <a:spcPts val="2400"/>
              </a:lnSpc>
              <a:buNone/>
            </a:pPr>
            <a:r>
              <a:rPr lang="en-US" altLang="zh-CN" sz="1800" dirty="0">
                <a:effectLst/>
                <a:latin typeface="Consolas" panose="020B0609020204030204" pitchFamily="49" charset="0"/>
              </a:rPr>
              <a:t>V=X[200:300, 1:25] #</a:t>
            </a:r>
            <a:r>
              <a:rPr lang="zh-CN" altLang="en-US" sz="1800" dirty="0">
                <a:effectLst/>
                <a:latin typeface="Consolas" panose="020B0609020204030204" pitchFamily="49" charset="0"/>
              </a:rPr>
              <a:t>截取图形一小部分</a:t>
            </a:r>
          </a:p>
          <a:p>
            <a:pPr marL="0" indent="0">
              <a:lnSpc>
                <a:spcPts val="2400"/>
              </a:lnSpc>
              <a:buNone/>
            </a:pPr>
            <a:r>
              <a:rPr lang="en-US" altLang="zh-CN" sz="1800" dirty="0" err="1">
                <a:effectLst/>
                <a:latin typeface="Consolas" panose="020B0609020204030204" pitchFamily="49" charset="0"/>
              </a:rPr>
              <a:t>ims</a:t>
            </a:r>
            <a:r>
              <a:rPr lang="en-US" altLang="zh-CN" sz="1800" dirty="0">
                <a:effectLst/>
                <a:latin typeface="Consolas" panose="020B0609020204030204" pitchFamily="49" charset="0"/>
              </a:rPr>
              <a:t> =</a:t>
            </a:r>
            <a:r>
              <a:rPr lang="en-US" altLang="zh-CN" sz="1800" dirty="0" err="1">
                <a:effectLst/>
                <a:latin typeface="Consolas" panose="020B0609020204030204" pitchFamily="49" charset="0"/>
              </a:rPr>
              <a:t>imagesc</a:t>
            </a:r>
            <a:r>
              <a:rPr lang="en-US" altLang="zh-CN" sz="1800" dirty="0">
                <a:effectLst/>
                <a:latin typeface="Consolas" panose="020B0609020204030204" pitchFamily="49" charset="0"/>
              </a:rPr>
              <a:t>(V)  #</a:t>
            </a:r>
            <a:r>
              <a:rPr lang="zh-CN" altLang="en-US" sz="1800" dirty="0">
                <a:effectLst/>
                <a:latin typeface="Consolas" panose="020B0609020204030204" pitchFamily="49" charset="0"/>
              </a:rPr>
              <a:t>显示原图形</a:t>
            </a:r>
          </a:p>
          <a:p>
            <a:pPr marL="0" indent="0">
              <a:lnSpc>
                <a:spcPts val="2400"/>
              </a:lnSpc>
              <a:buNone/>
            </a:pPr>
            <a:r>
              <a:rPr lang="en-US" altLang="zh-CN" sz="1800" dirty="0" err="1">
                <a:latin typeface="Consolas" panose="020B0609020204030204" pitchFamily="49" charset="0"/>
              </a:rPr>
              <a:t>Vq</a:t>
            </a:r>
            <a:r>
              <a:rPr lang="en-US" altLang="zh-CN" sz="1800" dirty="0">
                <a:latin typeface="Consolas" panose="020B0609020204030204" pitchFamily="49" charset="0"/>
              </a:rPr>
              <a:t>=interp2(V,5)</a:t>
            </a:r>
            <a:endParaRPr lang="zh-CN" altLang="en-US" sz="1800" dirty="0">
              <a:latin typeface="Consolas" panose="020B0609020204030204" pitchFamily="49" charset="0"/>
            </a:endParaRPr>
          </a:p>
          <a:p>
            <a:pPr marL="0" indent="0">
              <a:lnSpc>
                <a:spcPts val="2400"/>
              </a:lnSpc>
              <a:buNone/>
            </a:pPr>
            <a:r>
              <a:rPr lang="en-US" altLang="zh-CN" sz="1800" dirty="0">
                <a:latin typeface="Consolas" panose="020B0609020204030204" pitchFamily="49" charset="0"/>
              </a:rPr>
              <a:t>figure()</a:t>
            </a:r>
          </a:p>
          <a:p>
            <a:pPr marL="0" indent="0">
              <a:lnSpc>
                <a:spcPts val="2400"/>
              </a:lnSpc>
              <a:buNone/>
            </a:pPr>
            <a:r>
              <a:rPr lang="en-US" altLang="zh-CN" sz="1800" dirty="0" err="1">
                <a:latin typeface="Consolas" panose="020B0609020204030204" pitchFamily="49" charset="0"/>
              </a:rPr>
              <a:t>ims</a:t>
            </a:r>
            <a:r>
              <a:rPr lang="en-US" altLang="zh-CN" sz="1800" dirty="0">
                <a:latin typeface="Consolas" panose="020B0609020204030204" pitchFamily="49" charset="0"/>
              </a:rPr>
              <a:t> = </a:t>
            </a:r>
            <a:r>
              <a:rPr lang="en-US" altLang="zh-CN" sz="1800" dirty="0" err="1">
                <a:latin typeface="Consolas" panose="020B0609020204030204" pitchFamily="49" charset="0"/>
              </a:rPr>
              <a:t>imagesc</a:t>
            </a:r>
            <a:r>
              <a:rPr lang="en-US" altLang="zh-CN" sz="1800" dirty="0">
                <a:latin typeface="Consolas" panose="020B0609020204030204" pitchFamily="49" charset="0"/>
              </a:rPr>
              <a:t>(</a:t>
            </a:r>
            <a:r>
              <a:rPr lang="en-US" altLang="zh-CN" sz="1800" dirty="0" err="1">
                <a:latin typeface="Consolas" panose="020B0609020204030204" pitchFamily="49" charset="0"/>
              </a:rPr>
              <a:t>Vq</a:t>
            </a:r>
            <a:r>
              <a:rPr lang="en-US" altLang="zh-CN" sz="1800" dirty="0">
                <a:latin typeface="Consolas" panose="020B0609020204030204" pitchFamily="49" charset="0"/>
              </a:rPr>
              <a:t>) </a:t>
            </a:r>
          </a:p>
        </p:txBody>
      </p:sp>
      <p:pic>
        <p:nvPicPr>
          <p:cNvPr id="19" name="图片 18"/>
          <p:cNvPicPr>
            <a:picLocks noChangeAspect="1"/>
          </p:cNvPicPr>
          <p:nvPr/>
        </p:nvPicPr>
        <p:blipFill rotWithShape="1">
          <a:blip r:embed="rId3"/>
          <a:srcRect l="5113" t="14690" r="31100" b="5201"/>
          <a:stretch>
            <a:fillRect/>
          </a:stretch>
        </p:blipFill>
        <p:spPr>
          <a:xfrm>
            <a:off x="4211959" y="3124473"/>
            <a:ext cx="2201417" cy="1470863"/>
          </a:xfrm>
          <a:prstGeom prst="rect">
            <a:avLst/>
          </a:prstGeom>
        </p:spPr>
      </p:pic>
      <p:pic>
        <p:nvPicPr>
          <p:cNvPr id="17" name="图片 16"/>
          <p:cNvPicPr>
            <a:picLocks noChangeAspect="1"/>
          </p:cNvPicPr>
          <p:nvPr/>
        </p:nvPicPr>
        <p:blipFill rotWithShape="1">
          <a:blip r:embed="rId4"/>
          <a:srcRect l="9440" t="15434" r="32304" b="8256"/>
          <a:stretch>
            <a:fillRect/>
          </a:stretch>
        </p:blipFill>
        <p:spPr>
          <a:xfrm>
            <a:off x="6941554" y="2751807"/>
            <a:ext cx="2051228" cy="1429481"/>
          </a:xfrm>
          <a:prstGeom prst="rect">
            <a:avLst/>
          </a:prstGeom>
        </p:spPr>
      </p:pic>
      <p:sp>
        <p:nvSpPr>
          <p:cNvPr id="21" name="文本框 20"/>
          <p:cNvSpPr txBox="1"/>
          <p:nvPr/>
        </p:nvSpPr>
        <p:spPr>
          <a:xfrm rot="18901569">
            <a:off x="5576421" y="3641163"/>
            <a:ext cx="1866659" cy="338554"/>
          </a:xfrm>
          <a:prstGeom prst="rect">
            <a:avLst/>
          </a:prstGeom>
          <a:noFill/>
        </p:spPr>
        <p:txBody>
          <a:bodyPr wrap="square">
            <a:spAutoFit/>
          </a:bodyPr>
          <a:lstStyle/>
          <a:p>
            <a:pPr algn="dist"/>
            <a:r>
              <a:rPr lang="zh-CN" altLang="en-US" sz="1600" b="1" i="0" dirty="0">
                <a:solidFill>
                  <a:schemeClr val="bg1"/>
                </a:solidFill>
                <a:effectLst/>
                <a:highlight>
                  <a:srgbClr val="FF0000"/>
                </a:highlight>
                <a:latin typeface="-apple-system"/>
              </a:rPr>
              <a:t>通过插值提高像素</a:t>
            </a:r>
            <a:endParaRPr lang="zh-CN" altLang="en-US" sz="1600" dirty="0">
              <a:solidFill>
                <a:schemeClr val="bg1"/>
              </a:solidFill>
              <a:highlight>
                <a:srgbClr val="FF0000"/>
              </a:highlight>
            </a:endParaRPr>
          </a:p>
        </p:txBody>
      </p:sp>
      <p:sp>
        <p:nvSpPr>
          <p:cNvPr id="9" name="内容占位符 1"/>
          <p:cNvSpPr txBox="1"/>
          <p:nvPr/>
        </p:nvSpPr>
        <p:spPr>
          <a:xfrm>
            <a:off x="202400" y="1560380"/>
            <a:ext cx="8985160" cy="599074"/>
          </a:xfrm>
          <a:prstGeom prst="rect">
            <a:avLst/>
          </a:prstGeom>
        </p:spPr>
        <p:txBody>
          <a:bodyPr/>
          <a:lstStyle>
            <a:lvl1pPr marL="177800" indent="-177800" algn="l" rtl="0" eaLnBrk="0" fontAlgn="base" hangingPunct="0">
              <a:lnSpc>
                <a:spcPct val="110000"/>
              </a:lnSpc>
              <a:spcBef>
                <a:spcPct val="0"/>
              </a:spcBef>
              <a:spcAft>
                <a:spcPct val="0"/>
              </a:spcAft>
              <a:buChar char="•"/>
              <a:defRPr sz="2800" b="1">
                <a:solidFill>
                  <a:srgbClr val="A50021"/>
                </a:solidFill>
                <a:latin typeface="+mn-lt"/>
                <a:ea typeface="+mn-ea"/>
                <a:cs typeface="+mn-cs"/>
              </a:defRPr>
            </a:lvl1pPr>
            <a:lvl2pPr marL="635000" indent="-177800" algn="l" rtl="0" eaLnBrk="0" fontAlgn="base" hangingPunct="0">
              <a:lnSpc>
                <a:spcPct val="110000"/>
              </a:lnSpc>
              <a:spcBef>
                <a:spcPct val="0"/>
              </a:spcBef>
              <a:spcAft>
                <a:spcPct val="0"/>
              </a:spcAft>
              <a:buChar char="•"/>
              <a:defRPr sz="2400" b="1">
                <a:solidFill>
                  <a:schemeClr val="tx1"/>
                </a:solidFill>
                <a:latin typeface="+mn-lt"/>
              </a:defRPr>
            </a:lvl2pPr>
            <a:lvl3pPr marL="1092200" indent="-177800" algn="l" rtl="0" eaLnBrk="0" fontAlgn="base" hangingPunct="0">
              <a:lnSpc>
                <a:spcPct val="110000"/>
              </a:lnSpc>
              <a:spcBef>
                <a:spcPct val="0"/>
              </a:spcBef>
              <a:spcAft>
                <a:spcPct val="0"/>
              </a:spcAft>
              <a:buChar char="•"/>
              <a:defRPr sz="2400" b="1">
                <a:solidFill>
                  <a:srgbClr val="002E5C"/>
                </a:solidFill>
                <a:latin typeface="+mn-lt"/>
              </a:defRPr>
            </a:lvl3pPr>
            <a:lvl4pPr marL="1549400" indent="-177800" algn="l" rtl="0" eaLnBrk="0" fontAlgn="base" hangingPunct="0">
              <a:lnSpc>
                <a:spcPct val="110000"/>
              </a:lnSpc>
              <a:spcBef>
                <a:spcPct val="0"/>
              </a:spcBef>
              <a:spcAft>
                <a:spcPct val="0"/>
              </a:spcAft>
              <a:buChar char="•"/>
              <a:defRPr sz="2000" b="1">
                <a:solidFill>
                  <a:srgbClr val="002E5C"/>
                </a:solidFill>
                <a:latin typeface="+mn-lt"/>
              </a:defRPr>
            </a:lvl4pPr>
            <a:lvl5pPr marL="2006600" indent="-177800" algn="l" rtl="0" eaLnBrk="0" fontAlgn="base" hangingPunct="0">
              <a:lnSpc>
                <a:spcPct val="110000"/>
              </a:lnSpc>
              <a:spcBef>
                <a:spcPct val="0"/>
              </a:spcBef>
              <a:spcAft>
                <a:spcPct val="0"/>
              </a:spcAft>
              <a:buChar char="•"/>
              <a:defRPr sz="2000" b="1">
                <a:solidFill>
                  <a:srgbClr val="002E5C"/>
                </a:solidFill>
                <a:latin typeface="+mn-lt"/>
              </a:defRPr>
            </a:lvl5pPr>
            <a:lvl6pPr marL="2463800" indent="-177800" algn="l" rtl="0" eaLnBrk="1" fontAlgn="base" hangingPunct="1">
              <a:lnSpc>
                <a:spcPct val="110000"/>
              </a:lnSpc>
              <a:spcBef>
                <a:spcPct val="0"/>
              </a:spcBef>
              <a:spcAft>
                <a:spcPct val="0"/>
              </a:spcAft>
              <a:buChar char="•"/>
              <a:defRPr b="1">
                <a:solidFill>
                  <a:srgbClr val="002E5C"/>
                </a:solidFill>
                <a:latin typeface="+mn-lt"/>
              </a:defRPr>
            </a:lvl6pPr>
            <a:lvl7pPr marL="2921000" indent="-177800" algn="l" rtl="0" eaLnBrk="1" fontAlgn="base" hangingPunct="1">
              <a:lnSpc>
                <a:spcPct val="110000"/>
              </a:lnSpc>
              <a:spcBef>
                <a:spcPct val="0"/>
              </a:spcBef>
              <a:spcAft>
                <a:spcPct val="0"/>
              </a:spcAft>
              <a:buChar char="•"/>
              <a:defRPr b="1">
                <a:solidFill>
                  <a:srgbClr val="002E5C"/>
                </a:solidFill>
                <a:latin typeface="+mn-lt"/>
              </a:defRPr>
            </a:lvl7pPr>
            <a:lvl8pPr marL="3378200" indent="-177800" algn="l" rtl="0" eaLnBrk="1" fontAlgn="base" hangingPunct="1">
              <a:lnSpc>
                <a:spcPct val="110000"/>
              </a:lnSpc>
              <a:spcBef>
                <a:spcPct val="0"/>
              </a:spcBef>
              <a:spcAft>
                <a:spcPct val="0"/>
              </a:spcAft>
              <a:buChar char="•"/>
              <a:defRPr b="1">
                <a:solidFill>
                  <a:srgbClr val="002E5C"/>
                </a:solidFill>
                <a:latin typeface="+mn-lt"/>
              </a:defRPr>
            </a:lvl8pPr>
            <a:lvl9pPr marL="3835400" indent="-177800" algn="l" rtl="0" eaLnBrk="1" fontAlgn="base" hangingPunct="1">
              <a:lnSpc>
                <a:spcPct val="110000"/>
              </a:lnSpc>
              <a:spcBef>
                <a:spcPct val="0"/>
              </a:spcBef>
              <a:spcAft>
                <a:spcPct val="0"/>
              </a:spcAft>
              <a:buChar char="•"/>
              <a:defRPr b="1">
                <a:solidFill>
                  <a:srgbClr val="002E5C"/>
                </a:solidFill>
                <a:latin typeface="+mn-lt"/>
              </a:defRPr>
            </a:lvl9pPr>
          </a:lstStyle>
          <a:p>
            <a:pPr>
              <a:lnSpc>
                <a:spcPts val="2600"/>
              </a:lnSpc>
              <a:buFont typeface="Wingdings" panose="05000000000000000000" pitchFamily="2" charset="2"/>
              <a:buChar char="p"/>
            </a:pPr>
            <a:r>
              <a:rPr lang="zh-CN" altLang="en-US" sz="1800" kern="0" dirty="0">
                <a:solidFill>
                  <a:srgbClr val="0070C0"/>
                </a:solidFill>
                <a:latin typeface="微软雅黑" panose="020B0503020204020204" pitchFamily="34" charset="-122"/>
                <a:ea typeface="微软雅黑" panose="020B0503020204020204" pitchFamily="34" charset="-122"/>
              </a:rPr>
              <a:t> 细化因子</a:t>
            </a:r>
            <a:r>
              <a:rPr lang="en-US" altLang="zh-CN" sz="1800" kern="0" dirty="0">
                <a:solidFill>
                  <a:srgbClr val="0070C0"/>
                </a:solidFill>
                <a:latin typeface="微软雅黑" panose="020B0503020204020204" pitchFamily="34" charset="-122"/>
                <a:ea typeface="微软雅黑" panose="020B0503020204020204" pitchFamily="34" charset="-122"/>
              </a:rPr>
              <a:t>k </a:t>
            </a:r>
            <a:r>
              <a:rPr lang="zh-CN" altLang="en-US" sz="1800" kern="0" dirty="0">
                <a:solidFill>
                  <a:srgbClr val="0070C0"/>
                </a:solidFill>
                <a:latin typeface="微软雅黑" panose="020B0503020204020204" pitchFamily="34" charset="-122"/>
                <a:ea typeface="微软雅黑" panose="020B0503020204020204" pitchFamily="34" charset="-122"/>
              </a:rPr>
              <a:t>：</a:t>
            </a:r>
            <a:r>
              <a:rPr lang="zh-CN" altLang="en-US" sz="1800" b="0" kern="0" dirty="0">
                <a:solidFill>
                  <a:srgbClr val="0070C0"/>
                </a:solidFill>
                <a:latin typeface="微软雅黑" panose="020B0503020204020204" pitchFamily="34" charset="-122"/>
                <a:ea typeface="微软雅黑" panose="020B0503020204020204" pitchFamily="34" charset="-122"/>
              </a:rPr>
              <a:t>将每个维度上样本值之间的间隔反复分割 </a:t>
            </a:r>
            <a:r>
              <a:rPr lang="en-US" altLang="zh-CN" sz="1800" b="0" kern="0" dirty="0">
                <a:solidFill>
                  <a:srgbClr val="0070C0"/>
                </a:solidFill>
                <a:latin typeface="微软雅黑" panose="020B0503020204020204" pitchFamily="34" charset="-122"/>
                <a:ea typeface="微软雅黑" panose="020B0503020204020204" pitchFamily="34" charset="-122"/>
                <a:hlinkClick r:id="rId5" action="ppaction://hlinkfile">
                  <a:extLst>
                    <a:ext uri="{A12FA001-AC4F-418D-AE19-62706E023703}">
                      <ahyp:hlinkClr xmlns:ahyp="http://schemas.microsoft.com/office/drawing/2018/hyperlinkcolor" val="tx"/>
                    </a:ext>
                  </a:extLst>
                </a:hlinkClick>
              </a:rPr>
              <a:t>k</a:t>
            </a:r>
            <a:r>
              <a:rPr lang="zh-CN" altLang="en-US" sz="1800" b="0" kern="0" dirty="0">
                <a:solidFill>
                  <a:srgbClr val="0070C0"/>
                </a:solidFill>
                <a:latin typeface="微软雅黑" panose="020B0503020204020204" pitchFamily="34" charset="-122"/>
                <a:ea typeface="微软雅黑" panose="020B0503020204020204" pitchFamily="34" charset="-122"/>
              </a:rPr>
              <a:t> 次，形成细化网格，这将在样本值之间生成 </a:t>
            </a:r>
            <a:r>
              <a:rPr lang="en-US" altLang="zh-CN" sz="1800" b="0" kern="0" dirty="0">
                <a:solidFill>
                  <a:srgbClr val="0070C0"/>
                </a:solidFill>
                <a:latin typeface="微软雅黑" panose="020B0503020204020204" pitchFamily="34" charset="-122"/>
                <a:ea typeface="微软雅黑" panose="020B0503020204020204" pitchFamily="34" charset="-122"/>
              </a:rPr>
              <a:t>2^k-1 </a:t>
            </a:r>
            <a:r>
              <a:rPr lang="zh-CN" altLang="en-US" sz="1800" b="0" kern="0" dirty="0">
                <a:solidFill>
                  <a:srgbClr val="0070C0"/>
                </a:solidFill>
                <a:latin typeface="微软雅黑" panose="020B0503020204020204" pitchFamily="34" charset="-122"/>
                <a:ea typeface="微软雅黑" panose="020B0503020204020204" pitchFamily="34" charset="-122"/>
              </a:rPr>
              <a:t>个插值点。</a:t>
            </a:r>
            <a:endParaRPr lang="zh-CN" altLang="en-US" sz="1800" kern="0" dirty="0">
              <a:solidFill>
                <a:srgbClr val="0070C0"/>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1313639" y="149441"/>
            <a:ext cx="6516722" cy="492443"/>
          </a:xfrm>
          <a:prstGeom prst="rect">
            <a:avLst/>
          </a:prstGeom>
          <a:solidFill>
            <a:schemeClr val="bg1"/>
          </a:solidFill>
        </p:spPr>
        <p:txBody>
          <a:bodyPr wrap="square">
            <a:spAutoFit/>
          </a:bodyPr>
          <a:lstStyle/>
          <a:p>
            <a:r>
              <a:rPr lang="en-US" altLang="zh-CN" sz="2600" b="1" kern="0" dirty="0">
                <a:solidFill>
                  <a:srgbClr val="002060"/>
                </a:solidFill>
                <a:latin typeface="华文楷体" panose="02010600040101010101" pitchFamily="2" charset="-122"/>
                <a:ea typeface="华文楷体" panose="02010600040101010101" pitchFamily="2" charset="-122"/>
              </a:rPr>
              <a:t>§5.4.3 </a:t>
            </a:r>
            <a:r>
              <a:rPr lang="zh-CN" altLang="en-US" sz="2600" b="1" kern="0" dirty="0">
                <a:solidFill>
                  <a:srgbClr val="002060"/>
                </a:solidFill>
                <a:latin typeface="华文楷体" panose="02010600040101010101" pitchFamily="2" charset="-122"/>
                <a:ea typeface="华文楷体" panose="02010600040101010101" pitchFamily="2" charset="-122"/>
              </a:rPr>
              <a:t>二维多项式插值</a:t>
            </a:r>
            <a:r>
              <a:rPr lang="en-US" altLang="zh-CN" sz="2600" b="1" dirty="0">
                <a:solidFill>
                  <a:srgbClr val="FF0000"/>
                </a:solidFill>
                <a:latin typeface="华文楷体" panose="02010600040101010101" pitchFamily="2" charset="-122"/>
                <a:ea typeface="华文楷体" panose="02010600040101010101" pitchFamily="2" charset="-122"/>
              </a:rPr>
              <a:t>——</a:t>
            </a:r>
            <a:r>
              <a:rPr lang="en-US" altLang="ko-KR" sz="2600" b="1" cap="none" dirty="0">
                <a:solidFill>
                  <a:srgbClr val="FF0000"/>
                </a:solidFill>
                <a:latin typeface="华文楷体" panose="02010600040101010101" pitchFamily="2" charset="-122"/>
                <a:ea typeface="华文楷体" panose="02010600040101010101" pitchFamily="2" charset="-122"/>
              </a:rPr>
              <a:t>二维插值interp2</a:t>
            </a:r>
            <a:endParaRPr lang="zh-CN" altLang="en-US" sz="2600" b="1" dirty="0">
              <a:solidFill>
                <a:srgbClr val="FF0000"/>
              </a:solidFill>
              <a:latin typeface="华文楷体" panose="02010600040101010101" pitchFamily="2" charset="-122"/>
              <a:ea typeface="华文楷体" panose="02010600040101010101" pitchFamily="2" charset="-122"/>
            </a:endParaRPr>
          </a:p>
        </p:txBody>
      </p:sp>
      <p:sp>
        <p:nvSpPr>
          <p:cNvPr id="13" name="文本框 12"/>
          <p:cNvSpPr txBox="1"/>
          <p:nvPr/>
        </p:nvSpPr>
        <p:spPr>
          <a:xfrm>
            <a:off x="6619073" y="4226004"/>
            <a:ext cx="2489431" cy="369332"/>
          </a:xfrm>
          <a:prstGeom prst="rect">
            <a:avLst/>
          </a:prstGeom>
          <a:noFill/>
        </p:spPr>
        <p:txBody>
          <a:bodyPr wrap="square">
            <a:prstTxWarp prst="textTriangle">
              <a:avLst/>
            </a:prstTxWarp>
            <a:spAutoFit/>
          </a:bodyPr>
          <a:lstStyle/>
          <a:p>
            <a:r>
              <a:rPr lang="zh-CN" altLang="zh-CN" sz="1800" b="1" dirty="0">
                <a:solidFill>
                  <a:schemeClr val="bg1"/>
                </a:solidFill>
                <a:effectLst/>
                <a:highlight>
                  <a:srgbClr val="3399FF"/>
                </a:highlight>
                <a:ea typeface="宋体" panose="02010600030101010101" pitchFamily="2" charset="-122"/>
                <a:cs typeface="Times New Roman" panose="02020603050405020304" pitchFamily="18" charset="0"/>
              </a:rPr>
              <a:t>插值法提高图片分辨率</a:t>
            </a:r>
            <a:endParaRPr lang="zh-CN" altLang="en-US" b="1" dirty="0">
              <a:solidFill>
                <a:schemeClr val="bg1"/>
              </a:solidFill>
              <a:highlight>
                <a:srgbClr val="3399FF"/>
              </a:highlight>
            </a:endParaRPr>
          </a:p>
        </p:txBody>
      </p:sp>
      <p:sp>
        <p:nvSpPr>
          <p:cNvPr id="16" name="文本框 15"/>
          <p:cNvSpPr txBox="1"/>
          <p:nvPr/>
        </p:nvSpPr>
        <p:spPr>
          <a:xfrm>
            <a:off x="899126" y="2354520"/>
            <a:ext cx="8176585" cy="338554"/>
          </a:xfrm>
          <a:prstGeom prst="rect">
            <a:avLst/>
          </a:prstGeom>
          <a:solidFill>
            <a:schemeClr val="bg1"/>
          </a:solidFill>
        </p:spPr>
        <p:txBody>
          <a:bodyPr wrap="square">
            <a:spAutoFit/>
          </a:bodyPr>
          <a:lstStyle/>
          <a:p>
            <a:pPr algn="dist"/>
            <a:r>
              <a:rPr lang="zh-CN" altLang="en-US" sz="1600" b="1" i="0" dirty="0">
                <a:solidFill>
                  <a:srgbClr val="0070C0"/>
                </a:solidFill>
                <a:effectLst/>
                <a:latin typeface="微软雅黑" panose="020B0503020204020204" pitchFamily="34" charset="-122"/>
                <a:ea typeface="微软雅黑" panose="020B0503020204020204" pitchFamily="34" charset="-122"/>
              </a:rPr>
              <a:t>图像插值可将低分辨率图像转变高分辨率，是医学图像处理过程重要环节</a:t>
            </a:r>
            <a:r>
              <a:rPr lang="en-US" altLang="zh-CN" sz="1600" b="1" i="0" dirty="0">
                <a:solidFill>
                  <a:srgbClr val="0070C0"/>
                </a:solidFill>
                <a:effectLst/>
                <a:latin typeface="微软雅黑" panose="020B0503020204020204" pitchFamily="34" charset="-122"/>
                <a:ea typeface="微软雅黑" panose="020B0503020204020204" pitchFamily="34" charset="-122"/>
              </a:rPr>
              <a:t>,</a:t>
            </a:r>
            <a:r>
              <a:rPr lang="zh-CN" altLang="en-US" sz="1600" b="1" i="0" dirty="0">
                <a:solidFill>
                  <a:srgbClr val="0070C0"/>
                </a:solidFill>
                <a:effectLst/>
                <a:latin typeface="微软雅黑" panose="020B0503020204020204" pitchFamily="34" charset="-122"/>
                <a:ea typeface="微软雅黑" panose="020B0503020204020204" pitchFamily="34" charset="-122"/>
              </a:rPr>
              <a:t>特别是三维见图</a:t>
            </a:r>
            <a:endParaRPr lang="zh-CN" altLang="en-US" sz="1600" b="1" dirty="0">
              <a:solidFill>
                <a:srgbClr val="0070C0"/>
              </a:solidFill>
            </a:endParaRPr>
          </a:p>
        </p:txBody>
      </p:sp>
      <p:sp>
        <p:nvSpPr>
          <p:cNvPr id="2" name="箭头: 上 1"/>
          <p:cNvSpPr/>
          <p:nvPr/>
        </p:nvSpPr>
        <p:spPr bwMode="auto">
          <a:xfrm rot="13534919">
            <a:off x="6290163" y="3104717"/>
            <a:ext cx="246428" cy="429082"/>
          </a:xfrm>
          <a:prstGeom prst="upArrow">
            <a:avLst/>
          </a:prstGeom>
          <a:ln>
            <a:solidFill>
              <a:srgbClr val="FF0000"/>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spAutoFit/>
          </a:bodyPr>
          <a:lstStyle/>
          <a:p>
            <a:pPr marL="177800" marR="0" indent="-177800" algn="ctr" defTabSz="914400" rtl="0" eaLnBrk="0" fontAlgn="base" latinLnBrk="0" hangingPunct="0">
              <a:lnSpc>
                <a:spcPct val="110000"/>
              </a:lnSpc>
              <a:spcBef>
                <a:spcPct val="0"/>
              </a:spcBef>
              <a:spcAft>
                <a:spcPct val="0"/>
              </a:spcAft>
              <a:buClrTx/>
              <a:buSzTx/>
              <a:buFontTx/>
              <a:buNone/>
            </a:pPr>
            <a:endParaRPr kumimoji="0" lang="zh-CN" altLang="en-US" sz="1600" b="1" i="0" u="none" strike="noStrike" cap="none" normalizeH="0" baseline="0">
              <a:ln>
                <a:noFill/>
              </a:ln>
              <a:solidFill>
                <a:schemeClr val="tx1"/>
              </a:solidFill>
              <a:effectLst/>
              <a:latin typeface="Times New Roman" panose="02020603050405020304" pitchFamily="18" charset="0"/>
            </a:endParaRPr>
          </a:p>
        </p:txBody>
      </p:sp>
      <p:sp>
        <p:nvSpPr>
          <p:cNvPr id="14" name="波形 13"/>
          <p:cNvSpPr/>
          <p:nvPr/>
        </p:nvSpPr>
        <p:spPr>
          <a:xfrm>
            <a:off x="235680" y="2310791"/>
            <a:ext cx="712068" cy="40497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600" b="1" dirty="0">
                <a:solidFill>
                  <a:srgbClr val="FFFF00"/>
                </a:solidFill>
                <a:latin typeface="微软雅黑" panose="020B0503020204020204" pitchFamily="34" charset="-122"/>
                <a:ea typeface="微软雅黑" panose="020B0503020204020204" pitchFamily="34" charset="-122"/>
              </a:rPr>
              <a:t>例</a:t>
            </a:r>
            <a:r>
              <a:rPr lang="en-US" altLang="zh-CN" sz="1600" b="1" dirty="0">
                <a:solidFill>
                  <a:srgbClr val="FFFF00"/>
                </a:solidFill>
                <a:latin typeface="微软雅黑" panose="020B0503020204020204" pitchFamily="34" charset="-122"/>
                <a:ea typeface="微软雅黑" panose="020B0503020204020204" pitchFamily="34" charset="-122"/>
              </a:rPr>
              <a:t>54-5</a:t>
            </a:r>
            <a:endParaRPr lang="ko-KR" altLang="en-US" sz="1600" b="1" dirty="0">
              <a:solidFill>
                <a:srgbClr val="FFFF00"/>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202401" y="1150762"/>
            <a:ext cx="4441608" cy="397353"/>
          </a:xfrm>
          <a:prstGeom prst="rect">
            <a:avLst/>
          </a:prstGeom>
          <a:noFill/>
        </p:spPr>
        <p:txBody>
          <a:bodyPr wrap="square">
            <a:spAutoFit/>
          </a:bodyPr>
          <a:lstStyle/>
          <a:p>
            <a:pPr>
              <a:lnSpc>
                <a:spcPts val="2600"/>
              </a:lnSpc>
              <a:buFont typeface="Wingdings" panose="05000000000000000000" pitchFamily="2" charset="2"/>
              <a:buChar char="p"/>
            </a:pPr>
            <a:r>
              <a:rPr lang="zh-CN" altLang="en-US" sz="1800" b="1" kern="0" dirty="0">
                <a:solidFill>
                  <a:srgbClr val="0070C0"/>
                </a:solidFill>
                <a:latin typeface="微软雅黑" panose="020B0503020204020204" pitchFamily="34" charset="-122"/>
                <a:ea typeface="微软雅黑" panose="020B0503020204020204" pitchFamily="34" charset="-122"/>
              </a:rPr>
              <a:t> 样本值</a:t>
            </a:r>
            <a:r>
              <a:rPr lang="en-US" altLang="zh-CN" sz="1800" b="1" kern="0" dirty="0">
                <a:solidFill>
                  <a:srgbClr val="0070C0"/>
                </a:solidFill>
                <a:latin typeface="微软雅黑" panose="020B0503020204020204" pitchFamily="34" charset="-122"/>
                <a:ea typeface="微软雅黑" panose="020B0503020204020204" pitchFamily="34" charset="-122"/>
              </a:rPr>
              <a:t>V </a:t>
            </a:r>
            <a:r>
              <a:rPr lang="en-US" altLang="zh-CN" sz="1800" kern="0" dirty="0">
                <a:solidFill>
                  <a:srgbClr val="0070C0"/>
                </a:solidFill>
                <a:latin typeface="微软雅黑" panose="020B0503020204020204" pitchFamily="34" charset="-122"/>
                <a:ea typeface="微软雅黑" panose="020B0503020204020204" pitchFamily="34" charset="-122"/>
              </a:rPr>
              <a:t>:</a:t>
            </a:r>
            <a:r>
              <a:rPr lang="en-US" altLang="zh-CN" sz="1800" b="0" kern="0" dirty="0">
                <a:solidFill>
                  <a:srgbClr val="0070C0"/>
                </a:solidFill>
                <a:latin typeface="微软雅黑" panose="020B0503020204020204" pitchFamily="34" charset="-122"/>
                <a:ea typeface="微软雅黑" panose="020B0503020204020204" pitchFamily="34" charset="-122"/>
              </a:rPr>
              <a:t>m*n</a:t>
            </a:r>
            <a:r>
              <a:rPr lang="zh-CN" altLang="en-US" sz="1800" b="0" kern="0" dirty="0">
                <a:solidFill>
                  <a:srgbClr val="0070C0"/>
                </a:solidFill>
                <a:latin typeface="微软雅黑" panose="020B0503020204020204" pitchFamily="34" charset="-122"/>
                <a:ea typeface="微软雅黑" panose="020B0503020204020204" pitchFamily="34" charset="-122"/>
              </a:rPr>
              <a:t>实矩阵</a:t>
            </a:r>
            <a:r>
              <a:rPr lang="en-US" altLang="zh-CN" sz="1800" b="0" kern="0" dirty="0">
                <a:solidFill>
                  <a:srgbClr val="0070C0"/>
                </a:solidFill>
                <a:latin typeface="微软雅黑" panose="020B0503020204020204" pitchFamily="34" charset="-122"/>
                <a:ea typeface="微软雅黑" panose="020B0503020204020204" pitchFamily="34" charset="-122"/>
              </a:rPr>
              <a:t>v, </a:t>
            </a:r>
            <a:r>
              <a:rPr lang="zh-CN" altLang="en-US" kern="0" dirty="0">
                <a:solidFill>
                  <a:srgbClr val="0070C0"/>
                </a:solidFill>
                <a:latin typeface="微软雅黑" panose="020B0503020204020204" pitchFamily="34" charset="-122"/>
                <a:ea typeface="微软雅黑" panose="020B0503020204020204" pitchFamily="34" charset="-122"/>
              </a:rPr>
              <a:t>双下标索引</a:t>
            </a:r>
            <a:r>
              <a:rPr lang="en-US" altLang="zh-CN" sz="1800" b="0" i="0" dirty="0">
                <a:solidFill>
                  <a:srgbClr val="0070C0"/>
                </a:solidFill>
                <a:effectLst/>
                <a:latin typeface="微软雅黑" panose="020B0503020204020204" pitchFamily="34" charset="-122"/>
                <a:ea typeface="微软雅黑" panose="020B0503020204020204" pitchFamily="34" charset="-122"/>
              </a:rPr>
              <a:t>[</a:t>
            </a:r>
            <a:r>
              <a:rPr lang="en-US" altLang="zh-CN" sz="1800" b="0" i="0" dirty="0" err="1">
                <a:solidFill>
                  <a:srgbClr val="0070C0"/>
                </a:solidFill>
                <a:effectLst/>
                <a:latin typeface="微软雅黑" panose="020B0503020204020204" pitchFamily="34" charset="-122"/>
                <a:ea typeface="微软雅黑" panose="020B0503020204020204" pitchFamily="34" charset="-122"/>
              </a:rPr>
              <a:t>i,j</a:t>
            </a:r>
            <a:r>
              <a:rPr lang="en-US" altLang="zh-CN" sz="1800" b="0" i="0" dirty="0">
                <a:solidFill>
                  <a:srgbClr val="0070C0"/>
                </a:solidFill>
                <a:effectLst/>
                <a:latin typeface="微软雅黑" panose="020B0503020204020204" pitchFamily="34" charset="-122"/>
                <a:ea typeface="微软雅黑" panose="020B0503020204020204" pitchFamily="34" charset="-122"/>
              </a:rPr>
              <a:t>]</a:t>
            </a:r>
            <a:r>
              <a:rPr lang="en-US" altLang="zh-CN" dirty="0">
                <a:solidFill>
                  <a:srgbClr val="0070C0"/>
                </a:solidFill>
                <a:latin typeface="微软雅黑" panose="020B0503020204020204" pitchFamily="34" charset="-122"/>
                <a:ea typeface="微软雅黑" panose="020B0503020204020204" pitchFamily="34" charset="-122"/>
              </a:rPr>
              <a:t>,</a:t>
            </a:r>
            <a:r>
              <a:rPr lang="en-US" altLang="zh-CN" sz="1800" b="0" i="0" dirty="0">
                <a:solidFill>
                  <a:srgbClr val="0070C0"/>
                </a:solidFill>
                <a:effectLst/>
                <a:latin typeface="微软雅黑" panose="020B0503020204020204" pitchFamily="34" charset="-122"/>
                <a:ea typeface="微软雅黑" panose="020B0503020204020204" pitchFamily="34" charset="-122"/>
              </a:rPr>
              <a:t> </a:t>
            </a:r>
            <a:endParaRPr lang="en-US" altLang="zh-CN" sz="1800" kern="0" dirty="0">
              <a:solidFill>
                <a:srgbClr val="0070C0"/>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235680" y="700141"/>
            <a:ext cx="3760255" cy="400110"/>
          </a:xfrm>
          <a:prstGeom prst="rect">
            <a:avLst/>
          </a:prstGeom>
          <a:solidFill>
            <a:schemeClr val="bg1"/>
          </a:solidFill>
        </p:spPr>
        <p:txBody>
          <a:bodyPr wrap="square">
            <a:spAutoFit/>
          </a:bodyPr>
          <a:lstStyle/>
          <a:p>
            <a:r>
              <a:rPr lang="zh-CN" altLang="en-US" sz="2000" b="1" dirty="0">
                <a:solidFill>
                  <a:srgbClr val="0070C0"/>
                </a:solidFill>
                <a:latin typeface="微软雅黑" panose="020B0503020204020204" pitchFamily="34" charset="-122"/>
                <a:ea typeface="微软雅黑" panose="020B0503020204020204" pitchFamily="34" charset="-122"/>
              </a:rPr>
              <a:t>二维插值</a:t>
            </a:r>
            <a:r>
              <a:rPr lang="en-US" altLang="zh-CN" sz="2000" b="1" dirty="0">
                <a:solidFill>
                  <a:srgbClr val="0070C0"/>
                </a:solidFill>
                <a:latin typeface="微软雅黑" panose="020B0503020204020204" pitchFamily="34" charset="-122"/>
                <a:ea typeface="微软雅黑" panose="020B0503020204020204" pitchFamily="34" charset="-122"/>
              </a:rPr>
              <a:t>interpr2</a:t>
            </a:r>
            <a:r>
              <a:rPr lang="zh-CN" altLang="en-US" sz="2000" b="1" dirty="0">
                <a:solidFill>
                  <a:srgbClr val="0070C0"/>
                </a:solidFill>
                <a:latin typeface="微软雅黑" panose="020B0503020204020204" pitchFamily="34" charset="-122"/>
                <a:ea typeface="微软雅黑" panose="020B0503020204020204" pitchFamily="34" charset="-122"/>
              </a:rPr>
              <a:t>的调用格式</a:t>
            </a:r>
            <a:endParaRPr lang="zh-CN" altLang="en-US" sz="2000" b="1" dirty="0">
              <a:solidFill>
                <a:srgbClr val="0070C0"/>
              </a:solidFill>
            </a:endParaRPr>
          </a:p>
        </p:txBody>
      </p:sp>
      <p:sp>
        <p:nvSpPr>
          <p:cNvPr id="11" name="Text Box 3"/>
          <p:cNvSpPr txBox="1"/>
          <p:nvPr/>
        </p:nvSpPr>
        <p:spPr bwMode="auto">
          <a:xfrm>
            <a:off x="3856391" y="731480"/>
            <a:ext cx="3456384" cy="341632"/>
          </a:xfrm>
          <a:prstGeom prst="rect">
            <a:avLst/>
          </a:prstGeom>
          <a:solidFill>
            <a:srgbClr val="0070C0"/>
          </a:solidFill>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defPPr>
              <a:defRPr lang="zh-CN"/>
            </a:defPPr>
            <a:lvl1pPr marL="177800" indent="-177800">
              <a:lnSpc>
                <a:spcPct val="90000"/>
              </a:lnSpc>
              <a:defRPr sz="2800" b="1" kern="0">
                <a:solidFill>
                  <a:schemeClr val="bg1"/>
                </a:solidFill>
                <a:effectLst>
                  <a:outerShdw blurRad="38100" dist="38100" dir="2700000" algn="tl">
                    <a:srgbClr val="000000">
                      <a:alpha val="43137"/>
                    </a:srgbClr>
                  </a:outerShdw>
                </a:effectLst>
                <a:latin typeface="Times New Roman" panose="02020603050405020304" pitchFamily="18" charset="0"/>
                <a:ea typeface="隶书" panose="02010509060101010101" pitchFamily="49" charset="-122"/>
                <a:cs typeface="Times New Roman" panose="02020603050405020304" pitchFamily="18" charset="0"/>
              </a:defRPr>
            </a:lvl1pPr>
          </a:lstStyle>
          <a:p>
            <a:pPr algn="dist"/>
            <a:r>
              <a:rPr lang="en-US" altLang="ko-KR" sz="1800" dirty="0">
                <a:effectLst/>
              </a:rPr>
              <a:t> vi=interp2(</a:t>
            </a:r>
            <a:r>
              <a:rPr lang="en-US" altLang="zh-CN" sz="1800" dirty="0" err="1">
                <a:effectLst/>
              </a:rPr>
              <a:t>v</a:t>
            </a:r>
            <a:r>
              <a:rPr lang="en-US" altLang="ko-KR" sz="1800" dirty="0" err="1">
                <a:effectLst/>
              </a:rPr>
              <a:t>,k</a:t>
            </a:r>
            <a:r>
              <a:rPr lang="zh-CN" altLang="en-US" sz="1800" dirty="0">
                <a:effectLst/>
              </a:rPr>
              <a:t>）</a:t>
            </a:r>
            <a:endParaRPr lang="ko-KR" altLang="en-US" sz="1800" dirty="0">
              <a:effectLst/>
            </a:endParaRPr>
          </a:p>
        </p:txBody>
      </p:sp>
      <p:sp>
        <p:nvSpPr>
          <p:cNvPr id="22" name="文本框 21"/>
          <p:cNvSpPr txBox="1"/>
          <p:nvPr/>
        </p:nvSpPr>
        <p:spPr>
          <a:xfrm>
            <a:off x="4517782" y="1164534"/>
            <a:ext cx="4669778" cy="338554"/>
          </a:xfrm>
          <a:prstGeom prst="rect">
            <a:avLst/>
          </a:prstGeom>
          <a:noFill/>
        </p:spPr>
        <p:txBody>
          <a:bodyPr wrap="square">
            <a:spAutoFit/>
          </a:bodyPr>
          <a:lstStyle/>
          <a:p>
            <a:r>
              <a:rPr lang="zh-CN" altLang="en-US" sz="1600" b="0" i="0" dirty="0">
                <a:solidFill>
                  <a:srgbClr val="0070C0"/>
                </a:solidFill>
                <a:effectLst/>
                <a:latin typeface="微软雅黑" panose="020B0503020204020204" pitchFamily="34" charset="-122"/>
                <a:ea typeface="微软雅黑" panose="020B0503020204020204" pitchFamily="34" charset="-122"/>
              </a:rPr>
              <a:t>行</a:t>
            </a:r>
            <a:r>
              <a:rPr lang="en-US" altLang="zh-CN" sz="1600" b="0" i="0" dirty="0" err="1">
                <a:solidFill>
                  <a:srgbClr val="0070C0"/>
                </a:solidFill>
                <a:effectLst/>
                <a:latin typeface="微软雅黑" panose="020B0503020204020204" pitchFamily="34" charset="-122"/>
                <a:ea typeface="微软雅黑" panose="020B0503020204020204" pitchFamily="34" charset="-122"/>
              </a:rPr>
              <a:t>i</a:t>
            </a:r>
            <a:r>
              <a:rPr lang="zh-CN" altLang="en-US" sz="1600" b="0" i="0" dirty="0">
                <a:solidFill>
                  <a:srgbClr val="0070C0"/>
                </a:solidFill>
                <a:effectLst/>
                <a:latin typeface="微软雅黑" panose="020B0503020204020204" pitchFamily="34" charset="-122"/>
                <a:ea typeface="微软雅黑" panose="020B0503020204020204" pitchFamily="34" charset="-122"/>
              </a:rPr>
              <a:t>从</a:t>
            </a:r>
            <a:r>
              <a:rPr lang="en-US" altLang="zh-CN" sz="1600" b="0" i="0" dirty="0">
                <a:solidFill>
                  <a:srgbClr val="0070C0"/>
                </a:solidFill>
                <a:effectLst/>
                <a:latin typeface="微软雅黑" panose="020B0503020204020204" pitchFamily="34" charset="-122"/>
                <a:ea typeface="微软雅黑" panose="020B0503020204020204" pitchFamily="34" charset="-122"/>
              </a:rPr>
              <a:t>1</a:t>
            </a:r>
            <a:r>
              <a:rPr lang="zh-CN" altLang="en-US" sz="1600" b="0" i="0" dirty="0">
                <a:solidFill>
                  <a:srgbClr val="0070C0"/>
                </a:solidFill>
                <a:effectLst/>
                <a:latin typeface="微软雅黑" panose="020B0503020204020204" pitchFamily="34" charset="-122"/>
                <a:ea typeface="微软雅黑" panose="020B0503020204020204" pitchFamily="34" charset="-122"/>
              </a:rPr>
              <a:t>到</a:t>
            </a:r>
            <a:r>
              <a:rPr lang="en-US" altLang="zh-CN" sz="1600" b="0" i="0" dirty="0">
                <a:solidFill>
                  <a:srgbClr val="0070C0"/>
                </a:solidFill>
                <a:effectLst/>
                <a:latin typeface="微软雅黑" panose="020B0503020204020204" pitchFamily="34" charset="-122"/>
                <a:ea typeface="微软雅黑" panose="020B0503020204020204" pitchFamily="34" charset="-122"/>
              </a:rPr>
              <a:t>m </a:t>
            </a:r>
            <a:r>
              <a:rPr lang="zh-CN" altLang="en-US" sz="1600" b="0" i="0" dirty="0">
                <a:solidFill>
                  <a:srgbClr val="0070C0"/>
                </a:solidFill>
                <a:effectLst/>
                <a:latin typeface="微软雅黑" panose="020B0503020204020204" pitchFamily="34" charset="-122"/>
                <a:ea typeface="微软雅黑" panose="020B0503020204020204" pitchFamily="34" charset="-122"/>
              </a:rPr>
              <a:t>索引做</a:t>
            </a:r>
            <a:r>
              <a:rPr lang="en-US" altLang="zh-CN" sz="1600" b="0" i="0" dirty="0">
                <a:solidFill>
                  <a:srgbClr val="0070C0"/>
                </a:solidFill>
                <a:effectLst/>
                <a:latin typeface="微软雅黑" panose="020B0503020204020204" pitchFamily="34" charset="-122"/>
                <a:ea typeface="微软雅黑" panose="020B0503020204020204" pitchFamily="34" charset="-122"/>
              </a:rPr>
              <a:t>x</a:t>
            </a:r>
            <a:r>
              <a:rPr lang="zh-CN" altLang="en-US" sz="1600" b="0" i="0" dirty="0">
                <a:solidFill>
                  <a:srgbClr val="0070C0"/>
                </a:solidFill>
                <a:effectLst/>
                <a:latin typeface="微软雅黑" panose="020B0503020204020204" pitchFamily="34" charset="-122"/>
                <a:ea typeface="微软雅黑" panose="020B0503020204020204" pitchFamily="34" charset="-122"/>
              </a:rPr>
              <a:t>轴坐标，列</a:t>
            </a:r>
            <a:r>
              <a:rPr lang="en-US" altLang="zh-CN" sz="1600" b="0" i="0" dirty="0">
                <a:solidFill>
                  <a:srgbClr val="0070C0"/>
                </a:solidFill>
                <a:effectLst/>
                <a:latin typeface="微软雅黑" panose="020B0503020204020204" pitchFamily="34" charset="-122"/>
                <a:ea typeface="微软雅黑" panose="020B0503020204020204" pitchFamily="34" charset="-122"/>
              </a:rPr>
              <a:t>j</a:t>
            </a:r>
            <a:r>
              <a:rPr lang="zh-CN" altLang="en-US" sz="1600" b="0" i="0" dirty="0">
                <a:solidFill>
                  <a:srgbClr val="0070C0"/>
                </a:solidFill>
                <a:effectLst/>
                <a:latin typeface="微软雅黑" panose="020B0503020204020204" pitchFamily="34" charset="-122"/>
                <a:ea typeface="微软雅黑" panose="020B0503020204020204" pitchFamily="34" charset="-122"/>
              </a:rPr>
              <a:t>从</a:t>
            </a:r>
            <a:r>
              <a:rPr lang="en-US" altLang="zh-CN" sz="1600" b="0" i="0" dirty="0">
                <a:solidFill>
                  <a:srgbClr val="0070C0"/>
                </a:solidFill>
                <a:effectLst/>
                <a:latin typeface="微软雅黑" panose="020B0503020204020204" pitchFamily="34" charset="-122"/>
                <a:ea typeface="微软雅黑" panose="020B0503020204020204" pitchFamily="34" charset="-122"/>
              </a:rPr>
              <a:t>1</a:t>
            </a:r>
            <a:r>
              <a:rPr lang="zh-CN" altLang="en-US" sz="1600" b="0" i="0" dirty="0">
                <a:solidFill>
                  <a:srgbClr val="0070C0"/>
                </a:solidFill>
                <a:effectLst/>
                <a:latin typeface="微软雅黑" panose="020B0503020204020204" pitchFamily="34" charset="-122"/>
                <a:ea typeface="微软雅黑" panose="020B0503020204020204" pitchFamily="34" charset="-122"/>
              </a:rPr>
              <a:t>到</a:t>
            </a:r>
            <a:r>
              <a:rPr lang="en-US" altLang="zh-CN" sz="1600" b="0" i="0" dirty="0">
                <a:solidFill>
                  <a:srgbClr val="0070C0"/>
                </a:solidFill>
                <a:effectLst/>
                <a:latin typeface="微软雅黑" panose="020B0503020204020204" pitchFamily="34" charset="-122"/>
                <a:ea typeface="微软雅黑" panose="020B0503020204020204" pitchFamily="34" charset="-122"/>
              </a:rPr>
              <a:t>n</a:t>
            </a:r>
            <a:r>
              <a:rPr lang="zh-CN" altLang="en-US" sz="1600" b="0" i="0" dirty="0">
                <a:solidFill>
                  <a:srgbClr val="0070C0"/>
                </a:solidFill>
                <a:effectLst/>
                <a:latin typeface="微软雅黑" panose="020B0503020204020204" pitchFamily="34" charset="-122"/>
                <a:ea typeface="微软雅黑" panose="020B0503020204020204" pitchFamily="34" charset="-122"/>
              </a:rPr>
              <a:t>做</a:t>
            </a:r>
            <a:r>
              <a:rPr lang="en-US" altLang="zh-CN" sz="1600" b="0" i="0" dirty="0">
                <a:solidFill>
                  <a:srgbClr val="0070C0"/>
                </a:solidFill>
                <a:effectLst/>
                <a:latin typeface="微软雅黑" panose="020B0503020204020204" pitchFamily="34" charset="-122"/>
                <a:ea typeface="微软雅黑" panose="020B0503020204020204" pitchFamily="34" charset="-122"/>
              </a:rPr>
              <a:t>y</a:t>
            </a:r>
            <a:r>
              <a:rPr lang="zh-CN" altLang="en-US" sz="1600" b="0" i="0" dirty="0">
                <a:solidFill>
                  <a:srgbClr val="0070C0"/>
                </a:solidFill>
                <a:effectLst/>
                <a:latin typeface="微软雅黑" panose="020B0503020204020204" pitchFamily="34" charset="-122"/>
                <a:ea typeface="微软雅黑" panose="020B0503020204020204" pitchFamily="34" charset="-122"/>
              </a:rPr>
              <a:t>轴坐标</a:t>
            </a:r>
            <a:endParaRPr lang="zh-CN" altLang="en-US" sz="16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6" grpId="0" animBg="1"/>
      <p:bldP spid="2" grpId="0" animBg="1"/>
      <p:bldP spid="1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文本框 40"/>
          <p:cNvSpPr txBox="1"/>
          <p:nvPr/>
        </p:nvSpPr>
        <p:spPr>
          <a:xfrm>
            <a:off x="0" y="4215054"/>
            <a:ext cx="9099202" cy="338554"/>
          </a:xfrm>
          <a:prstGeom prst="rect">
            <a:avLst/>
          </a:prstGeom>
          <a:solidFill>
            <a:schemeClr val="bg1"/>
          </a:solidFill>
        </p:spPr>
        <p:txBody>
          <a:bodyPr wrap="squar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      根据</a:t>
            </a:r>
            <a:r>
              <a:rPr lang="en-US" altLang="zh-CN" sz="1600" b="1" dirty="0">
                <a:solidFill>
                  <a:srgbClr val="FF0000"/>
                </a:solidFill>
                <a:latin typeface="微软雅黑" panose="020B0503020204020204" pitchFamily="34" charset="-122"/>
                <a:ea typeface="微软雅黑" panose="020B0503020204020204" pitchFamily="34" charset="-122"/>
              </a:rPr>
              <a:t>4</a:t>
            </a:r>
            <a:r>
              <a:rPr lang="zh-CN" altLang="en-US" sz="1600" b="1" dirty="0">
                <a:solidFill>
                  <a:srgbClr val="FF0000"/>
                </a:solidFill>
                <a:latin typeface="微软雅黑" panose="020B0503020204020204" pitchFamily="34" charset="-122"/>
                <a:ea typeface="微软雅黑" panose="020B0503020204020204" pitchFamily="34" charset="-122"/>
              </a:rPr>
              <a:t>个心部温度绘制云图</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原始图</a:t>
            </a:r>
          </a:p>
        </p:txBody>
      </p:sp>
      <p:graphicFrame>
        <p:nvGraphicFramePr>
          <p:cNvPr id="5" name="表格 4"/>
          <p:cNvGraphicFramePr>
            <a:graphicFrameLocks noGrp="1"/>
          </p:cNvGraphicFramePr>
          <p:nvPr>
            <p:extLst>
              <p:ext uri="{D42A27DB-BD31-4B8C-83A1-F6EECF244321}">
                <p14:modId xmlns:p14="http://schemas.microsoft.com/office/powerpoint/2010/main" val="1644576374"/>
              </p:ext>
            </p:extLst>
          </p:nvPr>
        </p:nvGraphicFramePr>
        <p:xfrm>
          <a:off x="762259" y="2104750"/>
          <a:ext cx="2427243" cy="1798776"/>
        </p:xfrm>
        <a:graphic>
          <a:graphicData uri="http://schemas.openxmlformats.org/drawingml/2006/table">
            <a:tbl>
              <a:tblPr firstRow="1" bandRow="1">
                <a:tableStyleId>{5C22544A-7EE6-4342-B048-85BDC9FD1C3A}</a:tableStyleId>
              </a:tblPr>
              <a:tblGrid>
                <a:gridCol w="809081">
                  <a:extLst>
                    <a:ext uri="{9D8B030D-6E8A-4147-A177-3AD203B41FA5}">
                      <a16:colId xmlns:a16="http://schemas.microsoft.com/office/drawing/2014/main" val="20000"/>
                    </a:ext>
                  </a:extLst>
                </a:gridCol>
                <a:gridCol w="809081">
                  <a:extLst>
                    <a:ext uri="{9D8B030D-6E8A-4147-A177-3AD203B41FA5}">
                      <a16:colId xmlns:a16="http://schemas.microsoft.com/office/drawing/2014/main" val="20001"/>
                    </a:ext>
                  </a:extLst>
                </a:gridCol>
                <a:gridCol w="809081">
                  <a:extLst>
                    <a:ext uri="{9D8B030D-6E8A-4147-A177-3AD203B41FA5}">
                      <a16:colId xmlns:a16="http://schemas.microsoft.com/office/drawing/2014/main" val="20002"/>
                    </a:ext>
                  </a:extLst>
                </a:gridCol>
              </a:tblGrid>
              <a:tr h="599592">
                <a:tc>
                  <a:txBody>
                    <a:bodyPr/>
                    <a:lstStyle/>
                    <a:p>
                      <a:endParaRPr lang="zh-CN" altLang="en-US" sz="1400" dirty="0"/>
                    </a:p>
                  </a:txBody>
                  <a:tcPr marT="34290" marB="34290">
                    <a:solidFill>
                      <a:srgbClr val="00B0F0"/>
                    </a:solidFill>
                  </a:tcPr>
                </a:tc>
                <a:tc>
                  <a:txBody>
                    <a:bodyPr/>
                    <a:lstStyle/>
                    <a:p>
                      <a:endParaRPr lang="zh-CN" altLang="en-US" sz="1400"/>
                    </a:p>
                  </a:txBody>
                  <a:tcPr marT="34290" marB="34290">
                    <a:solidFill>
                      <a:srgbClr val="00B0F0"/>
                    </a:solidFill>
                  </a:tcPr>
                </a:tc>
                <a:tc>
                  <a:txBody>
                    <a:bodyPr/>
                    <a:lstStyle/>
                    <a:p>
                      <a:endParaRPr lang="zh-CN" altLang="en-US" sz="1400" dirty="0"/>
                    </a:p>
                  </a:txBody>
                  <a:tcPr marT="34290" marB="34290">
                    <a:solidFill>
                      <a:srgbClr val="00B0F0"/>
                    </a:solidFill>
                  </a:tcPr>
                </a:tc>
                <a:extLst>
                  <a:ext uri="{0D108BD9-81ED-4DB2-BD59-A6C34878D82A}">
                    <a16:rowId xmlns:a16="http://schemas.microsoft.com/office/drawing/2014/main" val="10000"/>
                  </a:ext>
                </a:extLst>
              </a:tr>
              <a:tr h="599592">
                <a:tc>
                  <a:txBody>
                    <a:bodyPr/>
                    <a:lstStyle/>
                    <a:p>
                      <a:endParaRPr lang="zh-CN" altLang="en-US" sz="1400"/>
                    </a:p>
                  </a:txBody>
                  <a:tcPr marT="34290" marB="34290">
                    <a:solidFill>
                      <a:srgbClr val="00B0F0"/>
                    </a:solidFill>
                  </a:tcPr>
                </a:tc>
                <a:tc>
                  <a:txBody>
                    <a:bodyPr/>
                    <a:lstStyle/>
                    <a:p>
                      <a:endParaRPr lang="zh-CN" altLang="en-US" sz="1400"/>
                    </a:p>
                  </a:txBody>
                  <a:tcPr marT="34290" marB="34290">
                    <a:solidFill>
                      <a:srgbClr val="00B0F0"/>
                    </a:solidFill>
                  </a:tcPr>
                </a:tc>
                <a:tc>
                  <a:txBody>
                    <a:bodyPr/>
                    <a:lstStyle/>
                    <a:p>
                      <a:endParaRPr lang="zh-CN" altLang="en-US" sz="1400"/>
                    </a:p>
                  </a:txBody>
                  <a:tcPr marT="34290" marB="34290">
                    <a:solidFill>
                      <a:srgbClr val="00B0F0"/>
                    </a:solidFill>
                  </a:tcPr>
                </a:tc>
                <a:extLst>
                  <a:ext uri="{0D108BD9-81ED-4DB2-BD59-A6C34878D82A}">
                    <a16:rowId xmlns:a16="http://schemas.microsoft.com/office/drawing/2014/main" val="10001"/>
                  </a:ext>
                </a:extLst>
              </a:tr>
              <a:tr h="599592">
                <a:tc>
                  <a:txBody>
                    <a:bodyPr/>
                    <a:lstStyle/>
                    <a:p>
                      <a:endParaRPr lang="zh-CN" altLang="en-US" sz="1400" dirty="0"/>
                    </a:p>
                  </a:txBody>
                  <a:tcPr marT="34290" marB="34290">
                    <a:solidFill>
                      <a:srgbClr val="00B0F0"/>
                    </a:solidFill>
                  </a:tcPr>
                </a:tc>
                <a:tc>
                  <a:txBody>
                    <a:bodyPr/>
                    <a:lstStyle/>
                    <a:p>
                      <a:endParaRPr lang="zh-CN" altLang="en-US" sz="1400"/>
                    </a:p>
                  </a:txBody>
                  <a:tcPr marT="34290" marB="34290">
                    <a:solidFill>
                      <a:srgbClr val="00B0F0"/>
                    </a:solidFill>
                  </a:tcPr>
                </a:tc>
                <a:tc>
                  <a:txBody>
                    <a:bodyPr/>
                    <a:lstStyle/>
                    <a:p>
                      <a:endParaRPr lang="zh-CN" altLang="en-US" sz="1400" dirty="0"/>
                    </a:p>
                  </a:txBody>
                  <a:tcPr marT="34290" marB="34290">
                    <a:solidFill>
                      <a:srgbClr val="00B0F0"/>
                    </a:solidFill>
                  </a:tcPr>
                </a:tc>
                <a:extLst>
                  <a:ext uri="{0D108BD9-81ED-4DB2-BD59-A6C34878D82A}">
                    <a16:rowId xmlns:a16="http://schemas.microsoft.com/office/drawing/2014/main" val="10002"/>
                  </a:ext>
                </a:extLst>
              </a:tr>
            </a:tbl>
          </a:graphicData>
        </a:graphic>
      </p:graphicFrame>
      <p:sp>
        <p:nvSpPr>
          <p:cNvPr id="4" name="文本框 3"/>
          <p:cNvSpPr txBox="1"/>
          <p:nvPr/>
        </p:nvSpPr>
        <p:spPr>
          <a:xfrm>
            <a:off x="866307" y="110901"/>
            <a:ext cx="7632848" cy="492443"/>
          </a:xfrm>
          <a:prstGeom prst="rect">
            <a:avLst/>
          </a:prstGeom>
          <a:noFill/>
        </p:spPr>
        <p:txBody>
          <a:bodyPr wrap="square">
            <a:spAutoFit/>
          </a:bodyPr>
          <a:lstStyle/>
          <a:p>
            <a:r>
              <a:rPr lang="en-US" altLang="zh-CN" sz="2600" b="1" kern="0" dirty="0">
                <a:solidFill>
                  <a:srgbClr val="002060"/>
                </a:solidFill>
                <a:latin typeface="华文楷体" panose="02010600040101010101" pitchFamily="2" charset="-122"/>
                <a:ea typeface="华文楷体" panose="02010600040101010101" pitchFamily="2" charset="-122"/>
              </a:rPr>
              <a:t>§5.4.3 </a:t>
            </a:r>
            <a:r>
              <a:rPr lang="zh-CN" altLang="en-US" sz="2600" b="1" kern="0" dirty="0">
                <a:solidFill>
                  <a:srgbClr val="002060"/>
                </a:solidFill>
                <a:latin typeface="华文楷体" panose="02010600040101010101" pitchFamily="2" charset="-122"/>
                <a:ea typeface="华文楷体" panose="02010600040101010101" pitchFamily="2" charset="-122"/>
              </a:rPr>
              <a:t>二维多项式插值</a:t>
            </a:r>
            <a:r>
              <a:rPr lang="en-US" altLang="zh-CN" sz="2600" b="1" dirty="0">
                <a:solidFill>
                  <a:srgbClr val="FF0000"/>
                </a:solidFill>
                <a:latin typeface="华文楷体" panose="02010600040101010101" pitchFamily="2" charset="-122"/>
                <a:ea typeface="华文楷体" panose="02010600040101010101" pitchFamily="2" charset="-122"/>
              </a:rPr>
              <a:t>———</a:t>
            </a:r>
            <a:r>
              <a:rPr lang="en-US" altLang="ko-KR" sz="2600" b="1" cap="none" dirty="0">
                <a:solidFill>
                  <a:srgbClr val="FF0000"/>
                </a:solidFill>
                <a:latin typeface="华文楷体" panose="02010600040101010101" pitchFamily="2" charset="-122"/>
                <a:ea typeface="华文楷体" panose="02010600040101010101" pitchFamily="2" charset="-122"/>
              </a:rPr>
              <a:t>二维插值interp2</a:t>
            </a:r>
            <a:r>
              <a:rPr lang="zh-CN" altLang="en-US" sz="2600" b="1" cap="none" dirty="0">
                <a:solidFill>
                  <a:srgbClr val="FF0000"/>
                </a:solidFill>
                <a:latin typeface="华文楷体" panose="02010600040101010101" pitchFamily="2" charset="-122"/>
                <a:ea typeface="华文楷体" panose="02010600040101010101" pitchFamily="2" charset="-122"/>
              </a:rPr>
              <a:t>案例 </a:t>
            </a:r>
            <a:endParaRPr lang="zh-CN" altLang="en-US" sz="2600" b="1" dirty="0">
              <a:solidFill>
                <a:srgbClr val="FF0000"/>
              </a:solidFill>
              <a:latin typeface="华文楷体" panose="02010600040101010101" pitchFamily="2" charset="-122"/>
              <a:ea typeface="华文楷体" panose="02010600040101010101" pitchFamily="2" charset="-122"/>
            </a:endParaRPr>
          </a:p>
        </p:txBody>
      </p:sp>
      <p:sp>
        <p:nvSpPr>
          <p:cNvPr id="10" name="矩形 9"/>
          <p:cNvSpPr/>
          <p:nvPr/>
        </p:nvSpPr>
        <p:spPr>
          <a:xfrm>
            <a:off x="342902" y="2543949"/>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10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1" name="矩形 10"/>
          <p:cNvSpPr/>
          <p:nvPr/>
        </p:nvSpPr>
        <p:spPr>
          <a:xfrm>
            <a:off x="337822" y="3111430"/>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10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2" name="矩形 11"/>
          <p:cNvSpPr/>
          <p:nvPr/>
        </p:nvSpPr>
        <p:spPr>
          <a:xfrm>
            <a:off x="1295841" y="1713977"/>
            <a:ext cx="415498" cy="369332"/>
          </a:xfrm>
          <a:prstGeom prst="rect">
            <a:avLst/>
          </a:prstGeom>
          <a:noFill/>
        </p:spPr>
        <p:txBody>
          <a:bodyPr wrap="none">
            <a:spAutoFit/>
          </a:bodyPr>
          <a:lstStyle/>
          <a:p>
            <a:r>
              <a:rPr lang="en-US" altLang="zh-CN" dirty="0">
                <a:solidFill>
                  <a:schemeClr val="bg1"/>
                </a:solidFill>
                <a:highlight>
                  <a:srgbClr val="003B76"/>
                </a:highlight>
                <a:latin typeface="隶书" panose="02010509060101010101" pitchFamily="49" charset="-122"/>
                <a:ea typeface="隶书" panose="02010509060101010101" pitchFamily="49" charset="-122"/>
              </a:rPr>
              <a:t>20</a:t>
            </a:r>
            <a:endParaRPr lang="zh-CN" altLang="en-US"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3" name="矩形 12"/>
          <p:cNvSpPr/>
          <p:nvPr/>
        </p:nvSpPr>
        <p:spPr>
          <a:xfrm>
            <a:off x="2162616" y="1707654"/>
            <a:ext cx="415498" cy="369332"/>
          </a:xfrm>
          <a:prstGeom prst="rect">
            <a:avLst/>
          </a:prstGeom>
          <a:noFill/>
        </p:spPr>
        <p:txBody>
          <a:bodyPr wrap="none">
            <a:spAutoFit/>
          </a:bodyPr>
          <a:lstStyle/>
          <a:p>
            <a:r>
              <a:rPr lang="en-US" altLang="zh-CN" dirty="0">
                <a:solidFill>
                  <a:schemeClr val="bg1"/>
                </a:solidFill>
                <a:highlight>
                  <a:srgbClr val="003B76"/>
                </a:highlight>
                <a:latin typeface="隶书" panose="02010509060101010101" pitchFamily="49" charset="-122"/>
                <a:ea typeface="隶书" panose="02010509060101010101" pitchFamily="49" charset="-122"/>
              </a:rPr>
              <a:t>20</a:t>
            </a:r>
            <a:endParaRPr lang="zh-CN" altLang="en-US"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4" name="矩形 13"/>
          <p:cNvSpPr/>
          <p:nvPr/>
        </p:nvSpPr>
        <p:spPr>
          <a:xfrm>
            <a:off x="3274669" y="3164325"/>
            <a:ext cx="389850" cy="338554"/>
          </a:xfrm>
          <a:prstGeom prst="rect">
            <a:avLst/>
          </a:prstGeom>
          <a:noFill/>
        </p:spPr>
        <p:txBody>
          <a:bodyPr wrap="squar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40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5" name="矩形 14"/>
          <p:cNvSpPr/>
          <p:nvPr/>
        </p:nvSpPr>
        <p:spPr>
          <a:xfrm>
            <a:off x="3291180" y="2540578"/>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40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6" name="矩形 15"/>
          <p:cNvSpPr/>
          <p:nvPr/>
        </p:nvSpPr>
        <p:spPr>
          <a:xfrm>
            <a:off x="2244531" y="3769764"/>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30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7" name="矩形 16"/>
          <p:cNvSpPr/>
          <p:nvPr/>
        </p:nvSpPr>
        <p:spPr>
          <a:xfrm>
            <a:off x="1305975" y="3747023"/>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30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18" name="矩形 17"/>
          <p:cNvSpPr/>
          <p:nvPr/>
        </p:nvSpPr>
        <p:spPr>
          <a:xfrm>
            <a:off x="579541" y="640535"/>
            <a:ext cx="3153050" cy="1159228"/>
          </a:xfrm>
          <a:prstGeom prst="rect">
            <a:avLst/>
          </a:prstGeom>
          <a:noFill/>
        </p:spPr>
        <p:txBody>
          <a:bodyPr wrap="square">
            <a:spAutoFit/>
          </a:bodyPr>
          <a:lstStyle/>
          <a:p>
            <a:pPr>
              <a:lnSpc>
                <a:spcPts val="2900"/>
              </a:lnSpc>
            </a:pPr>
            <a:r>
              <a:rPr lang="zh-CN" altLang="en-US" sz="1400" b="1" dirty="0">
                <a:solidFill>
                  <a:srgbClr val="0070C0"/>
                </a:solidFill>
                <a:latin typeface="微软雅黑 Light" panose="020B0502040204020203" pitchFamily="34" charset="-122"/>
                <a:ea typeface="微软雅黑 Light" panose="020B0502040204020203" pitchFamily="34" charset="-122"/>
              </a:rPr>
              <a:t>薄壁铁板周边温度分别为</a:t>
            </a:r>
            <a:r>
              <a:rPr lang="en-US" altLang="zh-CN" sz="1400" b="1" dirty="0">
                <a:solidFill>
                  <a:srgbClr val="0070C0"/>
                </a:solidFill>
                <a:latin typeface="微软雅黑 Light" panose="020B0502040204020203" pitchFamily="34" charset="-122"/>
                <a:ea typeface="微软雅黑 Light" panose="020B0502040204020203" pitchFamily="34" charset="-122"/>
              </a:rPr>
              <a:t>10</a:t>
            </a:r>
            <a:r>
              <a:rPr lang="zh-CN" altLang="en-US" sz="1400" b="1" dirty="0">
                <a:solidFill>
                  <a:srgbClr val="0070C0"/>
                </a:solidFill>
                <a:latin typeface="微软雅黑 Light" panose="020B0502040204020203" pitchFamily="34" charset="-122"/>
                <a:ea typeface="微软雅黑 Light" panose="020B0502040204020203" pitchFamily="34" charset="-122"/>
              </a:rPr>
              <a:t>、</a:t>
            </a:r>
            <a:r>
              <a:rPr lang="en-US" altLang="zh-CN" sz="1400" b="1" dirty="0">
                <a:solidFill>
                  <a:srgbClr val="0070C0"/>
                </a:solidFill>
                <a:latin typeface="微软雅黑 Light" panose="020B0502040204020203" pitchFamily="34" charset="-122"/>
                <a:ea typeface="微软雅黑 Light" panose="020B0502040204020203" pitchFamily="34" charset="-122"/>
              </a:rPr>
              <a:t>20</a:t>
            </a:r>
            <a:r>
              <a:rPr lang="zh-CN" altLang="en-US" sz="1400" b="1" dirty="0">
                <a:solidFill>
                  <a:srgbClr val="0070C0"/>
                </a:solidFill>
                <a:latin typeface="微软雅黑 Light" panose="020B0502040204020203" pitchFamily="34" charset="-122"/>
                <a:ea typeface="微软雅黑 Light" panose="020B0502040204020203" pitchFamily="34" charset="-122"/>
              </a:rPr>
              <a:t>、</a:t>
            </a:r>
            <a:r>
              <a:rPr lang="en-US" altLang="zh-CN" sz="1400" b="1" dirty="0">
                <a:solidFill>
                  <a:srgbClr val="0070C0"/>
                </a:solidFill>
                <a:latin typeface="微软雅黑 Light" panose="020B0502040204020203" pitchFamily="34" charset="-122"/>
                <a:ea typeface="微软雅黑 Light" panose="020B0502040204020203" pitchFamily="34" charset="-122"/>
              </a:rPr>
              <a:t>30</a:t>
            </a:r>
            <a:r>
              <a:rPr lang="zh-CN" altLang="en-US" sz="1400" b="1" dirty="0">
                <a:solidFill>
                  <a:srgbClr val="0070C0"/>
                </a:solidFill>
                <a:latin typeface="微软雅黑 Light" panose="020B0502040204020203" pitchFamily="34" charset="-122"/>
                <a:ea typeface="微软雅黑 Light" panose="020B0502040204020203" pitchFamily="34" charset="-122"/>
              </a:rPr>
              <a:t>和</a:t>
            </a:r>
            <a:r>
              <a:rPr lang="en-US" altLang="zh-CN" sz="1400" b="1" dirty="0">
                <a:solidFill>
                  <a:srgbClr val="0070C0"/>
                </a:solidFill>
                <a:latin typeface="微软雅黑 Light" panose="020B0502040204020203" pitchFamily="34" charset="-122"/>
                <a:ea typeface="微软雅黑 Light" panose="020B0502040204020203" pitchFamily="34" charset="-122"/>
              </a:rPr>
              <a:t>40</a:t>
            </a:r>
            <a:r>
              <a:rPr lang="zh-CN" altLang="en-US" sz="1400" b="1" dirty="0">
                <a:solidFill>
                  <a:srgbClr val="0070C0"/>
                </a:solidFill>
                <a:latin typeface="微软雅黑 Light" panose="020B0502040204020203" pitchFamily="34" charset="-122"/>
                <a:ea typeface="微软雅黑 Light" panose="020B0502040204020203" pitchFamily="34" charset="-122"/>
              </a:rPr>
              <a:t>度，解方程组求出板中心温度</a:t>
            </a:r>
            <a:r>
              <a:rPr lang="en-US" altLang="zh-CN" sz="1400" b="1" dirty="0">
                <a:solidFill>
                  <a:srgbClr val="0070C0"/>
                </a:solidFill>
                <a:latin typeface="微软雅黑 Light" panose="020B0502040204020203" pitchFamily="34" charset="-122"/>
                <a:ea typeface="微软雅黑 Light" panose="020B0502040204020203" pitchFamily="34" charset="-122"/>
              </a:rPr>
              <a:t>4</a:t>
            </a:r>
            <a:r>
              <a:rPr lang="zh-CN" altLang="en-US" sz="1400" b="1" dirty="0">
                <a:solidFill>
                  <a:srgbClr val="0070C0"/>
                </a:solidFill>
                <a:latin typeface="微软雅黑 Light" panose="020B0502040204020203" pitchFamily="34" charset="-122"/>
                <a:ea typeface="微软雅黑 Light" panose="020B0502040204020203" pitchFamily="34" charset="-122"/>
              </a:rPr>
              <a:t>个温度，如图所示，用插值细化温度场</a:t>
            </a:r>
            <a:endParaRPr lang="en-US" altLang="zh-CN" sz="1400" b="1" dirty="0">
              <a:solidFill>
                <a:srgbClr val="0070C0"/>
              </a:solidFill>
              <a:latin typeface="微软雅黑 Light" panose="020B0502040204020203" pitchFamily="34" charset="-122"/>
              <a:ea typeface="微软雅黑 Light" panose="020B0502040204020203" pitchFamily="34" charset="-122"/>
            </a:endParaRPr>
          </a:p>
        </p:txBody>
      </p:sp>
      <p:sp>
        <p:nvSpPr>
          <p:cNvPr id="21" name="矩形 20"/>
          <p:cNvSpPr/>
          <p:nvPr/>
        </p:nvSpPr>
        <p:spPr>
          <a:xfrm>
            <a:off x="365116" y="1758280"/>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15</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22" name="矩形 21"/>
          <p:cNvSpPr/>
          <p:nvPr/>
        </p:nvSpPr>
        <p:spPr>
          <a:xfrm>
            <a:off x="363824" y="3783838"/>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20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23" name="矩形 22"/>
          <p:cNvSpPr/>
          <p:nvPr/>
        </p:nvSpPr>
        <p:spPr>
          <a:xfrm>
            <a:off x="3262237" y="1718831"/>
            <a:ext cx="389850" cy="338554"/>
          </a:xfrm>
          <a:prstGeom prst="rect">
            <a:avLst/>
          </a:prstGeom>
          <a:noFill/>
        </p:spPr>
        <p:txBody>
          <a:bodyPr wrap="squar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30</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sp>
        <p:nvSpPr>
          <p:cNvPr id="24" name="矩形 23"/>
          <p:cNvSpPr/>
          <p:nvPr/>
        </p:nvSpPr>
        <p:spPr>
          <a:xfrm>
            <a:off x="3263729" y="3769764"/>
            <a:ext cx="389850" cy="338554"/>
          </a:xfrm>
          <a:prstGeom prst="rect">
            <a:avLst/>
          </a:prstGeom>
          <a:noFill/>
        </p:spPr>
        <p:txBody>
          <a:bodyPr wrap="none">
            <a:spAutoFit/>
          </a:bodyPr>
          <a:lstStyle/>
          <a:p>
            <a:r>
              <a:rPr lang="en-US" altLang="zh-CN" sz="1600" dirty="0">
                <a:solidFill>
                  <a:schemeClr val="bg1"/>
                </a:solidFill>
                <a:highlight>
                  <a:srgbClr val="003B76"/>
                </a:highlight>
                <a:latin typeface="隶书" panose="02010509060101010101" pitchFamily="49" charset="-122"/>
                <a:ea typeface="隶书" panose="02010509060101010101" pitchFamily="49" charset="-122"/>
              </a:rPr>
              <a:t>35</a:t>
            </a:r>
            <a:endParaRPr lang="zh-CN" altLang="en-US" sz="1600" dirty="0">
              <a:solidFill>
                <a:schemeClr val="bg1"/>
              </a:solidFill>
              <a:highlight>
                <a:srgbClr val="003B76"/>
              </a:highlight>
              <a:latin typeface="隶书" panose="02010509060101010101" pitchFamily="49" charset="-122"/>
              <a:ea typeface="隶书" panose="02010509060101010101" pitchFamily="49" charset="-122"/>
            </a:endParaRPr>
          </a:p>
        </p:txBody>
      </p:sp>
      <p:pic>
        <p:nvPicPr>
          <p:cNvPr id="29" name="图片 28"/>
          <p:cNvPicPr>
            <a:picLocks noChangeAspect="1"/>
          </p:cNvPicPr>
          <p:nvPr/>
        </p:nvPicPr>
        <p:blipFill rotWithShape="1">
          <a:blip r:embed="rId3"/>
          <a:srcRect l="13098" t="16351" r="63649" b="15834"/>
          <a:stretch>
            <a:fillRect/>
          </a:stretch>
        </p:blipFill>
        <p:spPr>
          <a:xfrm>
            <a:off x="761276" y="2104750"/>
            <a:ext cx="2418761" cy="1767201"/>
          </a:xfrm>
          <a:prstGeom prst="rect">
            <a:avLst/>
          </a:prstGeom>
        </p:spPr>
      </p:pic>
      <p:pic>
        <p:nvPicPr>
          <p:cNvPr id="30" name="图片 29"/>
          <p:cNvPicPr>
            <a:picLocks noChangeAspect="1"/>
          </p:cNvPicPr>
          <p:nvPr/>
        </p:nvPicPr>
        <p:blipFill rotWithShape="1">
          <a:blip r:embed="rId3"/>
          <a:srcRect l="50315" t="11893" r="13775" b="9359"/>
          <a:stretch>
            <a:fillRect/>
          </a:stretch>
        </p:blipFill>
        <p:spPr>
          <a:xfrm>
            <a:off x="3491880" y="3219822"/>
            <a:ext cx="2889894" cy="1400023"/>
          </a:xfrm>
          <a:prstGeom prst="rect">
            <a:avLst/>
          </a:prstGeom>
          <a:solidFill>
            <a:schemeClr val="bg1"/>
          </a:solidFill>
        </p:spPr>
      </p:pic>
      <p:sp>
        <p:nvSpPr>
          <p:cNvPr id="26" name="文本框 25"/>
          <p:cNvSpPr txBox="1"/>
          <p:nvPr/>
        </p:nvSpPr>
        <p:spPr>
          <a:xfrm>
            <a:off x="3813096" y="368956"/>
            <a:ext cx="5125806" cy="4016484"/>
          </a:xfrm>
          <a:prstGeom prst="rect">
            <a:avLst/>
          </a:prstGeom>
          <a:noFill/>
        </p:spPr>
        <p:txBody>
          <a:bodyPr wrap="square" rtlCol="0">
            <a:spAutoFit/>
          </a:bodyPr>
          <a:lstStyle/>
          <a:p>
            <a:endParaRPr lang="en-US" altLang="zh-CN" sz="1600" dirty="0">
              <a:solidFill>
                <a:srgbClr val="00B0F0"/>
              </a:solidFill>
              <a:latin typeface="隶书" panose="02010509060101010101" pitchFamily="49" charset="-122"/>
              <a:ea typeface="隶书" panose="02010509060101010101" pitchFamily="49" charset="-122"/>
            </a:endParaRPr>
          </a:p>
          <a:p>
            <a:pPr>
              <a:lnSpc>
                <a:spcPts val="2000"/>
              </a:lnSpc>
            </a:pPr>
            <a:r>
              <a:rPr lang="en-US" altLang="zh-CN" b="0" dirty="0">
                <a:solidFill>
                  <a:srgbClr val="00B0F0"/>
                </a:solidFill>
                <a:effectLst/>
                <a:latin typeface="Consolas" panose="020B0609020204030204" pitchFamily="49" charset="0"/>
              </a:rPr>
              <a:t>tt=[15 20 20 30; 10 20 27 40; 10 22.5 30.0 40; 20 30 30 35] </a:t>
            </a:r>
            <a:r>
              <a:rPr lang="en-US" altLang="zh-CN" dirty="0">
                <a:solidFill>
                  <a:srgbClr val="00B0F0"/>
                </a:solidFill>
                <a:latin typeface="Consolas" panose="020B0609020204030204" pitchFamily="49" charset="0"/>
              </a:rPr>
              <a:t>#</a:t>
            </a:r>
            <a:r>
              <a:rPr lang="zh-CN" altLang="en-US" dirty="0">
                <a:solidFill>
                  <a:srgbClr val="00B0F0"/>
                </a:solidFill>
                <a:latin typeface="Consolas" panose="020B0609020204030204" pitchFamily="49" charset="0"/>
              </a:rPr>
              <a:t>温度场矩阵</a:t>
            </a:r>
          </a:p>
          <a:p>
            <a:pPr>
              <a:lnSpc>
                <a:spcPts val="2000"/>
              </a:lnSpc>
            </a:pPr>
            <a:r>
              <a:rPr lang="en-US" altLang="zh-CN" b="0" dirty="0">
                <a:solidFill>
                  <a:srgbClr val="00B0F0"/>
                </a:solidFill>
                <a:effectLst/>
                <a:latin typeface="Consolas" panose="020B0609020204030204" pitchFamily="49" charset="0"/>
              </a:rPr>
              <a:t>subplot(1,2,1) #</a:t>
            </a:r>
            <a:r>
              <a:rPr lang="zh-CN" altLang="en-US" b="0" dirty="0">
                <a:solidFill>
                  <a:srgbClr val="00B0F0"/>
                </a:solidFill>
                <a:effectLst/>
                <a:latin typeface="Consolas" panose="020B0609020204030204" pitchFamily="49" charset="0"/>
              </a:rPr>
              <a:t>原始图</a:t>
            </a:r>
          </a:p>
          <a:p>
            <a:pPr>
              <a:lnSpc>
                <a:spcPts val="2000"/>
              </a:lnSpc>
            </a:pPr>
            <a:r>
              <a:rPr lang="en-US" altLang="zh-CN" b="0" dirty="0">
                <a:solidFill>
                  <a:srgbClr val="00B0F0"/>
                </a:solidFill>
                <a:effectLst/>
                <a:latin typeface="Consolas" panose="020B0609020204030204" pitchFamily="49" charset="0"/>
              </a:rPr>
              <a:t>c = </a:t>
            </a:r>
            <a:r>
              <a:rPr lang="en-US" altLang="zh-CN" b="0" dirty="0" err="1">
                <a:solidFill>
                  <a:srgbClr val="00B0F0"/>
                </a:solidFill>
                <a:effectLst/>
                <a:latin typeface="Consolas" panose="020B0609020204030204" pitchFamily="49" charset="0"/>
              </a:rPr>
              <a:t>contourf</a:t>
            </a:r>
            <a:r>
              <a:rPr lang="en-US" altLang="zh-CN" b="0" dirty="0">
                <a:solidFill>
                  <a:srgbClr val="00B0F0"/>
                </a:solidFill>
                <a:effectLst/>
                <a:latin typeface="Consolas" panose="020B0609020204030204" pitchFamily="49" charset="0"/>
              </a:rPr>
              <a:t>(tt)</a:t>
            </a:r>
          </a:p>
          <a:p>
            <a:pPr>
              <a:lnSpc>
                <a:spcPts val="2000"/>
              </a:lnSpc>
            </a:pPr>
            <a:r>
              <a:rPr lang="en-US" altLang="zh-CN" b="0" dirty="0" err="1">
                <a:solidFill>
                  <a:srgbClr val="00B0F0"/>
                </a:solidFill>
                <a:effectLst/>
                <a:latin typeface="Consolas" panose="020B0609020204030204" pitchFamily="49" charset="0"/>
              </a:rPr>
              <a:t>clabel</a:t>
            </a:r>
            <a:r>
              <a:rPr lang="en-US" altLang="zh-CN" b="0" dirty="0">
                <a:solidFill>
                  <a:srgbClr val="00B0F0"/>
                </a:solidFill>
                <a:effectLst/>
                <a:latin typeface="Consolas" panose="020B0609020204030204" pitchFamily="49" charset="0"/>
              </a:rPr>
              <a:t>(</a:t>
            </a:r>
            <a:r>
              <a:rPr lang="en-US" altLang="zh-CN" b="0" dirty="0" err="1">
                <a:solidFill>
                  <a:srgbClr val="00B0F0"/>
                </a:solidFill>
                <a:effectLst/>
                <a:latin typeface="Consolas" panose="020B0609020204030204" pitchFamily="49" charset="0"/>
              </a:rPr>
              <a:t>c,inline</a:t>
            </a:r>
            <a:r>
              <a:rPr lang="en-US" altLang="zh-CN" b="0" dirty="0">
                <a:solidFill>
                  <a:srgbClr val="00B0F0"/>
                </a:solidFill>
                <a:effectLst/>
                <a:latin typeface="Consolas" panose="020B0609020204030204" pitchFamily="49" charset="0"/>
              </a:rPr>
              <a:t>=false, colors="red")</a:t>
            </a:r>
          </a:p>
          <a:p>
            <a:pPr>
              <a:lnSpc>
                <a:spcPts val="2000"/>
              </a:lnSpc>
            </a:pPr>
            <a:r>
              <a:rPr lang="en-US" altLang="zh-CN" b="0" dirty="0">
                <a:solidFill>
                  <a:srgbClr val="00B0F0"/>
                </a:solidFill>
                <a:effectLst/>
                <a:latin typeface="Consolas" panose="020B0609020204030204" pitchFamily="49" charset="0"/>
              </a:rPr>
              <a:t>subplot(1,2,2)  #</a:t>
            </a:r>
            <a:r>
              <a:rPr lang="zh-CN" altLang="en-US" b="0" dirty="0">
                <a:solidFill>
                  <a:srgbClr val="00B0F0"/>
                </a:solidFill>
                <a:effectLst/>
                <a:latin typeface="Consolas" panose="020B0609020204030204" pitchFamily="49" charset="0"/>
              </a:rPr>
              <a:t>插值图</a:t>
            </a:r>
          </a:p>
          <a:p>
            <a:pPr>
              <a:lnSpc>
                <a:spcPts val="2000"/>
              </a:lnSpc>
            </a:pPr>
            <a:r>
              <a:rPr lang="en-US" altLang="zh-CN" sz="2000" b="1" dirty="0" err="1">
                <a:solidFill>
                  <a:srgbClr val="FF0000"/>
                </a:solidFill>
                <a:effectLst/>
                <a:latin typeface="Consolas" panose="020B0609020204030204" pitchFamily="49" charset="0"/>
              </a:rPr>
              <a:t>ttt</a:t>
            </a:r>
            <a:r>
              <a:rPr lang="en-US" altLang="zh-CN" sz="2000" b="1" dirty="0">
                <a:solidFill>
                  <a:srgbClr val="FF0000"/>
                </a:solidFill>
                <a:effectLst/>
                <a:latin typeface="Consolas" panose="020B0609020204030204" pitchFamily="49" charset="0"/>
              </a:rPr>
              <a:t>=interp2(tt,3,"spline")</a:t>
            </a:r>
          </a:p>
          <a:p>
            <a:pPr>
              <a:lnSpc>
                <a:spcPts val="2000"/>
              </a:lnSpc>
            </a:pPr>
            <a:r>
              <a:rPr lang="en-US" altLang="zh-CN" b="0" dirty="0">
                <a:solidFill>
                  <a:srgbClr val="00B0F0"/>
                </a:solidFill>
                <a:effectLst/>
                <a:latin typeface="Consolas" panose="020B0609020204030204" pitchFamily="49" charset="0"/>
              </a:rPr>
              <a:t>c=</a:t>
            </a:r>
            <a:r>
              <a:rPr lang="en-US" altLang="zh-CN" b="0" dirty="0" err="1">
                <a:solidFill>
                  <a:srgbClr val="00B0F0"/>
                </a:solidFill>
                <a:effectLst/>
                <a:latin typeface="Consolas" panose="020B0609020204030204" pitchFamily="49" charset="0"/>
              </a:rPr>
              <a:t>contourf</a:t>
            </a:r>
            <a:r>
              <a:rPr lang="en-US" altLang="zh-CN" b="0" dirty="0">
                <a:solidFill>
                  <a:srgbClr val="00B0F0"/>
                </a:solidFill>
                <a:effectLst/>
                <a:latin typeface="Consolas" panose="020B0609020204030204" pitchFamily="49" charset="0"/>
              </a:rPr>
              <a:t>(</a:t>
            </a:r>
            <a:r>
              <a:rPr lang="en-US" altLang="zh-CN" b="0" dirty="0" err="1">
                <a:solidFill>
                  <a:srgbClr val="00B0F0"/>
                </a:solidFill>
                <a:effectLst/>
                <a:latin typeface="Consolas" panose="020B0609020204030204" pitchFamily="49" charset="0"/>
              </a:rPr>
              <a:t>ttt</a:t>
            </a:r>
            <a:r>
              <a:rPr lang="en-US" altLang="zh-CN" b="0" dirty="0">
                <a:solidFill>
                  <a:srgbClr val="00B0F0"/>
                </a:solidFill>
                <a:effectLst/>
                <a:latin typeface="Consolas" panose="020B0609020204030204" pitchFamily="49" charset="0"/>
              </a:rPr>
              <a:t>)</a:t>
            </a:r>
          </a:p>
          <a:p>
            <a:pPr>
              <a:lnSpc>
                <a:spcPts val="2000"/>
              </a:lnSpc>
            </a:pPr>
            <a:r>
              <a:rPr lang="en-US" altLang="zh-CN" b="0" dirty="0" err="1">
                <a:solidFill>
                  <a:srgbClr val="00B0F0"/>
                </a:solidFill>
                <a:effectLst/>
                <a:latin typeface="Consolas" panose="020B0609020204030204" pitchFamily="49" charset="0"/>
              </a:rPr>
              <a:t>clabel</a:t>
            </a:r>
            <a:r>
              <a:rPr lang="en-US" altLang="zh-CN" b="0" dirty="0">
                <a:solidFill>
                  <a:srgbClr val="00B0F0"/>
                </a:solidFill>
                <a:effectLst/>
                <a:latin typeface="Consolas" panose="020B0609020204030204" pitchFamily="49" charset="0"/>
              </a:rPr>
              <a:t>(c, </a:t>
            </a:r>
            <a:r>
              <a:rPr lang="en-US" altLang="zh-CN" b="0" dirty="0" err="1">
                <a:solidFill>
                  <a:srgbClr val="00B0F0"/>
                </a:solidFill>
                <a:effectLst/>
                <a:latin typeface="Consolas" panose="020B0609020204030204" pitchFamily="49" charset="0"/>
              </a:rPr>
              <a:t>fontsize</a:t>
            </a:r>
            <a:r>
              <a:rPr lang="en-US" altLang="zh-CN" b="0" dirty="0">
                <a:solidFill>
                  <a:srgbClr val="00B0F0"/>
                </a:solidFill>
                <a:effectLst/>
                <a:latin typeface="Consolas" panose="020B0609020204030204" pitchFamily="49" charset="0"/>
              </a:rPr>
              <a:t>=12, colors="red")</a:t>
            </a:r>
          </a:p>
          <a:p>
            <a:pPr>
              <a:lnSpc>
                <a:spcPts val="2000"/>
              </a:lnSpc>
            </a:pPr>
            <a:r>
              <a:rPr lang="en-US" altLang="zh-CN" sz="1600" b="0" dirty="0" err="1">
                <a:solidFill>
                  <a:srgbClr val="00B0F0"/>
                </a:solidFill>
                <a:effectLst/>
                <a:latin typeface="Consolas" panose="020B0609020204030204" pitchFamily="49" charset="0"/>
              </a:rPr>
              <a:t>colorbar</a:t>
            </a:r>
            <a:r>
              <a:rPr lang="en-US" altLang="zh-CN" sz="1600" b="0" dirty="0">
                <a:solidFill>
                  <a:srgbClr val="00B0F0"/>
                </a:solidFill>
                <a:effectLst/>
                <a:latin typeface="Consolas" panose="020B0609020204030204" pitchFamily="49" charset="0"/>
              </a:rPr>
              <a:t>(c)</a:t>
            </a:r>
          </a:p>
          <a:p>
            <a:br>
              <a:rPr lang="en-US" altLang="zh-CN" sz="1600" b="0" dirty="0">
                <a:solidFill>
                  <a:srgbClr val="00B0F0"/>
                </a:solidFill>
                <a:effectLst/>
                <a:latin typeface="Consolas" panose="020B0609020204030204" pitchFamily="49" charset="0"/>
              </a:rPr>
            </a:br>
            <a:endParaRPr lang="en-US" altLang="zh-CN" sz="1600" b="0" dirty="0">
              <a:solidFill>
                <a:srgbClr val="00B0F0"/>
              </a:solidFill>
              <a:effectLst/>
              <a:latin typeface="Consolas" panose="020B0609020204030204" pitchFamily="49" charset="0"/>
            </a:endParaRPr>
          </a:p>
          <a:p>
            <a:endParaRPr lang="en-US" altLang="zh-CN" sz="1600" b="0" dirty="0">
              <a:solidFill>
                <a:srgbClr val="00B0F0"/>
              </a:solidFill>
              <a:effectLst/>
              <a:latin typeface="Consolas" panose="020B0609020204030204" pitchFamily="49" charset="0"/>
            </a:endParaRPr>
          </a:p>
          <a:p>
            <a:endParaRPr lang="fr-FR" altLang="zh-CN" sz="1600" b="0" dirty="0">
              <a:solidFill>
                <a:srgbClr val="00B0F0"/>
              </a:solidFill>
              <a:effectLst/>
              <a:latin typeface="Consolas" panose="020B0609020204030204" pitchFamily="49" charset="0"/>
            </a:endParaRPr>
          </a:p>
        </p:txBody>
      </p:sp>
      <p:sp>
        <p:nvSpPr>
          <p:cNvPr id="27" name="波形 26"/>
          <p:cNvSpPr/>
          <p:nvPr/>
        </p:nvSpPr>
        <p:spPr>
          <a:xfrm>
            <a:off x="0" y="713152"/>
            <a:ext cx="538259" cy="338555"/>
          </a:xfrm>
          <a:prstGeom prst="wave">
            <a:avLst/>
          </a:prstGeom>
          <a:gradFill rotWithShape="1">
            <a:gsLst>
              <a:gs pos="0">
                <a:srgbClr val="000076"/>
              </a:gs>
              <a:gs pos="50000">
                <a:srgbClr val="0000FF"/>
              </a:gs>
              <a:gs pos="100000">
                <a:srgbClr val="000076"/>
              </a:gs>
            </a:gsLst>
            <a:lin ang="5400000" scaled="1"/>
          </a:gradFill>
          <a:ln w="57150" cap="flat" cmpd="sng">
            <a:solidFill>
              <a:srgbClr val="00FF00">
                <a:alpha val="100000"/>
              </a:srgbClr>
            </a:solidFill>
            <a:prstDash val="solid"/>
            <a:miter lim="800000"/>
          </a:ln>
          <a:scene3d>
            <a:camera prst="orthographicFront"/>
            <a:lightRig rig="threePt" dir="t"/>
          </a:scene3d>
          <a:sp3d>
            <a:bevelT prst="angle"/>
          </a:sp3d>
        </p:spPr>
        <p:txBody>
          <a:bodyPr vert="horz" wrap="none" lIns="91440" tIns="45720" rIns="91440" bIns="45720" anchor="ctr">
            <a:noAutofit/>
          </a:bodyPr>
          <a:lstStyle/>
          <a:p>
            <a:pPr algn="ctr" eaLnBrk="0" fontAlgn="auto">
              <a:spcBef>
                <a:spcPts val="0"/>
              </a:spcBef>
              <a:spcAft>
                <a:spcPts val="0"/>
              </a:spcAft>
            </a:pPr>
            <a:r>
              <a:rPr lang="zh-CN" altLang="en-US" sz="1000" b="1" dirty="0">
                <a:solidFill>
                  <a:srgbClr val="FFFF00"/>
                </a:solidFill>
                <a:latin typeface="微软雅黑" panose="020B0503020204020204" pitchFamily="34" charset="-122"/>
                <a:ea typeface="微软雅黑" panose="020B0503020204020204" pitchFamily="34" charset="-122"/>
              </a:rPr>
              <a:t>例</a:t>
            </a:r>
            <a:r>
              <a:rPr lang="en-US" altLang="zh-CN" sz="1000" b="1" dirty="0">
                <a:solidFill>
                  <a:srgbClr val="FFFF00"/>
                </a:solidFill>
                <a:latin typeface="微软雅黑" panose="020B0503020204020204" pitchFamily="34" charset="-122"/>
                <a:ea typeface="微软雅黑" panose="020B0503020204020204" pitchFamily="34" charset="-122"/>
              </a:rPr>
              <a:t>54-6</a:t>
            </a:r>
            <a:endParaRPr lang="ko-KR" altLang="en-US" sz="1000" b="1" dirty="0">
              <a:solidFill>
                <a:srgbClr val="FFFF00"/>
              </a:solidFill>
              <a:latin typeface="微软雅黑" panose="020B0503020204020204" pitchFamily="34" charset="-122"/>
              <a:ea typeface="微软雅黑" panose="020B0503020204020204" pitchFamily="34" charset="-122"/>
            </a:endParaRPr>
          </a:p>
        </p:txBody>
      </p:sp>
      <p:sp>
        <p:nvSpPr>
          <p:cNvPr id="32" name="文本框 31"/>
          <p:cNvSpPr txBox="1"/>
          <p:nvPr/>
        </p:nvSpPr>
        <p:spPr>
          <a:xfrm>
            <a:off x="4264784" y="3165804"/>
            <a:ext cx="1900404" cy="276999"/>
          </a:xfrm>
          <a:prstGeom prst="rect">
            <a:avLst/>
          </a:prstGeom>
          <a:solidFill>
            <a:schemeClr val="bg1"/>
          </a:solidFill>
        </p:spPr>
        <p:txBody>
          <a:bodyPr wrap="square">
            <a:spAutoFit/>
          </a:bodyPr>
          <a:lstStyle/>
          <a:p>
            <a:pPr algn="dist"/>
            <a:r>
              <a:rPr lang="zh-CN" altLang="en-US" sz="1200" b="1" dirty="0">
                <a:solidFill>
                  <a:srgbClr val="FF0000"/>
                </a:solidFill>
                <a:latin typeface="微软雅黑" panose="020B0503020204020204" pitchFamily="34" charset="-122"/>
                <a:ea typeface="微软雅黑" panose="020B0503020204020204" pitchFamily="34" charset="-122"/>
              </a:rPr>
              <a:t>绘制温度插值的云图</a:t>
            </a:r>
          </a:p>
        </p:txBody>
      </p:sp>
      <p:sp>
        <p:nvSpPr>
          <p:cNvPr id="6" name="矩形 5"/>
          <p:cNvSpPr/>
          <p:nvPr/>
        </p:nvSpPr>
        <p:spPr>
          <a:xfrm>
            <a:off x="1295838" y="2474417"/>
            <a:ext cx="585589" cy="400110"/>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ko-KR" sz="2000" b="1" dirty="0">
                <a:solidFill>
                  <a:srgbClr val="FF0000"/>
                </a:solidFill>
                <a:highlight>
                  <a:srgbClr val="F0DA04"/>
                </a:highlight>
                <a:latin typeface="隶书" panose="02010509060101010101" pitchFamily="49" charset="-122"/>
                <a:ea typeface="隶书" panose="02010509060101010101" pitchFamily="49" charset="-122"/>
              </a:rPr>
              <a:t>20</a:t>
            </a:r>
            <a:endParaRPr lang="zh-CN" altLang="en-US" sz="2000" b="1" dirty="0">
              <a:solidFill>
                <a:srgbClr val="FF0000"/>
              </a:solidFill>
              <a:highlight>
                <a:srgbClr val="F0DA04"/>
              </a:highlight>
              <a:latin typeface="隶书" panose="02010509060101010101" pitchFamily="49" charset="-122"/>
              <a:ea typeface="隶书" panose="02010509060101010101" pitchFamily="49" charset="-122"/>
            </a:endParaRPr>
          </a:p>
        </p:txBody>
      </p:sp>
      <p:sp>
        <p:nvSpPr>
          <p:cNvPr id="7" name="矩形 6"/>
          <p:cNvSpPr/>
          <p:nvPr/>
        </p:nvSpPr>
        <p:spPr>
          <a:xfrm>
            <a:off x="2133144" y="2482393"/>
            <a:ext cx="539374" cy="400110"/>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ko-KR" sz="2000" b="1" dirty="0">
                <a:solidFill>
                  <a:srgbClr val="FF0000"/>
                </a:solidFill>
                <a:highlight>
                  <a:srgbClr val="F0DA04"/>
                </a:highlight>
                <a:latin typeface="隶书" panose="02010509060101010101" pitchFamily="49" charset="-122"/>
                <a:ea typeface="隶书" panose="02010509060101010101" pitchFamily="49" charset="-122"/>
              </a:rPr>
              <a:t>27</a:t>
            </a:r>
            <a:endParaRPr lang="zh-CN" altLang="en-US" sz="2000" b="1" dirty="0">
              <a:solidFill>
                <a:srgbClr val="FF0000"/>
              </a:solidFill>
              <a:highlight>
                <a:srgbClr val="F0DA04"/>
              </a:highlight>
              <a:latin typeface="隶书" panose="02010509060101010101" pitchFamily="49" charset="-122"/>
              <a:ea typeface="隶书" panose="02010509060101010101" pitchFamily="49" charset="-122"/>
            </a:endParaRPr>
          </a:p>
        </p:txBody>
      </p:sp>
      <p:cxnSp>
        <p:nvCxnSpPr>
          <p:cNvPr id="3" name="直接连接符 2"/>
          <p:cNvCxnSpPr>
            <a:endCxn id="10" idx="3"/>
          </p:cNvCxnSpPr>
          <p:nvPr/>
        </p:nvCxnSpPr>
        <p:spPr bwMode="auto">
          <a:xfrm flipH="1">
            <a:off x="732752" y="2712117"/>
            <a:ext cx="2393344" cy="1109"/>
          </a:xfrm>
          <a:prstGeom prst="line">
            <a:avLst/>
          </a:prstGeom>
          <a:ln w="28575">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3" name="直接连接符 32"/>
          <p:cNvCxnSpPr/>
          <p:nvPr/>
        </p:nvCxnSpPr>
        <p:spPr bwMode="auto">
          <a:xfrm flipH="1">
            <a:off x="791426" y="3292034"/>
            <a:ext cx="2393344" cy="1109"/>
          </a:xfrm>
          <a:prstGeom prst="line">
            <a:avLst/>
          </a:prstGeom>
          <a:ln w="28575">
            <a:solidFill>
              <a:schemeClr val="bg1"/>
            </a:solidFill>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34" name="直接连接符 33"/>
          <p:cNvCxnSpPr/>
          <p:nvPr/>
        </p:nvCxnSpPr>
        <p:spPr bwMode="auto">
          <a:xfrm>
            <a:off x="1497312" y="2197681"/>
            <a:ext cx="0" cy="1673141"/>
          </a:xfrm>
          <a:prstGeom prst="line">
            <a:avLst/>
          </a:prstGeom>
          <a:noFill/>
          <a:ln w="28575" cap="flat" cmpd="sng" algn="ctr">
            <a:solidFill>
              <a:schemeClr val="bg1"/>
            </a:solidFill>
            <a:prstDash val="solid"/>
            <a:round/>
            <a:headEnd type="none" w="med" len="med"/>
            <a:tailEnd type="none" w="med" len="med"/>
          </a:ln>
          <a:effectLst/>
        </p:spPr>
      </p:cxnSp>
      <p:cxnSp>
        <p:nvCxnSpPr>
          <p:cNvPr id="35" name="直接连接符 34"/>
          <p:cNvCxnSpPr/>
          <p:nvPr/>
        </p:nvCxnSpPr>
        <p:spPr bwMode="auto">
          <a:xfrm>
            <a:off x="2411761" y="2139702"/>
            <a:ext cx="27695" cy="1732249"/>
          </a:xfrm>
          <a:prstGeom prst="line">
            <a:avLst/>
          </a:prstGeom>
          <a:noFill/>
          <a:ln w="28575" cap="flat" cmpd="sng" algn="ctr">
            <a:solidFill>
              <a:schemeClr val="bg1"/>
            </a:solidFill>
            <a:prstDash val="solid"/>
            <a:round/>
            <a:headEnd type="none" w="med" len="med"/>
            <a:tailEnd type="none" w="med" len="med"/>
          </a:ln>
          <a:effectLst/>
        </p:spPr>
      </p:cxnSp>
      <p:sp>
        <p:nvSpPr>
          <p:cNvPr id="8" name="矩形 7"/>
          <p:cNvSpPr/>
          <p:nvPr/>
        </p:nvSpPr>
        <p:spPr>
          <a:xfrm>
            <a:off x="1148388" y="3057227"/>
            <a:ext cx="716935" cy="400110"/>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ko-KR" sz="2000" b="1" dirty="0">
                <a:solidFill>
                  <a:srgbClr val="FF0000"/>
                </a:solidFill>
                <a:highlight>
                  <a:srgbClr val="F0DA04"/>
                </a:highlight>
                <a:latin typeface="隶书" panose="02010509060101010101" pitchFamily="49" charset="-122"/>
                <a:ea typeface="隶书" panose="02010509060101010101" pitchFamily="49" charset="-122"/>
              </a:rPr>
              <a:t>22.5</a:t>
            </a:r>
            <a:endParaRPr lang="zh-CN" altLang="en-US" sz="2000" b="1" dirty="0">
              <a:solidFill>
                <a:srgbClr val="FF0000"/>
              </a:solidFill>
              <a:highlight>
                <a:srgbClr val="F0DA04"/>
              </a:highlight>
              <a:latin typeface="隶书" panose="02010509060101010101" pitchFamily="49" charset="-122"/>
              <a:ea typeface="隶书" panose="02010509060101010101" pitchFamily="49" charset="-122"/>
            </a:endParaRPr>
          </a:p>
        </p:txBody>
      </p:sp>
      <p:sp>
        <p:nvSpPr>
          <p:cNvPr id="9" name="矩形 8"/>
          <p:cNvSpPr/>
          <p:nvPr/>
        </p:nvSpPr>
        <p:spPr>
          <a:xfrm>
            <a:off x="2102215" y="3037976"/>
            <a:ext cx="716935" cy="400110"/>
          </a:xfrm>
          <a:prstGeom prst="rect">
            <a:avLst/>
          </a:prstGeom>
          <a:noFill/>
          <a:ln>
            <a:noFill/>
          </a:ln>
          <a:scene3d>
            <a:camera prst="orthographicFront"/>
            <a:lightRig rig="threePt" dir="t"/>
          </a:scene3d>
          <a:sp3d>
            <a:bevelT prst="angle"/>
          </a:sp3d>
        </p:spPr>
        <p:style>
          <a:lnRef idx="3">
            <a:schemeClr val="lt1"/>
          </a:lnRef>
          <a:fillRef idx="1">
            <a:schemeClr val="accent1"/>
          </a:fillRef>
          <a:effectRef idx="1">
            <a:schemeClr val="accent1"/>
          </a:effectRef>
          <a:fontRef idx="minor">
            <a:schemeClr val="lt1"/>
          </a:fontRef>
        </p:style>
        <p:txBody>
          <a:bodyPr wrap="square">
            <a:spAutoFit/>
          </a:bodyPr>
          <a:lstStyle/>
          <a:p>
            <a:r>
              <a:rPr lang="en-US" altLang="ko-KR" sz="2000" b="1" dirty="0">
                <a:solidFill>
                  <a:srgbClr val="FF0000"/>
                </a:solidFill>
                <a:highlight>
                  <a:srgbClr val="F0DA04"/>
                </a:highlight>
                <a:latin typeface="隶书" panose="02010509060101010101" pitchFamily="49" charset="-122"/>
                <a:ea typeface="隶书" panose="02010509060101010101" pitchFamily="49" charset="-122"/>
              </a:rPr>
              <a:t>30.0</a:t>
            </a:r>
            <a:endParaRPr lang="zh-CN" altLang="en-US" sz="2000" b="1" dirty="0">
              <a:solidFill>
                <a:srgbClr val="FF0000"/>
              </a:solidFill>
              <a:highlight>
                <a:srgbClr val="F0DA04"/>
              </a:highlight>
              <a:latin typeface="隶书" panose="02010509060101010101" pitchFamily="49" charset="-122"/>
              <a:ea typeface="隶书" panose="02010509060101010101" pitchFamily="49" charset="-122"/>
            </a:endParaRPr>
          </a:p>
        </p:txBody>
      </p:sp>
      <p:sp>
        <p:nvSpPr>
          <p:cNvPr id="36" name="文本框 35"/>
          <p:cNvSpPr txBox="1"/>
          <p:nvPr/>
        </p:nvSpPr>
        <p:spPr>
          <a:xfrm>
            <a:off x="1669410" y="2129121"/>
            <a:ext cx="1721566" cy="348813"/>
          </a:xfrm>
          <a:prstGeom prst="rect">
            <a:avLst/>
          </a:prstGeom>
          <a:noFill/>
        </p:spPr>
        <p:txBody>
          <a:bodyPr wrap="square">
            <a:spAutoFit/>
          </a:bodyPr>
          <a:lstStyle/>
          <a:p>
            <a:pPr>
              <a:lnSpc>
                <a:spcPts val="2000"/>
              </a:lnSpc>
            </a:pPr>
            <a:r>
              <a:rPr lang="en-US" altLang="zh-CN" b="0" dirty="0">
                <a:solidFill>
                  <a:srgbClr val="00B0F0"/>
                </a:solidFill>
                <a:effectLst/>
                <a:latin typeface="Consolas" panose="020B0609020204030204" pitchFamily="49" charset="0"/>
              </a:rPr>
              <a:t>#</a:t>
            </a:r>
            <a:r>
              <a:rPr lang="zh-CN" altLang="en-US" b="0" dirty="0">
                <a:solidFill>
                  <a:srgbClr val="00B0F0"/>
                </a:solidFill>
                <a:effectLst/>
                <a:latin typeface="Consolas" panose="020B0609020204030204" pitchFamily="49" charset="0"/>
              </a:rPr>
              <a:t>原始图</a:t>
            </a:r>
          </a:p>
        </p:txBody>
      </p:sp>
      <p:pic>
        <p:nvPicPr>
          <p:cNvPr id="37" name="图片 36"/>
          <p:cNvPicPr>
            <a:picLocks noChangeAspect="1"/>
          </p:cNvPicPr>
          <p:nvPr/>
        </p:nvPicPr>
        <p:blipFill rotWithShape="1">
          <a:blip r:embed="rId4">
            <a:extLst>
              <a:ext uri="{BEBA8EAE-BF5A-486C-A8C5-ECC9F3942E4B}">
                <a14:imgProps xmlns:a14="http://schemas.microsoft.com/office/drawing/2010/main">
                  <a14:imgLayer r:embed="rId5">
                    <a14:imgEffect>
                      <a14:backgroundRemoval t="14580" b="67220" l="29339" r="63302"/>
                    </a14:imgEffect>
                  </a14:imgLayer>
                </a14:imgProps>
              </a:ext>
            </a:extLst>
          </a:blip>
          <a:srcRect l="30799" t="19125" r="39391" b="32807"/>
          <a:stretch>
            <a:fillRect/>
          </a:stretch>
        </p:blipFill>
        <p:spPr>
          <a:xfrm>
            <a:off x="6545479" y="3299603"/>
            <a:ext cx="2274123" cy="1254005"/>
          </a:xfrm>
          <a:prstGeom prst="rect">
            <a:avLst/>
          </a:prstGeom>
          <a:solidFill>
            <a:schemeClr val="bg1"/>
          </a:solidFill>
        </p:spPr>
      </p:pic>
      <p:sp>
        <p:nvSpPr>
          <p:cNvPr id="38" name="文本框 37"/>
          <p:cNvSpPr txBox="1"/>
          <p:nvPr/>
        </p:nvSpPr>
        <p:spPr>
          <a:xfrm>
            <a:off x="6777451" y="3003708"/>
            <a:ext cx="2109872" cy="276999"/>
          </a:xfrm>
          <a:prstGeom prst="rect">
            <a:avLst/>
          </a:prstGeom>
          <a:solidFill>
            <a:schemeClr val="bg1"/>
          </a:solidFill>
        </p:spPr>
        <p:txBody>
          <a:bodyPr wrap="squar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解10000个方程组绘制云图</a:t>
            </a:r>
          </a:p>
        </p:txBody>
      </p:sp>
      <p:sp>
        <p:nvSpPr>
          <p:cNvPr id="39" name="文本框 38"/>
          <p:cNvSpPr txBox="1"/>
          <p:nvPr/>
        </p:nvSpPr>
        <p:spPr>
          <a:xfrm>
            <a:off x="6518064" y="3376896"/>
            <a:ext cx="666888" cy="369332"/>
          </a:xfrm>
          <a:prstGeom prst="rect">
            <a:avLst/>
          </a:prstGeom>
          <a:noFill/>
        </p:spPr>
        <p:txBody>
          <a:bodyPr wrap="square">
            <a:spAutoFit/>
          </a:bodyPr>
          <a:lstStyle/>
          <a:p>
            <a:r>
              <a:rPr lang="zh-CN" altLang="en-US" b="0" i="0" dirty="0">
                <a:solidFill>
                  <a:schemeClr val="bg1"/>
                </a:solidFill>
                <a:effectLst/>
                <a:highlight>
                  <a:srgbClr val="3399FF"/>
                </a:highlight>
                <a:latin typeface="微软雅黑" panose="020B0503020204020204" pitchFamily="34" charset="-122"/>
                <a:ea typeface="微软雅黑" panose="020B0503020204020204" pitchFamily="34" charset="-122"/>
              </a:rPr>
              <a:t>对比</a:t>
            </a:r>
            <a:endParaRPr lang="zh-CN" altLang="en-US" dirty="0">
              <a:solidFill>
                <a:schemeClr val="bg1"/>
              </a:solidFill>
              <a:highlight>
                <a:srgbClr val="3399FF"/>
              </a:highlight>
            </a:endParaRPr>
          </a:p>
        </p:txBody>
      </p:sp>
    </p:spTree>
  </p:cSld>
  <p:clrMapOvr>
    <a:masterClrMapping/>
  </p:clrMapOvr>
</p:sld>
</file>

<file path=ppt/theme/theme1.xml><?xml version="1.0" encoding="utf-8"?>
<a:theme xmlns:a="http://schemas.openxmlformats.org/drawingml/2006/main" name="主题1">
  <a:themeElements>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arpa">
      <a:majorFont>
        <a:latin typeface="Helvetic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91440" tIns="45720" rIns="91440" bIns="45720" numCol="1" anchor="t" anchorCtr="0" compatLnSpc="1">
        <a:spAutoFit/>
      </a:bodyPr>
      <a:lstStyle>
        <a:defPPr marL="177800" marR="0" indent="-177800" algn="ctr" defTabSz="914400" rtl="0" eaLnBrk="0" fontAlgn="base" latinLnBrk="0" hangingPunct="0">
          <a:lnSpc>
            <a:spcPct val="11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noFill/>
        <a:ln w="12700" cap="flat" cmpd="sng" algn="ctr">
          <a:noFill/>
          <a:prstDash val="solid"/>
          <a:round/>
          <a:headEnd type="none" w="med" len="med"/>
          <a:tailEnd type="none" w="med" len="med"/>
        </a:ln>
      </a:spPr>
      <a:bodyPr vert="horz" wrap="square" lIns="91440" tIns="45720" rIns="91440" bIns="45720" numCol="1" anchor="t" anchorCtr="0" compatLnSpc="1">
        <a:spAutoFit/>
      </a:bodyPr>
      <a:lstStyle>
        <a:defPPr marL="177800" marR="0" indent="-177800" algn="ctr" defTabSz="914400" rtl="0" eaLnBrk="0" fontAlgn="base" latinLnBrk="0" hangingPunct="0">
          <a:lnSpc>
            <a:spcPct val="110000"/>
          </a:lnSpc>
          <a:spcBef>
            <a:spcPct val="0"/>
          </a:spcBef>
          <a:spcAft>
            <a:spcPct val="0"/>
          </a:spcAft>
          <a:buClrTx/>
          <a:buSzTx/>
          <a:buFontTx/>
          <a:buNone/>
          <a:defRPr kumimoji="0" lang="en-US" sz="1600" b="1"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darpa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arpa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arpa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arpa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arpa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arpa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arpa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3019</TotalTime>
  <Pages>154</Pages>
  <Words>15072</Words>
  <Application>Microsoft Office PowerPoint</Application>
  <PresentationFormat>全屏显示(16:9)</PresentationFormat>
  <Paragraphs>1487</Paragraphs>
  <Slides>67</Slides>
  <Notes>44</Notes>
  <HiddenSlides>0</HiddenSlides>
  <MMClips>0</MMClips>
  <ScaleCrop>false</ScaleCrop>
  <HeadingPairs>
    <vt:vector size="10" baseType="variant">
      <vt:variant>
        <vt:lpstr>已用的字体</vt:lpstr>
      </vt:variant>
      <vt:variant>
        <vt:i4>23</vt:i4>
      </vt:variant>
      <vt:variant>
        <vt:lpstr>主题</vt:lpstr>
      </vt:variant>
      <vt:variant>
        <vt:i4>1</vt:i4>
      </vt:variant>
      <vt:variant>
        <vt:lpstr>链接</vt:lpstr>
      </vt:variant>
      <vt:variant>
        <vt:i4>2</vt:i4>
      </vt:variant>
      <vt:variant>
        <vt:lpstr>嵌入 OLE 服务器</vt:lpstr>
      </vt:variant>
      <vt:variant>
        <vt:i4>2</vt:i4>
      </vt:variant>
      <vt:variant>
        <vt:lpstr>幻灯片标题</vt:lpstr>
      </vt:variant>
      <vt:variant>
        <vt:i4>67</vt:i4>
      </vt:variant>
    </vt:vector>
  </HeadingPairs>
  <TitlesOfParts>
    <vt:vector size="95" baseType="lpstr">
      <vt:lpstr>-apple-system</vt:lpstr>
      <vt:lpstr>Arial Unicode MS</vt:lpstr>
      <vt:lpstr>Helvetica Neue</vt:lpstr>
      <vt:lpstr>PingFang SC</vt:lpstr>
      <vt:lpstr>PingFangSC</vt:lpstr>
      <vt:lpstr>STHeiti SC</vt:lpstr>
      <vt:lpstr>等线</vt:lpstr>
      <vt:lpstr>华文楷体</vt:lpstr>
      <vt:lpstr>华文宋体</vt:lpstr>
      <vt:lpstr>楷体_GB2312</vt:lpstr>
      <vt:lpstr>隶书</vt:lpstr>
      <vt:lpstr>宋体</vt:lpstr>
      <vt:lpstr>Microsoft YaHei</vt:lpstr>
      <vt:lpstr>Microsoft YaHei</vt:lpstr>
      <vt:lpstr>微软雅黑 Light</vt:lpstr>
      <vt:lpstr>Arial</vt:lpstr>
      <vt:lpstr>Calibri</vt:lpstr>
      <vt:lpstr>Cambria Math</vt:lpstr>
      <vt:lpstr>Consolas</vt:lpstr>
      <vt:lpstr>Helvetica</vt:lpstr>
      <vt:lpstr>Roboto</vt:lpstr>
      <vt:lpstr>Times New Roman</vt:lpstr>
      <vt:lpstr>Wingdings</vt:lpstr>
      <vt:lpstr>主题1</vt:lpstr>
      <vt:lpstr>file:///D:\sysjulia\tens.xlsx</vt:lpstr>
      <vt:lpstr>file:///D:\sysjulia\tens.xlsx</vt:lpstr>
      <vt:lpstr>Graph</vt:lpstr>
      <vt:lpstr>包装程序外壳对象</vt:lpstr>
      <vt:lpstr>PowerPoint 演示文稿</vt:lpstr>
      <vt:lpstr>§5 曲线拟合和数值插值</vt:lpstr>
      <vt:lpstr>PowerPoint 演示文稿</vt:lpstr>
      <vt:lpstr>§5.1多项式——最常见最简单连续函数 </vt:lpstr>
      <vt:lpstr>§5.1多项式——多项式表示方法</vt:lpstr>
      <vt:lpstr>§5.1多项式——多项式运算常用函数</vt:lpstr>
      <vt:lpstr>§5.2 多项式拟合曲线polyfit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机器学习中欠拟合和过拟合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§5.3 fit拟合曲线或曲面——5次多项式拟合效果</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在某山区平面区域的长（2800）等分7份，宽（2400）等分6份， 测得8 * 7=56个节点高度z，试作出该山区的地貌图.（单位：米） </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 aibin</cp:lastModifiedBy>
  <cp:revision>1777</cp:revision>
  <dcterms:created xsi:type="dcterms:W3CDTF">2024-12-24T08:34:21Z</dcterms:created>
  <dcterms:modified xsi:type="dcterms:W3CDTF">2025-04-08T07:13:39Z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B2DF22F329BE408C80D653245774A92F_12</vt:lpwstr>
  </property>
  <property fmtid="{D5CDD505-2E9C-101B-9397-08002B2CF9AE}" pid="3" name="KSOProductBuildVer">
    <vt:lpwstr>2052-12.1.0.18912</vt:lpwstr>
  </property>
</Properties>
</file>