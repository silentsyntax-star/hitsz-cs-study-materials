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5" r:id="rId1"/>
  </p:sldMasterIdLst>
  <p:notesMasterIdLst>
    <p:notesMasterId r:id="rId72"/>
  </p:notesMasterIdLst>
  <p:sldIdLst>
    <p:sldId id="1821" r:id="rId2"/>
    <p:sldId id="671" r:id="rId3"/>
    <p:sldId id="1800" r:id="rId4"/>
    <p:sldId id="1793" r:id="rId5"/>
    <p:sldId id="1795" r:id="rId6"/>
    <p:sldId id="1831" r:id="rId7"/>
    <p:sldId id="1802" r:id="rId8"/>
    <p:sldId id="1837" r:id="rId9"/>
    <p:sldId id="1803" r:id="rId10"/>
    <p:sldId id="1825" r:id="rId11"/>
    <p:sldId id="1784" r:id="rId12"/>
    <p:sldId id="1826" r:id="rId13"/>
    <p:sldId id="1839" r:id="rId14"/>
    <p:sldId id="1840" r:id="rId15"/>
    <p:sldId id="1852" r:id="rId16"/>
    <p:sldId id="1853" r:id="rId17"/>
    <p:sldId id="1805" r:id="rId18"/>
    <p:sldId id="1751" r:id="rId19"/>
    <p:sldId id="1824" r:id="rId20"/>
    <p:sldId id="1807" r:id="rId21"/>
    <p:sldId id="10140" r:id="rId22"/>
    <p:sldId id="10141" r:id="rId23"/>
    <p:sldId id="1855" r:id="rId24"/>
    <p:sldId id="1760" r:id="rId25"/>
    <p:sldId id="1808" r:id="rId26"/>
    <p:sldId id="1809" r:id="rId27"/>
    <p:sldId id="1810" r:id="rId28"/>
    <p:sldId id="1762" r:id="rId29"/>
    <p:sldId id="1765" r:id="rId30"/>
    <p:sldId id="1732" r:id="rId31"/>
    <p:sldId id="1733" r:id="rId32"/>
    <p:sldId id="1811" r:id="rId33"/>
    <p:sldId id="1812" r:id="rId34"/>
    <p:sldId id="1770" r:id="rId35"/>
    <p:sldId id="1814" r:id="rId36"/>
    <p:sldId id="1768" r:id="rId37"/>
    <p:sldId id="1775" r:id="rId38"/>
    <p:sldId id="1778" r:id="rId39"/>
    <p:sldId id="1815" r:id="rId40"/>
    <p:sldId id="1816" r:id="rId41"/>
    <p:sldId id="1858" r:id="rId42"/>
    <p:sldId id="1859" r:id="rId43"/>
    <p:sldId id="1860" r:id="rId44"/>
    <p:sldId id="1861" r:id="rId45"/>
    <p:sldId id="1781" r:id="rId46"/>
    <p:sldId id="257" r:id="rId47"/>
    <p:sldId id="1748" r:id="rId48"/>
    <p:sldId id="1819" r:id="rId49"/>
    <p:sldId id="1818" r:id="rId50"/>
    <p:sldId id="1844" r:id="rId51"/>
    <p:sldId id="1846" r:id="rId52"/>
    <p:sldId id="1849" r:id="rId53"/>
    <p:sldId id="1845" r:id="rId54"/>
    <p:sldId id="1843" r:id="rId55"/>
    <p:sldId id="1847" r:id="rId56"/>
    <p:sldId id="1848" r:id="rId57"/>
    <p:sldId id="1820" r:id="rId58"/>
    <p:sldId id="1709" r:id="rId59"/>
    <p:sldId id="660" r:id="rId60"/>
    <p:sldId id="1686" r:id="rId61"/>
    <p:sldId id="1687" r:id="rId62"/>
    <p:sldId id="1827" r:id="rId63"/>
    <p:sldId id="10136" r:id="rId64"/>
    <p:sldId id="1863" r:id="rId65"/>
    <p:sldId id="10134" r:id="rId66"/>
    <p:sldId id="10135" r:id="rId67"/>
    <p:sldId id="10142" r:id="rId68"/>
    <p:sldId id="10137" r:id="rId69"/>
    <p:sldId id="10138" r:id="rId70"/>
    <p:sldId id="10139" r:id="rId71"/>
  </p:sldIdLst>
  <p:sldSz cx="9144000" cy="5143500" type="screen16x9"/>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521415D9-36F7-43E2-AB2F-B90AF26B5E84}">
      <p14:sectionLst xmlns:p14="http://schemas.microsoft.com/office/powerpoint/2010/main">
        <p14:section name="默认节" id="{A8881EEE-EB7B-4D2E-8CAE-C412EC59D3B7}">
          <p14:sldIdLst>
            <p14:sldId id="1821"/>
            <p14:sldId id="671"/>
            <p14:sldId id="1800"/>
            <p14:sldId id="1793"/>
            <p14:sldId id="1795"/>
            <p14:sldId id="1831"/>
            <p14:sldId id="1802"/>
            <p14:sldId id="1837"/>
            <p14:sldId id="1803"/>
            <p14:sldId id="1825"/>
            <p14:sldId id="1784"/>
            <p14:sldId id="1826"/>
            <p14:sldId id="1839"/>
            <p14:sldId id="1840"/>
            <p14:sldId id="1852"/>
            <p14:sldId id="1853"/>
            <p14:sldId id="1805"/>
            <p14:sldId id="1751"/>
            <p14:sldId id="1824"/>
            <p14:sldId id="1807"/>
            <p14:sldId id="10140"/>
            <p14:sldId id="10141"/>
            <p14:sldId id="1855"/>
            <p14:sldId id="1760"/>
            <p14:sldId id="1808"/>
            <p14:sldId id="1809"/>
            <p14:sldId id="1810"/>
            <p14:sldId id="1762"/>
            <p14:sldId id="1765"/>
            <p14:sldId id="1732"/>
            <p14:sldId id="1733"/>
            <p14:sldId id="1811"/>
            <p14:sldId id="1812"/>
            <p14:sldId id="1770"/>
            <p14:sldId id="1814"/>
            <p14:sldId id="1768"/>
            <p14:sldId id="1775"/>
            <p14:sldId id="1778"/>
            <p14:sldId id="1815"/>
            <p14:sldId id="1816"/>
            <p14:sldId id="1858"/>
            <p14:sldId id="1859"/>
            <p14:sldId id="1860"/>
            <p14:sldId id="1861"/>
            <p14:sldId id="1781"/>
            <p14:sldId id="257"/>
            <p14:sldId id="1748"/>
            <p14:sldId id="1819"/>
            <p14:sldId id="1818"/>
            <p14:sldId id="1844"/>
            <p14:sldId id="1846"/>
            <p14:sldId id="1849"/>
            <p14:sldId id="1845"/>
            <p14:sldId id="1843"/>
            <p14:sldId id="1847"/>
            <p14:sldId id="1848"/>
            <p14:sldId id="1820"/>
            <p14:sldId id="1709"/>
            <p14:sldId id="660"/>
            <p14:sldId id="1686"/>
            <p14:sldId id="1687"/>
            <p14:sldId id="1827"/>
            <p14:sldId id="10136"/>
            <p14:sldId id="1863"/>
            <p14:sldId id="10134"/>
            <p14:sldId id="10135"/>
            <p14:sldId id="10142"/>
            <p14:sldId id="10137"/>
            <p14:sldId id="10138"/>
            <p14:sldId id="10139"/>
          </p14:sldIdLst>
        </p14:section>
      </p14:sectionLst>
    </p:ext>
    <p:ext uri="{EFAFB233-063F-42B5-8137-9DF3F51BA10A}">
      <p15:sldGuideLst xmlns:p15="http://schemas.microsoft.com/office/powerpoint/2012/main">
        <p15:guide id="3" orient="horz" pos="4201" userDrawn="1">
          <p15:clr>
            <a:srgbClr val="A4A3A4"/>
          </p15:clr>
        </p15:guide>
        <p15:guide id="4" pos="2879">
          <p15:clr>
            <a:srgbClr val="A4A3A4"/>
          </p15:clr>
        </p15:guide>
        <p15:guide id="5" orient="horz" pos="315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guide id="3" orient="horz" pos="4200">
          <p15:clr>
            <a:srgbClr val="A4A3A4"/>
          </p15:clr>
        </p15:guide>
        <p15:guide id="4" pos="287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66CCFF"/>
    <a:srgbClr val="F0DA04"/>
    <a:srgbClr val="003B76"/>
    <a:srgbClr val="33CCFF"/>
    <a:srgbClr val="736303"/>
    <a:srgbClr val="6D629C"/>
    <a:srgbClr val="E6E6E6"/>
    <a:srgbClr val="3366FF"/>
    <a:srgbClr val="7F62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56" autoAdjust="0"/>
    <p:restoredTop sz="93673" autoAdjust="0"/>
  </p:normalViewPr>
  <p:slideViewPr>
    <p:cSldViewPr snapToObjects="1">
      <p:cViewPr varScale="1">
        <p:scale>
          <a:sx n="87" d="100"/>
          <a:sy n="87" d="100"/>
        </p:scale>
        <p:origin x="692" y="48"/>
      </p:cViewPr>
      <p:guideLst>
        <p:guide orient="horz" pos="4201"/>
        <p:guide pos="2879"/>
        <p:guide orient="horz" pos="3151"/>
      </p:guideLst>
    </p:cSldViewPr>
  </p:slideViewPr>
  <p:outlineViewPr>
    <p:cViewPr>
      <p:scale>
        <a:sx n="33" d="100"/>
        <a:sy n="33" d="100"/>
      </p:scale>
      <p:origin x="0" y="-14260"/>
    </p:cViewPr>
  </p:outlineViewPr>
  <p:notesTextViewPr>
    <p:cViewPr>
      <p:scale>
        <a:sx n="300" d="100"/>
        <a:sy n="300" d="100"/>
      </p:scale>
      <p:origin x="0" y="0"/>
    </p:cViewPr>
  </p:notesTextViewPr>
  <p:sorterViewPr>
    <p:cViewPr>
      <p:scale>
        <a:sx n="100" d="100"/>
        <a:sy n="100" d="100"/>
      </p:scale>
      <p:origin x="0" y="-26472"/>
    </p:cViewPr>
  </p:sorterViewPr>
  <p:notesViewPr>
    <p:cSldViewPr snapToObjects="1">
      <p:cViewPr varScale="1">
        <p:scale>
          <a:sx n="47" d="100"/>
          <a:sy n="47" d="100"/>
        </p:scale>
        <p:origin x="2694" y="60"/>
      </p:cViewPr>
      <p:guideLst>
        <p:guide orient="horz" pos="2880"/>
        <p:guide pos="2160"/>
        <p:guide orient="horz" pos="4200"/>
        <p:guide pos="2879"/>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F4DA7F0C-A8F0-4487-826C-000FF0B66B21}" type="datetimeFigureOut">
              <a:rPr lang="zh-CN" altLang="en-US"/>
              <a:pPr>
                <a:defRPr/>
              </a:pPr>
              <a:t>2025/4/22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B6C58412-F58B-4DA5-9529-CC0CDE193992}" type="slidenum">
              <a:rPr lang="zh-CN" altLang="en-US"/>
              <a:pPr>
                <a:defRPr/>
              </a:pPr>
              <a:t>‹#›</a:t>
            </a:fld>
            <a:endParaRPr lang="zh-CN" altLang="en-US"/>
          </a:p>
        </p:txBody>
      </p:sp>
    </p:spTree>
    <p:extLst>
      <p:ext uri="{BB962C8B-B14F-4D97-AF65-F5344CB8AC3E}">
        <p14:creationId xmlns:p14="http://schemas.microsoft.com/office/powerpoint/2010/main" val="256516533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zhuanlan.zhihu.com/p/142467593"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baike.baidu.com/item/%E7%90%86%E6%83%B3%E6%B0%94%E4%BD%93%E7%8A%B6%E6%80%81%E6%96%B9%E7%A8%8B/2711672?fromModule=lemma_inlink"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endParaRPr lang="en-US" altLang="zh-CN" dirty="0"/>
          </a:p>
          <a:p>
            <a:endParaRPr lang="en-US" altLang="zh-CN" dirty="0"/>
          </a:p>
          <a:p>
            <a:r>
              <a:rPr lang="zh-CN" altLang="en-US" dirty="0"/>
              <a:t>存在最优化选择</a:t>
            </a:r>
            <a:endParaRPr lang="en-US" altLang="zh-CN" dirty="0"/>
          </a:p>
          <a:p>
            <a:r>
              <a:rPr lang="zh-CN" altLang="en-US" dirty="0"/>
              <a:t>人生路漫漫兮，其修远兮，关键只有几步</a:t>
            </a:r>
            <a:endParaRPr lang="en-US" altLang="zh-CN" dirty="0"/>
          </a:p>
          <a:p>
            <a:r>
              <a:rPr lang="zh-CN" altLang="en-US" dirty="0"/>
              <a:t>高考、工作、结婚生子</a:t>
            </a:r>
            <a:endParaRPr lang="en-US" altLang="zh-CN" dirty="0"/>
          </a:p>
          <a:p>
            <a:r>
              <a:rPr lang="zh-CN" altLang="en-US" dirty="0"/>
              <a:t>人生需要优化自己选择，最佳的选择，不是选择最好的，而是选择适合自己的</a:t>
            </a:r>
            <a:endParaRPr lang="en-US" altLang="zh-CN" dirty="0"/>
          </a:p>
          <a:p>
            <a:r>
              <a:rPr lang="zh-CN" altLang="en-US" dirty="0"/>
              <a:t>选课也同样如此，面对上百们选修课，上百种选择，也存在优化学选择</a:t>
            </a:r>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a:t>
            </a:fld>
            <a:endParaRPr lang="zh-CN" altLang="en-US"/>
          </a:p>
        </p:txBody>
      </p:sp>
    </p:spTree>
    <p:extLst>
      <p:ext uri="{BB962C8B-B14F-4D97-AF65-F5344CB8AC3E}">
        <p14:creationId xmlns:p14="http://schemas.microsoft.com/office/powerpoint/2010/main" val="17727253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求解线性、二次和非线性优化问题</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1" i="0" dirty="0">
                <a:solidFill>
                  <a:srgbClr val="666666"/>
                </a:solidFill>
                <a:effectLst/>
                <a:latin typeface="Microsoft YaHei" panose="020B0503020204020204" pitchFamily="34" charset="-122"/>
                <a:ea typeface="Microsoft YaHei" panose="020B0503020204020204" pitchFamily="34" charset="-122"/>
              </a:rPr>
              <a:t>机器学习（深度学习）那些项目适合做本科毕业设计</a:t>
            </a:r>
            <a:br>
              <a:rPr lang="zh-CN" altLang="en-US" dirty="0"/>
            </a:br>
            <a:r>
              <a:rPr lang="zh-CN" altLang="en-US" dirty="0"/>
              <a:t>优化工具箱提供了多个函数，在满足约束的条件下求出目标函数的最小值或最大值</a:t>
            </a: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a:t>
            </a:fld>
            <a:endParaRPr lang="zh-CN" altLang="en-US"/>
          </a:p>
        </p:txBody>
      </p:sp>
    </p:spTree>
    <p:extLst>
      <p:ext uri="{BB962C8B-B14F-4D97-AF65-F5344CB8AC3E}">
        <p14:creationId xmlns:p14="http://schemas.microsoft.com/office/powerpoint/2010/main" val="3383759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求解线性、二次和非线性优化问题</a:t>
            </a:r>
            <a:br>
              <a:rPr lang="zh-CN" altLang="en-US" dirty="0"/>
            </a:br>
            <a:r>
              <a:rPr lang="zh-CN" altLang="en-US" dirty="0"/>
              <a:t>优化工具箱提供了多个函数，在满足约束的条件下求出目标函数的最小值或最大值</a:t>
            </a: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3</a:t>
            </a:fld>
            <a:endParaRPr lang="zh-CN" altLang="en-US"/>
          </a:p>
        </p:txBody>
      </p:sp>
    </p:spTree>
    <p:extLst>
      <p:ext uri="{BB962C8B-B14F-4D97-AF65-F5344CB8AC3E}">
        <p14:creationId xmlns:p14="http://schemas.microsoft.com/office/powerpoint/2010/main" val="3383759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algn="l">
                  <a:buFont typeface="+mj-lt"/>
                  <a:buAutoNum type="arabicPeriod"/>
                </a:pPr>
                <a:r>
                  <a:rPr lang="zh-CN" altLang="en-US" b="0" i="0" dirty="0">
                    <a:solidFill>
                      <a:srgbClr val="333333"/>
                    </a:solidFill>
                    <a:effectLst/>
                    <a:latin typeface="PingFang SC"/>
                  </a:rPr>
                  <a:t>‌</a:t>
                </a:r>
                <a:r>
                  <a:rPr lang="zh-CN" altLang="en-US" b="1" i="0" dirty="0">
                    <a:solidFill>
                      <a:srgbClr val="333333"/>
                    </a:solidFill>
                    <a:effectLst/>
                    <a:latin typeface="PingFang SC"/>
                  </a:rPr>
                  <a:t>资源分配问题</a:t>
                </a:r>
                <a:r>
                  <a:rPr lang="zh-CN" altLang="en-US" b="0" i="0" dirty="0">
                    <a:solidFill>
                      <a:srgbClr val="333333"/>
                    </a:solidFill>
                    <a:effectLst/>
                    <a:latin typeface="PingFang SC"/>
                  </a:rPr>
                  <a:t>‌</a:t>
                </a:r>
              </a:p>
              <a:p>
                <a:pPr marL="742950" lvl="1" indent="-285750" algn="l">
                  <a:buFont typeface="+mj-lt"/>
                  <a:buAutoNum type="arabicPeriod"/>
                </a:pPr>
                <a:r>
                  <a:rPr lang="zh-CN" altLang="en-US" b="0" i="0" dirty="0">
                    <a:solidFill>
                      <a:srgbClr val="333333"/>
                    </a:solidFill>
                    <a:effectLst/>
                    <a:latin typeface="PingFang SC"/>
                  </a:rPr>
                  <a:t>线性规划应用于工厂生产计划（如产品</a:t>
                </a:r>
                <a:r>
                  <a:rPr lang="en-US" altLang="zh-CN" b="0" i="0" dirty="0">
                    <a:solidFill>
                      <a:srgbClr val="333333"/>
                    </a:solidFill>
                    <a:effectLst/>
                    <a:latin typeface="PingFang SC"/>
                  </a:rPr>
                  <a:t>A/B</a:t>
                </a:r>
                <a:r>
                  <a:rPr lang="zh-CN" altLang="en-US" b="0" i="0" dirty="0">
                    <a:solidFill>
                      <a:srgbClr val="333333"/>
                    </a:solidFill>
                    <a:effectLst/>
                    <a:latin typeface="PingFang SC"/>
                  </a:rPr>
                  <a:t>的煤、电、工时约束），最优解使利润最大化，资源利用率提升</a:t>
                </a:r>
                <a:r>
                  <a:rPr lang="en-US" altLang="zh-CN" b="0" i="0" dirty="0">
                    <a:solidFill>
                      <a:srgbClr val="333333"/>
                    </a:solidFill>
                    <a:effectLst/>
                    <a:latin typeface="PingFang SC"/>
                  </a:rPr>
                  <a:t>18%‌5</a:t>
                </a:r>
                <a:r>
                  <a:rPr lang="zh-CN" altLang="en-US" b="0" i="0" dirty="0">
                    <a:solidFill>
                      <a:srgbClr val="333333"/>
                    </a:solidFill>
                    <a:effectLst/>
                    <a:latin typeface="PingFang SC"/>
                  </a:rPr>
                  <a:t>。</a:t>
                </a:r>
              </a:p>
              <a:p>
                <a:endParaRPr lang="en-US" altLang="zh-CN" b="0" i="0" dirty="0">
                  <a:solidFill>
                    <a:srgbClr val="191B1F"/>
                  </a:solidFill>
                  <a:effectLst/>
                  <a:latin typeface="-apple-system"/>
                </a:endParaRPr>
              </a:p>
              <a:p>
                <a:endParaRPr lang="en-US" altLang="zh-CN" b="0" i="0" dirty="0">
                  <a:solidFill>
                    <a:srgbClr val="191B1F"/>
                  </a:solidFill>
                  <a:effectLst/>
                  <a:latin typeface="-apple-system"/>
                </a:endParaRPr>
              </a:p>
              <a:p>
                <a:r>
                  <a:rPr lang="zh-CN" altLang="en-US" b="0" i="0" dirty="0">
                    <a:solidFill>
                      <a:srgbClr val="191B1F"/>
                    </a:solidFill>
                    <a:effectLst/>
                    <a:latin typeface="-apple-system"/>
                  </a:rPr>
                  <a:t>最优化问题往往还要面临一定的约束条件转换为，比如对旅行路线的选择，总花费和出发、到达时间就构成了约束条件，对买房子的选择，离公司的路程、总价也可能构成约束条件。我们选择的最优解也必须满足这些约束条件</a:t>
                </a:r>
                <a:endParaRPr lang="en-US" altLang="zh-CN" b="0" i="0" dirty="0">
                  <a:solidFill>
                    <a:srgbClr val="191B1F"/>
                  </a:solidFill>
                  <a:effectLst/>
                  <a:latin typeface="-apple-system"/>
                </a:endParaRPr>
              </a:p>
              <a:p>
                <a14:m>
                  <m:oMath xmlns:m="http://schemas.openxmlformats.org/officeDocument/2006/math">
                    <m:r>
                      <a:rPr lang="en-US" altLang="zh-CN" sz="1200" b="0" i="1" smtClean="0">
                        <a:solidFill>
                          <a:srgbClr val="191B1F"/>
                        </a:solidFill>
                        <a:effectLst/>
                        <a:latin typeface="Cambria Math" panose="02040503050406030204" pitchFamily="18" charset="0"/>
                      </a:rPr>
                      <m:t>𝑥</m:t>
                    </m:r>
                    <m:r>
                      <a:rPr lang="en-US" altLang="zh-CN" sz="1200" b="0" i="1" smtClean="0">
                        <a:solidFill>
                          <a:srgbClr val="191B1F"/>
                        </a:solidFill>
                        <a:effectLst/>
                        <a:latin typeface="Cambria Math" panose="02040503050406030204" pitchFamily="18" charset="0"/>
                      </a:rPr>
                      <m:t>=</m:t>
                    </m:r>
                    <m:sSup>
                      <m:sSupPr>
                        <m:ctrlPr>
                          <a:rPr lang="en-US" altLang="zh-CN" sz="1200" b="0" i="1" smtClean="0">
                            <a:solidFill>
                              <a:srgbClr val="191B1F"/>
                            </a:solidFill>
                            <a:effectLst/>
                            <a:latin typeface="Cambria Math" panose="02040503050406030204" pitchFamily="18" charset="0"/>
                          </a:rPr>
                        </m:ctrlPr>
                      </m:sSupPr>
                      <m:e>
                        <m:r>
                          <a:rPr lang="en-US" altLang="zh-CN" sz="1200" b="0" i="1" smtClean="0">
                            <a:solidFill>
                              <a:srgbClr val="191B1F"/>
                            </a:solidFill>
                            <a:effectLst/>
                            <a:latin typeface="Cambria Math" panose="02040503050406030204" pitchFamily="18" charset="0"/>
                          </a:rPr>
                          <m:t>(</m:t>
                        </m:r>
                        <m:r>
                          <a:rPr lang="en-US" altLang="zh-CN" sz="1200" b="0" i="1" smtClean="0">
                            <a:solidFill>
                              <a:srgbClr val="191B1F"/>
                            </a:solidFill>
                            <a:effectLst/>
                            <a:latin typeface="Cambria Math" panose="02040503050406030204" pitchFamily="18" charset="0"/>
                          </a:rPr>
                          <m:t>𝑥</m:t>
                        </m:r>
                        <m:r>
                          <a:rPr lang="en-US" altLang="zh-CN" sz="1200" b="0" i="1" smtClean="0">
                            <a:solidFill>
                              <a:srgbClr val="191B1F"/>
                            </a:solidFill>
                            <a:effectLst/>
                            <a:latin typeface="Cambria Math" panose="02040503050406030204" pitchFamily="18" charset="0"/>
                          </a:rPr>
                          <m:t>1,</m:t>
                        </m:r>
                        <m:r>
                          <a:rPr lang="en-US" altLang="zh-CN" sz="1200" b="0" i="1" smtClean="0">
                            <a:solidFill>
                              <a:srgbClr val="191B1F"/>
                            </a:solidFill>
                            <a:effectLst/>
                            <a:latin typeface="Cambria Math" panose="02040503050406030204" pitchFamily="18" charset="0"/>
                          </a:rPr>
                          <m:t>𝑥</m:t>
                        </m:r>
                        <m:r>
                          <a:rPr lang="en-US" altLang="zh-CN" sz="1200" b="0" i="1" smtClean="0">
                            <a:solidFill>
                              <a:srgbClr val="191B1F"/>
                            </a:solidFill>
                            <a:effectLst/>
                            <a:latin typeface="Cambria Math" panose="02040503050406030204" pitchFamily="18" charset="0"/>
                          </a:rPr>
                          <m:t>2,…,</m:t>
                        </m:r>
                        <m:r>
                          <a:rPr lang="en-US" altLang="zh-CN" sz="1200" b="0" i="1" smtClean="0">
                            <a:solidFill>
                              <a:srgbClr val="191B1F"/>
                            </a:solidFill>
                            <a:effectLst/>
                            <a:latin typeface="Cambria Math" panose="02040503050406030204" pitchFamily="18" charset="0"/>
                          </a:rPr>
                          <m:t>𝑥𝑛</m:t>
                        </m:r>
                        <m:r>
                          <a:rPr lang="en-US" altLang="zh-CN" sz="1200" b="0" i="1" smtClean="0">
                            <a:solidFill>
                              <a:srgbClr val="191B1F"/>
                            </a:solidFill>
                            <a:effectLst/>
                            <a:latin typeface="Cambria Math" panose="02040503050406030204" pitchFamily="18" charset="0"/>
                          </a:rPr>
                          <m:t>)</m:t>
                        </m:r>
                      </m:e>
                      <m:sup>
                        <m:r>
                          <a:rPr lang="en-US" altLang="zh-CN" sz="1200" b="0" i="1" smtClean="0">
                            <a:solidFill>
                              <a:srgbClr val="191B1F"/>
                            </a:solidFill>
                            <a:effectLst/>
                            <a:latin typeface="Cambria Math" panose="02040503050406030204" pitchFamily="18" charset="0"/>
                          </a:rPr>
                          <m:t>𝑇</m:t>
                        </m:r>
                      </m:sup>
                    </m:sSup>
                  </m:oMath>
                </a14:m>
                <a:r>
                  <a:rPr lang="en-US" altLang="zh-CN" sz="1200" b="0" i="0" dirty="0">
                    <a:solidFill>
                      <a:srgbClr val="191B1F"/>
                    </a:solidFill>
                    <a:effectLst/>
                    <a:latin typeface="-apple-system"/>
                    <a:sym typeface="Symbol" panose="05050102010706020507" pitchFamily="18" charset="2"/>
                  </a:rPr>
                  <a:t></a:t>
                </a:r>
                <a14:m>
                  <m:oMath xmlns:m="http://schemas.openxmlformats.org/officeDocument/2006/math">
                    <m:sSup>
                      <m:sSupPr>
                        <m:ctrlPr>
                          <a:rPr lang="en-US" altLang="zh-CN" sz="1200" b="0" i="1" dirty="0" smtClean="0">
                            <a:solidFill>
                              <a:srgbClr val="191B1F"/>
                            </a:solidFill>
                            <a:effectLst/>
                            <a:latin typeface="Cambria Math" panose="02040503050406030204" pitchFamily="18" charset="0"/>
                            <a:sym typeface="Symbol" panose="05050102010706020507" pitchFamily="18" charset="2"/>
                          </a:rPr>
                        </m:ctrlPr>
                      </m:sSupPr>
                      <m:e>
                        <m:r>
                          <a:rPr lang="en-US" altLang="zh-CN" sz="1200" b="0" i="1" dirty="0" smtClean="0">
                            <a:solidFill>
                              <a:srgbClr val="191B1F"/>
                            </a:solidFill>
                            <a:effectLst/>
                            <a:latin typeface="Cambria Math" panose="02040503050406030204" pitchFamily="18" charset="0"/>
                            <a:sym typeface="Symbol" panose="05050102010706020507" pitchFamily="18" charset="2"/>
                          </a:rPr>
                          <m:t>𝑅</m:t>
                        </m:r>
                      </m:e>
                      <m:sup>
                        <m:r>
                          <a:rPr lang="en-US" altLang="zh-CN" sz="1200" b="0" i="1" dirty="0" smtClean="0">
                            <a:solidFill>
                              <a:srgbClr val="191B1F"/>
                            </a:solidFill>
                            <a:effectLst/>
                            <a:latin typeface="Cambria Math" panose="02040503050406030204" pitchFamily="18" charset="0"/>
                            <a:sym typeface="Symbol" panose="05050102010706020507" pitchFamily="18" charset="2"/>
                          </a:rPr>
                          <m:t>𝑛</m:t>
                        </m:r>
                      </m:sup>
                    </m:sSup>
                  </m:oMath>
                </a14:m>
                <a:endParaRPr lang="en-US" altLang="zh-CN" dirty="0"/>
              </a:p>
              <a:p>
                <a:r>
                  <a:rPr lang="zh-CN" altLang="zh-CN" sz="1800" dirty="0">
                    <a:solidFill>
                      <a:srgbClr val="212121"/>
                    </a:solidFill>
                    <a:effectLst/>
                    <a:latin typeface="宋体" panose="02010600030101010101" pitchFamily="2" charset="-122"/>
                    <a:ea typeface="微软雅黑" panose="020B0503020204020204" pitchFamily="34" charset="-122"/>
                    <a:cs typeface="宋体" panose="02010600030101010101" pitchFamily="2" charset="-122"/>
                  </a:rPr>
                  <a:t>优化工具箱函数假设不等式约束的形式为</a:t>
                </a:r>
                <a:r>
                  <a:rPr lang="en-US" altLang="zh-CN" sz="1800" dirty="0">
                    <a:solidFill>
                      <a:srgbClr val="212121"/>
                    </a:solidFill>
                    <a:effectLst/>
                    <a:latin typeface="宋体" panose="02010600030101010101" pitchFamily="2" charset="-122"/>
                    <a:ea typeface="微软雅黑" panose="020B0503020204020204" pitchFamily="34" charset="-122"/>
                    <a:cs typeface="宋体" panose="02010600030101010101" pitchFamily="2" charset="-122"/>
                  </a:rPr>
                  <a:t> ci(x) </a:t>
                </a:r>
                <a:r>
                  <a:rPr lang="zh-CN" altLang="zh-CN" sz="1800" dirty="0">
                    <a:solidFill>
                      <a:srgbClr val="212121"/>
                    </a:solidFill>
                    <a:effectLst/>
                    <a:latin typeface="宋体" panose="02010600030101010101" pitchFamily="2" charset="-122"/>
                    <a:ea typeface="微软雅黑" panose="020B0503020204020204" pitchFamily="34" charset="-122"/>
                    <a:cs typeface="宋体" panose="02010600030101010101" pitchFamily="2" charset="-122"/>
                  </a:rPr>
                  <a:t>≤</a:t>
                </a:r>
                <a:r>
                  <a:rPr lang="en-US" altLang="zh-CN" sz="1800" dirty="0">
                    <a:solidFill>
                      <a:srgbClr val="212121"/>
                    </a:solidFill>
                    <a:effectLst/>
                    <a:latin typeface="宋体" panose="02010600030101010101" pitchFamily="2" charset="-122"/>
                    <a:ea typeface="微软雅黑" panose="020B0503020204020204" pitchFamily="34" charset="-122"/>
                    <a:cs typeface="宋体" panose="02010600030101010101" pitchFamily="2" charset="-122"/>
                  </a:rPr>
                  <a:t> 0 </a:t>
                </a:r>
                <a:r>
                  <a:rPr lang="zh-CN" altLang="zh-CN" sz="1800" dirty="0">
                    <a:solidFill>
                      <a:srgbClr val="212121"/>
                    </a:solidFill>
                    <a:effectLst/>
                    <a:latin typeface="宋体" panose="02010600030101010101" pitchFamily="2" charset="-122"/>
                    <a:ea typeface="微软雅黑" panose="020B0503020204020204" pitchFamily="34" charset="-122"/>
                    <a:cs typeface="宋体" panose="02010600030101010101" pitchFamily="2" charset="-122"/>
                  </a:rPr>
                  <a:t>或</a:t>
                </a:r>
                <a:r>
                  <a:rPr lang="en-US" altLang="zh-CN" sz="1800" dirty="0">
                    <a:solidFill>
                      <a:srgbClr val="212121"/>
                    </a:solidFill>
                    <a:effectLst/>
                    <a:latin typeface="宋体" panose="02010600030101010101" pitchFamily="2" charset="-122"/>
                    <a:ea typeface="微软雅黑" panose="020B0503020204020204" pitchFamily="34" charset="-122"/>
                    <a:cs typeface="宋体" panose="02010600030101010101" pitchFamily="2" charset="-122"/>
                  </a:rPr>
                  <a:t> A</a:t>
                </a:r>
                <a:r>
                  <a:rPr lang="zh-CN" altLang="zh-CN" sz="1800" dirty="0">
                    <a:solidFill>
                      <a:srgbClr val="212121"/>
                    </a:solidFill>
                    <a:effectLst/>
                    <a:latin typeface="宋体" panose="02010600030101010101" pitchFamily="2" charset="-122"/>
                    <a:ea typeface="微软雅黑" panose="020B0503020204020204" pitchFamily="34" charset="-122"/>
                    <a:cs typeface="宋体" panose="02010600030101010101" pitchFamily="2" charset="-122"/>
                  </a:rPr>
                  <a:t>·</a:t>
                </a:r>
                <a:r>
                  <a:rPr lang="en-US" altLang="zh-CN" sz="1800" dirty="0">
                    <a:solidFill>
                      <a:srgbClr val="212121"/>
                    </a:solidFill>
                    <a:effectLst/>
                    <a:latin typeface="宋体" panose="02010600030101010101" pitchFamily="2" charset="-122"/>
                    <a:ea typeface="微软雅黑" panose="020B0503020204020204" pitchFamily="34" charset="-122"/>
                    <a:cs typeface="宋体" panose="02010600030101010101" pitchFamily="2" charset="-122"/>
                  </a:rPr>
                  <a:t>x </a:t>
                </a:r>
                <a:r>
                  <a:rPr lang="zh-CN" altLang="zh-CN" sz="1800" dirty="0">
                    <a:solidFill>
                      <a:srgbClr val="212121"/>
                    </a:solidFill>
                    <a:effectLst/>
                    <a:latin typeface="宋体" panose="02010600030101010101" pitchFamily="2" charset="-122"/>
                    <a:ea typeface="微软雅黑" panose="020B0503020204020204" pitchFamily="34" charset="-122"/>
                    <a:cs typeface="宋体" panose="02010600030101010101" pitchFamily="2" charset="-122"/>
                  </a:rPr>
                  <a:t>≤</a:t>
                </a:r>
                <a:r>
                  <a:rPr lang="en-US" altLang="zh-CN" sz="1800" dirty="0">
                    <a:solidFill>
                      <a:srgbClr val="212121"/>
                    </a:solidFill>
                    <a:effectLst/>
                    <a:latin typeface="宋体" panose="02010600030101010101" pitchFamily="2" charset="-122"/>
                    <a:ea typeface="微软雅黑" panose="020B0503020204020204" pitchFamily="34" charset="-122"/>
                    <a:cs typeface="宋体" panose="02010600030101010101" pitchFamily="2" charset="-122"/>
                  </a:rPr>
                  <a:t> b</a:t>
                </a:r>
                <a:r>
                  <a:rPr lang="zh-CN" altLang="zh-CN" sz="1800" dirty="0">
                    <a:solidFill>
                      <a:srgbClr val="212121"/>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通过将大于约束乘以</a:t>
                </a:r>
                <a:r>
                  <a:rPr lang="en-US"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 -1 </a:t>
                </a:r>
                <a:r>
                  <a:rPr lang="zh-CN"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来表示小于约束</a:t>
                </a:r>
                <a:r>
                  <a:rPr lang="zh-CN" altLang="zh-CN" sz="1800" dirty="0">
                    <a:solidFill>
                      <a:srgbClr val="212121"/>
                    </a:solidFill>
                    <a:effectLst/>
                    <a:latin typeface="宋体" panose="02010600030101010101" pitchFamily="2" charset="-122"/>
                    <a:ea typeface="微软雅黑" panose="020B0503020204020204" pitchFamily="34" charset="-122"/>
                    <a:cs typeface="宋体" panose="02010600030101010101" pitchFamily="2" charset="-122"/>
                  </a:rPr>
                  <a:t>。例如，</a:t>
                </a:r>
                <a:r>
                  <a:rPr lang="zh-CN"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形式为</a:t>
                </a:r>
                <a:r>
                  <a:rPr lang="en-US"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 ci(x) </a:t>
                </a:r>
                <a:r>
                  <a:rPr lang="zh-CN"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a:t>
                </a:r>
                <a:r>
                  <a:rPr lang="en-US"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 0 </a:t>
                </a:r>
                <a:r>
                  <a:rPr lang="zh-CN"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的约束等效于约束 –</a:t>
                </a:r>
                <a:r>
                  <a:rPr lang="en-US"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ci(x) </a:t>
                </a:r>
                <a:r>
                  <a:rPr lang="zh-CN"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 </a:t>
                </a:r>
                <a:r>
                  <a:rPr lang="en-US"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0</a:t>
                </a:r>
                <a:r>
                  <a:rPr lang="zh-CN"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。形式为</a:t>
                </a:r>
                <a:r>
                  <a:rPr lang="en-US"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 A</a:t>
                </a:r>
                <a:r>
                  <a:rPr lang="zh-CN"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a:t>
                </a:r>
                <a:r>
                  <a:rPr lang="en-US"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x </a:t>
                </a:r>
                <a:r>
                  <a:rPr lang="zh-CN"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a:t>
                </a:r>
                <a:r>
                  <a:rPr lang="en-US"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 b </a:t>
                </a:r>
                <a:r>
                  <a:rPr lang="zh-CN"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的约束等效于约束 –</a:t>
                </a:r>
                <a:r>
                  <a:rPr lang="en-US"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A</a:t>
                </a:r>
                <a:r>
                  <a:rPr lang="zh-CN"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a:t>
                </a:r>
                <a:r>
                  <a:rPr lang="en-US"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x </a:t>
                </a:r>
                <a:r>
                  <a:rPr lang="zh-CN"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 –</a:t>
                </a:r>
                <a:r>
                  <a:rPr lang="en-US"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b</a:t>
                </a:r>
                <a:r>
                  <a:rPr lang="zh-CN" altLang="zh-CN" sz="1800" b="1" dirty="0">
                    <a:solidFill>
                      <a:srgbClr val="FF0000"/>
                    </a:solidFill>
                    <a:effectLst/>
                    <a:latin typeface="宋体" panose="02010600030101010101" pitchFamily="2" charset="-122"/>
                    <a:ea typeface="微软雅黑" panose="020B0503020204020204" pitchFamily="34" charset="-122"/>
                    <a:cs typeface="宋体" panose="02010600030101010101" pitchFamily="2" charset="-122"/>
                  </a:rPr>
                  <a:t>。有关详细信息</a:t>
                </a:r>
                <a:r>
                  <a:rPr lang="zh-CN" altLang="zh-CN" sz="1800" dirty="0">
                    <a:solidFill>
                      <a:srgbClr val="212121"/>
                    </a:solidFill>
                    <a:effectLst/>
                    <a:latin typeface="宋体" panose="02010600030101010101" pitchFamily="2" charset="-122"/>
                    <a:ea typeface="微软雅黑" panose="020B0503020204020204" pitchFamily="34" charset="-122"/>
                    <a:cs typeface="宋体" panose="02010600030101010101" pitchFamily="2" charset="-122"/>
                  </a:rPr>
                  <a:t>，请参阅线性不等式约束和非线性约束。</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r>
                  <a:rPr lang="zh-CN" altLang="zh-CN" sz="1800" dirty="0">
                    <a:solidFill>
                      <a:srgbClr val="212121"/>
                    </a:solidFill>
                    <a:effectLst/>
                    <a:latin typeface="宋体" panose="02010600030101010101" pitchFamily="2" charset="-122"/>
                    <a:ea typeface="微软雅黑" panose="020B0503020204020204" pitchFamily="34" charset="-122"/>
                    <a:cs typeface="宋体" panose="02010600030101010101" pitchFamily="2" charset="-122"/>
                  </a:rPr>
                  <a:t>有时同一约束可以有若干种编写方式。为了获得最佳结果，请尽可能使用编号最小的约束：</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r>
                  <a:rPr lang="zh-CN" altLang="en-US" b="0" i="0" dirty="0">
                    <a:solidFill>
                      <a:srgbClr val="333333"/>
                    </a:solidFill>
                    <a:effectLst/>
                    <a:latin typeface="PingFang SC"/>
                  </a:rPr>
                  <a:t>“</a:t>
                </a:r>
                <a:r>
                  <a:rPr lang="en-US" altLang="zh-CN" b="0" i="0" dirty="0" err="1">
                    <a:solidFill>
                      <a:srgbClr val="333333"/>
                    </a:solidFill>
                    <a:effectLst/>
                    <a:latin typeface="PingFang SC"/>
                  </a:rPr>
                  <a:t>s.t.</a:t>
                </a:r>
                <a:r>
                  <a:rPr lang="en-US" altLang="zh-CN" b="0" i="0" dirty="0">
                    <a:solidFill>
                      <a:srgbClr val="333333"/>
                    </a:solidFill>
                    <a:effectLst/>
                    <a:latin typeface="PingFang SC"/>
                  </a:rPr>
                  <a:t>”</a:t>
                </a:r>
                <a:r>
                  <a:rPr lang="zh-CN" altLang="en-US" b="0" i="0" dirty="0">
                    <a:solidFill>
                      <a:srgbClr val="333333"/>
                    </a:solidFill>
                    <a:effectLst/>
                    <a:latin typeface="PingFang SC"/>
                  </a:rPr>
                  <a:t>是英文“‌</a:t>
                </a:r>
                <a:r>
                  <a:rPr lang="en-US" altLang="zh-CN" b="1" i="0" dirty="0">
                    <a:solidFill>
                      <a:srgbClr val="333333"/>
                    </a:solidFill>
                    <a:effectLst/>
                    <a:latin typeface="PingFang SC"/>
                  </a:rPr>
                  <a:t>subject to</a:t>
                </a:r>
                <a:r>
                  <a:rPr lang="zh-CN" altLang="en-US" b="0" i="0" dirty="0">
                    <a:solidFill>
                      <a:srgbClr val="333333"/>
                    </a:solidFill>
                    <a:effectLst/>
                    <a:latin typeface="PingFang SC"/>
                  </a:rPr>
                  <a:t>‌”的缩写，中文译为“‌</a:t>
                </a:r>
                <a:r>
                  <a:rPr lang="zh-CN" altLang="en-US" b="1" i="0" dirty="0">
                    <a:solidFill>
                      <a:srgbClr val="333333"/>
                    </a:solidFill>
                    <a:effectLst/>
                    <a:latin typeface="PingFang SC"/>
                  </a:rPr>
                  <a:t>受限于</a:t>
                </a:r>
                <a:r>
                  <a:rPr lang="zh-CN" altLang="en-US" b="0" i="0" dirty="0">
                    <a:solidFill>
                      <a:srgbClr val="333333"/>
                    </a:solidFill>
                    <a:effectLst/>
                    <a:latin typeface="PingFang SC"/>
                  </a:rPr>
                  <a:t>‌”或“‌</a:t>
                </a:r>
                <a:r>
                  <a:rPr lang="zh-CN" altLang="en-US" b="1" i="0" dirty="0">
                    <a:solidFill>
                      <a:srgbClr val="333333"/>
                    </a:solidFill>
                    <a:effectLst/>
                    <a:latin typeface="PingFang SC"/>
                  </a:rPr>
                  <a:t>满足以下条件</a:t>
                </a:r>
                <a:r>
                  <a:rPr lang="zh-CN" altLang="en-US" b="0" i="0" dirty="0">
                    <a:solidFill>
                      <a:srgbClr val="333333"/>
                    </a:solidFill>
                    <a:effectLst/>
                    <a:latin typeface="PingFang SC"/>
                  </a:rPr>
                  <a:t>‌”，用于指明优化目标函数需要遵循的约束条件‌</a:t>
                </a:r>
                <a:r>
                  <a:rPr lang="en-US" altLang="zh-CN" b="0" i="0" dirty="0">
                    <a:solidFill>
                      <a:srgbClr val="333333"/>
                    </a:solidFill>
                    <a:effectLst/>
                    <a:latin typeface="PingFang SC"/>
                  </a:rPr>
                  <a:t>23</a:t>
                </a:r>
                <a:r>
                  <a:rPr lang="zh-CN" altLang="en-US" b="0" i="0" dirty="0">
                    <a:solidFill>
                      <a:srgbClr val="333333"/>
                    </a:solidFill>
                    <a:effectLst/>
                    <a:latin typeface="PingFang SC"/>
                  </a:rPr>
                  <a:t>。</a:t>
                </a:r>
                <a:endParaRPr lang="zh-CN" altLang="en-US" dirty="0"/>
              </a:p>
            </p:txBody>
          </p:sp>
        </mc:Choice>
        <mc:Fallback xmlns="">
          <p:sp>
            <p:nvSpPr>
              <p:cNvPr id="3" name="备注占位符 2"/>
              <p:cNvSpPr>
                <a:spLocks noGrp="1"/>
              </p:cNvSpPr>
              <p:nvPr>
                <p:ph type="body" idx="1"/>
              </p:nvPr>
            </p:nvSpPr>
            <p:spPr/>
            <p:txBody>
              <a:bodyPr/>
              <a:lstStyle/>
              <a:p>
                <a:r>
                  <a:rPr lang="zh-CN" altLang="en-US" b="0" i="0" dirty="0">
                    <a:solidFill>
                      <a:srgbClr val="191B1F"/>
                    </a:solidFill>
                    <a:effectLst/>
                    <a:latin typeface="-apple-system"/>
                  </a:rPr>
                  <a:t>最优化问题往往还要面临一定的约束条件，比如对旅行路线的选择，总花费和出发、到达时间就构成了约束条件，对买房子的选择，离公司的路程、总价也可能构成约束条件。我们选择的最优解也必须满足这些约束条件</a:t>
                </a:r>
                <a:endParaRPr lang="en-US" altLang="zh-CN" b="0" i="0" dirty="0">
                  <a:solidFill>
                    <a:srgbClr val="191B1F"/>
                  </a:solidFill>
                  <a:effectLst/>
                  <a:latin typeface="-apple-system"/>
                </a:endParaRPr>
              </a:p>
              <a:p>
                <a:r>
                  <a:rPr lang="en-US" altLang="zh-CN" sz="1200" b="0" i="0">
                    <a:solidFill>
                      <a:srgbClr val="191B1F"/>
                    </a:solidFill>
                    <a:effectLst/>
                    <a:latin typeface="Cambria Math" panose="02040503050406030204" pitchFamily="18" charset="0"/>
                  </a:rPr>
                  <a:t>𝑥=〖(𝑥1,𝑥2,…,𝑥𝑛)〗^𝑇</a:t>
                </a:r>
                <a:r>
                  <a:rPr lang="en-US" altLang="zh-CN" sz="1200" b="0" i="0" dirty="0">
                    <a:solidFill>
                      <a:srgbClr val="191B1F"/>
                    </a:solidFill>
                    <a:effectLst/>
                    <a:latin typeface="-apple-system"/>
                    <a:sym typeface="Symbol" panose="05050102010706020507" pitchFamily="18" charset="2"/>
                  </a:rPr>
                  <a:t></a:t>
                </a:r>
                <a:r>
                  <a:rPr lang="en-US" altLang="zh-CN" sz="1200" b="0" i="0" dirty="0">
                    <a:solidFill>
                      <a:srgbClr val="191B1F"/>
                    </a:solidFill>
                    <a:effectLst/>
                    <a:latin typeface="Cambria Math" panose="02040503050406030204" pitchFamily="18" charset="0"/>
                    <a:sym typeface="Symbol" panose="05050102010706020507" pitchFamily="18" charset="2"/>
                  </a:rPr>
                  <a:t>𝑅^𝑛</a:t>
                </a:r>
                <a:endParaRPr lang="zh-CN" altLang="en-US" dirty="0"/>
              </a:p>
            </p:txBody>
          </p:sp>
        </mc:Fallback>
      </mc:AlternateContent>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4</a:t>
            </a:fld>
            <a:endParaRPr lang="zh-CN" altLang="en-US"/>
          </a:p>
        </p:txBody>
      </p:sp>
    </p:spTree>
    <p:extLst>
      <p:ext uri="{BB962C8B-B14F-4D97-AF65-F5344CB8AC3E}">
        <p14:creationId xmlns:p14="http://schemas.microsoft.com/office/powerpoint/2010/main" val="457339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5</a:t>
            </a:fld>
            <a:endParaRPr lang="zh-CN" altLang="en-US"/>
          </a:p>
        </p:txBody>
      </p:sp>
    </p:spTree>
    <p:extLst>
      <p:ext uri="{BB962C8B-B14F-4D97-AF65-F5344CB8AC3E}">
        <p14:creationId xmlns:p14="http://schemas.microsoft.com/office/powerpoint/2010/main" val="36690099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线性规划问题的目标函数及约束条件均为线性函数</a:t>
                </a:r>
                <a14:m>
                  <m:oMath xmlns:m="http://schemas.openxmlformats.org/officeDocument/2006/math">
                    <m:r>
                      <a:rPr lang="en-US" altLang="zh-CN" sz="1200" b="0" i="1" smtClean="0">
                        <a:solidFill>
                          <a:srgbClr val="191B1F"/>
                        </a:solidFill>
                        <a:effectLst/>
                        <a:latin typeface="Cambria Math" panose="02040503050406030204" pitchFamily="18" charset="0"/>
                      </a:rPr>
                      <m:t>𝑥</m:t>
                    </m:r>
                  </m:oMath>
                </a14:m>
                <a:endParaRPr lang="en-US" altLang="zh-CN" dirty="0"/>
              </a:p>
              <a:p>
                <a:endParaRPr lang="en-US" altLang="zh-CN" dirty="0"/>
              </a:p>
              <a:p>
                <a:pPr algn="l">
                  <a:buFont typeface="+mj-lt"/>
                  <a:buAutoNum type="arabicPeriod"/>
                </a:pPr>
                <a:r>
                  <a:rPr lang="zh-CN" altLang="en-US" b="0" i="0" dirty="0">
                    <a:solidFill>
                      <a:srgbClr val="333333"/>
                    </a:solidFill>
                    <a:effectLst/>
                    <a:latin typeface="PingFang SC"/>
                  </a:rPr>
                  <a:t>‌</a:t>
                </a:r>
                <a:r>
                  <a:rPr lang="zh-CN" altLang="en-US" b="1" i="0" dirty="0">
                    <a:solidFill>
                      <a:srgbClr val="333333"/>
                    </a:solidFill>
                    <a:effectLst/>
                    <a:latin typeface="PingFang SC"/>
                  </a:rPr>
                  <a:t>凸优化</a:t>
                </a:r>
                <a:r>
                  <a:rPr lang="zh-CN" altLang="en-US" b="0" i="0" dirty="0">
                    <a:solidFill>
                      <a:srgbClr val="333333"/>
                    </a:solidFill>
                    <a:effectLst/>
                    <a:latin typeface="PingFang SC"/>
                  </a:rPr>
                  <a:t>‌</a:t>
                </a:r>
              </a:p>
              <a:p>
                <a:pPr marL="742950" lvl="1" indent="-285750" algn="l">
                  <a:buFont typeface="+mj-lt"/>
                  <a:buAutoNum type="arabicPeriod"/>
                </a:pPr>
                <a:r>
                  <a:rPr lang="zh-CN" altLang="en-US" b="0" i="0" dirty="0">
                    <a:solidFill>
                      <a:srgbClr val="333333"/>
                    </a:solidFill>
                    <a:effectLst/>
                    <a:latin typeface="PingFang SC"/>
                  </a:rPr>
                  <a:t>目标函数为凸函数，约束集为凸集（保证全局最优解）‌</a:t>
                </a:r>
                <a:r>
                  <a:rPr lang="en-US" altLang="zh-CN" b="0" i="0" dirty="0">
                    <a:solidFill>
                      <a:srgbClr val="333333"/>
                    </a:solidFill>
                    <a:effectLst/>
                    <a:latin typeface="PingFang SC"/>
                  </a:rPr>
                  <a:t>45</a:t>
                </a:r>
                <a:r>
                  <a:rPr lang="zh-CN" altLang="en-US" b="0" i="0" dirty="0">
                    <a:solidFill>
                      <a:srgbClr val="333333"/>
                    </a:solidFill>
                    <a:effectLst/>
                    <a:latin typeface="PingFang SC"/>
                  </a:rPr>
                  <a:t>。</a:t>
                </a:r>
              </a:p>
              <a:p>
                <a:pPr algn="l">
                  <a:buFont typeface="+mj-lt"/>
                  <a:buAutoNum type="arabicPeriod"/>
                </a:pPr>
                <a:r>
                  <a:rPr lang="zh-CN" altLang="en-US" b="0" i="0" dirty="0">
                    <a:solidFill>
                      <a:srgbClr val="333333"/>
                    </a:solidFill>
                    <a:effectLst/>
                    <a:latin typeface="PingFang SC"/>
                  </a:rPr>
                  <a:t>‌</a:t>
                </a:r>
                <a:r>
                  <a:rPr lang="zh-CN" altLang="en-US" b="1" i="0" dirty="0">
                    <a:solidFill>
                      <a:srgbClr val="333333"/>
                    </a:solidFill>
                    <a:effectLst/>
                    <a:latin typeface="PingFang SC"/>
                  </a:rPr>
                  <a:t>非凸优化</a:t>
                </a:r>
                <a:r>
                  <a:rPr lang="zh-CN" altLang="en-US" b="0" i="0" dirty="0">
                    <a:solidFill>
                      <a:srgbClr val="333333"/>
                    </a:solidFill>
                    <a:effectLst/>
                    <a:latin typeface="PingFang SC"/>
                  </a:rPr>
                  <a:t>‌</a:t>
                </a:r>
              </a:p>
              <a:p>
                <a:pPr marL="742950" lvl="1" indent="-285750" algn="l">
                  <a:buFont typeface="+mj-lt"/>
                  <a:buAutoNum type="arabicPeriod"/>
                </a:pPr>
                <a:r>
                  <a:rPr lang="zh-CN" altLang="en-US" b="0" i="0" dirty="0">
                    <a:solidFill>
                      <a:srgbClr val="333333"/>
                    </a:solidFill>
                    <a:effectLst/>
                    <a:latin typeface="PingFang SC"/>
                  </a:rPr>
                  <a:t>存在多个局部最优解，求解难度较高‌</a:t>
                </a:r>
              </a:p>
              <a:p>
                <a:endParaRPr lang="zh-CN" altLang="en-US" dirty="0"/>
              </a:p>
            </p:txBody>
          </p:sp>
        </mc:Choice>
        <mc:Fallback xmlns="">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线性规划问题的目标函数及约束条件均为线性函数</a:t>
                </a:r>
                <a:r>
                  <a:rPr lang="en-US" altLang="zh-CN" sz="1200" b="0" i="0">
                    <a:solidFill>
                      <a:srgbClr val="191B1F"/>
                    </a:solidFill>
                    <a:effectLst/>
                    <a:latin typeface="Cambria Math" panose="02040503050406030204" pitchFamily="18" charset="0"/>
                  </a:rPr>
                  <a:t>𝑥</a:t>
                </a:r>
                <a:endParaRPr lang="zh-CN" altLang="en-US" dirty="0"/>
              </a:p>
            </p:txBody>
          </p:sp>
        </mc:Fallback>
      </mc:AlternateContent>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6</a:t>
            </a:fld>
            <a:endParaRPr lang="zh-CN" altLang="en-US"/>
          </a:p>
        </p:txBody>
      </p:sp>
    </p:spTree>
    <p:extLst>
      <p:ext uri="{BB962C8B-B14F-4D97-AF65-F5344CB8AC3E}">
        <p14:creationId xmlns:p14="http://schemas.microsoft.com/office/powerpoint/2010/main" val="4016193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7</a:t>
            </a:fld>
            <a:endParaRPr lang="zh-CN" altLang="en-US"/>
          </a:p>
        </p:txBody>
      </p:sp>
    </p:spTree>
    <p:extLst>
      <p:ext uri="{BB962C8B-B14F-4D97-AF65-F5344CB8AC3E}">
        <p14:creationId xmlns:p14="http://schemas.microsoft.com/office/powerpoint/2010/main" val="3303082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9</a:t>
            </a:fld>
            <a:endParaRPr lang="zh-CN" altLang="en-US"/>
          </a:p>
        </p:txBody>
      </p:sp>
    </p:spTree>
    <p:extLst>
      <p:ext uri="{BB962C8B-B14F-4D97-AF65-F5344CB8AC3E}">
        <p14:creationId xmlns:p14="http://schemas.microsoft.com/office/powerpoint/2010/main" val="26750762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10</a:t>
            </a:fld>
            <a:endParaRPr lang="zh-CN" altLang="en-US"/>
          </a:p>
        </p:txBody>
      </p:sp>
    </p:spTree>
    <p:extLst>
      <p:ext uri="{BB962C8B-B14F-4D97-AF65-F5344CB8AC3E}">
        <p14:creationId xmlns:p14="http://schemas.microsoft.com/office/powerpoint/2010/main" val="3507400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11</a:t>
            </a:fld>
            <a:endParaRPr lang="zh-CN" altLang="en-US"/>
          </a:p>
        </p:txBody>
      </p:sp>
    </p:spTree>
    <p:extLst>
      <p:ext uri="{BB962C8B-B14F-4D97-AF65-F5344CB8AC3E}">
        <p14:creationId xmlns:p14="http://schemas.microsoft.com/office/powerpoint/2010/main" val="35823587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kern="0" dirty="0">
                <a:ea typeface="宋体" panose="02010600030101010101" pitchFamily="2" charset="-122"/>
                <a:cs typeface="宋体" panose="02010600030101010101" pitchFamily="2" charset="-122"/>
              </a:rPr>
              <a:t>二次规划应用</a:t>
            </a:r>
            <a:r>
              <a:rPr lang="zh-CN" altLang="en-US" kern="0" dirty="0">
                <a:ea typeface="宋体" panose="02010600030101010101" pitchFamily="2" charset="-122"/>
                <a:cs typeface="宋体" panose="02010600030101010101" pitchFamily="2" charset="-122"/>
              </a:rPr>
              <a:t>：</a:t>
            </a:r>
            <a:endParaRPr lang="en-US" altLang="zh-CN" kern="0" dirty="0">
              <a:ea typeface="宋体" panose="02010600030101010101" pitchFamily="2" charset="-122"/>
              <a:cs typeface="宋体" panose="02010600030101010101" pitchFamily="2" charset="-122"/>
            </a:endParaRPr>
          </a:p>
          <a:p>
            <a:r>
              <a:rPr lang="zh-CN" altLang="zh-CN" kern="0" dirty="0">
                <a:ea typeface="宋体" panose="02010600030101010101" pitchFamily="2" charset="-122"/>
                <a:cs typeface="宋体" panose="02010600030101010101" pitchFamily="2" charset="-122"/>
              </a:rPr>
              <a:t>在</a:t>
            </a:r>
            <a:r>
              <a:rPr lang="zh-CN" altLang="zh-CN" sz="1200" kern="0" dirty="0">
                <a:effectLst/>
                <a:ea typeface="宋体" panose="02010600030101010101" pitchFamily="2" charset="-122"/>
                <a:cs typeface="宋体" panose="02010600030101010101" pitchFamily="2" charset="-122"/>
              </a:rPr>
              <a:t>工程、经济、金融等领域，如投资组合优化、人脸表情动画的权重求解、机械设计中的最优控制等。</a:t>
            </a:r>
            <a:endParaRPr lang="en-US" altLang="zh-CN" sz="1200" kern="0" dirty="0">
              <a:effectLst/>
              <a:ea typeface="宋体" panose="02010600030101010101" pitchFamily="2" charset="-122"/>
              <a:cs typeface="宋体" panose="02010600030101010101" pitchFamily="2" charset="-122"/>
            </a:endParaRPr>
          </a:p>
          <a:p>
            <a:pPr algn="l"/>
            <a:r>
              <a:rPr lang="zh-CN" altLang="en-US" b="0" i="0" dirty="0">
                <a:solidFill>
                  <a:srgbClr val="333333"/>
                </a:solidFill>
                <a:effectLst/>
                <a:latin typeface="PingFang SC"/>
              </a:rPr>
              <a:t>二次规划目标函数通过‌</a:t>
            </a:r>
            <a:r>
              <a:rPr lang="zh-CN" altLang="en-US" b="1" i="0" dirty="0">
                <a:solidFill>
                  <a:srgbClr val="333333"/>
                </a:solidFill>
                <a:effectLst/>
                <a:latin typeface="PingFang SC"/>
              </a:rPr>
              <a:t>二次项描述非线性关系</a:t>
            </a:r>
            <a:r>
              <a:rPr lang="zh-CN" altLang="en-US" b="0" i="0" dirty="0">
                <a:solidFill>
                  <a:srgbClr val="333333"/>
                </a:solidFill>
                <a:effectLst/>
                <a:latin typeface="PingFang SC"/>
              </a:rPr>
              <a:t>‌与‌</a:t>
            </a:r>
            <a:r>
              <a:rPr lang="zh-CN" altLang="en-US" b="1" i="0" dirty="0">
                <a:solidFill>
                  <a:srgbClr val="333333"/>
                </a:solidFill>
                <a:effectLst/>
                <a:latin typeface="PingFang SC"/>
              </a:rPr>
              <a:t>线性约束限定可行域</a:t>
            </a:r>
            <a:r>
              <a:rPr lang="zh-CN" altLang="en-US" b="0" i="0" dirty="0">
                <a:solidFill>
                  <a:srgbClr val="333333"/>
                </a:solidFill>
                <a:effectLst/>
                <a:latin typeface="PingFang SC"/>
              </a:rPr>
              <a:t>‌，广泛应用于：</a:t>
            </a:r>
          </a:p>
          <a:p>
            <a:pPr algn="l">
              <a:buFont typeface="Arial" panose="020B0604020202020204" pitchFamily="34" charset="0"/>
              <a:buChar char="•"/>
            </a:pPr>
            <a:r>
              <a:rPr lang="zh-CN" altLang="en-US" b="0" i="0" dirty="0">
                <a:solidFill>
                  <a:srgbClr val="333333"/>
                </a:solidFill>
                <a:effectLst/>
                <a:latin typeface="PingFang SC"/>
              </a:rPr>
              <a:t>‌</a:t>
            </a:r>
            <a:r>
              <a:rPr lang="zh-CN" altLang="en-US" b="1" i="0" dirty="0">
                <a:solidFill>
                  <a:srgbClr val="333333"/>
                </a:solidFill>
                <a:effectLst/>
                <a:latin typeface="PingFang SC"/>
              </a:rPr>
              <a:t>机器学习</a:t>
            </a:r>
            <a:r>
              <a:rPr lang="zh-CN" altLang="en-US" b="0" i="0" dirty="0">
                <a:solidFill>
                  <a:srgbClr val="333333"/>
                </a:solidFill>
                <a:effectLst/>
                <a:latin typeface="PingFang SC"/>
              </a:rPr>
              <a:t>‌（</a:t>
            </a:r>
            <a:r>
              <a:rPr lang="en-US" altLang="zh-CN" b="0" i="0" dirty="0">
                <a:solidFill>
                  <a:srgbClr val="333333"/>
                </a:solidFill>
                <a:effectLst/>
                <a:latin typeface="PingFang SC"/>
              </a:rPr>
              <a:t>SVM</a:t>
            </a:r>
            <a:r>
              <a:rPr lang="zh-CN" altLang="en-US" b="0" i="0" dirty="0">
                <a:solidFill>
                  <a:srgbClr val="333333"/>
                </a:solidFill>
                <a:effectLst/>
                <a:latin typeface="PingFang SC"/>
              </a:rPr>
              <a:t>、正则化模型）‌</a:t>
            </a:r>
            <a:r>
              <a:rPr lang="en-US" altLang="zh-CN" b="0" i="0" dirty="0">
                <a:solidFill>
                  <a:srgbClr val="333333"/>
                </a:solidFill>
                <a:effectLst/>
                <a:latin typeface="PingFang SC"/>
              </a:rPr>
              <a:t>34</a:t>
            </a:r>
            <a:r>
              <a:rPr lang="zh-CN" altLang="en-US" b="0" i="0" dirty="0">
                <a:solidFill>
                  <a:srgbClr val="333333"/>
                </a:solidFill>
                <a:effectLst/>
                <a:latin typeface="PingFang SC"/>
              </a:rPr>
              <a:t>；</a:t>
            </a:r>
          </a:p>
          <a:p>
            <a:pPr algn="l">
              <a:buFont typeface="Arial" panose="020B0604020202020204" pitchFamily="34" charset="0"/>
              <a:buChar char="•"/>
            </a:pPr>
            <a:r>
              <a:rPr lang="zh-CN" altLang="en-US" b="0" i="0" dirty="0">
                <a:solidFill>
                  <a:srgbClr val="333333"/>
                </a:solidFill>
                <a:effectLst/>
                <a:latin typeface="PingFang SC"/>
              </a:rPr>
              <a:t>‌</a:t>
            </a:r>
            <a:r>
              <a:rPr lang="zh-CN" altLang="en-US" b="1" i="0" dirty="0">
                <a:solidFill>
                  <a:srgbClr val="333333"/>
                </a:solidFill>
                <a:effectLst/>
                <a:latin typeface="PingFang SC"/>
              </a:rPr>
              <a:t>金融工程</a:t>
            </a:r>
            <a:r>
              <a:rPr lang="zh-CN" altLang="en-US" b="0" i="0" dirty="0">
                <a:solidFill>
                  <a:srgbClr val="333333"/>
                </a:solidFill>
                <a:effectLst/>
                <a:latin typeface="PingFang SC"/>
              </a:rPr>
              <a:t>‌（投资组合优化）‌</a:t>
            </a:r>
            <a:r>
              <a:rPr lang="en-US" altLang="zh-CN" b="0" i="0" dirty="0">
                <a:solidFill>
                  <a:srgbClr val="333333"/>
                </a:solidFill>
                <a:effectLst/>
                <a:latin typeface="PingFang SC"/>
              </a:rPr>
              <a:t>78</a:t>
            </a:r>
            <a:r>
              <a:rPr lang="zh-CN" altLang="en-US" b="0" i="0" dirty="0">
                <a:solidFill>
                  <a:srgbClr val="333333"/>
                </a:solidFill>
                <a:effectLst/>
                <a:latin typeface="PingFang SC"/>
              </a:rPr>
              <a:t>；</a:t>
            </a:r>
          </a:p>
          <a:p>
            <a:pPr algn="l">
              <a:buFont typeface="Arial" panose="020B0604020202020204" pitchFamily="34" charset="0"/>
              <a:buChar char="•"/>
            </a:pPr>
            <a:r>
              <a:rPr lang="zh-CN" altLang="en-US" b="0" i="0" dirty="0">
                <a:solidFill>
                  <a:srgbClr val="333333"/>
                </a:solidFill>
                <a:effectLst/>
                <a:latin typeface="PingFang SC"/>
              </a:rPr>
              <a:t>‌</a:t>
            </a:r>
            <a:r>
              <a:rPr lang="zh-CN" altLang="en-US" b="1" i="0" dirty="0">
                <a:solidFill>
                  <a:srgbClr val="333333"/>
                </a:solidFill>
                <a:effectLst/>
                <a:latin typeface="PingFang SC"/>
              </a:rPr>
              <a:t>机器人控制</a:t>
            </a:r>
            <a:r>
              <a:rPr lang="zh-CN" altLang="en-US" b="0" i="0" dirty="0">
                <a:solidFill>
                  <a:srgbClr val="333333"/>
                </a:solidFill>
                <a:effectLst/>
                <a:latin typeface="PingFang SC"/>
              </a:rPr>
              <a:t>‌（轨迹规划、动力学优化）‌</a:t>
            </a:r>
            <a:r>
              <a:rPr lang="en-US" altLang="zh-CN" b="0" i="0" dirty="0">
                <a:solidFill>
                  <a:srgbClr val="333333"/>
                </a:solidFill>
                <a:effectLst/>
                <a:latin typeface="PingFang SC"/>
              </a:rPr>
              <a:t>46</a:t>
            </a:r>
            <a:r>
              <a:rPr lang="zh-CN" altLang="en-US" b="0" i="0" dirty="0">
                <a:solidFill>
                  <a:srgbClr val="333333"/>
                </a:solidFill>
                <a:effectLst/>
                <a:latin typeface="PingFang SC"/>
              </a:rPr>
              <a:t>；</a:t>
            </a:r>
          </a:p>
          <a:p>
            <a:pPr algn="l">
              <a:buFont typeface="Arial" panose="020B0604020202020204" pitchFamily="34" charset="0"/>
              <a:buChar char="•"/>
            </a:pPr>
            <a:r>
              <a:rPr lang="zh-CN" altLang="en-US" b="0" i="0" dirty="0">
                <a:solidFill>
                  <a:srgbClr val="333333"/>
                </a:solidFill>
                <a:effectLst/>
                <a:latin typeface="PingFang SC"/>
              </a:rPr>
              <a:t>‌</a:t>
            </a:r>
            <a:r>
              <a:rPr lang="zh-CN" altLang="en-US" b="1" i="0" dirty="0">
                <a:solidFill>
                  <a:srgbClr val="333333"/>
                </a:solidFill>
                <a:effectLst/>
                <a:latin typeface="PingFang SC"/>
              </a:rPr>
              <a:t>动态系统控制</a:t>
            </a:r>
            <a:r>
              <a:rPr lang="zh-CN" altLang="en-US" b="0" i="0" dirty="0">
                <a:solidFill>
                  <a:srgbClr val="333333"/>
                </a:solidFill>
                <a:effectLst/>
                <a:latin typeface="PingFang SC"/>
              </a:rPr>
              <a:t>‌（</a:t>
            </a:r>
            <a:r>
              <a:rPr lang="en-US" altLang="zh-CN" b="0" i="0" dirty="0">
                <a:solidFill>
                  <a:srgbClr val="333333"/>
                </a:solidFill>
                <a:effectLst/>
                <a:latin typeface="PingFang SC"/>
              </a:rPr>
              <a:t>MPC</a:t>
            </a:r>
            <a:r>
              <a:rPr lang="zh-CN" altLang="en-US" b="0" i="0" dirty="0">
                <a:solidFill>
                  <a:srgbClr val="333333"/>
                </a:solidFill>
                <a:effectLst/>
                <a:latin typeface="PingFang SC"/>
              </a:rPr>
              <a:t>、能耗优化）‌</a:t>
            </a:r>
            <a:r>
              <a:rPr lang="en-US" altLang="zh-CN" b="0" i="0" dirty="0">
                <a:solidFill>
                  <a:srgbClr val="333333"/>
                </a:solidFill>
                <a:effectLst/>
                <a:latin typeface="PingFang SC"/>
              </a:rPr>
              <a:t>46</a:t>
            </a:r>
          </a:p>
          <a:p>
            <a:br>
              <a:rPr lang="zh-CN" altLang="en-US" dirty="0"/>
            </a:b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13</a:t>
            </a:fld>
            <a:endParaRPr lang="zh-CN" altLang="en-US"/>
          </a:p>
        </p:txBody>
      </p:sp>
    </p:spTree>
    <p:extLst>
      <p:ext uri="{BB962C8B-B14F-4D97-AF65-F5344CB8AC3E}">
        <p14:creationId xmlns:p14="http://schemas.microsoft.com/office/powerpoint/2010/main" val="30740459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18</a:t>
            </a:fld>
            <a:endParaRPr lang="zh-CN" altLang="en-US"/>
          </a:p>
        </p:txBody>
      </p:sp>
    </p:spTree>
    <p:extLst>
      <p:ext uri="{BB962C8B-B14F-4D97-AF65-F5344CB8AC3E}">
        <p14:creationId xmlns:p14="http://schemas.microsoft.com/office/powerpoint/2010/main" val="38509036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19</a:t>
            </a:fld>
            <a:endParaRPr lang="zh-CN" altLang="en-US"/>
          </a:p>
        </p:txBody>
      </p:sp>
    </p:spTree>
    <p:extLst>
      <p:ext uri="{BB962C8B-B14F-4D97-AF65-F5344CB8AC3E}">
        <p14:creationId xmlns:p14="http://schemas.microsoft.com/office/powerpoint/2010/main" val="15431239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20</a:t>
            </a:fld>
            <a:endParaRPr lang="zh-CN" altLang="en-US"/>
          </a:p>
        </p:txBody>
      </p:sp>
    </p:spTree>
    <p:extLst>
      <p:ext uri="{BB962C8B-B14F-4D97-AF65-F5344CB8AC3E}">
        <p14:creationId xmlns:p14="http://schemas.microsoft.com/office/powerpoint/2010/main" val="8092604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1" i="0" dirty="0">
                <a:solidFill>
                  <a:srgbClr val="535861"/>
                </a:solidFill>
                <a:effectLst/>
                <a:latin typeface="-apple-system"/>
              </a:rPr>
              <a:t>凸优化问题的局部最优解就是全局最优解</a:t>
            </a:r>
            <a:endParaRPr lang="zh-CN" altLang="en-US" dirty="0"/>
          </a:p>
          <a:p>
            <a:endParaRPr lang="en-US" altLang="zh-CN" b="0" dirty="0">
              <a:solidFill>
                <a:srgbClr val="008000"/>
              </a:solidFill>
              <a:effectLst/>
              <a:latin typeface="Consolas" panose="020B0609020204030204" pitchFamily="49" charset="0"/>
            </a:endParaRPr>
          </a:p>
          <a:p>
            <a:r>
              <a:rPr lang="zh-CN" altLang="en-US" b="0" i="0" dirty="0">
                <a:solidFill>
                  <a:srgbClr val="191B1F"/>
                </a:solidFill>
                <a:effectLst/>
                <a:latin typeface="-apple-system"/>
              </a:rPr>
              <a:t>目标函数和约束函数 </a:t>
            </a:r>
            <a:r>
              <a:rPr lang="en-US" altLang="zh-CN" b="0" i="0" dirty="0">
                <a:solidFill>
                  <a:srgbClr val="191B1F"/>
                </a:solidFill>
                <a:effectLst/>
                <a:latin typeface="-apple-system"/>
              </a:rPr>
              <a:t>f0,f1,...,</a:t>
            </a:r>
            <a:r>
              <a:rPr lang="en-US" altLang="zh-CN" b="0" i="0" dirty="0" err="1">
                <a:solidFill>
                  <a:srgbClr val="191B1F"/>
                </a:solidFill>
                <a:effectLst/>
                <a:latin typeface="-apple-system"/>
              </a:rPr>
              <a:t>fm</a:t>
            </a:r>
            <a:r>
              <a:rPr lang="en-US" altLang="zh-CN" b="0" i="0" dirty="0">
                <a:solidFill>
                  <a:srgbClr val="191B1F"/>
                </a:solidFill>
                <a:effectLst/>
                <a:latin typeface="-apple-system"/>
              </a:rPr>
              <a:t> </a:t>
            </a:r>
            <a:r>
              <a:rPr lang="zh-CN" altLang="en-US" b="0" i="0" dirty="0">
                <a:solidFill>
                  <a:srgbClr val="191B1F"/>
                </a:solidFill>
                <a:effectLst/>
                <a:latin typeface="-apple-system"/>
              </a:rPr>
              <a:t>均为</a:t>
            </a:r>
            <a:r>
              <a:rPr lang="zh-CN" altLang="en-US" b="1" i="0" dirty="0">
                <a:solidFill>
                  <a:srgbClr val="191B1F"/>
                </a:solidFill>
                <a:effectLst/>
                <a:latin typeface="-apple-system"/>
              </a:rPr>
              <a:t>凸函数</a:t>
            </a:r>
            <a:r>
              <a:rPr lang="zh-CN" altLang="en-US" b="0" i="0" dirty="0">
                <a:solidFill>
                  <a:srgbClr val="191B1F"/>
                </a:solidFill>
                <a:effectLst/>
                <a:latin typeface="-apple-system"/>
              </a:rPr>
              <a:t>。</a:t>
            </a:r>
            <a:endParaRPr lang="en-US" altLang="zh-CN" b="0" i="0" dirty="0">
              <a:solidFill>
                <a:srgbClr val="008000"/>
              </a:solidFill>
              <a:effectLst/>
              <a:latin typeface="Consolas" panose="020B0609020204030204" pitchFamily="49" charset="0"/>
            </a:endParaRP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建立简化函数</a:t>
            </a:r>
            <a:endParaRPr lang="zh-CN" altLang="en-US" b="0" dirty="0">
              <a:solidFill>
                <a:srgbClr val="000000"/>
              </a:solidFill>
              <a:effectLst/>
              <a:latin typeface="Consolas" panose="020B0609020204030204" pitchFamily="49" charset="0"/>
            </a:endParaRPr>
          </a:p>
          <a:p>
            <a:r>
              <a:rPr lang="en-US" altLang="zh-CN" b="0" dirty="0">
                <a:solidFill>
                  <a:srgbClr val="795E26"/>
                </a:solidFill>
                <a:effectLst/>
                <a:latin typeface="Consolas" panose="020B0609020204030204" pitchFamily="49" charset="0"/>
              </a:rPr>
              <a:t>g</a:t>
            </a:r>
            <a:r>
              <a:rPr lang="en-US" altLang="zh-CN" b="0" dirty="0">
                <a:solidFill>
                  <a:srgbClr val="000000"/>
                </a:solidFill>
                <a:effectLst/>
                <a:latin typeface="Consolas" panose="020B0609020204030204" pitchFamily="49" charset="0"/>
              </a:rPr>
              <a:t>(c)=</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*c/(</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0.8</a:t>
            </a:r>
            <a:r>
              <a:rPr lang="en-US" altLang="zh-CN" b="0" dirty="0">
                <a:solidFill>
                  <a:srgbClr val="000000"/>
                </a:solidFill>
                <a:effectLst/>
                <a:latin typeface="Consolas" panose="020B0609020204030204" pitchFamily="49" charset="0"/>
              </a:rPr>
              <a:t>*c+c^</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0.2</a:t>
            </a:r>
            <a:r>
              <a:rPr lang="en-US" altLang="zh-CN" b="0" dirty="0">
                <a:solidFill>
                  <a:srgbClr val="000000"/>
                </a:solidFill>
                <a:effectLst/>
                <a:latin typeface="Consolas" panose="020B0609020204030204" pitchFamily="49" charset="0"/>
              </a:rPr>
              <a:t>*c^</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自适应绘制</a:t>
            </a:r>
            <a:r>
              <a:rPr lang="en-US" altLang="zh-CN" b="0" dirty="0">
                <a:solidFill>
                  <a:srgbClr val="008000"/>
                </a:solidFill>
                <a:effectLst/>
                <a:latin typeface="Consolas" panose="020B0609020204030204" pitchFamily="49" charset="0"/>
              </a:rPr>
              <a:t>g-c</a:t>
            </a:r>
            <a:r>
              <a:rPr lang="zh-CN" altLang="en-US" b="0" dirty="0">
                <a:solidFill>
                  <a:srgbClr val="008000"/>
                </a:solidFill>
                <a:effectLst/>
                <a:latin typeface="Consolas" panose="020B0609020204030204" pitchFamily="49" charset="0"/>
              </a:rPr>
              <a:t>曲线</a:t>
            </a:r>
            <a:endParaRPr lang="zh-CN" altLang="en-US" b="0" dirty="0">
              <a:solidFill>
                <a:srgbClr val="000000"/>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fplot</a:t>
            </a:r>
            <a:r>
              <a:rPr lang="en-US" altLang="zh-CN" b="0" dirty="0">
                <a:solidFill>
                  <a:srgbClr val="000000"/>
                </a:solidFill>
                <a:effectLst/>
                <a:latin typeface="Consolas" panose="020B0609020204030204" pitchFamily="49" charset="0"/>
              </a:rPr>
              <a:t>(g,[</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60</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"-or"</a:t>
            </a:r>
            <a:r>
              <a:rPr lang="en-US" altLang="zh-CN" b="0" dirty="0">
                <a:solidFill>
                  <a:srgbClr val="000000"/>
                </a:solidFill>
                <a:effectLst/>
                <a:latin typeface="Consolas" panose="020B0609020204030204" pitchFamily="49" charset="0"/>
              </a:rPr>
              <a:t>) </a:t>
            </a:r>
          </a:p>
          <a:p>
            <a:r>
              <a:rPr lang="en-US" altLang="zh-CN" b="0" dirty="0" err="1">
                <a:solidFill>
                  <a:srgbClr val="795E26"/>
                </a:solidFill>
                <a:effectLst/>
                <a:latin typeface="Consolas" panose="020B0609020204030204" pitchFamily="49" charset="0"/>
              </a:rPr>
              <a:t>xlabel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"c"</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#x</a:t>
            </a:r>
            <a:r>
              <a:rPr lang="zh-CN" altLang="en-US" b="0" dirty="0">
                <a:solidFill>
                  <a:srgbClr val="008000"/>
                </a:solidFill>
                <a:effectLst/>
                <a:latin typeface="Consolas" panose="020B0609020204030204" pitchFamily="49" charset="0"/>
              </a:rPr>
              <a:t>轴浓度</a:t>
            </a:r>
            <a:endParaRPr lang="zh-CN" altLang="en-US" b="0" dirty="0">
              <a:solidFill>
                <a:srgbClr val="000000"/>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ylabel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"g"</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#y</a:t>
            </a:r>
            <a:r>
              <a:rPr lang="zh-CN" altLang="en-US" b="0" dirty="0">
                <a:solidFill>
                  <a:srgbClr val="008000"/>
                </a:solidFill>
                <a:effectLst/>
                <a:latin typeface="Consolas" panose="020B0609020204030204" pitchFamily="49" charset="0"/>
              </a:rPr>
              <a:t>轴生长速率</a:t>
            </a:r>
            <a:endParaRPr lang="zh-CN" altLang="en-US" b="0" dirty="0">
              <a:solidFill>
                <a:srgbClr val="000000"/>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ylim</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0.4</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调控</a:t>
            </a:r>
            <a:r>
              <a:rPr lang="en-US" altLang="zh-CN" b="0" dirty="0">
                <a:solidFill>
                  <a:srgbClr val="008000"/>
                </a:solidFill>
                <a:effectLst/>
                <a:latin typeface="Consolas" panose="020B0609020204030204" pitchFamily="49" charset="0"/>
              </a:rPr>
              <a:t>y</a:t>
            </a:r>
            <a:r>
              <a:rPr lang="zh-CN" altLang="en-US" b="0" dirty="0">
                <a:solidFill>
                  <a:srgbClr val="008000"/>
                </a:solidFill>
                <a:effectLst/>
                <a:latin typeface="Consolas" panose="020B0609020204030204" pitchFamily="49" charset="0"/>
              </a:rPr>
              <a:t>轴范围</a:t>
            </a:r>
            <a:endParaRPr lang="zh-CN" altLang="en-US" b="0" dirty="0">
              <a:solidFill>
                <a:srgbClr val="000000"/>
              </a:solidFill>
              <a:effectLst/>
              <a:latin typeface="Consolas" panose="020B0609020204030204" pitchFamily="49" charset="0"/>
            </a:endParaRP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取负的生长速率表达式</a:t>
            </a:r>
            <a:r>
              <a:rPr lang="en-US" altLang="zh-CN" b="0" dirty="0" err="1">
                <a:solidFill>
                  <a:srgbClr val="008000"/>
                </a:solidFill>
                <a:effectLst/>
                <a:latin typeface="Consolas" panose="020B0609020204030204" pitchFamily="49" charset="0"/>
              </a:rPr>
              <a:t>gmin</a:t>
            </a:r>
            <a:endParaRPr lang="en-US" altLang="zh-CN" b="0" dirty="0">
              <a:solidFill>
                <a:srgbClr val="000000"/>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gmin</a:t>
            </a:r>
            <a:r>
              <a:rPr lang="en-US" altLang="zh-CN" b="0" dirty="0">
                <a:solidFill>
                  <a:srgbClr val="000000"/>
                </a:solidFill>
                <a:effectLst/>
                <a:latin typeface="Consolas" panose="020B0609020204030204" pitchFamily="49" charset="0"/>
              </a:rPr>
              <a:t>(c)=-</a:t>
            </a:r>
            <a:r>
              <a:rPr lang="en-US" altLang="zh-CN" b="0" dirty="0">
                <a:solidFill>
                  <a:srgbClr val="795E26"/>
                </a:solidFill>
                <a:effectLst/>
                <a:latin typeface="Consolas" panose="020B0609020204030204" pitchFamily="49" charset="0"/>
              </a:rPr>
              <a:t>g</a:t>
            </a:r>
            <a:r>
              <a:rPr lang="en-US" altLang="zh-CN" b="0" dirty="0">
                <a:solidFill>
                  <a:srgbClr val="000000"/>
                </a:solidFill>
                <a:effectLst/>
                <a:latin typeface="Consolas" panose="020B0609020204030204" pitchFamily="49" charset="0"/>
              </a:rPr>
              <a:t>(c);</a:t>
            </a: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求</a:t>
            </a:r>
            <a:r>
              <a:rPr lang="en-US" altLang="zh-CN" b="0" dirty="0">
                <a:solidFill>
                  <a:srgbClr val="008000"/>
                </a:solidFill>
                <a:effectLst/>
                <a:latin typeface="Consolas" panose="020B0609020204030204" pitchFamily="49" charset="0"/>
              </a:rPr>
              <a:t>g</a:t>
            </a:r>
            <a:r>
              <a:rPr lang="zh-CN" altLang="en-US" b="0" dirty="0">
                <a:solidFill>
                  <a:srgbClr val="008000"/>
                </a:solidFill>
                <a:effectLst/>
                <a:latin typeface="Consolas" panose="020B0609020204030204" pitchFamily="49" charset="0"/>
              </a:rPr>
              <a:t>最小值</a:t>
            </a:r>
            <a:r>
              <a:rPr lang="en-US" altLang="zh-CN" b="0" dirty="0">
                <a:solidFill>
                  <a:srgbClr val="008000"/>
                </a:solidFill>
                <a:effectLst/>
                <a:latin typeface="Consolas" panose="020B0609020204030204" pitchFamily="49" charset="0"/>
              </a:rPr>
              <a:t>gm</a:t>
            </a:r>
            <a:r>
              <a:rPr lang="zh-CN" altLang="en-US" b="0" dirty="0">
                <a:solidFill>
                  <a:srgbClr val="008000"/>
                </a:solidFill>
                <a:effectLst/>
                <a:latin typeface="Consolas" panose="020B0609020204030204" pitchFamily="49" charset="0"/>
              </a:rPr>
              <a:t>和极值点</a:t>
            </a:r>
            <a:r>
              <a:rPr lang="en-US" altLang="zh-CN" b="0" dirty="0">
                <a:solidFill>
                  <a:srgbClr val="008000"/>
                </a:solidFill>
                <a:effectLst/>
                <a:latin typeface="Consolas" panose="020B0609020204030204" pitchFamily="49" charset="0"/>
              </a:rPr>
              <a:t>cm</a:t>
            </a:r>
            <a:endParaRPr lang="en-US" altLang="zh-CN" b="0" dirty="0">
              <a:solidFill>
                <a:srgbClr val="000000"/>
              </a:solidFill>
              <a:effectLst/>
              <a:latin typeface="Consolas" panose="020B0609020204030204" pitchFamily="49" charset="0"/>
            </a:endParaRPr>
          </a:p>
          <a:p>
            <a:r>
              <a:rPr lang="en-US" altLang="zh-CN" b="0" dirty="0" err="1">
                <a:solidFill>
                  <a:srgbClr val="000000"/>
                </a:solidFill>
                <a:effectLst/>
                <a:latin typeface="Consolas" panose="020B0609020204030204" pitchFamily="49" charset="0"/>
              </a:rPr>
              <a:t>cm,gm</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fminbnd</a:t>
            </a:r>
            <a:r>
              <a:rPr lang="en-US" altLang="zh-CN" b="0" dirty="0">
                <a:solidFill>
                  <a:srgbClr val="000000"/>
                </a:solidFill>
                <a:effectLst/>
                <a:latin typeface="Consolas" panose="020B0609020204030204" pitchFamily="49" charset="0"/>
              </a:rPr>
              <a:t>(gmin,</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60</a:t>
            </a:r>
            <a:r>
              <a:rPr lang="en-US" altLang="zh-CN" b="0" dirty="0">
                <a:solidFill>
                  <a:srgbClr val="000000"/>
                </a:solidFill>
                <a:effectLst/>
                <a:latin typeface="Consolas" panose="020B0609020204030204" pitchFamily="49" charset="0"/>
              </a:rPr>
              <a:t>);</a:t>
            </a: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求最大值</a:t>
            </a:r>
            <a:r>
              <a:rPr lang="en-US" altLang="zh-CN" b="0" dirty="0" err="1">
                <a:solidFill>
                  <a:srgbClr val="008000"/>
                </a:solidFill>
                <a:effectLst/>
                <a:latin typeface="Consolas" panose="020B0609020204030204" pitchFamily="49" charset="0"/>
              </a:rPr>
              <a:t>gmax</a:t>
            </a:r>
            <a:endParaRPr lang="en-US" altLang="zh-CN" b="0" dirty="0">
              <a:solidFill>
                <a:srgbClr val="000000"/>
              </a:solidFill>
              <a:effectLst/>
              <a:latin typeface="Consolas" panose="020B0609020204030204" pitchFamily="49" charset="0"/>
            </a:endParaRPr>
          </a:p>
          <a:p>
            <a:r>
              <a:rPr lang="en-US" altLang="zh-CN" b="0" dirty="0" err="1">
                <a:solidFill>
                  <a:srgbClr val="000000"/>
                </a:solidFill>
                <a:effectLst/>
                <a:latin typeface="Consolas" panose="020B0609020204030204" pitchFamily="49" charset="0"/>
              </a:rPr>
              <a:t>gmax</a:t>
            </a:r>
            <a:r>
              <a:rPr lang="en-US" altLang="zh-CN" b="0" dirty="0">
                <a:solidFill>
                  <a:srgbClr val="000000"/>
                </a:solidFill>
                <a:effectLst/>
                <a:latin typeface="Consolas" panose="020B0609020204030204" pitchFamily="49" charset="0"/>
              </a:rPr>
              <a:t>=-gm;</a:t>
            </a: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图中标注出极值点和极大值</a:t>
            </a:r>
            <a:endParaRPr lang="zh-CN" altLang="en-US" b="0" dirty="0">
              <a:solidFill>
                <a:srgbClr val="000000"/>
              </a:solidFill>
              <a:effectLst/>
              <a:latin typeface="Consolas" panose="020B0609020204030204" pitchFamily="49" charset="0"/>
            </a:endParaRPr>
          </a:p>
          <a:p>
            <a:r>
              <a:rPr lang="en-US" altLang="zh-CN" b="0" dirty="0">
                <a:solidFill>
                  <a:srgbClr val="795E26"/>
                </a:solidFill>
                <a:effectLst/>
                <a:latin typeface="Consolas" panose="020B0609020204030204" pitchFamily="49" charset="0"/>
              </a:rPr>
              <a:t>text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cm,gmax,</a:t>
            </a:r>
            <a:r>
              <a:rPr lang="en-US" altLang="zh-CN" b="0" dirty="0" err="1">
                <a:solidFill>
                  <a:srgbClr val="795E26"/>
                </a:solidFill>
                <a:effectLst/>
                <a:latin typeface="Consolas" panose="020B0609020204030204" pitchFamily="49" charset="0"/>
              </a:rPr>
              <a:t>raw</a:t>
            </a:r>
            <a:r>
              <a:rPr lang="en-US" altLang="zh-CN" b="0" dirty="0">
                <a:solidFill>
                  <a:srgbClr val="A31515"/>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leftarrow</a:t>
            </a:r>
            <a:r>
              <a:rPr lang="en-US" altLang="zh-CN" b="0" dirty="0">
                <a:solidFill>
                  <a:srgbClr val="A31515"/>
                </a:solidFill>
                <a:effectLst/>
                <a:latin typeface="Consolas" panose="020B0609020204030204" pitchFamily="49" charset="0"/>
              </a:rPr>
              <a:t> </a:t>
            </a:r>
            <a:r>
              <a:rPr lang="en-US" altLang="zh-CN" b="0" dirty="0" err="1">
                <a:solidFill>
                  <a:srgbClr val="A31515"/>
                </a:solidFill>
                <a:effectLst/>
                <a:latin typeface="Consolas" panose="020B0609020204030204" pitchFamily="49" charset="0"/>
              </a:rPr>
              <a:t>gmax</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string</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gmax</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注释最大值</a:t>
            </a:r>
            <a:endParaRPr lang="zh-CN" altLang="en-US" b="0" dirty="0">
              <a:solidFill>
                <a:srgbClr val="000000"/>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浓度</a:t>
            </a:r>
            <a:r>
              <a:rPr lang="en-US" altLang="zh-CN" b="0" dirty="0">
                <a:solidFill>
                  <a:srgbClr val="A31515"/>
                </a:solidFill>
                <a:effectLst/>
                <a:latin typeface="Consolas" panose="020B0609020204030204" pitchFamily="49" charset="0"/>
              </a:rPr>
              <a:t>cm=</a:t>
            </a:r>
            <a:r>
              <a:rPr lang="en-US" altLang="zh-CN" b="0" dirty="0">
                <a:solidFill>
                  <a:srgbClr val="001080"/>
                </a:solidFill>
                <a:effectLst/>
                <a:latin typeface="Consolas" panose="020B0609020204030204" pitchFamily="49" charset="0"/>
              </a:rPr>
              <a:t>$cm</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最高值</a:t>
            </a:r>
            <a:r>
              <a:rPr lang="en-US" altLang="zh-CN" b="0" dirty="0" err="1">
                <a:solidFill>
                  <a:srgbClr val="A31515"/>
                </a:solidFill>
                <a:effectLst/>
                <a:latin typeface="Consolas" panose="020B0609020204030204" pitchFamily="49" charset="0"/>
              </a:rPr>
              <a:t>gmax</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gmax</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显示极值点和最小值</a:t>
            </a:r>
            <a:endParaRPr lang="zh-CN" altLang="en-US" b="0" dirty="0">
              <a:solidFill>
                <a:srgbClr val="000000"/>
              </a:solidFill>
              <a:effectLst/>
              <a:latin typeface="Consolas" panose="020B0609020204030204" pitchFamily="49" charset="0"/>
            </a:endParaRP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结果：浓度为</a:t>
            </a:r>
            <a:r>
              <a:rPr lang="en-US" altLang="zh-CN" b="0" dirty="0">
                <a:solidFill>
                  <a:srgbClr val="008000"/>
                </a:solidFill>
                <a:effectLst/>
                <a:latin typeface="Consolas" panose="020B0609020204030204" pitchFamily="49" charset="0"/>
              </a:rPr>
              <a:t>1.5679</a:t>
            </a:r>
            <a:r>
              <a:rPr lang="zh-CN" altLang="en-US" b="0" dirty="0">
                <a:solidFill>
                  <a:srgbClr val="008000"/>
                </a:solidFill>
                <a:effectLst/>
                <a:latin typeface="Consolas" panose="020B0609020204030204" pitchFamily="49" charset="0"/>
              </a:rPr>
              <a:t>时</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生长速率最大为</a:t>
            </a:r>
            <a:r>
              <a:rPr lang="en-US" altLang="zh-CN" b="0" dirty="0">
                <a:solidFill>
                  <a:srgbClr val="008000"/>
                </a:solidFill>
                <a:effectLst/>
                <a:latin typeface="Consolas" panose="020B0609020204030204" pitchFamily="49" charset="0"/>
              </a:rPr>
              <a:t>0.3696</a:t>
            </a:r>
            <a:endParaRPr lang="zh-CN" altLang="en-US" b="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21</a:t>
            </a:fld>
            <a:endParaRPr lang="zh-CN" altLang="en-US"/>
          </a:p>
        </p:txBody>
      </p:sp>
    </p:spTree>
    <p:extLst>
      <p:ext uri="{BB962C8B-B14F-4D97-AF65-F5344CB8AC3E}">
        <p14:creationId xmlns:p14="http://schemas.microsoft.com/office/powerpoint/2010/main" val="27817617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tabLst/>
              <a:defRPr/>
            </a:pPr>
            <a:r>
              <a:rPr lang="zh-CN" altLang="en-US" sz="1200" dirty="0">
                <a:solidFill>
                  <a:srgbClr val="00B0F0"/>
                </a:solidFill>
              </a:rPr>
              <a:t>直接搜索方法</a:t>
            </a:r>
            <a:endParaRPr lang="zh-CN" altLang="en-US" dirty="0">
              <a:solidFill>
                <a:srgbClr val="00B0F0"/>
              </a:solidFill>
            </a:endParaRPr>
          </a:p>
          <a:p>
            <a:pPr marL="0" indent="0" algn="l">
              <a:buFont typeface="Wingdings" panose="05000000000000000000" pitchFamily="2" charset="2"/>
              <a:buNone/>
            </a:pPr>
            <a:r>
              <a:rPr lang="en-US" altLang="zh-CN" b="0" i="0" dirty="0">
                <a:solidFill>
                  <a:srgbClr val="111111"/>
                </a:solidFill>
                <a:effectLst/>
                <a:latin typeface="Arial" panose="020B0604020202020204" pitchFamily="34" charset="0"/>
              </a:rPr>
              <a:t>algorithm: </a:t>
            </a:r>
            <a:r>
              <a:rPr lang="en-US" altLang="zh-CN" b="0" i="0" dirty="0" err="1">
                <a:solidFill>
                  <a:srgbClr val="111111"/>
                </a:solidFill>
                <a:effectLst/>
                <a:latin typeface="Arial" panose="020B0604020202020204" pitchFamily="34" charset="0"/>
              </a:rPr>
              <a:t>Nelder</a:t>
            </a:r>
            <a:r>
              <a:rPr lang="en-US" altLang="zh-CN" b="0" i="0" dirty="0">
                <a:solidFill>
                  <a:srgbClr val="111111"/>
                </a:solidFill>
                <a:effectLst/>
                <a:latin typeface="Arial" panose="020B0604020202020204" pitchFamily="34" charset="0"/>
              </a:rPr>
              <a:t>-Mead simplex direct search</a:t>
            </a:r>
          </a:p>
          <a:p>
            <a:pPr marL="0" indent="0" algn="l">
              <a:buFont typeface="Wingdings" panose="05000000000000000000" pitchFamily="2" charset="2"/>
              <a:buNone/>
            </a:pPr>
            <a:r>
              <a:rPr lang="zh-CN" altLang="en-US" b="0" i="0" dirty="0">
                <a:solidFill>
                  <a:srgbClr val="111111"/>
                </a:solidFill>
                <a:effectLst/>
                <a:latin typeface="Arial" panose="020B0604020202020204" pitchFamily="34" charset="0"/>
              </a:rPr>
              <a:t>可行域（</a:t>
            </a:r>
            <a:r>
              <a:rPr lang="en-US" altLang="zh-CN" b="0" i="0" dirty="0">
                <a:solidFill>
                  <a:srgbClr val="111111"/>
                </a:solidFill>
                <a:effectLst/>
                <a:latin typeface="Arial" panose="020B0604020202020204" pitchFamily="34" charset="0"/>
              </a:rPr>
              <a:t>feasible region</a:t>
            </a:r>
            <a:r>
              <a:rPr lang="zh-CN" altLang="en-US" b="0" i="0" dirty="0">
                <a:solidFill>
                  <a:srgbClr val="111111"/>
                </a:solidFill>
                <a:effectLst/>
                <a:latin typeface="Arial" panose="020B0604020202020204" pitchFamily="34" charset="0"/>
              </a:rPr>
              <a:t>）是优化问题中的一个核心概念，它指的是所有满足一定约束条件的解的集合。</a:t>
            </a:r>
            <a:endParaRPr lang="en-US" altLang="zh-CN" sz="1200" dirty="0">
              <a:effectLst/>
              <a:latin typeface="华文楷体" panose="02010600040101010101" pitchFamily="2" charset="-122"/>
              <a:ea typeface="华文楷体" panose="02010600040101010101" pitchFamily="2" charset="-122"/>
            </a:endParaRPr>
          </a:p>
          <a:p>
            <a:pPr marL="285750" indent="-285750" algn="l">
              <a:buFont typeface="Wingdings" panose="05000000000000000000" pitchFamily="2" charset="2"/>
              <a:buChar char="Ø"/>
            </a:pPr>
            <a:endParaRPr lang="en-US" altLang="zh-CN" sz="1200" dirty="0">
              <a:effectLst/>
              <a:latin typeface="华文楷体" panose="02010600040101010101" pitchFamily="2" charset="-122"/>
              <a:ea typeface="华文楷体" panose="02010600040101010101" pitchFamily="2" charset="-122"/>
            </a:endParaRPr>
          </a:p>
          <a:p>
            <a:pPr marL="285750" indent="-285750" algn="l">
              <a:buFont typeface="Wingdings" panose="05000000000000000000" pitchFamily="2" charset="2"/>
              <a:buChar char="Ø"/>
            </a:pPr>
            <a:r>
              <a:rPr lang="zh-CN" altLang="en-US" sz="1200" dirty="0">
                <a:effectLst/>
                <a:latin typeface="华文楷体" panose="02010600040101010101" pitchFamily="2" charset="-122"/>
                <a:ea typeface="华文楷体" panose="02010600040101010101" pitchFamily="2" charset="-122"/>
              </a:rPr>
              <a:t>“</a:t>
            </a:r>
            <a:r>
              <a:rPr lang="en-US" altLang="zh-CN" sz="1200" dirty="0">
                <a:effectLst/>
                <a:latin typeface="华文楷体" panose="02010600040101010101" pitchFamily="2" charset="-122"/>
                <a:ea typeface="华文楷体" panose="02010600040101010101" pitchFamily="2" charset="-122"/>
              </a:rPr>
              <a:t>notify”</a:t>
            </a:r>
            <a:r>
              <a:rPr lang="zh-CN" altLang="en-US" sz="1200" dirty="0">
                <a:effectLst/>
                <a:latin typeface="华文楷体" panose="02010600040101010101" pitchFamily="2" charset="-122"/>
                <a:ea typeface="华文楷体" panose="02010600040101010101" pitchFamily="2" charset="-122"/>
              </a:rPr>
              <a:t> 默认值，函数未收敛时显示输出</a:t>
            </a:r>
          </a:p>
          <a:p>
            <a:pPr marL="285750" indent="-285750" algn="l">
              <a:buFont typeface="Wingdings" panose="05000000000000000000" pitchFamily="2" charset="2"/>
              <a:buChar char="Ø"/>
            </a:pPr>
            <a:r>
              <a:rPr lang="zh-CN" altLang="en-US" sz="1200" dirty="0">
                <a:effectLst/>
                <a:latin typeface="华文楷体" panose="02010600040101010101" pitchFamily="2" charset="-122"/>
                <a:ea typeface="华文楷体" panose="02010600040101010101" pitchFamily="2" charset="-122"/>
              </a:rPr>
              <a:t>“</a:t>
            </a:r>
            <a:r>
              <a:rPr lang="en-US" altLang="zh-CN" sz="1200" dirty="0">
                <a:effectLst/>
                <a:latin typeface="华文楷体" panose="02010600040101010101" pitchFamily="2" charset="-122"/>
                <a:ea typeface="华文楷体" panose="02010600040101010101" pitchFamily="2" charset="-122"/>
              </a:rPr>
              <a:t>off” </a:t>
            </a:r>
            <a:r>
              <a:rPr lang="zh-CN" altLang="en-US" sz="1200" dirty="0">
                <a:effectLst/>
                <a:latin typeface="华文楷体" panose="02010600040101010101" pitchFamily="2" charset="-122"/>
                <a:ea typeface="华文楷体" panose="02010600040101010101" pitchFamily="2" charset="-122"/>
              </a:rPr>
              <a:t>或 “</a:t>
            </a:r>
            <a:r>
              <a:rPr lang="en-US" altLang="zh-CN" sz="1200" dirty="0">
                <a:effectLst/>
                <a:latin typeface="华文楷体" panose="02010600040101010101" pitchFamily="2" charset="-122"/>
                <a:ea typeface="华文楷体" panose="02010600040101010101" pitchFamily="2" charset="-122"/>
              </a:rPr>
              <a:t>none” </a:t>
            </a:r>
            <a:r>
              <a:rPr lang="zh-CN" altLang="en-US" sz="1200" dirty="0">
                <a:effectLst/>
                <a:latin typeface="华文楷体" panose="02010600040101010101" pitchFamily="2" charset="-122"/>
                <a:ea typeface="华文楷体" panose="02010600040101010101" pitchFamily="2" charset="-122"/>
              </a:rPr>
              <a:t>不显示输出</a:t>
            </a:r>
          </a:p>
          <a:p>
            <a:pPr marL="285750" indent="-285750" algn="l">
              <a:buFont typeface="Wingdings" panose="05000000000000000000" pitchFamily="2" charset="2"/>
              <a:buChar char="Ø"/>
            </a:pPr>
            <a:r>
              <a:rPr lang="zh-CN" altLang="en-US" sz="1200" dirty="0">
                <a:effectLst/>
                <a:latin typeface="华文楷体" panose="02010600040101010101" pitchFamily="2" charset="-122"/>
                <a:ea typeface="华文楷体" panose="02010600040101010101" pitchFamily="2" charset="-122"/>
              </a:rPr>
              <a:t>“</a:t>
            </a:r>
            <a:r>
              <a:rPr lang="en-US" altLang="zh-CN" sz="1200" dirty="0" err="1">
                <a:effectLst/>
                <a:latin typeface="华文楷体" panose="02010600040101010101" pitchFamily="2" charset="-122"/>
                <a:ea typeface="华文楷体" panose="02010600040101010101" pitchFamily="2" charset="-122"/>
              </a:rPr>
              <a:t>iter</a:t>
            </a:r>
            <a:r>
              <a:rPr lang="en-US" altLang="zh-CN" sz="1200" dirty="0">
                <a:effectLst/>
                <a:latin typeface="华文楷体" panose="02010600040101010101" pitchFamily="2" charset="-122"/>
                <a:ea typeface="华文楷体" panose="02010600040101010101" pitchFamily="2" charset="-122"/>
              </a:rPr>
              <a:t>” </a:t>
            </a:r>
            <a:r>
              <a:rPr lang="zh-CN" altLang="en-US" sz="1200" dirty="0">
                <a:effectLst/>
                <a:latin typeface="华文楷体" panose="02010600040101010101" pitchFamily="2" charset="-122"/>
                <a:ea typeface="华文楷体" panose="02010600040101010101" pitchFamily="2" charset="-122"/>
              </a:rPr>
              <a:t>在每次迭代时显示输出</a:t>
            </a:r>
          </a:p>
          <a:p>
            <a:pPr marL="285750" indent="-285750" algn="l">
              <a:buFont typeface="Wingdings" panose="05000000000000000000" pitchFamily="2" charset="2"/>
              <a:buChar char="Ø"/>
            </a:pPr>
            <a:r>
              <a:rPr lang="zh-CN" altLang="en-US" sz="1200" dirty="0">
                <a:effectLst/>
                <a:latin typeface="华文楷体" panose="02010600040101010101" pitchFamily="2" charset="-122"/>
                <a:ea typeface="华文楷体" panose="02010600040101010101" pitchFamily="2" charset="-122"/>
              </a:rPr>
              <a:t>“</a:t>
            </a:r>
            <a:r>
              <a:rPr lang="en-US" altLang="zh-CN" sz="1200" dirty="0">
                <a:effectLst/>
                <a:latin typeface="华文楷体" panose="02010600040101010101" pitchFamily="2" charset="-122"/>
                <a:ea typeface="华文楷体" panose="02010600040101010101" pitchFamily="2" charset="-122"/>
              </a:rPr>
              <a:t>final” </a:t>
            </a:r>
            <a:r>
              <a:rPr lang="zh-CN" altLang="en-US" sz="1200" dirty="0">
                <a:effectLst/>
                <a:latin typeface="华文楷体" panose="02010600040101010101" pitchFamily="2" charset="-122"/>
                <a:ea typeface="华文楷体" panose="02010600040101010101" pitchFamily="2" charset="-122"/>
              </a:rPr>
              <a:t>仅显示最终输出</a:t>
            </a:r>
            <a:endParaRPr lang="zh-CN" alt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1" i="0" dirty="0" err="1">
                <a:solidFill>
                  <a:srgbClr val="0070C0"/>
                </a:solidFill>
                <a:effectLst/>
                <a:latin typeface="微软雅黑" panose="020B0503020204020204" pitchFamily="34" charset="-122"/>
                <a:ea typeface="微软雅黑" panose="020B0503020204020204" pitchFamily="34" charset="-122"/>
              </a:rPr>
              <a:t>fminunc</a:t>
            </a:r>
            <a:r>
              <a:rPr lang="zh-CN" altLang="en-US" sz="1200" b="1" i="0" dirty="0">
                <a:solidFill>
                  <a:srgbClr val="0070C0"/>
                </a:solidFill>
                <a:effectLst/>
                <a:latin typeface="微软雅黑" panose="020B0503020204020204" pitchFamily="34" charset="-122"/>
                <a:ea typeface="微软雅黑" panose="020B0503020204020204" pitchFamily="34" charset="-122"/>
              </a:rPr>
              <a:t>采用拟牛顿法</a:t>
            </a:r>
            <a:r>
              <a:rPr lang="en-US" altLang="zh-CN" sz="1200" b="1" i="0" dirty="0">
                <a:solidFill>
                  <a:srgbClr val="0070C0"/>
                </a:solidFill>
                <a:effectLst/>
                <a:latin typeface="微软雅黑" panose="020B0503020204020204" pitchFamily="34" charset="-122"/>
                <a:ea typeface="微软雅黑" panose="020B0503020204020204" pitchFamily="34" charset="-122"/>
              </a:rPr>
              <a:t>(QN)</a:t>
            </a:r>
            <a:r>
              <a:rPr lang="zh-CN" altLang="en-US" sz="1200" b="1" i="0" dirty="0">
                <a:solidFill>
                  <a:srgbClr val="0070C0"/>
                </a:solidFill>
                <a:effectLst/>
                <a:latin typeface="微软雅黑" panose="020B0503020204020204" pitchFamily="34" charset="-122"/>
                <a:ea typeface="微软雅黑" panose="020B0503020204020204" pitchFamily="34" charset="-122"/>
              </a:rPr>
              <a:t>，是一种使用导数的算法</a:t>
            </a:r>
            <a:r>
              <a:rPr lang="zh-CN" altLang="en-US" sz="1200" b="1" dirty="0">
                <a:solidFill>
                  <a:srgbClr val="0070C0"/>
                </a:solidFill>
                <a:latin typeface="微软雅黑" panose="020B0503020204020204" pitchFamily="34" charset="-122"/>
                <a:ea typeface="微软雅黑" panose="020B0503020204020204" pitchFamily="34" charset="-122"/>
              </a:rPr>
              <a:t>求多元函数最小值</a:t>
            </a: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24</a:t>
            </a:fld>
            <a:endParaRPr lang="zh-CN" altLang="en-US"/>
          </a:p>
        </p:txBody>
      </p:sp>
    </p:spTree>
    <p:extLst>
      <p:ext uri="{BB962C8B-B14F-4D97-AF65-F5344CB8AC3E}">
        <p14:creationId xmlns:p14="http://schemas.microsoft.com/office/powerpoint/2010/main" val="17555297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25</a:t>
            </a:fld>
            <a:endParaRPr lang="zh-CN" altLang="en-US"/>
          </a:p>
        </p:txBody>
      </p:sp>
    </p:spTree>
    <p:extLst>
      <p:ext uri="{BB962C8B-B14F-4D97-AF65-F5344CB8AC3E}">
        <p14:creationId xmlns:p14="http://schemas.microsoft.com/office/powerpoint/2010/main" val="39097440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err="1">
                <a:solidFill>
                  <a:srgbClr val="795E26"/>
                </a:solidFill>
                <a:effectLst/>
                <a:latin typeface="Consolas" panose="020B0609020204030204" pitchFamily="49" charset="0"/>
              </a:rPr>
              <a:t>fxy</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+xy[</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xy[</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xy[</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p>
          <a:p>
            <a:r>
              <a:rPr lang="en-US" altLang="zh-CN" b="0" dirty="0" err="1">
                <a:solidFill>
                  <a:srgbClr val="000000"/>
                </a:solidFill>
                <a:effectLst/>
                <a:latin typeface="Consolas" panose="020B0609020204030204" pitchFamily="49" charset="0"/>
              </a:rPr>
              <a:t>xy,fval,ex</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fminsearch</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fxy</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err="1">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xy</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xy</a:t>
            </a:r>
            <a:r>
              <a:rPr lang="en-US" altLang="zh-CN" b="0" dirty="0">
                <a:solidFill>
                  <a:srgbClr val="A31515"/>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en-US" altLang="zh-CN" b="0" dirty="0" err="1">
                <a:solidFill>
                  <a:srgbClr val="A31515"/>
                </a:solidFill>
                <a:effectLst/>
                <a:latin typeface="Consolas" panose="020B0609020204030204" pitchFamily="49" charset="0"/>
              </a:rPr>
              <a:t>fval</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fval</a:t>
            </a:r>
            <a:r>
              <a:rPr lang="en-US" altLang="zh-CN" b="0" dirty="0">
                <a:solidFill>
                  <a:srgbClr val="A31515"/>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en-US" altLang="zh-CN" b="0" dirty="0">
                <a:solidFill>
                  <a:srgbClr val="A31515"/>
                </a:solidFill>
                <a:effectLst/>
                <a:latin typeface="Consolas" panose="020B0609020204030204" pitchFamily="49" charset="0"/>
              </a:rPr>
              <a:t>ex=</a:t>
            </a:r>
            <a:r>
              <a:rPr lang="en-US" altLang="zh-CN" b="0" dirty="0">
                <a:solidFill>
                  <a:srgbClr val="001080"/>
                </a:solidFill>
                <a:effectLst/>
                <a:latin typeface="Consolas" panose="020B0609020204030204" pitchFamily="49" charset="0"/>
              </a:rPr>
              <a:t>$ex</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endParaRPr lang="en-US" altLang="zh-CN" b="0" dirty="0">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dirty="0">
                <a:solidFill>
                  <a:srgbClr val="00B0F0"/>
                </a:solidFill>
                <a:latin typeface="Consolas" panose="020B0609020204030204" pitchFamily="49" charset="0"/>
              </a:rPr>
              <a:t>#xy,fval,ex=fminunc(fxy,[2,2])</a:t>
            </a:r>
            <a:endParaRPr lang="en-US" altLang="zh-CN" sz="1200" dirty="0">
              <a:solidFill>
                <a:srgbClr val="00B0F0"/>
              </a:solidFill>
              <a:latin typeface="华文楷体" panose="02010600040101010101" pitchFamily="2" charset="-122"/>
              <a:ea typeface="华文楷体" panose="02010600040101010101" pitchFamily="2" charset="-122"/>
              <a:cs typeface="Times New Roman" panose="02020603050405020304" pitchFamily="18" charset="0"/>
            </a:endParaRPr>
          </a:p>
          <a:p>
            <a:endParaRPr lang="en-US" altLang="zh-CN" b="0" dirty="0">
              <a:solidFill>
                <a:srgbClr val="000000"/>
              </a:solidFill>
              <a:effectLst/>
              <a:latin typeface="Consolas" panose="020B0609020204030204" pitchFamily="49" charset="0"/>
            </a:endParaRPr>
          </a:p>
          <a:p>
            <a:br>
              <a:rPr lang="en-US" altLang="zh-CN" b="0" dirty="0">
                <a:solidFill>
                  <a:srgbClr val="000000"/>
                </a:solidFill>
                <a:effectLst/>
                <a:latin typeface="Consolas" panose="020B0609020204030204" pitchFamily="49" charset="0"/>
              </a:rPr>
            </a:br>
            <a:endParaRPr lang="en-US" altLang="zh-CN" b="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27</a:t>
            </a:fld>
            <a:endParaRPr lang="zh-CN" altLang="en-US"/>
          </a:p>
        </p:txBody>
      </p:sp>
    </p:spTree>
    <p:extLst>
      <p:ext uri="{BB962C8B-B14F-4D97-AF65-F5344CB8AC3E}">
        <p14:creationId xmlns:p14="http://schemas.microsoft.com/office/powerpoint/2010/main" val="11210281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28</a:t>
            </a:fld>
            <a:endParaRPr lang="zh-CN" altLang="en-US"/>
          </a:p>
        </p:txBody>
      </p:sp>
    </p:spTree>
    <p:extLst>
      <p:ext uri="{BB962C8B-B14F-4D97-AF65-F5344CB8AC3E}">
        <p14:creationId xmlns:p14="http://schemas.microsoft.com/office/powerpoint/2010/main" val="2045860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solidFill>
                  <a:srgbClr val="795E26"/>
                </a:solidFill>
                <a:effectLst/>
                <a:latin typeface="Consolas" panose="020B0609020204030204" pitchFamily="49" charset="0"/>
              </a:rPr>
              <a:t>fxy</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100</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-xy[</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建立向量元素函数</a:t>
            </a:r>
            <a:endParaRPr lang="zh-CN" altLang="en-US" b="0" dirty="0">
              <a:solidFill>
                <a:srgbClr val="000000"/>
              </a:solidFill>
              <a:effectLst/>
              <a:latin typeface="Consolas" panose="020B0609020204030204" pitchFamily="49" charset="0"/>
            </a:endParaRPr>
          </a:p>
          <a:p>
            <a:r>
              <a:rPr lang="en-US" altLang="zh-CN" b="0" dirty="0">
                <a:solidFill>
                  <a:srgbClr val="008000"/>
                </a:solidFill>
                <a:effectLst/>
                <a:latin typeface="Consolas" panose="020B0609020204030204" pitchFamily="49" charset="0"/>
              </a:rPr>
              <a:t>#xy0=[-1,2]; #</a:t>
            </a:r>
            <a:r>
              <a:rPr lang="zh-CN" altLang="en-US" b="0" dirty="0">
                <a:solidFill>
                  <a:srgbClr val="008000"/>
                </a:solidFill>
                <a:effectLst/>
                <a:latin typeface="Consolas" panose="020B0609020204030204" pitchFamily="49" charset="0"/>
              </a:rPr>
              <a:t>初始值</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xy0=[</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初始值</a:t>
            </a:r>
            <a:endParaRPr lang="zh-CN" altLang="en-US" b="0" dirty="0">
              <a:solidFill>
                <a:srgbClr val="000000"/>
              </a:solidFill>
              <a:effectLst/>
              <a:latin typeface="Consolas" panose="020B0609020204030204" pitchFamily="49" charset="0"/>
            </a:endParaRPr>
          </a:p>
          <a:p>
            <a:r>
              <a:rPr lang="en-US" altLang="zh-CN" b="0" dirty="0">
                <a:solidFill>
                  <a:srgbClr val="008000"/>
                </a:solidFill>
                <a:effectLst/>
                <a:latin typeface="Consolas" panose="020B0609020204030204" pitchFamily="49" charset="0"/>
              </a:rPr>
              <a:t>#xy,fy=fminunc(fxy,xy0) </a:t>
            </a:r>
            <a:endParaRPr lang="en-US" altLang="zh-CN" b="0" dirty="0">
              <a:solidFill>
                <a:srgbClr val="000000"/>
              </a:solidFill>
              <a:effectLst/>
              <a:latin typeface="Consolas" panose="020B0609020204030204" pitchFamily="49" charset="0"/>
            </a:endParaRPr>
          </a:p>
          <a:p>
            <a:r>
              <a:rPr lang="en-US" altLang="zh-CN" b="0" dirty="0" err="1">
                <a:solidFill>
                  <a:srgbClr val="000000"/>
                </a:solidFill>
                <a:effectLst/>
                <a:latin typeface="Consolas" panose="020B0609020204030204" pitchFamily="49" charset="0"/>
              </a:rPr>
              <a:t>xy,fy</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fminsearch</a:t>
            </a:r>
            <a:r>
              <a:rPr lang="en-US" altLang="zh-CN" b="0" dirty="0">
                <a:solidFill>
                  <a:srgbClr val="000000"/>
                </a:solidFill>
                <a:effectLst/>
                <a:latin typeface="Consolas" panose="020B0609020204030204" pitchFamily="49" charset="0"/>
              </a:rPr>
              <a:t>(fxy,xy0)</a:t>
            </a:r>
          </a:p>
          <a:p>
            <a:endParaRPr lang="en-US" altLang="zh-CN" dirty="0"/>
          </a:p>
          <a:p>
            <a:endParaRPr lang="en-US" altLang="zh-CN" dirty="0"/>
          </a:p>
          <a:p>
            <a:endParaRPr lang="en-US" altLang="zh-CN" dirty="0"/>
          </a:p>
          <a:p>
            <a:pPr>
              <a:lnSpc>
                <a:spcPts val="3200"/>
              </a:lnSpc>
            </a:pPr>
            <a:r>
              <a:rPr lang="en-US" altLang="zh-CN" sz="1100" b="1" dirty="0" err="1">
                <a:solidFill>
                  <a:srgbClr val="FF0000"/>
                </a:solidFill>
                <a:latin typeface="微软雅黑" panose="020B0503020204020204" pitchFamily="34" charset="-122"/>
                <a:ea typeface="微软雅黑" panose="020B0503020204020204" pitchFamily="34" charset="-122"/>
              </a:rPr>
              <a:t>xy,fv</a:t>
            </a:r>
            <a:r>
              <a:rPr lang="en-US" altLang="zh-CN" sz="1100" b="1" dirty="0">
                <a:solidFill>
                  <a:srgbClr val="FF0000"/>
                </a:solidFill>
                <a:latin typeface="微软雅黑" panose="020B0503020204020204" pitchFamily="34" charset="-122"/>
                <a:ea typeface="微软雅黑" panose="020B0503020204020204" pitchFamily="34" charset="-122"/>
              </a:rPr>
              <a:t>=fminsearch(fxy,z0) #</a:t>
            </a:r>
            <a:r>
              <a:rPr lang="zh-CN" altLang="en-US" sz="1100" b="1" dirty="0">
                <a:solidFill>
                  <a:srgbClr val="FF0000"/>
                </a:solidFill>
                <a:latin typeface="微软雅黑" panose="020B0503020204020204" pitchFamily="34" charset="-122"/>
                <a:ea typeface="微软雅黑" panose="020B0503020204020204" pitchFamily="34" charset="-122"/>
              </a:rPr>
              <a:t>无导数的最小值</a:t>
            </a:r>
            <a:endParaRPr lang="en-US" altLang="zh-CN" sz="1100" b="1" dirty="0">
              <a:solidFill>
                <a:srgbClr val="FF0000"/>
              </a:solidFill>
              <a:latin typeface="微软雅黑" panose="020B0503020204020204" pitchFamily="34" charset="-122"/>
              <a:ea typeface="微软雅黑" panose="020B0503020204020204" pitchFamily="34" charset="-122"/>
            </a:endParaRPr>
          </a:p>
          <a:p>
            <a:pPr>
              <a:lnSpc>
                <a:spcPts val="3200"/>
              </a:lnSpc>
            </a:pPr>
            <a:r>
              <a:rPr lang="zh-CN" altLang="en-US" sz="1200" dirty="0">
                <a:solidFill>
                  <a:srgbClr val="00B0F0"/>
                </a:solidFill>
                <a:latin typeface="华文楷体" panose="02010600040101010101" pitchFamily="2" charset="-122"/>
                <a:ea typeface="华文楷体" panose="02010600040101010101" pitchFamily="2" charset="-122"/>
              </a:rPr>
              <a:t>优化结果</a:t>
            </a:r>
            <a:r>
              <a:rPr lang="en-US" altLang="zh-CN" sz="1200" dirty="0">
                <a:solidFill>
                  <a:srgbClr val="00B0F0"/>
                </a:solidFill>
                <a:latin typeface="华文楷体" panose="02010600040101010101" pitchFamily="2" charset="-122"/>
                <a:ea typeface="华文楷体" panose="02010600040101010101" pitchFamily="2" charset="-122"/>
              </a:rPr>
              <a:t>([0.9999908938395383, 0.999982724217811],</a:t>
            </a:r>
          </a:p>
          <a:p>
            <a:pPr>
              <a:lnSpc>
                <a:spcPts val="3200"/>
              </a:lnSpc>
            </a:pPr>
            <a:r>
              <a:rPr lang="zh-CN" altLang="en-US" sz="1200" dirty="0">
                <a:solidFill>
                  <a:srgbClr val="00B0F0"/>
                </a:solidFill>
                <a:latin typeface="华文楷体" panose="02010600040101010101" pitchFamily="2" charset="-122"/>
                <a:ea typeface="华文楷体" panose="02010600040101010101" pitchFamily="2" charset="-122"/>
              </a:rPr>
              <a:t>目标函数值</a:t>
            </a:r>
            <a:r>
              <a:rPr lang="en-US" altLang="zh-CN" sz="1200" dirty="0">
                <a:solidFill>
                  <a:srgbClr val="00B0F0"/>
                </a:solidFill>
                <a:latin typeface="华文楷体" panose="02010600040101010101" pitchFamily="2" charset="-122"/>
                <a:ea typeface="华文楷体" panose="02010600040101010101" pitchFamily="2" charset="-122"/>
              </a:rPr>
              <a:t>=1.7061710717947595e-10</a:t>
            </a:r>
          </a:p>
          <a:p>
            <a:endParaRPr lang="en-US" altLang="zh-CN" dirty="0"/>
          </a:p>
          <a:p>
            <a:r>
              <a:rPr lang="en-US" altLang="zh-CN" dirty="0">
                <a:effectLst/>
              </a:rPr>
              <a:t>0</a:t>
            </a:r>
            <a:r>
              <a:rPr lang="zh-CN" altLang="en-US" dirty="0">
                <a:effectLst/>
              </a:rPr>
              <a:t>迭代次数超出 </a:t>
            </a:r>
            <a:r>
              <a:rPr lang="en-US" altLang="zh-CN" dirty="0" err="1">
                <a:effectLst/>
              </a:rPr>
              <a:t>MaxIterations</a:t>
            </a:r>
            <a:r>
              <a:rPr lang="en-US" altLang="zh-CN" dirty="0">
                <a:effectLst/>
              </a:rPr>
              <a:t> </a:t>
            </a:r>
            <a:r>
              <a:rPr lang="zh-CN" altLang="en-US" dirty="0">
                <a:effectLst/>
              </a:rPr>
              <a:t>或函数计算次数超过 </a:t>
            </a:r>
            <a:r>
              <a:rPr lang="en-US" altLang="zh-CN" dirty="0" err="1">
                <a:effectLst/>
              </a:rPr>
              <a:t>MaxFunctionEvaluations</a:t>
            </a:r>
            <a:endParaRPr lang="en-US" altLang="zh-CN" dirty="0">
              <a:effectLst/>
            </a:endParaRPr>
          </a:p>
          <a:p>
            <a:endParaRPr lang="en-US" altLang="zh-CN" dirty="0">
              <a:effectLst/>
            </a:endParaRPr>
          </a:p>
          <a:p>
            <a:endParaRPr lang="en-US" altLang="zh-CN" dirty="0">
              <a:effectLst/>
            </a:endParaRPr>
          </a:p>
          <a:p>
            <a:endParaRPr lang="en-US" altLang="zh-CN" dirty="0">
              <a:effectLst/>
            </a:endParaRPr>
          </a:p>
          <a:p>
            <a:endParaRPr lang="en-US" altLang="zh-CN" dirty="0">
              <a:effectLst/>
            </a:endParaRPr>
          </a:p>
          <a:p>
            <a:endParaRPr lang="en-US" altLang="zh-CN" dirty="0">
              <a:effectLst/>
            </a:endParaRPr>
          </a:p>
          <a:p>
            <a:endParaRPr lang="en-US" altLang="zh-CN" dirty="0">
              <a:effectLst/>
            </a:endParaRPr>
          </a:p>
          <a:p>
            <a:r>
              <a:rPr lang="en-US" altLang="zh-CN" dirty="0" err="1"/>
              <a:t>xy,fy,ex</a:t>
            </a:r>
            <a:r>
              <a:rPr lang="en-US" altLang="zh-CN" dirty="0"/>
              <a:t>,=fminsearch(fxy,xy0)  #</a:t>
            </a:r>
            <a:r>
              <a:rPr lang="zh-CN" altLang="en-US" dirty="0"/>
              <a:t>有导数的最小值      </a:t>
            </a:r>
          </a:p>
          <a:p>
            <a:r>
              <a:rPr lang="en-US" altLang="zh-CN" dirty="0"/>
              <a:t>([1.0000043858986165, 1.0000106409916478], 3.6861769151759075e-10, 1, iterations: 79</a:t>
            </a:r>
          </a:p>
          <a:p>
            <a:r>
              <a:rPr lang="en-US" altLang="zh-CN" dirty="0" err="1"/>
              <a:t>funcCount</a:t>
            </a:r>
            <a:r>
              <a:rPr lang="en-US" altLang="zh-CN" dirty="0"/>
              <a:t>: 146</a:t>
            </a:r>
          </a:p>
          <a:p>
            <a:r>
              <a:rPr lang="en-US" altLang="zh-CN" dirty="0"/>
              <a:t>algorithm: </a:t>
            </a:r>
            <a:r>
              <a:rPr lang="en-US" altLang="zh-CN" dirty="0" err="1"/>
              <a:t>Nelder</a:t>
            </a:r>
            <a:r>
              <a:rPr lang="en-US" altLang="zh-CN" dirty="0"/>
              <a:t>-Mead simplex direct search</a:t>
            </a:r>
          </a:p>
          <a:p>
            <a:r>
              <a:rPr lang="en-US" altLang="zh-CN" dirty="0"/>
              <a:t>message: Optimization terminated:</a:t>
            </a:r>
          </a:p>
          <a:p>
            <a:r>
              <a:rPr lang="en-US" altLang="zh-CN" dirty="0"/>
              <a:t> the current x satisfies the termination criteria. </a:t>
            </a:r>
            <a:r>
              <a:rPr lang="en-US" altLang="zh-CN" dirty="0" err="1"/>
              <a:t>TolX</a:t>
            </a:r>
            <a:r>
              <a:rPr lang="en-US" altLang="zh-CN" dirty="0"/>
              <a:t> of 0.0001</a:t>
            </a:r>
          </a:p>
          <a:p>
            <a:r>
              <a:rPr lang="en-US" altLang="zh-CN" dirty="0"/>
              <a:t> and F(X) satisfies the convergence criteria. </a:t>
            </a:r>
            <a:r>
              <a:rPr lang="en-US" altLang="zh-CN" dirty="0" err="1"/>
              <a:t>TolFun</a:t>
            </a:r>
            <a:r>
              <a:rPr lang="en-US" altLang="zh-CN" dirty="0"/>
              <a:t> of 0.0001)</a:t>
            </a: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29</a:t>
            </a:fld>
            <a:endParaRPr lang="zh-CN" altLang="en-US"/>
          </a:p>
        </p:txBody>
      </p:sp>
    </p:spTree>
    <p:extLst>
      <p:ext uri="{BB962C8B-B14F-4D97-AF65-F5344CB8AC3E}">
        <p14:creationId xmlns:p14="http://schemas.microsoft.com/office/powerpoint/2010/main" val="27601052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31</a:t>
            </a:fld>
            <a:endParaRPr lang="zh-CN" altLang="en-US"/>
          </a:p>
        </p:txBody>
      </p:sp>
    </p:spTree>
    <p:extLst>
      <p:ext uri="{BB962C8B-B14F-4D97-AF65-F5344CB8AC3E}">
        <p14:creationId xmlns:p14="http://schemas.microsoft.com/office/powerpoint/2010/main" val="28655717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plot(a,b,'or','linewidth',2, 'markersize',12,'markeredgecolor','b','markerfacecolor','r’)</a:t>
            </a:r>
          </a:p>
          <a:p>
            <a:r>
              <a:rPr lang="en-US" altLang="zh-CN" dirty="0"/>
              <a:t>hold </a:t>
            </a:r>
            <a:r>
              <a:rPr lang="en-US" altLang="zh-CN" dirty="0" err="1"/>
              <a:t>on;plot</a:t>
            </a:r>
            <a:r>
              <a:rPr lang="en-US" altLang="zh-CN" dirty="0"/>
              <a:t>(4.9705,7.3192,‘hg’, ‘linewidth’,2, ‘markersize’,18,‘markerfacecolor’,‘r’ )</a:t>
            </a:r>
            <a:r>
              <a:rPr lang="zh-CN" altLang="en-US" dirty="0"/>
              <a:t>每个镇的</a:t>
            </a:r>
            <a:r>
              <a:rPr lang="en-US" altLang="zh-CN" dirty="0" err="1"/>
              <a:t>x,y</a:t>
            </a:r>
            <a:r>
              <a:rPr lang="zh-CN" altLang="en-US" dirty="0"/>
              <a:t>和</a:t>
            </a:r>
            <a:r>
              <a:rPr lang="en-US" altLang="zh-CN" dirty="0"/>
              <a:t>c</a:t>
            </a:r>
            <a:r>
              <a:rPr lang="zh-CN" altLang="en-US" dirty="0"/>
              <a:t>的元素都进行相同运算</a:t>
            </a:r>
            <a:endParaRPr lang="en-US" altLang="zh-CN" dirty="0"/>
          </a:p>
        </p:txBody>
      </p:sp>
      <p:sp>
        <p:nvSpPr>
          <p:cNvPr id="4" name="灯片编号占位符 3"/>
          <p:cNvSpPr>
            <a:spLocks noGrp="1"/>
          </p:cNvSpPr>
          <p:nvPr>
            <p:ph type="sldNum" sz="quarter" idx="5"/>
          </p:nvPr>
        </p:nvSpPr>
        <p:spPr/>
        <p:txBody>
          <a:bodyPr/>
          <a:lstStyle/>
          <a:p>
            <a:pPr>
              <a:defRPr/>
            </a:pPr>
            <a:fld id="{EAF5D7B6-9300-482A-AC6E-3BA105FED359}" type="slidenum">
              <a:rPr lang="zh-CN" altLang="en-US" smtClean="0"/>
              <a:t>32</a:t>
            </a:fld>
            <a:endParaRPr lang="zh-CN" altLang="en-US"/>
          </a:p>
        </p:txBody>
      </p:sp>
    </p:spTree>
    <p:extLst>
      <p:ext uri="{BB962C8B-B14F-4D97-AF65-F5344CB8AC3E}">
        <p14:creationId xmlns:p14="http://schemas.microsoft.com/office/powerpoint/2010/main" val="38797682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33</a:t>
            </a:fld>
            <a:endParaRPr lang="zh-CN" altLang="en-US"/>
          </a:p>
        </p:txBody>
      </p:sp>
    </p:spTree>
    <p:extLst>
      <p:ext uri="{BB962C8B-B14F-4D97-AF65-F5344CB8AC3E}">
        <p14:creationId xmlns:p14="http://schemas.microsoft.com/office/powerpoint/2010/main" val="33133358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hlinkClick r:id="rId3"/>
              </a:rPr>
              <a:t>Matlab</a:t>
            </a:r>
            <a:r>
              <a:rPr lang="zh-CN" altLang="en-US" dirty="0">
                <a:hlinkClick r:id="rId3"/>
              </a:rPr>
              <a:t>非线性规划</a:t>
            </a:r>
            <a:r>
              <a:rPr lang="en-US" altLang="zh-CN" dirty="0">
                <a:hlinkClick r:id="rId3"/>
              </a:rPr>
              <a:t>——</a:t>
            </a:r>
            <a:r>
              <a:rPr lang="zh-CN" altLang="en-US" dirty="0">
                <a:hlinkClick r:id="rId3"/>
              </a:rPr>
              <a:t>住宅小区服务中心选址问题 </a:t>
            </a:r>
            <a:r>
              <a:rPr lang="en-US" altLang="zh-CN" dirty="0">
                <a:hlinkClick r:id="rId3"/>
              </a:rPr>
              <a:t>- </a:t>
            </a:r>
            <a:r>
              <a:rPr lang="zh-CN" altLang="en-US" dirty="0">
                <a:hlinkClick r:id="rId3"/>
              </a:rPr>
              <a:t>知乎 </a:t>
            </a:r>
            <a:r>
              <a:rPr lang="en-US" altLang="zh-CN" dirty="0">
                <a:hlinkClick r:id="rId3"/>
              </a:rPr>
              <a:t>(zhihu.com)</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34</a:t>
            </a:fld>
            <a:endParaRPr lang="zh-CN" altLang="en-US"/>
          </a:p>
        </p:txBody>
      </p:sp>
    </p:spTree>
    <p:extLst>
      <p:ext uri="{BB962C8B-B14F-4D97-AF65-F5344CB8AC3E}">
        <p14:creationId xmlns:p14="http://schemas.microsoft.com/office/powerpoint/2010/main" val="37222175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35</a:t>
            </a:fld>
            <a:endParaRPr lang="zh-CN" altLang="en-US"/>
          </a:p>
        </p:txBody>
      </p:sp>
    </p:spTree>
    <p:extLst>
      <p:ext uri="{BB962C8B-B14F-4D97-AF65-F5344CB8AC3E}">
        <p14:creationId xmlns:p14="http://schemas.microsoft.com/office/powerpoint/2010/main" val="3149149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solidFill>
                  <a:srgbClr val="795E26"/>
                </a:solidFill>
                <a:effectLst/>
                <a:latin typeface="Consolas" panose="020B0609020204030204" pitchFamily="49" charset="0"/>
              </a:rPr>
              <a:t>达尔文生物进化论 选择运算、交叉运算和变异运算</a:t>
            </a:r>
            <a:endParaRPr lang="en-US" altLang="zh-CN" b="0" dirty="0">
              <a:solidFill>
                <a:srgbClr val="795E26"/>
              </a:solidFill>
              <a:effectLst/>
              <a:latin typeface="Consolas" panose="020B0609020204030204" pitchFamily="49" charset="0"/>
            </a:endParaRPr>
          </a:p>
          <a:p>
            <a:r>
              <a:rPr lang="en-US" altLang="zh-CN" b="0" dirty="0">
                <a:solidFill>
                  <a:srgbClr val="795E26"/>
                </a:solidFill>
                <a:effectLst/>
                <a:latin typeface="Consolas" panose="020B0609020204030204" pitchFamily="49" charset="0"/>
              </a:rPr>
              <a:t>figure</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meshgrid2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#x</a:t>
            </a:r>
            <a:r>
              <a:rPr lang="zh-CN" altLang="en-US" b="0" dirty="0">
                <a:solidFill>
                  <a:srgbClr val="008000"/>
                </a:solidFill>
                <a:effectLst/>
                <a:latin typeface="Consolas" panose="020B0609020204030204" pitchFamily="49" charset="0"/>
              </a:rPr>
              <a:t>和</a:t>
            </a:r>
            <a:r>
              <a:rPr lang="en-US" altLang="zh-CN" b="0" dirty="0">
                <a:solidFill>
                  <a:srgbClr val="008000"/>
                </a:solidFill>
                <a:effectLst/>
                <a:latin typeface="Consolas" panose="020B0609020204030204" pitchFamily="49" charset="0"/>
              </a:rPr>
              <a:t>y</a:t>
            </a:r>
            <a:r>
              <a:rPr lang="zh-CN" altLang="en-US" b="0" dirty="0">
                <a:solidFill>
                  <a:srgbClr val="008000"/>
                </a:solidFill>
                <a:effectLst/>
                <a:latin typeface="Consolas" panose="020B0609020204030204" pitchFamily="49" charset="0"/>
              </a:rPr>
              <a:t>的网格矩阵</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z=</a:t>
            </a:r>
            <a:r>
              <a:rPr lang="en-US" altLang="zh-CN" b="0" dirty="0">
                <a:solidFill>
                  <a:srgbClr val="795E26"/>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x^</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+y^</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3</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y)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高度网格矩阵</a:t>
            </a:r>
            <a:endParaRPr lang="zh-CN" altLang="en-US" b="0" dirty="0">
              <a:solidFill>
                <a:srgbClr val="000000"/>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surfc</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x,y,z</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带等高线曲面面</a:t>
            </a:r>
            <a:endParaRPr lang="zh-CN" altLang="en-US" b="0" dirty="0">
              <a:solidFill>
                <a:srgbClr val="000000"/>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xlabel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"x"</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ylabel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"y"</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zlabel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"z"</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figure</a:t>
            </a:r>
            <a:r>
              <a:rPr lang="en-US" altLang="zh-CN" b="0" dirty="0">
                <a:solidFill>
                  <a:srgbClr val="000000"/>
                </a:solidFill>
                <a:effectLst/>
                <a:latin typeface="Consolas" panose="020B0609020204030204" pitchFamily="49" charset="0"/>
              </a:rPr>
              <a:t>()</a:t>
            </a: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在</a:t>
            </a:r>
            <a:r>
              <a:rPr lang="en-US" altLang="zh-CN" b="0" dirty="0" err="1">
                <a:solidFill>
                  <a:srgbClr val="008000"/>
                </a:solidFill>
                <a:effectLst/>
                <a:latin typeface="Consolas" panose="020B0609020204030204" pitchFamily="49" charset="0"/>
              </a:rPr>
              <a:t>xy</a:t>
            </a:r>
            <a:r>
              <a:rPr lang="zh-CN" altLang="en-US" b="0" dirty="0">
                <a:solidFill>
                  <a:srgbClr val="008000"/>
                </a:solidFill>
                <a:effectLst/>
                <a:latin typeface="Consolas" panose="020B0609020204030204" pitchFamily="49" charset="0"/>
              </a:rPr>
              <a:t>水平面上显示投影的闭合曲线</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c=</a:t>
            </a:r>
            <a:r>
              <a:rPr lang="en-US" altLang="zh-CN" b="0" dirty="0">
                <a:solidFill>
                  <a:srgbClr val="795E26"/>
                </a:solidFill>
                <a:effectLst/>
                <a:latin typeface="Consolas" panose="020B0609020204030204" pitchFamily="49" charset="0"/>
              </a:rPr>
              <a:t>contour</a:t>
            </a:r>
            <a:r>
              <a:rPr lang="en-US" altLang="zh-CN" b="0" dirty="0">
                <a:solidFill>
                  <a:srgbClr val="000000"/>
                </a:solidFill>
                <a:effectLst/>
                <a:latin typeface="Consolas" panose="020B0609020204030204" pitchFamily="49" charset="0"/>
              </a:rPr>
              <a:t>(x,y,z,</a:t>
            </a:r>
            <a:r>
              <a:rPr lang="en-US" altLang="zh-CN" b="0" dirty="0">
                <a:solidFill>
                  <a:srgbClr val="098658"/>
                </a:solidFill>
                <a:effectLst/>
                <a:latin typeface="Consolas" panose="020B0609020204030204" pitchFamily="49" charset="0"/>
              </a:rPr>
              <a:t>40</a:t>
            </a:r>
            <a:r>
              <a:rPr lang="en-US" altLang="zh-CN" b="0" dirty="0">
                <a:solidFill>
                  <a:srgbClr val="000000"/>
                </a:solidFill>
                <a:effectLst/>
                <a:latin typeface="Consolas" panose="020B0609020204030204" pitchFamily="49" charset="0"/>
              </a:rPr>
              <a:t>)</a:t>
            </a: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等高线标识不同闭合曲线对应不同高度</a:t>
            </a:r>
            <a:r>
              <a:rPr lang="en-US" altLang="zh-CN" b="0" dirty="0">
                <a:solidFill>
                  <a:srgbClr val="008000"/>
                </a:solidFill>
                <a:effectLst/>
                <a:latin typeface="Consolas" panose="020B0609020204030204" pitchFamily="49" charset="0"/>
              </a:rPr>
              <a:t>z</a:t>
            </a:r>
            <a:r>
              <a:rPr lang="zh-CN" altLang="en-US" b="0" dirty="0">
                <a:solidFill>
                  <a:srgbClr val="008000"/>
                </a:solidFill>
                <a:effectLst/>
                <a:latin typeface="Consolas" panose="020B0609020204030204" pitchFamily="49" charset="0"/>
              </a:rPr>
              <a:t>值 </a:t>
            </a:r>
            <a:endParaRPr lang="zh-CN" altLang="en-US" b="0" dirty="0">
              <a:solidFill>
                <a:srgbClr val="000000"/>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clabel</a:t>
            </a:r>
            <a:r>
              <a:rPr lang="en-US" altLang="zh-CN" b="0" dirty="0">
                <a:solidFill>
                  <a:srgbClr val="000000"/>
                </a:solidFill>
                <a:effectLst/>
                <a:latin typeface="Consolas" panose="020B0609020204030204" pitchFamily="49" charset="0"/>
              </a:rPr>
              <a:t>(c)</a:t>
            </a:r>
          </a:p>
          <a:p>
            <a:r>
              <a:rPr lang="en-US" altLang="zh-CN" b="0" dirty="0" err="1">
                <a:solidFill>
                  <a:srgbClr val="795E26"/>
                </a:solidFill>
                <a:effectLst/>
                <a:latin typeface="Consolas" panose="020B0609020204030204" pitchFamily="49" charset="0"/>
              </a:rPr>
              <a:t>xlabel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"x"</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ylabel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"y"</a:t>
            </a:r>
            <a:r>
              <a:rPr lang="en-US" altLang="zh-CN" b="0" dirty="0">
                <a:solidFill>
                  <a:srgbClr val="000000"/>
                </a:solidFill>
                <a:effectLst/>
                <a:latin typeface="Consolas" panose="020B0609020204030204" pitchFamily="49" charset="0"/>
              </a:rPr>
              <a:t>);</a:t>
            </a:r>
          </a:p>
          <a:p>
            <a:r>
              <a:rPr lang="en-US" altLang="zh-CN" b="0" dirty="0">
                <a:solidFill>
                  <a:srgbClr val="AF00DB"/>
                </a:solidFill>
                <a:effectLst/>
                <a:latin typeface="Consolas" panose="020B0609020204030204" pitchFamily="49" charset="0"/>
              </a:rPr>
              <a:t>using</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TyGlobalOptimization</a:t>
            </a:r>
            <a:endParaRPr lang="en-US" altLang="zh-CN" b="0" dirty="0">
              <a:solidFill>
                <a:srgbClr val="000000"/>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fxy</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+xy[</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xy[</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xy[</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p>
          <a:p>
            <a:r>
              <a:rPr lang="en-US" altLang="zh-CN" b="0" dirty="0">
                <a:solidFill>
                  <a:srgbClr val="795E26"/>
                </a:solidFill>
                <a:effectLst/>
                <a:latin typeface="Consolas" panose="020B0609020204030204" pitchFamily="49" charset="0"/>
              </a:rPr>
              <a:t>figure</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lb</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100</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ub</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100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options = </a:t>
            </a:r>
            <a:r>
              <a:rPr lang="en-US" altLang="zh-CN" b="0" dirty="0" err="1">
                <a:solidFill>
                  <a:srgbClr val="795E26"/>
                </a:solidFill>
                <a:effectLst/>
                <a:latin typeface="Consolas" panose="020B0609020204030204" pitchFamily="49" charset="0"/>
              </a:rPr>
              <a:t>ga_options</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draw_picture</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true</a:t>
            </a:r>
            <a:r>
              <a:rPr lang="en-US" altLang="zh-CN" b="0" dirty="0">
                <a:solidFill>
                  <a:srgbClr val="000000"/>
                </a:solidFill>
                <a:effectLst/>
                <a:latin typeface="Consolas" panose="020B0609020204030204" pitchFamily="49" charset="0"/>
              </a:rPr>
              <a:t>, iterations=</a:t>
            </a:r>
            <a:r>
              <a:rPr lang="en-US" altLang="zh-CN" b="0" dirty="0">
                <a:solidFill>
                  <a:srgbClr val="098658"/>
                </a:solidFill>
                <a:effectLst/>
                <a:latin typeface="Consolas" panose="020B0609020204030204" pitchFamily="49" charset="0"/>
              </a:rPr>
              <a:t>100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x, </a:t>
            </a:r>
            <a:r>
              <a:rPr lang="en-US" altLang="zh-CN" b="0" dirty="0" err="1">
                <a:solidFill>
                  <a:srgbClr val="000000"/>
                </a:solidFill>
                <a:effectLst/>
                <a:latin typeface="Consolas" panose="020B0609020204030204" pitchFamily="49" charset="0"/>
              </a:rPr>
              <a:t>fval</a:t>
            </a:r>
            <a:r>
              <a:rPr lang="en-US" altLang="zh-CN" b="0" dirty="0">
                <a:solidFill>
                  <a:srgbClr val="000000"/>
                </a:solidFill>
                <a:effectLst/>
                <a:latin typeface="Consolas" panose="020B0609020204030204" pitchFamily="49" charset="0"/>
              </a:rPr>
              <a:t>, output = </a:t>
            </a:r>
            <a:r>
              <a:rPr lang="en-US" altLang="zh-CN" b="0" dirty="0">
                <a:solidFill>
                  <a:srgbClr val="795E26"/>
                </a:solidFill>
                <a:effectLst/>
                <a:latin typeface="Consolas" panose="020B0609020204030204" pitchFamily="49" charset="0"/>
              </a:rPr>
              <a:t>ga</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fxy</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lb</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ub</a:t>
            </a:r>
            <a:r>
              <a:rPr lang="en-US" altLang="zh-CN" b="0" dirty="0">
                <a:solidFill>
                  <a:srgbClr val="000000"/>
                </a:solidFill>
                <a:effectLst/>
                <a:latin typeface="Consolas" panose="020B0609020204030204" pitchFamily="49" charset="0"/>
              </a:rPr>
              <a:t>, (), (), options)</a:t>
            </a:r>
          </a:p>
          <a:p>
            <a:br>
              <a:rPr lang="en-US" altLang="zh-CN" b="0" dirty="0">
                <a:solidFill>
                  <a:srgbClr val="000000"/>
                </a:solidFill>
                <a:effectLst/>
                <a:latin typeface="Consolas" panose="020B0609020204030204" pitchFamily="49" charset="0"/>
              </a:rPr>
            </a:br>
            <a:br>
              <a:rPr lang="en-US" altLang="zh-CN" b="0" dirty="0">
                <a:solidFill>
                  <a:srgbClr val="000000"/>
                </a:solidFill>
                <a:effectLst/>
                <a:latin typeface="Consolas" panose="020B0609020204030204" pitchFamily="49" charset="0"/>
              </a:rPr>
            </a:br>
            <a:r>
              <a:rPr lang="en-US" altLang="zh-CN" b="0" dirty="0" err="1">
                <a:solidFill>
                  <a:srgbClr val="000000"/>
                </a:solidFill>
                <a:effectLst/>
                <a:latin typeface="Consolas" panose="020B0609020204030204" pitchFamily="49" charset="0"/>
              </a:rPr>
              <a:t>x,fv,e,o</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fmincon</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fxy</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lb,ub</a:t>
            </a:r>
            <a:r>
              <a:rPr lang="en-US" altLang="zh-CN" b="0" dirty="0">
                <a:solidFill>
                  <a:srgbClr val="000000"/>
                </a:solidFill>
                <a:effectLst/>
                <a:latin typeface="Consolas" panose="020B0609020204030204" pitchFamily="49" charset="0"/>
              </a:rPr>
              <a:t>) </a:t>
            </a:r>
          </a:p>
          <a:p>
            <a:br>
              <a:rPr lang="en-US" altLang="zh-CN" b="0" dirty="0">
                <a:solidFill>
                  <a:srgbClr val="000000"/>
                </a:solidFill>
                <a:effectLst/>
                <a:latin typeface="Consolas" panose="020B0609020204030204" pitchFamily="49" charset="0"/>
              </a:rPr>
            </a:br>
            <a:r>
              <a:rPr lang="en-US" altLang="zh-CN" b="0" dirty="0" err="1">
                <a:solidFill>
                  <a:srgbClr val="795E26"/>
                </a:solidFill>
                <a:effectLst/>
                <a:latin typeface="Consolas" panose="020B0609020204030204" pitchFamily="49" charset="0"/>
              </a:rPr>
              <a:t>fxy</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+xy[</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xy[</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xy[</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p>
          <a:p>
            <a:r>
              <a:rPr lang="en-US" altLang="zh-CN" b="0" dirty="0" err="1">
                <a:solidFill>
                  <a:srgbClr val="000000"/>
                </a:solidFill>
                <a:effectLst/>
                <a:latin typeface="Consolas" panose="020B0609020204030204" pitchFamily="49" charset="0"/>
              </a:rPr>
              <a:t>xy,fval,ex,ou</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fminsearch</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fxy</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xy,fval,ex,ou</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fminunc</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fxy</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err="1">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xy</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xy</a:t>
            </a:r>
            <a:r>
              <a:rPr lang="en-US" altLang="zh-CN" b="0" dirty="0">
                <a:solidFill>
                  <a:srgbClr val="A31515"/>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en-US" altLang="zh-CN" b="0" dirty="0" err="1">
                <a:solidFill>
                  <a:srgbClr val="A31515"/>
                </a:solidFill>
                <a:effectLst/>
                <a:latin typeface="Consolas" panose="020B0609020204030204" pitchFamily="49" charset="0"/>
              </a:rPr>
              <a:t>fval</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fval</a:t>
            </a:r>
            <a:r>
              <a:rPr lang="en-US" altLang="zh-CN" b="0" dirty="0">
                <a:solidFill>
                  <a:srgbClr val="A31515"/>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en-US" altLang="zh-CN" b="0" dirty="0">
                <a:solidFill>
                  <a:srgbClr val="A31515"/>
                </a:solidFill>
                <a:effectLst/>
                <a:latin typeface="Consolas" panose="020B0609020204030204" pitchFamily="49" charset="0"/>
              </a:rPr>
              <a:t>ex=</a:t>
            </a:r>
            <a:r>
              <a:rPr lang="en-US" altLang="zh-CN" b="0" dirty="0">
                <a:solidFill>
                  <a:srgbClr val="001080"/>
                </a:solidFill>
                <a:effectLst/>
                <a:latin typeface="Consolas" panose="020B0609020204030204" pitchFamily="49" charset="0"/>
              </a:rPr>
              <a:t>$ex</a:t>
            </a:r>
            <a:r>
              <a:rPr lang="en-US" altLang="zh-CN" b="0" dirty="0">
                <a:solidFill>
                  <a:srgbClr val="A31515"/>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en-US" altLang="zh-CN" b="0" dirty="0" err="1">
                <a:solidFill>
                  <a:srgbClr val="A31515"/>
                </a:solidFill>
                <a:effectLst/>
                <a:latin typeface="Consolas" panose="020B0609020204030204" pitchFamily="49" charset="0"/>
              </a:rPr>
              <a:t>ou</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ou</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br>
              <a:rPr lang="en-US" altLang="zh-CN" b="0" dirty="0">
                <a:solidFill>
                  <a:srgbClr val="000000"/>
                </a:solidFill>
                <a:effectLst/>
                <a:latin typeface="Consolas" panose="020B0609020204030204" pitchFamily="49" charset="0"/>
              </a:rPr>
            </a:br>
            <a:endParaRPr lang="en-US" altLang="zh-CN" b="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42</a:t>
            </a:fld>
            <a:endParaRPr lang="zh-CN" altLang="en-US"/>
          </a:p>
        </p:txBody>
      </p:sp>
    </p:spTree>
    <p:extLst>
      <p:ext uri="{BB962C8B-B14F-4D97-AF65-F5344CB8AC3E}">
        <p14:creationId xmlns:p14="http://schemas.microsoft.com/office/powerpoint/2010/main" val="6685874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solidFill>
                  <a:srgbClr val="795E26"/>
                </a:solidFill>
                <a:effectLst/>
                <a:latin typeface="Consolas" panose="020B0609020204030204" pitchFamily="49" charset="0"/>
              </a:rPr>
              <a:t>figure</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meshgrid2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#x</a:t>
            </a:r>
            <a:r>
              <a:rPr lang="zh-CN" altLang="en-US" b="0" dirty="0">
                <a:solidFill>
                  <a:srgbClr val="008000"/>
                </a:solidFill>
                <a:effectLst/>
                <a:latin typeface="Consolas" panose="020B0609020204030204" pitchFamily="49" charset="0"/>
              </a:rPr>
              <a:t>和</a:t>
            </a:r>
            <a:r>
              <a:rPr lang="en-US" altLang="zh-CN" b="0" dirty="0">
                <a:solidFill>
                  <a:srgbClr val="008000"/>
                </a:solidFill>
                <a:effectLst/>
                <a:latin typeface="Consolas" panose="020B0609020204030204" pitchFamily="49" charset="0"/>
              </a:rPr>
              <a:t>y</a:t>
            </a:r>
            <a:r>
              <a:rPr lang="zh-CN" altLang="en-US" b="0" dirty="0">
                <a:solidFill>
                  <a:srgbClr val="008000"/>
                </a:solidFill>
                <a:effectLst/>
                <a:latin typeface="Consolas" panose="020B0609020204030204" pitchFamily="49" charset="0"/>
              </a:rPr>
              <a:t>的网格矩阵</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z=</a:t>
            </a:r>
            <a:r>
              <a:rPr lang="en-US" altLang="zh-CN" b="0" dirty="0">
                <a:solidFill>
                  <a:srgbClr val="795E26"/>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x^</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+y^</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3</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y)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高度网格矩阵</a:t>
            </a:r>
            <a:endParaRPr lang="zh-CN" altLang="en-US" b="0" dirty="0">
              <a:solidFill>
                <a:srgbClr val="000000"/>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surfc</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x,y,z</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带等高线曲面面</a:t>
            </a:r>
            <a:endParaRPr lang="zh-CN" altLang="en-US" b="0" dirty="0">
              <a:solidFill>
                <a:srgbClr val="000000"/>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xlabel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"x"</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ylabel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"y"</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zlabel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"z"</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figure</a:t>
            </a:r>
            <a:r>
              <a:rPr lang="en-US" altLang="zh-CN" b="0" dirty="0">
                <a:solidFill>
                  <a:srgbClr val="000000"/>
                </a:solidFill>
                <a:effectLst/>
                <a:latin typeface="Consolas" panose="020B0609020204030204" pitchFamily="49" charset="0"/>
              </a:rPr>
              <a:t>()</a:t>
            </a: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在</a:t>
            </a:r>
            <a:r>
              <a:rPr lang="en-US" altLang="zh-CN" b="0" dirty="0" err="1">
                <a:solidFill>
                  <a:srgbClr val="008000"/>
                </a:solidFill>
                <a:effectLst/>
                <a:latin typeface="Consolas" panose="020B0609020204030204" pitchFamily="49" charset="0"/>
              </a:rPr>
              <a:t>xy</a:t>
            </a:r>
            <a:r>
              <a:rPr lang="zh-CN" altLang="en-US" b="0" dirty="0">
                <a:solidFill>
                  <a:srgbClr val="008000"/>
                </a:solidFill>
                <a:effectLst/>
                <a:latin typeface="Consolas" panose="020B0609020204030204" pitchFamily="49" charset="0"/>
              </a:rPr>
              <a:t>水平面上显示投影的闭合曲线</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c=</a:t>
            </a:r>
            <a:r>
              <a:rPr lang="en-US" altLang="zh-CN" b="0" dirty="0">
                <a:solidFill>
                  <a:srgbClr val="795E26"/>
                </a:solidFill>
                <a:effectLst/>
                <a:latin typeface="Consolas" panose="020B0609020204030204" pitchFamily="49" charset="0"/>
              </a:rPr>
              <a:t>contour</a:t>
            </a:r>
            <a:r>
              <a:rPr lang="en-US" altLang="zh-CN" b="0" dirty="0">
                <a:solidFill>
                  <a:srgbClr val="000000"/>
                </a:solidFill>
                <a:effectLst/>
                <a:latin typeface="Consolas" panose="020B0609020204030204" pitchFamily="49" charset="0"/>
              </a:rPr>
              <a:t>(x,y,z,</a:t>
            </a:r>
            <a:r>
              <a:rPr lang="en-US" altLang="zh-CN" b="0" dirty="0">
                <a:solidFill>
                  <a:srgbClr val="098658"/>
                </a:solidFill>
                <a:effectLst/>
                <a:latin typeface="Consolas" panose="020B0609020204030204" pitchFamily="49" charset="0"/>
              </a:rPr>
              <a:t>40</a:t>
            </a:r>
            <a:r>
              <a:rPr lang="en-US" altLang="zh-CN" b="0" dirty="0">
                <a:solidFill>
                  <a:srgbClr val="000000"/>
                </a:solidFill>
                <a:effectLst/>
                <a:latin typeface="Consolas" panose="020B0609020204030204" pitchFamily="49" charset="0"/>
              </a:rPr>
              <a:t>)</a:t>
            </a: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等高线标识不同闭合曲线对应不同高度</a:t>
            </a:r>
            <a:r>
              <a:rPr lang="en-US" altLang="zh-CN" b="0" dirty="0">
                <a:solidFill>
                  <a:srgbClr val="008000"/>
                </a:solidFill>
                <a:effectLst/>
                <a:latin typeface="Consolas" panose="020B0609020204030204" pitchFamily="49" charset="0"/>
              </a:rPr>
              <a:t>z</a:t>
            </a:r>
            <a:r>
              <a:rPr lang="zh-CN" altLang="en-US" b="0" dirty="0">
                <a:solidFill>
                  <a:srgbClr val="008000"/>
                </a:solidFill>
                <a:effectLst/>
                <a:latin typeface="Consolas" panose="020B0609020204030204" pitchFamily="49" charset="0"/>
              </a:rPr>
              <a:t>值 </a:t>
            </a:r>
            <a:endParaRPr lang="zh-CN" altLang="en-US" b="0" dirty="0">
              <a:solidFill>
                <a:srgbClr val="000000"/>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clabel</a:t>
            </a:r>
            <a:r>
              <a:rPr lang="en-US" altLang="zh-CN" b="0" dirty="0">
                <a:solidFill>
                  <a:srgbClr val="000000"/>
                </a:solidFill>
                <a:effectLst/>
                <a:latin typeface="Consolas" panose="020B0609020204030204" pitchFamily="49" charset="0"/>
              </a:rPr>
              <a:t>(c)</a:t>
            </a:r>
          </a:p>
          <a:p>
            <a:r>
              <a:rPr lang="en-US" altLang="zh-CN" b="0" dirty="0" err="1">
                <a:solidFill>
                  <a:srgbClr val="795E26"/>
                </a:solidFill>
                <a:effectLst/>
                <a:latin typeface="Consolas" panose="020B0609020204030204" pitchFamily="49" charset="0"/>
              </a:rPr>
              <a:t>xlabel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"x"</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ylabel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"y"</a:t>
            </a:r>
            <a:r>
              <a:rPr lang="en-US" altLang="zh-CN" b="0" dirty="0">
                <a:solidFill>
                  <a:srgbClr val="000000"/>
                </a:solidFill>
                <a:effectLst/>
                <a:latin typeface="Consolas" panose="020B0609020204030204" pitchFamily="49" charset="0"/>
              </a:rPr>
              <a:t>);</a:t>
            </a:r>
          </a:p>
          <a:p>
            <a:r>
              <a:rPr lang="en-US" altLang="zh-CN" b="0" dirty="0">
                <a:solidFill>
                  <a:srgbClr val="AF00DB"/>
                </a:solidFill>
                <a:effectLst/>
                <a:latin typeface="Consolas" panose="020B0609020204030204" pitchFamily="49" charset="0"/>
              </a:rPr>
              <a:t>using</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TyGlobalOptimization</a:t>
            </a:r>
            <a:endParaRPr lang="en-US" altLang="zh-CN" b="0" dirty="0">
              <a:solidFill>
                <a:srgbClr val="000000"/>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fxy</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+xy[</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xy[</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xy[</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p>
          <a:p>
            <a:r>
              <a:rPr lang="en-US" altLang="zh-CN" b="0" dirty="0">
                <a:solidFill>
                  <a:srgbClr val="795E26"/>
                </a:solidFill>
                <a:effectLst/>
                <a:latin typeface="Consolas" panose="020B0609020204030204" pitchFamily="49" charset="0"/>
              </a:rPr>
              <a:t>figure</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lb</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100</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ub</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100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options = </a:t>
            </a:r>
            <a:r>
              <a:rPr lang="en-US" altLang="zh-CN" b="0" dirty="0" err="1">
                <a:solidFill>
                  <a:srgbClr val="795E26"/>
                </a:solidFill>
                <a:effectLst/>
                <a:latin typeface="Consolas" panose="020B0609020204030204" pitchFamily="49" charset="0"/>
              </a:rPr>
              <a:t>ga_options</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draw_picture</a:t>
            </a:r>
            <a:r>
              <a:rPr lang="en-US" altLang="zh-CN" b="0" dirty="0">
                <a:solidFill>
                  <a:srgbClr val="000000"/>
                </a:solidFill>
                <a:effectLst/>
                <a:latin typeface="Consolas" panose="020B0609020204030204" pitchFamily="49" charset="0"/>
              </a:rPr>
              <a:t>=</a:t>
            </a:r>
            <a:r>
              <a:rPr lang="en-US" altLang="zh-CN" b="0" dirty="0">
                <a:solidFill>
                  <a:srgbClr val="0000FF"/>
                </a:solidFill>
                <a:effectLst/>
                <a:latin typeface="Consolas" panose="020B0609020204030204" pitchFamily="49" charset="0"/>
              </a:rPr>
              <a:t>true</a:t>
            </a:r>
            <a:r>
              <a:rPr lang="en-US" altLang="zh-CN" b="0" dirty="0">
                <a:solidFill>
                  <a:srgbClr val="000000"/>
                </a:solidFill>
                <a:effectLst/>
                <a:latin typeface="Consolas" panose="020B0609020204030204" pitchFamily="49" charset="0"/>
              </a:rPr>
              <a:t>, iterations=</a:t>
            </a:r>
            <a:r>
              <a:rPr lang="en-US" altLang="zh-CN" b="0" dirty="0">
                <a:solidFill>
                  <a:srgbClr val="098658"/>
                </a:solidFill>
                <a:effectLst/>
                <a:latin typeface="Consolas" panose="020B0609020204030204" pitchFamily="49" charset="0"/>
              </a:rPr>
              <a:t>100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x, </a:t>
            </a:r>
            <a:r>
              <a:rPr lang="en-US" altLang="zh-CN" b="0" dirty="0" err="1">
                <a:solidFill>
                  <a:srgbClr val="000000"/>
                </a:solidFill>
                <a:effectLst/>
                <a:latin typeface="Consolas" panose="020B0609020204030204" pitchFamily="49" charset="0"/>
              </a:rPr>
              <a:t>fval</a:t>
            </a:r>
            <a:r>
              <a:rPr lang="en-US" altLang="zh-CN" b="0" dirty="0">
                <a:solidFill>
                  <a:srgbClr val="000000"/>
                </a:solidFill>
                <a:effectLst/>
                <a:latin typeface="Consolas" panose="020B0609020204030204" pitchFamily="49" charset="0"/>
              </a:rPr>
              <a:t>, output = </a:t>
            </a:r>
            <a:r>
              <a:rPr lang="en-US" altLang="zh-CN" b="0" dirty="0">
                <a:solidFill>
                  <a:srgbClr val="795E26"/>
                </a:solidFill>
                <a:effectLst/>
                <a:latin typeface="Consolas" panose="020B0609020204030204" pitchFamily="49" charset="0"/>
              </a:rPr>
              <a:t>ga</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fxy</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lb</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ub</a:t>
            </a:r>
            <a:r>
              <a:rPr lang="en-US" altLang="zh-CN" b="0" dirty="0">
                <a:solidFill>
                  <a:srgbClr val="000000"/>
                </a:solidFill>
                <a:effectLst/>
                <a:latin typeface="Consolas" panose="020B0609020204030204" pitchFamily="49" charset="0"/>
              </a:rPr>
              <a:t>, (), (), options)</a:t>
            </a:r>
          </a:p>
          <a:p>
            <a:br>
              <a:rPr lang="en-US" altLang="zh-CN" b="0" dirty="0">
                <a:solidFill>
                  <a:srgbClr val="000000"/>
                </a:solidFill>
                <a:effectLst/>
                <a:latin typeface="Consolas" panose="020B0609020204030204" pitchFamily="49" charset="0"/>
              </a:rPr>
            </a:br>
            <a:br>
              <a:rPr lang="en-US" altLang="zh-CN" b="0" dirty="0">
                <a:solidFill>
                  <a:srgbClr val="000000"/>
                </a:solidFill>
                <a:effectLst/>
                <a:latin typeface="Consolas" panose="020B0609020204030204" pitchFamily="49" charset="0"/>
              </a:rPr>
            </a:br>
            <a:r>
              <a:rPr lang="en-US" altLang="zh-CN" b="0" dirty="0" err="1">
                <a:solidFill>
                  <a:srgbClr val="000000"/>
                </a:solidFill>
                <a:effectLst/>
                <a:latin typeface="Consolas" panose="020B0609020204030204" pitchFamily="49" charset="0"/>
              </a:rPr>
              <a:t>x,fv,e,o</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fmincon</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fxy</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lb,ub</a:t>
            </a:r>
            <a:r>
              <a:rPr lang="en-US" altLang="zh-CN" b="0" dirty="0">
                <a:solidFill>
                  <a:srgbClr val="000000"/>
                </a:solidFill>
                <a:effectLst/>
                <a:latin typeface="Consolas" panose="020B0609020204030204" pitchFamily="49" charset="0"/>
              </a:rPr>
              <a:t>) </a:t>
            </a:r>
          </a:p>
          <a:p>
            <a:br>
              <a:rPr lang="en-US" altLang="zh-CN" b="0" dirty="0">
                <a:solidFill>
                  <a:srgbClr val="000000"/>
                </a:solidFill>
                <a:effectLst/>
                <a:latin typeface="Consolas" panose="020B0609020204030204" pitchFamily="49" charset="0"/>
              </a:rPr>
            </a:br>
            <a:r>
              <a:rPr lang="en-US" altLang="zh-CN" b="0" dirty="0" err="1">
                <a:solidFill>
                  <a:srgbClr val="795E26"/>
                </a:solidFill>
                <a:effectLst/>
                <a:latin typeface="Consolas" panose="020B0609020204030204" pitchFamily="49" charset="0"/>
              </a:rPr>
              <a:t>fxy</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+xy[</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xy[</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xy[</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p>
          <a:p>
            <a:r>
              <a:rPr lang="en-US" altLang="zh-CN" b="0" dirty="0" err="1">
                <a:solidFill>
                  <a:srgbClr val="000000"/>
                </a:solidFill>
                <a:effectLst/>
                <a:latin typeface="Consolas" panose="020B0609020204030204" pitchFamily="49" charset="0"/>
              </a:rPr>
              <a:t>xy,fval,ex,ou</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fminsearch</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fxy</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xy,fval,ex,ou</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fminunc</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fxy</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r>
              <a:rPr lang="en-US" altLang="zh-CN" b="0" dirty="0" err="1">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xy</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xy</a:t>
            </a:r>
            <a:r>
              <a:rPr lang="en-US" altLang="zh-CN" b="0" dirty="0">
                <a:solidFill>
                  <a:srgbClr val="A31515"/>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en-US" altLang="zh-CN" b="0" dirty="0" err="1">
                <a:solidFill>
                  <a:srgbClr val="A31515"/>
                </a:solidFill>
                <a:effectLst/>
                <a:latin typeface="Consolas" panose="020B0609020204030204" pitchFamily="49" charset="0"/>
              </a:rPr>
              <a:t>fval</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fval</a:t>
            </a:r>
            <a:r>
              <a:rPr lang="en-US" altLang="zh-CN" b="0" dirty="0">
                <a:solidFill>
                  <a:srgbClr val="A31515"/>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en-US" altLang="zh-CN" b="0" dirty="0">
                <a:solidFill>
                  <a:srgbClr val="A31515"/>
                </a:solidFill>
                <a:effectLst/>
                <a:latin typeface="Consolas" panose="020B0609020204030204" pitchFamily="49" charset="0"/>
              </a:rPr>
              <a:t>ex=</a:t>
            </a:r>
            <a:r>
              <a:rPr lang="en-US" altLang="zh-CN" b="0" dirty="0">
                <a:solidFill>
                  <a:srgbClr val="001080"/>
                </a:solidFill>
                <a:effectLst/>
                <a:latin typeface="Consolas" panose="020B0609020204030204" pitchFamily="49" charset="0"/>
              </a:rPr>
              <a:t>$ex</a:t>
            </a:r>
            <a:r>
              <a:rPr lang="en-US" altLang="zh-CN" b="0" dirty="0">
                <a:solidFill>
                  <a:srgbClr val="A31515"/>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en-US" altLang="zh-CN" b="0" dirty="0" err="1">
                <a:solidFill>
                  <a:srgbClr val="A31515"/>
                </a:solidFill>
                <a:effectLst/>
                <a:latin typeface="Consolas" panose="020B0609020204030204" pitchFamily="49" charset="0"/>
              </a:rPr>
              <a:t>ou</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ou</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br>
              <a:rPr lang="en-US" altLang="zh-CN" b="0" dirty="0">
                <a:solidFill>
                  <a:srgbClr val="000000"/>
                </a:solidFill>
                <a:effectLst/>
                <a:latin typeface="Consolas" panose="020B0609020204030204" pitchFamily="49" charset="0"/>
              </a:rPr>
            </a:br>
            <a:endParaRPr lang="en-US" altLang="zh-CN" b="0" dirty="0">
              <a:solidFill>
                <a:srgbClr val="000000"/>
              </a:solidFill>
              <a:effectLst/>
              <a:latin typeface="Consolas" panose="020B0609020204030204" pitchFamily="49" charset="0"/>
            </a:endParaRPr>
          </a:p>
          <a:p>
            <a:endParaRPr lang="en-US" altLang="zh-CN" b="0" dirty="0">
              <a:solidFill>
                <a:srgbClr val="000000"/>
              </a:solidFill>
              <a:effectLst/>
              <a:latin typeface="Consolas" panose="020B0609020204030204" pitchFamily="49" charset="0"/>
            </a:endParaRPr>
          </a:p>
          <a:p>
            <a:r>
              <a:rPr lang="en-US" altLang="zh-CN" sz="1200" b="0" dirty="0">
                <a:solidFill>
                  <a:srgbClr val="AF00DB"/>
                </a:solidFill>
                <a:effectLst/>
                <a:latin typeface="Consolas" panose="020B0609020204030204" pitchFamily="49" charset="0"/>
              </a:rPr>
              <a:t>using</a:t>
            </a:r>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TyGlobalOptimization</a:t>
            </a:r>
            <a:endParaRPr lang="en-US" altLang="zh-CN" sz="1200" b="0" dirty="0">
              <a:solidFill>
                <a:srgbClr val="000000"/>
              </a:solidFill>
              <a:effectLst/>
              <a:latin typeface="Consolas" panose="020B0609020204030204" pitchFamily="49" charset="0"/>
            </a:endParaRPr>
          </a:p>
          <a:p>
            <a:r>
              <a:rPr lang="en-US" altLang="zh-CN" sz="1200" b="0" dirty="0" err="1">
                <a:solidFill>
                  <a:srgbClr val="795E26"/>
                </a:solidFill>
                <a:effectLst/>
                <a:latin typeface="Consolas" panose="020B0609020204030204" pitchFamily="49" charset="0"/>
              </a:rPr>
              <a:t>fxy</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xy</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xy</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1</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2</a:t>
            </a:r>
            <a:r>
              <a:rPr lang="en-US" altLang="zh-CN" sz="1200" b="0" dirty="0">
                <a:solidFill>
                  <a:srgbClr val="000000"/>
                </a:solidFill>
                <a:effectLst/>
                <a:latin typeface="Consolas" panose="020B0609020204030204" pitchFamily="49" charset="0"/>
              </a:rPr>
              <a:t>+xy[</a:t>
            </a:r>
            <a:r>
              <a:rPr lang="en-US" altLang="zh-CN" sz="1200" b="0" dirty="0">
                <a:solidFill>
                  <a:srgbClr val="098658"/>
                </a:solidFill>
                <a:effectLst/>
                <a:latin typeface="Consolas" panose="020B0609020204030204" pitchFamily="49" charset="0"/>
              </a:rPr>
              <a:t>2</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2</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3</a:t>
            </a:r>
            <a:r>
              <a:rPr lang="en-US" altLang="zh-CN" sz="1200" b="0" dirty="0">
                <a:solidFill>
                  <a:srgbClr val="795E26"/>
                </a:solidFill>
                <a:effectLst/>
                <a:latin typeface="Consolas" panose="020B0609020204030204" pitchFamily="49" charset="0"/>
              </a:rPr>
              <a:t>sin</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2</a:t>
            </a:r>
            <a:r>
              <a:rPr lang="en-US" altLang="zh-CN" sz="1200" b="0" dirty="0">
                <a:solidFill>
                  <a:srgbClr val="000000"/>
                </a:solidFill>
                <a:effectLst/>
                <a:latin typeface="Consolas" panose="020B0609020204030204" pitchFamily="49" charset="0"/>
              </a:rPr>
              <a:t>xy[</a:t>
            </a:r>
            <a:r>
              <a:rPr lang="en-US" altLang="zh-CN" sz="1200" b="0" dirty="0">
                <a:solidFill>
                  <a:srgbClr val="098658"/>
                </a:solidFill>
                <a:effectLst/>
                <a:latin typeface="Consolas" panose="020B0609020204030204" pitchFamily="49" charset="0"/>
              </a:rPr>
              <a:t>1</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3</a:t>
            </a:r>
            <a:r>
              <a:rPr lang="en-US" altLang="zh-CN" sz="1200" b="0" dirty="0">
                <a:solidFill>
                  <a:srgbClr val="795E26"/>
                </a:solidFill>
                <a:effectLst/>
                <a:latin typeface="Consolas" panose="020B0609020204030204" pitchFamily="49" charset="0"/>
              </a:rPr>
              <a:t>sin</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2</a:t>
            </a:r>
            <a:r>
              <a:rPr lang="en-US" altLang="zh-CN" sz="1200" b="0" dirty="0">
                <a:solidFill>
                  <a:srgbClr val="000000"/>
                </a:solidFill>
                <a:effectLst/>
                <a:latin typeface="Consolas" panose="020B0609020204030204" pitchFamily="49" charset="0"/>
              </a:rPr>
              <a:t>xy[</a:t>
            </a:r>
            <a:r>
              <a:rPr lang="en-US" altLang="zh-CN" sz="1200" b="0" dirty="0">
                <a:solidFill>
                  <a:srgbClr val="098658"/>
                </a:solidFill>
                <a:effectLst/>
                <a:latin typeface="Consolas" panose="020B0609020204030204" pitchFamily="49" charset="0"/>
              </a:rPr>
              <a:t>2</a:t>
            </a:r>
            <a:r>
              <a:rPr lang="en-US" altLang="zh-CN" sz="1200" b="0" dirty="0">
                <a:solidFill>
                  <a:srgbClr val="000000"/>
                </a:solidFill>
                <a:effectLst/>
                <a:latin typeface="Consolas" panose="020B0609020204030204" pitchFamily="49" charset="0"/>
              </a:rPr>
              <a:t>]) </a:t>
            </a:r>
          </a:p>
          <a:p>
            <a:r>
              <a:rPr lang="en-US" altLang="zh-CN" sz="1200" b="0" dirty="0">
                <a:solidFill>
                  <a:srgbClr val="795E26"/>
                </a:solidFill>
                <a:effectLst/>
                <a:latin typeface="Consolas" panose="020B0609020204030204" pitchFamily="49" charset="0"/>
              </a:rPr>
              <a:t>figure</a:t>
            </a:r>
            <a:r>
              <a:rPr lang="en-US" altLang="zh-CN" sz="1200" b="0" dirty="0">
                <a:solidFill>
                  <a:srgbClr val="000000"/>
                </a:solidFill>
                <a:effectLst/>
                <a:latin typeface="Consolas" panose="020B0609020204030204" pitchFamily="49" charset="0"/>
              </a:rPr>
              <a:t>()</a:t>
            </a:r>
          </a:p>
          <a:p>
            <a:r>
              <a:rPr lang="en-US" altLang="zh-CN" sz="1200" b="0" dirty="0" err="1">
                <a:solidFill>
                  <a:srgbClr val="000000"/>
                </a:solidFill>
                <a:effectLst/>
                <a:latin typeface="Consolas" panose="020B0609020204030204" pitchFamily="49" charset="0"/>
              </a:rPr>
              <a:t>lb</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100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100</a:t>
            </a:r>
            <a:r>
              <a:rPr lang="en-US" altLang="zh-CN" sz="1200" b="0" dirty="0">
                <a:solidFill>
                  <a:srgbClr val="000000"/>
                </a:solidFill>
                <a:effectLst/>
                <a:latin typeface="Consolas" panose="020B0609020204030204" pitchFamily="49" charset="0"/>
              </a:rPr>
              <a:t>]</a:t>
            </a:r>
          </a:p>
          <a:p>
            <a:r>
              <a:rPr lang="en-US" altLang="zh-CN" sz="1200" b="0" dirty="0" err="1">
                <a:solidFill>
                  <a:srgbClr val="000000"/>
                </a:solidFill>
                <a:effectLst/>
                <a:latin typeface="Consolas" panose="020B0609020204030204" pitchFamily="49" charset="0"/>
              </a:rPr>
              <a:t>ub</a:t>
            </a:r>
            <a:r>
              <a:rPr lang="en-US" altLang="zh-CN" sz="1200" b="0" dirty="0">
                <a:solidFill>
                  <a:srgbClr val="000000"/>
                </a:solidFill>
                <a:effectLst/>
                <a:latin typeface="Consolas" panose="020B0609020204030204" pitchFamily="49" charset="0"/>
              </a:rPr>
              <a:t> = [</a:t>
            </a:r>
            <a:r>
              <a:rPr lang="en-US" altLang="zh-CN" sz="1200" b="0" dirty="0">
                <a:solidFill>
                  <a:srgbClr val="098658"/>
                </a:solidFill>
                <a:effectLst/>
                <a:latin typeface="Consolas" panose="020B0609020204030204" pitchFamily="49" charset="0"/>
              </a:rPr>
              <a:t>100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100</a:t>
            </a:r>
            <a:r>
              <a:rPr lang="en-US" altLang="zh-CN" sz="1200" b="0" dirty="0">
                <a:solidFill>
                  <a:srgbClr val="000000"/>
                </a:solidFill>
                <a:effectLst/>
                <a:latin typeface="Consolas" panose="020B0609020204030204" pitchFamily="49" charset="0"/>
              </a:rPr>
              <a:t>]</a:t>
            </a:r>
          </a:p>
          <a:p>
            <a:r>
              <a:rPr lang="en-US" altLang="zh-CN" sz="1200" b="0" dirty="0">
                <a:solidFill>
                  <a:srgbClr val="000000"/>
                </a:solidFill>
                <a:effectLst/>
                <a:latin typeface="Consolas" panose="020B0609020204030204" pitchFamily="49" charset="0"/>
              </a:rPr>
              <a:t>x, </a:t>
            </a:r>
            <a:r>
              <a:rPr lang="en-US" altLang="zh-CN" sz="1200" b="0" dirty="0" err="1">
                <a:solidFill>
                  <a:srgbClr val="000000"/>
                </a:solidFill>
                <a:effectLst/>
                <a:latin typeface="Consolas" panose="020B0609020204030204" pitchFamily="49" charset="0"/>
              </a:rPr>
              <a:t>fval</a:t>
            </a:r>
            <a:r>
              <a:rPr lang="en-US" altLang="zh-CN" sz="1200" b="0" dirty="0">
                <a:solidFill>
                  <a:srgbClr val="000000"/>
                </a:solidFill>
                <a:effectLst/>
                <a:latin typeface="Consolas" panose="020B0609020204030204" pitchFamily="49" charset="0"/>
              </a:rPr>
              <a:t>, output = </a:t>
            </a:r>
            <a:r>
              <a:rPr lang="en-US" altLang="zh-CN" sz="1200" b="0" dirty="0">
                <a:solidFill>
                  <a:srgbClr val="795E26"/>
                </a:solidFill>
                <a:effectLst/>
                <a:latin typeface="Consolas" panose="020B0609020204030204" pitchFamily="49" charset="0"/>
              </a:rPr>
              <a:t>ga</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fxy</a:t>
            </a:r>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lb</a:t>
            </a:r>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ub</a:t>
            </a:r>
            <a:r>
              <a:rPr lang="en-US" altLang="zh-CN" sz="1200" b="0" dirty="0">
                <a:solidFill>
                  <a:srgbClr val="000000"/>
                </a:solidFill>
                <a:effectLst/>
                <a:latin typeface="Consolas" panose="020B0609020204030204" pitchFamily="49" charset="0"/>
              </a:rPr>
              <a:t>, (), ())</a:t>
            </a:r>
          </a:p>
          <a:p>
            <a:r>
              <a:rPr lang="en-US" altLang="zh-CN" sz="1200" b="0" dirty="0">
                <a:solidFill>
                  <a:srgbClr val="000000"/>
                </a:solidFill>
                <a:effectLst/>
                <a:latin typeface="Consolas" panose="020B0609020204030204" pitchFamily="49" charset="0"/>
              </a:rPr>
              <a:t>options = </a:t>
            </a:r>
            <a:r>
              <a:rPr lang="en-US" altLang="zh-CN" sz="1200" b="0" dirty="0" err="1">
                <a:solidFill>
                  <a:srgbClr val="795E26"/>
                </a:solidFill>
                <a:effectLst/>
                <a:latin typeface="Consolas" panose="020B0609020204030204" pitchFamily="49" charset="0"/>
              </a:rPr>
              <a:t>ga_options</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draw_picture</a:t>
            </a:r>
            <a:r>
              <a:rPr lang="en-US" altLang="zh-CN" sz="1200" b="0" dirty="0">
                <a:solidFill>
                  <a:srgbClr val="000000"/>
                </a:solidFill>
                <a:effectLst/>
                <a:latin typeface="Consolas" panose="020B0609020204030204" pitchFamily="49" charset="0"/>
              </a:rPr>
              <a:t>=</a:t>
            </a:r>
            <a:r>
              <a:rPr lang="en-US" altLang="zh-CN" sz="1200" b="0" dirty="0">
                <a:solidFill>
                  <a:srgbClr val="0000FF"/>
                </a:solidFill>
                <a:effectLst/>
                <a:latin typeface="Consolas" panose="020B0609020204030204" pitchFamily="49" charset="0"/>
              </a:rPr>
              <a:t>true</a:t>
            </a:r>
            <a:r>
              <a:rPr lang="en-US" altLang="zh-CN" sz="1200" b="0" dirty="0">
                <a:solidFill>
                  <a:srgbClr val="000000"/>
                </a:solidFill>
                <a:effectLst/>
                <a:latin typeface="Consolas" panose="020B0609020204030204" pitchFamily="49" charset="0"/>
              </a:rPr>
              <a:t>, iterations=</a:t>
            </a:r>
            <a:r>
              <a:rPr lang="en-US" altLang="zh-CN" sz="1200" b="0" dirty="0">
                <a:solidFill>
                  <a:srgbClr val="098658"/>
                </a:solidFill>
                <a:effectLst/>
                <a:latin typeface="Consolas" panose="020B0609020204030204" pitchFamily="49" charset="0"/>
              </a:rPr>
              <a:t>100</a:t>
            </a:r>
            <a:r>
              <a:rPr lang="en-US" altLang="zh-CN" sz="1200" b="0" dirty="0">
                <a:solidFill>
                  <a:srgbClr val="000000"/>
                </a:solidFill>
                <a:effectLst/>
                <a:latin typeface="Consolas" panose="020B0609020204030204" pitchFamily="49" charset="0"/>
              </a:rPr>
              <a:t>)</a:t>
            </a:r>
          </a:p>
          <a:p>
            <a:r>
              <a:rPr lang="en-US" altLang="zh-CN" sz="1200" b="0" dirty="0">
                <a:solidFill>
                  <a:srgbClr val="000000"/>
                </a:solidFill>
                <a:effectLst/>
                <a:latin typeface="Consolas" panose="020B0609020204030204" pitchFamily="49" charset="0"/>
              </a:rPr>
              <a:t>x, </a:t>
            </a:r>
            <a:r>
              <a:rPr lang="en-US" altLang="zh-CN" sz="1200" b="0" dirty="0" err="1">
                <a:solidFill>
                  <a:srgbClr val="000000"/>
                </a:solidFill>
                <a:effectLst/>
                <a:latin typeface="Consolas" panose="020B0609020204030204" pitchFamily="49" charset="0"/>
              </a:rPr>
              <a:t>fval</a:t>
            </a:r>
            <a:r>
              <a:rPr lang="en-US" altLang="zh-CN" sz="1200" b="0" dirty="0">
                <a:solidFill>
                  <a:srgbClr val="000000"/>
                </a:solidFill>
                <a:effectLst/>
                <a:latin typeface="Consolas" panose="020B0609020204030204" pitchFamily="49" charset="0"/>
              </a:rPr>
              <a:t>, output = </a:t>
            </a:r>
            <a:r>
              <a:rPr lang="en-US" altLang="zh-CN" sz="1200" b="0" dirty="0">
                <a:solidFill>
                  <a:srgbClr val="795E26"/>
                </a:solidFill>
                <a:effectLst/>
                <a:latin typeface="Consolas" panose="020B0609020204030204" pitchFamily="49" charset="0"/>
              </a:rPr>
              <a:t>ga</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fxy</a:t>
            </a:r>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lb</a:t>
            </a:r>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ub</a:t>
            </a:r>
            <a:r>
              <a:rPr lang="en-US" altLang="zh-CN" sz="1200" b="0" dirty="0">
                <a:solidFill>
                  <a:srgbClr val="000000"/>
                </a:solidFill>
                <a:effectLst/>
                <a:latin typeface="Consolas" panose="020B0609020204030204" pitchFamily="49" charset="0"/>
              </a:rPr>
              <a:t>, (), (), options)</a:t>
            </a:r>
          </a:p>
          <a:p>
            <a:endParaRPr lang="en-US" altLang="zh-CN" dirty="0">
              <a:solidFill>
                <a:srgbClr val="000000"/>
              </a:solidFill>
              <a:latin typeface="Consolas" panose="020B0609020204030204" pitchFamily="49" charset="0"/>
            </a:endParaRPr>
          </a:p>
          <a:p>
            <a:r>
              <a:rPr lang="en-US" altLang="zh-CN" sz="1200" b="0" dirty="0" err="1">
                <a:solidFill>
                  <a:srgbClr val="000000"/>
                </a:solidFill>
                <a:effectLst/>
                <a:latin typeface="Consolas" panose="020B0609020204030204" pitchFamily="49" charset="0"/>
              </a:rPr>
              <a:t>draw_picture</a:t>
            </a:r>
            <a:r>
              <a:rPr lang="en-US" altLang="zh-CN" sz="1200" b="0" dirty="0">
                <a:solidFill>
                  <a:srgbClr val="000000"/>
                </a:solidFill>
                <a:effectLst/>
                <a:latin typeface="Consolas" panose="020B0609020204030204" pitchFamily="49" charset="0"/>
              </a:rPr>
              <a:t>=</a:t>
            </a:r>
            <a:r>
              <a:rPr lang="en-US" altLang="zh-CN" sz="1200" b="0" dirty="0">
                <a:solidFill>
                  <a:srgbClr val="0000FF"/>
                </a:solidFill>
                <a:effectLst/>
                <a:latin typeface="Consolas" panose="020B0609020204030204" pitchFamily="49" charset="0"/>
              </a:rPr>
              <a:t>true</a:t>
            </a:r>
            <a:r>
              <a:rPr lang="zh-CN" altLang="en-US" b="0" i="0" dirty="0">
                <a:solidFill>
                  <a:srgbClr val="212121"/>
                </a:solidFill>
                <a:effectLst/>
                <a:latin typeface="Microsoft YaHei" panose="020B0503020204020204" pitchFamily="34" charset="-122"/>
                <a:ea typeface="Microsoft YaHei" panose="020B0503020204020204" pitchFamily="34" charset="-122"/>
              </a:rPr>
              <a:t>是否绘制收敛图</a:t>
            </a:r>
            <a:endParaRPr lang="en-US" altLang="zh-CN" sz="1200" b="0" dirty="0">
              <a:solidFill>
                <a:srgbClr val="000000"/>
              </a:solidFill>
              <a:effectLst/>
              <a:latin typeface="Consolas" panose="020B0609020204030204" pitchFamily="49" charset="0"/>
            </a:endParaRPr>
          </a:p>
          <a:p>
            <a:endParaRPr lang="en-US" altLang="zh-CN" b="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44</a:t>
            </a:fld>
            <a:endParaRPr lang="zh-CN" altLang="en-US"/>
          </a:p>
        </p:txBody>
      </p:sp>
    </p:spTree>
    <p:extLst>
      <p:ext uri="{BB962C8B-B14F-4D97-AF65-F5344CB8AC3E}">
        <p14:creationId xmlns:p14="http://schemas.microsoft.com/office/powerpoint/2010/main" val="11719711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45</a:t>
            </a:fld>
            <a:endParaRPr lang="zh-CN" altLang="en-US"/>
          </a:p>
        </p:txBody>
      </p:sp>
    </p:spTree>
    <p:extLst>
      <p:ext uri="{BB962C8B-B14F-4D97-AF65-F5344CB8AC3E}">
        <p14:creationId xmlns:p14="http://schemas.microsoft.com/office/powerpoint/2010/main" val="41575571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x=(1.5,6.0,8.9,3.5,7.4);</a:t>
            </a:r>
          </a:p>
          <a:p>
            <a:r>
              <a:rPr lang="en-US" altLang="zh-CN" dirty="0"/>
              <a:t>y=(6.8,7.0,6.9,4.0,3.1);plot(</a:t>
            </a:r>
            <a:r>
              <a:rPr lang="en-US" altLang="zh-CN" dirty="0" err="1"/>
              <a:t>x,y,”or</a:t>
            </a:r>
            <a:r>
              <a:rPr lang="en-US" altLang="zh-CN" dirty="0"/>
              <a:t>”)</a:t>
            </a:r>
          </a:p>
          <a:p>
            <a:r>
              <a:rPr lang="en-US" altLang="zh-CN" dirty="0"/>
              <a:t>plot(a,b,'or','linewidth',2, 'markersize',12,'markeredgecolor','b','markerfacecolor','r’)</a:t>
            </a:r>
          </a:p>
          <a:p>
            <a:r>
              <a:rPr lang="en-US" altLang="zh-CN" dirty="0"/>
              <a:t>hold </a:t>
            </a:r>
            <a:r>
              <a:rPr lang="en-US" altLang="zh-CN" dirty="0" err="1"/>
              <a:t>on;plot</a:t>
            </a:r>
            <a:r>
              <a:rPr lang="en-US" altLang="zh-CN" dirty="0"/>
              <a:t>(4.9705,7.3192,‘hg’, ‘linewidth’,2, ‘markersize’,18,‘markerfacecolor’,‘r’ )</a:t>
            </a:r>
            <a:r>
              <a:rPr lang="zh-CN" altLang="en-US" dirty="0"/>
              <a:t>每个镇的</a:t>
            </a:r>
            <a:r>
              <a:rPr lang="en-US" altLang="zh-CN" dirty="0" err="1"/>
              <a:t>x,y</a:t>
            </a:r>
            <a:r>
              <a:rPr lang="zh-CN" altLang="en-US" dirty="0"/>
              <a:t>和</a:t>
            </a:r>
            <a:r>
              <a:rPr lang="en-US" altLang="zh-CN" dirty="0"/>
              <a:t>c</a:t>
            </a:r>
            <a:r>
              <a:rPr lang="zh-CN" altLang="en-US" dirty="0"/>
              <a:t>的元素都进行相同运算</a:t>
            </a:r>
            <a:endParaRPr lang="en-US" altLang="zh-CN" dirty="0"/>
          </a:p>
        </p:txBody>
      </p:sp>
      <p:sp>
        <p:nvSpPr>
          <p:cNvPr id="4" name="灯片编号占位符 3"/>
          <p:cNvSpPr>
            <a:spLocks noGrp="1"/>
          </p:cNvSpPr>
          <p:nvPr>
            <p:ph type="sldNum" sz="quarter" idx="5"/>
          </p:nvPr>
        </p:nvSpPr>
        <p:spPr/>
        <p:txBody>
          <a:bodyPr/>
          <a:lstStyle/>
          <a:p>
            <a:pPr>
              <a:defRPr/>
            </a:pPr>
            <a:fld id="{EAF5D7B6-9300-482A-AC6E-3BA105FED359}" type="slidenum">
              <a:rPr lang="zh-CN" altLang="en-US" smtClean="0"/>
              <a:t>46</a:t>
            </a:fld>
            <a:endParaRPr lang="zh-CN" altLang="en-US"/>
          </a:p>
        </p:txBody>
      </p:sp>
    </p:spTree>
    <p:extLst>
      <p:ext uri="{BB962C8B-B14F-4D97-AF65-F5344CB8AC3E}">
        <p14:creationId xmlns:p14="http://schemas.microsoft.com/office/powerpoint/2010/main" val="6090319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solidFill>
                  <a:srgbClr val="0000FF"/>
                </a:solidFill>
                <a:effectLst/>
                <a:latin typeface="Consolas" panose="020B0609020204030204" pitchFamily="49" charset="0"/>
              </a:rPr>
              <a:t>function</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fmm</a:t>
            </a:r>
            <a:r>
              <a:rPr lang="en-US" altLang="zh-CN" b="0" dirty="0">
                <a:solidFill>
                  <a:srgbClr val="000000"/>
                </a:solidFill>
                <a:effectLst/>
                <a:latin typeface="Consolas" panose="020B0609020204030204" pitchFamily="49" charset="0"/>
              </a:rPr>
              <a:t>(x)</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return</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sqrt</a:t>
            </a:r>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(x[</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6.8</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sqrt</a:t>
            </a:r>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(x[</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7</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sqrt</a:t>
            </a:r>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8.9</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(x[</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6.9</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sqrt</a:t>
            </a:r>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3.5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(x[</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sqrt</a:t>
            </a:r>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7.4</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(x[</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3.1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end</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x0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r,fmi</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fminimax</a:t>
            </a:r>
            <a:r>
              <a:rPr lang="en-US" altLang="zh-CN" b="0" dirty="0">
                <a:solidFill>
                  <a:srgbClr val="000000"/>
                </a:solidFill>
                <a:effectLst/>
                <a:latin typeface="Consolas" panose="020B0609020204030204" pitchFamily="49" charset="0"/>
              </a:rPr>
              <a:t>(fmm, x0)  </a:t>
            </a: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47</a:t>
            </a:fld>
            <a:endParaRPr lang="zh-CN" altLang="en-US"/>
          </a:p>
        </p:txBody>
      </p:sp>
    </p:spTree>
    <p:extLst>
      <p:ext uri="{BB962C8B-B14F-4D97-AF65-F5344CB8AC3E}">
        <p14:creationId xmlns:p14="http://schemas.microsoft.com/office/powerpoint/2010/main" val="7047896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PingFang SC"/>
              </a:rPr>
              <a:t>1873</a:t>
            </a:r>
            <a:r>
              <a:rPr lang="zh-CN" altLang="en-US" b="0" i="0" dirty="0">
                <a:solidFill>
                  <a:srgbClr val="333333"/>
                </a:solidFill>
                <a:effectLst/>
                <a:latin typeface="PingFang SC"/>
              </a:rPr>
              <a:t>年荷兰物理学家范德瓦尔斯提出的实际气体状态方程</a:t>
            </a:r>
            <a:endParaRPr lang="en-US" altLang="zh-CN" dirty="0"/>
          </a:p>
          <a:p>
            <a:endParaRPr lang="en-US" altLang="zh-CN" dirty="0"/>
          </a:p>
          <a:p>
            <a:r>
              <a:rPr lang="zh-CN" altLang="en-US" b="0" i="0" dirty="0">
                <a:solidFill>
                  <a:srgbClr val="F73131"/>
                </a:solidFill>
                <a:effectLst/>
                <a:latin typeface="Arial" panose="020B0604020202020204" pitchFamily="34" charset="0"/>
              </a:rPr>
              <a:t>范德瓦尔斯状态方程是荷兰物理学家范德瓦尔斯于</a:t>
            </a:r>
            <a:r>
              <a:rPr lang="en-US" altLang="zh-CN" b="0" i="0" dirty="0">
                <a:solidFill>
                  <a:srgbClr val="F73131"/>
                </a:solidFill>
                <a:effectLst/>
                <a:latin typeface="Arial" panose="020B0604020202020204" pitchFamily="34" charset="0"/>
              </a:rPr>
              <a:t>1873</a:t>
            </a:r>
            <a:r>
              <a:rPr lang="zh-CN" altLang="en-US" b="0" i="0" dirty="0">
                <a:solidFill>
                  <a:srgbClr val="F73131"/>
                </a:solidFill>
                <a:effectLst/>
                <a:latin typeface="Arial" panose="020B0604020202020204" pitchFamily="34" charset="0"/>
              </a:rPr>
              <a:t>年提出的一种实际气体状态方程</a:t>
            </a:r>
            <a:r>
              <a:rPr lang="zh-CN" altLang="en-US" b="0" i="0" dirty="0">
                <a:solidFill>
                  <a:srgbClr val="333333"/>
                </a:solidFill>
                <a:effectLst/>
                <a:latin typeface="Arial" panose="020B0604020202020204" pitchFamily="34" charset="0"/>
              </a:rPr>
              <a:t>。是对理想气体状态方程的一种改进</a:t>
            </a:r>
            <a:r>
              <a:rPr lang="zh-CN" altLang="en-US" dirty="0"/>
              <a:t>范德华力：他提出了分子间吸引力</a:t>
            </a:r>
            <a:endParaRPr lang="en-US" altLang="zh-CN" dirty="0"/>
          </a:p>
          <a:p>
            <a:r>
              <a:rPr lang="zh-CN" altLang="en-US" b="0" i="0" dirty="0">
                <a:solidFill>
                  <a:srgbClr val="333333"/>
                </a:solidFill>
                <a:effectLst/>
                <a:latin typeface="Helvetica Neue"/>
              </a:rPr>
              <a:t>范德瓦尔斯状态方程是荷兰物理学家范德瓦尔斯于</a:t>
            </a:r>
            <a:r>
              <a:rPr lang="en-US" altLang="zh-CN" b="0" i="0" dirty="0">
                <a:solidFill>
                  <a:srgbClr val="333333"/>
                </a:solidFill>
                <a:effectLst/>
                <a:latin typeface="Helvetica Neue"/>
              </a:rPr>
              <a:t>1873</a:t>
            </a:r>
            <a:r>
              <a:rPr lang="zh-CN" altLang="en-US" b="0" i="0" dirty="0">
                <a:solidFill>
                  <a:srgbClr val="333333"/>
                </a:solidFill>
                <a:effectLst/>
                <a:latin typeface="Helvetica Neue"/>
              </a:rPr>
              <a:t>年提出的一种实际气体状态方程。是对</a:t>
            </a:r>
            <a:r>
              <a:rPr lang="zh-CN" altLang="en-US" b="0" i="0" u="none" strike="noStrike" dirty="0">
                <a:solidFill>
                  <a:srgbClr val="136EC2"/>
                </a:solidFill>
                <a:effectLst/>
                <a:latin typeface="Helvetica Neue"/>
                <a:hlinkClick r:id="rId3"/>
              </a:rPr>
              <a:t>理想气体状态方程</a:t>
            </a:r>
            <a:r>
              <a:rPr lang="zh-CN" altLang="en-US" b="0" i="0" dirty="0">
                <a:solidFill>
                  <a:srgbClr val="333333"/>
                </a:solidFill>
                <a:effectLst/>
                <a:latin typeface="Helvetica Neue"/>
              </a:rPr>
              <a:t>的一种改进，特点在于将被理想气体模型所忽略的的气体分子自身大小和分子之间的相互作用力考虑进来，以便更好地描述气体的宏观物理性质。</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50</a:t>
            </a:fld>
            <a:endParaRPr lang="zh-CN" altLang="en-US"/>
          </a:p>
        </p:txBody>
      </p:sp>
    </p:spTree>
    <p:extLst>
      <p:ext uri="{BB962C8B-B14F-4D97-AF65-F5344CB8AC3E}">
        <p14:creationId xmlns:p14="http://schemas.microsoft.com/office/powerpoint/2010/main" val="3931184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solidFill>
                  <a:srgbClr val="795E26"/>
                </a:solidFill>
                <a:effectLst/>
                <a:latin typeface="Consolas" panose="020B0609020204030204" pitchFamily="49" charset="0"/>
              </a:rPr>
              <a:t>p</a:t>
            </a:r>
            <a:r>
              <a:rPr lang="en-US" altLang="zh-CN" b="0" dirty="0">
                <a:solidFill>
                  <a:srgbClr val="000000"/>
                </a:solidFill>
                <a:effectLst/>
                <a:latin typeface="Consolas" panose="020B0609020204030204" pitchFamily="49" charset="0"/>
              </a:rPr>
              <a:t>(v)=</a:t>
            </a:r>
            <a:r>
              <a:rPr lang="en-US" altLang="zh-CN" b="0" dirty="0">
                <a:solidFill>
                  <a:srgbClr val="098658"/>
                </a:solidFill>
                <a:effectLst/>
                <a:latin typeface="Consolas" panose="020B0609020204030204" pitchFamily="49" charset="0"/>
              </a:rPr>
              <a:t>8.314</a:t>
            </a:r>
            <a:r>
              <a:rPr lang="en-US" altLang="zh-CN" b="0" dirty="0">
                <a:solidFill>
                  <a:srgbClr val="000000"/>
                </a:solidFill>
                <a:effectLst/>
                <a:latin typeface="Consolas" panose="020B0609020204030204" pitchFamily="49" charset="0"/>
              </a:rPr>
              <a:t>T/(v-</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)*b)-</a:t>
            </a:r>
            <a:r>
              <a:rPr lang="en-US" altLang="zh-CN" b="0" dirty="0">
                <a:solidFill>
                  <a:srgbClr val="098658"/>
                </a:solidFill>
                <a:effectLst/>
                <a:latin typeface="Consolas" panose="020B0609020204030204" pitchFamily="49" charset="0"/>
              </a:rPr>
              <a:t>0.1013</a:t>
            </a:r>
            <a:r>
              <a:rPr lang="en-US" altLang="zh-CN" b="0" dirty="0">
                <a:solidFill>
                  <a:srgbClr val="000000"/>
                </a:solidFill>
                <a:effectLst/>
                <a:latin typeface="Consolas" panose="020B0609020204030204" pitchFamily="49" charset="0"/>
              </a:rPr>
              <a:t>a/(v^</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非线性方程</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a=</a:t>
            </a:r>
            <a:r>
              <a:rPr lang="en-US" altLang="zh-CN" b="0" dirty="0">
                <a:solidFill>
                  <a:srgbClr val="098658"/>
                </a:solidFill>
                <a:effectLst/>
                <a:latin typeface="Consolas" panose="020B0609020204030204" pitchFamily="49" charset="0"/>
              </a:rPr>
              <a:t>3.96</a:t>
            </a:r>
            <a:r>
              <a:rPr lang="en-US" altLang="zh-CN" b="0" dirty="0">
                <a:solidFill>
                  <a:srgbClr val="000000"/>
                </a:solidFill>
                <a:effectLst/>
                <a:latin typeface="Consolas" panose="020B0609020204030204" pitchFamily="49" charset="0"/>
              </a:rPr>
              <a:t>;b=</a:t>
            </a:r>
            <a:r>
              <a:rPr lang="en-US" altLang="zh-CN" b="0" dirty="0">
                <a:solidFill>
                  <a:srgbClr val="098658"/>
                </a:solidFill>
                <a:effectLst/>
                <a:latin typeface="Consolas" panose="020B0609020204030204" pitchFamily="49" charset="0"/>
              </a:rPr>
              <a:t>0.043</a:t>
            </a:r>
            <a:r>
              <a:rPr lang="en-US" altLang="zh-CN" b="0" dirty="0">
                <a:solidFill>
                  <a:srgbClr val="000000"/>
                </a:solidFill>
                <a:effectLst/>
                <a:latin typeface="Consolas" panose="020B0609020204030204" pitchFamily="49" charset="0"/>
              </a:rPr>
              <a:t>;</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气体的一些常数</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T=</a:t>
            </a:r>
            <a:r>
              <a:rPr lang="en-US" altLang="zh-CN" b="0" dirty="0">
                <a:solidFill>
                  <a:srgbClr val="098658"/>
                </a:solidFill>
                <a:effectLst/>
                <a:latin typeface="Consolas" panose="020B0609020204030204" pitchFamily="49" charset="0"/>
              </a:rPr>
              <a:t>300</a:t>
            </a:r>
            <a:r>
              <a:rPr lang="en-US" altLang="zh-CN" b="0" dirty="0">
                <a:solidFill>
                  <a:srgbClr val="000000"/>
                </a:solidFill>
                <a:effectLst/>
                <a:latin typeface="Consolas" panose="020B0609020204030204" pitchFamily="49" charset="0"/>
              </a:rPr>
              <a:t>;</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温度</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v=</a:t>
            </a:r>
            <a:r>
              <a:rPr lang="en-US" altLang="zh-CN" b="0" dirty="0" err="1">
                <a:solidFill>
                  <a:srgbClr val="795E26"/>
                </a:solidFill>
                <a:effectLst/>
                <a:latin typeface="Consolas" panose="020B0609020204030204" pitchFamily="49" charset="0"/>
              </a:rPr>
              <a:t>LinRange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100</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体积</a:t>
            </a:r>
            <a:r>
              <a:rPr lang="en-US" altLang="zh-CN" b="0" dirty="0">
                <a:solidFill>
                  <a:srgbClr val="008000"/>
                </a:solidFill>
                <a:effectLst/>
                <a:latin typeface="Consolas" panose="020B0609020204030204" pitchFamily="49" charset="0"/>
              </a:rPr>
              <a:t>v</a:t>
            </a:r>
            <a:r>
              <a:rPr lang="zh-CN" altLang="en-US" b="0" dirty="0">
                <a:solidFill>
                  <a:srgbClr val="008000"/>
                </a:solidFill>
                <a:effectLst/>
                <a:latin typeface="Consolas" panose="020B0609020204030204" pitchFamily="49" charset="0"/>
              </a:rPr>
              <a:t>线性</a:t>
            </a:r>
            <a:r>
              <a:rPr lang="en-US" altLang="zh-CN" b="0" dirty="0">
                <a:solidFill>
                  <a:srgbClr val="008000"/>
                </a:solidFill>
                <a:effectLst/>
                <a:latin typeface="Consolas" panose="020B0609020204030204" pitchFamily="49" charset="0"/>
              </a:rPr>
              <a:t>100</a:t>
            </a:r>
            <a:r>
              <a:rPr lang="zh-CN" altLang="en-US" b="0" dirty="0">
                <a:solidFill>
                  <a:srgbClr val="008000"/>
                </a:solidFill>
                <a:effectLst/>
                <a:latin typeface="Consolas" panose="020B0609020204030204" pitchFamily="49" charset="0"/>
              </a:rPr>
              <a:t>个点</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pp=</a:t>
            </a:r>
            <a:r>
              <a:rPr lang="en-US" altLang="zh-CN" b="0" dirty="0">
                <a:solidFill>
                  <a:srgbClr val="795E26"/>
                </a:solidFill>
                <a:effectLst/>
                <a:latin typeface="Consolas" panose="020B0609020204030204" pitchFamily="49" charset="0"/>
              </a:rPr>
              <a:t>p</a:t>
            </a:r>
            <a:r>
              <a:rPr lang="en-US" altLang="zh-CN" b="0" dirty="0">
                <a:solidFill>
                  <a:srgbClr val="000000"/>
                </a:solidFill>
                <a:effectLst/>
                <a:latin typeface="Consolas" panose="020B0609020204030204" pitchFamily="49" charset="0"/>
              </a:rPr>
              <a:t>.(v)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压强</a:t>
            </a:r>
            <a:r>
              <a:rPr lang="en-US" altLang="zh-CN" b="0" dirty="0">
                <a:solidFill>
                  <a:srgbClr val="008000"/>
                </a:solidFill>
                <a:effectLst/>
                <a:latin typeface="Consolas" panose="020B0609020204030204" pitchFamily="49" charset="0"/>
              </a:rPr>
              <a:t>p</a:t>
            </a:r>
            <a:r>
              <a:rPr lang="zh-CN" altLang="en-US" b="0" dirty="0">
                <a:solidFill>
                  <a:srgbClr val="008000"/>
                </a:solidFill>
                <a:effectLst/>
                <a:latin typeface="Consolas" panose="020B0609020204030204" pitchFamily="49" charset="0"/>
              </a:rPr>
              <a:t>点运算</a:t>
            </a:r>
            <a:endParaRPr lang="zh-CN" altLang="en-US" b="0" dirty="0">
              <a:solidFill>
                <a:srgbClr val="000000"/>
              </a:solidFill>
              <a:effectLst/>
              <a:latin typeface="Consolas" panose="020B0609020204030204" pitchFamily="49" charset="0"/>
            </a:endParaRPr>
          </a:p>
          <a:p>
            <a:r>
              <a:rPr lang="en-US" altLang="zh-CN" b="0" dirty="0">
                <a:solidFill>
                  <a:srgbClr val="795E26"/>
                </a:solidFill>
                <a:effectLst/>
                <a:latin typeface="Consolas" panose="020B0609020204030204" pitchFamily="49" charset="0"/>
              </a:rPr>
              <a:t>plot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v,pp</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#p-v</a:t>
            </a:r>
            <a:r>
              <a:rPr lang="zh-CN" altLang="en-US" b="0" dirty="0">
                <a:solidFill>
                  <a:srgbClr val="008000"/>
                </a:solidFill>
                <a:effectLst/>
                <a:latin typeface="Consolas" panose="020B0609020204030204" pitchFamily="49" charset="0"/>
              </a:rPr>
              <a:t>图</a:t>
            </a:r>
            <a:endParaRPr lang="zh-CN" altLang="en-US" b="0" dirty="0">
              <a:solidFill>
                <a:srgbClr val="000000"/>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xlabel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体积</a:t>
            </a:r>
            <a:r>
              <a:rPr lang="en-US" altLang="zh-CN" b="0" dirty="0">
                <a:solidFill>
                  <a:srgbClr val="A31515"/>
                </a:solidFill>
                <a:effectLst/>
                <a:latin typeface="Consolas" panose="020B0609020204030204" pitchFamily="49" charset="0"/>
              </a:rPr>
              <a:t>v"</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ylabel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压强</a:t>
            </a:r>
            <a:r>
              <a:rPr lang="en-US" altLang="zh-CN" b="0" dirty="0">
                <a:solidFill>
                  <a:srgbClr val="A31515"/>
                </a:solidFill>
                <a:effectLst/>
                <a:latin typeface="Consolas" panose="020B0609020204030204" pitchFamily="49" charset="0"/>
              </a:rPr>
              <a:t>p"</a:t>
            </a:r>
            <a:r>
              <a:rPr lang="en-US" altLang="zh-CN" b="0" dirty="0">
                <a:solidFill>
                  <a:srgbClr val="000000"/>
                </a:solidFill>
                <a:effectLst/>
                <a:latin typeface="Consolas" panose="020B0609020204030204" pitchFamily="49" charset="0"/>
              </a:rPr>
              <a:t>)</a:t>
            </a:r>
          </a:p>
          <a:p>
            <a:r>
              <a:rPr lang="en-US" altLang="zh-CN" b="0" dirty="0" err="1">
                <a:solidFill>
                  <a:srgbClr val="795E26"/>
                </a:solidFill>
                <a:effectLst/>
                <a:latin typeface="Consolas" panose="020B0609020204030204" pitchFamily="49" charset="0"/>
              </a:rPr>
              <a:t>ylim</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调整</a:t>
            </a:r>
            <a:r>
              <a:rPr lang="en-US" altLang="zh-CN" b="0" dirty="0">
                <a:solidFill>
                  <a:srgbClr val="008000"/>
                </a:solidFill>
                <a:effectLst/>
                <a:latin typeface="Consolas" panose="020B0609020204030204" pitchFamily="49" charset="0"/>
              </a:rPr>
              <a:t>y</a:t>
            </a:r>
            <a:r>
              <a:rPr lang="zh-CN" altLang="en-US" b="0" dirty="0">
                <a:solidFill>
                  <a:srgbClr val="008000"/>
                </a:solidFill>
                <a:effectLst/>
                <a:latin typeface="Consolas" panose="020B0609020204030204" pitchFamily="49" charset="0"/>
              </a:rPr>
              <a:t>坐标轴来缩小</a:t>
            </a:r>
            <a:r>
              <a:rPr lang="en-US" altLang="zh-CN" b="0" dirty="0">
                <a:solidFill>
                  <a:srgbClr val="008000"/>
                </a:solidFill>
                <a:effectLst/>
                <a:latin typeface="Consolas" panose="020B0609020204030204" pitchFamily="49" charset="0"/>
              </a:rPr>
              <a:t>y</a:t>
            </a:r>
            <a:r>
              <a:rPr lang="zh-CN" altLang="en-US" b="0" dirty="0">
                <a:solidFill>
                  <a:srgbClr val="008000"/>
                </a:solidFill>
                <a:effectLst/>
                <a:latin typeface="Consolas" panose="020B0609020204030204" pitchFamily="49" charset="0"/>
              </a:rPr>
              <a:t>范围</a:t>
            </a:r>
            <a:endParaRPr lang="zh-CN" altLang="en-US" b="0" dirty="0">
              <a:solidFill>
                <a:srgbClr val="000000"/>
              </a:solidFill>
              <a:effectLst/>
              <a:latin typeface="Consolas" panose="020B0609020204030204" pitchFamily="49" charset="0"/>
            </a:endParaRPr>
          </a:p>
          <a:p>
            <a:r>
              <a:rPr lang="en-US" altLang="zh-CN" b="0" dirty="0">
                <a:solidFill>
                  <a:srgbClr val="795E26"/>
                </a:solidFill>
                <a:effectLst/>
                <a:latin typeface="Consolas" panose="020B0609020204030204" pitchFamily="49" charset="0"/>
              </a:rPr>
              <a:t>ff</a:t>
            </a:r>
            <a:r>
              <a:rPr lang="en-US" altLang="zh-CN" b="0" dirty="0">
                <a:solidFill>
                  <a:srgbClr val="000000"/>
                </a:solidFill>
                <a:effectLst/>
                <a:latin typeface="Consolas" panose="020B0609020204030204" pitchFamily="49" charset="0"/>
              </a:rPr>
              <a:t>(v)=</a:t>
            </a:r>
            <a:r>
              <a:rPr lang="en-US" altLang="zh-CN" b="0" dirty="0">
                <a:solidFill>
                  <a:srgbClr val="795E26"/>
                </a:solidFill>
                <a:effectLst/>
                <a:latin typeface="Consolas" panose="020B0609020204030204" pitchFamily="49" charset="0"/>
              </a:rPr>
              <a:t>p</a:t>
            </a:r>
            <a:r>
              <a:rPr lang="en-US" altLang="zh-CN" b="0" dirty="0">
                <a:solidFill>
                  <a:srgbClr val="000000"/>
                </a:solidFill>
                <a:effectLst/>
                <a:latin typeface="Consolas" panose="020B0609020204030204" pitchFamily="49" charset="0"/>
              </a:rPr>
              <a:t>(v)-</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建立求根的非线性方程</a:t>
            </a:r>
            <a:r>
              <a:rPr lang="en-US" altLang="zh-CN" b="0" dirty="0">
                <a:solidFill>
                  <a:srgbClr val="008000"/>
                </a:solidFill>
                <a:effectLst/>
                <a:latin typeface="Consolas" panose="020B0609020204030204" pitchFamily="49" charset="0"/>
              </a:rPr>
              <a:t>ff(v)=0</a:t>
            </a:r>
            <a:endParaRPr lang="en-US" altLang="zh-CN" b="0" dirty="0">
              <a:solidFill>
                <a:srgbClr val="000000"/>
              </a:solidFill>
              <a:effectLst/>
              <a:latin typeface="Consolas" panose="020B0609020204030204" pitchFamily="49" charset="0"/>
            </a:endParaRPr>
          </a:p>
          <a:p>
            <a:r>
              <a:rPr lang="en-US" altLang="zh-CN" b="0" dirty="0">
                <a:solidFill>
                  <a:srgbClr val="008000"/>
                </a:solidFill>
                <a:effectLst/>
                <a:latin typeface="Consolas" panose="020B0609020204030204" pitchFamily="49" charset="0"/>
              </a:rPr>
              <a:t>#vv,fvv,ex=fzero(ff,8e-6)</a:t>
            </a:r>
            <a:endParaRPr lang="en-US" altLang="zh-CN" b="0" dirty="0">
              <a:solidFill>
                <a:srgbClr val="000000"/>
              </a:solidFill>
              <a:effectLst/>
              <a:latin typeface="Consolas" panose="020B0609020204030204" pitchFamily="49" charset="0"/>
            </a:endParaRPr>
          </a:p>
          <a:p>
            <a:r>
              <a:rPr lang="en-US" altLang="zh-CN" b="0" dirty="0" err="1">
                <a:solidFill>
                  <a:srgbClr val="000000"/>
                </a:solidFill>
                <a:effectLst/>
                <a:latin typeface="Consolas" panose="020B0609020204030204" pitchFamily="49" charset="0"/>
              </a:rPr>
              <a:t>vv,fvv,ex</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fzero</a:t>
            </a:r>
            <a:r>
              <a:rPr lang="en-US" altLang="zh-CN" b="0" dirty="0">
                <a:solidFill>
                  <a:srgbClr val="000000"/>
                </a:solidFill>
                <a:effectLst/>
                <a:latin typeface="Consolas" panose="020B0609020204030204" pitchFamily="49" charset="0"/>
              </a:rPr>
              <a:t>(ff,</a:t>
            </a:r>
            <a:r>
              <a:rPr lang="en-US" altLang="zh-CN" b="0" dirty="0">
                <a:solidFill>
                  <a:srgbClr val="098658"/>
                </a:solidFill>
                <a:effectLst/>
                <a:latin typeface="Consolas" panose="020B0609020204030204" pitchFamily="49" charset="0"/>
              </a:rPr>
              <a:t>0.0001</a:t>
            </a:r>
            <a:r>
              <a:rPr lang="en-US" altLang="zh-CN" b="0" dirty="0">
                <a:solidFill>
                  <a:srgbClr val="000000"/>
                </a:solidFill>
                <a:effectLst/>
                <a:latin typeface="Consolas" panose="020B0609020204030204" pitchFamily="49" charset="0"/>
              </a:rPr>
              <a:t>)</a:t>
            </a:r>
          </a:p>
          <a:p>
            <a:r>
              <a:rPr lang="en-US" altLang="zh-CN" b="0" dirty="0">
                <a:solidFill>
                  <a:srgbClr val="008000"/>
                </a:solidFill>
                <a:effectLst/>
                <a:latin typeface="Consolas" panose="020B0609020204030204" pitchFamily="49" charset="0"/>
              </a:rPr>
              <a:t>#vv=7.902391074352825e-5,fvv=-6.586313247680664e-6,ex=1</a:t>
            </a:r>
            <a:endParaRPr lang="en-US" altLang="zh-CN" b="0" dirty="0">
              <a:solidFill>
                <a:srgbClr val="000000"/>
              </a:solidFill>
              <a:effectLst/>
              <a:latin typeface="Consolas" panose="020B0609020204030204" pitchFamily="49" charset="0"/>
            </a:endParaRPr>
          </a:p>
          <a:p>
            <a:r>
              <a:rPr lang="en-US" altLang="zh-CN" b="0" dirty="0">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vv</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vv</a:t>
            </a:r>
            <a:r>
              <a:rPr lang="en-US" altLang="zh-CN" b="0" dirty="0" err="1">
                <a:solidFill>
                  <a:srgbClr val="A31515"/>
                </a:solidFill>
                <a:effectLst/>
                <a:latin typeface="Consolas" panose="020B0609020204030204" pitchFamily="49" charset="0"/>
              </a:rPr>
              <a:t>,fvv</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fvv</a:t>
            </a:r>
            <a:r>
              <a:rPr lang="en-US" altLang="zh-CN" b="0" dirty="0" err="1">
                <a:solidFill>
                  <a:srgbClr val="A31515"/>
                </a:solidFill>
                <a:effectLst/>
                <a:latin typeface="Consolas" panose="020B0609020204030204" pitchFamily="49" charset="0"/>
              </a:rPr>
              <a:t>,ex</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$ex</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br>
              <a:rPr lang="en-US" altLang="zh-CN" b="0" dirty="0">
                <a:solidFill>
                  <a:srgbClr val="000000"/>
                </a:solidFill>
                <a:effectLst/>
                <a:latin typeface="Consolas" panose="020B0609020204030204" pitchFamily="49" charset="0"/>
              </a:rPr>
            </a:br>
            <a:br>
              <a:rPr lang="en-US" altLang="zh-CN" b="0" dirty="0">
                <a:solidFill>
                  <a:srgbClr val="000000"/>
                </a:solidFill>
                <a:effectLst/>
                <a:latin typeface="Consolas" panose="020B0609020204030204" pitchFamily="49" charset="0"/>
              </a:rPr>
            </a:br>
            <a:br>
              <a:rPr lang="en-US" altLang="zh-CN" b="0" dirty="0">
                <a:solidFill>
                  <a:srgbClr val="000000"/>
                </a:solidFill>
                <a:effectLst/>
                <a:latin typeface="Consolas" panose="020B0609020204030204" pitchFamily="49" charset="0"/>
              </a:rPr>
            </a:br>
            <a:br>
              <a:rPr lang="en-US" altLang="zh-CN" b="0" dirty="0">
                <a:solidFill>
                  <a:srgbClr val="000000"/>
                </a:solidFill>
                <a:effectLst/>
                <a:latin typeface="Consolas" panose="020B0609020204030204" pitchFamily="49" charset="0"/>
              </a:rPr>
            </a:br>
            <a:br>
              <a:rPr lang="en-US" altLang="zh-CN" b="0" dirty="0">
                <a:solidFill>
                  <a:srgbClr val="000000"/>
                </a:solidFill>
                <a:effectLst/>
                <a:latin typeface="Consolas" panose="020B0609020204030204" pitchFamily="49" charset="0"/>
              </a:rPr>
            </a:br>
            <a:br>
              <a:rPr lang="en-US" altLang="zh-CN" b="0" dirty="0">
                <a:solidFill>
                  <a:srgbClr val="000000"/>
                </a:solidFill>
                <a:effectLst/>
                <a:latin typeface="Consolas" panose="020B0609020204030204" pitchFamily="49" charset="0"/>
              </a:rPr>
            </a:br>
            <a:endParaRPr lang="en-US" altLang="zh-CN" b="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54</a:t>
            </a:fld>
            <a:endParaRPr lang="zh-CN" altLang="en-US"/>
          </a:p>
        </p:txBody>
      </p:sp>
    </p:spTree>
    <p:extLst>
      <p:ext uri="{BB962C8B-B14F-4D97-AF65-F5344CB8AC3E}">
        <p14:creationId xmlns:p14="http://schemas.microsoft.com/office/powerpoint/2010/main" val="27618841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55</a:t>
            </a:fld>
            <a:endParaRPr lang="zh-CN" altLang="en-US"/>
          </a:p>
        </p:txBody>
      </p:sp>
    </p:spTree>
    <p:extLst>
      <p:ext uri="{BB962C8B-B14F-4D97-AF65-F5344CB8AC3E}">
        <p14:creationId xmlns:p14="http://schemas.microsoft.com/office/powerpoint/2010/main" val="30352418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a:solidFill>
                  <a:srgbClr val="333333"/>
                </a:solidFill>
                <a:effectLst/>
                <a:latin typeface="Arial" panose="020B0604020202020204" pitchFamily="34" charset="0"/>
              </a:rPr>
              <a:t>“俄乌</a:t>
            </a:r>
            <a:r>
              <a:rPr lang="zh-CN" altLang="en-US" sz="1200" dirty="0">
                <a:solidFill>
                  <a:srgbClr val="333333"/>
                </a:solidFill>
                <a:latin typeface="Arial" panose="020B0604020202020204" pitchFamily="34" charset="0"/>
              </a:rPr>
              <a:t>冲突</a:t>
            </a:r>
            <a:r>
              <a:rPr lang="zh-CN" altLang="en-US" sz="1200" b="0" i="0" dirty="0">
                <a:solidFill>
                  <a:srgbClr val="333333"/>
                </a:solidFill>
                <a:effectLst/>
                <a:latin typeface="Arial" panose="020B0604020202020204" pitchFamily="34" charset="0"/>
              </a:rPr>
              <a:t>目前的一大作战形式是大规模的炮战</a:t>
            </a:r>
            <a:r>
              <a:rPr lang="en-US" altLang="zh-CN" sz="1200" b="0" i="0" dirty="0">
                <a:solidFill>
                  <a:srgbClr val="333333"/>
                </a:solidFill>
                <a:effectLst/>
                <a:latin typeface="Arial" panose="020B0604020202020204" pitchFamily="34" charset="0"/>
              </a:rPr>
              <a:t>,</a:t>
            </a:r>
            <a:r>
              <a:rPr lang="zh-CN" altLang="en-US" sz="1200" b="0" i="0" dirty="0">
                <a:solidFill>
                  <a:srgbClr val="333333"/>
                </a:solidFill>
                <a:effectLst/>
                <a:latin typeface="Arial" panose="020B0604020202020204" pitchFamily="34" charset="0"/>
              </a:rPr>
              <a:t>俄军每天发射大约</a:t>
            </a:r>
            <a:r>
              <a:rPr lang="en-US" altLang="zh-CN" sz="1200" b="0" i="0" dirty="0">
                <a:solidFill>
                  <a:srgbClr val="333333"/>
                </a:solidFill>
                <a:effectLst/>
                <a:latin typeface="Arial" panose="020B0604020202020204" pitchFamily="34" charset="0"/>
              </a:rPr>
              <a:t>1-2</a:t>
            </a:r>
            <a:r>
              <a:rPr lang="zh-CN" altLang="en-US" sz="1200" b="0" i="0" dirty="0">
                <a:solidFill>
                  <a:srgbClr val="333333"/>
                </a:solidFill>
                <a:effectLst/>
                <a:latin typeface="Arial" panose="020B0604020202020204" pitchFamily="34" charset="0"/>
              </a:rPr>
              <a:t>万发炮弹</a:t>
            </a:r>
            <a:endParaRPr lang="zh-CN" altLang="en-US" sz="16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58</a:t>
            </a:fld>
            <a:endParaRPr lang="zh-CN" altLang="en-US"/>
          </a:p>
        </p:txBody>
      </p:sp>
    </p:spTree>
    <p:extLst>
      <p:ext uri="{BB962C8B-B14F-4D97-AF65-F5344CB8AC3E}">
        <p14:creationId xmlns:p14="http://schemas.microsoft.com/office/powerpoint/2010/main" val="30084747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sz="quarter"/>
          </p:nvPr>
        </p:nvSpPr>
        <p:spPr>
          <a:xfrm>
            <a:off x="662016" y="3931500"/>
            <a:ext cx="5296132" cy="3216682"/>
          </a:xfrm>
          <a:prstGeom prst="rect">
            <a:avLst/>
          </a:prstGeom>
        </p:spPr>
        <p:txBody>
          <a:bodyPr/>
          <a:lstStyle/>
          <a:p>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solidFill>
                  <a:srgbClr val="AF00DB"/>
                </a:solidFill>
                <a:effectLst/>
                <a:latin typeface="Consolas" panose="020B0609020204030204" pitchFamily="49" charset="0"/>
              </a:rPr>
              <a:t>using</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TyOptimization</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调用优化工具箱</a:t>
            </a:r>
            <a:endParaRPr lang="zh-CN" altLang="en-US" b="0" dirty="0">
              <a:solidFill>
                <a:srgbClr val="000000"/>
              </a:solidFill>
              <a:effectLst/>
              <a:latin typeface="Consolas" panose="020B0609020204030204" pitchFamily="49" charset="0"/>
            </a:endParaRPr>
          </a:p>
          <a:p>
            <a:r>
              <a:rPr lang="en-US" altLang="zh-CN" b="0" dirty="0">
                <a:solidFill>
                  <a:srgbClr val="0000FF"/>
                </a:solidFill>
                <a:effectLst/>
                <a:latin typeface="Consolas" panose="020B0609020204030204" pitchFamily="49" charset="0"/>
              </a:rPr>
              <a:t>function</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fun</a:t>
            </a:r>
            <a:r>
              <a:rPr lang="en-US" altLang="zh-CN" b="0" dirty="0">
                <a:solidFill>
                  <a:srgbClr val="000000"/>
                </a:solidFill>
                <a:effectLst/>
                <a:latin typeface="Consolas" panose="020B0609020204030204" pitchFamily="49" charset="0"/>
              </a:rPr>
              <a:t>(at)</a:t>
            </a:r>
          </a:p>
          <a:p>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200</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cos</a:t>
            </a:r>
            <a:r>
              <a:rPr lang="en-US" altLang="zh-CN" b="0" dirty="0">
                <a:solidFill>
                  <a:srgbClr val="000000"/>
                </a:solidFill>
                <a:effectLst/>
                <a:latin typeface="Consolas" panose="020B0609020204030204" pitchFamily="49" charset="0"/>
              </a:rPr>
              <a:t>(at[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360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200</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4.905</a:t>
            </a:r>
            <a:r>
              <a:rPr lang="en-US" altLang="zh-CN" b="0" dirty="0">
                <a:solidFill>
                  <a:srgbClr val="000000"/>
                </a:solidFill>
                <a:effectLst/>
                <a:latin typeface="Consolas" panose="020B0609020204030204" pitchFamily="49" charset="0"/>
              </a:rPr>
              <a:t>*at[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160</a:t>
            </a:r>
            <a:endParaRPr lang="en-US" altLang="zh-CN" b="0" dirty="0">
              <a:solidFill>
                <a:srgbClr val="000000"/>
              </a:solidFill>
              <a:effectLst/>
              <a:latin typeface="Consolas" panose="020B0609020204030204" pitchFamily="49" charset="0"/>
            </a:endParaRPr>
          </a:p>
          <a:p>
            <a:r>
              <a:rPr lang="en-US" altLang="zh-CN" b="0" dirty="0">
                <a:solidFill>
                  <a:srgbClr val="AF00DB"/>
                </a:solidFill>
                <a:effectLst/>
                <a:latin typeface="Consolas" panose="020B0609020204030204" pitchFamily="49" charset="0"/>
              </a:rPr>
              <a:t>end</a:t>
            </a:r>
            <a:endParaRPr lang="en-US" altLang="zh-CN" b="0" dirty="0">
              <a:solidFill>
                <a:srgbClr val="000000"/>
              </a:solidFill>
              <a:effectLst/>
              <a:latin typeface="Consolas" panose="020B0609020204030204" pitchFamily="49" charset="0"/>
            </a:endParaRPr>
          </a:p>
          <a:p>
            <a:r>
              <a:rPr lang="en-US" altLang="zh-CN" b="0" dirty="0" err="1">
                <a:solidFill>
                  <a:srgbClr val="000000"/>
                </a:solidFill>
                <a:effectLst/>
                <a:latin typeface="Consolas" panose="020B0609020204030204" pitchFamily="49" charset="0"/>
              </a:rPr>
              <a:t>att</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fsolve</a:t>
            </a:r>
            <a:r>
              <a:rPr lang="en-US" altLang="zh-CN" b="0" dirty="0">
                <a:solidFill>
                  <a:srgbClr val="000000"/>
                </a:solidFill>
                <a:effectLst/>
                <a:latin typeface="Consolas" panose="020B0609020204030204" pitchFamily="49" charset="0"/>
              </a:rPr>
              <a:t>(fun,[</a:t>
            </a:r>
            <a:r>
              <a:rPr lang="en-US" altLang="zh-CN" b="0" dirty="0">
                <a:solidFill>
                  <a:srgbClr val="098658"/>
                </a:solidFill>
                <a:effectLst/>
                <a:latin typeface="Consolas" panose="020B0609020204030204" pitchFamily="49" charset="0"/>
              </a:rPr>
              <a:t>pi</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计算结果</a:t>
            </a:r>
            <a:r>
              <a:rPr lang="en-US" altLang="zh-CN" b="0" dirty="0">
                <a:solidFill>
                  <a:srgbClr val="A31515"/>
                </a:solidFill>
                <a:effectLst/>
                <a:latin typeface="Consolas" panose="020B0609020204030204" pitchFamily="49" charset="0"/>
              </a:rPr>
              <a:t>: </a:t>
            </a:r>
            <a:r>
              <a:rPr lang="en-US" altLang="zh-CN" b="0" dirty="0" err="1">
                <a:solidFill>
                  <a:srgbClr val="A31515"/>
                </a:solidFill>
                <a:effectLst/>
                <a:latin typeface="Consolas" panose="020B0609020204030204" pitchFamily="49" charset="0"/>
              </a:rPr>
              <a:t>att</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att.x</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目标函数值</a:t>
            </a:r>
            <a:r>
              <a:rPr lang="en-US" altLang="zh-CN" b="0" dirty="0">
                <a:solidFill>
                  <a:srgbClr val="A31515"/>
                </a:solidFill>
                <a:effectLst/>
                <a:latin typeface="Consolas" panose="020B0609020204030204" pitchFamily="49" charset="0"/>
              </a:rPr>
              <a:t>: f(x)="</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att.fun</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scatter</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360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160</a:t>
            </a:r>
            <a:r>
              <a:rPr lang="en-US" altLang="zh-CN" b="0" dirty="0">
                <a:solidFill>
                  <a:srgbClr val="000000"/>
                </a:solidFill>
                <a:effectLst/>
                <a:latin typeface="Consolas" panose="020B0609020204030204" pitchFamily="49" charset="0"/>
              </a:rPr>
              <a:t>,filled=</a:t>
            </a:r>
            <a:r>
              <a:rPr lang="en-US" altLang="zh-CN" b="0" dirty="0">
                <a:solidFill>
                  <a:srgbClr val="0000FF"/>
                </a:solidFill>
                <a:effectLst/>
                <a:latin typeface="Consolas" panose="020B0609020204030204" pitchFamily="49" charset="0"/>
              </a:rPr>
              <a:t>true</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绘制目标散点图</a:t>
            </a:r>
            <a:endParaRPr lang="zh-CN" altLang="en-US" b="0" dirty="0">
              <a:solidFill>
                <a:srgbClr val="000000"/>
              </a:solidFill>
              <a:effectLst/>
              <a:latin typeface="Consolas" panose="020B0609020204030204" pitchFamily="49" charset="0"/>
            </a:endParaRPr>
          </a:p>
          <a:p>
            <a:r>
              <a:rPr lang="en-US" altLang="zh-CN" b="0" dirty="0">
                <a:solidFill>
                  <a:srgbClr val="795E26"/>
                </a:solidFill>
                <a:effectLst/>
                <a:latin typeface="Consolas" panose="020B0609020204030204" pitchFamily="49" charset="0"/>
              </a:rPr>
              <a:t>text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360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160</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目标</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图中标注目标</a:t>
            </a:r>
            <a:endParaRPr lang="zh-CN" altLang="en-US" b="0" dirty="0">
              <a:solidFill>
                <a:srgbClr val="000000"/>
              </a:solidFill>
              <a:effectLst/>
              <a:latin typeface="Consolas" panose="020B0609020204030204" pitchFamily="49" charset="0"/>
            </a:endParaRPr>
          </a:p>
          <a:p>
            <a:r>
              <a:rPr lang="en-US" altLang="zh-CN" b="0" dirty="0">
                <a:solidFill>
                  <a:srgbClr val="795E26"/>
                </a:solidFill>
                <a:effectLst/>
                <a:latin typeface="Consolas" panose="020B0609020204030204" pitchFamily="49" charset="0"/>
              </a:rPr>
              <a:t>hold</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"on"</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叠加图</a:t>
            </a:r>
            <a:endParaRPr lang="zh-CN" altLang="en-US" b="0" dirty="0">
              <a:solidFill>
                <a:srgbClr val="000000"/>
              </a:solidFill>
              <a:effectLst/>
              <a:latin typeface="Consolas" panose="020B0609020204030204" pitchFamily="49" charset="0"/>
            </a:endParaRPr>
          </a:p>
          <a:p>
            <a:r>
              <a:rPr lang="en-US" altLang="zh-CN" b="0" dirty="0">
                <a:solidFill>
                  <a:srgbClr val="795E26"/>
                </a:solidFill>
                <a:effectLst/>
                <a:latin typeface="Consolas" panose="020B0609020204030204" pitchFamily="49" charset="0"/>
              </a:rPr>
              <a:t>axis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400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200</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设置坐标的区间</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0.01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2.012</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击中目标时间</a:t>
            </a:r>
            <a:r>
              <a:rPr lang="en-US" altLang="zh-CN" b="0" dirty="0">
                <a:solidFill>
                  <a:srgbClr val="008000"/>
                </a:solidFill>
                <a:effectLst/>
                <a:latin typeface="Consolas" panose="020B0609020204030204" pitchFamily="49" charset="0"/>
              </a:rPr>
              <a:t>2.0121</a:t>
            </a:r>
            <a:r>
              <a:rPr lang="zh-CN" altLang="en-US" b="0" dirty="0">
                <a:solidFill>
                  <a:srgbClr val="008000"/>
                </a:solidFill>
                <a:effectLst/>
                <a:latin typeface="Consolas" panose="020B0609020204030204" pitchFamily="49" charset="0"/>
              </a:rPr>
              <a:t>离散</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x = </a:t>
            </a:r>
            <a:r>
              <a:rPr lang="en-US" altLang="zh-CN" b="0" dirty="0">
                <a:solidFill>
                  <a:srgbClr val="098658"/>
                </a:solidFill>
                <a:effectLst/>
                <a:latin typeface="Consolas" panose="020B0609020204030204" pitchFamily="49" charset="0"/>
              </a:rPr>
              <a:t>200</a:t>
            </a:r>
            <a:r>
              <a:rPr lang="en-US" altLang="zh-CN" b="0" dirty="0">
                <a:solidFill>
                  <a:srgbClr val="000000"/>
                </a:solidFill>
                <a:effectLst/>
                <a:latin typeface="Consolas" panose="020B0609020204030204" pitchFamily="49" charset="0"/>
              </a:rPr>
              <a:t> .* </a:t>
            </a:r>
            <a:r>
              <a:rPr lang="en-US" altLang="zh-CN" b="0" dirty="0">
                <a:solidFill>
                  <a:srgbClr val="795E26"/>
                </a:solidFill>
                <a:effectLst/>
                <a:latin typeface="Consolas" panose="020B0609020204030204" pitchFamily="49" charset="0"/>
              </a:rPr>
              <a:t>cos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0.46333429167857554</a:t>
            </a:r>
            <a:r>
              <a:rPr lang="en-US" altLang="zh-CN" b="0" dirty="0">
                <a:solidFill>
                  <a:srgbClr val="000000"/>
                </a:solidFill>
                <a:effectLst/>
                <a:latin typeface="Consolas" panose="020B0609020204030204" pitchFamily="49" charset="0"/>
              </a:rPr>
              <a:t>).*t </a:t>
            </a:r>
          </a:p>
          <a:p>
            <a:r>
              <a:rPr lang="en-US" altLang="zh-CN" b="0" dirty="0">
                <a:solidFill>
                  <a:srgbClr val="000000"/>
                </a:solidFill>
                <a:effectLst/>
                <a:latin typeface="Consolas" panose="020B0609020204030204" pitchFamily="49" charset="0"/>
              </a:rPr>
              <a:t>y = </a:t>
            </a:r>
            <a:r>
              <a:rPr lang="en-US" altLang="zh-CN" b="0" dirty="0">
                <a:solidFill>
                  <a:srgbClr val="098658"/>
                </a:solidFill>
                <a:effectLst/>
                <a:latin typeface="Consolas" panose="020B0609020204030204" pitchFamily="49" charset="0"/>
              </a:rPr>
              <a:t>200</a:t>
            </a:r>
            <a:r>
              <a:rPr lang="en-US" altLang="zh-CN" b="0" dirty="0">
                <a:solidFill>
                  <a:srgbClr val="000000"/>
                </a:solidFill>
                <a:effectLst/>
                <a:latin typeface="Consolas" panose="020B0609020204030204" pitchFamily="49" charset="0"/>
              </a:rPr>
              <a:t> .* </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0.46333429167857554</a:t>
            </a:r>
            <a:r>
              <a:rPr lang="en-US" altLang="zh-CN" b="0" dirty="0">
                <a:solidFill>
                  <a:srgbClr val="000000"/>
                </a:solidFill>
                <a:effectLst/>
                <a:latin typeface="Consolas" panose="020B0609020204030204" pitchFamily="49" charset="0"/>
              </a:rPr>
              <a:t>).*t .-</a:t>
            </a:r>
            <a:r>
              <a:rPr lang="en-US" altLang="zh-CN" b="0" dirty="0">
                <a:solidFill>
                  <a:srgbClr val="098658"/>
                </a:solidFill>
                <a:effectLst/>
                <a:latin typeface="Consolas" panose="020B0609020204030204" pitchFamily="49" charset="0"/>
              </a:rPr>
              <a:t>4.905</a:t>
            </a:r>
            <a:r>
              <a:rPr lang="en-US" altLang="zh-CN" b="0" dirty="0">
                <a:solidFill>
                  <a:srgbClr val="000000"/>
                </a:solidFill>
                <a:effectLst/>
                <a:latin typeface="Consolas" panose="020B0609020204030204" pitchFamily="49" charset="0"/>
              </a:rPr>
              <a:t> .*t.^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p>
          <a:p>
            <a:r>
              <a:rPr lang="en-US" altLang="zh-CN" b="0" dirty="0" err="1">
                <a:solidFill>
                  <a:srgbClr val="795E26"/>
                </a:solidFill>
                <a:effectLst/>
                <a:latin typeface="Consolas" panose="020B0609020204030204" pitchFamily="49" charset="0"/>
              </a:rPr>
              <a:t>xlabel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炮弹水平飞行位置，</a:t>
            </a:r>
            <a:r>
              <a:rPr lang="en-US" altLang="zh-CN" b="0" dirty="0">
                <a:solidFill>
                  <a:srgbClr val="A31515"/>
                </a:solidFill>
                <a:effectLst/>
                <a:latin typeface="Consolas" panose="020B0609020204030204" pitchFamily="49" charset="0"/>
              </a:rPr>
              <a:t>m"</a:t>
            </a:r>
            <a:r>
              <a:rPr lang="en-US" altLang="zh-CN" b="0" dirty="0">
                <a:solidFill>
                  <a:srgbClr val="000000"/>
                </a:solidFill>
                <a:effectLst/>
                <a:latin typeface="Consolas" panose="020B0609020204030204" pitchFamily="49" charset="0"/>
              </a:rPr>
              <a:t>)</a:t>
            </a:r>
          </a:p>
          <a:p>
            <a:r>
              <a:rPr lang="en-US" altLang="zh-CN" b="0" dirty="0" err="1">
                <a:solidFill>
                  <a:srgbClr val="795E26"/>
                </a:solidFill>
                <a:effectLst/>
                <a:latin typeface="Consolas" panose="020B0609020204030204" pitchFamily="49" charset="0"/>
              </a:rPr>
              <a:t>ylabel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炮弹垂直飞行位置，</a:t>
            </a:r>
            <a:r>
              <a:rPr lang="en-US" altLang="zh-CN" b="0" dirty="0">
                <a:solidFill>
                  <a:srgbClr val="A31515"/>
                </a:solidFill>
                <a:effectLst/>
                <a:latin typeface="Consolas" panose="020B0609020204030204" pitchFamily="49" charset="0"/>
              </a:rPr>
              <a:t>m"</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plot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绘制彗星图显示炮弹质点运行轨迹</a:t>
            </a:r>
            <a:endParaRPr lang="zh-CN" altLang="en-US" b="0" dirty="0">
              <a:solidFill>
                <a:srgbClr val="000000"/>
              </a:solidFill>
              <a:effectLst/>
              <a:latin typeface="Consolas" panose="020B0609020204030204" pitchFamily="49" charset="0"/>
            </a:endParaRPr>
          </a:p>
          <a:p>
            <a:br>
              <a:rPr lang="zh-CN" altLang="en-US" b="0" dirty="0">
                <a:solidFill>
                  <a:srgbClr val="000000"/>
                </a:solidFill>
                <a:effectLst/>
                <a:latin typeface="Consolas" panose="020B0609020204030204" pitchFamily="49" charset="0"/>
              </a:rPr>
            </a:br>
            <a:endParaRPr lang="zh-CN" altLang="en-US" b="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pPr>
              <a:defRPr/>
            </a:pPr>
            <a:fld id="{EAF5D7B6-9300-482A-AC6E-3BA105FED359}" type="slidenum">
              <a:rPr lang="zh-CN" altLang="en-US" smtClean="0"/>
              <a:t>60</a:t>
            </a:fld>
            <a:endParaRPr lang="zh-CN" altLang="en-US"/>
          </a:p>
        </p:txBody>
      </p:sp>
    </p:spTree>
    <p:extLst>
      <p:ext uri="{BB962C8B-B14F-4D97-AF65-F5344CB8AC3E}">
        <p14:creationId xmlns:p14="http://schemas.microsoft.com/office/powerpoint/2010/main" val="6589545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solidFill>
                  <a:srgbClr val="0000FF"/>
                </a:solidFill>
                <a:effectLst/>
                <a:latin typeface="Consolas" panose="020B0609020204030204" pitchFamily="49" charset="0"/>
              </a:rPr>
              <a:t>function</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fun</a:t>
            </a:r>
            <a:r>
              <a:rPr lang="en-US" altLang="zh-CN" b="0" dirty="0">
                <a:solidFill>
                  <a:srgbClr val="000000"/>
                </a:solidFill>
                <a:effectLst/>
                <a:latin typeface="Consolas" panose="020B0609020204030204" pitchFamily="49" charset="0"/>
              </a:rPr>
              <a:t>(at)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return</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200</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cos</a:t>
            </a:r>
            <a:r>
              <a:rPr lang="en-US" altLang="zh-CN" b="0" dirty="0">
                <a:solidFill>
                  <a:srgbClr val="000000"/>
                </a:solidFill>
                <a:effectLst/>
                <a:latin typeface="Consolas" panose="020B0609020204030204" pitchFamily="49" charset="0"/>
              </a:rPr>
              <a:t>(at[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360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200</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4.905</a:t>
            </a:r>
            <a:r>
              <a:rPr lang="en-US" altLang="zh-CN" b="0" dirty="0">
                <a:solidFill>
                  <a:srgbClr val="000000"/>
                </a:solidFill>
                <a:effectLst/>
                <a:latin typeface="Consolas" panose="020B0609020204030204" pitchFamily="49" charset="0"/>
              </a:rPr>
              <a:t>*at[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160</a:t>
            </a:r>
            <a:endParaRPr lang="en-US" altLang="zh-CN" b="0" dirty="0">
              <a:solidFill>
                <a:srgbClr val="000000"/>
              </a:solidFill>
              <a:effectLst/>
              <a:latin typeface="Consolas" panose="020B0609020204030204" pitchFamily="49" charset="0"/>
            </a:endParaRPr>
          </a:p>
          <a:p>
            <a:r>
              <a:rPr lang="en-US" altLang="zh-CN" b="0" dirty="0">
                <a:solidFill>
                  <a:srgbClr val="AF00DB"/>
                </a:solidFill>
                <a:effectLst/>
                <a:latin typeface="Consolas" panose="020B0609020204030204" pitchFamily="49" charset="0"/>
              </a:rPr>
              <a:t>end</a:t>
            </a:r>
            <a:endParaRPr lang="en-US" altLang="zh-CN" b="0" dirty="0">
              <a:solidFill>
                <a:srgbClr val="000000"/>
              </a:solidFill>
              <a:effectLst/>
              <a:latin typeface="Consolas" panose="020B0609020204030204" pitchFamily="49" charset="0"/>
            </a:endParaRPr>
          </a:p>
          <a:p>
            <a:r>
              <a:rPr lang="en-US" altLang="zh-CN" b="0" dirty="0" err="1">
                <a:solidFill>
                  <a:srgbClr val="000000"/>
                </a:solidFill>
                <a:effectLst/>
                <a:latin typeface="Consolas" panose="020B0609020204030204" pitchFamily="49" charset="0"/>
              </a:rPr>
              <a:t>att</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fsolve</a:t>
            </a:r>
            <a:r>
              <a:rPr lang="en-US" altLang="zh-CN" b="0" dirty="0">
                <a:solidFill>
                  <a:srgbClr val="000000"/>
                </a:solidFill>
                <a:effectLst/>
                <a:latin typeface="Consolas" panose="020B0609020204030204" pitchFamily="49" charset="0"/>
              </a:rPr>
              <a:t>(fun,[</a:t>
            </a:r>
            <a:r>
              <a:rPr lang="en-US" altLang="zh-CN" b="0" dirty="0">
                <a:solidFill>
                  <a:srgbClr val="098658"/>
                </a:solidFill>
                <a:effectLst/>
                <a:latin typeface="Consolas" panose="020B0609020204030204" pitchFamily="49" charset="0"/>
              </a:rPr>
              <a:t>pi</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计算结果</a:t>
            </a:r>
            <a:r>
              <a:rPr lang="en-US" altLang="zh-CN" b="0" dirty="0">
                <a:solidFill>
                  <a:srgbClr val="A31515"/>
                </a:solidFill>
                <a:effectLst/>
                <a:latin typeface="Consolas" panose="020B0609020204030204" pitchFamily="49" charset="0"/>
              </a:rPr>
              <a:t>: </a:t>
            </a:r>
            <a:r>
              <a:rPr lang="en-US" altLang="zh-CN" b="0" dirty="0" err="1">
                <a:solidFill>
                  <a:srgbClr val="A31515"/>
                </a:solidFill>
                <a:effectLst/>
                <a:latin typeface="Consolas" panose="020B0609020204030204" pitchFamily="49" charset="0"/>
              </a:rPr>
              <a:t>att</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att.x</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目标函数值</a:t>
            </a:r>
            <a:r>
              <a:rPr lang="en-US" altLang="zh-CN" b="0" dirty="0">
                <a:solidFill>
                  <a:srgbClr val="A31515"/>
                </a:solidFill>
                <a:effectLst/>
                <a:latin typeface="Consolas" panose="020B0609020204030204" pitchFamily="49" charset="0"/>
              </a:rPr>
              <a:t>: f(x)="</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att.fun</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scatter</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360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160</a:t>
            </a:r>
            <a:r>
              <a:rPr lang="en-US" altLang="zh-CN" b="0" dirty="0">
                <a:solidFill>
                  <a:srgbClr val="000000"/>
                </a:solidFill>
                <a:effectLst/>
                <a:latin typeface="Consolas" panose="020B0609020204030204" pitchFamily="49" charset="0"/>
              </a:rPr>
              <a:t>,filled=</a:t>
            </a:r>
            <a:r>
              <a:rPr lang="en-US" altLang="zh-CN" b="0" dirty="0">
                <a:solidFill>
                  <a:srgbClr val="0000FF"/>
                </a:solidFill>
                <a:effectLst/>
                <a:latin typeface="Consolas" panose="020B0609020204030204" pitchFamily="49" charset="0"/>
              </a:rPr>
              <a:t>true</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绘制目标散点图</a:t>
            </a:r>
            <a:endParaRPr lang="zh-CN" altLang="en-US" b="0" dirty="0">
              <a:solidFill>
                <a:srgbClr val="000000"/>
              </a:solidFill>
              <a:effectLst/>
              <a:latin typeface="Consolas" panose="020B0609020204030204" pitchFamily="49" charset="0"/>
            </a:endParaRPr>
          </a:p>
          <a:p>
            <a:r>
              <a:rPr lang="en-US" altLang="zh-CN" b="0" dirty="0">
                <a:solidFill>
                  <a:srgbClr val="795E26"/>
                </a:solidFill>
                <a:effectLst/>
                <a:latin typeface="Consolas" panose="020B0609020204030204" pitchFamily="49" charset="0"/>
              </a:rPr>
              <a:t>text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360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160</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目标</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图中标注目标</a:t>
            </a:r>
            <a:endParaRPr lang="zh-CN" altLang="en-US" b="0" dirty="0">
              <a:solidFill>
                <a:srgbClr val="000000"/>
              </a:solidFill>
              <a:effectLst/>
              <a:latin typeface="Consolas" panose="020B0609020204030204" pitchFamily="49" charset="0"/>
            </a:endParaRPr>
          </a:p>
          <a:p>
            <a:r>
              <a:rPr lang="en-US" altLang="zh-CN" b="0" dirty="0">
                <a:solidFill>
                  <a:srgbClr val="795E26"/>
                </a:solidFill>
                <a:effectLst/>
                <a:latin typeface="Consolas" panose="020B0609020204030204" pitchFamily="49" charset="0"/>
              </a:rPr>
              <a:t>box</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"on"</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添加图框</a:t>
            </a:r>
            <a:endParaRPr lang="zh-CN" altLang="en-US" b="0" dirty="0">
              <a:solidFill>
                <a:srgbClr val="000000"/>
              </a:solidFill>
              <a:effectLst/>
              <a:latin typeface="Consolas" panose="020B0609020204030204" pitchFamily="49" charset="0"/>
            </a:endParaRPr>
          </a:p>
          <a:p>
            <a:r>
              <a:rPr lang="en-US" altLang="zh-CN" b="0" dirty="0">
                <a:solidFill>
                  <a:srgbClr val="795E26"/>
                </a:solidFill>
                <a:effectLst/>
                <a:latin typeface="Consolas" panose="020B0609020204030204" pitchFamily="49" charset="0"/>
              </a:rPr>
              <a:t>hold</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"on"</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叠加彗星图</a:t>
            </a:r>
            <a:endParaRPr lang="zh-CN" altLang="en-US" b="0" dirty="0">
              <a:solidFill>
                <a:srgbClr val="000000"/>
              </a:solidFill>
              <a:effectLst/>
              <a:latin typeface="Consolas" panose="020B0609020204030204" pitchFamily="49" charset="0"/>
            </a:endParaRPr>
          </a:p>
          <a:p>
            <a:r>
              <a:rPr lang="en-US" altLang="zh-CN" b="0" dirty="0">
                <a:solidFill>
                  <a:srgbClr val="795E26"/>
                </a:solidFill>
                <a:effectLst/>
                <a:latin typeface="Consolas" panose="020B0609020204030204" pitchFamily="49" charset="0"/>
              </a:rPr>
              <a:t>axis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400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200</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设置坐标的区间</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0.01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击中目标时间</a:t>
            </a:r>
            <a:r>
              <a:rPr lang="en-US" altLang="zh-CN" b="0" dirty="0">
                <a:solidFill>
                  <a:srgbClr val="008000"/>
                </a:solidFill>
                <a:effectLst/>
                <a:latin typeface="Consolas" panose="020B0609020204030204" pitchFamily="49" charset="0"/>
              </a:rPr>
              <a:t>2.0121</a:t>
            </a:r>
            <a:r>
              <a:rPr lang="zh-CN" altLang="en-US" b="0" dirty="0">
                <a:solidFill>
                  <a:srgbClr val="008000"/>
                </a:solidFill>
                <a:effectLst/>
                <a:latin typeface="Consolas" panose="020B0609020204030204" pitchFamily="49" charset="0"/>
              </a:rPr>
              <a:t>离散</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x = </a:t>
            </a:r>
            <a:r>
              <a:rPr lang="en-US" altLang="zh-CN" b="0" dirty="0">
                <a:solidFill>
                  <a:srgbClr val="098658"/>
                </a:solidFill>
                <a:effectLst/>
                <a:latin typeface="Consolas" panose="020B0609020204030204" pitchFamily="49" charset="0"/>
              </a:rPr>
              <a:t>200</a:t>
            </a:r>
            <a:r>
              <a:rPr lang="en-US" altLang="zh-CN" b="0" dirty="0">
                <a:solidFill>
                  <a:srgbClr val="000000"/>
                </a:solidFill>
                <a:effectLst/>
                <a:latin typeface="Consolas" panose="020B0609020204030204" pitchFamily="49" charset="0"/>
              </a:rPr>
              <a:t> .* </a:t>
            </a:r>
            <a:r>
              <a:rPr lang="en-US" altLang="zh-CN" b="0" dirty="0">
                <a:solidFill>
                  <a:srgbClr val="795E26"/>
                </a:solidFill>
                <a:effectLst/>
                <a:latin typeface="Consolas" panose="020B0609020204030204" pitchFamily="49" charset="0"/>
              </a:rPr>
              <a:t>cos</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7.23</a:t>
            </a:r>
            <a:r>
              <a:rPr lang="en-US" altLang="zh-CN" b="0" dirty="0">
                <a:solidFill>
                  <a:srgbClr val="000000"/>
                </a:solidFill>
                <a:effectLst/>
                <a:latin typeface="Consolas" panose="020B0609020204030204" pitchFamily="49" charset="0"/>
              </a:rPr>
              <a:t>).*t;</a:t>
            </a:r>
          </a:p>
          <a:p>
            <a:r>
              <a:rPr lang="en-US" altLang="zh-CN" b="0" dirty="0">
                <a:solidFill>
                  <a:srgbClr val="000000"/>
                </a:solidFill>
                <a:effectLst/>
                <a:latin typeface="Consolas" panose="020B0609020204030204" pitchFamily="49" charset="0"/>
              </a:rPr>
              <a:t>y=</a:t>
            </a:r>
            <a:r>
              <a:rPr lang="en-US" altLang="zh-CN" b="0" dirty="0">
                <a:solidFill>
                  <a:srgbClr val="098658"/>
                </a:solidFill>
                <a:effectLst/>
                <a:latin typeface="Consolas" panose="020B0609020204030204" pitchFamily="49" charset="0"/>
              </a:rPr>
              <a:t>200</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7.23</a:t>
            </a:r>
            <a:r>
              <a:rPr lang="en-US" altLang="zh-CN" b="0" dirty="0">
                <a:solidFill>
                  <a:srgbClr val="000000"/>
                </a:solidFill>
                <a:effectLst/>
                <a:latin typeface="Consolas" panose="020B0609020204030204" pitchFamily="49" charset="0"/>
              </a:rPr>
              <a:t>).*t -</a:t>
            </a:r>
            <a:r>
              <a:rPr lang="en-US" altLang="zh-CN" b="0" dirty="0">
                <a:solidFill>
                  <a:srgbClr val="098658"/>
                </a:solidFill>
                <a:effectLst/>
                <a:latin typeface="Consolas" panose="020B0609020204030204" pitchFamily="49" charset="0"/>
              </a:rPr>
              <a:t>4.905</a:t>
            </a:r>
            <a:r>
              <a:rPr lang="en-US" altLang="zh-CN" b="0" dirty="0">
                <a:solidFill>
                  <a:srgbClr val="000000"/>
                </a:solidFill>
                <a:effectLst/>
                <a:latin typeface="Consolas" panose="020B0609020204030204" pitchFamily="49" charset="0"/>
              </a:rPr>
              <a:t> .*t.^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err="1">
                <a:solidFill>
                  <a:srgbClr val="795E26"/>
                </a:solidFill>
                <a:effectLst/>
                <a:latin typeface="Consolas" panose="020B0609020204030204" pitchFamily="49" charset="0"/>
              </a:rPr>
              <a:t>xlabel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炮弹水平飞行位置，</a:t>
            </a:r>
            <a:r>
              <a:rPr lang="en-US" altLang="zh-CN" b="0" dirty="0">
                <a:solidFill>
                  <a:srgbClr val="A31515"/>
                </a:solidFill>
                <a:effectLst/>
                <a:latin typeface="Consolas" panose="020B0609020204030204" pitchFamily="49" charset="0"/>
              </a:rPr>
              <a:t>m"</a:t>
            </a:r>
            <a:r>
              <a:rPr lang="en-US" altLang="zh-CN" b="0" dirty="0">
                <a:solidFill>
                  <a:srgbClr val="000000"/>
                </a:solidFill>
                <a:effectLst/>
                <a:latin typeface="Consolas" panose="020B0609020204030204" pitchFamily="49" charset="0"/>
              </a:rPr>
              <a:t>)</a:t>
            </a:r>
          </a:p>
          <a:p>
            <a:r>
              <a:rPr lang="en-US" altLang="zh-CN" b="0" dirty="0" err="1">
                <a:solidFill>
                  <a:srgbClr val="795E26"/>
                </a:solidFill>
                <a:effectLst/>
                <a:latin typeface="Consolas" panose="020B0609020204030204" pitchFamily="49" charset="0"/>
              </a:rPr>
              <a:t>ylabel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炮弹垂直飞行位置，</a:t>
            </a:r>
            <a:r>
              <a:rPr lang="en-US" altLang="zh-CN" b="0" dirty="0">
                <a:solidFill>
                  <a:srgbClr val="A31515"/>
                </a:solidFill>
                <a:effectLst/>
                <a:latin typeface="Consolas" panose="020B0609020204030204" pitchFamily="49" charset="0"/>
              </a:rPr>
              <a:t>m"</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plot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绘制彗星图显示炮弹质点运行轨迹</a:t>
            </a:r>
            <a:endParaRPr lang="zh-CN" altLang="en-US" b="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pPr>
              <a:defRPr/>
            </a:pPr>
            <a:fld id="{EAF5D7B6-9300-482A-AC6E-3BA105FED359}" type="slidenum">
              <a:rPr lang="zh-CN" altLang="en-US" smtClean="0"/>
              <a:t>61</a:t>
            </a:fld>
            <a:endParaRPr lang="zh-CN" altLang="en-US"/>
          </a:p>
        </p:txBody>
      </p:sp>
    </p:spTree>
    <p:extLst>
      <p:ext uri="{BB962C8B-B14F-4D97-AF65-F5344CB8AC3E}">
        <p14:creationId xmlns:p14="http://schemas.microsoft.com/office/powerpoint/2010/main" val="17198528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PingFang SC"/>
              </a:rPr>
              <a:t>神经网络的滤波器（</a:t>
            </a:r>
            <a:r>
              <a:rPr lang="en-US" altLang="zh-CN" b="0" i="0" dirty="0">
                <a:solidFill>
                  <a:srgbClr val="333333"/>
                </a:solidFill>
                <a:effectLst/>
                <a:latin typeface="PingFang SC"/>
              </a:rPr>
              <a:t>Filter</a:t>
            </a:r>
            <a:r>
              <a:rPr lang="zh-CN" altLang="en-US" b="0" i="0" dirty="0">
                <a:solidFill>
                  <a:srgbClr val="333333"/>
                </a:solidFill>
                <a:effectLst/>
                <a:latin typeface="PingFang SC"/>
              </a:rPr>
              <a:t>）是卷积神经网络（</a:t>
            </a:r>
            <a:r>
              <a:rPr lang="en-US" altLang="zh-CN" b="0" i="0" dirty="0">
                <a:solidFill>
                  <a:srgbClr val="333333"/>
                </a:solidFill>
                <a:effectLst/>
                <a:latin typeface="PingFang SC"/>
              </a:rPr>
              <a:t>CNN</a:t>
            </a:r>
            <a:r>
              <a:rPr lang="zh-CN" altLang="en-US" b="0" i="0" dirty="0">
                <a:solidFill>
                  <a:srgbClr val="333333"/>
                </a:solidFill>
                <a:effectLst/>
                <a:latin typeface="PingFang SC"/>
              </a:rPr>
              <a:t>）中的核心组件，用于从输入数据中提取局部特征，其本质是包含可学习参数的权重矩阵‌</a:t>
            </a:r>
            <a:endParaRPr lang="en-US" altLang="zh-CN" b="0" i="0" dirty="0">
              <a:solidFill>
                <a:srgbClr val="333333"/>
              </a:solidFill>
              <a:effectLst/>
              <a:latin typeface="PingFang SC"/>
            </a:endParaRPr>
          </a:p>
          <a:p>
            <a:r>
              <a:rPr lang="zh-CN" altLang="en-US" b="0" i="0" dirty="0">
                <a:solidFill>
                  <a:srgbClr val="333333"/>
                </a:solidFill>
                <a:effectLst/>
                <a:latin typeface="PingFang SC"/>
              </a:rPr>
              <a:t>滤波器通过滑动窗口的方式对输入数据（如图像、音频）进行局部区域的加权求和运算，生成特征图（</a:t>
            </a:r>
            <a:r>
              <a:rPr lang="en-US" altLang="zh-CN" b="0" i="0" dirty="0">
                <a:solidFill>
                  <a:srgbClr val="333333"/>
                </a:solidFill>
                <a:effectLst/>
                <a:latin typeface="PingFang SC"/>
              </a:rPr>
              <a:t>Feature Map</a:t>
            </a:r>
            <a:r>
              <a:rPr lang="zh-CN" altLang="en-US" b="0" i="0" dirty="0">
                <a:solidFill>
                  <a:srgbClr val="333333"/>
                </a:solidFill>
                <a:effectLst/>
                <a:latin typeface="PingFang SC"/>
              </a:rPr>
              <a:t>）。这一过程能够自动识别边缘、纹理、颜色等基础特征‌</a:t>
            </a:r>
            <a:r>
              <a:rPr lang="en-US" altLang="zh-CN" b="0" i="0" dirty="0">
                <a:solidFill>
                  <a:srgbClr val="333333"/>
                </a:solidFill>
                <a:effectLst/>
                <a:latin typeface="PingFang SC"/>
              </a:rPr>
              <a:t>46</a:t>
            </a:r>
            <a:r>
              <a:rPr lang="zh-CN" altLang="en-US" b="0" i="0" dirty="0">
                <a:solidFill>
                  <a:srgbClr val="333333"/>
                </a:solidFill>
                <a:effectLst/>
                <a:latin typeface="PingFang SC"/>
              </a:rPr>
              <a:t>。</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63</a:t>
            </a:fld>
            <a:endParaRPr lang="zh-CN" altLang="en-US"/>
          </a:p>
        </p:txBody>
      </p:sp>
    </p:spTree>
    <p:extLst>
      <p:ext uri="{BB962C8B-B14F-4D97-AF65-F5344CB8AC3E}">
        <p14:creationId xmlns:p14="http://schemas.microsoft.com/office/powerpoint/2010/main" val="28306643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卷积神经网络（Convolutional Neural Network，简称CNN）‌ 是一种专门用来处理图像、视频、声音等“类似网格结构数据”的深度学习模型。它的核心思想是模仿人类视觉系统的工作方式，通过层层筛选和提炼信息，最终识别出图像中的特征（比如猫脸、汽车、文字等）</a:t>
            </a: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使用卷积网络实现手写数字识别</a:t>
            </a:r>
            <a:endParaRPr lang="zh-CN" altLang="en-US" b="0" dirty="0">
              <a:solidFill>
                <a:srgbClr val="000000"/>
              </a:solidFill>
              <a:effectLst/>
              <a:latin typeface="Consolas" panose="020B0609020204030204" pitchFamily="49" charset="0"/>
            </a:endParaRP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加载手写数字图片数据集</a:t>
            </a:r>
            <a:r>
              <a:rPr lang="en-US" altLang="zh-CN" b="0" dirty="0">
                <a:solidFill>
                  <a:srgbClr val="008000"/>
                </a:solidFill>
                <a:effectLst/>
                <a:latin typeface="Consolas" panose="020B0609020204030204" pitchFamily="49" charset="0"/>
              </a:rPr>
              <a:t>, </a:t>
            </a:r>
            <a:r>
              <a:rPr lang="zh-CN" altLang="en-US" b="0" dirty="0">
                <a:solidFill>
                  <a:srgbClr val="008000"/>
                </a:solidFill>
                <a:effectLst/>
                <a:latin typeface="Consolas" panose="020B0609020204030204" pitchFamily="49" charset="0"/>
              </a:rPr>
              <a:t>下载链接为手写数字图片数据集</a:t>
            </a:r>
            <a:endParaRPr lang="zh-CN" altLang="en-US" b="0" dirty="0">
              <a:solidFill>
                <a:srgbClr val="000000"/>
              </a:solidFill>
              <a:effectLst/>
              <a:latin typeface="Consolas" panose="020B0609020204030204" pitchFamily="49" charset="0"/>
            </a:endParaRPr>
          </a:p>
          <a:p>
            <a:r>
              <a:rPr lang="en-US" altLang="zh-CN" b="0" dirty="0">
                <a:solidFill>
                  <a:srgbClr val="AF00DB"/>
                </a:solidFill>
                <a:effectLst/>
                <a:latin typeface="Consolas" panose="020B0609020204030204" pitchFamily="49" charset="0"/>
              </a:rPr>
              <a:t>using</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TyDeepLearning</a:t>
            </a:r>
            <a:endParaRPr lang="en-US" altLang="zh-CN" b="0" dirty="0">
              <a:solidFill>
                <a:srgbClr val="000000"/>
              </a:solidFill>
              <a:effectLst/>
              <a:latin typeface="Consolas" panose="020B0609020204030204" pitchFamily="49" charset="0"/>
            </a:endParaRPr>
          </a:p>
          <a:p>
            <a:r>
              <a:rPr lang="en-US" altLang="zh-CN" b="0" dirty="0">
                <a:solidFill>
                  <a:srgbClr val="AF00DB"/>
                </a:solidFill>
                <a:effectLst/>
                <a:latin typeface="Consolas" panose="020B0609020204030204" pitchFamily="49" charset="0"/>
              </a:rPr>
              <a:t>using</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TyMath</a:t>
            </a:r>
            <a:endParaRPr lang="en-US" altLang="zh-CN" b="0" dirty="0">
              <a:solidFill>
                <a:srgbClr val="000000"/>
              </a:solidFill>
              <a:effectLst/>
              <a:latin typeface="Consolas" panose="020B0609020204030204" pitchFamily="49" charset="0"/>
            </a:endParaRPr>
          </a:p>
          <a:p>
            <a:r>
              <a:rPr lang="en-US" altLang="zh-CN" b="0" dirty="0">
                <a:solidFill>
                  <a:srgbClr val="AF00DB"/>
                </a:solidFill>
                <a:effectLst/>
                <a:latin typeface="Consolas" panose="020B0609020204030204" pitchFamily="49" charset="0"/>
              </a:rPr>
              <a:t>using</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TyPlot</a:t>
            </a:r>
            <a:endParaRPr lang="en-US" altLang="zh-CN" b="0" dirty="0">
              <a:solidFill>
                <a:srgbClr val="000000"/>
              </a:solidFill>
              <a:effectLst/>
              <a:latin typeface="Consolas" panose="020B0609020204030204" pitchFamily="49" charset="0"/>
            </a:endParaRPr>
          </a:p>
          <a:p>
            <a:r>
              <a:rPr lang="en-US" altLang="zh-CN" b="0" dirty="0">
                <a:solidFill>
                  <a:srgbClr val="AF00DB"/>
                </a:solidFill>
                <a:effectLst/>
                <a:latin typeface="Consolas" panose="020B0609020204030204" pitchFamily="49" charset="0"/>
              </a:rPr>
              <a:t>using</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TyImages</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file = </a:t>
            </a:r>
            <a:r>
              <a:rPr lang="en-US" altLang="zh-CN" b="0" dirty="0">
                <a:solidFill>
                  <a:srgbClr val="A31515"/>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DigitDataset</a:t>
            </a:r>
            <a:r>
              <a:rPr lang="en-US" altLang="zh-CN" b="0" dirty="0">
                <a:solidFill>
                  <a:srgbClr val="A31515"/>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en-US" altLang="zh-CN" b="0" dirty="0" err="1">
                <a:solidFill>
                  <a:srgbClr val="000000"/>
                </a:solidFill>
                <a:effectLst/>
                <a:latin typeface="Consolas" panose="020B0609020204030204" pitchFamily="49" charset="0"/>
              </a:rPr>
              <a:t>XTrain</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YTrain</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DigitDatasetTrainData</a:t>
            </a:r>
            <a:r>
              <a:rPr lang="en-US" altLang="zh-CN" b="0" dirty="0">
                <a:solidFill>
                  <a:srgbClr val="000000"/>
                </a:solidFill>
                <a:effectLst/>
                <a:latin typeface="Consolas" panose="020B0609020204030204" pitchFamily="49" charset="0"/>
              </a:rPr>
              <a:t>(file)</a:t>
            </a: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显示数据存储中的部分图像。</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p = </a:t>
            </a:r>
            <a:r>
              <a:rPr lang="en-US" altLang="zh-CN" b="0" dirty="0" err="1">
                <a:solidFill>
                  <a:srgbClr val="795E26"/>
                </a:solidFill>
                <a:effectLst/>
                <a:latin typeface="Consolas" panose="020B0609020204030204" pitchFamily="49" charset="0"/>
              </a:rPr>
              <a:t>randperm</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5000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index = p[</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20</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figure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in </a:t>
            </a:r>
            <a:r>
              <a:rPr lang="en-US" altLang="zh-CN" b="0" dirty="0" err="1">
                <a:solidFill>
                  <a:srgbClr val="795E26"/>
                </a:solidFill>
                <a:effectLst/>
                <a:latin typeface="Consolas" panose="020B0609020204030204" pitchFamily="49" charset="0"/>
              </a:rPr>
              <a:t>eachindex</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range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20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subplot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imshow</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XTrain</a:t>
            </a:r>
            <a:r>
              <a:rPr lang="en-US" altLang="zh-CN" b="0" dirty="0">
                <a:solidFill>
                  <a:srgbClr val="000000"/>
                </a:solidFill>
                <a:effectLst/>
                <a:latin typeface="Consolas" panose="020B0609020204030204" pitchFamily="49" charset="0"/>
              </a:rPr>
              <a:t>[index[</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p>
          <a:p>
            <a:r>
              <a:rPr lang="en-US" altLang="zh-CN" b="0" dirty="0">
                <a:solidFill>
                  <a:srgbClr val="AF00DB"/>
                </a:solidFill>
                <a:effectLst/>
                <a:latin typeface="Consolas" panose="020B0609020204030204" pitchFamily="49" charset="0"/>
              </a:rPr>
              <a:t>end</a:t>
            </a:r>
            <a:endParaRPr lang="en-US" altLang="zh-CN" b="0" dirty="0">
              <a:solidFill>
                <a:srgbClr val="000000"/>
              </a:solidFill>
              <a:effectLst/>
              <a:latin typeface="Consolas" panose="020B0609020204030204" pitchFamily="49" charset="0"/>
            </a:endParaRP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指定训练集和验证集</a:t>
            </a:r>
            <a:endParaRPr lang="zh-CN" altLang="en-US" b="0" dirty="0">
              <a:solidFill>
                <a:srgbClr val="000000"/>
              </a:solidFill>
              <a:effectLst/>
              <a:latin typeface="Consolas" panose="020B0609020204030204" pitchFamily="49" charset="0"/>
            </a:endParaRP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将数据划分为训练数据集和验证数据集，以使训练集中的每个类别包含 </a:t>
            </a:r>
            <a:r>
              <a:rPr lang="en-US" altLang="zh-CN" b="0" dirty="0">
                <a:solidFill>
                  <a:srgbClr val="008000"/>
                </a:solidFill>
                <a:effectLst/>
                <a:latin typeface="Consolas" panose="020B0609020204030204" pitchFamily="49" charset="0"/>
              </a:rPr>
              <a:t>750 </a:t>
            </a:r>
            <a:r>
              <a:rPr lang="zh-CN" altLang="en-US" b="0" dirty="0">
                <a:solidFill>
                  <a:srgbClr val="008000"/>
                </a:solidFill>
                <a:effectLst/>
                <a:latin typeface="Consolas" panose="020B0609020204030204" pitchFamily="49" charset="0"/>
              </a:rPr>
              <a:t>个图像，并且验证集包含对应每个标签的其余图像。</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index1 = p[</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750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index2 = p[</a:t>
            </a:r>
            <a:r>
              <a:rPr lang="en-US" altLang="zh-CN" b="0" dirty="0">
                <a:solidFill>
                  <a:srgbClr val="098658"/>
                </a:solidFill>
                <a:effectLst/>
                <a:latin typeface="Consolas" panose="020B0609020204030204" pitchFamily="49" charset="0"/>
              </a:rPr>
              <a:t>751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end</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X_train</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XTrain</a:t>
            </a:r>
            <a:r>
              <a:rPr lang="en-US" altLang="zh-CN" b="0" dirty="0">
                <a:solidFill>
                  <a:srgbClr val="000000"/>
                </a:solidFill>
                <a:effectLst/>
                <a:latin typeface="Consolas" panose="020B0609020204030204" pitchFamily="49" charset="0"/>
              </a:rPr>
              <a:t>[index2, :, :, :]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训练集</a:t>
            </a:r>
            <a:endParaRPr lang="zh-CN" altLang="en-US" b="0" dirty="0">
              <a:solidFill>
                <a:srgbClr val="000000"/>
              </a:solidFill>
              <a:effectLst/>
              <a:latin typeface="Consolas" panose="020B0609020204030204" pitchFamily="49" charset="0"/>
            </a:endParaRPr>
          </a:p>
          <a:p>
            <a:r>
              <a:rPr lang="en-US" altLang="zh-CN" b="0" dirty="0" err="1">
                <a:solidFill>
                  <a:srgbClr val="000000"/>
                </a:solidFill>
                <a:effectLst/>
                <a:latin typeface="Consolas" panose="020B0609020204030204" pitchFamily="49" charset="0"/>
              </a:rPr>
              <a:t>Y_train</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YTrain</a:t>
            </a:r>
            <a:r>
              <a:rPr lang="en-US" altLang="zh-CN" b="0" dirty="0">
                <a:solidFill>
                  <a:srgbClr val="000000"/>
                </a:solidFill>
                <a:effectLst/>
                <a:latin typeface="Consolas" panose="020B0609020204030204" pitchFamily="49" charset="0"/>
              </a:rPr>
              <a:t>[index2]</a:t>
            </a:r>
          </a:p>
          <a:p>
            <a:r>
              <a:rPr lang="en-US" altLang="zh-CN" b="0" dirty="0" err="1">
                <a:solidFill>
                  <a:srgbClr val="000000"/>
                </a:solidFill>
                <a:effectLst/>
                <a:latin typeface="Consolas" panose="020B0609020204030204" pitchFamily="49" charset="0"/>
              </a:rPr>
              <a:t>X_Test</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XTrain</a:t>
            </a:r>
            <a:r>
              <a:rPr lang="en-US" altLang="zh-CN" b="0" dirty="0">
                <a:solidFill>
                  <a:srgbClr val="000000"/>
                </a:solidFill>
                <a:effectLst/>
                <a:latin typeface="Consolas" panose="020B0609020204030204" pitchFamily="49" charset="0"/>
              </a:rPr>
              <a:t>[index1, :, :,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验证集</a:t>
            </a:r>
            <a:endParaRPr lang="zh-CN" altLang="en-US" b="0" dirty="0">
              <a:solidFill>
                <a:srgbClr val="000000"/>
              </a:solidFill>
              <a:effectLst/>
              <a:latin typeface="Consolas" panose="020B0609020204030204" pitchFamily="49" charset="0"/>
            </a:endParaRPr>
          </a:p>
          <a:p>
            <a:r>
              <a:rPr lang="en-US" altLang="zh-CN" b="0" dirty="0" err="1">
                <a:solidFill>
                  <a:srgbClr val="000000"/>
                </a:solidFill>
                <a:effectLst/>
                <a:latin typeface="Consolas" panose="020B0609020204030204" pitchFamily="49" charset="0"/>
              </a:rPr>
              <a:t>Y_Test</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YTrain</a:t>
            </a:r>
            <a:r>
              <a:rPr lang="en-US" altLang="zh-CN" b="0" dirty="0">
                <a:solidFill>
                  <a:srgbClr val="000000"/>
                </a:solidFill>
                <a:effectLst/>
                <a:latin typeface="Consolas" panose="020B0609020204030204" pitchFamily="49" charset="0"/>
              </a:rPr>
              <a:t>[index1]</a:t>
            </a: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定义神经网络架构</a:t>
            </a:r>
            <a:endParaRPr lang="zh-CN" altLang="en-US" b="0" dirty="0">
              <a:solidFill>
                <a:srgbClr val="000000"/>
              </a:solidFill>
              <a:effectLst/>
              <a:latin typeface="Consolas" panose="020B0609020204030204" pitchFamily="49" charset="0"/>
            </a:endParaRP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定义卷积神经网络架构。</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layers = </a:t>
            </a:r>
            <a:r>
              <a:rPr lang="en-US" altLang="zh-CN" b="0" dirty="0" err="1">
                <a:solidFill>
                  <a:srgbClr val="795E26"/>
                </a:solidFill>
                <a:effectLst/>
                <a:latin typeface="Consolas" panose="020B0609020204030204" pitchFamily="49" charset="0"/>
              </a:rPr>
              <a:t>SequentialCell</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convolution2dLayer</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20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reluLayer</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maxPooling2dLayer</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Stride=</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flattenLayer</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fullyConnectedLayer</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20</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14</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14</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softmaxLayer</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指定训练选项</a:t>
            </a:r>
            <a:endParaRPr lang="zh-CN" altLang="en-US" b="0" dirty="0">
              <a:solidFill>
                <a:srgbClr val="000000"/>
              </a:solidFill>
              <a:effectLst/>
              <a:latin typeface="Consolas" panose="020B0609020204030204" pitchFamily="49" charset="0"/>
            </a:endParaRP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定义网络结构体后，指定训练选项。使用具有动量的随机梯度下降 （</a:t>
            </a:r>
            <a:r>
              <a:rPr lang="en-US" altLang="zh-CN" b="0" dirty="0">
                <a:solidFill>
                  <a:srgbClr val="008000"/>
                </a:solidFill>
                <a:effectLst/>
                <a:latin typeface="Consolas" panose="020B0609020204030204" pitchFamily="49" charset="0"/>
              </a:rPr>
              <a:t>SGDM</a:t>
            </a:r>
            <a:r>
              <a:rPr lang="zh-CN" altLang="en-US" b="0" dirty="0">
                <a:solidFill>
                  <a:srgbClr val="008000"/>
                </a:solidFill>
                <a:effectLst/>
                <a:latin typeface="Consolas" panose="020B0609020204030204" pitchFamily="49" charset="0"/>
              </a:rPr>
              <a:t>） 训练网络，初始学习率为 </a:t>
            </a:r>
            <a:r>
              <a:rPr lang="en-US" altLang="zh-CN" b="0" dirty="0">
                <a:solidFill>
                  <a:srgbClr val="008000"/>
                </a:solidFill>
                <a:effectLst/>
                <a:latin typeface="Consolas" panose="020B0609020204030204" pitchFamily="49" charset="0"/>
              </a:rPr>
              <a:t>0.01</a:t>
            </a:r>
            <a:r>
              <a:rPr lang="zh-CN" altLang="en-US" b="0" dirty="0">
                <a:solidFill>
                  <a:srgbClr val="008000"/>
                </a:solidFill>
                <a:effectLst/>
                <a:latin typeface="Consolas" panose="020B0609020204030204" pitchFamily="49" charset="0"/>
              </a:rPr>
              <a:t>。将最大训练轮数设置为 </a:t>
            </a:r>
            <a:r>
              <a:rPr lang="en-US" altLang="zh-CN" b="0" dirty="0">
                <a:solidFill>
                  <a:srgbClr val="008000"/>
                </a:solidFill>
                <a:effectLst/>
                <a:latin typeface="Consolas" panose="020B0609020204030204" pitchFamily="49" charset="0"/>
              </a:rPr>
              <a:t>50</a:t>
            </a:r>
            <a:r>
              <a:rPr lang="zh-CN" altLang="en-US" b="0" dirty="0">
                <a:solidFill>
                  <a:srgbClr val="008000"/>
                </a:solidFill>
                <a:effectLst/>
                <a:latin typeface="Consolas" panose="020B0609020204030204" pitchFamily="49" charset="0"/>
              </a:rPr>
              <a:t>。一轮训练是对整个训练数据集的一个完整训练周期。通过指定验证数据和验证频率，监控训练过程中的网络准确度。</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options = </a:t>
            </a:r>
            <a:r>
              <a:rPr lang="en-US" altLang="zh-CN" b="0" dirty="0" err="1">
                <a:solidFill>
                  <a:srgbClr val="795E26"/>
                </a:solidFill>
                <a:effectLst/>
                <a:latin typeface="Consolas" panose="020B0609020204030204" pitchFamily="49" charset="0"/>
              </a:rPr>
              <a:t>trainingOptions</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31515"/>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CrossEntropyLoss</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r>
              <a:rPr lang="en-US" altLang="zh-CN" b="0" dirty="0">
                <a:solidFill>
                  <a:srgbClr val="A31515"/>
                </a:solidFill>
                <a:effectLst/>
                <a:latin typeface="Consolas" panose="020B0609020204030204" pitchFamily="49" charset="0"/>
              </a:rPr>
              <a:t>"Momentum"</a:t>
            </a:r>
            <a:r>
              <a:rPr lang="en-US" altLang="zh-CN" b="0" dirty="0">
                <a:solidFill>
                  <a:srgbClr val="000000"/>
                </a:solidFill>
                <a:effectLst/>
                <a:latin typeface="Consolas" panose="020B0609020204030204" pitchFamily="49" charset="0"/>
              </a:rPr>
              <a:t>, </a:t>
            </a:r>
            <a:r>
              <a:rPr lang="en-US" altLang="zh-CN" b="0" dirty="0">
                <a:solidFill>
                  <a:srgbClr val="A31515"/>
                </a:solidFill>
                <a:effectLst/>
                <a:latin typeface="Consolas" panose="020B0609020204030204" pitchFamily="49" charset="0"/>
              </a:rPr>
              <a:t>"Accuracy"</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128</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50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0.001</a:t>
            </a:r>
            <a:r>
              <a:rPr lang="en-US" altLang="zh-CN" b="0" dirty="0">
                <a:solidFill>
                  <a:srgbClr val="000000"/>
                </a:solidFill>
                <a:effectLst/>
                <a:latin typeface="Consolas" panose="020B0609020204030204" pitchFamily="49" charset="0"/>
              </a:rPr>
              <a:t>; Plots=</a:t>
            </a:r>
            <a:r>
              <a:rPr lang="en-US" altLang="zh-CN" b="0" dirty="0">
                <a:solidFill>
                  <a:srgbClr val="0000FF"/>
                </a:solidFill>
                <a:effectLst/>
                <a:latin typeface="Consolas" panose="020B0609020204030204" pitchFamily="49" charset="0"/>
              </a:rPr>
              <a:t>true</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a:t>
            </a: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使用训练数据训练神经网络</a:t>
            </a:r>
            <a:endParaRPr lang="zh-CN" altLang="en-US" b="0" dirty="0">
              <a:solidFill>
                <a:srgbClr val="000000"/>
              </a:solidFill>
              <a:effectLst/>
              <a:latin typeface="Consolas" panose="020B0609020204030204" pitchFamily="49" charset="0"/>
            </a:endParaRP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训练进度图显示了小批量损失和准确度以及验证损失和准确度。损失是交叉熵损失。准确度是网络分类正确的图像的百分比。</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net = </a:t>
            </a:r>
            <a:r>
              <a:rPr lang="en-US" altLang="zh-CN" b="0" dirty="0" err="1">
                <a:solidFill>
                  <a:srgbClr val="795E26"/>
                </a:solidFill>
                <a:effectLst/>
                <a:latin typeface="Consolas" panose="020B0609020204030204" pitchFamily="49" charset="0"/>
              </a:rPr>
              <a:t>trainNetwork</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X_train</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Y_train</a:t>
            </a:r>
            <a:r>
              <a:rPr lang="en-US" altLang="zh-CN" b="0" dirty="0">
                <a:solidFill>
                  <a:srgbClr val="000000"/>
                </a:solidFill>
                <a:effectLst/>
                <a:latin typeface="Consolas" panose="020B0609020204030204" pitchFamily="49" charset="0"/>
              </a:rPr>
              <a:t>, layers, options)</a:t>
            </a: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模型评估与结果展示</a:t>
            </a:r>
            <a:endParaRPr lang="zh-CN" altLang="en-US" b="0" dirty="0">
              <a:solidFill>
                <a:srgbClr val="000000"/>
              </a:solidFill>
              <a:effectLst/>
              <a:latin typeface="Consolas" panose="020B0609020204030204" pitchFamily="49" charset="0"/>
            </a:endParaRP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使用经过训练的网络预测验证数据的标签，并计算最终验证准确度。准确度是网络预测正确的标签的比例。在本例中，超过 </a:t>
            </a:r>
            <a:r>
              <a:rPr lang="en-US" altLang="zh-CN" b="0" dirty="0">
                <a:solidFill>
                  <a:srgbClr val="008000"/>
                </a:solidFill>
                <a:effectLst/>
                <a:latin typeface="Consolas" panose="020B0609020204030204" pitchFamily="49" charset="0"/>
              </a:rPr>
              <a:t>96% </a:t>
            </a:r>
            <a:r>
              <a:rPr lang="zh-CN" altLang="en-US" b="0" dirty="0">
                <a:solidFill>
                  <a:srgbClr val="008000"/>
                </a:solidFill>
                <a:effectLst/>
                <a:latin typeface="Consolas" panose="020B0609020204030204" pitchFamily="49" charset="0"/>
              </a:rPr>
              <a:t>的预测标签与验证集的真实标签相匹配。</a:t>
            </a:r>
            <a:endParaRPr lang="zh-CN" altLang="en-US" b="0" dirty="0">
              <a:solidFill>
                <a:srgbClr val="000000"/>
              </a:solidFill>
              <a:effectLst/>
              <a:latin typeface="Consolas" panose="020B0609020204030204" pitchFamily="49" charset="0"/>
            </a:endParaRPr>
          </a:p>
          <a:p>
            <a:r>
              <a:rPr lang="en-US" altLang="zh-CN" b="0" dirty="0">
                <a:solidFill>
                  <a:srgbClr val="0000FF"/>
                </a:solidFill>
                <a:effectLst/>
                <a:latin typeface="Consolas" panose="020B0609020204030204" pitchFamily="49" charset="0"/>
              </a:rPr>
              <a:t>function</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preclasses</a:t>
            </a:r>
            <a:r>
              <a:rPr lang="en-US" altLang="zh-CN" b="0" dirty="0">
                <a:solidFill>
                  <a:srgbClr val="000000"/>
                </a:solidFill>
                <a:effectLst/>
                <a:latin typeface="Consolas" panose="020B0609020204030204" pitchFamily="49" charset="0"/>
              </a:rPr>
              <a:t>(prob, classes)</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ypredclasses</a:t>
            </a:r>
            <a:r>
              <a:rPr lang="en-US" altLang="zh-CN" b="0" dirty="0">
                <a:solidFill>
                  <a:srgbClr val="000000"/>
                </a:solidFill>
                <a:effectLst/>
                <a:latin typeface="Consolas" panose="020B0609020204030204" pitchFamily="49" charset="0"/>
              </a:rPr>
              <a:t> = []</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in </a:t>
            </a:r>
            <a:r>
              <a:rPr lang="en-US" altLang="zh-CN" b="0" dirty="0" err="1">
                <a:solidFill>
                  <a:srgbClr val="795E26"/>
                </a:solidFill>
                <a:effectLst/>
                <a:latin typeface="Consolas" panose="020B0609020204030204" pitchFamily="49" charset="0"/>
              </a:rPr>
              <a:t>eachindex</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range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size</a:t>
            </a:r>
            <a:r>
              <a:rPr lang="en-US" altLang="zh-CN" b="0" dirty="0">
                <a:solidFill>
                  <a:srgbClr val="000000"/>
                </a:solidFill>
                <a:effectLst/>
                <a:latin typeface="Consolas" panose="020B0609020204030204" pitchFamily="49" charset="0"/>
              </a:rPr>
              <a:t>(prob)[</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maxindex</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maxnum</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k in </a:t>
            </a:r>
            <a:r>
              <a:rPr lang="en-US" altLang="zh-CN" b="0" dirty="0" err="1">
                <a:solidFill>
                  <a:srgbClr val="795E26"/>
                </a:solidFill>
                <a:effectLst/>
                <a:latin typeface="Consolas" panose="020B0609020204030204" pitchFamily="49" charset="0"/>
              </a:rPr>
              <a:t>eachindex</a:t>
            </a:r>
            <a:r>
              <a:rPr lang="en-US" altLang="zh-CN" b="0" dirty="0">
                <a:solidFill>
                  <a:srgbClr val="000000"/>
                </a:solidFill>
                <a:effectLst/>
                <a:latin typeface="Consolas" panose="020B0609020204030204" pitchFamily="49" charset="0"/>
              </a:rPr>
              <a:t>(classes)</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if</a:t>
            </a:r>
            <a:r>
              <a:rPr lang="en-US" altLang="zh-CN" b="0" dirty="0">
                <a:solidFill>
                  <a:srgbClr val="000000"/>
                </a:solidFill>
                <a:effectLst/>
                <a:latin typeface="Consolas" panose="020B0609020204030204" pitchFamily="49" charset="0"/>
              </a:rPr>
              <a:t> prob[</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:][k] &gt; </a:t>
            </a:r>
            <a:r>
              <a:rPr lang="en-US" altLang="zh-CN" b="0" dirty="0" err="1">
                <a:solidFill>
                  <a:srgbClr val="000000"/>
                </a:solidFill>
                <a:effectLst/>
                <a:latin typeface="Consolas" panose="020B0609020204030204" pitchFamily="49" charset="0"/>
              </a:rPr>
              <a:t>maxnum</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maxnum</a:t>
            </a:r>
            <a:r>
              <a:rPr lang="en-US" altLang="zh-CN" b="0" dirty="0">
                <a:solidFill>
                  <a:srgbClr val="000000"/>
                </a:solidFill>
                <a:effectLst/>
                <a:latin typeface="Consolas" panose="020B0609020204030204" pitchFamily="49" charset="0"/>
              </a:rPr>
              <a:t> = prob[</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:][k]</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maxindex</a:t>
            </a:r>
            <a:r>
              <a:rPr lang="en-US" altLang="zh-CN" b="0" dirty="0">
                <a:solidFill>
                  <a:srgbClr val="000000"/>
                </a:solidFill>
                <a:effectLst/>
                <a:latin typeface="Consolas" panose="020B0609020204030204" pitchFamily="49" charset="0"/>
              </a:rPr>
              <a:t> = k</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end</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end</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ypredclasses</a:t>
            </a:r>
            <a:r>
              <a:rPr lang="en-US" altLang="zh-CN" b="0" dirty="0">
                <a:solidFill>
                  <a:srgbClr val="000000"/>
                </a:solidFill>
                <a:effectLst/>
                <a:latin typeface="Consolas" panose="020B0609020204030204" pitchFamily="49" charset="0"/>
              </a:rPr>
              <a:t> = </a:t>
            </a:r>
            <a:r>
              <a:rPr lang="en-US" altLang="zh-CN" b="0" dirty="0">
                <a:solidFill>
                  <a:srgbClr val="795E26"/>
                </a:solidFill>
                <a:effectLst/>
                <a:latin typeface="Consolas" panose="020B0609020204030204" pitchFamily="49" charset="0"/>
              </a:rPr>
              <a:t>append!</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ypredclasses</a:t>
            </a:r>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unique</a:t>
            </a:r>
            <a:r>
              <a:rPr lang="en-US" altLang="zh-CN" b="0" dirty="0">
                <a:solidFill>
                  <a:srgbClr val="000000"/>
                </a:solidFill>
                <a:effectLst/>
                <a:latin typeface="Consolas" panose="020B0609020204030204" pitchFamily="49" charset="0"/>
              </a:rPr>
              <a:t>(classes)[</a:t>
            </a:r>
            <a:r>
              <a:rPr lang="en-US" altLang="zh-CN" b="0" dirty="0" err="1">
                <a:solidFill>
                  <a:srgbClr val="000000"/>
                </a:solidFill>
                <a:effectLst/>
                <a:latin typeface="Consolas" panose="020B0609020204030204" pitchFamily="49" charset="0"/>
              </a:rPr>
              <a:t>maxindex</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end</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return</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ypredclasses</a:t>
            </a:r>
            <a:endParaRPr lang="en-US" altLang="zh-CN" b="0" dirty="0">
              <a:solidFill>
                <a:srgbClr val="000000"/>
              </a:solidFill>
              <a:effectLst/>
              <a:latin typeface="Consolas" panose="020B0609020204030204" pitchFamily="49" charset="0"/>
            </a:endParaRPr>
          </a:p>
          <a:p>
            <a:r>
              <a:rPr lang="en-US" altLang="zh-CN" b="0" dirty="0">
                <a:solidFill>
                  <a:srgbClr val="AF00DB"/>
                </a:solidFill>
                <a:effectLst/>
                <a:latin typeface="Consolas" panose="020B0609020204030204" pitchFamily="49" charset="0"/>
              </a:rPr>
              <a:t>end</a:t>
            </a:r>
            <a:endParaRPr lang="en-US" altLang="zh-CN" b="0" dirty="0">
              <a:solidFill>
                <a:srgbClr val="000000"/>
              </a:solidFill>
              <a:effectLst/>
              <a:latin typeface="Consolas" panose="020B0609020204030204" pitchFamily="49" charset="0"/>
            </a:endParaRPr>
          </a:p>
          <a:p>
            <a:r>
              <a:rPr lang="en-US" altLang="zh-CN" b="0" dirty="0" err="1">
                <a:solidFill>
                  <a:srgbClr val="000000"/>
                </a:solidFill>
                <a:effectLst/>
                <a:latin typeface="Consolas" panose="020B0609020204030204" pitchFamily="49" charset="0"/>
              </a:rPr>
              <a:t>YPred</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TyDeepLearning.</a:t>
            </a:r>
            <a:r>
              <a:rPr lang="en-US" altLang="zh-CN" b="0" dirty="0" err="1">
                <a:solidFill>
                  <a:srgbClr val="795E26"/>
                </a:solidFill>
                <a:effectLst/>
                <a:latin typeface="Consolas" panose="020B0609020204030204" pitchFamily="49" charset="0"/>
              </a:rPr>
              <a:t>predict</a:t>
            </a:r>
            <a:r>
              <a:rPr lang="en-US" altLang="zh-CN" b="0" dirty="0">
                <a:solidFill>
                  <a:srgbClr val="000000"/>
                </a:solidFill>
                <a:effectLst/>
                <a:latin typeface="Consolas" panose="020B0609020204030204" pitchFamily="49" charset="0"/>
              </a:rPr>
              <a:t>(net, </a:t>
            </a:r>
            <a:r>
              <a:rPr lang="en-US" altLang="zh-CN" b="0" dirty="0" err="1">
                <a:solidFill>
                  <a:srgbClr val="000000"/>
                </a:solidFill>
                <a:effectLst/>
                <a:latin typeface="Consolas" panose="020B0609020204030204" pitchFamily="49" charset="0"/>
              </a:rPr>
              <a:t>X_Test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classes =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in </a:t>
            </a:r>
            <a:r>
              <a:rPr lang="en-US" altLang="zh-CN" b="0" dirty="0">
                <a:solidFill>
                  <a:srgbClr val="795E26"/>
                </a:solidFill>
                <a:effectLst/>
                <a:latin typeface="Consolas" panose="020B0609020204030204" pitchFamily="49" charset="0"/>
              </a:rPr>
              <a:t>range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YPred1 = </a:t>
            </a:r>
            <a:r>
              <a:rPr lang="en-US" altLang="zh-CN" b="0" dirty="0" err="1">
                <a:solidFill>
                  <a:srgbClr val="795E26"/>
                </a:solidFill>
                <a:effectLst/>
                <a:latin typeface="Consolas" panose="020B0609020204030204" pitchFamily="49" charset="0"/>
              </a:rPr>
              <a:t>preclasses</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YPred</a:t>
            </a:r>
            <a:r>
              <a:rPr lang="en-US" altLang="zh-CN" b="0" dirty="0">
                <a:solidFill>
                  <a:srgbClr val="000000"/>
                </a:solidFill>
                <a:effectLst/>
                <a:latin typeface="Consolas" panose="020B0609020204030204" pitchFamily="49" charset="0"/>
              </a:rPr>
              <a:t>, classes)</a:t>
            </a:r>
          </a:p>
          <a:p>
            <a:r>
              <a:rPr lang="en-US" altLang="zh-CN" b="0" dirty="0">
                <a:solidFill>
                  <a:srgbClr val="000000"/>
                </a:solidFill>
                <a:effectLst/>
                <a:latin typeface="Consolas" panose="020B0609020204030204" pitchFamily="49" charset="0"/>
              </a:rPr>
              <a:t>acc=</a:t>
            </a:r>
            <a:r>
              <a:rPr lang="en-US" altLang="zh-CN" b="0" dirty="0">
                <a:solidFill>
                  <a:srgbClr val="795E26"/>
                </a:solidFill>
                <a:effectLst/>
                <a:latin typeface="Consolas" panose="020B0609020204030204" pitchFamily="49" charset="0"/>
              </a:rPr>
              <a:t>accuracy</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YPred</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Y_Test</a:t>
            </a:r>
            <a:r>
              <a:rPr lang="en-US" altLang="zh-CN" b="0" dirty="0">
                <a:solidFill>
                  <a:srgbClr val="000000"/>
                </a:solidFill>
                <a:effectLst/>
                <a:latin typeface="Consolas" panose="020B0609020204030204" pitchFamily="49" charset="0"/>
              </a:rPr>
              <a:t>)</a:t>
            </a: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在验证集随机取张图片进行展示，并使用网络对图片类别进行预测。</a:t>
            </a:r>
            <a:endParaRPr lang="zh-CN" altLang="en-US" b="0" dirty="0">
              <a:solidFill>
                <a:srgbClr val="000000"/>
              </a:solidFill>
              <a:effectLst/>
              <a:latin typeface="Consolas" panose="020B0609020204030204" pitchFamily="49" charset="0"/>
            </a:endParaRPr>
          </a:p>
          <a:p>
            <a:r>
              <a:rPr lang="en-US" altLang="zh-CN" b="0" dirty="0">
                <a:solidFill>
                  <a:srgbClr val="795E26"/>
                </a:solidFill>
                <a:effectLst/>
                <a:latin typeface="Consolas" panose="020B0609020204030204" pitchFamily="49" charset="0"/>
              </a:rPr>
              <a:t>figure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p2 = </a:t>
            </a:r>
            <a:r>
              <a:rPr lang="en-US" altLang="zh-CN" b="0" dirty="0" err="1">
                <a:solidFill>
                  <a:srgbClr val="795E26"/>
                </a:solidFill>
                <a:effectLst/>
                <a:latin typeface="Consolas" panose="020B0609020204030204" pitchFamily="49" charset="0"/>
              </a:rPr>
              <a:t>randperm</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750</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index = p2[</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9</a:t>
            </a:r>
            <a:r>
              <a:rPr lang="en-US" altLang="zh-CN" b="0" dirty="0">
                <a:solidFill>
                  <a:srgbClr val="000000"/>
                </a:solidFill>
                <a:effectLst/>
                <a:latin typeface="Consolas" panose="020B0609020204030204" pitchFamily="49" charset="0"/>
              </a:rPr>
              <a:t>]</a:t>
            </a:r>
          </a:p>
          <a:p>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in </a:t>
            </a:r>
            <a:r>
              <a:rPr lang="en-US" altLang="zh-CN" b="0" dirty="0" err="1">
                <a:solidFill>
                  <a:srgbClr val="795E26"/>
                </a:solidFill>
                <a:effectLst/>
                <a:latin typeface="Consolas" panose="020B0609020204030204" pitchFamily="49" charset="0"/>
              </a:rPr>
              <a:t>eachindex</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range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9</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TyPlot.</a:t>
            </a:r>
            <a:r>
              <a:rPr lang="en-US" altLang="zh-CN" b="0" dirty="0" err="1">
                <a:solidFill>
                  <a:srgbClr val="795E26"/>
                </a:solidFill>
                <a:effectLst/>
                <a:latin typeface="Consolas" panose="020B0609020204030204" pitchFamily="49" charset="0"/>
              </a:rPr>
              <a:t>subplot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TyImages.</a:t>
            </a:r>
            <a:r>
              <a:rPr lang="en-US" altLang="zh-CN" b="0" dirty="0" err="1">
                <a:solidFill>
                  <a:srgbClr val="795E26"/>
                </a:solidFill>
                <a:effectLst/>
                <a:latin typeface="Consolas" panose="020B0609020204030204" pitchFamily="49" charset="0"/>
              </a:rPr>
              <a:t>imshow</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X_Test</a:t>
            </a:r>
            <a:r>
              <a:rPr lang="en-US" altLang="zh-CN" b="0" dirty="0">
                <a:solidFill>
                  <a:srgbClr val="000000"/>
                </a:solidFill>
                <a:effectLst/>
                <a:latin typeface="Consolas" panose="020B0609020204030204" pitchFamily="49" charset="0"/>
              </a:rPr>
              <a:t>[index[</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 :])</a:t>
            </a:r>
          </a:p>
          <a:p>
            <a:r>
              <a:rPr lang="en-US" altLang="zh-CN" b="0" dirty="0">
                <a:solidFill>
                  <a:srgbClr val="000000"/>
                </a:solidFill>
                <a:effectLst/>
                <a:latin typeface="Consolas" panose="020B0609020204030204" pitchFamily="49" charset="0"/>
              </a:rPr>
              <a:t>    title1 = </a:t>
            </a:r>
            <a:r>
              <a:rPr lang="en-US" altLang="zh-CN" b="0" dirty="0">
                <a:solidFill>
                  <a:srgbClr val="A31515"/>
                </a:solidFill>
                <a:effectLst/>
                <a:latin typeface="Consolas" panose="020B0609020204030204" pitchFamily="49" charset="0"/>
              </a:rPr>
              <a:t>"Prediction Label"</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title2 = </a:t>
            </a:r>
            <a:r>
              <a:rPr lang="en-US" altLang="zh-CN" b="0" dirty="0">
                <a:solidFill>
                  <a:srgbClr val="795E26"/>
                </a:solidFill>
                <a:effectLst/>
                <a:latin typeface="Consolas" panose="020B0609020204030204" pitchFamily="49" charset="0"/>
              </a:rPr>
              <a:t>string</a:t>
            </a:r>
            <a:r>
              <a:rPr lang="en-US" altLang="zh-CN" b="0" dirty="0">
                <a:solidFill>
                  <a:srgbClr val="000000"/>
                </a:solidFill>
                <a:effectLst/>
                <a:latin typeface="Consolas" panose="020B0609020204030204" pitchFamily="49" charset="0"/>
              </a:rPr>
              <a:t>(YPred1[index[</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title</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string</a:t>
            </a:r>
            <a:r>
              <a:rPr lang="en-US" altLang="zh-CN" b="0" dirty="0">
                <a:solidFill>
                  <a:srgbClr val="000000"/>
                </a:solidFill>
                <a:effectLst/>
                <a:latin typeface="Consolas" panose="020B0609020204030204" pitchFamily="49" charset="0"/>
              </a:rPr>
              <a:t>(title1, </a:t>
            </a:r>
            <a:r>
              <a:rPr lang="en-US" altLang="zh-CN" b="0" dirty="0">
                <a:solidFill>
                  <a:srgbClr val="A31515"/>
                </a:solidFill>
                <a:effectLst/>
                <a:latin typeface="Consolas" panose="020B0609020204030204" pitchFamily="49" charset="0"/>
              </a:rPr>
              <a:t>": "</a:t>
            </a:r>
            <a:r>
              <a:rPr lang="en-US" altLang="zh-CN" b="0" dirty="0">
                <a:solidFill>
                  <a:srgbClr val="000000"/>
                </a:solidFill>
                <a:effectLst/>
                <a:latin typeface="Consolas" panose="020B0609020204030204" pitchFamily="49" charset="0"/>
              </a:rPr>
              <a:t>, title2))</a:t>
            </a:r>
          </a:p>
          <a:p>
            <a:r>
              <a:rPr lang="en-US" altLang="zh-CN" b="0" dirty="0">
                <a:solidFill>
                  <a:srgbClr val="AF00DB"/>
                </a:solidFill>
                <a:effectLst/>
                <a:latin typeface="Consolas" panose="020B0609020204030204" pitchFamily="49" charset="0"/>
              </a:rPr>
              <a:t>end</a:t>
            </a:r>
            <a:endParaRPr lang="en-US" altLang="zh-CN" b="0" dirty="0">
              <a:solidFill>
                <a:srgbClr val="000000"/>
              </a:solidFill>
              <a:effectLst/>
              <a:latin typeface="Consolas" panose="020B0609020204030204" pitchFamily="49" charset="0"/>
            </a:endParaRPr>
          </a:p>
          <a:p>
            <a:br>
              <a:rPr lang="en-US" altLang="zh-CN" b="0" dirty="0">
                <a:solidFill>
                  <a:srgbClr val="000000"/>
                </a:solidFill>
                <a:effectLst/>
                <a:latin typeface="Consolas" panose="020B0609020204030204" pitchFamily="49" charset="0"/>
              </a:rPr>
            </a:br>
            <a:br>
              <a:rPr lang="en-US" altLang="zh-CN" b="0" dirty="0">
                <a:solidFill>
                  <a:srgbClr val="000000"/>
                </a:solidFill>
                <a:effectLst/>
                <a:latin typeface="Consolas" panose="020B0609020204030204" pitchFamily="49" charset="0"/>
              </a:rPr>
            </a:br>
            <a:endParaRPr lang="en-US" altLang="zh-CN" b="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64</a:t>
            </a:fld>
            <a:endParaRPr lang="zh-CN" altLang="en-US"/>
          </a:p>
        </p:txBody>
      </p:sp>
    </p:spTree>
    <p:extLst>
      <p:ext uri="{BB962C8B-B14F-4D97-AF65-F5344CB8AC3E}">
        <p14:creationId xmlns:p14="http://schemas.microsoft.com/office/powerpoint/2010/main" val="72206367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66</a:t>
            </a:fld>
            <a:endParaRPr lang="zh-CN" altLang="en-US"/>
          </a:p>
        </p:txBody>
      </p:sp>
    </p:spTree>
    <p:extLst>
      <p:ext uri="{BB962C8B-B14F-4D97-AF65-F5344CB8AC3E}">
        <p14:creationId xmlns:p14="http://schemas.microsoft.com/office/powerpoint/2010/main" val="4489160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0" i="0" dirty="0">
                <a:solidFill>
                  <a:srgbClr val="333333"/>
                </a:solidFill>
                <a:effectLst/>
                <a:latin typeface="Courier New" panose="02070309020205020404" pitchFamily="49" charset="0"/>
              </a:rPr>
              <a:t>layers = [ </a:t>
            </a:r>
            <a:r>
              <a:rPr lang="en-US" altLang="zh-CN" b="0" i="0" dirty="0" err="1">
                <a:solidFill>
                  <a:srgbClr val="333333"/>
                </a:solidFill>
                <a:effectLst/>
                <a:latin typeface="Courier New" panose="02070309020205020404" pitchFamily="49" charset="0"/>
              </a:rPr>
              <a:t>imageInputLayer</a:t>
            </a:r>
            <a:r>
              <a:rPr lang="en-US" altLang="zh-CN" b="0" i="0" dirty="0">
                <a:solidFill>
                  <a:srgbClr val="333333"/>
                </a:solidFill>
                <a:effectLst/>
                <a:latin typeface="Courier New" panose="02070309020205020404" pitchFamily="49" charset="0"/>
              </a:rPr>
              <a:t>([28 28 1], 'Name', 'input') % </a:t>
            </a:r>
            <a:r>
              <a:rPr lang="zh-CN" altLang="en-US" b="0" i="0" dirty="0">
                <a:solidFill>
                  <a:srgbClr val="333333"/>
                </a:solidFill>
                <a:effectLst/>
                <a:latin typeface="Courier New" panose="02070309020205020404" pitchFamily="49" charset="0"/>
              </a:rPr>
              <a:t>输入层 </a:t>
            </a:r>
            <a:r>
              <a:rPr lang="en-US" altLang="zh-CN" b="0" i="0" dirty="0">
                <a:solidFill>
                  <a:srgbClr val="333333"/>
                </a:solidFill>
                <a:effectLst/>
                <a:latin typeface="Courier New" panose="02070309020205020404" pitchFamily="49" charset="0"/>
              </a:rPr>
              <a:t>convolution2dLayer(3, 8, 'Padding', 'same', 'Name', 'conv1') % </a:t>
            </a:r>
            <a:r>
              <a:rPr lang="zh-CN" altLang="en-US" b="0" i="0" dirty="0">
                <a:solidFill>
                  <a:srgbClr val="333333"/>
                </a:solidFill>
                <a:effectLst/>
                <a:latin typeface="Courier New" panose="02070309020205020404" pitchFamily="49" charset="0"/>
              </a:rPr>
              <a:t>卷积层 </a:t>
            </a:r>
            <a:r>
              <a:rPr lang="en-US" altLang="zh-CN" b="0" i="0" dirty="0" err="1">
                <a:solidFill>
                  <a:srgbClr val="333333"/>
                </a:solidFill>
                <a:effectLst/>
                <a:latin typeface="Courier New" panose="02070309020205020404" pitchFamily="49" charset="0"/>
              </a:rPr>
              <a:t>batchNormalizationLayer</a:t>
            </a:r>
            <a:r>
              <a:rPr lang="en-US" altLang="zh-CN" b="0" i="0" dirty="0">
                <a:solidFill>
                  <a:srgbClr val="333333"/>
                </a:solidFill>
                <a:effectLst/>
                <a:latin typeface="Courier New" panose="02070309020205020404" pitchFamily="49" charset="0"/>
              </a:rPr>
              <a:t>('Name', 'bn1') % </a:t>
            </a:r>
            <a:r>
              <a:rPr lang="zh-CN" altLang="en-US" b="0" i="0" dirty="0">
                <a:solidFill>
                  <a:srgbClr val="333333"/>
                </a:solidFill>
                <a:effectLst/>
                <a:latin typeface="Courier New" panose="02070309020205020404" pitchFamily="49" charset="0"/>
              </a:rPr>
              <a:t>批归一化 </a:t>
            </a:r>
            <a:r>
              <a:rPr lang="en-US" altLang="zh-CN" b="0" i="0" dirty="0" err="1">
                <a:solidFill>
                  <a:srgbClr val="333333"/>
                </a:solidFill>
                <a:effectLst/>
                <a:latin typeface="Courier New" panose="02070309020205020404" pitchFamily="49" charset="0"/>
              </a:rPr>
              <a:t>reluLayer</a:t>
            </a:r>
            <a:r>
              <a:rPr lang="en-US" altLang="zh-CN" b="0" i="0" dirty="0">
                <a:solidFill>
                  <a:srgbClr val="333333"/>
                </a:solidFill>
                <a:effectLst/>
                <a:latin typeface="Courier New" panose="02070309020205020404" pitchFamily="49" charset="0"/>
              </a:rPr>
              <a:t>('Name', 'relu1') % </a:t>
            </a:r>
            <a:r>
              <a:rPr lang="zh-CN" altLang="en-US" b="0" i="0" dirty="0">
                <a:solidFill>
                  <a:srgbClr val="333333"/>
                </a:solidFill>
                <a:effectLst/>
                <a:latin typeface="Courier New" panose="02070309020205020404" pitchFamily="49" charset="0"/>
              </a:rPr>
              <a:t>激活函数 </a:t>
            </a:r>
            <a:r>
              <a:rPr lang="en-US" altLang="zh-CN" b="0" i="0" dirty="0">
                <a:solidFill>
                  <a:srgbClr val="333333"/>
                </a:solidFill>
                <a:effectLst/>
                <a:latin typeface="Courier New" panose="02070309020205020404" pitchFamily="49" charset="0"/>
              </a:rPr>
              <a:t>maxPooling2dLayer(2, 'Stride', 2, 'Name', 'maxpool1') % </a:t>
            </a:r>
            <a:r>
              <a:rPr lang="zh-CN" altLang="en-US" b="0" i="0" dirty="0">
                <a:solidFill>
                  <a:srgbClr val="333333"/>
                </a:solidFill>
                <a:effectLst/>
                <a:latin typeface="Courier New" panose="02070309020205020404" pitchFamily="49" charset="0"/>
              </a:rPr>
              <a:t>池化层 </a:t>
            </a:r>
            <a:r>
              <a:rPr lang="en-US" altLang="zh-CN" b="0" i="0" dirty="0" err="1">
                <a:solidFill>
                  <a:srgbClr val="333333"/>
                </a:solidFill>
                <a:effectLst/>
                <a:latin typeface="Courier New" panose="02070309020205020404" pitchFamily="49" charset="0"/>
              </a:rPr>
              <a:t>fullyConnectedLayer</a:t>
            </a:r>
            <a:r>
              <a:rPr lang="en-US" altLang="zh-CN" b="0" i="0" dirty="0">
                <a:solidFill>
                  <a:srgbClr val="333333"/>
                </a:solidFill>
                <a:effectLst/>
                <a:latin typeface="Courier New" panose="02070309020205020404" pitchFamily="49" charset="0"/>
              </a:rPr>
              <a:t>(10, 'Name', 'fc') % </a:t>
            </a:r>
            <a:r>
              <a:rPr lang="zh-CN" altLang="en-US" b="0" i="0" dirty="0">
                <a:solidFill>
                  <a:srgbClr val="333333"/>
                </a:solidFill>
                <a:effectLst/>
                <a:latin typeface="Courier New" panose="02070309020205020404" pitchFamily="49" charset="0"/>
              </a:rPr>
              <a:t>全连接层 </a:t>
            </a:r>
            <a:r>
              <a:rPr lang="en-US" altLang="zh-CN" b="0" i="0" dirty="0" err="1">
                <a:solidFill>
                  <a:srgbClr val="333333"/>
                </a:solidFill>
                <a:effectLst/>
                <a:latin typeface="Courier New" panose="02070309020205020404" pitchFamily="49" charset="0"/>
              </a:rPr>
              <a:t>softmaxLayer</a:t>
            </a:r>
            <a:r>
              <a:rPr lang="en-US" altLang="zh-CN" b="0" i="0" dirty="0">
                <a:solidFill>
                  <a:srgbClr val="333333"/>
                </a:solidFill>
                <a:effectLst/>
                <a:latin typeface="Courier New" panose="02070309020205020404" pitchFamily="49" charset="0"/>
              </a:rPr>
              <a:t>('Name', '</a:t>
            </a:r>
            <a:r>
              <a:rPr lang="en-US" altLang="zh-CN" b="0" i="0" dirty="0" err="1">
                <a:solidFill>
                  <a:srgbClr val="333333"/>
                </a:solidFill>
                <a:effectLst/>
                <a:latin typeface="Courier New" panose="02070309020205020404" pitchFamily="49" charset="0"/>
              </a:rPr>
              <a:t>softmax</a:t>
            </a:r>
            <a:r>
              <a:rPr lang="en-US" altLang="zh-CN" b="0" i="0" dirty="0">
                <a:solidFill>
                  <a:srgbClr val="333333"/>
                </a:solidFill>
                <a:effectLst/>
                <a:latin typeface="Courier New" panose="02070309020205020404" pitchFamily="49" charset="0"/>
              </a:rPr>
              <a:t>') % </a:t>
            </a:r>
            <a:r>
              <a:rPr lang="zh-CN" altLang="en-US" b="0" i="0" dirty="0">
                <a:solidFill>
                  <a:srgbClr val="333333"/>
                </a:solidFill>
                <a:effectLst/>
                <a:latin typeface="Courier New" panose="02070309020205020404" pitchFamily="49" charset="0"/>
              </a:rPr>
              <a:t>分类输出 </a:t>
            </a:r>
            <a:r>
              <a:rPr lang="en-US" altLang="zh-CN" b="0" i="0" dirty="0" err="1">
                <a:solidFill>
                  <a:srgbClr val="333333"/>
                </a:solidFill>
                <a:effectLst/>
                <a:latin typeface="Courier New" panose="02070309020205020404" pitchFamily="49" charset="0"/>
              </a:rPr>
              <a:t>classificationLayer</a:t>
            </a:r>
            <a:r>
              <a:rPr lang="en-US" altLang="zh-CN" b="0" i="0" dirty="0">
                <a:solidFill>
                  <a:srgbClr val="333333"/>
                </a:solidFill>
                <a:effectLst/>
                <a:latin typeface="Courier New" panose="02070309020205020404" pitchFamily="49" charset="0"/>
              </a:rPr>
              <a:t>('Name', 'output') % </a:t>
            </a:r>
            <a:r>
              <a:rPr lang="zh-CN" altLang="en-US" b="0" i="0" dirty="0">
                <a:solidFill>
                  <a:srgbClr val="333333"/>
                </a:solidFill>
                <a:effectLst/>
                <a:latin typeface="Courier New" panose="02070309020205020404" pitchFamily="49" charset="0"/>
              </a:rPr>
              <a:t>损失函数 </a:t>
            </a:r>
            <a:r>
              <a:rPr lang="en-US" altLang="zh-CN" b="0" i="0" dirty="0">
                <a:solidFill>
                  <a:srgbClr val="333333"/>
                </a:solidFill>
                <a:effectLst/>
                <a:latin typeface="Courier New" panose="02070309020205020404" pitchFamily="49" charset="0"/>
              </a:rPr>
              <a:t>];</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67</a:t>
            </a:fld>
            <a:endParaRPr lang="zh-CN" altLang="en-US"/>
          </a:p>
        </p:txBody>
      </p:sp>
    </p:spTree>
    <p:extLst>
      <p:ext uri="{BB962C8B-B14F-4D97-AF65-F5344CB8AC3E}">
        <p14:creationId xmlns:p14="http://schemas.microsoft.com/office/powerpoint/2010/main" val="14305426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i="0" dirty="0">
                <a:solidFill>
                  <a:srgbClr val="212121"/>
                </a:solidFill>
                <a:effectLst/>
                <a:latin typeface="Microsoft YaHei" panose="020B0503020204020204" pitchFamily="34" charset="-122"/>
                <a:ea typeface="Microsoft YaHei" panose="020B0503020204020204" pitchFamily="34" charset="-122"/>
              </a:rPr>
              <a:t>学习率决定优化算法在每次更新模型参数时步长大小</a:t>
            </a:r>
            <a:endParaRPr lang="en-US" altLang="zh-CN" b="1" i="0" dirty="0">
              <a:solidFill>
                <a:srgbClr val="212121"/>
              </a:solidFill>
              <a:effectLst/>
              <a:latin typeface="Microsoft YaHei" panose="020B0503020204020204" pitchFamily="34" charset="-122"/>
              <a:ea typeface="Microsoft YaHei" panose="020B0503020204020204" pitchFamily="34" charset="-122"/>
            </a:endParaRPr>
          </a:p>
          <a:p>
            <a:r>
              <a:rPr lang="zh-CN" altLang="en-US" b="0" i="0" dirty="0">
                <a:solidFill>
                  <a:srgbClr val="333333"/>
                </a:solidFill>
                <a:effectLst/>
                <a:latin typeface="PingFang SC"/>
              </a:rPr>
              <a:t>训练批次大小是指在进行模型训练时，一次迭代（</a:t>
            </a:r>
            <a:r>
              <a:rPr lang="en-US" altLang="zh-CN" b="0" i="0" dirty="0">
                <a:solidFill>
                  <a:srgbClr val="333333"/>
                </a:solidFill>
                <a:effectLst/>
                <a:latin typeface="PingFang SC"/>
              </a:rPr>
              <a:t>epoch</a:t>
            </a:r>
            <a:r>
              <a:rPr lang="zh-CN" altLang="en-US" b="0" i="0" dirty="0">
                <a:solidFill>
                  <a:srgbClr val="333333"/>
                </a:solidFill>
                <a:effectLst/>
                <a:latin typeface="PingFang SC"/>
              </a:rPr>
              <a:t>）中用于训练的样本数量或样本集合的大小。</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68</a:t>
            </a:fld>
            <a:endParaRPr lang="zh-CN" altLang="en-US"/>
          </a:p>
        </p:txBody>
      </p:sp>
    </p:spTree>
    <p:extLst>
      <p:ext uri="{BB962C8B-B14F-4D97-AF65-F5344CB8AC3E}">
        <p14:creationId xmlns:p14="http://schemas.microsoft.com/office/powerpoint/2010/main" val="2184561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566309"/>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8"/>
          <p:cNvSpPr>
            <a:spLocks noGrp="1" noChangeArrowheads="1"/>
          </p:cNvSpPr>
          <p:nvPr>
            <p:ph type="sldNum" sz="quarter" idx="10"/>
          </p:nvPr>
        </p:nvSpPr>
        <p:spPr>
          <a:ln/>
        </p:spPr>
        <p:txBody>
          <a:bodyPr/>
          <a:lstStyle>
            <a:lvl1pPr>
              <a:defRPr/>
            </a:lvl1pPr>
          </a:lstStyle>
          <a:p>
            <a:pPr>
              <a:defRPr/>
            </a:pPr>
            <a:fld id="{C6A839A6-78F6-48CF-87A6-6BD8E9022CF6}"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30276" y="195486"/>
            <a:ext cx="7667625" cy="438150"/>
          </a:xfrm>
        </p:spPr>
        <p:txBody>
          <a:bodyPr/>
          <a:lstStyle>
            <a:lvl1pPr>
              <a:defRPr sz="3200" b="0">
                <a:solidFill>
                  <a:srgbClr val="002060"/>
                </a:solidFill>
                <a:latin typeface="华文楷体" panose="02010600040101010101" pitchFamily="2" charset="-122"/>
                <a:ea typeface="华文楷体" panose="02010600040101010101" pitchFamily="2" charset="-122"/>
              </a:defRPr>
            </a:lvl1pPr>
          </a:lstStyle>
          <a:p>
            <a:r>
              <a:rPr lang="zh-CN" altLang="en-US" dirty="0"/>
              <a:t>单击此处编辑母版标题样式</a:t>
            </a:r>
          </a:p>
        </p:txBody>
      </p:sp>
      <p:sp>
        <p:nvSpPr>
          <p:cNvPr id="3" name="内容占位符 2"/>
          <p:cNvSpPr>
            <a:spLocks noGrp="1"/>
          </p:cNvSpPr>
          <p:nvPr>
            <p:ph idx="1"/>
          </p:nvPr>
        </p:nvSpPr>
        <p:spPr>
          <a:xfrm>
            <a:off x="673100" y="802481"/>
            <a:ext cx="6515100" cy="547842"/>
          </a:xfrm>
        </p:spPr>
        <p:txBody>
          <a:bodyPr/>
          <a:lstStyle>
            <a:lvl1pPr marL="1778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1pPr>
            <a:lvl2pPr marL="6350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2pPr>
            <a:lvl3pPr marL="10922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3pPr>
            <a:lvl4pPr marL="15494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4pPr>
            <a:lvl5pPr marL="20066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5pPr>
          </a:lstStyle>
          <a:p>
            <a:pPr lvl="0"/>
            <a:endParaRPr lang="zh-CN" altLang="en-US" dirty="0"/>
          </a:p>
        </p:txBody>
      </p:sp>
      <p:pic>
        <p:nvPicPr>
          <p:cNvPr id="5" name="Picture 11"/>
          <p:cNvPicPr>
            <a:picLocks noChangeAspect="1" noChangeArrowheads="1"/>
          </p:cNvPicPr>
          <p:nvPr userDrawn="1"/>
        </p:nvPicPr>
        <p:blipFill>
          <a:blip r:embed="rId2" cstate="print"/>
          <a:srcRect/>
          <a:stretch>
            <a:fillRect/>
          </a:stretch>
        </p:blipFill>
        <p:spPr bwMode="auto">
          <a:xfrm>
            <a:off x="359024" y="4726213"/>
            <a:ext cx="8784976" cy="417287"/>
          </a:xfrm>
          <a:prstGeom prst="rect">
            <a:avLst/>
          </a:prstGeom>
          <a:noFill/>
          <a:ln w="9525">
            <a:noFill/>
            <a:miter lim="800000"/>
            <a:headEnd/>
            <a:tailEnd/>
          </a:ln>
        </p:spPr>
      </p:pic>
      <p:cxnSp>
        <p:nvCxnSpPr>
          <p:cNvPr id="8" name="直接连接符 7">
            <a:extLst>
              <a:ext uri="{FF2B5EF4-FFF2-40B4-BE49-F238E27FC236}">
                <a16:creationId xmlns:a16="http://schemas.microsoft.com/office/drawing/2014/main" id="{76BB9768-376B-0637-C297-1B5D054A51BD}"/>
              </a:ext>
            </a:extLst>
          </p:cNvPr>
          <p:cNvCxnSpPr/>
          <p:nvPr userDrawn="1"/>
        </p:nvCxnSpPr>
        <p:spPr bwMode="auto">
          <a:xfrm>
            <a:off x="6626" y="4645735"/>
            <a:ext cx="9144000" cy="0"/>
          </a:xfrm>
          <a:prstGeom prst="line">
            <a:avLst/>
          </a:prstGeom>
          <a:ln w="19050">
            <a:solidFill>
              <a:srgbClr val="736303"/>
            </a:solidFill>
            <a:headEnd type="none" w="med" len="med"/>
            <a:tailEnd type="none" w="med" len="med"/>
          </a:ln>
        </p:spPr>
        <p:style>
          <a:lnRef idx="3">
            <a:schemeClr val="accent6"/>
          </a:lnRef>
          <a:fillRef idx="0">
            <a:schemeClr val="accent6"/>
          </a:fillRef>
          <a:effectRef idx="2">
            <a:schemeClr val="accent6"/>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874288"/>
            <a:ext cx="7772400" cy="4308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8"/>
          <p:cNvSpPr>
            <a:spLocks noGrp="1" noChangeArrowheads="1"/>
          </p:cNvSpPr>
          <p:nvPr>
            <p:ph type="sldNum" sz="quarter" idx="10"/>
          </p:nvPr>
        </p:nvSpPr>
        <p:spPr>
          <a:ln/>
        </p:spPr>
        <p:txBody>
          <a:bodyPr/>
          <a:lstStyle>
            <a:lvl1pPr>
              <a:defRPr/>
            </a:lvl1pPr>
          </a:lstStyle>
          <a:p>
            <a:pPr>
              <a:defRPr/>
            </a:pPr>
            <a:fld id="{8F1CB138-D962-4159-86D4-69744E72DFCB}"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sldNum" sz="quarter" idx="10"/>
          </p:nvPr>
        </p:nvSpPr>
        <p:spPr>
          <a:ln/>
        </p:spPr>
        <p:txBody>
          <a:bodyPr/>
          <a:lstStyle>
            <a:lvl1pPr>
              <a:defRPr/>
            </a:lvl1pPr>
          </a:lstStyle>
          <a:p>
            <a:pPr>
              <a:defRPr/>
            </a:pPr>
            <a:fld id="{132BEE3A-E9D9-4E9F-BCF8-FFCE31090B4C}" type="slidenum">
              <a:rPr lang="zh-CN" altLang="en-US"/>
              <a:pPr>
                <a:defRPr/>
              </a:pPr>
              <a:t>‹#›</a:t>
            </a:fld>
            <a:endParaRPr lang="zh-CN" altLang="en-US"/>
          </a:p>
        </p:txBody>
      </p:sp>
      <p:pic>
        <p:nvPicPr>
          <p:cNvPr id="3" name="Picture 11"/>
          <p:cNvPicPr>
            <a:picLocks noChangeAspect="1" noChangeArrowheads="1"/>
          </p:cNvPicPr>
          <p:nvPr userDrawn="1"/>
        </p:nvPicPr>
        <p:blipFill>
          <a:blip r:embed="rId2" cstate="print"/>
          <a:srcRect/>
          <a:stretch>
            <a:fillRect/>
          </a:stretch>
        </p:blipFill>
        <p:spPr bwMode="auto">
          <a:xfrm>
            <a:off x="4300" y="4515966"/>
            <a:ext cx="9113837" cy="627534"/>
          </a:xfrm>
          <a:prstGeom prst="rect">
            <a:avLst/>
          </a:prstGeom>
          <a:noFill/>
          <a:ln w="9525">
            <a:noFill/>
            <a:miter lim="800000"/>
            <a:headEnd/>
            <a:tailEnd/>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73100" y="802481"/>
            <a:ext cx="3181350" cy="23945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006850" y="802481"/>
            <a:ext cx="3181350" cy="23945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8"/>
          <p:cNvSpPr>
            <a:spLocks noGrp="1" noChangeArrowheads="1"/>
          </p:cNvSpPr>
          <p:nvPr>
            <p:ph type="sldNum" sz="quarter" idx="10"/>
          </p:nvPr>
        </p:nvSpPr>
        <p:spPr>
          <a:ln/>
        </p:spPr>
        <p:txBody>
          <a:bodyPr/>
          <a:lstStyle>
            <a:lvl1pPr>
              <a:defRPr/>
            </a:lvl1pPr>
          </a:lstStyle>
          <a:p>
            <a:pPr>
              <a:defRPr/>
            </a:pPr>
            <a:fld id="{82AC858E-3DCE-4D01-A80F-DEA7F14DD0EB}"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32559"/>
            <a:ext cx="4040188" cy="49859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168353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32559"/>
            <a:ext cx="4041775" cy="49859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168353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8"/>
          <p:cNvSpPr>
            <a:spLocks noGrp="1" noChangeArrowheads="1"/>
          </p:cNvSpPr>
          <p:nvPr>
            <p:ph type="sldNum" sz="quarter" idx="10"/>
          </p:nvPr>
        </p:nvSpPr>
        <p:spPr>
          <a:ln/>
        </p:spPr>
        <p:txBody>
          <a:bodyPr/>
          <a:lstStyle>
            <a:lvl1pPr>
              <a:defRPr/>
            </a:lvl1pPr>
          </a:lstStyle>
          <a:p>
            <a:pPr>
              <a:defRPr/>
            </a:pPr>
            <a:fld id="{59E2ED9D-B9E8-4415-A1AA-A51EE65F1343}"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8"/>
          <p:cNvSpPr>
            <a:spLocks noGrp="1" noChangeArrowheads="1"/>
          </p:cNvSpPr>
          <p:nvPr>
            <p:ph type="sldNum" sz="quarter" idx="10"/>
          </p:nvPr>
        </p:nvSpPr>
        <p:spPr>
          <a:ln/>
        </p:spPr>
        <p:txBody>
          <a:bodyPr/>
          <a:lstStyle>
            <a:lvl1pPr>
              <a:defRPr/>
            </a:lvl1pPr>
          </a:lstStyle>
          <a:p>
            <a:pPr>
              <a:defRPr/>
            </a:pPr>
            <a:fld id="{148DE395-C011-4FCA-B35B-9450E02CE85B}"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273305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2932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p:cNvSpPr>
            <a:spLocks noGrp="1" noChangeArrowheads="1"/>
          </p:cNvSpPr>
          <p:nvPr>
            <p:ph type="sldNum" sz="quarter" idx="10"/>
          </p:nvPr>
        </p:nvSpPr>
        <p:spPr>
          <a:ln/>
        </p:spPr>
        <p:txBody>
          <a:bodyPr/>
          <a:lstStyle>
            <a:lvl1pPr>
              <a:defRPr/>
            </a:lvl1pPr>
          </a:lstStyle>
          <a:p>
            <a:pPr>
              <a:defRPr/>
            </a:pPr>
            <a:fld id="{E6FB4065-B1B7-4E06-9A01-41AE3A9EC04A}"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63402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4025503"/>
            <a:ext cx="5486400" cy="32932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p:cNvSpPr>
            <a:spLocks noGrp="1" noChangeArrowheads="1"/>
          </p:cNvSpPr>
          <p:nvPr>
            <p:ph type="sldNum" sz="quarter" idx="10"/>
          </p:nvPr>
        </p:nvSpPr>
        <p:spPr>
          <a:ln/>
        </p:spPr>
        <p:txBody>
          <a:bodyPr/>
          <a:lstStyle>
            <a:lvl1pPr>
              <a:defRPr/>
            </a:lvl1pPr>
          </a:lstStyle>
          <a:p>
            <a:pPr>
              <a:defRPr/>
            </a:pPr>
            <a:fld id="{2428D4F1-5252-4CE3-8F75-35C51027C8D7}"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2331486" y="802481"/>
            <a:ext cx="4856714" cy="205594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sldNum" sz="quarter" idx="10"/>
          </p:nvPr>
        </p:nvSpPr>
        <p:spPr>
          <a:ln/>
        </p:spPr>
        <p:txBody>
          <a:bodyPr/>
          <a:lstStyle>
            <a:lvl1pPr>
              <a:defRPr/>
            </a:lvl1pPr>
          </a:lstStyle>
          <a:p>
            <a:pPr>
              <a:defRPr/>
            </a:pPr>
            <a:fld id="{87EE522D-DF1B-4BE4-9E38-6362FBF71D06}"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6700" y="250031"/>
            <a:ext cx="1981200" cy="1953816"/>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607586" y="250031"/>
            <a:ext cx="4856714" cy="1953816"/>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sldNum" sz="quarter" idx="10"/>
          </p:nvPr>
        </p:nvSpPr>
        <p:spPr>
          <a:ln/>
        </p:spPr>
        <p:txBody>
          <a:bodyPr/>
          <a:lstStyle>
            <a:lvl1pPr>
              <a:defRPr/>
            </a:lvl1pPr>
          </a:lstStyle>
          <a:p>
            <a:pPr>
              <a:defRPr/>
            </a:pPr>
            <a:fld id="{3F913E49-A68C-484C-9771-B00D1343D1B8}" type="slidenum">
              <a:rPr lang="zh-CN" altLang="en-US"/>
              <a:pPr>
                <a:defRPr/>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30276" y="250031"/>
            <a:ext cx="7667625" cy="438150"/>
          </a:xfrm>
        </p:spPr>
        <p:txBody>
          <a:bodyPr/>
          <a:lstStyle/>
          <a:p>
            <a:r>
              <a:rPr lang="zh-CN" altLang="en-US"/>
              <a:t>单击此处编辑母版标题样式</a:t>
            </a:r>
          </a:p>
        </p:txBody>
      </p:sp>
      <p:sp>
        <p:nvSpPr>
          <p:cNvPr id="3" name="表格占位符 2"/>
          <p:cNvSpPr>
            <a:spLocks noGrp="1"/>
          </p:cNvSpPr>
          <p:nvPr>
            <p:ph type="tbl" idx="1"/>
          </p:nvPr>
        </p:nvSpPr>
        <p:spPr>
          <a:xfrm>
            <a:off x="673100" y="802481"/>
            <a:ext cx="6515100" cy="566309"/>
          </a:xfrm>
        </p:spPr>
        <p:txBody>
          <a:bodyPr/>
          <a:lstStyle/>
          <a:p>
            <a:pPr lvl="0"/>
            <a:r>
              <a:rPr lang="zh-CN" altLang="en-US" noProof="0"/>
              <a:t>单击图标添加表格</a:t>
            </a:r>
          </a:p>
        </p:txBody>
      </p:sp>
      <p:sp>
        <p:nvSpPr>
          <p:cNvPr id="4" name="Rectangle 8"/>
          <p:cNvSpPr>
            <a:spLocks noGrp="1" noChangeArrowheads="1"/>
          </p:cNvSpPr>
          <p:nvPr>
            <p:ph type="sldNum" sz="quarter" idx="10"/>
          </p:nvPr>
        </p:nvSpPr>
        <p:spPr>
          <a:ln/>
        </p:spPr>
        <p:txBody>
          <a:bodyPr/>
          <a:lstStyle>
            <a:lvl1pPr>
              <a:defRPr/>
            </a:lvl1pPr>
          </a:lstStyle>
          <a:p>
            <a:pPr>
              <a:defRPr/>
            </a:pPr>
            <a:fld id="{53CA134C-C122-4DE6-ABA6-CD4CFACFA387}"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685800" y="42862"/>
            <a:ext cx="7772400" cy="614363"/>
          </a:xfrm>
          <a:prstGeom prst="rect">
            <a:avLst/>
          </a:prstGeom>
          <a:noFill/>
          <a:ln>
            <a:noFill/>
          </a:ln>
        </p:spPr>
        <p:txBody>
          <a:bodyPr lIns="90488" tIns="44450" rIns="90488" bIns="44450" anchor="b"/>
          <a:lstStyle/>
          <a:p>
            <a:pPr>
              <a:lnSpc>
                <a:spcPct val="85000"/>
              </a:lnSpc>
              <a:defRPr/>
            </a:pPr>
            <a:endParaRPr lang="zh-CN" altLang="en-US" sz="3400">
              <a:solidFill>
                <a:srgbClr val="002E5C"/>
              </a:solidFill>
              <a:latin typeface="Helvetica" pitchFamily="34" charset="0"/>
              <a:ea typeface="宋体" pitchFamily="2" charset="-122"/>
            </a:endParaRPr>
          </a:p>
        </p:txBody>
      </p:sp>
      <p:sp>
        <p:nvSpPr>
          <p:cNvPr id="1027" name="Rectangle 3"/>
          <p:cNvSpPr>
            <a:spLocks noGrp="1" noChangeArrowheads="1"/>
          </p:cNvSpPr>
          <p:nvPr>
            <p:ph type="title"/>
          </p:nvPr>
        </p:nvSpPr>
        <p:spPr bwMode="auto">
          <a:xfrm>
            <a:off x="930276" y="250031"/>
            <a:ext cx="7667625"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p>
            <a:pPr lvl="0"/>
            <a:r>
              <a:rPr lang="zh-CN" altLang="en-US"/>
              <a:t>单击此处编辑母版标题样式</a:t>
            </a:r>
            <a:endParaRPr lang="en-US" altLang="zh-CN"/>
          </a:p>
        </p:txBody>
      </p:sp>
      <p:sp>
        <p:nvSpPr>
          <p:cNvPr id="1028" name="Rectangle 4"/>
          <p:cNvSpPr>
            <a:spLocks noGrp="1" noChangeArrowheads="1"/>
          </p:cNvSpPr>
          <p:nvPr>
            <p:ph type="body" idx="1"/>
          </p:nvPr>
        </p:nvSpPr>
        <p:spPr bwMode="auto">
          <a:xfrm>
            <a:off x="673100" y="802481"/>
            <a:ext cx="6515100" cy="20559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pic>
        <p:nvPicPr>
          <p:cNvPr id="1029" name="Picture 5" descr="symbol"/>
          <p:cNvPicPr>
            <a:picLocks noChangeAspect="1" noChangeArrowheads="1"/>
          </p:cNvPicPr>
          <p:nvPr/>
        </p:nvPicPr>
        <p:blipFill>
          <a:blip r:embed="rId14" cstate="print"/>
          <a:srcRect/>
          <a:stretch>
            <a:fillRect/>
          </a:stretch>
        </p:blipFill>
        <p:spPr bwMode="auto">
          <a:xfrm>
            <a:off x="1" y="330994"/>
            <a:ext cx="942975" cy="681038"/>
          </a:xfrm>
          <a:prstGeom prst="rect">
            <a:avLst/>
          </a:prstGeom>
          <a:noFill/>
          <a:ln w="9525">
            <a:noFill/>
            <a:miter lim="800000"/>
            <a:headEnd/>
            <a:tailEnd/>
          </a:ln>
        </p:spPr>
      </p:pic>
      <p:sp>
        <p:nvSpPr>
          <p:cNvPr id="1030" name="Line 6"/>
          <p:cNvSpPr>
            <a:spLocks noChangeShapeType="1"/>
          </p:cNvSpPr>
          <p:nvPr/>
        </p:nvSpPr>
        <p:spPr bwMode="auto">
          <a:xfrm>
            <a:off x="906463" y="660797"/>
            <a:ext cx="8121650" cy="0"/>
          </a:xfrm>
          <a:prstGeom prst="line">
            <a:avLst/>
          </a:prstGeom>
          <a:noFill/>
          <a:ln w="28575">
            <a:solidFill>
              <a:srgbClr val="003B76"/>
            </a:solidFill>
            <a:round/>
            <a:headEnd/>
            <a:tailEnd/>
          </a:ln>
        </p:spPr>
        <p:txBody>
          <a:bodyPr lIns="0" tIns="0" rIns="0" bIns="0" anchor="ctr">
            <a:spAutoFit/>
          </a:bodyPr>
          <a:lstStyle/>
          <a:p>
            <a:pPr>
              <a:defRPr/>
            </a:pPr>
            <a:endParaRPr lang="zh-CN" altLang="en-US">
              <a:ea typeface="宋体" pitchFamily="2" charset="-122"/>
            </a:endParaRPr>
          </a:p>
        </p:txBody>
      </p:sp>
      <p:sp>
        <p:nvSpPr>
          <p:cNvPr id="1031" name="Line 7"/>
          <p:cNvSpPr>
            <a:spLocks noChangeShapeType="1"/>
          </p:cNvSpPr>
          <p:nvPr/>
        </p:nvSpPr>
        <p:spPr bwMode="auto">
          <a:xfrm>
            <a:off x="915988" y="653653"/>
            <a:ext cx="8108950" cy="0"/>
          </a:xfrm>
          <a:prstGeom prst="line">
            <a:avLst/>
          </a:prstGeom>
          <a:noFill/>
          <a:ln w="12700">
            <a:solidFill>
              <a:srgbClr val="F0DA04"/>
            </a:solidFill>
            <a:round/>
            <a:headEnd/>
            <a:tailEnd/>
          </a:ln>
        </p:spPr>
        <p:txBody>
          <a:bodyPr wrap="none" anchor="ctr"/>
          <a:lstStyle/>
          <a:p>
            <a:pPr>
              <a:defRPr/>
            </a:pPr>
            <a:endParaRPr lang="zh-CN" altLang="en-US">
              <a:ea typeface="宋体" pitchFamily="2" charset="-122"/>
            </a:endParaRPr>
          </a:p>
        </p:txBody>
      </p:sp>
      <p:sp>
        <p:nvSpPr>
          <p:cNvPr id="1032" name="Rectangle 8"/>
          <p:cNvSpPr>
            <a:spLocks noGrp="1" noChangeArrowheads="1"/>
          </p:cNvSpPr>
          <p:nvPr>
            <p:ph type="sldNum" sz="quarter" idx="4"/>
          </p:nvPr>
        </p:nvSpPr>
        <p:spPr bwMode="auto">
          <a:xfrm>
            <a:off x="6553200" y="4683919"/>
            <a:ext cx="21336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fontAlgn="auto">
              <a:lnSpc>
                <a:spcPct val="100000"/>
              </a:lnSpc>
              <a:spcBef>
                <a:spcPts val="0"/>
              </a:spcBef>
              <a:spcAft>
                <a:spcPts val="0"/>
              </a:spcAft>
              <a:defRPr sz="1400" b="0">
                <a:latin typeface="+mn-lt"/>
                <a:ea typeface="宋体" pitchFamily="2" charset="-122"/>
              </a:defRPr>
            </a:lvl1pPr>
          </a:lstStyle>
          <a:p>
            <a:pPr>
              <a:defRPr/>
            </a:pPr>
            <a:fld id="{FD990E54-9BDD-4FF4-80FA-301FCBFF661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72" r:id="rId1"/>
    <p:sldLayoutId id="2147483671" r:id="rId2"/>
    <p:sldLayoutId id="2147483670" r:id="rId3"/>
    <p:sldLayoutId id="2147483666" r:id="rId4"/>
    <p:sldLayoutId id="2147483669" r:id="rId5"/>
    <p:sldLayoutId id="2147483668" r:id="rId6"/>
    <p:sldLayoutId id="2147483667" r:id="rId7"/>
    <p:sldLayoutId id="2147483665" r:id="rId8"/>
    <p:sldLayoutId id="2147483664" r:id="rId9"/>
    <p:sldLayoutId id="2147483663" r:id="rId10"/>
    <p:sldLayoutId id="2147483662" r:id="rId11"/>
    <p:sldLayoutId id="2147483661" r:id="rId12"/>
  </p:sldLayoutIdLst>
  <p:txStyles>
    <p:title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p:titleStyle>
    <p:bodyStyle>
      <a:lvl1pPr marL="177800" indent="-177800" algn="l" rtl="0" eaLnBrk="0" fontAlgn="base" hangingPunct="0">
        <a:lnSpc>
          <a:spcPct val="110000"/>
        </a:lnSpc>
        <a:spcBef>
          <a:spcPct val="0"/>
        </a:spcBef>
        <a:spcAft>
          <a:spcPct val="0"/>
        </a:spcAft>
        <a:buChar char="•"/>
        <a:defRPr sz="2800" b="1">
          <a:solidFill>
            <a:srgbClr val="A50021"/>
          </a:solidFill>
          <a:latin typeface="+mn-lt"/>
          <a:ea typeface="+mn-ea"/>
          <a:cs typeface="+mn-cs"/>
        </a:defRPr>
      </a:lvl1pPr>
      <a:lvl2pPr marL="635000" indent="-177800" algn="l" rtl="0" eaLnBrk="0" fontAlgn="base" hangingPunct="0">
        <a:lnSpc>
          <a:spcPct val="110000"/>
        </a:lnSpc>
        <a:spcBef>
          <a:spcPct val="0"/>
        </a:spcBef>
        <a:spcAft>
          <a:spcPct val="0"/>
        </a:spcAft>
        <a:buChar char="•"/>
        <a:defRPr sz="2400" b="1">
          <a:solidFill>
            <a:schemeClr val="tx1"/>
          </a:solidFill>
          <a:latin typeface="+mn-lt"/>
        </a:defRPr>
      </a:lvl2pPr>
      <a:lvl3pPr marL="1092200" indent="-177800" algn="l" rtl="0" eaLnBrk="0" fontAlgn="base" hangingPunct="0">
        <a:lnSpc>
          <a:spcPct val="110000"/>
        </a:lnSpc>
        <a:spcBef>
          <a:spcPct val="0"/>
        </a:spcBef>
        <a:spcAft>
          <a:spcPct val="0"/>
        </a:spcAft>
        <a:buChar char="•"/>
        <a:defRPr sz="2400" b="1">
          <a:solidFill>
            <a:srgbClr val="002E5C"/>
          </a:solidFill>
          <a:latin typeface="+mn-lt"/>
        </a:defRPr>
      </a:lvl3pPr>
      <a:lvl4pPr marL="1549400" indent="-177800" algn="l" rtl="0" eaLnBrk="0" fontAlgn="base" hangingPunct="0">
        <a:lnSpc>
          <a:spcPct val="110000"/>
        </a:lnSpc>
        <a:spcBef>
          <a:spcPct val="0"/>
        </a:spcBef>
        <a:spcAft>
          <a:spcPct val="0"/>
        </a:spcAft>
        <a:buChar char="•"/>
        <a:defRPr sz="2000" b="1">
          <a:solidFill>
            <a:srgbClr val="002E5C"/>
          </a:solidFill>
          <a:latin typeface="+mn-lt"/>
        </a:defRPr>
      </a:lvl4pPr>
      <a:lvl5pPr marL="2006600" indent="-177800" algn="l" rtl="0" eaLnBrk="0" fontAlgn="base" hangingPunct="0">
        <a:lnSpc>
          <a:spcPct val="110000"/>
        </a:lnSpc>
        <a:spcBef>
          <a:spcPct val="0"/>
        </a:spcBef>
        <a:spcAft>
          <a:spcPct val="0"/>
        </a:spcAft>
        <a:buChar char="•"/>
        <a:defRPr sz="2000" b="1">
          <a:solidFill>
            <a:srgbClr val="002E5C"/>
          </a:solidFill>
          <a:latin typeface="+mn-lt"/>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Doc/TyOptimization/linprog.ht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Doc/TyOptimization/fminunc.ht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Doc/TyOptimization/fminunc.ht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file:///D:\mworks2024\Syslab%202024a\Docs\Help\index.html#/Doc/TyOptimization/QuadraticProgrammingandConeProgramming/quadprog" TargetMode="External"/><Relationship Id="rId7" Type="http://schemas.openxmlformats.org/officeDocument/2006/relationships/hyperlink" Target="file:///D:\mworks2024\Syslab%202024a\Docs\Help\index.html#/Doc/TyOptimization/NonlinearOptimization/SolverBasedNonlinearOptimization/fmincon" TargetMode="External"/><Relationship Id="rId2" Type="http://schemas.openxmlformats.org/officeDocument/2006/relationships/hyperlink" Target="file:///D:\mworks2024\Syslab%202024a\Docs\Help\index.html#/Doc/TyOptimization/LinearProgrammingandMixedIntegerLinearProgramming/linprog" TargetMode="External"/><Relationship Id="rId1" Type="http://schemas.openxmlformats.org/officeDocument/2006/relationships/slideLayout" Target="../slideLayouts/slideLayout2.xml"/><Relationship Id="rId6" Type="http://schemas.openxmlformats.org/officeDocument/2006/relationships/hyperlink" Target="file:///D:\mworks2024\Syslab%202024a\Docs\Help\index.html#/Doc/TyOptimization/NonlinearOptimization/SolverBasedNonlinearOptimization/fminsearch" TargetMode="External"/><Relationship Id="rId5" Type="http://schemas.openxmlformats.org/officeDocument/2006/relationships/hyperlink" Target="file:///D:\mworks2024\Syslab%202024a\Docs\Help\index.html#/Doc/TyOptimization/NonlinearOptimization/SolverBasedNonlinearOptimization/fminunc" TargetMode="External"/><Relationship Id="rId4" Type="http://schemas.openxmlformats.org/officeDocument/2006/relationships/hyperlink" Target="file:///D:\mworks2024\Syslab%202024a\Docs\Help\index.html#/Doc/TyOptimization/NonlinearOptimization/SolverBasedNonlinearOptimization/fminbnd"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5.png"/><Relationship Id="rId3" Type="http://schemas.openxmlformats.org/officeDocument/2006/relationships/image" Target="../media/image18.png"/><Relationship Id="rId7" Type="http://schemas.openxmlformats.org/officeDocument/2006/relationships/image" Target="../media/image20.png"/><Relationship Id="rId12" Type="http://schemas.openxmlformats.org/officeDocument/2006/relationships/image" Target="../media/image24.png"/><Relationship Id="rId2" Type="http://schemas.openxmlformats.org/officeDocument/2006/relationships/notesSlide" Target="../notesSlides/notesSlide9.xml"/><Relationship Id="rId16"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180.png"/><Relationship Id="rId15" Type="http://schemas.openxmlformats.org/officeDocument/2006/relationships/image" Target="../media/image27.png"/><Relationship Id="rId10" Type="http://schemas.openxmlformats.org/officeDocument/2006/relationships/hyperlink" Target="#/Doc/TyOptimization/linprog.html"/><Relationship Id="rId4" Type="http://schemas.openxmlformats.org/officeDocument/2006/relationships/image" Target="../media/image170.png"/><Relationship Id="rId9" Type="http://schemas.openxmlformats.org/officeDocument/2006/relationships/image" Target="../media/image22.png"/><Relationship Id="rId14" Type="http://schemas.openxmlformats.org/officeDocument/2006/relationships/image" Target="../media/image26.png"/></Relationships>
</file>

<file path=ppt/slides/_rels/slide1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hyperlink" Target="#/Doc/TyOptimization/linprog.html"/><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38.png"/><Relationship Id="rId2" Type="http://schemas.openxmlformats.org/officeDocument/2006/relationships/hyperlink" Target="#/Doc/TyOptimization/linprog.ht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3" Type="http://schemas.openxmlformats.org/officeDocument/2006/relationships/hyperlink" Target="#/Doc/TyOptimization/linprog.html"/><Relationship Id="rId7" Type="http://schemas.openxmlformats.org/officeDocument/2006/relationships/image" Target="../media/image42.png"/><Relationship Id="rId12" Type="http://schemas.openxmlformats.org/officeDocument/2006/relationships/image" Target="../media/image4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5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49.png"/></Relationships>
</file>

<file path=ppt/slides/_rels/slide14.xml.rels><?xml version="1.0" encoding="UTF-8" standalone="yes"?>
<Relationships xmlns="http://schemas.openxmlformats.org/package/2006/relationships"><Relationship Id="rId2" Type="http://schemas.openxmlformats.org/officeDocument/2006/relationships/hyperlink" Target="#/Doc/TyOptimization/linprog.ht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Doc/TyOptimization/linprog.ht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Doc/TyOptimization/linprog.ht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2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2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2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64.png"/></Relationships>
</file>

<file path=ppt/slides/_rels/slide2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2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s>
</file>

<file path=ppt/slides/_rels/slide2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7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60.png"/><Relationship Id="rId2" Type="http://schemas.openxmlformats.org/officeDocument/2006/relationships/image" Target="../media/image652.png"/><Relationship Id="rId1" Type="http://schemas.openxmlformats.org/officeDocument/2006/relationships/slideLayout" Target="../slideLayouts/slideLayout2.xml"/><Relationship Id="rId4" Type="http://schemas.openxmlformats.org/officeDocument/2006/relationships/image" Target="../media/image670.png"/></Relationships>
</file>

<file path=ppt/slides/_rels/slide3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9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700.png"/></Relationships>
</file>

<file path=ppt/slides/_rels/slide33.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hyperlink" Target="#/Doc/TyOptimization/NonlinearOptimization/SolverBasedNonlinearOptimization/fmincon.html#inp5"/><Relationship Id="rId7" Type="http://schemas.openxmlformats.org/officeDocument/2006/relationships/image" Target="../media/image74.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710.png"/><Relationship Id="rId5" Type="http://schemas.openxmlformats.org/officeDocument/2006/relationships/hyperlink" Target="#/Doc/TyOptimization/NonlinearOptimization/SolverBasedNonlinearOptimization/fmincon.html#inp8"/><Relationship Id="rId4" Type="http://schemas.openxmlformats.org/officeDocument/2006/relationships/hyperlink" Target="#/Doc/TyOptimization/NonlinearOptimization/SolverBasedNonlinearOptimization/fmincon.html#inp7"/></Relationships>
</file>

<file path=ppt/slides/_rels/slide35.xml.rels><?xml version="1.0" encoding="UTF-8" standalone="yes"?>
<Relationships xmlns="http://schemas.openxmlformats.org/package/2006/relationships"><Relationship Id="rId8" Type="http://schemas.openxmlformats.org/officeDocument/2006/relationships/hyperlink" Target="#/Doc/TyOptimization/NonlinearOptimization/SolverBasedNonlinearOptimization/fmincon.html#inp3"/><Relationship Id="rId3" Type="http://schemas.openxmlformats.org/officeDocument/2006/relationships/hyperlink" Target="#/Doc/TyOptimization/NonlinearOptimization/SolverBasedNonlinearOptimization/fmincon.html#inp5"/><Relationship Id="rId7" Type="http://schemas.openxmlformats.org/officeDocument/2006/relationships/hyperlink" Target="#/Doc/TyOptimization/NonlinearOptimization/SolverBasedNonlinearOptimization/fmincon.html#inp2"/><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hyperlink" Target="#/Doc/TyOptimization/NonlinearOptimization/SolverBasedNonlinearOptimization/fmincon.html#inp9"/><Relationship Id="rId5" Type="http://schemas.openxmlformats.org/officeDocument/2006/relationships/hyperlink" Target="#/Doc/TyOptimization/NonlinearOptimization/SolverBasedNonlinearOptimization/fmincon.html#inp8"/><Relationship Id="rId10" Type="http://schemas.openxmlformats.org/officeDocument/2006/relationships/hyperlink" Target="#/Doc/TyOptimization/NonlinearOptimization/SolverBasedNonlinearOptimization/fmincon.html#inp1"/><Relationship Id="rId4" Type="http://schemas.openxmlformats.org/officeDocument/2006/relationships/hyperlink" Target="#/Doc/TyOptimization/NonlinearOptimization/SolverBasedNonlinearOptimization/fmincon.html#inp7"/><Relationship Id="rId9" Type="http://schemas.openxmlformats.org/officeDocument/2006/relationships/hyperlink" Target="#/Doc/TyOptimization/NonlinearOptimization/SolverBasedNonlinearOptimization/fmincon.html#inp4"/></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75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4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60.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82.png"/><Relationship Id="rId4" Type="http://schemas.openxmlformats.org/officeDocument/2006/relationships/image" Target="../media/image81.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file:///D:\mworks2024\Syslab%202024a\Docs\Help\index.html#/Doc/TyOptimization/SystemsofNonlinearEquations/fsolve" TargetMode="External"/><Relationship Id="rId2" Type="http://schemas.openxmlformats.org/officeDocument/2006/relationships/hyperlink" Target="file:///D:\mworks2024\Syslab%202024a\Docs\Help\index.html#/Doc/TyOptimization/SystemsofNonlinearEquations/fzero"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4.png"/><Relationship Id="rId7" Type="http://schemas.openxmlformats.org/officeDocument/2006/relationships/image" Target="../media/image85.png"/><Relationship Id="rId2" Type="http://schemas.openxmlformats.org/officeDocument/2006/relationships/image" Target="../media/image83.emf"/><Relationship Id="rId1" Type="http://schemas.openxmlformats.org/officeDocument/2006/relationships/slideLayout" Target="../slideLayouts/slideLayout2.xml"/><Relationship Id="rId6" Type="http://schemas.openxmlformats.org/officeDocument/2006/relationships/image" Target="../media/image830.png"/><Relationship Id="rId5" Type="http://schemas.openxmlformats.org/officeDocument/2006/relationships/image" Target="../media/image820.png"/><Relationship Id="rId4" Type="http://schemas.openxmlformats.org/officeDocument/2006/relationships/image" Target="../media/image810.png"/></Relationships>
</file>

<file path=ppt/slides/_rels/slide50.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51.xml.rels><?xml version="1.0" encoding="UTF-8" standalone="yes"?>
<Relationships xmlns="http://schemas.openxmlformats.org/package/2006/relationships"><Relationship Id="rId2" Type="http://schemas.openxmlformats.org/officeDocument/2006/relationships/image" Target="../media/image87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image" Target="../media/image300.png"/><Relationship Id="rId3" Type="http://schemas.openxmlformats.org/officeDocument/2006/relationships/image" Target="../media/image640.png"/><Relationship Id="rId7" Type="http://schemas.openxmlformats.org/officeDocument/2006/relationships/image" Target="../media/image290.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280.png"/><Relationship Id="rId5" Type="http://schemas.openxmlformats.org/officeDocument/2006/relationships/image" Target="../media/image90.png"/><Relationship Id="rId4" Type="http://schemas.openxmlformats.org/officeDocument/2006/relationships/image" Target="../media/image651.png"/></Relationships>
</file>

<file path=ppt/slides/_rels/slide60.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94.jpeg"/></Relationships>
</file>

<file path=ppt/slides/_rels/slide6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6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88DE2CA8-EB15-43A8-9298-22BD3FD2A63F}"/>
              </a:ext>
            </a:extLst>
          </p:cNvPr>
          <p:cNvGraphicFramePr>
            <a:graphicFrameLocks noGrp="1"/>
          </p:cNvGraphicFramePr>
          <p:nvPr>
            <p:extLst>
              <p:ext uri="{D42A27DB-BD31-4B8C-83A1-F6EECF244321}">
                <p14:modId xmlns:p14="http://schemas.microsoft.com/office/powerpoint/2010/main" val="2426312961"/>
              </p:ext>
            </p:extLst>
          </p:nvPr>
        </p:nvGraphicFramePr>
        <p:xfrm>
          <a:off x="5295569" y="1121574"/>
          <a:ext cx="3600400" cy="3463678"/>
        </p:xfrm>
        <a:graphic>
          <a:graphicData uri="http://schemas.openxmlformats.org/drawingml/2006/table">
            <a:tbl>
              <a:tblPr/>
              <a:tblGrid>
                <a:gridCol w="3600400">
                  <a:extLst>
                    <a:ext uri="{9D8B030D-6E8A-4147-A177-3AD203B41FA5}">
                      <a16:colId xmlns:a16="http://schemas.microsoft.com/office/drawing/2014/main" val="1586666425"/>
                    </a:ext>
                  </a:extLst>
                </a:gridCol>
              </a:tblGrid>
              <a:tr h="238218">
                <a:tc>
                  <a:txBody>
                    <a:bodyPr/>
                    <a:lstStyle/>
                    <a:p>
                      <a:endParaRPr lang="en-US" altLang="zh-CN" sz="1600" b="1" dirty="0">
                        <a:effectLst/>
                      </a:endParaRPr>
                    </a:p>
                  </a:txBody>
                  <a:tcPr marL="7271" marR="7271" marT="7271" marB="7271"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525176103"/>
                  </a:ext>
                </a:extLst>
              </a:tr>
              <a:tr h="246263">
                <a:tc>
                  <a:txBody>
                    <a:bodyPr/>
                    <a:lstStyle/>
                    <a:p>
                      <a:pPr latinLnBrk="0"/>
                      <a:r>
                        <a:rPr lang="en-US" altLang="zh-CN" sz="1600" dirty="0">
                          <a:solidFill>
                            <a:srgbClr val="FF0000"/>
                          </a:solidFill>
                          <a:effectLst/>
                        </a:rPr>
                        <a:t>• 2000B </a:t>
                      </a:r>
                      <a:r>
                        <a:rPr lang="zh-CN" altLang="en-US" sz="1600" dirty="0">
                          <a:solidFill>
                            <a:srgbClr val="FF0000"/>
                          </a:solidFill>
                          <a:effectLst/>
                        </a:rPr>
                        <a:t>钢管订购和运输问题</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40561141"/>
                  </a:ext>
                </a:extLst>
              </a:tr>
              <a:tr h="246263">
                <a:tc>
                  <a:txBody>
                    <a:bodyPr/>
                    <a:lstStyle/>
                    <a:p>
                      <a:pPr latinLnBrk="0"/>
                      <a:r>
                        <a:rPr lang="en-US" altLang="zh-CN" sz="1600" dirty="0">
                          <a:solidFill>
                            <a:srgbClr val="4F4F4F"/>
                          </a:solidFill>
                          <a:effectLst/>
                        </a:rPr>
                        <a:t>• 2001B </a:t>
                      </a:r>
                      <a:r>
                        <a:rPr lang="zh-CN" altLang="en-US" sz="1600" dirty="0">
                          <a:solidFill>
                            <a:srgbClr val="4F4F4F"/>
                          </a:solidFill>
                          <a:effectLst/>
                        </a:rPr>
                        <a:t>公交车优化调度</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804240283"/>
                  </a:ext>
                </a:extLst>
              </a:tr>
              <a:tr h="246263">
                <a:tc>
                  <a:txBody>
                    <a:bodyPr/>
                    <a:lstStyle/>
                    <a:p>
                      <a:pPr latinLnBrk="0"/>
                      <a:r>
                        <a:rPr lang="en-US" sz="1600" dirty="0">
                          <a:solidFill>
                            <a:srgbClr val="4F4F4F"/>
                          </a:solidFill>
                          <a:effectLst/>
                        </a:rPr>
                        <a:t>• 2001C </a:t>
                      </a:r>
                      <a:r>
                        <a:rPr lang="zh-CN" altLang="en-US" sz="1600" dirty="0">
                          <a:solidFill>
                            <a:srgbClr val="4F4F4F"/>
                          </a:solidFill>
                          <a:effectLst/>
                        </a:rPr>
                        <a:t>基金使用的最优策略</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116075960"/>
                  </a:ext>
                </a:extLst>
              </a:tr>
              <a:tr h="246263">
                <a:tc>
                  <a:txBody>
                    <a:bodyPr/>
                    <a:lstStyle/>
                    <a:p>
                      <a:pPr latinLnBrk="0"/>
                      <a:r>
                        <a:rPr lang="en-US" altLang="zh-CN" sz="1600" dirty="0">
                          <a:solidFill>
                            <a:srgbClr val="4F4F4F"/>
                          </a:solidFill>
                          <a:effectLst/>
                        </a:rPr>
                        <a:t>• 2002B </a:t>
                      </a:r>
                      <a:r>
                        <a:rPr lang="zh-CN" altLang="en-US" sz="1600" dirty="0">
                          <a:solidFill>
                            <a:srgbClr val="FF0000"/>
                          </a:solidFill>
                          <a:effectLst/>
                        </a:rPr>
                        <a:t>彩票中的数学</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389201453"/>
                  </a:ext>
                </a:extLst>
              </a:tr>
              <a:tr h="246263">
                <a:tc>
                  <a:txBody>
                    <a:bodyPr/>
                    <a:lstStyle/>
                    <a:p>
                      <a:pPr latinLnBrk="0"/>
                      <a:r>
                        <a:rPr lang="en-US" altLang="zh-CN" sz="1600" dirty="0">
                          <a:solidFill>
                            <a:srgbClr val="4F4F4F"/>
                          </a:solidFill>
                          <a:effectLst/>
                        </a:rPr>
                        <a:t>• 2003B </a:t>
                      </a:r>
                      <a:r>
                        <a:rPr lang="zh-CN" altLang="en-US" sz="1600" dirty="0">
                          <a:solidFill>
                            <a:srgbClr val="4F4F4F"/>
                          </a:solidFill>
                          <a:effectLst/>
                        </a:rPr>
                        <a:t>露天矿生产的车辆安排问题</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808145384"/>
                  </a:ext>
                </a:extLst>
              </a:tr>
              <a:tr h="246263">
                <a:tc>
                  <a:txBody>
                    <a:bodyPr/>
                    <a:lstStyle/>
                    <a:p>
                      <a:pPr latinLnBrk="0"/>
                      <a:r>
                        <a:rPr lang="en-US" altLang="zh-CN" sz="1600" dirty="0">
                          <a:solidFill>
                            <a:srgbClr val="4F4F4F"/>
                          </a:solidFill>
                          <a:effectLst/>
                        </a:rPr>
                        <a:t>• 2004B </a:t>
                      </a:r>
                      <a:r>
                        <a:rPr lang="zh-CN" altLang="en-US" sz="1600" dirty="0">
                          <a:solidFill>
                            <a:srgbClr val="4F4F4F"/>
                          </a:solidFill>
                          <a:effectLst/>
                        </a:rPr>
                        <a:t>奥运会临时超市网点设计问题</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687190449"/>
                  </a:ext>
                </a:extLst>
              </a:tr>
              <a:tr h="246263">
                <a:tc>
                  <a:txBody>
                    <a:bodyPr/>
                    <a:lstStyle/>
                    <a:p>
                      <a:pPr latinLnBrk="0"/>
                      <a:r>
                        <a:rPr lang="en-US" altLang="zh-CN" sz="1600" dirty="0">
                          <a:solidFill>
                            <a:srgbClr val="4F4F4F"/>
                          </a:solidFill>
                          <a:effectLst/>
                        </a:rPr>
                        <a:t>• 2004D </a:t>
                      </a:r>
                      <a:r>
                        <a:rPr lang="zh-CN" altLang="en-US" sz="1600" kern="1200" dirty="0">
                          <a:solidFill>
                            <a:srgbClr val="FF0000"/>
                          </a:solidFill>
                          <a:effectLst/>
                          <a:latin typeface="+mn-lt"/>
                          <a:ea typeface="+mn-ea"/>
                          <a:cs typeface="+mn-cs"/>
                        </a:rPr>
                        <a:t>公务员招聘工作中录用方案</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568990780"/>
                  </a:ext>
                </a:extLst>
              </a:tr>
              <a:tr h="246263">
                <a:tc>
                  <a:txBody>
                    <a:bodyPr/>
                    <a:lstStyle/>
                    <a:p>
                      <a:pPr latinLnBrk="0"/>
                      <a:r>
                        <a:rPr lang="en-US" sz="1600" dirty="0">
                          <a:solidFill>
                            <a:srgbClr val="4F4F4F"/>
                          </a:solidFill>
                          <a:effectLst/>
                        </a:rPr>
                        <a:t>• 2005B DVD</a:t>
                      </a:r>
                      <a:r>
                        <a:rPr lang="zh-CN" altLang="en-US" sz="1600" dirty="0">
                          <a:solidFill>
                            <a:srgbClr val="4F4F4F"/>
                          </a:solidFill>
                          <a:effectLst/>
                        </a:rPr>
                        <a:t>在线租赁</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119221206"/>
                  </a:ext>
                </a:extLst>
              </a:tr>
              <a:tr h="246263">
                <a:tc>
                  <a:txBody>
                    <a:bodyPr/>
                    <a:lstStyle/>
                    <a:p>
                      <a:pPr latinLnBrk="0"/>
                      <a:r>
                        <a:rPr lang="en-US" altLang="zh-CN" sz="1600" dirty="0">
                          <a:solidFill>
                            <a:srgbClr val="4F4F4F"/>
                          </a:solidFill>
                          <a:effectLst/>
                        </a:rPr>
                        <a:t>• 2006B </a:t>
                      </a:r>
                      <a:r>
                        <a:rPr lang="zh-CN" altLang="en-US" sz="1600" dirty="0">
                          <a:solidFill>
                            <a:srgbClr val="4F4F4F"/>
                          </a:solidFill>
                          <a:effectLst/>
                        </a:rPr>
                        <a:t>出版社的资源配置问题</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651722998"/>
                  </a:ext>
                </a:extLst>
              </a:tr>
              <a:tr h="246263">
                <a:tc>
                  <a:txBody>
                    <a:bodyPr/>
                    <a:lstStyle/>
                    <a:p>
                      <a:pPr latinLnBrk="0"/>
                      <a:r>
                        <a:rPr lang="en-US" altLang="zh-CN" sz="1600" kern="1200" dirty="0">
                          <a:solidFill>
                            <a:srgbClr val="4F4F4F"/>
                          </a:solidFill>
                          <a:effectLst/>
                          <a:latin typeface="+mn-lt"/>
                          <a:ea typeface="+mn-ea"/>
                          <a:cs typeface="+mn-cs"/>
                        </a:rPr>
                        <a:t>• 2007B </a:t>
                      </a:r>
                      <a:r>
                        <a:rPr lang="zh-CN" altLang="en-US" sz="1600" kern="1200" dirty="0">
                          <a:solidFill>
                            <a:srgbClr val="4F4F4F"/>
                          </a:solidFill>
                          <a:effectLst/>
                          <a:latin typeface="+mn-lt"/>
                          <a:ea typeface="+mn-ea"/>
                          <a:cs typeface="+mn-cs"/>
                        </a:rPr>
                        <a:t>乘公交，看奥运</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217919670"/>
                  </a:ext>
                </a:extLst>
              </a:tr>
              <a:tr h="246263">
                <a:tc>
                  <a:txBody>
                    <a:bodyPr/>
                    <a:lstStyle/>
                    <a:p>
                      <a:pPr latinLnBrk="0"/>
                      <a:r>
                        <a:rPr lang="en-US" altLang="zh-CN" sz="1600" dirty="0">
                          <a:solidFill>
                            <a:srgbClr val="FF0000"/>
                          </a:solidFill>
                          <a:effectLst/>
                        </a:rPr>
                        <a:t>• 2008B </a:t>
                      </a:r>
                      <a:r>
                        <a:rPr lang="zh-CN" altLang="en-US" sz="1600" dirty="0">
                          <a:solidFill>
                            <a:srgbClr val="FF0000"/>
                          </a:solidFill>
                          <a:effectLst/>
                        </a:rPr>
                        <a:t>高等教育学费探讨</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244011505"/>
                  </a:ext>
                </a:extLst>
              </a:tr>
              <a:tr h="238969">
                <a:tc>
                  <a:txBody>
                    <a:bodyPr/>
                    <a:lstStyle/>
                    <a:p>
                      <a:pPr latinLnBrk="0"/>
                      <a:r>
                        <a:rPr lang="en-US" sz="1600" kern="1200" dirty="0">
                          <a:solidFill>
                            <a:srgbClr val="4F4F4F"/>
                          </a:solidFill>
                          <a:effectLst/>
                          <a:latin typeface="+mn-lt"/>
                          <a:ea typeface="+mn-ea"/>
                          <a:cs typeface="+mn-cs"/>
                        </a:rPr>
                        <a:t>• 2009B </a:t>
                      </a:r>
                      <a:r>
                        <a:rPr lang="zh-CN" altLang="en-US" sz="1600" dirty="0">
                          <a:solidFill>
                            <a:srgbClr val="4F4F4F"/>
                          </a:solidFill>
                          <a:effectLst/>
                        </a:rPr>
                        <a:t>眼科病床的合理安排</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564103493"/>
                  </a:ext>
                </a:extLst>
              </a:tr>
            </a:tbl>
          </a:graphicData>
        </a:graphic>
      </p:graphicFrame>
      <p:sp>
        <p:nvSpPr>
          <p:cNvPr id="7" name="Rectangle 1">
            <a:extLst>
              <a:ext uri="{FF2B5EF4-FFF2-40B4-BE49-F238E27FC236}">
                <a16:creationId xmlns:a16="http://schemas.microsoft.com/office/drawing/2014/main" id="{8013A48D-A570-4C07-A003-AD5025C1BEAF}"/>
              </a:ext>
            </a:extLst>
          </p:cNvPr>
          <p:cNvSpPr>
            <a:spLocks noChangeArrowheads="1"/>
          </p:cNvSpPr>
          <p:nvPr/>
        </p:nvSpPr>
        <p:spPr bwMode="auto">
          <a:xfrm>
            <a:off x="422422" y="1123208"/>
            <a:ext cx="49043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lang="en-US" altLang="zh-CN" b="1" dirty="0">
                <a:solidFill>
                  <a:srgbClr val="00B0F0"/>
                </a:solidFill>
                <a:latin typeface="微软雅黑" panose="020B0503020204020204" pitchFamily="34" charset="-122"/>
                <a:ea typeface="微软雅黑" panose="020B0503020204020204" pitchFamily="34" charset="-122"/>
              </a:rPr>
              <a:t>2000-2021</a:t>
            </a:r>
            <a:r>
              <a:rPr kumimoji="0" lang="zh-CN" altLang="zh-CN" b="1" i="0" u="none" strike="noStrike" cap="none" normalizeH="0" baseline="0" dirty="0">
                <a:ln>
                  <a:noFill/>
                </a:ln>
                <a:solidFill>
                  <a:srgbClr val="00B0F0"/>
                </a:solidFill>
                <a:effectLst/>
                <a:latin typeface="微软雅黑" panose="020B0503020204020204" pitchFamily="34" charset="-122"/>
                <a:ea typeface="微软雅黑" panose="020B0503020204020204" pitchFamily="34" charset="-122"/>
              </a:rPr>
              <a:t>国赛中的优化问题</a:t>
            </a:r>
          </a:p>
        </p:txBody>
      </p:sp>
      <p:graphicFrame>
        <p:nvGraphicFramePr>
          <p:cNvPr id="9" name="表格 8">
            <a:extLst>
              <a:ext uri="{FF2B5EF4-FFF2-40B4-BE49-F238E27FC236}">
                <a16:creationId xmlns:a16="http://schemas.microsoft.com/office/drawing/2014/main" id="{C663C8C4-6149-408E-A120-699AB0CFC91C}"/>
              </a:ext>
            </a:extLst>
          </p:cNvPr>
          <p:cNvGraphicFramePr>
            <a:graphicFrameLocks noGrp="1"/>
          </p:cNvGraphicFramePr>
          <p:nvPr>
            <p:extLst>
              <p:ext uri="{D42A27DB-BD31-4B8C-83A1-F6EECF244321}">
                <p14:modId xmlns:p14="http://schemas.microsoft.com/office/powerpoint/2010/main" val="3769413141"/>
              </p:ext>
            </p:extLst>
          </p:nvPr>
        </p:nvGraphicFramePr>
        <p:xfrm>
          <a:off x="434304" y="1531700"/>
          <a:ext cx="4721844" cy="3060685"/>
        </p:xfrm>
        <a:graphic>
          <a:graphicData uri="http://schemas.openxmlformats.org/drawingml/2006/table">
            <a:tbl>
              <a:tblPr/>
              <a:tblGrid>
                <a:gridCol w="4721844">
                  <a:extLst>
                    <a:ext uri="{9D8B030D-6E8A-4147-A177-3AD203B41FA5}">
                      <a16:colId xmlns:a16="http://schemas.microsoft.com/office/drawing/2014/main" val="3495661152"/>
                    </a:ext>
                  </a:extLst>
                </a:gridCol>
              </a:tblGrid>
              <a:tr h="243752">
                <a:tc>
                  <a:txBody>
                    <a:bodyPr/>
                    <a:lstStyle/>
                    <a:p>
                      <a:pPr latinLnBrk="0"/>
                      <a:r>
                        <a:rPr lang="en-US" altLang="zh-CN" sz="1600" dirty="0">
                          <a:solidFill>
                            <a:srgbClr val="4F4F4F"/>
                          </a:solidFill>
                          <a:effectLst/>
                        </a:rPr>
                        <a:t>• 2011B </a:t>
                      </a:r>
                      <a:r>
                        <a:rPr lang="zh-CN" altLang="en-US" sz="1600" dirty="0">
                          <a:solidFill>
                            <a:srgbClr val="4F4F4F"/>
                          </a:solidFill>
                          <a:effectLst/>
                        </a:rPr>
                        <a:t>交巡警服务平台设置与调度</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913940808"/>
                  </a:ext>
                </a:extLst>
              </a:tr>
              <a:tr h="243752">
                <a:tc>
                  <a:txBody>
                    <a:bodyPr/>
                    <a:lstStyle/>
                    <a:p>
                      <a:pPr latinLnBrk="0"/>
                      <a:r>
                        <a:rPr lang="en-US" altLang="zh-CN" sz="1600" dirty="0">
                          <a:solidFill>
                            <a:srgbClr val="4F4F4F"/>
                          </a:solidFill>
                          <a:effectLst/>
                        </a:rPr>
                        <a:t>• 2012B </a:t>
                      </a:r>
                      <a:r>
                        <a:rPr lang="zh-CN" altLang="en-US" sz="1600" kern="1200" dirty="0">
                          <a:solidFill>
                            <a:srgbClr val="FF0000"/>
                          </a:solidFill>
                          <a:effectLst/>
                          <a:latin typeface="+mn-lt"/>
                          <a:ea typeface="+mn-ea"/>
                          <a:cs typeface="+mn-cs"/>
                        </a:rPr>
                        <a:t>太阳能小屋设计</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795442397"/>
                  </a:ext>
                </a:extLst>
              </a:tr>
              <a:tr h="243752">
                <a:tc>
                  <a:txBody>
                    <a:bodyPr/>
                    <a:lstStyle/>
                    <a:p>
                      <a:pPr latinLnBrk="0"/>
                      <a:r>
                        <a:rPr lang="en-US" altLang="zh-CN" sz="1600" dirty="0">
                          <a:solidFill>
                            <a:srgbClr val="4F4F4F"/>
                          </a:solidFill>
                          <a:effectLst/>
                        </a:rPr>
                        <a:t>• 2013B </a:t>
                      </a:r>
                      <a:r>
                        <a:rPr lang="zh-CN" altLang="en-US" sz="1600" dirty="0">
                          <a:solidFill>
                            <a:srgbClr val="4F4F4F"/>
                          </a:solidFill>
                          <a:effectLst/>
                        </a:rPr>
                        <a:t>碎纸片的拼接</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519066036"/>
                  </a:ext>
                </a:extLst>
              </a:tr>
              <a:tr h="243752">
                <a:tc>
                  <a:txBody>
                    <a:bodyPr/>
                    <a:lstStyle/>
                    <a:p>
                      <a:pPr latinLnBrk="0"/>
                      <a:r>
                        <a:rPr lang="en-US" altLang="zh-CN" sz="1600" dirty="0">
                          <a:solidFill>
                            <a:srgbClr val="4F4F4F"/>
                          </a:solidFill>
                          <a:effectLst/>
                        </a:rPr>
                        <a:t>• 2014B </a:t>
                      </a:r>
                      <a:r>
                        <a:rPr lang="zh-CN" altLang="en-US" sz="1600" dirty="0">
                          <a:solidFill>
                            <a:srgbClr val="4F4F4F"/>
                          </a:solidFill>
                          <a:effectLst/>
                        </a:rPr>
                        <a:t>创意折叠桌设计</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69427241"/>
                  </a:ext>
                </a:extLst>
              </a:tr>
              <a:tr h="243752">
                <a:tc>
                  <a:txBody>
                    <a:bodyPr/>
                    <a:lstStyle/>
                    <a:p>
                      <a:pPr latinLnBrk="0"/>
                      <a:r>
                        <a:rPr lang="en-US" altLang="zh-CN" sz="1600" dirty="0">
                          <a:solidFill>
                            <a:srgbClr val="4F4F4F"/>
                          </a:solidFill>
                          <a:effectLst/>
                        </a:rPr>
                        <a:t>• 2015B “</a:t>
                      </a:r>
                      <a:r>
                        <a:rPr lang="zh-CN" altLang="en-US" sz="1600" dirty="0">
                          <a:solidFill>
                            <a:srgbClr val="4F4F4F"/>
                          </a:solidFill>
                          <a:effectLst/>
                        </a:rPr>
                        <a:t>互联网</a:t>
                      </a:r>
                      <a:r>
                        <a:rPr lang="en-US" altLang="zh-CN" sz="1600" dirty="0">
                          <a:solidFill>
                            <a:srgbClr val="4F4F4F"/>
                          </a:solidFill>
                          <a:effectLst/>
                        </a:rPr>
                        <a:t>+”</a:t>
                      </a:r>
                      <a:r>
                        <a:rPr lang="zh-CN" altLang="en-US" sz="1600" dirty="0">
                          <a:solidFill>
                            <a:srgbClr val="4F4F4F"/>
                          </a:solidFill>
                          <a:effectLst/>
                        </a:rPr>
                        <a:t>时代的出租车资源配置</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505647523"/>
                  </a:ext>
                </a:extLst>
              </a:tr>
              <a:tr h="243752">
                <a:tc>
                  <a:txBody>
                    <a:bodyPr/>
                    <a:lstStyle/>
                    <a:p>
                      <a:pPr latinLnBrk="0"/>
                      <a:r>
                        <a:rPr lang="en-US" altLang="zh-CN" sz="1600" dirty="0">
                          <a:solidFill>
                            <a:srgbClr val="4F4F4F"/>
                          </a:solidFill>
                          <a:effectLst/>
                        </a:rPr>
                        <a:t>• 2016B </a:t>
                      </a:r>
                      <a:r>
                        <a:rPr lang="zh-CN" altLang="en-US" sz="1600" dirty="0">
                          <a:solidFill>
                            <a:srgbClr val="4F4F4F"/>
                          </a:solidFill>
                          <a:effectLst/>
                        </a:rPr>
                        <a:t>小区开放对道路通行的影响</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711728321"/>
                  </a:ext>
                </a:extLst>
              </a:tr>
              <a:tr h="243752">
                <a:tc>
                  <a:txBody>
                    <a:bodyPr/>
                    <a:lstStyle/>
                    <a:p>
                      <a:pPr latinLnBrk="0"/>
                      <a:r>
                        <a:rPr lang="en-US" altLang="zh-CN" sz="1600" dirty="0">
                          <a:solidFill>
                            <a:srgbClr val="4F4F4F"/>
                          </a:solidFill>
                          <a:effectLst/>
                        </a:rPr>
                        <a:t>• 2017B </a:t>
                      </a:r>
                      <a:r>
                        <a:rPr lang="en-US" altLang="zh-CN" sz="1600" dirty="0">
                          <a:solidFill>
                            <a:srgbClr val="FF0000"/>
                          </a:solidFill>
                          <a:effectLst/>
                        </a:rPr>
                        <a:t>“</a:t>
                      </a:r>
                      <a:r>
                        <a:rPr lang="zh-CN" altLang="en-US" sz="1600" dirty="0">
                          <a:solidFill>
                            <a:srgbClr val="FF0000"/>
                          </a:solidFill>
                          <a:effectLst/>
                        </a:rPr>
                        <a:t>拍照赚钱”任务定价</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54851597"/>
                  </a:ext>
                </a:extLst>
              </a:tr>
              <a:tr h="243752">
                <a:tc>
                  <a:txBody>
                    <a:bodyPr/>
                    <a:lstStyle/>
                    <a:p>
                      <a:pPr latinLnBrk="0"/>
                      <a:r>
                        <a:rPr lang="en-US" altLang="zh-CN" sz="1600" dirty="0">
                          <a:solidFill>
                            <a:srgbClr val="4F4F4F"/>
                          </a:solidFill>
                          <a:effectLst/>
                        </a:rPr>
                        <a:t>• 2018B </a:t>
                      </a:r>
                      <a:r>
                        <a:rPr lang="zh-CN" altLang="en-US" sz="1600" kern="1200" dirty="0">
                          <a:solidFill>
                            <a:srgbClr val="4F4F4F"/>
                          </a:solidFill>
                          <a:effectLst/>
                          <a:latin typeface="+mn-lt"/>
                          <a:ea typeface="+mn-ea"/>
                          <a:cs typeface="+mn-cs"/>
                        </a:rPr>
                        <a:t>智能</a:t>
                      </a:r>
                      <a:r>
                        <a:rPr lang="en-US" altLang="zh-CN" sz="1600" kern="1200" dirty="0">
                          <a:solidFill>
                            <a:srgbClr val="4F4F4F"/>
                          </a:solidFill>
                          <a:effectLst/>
                          <a:latin typeface="+mn-lt"/>
                          <a:ea typeface="+mn-ea"/>
                          <a:cs typeface="+mn-cs"/>
                        </a:rPr>
                        <a:t>RGV</a:t>
                      </a:r>
                      <a:r>
                        <a:rPr lang="zh-CN" altLang="en-US" sz="1600" kern="1200" dirty="0">
                          <a:solidFill>
                            <a:srgbClr val="4F4F4F"/>
                          </a:solidFill>
                          <a:effectLst/>
                          <a:latin typeface="+mn-lt"/>
                          <a:ea typeface="+mn-ea"/>
                          <a:cs typeface="+mn-cs"/>
                        </a:rPr>
                        <a:t>的动态调度策略</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65421709"/>
                  </a:ext>
                </a:extLst>
              </a:tr>
              <a:tr h="243752">
                <a:tc>
                  <a:txBody>
                    <a:bodyPr/>
                    <a:lstStyle/>
                    <a:p>
                      <a:pPr latinLnBrk="0"/>
                      <a:r>
                        <a:rPr lang="en-US" altLang="zh-CN" sz="1600" dirty="0">
                          <a:solidFill>
                            <a:srgbClr val="4F4F4F"/>
                          </a:solidFill>
                          <a:effectLst/>
                        </a:rPr>
                        <a:t>• 2019B “</a:t>
                      </a:r>
                      <a:r>
                        <a:rPr lang="zh-CN" altLang="en-US" sz="1600" dirty="0">
                          <a:solidFill>
                            <a:srgbClr val="4F4F4F"/>
                          </a:solidFill>
                          <a:effectLst/>
                        </a:rPr>
                        <a:t>同心协力”策略研究</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728650597"/>
                  </a:ext>
                </a:extLst>
              </a:tr>
              <a:tr h="243752">
                <a:tc>
                  <a:txBody>
                    <a:bodyPr/>
                    <a:lstStyle/>
                    <a:p>
                      <a:pPr latinLnBrk="0"/>
                      <a:r>
                        <a:rPr lang="en-US" sz="1600" dirty="0">
                          <a:solidFill>
                            <a:srgbClr val="4F4F4F"/>
                          </a:solidFill>
                          <a:effectLst/>
                        </a:rPr>
                        <a:t>• 2020B </a:t>
                      </a:r>
                      <a:r>
                        <a:rPr lang="zh-CN" altLang="en-US" sz="1600" dirty="0">
                          <a:solidFill>
                            <a:srgbClr val="4F4F4F"/>
                          </a:solidFill>
                          <a:effectLst/>
                        </a:rPr>
                        <a:t>穿越沙漠</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42814428"/>
                  </a:ext>
                </a:extLst>
              </a:tr>
              <a:tr h="389605">
                <a:tc>
                  <a:txBody>
                    <a:bodyPr/>
                    <a:lstStyle/>
                    <a:p>
                      <a:pPr latinLnBrk="0"/>
                      <a:r>
                        <a:rPr lang="en-US" altLang="zh-CN" sz="1600" dirty="0">
                          <a:solidFill>
                            <a:srgbClr val="4F4F4F"/>
                          </a:solidFill>
                          <a:effectLst/>
                        </a:rPr>
                        <a:t>• 2021C </a:t>
                      </a:r>
                      <a:r>
                        <a:rPr lang="zh-CN" altLang="en-US" sz="1600" dirty="0">
                          <a:solidFill>
                            <a:srgbClr val="FF0000"/>
                          </a:solidFill>
                          <a:effectLst/>
                        </a:rPr>
                        <a:t>生产企业原材料的订购与运输</a:t>
                      </a:r>
                    </a:p>
                  </a:txBody>
                  <a:tcPr marL="11634" marR="11634" marT="11634" marB="1163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594969476"/>
                  </a:ext>
                </a:extLst>
              </a:tr>
            </a:tbl>
          </a:graphicData>
        </a:graphic>
      </p:graphicFrame>
      <p:sp>
        <p:nvSpPr>
          <p:cNvPr id="10" name="矩形 9">
            <a:extLst>
              <a:ext uri="{FF2B5EF4-FFF2-40B4-BE49-F238E27FC236}">
                <a16:creationId xmlns:a16="http://schemas.microsoft.com/office/drawing/2014/main" id="{FF8F2B83-4A99-429E-A3A6-7359D3B549CC}"/>
              </a:ext>
            </a:extLst>
          </p:cNvPr>
          <p:cNvSpPr/>
          <p:nvPr/>
        </p:nvSpPr>
        <p:spPr>
          <a:xfrm>
            <a:off x="1450253" y="130391"/>
            <a:ext cx="6972948" cy="461665"/>
          </a:xfrm>
          <a:prstGeom prst="rect">
            <a:avLst/>
          </a:prstGeom>
          <a:solidFill>
            <a:schemeClr val="bg1"/>
          </a:solidFill>
        </p:spPr>
        <p:txBody>
          <a:bodyPr wrap="square">
            <a:spAutoFit/>
          </a:bodyPr>
          <a:lstStyle/>
          <a:p>
            <a:endParaRPr lang="zh-CN" altLang="en-US" sz="2400" b="0" dirty="0">
              <a:solidFill>
                <a:srgbClr val="000000"/>
              </a:solidFill>
              <a:effectLst/>
              <a:latin typeface="Consolas" panose="020B0609020204030204" pitchFamily="49" charset="0"/>
            </a:endParaRPr>
          </a:p>
        </p:txBody>
      </p:sp>
      <p:sp>
        <p:nvSpPr>
          <p:cNvPr id="11" name="标题 1">
            <a:extLst>
              <a:ext uri="{FF2B5EF4-FFF2-40B4-BE49-F238E27FC236}">
                <a16:creationId xmlns:a16="http://schemas.microsoft.com/office/drawing/2014/main" id="{492F16A2-E834-46FB-8129-02514E7DE353}"/>
              </a:ext>
            </a:extLst>
          </p:cNvPr>
          <p:cNvSpPr>
            <a:spLocks noGrp="1"/>
          </p:cNvSpPr>
          <p:nvPr>
            <p:ph type="title"/>
          </p:nvPr>
        </p:nvSpPr>
        <p:spPr>
          <a:xfrm>
            <a:off x="817268" y="190823"/>
            <a:ext cx="7667625" cy="438150"/>
          </a:xfrm>
        </p:spPr>
        <p:txBody>
          <a:bodyPr/>
          <a:lstStyle/>
          <a:p>
            <a:r>
              <a:rPr lang="zh-CN" altLang="en-US" kern="100" dirty="0">
                <a:solidFill>
                  <a:srgbClr val="002060"/>
                </a:solidFill>
              </a:rPr>
              <a:t>第</a:t>
            </a:r>
            <a:r>
              <a:rPr lang="en-US" altLang="zh-CN" kern="100" dirty="0">
                <a:solidFill>
                  <a:srgbClr val="002060"/>
                </a:solidFill>
              </a:rPr>
              <a:t>8</a:t>
            </a:r>
            <a:r>
              <a:rPr lang="zh-CN" altLang="en-US" kern="100" dirty="0">
                <a:solidFill>
                  <a:srgbClr val="002060"/>
                </a:solidFill>
              </a:rPr>
              <a:t>章</a:t>
            </a:r>
            <a:r>
              <a:rPr lang="en-US" altLang="zh-CN" kern="100" dirty="0">
                <a:solidFill>
                  <a:srgbClr val="002060"/>
                </a:solidFill>
              </a:rPr>
              <a:t>. </a:t>
            </a:r>
            <a:r>
              <a:rPr lang="zh-CN" altLang="en-US" kern="100" dirty="0"/>
              <a:t>最优化计算</a:t>
            </a:r>
            <a:endParaRPr lang="zh-CN" altLang="en-US" dirty="0"/>
          </a:p>
        </p:txBody>
      </p:sp>
      <p:sp>
        <p:nvSpPr>
          <p:cNvPr id="12" name="矩形 11">
            <a:extLst>
              <a:ext uri="{FF2B5EF4-FFF2-40B4-BE49-F238E27FC236}">
                <a16:creationId xmlns:a16="http://schemas.microsoft.com/office/drawing/2014/main" id="{90256D45-7959-43ED-A99B-1226A6ED7B09}"/>
              </a:ext>
            </a:extLst>
          </p:cNvPr>
          <p:cNvSpPr/>
          <p:nvPr/>
        </p:nvSpPr>
        <p:spPr>
          <a:xfrm>
            <a:off x="4270985" y="144146"/>
            <a:ext cx="4624984" cy="461665"/>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none">
            <a:spAutoFit/>
          </a:bodyPr>
          <a:lstStyle/>
          <a:p>
            <a:pPr eaLnBrk="0">
              <a:spcBef>
                <a:spcPts val="0"/>
              </a:spcBef>
              <a:spcAft>
                <a:spcPts val="0"/>
              </a:spcAft>
            </a:pPr>
            <a:r>
              <a:rPr lang="zh-CN" altLang="en-US" sz="2400" dirty="0">
                <a:solidFill>
                  <a:srgbClr val="00B0F0"/>
                </a:solidFill>
                <a:latin typeface="华文楷体" panose="02010600040101010101" pitchFamily="2" charset="-122"/>
                <a:ea typeface="华文楷体" panose="02010600040101010101" pitchFamily="2" charset="-122"/>
              </a:rPr>
              <a:t>最优化计算是运筹学重要的部分</a:t>
            </a:r>
          </a:p>
        </p:txBody>
      </p:sp>
      <p:sp>
        <p:nvSpPr>
          <p:cNvPr id="16" name="AutoShape 13">
            <a:extLst>
              <a:ext uri="{FF2B5EF4-FFF2-40B4-BE49-F238E27FC236}">
                <a16:creationId xmlns:a16="http://schemas.microsoft.com/office/drawing/2014/main" id="{C621195A-DC62-482E-9145-858EF1FD54A7}"/>
              </a:ext>
            </a:extLst>
          </p:cNvPr>
          <p:cNvSpPr>
            <a:spLocks noChangeArrowheads="1"/>
          </p:cNvSpPr>
          <p:nvPr/>
        </p:nvSpPr>
        <p:spPr bwMode="auto">
          <a:xfrm>
            <a:off x="4763200" y="1092468"/>
            <a:ext cx="4132769" cy="427526"/>
          </a:xfrm>
          <a:prstGeom prst="irregularSeal2">
            <a:avLst/>
          </a:prstGeom>
          <a:solidFill>
            <a:srgbClr val="C00000"/>
          </a:solidFill>
          <a:ln w="57150">
            <a:solidFill>
              <a:srgbClr val="00FF00"/>
            </a:solidFill>
            <a:miter lim="800000"/>
          </a:ln>
          <a:scene3d>
            <a:camera prst="orthographicFront"/>
            <a:lightRig rig="threePt" dir="t"/>
          </a:scene3d>
          <a:sp3d>
            <a:bevelT prst="angle"/>
          </a:sp3d>
        </p:spPr>
        <p:txBody>
          <a:bodyPr wrap="none" anchor="ctr"/>
          <a:lstStyle/>
          <a:p>
            <a:r>
              <a:rPr lang="zh-CN" altLang="en-US" sz="1200" dirty="0">
                <a:solidFill>
                  <a:srgbClr val="FFFF00"/>
                </a:solidFill>
                <a:latin typeface="微软雅黑" panose="020B0503020204020204" pitchFamily="34" charset="-122"/>
                <a:ea typeface="微软雅黑" panose="020B0503020204020204" pitchFamily="34" charset="-122"/>
              </a:rPr>
              <a:t>建立数学模型，求解最优策略</a:t>
            </a:r>
          </a:p>
        </p:txBody>
      </p:sp>
      <p:sp>
        <p:nvSpPr>
          <p:cNvPr id="14" name="文本框 13">
            <a:extLst>
              <a:ext uri="{FF2B5EF4-FFF2-40B4-BE49-F238E27FC236}">
                <a16:creationId xmlns:a16="http://schemas.microsoft.com/office/drawing/2014/main" id="{79F86D40-0511-4D19-A120-5AC4B7C045AD}"/>
              </a:ext>
            </a:extLst>
          </p:cNvPr>
          <p:cNvSpPr txBox="1"/>
          <p:nvPr/>
        </p:nvSpPr>
        <p:spPr>
          <a:xfrm>
            <a:off x="446462" y="692358"/>
            <a:ext cx="8506124" cy="400110"/>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3500000" scaled="1"/>
            <a:tileRect/>
          </a:gradFill>
          <a:ln>
            <a:solidFill>
              <a:schemeClr val="bg1"/>
            </a:solidFill>
          </a:ln>
        </p:spPr>
        <p:txBody>
          <a:bodyPr wrap="square" rtlCol="0" anchor="t">
            <a:spAutoFit/>
          </a:bodyPr>
          <a:lstStyle>
            <a:defPPr>
              <a:defRPr lang="zh-CN"/>
            </a:defPPr>
            <a:lvl1pPr algn="dist" defTabSz="0">
              <a:lnSpc>
                <a:spcPts val="2500"/>
              </a:lnSpc>
              <a:spcBef>
                <a:spcPts val="0"/>
              </a:spcBef>
              <a:defRPr sz="2000">
                <a:solidFill>
                  <a:schemeClr val="bg1"/>
                </a:solidFill>
                <a:latin typeface="Consolas" panose="020B0609020204030204" pitchFamily="49" charset="0"/>
                <a:ea typeface="华文楷体" panose="02010600040101010101" pitchFamily="2" charset="-122"/>
              </a:defRPr>
            </a:lvl1pPr>
          </a:lstStyle>
          <a:p>
            <a:r>
              <a:rPr lang="zh-CN" altLang="en-US" dirty="0"/>
              <a:t>无论工程还是科研以及生活常常面临多项选择的问题，存在最优化问题</a:t>
            </a:r>
          </a:p>
        </p:txBody>
      </p:sp>
      <p:sp>
        <p:nvSpPr>
          <p:cNvPr id="15" name="AutoShape 13">
            <a:extLst>
              <a:ext uri="{FF2B5EF4-FFF2-40B4-BE49-F238E27FC236}">
                <a16:creationId xmlns:a16="http://schemas.microsoft.com/office/drawing/2014/main" id="{084E2EBA-BB46-417C-834E-A003F19A4107}"/>
              </a:ext>
            </a:extLst>
          </p:cNvPr>
          <p:cNvSpPr/>
          <p:nvPr/>
        </p:nvSpPr>
        <p:spPr bwMode="auto">
          <a:xfrm>
            <a:off x="2008025" y="3821918"/>
            <a:ext cx="4248472" cy="427526"/>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numCol="1" anchor="ctr">
            <a:noAutofit/>
          </a:bodyPr>
          <a:lstStyle/>
          <a:p>
            <a:pPr algn="l"/>
            <a:r>
              <a:rPr lang="zh-CN" altLang="en-US" sz="1200" b="1" i="0" dirty="0">
                <a:solidFill>
                  <a:srgbClr val="FFFF00"/>
                </a:solidFill>
                <a:effectLst/>
                <a:latin typeface="微软雅黑" panose="020B0503020204020204" pitchFamily="34" charset="-122"/>
                <a:ea typeface="微软雅黑" panose="020B0503020204020204" pitchFamily="34" charset="-122"/>
              </a:rPr>
              <a:t>寻找</a:t>
            </a:r>
            <a:r>
              <a:rPr lang="en-US" altLang="zh-CN" sz="1200" b="1" i="0" dirty="0">
                <a:solidFill>
                  <a:srgbClr val="FFFF00"/>
                </a:solidFill>
                <a:effectLst/>
                <a:latin typeface="微软雅黑" panose="020B0503020204020204" pitchFamily="34" charset="-122"/>
                <a:ea typeface="微软雅黑" panose="020B0503020204020204" pitchFamily="34" charset="-122"/>
              </a:rPr>
              <a:t>1</a:t>
            </a:r>
            <a:r>
              <a:rPr lang="zh-CN" altLang="en-US" sz="1200" b="1" i="0" dirty="0">
                <a:solidFill>
                  <a:srgbClr val="FFFF00"/>
                </a:solidFill>
                <a:effectLst/>
                <a:latin typeface="微软雅黑" panose="020B0503020204020204" pitchFamily="34" charset="-122"/>
                <a:ea typeface="微软雅黑" panose="020B0503020204020204" pitchFamily="34" charset="-122"/>
              </a:rPr>
              <a:t>个最优解的数学模型</a:t>
            </a:r>
            <a:r>
              <a:rPr lang="zh-CN" altLang="en-US" sz="1200" b="1" dirty="0">
                <a:solidFill>
                  <a:srgbClr val="FFFF00"/>
                </a:solidFill>
                <a:latin typeface="微软雅黑" panose="020B0503020204020204" pitchFamily="34" charset="-122"/>
                <a:ea typeface="微软雅黑" panose="020B0503020204020204" pitchFamily="34" charset="-122"/>
              </a:rPr>
              <a:t>进行优化</a:t>
            </a:r>
            <a:endParaRPr lang="zh-CN" altLang="en-US" sz="1200" b="1" i="0" dirty="0">
              <a:solidFill>
                <a:srgbClr val="FFFF00"/>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5876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6" grpId="0" animBg="1"/>
      <p:bldP spid="1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86324DB-10E4-765A-1A7E-85D1D4C02102}"/>
              </a:ext>
            </a:extLst>
          </p:cNvPr>
          <p:cNvSpPr/>
          <p:nvPr/>
        </p:nvSpPr>
        <p:spPr>
          <a:xfrm>
            <a:off x="1450253" y="130391"/>
            <a:ext cx="6972948" cy="461665"/>
          </a:xfrm>
          <a:prstGeom prst="rect">
            <a:avLst/>
          </a:prstGeom>
          <a:solidFill>
            <a:schemeClr val="bg1"/>
          </a:solidFill>
        </p:spPr>
        <p:txBody>
          <a:bodyPr wrap="square">
            <a:spAutoFit/>
          </a:bodyPr>
          <a:lstStyle/>
          <a:p>
            <a:endParaRPr lang="zh-CN" altLang="en-US" sz="2400" b="0" dirty="0">
              <a:solidFill>
                <a:srgbClr val="000000"/>
              </a:solidFill>
              <a:effectLst/>
              <a:latin typeface="Consolas" panose="020B0609020204030204" pitchFamily="49" charset="0"/>
            </a:endParaRPr>
          </a:p>
        </p:txBody>
      </p:sp>
      <p:sp>
        <p:nvSpPr>
          <p:cNvPr id="15" name="文本框 14">
            <a:extLst>
              <a:ext uri="{FF2B5EF4-FFF2-40B4-BE49-F238E27FC236}">
                <a16:creationId xmlns:a16="http://schemas.microsoft.com/office/drawing/2014/main" id="{096E34E3-3D49-408F-9B6C-C8F900E5683F}"/>
              </a:ext>
            </a:extLst>
          </p:cNvPr>
          <p:cNvSpPr txBox="1"/>
          <p:nvPr/>
        </p:nvSpPr>
        <p:spPr>
          <a:xfrm>
            <a:off x="297571" y="1302227"/>
            <a:ext cx="8532647" cy="769441"/>
          </a:xfrm>
          <a:prstGeom prst="rect">
            <a:avLst/>
          </a:prstGeom>
          <a:solidFill>
            <a:schemeClr val="bg1"/>
          </a:solidFill>
          <a:ln>
            <a:solidFill>
              <a:schemeClr val="bg1">
                <a:lumMod val="50000"/>
              </a:schemeClr>
            </a:solidFill>
          </a:ln>
          <a:effectLst/>
        </p:spPr>
        <p:txBody>
          <a:bodyPr wrap="square">
            <a:spAutoFit/>
          </a:bodyPr>
          <a:lstStyle/>
          <a:p>
            <a:r>
              <a:rPr lang="zh-CN" altLang="en-US" sz="2200" b="0" i="0" dirty="0">
                <a:solidFill>
                  <a:srgbClr val="0070C0"/>
                </a:solidFill>
                <a:effectLst/>
                <a:latin typeface="华文楷体" panose="02010600040101010101" pitchFamily="2" charset="-122"/>
                <a:ea typeface="华文楷体" panose="02010600040101010101" pitchFamily="2" charset="-122"/>
              </a:rPr>
              <a:t>最优化问题是机器学习、人工智能等问题的基础，也在互联网广告、推荐系统、机器人、无人驾驶等领域有着广泛应用。</a:t>
            </a:r>
            <a:endParaRPr lang="zh-CN" altLang="en-US" sz="2200" dirty="0">
              <a:solidFill>
                <a:srgbClr val="0070C0"/>
              </a:solidFill>
              <a:latin typeface="华文楷体" panose="02010600040101010101" pitchFamily="2" charset="-122"/>
              <a:ea typeface="华文楷体" panose="02010600040101010101" pitchFamily="2" charset="-122"/>
            </a:endParaRPr>
          </a:p>
        </p:txBody>
      </p:sp>
      <p:sp>
        <p:nvSpPr>
          <p:cNvPr id="18" name="标题 1">
            <a:extLst>
              <a:ext uri="{FF2B5EF4-FFF2-40B4-BE49-F238E27FC236}">
                <a16:creationId xmlns:a16="http://schemas.microsoft.com/office/drawing/2014/main" id="{BD54EC28-DFDE-41E1-BD23-92BF2BA2B2CC}"/>
              </a:ext>
            </a:extLst>
          </p:cNvPr>
          <p:cNvSpPr>
            <a:spLocks noGrp="1"/>
          </p:cNvSpPr>
          <p:nvPr>
            <p:ph type="title"/>
          </p:nvPr>
        </p:nvSpPr>
        <p:spPr>
          <a:xfrm>
            <a:off x="817268" y="198324"/>
            <a:ext cx="7667625" cy="438150"/>
          </a:xfrm>
        </p:spPr>
        <p:txBody>
          <a:bodyPr/>
          <a:lstStyle/>
          <a:p>
            <a:r>
              <a:rPr lang="zh-CN" altLang="en-US" kern="100" dirty="0">
                <a:solidFill>
                  <a:srgbClr val="002060"/>
                </a:solidFill>
              </a:rPr>
              <a:t>第</a:t>
            </a:r>
            <a:r>
              <a:rPr lang="en-US" altLang="zh-CN" kern="100" dirty="0">
                <a:solidFill>
                  <a:srgbClr val="002060"/>
                </a:solidFill>
              </a:rPr>
              <a:t>8</a:t>
            </a:r>
            <a:r>
              <a:rPr lang="zh-CN" altLang="en-US" kern="100" dirty="0">
                <a:solidFill>
                  <a:srgbClr val="002060"/>
                </a:solidFill>
              </a:rPr>
              <a:t>章</a:t>
            </a:r>
            <a:r>
              <a:rPr lang="en-US" altLang="zh-CN" kern="100" dirty="0">
                <a:solidFill>
                  <a:srgbClr val="002060"/>
                </a:solidFill>
              </a:rPr>
              <a:t>. </a:t>
            </a:r>
            <a:r>
              <a:rPr lang="zh-CN" altLang="en-US" kern="100" dirty="0"/>
              <a:t>最优化计算</a:t>
            </a:r>
            <a:endParaRPr lang="zh-CN" altLang="en-US" dirty="0"/>
          </a:p>
        </p:txBody>
      </p:sp>
      <p:sp>
        <p:nvSpPr>
          <p:cNvPr id="19" name="矩形 18">
            <a:extLst>
              <a:ext uri="{FF2B5EF4-FFF2-40B4-BE49-F238E27FC236}">
                <a16:creationId xmlns:a16="http://schemas.microsoft.com/office/drawing/2014/main" id="{775A8851-BBBB-4460-97CC-112529B62B67}"/>
              </a:ext>
            </a:extLst>
          </p:cNvPr>
          <p:cNvSpPr/>
          <p:nvPr/>
        </p:nvSpPr>
        <p:spPr>
          <a:xfrm>
            <a:off x="4240431" y="130391"/>
            <a:ext cx="4624984" cy="461665"/>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wrap="none">
            <a:spAutoFit/>
          </a:bodyPr>
          <a:lstStyle/>
          <a:p>
            <a:pPr eaLnBrk="0">
              <a:spcBef>
                <a:spcPts val="0"/>
              </a:spcBef>
              <a:spcAft>
                <a:spcPts val="0"/>
              </a:spcAft>
            </a:pPr>
            <a:r>
              <a:rPr lang="zh-CN" altLang="en-US" sz="2400" dirty="0">
                <a:solidFill>
                  <a:srgbClr val="00B0F0"/>
                </a:solidFill>
                <a:latin typeface="华文楷体" panose="02010600040101010101" pitchFamily="2" charset="-122"/>
                <a:ea typeface="华文楷体" panose="02010600040101010101" pitchFamily="2" charset="-122"/>
              </a:rPr>
              <a:t>最优化计算是运筹学重要的部分</a:t>
            </a:r>
          </a:p>
        </p:txBody>
      </p:sp>
      <p:pic>
        <p:nvPicPr>
          <p:cNvPr id="22" name="图片 21">
            <a:extLst>
              <a:ext uri="{FF2B5EF4-FFF2-40B4-BE49-F238E27FC236}">
                <a16:creationId xmlns:a16="http://schemas.microsoft.com/office/drawing/2014/main" id="{85AD6620-E01A-4274-8BDA-0725B516534C}"/>
              </a:ext>
            </a:extLst>
          </p:cNvPr>
          <p:cNvPicPr>
            <a:picLocks noChangeAspect="1"/>
          </p:cNvPicPr>
          <p:nvPr/>
        </p:nvPicPr>
        <p:blipFill rotWithShape="1">
          <a:blip r:embed="rId3"/>
          <a:srcRect l="12546" t="32490" r="44841" b="46860"/>
          <a:stretch/>
        </p:blipFill>
        <p:spPr>
          <a:xfrm>
            <a:off x="107504" y="2211710"/>
            <a:ext cx="8728196" cy="1659104"/>
          </a:xfrm>
          <a:prstGeom prst="flowChartProcess">
            <a:avLst/>
          </a:prstGeom>
        </p:spPr>
      </p:pic>
      <p:pic>
        <p:nvPicPr>
          <p:cNvPr id="24" name="图片 23">
            <a:extLst>
              <a:ext uri="{FF2B5EF4-FFF2-40B4-BE49-F238E27FC236}">
                <a16:creationId xmlns:a16="http://schemas.microsoft.com/office/drawing/2014/main" id="{EB031D0B-8B3E-4AED-9480-82B17E70A35F}"/>
              </a:ext>
            </a:extLst>
          </p:cNvPr>
          <p:cNvPicPr>
            <a:picLocks noChangeAspect="1"/>
          </p:cNvPicPr>
          <p:nvPr/>
        </p:nvPicPr>
        <p:blipFill rotWithShape="1">
          <a:blip r:embed="rId3"/>
          <a:srcRect l="13377" t="73195" r="44979" b="18708"/>
          <a:stretch/>
        </p:blipFill>
        <p:spPr>
          <a:xfrm>
            <a:off x="273333" y="3955799"/>
            <a:ext cx="8556885" cy="511918"/>
          </a:xfrm>
          <a:prstGeom prst="rect">
            <a:avLst/>
          </a:prstGeom>
          <a:ln>
            <a:solidFill>
              <a:srgbClr val="002060"/>
            </a:solidFill>
          </a:ln>
        </p:spPr>
      </p:pic>
      <p:sp>
        <p:nvSpPr>
          <p:cNvPr id="12" name="矩形: 圆角 11">
            <a:extLst>
              <a:ext uri="{FF2B5EF4-FFF2-40B4-BE49-F238E27FC236}">
                <a16:creationId xmlns:a16="http://schemas.microsoft.com/office/drawing/2014/main" id="{EDA23F56-529F-4722-8D69-0B7D1708616E}"/>
              </a:ext>
            </a:extLst>
          </p:cNvPr>
          <p:cNvSpPr/>
          <p:nvPr/>
        </p:nvSpPr>
        <p:spPr bwMode="auto">
          <a:xfrm>
            <a:off x="1547664" y="2667704"/>
            <a:ext cx="1080120" cy="590874"/>
          </a:xfrm>
          <a:prstGeom prst="roundRect">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outerShdw blurRad="38100" dist="38100" dir="2700000" algn="tl">
                  <a:srgbClr val="000000">
                    <a:alpha val="43137"/>
                  </a:srgbClr>
                </a:outerShdw>
              </a:effectLst>
              <a:latin typeface="Times New Roman" pitchFamily="18" charset="0"/>
            </a:endParaRPr>
          </a:p>
        </p:txBody>
      </p:sp>
      <p:sp>
        <p:nvSpPr>
          <p:cNvPr id="13" name="矩形 12">
            <a:extLst>
              <a:ext uri="{FF2B5EF4-FFF2-40B4-BE49-F238E27FC236}">
                <a16:creationId xmlns:a16="http://schemas.microsoft.com/office/drawing/2014/main" id="{4AE37562-9A06-4245-9C70-F8F17039EA08}"/>
              </a:ext>
            </a:extLst>
          </p:cNvPr>
          <p:cNvSpPr/>
          <p:nvPr/>
        </p:nvSpPr>
        <p:spPr>
          <a:xfrm>
            <a:off x="297571" y="767244"/>
            <a:ext cx="8567844" cy="404213"/>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3500000" scaled="1"/>
            <a:tileRect/>
          </a:gradFill>
          <a:ln>
            <a:solidFill>
              <a:schemeClr val="bg1"/>
            </a:solidFill>
          </a:ln>
        </p:spPr>
        <p:txBody>
          <a:bodyPr wrap="square" rtlCol="0" anchor="t">
            <a:spAutoFit/>
          </a:bodyPr>
          <a:lstStyle/>
          <a:p>
            <a:pPr algn="dist" defTabSz="0">
              <a:lnSpc>
                <a:spcPts val="2500"/>
              </a:lnSpc>
              <a:spcBef>
                <a:spcPts val="0"/>
              </a:spcBef>
            </a:pPr>
            <a:r>
              <a:rPr lang="zh-CN" altLang="en-US" sz="2000" dirty="0">
                <a:solidFill>
                  <a:schemeClr val="bg1"/>
                </a:solidFill>
                <a:latin typeface="Consolas" panose="020B0609020204030204" pitchFamily="49" charset="0"/>
                <a:ea typeface="华文楷体" panose="02010600040101010101" pitchFamily="2" charset="-122"/>
              </a:rPr>
              <a:t>优化原则</a:t>
            </a:r>
            <a:r>
              <a:rPr lang="en-US" altLang="zh-CN" sz="2000" dirty="0">
                <a:solidFill>
                  <a:schemeClr val="bg1"/>
                </a:solidFill>
                <a:latin typeface="Consolas" panose="020B0609020204030204" pitchFamily="49" charset="0"/>
                <a:ea typeface="华文楷体" panose="02010600040101010101" pitchFamily="2" charset="-122"/>
              </a:rPr>
              <a:t>:</a:t>
            </a:r>
            <a:r>
              <a:rPr lang="zh-CN" altLang="en-US" sz="2000" dirty="0">
                <a:solidFill>
                  <a:schemeClr val="bg1"/>
                </a:solidFill>
                <a:latin typeface="Consolas" panose="020B0609020204030204" pitchFamily="49" charset="0"/>
                <a:ea typeface="华文楷体" panose="02010600040101010101" pitchFamily="2" charset="-122"/>
              </a:rPr>
              <a:t>以消耗最小代价，获得最大利益或效果 </a:t>
            </a:r>
          </a:p>
        </p:txBody>
      </p:sp>
      <p:sp>
        <p:nvSpPr>
          <p:cNvPr id="14" name="文本框 13">
            <a:extLst>
              <a:ext uri="{FF2B5EF4-FFF2-40B4-BE49-F238E27FC236}">
                <a16:creationId xmlns:a16="http://schemas.microsoft.com/office/drawing/2014/main" id="{73123E46-44AF-455B-9F78-5EFF13E4BE02}"/>
              </a:ext>
            </a:extLst>
          </p:cNvPr>
          <p:cNvSpPr txBox="1"/>
          <p:nvPr/>
        </p:nvSpPr>
        <p:spPr>
          <a:xfrm>
            <a:off x="5834545" y="3458716"/>
            <a:ext cx="1905808" cy="369332"/>
          </a:xfrm>
          <a:prstGeom prst="rect">
            <a:avLst/>
          </a:prstGeom>
          <a:noFill/>
        </p:spPr>
        <p:txBody>
          <a:bodyPr wrap="square">
            <a:spAutoFit/>
          </a:bodyPr>
          <a:lstStyle/>
          <a:p>
            <a:r>
              <a:rPr lang="en-US" altLang="zh-CN" sz="1800" b="1" kern="100" dirty="0" err="1">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TyOptimization</a:t>
            </a:r>
            <a:endParaRPr lang="zh-CN" altLang="en-US" dirty="0"/>
          </a:p>
        </p:txBody>
      </p:sp>
      <p:sp>
        <p:nvSpPr>
          <p:cNvPr id="4" name="思想气泡: 云 3">
            <a:extLst>
              <a:ext uri="{FF2B5EF4-FFF2-40B4-BE49-F238E27FC236}">
                <a16:creationId xmlns:a16="http://schemas.microsoft.com/office/drawing/2014/main" id="{9729DAA1-253A-4288-87FE-0FF40557AC11}"/>
              </a:ext>
            </a:extLst>
          </p:cNvPr>
          <p:cNvSpPr/>
          <p:nvPr/>
        </p:nvSpPr>
        <p:spPr bwMode="auto">
          <a:xfrm>
            <a:off x="5629803" y="3447835"/>
            <a:ext cx="2038541" cy="478255"/>
          </a:xfrm>
          <a:prstGeom prst="cloudCallout">
            <a:avLst>
              <a:gd name="adj1" fmla="val 15531"/>
              <a:gd name="adj2" fmla="val 83676"/>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72857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2" grpId="0" animBg="1"/>
      <p:bldP spid="14" grpId="0"/>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0D5350-2E0F-B0F0-1651-343AB515FEBF}"/>
              </a:ext>
            </a:extLst>
          </p:cNvPr>
          <p:cNvSpPr>
            <a:spLocks noGrp="1"/>
          </p:cNvSpPr>
          <p:nvPr>
            <p:ph type="title"/>
          </p:nvPr>
        </p:nvSpPr>
        <p:spPr>
          <a:xfrm>
            <a:off x="849182" y="233358"/>
            <a:ext cx="7667625" cy="438150"/>
          </a:xfrm>
        </p:spPr>
        <p:txBody>
          <a:bodyPr/>
          <a:lstStyle/>
          <a:p>
            <a:r>
              <a:rPr lang="zh-CN" altLang="en-US" kern="100" dirty="0"/>
              <a:t>第</a:t>
            </a:r>
            <a:r>
              <a:rPr lang="en-US" altLang="zh-CN" kern="100" dirty="0">
                <a:solidFill>
                  <a:srgbClr val="002060"/>
                </a:solidFill>
              </a:rPr>
              <a:t>8</a:t>
            </a:r>
            <a:r>
              <a:rPr lang="zh-CN" altLang="en-US" kern="100" dirty="0">
                <a:solidFill>
                  <a:srgbClr val="002060"/>
                </a:solidFill>
              </a:rPr>
              <a:t>章</a:t>
            </a:r>
            <a:r>
              <a:rPr lang="en-US" altLang="zh-CN" kern="100" dirty="0">
                <a:solidFill>
                  <a:srgbClr val="002060"/>
                </a:solidFill>
              </a:rPr>
              <a:t> </a:t>
            </a:r>
            <a:r>
              <a:rPr lang="zh-CN" altLang="en-US" kern="100" dirty="0"/>
              <a:t>最优化计算</a:t>
            </a:r>
            <a:endParaRPr lang="zh-CN" altLang="en-US" dirty="0"/>
          </a:p>
        </p:txBody>
      </p:sp>
      <p:sp>
        <p:nvSpPr>
          <p:cNvPr id="4" name="文本框 3">
            <a:extLst>
              <a:ext uri="{FF2B5EF4-FFF2-40B4-BE49-F238E27FC236}">
                <a16:creationId xmlns:a16="http://schemas.microsoft.com/office/drawing/2014/main" id="{FA89EE94-9D35-763F-5DE8-B6B60C8107FE}"/>
              </a:ext>
            </a:extLst>
          </p:cNvPr>
          <p:cNvSpPr txBox="1"/>
          <p:nvPr/>
        </p:nvSpPr>
        <p:spPr>
          <a:xfrm>
            <a:off x="567503" y="714996"/>
            <a:ext cx="8412810" cy="2285369"/>
          </a:xfrm>
          <a:prstGeom prst="rect">
            <a:avLst/>
          </a:prstGeom>
          <a:noFill/>
          <a:ln>
            <a:noFill/>
          </a:ln>
        </p:spPr>
        <p:txBody>
          <a:bodyPr wrap="square">
            <a:spAutoFit/>
          </a:bodyPr>
          <a:lstStyle/>
          <a:p>
            <a:pPr>
              <a:lnSpc>
                <a:spcPts val="3500"/>
              </a:lnSpc>
            </a:pPr>
            <a:r>
              <a:rPr lang="en-US" altLang="zh-CN" sz="2000" dirty="0">
                <a:solidFill>
                  <a:srgbClr val="002060"/>
                </a:solidFill>
                <a:latin typeface="微软雅黑" panose="020B0503020204020204" pitchFamily="34" charset="-122"/>
                <a:ea typeface="微软雅黑" panose="020B0503020204020204" pitchFamily="34" charset="-122"/>
              </a:rPr>
              <a:t>§ 8.1 </a:t>
            </a:r>
            <a:r>
              <a:rPr lang="zh-CN" altLang="en-US" sz="2000" dirty="0">
                <a:solidFill>
                  <a:srgbClr val="002060"/>
                </a:solidFill>
                <a:latin typeface="微软雅黑" panose="020B0503020204020204" pitchFamily="34" charset="-122"/>
                <a:ea typeface="微软雅黑" panose="020B0503020204020204" pitchFamily="34" charset="-122"/>
              </a:rPr>
              <a:t>最优化概念原理及特征</a:t>
            </a:r>
            <a:endParaRPr lang="en-US" altLang="zh-CN" sz="2000" dirty="0">
              <a:solidFill>
                <a:srgbClr val="002060"/>
              </a:solidFill>
              <a:latin typeface="微软雅黑" panose="020B0503020204020204" pitchFamily="34" charset="-122"/>
              <a:ea typeface="微软雅黑" panose="020B0503020204020204" pitchFamily="34" charset="-122"/>
            </a:endParaRPr>
          </a:p>
          <a:p>
            <a:pPr>
              <a:lnSpc>
                <a:spcPts val="3500"/>
              </a:lnSpc>
            </a:pPr>
            <a:r>
              <a:rPr lang="en-US" altLang="zh-CN" sz="2000" dirty="0">
                <a:solidFill>
                  <a:srgbClr val="002060"/>
                </a:solidFill>
                <a:latin typeface="微软雅黑" panose="020B0503020204020204" pitchFamily="34" charset="-122"/>
                <a:ea typeface="微软雅黑" panose="020B0503020204020204" pitchFamily="34" charset="-122"/>
              </a:rPr>
              <a:t>§ 8.2 </a:t>
            </a:r>
            <a:r>
              <a:rPr lang="zh-CN" altLang="en-US" sz="2000" dirty="0">
                <a:solidFill>
                  <a:srgbClr val="2C3E50"/>
                </a:solidFill>
                <a:latin typeface="微软雅黑" panose="020B0503020204020204" pitchFamily="34" charset="-122"/>
                <a:ea typeface="微软雅黑" panose="020B0503020204020204" pitchFamily="34" charset="-122"/>
              </a:rPr>
              <a:t>线性规划</a:t>
            </a:r>
            <a:r>
              <a:rPr lang="en-US" altLang="zh-CN" sz="2000" dirty="0" err="1">
                <a:solidFill>
                  <a:srgbClr val="FF0000"/>
                </a:solidFill>
                <a:latin typeface="微软雅黑" panose="020B0503020204020204" pitchFamily="34" charset="-122"/>
                <a:ea typeface="微软雅黑" panose="020B0503020204020204" pitchFamily="34" charset="-122"/>
                <a:hlinkClick r:id="rId3" action="ppaction://hlinkfile">
                  <a:extLst>
                    <a:ext uri="{A12FA001-AC4F-418D-AE19-62706E023703}">
                      <ahyp:hlinkClr xmlns:ahyp="http://schemas.microsoft.com/office/drawing/2018/hyperlinkcolor" val="tx"/>
                    </a:ext>
                  </a:extLst>
                </a:hlinkClick>
              </a:rPr>
              <a:t>linprog</a:t>
            </a:r>
            <a:r>
              <a:rPr lang="en-US" altLang="zh-CN" sz="2000" dirty="0">
                <a:solidFill>
                  <a:srgbClr val="FF0000"/>
                </a:solidFill>
                <a:latin typeface="微软雅黑" panose="020B0503020204020204" pitchFamily="34" charset="-122"/>
                <a:ea typeface="微软雅黑" panose="020B0503020204020204" pitchFamily="34" charset="-122"/>
              </a:rPr>
              <a:t>  </a:t>
            </a:r>
          </a:p>
          <a:p>
            <a:pPr>
              <a:lnSpc>
                <a:spcPts val="3500"/>
              </a:lnSpc>
            </a:pPr>
            <a:r>
              <a:rPr lang="en-US" altLang="zh-CN" sz="2000" dirty="0">
                <a:solidFill>
                  <a:srgbClr val="002060"/>
                </a:solidFill>
                <a:latin typeface="微软雅黑" panose="020B0503020204020204" pitchFamily="34" charset="-122"/>
                <a:ea typeface="微软雅黑" panose="020B0503020204020204" pitchFamily="34" charset="-122"/>
              </a:rPr>
              <a:t>§ 8.3 </a:t>
            </a:r>
            <a:r>
              <a:rPr lang="zh-CN" altLang="en-US" sz="2000" dirty="0">
                <a:solidFill>
                  <a:srgbClr val="2C3E50"/>
                </a:solidFill>
                <a:latin typeface="微软雅黑" panose="020B0503020204020204" pitchFamily="34" charset="-122"/>
                <a:ea typeface="微软雅黑" panose="020B0503020204020204" pitchFamily="34" charset="-122"/>
              </a:rPr>
              <a:t>二次规划</a:t>
            </a:r>
            <a:r>
              <a:rPr lang="en-US" altLang="zh-CN" sz="2000" dirty="0" err="1">
                <a:solidFill>
                  <a:srgbClr val="FF0000"/>
                </a:solidFill>
                <a:latin typeface="微软雅黑" panose="020B0503020204020204" pitchFamily="34" charset="-122"/>
                <a:ea typeface="微软雅黑" panose="020B0503020204020204" pitchFamily="34" charset="-122"/>
              </a:rPr>
              <a:t>quad</a:t>
            </a:r>
            <a:r>
              <a:rPr lang="en-US" altLang="zh-CN" sz="2000" dirty="0" err="1">
                <a:solidFill>
                  <a:srgbClr val="FF0000"/>
                </a:solidFill>
                <a:latin typeface="微软雅黑" panose="020B0503020204020204" pitchFamily="34" charset="-122"/>
                <a:ea typeface="微软雅黑" panose="020B0503020204020204" pitchFamily="34" charset="-122"/>
                <a:hlinkClick r:id="rId3" action="ppaction://hlinkfile">
                  <a:extLst>
                    <a:ext uri="{A12FA001-AC4F-418D-AE19-62706E023703}">
                      <ahyp:hlinkClr xmlns:ahyp="http://schemas.microsoft.com/office/drawing/2018/hyperlinkcolor" val="tx"/>
                    </a:ext>
                  </a:extLst>
                </a:hlinkClick>
              </a:rPr>
              <a:t>prog</a:t>
            </a:r>
            <a:r>
              <a:rPr lang="en-US" altLang="zh-CN" sz="2000" dirty="0">
                <a:solidFill>
                  <a:srgbClr val="FF0000"/>
                </a:solidFill>
                <a:latin typeface="微软雅黑" panose="020B0503020204020204" pitchFamily="34" charset="-122"/>
                <a:ea typeface="微软雅黑" panose="020B0503020204020204" pitchFamily="34" charset="-122"/>
              </a:rPr>
              <a:t> </a:t>
            </a:r>
          </a:p>
          <a:p>
            <a:pPr>
              <a:lnSpc>
                <a:spcPts val="3500"/>
              </a:lnSpc>
            </a:pPr>
            <a:r>
              <a:rPr lang="en-US" altLang="zh-CN" sz="2000" dirty="0">
                <a:solidFill>
                  <a:srgbClr val="002060"/>
                </a:solidFill>
                <a:latin typeface="微软雅黑" panose="020B0503020204020204" pitchFamily="34" charset="-122"/>
                <a:ea typeface="微软雅黑" panose="020B0503020204020204" pitchFamily="34" charset="-122"/>
              </a:rPr>
              <a:t>§ 8.4 </a:t>
            </a:r>
            <a:r>
              <a:rPr lang="zh-CN" altLang="en-US" sz="2000" dirty="0">
                <a:solidFill>
                  <a:srgbClr val="002060"/>
                </a:solidFill>
                <a:latin typeface="微软雅黑" panose="020B0503020204020204" pitchFamily="34" charset="-122"/>
                <a:ea typeface="微软雅黑" panose="020B0503020204020204" pitchFamily="34" charset="-122"/>
              </a:rPr>
              <a:t>非线性规划</a:t>
            </a:r>
            <a:r>
              <a:rPr lang="en-US" altLang="zh-CN" sz="2000" dirty="0" err="1">
                <a:solidFill>
                  <a:srgbClr val="FF0000"/>
                </a:solidFill>
                <a:latin typeface="微软雅黑" panose="020B0503020204020204" pitchFamily="34" charset="-122"/>
                <a:ea typeface="微软雅黑" panose="020B0503020204020204" pitchFamily="34" charset="-122"/>
                <a:sym typeface="Arial" panose="020B0604020202020204" pitchFamily="34" charset="0"/>
              </a:rPr>
              <a:t>fminbnd</a:t>
            </a:r>
            <a:r>
              <a:rPr lang="en-US" altLang="zh-CN" sz="20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 fminsearch </a:t>
            </a:r>
            <a:r>
              <a:rPr lang="en-US" altLang="zh-CN" sz="2000" dirty="0" err="1">
                <a:solidFill>
                  <a:srgbClr val="FF0000"/>
                </a:solidFill>
                <a:latin typeface="微软雅黑" panose="020B0503020204020204" pitchFamily="34" charset="-122"/>
                <a:ea typeface="微软雅黑" panose="020B0503020204020204" pitchFamily="34" charset="-122"/>
                <a:hlinkClick r:id="rId4" action="ppaction://hlinkfile">
                  <a:extLst>
                    <a:ext uri="{A12FA001-AC4F-418D-AE19-62706E023703}">
                      <ahyp:hlinkClr xmlns:ahyp="http://schemas.microsoft.com/office/drawing/2018/hyperlinkcolor" val="tx"/>
                    </a:ext>
                  </a:extLst>
                </a:hlinkClick>
              </a:rPr>
              <a:t>fminunc</a:t>
            </a:r>
            <a:r>
              <a:rPr lang="en-US" altLang="zh-CN" sz="2000" dirty="0">
                <a:solidFill>
                  <a:srgbClr val="FF0000"/>
                </a:solidFill>
                <a:latin typeface="微软雅黑" panose="020B0503020204020204" pitchFamily="34" charset="-122"/>
                <a:ea typeface="微软雅黑" panose="020B0503020204020204" pitchFamily="34" charset="-122"/>
              </a:rPr>
              <a:t> </a:t>
            </a:r>
            <a:r>
              <a:rPr lang="zh-CN" altLang="zh-CN" sz="2000" dirty="0">
                <a:solidFill>
                  <a:srgbClr val="FF0000"/>
                </a:solidFill>
                <a:latin typeface="微软雅黑" panose="020B0503020204020204" pitchFamily="34" charset="-122"/>
                <a:ea typeface="微软雅黑" panose="020B0503020204020204" pitchFamily="34" charset="-122"/>
              </a:rPr>
              <a:t>fmincon</a:t>
            </a:r>
            <a:endParaRPr lang="en-US" altLang="zh-CN" sz="2000" dirty="0">
              <a:solidFill>
                <a:srgbClr val="FF0000"/>
              </a:solidFill>
              <a:latin typeface="微软雅黑" panose="020B0503020204020204" pitchFamily="34" charset="-122"/>
              <a:ea typeface="微软雅黑" panose="020B0503020204020204" pitchFamily="34" charset="-122"/>
            </a:endParaRPr>
          </a:p>
          <a:p>
            <a:pPr>
              <a:lnSpc>
                <a:spcPts val="3500"/>
              </a:lnSpc>
            </a:pPr>
            <a:r>
              <a:rPr lang="en-US" altLang="zh-CN" sz="2000" dirty="0">
                <a:solidFill>
                  <a:srgbClr val="002060"/>
                </a:solidFill>
                <a:latin typeface="微软雅黑" panose="020B0503020204020204" pitchFamily="34" charset="-122"/>
                <a:ea typeface="微软雅黑" panose="020B0503020204020204" pitchFamily="34" charset="-122"/>
              </a:rPr>
              <a:t>§ 8.5 </a:t>
            </a:r>
            <a:r>
              <a:rPr lang="zh-CN" altLang="en-US" sz="2000" dirty="0">
                <a:solidFill>
                  <a:srgbClr val="002060"/>
                </a:solidFill>
                <a:latin typeface="微软雅黑" panose="020B0503020204020204" pitchFamily="34" charset="-122"/>
                <a:ea typeface="微软雅黑" panose="020B0503020204020204" pitchFamily="34" charset="-122"/>
              </a:rPr>
              <a:t>非线性方程及方程组求解 </a:t>
            </a:r>
            <a:r>
              <a:rPr lang="en-US" altLang="zh-CN" sz="20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fzero </a:t>
            </a:r>
            <a:r>
              <a:rPr lang="en-US" altLang="zh-CN" sz="2000" dirty="0" err="1">
                <a:solidFill>
                  <a:srgbClr val="FF0000"/>
                </a:solidFill>
                <a:latin typeface="微软雅黑" panose="020B0503020204020204" pitchFamily="34" charset="-122"/>
                <a:ea typeface="微软雅黑" panose="020B0503020204020204" pitchFamily="34" charset="-122"/>
                <a:sym typeface="Arial" panose="020B0604020202020204" pitchFamily="34" charset="0"/>
              </a:rPr>
              <a:t>fsolve</a:t>
            </a:r>
            <a:r>
              <a:rPr lang="en-US" altLang="zh-CN" sz="20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 </a:t>
            </a:r>
            <a:endParaRPr lang="zh-CN" altLang="en-US" sz="2000" dirty="0">
              <a:solidFill>
                <a:srgbClr val="002060"/>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B82C06B4-4733-4AD9-841D-0B27B5CC41E6}"/>
              </a:ext>
            </a:extLst>
          </p:cNvPr>
          <p:cNvSpPr/>
          <p:nvPr/>
        </p:nvSpPr>
        <p:spPr>
          <a:xfrm>
            <a:off x="4301880" y="143344"/>
            <a:ext cx="4647426" cy="461665"/>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none">
            <a:spAutoFit/>
          </a:bodyPr>
          <a:lstStyle/>
          <a:p>
            <a:pPr eaLnBrk="0">
              <a:spcBef>
                <a:spcPts val="0"/>
              </a:spcBef>
              <a:spcAft>
                <a:spcPts val="0"/>
              </a:spcAft>
            </a:pPr>
            <a:r>
              <a:rPr lang="zh-CN" altLang="en-US" sz="2400" dirty="0">
                <a:solidFill>
                  <a:srgbClr val="FF0000"/>
                </a:solidFill>
                <a:latin typeface="华文楷体" panose="02010600040101010101" pitchFamily="2" charset="-122"/>
                <a:ea typeface="华文楷体" panose="02010600040101010101" pitchFamily="2" charset="-122"/>
              </a:rPr>
              <a:t>最优化计算是运筹学重要的问题</a:t>
            </a:r>
          </a:p>
        </p:txBody>
      </p:sp>
      <p:sp>
        <p:nvSpPr>
          <p:cNvPr id="8" name="文本框 7">
            <a:extLst>
              <a:ext uri="{FF2B5EF4-FFF2-40B4-BE49-F238E27FC236}">
                <a16:creationId xmlns:a16="http://schemas.microsoft.com/office/drawing/2014/main" id="{19FC82ED-7ED5-4ED1-863D-8A8650189083}"/>
              </a:ext>
            </a:extLst>
          </p:cNvPr>
          <p:cNvSpPr txBox="1"/>
          <p:nvPr/>
        </p:nvSpPr>
        <p:spPr>
          <a:xfrm>
            <a:off x="536496" y="3579862"/>
            <a:ext cx="8412810" cy="923330"/>
          </a:xfrm>
          <a:prstGeom prst="rect">
            <a:avLst/>
          </a:prstGeom>
          <a:noFill/>
          <a:ln>
            <a:noFill/>
          </a:ln>
        </p:spPr>
        <p:txBody>
          <a:bodyPr wrap="square">
            <a:spAutoFit/>
          </a:bodyPr>
          <a:lstStyle/>
          <a:p>
            <a:pPr algn="just"/>
            <a:r>
              <a:rPr lang="zh-CN" altLang="zh-CN" sz="1800" kern="100" dirty="0">
                <a:solidFill>
                  <a:srgbClr val="00B0F0"/>
                </a:solidFill>
                <a:effectLst/>
                <a:latin typeface="等线" panose="02010600030101010101" pitchFamily="2" charset="-122"/>
                <a:ea typeface="等线" panose="02010600030101010101" pitchFamily="2" charset="-122"/>
                <a:cs typeface="Times New Roman" panose="02020603050405020304" pitchFamily="18" charset="0"/>
              </a:rPr>
              <a:t>最优化计算需要加载优化数据库</a:t>
            </a:r>
            <a:r>
              <a:rPr lang="en-US" altLang="zh-CN" sz="18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using </a:t>
            </a:r>
            <a:r>
              <a:rPr lang="en-US" altLang="zh-CN" sz="1800" b="1" kern="100" dirty="0" err="1">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TyOptimization</a:t>
            </a:r>
            <a:r>
              <a:rPr lang="zh-CN" altLang="zh-CN" sz="1800" kern="100" dirty="0">
                <a:solidFill>
                  <a:srgbClr val="00B0F0"/>
                </a:solidFill>
                <a:effectLst/>
                <a:latin typeface="等线" panose="02010600030101010101" pitchFamily="2" charset="-122"/>
                <a:ea typeface="等线" panose="02010600030101010101" pitchFamily="2" charset="-122"/>
                <a:cs typeface="Times New Roman" panose="02020603050405020304" pitchFamily="18" charset="0"/>
              </a:rPr>
              <a:t>，如在首选项已经预加载优化库，每次启动</a:t>
            </a:r>
            <a:r>
              <a:rPr lang="en-US" altLang="zh-CN" sz="1800" kern="100" dirty="0">
                <a:solidFill>
                  <a:srgbClr val="00B0F0"/>
                </a:solidFill>
                <a:effectLst/>
                <a:latin typeface="等线" panose="02010600030101010101" pitchFamily="2" charset="-122"/>
                <a:ea typeface="等线" panose="02010600030101010101" pitchFamily="2" charset="-122"/>
                <a:cs typeface="Times New Roman" panose="02020603050405020304" pitchFamily="18" charset="0"/>
              </a:rPr>
              <a:t>syslab,</a:t>
            </a:r>
            <a:r>
              <a:rPr lang="zh-CN" altLang="zh-CN" sz="1800" kern="100" dirty="0">
                <a:solidFill>
                  <a:srgbClr val="00B0F0"/>
                </a:solidFill>
                <a:effectLst/>
                <a:latin typeface="等线" panose="02010600030101010101" pitchFamily="2" charset="-122"/>
                <a:ea typeface="等线" panose="02010600030101010101" pitchFamily="2" charset="-122"/>
                <a:cs typeface="Times New Roman" panose="02020603050405020304" pitchFamily="18" charset="0"/>
              </a:rPr>
              <a:t>自动加载优化数据库，无需再</a:t>
            </a:r>
            <a:r>
              <a:rPr lang="en-US" altLang="zh-CN" sz="1800" kern="100" dirty="0">
                <a:solidFill>
                  <a:srgbClr val="00B0F0"/>
                </a:solidFill>
                <a:effectLst/>
                <a:latin typeface="等线" panose="02010600030101010101" pitchFamily="2" charset="-122"/>
                <a:ea typeface="等线" panose="02010600030101010101" pitchFamily="2" charset="-122"/>
                <a:cs typeface="Times New Roman" panose="02020603050405020304" pitchFamily="18" charset="0"/>
              </a:rPr>
              <a:t>using</a:t>
            </a:r>
            <a:r>
              <a:rPr lang="zh-CN" altLang="zh-CN" sz="1800" kern="100" dirty="0">
                <a:solidFill>
                  <a:srgbClr val="00B0F0"/>
                </a:solidFill>
                <a:effectLst/>
                <a:latin typeface="等线" panose="02010600030101010101" pitchFamily="2" charset="-122"/>
                <a:ea typeface="等线" panose="02010600030101010101" pitchFamily="2" charset="-122"/>
                <a:cs typeface="Times New Roman" panose="02020603050405020304" pitchFamily="18" charset="0"/>
              </a:rPr>
              <a:t>加载；但是还是不好使，还需要加载优化数据库</a:t>
            </a:r>
            <a:r>
              <a:rPr lang="en-US" altLang="zh-CN" sz="1800" kern="100" dirty="0">
                <a:solidFill>
                  <a:srgbClr val="00B0F0"/>
                </a:solidFill>
                <a:effectLst/>
                <a:latin typeface="等线" panose="02010600030101010101" pitchFamily="2" charset="-122"/>
                <a:ea typeface="等线" panose="02010600030101010101" pitchFamily="2" charset="-122"/>
                <a:cs typeface="Times New Roman" panose="02020603050405020304" pitchFamily="18" charset="0"/>
              </a:rPr>
              <a:t>using </a:t>
            </a:r>
            <a:r>
              <a:rPr lang="en-US" altLang="zh-CN" sz="1800" kern="100" dirty="0" err="1">
                <a:solidFill>
                  <a:srgbClr val="00B0F0"/>
                </a:solidFill>
                <a:effectLst/>
                <a:latin typeface="等线" panose="02010600030101010101" pitchFamily="2" charset="-122"/>
                <a:ea typeface="等线" panose="02010600030101010101" pitchFamily="2" charset="-122"/>
                <a:cs typeface="Times New Roman" panose="02020603050405020304" pitchFamily="18" charset="0"/>
              </a:rPr>
              <a:t>TyOptimization</a:t>
            </a:r>
            <a:r>
              <a:rPr lang="zh-CN" altLang="zh-CN" sz="1800" kern="100" dirty="0">
                <a:solidFill>
                  <a:srgbClr val="00B0F0"/>
                </a:solidFill>
                <a:effectLst/>
                <a:latin typeface="等线" panose="02010600030101010101" pitchFamily="2" charset="-122"/>
                <a:ea typeface="等线" panose="02010600030101010101" pitchFamily="2" charset="-122"/>
                <a:cs typeface="Times New Roman" panose="02020603050405020304" pitchFamily="18" charset="0"/>
              </a:rPr>
              <a:t>，</a:t>
            </a:r>
          </a:p>
        </p:txBody>
      </p:sp>
      <p:sp>
        <p:nvSpPr>
          <p:cNvPr id="9" name="文本框 8">
            <a:extLst>
              <a:ext uri="{FF2B5EF4-FFF2-40B4-BE49-F238E27FC236}">
                <a16:creationId xmlns:a16="http://schemas.microsoft.com/office/drawing/2014/main" id="{DAE68566-4A83-434D-A4A3-196612DB86F0}"/>
              </a:ext>
            </a:extLst>
          </p:cNvPr>
          <p:cNvSpPr txBox="1"/>
          <p:nvPr/>
        </p:nvSpPr>
        <p:spPr>
          <a:xfrm>
            <a:off x="611559" y="3090817"/>
            <a:ext cx="8325597" cy="395942"/>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3500000" scaled="1"/>
            <a:tileRect/>
          </a:gradFill>
          <a:ln>
            <a:solidFill>
              <a:schemeClr val="bg1"/>
            </a:solidFill>
          </a:ln>
        </p:spPr>
        <p:txBody>
          <a:bodyPr wrap="square" rtlCol="0" anchor="t">
            <a:spAutoFit/>
          </a:bodyPr>
          <a:lstStyle>
            <a:defPPr>
              <a:defRPr lang="zh-CN"/>
            </a:defPPr>
            <a:lvl1pPr algn="dist" defTabSz="0">
              <a:lnSpc>
                <a:spcPts val="2500"/>
              </a:lnSpc>
              <a:spcBef>
                <a:spcPts val="0"/>
              </a:spcBef>
              <a:defRPr>
                <a:solidFill>
                  <a:schemeClr val="bg1"/>
                </a:solidFill>
                <a:latin typeface="华文楷体" panose="02010600040101010101" pitchFamily="2" charset="-122"/>
                <a:ea typeface="华文楷体" panose="02010600040101010101" pitchFamily="2" charset="-122"/>
              </a:defRPr>
            </a:lvl1pPr>
          </a:lstStyle>
          <a:p>
            <a:pPr algn="l"/>
            <a:r>
              <a:rPr lang="en-US" altLang="zh-CN" b="0" dirty="0">
                <a:effectLst/>
                <a:latin typeface="Consolas" panose="020B0609020204030204" pitchFamily="49" charset="0"/>
              </a:rPr>
              <a:t>using </a:t>
            </a:r>
            <a:r>
              <a:rPr lang="en-US" altLang="zh-CN" b="0" dirty="0" err="1">
                <a:effectLst/>
                <a:latin typeface="Consolas" panose="020B0609020204030204" pitchFamily="49" charset="0"/>
              </a:rPr>
              <a:t>TyOptimization</a:t>
            </a:r>
            <a:r>
              <a:rPr lang="en-US" altLang="zh-CN" b="0" dirty="0">
                <a:effectLst/>
                <a:latin typeface="Consolas" panose="020B0609020204030204" pitchFamily="49" charset="0"/>
              </a:rPr>
              <a:t>  #</a:t>
            </a:r>
            <a:r>
              <a:rPr lang="zh-CN" altLang="en-US" b="0" dirty="0">
                <a:effectLst/>
                <a:latin typeface="Consolas" panose="020B0609020204030204" pitchFamily="49" charset="0"/>
              </a:rPr>
              <a:t>调用优化工具箱</a:t>
            </a:r>
            <a:endParaRPr lang="zh-CN" altLang="en-US" dirty="0"/>
          </a:p>
        </p:txBody>
      </p:sp>
      <p:sp>
        <p:nvSpPr>
          <p:cNvPr id="10" name="文本框 9">
            <a:extLst>
              <a:ext uri="{FF2B5EF4-FFF2-40B4-BE49-F238E27FC236}">
                <a16:creationId xmlns:a16="http://schemas.microsoft.com/office/drawing/2014/main" id="{7FDCB396-B3E4-4340-84DA-DCCA836084BE}"/>
              </a:ext>
            </a:extLst>
          </p:cNvPr>
          <p:cNvSpPr txBox="1"/>
          <p:nvPr/>
        </p:nvSpPr>
        <p:spPr>
          <a:xfrm>
            <a:off x="7194576" y="3099281"/>
            <a:ext cx="1721332" cy="369332"/>
          </a:xfrm>
          <a:prstGeom prst="rect">
            <a:avLst/>
          </a:prstGeom>
          <a:noFill/>
        </p:spPr>
        <p:txBody>
          <a:bodyPr wrap="square">
            <a:spAutoFit/>
          </a:bodyPr>
          <a:lstStyle/>
          <a:p>
            <a:r>
              <a:rPr lang="zh-CN" altLang="en-US" b="0" i="0" dirty="0">
                <a:solidFill>
                  <a:srgbClr val="FFFF00"/>
                </a:solidFill>
                <a:effectLst/>
                <a:highlight>
                  <a:srgbClr val="FF0000"/>
                </a:highlight>
                <a:latin typeface="-apple-system"/>
              </a:rPr>
              <a:t>建模和求解</a:t>
            </a:r>
            <a:endParaRPr lang="zh-CN" altLang="en-US" dirty="0">
              <a:solidFill>
                <a:srgbClr val="FFFF00"/>
              </a:solidFill>
              <a:highlight>
                <a:srgbClr val="FF0000"/>
              </a:highlight>
            </a:endParaRPr>
          </a:p>
        </p:txBody>
      </p:sp>
    </p:spTree>
    <p:extLst>
      <p:ext uri="{BB962C8B-B14F-4D97-AF65-F5344CB8AC3E}">
        <p14:creationId xmlns:p14="http://schemas.microsoft.com/office/powerpoint/2010/main" val="716424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3D4CD1E-607E-4E9C-8EDB-8E5CDEB5C3DF}"/>
              </a:ext>
            </a:extLst>
          </p:cNvPr>
          <p:cNvSpPr>
            <a:spLocks noGrp="1"/>
          </p:cNvSpPr>
          <p:nvPr>
            <p:ph idx="1"/>
          </p:nvPr>
        </p:nvSpPr>
        <p:spPr>
          <a:xfrm>
            <a:off x="-36512" y="690334"/>
            <a:ext cx="8679074" cy="756233"/>
          </a:xfrm>
          <a:solidFill>
            <a:schemeClr val="bg1"/>
          </a:solidFill>
        </p:spPr>
        <p:txBody>
          <a:bodyPr/>
          <a:lstStyle/>
          <a:p>
            <a:pPr marL="0" indent="0" algn="l">
              <a:buNone/>
            </a:pPr>
            <a:r>
              <a:rPr lang="en-US" altLang="zh-CN" sz="2000" b="1" i="0" dirty="0">
                <a:solidFill>
                  <a:srgbClr val="0070C0"/>
                </a:solidFill>
                <a:effectLst/>
                <a:latin typeface="微软雅黑" panose="020B0503020204020204" pitchFamily="34" charset="-122"/>
                <a:ea typeface="微软雅黑" panose="020B0503020204020204" pitchFamily="34" charset="-122"/>
              </a:rPr>
              <a:t>1.</a:t>
            </a:r>
            <a:r>
              <a:rPr lang="zh-CN" altLang="en-US" sz="2000" b="1" i="0" dirty="0">
                <a:solidFill>
                  <a:srgbClr val="0070C0"/>
                </a:solidFill>
                <a:effectLst/>
                <a:latin typeface="微软雅黑" panose="020B0503020204020204" pitchFamily="34" charset="-122"/>
                <a:ea typeface="微软雅黑" panose="020B0503020204020204" pitchFamily="34" charset="-122"/>
              </a:rPr>
              <a:t>优化问题三要素 </a:t>
            </a:r>
          </a:p>
          <a:p>
            <a:pPr marL="0" indent="0">
              <a:buNone/>
            </a:pPr>
            <a:endParaRPr lang="zh-CN" altLang="en-US" sz="2000" dirty="0">
              <a:solidFill>
                <a:srgbClr val="0070C0"/>
              </a:solidFill>
            </a:endParaRPr>
          </a:p>
        </p:txBody>
      </p:sp>
      <p:pic>
        <p:nvPicPr>
          <p:cNvPr id="6" name="图片 5">
            <a:extLst>
              <a:ext uri="{FF2B5EF4-FFF2-40B4-BE49-F238E27FC236}">
                <a16:creationId xmlns:a16="http://schemas.microsoft.com/office/drawing/2014/main" id="{07BBF62E-E075-46EC-8E59-B11CF66764D0}"/>
              </a:ext>
            </a:extLst>
          </p:cNvPr>
          <p:cNvPicPr>
            <a:picLocks noChangeAspect="1"/>
          </p:cNvPicPr>
          <p:nvPr/>
        </p:nvPicPr>
        <p:blipFill rotWithShape="1">
          <a:blip r:embed="rId3"/>
          <a:srcRect l="37318" t="56694" r="45514" b="40361"/>
          <a:stretch/>
        </p:blipFill>
        <p:spPr>
          <a:xfrm>
            <a:off x="85161" y="3934956"/>
            <a:ext cx="3862868" cy="295316"/>
          </a:xfrm>
          <a:prstGeom prst="rect">
            <a:avLst/>
          </a:prstGeom>
        </p:spPr>
      </p:pic>
      <p:pic>
        <p:nvPicPr>
          <p:cNvPr id="7" name="图片 6">
            <a:extLst>
              <a:ext uri="{FF2B5EF4-FFF2-40B4-BE49-F238E27FC236}">
                <a16:creationId xmlns:a16="http://schemas.microsoft.com/office/drawing/2014/main" id="{04B8F9C2-A578-4A12-9006-CC5674FFBDAC}"/>
              </a:ext>
            </a:extLst>
          </p:cNvPr>
          <p:cNvPicPr>
            <a:picLocks noChangeAspect="1"/>
          </p:cNvPicPr>
          <p:nvPr/>
        </p:nvPicPr>
        <p:blipFill rotWithShape="1">
          <a:blip r:embed="rId3"/>
          <a:srcRect l="42266" t="47816" r="50310" b="46608"/>
          <a:stretch/>
        </p:blipFill>
        <p:spPr>
          <a:xfrm>
            <a:off x="85161" y="3368569"/>
            <a:ext cx="1505557" cy="579878"/>
          </a:xfrm>
          <a:prstGeom prst="rect">
            <a:avLst/>
          </a:prstGeom>
        </p:spPr>
      </p:pic>
      <p:pic>
        <p:nvPicPr>
          <p:cNvPr id="8" name="图片 7">
            <a:extLst>
              <a:ext uri="{FF2B5EF4-FFF2-40B4-BE49-F238E27FC236}">
                <a16:creationId xmlns:a16="http://schemas.microsoft.com/office/drawing/2014/main" id="{D1678921-5647-43D5-825F-6E22DF7FEF97}"/>
              </a:ext>
            </a:extLst>
          </p:cNvPr>
          <p:cNvPicPr>
            <a:picLocks noChangeAspect="1"/>
          </p:cNvPicPr>
          <p:nvPr/>
        </p:nvPicPr>
        <p:blipFill rotWithShape="1">
          <a:blip r:embed="rId3"/>
          <a:srcRect l="35846" t="63168" r="44117" b="33185"/>
          <a:stretch/>
        </p:blipFill>
        <p:spPr>
          <a:xfrm>
            <a:off x="143279" y="4230343"/>
            <a:ext cx="4171082" cy="356976"/>
          </a:xfrm>
          <a:prstGeom prst="rect">
            <a:avLst/>
          </a:prstGeom>
        </p:spPr>
      </p:pic>
      <p:sp>
        <p:nvSpPr>
          <p:cNvPr id="10" name="文本框 9">
            <a:extLst>
              <a:ext uri="{FF2B5EF4-FFF2-40B4-BE49-F238E27FC236}">
                <a16:creationId xmlns:a16="http://schemas.microsoft.com/office/drawing/2014/main" id="{15770C1A-1A46-48F7-9EC2-AE8FFABA5890}"/>
              </a:ext>
            </a:extLst>
          </p:cNvPr>
          <p:cNvSpPr txBox="1"/>
          <p:nvPr/>
        </p:nvSpPr>
        <p:spPr>
          <a:xfrm>
            <a:off x="3690687" y="3889194"/>
            <a:ext cx="2629717" cy="353943"/>
          </a:xfrm>
          <a:prstGeom prst="rect">
            <a:avLst/>
          </a:prstGeom>
          <a:noFill/>
        </p:spPr>
        <p:txBody>
          <a:bodyPr wrap="square">
            <a:spAutoFit/>
          </a:bodyPr>
          <a:lstStyle>
            <a:defPPr>
              <a:defRPr lang="zh-CN"/>
            </a:defPPr>
            <a:lvl1pPr>
              <a:defRPr sz="1700" b="1">
                <a:solidFill>
                  <a:srgbClr val="191B1F"/>
                </a:solidFill>
                <a:latin typeface="等线 Light" panose="02010600030101010101" pitchFamily="2" charset="-122"/>
                <a:ea typeface="等线 Light" panose="02010600030101010101" pitchFamily="2" charset="-122"/>
              </a:defRPr>
            </a:lvl1pPr>
          </a:lstStyle>
          <a:p>
            <a:r>
              <a:rPr lang="zh-CN" altLang="en-US" dirty="0"/>
              <a:t> 约束条件为不等式约束</a:t>
            </a:r>
          </a:p>
        </p:txBody>
      </p:sp>
      <p:sp>
        <p:nvSpPr>
          <p:cNvPr id="12" name="文本框 11">
            <a:extLst>
              <a:ext uri="{FF2B5EF4-FFF2-40B4-BE49-F238E27FC236}">
                <a16:creationId xmlns:a16="http://schemas.microsoft.com/office/drawing/2014/main" id="{6C87E110-F79D-404B-8790-E66A7EF888D2}"/>
              </a:ext>
            </a:extLst>
          </p:cNvPr>
          <p:cNvSpPr txBox="1"/>
          <p:nvPr/>
        </p:nvSpPr>
        <p:spPr>
          <a:xfrm>
            <a:off x="1496969" y="3470016"/>
            <a:ext cx="5235271" cy="353943"/>
          </a:xfrm>
          <a:prstGeom prst="rect">
            <a:avLst/>
          </a:prstGeom>
          <a:noFill/>
        </p:spPr>
        <p:txBody>
          <a:bodyPr wrap="square">
            <a:spAutoFit/>
          </a:bodyPr>
          <a:lstStyle/>
          <a:p>
            <a:r>
              <a:rPr lang="zh-CN" altLang="en-US" sz="1700" b="1" dirty="0">
                <a:solidFill>
                  <a:srgbClr val="191B1F"/>
                </a:solidFill>
                <a:latin typeface="等线 Light" panose="02010600030101010101" pitchFamily="2" charset="-122"/>
                <a:ea typeface="等线 Light" panose="02010600030101010101" pitchFamily="2" charset="-122"/>
              </a:rPr>
              <a:t>求决策变量</a:t>
            </a:r>
            <a:r>
              <a:rPr lang="en-US" altLang="zh-CN" sz="1700" b="1" dirty="0">
                <a:solidFill>
                  <a:srgbClr val="191B1F"/>
                </a:solidFill>
                <a:latin typeface="等线 Light" panose="02010600030101010101" pitchFamily="2" charset="-122"/>
                <a:ea typeface="等线 Light" panose="02010600030101010101" pitchFamily="2" charset="-122"/>
              </a:rPr>
              <a:t>x</a:t>
            </a:r>
            <a:r>
              <a:rPr lang="zh-CN" altLang="en-US" sz="1700" b="1" dirty="0">
                <a:solidFill>
                  <a:srgbClr val="191B1F"/>
                </a:solidFill>
                <a:latin typeface="等线 Light" panose="02010600030101010101" pitchFamily="2" charset="-122"/>
                <a:ea typeface="等线 Light" panose="02010600030101010101" pitchFamily="2" charset="-122"/>
              </a:rPr>
              <a:t>取何值时，目标函数</a:t>
            </a:r>
            <a:r>
              <a:rPr lang="en-US" altLang="zh-CN" sz="1700" b="1" dirty="0">
                <a:solidFill>
                  <a:srgbClr val="191B1F"/>
                </a:solidFill>
                <a:latin typeface="等线 Light" panose="02010600030101010101" pitchFamily="2" charset="-122"/>
                <a:ea typeface="等线 Light" panose="02010600030101010101" pitchFamily="2" charset="-122"/>
              </a:rPr>
              <a:t>f(x)</a:t>
            </a:r>
            <a:r>
              <a:rPr lang="zh-CN" altLang="en-US" sz="1700" b="1" dirty="0">
                <a:solidFill>
                  <a:srgbClr val="191B1F"/>
                </a:solidFill>
                <a:latin typeface="等线 Light" panose="02010600030101010101" pitchFamily="2" charset="-122"/>
                <a:ea typeface="等线 Light" panose="02010600030101010101" pitchFamily="2" charset="-122"/>
              </a:rPr>
              <a:t>的值最小</a:t>
            </a:r>
          </a:p>
        </p:txBody>
      </p:sp>
      <p:sp>
        <p:nvSpPr>
          <p:cNvPr id="14" name="文本框 13">
            <a:extLst>
              <a:ext uri="{FF2B5EF4-FFF2-40B4-BE49-F238E27FC236}">
                <a16:creationId xmlns:a16="http://schemas.microsoft.com/office/drawing/2014/main" id="{A379DC89-D26F-4E58-B108-4CE6B4C20C3C}"/>
              </a:ext>
            </a:extLst>
          </p:cNvPr>
          <p:cNvSpPr txBox="1"/>
          <p:nvPr/>
        </p:nvSpPr>
        <p:spPr>
          <a:xfrm>
            <a:off x="4060683" y="4276194"/>
            <a:ext cx="2513400" cy="353943"/>
          </a:xfrm>
          <a:prstGeom prst="rect">
            <a:avLst/>
          </a:prstGeom>
          <a:noFill/>
        </p:spPr>
        <p:txBody>
          <a:bodyPr wrap="square">
            <a:spAutoFit/>
          </a:bodyPr>
          <a:lstStyle>
            <a:defPPr>
              <a:defRPr lang="zh-CN"/>
            </a:defPPr>
            <a:lvl1pPr>
              <a:defRPr sz="1700" b="1">
                <a:solidFill>
                  <a:srgbClr val="191B1F"/>
                </a:solidFill>
                <a:latin typeface="等线 Light" panose="02010600030101010101" pitchFamily="2" charset="-122"/>
                <a:ea typeface="等线 Light" panose="02010600030101010101" pitchFamily="2" charset="-122"/>
              </a:defRPr>
            </a:lvl1pPr>
          </a:lstStyle>
          <a:p>
            <a:r>
              <a:rPr lang="zh-CN" altLang="en-US" dirty="0"/>
              <a:t> 约束条件为等式约束</a:t>
            </a:r>
          </a:p>
        </p:txBody>
      </p:sp>
      <p:sp>
        <p:nvSpPr>
          <p:cNvPr id="13" name="标题 1">
            <a:extLst>
              <a:ext uri="{FF2B5EF4-FFF2-40B4-BE49-F238E27FC236}">
                <a16:creationId xmlns:a16="http://schemas.microsoft.com/office/drawing/2014/main" id="{43E615F6-3E96-47E3-87EF-012901A46F47}"/>
              </a:ext>
            </a:extLst>
          </p:cNvPr>
          <p:cNvSpPr txBox="1">
            <a:spLocks/>
          </p:cNvSpPr>
          <p:nvPr/>
        </p:nvSpPr>
        <p:spPr>
          <a:xfrm>
            <a:off x="899592" y="124776"/>
            <a:ext cx="7920880" cy="420508"/>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800" b="0" dirty="0">
                <a:solidFill>
                  <a:srgbClr val="002060"/>
                </a:solidFill>
                <a:latin typeface="华文楷体" panose="02010600040101010101" pitchFamily="2" charset="-122"/>
                <a:ea typeface="华文楷体" panose="02010600040101010101" pitchFamily="2" charset="-122"/>
              </a:rPr>
              <a:t>§ 8.1 </a:t>
            </a:r>
            <a:r>
              <a:rPr lang="zh-CN" altLang="en-US" sz="2800" b="0" dirty="0">
                <a:solidFill>
                  <a:srgbClr val="002060"/>
                </a:solidFill>
                <a:latin typeface="华文楷体" panose="02010600040101010101" pitchFamily="2" charset="-122"/>
                <a:ea typeface="华文楷体" panose="02010600040101010101" pitchFamily="2" charset="-122"/>
              </a:rPr>
              <a:t>最优化概念原理及特征</a:t>
            </a:r>
            <a:r>
              <a:rPr lang="en-US" altLang="zh-CN" sz="2800" b="0" kern="0" dirty="0">
                <a:solidFill>
                  <a:srgbClr val="FF0000"/>
                </a:solidFill>
                <a:latin typeface="华文楷体" panose="02010600040101010101" pitchFamily="2" charset="-122"/>
                <a:ea typeface="华文楷体" panose="02010600040101010101" pitchFamily="2" charset="-122"/>
              </a:rPr>
              <a:t>——</a:t>
            </a:r>
            <a:r>
              <a:rPr lang="zh-CN" altLang="en-US" sz="2800" b="0" kern="0" dirty="0">
                <a:solidFill>
                  <a:srgbClr val="FF0000"/>
                </a:solidFill>
                <a:latin typeface="华文楷体" panose="02010600040101010101" pitchFamily="2" charset="-122"/>
                <a:ea typeface="华文楷体" panose="02010600040101010101" pitchFamily="2" charset="-122"/>
              </a:rPr>
              <a:t>数学表达形式</a:t>
            </a:r>
          </a:p>
        </p:txBody>
      </p:sp>
      <p:sp>
        <p:nvSpPr>
          <p:cNvPr id="18" name="文本框 17">
            <a:extLst>
              <a:ext uri="{FF2B5EF4-FFF2-40B4-BE49-F238E27FC236}">
                <a16:creationId xmlns:a16="http://schemas.microsoft.com/office/drawing/2014/main" id="{C4B52BED-17C0-4542-A96A-9A54E1AC8249}"/>
              </a:ext>
            </a:extLst>
          </p:cNvPr>
          <p:cNvSpPr txBox="1"/>
          <p:nvPr/>
        </p:nvSpPr>
        <p:spPr>
          <a:xfrm>
            <a:off x="-36512" y="3077027"/>
            <a:ext cx="4956628" cy="375809"/>
          </a:xfrm>
          <a:prstGeom prst="rect">
            <a:avLst/>
          </a:prstGeom>
          <a:noFill/>
        </p:spPr>
        <p:txBody>
          <a:bodyPr wrap="square">
            <a:spAutoFit/>
          </a:bodyPr>
          <a:lstStyle/>
          <a:p>
            <a:pPr eaLnBrk="0" hangingPunct="0">
              <a:lnSpc>
                <a:spcPct val="110000"/>
              </a:lnSpc>
            </a:pPr>
            <a:r>
              <a:rPr lang="en-US" altLang="zh-CN" b="1" dirty="0">
                <a:solidFill>
                  <a:srgbClr val="0070C0"/>
                </a:solidFill>
                <a:latin typeface="微软雅黑" panose="020B0503020204020204" pitchFamily="34" charset="-122"/>
                <a:ea typeface="微软雅黑" panose="020B0503020204020204" pitchFamily="34" charset="-122"/>
              </a:rPr>
              <a:t>2.</a:t>
            </a:r>
            <a:r>
              <a:rPr lang="zh-CN" altLang="en-US" b="1" dirty="0">
                <a:solidFill>
                  <a:srgbClr val="0070C0"/>
                </a:solidFill>
                <a:latin typeface="微软雅黑" panose="020B0503020204020204" pitchFamily="34" charset="-122"/>
                <a:ea typeface="微软雅黑" panose="020B0503020204020204" pitchFamily="34" charset="-122"/>
              </a:rPr>
              <a:t>三要素构成最优化问题的一般描述形式：</a:t>
            </a:r>
          </a:p>
        </p:txBody>
      </p:sp>
      <p:sp>
        <p:nvSpPr>
          <p:cNvPr id="2" name="矩形: 圆角 1">
            <a:extLst>
              <a:ext uri="{FF2B5EF4-FFF2-40B4-BE49-F238E27FC236}">
                <a16:creationId xmlns:a16="http://schemas.microsoft.com/office/drawing/2014/main" id="{F53B097D-C291-4D80-9C52-EE490A64375E}"/>
              </a:ext>
            </a:extLst>
          </p:cNvPr>
          <p:cNvSpPr/>
          <p:nvPr/>
        </p:nvSpPr>
        <p:spPr bwMode="auto">
          <a:xfrm>
            <a:off x="654673" y="3923508"/>
            <a:ext cx="1339609" cy="295316"/>
          </a:xfrm>
          <a:prstGeom prst="roundRect">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2000" b="1" i="0" u="none" strike="noStrike" cap="none" normalizeH="0" baseline="0">
              <a:ln>
                <a:noFill/>
              </a:ln>
              <a:solidFill>
                <a:srgbClr val="FF0000"/>
              </a:solidFill>
              <a:effectLst/>
              <a:latin typeface="Times New Roman" pitchFamily="18" charset="0"/>
            </a:endParaRPr>
          </a:p>
        </p:txBody>
      </p:sp>
      <p:sp>
        <p:nvSpPr>
          <p:cNvPr id="15" name="矩形: 圆角 14">
            <a:extLst>
              <a:ext uri="{FF2B5EF4-FFF2-40B4-BE49-F238E27FC236}">
                <a16:creationId xmlns:a16="http://schemas.microsoft.com/office/drawing/2014/main" id="{AAF2D9D2-C0E4-41E3-9EB5-B8585DDA84C8}"/>
              </a:ext>
            </a:extLst>
          </p:cNvPr>
          <p:cNvSpPr/>
          <p:nvPr/>
        </p:nvSpPr>
        <p:spPr bwMode="auto">
          <a:xfrm>
            <a:off x="159281" y="4331266"/>
            <a:ext cx="1347739" cy="256052"/>
          </a:xfrm>
          <a:prstGeom prst="roundRect">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2000" b="1" i="0" u="none" strike="noStrike" cap="none" normalizeH="0" baseline="0">
              <a:ln>
                <a:noFill/>
              </a:ln>
              <a:solidFill>
                <a:srgbClr val="FF0000"/>
              </a:solidFill>
              <a:effectLst/>
              <a:latin typeface="Times New Roman" pitchFamily="18" charset="0"/>
            </a:endParaRPr>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2BF3F2DB-3BC6-451E-B6AF-05F20E5371DE}"/>
                  </a:ext>
                </a:extLst>
              </p:cNvPr>
              <p:cNvSpPr txBox="1"/>
              <p:nvPr/>
            </p:nvSpPr>
            <p:spPr>
              <a:xfrm>
                <a:off x="-30774" y="1417086"/>
                <a:ext cx="9289033" cy="1595565"/>
              </a:xfrm>
              <a:prstGeom prst="rect">
                <a:avLst/>
              </a:prstGeom>
              <a:noFill/>
            </p:spPr>
            <p:txBody>
              <a:bodyPr wrap="square">
                <a:spAutoFit/>
              </a:bodyPr>
              <a:lstStyle/>
              <a:p>
                <a:pPr marL="342900" indent="-342900">
                  <a:lnSpc>
                    <a:spcPts val="3000"/>
                  </a:lnSpc>
                  <a:buFont typeface="+mj-ea"/>
                  <a:buAutoNum type="circleNumDbPlain"/>
                </a:pPr>
                <a:r>
                  <a:rPr lang="zh-CN" altLang="en-US" b="1" i="0" dirty="0">
                    <a:solidFill>
                      <a:srgbClr val="00B0F0"/>
                    </a:solidFill>
                    <a:effectLst/>
                    <a:latin typeface="微软雅黑" panose="020B0503020204020204" pitchFamily="34" charset="-122"/>
                    <a:ea typeface="微软雅黑" panose="020B0503020204020204" pitchFamily="34" charset="-122"/>
                  </a:rPr>
                  <a:t>决策变量</a:t>
                </a:r>
                <a14:m>
                  <m:oMath xmlns:m="http://schemas.openxmlformats.org/officeDocument/2006/math">
                    <m:r>
                      <a:rPr lang="en-US" altLang="zh-CN" b="1" i="1" smtClean="0">
                        <a:solidFill>
                          <a:srgbClr val="00B0F0"/>
                        </a:solidFill>
                        <a:effectLst/>
                        <a:latin typeface="Cambria Math" panose="02040503050406030204" pitchFamily="18" charset="0"/>
                      </a:rPr>
                      <m:t>𝒙</m:t>
                    </m:r>
                    <m:r>
                      <a:rPr lang="en-US" altLang="zh-CN" b="1" i="1" smtClean="0">
                        <a:solidFill>
                          <a:srgbClr val="00B0F0"/>
                        </a:solidFill>
                        <a:effectLst/>
                        <a:latin typeface="Cambria Math" panose="02040503050406030204" pitchFamily="18" charset="0"/>
                      </a:rPr>
                      <m:t> </m:t>
                    </m:r>
                  </m:oMath>
                </a14:m>
                <a:r>
                  <a:rPr lang="en-US" altLang="zh-CN" b="1" i="0" dirty="0">
                    <a:solidFill>
                      <a:srgbClr val="00B0F0"/>
                    </a:solidFill>
                    <a:effectLst/>
                    <a:latin typeface="华文楷体" panose="02010600040101010101" pitchFamily="2" charset="-122"/>
                    <a:ea typeface="华文楷体" panose="02010600040101010101" pitchFamily="2" charset="-122"/>
                  </a:rPr>
                  <a:t>:</a:t>
                </a:r>
                <a:r>
                  <a:rPr lang="zh-CN" altLang="en-US" sz="1700" b="1" dirty="0">
                    <a:solidFill>
                      <a:srgbClr val="191B1F"/>
                    </a:solidFill>
                    <a:latin typeface="等线 Light" panose="02010600030101010101" pitchFamily="2" charset="-122"/>
                    <a:ea typeface="等线 Light" panose="02010600030101010101" pitchFamily="2" charset="-122"/>
                  </a:rPr>
                  <a:t>决策者可控制因素</a:t>
                </a:r>
                <a:r>
                  <a:rPr lang="en-US" altLang="zh-CN" sz="1700" b="1" dirty="0">
                    <a:solidFill>
                      <a:srgbClr val="191B1F"/>
                    </a:solidFill>
                    <a:latin typeface="等线 Light" panose="02010600030101010101" pitchFamily="2" charset="-122"/>
                    <a:ea typeface="等线 Light" panose="02010600030101010101" pitchFamily="2" charset="-122"/>
                  </a:rPr>
                  <a:t>,</a:t>
                </a:r>
                <a:r>
                  <a:rPr lang="zh-CN" altLang="en-US" sz="1700" b="1" dirty="0">
                    <a:solidFill>
                      <a:srgbClr val="191B1F"/>
                    </a:solidFill>
                    <a:latin typeface="等线 Light" panose="02010600030101010101" pitchFamily="2" charset="-122"/>
                    <a:ea typeface="等线 Light" panose="02010600030101010101" pitchFamily="2" charset="-122"/>
                  </a:rPr>
                  <a:t> 即求函数</a:t>
                </a:r>
                <a:r>
                  <a:rPr lang="en-US" altLang="zh-CN" sz="1700" b="1" dirty="0">
                    <a:solidFill>
                      <a:srgbClr val="191B1F"/>
                    </a:solidFill>
                    <a:latin typeface="等线 Light" panose="02010600030101010101" pitchFamily="2" charset="-122"/>
                    <a:ea typeface="等线 Light" panose="02010600030101010101" pitchFamily="2" charset="-122"/>
                  </a:rPr>
                  <a:t>f(x)</a:t>
                </a:r>
                <a:r>
                  <a:rPr lang="zh-CN" altLang="en-US" sz="1700" b="1" dirty="0">
                    <a:solidFill>
                      <a:srgbClr val="191B1F"/>
                    </a:solidFill>
                    <a:latin typeface="等线 Light" panose="02010600030101010101" pitchFamily="2" charset="-122"/>
                    <a:ea typeface="等线 Light" panose="02010600030101010101" pitchFamily="2" charset="-122"/>
                  </a:rPr>
                  <a:t>最小时的变量</a:t>
                </a:r>
                <a:r>
                  <a:rPr lang="en-US" altLang="zh-CN" sz="1700" b="1" dirty="0">
                    <a:solidFill>
                      <a:srgbClr val="191B1F"/>
                    </a:solidFill>
                    <a:latin typeface="等线 Light" panose="02010600030101010101" pitchFamily="2" charset="-122"/>
                    <a:ea typeface="等线 Light" panose="02010600030101010101" pitchFamily="2" charset="-122"/>
                  </a:rPr>
                  <a:t>x</a:t>
                </a:r>
                <a:r>
                  <a:rPr lang="zh-CN" altLang="en-US" sz="1700" b="1" dirty="0">
                    <a:solidFill>
                      <a:srgbClr val="191B1F"/>
                    </a:solidFill>
                    <a:latin typeface="等线 Light" panose="02010600030101010101" pitchFamily="2" charset="-122"/>
                    <a:ea typeface="等线 Light" panose="02010600030101010101" pitchFamily="2" charset="-122"/>
                  </a:rPr>
                  <a:t>，并作为优化命令第</a:t>
                </a:r>
                <a:r>
                  <a:rPr lang="en-US" altLang="zh-CN" sz="1700" b="1" dirty="0">
                    <a:solidFill>
                      <a:srgbClr val="191B1F"/>
                    </a:solidFill>
                    <a:latin typeface="等线 Light" panose="02010600030101010101" pitchFamily="2" charset="-122"/>
                    <a:ea typeface="等线 Light" panose="02010600030101010101" pitchFamily="2" charset="-122"/>
                  </a:rPr>
                  <a:t>1</a:t>
                </a:r>
                <a:r>
                  <a:rPr lang="zh-CN" altLang="en-US" sz="1700" b="1" dirty="0">
                    <a:solidFill>
                      <a:srgbClr val="191B1F"/>
                    </a:solidFill>
                    <a:latin typeface="等线 Light" panose="02010600030101010101" pitchFamily="2" charset="-122"/>
                    <a:ea typeface="等线 Light" panose="02010600030101010101" pitchFamily="2" charset="-122"/>
                  </a:rPr>
                  <a:t>个输出参数</a:t>
                </a:r>
                <a:endParaRPr lang="en-US" altLang="zh-CN" sz="1700" b="1" dirty="0">
                  <a:solidFill>
                    <a:srgbClr val="191B1F"/>
                  </a:solidFill>
                  <a:latin typeface="等线 Light" panose="02010600030101010101" pitchFamily="2" charset="-122"/>
                  <a:ea typeface="等线 Light" panose="02010600030101010101" pitchFamily="2" charset="-122"/>
                  <a:sym typeface="Symbol" panose="05050102010706020507" pitchFamily="18" charset="2"/>
                </a:endParaRPr>
              </a:p>
              <a:p>
                <a:pPr marL="342900" indent="-342900">
                  <a:lnSpc>
                    <a:spcPts val="3000"/>
                  </a:lnSpc>
                  <a:buFont typeface="+mj-ea"/>
                  <a:buAutoNum type="circleNumDbPlain" startAt="2"/>
                </a:pPr>
                <a:r>
                  <a:rPr lang="zh-CN" altLang="en-US" b="1" dirty="0">
                    <a:solidFill>
                      <a:srgbClr val="00B0F0"/>
                    </a:solidFill>
                    <a:latin typeface="微软雅黑" panose="020B0503020204020204" pitchFamily="34" charset="-122"/>
                    <a:ea typeface="微软雅黑" panose="020B0503020204020204" pitchFamily="34" charset="-122"/>
                  </a:rPr>
                  <a:t>目标函数</a:t>
                </a:r>
                <a:r>
                  <a:rPr lang="en-US" altLang="zh-CN" b="1" dirty="0">
                    <a:solidFill>
                      <a:srgbClr val="00B0F0"/>
                    </a:solidFill>
                    <a:latin typeface="微软雅黑" panose="020B0503020204020204" pitchFamily="34" charset="-122"/>
                    <a:ea typeface="微软雅黑" panose="020B0503020204020204" pitchFamily="34" charset="-122"/>
                  </a:rPr>
                  <a:t>f(x)</a:t>
                </a:r>
                <a:r>
                  <a:rPr lang="zh-CN" altLang="en-US" b="1" dirty="0">
                    <a:solidFill>
                      <a:srgbClr val="00B0F0"/>
                    </a:solidFill>
                    <a:latin typeface="微软雅黑" panose="020B0503020204020204" pitchFamily="34" charset="-122"/>
                    <a:ea typeface="微软雅黑" panose="020B0503020204020204" pitchFamily="34" charset="-122"/>
                  </a:rPr>
                  <a:t>：</a:t>
                </a:r>
                <a:r>
                  <a:rPr lang="zh-CN" altLang="en-US" sz="1700" b="1" dirty="0">
                    <a:solidFill>
                      <a:srgbClr val="191B1F"/>
                    </a:solidFill>
                    <a:latin typeface="等线 Light" panose="02010600030101010101" pitchFamily="2" charset="-122"/>
                    <a:ea typeface="等线 Light" panose="02010600030101010101" pitchFamily="2" charset="-122"/>
                  </a:rPr>
                  <a:t>优化目标</a:t>
                </a:r>
                <a:r>
                  <a:rPr lang="en-US" altLang="zh-CN" sz="1700" b="1" dirty="0">
                    <a:solidFill>
                      <a:srgbClr val="191B1F"/>
                    </a:solidFill>
                    <a:latin typeface="等线 Light" panose="02010600030101010101" pitchFamily="2" charset="-122"/>
                    <a:ea typeface="等线 Light" panose="02010600030101010101" pitchFamily="2" charset="-122"/>
                  </a:rPr>
                  <a:t>,</a:t>
                </a:r>
                <a:r>
                  <a:rPr lang="zh-CN" altLang="en-US" sz="1700" b="1" dirty="0">
                    <a:solidFill>
                      <a:srgbClr val="191B1F"/>
                    </a:solidFill>
                    <a:latin typeface="等线 Light" panose="02010600030101010101" pitchFamily="2" charset="-122"/>
                    <a:ea typeface="等线 Light" panose="02010600030101010101" pitchFamily="2" charset="-122"/>
                  </a:rPr>
                  <a:t>试图优化的函数表达式</a:t>
                </a:r>
                <a:r>
                  <a:rPr lang="en-US" altLang="zh-CN" sz="1700" b="1" dirty="0">
                    <a:solidFill>
                      <a:srgbClr val="191B1F"/>
                    </a:solidFill>
                    <a:latin typeface="等线 Light" panose="02010600030101010101" pitchFamily="2" charset="-122"/>
                    <a:ea typeface="等线 Light" panose="02010600030101010101" pitchFamily="2" charset="-122"/>
                  </a:rPr>
                  <a:t>fun</a:t>
                </a:r>
                <a:r>
                  <a:rPr lang="zh-CN" altLang="en-US" sz="1700" b="1" dirty="0">
                    <a:solidFill>
                      <a:srgbClr val="191B1F"/>
                    </a:solidFill>
                    <a:latin typeface="等线 Light" panose="02010600030101010101" pitchFamily="2" charset="-122"/>
                    <a:ea typeface="等线 Light" panose="02010600030101010101" pitchFamily="2" charset="-122"/>
                  </a:rPr>
                  <a:t>，可最大或最小</a:t>
                </a:r>
                <a:r>
                  <a:rPr lang="en-US" altLang="zh-CN" sz="1700" b="1" dirty="0">
                    <a:solidFill>
                      <a:srgbClr val="191B1F"/>
                    </a:solidFill>
                    <a:latin typeface="等线 Light" panose="02010600030101010101" pitchFamily="2" charset="-122"/>
                    <a:ea typeface="等线 Light" panose="02010600030101010101" pitchFamily="2" charset="-122"/>
                  </a:rPr>
                  <a:t>,</a:t>
                </a:r>
                <a:r>
                  <a:rPr lang="zh-CN" altLang="en-US" sz="1700" b="1" dirty="0">
                    <a:solidFill>
                      <a:srgbClr val="191B1F"/>
                    </a:solidFill>
                    <a:latin typeface="等线 Light" panose="02010600030101010101" pitchFamily="2" charset="-122"/>
                    <a:ea typeface="等线 Light" panose="02010600030101010101" pitchFamily="2" charset="-122"/>
                  </a:rPr>
                  <a:t> 为命令第</a:t>
                </a:r>
                <a:r>
                  <a:rPr lang="en-US" altLang="zh-CN" sz="1700" b="1" dirty="0">
                    <a:solidFill>
                      <a:srgbClr val="191B1F"/>
                    </a:solidFill>
                    <a:latin typeface="等线 Light" panose="02010600030101010101" pitchFamily="2" charset="-122"/>
                    <a:ea typeface="等线 Light" panose="02010600030101010101" pitchFamily="2" charset="-122"/>
                  </a:rPr>
                  <a:t>1</a:t>
                </a:r>
                <a:r>
                  <a:rPr lang="zh-CN" altLang="en-US" sz="1700" b="1" dirty="0">
                    <a:solidFill>
                      <a:srgbClr val="191B1F"/>
                    </a:solidFill>
                    <a:latin typeface="等线 Light" panose="02010600030101010101" pitchFamily="2" charset="-122"/>
                    <a:ea typeface="等线 Light" panose="02010600030101010101" pitchFamily="2" charset="-122"/>
                  </a:rPr>
                  <a:t>个输入参数，</a:t>
                </a:r>
                <a:endParaRPr lang="en-US" altLang="zh-CN" sz="1700" b="1" dirty="0">
                  <a:solidFill>
                    <a:srgbClr val="191B1F"/>
                  </a:solidFill>
                  <a:latin typeface="等线 Light" panose="02010600030101010101" pitchFamily="2" charset="-122"/>
                  <a:ea typeface="等线 Light" panose="02010600030101010101" pitchFamily="2" charset="-122"/>
                </a:endParaRPr>
              </a:p>
              <a:p>
                <a:pPr>
                  <a:lnSpc>
                    <a:spcPts val="3000"/>
                  </a:lnSpc>
                </a:pPr>
                <a:r>
                  <a:rPr lang="en-US" altLang="zh-CN" sz="1700" b="1" dirty="0">
                    <a:solidFill>
                      <a:srgbClr val="191B1F"/>
                    </a:solidFill>
                    <a:latin typeface="等线 Light" panose="02010600030101010101" pitchFamily="2" charset="-122"/>
                    <a:ea typeface="等线 Light" panose="02010600030101010101" pitchFamily="2" charset="-122"/>
                  </a:rPr>
                  <a:t>  </a:t>
                </a:r>
                <a:r>
                  <a:rPr lang="zh-CN" altLang="en-US" sz="1700" b="1" dirty="0">
                    <a:solidFill>
                      <a:srgbClr val="191B1F"/>
                    </a:solidFill>
                    <a:latin typeface="等线 Light" panose="02010600030101010101" pitchFamily="2" charset="-122"/>
                    <a:ea typeface="等线 Light" panose="02010600030101010101" pitchFamily="2" charset="-122"/>
                  </a:rPr>
                  <a:t>由 决策变量</a:t>
                </a:r>
                <a:r>
                  <a:rPr lang="en-US" altLang="zh-CN" sz="1700" b="1" dirty="0">
                    <a:solidFill>
                      <a:srgbClr val="191B1F"/>
                    </a:solidFill>
                    <a:latin typeface="等线 Light" panose="02010600030101010101" pitchFamily="2" charset="-122"/>
                    <a:ea typeface="等线 Light" panose="02010600030101010101" pitchFamily="2" charset="-122"/>
                  </a:rPr>
                  <a:t>x</a:t>
                </a:r>
                <a:r>
                  <a:rPr lang="zh-CN" altLang="en-US" sz="1700" b="1" dirty="0">
                    <a:solidFill>
                      <a:srgbClr val="191B1F"/>
                    </a:solidFill>
                    <a:latin typeface="等线 Light" panose="02010600030101010101" pitchFamily="2" charset="-122"/>
                    <a:ea typeface="等线 Light" panose="02010600030101010101" pitchFamily="2" charset="-122"/>
                  </a:rPr>
                  <a:t>带入到</a:t>
                </a:r>
                <a:r>
                  <a:rPr lang="en-US" altLang="zh-CN" sz="1700" b="1" dirty="0">
                    <a:solidFill>
                      <a:srgbClr val="191B1F"/>
                    </a:solidFill>
                    <a:latin typeface="等线 Light" panose="02010600030101010101" pitchFamily="2" charset="-122"/>
                    <a:ea typeface="等线 Light" panose="02010600030101010101" pitchFamily="2" charset="-122"/>
                  </a:rPr>
                  <a:t>f(x)</a:t>
                </a:r>
                <a:r>
                  <a:rPr lang="zh-CN" altLang="en-US" sz="1700" b="1" dirty="0">
                    <a:solidFill>
                      <a:srgbClr val="191B1F"/>
                    </a:solidFill>
                    <a:latin typeface="等线 Light" panose="02010600030101010101" pitchFamily="2" charset="-122"/>
                    <a:ea typeface="等线 Light" panose="02010600030101010101" pitchFamily="2" charset="-122"/>
                  </a:rPr>
                  <a:t>计算目标函数值</a:t>
                </a:r>
                <a:r>
                  <a:rPr lang="en-US" altLang="zh-CN" sz="1700" b="1" dirty="0" err="1">
                    <a:solidFill>
                      <a:srgbClr val="191B1F"/>
                    </a:solidFill>
                    <a:latin typeface="等线 Light" panose="02010600030101010101" pitchFamily="2" charset="-122"/>
                    <a:ea typeface="等线 Light" panose="02010600030101010101" pitchFamily="2" charset="-122"/>
                  </a:rPr>
                  <a:t>fval</a:t>
                </a:r>
                <a:r>
                  <a:rPr lang="en-US" altLang="zh-CN" sz="1700" b="1" dirty="0">
                    <a:solidFill>
                      <a:srgbClr val="191B1F"/>
                    </a:solidFill>
                    <a:latin typeface="等线 Light" panose="02010600030101010101" pitchFamily="2" charset="-122"/>
                    <a:ea typeface="等线 Light" panose="02010600030101010101" pitchFamily="2" charset="-122"/>
                  </a:rPr>
                  <a:t> </a:t>
                </a:r>
                <a:r>
                  <a:rPr lang="zh-CN" altLang="en-US" sz="1700" b="1" dirty="0">
                    <a:solidFill>
                      <a:srgbClr val="191B1F"/>
                    </a:solidFill>
                    <a:latin typeface="等线 Light" panose="02010600030101010101" pitchFamily="2" charset="-122"/>
                    <a:ea typeface="等线 Light" panose="02010600030101010101" pitchFamily="2" charset="-122"/>
                  </a:rPr>
                  <a:t>，做为第</a:t>
                </a:r>
                <a:r>
                  <a:rPr lang="en-US" altLang="zh-CN" sz="1700" b="1" dirty="0">
                    <a:solidFill>
                      <a:srgbClr val="191B1F"/>
                    </a:solidFill>
                    <a:latin typeface="等线 Light" panose="02010600030101010101" pitchFamily="2" charset="-122"/>
                    <a:ea typeface="等线 Light" panose="02010600030101010101" pitchFamily="2" charset="-122"/>
                  </a:rPr>
                  <a:t>2</a:t>
                </a:r>
                <a:r>
                  <a:rPr lang="zh-CN" altLang="en-US" sz="1700" b="1" dirty="0">
                    <a:solidFill>
                      <a:srgbClr val="191B1F"/>
                    </a:solidFill>
                    <a:latin typeface="等线 Light" panose="02010600030101010101" pitchFamily="2" charset="-122"/>
                    <a:ea typeface="等线 Light" panose="02010600030101010101" pitchFamily="2" charset="-122"/>
                  </a:rPr>
                  <a:t>个输出参数</a:t>
                </a:r>
                <a:endParaRPr lang="en-US" altLang="zh-CN" sz="1700" b="1" dirty="0">
                  <a:solidFill>
                    <a:srgbClr val="191B1F"/>
                  </a:solidFill>
                  <a:latin typeface="等线 Light" panose="02010600030101010101" pitchFamily="2" charset="-122"/>
                  <a:ea typeface="等线 Light" panose="02010600030101010101" pitchFamily="2" charset="-122"/>
                </a:endParaRPr>
              </a:p>
              <a:p>
                <a:pPr marL="342900" indent="-342900">
                  <a:lnSpc>
                    <a:spcPts val="3000"/>
                  </a:lnSpc>
                  <a:buFont typeface="+mj-ea"/>
                  <a:buAutoNum type="circleNumDbPlain" startAt="3"/>
                </a:pPr>
                <a:r>
                  <a:rPr lang="zh-CN" altLang="en-US" b="1" dirty="0">
                    <a:solidFill>
                      <a:srgbClr val="00B0F0"/>
                    </a:solidFill>
                    <a:latin typeface="微软雅黑" panose="020B0503020204020204" pitchFamily="34" charset="-122"/>
                    <a:ea typeface="微软雅黑" panose="020B0503020204020204" pitchFamily="34" charset="-122"/>
                  </a:rPr>
                  <a:t>约束条件</a:t>
                </a:r>
                <a14:m>
                  <m:oMath xmlns:m="http://schemas.openxmlformats.org/officeDocument/2006/math">
                    <m:sSub>
                      <m:sSubPr>
                        <m:ctrlPr>
                          <a:rPr lang="en-US" altLang="zh-CN" b="1" i="1">
                            <a:solidFill>
                              <a:srgbClr val="00B0F0"/>
                            </a:solidFill>
                            <a:latin typeface="Cambria Math" panose="02040503050406030204" pitchFamily="18" charset="0"/>
                            <a:ea typeface="微软雅黑" panose="020B0503020204020204" pitchFamily="34" charset="-122"/>
                          </a:rPr>
                        </m:ctrlPr>
                      </m:sSubPr>
                      <m:e>
                        <m:r>
                          <a:rPr lang="en-US" altLang="zh-CN" b="1" i="1">
                            <a:solidFill>
                              <a:srgbClr val="00B0F0"/>
                            </a:solidFill>
                            <a:latin typeface="Cambria Math" panose="02040503050406030204" pitchFamily="18" charset="0"/>
                            <a:ea typeface="微软雅黑" panose="020B0503020204020204" pitchFamily="34" charset="-122"/>
                          </a:rPr>
                          <m:t>𝒄</m:t>
                        </m:r>
                      </m:e>
                      <m:sub>
                        <m:r>
                          <a:rPr lang="en-US" altLang="zh-CN" b="1" i="1">
                            <a:solidFill>
                              <a:srgbClr val="00B0F0"/>
                            </a:solidFill>
                            <a:latin typeface="Cambria Math" panose="02040503050406030204" pitchFamily="18" charset="0"/>
                            <a:ea typeface="微软雅黑" panose="020B0503020204020204" pitchFamily="34" charset="-122"/>
                          </a:rPr>
                          <m:t>𝒊</m:t>
                        </m:r>
                      </m:sub>
                    </m:sSub>
                    <m:r>
                      <a:rPr lang="en-US" altLang="zh-CN" b="1">
                        <a:solidFill>
                          <a:srgbClr val="00B0F0"/>
                        </a:solidFill>
                        <a:latin typeface="Cambria Math" panose="02040503050406030204" pitchFamily="18" charset="0"/>
                        <a:ea typeface="微软雅黑" panose="020B0503020204020204" pitchFamily="34" charset="-122"/>
                      </a:rPr>
                      <m:t>(</m:t>
                    </m:r>
                    <m:r>
                      <a:rPr lang="en-US" altLang="zh-CN" b="1" i="1">
                        <a:solidFill>
                          <a:srgbClr val="00B0F0"/>
                        </a:solidFill>
                        <a:latin typeface="Cambria Math" panose="02040503050406030204" pitchFamily="18" charset="0"/>
                        <a:ea typeface="微软雅黑" panose="020B0503020204020204" pitchFamily="34" charset="-122"/>
                      </a:rPr>
                      <m:t>𝒙</m:t>
                    </m:r>
                    <m:r>
                      <a:rPr lang="en-US" altLang="zh-CN" b="1">
                        <a:solidFill>
                          <a:srgbClr val="00B0F0"/>
                        </a:solidFill>
                        <a:latin typeface="Cambria Math" panose="02040503050406030204" pitchFamily="18" charset="0"/>
                        <a:ea typeface="微软雅黑" panose="020B0503020204020204" pitchFamily="34" charset="-122"/>
                      </a:rPr>
                      <m:t>)</m:t>
                    </m:r>
                  </m:oMath>
                </a14:m>
                <a:r>
                  <a:rPr lang="zh-CN" altLang="en-US" b="1" dirty="0">
                    <a:solidFill>
                      <a:srgbClr val="00B0F0"/>
                    </a:solidFill>
                    <a:latin typeface="微软雅黑" panose="020B0503020204020204" pitchFamily="34" charset="-122"/>
                    <a:ea typeface="微软雅黑" panose="020B0503020204020204" pitchFamily="34" charset="-122"/>
                  </a:rPr>
                  <a:t> </a:t>
                </a:r>
                <a:r>
                  <a:rPr lang="en-US" altLang="zh-CN" sz="2000" b="1" dirty="0">
                    <a:solidFill>
                      <a:srgbClr val="0070C0"/>
                    </a:solidFill>
                    <a:latin typeface="微软雅黑" panose="020B0503020204020204" pitchFamily="34" charset="-122"/>
                    <a:ea typeface="微软雅黑" panose="020B0503020204020204" pitchFamily="34" charset="-122"/>
                  </a:rPr>
                  <a:t>:</a:t>
                </a:r>
                <a:r>
                  <a:rPr lang="zh-CN" altLang="en-US" sz="1600" b="1" dirty="0">
                    <a:solidFill>
                      <a:srgbClr val="191B1F"/>
                    </a:solidFill>
                    <a:latin typeface="等线 Light" panose="02010600030101010101" pitchFamily="2" charset="-122"/>
                    <a:ea typeface="等线 Light" panose="02010600030101010101" pitchFamily="2" charset="-122"/>
                  </a:rPr>
                  <a:t>限制决策变量</a:t>
                </a:r>
                <a:r>
                  <a:rPr lang="en-US" altLang="zh-CN" sz="1600" b="1" dirty="0">
                    <a:solidFill>
                      <a:srgbClr val="191B1F"/>
                    </a:solidFill>
                    <a:latin typeface="等线 Light" panose="02010600030101010101" pitchFamily="2" charset="-122"/>
                    <a:ea typeface="等线 Light" panose="02010600030101010101" pitchFamily="2" charset="-122"/>
                  </a:rPr>
                  <a:t>x</a:t>
                </a:r>
                <a:r>
                  <a:rPr lang="zh-CN" altLang="en-US" sz="1600" b="1" dirty="0">
                    <a:solidFill>
                      <a:srgbClr val="191B1F"/>
                    </a:solidFill>
                    <a:latin typeface="等线 Light" panose="02010600030101010101" pitchFamily="2" charset="-122"/>
                    <a:ea typeface="等线 Light" panose="02010600030101010101" pitchFamily="2" charset="-122"/>
                  </a:rPr>
                  <a:t>取值范围</a:t>
                </a:r>
                <a:r>
                  <a:rPr lang="en-US" altLang="zh-CN" sz="1600" b="1" dirty="0">
                    <a:solidFill>
                      <a:srgbClr val="191B1F"/>
                    </a:solidFill>
                    <a:latin typeface="等线 Light" panose="02010600030101010101" pitchFamily="2" charset="-122"/>
                    <a:ea typeface="等线 Light" panose="02010600030101010101" pitchFamily="2" charset="-122"/>
                  </a:rPr>
                  <a:t>,</a:t>
                </a:r>
                <a:r>
                  <a:rPr lang="zh-CN" altLang="en-US" sz="1600" b="1" dirty="0">
                    <a:solidFill>
                      <a:srgbClr val="191B1F"/>
                    </a:solidFill>
                    <a:latin typeface="等线 Light" panose="02010600030101010101" pitchFamily="2" charset="-122"/>
                    <a:ea typeface="等线 Light" panose="02010600030101010101" pitchFamily="2" charset="-122"/>
                  </a:rPr>
                  <a:t>可以是方程或不等式</a:t>
                </a:r>
                <a:r>
                  <a:rPr lang="en-US" altLang="zh-CN" sz="1600" b="1" dirty="0">
                    <a:solidFill>
                      <a:srgbClr val="191B1F"/>
                    </a:solidFill>
                    <a:latin typeface="等线 Light" panose="02010600030101010101" pitchFamily="2" charset="-122"/>
                    <a:ea typeface="等线 Light" panose="02010600030101010101" pitchFamily="2" charset="-122"/>
                  </a:rPr>
                  <a:t>,</a:t>
                </a:r>
                <a:r>
                  <a:rPr lang="zh-CN" altLang="en-US" sz="1600" b="1" dirty="0">
                    <a:solidFill>
                      <a:srgbClr val="191B1F"/>
                    </a:solidFill>
                    <a:latin typeface="等线 Light" panose="02010600030101010101" pitchFamily="2" charset="-122"/>
                    <a:ea typeface="等线 Light" panose="02010600030101010101" pitchFamily="2" charset="-122"/>
                  </a:rPr>
                  <a:t>用</a:t>
                </a:r>
                <a:r>
                  <a:rPr lang="en-US" altLang="zh-CN" sz="1600" b="1" dirty="0" err="1">
                    <a:solidFill>
                      <a:srgbClr val="191B1F"/>
                    </a:solidFill>
                    <a:latin typeface="等线 Light" panose="02010600030101010101" pitchFamily="2" charset="-122"/>
                    <a:ea typeface="等线 Light" panose="02010600030101010101" pitchFamily="2" charset="-122"/>
                  </a:rPr>
                  <a:t>s.t.</a:t>
                </a:r>
                <a:r>
                  <a:rPr lang="zh-CN" altLang="en-US" sz="1600" b="1" dirty="0">
                    <a:solidFill>
                      <a:srgbClr val="191B1F"/>
                    </a:solidFill>
                    <a:latin typeface="等线 Light" panose="02010600030101010101" pitchFamily="2" charset="-122"/>
                    <a:ea typeface="等线 Light" panose="02010600030101010101" pitchFamily="2" charset="-122"/>
                  </a:rPr>
                  <a:t>表示</a:t>
                </a:r>
                <a:r>
                  <a:rPr lang="en-US" altLang="zh-CN" sz="1700" b="1" dirty="0">
                    <a:solidFill>
                      <a:srgbClr val="191B1F"/>
                    </a:solidFill>
                    <a:latin typeface="等线 Light" panose="02010600030101010101" pitchFamily="2" charset="-122"/>
                    <a:ea typeface="等线 Light" panose="02010600030101010101" pitchFamily="2" charset="-122"/>
                  </a:rPr>
                  <a:t>,</a:t>
                </a:r>
                <a:r>
                  <a:rPr lang="en-US" altLang="zh-CN" sz="2000" b="1" dirty="0">
                    <a:solidFill>
                      <a:srgbClr val="00B0F0"/>
                    </a:solidFill>
                    <a:ea typeface="微软雅黑" panose="020B0503020204020204" pitchFamily="34" charset="-122"/>
                  </a:rPr>
                  <a:t> </a:t>
                </a:r>
                <a14:m>
                  <m:oMath xmlns:m="http://schemas.openxmlformats.org/officeDocument/2006/math">
                    <m:sSub>
                      <m:sSubPr>
                        <m:ctrlPr>
                          <a:rPr lang="en-US" altLang="zh-CN" sz="1600" b="1" i="1">
                            <a:solidFill>
                              <a:srgbClr val="00B0F0"/>
                            </a:solidFill>
                            <a:latin typeface="Cambria Math" panose="02040503050406030204" pitchFamily="18" charset="0"/>
                            <a:ea typeface="微软雅黑" panose="020B0503020204020204" pitchFamily="34" charset="-122"/>
                          </a:rPr>
                        </m:ctrlPr>
                      </m:sSubPr>
                      <m:e>
                        <m:r>
                          <a:rPr lang="en-US" altLang="zh-CN" sz="1600" b="1" i="1">
                            <a:solidFill>
                              <a:srgbClr val="00B0F0"/>
                            </a:solidFill>
                            <a:latin typeface="Cambria Math" panose="02040503050406030204" pitchFamily="18" charset="0"/>
                            <a:ea typeface="微软雅黑" panose="020B0503020204020204" pitchFamily="34" charset="-122"/>
                          </a:rPr>
                          <m:t>𝒄</m:t>
                        </m:r>
                      </m:e>
                      <m:sub>
                        <m:r>
                          <a:rPr lang="en-US" altLang="zh-CN" sz="1600" b="1" i="1">
                            <a:solidFill>
                              <a:srgbClr val="00B0F0"/>
                            </a:solidFill>
                            <a:latin typeface="Cambria Math" panose="02040503050406030204" pitchFamily="18" charset="0"/>
                            <a:ea typeface="微软雅黑" panose="020B0503020204020204" pitchFamily="34" charset="-122"/>
                          </a:rPr>
                          <m:t>𝒊</m:t>
                        </m:r>
                      </m:sub>
                    </m:sSub>
                    <m:r>
                      <a:rPr lang="en-US" altLang="zh-CN" sz="1600" b="1">
                        <a:solidFill>
                          <a:srgbClr val="00B0F0"/>
                        </a:solidFill>
                        <a:latin typeface="Cambria Math" panose="02040503050406030204" pitchFamily="18" charset="0"/>
                        <a:ea typeface="微软雅黑" panose="020B0503020204020204" pitchFamily="34" charset="-122"/>
                      </a:rPr>
                      <m:t>(</m:t>
                    </m:r>
                    <m:r>
                      <a:rPr lang="en-US" altLang="zh-CN" sz="1600" b="1" i="1">
                        <a:solidFill>
                          <a:srgbClr val="00B0F0"/>
                        </a:solidFill>
                        <a:latin typeface="Cambria Math" panose="02040503050406030204" pitchFamily="18" charset="0"/>
                        <a:ea typeface="微软雅黑" panose="020B0503020204020204" pitchFamily="34" charset="-122"/>
                      </a:rPr>
                      <m:t>𝒙</m:t>
                    </m:r>
                    <m:r>
                      <a:rPr lang="en-US" altLang="zh-CN" sz="1600" b="1">
                        <a:solidFill>
                          <a:srgbClr val="00B0F0"/>
                        </a:solidFill>
                        <a:latin typeface="Cambria Math" panose="02040503050406030204" pitchFamily="18" charset="0"/>
                        <a:ea typeface="微软雅黑" panose="020B0503020204020204" pitchFamily="34" charset="-122"/>
                      </a:rPr>
                      <m:t>)</m:t>
                    </m:r>
                  </m:oMath>
                </a14:m>
                <a:r>
                  <a:rPr lang="zh-CN" altLang="en-US" sz="1600" b="1" i="0" dirty="0">
                    <a:solidFill>
                      <a:srgbClr val="191B1F"/>
                    </a:solidFill>
                    <a:effectLst/>
                    <a:latin typeface="等线 Light" panose="02010600030101010101" pitchFamily="2" charset="-122"/>
                    <a:ea typeface="等线 Light" panose="02010600030101010101" pitchFamily="2" charset="-122"/>
                  </a:rPr>
                  <a:t>如</a:t>
                </a:r>
                <a:r>
                  <a:rPr lang="zh-CN" altLang="zh-CN" sz="1600" b="1" dirty="0">
                    <a:solidFill>
                      <a:srgbClr val="00B0F0"/>
                    </a:solidFill>
                    <a:latin typeface="等线 Light" panose="02010600030101010101" pitchFamily="2" charset="-122"/>
                    <a:ea typeface="等线 Light" panose="02010600030101010101" pitchFamily="2" charset="-122"/>
                  </a:rPr>
                  <a:t>A, b, </a:t>
                </a:r>
                <a:r>
                  <a:rPr lang="en-US" altLang="zh-CN" sz="1600" b="1" dirty="0" err="1">
                    <a:solidFill>
                      <a:srgbClr val="00B0F0"/>
                    </a:solidFill>
                    <a:latin typeface="等线 Light" panose="02010600030101010101" pitchFamily="2" charset="-122"/>
                    <a:ea typeface="等线 Light" panose="02010600030101010101" pitchFamily="2" charset="-122"/>
                  </a:rPr>
                  <a:t>Aeq</a:t>
                </a:r>
                <a:r>
                  <a:rPr lang="en-US" altLang="zh-CN" sz="1600" b="1" dirty="0">
                    <a:solidFill>
                      <a:srgbClr val="00B0F0"/>
                    </a:solidFill>
                    <a:latin typeface="等线 Light" panose="02010600030101010101" pitchFamily="2" charset="-122"/>
                    <a:ea typeface="等线 Light" panose="02010600030101010101" pitchFamily="2" charset="-122"/>
                  </a:rPr>
                  <a:t>, </a:t>
                </a:r>
                <a:r>
                  <a:rPr lang="zh-CN" altLang="zh-CN" sz="1600" b="1" dirty="0">
                    <a:solidFill>
                      <a:srgbClr val="00B0F0"/>
                    </a:solidFill>
                    <a:latin typeface="等线 Light" panose="02010600030101010101" pitchFamily="2" charset="-122"/>
                    <a:ea typeface="等线 Light" panose="02010600030101010101" pitchFamily="2" charset="-122"/>
                  </a:rPr>
                  <a:t>lb, ub</a:t>
                </a:r>
                <a:endParaRPr lang="zh-CN" altLang="en-US" sz="1600" b="1" dirty="0">
                  <a:solidFill>
                    <a:srgbClr val="00B0F0"/>
                  </a:solidFill>
                  <a:latin typeface="等线 Light" panose="02010600030101010101" pitchFamily="2" charset="-122"/>
                  <a:ea typeface="等线 Light" panose="02010600030101010101" pitchFamily="2" charset="-122"/>
                </a:endParaRPr>
              </a:p>
            </p:txBody>
          </p:sp>
        </mc:Choice>
        <mc:Fallback xmlns="">
          <p:sp>
            <p:nvSpPr>
              <p:cNvPr id="20" name="文本框 19">
                <a:extLst>
                  <a:ext uri="{FF2B5EF4-FFF2-40B4-BE49-F238E27FC236}">
                    <a16:creationId xmlns:a16="http://schemas.microsoft.com/office/drawing/2014/main" id="{2BF3F2DB-3BC6-451E-B6AF-05F20E5371DE}"/>
                  </a:ext>
                </a:extLst>
              </p:cNvPr>
              <p:cNvSpPr txBox="1">
                <a:spLocks noRot="1" noChangeAspect="1" noMove="1" noResize="1" noEditPoints="1" noAdjustHandles="1" noChangeArrowheads="1" noChangeShapeType="1" noTextEdit="1"/>
              </p:cNvSpPr>
              <p:nvPr/>
            </p:nvSpPr>
            <p:spPr>
              <a:xfrm>
                <a:off x="-30774" y="1417086"/>
                <a:ext cx="9289033" cy="1595565"/>
              </a:xfrm>
              <a:prstGeom prst="rect">
                <a:avLst/>
              </a:prstGeom>
              <a:blipFill>
                <a:blip r:embed="rId4"/>
                <a:stretch>
                  <a:fillRect l="-722" r="-722" b="-5725"/>
                </a:stretch>
              </a:blipFill>
            </p:spPr>
            <p:txBody>
              <a:bodyPr/>
              <a:lstStyle/>
              <a:p>
                <a:r>
                  <a:rPr lang="zh-CN" altLang="en-US">
                    <a:noFill/>
                  </a:rPr>
                  <a:t> </a:t>
                </a:r>
              </a:p>
            </p:txBody>
          </p:sp>
        </mc:Fallback>
      </mc:AlternateContent>
      <p:sp>
        <p:nvSpPr>
          <p:cNvPr id="22" name="文本框 21">
            <a:extLst>
              <a:ext uri="{FF2B5EF4-FFF2-40B4-BE49-F238E27FC236}">
                <a16:creationId xmlns:a16="http://schemas.microsoft.com/office/drawing/2014/main" id="{4B1BBB44-CB6C-4CBE-A277-0553290835FC}"/>
              </a:ext>
            </a:extLst>
          </p:cNvPr>
          <p:cNvSpPr txBox="1"/>
          <p:nvPr/>
        </p:nvSpPr>
        <p:spPr>
          <a:xfrm>
            <a:off x="2116595" y="715402"/>
            <a:ext cx="7141664" cy="338554"/>
          </a:xfrm>
          <a:prstGeom prst="rect">
            <a:avLst/>
          </a:prstGeom>
          <a:noFill/>
        </p:spPr>
        <p:txBody>
          <a:bodyPr wrap="square">
            <a:spAutoFit/>
          </a:bodyPr>
          <a:lstStyle/>
          <a:p>
            <a:r>
              <a:rPr lang="zh-CN" altLang="en-US" sz="1600" b="1" dirty="0">
                <a:solidFill>
                  <a:srgbClr val="00B0F0"/>
                </a:solidFill>
                <a:latin typeface="微软雅黑" panose="020B0503020204020204" pitchFamily="34" charset="-122"/>
                <a:ea typeface="微软雅黑" panose="020B0503020204020204" pitchFamily="34" charset="-122"/>
              </a:rPr>
              <a:t>决策变量、目标函数和约束条件是优化三要素，作为优化命令输入和输出参数</a:t>
            </a:r>
            <a:endParaRPr lang="zh-CN" altLang="en-US" sz="1600" b="1" dirty="0">
              <a:solidFill>
                <a:srgbClr val="00B0F0"/>
              </a:solidFill>
            </a:endParaRPr>
          </a:p>
        </p:txBody>
      </p:sp>
      <p:sp>
        <p:nvSpPr>
          <p:cNvPr id="24" name="文本框 23">
            <a:extLst>
              <a:ext uri="{FF2B5EF4-FFF2-40B4-BE49-F238E27FC236}">
                <a16:creationId xmlns:a16="http://schemas.microsoft.com/office/drawing/2014/main" id="{E8899B37-A9B3-49A7-A433-F8881EB7ED61}"/>
              </a:ext>
            </a:extLst>
          </p:cNvPr>
          <p:cNvSpPr txBox="1"/>
          <p:nvPr/>
        </p:nvSpPr>
        <p:spPr>
          <a:xfrm>
            <a:off x="6300192" y="2242923"/>
            <a:ext cx="2958067" cy="338554"/>
          </a:xfrm>
          <a:prstGeom prst="rect">
            <a:avLst/>
          </a:prstGeom>
          <a:noFill/>
        </p:spPr>
        <p:txBody>
          <a:bodyPr wrap="square">
            <a:spAutoFit/>
          </a:bodyPr>
          <a:lstStyle>
            <a:defPPr>
              <a:defRPr lang="zh-CN"/>
            </a:defPPr>
            <a:lvl1pPr>
              <a:defRPr sz="1600" b="1">
                <a:solidFill>
                  <a:srgbClr val="0070C0"/>
                </a:solidFill>
                <a:latin typeface="微软雅黑" panose="020B0503020204020204" pitchFamily="34" charset="-122"/>
                <a:ea typeface="微软雅黑" panose="020B0503020204020204" pitchFamily="34" charset="-122"/>
              </a:defRPr>
            </a:lvl1pPr>
          </a:lstStyle>
          <a:p>
            <a:r>
              <a:rPr lang="zh-CN" altLang="en-US" dirty="0"/>
              <a:t>优化一般求函数</a:t>
            </a:r>
            <a:r>
              <a:rPr lang="en-US" altLang="zh-CN" dirty="0"/>
              <a:t>f(x)</a:t>
            </a:r>
            <a:r>
              <a:rPr lang="zh-CN" altLang="en-US" dirty="0"/>
              <a:t>最小值</a:t>
            </a:r>
            <a:r>
              <a:rPr lang="en-US" altLang="zh-CN" dirty="0" err="1">
                <a:solidFill>
                  <a:srgbClr val="FF0000"/>
                </a:solidFill>
              </a:rPr>
              <a:t>fval</a:t>
            </a:r>
            <a:endParaRPr lang="zh-CN" altLang="en-US" dirty="0">
              <a:solidFill>
                <a:srgbClr val="FF0000"/>
              </a:solidFill>
            </a:endParaRPr>
          </a:p>
        </p:txBody>
      </p:sp>
      <p:sp>
        <p:nvSpPr>
          <p:cNvPr id="26" name="文本框 25">
            <a:extLst>
              <a:ext uri="{FF2B5EF4-FFF2-40B4-BE49-F238E27FC236}">
                <a16:creationId xmlns:a16="http://schemas.microsoft.com/office/drawing/2014/main" id="{0819A774-18C9-44DA-9DD0-6D66DB0CB06D}"/>
              </a:ext>
            </a:extLst>
          </p:cNvPr>
          <p:cNvSpPr txBox="1"/>
          <p:nvPr/>
        </p:nvSpPr>
        <p:spPr>
          <a:xfrm>
            <a:off x="1978725" y="1114110"/>
            <a:ext cx="7115399"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marL="0" indent="0" algn="dist" eaLnBrk="0" hangingPunct="0">
              <a:lnSpc>
                <a:spcPct val="100000"/>
              </a:lnSpc>
            </a:pPr>
            <a:r>
              <a:rPr lang="zh-CN" altLang="en-US" sz="1400" b="0" dirty="0">
                <a:effectLst/>
                <a:latin typeface="Arial Unicode MS"/>
                <a:ea typeface="source-code-pro"/>
              </a:rPr>
              <a:t>决策变量</a:t>
            </a:r>
            <a:r>
              <a:rPr lang="en-US" altLang="zh-CN" sz="1400" b="0" dirty="0">
                <a:effectLst/>
                <a:latin typeface="Arial Unicode MS"/>
                <a:ea typeface="source-code-pro"/>
              </a:rPr>
              <a:t>x,</a:t>
            </a:r>
            <a:r>
              <a:rPr lang="zh-CN" altLang="en-US" sz="1400" b="0" dirty="0">
                <a:effectLst/>
                <a:latin typeface="Arial Unicode MS"/>
                <a:ea typeface="source-code-pro"/>
              </a:rPr>
              <a:t>目标函数值</a:t>
            </a:r>
            <a:r>
              <a:rPr lang="en-US" altLang="zh-CN" sz="1400" b="0" dirty="0" err="1">
                <a:effectLst/>
                <a:latin typeface="Arial Unicode MS"/>
                <a:ea typeface="source-code-pro"/>
              </a:rPr>
              <a:t>fval</a:t>
            </a:r>
            <a:r>
              <a:rPr lang="en-US" altLang="zh-CN" sz="1400" b="0" dirty="0">
                <a:effectLst/>
                <a:latin typeface="Arial Unicode MS"/>
                <a:ea typeface="source-code-pro"/>
              </a:rPr>
              <a:t> </a:t>
            </a:r>
            <a:r>
              <a:rPr lang="zh-CN" altLang="en-US" sz="1400" b="0" dirty="0">
                <a:effectLst/>
                <a:latin typeface="Arial Unicode MS"/>
                <a:ea typeface="source-code-pro"/>
              </a:rPr>
              <a:t>，</a:t>
            </a:r>
            <a:r>
              <a:rPr lang="en-US" altLang="zh-CN" sz="1400" b="0" dirty="0">
                <a:effectLst/>
                <a:latin typeface="Arial Unicode MS"/>
                <a:ea typeface="source-code-pro"/>
              </a:rPr>
              <a:t>,</a:t>
            </a:r>
            <a:r>
              <a:rPr lang="zh-CN" altLang="zh-CN" sz="1400" b="0" dirty="0">
                <a:effectLst/>
                <a:latin typeface="Arial Unicode MS"/>
                <a:ea typeface="source-code-pro"/>
              </a:rPr>
              <a:t>=</a:t>
            </a:r>
            <a:r>
              <a:rPr lang="zh-CN" altLang="en-US" sz="1400" b="0" dirty="0">
                <a:effectLst/>
                <a:latin typeface="Arial Unicode MS"/>
                <a:ea typeface="source-code-pro"/>
              </a:rPr>
              <a:t>优化函数命令（目标函数</a:t>
            </a:r>
            <a:r>
              <a:rPr lang="en-US" altLang="zh-CN" sz="1400" b="0" dirty="0">
                <a:effectLst/>
                <a:latin typeface="Arial Unicode MS"/>
                <a:ea typeface="source-code-pro"/>
              </a:rPr>
              <a:t>fun</a:t>
            </a:r>
            <a:r>
              <a:rPr lang="zh-CN" altLang="en-US" sz="1400" b="0" dirty="0">
                <a:effectLst/>
                <a:latin typeface="Arial Unicode MS"/>
                <a:ea typeface="source-code-pro"/>
              </a:rPr>
              <a:t>，约束条件</a:t>
            </a:r>
            <a:r>
              <a:rPr lang="zh-CN" altLang="zh-CN" sz="1400" b="0" dirty="0">
                <a:effectLst/>
                <a:latin typeface="Arial Unicode MS"/>
                <a:ea typeface="source-code-pro"/>
              </a:rPr>
              <a:t>)</a:t>
            </a:r>
            <a:r>
              <a:rPr lang="zh-CN" altLang="zh-CN" sz="1400" b="0" dirty="0">
                <a:effectLst/>
              </a:rPr>
              <a:t> </a:t>
            </a:r>
            <a:endParaRPr lang="zh-CN" altLang="zh-CN" sz="1400" b="0" dirty="0">
              <a:effectLst/>
              <a:latin typeface="Arial" panose="020B0604020202020204" pitchFamily="34" charset="0"/>
            </a:endParaRPr>
          </a:p>
        </p:txBody>
      </p:sp>
      <p:sp>
        <p:nvSpPr>
          <p:cNvPr id="27" name="文本框 26">
            <a:extLst>
              <a:ext uri="{FF2B5EF4-FFF2-40B4-BE49-F238E27FC236}">
                <a16:creationId xmlns:a16="http://schemas.microsoft.com/office/drawing/2014/main" id="{03B8196C-6ED8-4014-BAF0-3C368E68A6F4}"/>
              </a:ext>
            </a:extLst>
          </p:cNvPr>
          <p:cNvSpPr txBox="1"/>
          <p:nvPr/>
        </p:nvSpPr>
        <p:spPr>
          <a:xfrm>
            <a:off x="-1" y="1108308"/>
            <a:ext cx="1978725" cy="353943"/>
          </a:xfrm>
          <a:prstGeom prst="rect">
            <a:avLst/>
          </a:prstGeom>
          <a:noFill/>
          <a:ln>
            <a:solidFill>
              <a:schemeClr val="bg1"/>
            </a:solidFill>
          </a:ln>
        </p:spPr>
        <p:txBody>
          <a:bodyPr wrap="square">
            <a:spAutoFit/>
          </a:bodyPr>
          <a:lstStyle/>
          <a:p>
            <a:r>
              <a:rPr lang="zh-CN" altLang="en-US" sz="1700" b="1" dirty="0">
                <a:solidFill>
                  <a:srgbClr val="0070C0"/>
                </a:solidFill>
                <a:latin typeface="微软雅黑" panose="020B0503020204020204" pitchFamily="34" charset="-122"/>
                <a:ea typeface="微软雅黑" panose="020B0503020204020204" pitchFamily="34" charset="-122"/>
              </a:rPr>
              <a:t>优化函数调用形式</a:t>
            </a:r>
          </a:p>
        </p:txBody>
      </p:sp>
      <p:sp>
        <p:nvSpPr>
          <p:cNvPr id="19" name="文本框 18">
            <a:extLst>
              <a:ext uri="{FF2B5EF4-FFF2-40B4-BE49-F238E27FC236}">
                <a16:creationId xmlns:a16="http://schemas.microsoft.com/office/drawing/2014/main" id="{189692DA-6420-454F-A358-184D0626FB9E}"/>
              </a:ext>
            </a:extLst>
          </p:cNvPr>
          <p:cNvSpPr txBox="1"/>
          <p:nvPr/>
        </p:nvSpPr>
        <p:spPr>
          <a:xfrm>
            <a:off x="6173923" y="3656059"/>
            <a:ext cx="3210603" cy="584775"/>
          </a:xfrm>
          <a:prstGeom prst="rect">
            <a:avLst/>
          </a:prstGeom>
          <a:noFill/>
        </p:spPr>
        <p:txBody>
          <a:bodyPr wrap="square">
            <a:spAutoFit/>
          </a:bodyPr>
          <a:lstStyle/>
          <a:p>
            <a:r>
              <a:rPr lang="zh-CN" altLang="en-US" sz="16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如</a:t>
            </a:r>
            <a:r>
              <a:rPr lang="en-US" altLang="zh-CN" sz="16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ci(x)</a:t>
            </a:r>
            <a:r>
              <a:rPr lang="zh-CN" altLang="zh-CN" sz="16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6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0</a:t>
            </a:r>
            <a:r>
              <a:rPr lang="zh-CN" altLang="en-US" sz="16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，则转化为</a:t>
            </a:r>
            <a:r>
              <a:rPr lang="zh-CN" altLang="zh-CN" sz="16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6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ci(x)</a:t>
            </a:r>
            <a:r>
              <a:rPr lang="zh-CN" altLang="zh-CN" sz="16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 </a:t>
            </a:r>
            <a:r>
              <a:rPr lang="en-US" altLang="zh-CN" sz="16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0</a:t>
            </a:r>
          </a:p>
          <a:p>
            <a:r>
              <a:rPr lang="zh-CN" altLang="en-US" sz="16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如</a:t>
            </a:r>
            <a:r>
              <a:rPr lang="en-US" altLang="zh-CN" sz="16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Ax</a:t>
            </a:r>
            <a:r>
              <a:rPr lang="zh-CN" altLang="zh-CN" sz="16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6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b</a:t>
            </a:r>
            <a:r>
              <a:rPr lang="zh-CN" altLang="en-US" sz="16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，则</a:t>
            </a:r>
            <a:r>
              <a:rPr lang="en-US" altLang="zh-CN" sz="16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 </a:t>
            </a:r>
            <a:r>
              <a:rPr lang="zh-CN" altLang="en-US" sz="16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转化为</a:t>
            </a:r>
            <a:r>
              <a:rPr lang="zh-CN" altLang="zh-CN" sz="16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6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Ax</a:t>
            </a:r>
            <a:r>
              <a:rPr lang="zh-CN" altLang="zh-CN" sz="16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6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b</a:t>
            </a:r>
            <a:endParaRPr lang="zh-CN" altLang="en-US" sz="1600"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34BB1B30-0364-4B1F-A88C-F688CE27552B}"/>
              </a:ext>
            </a:extLst>
          </p:cNvPr>
          <p:cNvSpPr txBox="1"/>
          <p:nvPr/>
        </p:nvSpPr>
        <p:spPr>
          <a:xfrm>
            <a:off x="4314361" y="3091295"/>
            <a:ext cx="4864608" cy="338554"/>
          </a:xfrm>
          <a:prstGeom prst="rect">
            <a:avLst/>
          </a:prstGeom>
          <a:noFill/>
        </p:spPr>
        <p:txBody>
          <a:bodyPr wrap="square">
            <a:spAutoFit/>
          </a:bodyPr>
          <a:lstStyle/>
          <a:p>
            <a:r>
              <a:rPr lang="zh-CN" altLang="en-US" sz="1600" dirty="0">
                <a:solidFill>
                  <a:srgbClr val="002060"/>
                </a:solidFill>
                <a:latin typeface="微软雅黑" panose="020B0503020204020204" pitchFamily="34" charset="-122"/>
                <a:ea typeface="微软雅黑" panose="020B0503020204020204" pitchFamily="34" charset="-122"/>
              </a:rPr>
              <a:t>非线性规划</a:t>
            </a:r>
            <a:r>
              <a:rPr lang="en-US" altLang="zh-CN" sz="1600" dirty="0" err="1">
                <a:solidFill>
                  <a:srgbClr val="FF0000"/>
                </a:solidFill>
                <a:latin typeface="微软雅黑" panose="020B0503020204020204" pitchFamily="34" charset="-122"/>
                <a:ea typeface="微软雅黑" panose="020B0503020204020204" pitchFamily="34" charset="-122"/>
                <a:sym typeface="Arial" panose="020B0604020202020204" pitchFamily="34" charset="0"/>
              </a:rPr>
              <a:t>fminbnd</a:t>
            </a:r>
            <a:r>
              <a:rPr lang="en-US" altLang="zh-CN" sz="16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 fminsearch </a:t>
            </a:r>
            <a:r>
              <a:rPr lang="en-US" altLang="zh-CN" sz="1600" dirty="0" err="1">
                <a:solidFill>
                  <a:srgbClr val="FF0000"/>
                </a:solidFill>
                <a:latin typeface="微软雅黑" panose="020B0503020204020204" pitchFamily="34" charset="-122"/>
                <a:ea typeface="微软雅黑" panose="020B0503020204020204" pitchFamily="34" charset="-122"/>
                <a:hlinkClick r:id="rId5" action="ppaction://hlinkfile">
                  <a:extLst>
                    <a:ext uri="{A12FA001-AC4F-418D-AE19-62706E023703}">
                      <ahyp:hlinkClr xmlns:ahyp="http://schemas.microsoft.com/office/drawing/2018/hyperlinkcolor" val="tx"/>
                    </a:ext>
                  </a:extLst>
                </a:hlinkClick>
              </a:rPr>
              <a:t>fminunc</a:t>
            </a:r>
            <a:r>
              <a:rPr lang="en-US" altLang="zh-CN" sz="1600" dirty="0">
                <a:solidFill>
                  <a:srgbClr val="FF0000"/>
                </a:solidFill>
                <a:latin typeface="微软雅黑" panose="020B0503020204020204" pitchFamily="34" charset="-122"/>
                <a:ea typeface="微软雅黑" panose="020B0503020204020204" pitchFamily="34" charset="-122"/>
              </a:rPr>
              <a:t> </a:t>
            </a:r>
            <a:r>
              <a:rPr lang="zh-CN" altLang="zh-CN" sz="1600" dirty="0">
                <a:solidFill>
                  <a:srgbClr val="FF0000"/>
                </a:solidFill>
                <a:latin typeface="微软雅黑" panose="020B0503020204020204" pitchFamily="34" charset="-122"/>
                <a:ea typeface="微软雅黑" panose="020B0503020204020204" pitchFamily="34" charset="-122"/>
              </a:rPr>
              <a:t>fmincon</a:t>
            </a:r>
            <a:endParaRPr lang="zh-CN" altLang="en-US" sz="1600" dirty="0"/>
          </a:p>
        </p:txBody>
      </p:sp>
    </p:spTree>
    <p:extLst>
      <p:ext uri="{BB962C8B-B14F-4D97-AF65-F5344CB8AC3E}">
        <p14:creationId xmlns:p14="http://schemas.microsoft.com/office/powerpoint/2010/main" val="1636271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4" grpId="0"/>
      <p:bldP spid="18" grpId="0"/>
      <p:bldP spid="2" grpId="0" animBg="1"/>
      <p:bldP spid="15" grpId="0" animBg="1"/>
      <p:bldP spid="22" grpId="0"/>
      <p:bldP spid="24" grpId="0"/>
      <p:bldP spid="26" grpId="0" animBg="1"/>
      <p:bldP spid="27" grpId="0" animBg="1"/>
      <p:bldP spid="19"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48C01E49-48B9-401C-BB77-9B639F54758A}"/>
              </a:ext>
            </a:extLst>
          </p:cNvPr>
          <p:cNvSpPr txBox="1">
            <a:spLocks/>
          </p:cNvSpPr>
          <p:nvPr/>
        </p:nvSpPr>
        <p:spPr>
          <a:xfrm>
            <a:off x="846669" y="128109"/>
            <a:ext cx="8097647" cy="420508"/>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800" b="0" dirty="0">
                <a:solidFill>
                  <a:srgbClr val="002060"/>
                </a:solidFill>
                <a:latin typeface="华文楷体" panose="02010600040101010101" pitchFamily="2" charset="-122"/>
                <a:ea typeface="华文楷体" panose="02010600040101010101" pitchFamily="2" charset="-122"/>
              </a:rPr>
              <a:t>§ 8.1 </a:t>
            </a:r>
            <a:r>
              <a:rPr lang="zh-CN" altLang="en-US" sz="2800" b="0" dirty="0">
                <a:solidFill>
                  <a:srgbClr val="002060"/>
                </a:solidFill>
                <a:latin typeface="华文楷体" panose="02010600040101010101" pitchFamily="2" charset="-122"/>
                <a:ea typeface="华文楷体" panose="02010600040101010101" pitchFamily="2" charset="-122"/>
              </a:rPr>
              <a:t>最优化概念原理及特征</a:t>
            </a:r>
            <a:r>
              <a:rPr lang="en-US" altLang="zh-CN" sz="2800" b="0" kern="0" dirty="0">
                <a:solidFill>
                  <a:srgbClr val="FF0000"/>
                </a:solidFill>
                <a:latin typeface="华文楷体" panose="02010600040101010101" pitchFamily="2" charset="-122"/>
                <a:ea typeface="华文楷体" panose="02010600040101010101" pitchFamily="2" charset="-122"/>
              </a:rPr>
              <a:t>——</a:t>
            </a:r>
            <a:r>
              <a:rPr lang="zh-CN" altLang="en-US" sz="2800" b="0" dirty="0">
                <a:solidFill>
                  <a:srgbClr val="FF0000"/>
                </a:solidFill>
                <a:latin typeface="华文楷体" panose="02010600040101010101" pitchFamily="2" charset="-122"/>
                <a:ea typeface="华文楷体" panose="02010600040101010101" pitchFamily="2" charset="-122"/>
              </a:rPr>
              <a:t>最优化分类</a:t>
            </a:r>
            <a:endParaRPr lang="zh-CN" altLang="en-US" sz="2800" b="0" kern="0" dirty="0">
              <a:solidFill>
                <a:srgbClr val="FF0000"/>
              </a:solidFill>
              <a:latin typeface="华文楷体" panose="02010600040101010101" pitchFamily="2" charset="-122"/>
              <a:ea typeface="华文楷体" panose="02010600040101010101" pitchFamily="2" charset="-122"/>
            </a:endParaRPr>
          </a:p>
        </p:txBody>
      </p:sp>
      <p:sp>
        <p:nvSpPr>
          <p:cNvPr id="39" name="文本框 38">
            <a:extLst>
              <a:ext uri="{FF2B5EF4-FFF2-40B4-BE49-F238E27FC236}">
                <a16:creationId xmlns:a16="http://schemas.microsoft.com/office/drawing/2014/main" id="{B11CD718-BA1E-45D7-8131-06E70251FEE8}"/>
              </a:ext>
            </a:extLst>
          </p:cNvPr>
          <p:cNvSpPr txBox="1"/>
          <p:nvPr/>
        </p:nvSpPr>
        <p:spPr>
          <a:xfrm>
            <a:off x="179512" y="1213705"/>
            <a:ext cx="8856984" cy="369332"/>
          </a:xfrm>
          <a:prstGeom prst="rect">
            <a:avLst/>
          </a:prstGeom>
          <a:noFill/>
        </p:spPr>
        <p:txBody>
          <a:bodyPr wrap="square">
            <a:spAutoFit/>
          </a:bodyPr>
          <a:lstStyle/>
          <a:p>
            <a:pPr algn="dist"/>
            <a:r>
              <a:rPr lang="zh-CN" altLang="en-US" b="1" i="0" dirty="0">
                <a:solidFill>
                  <a:srgbClr val="00B0F0"/>
                </a:solidFill>
                <a:effectLst/>
                <a:latin typeface="微软雅黑" panose="020B0503020204020204" pitchFamily="34" charset="-122"/>
                <a:ea typeface="微软雅黑" panose="020B0503020204020204" pitchFamily="34" charset="-122"/>
              </a:rPr>
              <a:t>优化模型可以根据</a:t>
            </a:r>
            <a:r>
              <a:rPr lang="zh-CN" altLang="en-US" b="1" dirty="0">
                <a:solidFill>
                  <a:srgbClr val="00B0F0"/>
                </a:solidFill>
                <a:latin typeface="微软雅黑" panose="020B0503020204020204" pitchFamily="34" charset="-122"/>
                <a:ea typeface="微软雅黑" panose="020B0503020204020204" pitchFamily="34" charset="-122"/>
              </a:rPr>
              <a:t>优化三要素</a:t>
            </a:r>
            <a:r>
              <a:rPr lang="en-US" altLang="zh-CN" b="1" dirty="0">
                <a:solidFill>
                  <a:srgbClr val="00B0F0"/>
                </a:solidFill>
                <a:latin typeface="微软雅黑" panose="020B0503020204020204" pitchFamily="34" charset="-122"/>
                <a:ea typeface="微软雅黑" panose="020B0503020204020204" pitchFamily="34" charset="-122"/>
              </a:rPr>
              <a:t>(</a:t>
            </a:r>
            <a:r>
              <a:rPr lang="zh-CN" altLang="en-US" b="1" i="0" dirty="0">
                <a:solidFill>
                  <a:srgbClr val="00B0F0"/>
                </a:solidFill>
                <a:effectLst/>
                <a:latin typeface="微软雅黑" panose="020B0503020204020204" pitchFamily="34" charset="-122"/>
                <a:ea typeface="微软雅黑" panose="020B0503020204020204" pitchFamily="34" charset="-122"/>
              </a:rPr>
              <a:t>目标、决策变量、约束</a:t>
            </a:r>
            <a:r>
              <a:rPr lang="en-US" altLang="zh-CN" b="1" i="0" dirty="0">
                <a:solidFill>
                  <a:srgbClr val="00B0F0"/>
                </a:solidFill>
                <a:effectLst/>
                <a:latin typeface="微软雅黑" panose="020B0503020204020204" pitchFamily="34" charset="-122"/>
                <a:ea typeface="微软雅黑" panose="020B0503020204020204" pitchFamily="34" charset="-122"/>
              </a:rPr>
              <a:t>)</a:t>
            </a:r>
            <a:r>
              <a:rPr lang="zh-CN" altLang="en-US" b="1" dirty="0">
                <a:solidFill>
                  <a:srgbClr val="00B0F0"/>
                </a:solidFill>
                <a:latin typeface="微软雅黑" panose="020B0503020204020204" pitchFamily="34" charset="-122"/>
                <a:ea typeface="微软雅黑" panose="020B0503020204020204" pitchFamily="34" charset="-122"/>
              </a:rPr>
              <a:t>不同</a:t>
            </a:r>
            <a:r>
              <a:rPr lang="zh-CN" altLang="en-US" b="1" i="0" dirty="0">
                <a:solidFill>
                  <a:srgbClr val="00B0F0"/>
                </a:solidFill>
                <a:effectLst/>
                <a:latin typeface="微软雅黑" panose="020B0503020204020204" pitchFamily="34" charset="-122"/>
                <a:ea typeface="微软雅黑" panose="020B0503020204020204" pitchFamily="34" charset="-122"/>
              </a:rPr>
              <a:t>划分成不同的类别</a:t>
            </a:r>
          </a:p>
        </p:txBody>
      </p:sp>
      <p:pic>
        <p:nvPicPr>
          <p:cNvPr id="1026" name="Picture 2">
            <a:extLst>
              <a:ext uri="{FF2B5EF4-FFF2-40B4-BE49-F238E27FC236}">
                <a16:creationId xmlns:a16="http://schemas.microsoft.com/office/drawing/2014/main" id="{6C931D6A-C20A-4241-8BD4-9415EA018BF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950" b="20699"/>
          <a:stretch/>
        </p:blipFill>
        <p:spPr bwMode="auto">
          <a:xfrm>
            <a:off x="80530" y="1717288"/>
            <a:ext cx="6672314" cy="2717036"/>
          </a:xfrm>
          <a:prstGeom prst="rect">
            <a:avLst/>
          </a:prstGeom>
          <a:noFill/>
          <a:extLst>
            <a:ext uri="{909E8E84-426E-40DD-AFC4-6F175D3DCCD1}">
              <a14:hiddenFill xmlns:a14="http://schemas.microsoft.com/office/drawing/2010/main">
                <a:solidFill>
                  <a:srgbClr val="FFFFFF"/>
                </a:solidFill>
              </a14:hiddenFill>
            </a:ext>
          </a:extLst>
        </p:spPr>
      </p:pic>
      <p:sp>
        <p:nvSpPr>
          <p:cNvPr id="59" name="矩形: 圆角 58">
            <a:extLst>
              <a:ext uri="{FF2B5EF4-FFF2-40B4-BE49-F238E27FC236}">
                <a16:creationId xmlns:a16="http://schemas.microsoft.com/office/drawing/2014/main" id="{30A9014F-E296-478D-B855-B8A860238B45}"/>
              </a:ext>
            </a:extLst>
          </p:cNvPr>
          <p:cNvSpPr/>
          <p:nvPr/>
        </p:nvSpPr>
        <p:spPr bwMode="auto">
          <a:xfrm>
            <a:off x="1475656" y="2259225"/>
            <a:ext cx="2016224" cy="232387"/>
          </a:xfrm>
          <a:prstGeom prst="roundRect">
            <a:avLst/>
          </a:prstGeom>
          <a:noFill/>
          <a:ln w="12700">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71" name="矩形: 圆角 70">
            <a:extLst>
              <a:ext uri="{FF2B5EF4-FFF2-40B4-BE49-F238E27FC236}">
                <a16:creationId xmlns:a16="http://schemas.microsoft.com/office/drawing/2014/main" id="{AC2E2D12-BE76-4B8D-AAED-B23A510055D9}"/>
              </a:ext>
            </a:extLst>
          </p:cNvPr>
          <p:cNvSpPr/>
          <p:nvPr/>
        </p:nvSpPr>
        <p:spPr bwMode="auto">
          <a:xfrm>
            <a:off x="1502938" y="2701397"/>
            <a:ext cx="1988942" cy="260365"/>
          </a:xfrm>
          <a:prstGeom prst="roundRect">
            <a:avLst/>
          </a:prstGeom>
          <a:noFill/>
          <a:ln w="12700">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72" name="矩形: 圆角 71">
            <a:extLst>
              <a:ext uri="{FF2B5EF4-FFF2-40B4-BE49-F238E27FC236}">
                <a16:creationId xmlns:a16="http://schemas.microsoft.com/office/drawing/2014/main" id="{A5F58D00-6E9B-4C5B-B198-5C55FDB5053D}"/>
              </a:ext>
            </a:extLst>
          </p:cNvPr>
          <p:cNvSpPr/>
          <p:nvPr/>
        </p:nvSpPr>
        <p:spPr bwMode="auto">
          <a:xfrm>
            <a:off x="2699791" y="3116818"/>
            <a:ext cx="1988942" cy="298725"/>
          </a:xfrm>
          <a:prstGeom prst="roundRect">
            <a:avLst/>
          </a:prstGeom>
          <a:noFill/>
          <a:ln w="12700">
            <a:solidFill>
              <a:srgbClr val="00B0F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73" name="矩形: 圆角 72">
            <a:extLst>
              <a:ext uri="{FF2B5EF4-FFF2-40B4-BE49-F238E27FC236}">
                <a16:creationId xmlns:a16="http://schemas.microsoft.com/office/drawing/2014/main" id="{1070F4D3-66D0-4582-AE8A-319F4B978BD2}"/>
              </a:ext>
            </a:extLst>
          </p:cNvPr>
          <p:cNvSpPr/>
          <p:nvPr/>
        </p:nvSpPr>
        <p:spPr bwMode="auto">
          <a:xfrm>
            <a:off x="2699791" y="3620874"/>
            <a:ext cx="1988942" cy="239462"/>
          </a:xfrm>
          <a:prstGeom prst="roundRect">
            <a:avLst/>
          </a:prstGeom>
          <a:noFill/>
          <a:ln w="12700">
            <a:solidFill>
              <a:srgbClr val="00B0F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74" name="矩形: 圆角 73">
            <a:extLst>
              <a:ext uri="{FF2B5EF4-FFF2-40B4-BE49-F238E27FC236}">
                <a16:creationId xmlns:a16="http://schemas.microsoft.com/office/drawing/2014/main" id="{9FF753B0-84C7-4712-B7CF-9586A3C05AEB}"/>
              </a:ext>
            </a:extLst>
          </p:cNvPr>
          <p:cNvSpPr/>
          <p:nvPr/>
        </p:nvSpPr>
        <p:spPr bwMode="auto">
          <a:xfrm>
            <a:off x="2678568" y="4045628"/>
            <a:ext cx="2001497" cy="260365"/>
          </a:xfrm>
          <a:prstGeom prst="roundRect">
            <a:avLst/>
          </a:prstGeom>
          <a:noFill/>
          <a:ln w="12700">
            <a:solidFill>
              <a:srgbClr val="00B0F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21" name="文本框 20">
            <a:extLst>
              <a:ext uri="{FF2B5EF4-FFF2-40B4-BE49-F238E27FC236}">
                <a16:creationId xmlns:a16="http://schemas.microsoft.com/office/drawing/2014/main" id="{950AF629-7516-4D6C-812B-9554ED3100A9}"/>
              </a:ext>
            </a:extLst>
          </p:cNvPr>
          <p:cNvSpPr txBox="1"/>
          <p:nvPr/>
        </p:nvSpPr>
        <p:spPr>
          <a:xfrm>
            <a:off x="179512" y="1681999"/>
            <a:ext cx="2199086" cy="369332"/>
          </a:xfrm>
          <a:prstGeom prst="rect">
            <a:avLst/>
          </a:prstGeom>
          <a:solidFill>
            <a:schemeClr val="bg1"/>
          </a:solidFill>
        </p:spPr>
        <p:txBody>
          <a:bodyPr wrap="square">
            <a:spAutoFit/>
          </a:bodyPr>
          <a:lstStyle/>
          <a:p>
            <a:pPr marL="285750" indent="-285750">
              <a:buClr>
                <a:srgbClr val="003B76"/>
              </a:buClr>
              <a:buFont typeface="Wingdings" panose="05000000000000000000" pitchFamily="2" charset="2"/>
              <a:buChar char="Ø"/>
            </a:pPr>
            <a:r>
              <a:rPr lang="zh-CN" altLang="en-US" b="1" dirty="0">
                <a:solidFill>
                  <a:srgbClr val="00B0F0"/>
                </a:solidFill>
                <a:latin typeface="微软雅黑" panose="020B0503020204020204" pitchFamily="34" charset="-122"/>
                <a:ea typeface="微软雅黑" panose="020B0503020204020204" pitchFamily="34" charset="-122"/>
              </a:rPr>
              <a:t>无约束和有约束</a:t>
            </a:r>
            <a:endParaRPr lang="zh-CN" altLang="en-US" dirty="0">
              <a:solidFill>
                <a:srgbClr val="00B0F0"/>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BD04351B-F9E1-48DC-942F-9DB3745B3C5F}"/>
              </a:ext>
            </a:extLst>
          </p:cNvPr>
          <p:cNvSpPr txBox="1"/>
          <p:nvPr/>
        </p:nvSpPr>
        <p:spPr>
          <a:xfrm>
            <a:off x="245522" y="733461"/>
            <a:ext cx="8807456" cy="388889"/>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3500000" scaled="1"/>
            <a:tileRect/>
          </a:gradFill>
          <a:ln>
            <a:solidFill>
              <a:schemeClr val="bg1"/>
            </a:solidFill>
          </a:ln>
        </p:spPr>
        <p:txBody>
          <a:bodyPr wrap="square" rtlCol="0" anchor="t">
            <a:spAutoFit/>
          </a:bodyPr>
          <a:lstStyle>
            <a:defPPr>
              <a:defRPr lang="zh-CN"/>
            </a:defPPr>
            <a:lvl1pPr defTabSz="0">
              <a:lnSpc>
                <a:spcPts val="2500"/>
              </a:lnSpc>
              <a:spcBef>
                <a:spcPts val="0"/>
              </a:spcBef>
              <a:defRPr sz="2400" b="0">
                <a:solidFill>
                  <a:schemeClr val="bg1"/>
                </a:solidFill>
                <a:effectLst/>
                <a:latin typeface="Consolas" panose="020B0609020204030204" pitchFamily="49" charset="0"/>
                <a:ea typeface="华文楷体" panose="02010600040101010101" pitchFamily="2" charset="-122"/>
              </a:defRPr>
            </a:lvl1pPr>
          </a:lstStyle>
          <a:p>
            <a:r>
              <a:rPr lang="zh-CN" altLang="en-US" sz="1600" dirty="0"/>
              <a:t>不同类型优化问题求解难度和方法是有很大差异的</a:t>
            </a:r>
            <a:r>
              <a:rPr lang="en-US" altLang="zh-CN" sz="1600" dirty="0"/>
              <a:t>,</a:t>
            </a:r>
            <a:r>
              <a:rPr lang="zh-CN" altLang="en-US" sz="1600" dirty="0"/>
              <a:t>因此在解决优化问题时</a:t>
            </a:r>
            <a:r>
              <a:rPr lang="en-US" altLang="zh-CN" sz="1600" dirty="0"/>
              <a:t>,</a:t>
            </a:r>
            <a:r>
              <a:rPr lang="zh-CN" altLang="en-US" sz="1600" dirty="0"/>
              <a:t>有必要弄清优化分类</a:t>
            </a:r>
          </a:p>
        </p:txBody>
      </p:sp>
      <p:pic>
        <p:nvPicPr>
          <p:cNvPr id="60" name="图片 59">
            <a:extLst>
              <a:ext uri="{FF2B5EF4-FFF2-40B4-BE49-F238E27FC236}">
                <a16:creationId xmlns:a16="http://schemas.microsoft.com/office/drawing/2014/main" id="{959A5DDC-F9E4-4310-8910-8332207C65F1}"/>
              </a:ext>
            </a:extLst>
          </p:cNvPr>
          <p:cNvPicPr>
            <a:picLocks noChangeAspect="1"/>
          </p:cNvPicPr>
          <p:nvPr/>
        </p:nvPicPr>
        <p:blipFill rotWithShape="1">
          <a:blip r:embed="rId4"/>
          <a:srcRect l="8263" t="12200" r="7476" b="5201"/>
          <a:stretch/>
        </p:blipFill>
        <p:spPr>
          <a:xfrm>
            <a:off x="6798576" y="3015785"/>
            <a:ext cx="2136594" cy="1584176"/>
          </a:xfrm>
          <a:prstGeom prst="rect">
            <a:avLst/>
          </a:prstGeom>
        </p:spPr>
      </p:pic>
      <p:pic>
        <p:nvPicPr>
          <p:cNvPr id="61" name="图片 60">
            <a:extLst>
              <a:ext uri="{FF2B5EF4-FFF2-40B4-BE49-F238E27FC236}">
                <a16:creationId xmlns:a16="http://schemas.microsoft.com/office/drawing/2014/main" id="{2EFD5E71-9E08-4B3F-B5F2-8EC6958FCA5E}"/>
              </a:ext>
            </a:extLst>
          </p:cNvPr>
          <p:cNvPicPr>
            <a:picLocks noChangeAspect="1"/>
          </p:cNvPicPr>
          <p:nvPr/>
        </p:nvPicPr>
        <p:blipFill rotWithShape="1">
          <a:blip r:embed="rId5"/>
          <a:srcRect l="8263" t="10465" r="8263" b="8001"/>
          <a:stretch/>
        </p:blipFill>
        <p:spPr>
          <a:xfrm>
            <a:off x="6809964" y="1491113"/>
            <a:ext cx="2125206" cy="1584693"/>
          </a:xfrm>
          <a:prstGeom prst="rect">
            <a:avLst/>
          </a:prstGeom>
        </p:spPr>
      </p:pic>
      <p:sp>
        <p:nvSpPr>
          <p:cNvPr id="63" name="文本框 62">
            <a:extLst>
              <a:ext uri="{FF2B5EF4-FFF2-40B4-BE49-F238E27FC236}">
                <a16:creationId xmlns:a16="http://schemas.microsoft.com/office/drawing/2014/main" id="{96262FC2-5743-4334-8E3C-D0627FD8BED6}"/>
              </a:ext>
            </a:extLst>
          </p:cNvPr>
          <p:cNvSpPr txBox="1"/>
          <p:nvPr/>
        </p:nvSpPr>
        <p:spPr>
          <a:xfrm>
            <a:off x="7401217" y="1612244"/>
            <a:ext cx="1382708" cy="1015663"/>
          </a:xfrm>
          <a:prstGeom prst="rect">
            <a:avLst/>
          </a:prstGeom>
          <a:noFill/>
        </p:spPr>
        <p:txBody>
          <a:bodyPr wrap="square">
            <a:spAutoFit/>
          </a:bodyPr>
          <a:lstStyle/>
          <a:p>
            <a:r>
              <a:rPr lang="es-ES" altLang="zh-CN" sz="1000" b="0" dirty="0">
                <a:solidFill>
                  <a:srgbClr val="000000"/>
                </a:solidFill>
                <a:effectLst/>
                <a:latin typeface="Consolas" panose="020B0609020204030204" pitchFamily="49" charset="0"/>
              </a:rPr>
              <a:t>x=-</a:t>
            </a:r>
            <a:r>
              <a:rPr lang="es-ES" altLang="zh-CN" sz="1000" b="0" dirty="0">
                <a:solidFill>
                  <a:srgbClr val="098658"/>
                </a:solidFill>
                <a:effectLst/>
                <a:latin typeface="Consolas" panose="020B0609020204030204" pitchFamily="49" charset="0"/>
              </a:rPr>
              <a:t>5</a:t>
            </a:r>
            <a:r>
              <a:rPr lang="es-ES" altLang="zh-CN" sz="1000" b="0" dirty="0">
                <a:solidFill>
                  <a:srgbClr val="000000"/>
                </a:solidFill>
                <a:effectLst/>
                <a:latin typeface="Consolas" panose="020B0609020204030204" pitchFamily="49" charset="0"/>
              </a:rPr>
              <a:t>:</a:t>
            </a:r>
            <a:r>
              <a:rPr lang="es-ES" altLang="zh-CN" sz="1000" b="0" dirty="0">
                <a:solidFill>
                  <a:srgbClr val="098658"/>
                </a:solidFill>
                <a:effectLst/>
                <a:latin typeface="Consolas" panose="020B0609020204030204" pitchFamily="49" charset="0"/>
              </a:rPr>
              <a:t>0.1</a:t>
            </a:r>
            <a:r>
              <a:rPr lang="es-ES" altLang="zh-CN" sz="1000" b="0" dirty="0">
                <a:solidFill>
                  <a:srgbClr val="000000"/>
                </a:solidFill>
                <a:effectLst/>
                <a:latin typeface="Consolas" panose="020B0609020204030204" pitchFamily="49" charset="0"/>
              </a:rPr>
              <a:t>:</a:t>
            </a:r>
            <a:r>
              <a:rPr lang="es-ES" altLang="zh-CN" sz="1000" b="0" dirty="0">
                <a:solidFill>
                  <a:srgbClr val="098658"/>
                </a:solidFill>
                <a:effectLst/>
                <a:latin typeface="Consolas" panose="020B0609020204030204" pitchFamily="49" charset="0"/>
              </a:rPr>
              <a:t>5</a:t>
            </a:r>
            <a:r>
              <a:rPr lang="es-ES" altLang="zh-CN" sz="1000" b="0" dirty="0">
                <a:solidFill>
                  <a:srgbClr val="000000"/>
                </a:solidFill>
                <a:effectLst/>
                <a:latin typeface="Consolas" panose="020B0609020204030204" pitchFamily="49" charset="0"/>
              </a:rPr>
              <a:t>;</a:t>
            </a:r>
          </a:p>
          <a:p>
            <a:r>
              <a:rPr lang="es-ES" altLang="zh-CN" sz="1000" b="0" dirty="0">
                <a:solidFill>
                  <a:srgbClr val="000000"/>
                </a:solidFill>
                <a:effectLst/>
                <a:latin typeface="Consolas" panose="020B0609020204030204" pitchFamily="49" charset="0"/>
              </a:rPr>
              <a:t>y=</a:t>
            </a:r>
            <a:r>
              <a:rPr lang="es-ES" altLang="zh-CN" sz="1000" b="0" dirty="0">
                <a:solidFill>
                  <a:srgbClr val="795E26"/>
                </a:solidFill>
                <a:effectLst/>
                <a:latin typeface="Consolas" panose="020B0609020204030204" pitchFamily="49" charset="0"/>
              </a:rPr>
              <a:t>@.</a:t>
            </a:r>
            <a:r>
              <a:rPr lang="es-ES" altLang="zh-CN" sz="1000" b="0" dirty="0">
                <a:solidFill>
                  <a:srgbClr val="000000"/>
                </a:solidFill>
                <a:effectLst/>
                <a:latin typeface="Consolas" panose="020B0609020204030204" pitchFamily="49" charset="0"/>
              </a:rPr>
              <a:t> </a:t>
            </a:r>
            <a:r>
              <a:rPr lang="es-ES" altLang="zh-CN" sz="1000" b="0" dirty="0">
                <a:solidFill>
                  <a:srgbClr val="098658"/>
                </a:solidFill>
                <a:effectLst/>
                <a:latin typeface="Consolas" panose="020B0609020204030204" pitchFamily="49" charset="0"/>
              </a:rPr>
              <a:t>0.5</a:t>
            </a:r>
            <a:r>
              <a:rPr lang="es-ES" altLang="zh-CN" sz="1000" b="0" dirty="0">
                <a:solidFill>
                  <a:srgbClr val="000000"/>
                </a:solidFill>
                <a:effectLst/>
                <a:latin typeface="Consolas" panose="020B0609020204030204" pitchFamily="49" charset="0"/>
              </a:rPr>
              <a:t>(x^</a:t>
            </a:r>
            <a:r>
              <a:rPr lang="es-ES" altLang="zh-CN" sz="1000" b="0" dirty="0">
                <a:solidFill>
                  <a:srgbClr val="098658"/>
                </a:solidFill>
                <a:effectLst/>
                <a:latin typeface="Consolas" panose="020B0609020204030204" pitchFamily="49" charset="0"/>
              </a:rPr>
              <a:t>2</a:t>
            </a:r>
            <a:r>
              <a:rPr lang="es-ES" altLang="zh-CN" sz="1000" b="0" dirty="0">
                <a:solidFill>
                  <a:srgbClr val="000000"/>
                </a:solidFill>
                <a:effectLst/>
                <a:latin typeface="Consolas" panose="020B0609020204030204" pitchFamily="49" charset="0"/>
              </a:rPr>
              <a:t>-</a:t>
            </a:r>
            <a:r>
              <a:rPr lang="es-ES" altLang="zh-CN" sz="1000" b="0" dirty="0">
                <a:solidFill>
                  <a:srgbClr val="098658"/>
                </a:solidFill>
                <a:effectLst/>
                <a:latin typeface="Consolas" panose="020B0609020204030204" pitchFamily="49" charset="0"/>
              </a:rPr>
              <a:t>1</a:t>
            </a:r>
            <a:r>
              <a:rPr lang="es-ES" altLang="zh-CN" sz="1000" b="0" dirty="0">
                <a:solidFill>
                  <a:srgbClr val="000000"/>
                </a:solidFill>
                <a:effectLst/>
                <a:latin typeface="Consolas" panose="020B0609020204030204" pitchFamily="49" charset="0"/>
              </a:rPr>
              <a:t>)+</a:t>
            </a:r>
            <a:r>
              <a:rPr lang="es-ES" altLang="zh-CN" sz="1000" b="0" dirty="0">
                <a:solidFill>
                  <a:srgbClr val="098658"/>
                </a:solidFill>
                <a:effectLst/>
                <a:latin typeface="Consolas" panose="020B0609020204030204" pitchFamily="49" charset="0"/>
              </a:rPr>
              <a:t>1</a:t>
            </a:r>
            <a:r>
              <a:rPr lang="es-ES" altLang="zh-CN" sz="1000" b="0" dirty="0">
                <a:solidFill>
                  <a:srgbClr val="000000"/>
                </a:solidFill>
                <a:effectLst/>
                <a:latin typeface="Consolas" panose="020B0609020204030204" pitchFamily="49" charset="0"/>
              </a:rPr>
              <a:t>;</a:t>
            </a:r>
          </a:p>
          <a:p>
            <a:r>
              <a:rPr lang="es-ES" altLang="zh-CN" sz="1000" b="0" dirty="0">
                <a:solidFill>
                  <a:srgbClr val="795E26"/>
                </a:solidFill>
                <a:effectLst/>
                <a:latin typeface="Consolas" panose="020B0609020204030204" pitchFamily="49" charset="0"/>
              </a:rPr>
              <a:t>plot</a:t>
            </a:r>
            <a:r>
              <a:rPr lang="es-ES" altLang="zh-CN" sz="1000" b="0" dirty="0">
                <a:solidFill>
                  <a:srgbClr val="000000"/>
                </a:solidFill>
                <a:effectLst/>
                <a:latin typeface="Consolas" panose="020B0609020204030204" pitchFamily="49" charset="0"/>
              </a:rPr>
              <a:t>(x,y);</a:t>
            </a:r>
          </a:p>
          <a:p>
            <a:r>
              <a:rPr lang="es-ES" altLang="zh-CN" sz="1000" b="0" dirty="0">
                <a:solidFill>
                  <a:srgbClr val="795E26"/>
                </a:solidFill>
                <a:effectLst/>
                <a:latin typeface="Consolas" panose="020B0609020204030204" pitchFamily="49" charset="0"/>
              </a:rPr>
              <a:t>xlabel</a:t>
            </a:r>
            <a:r>
              <a:rPr lang="es-ES" altLang="zh-CN" sz="1000" b="0" dirty="0">
                <a:solidFill>
                  <a:srgbClr val="000000"/>
                </a:solidFill>
                <a:effectLst/>
                <a:latin typeface="Consolas" panose="020B0609020204030204" pitchFamily="49" charset="0"/>
              </a:rPr>
              <a:t>(</a:t>
            </a:r>
            <a:r>
              <a:rPr lang="es-ES" altLang="zh-CN" sz="1000" b="0" dirty="0">
                <a:solidFill>
                  <a:srgbClr val="A31515"/>
                </a:solidFill>
                <a:effectLst/>
                <a:latin typeface="Consolas" panose="020B0609020204030204" pitchFamily="49" charset="0"/>
              </a:rPr>
              <a:t>"x"</a:t>
            </a:r>
            <a:r>
              <a:rPr lang="es-ES" altLang="zh-CN" sz="1000" b="0" dirty="0">
                <a:solidFill>
                  <a:srgbClr val="000000"/>
                </a:solidFill>
                <a:effectLst/>
                <a:latin typeface="Consolas" panose="020B0609020204030204" pitchFamily="49" charset="0"/>
              </a:rPr>
              <a:t>);</a:t>
            </a:r>
          </a:p>
          <a:p>
            <a:r>
              <a:rPr lang="es-ES" altLang="zh-CN" sz="1000" b="0" dirty="0">
                <a:solidFill>
                  <a:srgbClr val="795E26"/>
                </a:solidFill>
                <a:effectLst/>
                <a:latin typeface="Consolas" panose="020B0609020204030204" pitchFamily="49" charset="0"/>
              </a:rPr>
              <a:t>ylabel</a:t>
            </a:r>
            <a:r>
              <a:rPr lang="es-ES" altLang="zh-CN" sz="1000" b="0" dirty="0">
                <a:solidFill>
                  <a:srgbClr val="000000"/>
                </a:solidFill>
                <a:effectLst/>
                <a:latin typeface="Consolas" panose="020B0609020204030204" pitchFamily="49" charset="0"/>
              </a:rPr>
              <a:t>(</a:t>
            </a:r>
            <a:r>
              <a:rPr lang="es-ES" altLang="zh-CN" sz="1000" b="0" dirty="0">
                <a:solidFill>
                  <a:srgbClr val="A31515"/>
                </a:solidFill>
                <a:effectLst/>
                <a:latin typeface="Consolas" panose="020B0609020204030204" pitchFamily="49" charset="0"/>
              </a:rPr>
              <a:t>"y"</a:t>
            </a:r>
            <a:r>
              <a:rPr lang="es-ES" altLang="zh-CN" sz="1000" b="0" dirty="0">
                <a:solidFill>
                  <a:srgbClr val="000000"/>
                </a:solidFill>
                <a:effectLst/>
                <a:latin typeface="Consolas" panose="020B0609020204030204" pitchFamily="49" charset="0"/>
              </a:rPr>
              <a:t>);</a:t>
            </a:r>
          </a:p>
          <a:p>
            <a:endParaRPr lang="es-ES" altLang="zh-CN" sz="1000" b="0" dirty="0">
              <a:solidFill>
                <a:srgbClr val="000000"/>
              </a:solidFill>
              <a:effectLst/>
              <a:latin typeface="Consolas" panose="020B0609020204030204" pitchFamily="49" charset="0"/>
            </a:endParaRPr>
          </a:p>
        </p:txBody>
      </p:sp>
      <p:sp>
        <p:nvSpPr>
          <p:cNvPr id="68" name="文本框 67">
            <a:extLst>
              <a:ext uri="{FF2B5EF4-FFF2-40B4-BE49-F238E27FC236}">
                <a16:creationId xmlns:a16="http://schemas.microsoft.com/office/drawing/2014/main" id="{47C64050-07B6-4CBF-B61A-D51577C60290}"/>
              </a:ext>
            </a:extLst>
          </p:cNvPr>
          <p:cNvSpPr txBox="1"/>
          <p:nvPr/>
        </p:nvSpPr>
        <p:spPr>
          <a:xfrm>
            <a:off x="7167341" y="3071569"/>
            <a:ext cx="1941162" cy="553998"/>
          </a:xfrm>
          <a:prstGeom prst="rect">
            <a:avLst/>
          </a:prstGeom>
          <a:noFill/>
        </p:spPr>
        <p:txBody>
          <a:bodyPr wrap="square">
            <a:spAutoFit/>
          </a:bodyPr>
          <a:lstStyle/>
          <a:p>
            <a:r>
              <a:rPr lang="en-US" altLang="zh-CN" sz="1000" b="0" dirty="0">
                <a:solidFill>
                  <a:srgbClr val="795E26"/>
                </a:solidFill>
                <a:effectLst/>
                <a:latin typeface="Consolas" panose="020B0609020204030204" pitchFamily="49" charset="0"/>
              </a:rPr>
              <a:t>hold</a:t>
            </a:r>
            <a:r>
              <a:rPr lang="en-US" altLang="zh-CN" sz="1000" b="0" dirty="0">
                <a:solidFill>
                  <a:srgbClr val="000000"/>
                </a:solidFill>
                <a:effectLst/>
                <a:latin typeface="Consolas" panose="020B0609020204030204" pitchFamily="49" charset="0"/>
              </a:rPr>
              <a:t>(</a:t>
            </a:r>
            <a:r>
              <a:rPr lang="en-US" altLang="zh-CN" sz="1000" b="0" dirty="0">
                <a:solidFill>
                  <a:srgbClr val="A31515"/>
                </a:solidFill>
                <a:effectLst/>
                <a:latin typeface="Consolas" panose="020B0609020204030204" pitchFamily="49" charset="0"/>
              </a:rPr>
              <a:t>"on"</a:t>
            </a:r>
            <a:r>
              <a:rPr lang="en-US" altLang="zh-CN" sz="1000" b="0" dirty="0">
                <a:solidFill>
                  <a:srgbClr val="000000"/>
                </a:solidFill>
                <a:effectLst/>
                <a:latin typeface="Consolas" panose="020B0609020204030204" pitchFamily="49" charset="0"/>
              </a:rPr>
              <a:t>)</a:t>
            </a:r>
          </a:p>
          <a:p>
            <a:r>
              <a:rPr lang="en-US" altLang="zh-CN" sz="1000" b="0" dirty="0">
                <a:solidFill>
                  <a:srgbClr val="795E26"/>
                </a:solidFill>
                <a:effectLst/>
                <a:latin typeface="Consolas" panose="020B0609020204030204" pitchFamily="49" charset="0"/>
              </a:rPr>
              <a:t>f</a:t>
            </a:r>
            <a:r>
              <a:rPr lang="en-US" altLang="zh-CN" sz="1000" b="0" dirty="0">
                <a:solidFill>
                  <a:srgbClr val="000000"/>
                </a:solidFill>
                <a:effectLst/>
                <a:latin typeface="Consolas" panose="020B0609020204030204" pitchFamily="49" charset="0"/>
              </a:rPr>
              <a:t>(</a:t>
            </a:r>
            <a:r>
              <a:rPr lang="en-US" altLang="zh-CN" sz="1000" b="0" dirty="0" err="1">
                <a:solidFill>
                  <a:srgbClr val="000000"/>
                </a:solidFill>
                <a:effectLst/>
                <a:latin typeface="Consolas" panose="020B0609020204030204" pitchFamily="49" charset="0"/>
              </a:rPr>
              <a:t>x,y</a:t>
            </a:r>
            <a:r>
              <a:rPr lang="en-US" altLang="zh-CN" sz="1000" b="0" dirty="0">
                <a:solidFill>
                  <a:srgbClr val="000000"/>
                </a:solidFill>
                <a:effectLst/>
                <a:latin typeface="Consolas" panose="020B0609020204030204" pitchFamily="49" charset="0"/>
              </a:rPr>
              <a:t>)=x-</a:t>
            </a:r>
            <a:r>
              <a:rPr lang="en-US" altLang="zh-CN" sz="1000" b="0" dirty="0">
                <a:solidFill>
                  <a:srgbClr val="098658"/>
                </a:solidFill>
                <a:effectLst/>
                <a:latin typeface="Consolas" panose="020B0609020204030204" pitchFamily="49" charset="0"/>
              </a:rPr>
              <a:t>2</a:t>
            </a:r>
            <a:endParaRPr lang="en-US" altLang="zh-CN" sz="1000" b="0" dirty="0">
              <a:solidFill>
                <a:srgbClr val="000000"/>
              </a:solidFill>
              <a:effectLst/>
              <a:latin typeface="Consolas" panose="020B0609020204030204" pitchFamily="49" charset="0"/>
            </a:endParaRPr>
          </a:p>
          <a:p>
            <a:r>
              <a:rPr lang="en-US" altLang="zh-CN" sz="1000" b="0" dirty="0" err="1">
                <a:solidFill>
                  <a:srgbClr val="795E26"/>
                </a:solidFill>
                <a:effectLst/>
                <a:latin typeface="Consolas" panose="020B0609020204030204" pitchFamily="49" charset="0"/>
              </a:rPr>
              <a:t>fimplicit</a:t>
            </a:r>
            <a:r>
              <a:rPr lang="en-US" altLang="zh-CN" sz="1000" b="0" dirty="0">
                <a:solidFill>
                  <a:srgbClr val="000000"/>
                </a:solidFill>
                <a:effectLst/>
                <a:latin typeface="Consolas" panose="020B0609020204030204" pitchFamily="49" charset="0"/>
              </a:rPr>
              <a:t>(f,[</a:t>
            </a:r>
            <a:r>
              <a:rPr lang="en-US" altLang="zh-CN" sz="1000" b="0" dirty="0">
                <a:solidFill>
                  <a:srgbClr val="098658"/>
                </a:solidFill>
                <a:effectLst/>
                <a:latin typeface="Consolas" panose="020B0609020204030204" pitchFamily="49" charset="0"/>
              </a:rPr>
              <a:t>2</a:t>
            </a:r>
            <a:r>
              <a:rPr lang="en-US" altLang="zh-CN" sz="1000" b="0" dirty="0">
                <a:solidFill>
                  <a:srgbClr val="000000"/>
                </a:solidFill>
                <a:effectLst/>
                <a:latin typeface="Consolas" panose="020B0609020204030204" pitchFamily="49" charset="0"/>
              </a:rPr>
              <a:t>,</a:t>
            </a:r>
            <a:r>
              <a:rPr lang="en-US" altLang="zh-CN" sz="1000" b="0" dirty="0">
                <a:solidFill>
                  <a:srgbClr val="098658"/>
                </a:solidFill>
                <a:effectLst/>
                <a:latin typeface="Consolas" panose="020B0609020204030204" pitchFamily="49" charset="0"/>
              </a:rPr>
              <a:t>8</a:t>
            </a:r>
            <a:r>
              <a:rPr lang="en-US" altLang="zh-CN" sz="1000" b="0" dirty="0">
                <a:solidFill>
                  <a:srgbClr val="000000"/>
                </a:solidFill>
                <a:effectLst/>
                <a:latin typeface="Consolas" panose="020B0609020204030204" pitchFamily="49" charset="0"/>
              </a:rPr>
              <a:t>,</a:t>
            </a:r>
            <a:r>
              <a:rPr lang="en-US" altLang="zh-CN" sz="1000" b="0" dirty="0">
                <a:solidFill>
                  <a:srgbClr val="098658"/>
                </a:solidFill>
                <a:effectLst/>
                <a:latin typeface="Consolas" panose="020B0609020204030204" pitchFamily="49" charset="0"/>
              </a:rPr>
              <a:t>0</a:t>
            </a:r>
            <a:r>
              <a:rPr lang="en-US" altLang="zh-CN" sz="1000" b="0" dirty="0">
                <a:solidFill>
                  <a:srgbClr val="000000"/>
                </a:solidFill>
                <a:effectLst/>
                <a:latin typeface="Consolas" panose="020B0609020204030204" pitchFamily="49" charset="0"/>
              </a:rPr>
              <a:t>,</a:t>
            </a:r>
            <a:r>
              <a:rPr lang="en-US" altLang="zh-CN" sz="1000" b="0" dirty="0">
                <a:solidFill>
                  <a:srgbClr val="098658"/>
                </a:solidFill>
                <a:effectLst/>
                <a:latin typeface="Consolas" panose="020B0609020204030204" pitchFamily="49" charset="0"/>
              </a:rPr>
              <a:t>15</a:t>
            </a:r>
            <a:r>
              <a:rPr lang="en-US" altLang="zh-CN" sz="1000" b="0" dirty="0">
                <a:solidFill>
                  <a:srgbClr val="000000"/>
                </a:solidFill>
                <a:effectLst/>
                <a:latin typeface="Consolas" panose="020B0609020204030204" pitchFamily="49" charset="0"/>
              </a:rPr>
              <a:t>])</a:t>
            </a:r>
          </a:p>
        </p:txBody>
      </p:sp>
      <p:sp>
        <p:nvSpPr>
          <p:cNvPr id="69" name="椭圆 68">
            <a:extLst>
              <a:ext uri="{FF2B5EF4-FFF2-40B4-BE49-F238E27FC236}">
                <a16:creationId xmlns:a16="http://schemas.microsoft.com/office/drawing/2014/main" id="{3DA89FD2-2B06-48B7-8865-F55E4341F569}"/>
              </a:ext>
            </a:extLst>
          </p:cNvPr>
          <p:cNvSpPr/>
          <p:nvPr/>
        </p:nvSpPr>
        <p:spPr>
          <a:xfrm flipH="1">
            <a:off x="7988497" y="4233416"/>
            <a:ext cx="45719" cy="51570"/>
          </a:xfrm>
          <a:prstGeom prst="ellipse">
            <a:avLst/>
          </a:prstGeom>
          <a:solidFill>
            <a:srgbClr val="FF0000"/>
          </a:solidFill>
          <a:ln>
            <a:solidFill>
              <a:srgbClr val="C00000"/>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6" name="椭圆 75">
            <a:extLst>
              <a:ext uri="{FF2B5EF4-FFF2-40B4-BE49-F238E27FC236}">
                <a16:creationId xmlns:a16="http://schemas.microsoft.com/office/drawing/2014/main" id="{7D687497-6766-4EB4-8E0F-61EC145095E5}"/>
              </a:ext>
            </a:extLst>
          </p:cNvPr>
          <p:cNvSpPr/>
          <p:nvPr/>
        </p:nvSpPr>
        <p:spPr>
          <a:xfrm flipH="1">
            <a:off x="7887503" y="2859265"/>
            <a:ext cx="45719" cy="51570"/>
          </a:xfrm>
          <a:prstGeom prst="ellipse">
            <a:avLst/>
          </a:prstGeom>
          <a:solidFill>
            <a:srgbClr val="FF0000"/>
          </a:solidFill>
          <a:ln>
            <a:solidFill>
              <a:srgbClr val="C00000"/>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对话气泡: 圆角矩形 2">
            <a:extLst>
              <a:ext uri="{FF2B5EF4-FFF2-40B4-BE49-F238E27FC236}">
                <a16:creationId xmlns:a16="http://schemas.microsoft.com/office/drawing/2014/main" id="{26E131F5-4D75-4F11-BDBB-EB8DE472FA41}"/>
              </a:ext>
            </a:extLst>
          </p:cNvPr>
          <p:cNvSpPr/>
          <p:nvPr/>
        </p:nvSpPr>
        <p:spPr bwMode="auto">
          <a:xfrm>
            <a:off x="4970520" y="3656882"/>
            <a:ext cx="1541093" cy="707480"/>
          </a:xfrm>
          <a:prstGeom prst="wedgeRoundRectCallout">
            <a:avLst>
              <a:gd name="adj1" fmla="val -71576"/>
              <a:gd name="adj2" fmla="val -45513"/>
              <a:gd name="adj3" fmla="val 16667"/>
            </a:avLst>
          </a:prstGeom>
          <a:solidFill>
            <a:schemeClr val="bg1"/>
          </a:solidFill>
          <a:ln w="12700">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24" name="对话气泡: 圆角矩形 23">
            <a:extLst>
              <a:ext uri="{FF2B5EF4-FFF2-40B4-BE49-F238E27FC236}">
                <a16:creationId xmlns:a16="http://schemas.microsoft.com/office/drawing/2014/main" id="{7BB49D51-F5BE-4A72-A660-81311EAA69BE}"/>
              </a:ext>
            </a:extLst>
          </p:cNvPr>
          <p:cNvSpPr/>
          <p:nvPr/>
        </p:nvSpPr>
        <p:spPr bwMode="auto">
          <a:xfrm>
            <a:off x="3549001" y="1885001"/>
            <a:ext cx="1485658" cy="467481"/>
          </a:xfrm>
          <a:prstGeom prst="wedgeRoundRectCallout">
            <a:avLst>
              <a:gd name="adj1" fmla="val -53551"/>
              <a:gd name="adj2" fmla="val 68251"/>
              <a:gd name="adj3" fmla="val 16667"/>
            </a:avLst>
          </a:prstGeom>
          <a:noFill/>
          <a:ln w="12700">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23" name="对话气泡: 圆角矩形 22">
            <a:extLst>
              <a:ext uri="{FF2B5EF4-FFF2-40B4-BE49-F238E27FC236}">
                <a16:creationId xmlns:a16="http://schemas.microsoft.com/office/drawing/2014/main" id="{E89E4C4E-B0E5-4F5E-B36D-53EA8C21E9E0}"/>
              </a:ext>
            </a:extLst>
          </p:cNvPr>
          <p:cNvSpPr/>
          <p:nvPr/>
        </p:nvSpPr>
        <p:spPr bwMode="auto">
          <a:xfrm>
            <a:off x="4572000" y="2581994"/>
            <a:ext cx="2053241" cy="478748"/>
          </a:xfrm>
          <a:prstGeom prst="wedgeRoundRectCallout">
            <a:avLst>
              <a:gd name="adj1" fmla="val -44239"/>
              <a:gd name="adj2" fmla="val 99505"/>
              <a:gd name="adj3" fmla="val 16667"/>
            </a:avLst>
          </a:prstGeom>
          <a:noFill/>
          <a:ln w="12700">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pic>
        <p:nvPicPr>
          <p:cNvPr id="65" name="图片 64">
            <a:extLst>
              <a:ext uri="{FF2B5EF4-FFF2-40B4-BE49-F238E27FC236}">
                <a16:creationId xmlns:a16="http://schemas.microsoft.com/office/drawing/2014/main" id="{126F51F5-8D73-4795-8D93-C742514B878E}"/>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r="4887" b="43452"/>
          <a:stretch/>
        </p:blipFill>
        <p:spPr>
          <a:xfrm>
            <a:off x="7016935" y="3681351"/>
            <a:ext cx="902136" cy="332912"/>
          </a:xfrm>
          <a:prstGeom prst="rect">
            <a:avLst/>
          </a:prstGeom>
          <a:noFill/>
          <a:ln>
            <a:solidFill>
              <a:srgbClr val="FFC000"/>
            </a:solidFill>
          </a:ln>
        </p:spPr>
      </p:pic>
      <p:pic>
        <p:nvPicPr>
          <p:cNvPr id="66" name="图片 65">
            <a:extLst>
              <a:ext uri="{FF2B5EF4-FFF2-40B4-BE49-F238E27FC236}">
                <a16:creationId xmlns:a16="http://schemas.microsoft.com/office/drawing/2014/main" id="{4C863C5C-926A-47B6-845E-0E3116AA9998}"/>
              </a:ext>
            </a:extLst>
          </p:cNvPr>
          <p:cNvPicPr>
            <a:picLocks noChangeAspect="1"/>
          </p:cNvPicPr>
          <p:nvPr/>
        </p:nvPicPr>
        <p:blipFill rotWithShape="1">
          <a:blip r:embed="rId6">
            <a:extLst>
              <a:ext uri="{28A0092B-C50C-407E-A947-70E740481C1C}">
                <a14:useLocalDpi xmlns:a14="http://schemas.microsoft.com/office/drawing/2010/main" val="0"/>
              </a:ext>
            </a:extLst>
          </a:blip>
          <a:srcRect l="21848" t="75296" r="27133"/>
          <a:stretch/>
        </p:blipFill>
        <p:spPr>
          <a:xfrm>
            <a:off x="7150324" y="4059086"/>
            <a:ext cx="612023" cy="183940"/>
          </a:xfrm>
          <a:prstGeom prst="rect">
            <a:avLst/>
          </a:prstGeom>
        </p:spPr>
      </p:pic>
      <p:pic>
        <p:nvPicPr>
          <p:cNvPr id="25" name="Picture 2">
            <a:extLst>
              <a:ext uri="{FF2B5EF4-FFF2-40B4-BE49-F238E27FC236}">
                <a16:creationId xmlns:a16="http://schemas.microsoft.com/office/drawing/2014/main" id="{3DDF9481-BD2B-4EE4-BC53-37B46BDD98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932" t="77169" r="5448" b="530"/>
          <a:stretch/>
        </p:blipFill>
        <p:spPr bwMode="auto">
          <a:xfrm>
            <a:off x="5034659" y="3646563"/>
            <a:ext cx="1476954" cy="672676"/>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62" name="内容占位符 9">
            <a:extLst>
              <a:ext uri="{FF2B5EF4-FFF2-40B4-BE49-F238E27FC236}">
                <a16:creationId xmlns:a16="http://schemas.microsoft.com/office/drawing/2014/main" id="{817B2740-75AB-47A2-9EEC-E4653175EEE4}"/>
              </a:ext>
            </a:extLst>
          </p:cNvPr>
          <p:cNvPicPr>
            <a:picLocks noGrp="1" noChangeAspect="1"/>
          </p:cNvPicPr>
          <p:nvPr>
            <p:ph idx="1"/>
          </p:nvPr>
        </p:nvPicPr>
        <p:blipFill>
          <a:blip r:embed="rId7" cstate="print">
            <a:extLst>
              <a:ext uri="{28A0092B-C50C-407E-A947-70E740481C1C}">
                <a14:useLocalDpi xmlns:a14="http://schemas.microsoft.com/office/drawing/2010/main" val="0"/>
              </a:ext>
            </a:extLst>
          </a:blip>
          <a:stretch>
            <a:fillRect/>
          </a:stretch>
        </p:blipFill>
        <p:spPr>
          <a:xfrm>
            <a:off x="8034216" y="2530502"/>
            <a:ext cx="850171" cy="276643"/>
          </a:xfrm>
          <a:ln>
            <a:solidFill>
              <a:srgbClr val="FFC000"/>
            </a:solidFill>
          </a:ln>
        </p:spPr>
      </p:pic>
    </p:spTree>
    <p:extLst>
      <p:ext uri="{BB962C8B-B14F-4D97-AF65-F5344CB8AC3E}">
        <p14:creationId xmlns:p14="http://schemas.microsoft.com/office/powerpoint/2010/main" val="2051768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71" grpId="0" animBg="1"/>
      <p:bldP spid="72" grpId="0" animBg="1"/>
      <p:bldP spid="73" grpId="0" animBg="1"/>
      <p:bldP spid="74" grpId="0" animBg="1"/>
      <p:bldP spid="63" grpId="0"/>
      <p:bldP spid="68" grpId="0"/>
      <p:bldP spid="69" grpId="0" animBg="1"/>
      <p:bldP spid="76" grpId="0" animBg="1"/>
      <p:bldP spid="3" grpId="0" animBg="1"/>
      <p:bldP spid="24" grpId="0" animBg="1"/>
      <p:bldP spid="2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C8DC2CA4-E40B-444C-B693-D6C50A78D07F}"/>
              </a:ext>
            </a:extLst>
          </p:cNvPr>
          <p:cNvSpPr txBox="1"/>
          <p:nvPr/>
        </p:nvSpPr>
        <p:spPr>
          <a:xfrm>
            <a:off x="4896059" y="1516414"/>
            <a:ext cx="1512169" cy="369332"/>
          </a:xfrm>
          <a:prstGeom prst="rect">
            <a:avLst/>
          </a:prstGeom>
          <a:noFill/>
        </p:spPr>
        <p:txBody>
          <a:bodyPr wrap="square">
            <a:spAutoFit/>
          </a:bodyPr>
          <a:lstStyle>
            <a:defPPr>
              <a:defRPr lang="zh-CN"/>
            </a:defPPr>
            <a:lvl1pPr>
              <a:defRPr b="1" i="0">
                <a:solidFill>
                  <a:srgbClr val="002060"/>
                </a:solidFill>
                <a:effectLst/>
                <a:latin typeface="华文楷体" panose="02010600040101010101" pitchFamily="2" charset="-122"/>
                <a:ea typeface="华文楷体" panose="02010600040101010101" pitchFamily="2" charset="-122"/>
              </a:defRPr>
            </a:lvl1pPr>
          </a:lstStyle>
          <a:p>
            <a:r>
              <a:rPr lang="zh-CN" altLang="en-US" dirty="0">
                <a:solidFill>
                  <a:srgbClr val="FF0000"/>
                </a:solidFill>
                <a:latin typeface="微软雅黑" panose="020B0503020204020204" pitchFamily="34" charset="-122"/>
                <a:ea typeface="微软雅黑" panose="020B0503020204020204" pitchFamily="34" charset="-122"/>
              </a:rPr>
              <a:t>全局最优 </a:t>
            </a:r>
          </a:p>
        </p:txBody>
      </p:sp>
      <p:sp>
        <p:nvSpPr>
          <p:cNvPr id="8" name="文本框 7">
            <a:extLst>
              <a:ext uri="{FF2B5EF4-FFF2-40B4-BE49-F238E27FC236}">
                <a16:creationId xmlns:a16="http://schemas.microsoft.com/office/drawing/2014/main" id="{766B8466-8B42-4F3B-A5EA-092FC95F71C5}"/>
              </a:ext>
            </a:extLst>
          </p:cNvPr>
          <p:cNvSpPr txBox="1"/>
          <p:nvPr/>
        </p:nvSpPr>
        <p:spPr>
          <a:xfrm>
            <a:off x="1857206" y="1535756"/>
            <a:ext cx="3021526" cy="369332"/>
          </a:xfrm>
          <a:prstGeom prst="rect">
            <a:avLst/>
          </a:prstGeom>
          <a:noFill/>
        </p:spPr>
        <p:txBody>
          <a:bodyPr wrap="square">
            <a:spAutoFit/>
          </a:bodyPr>
          <a:lstStyle>
            <a:defPPr>
              <a:defRPr lang="zh-CN"/>
            </a:defPPr>
            <a:lvl1pPr>
              <a:defRPr b="1" i="0">
                <a:solidFill>
                  <a:srgbClr val="FF0000"/>
                </a:solidFill>
                <a:effectLst/>
                <a:latin typeface="微软雅黑" panose="020B0503020204020204" pitchFamily="34" charset="-122"/>
                <a:ea typeface="微软雅黑" panose="020B0503020204020204" pitchFamily="34" charset="-122"/>
              </a:defRPr>
            </a:lvl1pPr>
          </a:lstStyle>
          <a:p>
            <a:r>
              <a:rPr lang="zh-CN" altLang="en-US" dirty="0"/>
              <a:t>局部最优（</a:t>
            </a:r>
            <a:r>
              <a:rPr lang="zh-CN" altLang="en-US" b="0" dirty="0">
                <a:solidFill>
                  <a:srgbClr val="002060"/>
                </a:solidFill>
                <a:latin typeface="华文楷体" panose="02010600040101010101" pitchFamily="2" charset="-122"/>
                <a:ea typeface="华文楷体" panose="02010600040101010101" pitchFamily="2" charset="-122"/>
              </a:rPr>
              <a:t>一定范围内最优</a:t>
            </a:r>
            <a:r>
              <a:rPr lang="zh-CN" altLang="en-US" dirty="0"/>
              <a:t>）</a:t>
            </a:r>
          </a:p>
        </p:txBody>
      </p:sp>
      <p:sp>
        <p:nvSpPr>
          <p:cNvPr id="16" name="标题 1">
            <a:extLst>
              <a:ext uri="{FF2B5EF4-FFF2-40B4-BE49-F238E27FC236}">
                <a16:creationId xmlns:a16="http://schemas.microsoft.com/office/drawing/2014/main" id="{F5CA9D55-905A-4B4E-ADE4-1A6261781589}"/>
              </a:ext>
            </a:extLst>
          </p:cNvPr>
          <p:cNvSpPr txBox="1">
            <a:spLocks/>
          </p:cNvSpPr>
          <p:nvPr/>
        </p:nvSpPr>
        <p:spPr>
          <a:xfrm>
            <a:off x="846669" y="128109"/>
            <a:ext cx="8097647" cy="420508"/>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800" b="0" dirty="0">
                <a:solidFill>
                  <a:srgbClr val="002060"/>
                </a:solidFill>
                <a:latin typeface="华文楷体" panose="02010600040101010101" pitchFamily="2" charset="-122"/>
                <a:ea typeface="华文楷体" panose="02010600040101010101" pitchFamily="2" charset="-122"/>
              </a:rPr>
              <a:t>§ 8.1 </a:t>
            </a:r>
            <a:r>
              <a:rPr lang="zh-CN" altLang="en-US" sz="2800" b="0" dirty="0">
                <a:solidFill>
                  <a:srgbClr val="002060"/>
                </a:solidFill>
                <a:latin typeface="华文楷体" panose="02010600040101010101" pitchFamily="2" charset="-122"/>
                <a:ea typeface="华文楷体" panose="02010600040101010101" pitchFamily="2" charset="-122"/>
              </a:rPr>
              <a:t>最优化概念原理及特征</a:t>
            </a:r>
            <a:r>
              <a:rPr lang="en-US" altLang="zh-CN" sz="2800" b="0" kern="0" dirty="0">
                <a:solidFill>
                  <a:srgbClr val="FF0000"/>
                </a:solidFill>
                <a:latin typeface="华文楷体" panose="02010600040101010101" pitchFamily="2" charset="-122"/>
                <a:ea typeface="华文楷体" panose="02010600040101010101" pitchFamily="2" charset="-122"/>
              </a:rPr>
              <a:t>——</a:t>
            </a:r>
            <a:r>
              <a:rPr lang="zh-CN" altLang="en-US" sz="2800" b="0" dirty="0">
                <a:solidFill>
                  <a:srgbClr val="FF0000"/>
                </a:solidFill>
                <a:latin typeface="华文楷体" panose="02010600040101010101" pitchFamily="2" charset="-122"/>
                <a:ea typeface="华文楷体" panose="02010600040101010101" pitchFamily="2" charset="-122"/>
              </a:rPr>
              <a:t>最优化分类</a:t>
            </a:r>
            <a:endParaRPr lang="zh-CN" altLang="en-US" sz="2800" b="0" kern="0" dirty="0">
              <a:solidFill>
                <a:srgbClr val="FF0000"/>
              </a:solidFill>
              <a:latin typeface="华文楷体" panose="02010600040101010101" pitchFamily="2" charset="-122"/>
              <a:ea typeface="华文楷体" panose="02010600040101010101" pitchFamily="2" charset="-122"/>
            </a:endParaRPr>
          </a:p>
        </p:txBody>
      </p:sp>
      <p:sp>
        <p:nvSpPr>
          <p:cNvPr id="19" name="文本框 18">
            <a:extLst>
              <a:ext uri="{FF2B5EF4-FFF2-40B4-BE49-F238E27FC236}">
                <a16:creationId xmlns:a16="http://schemas.microsoft.com/office/drawing/2014/main" id="{B99D0911-839C-401A-872D-7AA55058908F}"/>
              </a:ext>
            </a:extLst>
          </p:cNvPr>
          <p:cNvSpPr txBox="1"/>
          <p:nvPr/>
        </p:nvSpPr>
        <p:spPr>
          <a:xfrm>
            <a:off x="52056" y="1122298"/>
            <a:ext cx="3843815" cy="369332"/>
          </a:xfrm>
          <a:prstGeom prst="rect">
            <a:avLst/>
          </a:prstGeom>
          <a:solidFill>
            <a:schemeClr val="bg1"/>
          </a:solidFill>
        </p:spPr>
        <p:txBody>
          <a:bodyPr wrap="square">
            <a:spAutoFit/>
          </a:bodyPr>
          <a:lstStyle/>
          <a:p>
            <a:pPr marL="285750" indent="-285750">
              <a:buFont typeface="Wingdings" panose="05000000000000000000" pitchFamily="2" charset="2"/>
              <a:buChar char="Ø"/>
            </a:pPr>
            <a:r>
              <a:rPr lang="zh-CN" altLang="en-US" b="0" i="0" dirty="0">
                <a:solidFill>
                  <a:srgbClr val="00B0F0"/>
                </a:solidFill>
                <a:effectLst/>
                <a:latin typeface="微软雅黑" panose="020B0503020204020204" pitchFamily="34" charset="-122"/>
                <a:ea typeface="微软雅黑" panose="020B0503020204020204" pitchFamily="34" charset="-122"/>
              </a:rPr>
              <a:t>根据决策变量是连续还是离散</a:t>
            </a:r>
            <a:endParaRPr lang="zh-CN" altLang="en-US" dirty="0">
              <a:solidFill>
                <a:srgbClr val="00B0F0"/>
              </a:solidFill>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AA68B07D-2768-450B-830F-A46DBCF4EFCC}"/>
              </a:ext>
            </a:extLst>
          </p:cNvPr>
          <p:cNvSpPr txBox="1"/>
          <p:nvPr/>
        </p:nvSpPr>
        <p:spPr>
          <a:xfrm>
            <a:off x="4750235" y="1109863"/>
            <a:ext cx="4502285" cy="369332"/>
          </a:xfrm>
          <a:prstGeom prst="rect">
            <a:avLst/>
          </a:prstGeom>
          <a:noFill/>
        </p:spPr>
        <p:txBody>
          <a:bodyPr wrap="square">
            <a:spAutoFit/>
          </a:bodyPr>
          <a:lstStyle/>
          <a:p>
            <a:r>
              <a:rPr lang="zh-CN" altLang="en-US" b="1" dirty="0">
                <a:solidFill>
                  <a:srgbClr val="FF0000"/>
                </a:solidFill>
                <a:latin typeface="微软雅黑" panose="020B0503020204020204" pitchFamily="34" charset="-122"/>
                <a:ea typeface="微软雅黑" panose="020B0503020204020204" pitchFamily="34" charset="-122"/>
              </a:rPr>
              <a:t>离散最优化</a:t>
            </a:r>
            <a:r>
              <a:rPr lang="zh-CN" altLang="en-US" sz="1400" b="1" i="0" dirty="0">
                <a:solidFill>
                  <a:srgbClr val="002060"/>
                </a:solidFill>
                <a:effectLst/>
                <a:latin typeface="华文楷体" panose="02010600040101010101" pitchFamily="2" charset="-122"/>
                <a:ea typeface="华文楷体" panose="02010600040101010101" pitchFamily="2" charset="-122"/>
              </a:rPr>
              <a:t>（即</a:t>
            </a:r>
            <a:r>
              <a:rPr lang="zh-CN" altLang="en-US" sz="1400" b="1" dirty="0">
                <a:solidFill>
                  <a:srgbClr val="002060"/>
                </a:solidFill>
                <a:latin typeface="华文楷体" panose="02010600040101010101" pitchFamily="2" charset="-122"/>
                <a:ea typeface="华文楷体" panose="02010600040101010101" pitchFamily="2" charset="-122"/>
              </a:rPr>
              <a:t>整数规划，变量全部或部分为整数</a:t>
            </a:r>
            <a:endParaRPr lang="zh-CN" altLang="en-US" sz="1400" dirty="0">
              <a:solidFill>
                <a:srgbClr val="002060"/>
              </a:solidFill>
              <a:latin typeface="华文楷体" panose="02010600040101010101" pitchFamily="2" charset="-122"/>
              <a:ea typeface="华文楷体" panose="02010600040101010101" pitchFamily="2" charset="-122"/>
            </a:endParaRPr>
          </a:p>
        </p:txBody>
      </p:sp>
      <p:sp>
        <p:nvSpPr>
          <p:cNvPr id="21" name="文本框 20">
            <a:extLst>
              <a:ext uri="{FF2B5EF4-FFF2-40B4-BE49-F238E27FC236}">
                <a16:creationId xmlns:a16="http://schemas.microsoft.com/office/drawing/2014/main" id="{EAA0B12D-3DA2-45F1-A19A-65B3932B9A2C}"/>
              </a:ext>
            </a:extLst>
          </p:cNvPr>
          <p:cNvSpPr txBox="1"/>
          <p:nvPr/>
        </p:nvSpPr>
        <p:spPr>
          <a:xfrm>
            <a:off x="3464585" y="1122298"/>
            <a:ext cx="1347948" cy="369332"/>
          </a:xfrm>
          <a:prstGeom prst="rect">
            <a:avLst/>
          </a:prstGeom>
          <a:noFill/>
        </p:spPr>
        <p:txBody>
          <a:bodyPr wrap="square">
            <a:spAutoFit/>
          </a:bodyPr>
          <a:lstStyle>
            <a:defPPr>
              <a:defRPr lang="zh-CN"/>
            </a:defPPr>
            <a:lvl1pPr>
              <a:defRPr b="1" i="0">
                <a:solidFill>
                  <a:srgbClr val="FF0000"/>
                </a:solidFill>
                <a:effectLst/>
                <a:latin typeface="微软雅黑" panose="020B0503020204020204" pitchFamily="34" charset="-122"/>
                <a:ea typeface="微软雅黑" panose="020B0503020204020204" pitchFamily="34" charset="-122"/>
              </a:defRPr>
            </a:lvl1pPr>
          </a:lstStyle>
          <a:p>
            <a:r>
              <a:rPr lang="zh-CN" altLang="en-US" dirty="0"/>
              <a:t>连续最优化</a:t>
            </a:r>
          </a:p>
        </p:txBody>
      </p:sp>
      <p:sp>
        <p:nvSpPr>
          <p:cNvPr id="24" name="文本框 23">
            <a:extLst>
              <a:ext uri="{FF2B5EF4-FFF2-40B4-BE49-F238E27FC236}">
                <a16:creationId xmlns:a16="http://schemas.microsoft.com/office/drawing/2014/main" id="{5106C161-64F7-4438-B9DE-9F1170EE3006}"/>
              </a:ext>
            </a:extLst>
          </p:cNvPr>
          <p:cNvSpPr txBox="1"/>
          <p:nvPr/>
        </p:nvSpPr>
        <p:spPr>
          <a:xfrm>
            <a:off x="44932" y="1552460"/>
            <a:ext cx="2010640" cy="369332"/>
          </a:xfrm>
          <a:prstGeom prst="rect">
            <a:avLst/>
          </a:prstGeom>
          <a:noFill/>
        </p:spPr>
        <p:txBody>
          <a:bodyPr wrap="square">
            <a:spAutoFit/>
          </a:bodyPr>
          <a:lstStyle>
            <a:defPPr>
              <a:defRPr lang="zh-CN"/>
            </a:defPPr>
            <a:lvl1pPr>
              <a:defRPr b="0" i="0">
                <a:solidFill>
                  <a:srgbClr val="002060"/>
                </a:solidFill>
                <a:effectLst/>
                <a:latin typeface="华文楷体" panose="02010600040101010101" pitchFamily="2" charset="-122"/>
                <a:ea typeface="华文楷体" panose="02010600040101010101" pitchFamily="2" charset="-122"/>
              </a:defRPr>
            </a:lvl1pPr>
          </a:lstStyle>
          <a:p>
            <a:pPr marL="285750" indent="-285750">
              <a:buFont typeface="Wingdings" panose="05000000000000000000" pitchFamily="2" charset="2"/>
              <a:buChar char="Ø"/>
            </a:pPr>
            <a:r>
              <a:rPr lang="zh-CN" altLang="en-US" dirty="0">
                <a:solidFill>
                  <a:srgbClr val="00B0F0"/>
                </a:solidFill>
                <a:latin typeface="微软雅黑" panose="020B0503020204020204" pitchFamily="34" charset="-122"/>
                <a:ea typeface="微软雅黑" panose="020B0503020204020204" pitchFamily="34" charset="-122"/>
              </a:rPr>
              <a:t>最优化的范围</a:t>
            </a:r>
          </a:p>
        </p:txBody>
      </p:sp>
      <p:sp>
        <p:nvSpPr>
          <p:cNvPr id="28" name="文本框 27">
            <a:extLst>
              <a:ext uri="{FF2B5EF4-FFF2-40B4-BE49-F238E27FC236}">
                <a16:creationId xmlns:a16="http://schemas.microsoft.com/office/drawing/2014/main" id="{2CCCD5A9-A067-478B-B645-B7E494B1A849}"/>
              </a:ext>
            </a:extLst>
          </p:cNvPr>
          <p:cNvSpPr txBox="1"/>
          <p:nvPr/>
        </p:nvSpPr>
        <p:spPr>
          <a:xfrm>
            <a:off x="6271434" y="705051"/>
            <a:ext cx="1468918" cy="369332"/>
          </a:xfrm>
          <a:prstGeom prst="rect">
            <a:avLst/>
          </a:prstGeom>
          <a:noFill/>
        </p:spPr>
        <p:txBody>
          <a:bodyPr wrap="square">
            <a:spAutoFit/>
          </a:bodyPr>
          <a:lstStyle/>
          <a:p>
            <a:pPr algn="l"/>
            <a:r>
              <a:rPr lang="zh-CN" altLang="en-US" b="1" i="0" dirty="0">
                <a:solidFill>
                  <a:srgbClr val="FF0000"/>
                </a:solidFill>
                <a:effectLst/>
                <a:latin typeface="微软雅黑" panose="020B0503020204020204" pitchFamily="34" charset="-122"/>
                <a:ea typeface="微软雅黑" panose="020B0503020204020204" pitchFamily="34" charset="-122"/>
              </a:rPr>
              <a:t>非线性规划</a:t>
            </a:r>
          </a:p>
        </p:txBody>
      </p:sp>
      <p:sp>
        <p:nvSpPr>
          <p:cNvPr id="29" name="文本框 28">
            <a:extLst>
              <a:ext uri="{FF2B5EF4-FFF2-40B4-BE49-F238E27FC236}">
                <a16:creationId xmlns:a16="http://schemas.microsoft.com/office/drawing/2014/main" id="{EB7EC1A3-9D69-4531-AB87-51DAC5C6711C}"/>
              </a:ext>
            </a:extLst>
          </p:cNvPr>
          <p:cNvSpPr txBox="1"/>
          <p:nvPr/>
        </p:nvSpPr>
        <p:spPr>
          <a:xfrm>
            <a:off x="5044158" y="704593"/>
            <a:ext cx="1107371" cy="369332"/>
          </a:xfrm>
          <a:prstGeom prst="rect">
            <a:avLst/>
          </a:prstGeom>
          <a:noFill/>
        </p:spPr>
        <p:txBody>
          <a:bodyPr wrap="square">
            <a:spAutoFit/>
          </a:bodyPr>
          <a:lstStyle/>
          <a:p>
            <a:pPr algn="l"/>
            <a:r>
              <a:rPr lang="zh-CN" altLang="en-US" b="1" i="0" dirty="0">
                <a:solidFill>
                  <a:srgbClr val="FF0000"/>
                </a:solidFill>
                <a:effectLst/>
                <a:latin typeface="微软雅黑" panose="020B0503020204020204" pitchFamily="34" charset="-122"/>
                <a:ea typeface="微软雅黑" panose="020B0503020204020204" pitchFamily="34" charset="-122"/>
              </a:rPr>
              <a:t>线性规划</a:t>
            </a:r>
            <a:endParaRPr lang="en-US" altLang="zh-CN" b="1" i="0" dirty="0">
              <a:solidFill>
                <a:srgbClr val="FF0000"/>
              </a:solidFill>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BCF97FE5-FE2B-4AD9-9082-C3016A475706}"/>
                  </a:ext>
                </a:extLst>
              </p:cNvPr>
              <p:cNvSpPr txBox="1"/>
              <p:nvPr/>
            </p:nvSpPr>
            <p:spPr>
              <a:xfrm>
                <a:off x="59575" y="721379"/>
                <a:ext cx="4944473" cy="370486"/>
              </a:xfrm>
              <a:prstGeom prst="rect">
                <a:avLst/>
              </a:prstGeom>
              <a:solidFill>
                <a:schemeClr val="bg1"/>
              </a:solidFill>
            </p:spPr>
            <p:txBody>
              <a:bodyPr wrap="square">
                <a:spAutoFit/>
              </a:bodyPr>
              <a:lstStyle>
                <a:defPPr>
                  <a:defRPr lang="zh-CN"/>
                </a:defPPr>
                <a:lvl1pPr>
                  <a:defRPr b="0" i="0">
                    <a:solidFill>
                      <a:srgbClr val="002060"/>
                    </a:solidFill>
                    <a:effectLst/>
                    <a:latin typeface="华文楷体" panose="02010600040101010101" pitchFamily="2" charset="-122"/>
                    <a:ea typeface="华文楷体" panose="02010600040101010101" pitchFamily="2" charset="-122"/>
                  </a:defRPr>
                </a:lvl1pPr>
              </a:lstStyle>
              <a:p>
                <a:pPr marL="285750" indent="-285750">
                  <a:buFont typeface="Wingdings" panose="05000000000000000000" pitchFamily="2" charset="2"/>
                  <a:buChar char="Ø"/>
                </a:pPr>
                <a:r>
                  <a:rPr lang="zh-CN" altLang="en-US" dirty="0">
                    <a:solidFill>
                      <a:srgbClr val="00B0F0"/>
                    </a:solidFill>
                    <a:latin typeface="微软雅黑" panose="020B0503020204020204" pitchFamily="34" charset="-122"/>
                    <a:ea typeface="微软雅黑" panose="020B0503020204020204" pitchFamily="34" charset="-122"/>
                  </a:rPr>
                  <a:t>根据目标函数</a:t>
                </a:r>
                <a:r>
                  <a:rPr lang="en-US" altLang="zh-CN" dirty="0">
                    <a:solidFill>
                      <a:srgbClr val="00B0F0"/>
                    </a:solidFill>
                    <a:latin typeface="微软雅黑" panose="020B0503020204020204" pitchFamily="34" charset="-122"/>
                    <a:ea typeface="微软雅黑" panose="020B0503020204020204" pitchFamily="34" charset="-122"/>
                  </a:rPr>
                  <a:t>f(x)</a:t>
                </a:r>
                <a:r>
                  <a:rPr lang="zh-CN" altLang="en-US" dirty="0">
                    <a:solidFill>
                      <a:srgbClr val="00B0F0"/>
                    </a:solidFill>
                    <a:latin typeface="微软雅黑" panose="020B0503020204020204" pitchFamily="34" charset="-122"/>
                    <a:ea typeface="微软雅黑" panose="020B0503020204020204" pitchFamily="34" charset="-122"/>
                  </a:rPr>
                  <a:t>和约束函数</a:t>
                </a:r>
                <a14:m>
                  <m:oMath xmlns:m="http://schemas.openxmlformats.org/officeDocument/2006/math">
                    <m:sSub>
                      <m:sSubPr>
                        <m:ctrlPr>
                          <a:rPr lang="en-US" altLang="zh-CN" i="1">
                            <a:solidFill>
                              <a:srgbClr val="00B0F0"/>
                            </a:solidFill>
                            <a:latin typeface="Cambria Math" panose="02040503050406030204" pitchFamily="18" charset="0"/>
                            <a:ea typeface="微软雅黑" panose="020B0503020204020204" pitchFamily="34" charset="-122"/>
                          </a:rPr>
                        </m:ctrlPr>
                      </m:sSubPr>
                      <m:e>
                        <m:r>
                          <a:rPr lang="en-US" altLang="zh-CN">
                            <a:solidFill>
                              <a:srgbClr val="00B0F0"/>
                            </a:solidFill>
                            <a:latin typeface="Cambria Math" panose="02040503050406030204" pitchFamily="18" charset="0"/>
                            <a:ea typeface="微软雅黑" panose="020B0503020204020204" pitchFamily="34" charset="-122"/>
                          </a:rPr>
                          <m:t>𝑐</m:t>
                        </m:r>
                      </m:e>
                      <m:sub>
                        <m:r>
                          <a:rPr lang="en-US" altLang="zh-CN">
                            <a:solidFill>
                              <a:srgbClr val="00B0F0"/>
                            </a:solidFill>
                            <a:latin typeface="Cambria Math" panose="02040503050406030204" pitchFamily="18" charset="0"/>
                            <a:ea typeface="微软雅黑" panose="020B0503020204020204" pitchFamily="34" charset="-122"/>
                          </a:rPr>
                          <m:t>𝑖</m:t>
                        </m:r>
                      </m:sub>
                    </m:sSub>
                    <m:r>
                      <a:rPr lang="en-US" altLang="zh-CN">
                        <a:solidFill>
                          <a:srgbClr val="00B0F0"/>
                        </a:solidFill>
                        <a:latin typeface="Cambria Math" panose="02040503050406030204" pitchFamily="18" charset="0"/>
                        <a:ea typeface="微软雅黑" panose="020B0503020204020204" pitchFamily="34" charset="-122"/>
                      </a:rPr>
                      <m:t>(</m:t>
                    </m:r>
                    <m:r>
                      <a:rPr lang="en-US" altLang="zh-CN">
                        <a:solidFill>
                          <a:srgbClr val="00B0F0"/>
                        </a:solidFill>
                        <a:latin typeface="Cambria Math" panose="02040503050406030204" pitchFamily="18" charset="0"/>
                        <a:ea typeface="微软雅黑" panose="020B0503020204020204" pitchFamily="34" charset="-122"/>
                      </a:rPr>
                      <m:t>𝑥</m:t>
                    </m:r>
                    <m:r>
                      <a:rPr lang="en-US" altLang="zh-CN">
                        <a:solidFill>
                          <a:srgbClr val="00B0F0"/>
                        </a:solidFill>
                        <a:latin typeface="Cambria Math" panose="02040503050406030204" pitchFamily="18" charset="0"/>
                        <a:ea typeface="微软雅黑" panose="020B0503020204020204" pitchFamily="34" charset="-122"/>
                      </a:rPr>
                      <m:t>)</m:t>
                    </m:r>
                    <m:r>
                      <a:rPr lang="zh-CN" altLang="en-US">
                        <a:solidFill>
                          <a:srgbClr val="00B0F0"/>
                        </a:solidFill>
                        <a:latin typeface="Cambria Math" panose="02040503050406030204" pitchFamily="18" charset="0"/>
                        <a:ea typeface="微软雅黑" panose="020B0503020204020204" pitchFamily="34" charset="-122"/>
                      </a:rPr>
                      <m:t>线性</m:t>
                    </m:r>
                    <m:r>
                      <m:rPr>
                        <m:nor/>
                      </m:rPr>
                      <a:rPr lang="zh-CN" altLang="en-US" dirty="0">
                        <a:solidFill>
                          <a:srgbClr val="00B0F0"/>
                        </a:solidFill>
                        <a:latin typeface="微软雅黑" panose="020B0503020204020204" pitchFamily="34" charset="-122"/>
                        <a:ea typeface="微软雅黑" panose="020B0503020204020204" pitchFamily="34" charset="-122"/>
                      </a:rPr>
                      <m:t>与否</m:t>
                    </m:r>
                  </m:oMath>
                </a14:m>
                <a:r>
                  <a:rPr lang="zh-CN" altLang="en-US" dirty="0">
                    <a:solidFill>
                      <a:srgbClr val="00B0F0"/>
                    </a:solidFill>
                    <a:latin typeface="微软雅黑" panose="020B0503020204020204" pitchFamily="34" charset="-122"/>
                    <a:ea typeface="微软雅黑" panose="020B0503020204020204" pitchFamily="34" charset="-122"/>
                  </a:rPr>
                  <a:t>：</a:t>
                </a:r>
              </a:p>
            </p:txBody>
          </p:sp>
        </mc:Choice>
        <mc:Fallback xmlns="">
          <p:sp>
            <p:nvSpPr>
              <p:cNvPr id="31" name="文本框 30">
                <a:extLst>
                  <a:ext uri="{FF2B5EF4-FFF2-40B4-BE49-F238E27FC236}">
                    <a16:creationId xmlns:a16="http://schemas.microsoft.com/office/drawing/2014/main" id="{BCF97FE5-FE2B-4AD9-9082-C3016A475706}"/>
                  </a:ext>
                </a:extLst>
              </p:cNvPr>
              <p:cNvSpPr txBox="1">
                <a:spLocks noRot="1" noChangeAspect="1" noMove="1" noResize="1" noEditPoints="1" noAdjustHandles="1" noChangeArrowheads="1" noChangeShapeType="1" noTextEdit="1"/>
              </p:cNvSpPr>
              <p:nvPr/>
            </p:nvSpPr>
            <p:spPr>
              <a:xfrm>
                <a:off x="59575" y="721379"/>
                <a:ext cx="4944473" cy="370486"/>
              </a:xfrm>
              <a:prstGeom prst="rect">
                <a:avLst/>
              </a:prstGeom>
              <a:blipFill>
                <a:blip r:embed="rId3"/>
                <a:stretch>
                  <a:fillRect l="-863" t="-8197" r="-5672" b="-24590"/>
                </a:stretch>
              </a:blipFill>
            </p:spPr>
            <p:txBody>
              <a:bodyPr/>
              <a:lstStyle/>
              <a:p>
                <a:r>
                  <a:rPr lang="zh-CN" altLang="en-US">
                    <a:noFill/>
                  </a:rPr>
                  <a:t> </a:t>
                </a:r>
              </a:p>
            </p:txBody>
          </p:sp>
        </mc:Fallback>
      </mc:AlternateContent>
      <p:pic>
        <p:nvPicPr>
          <p:cNvPr id="34" name="图片 33">
            <a:extLst>
              <a:ext uri="{FF2B5EF4-FFF2-40B4-BE49-F238E27FC236}">
                <a16:creationId xmlns:a16="http://schemas.microsoft.com/office/drawing/2014/main" id="{DE86DE55-93E1-4281-8BF7-2C52873B0FD0}"/>
              </a:ext>
            </a:extLst>
          </p:cNvPr>
          <p:cNvPicPr>
            <a:picLocks noChangeAspect="1"/>
          </p:cNvPicPr>
          <p:nvPr/>
        </p:nvPicPr>
        <p:blipFill rotWithShape="1">
          <a:blip r:embed="rId4"/>
          <a:srcRect l="22477" t="17096" r="25699" b="21891"/>
          <a:stretch/>
        </p:blipFill>
        <p:spPr>
          <a:xfrm>
            <a:off x="62276" y="1964151"/>
            <a:ext cx="3853310" cy="2551815"/>
          </a:xfrm>
          <a:prstGeom prst="rect">
            <a:avLst/>
          </a:prstGeom>
        </p:spPr>
      </p:pic>
      <p:pic>
        <p:nvPicPr>
          <p:cNvPr id="12" name="图片 11">
            <a:extLst>
              <a:ext uri="{FF2B5EF4-FFF2-40B4-BE49-F238E27FC236}">
                <a16:creationId xmlns:a16="http://schemas.microsoft.com/office/drawing/2014/main" id="{FF95B618-D81A-440A-B58F-8965F70871E8}"/>
              </a:ext>
            </a:extLst>
          </p:cNvPr>
          <p:cNvPicPr>
            <a:picLocks noChangeAspect="1"/>
          </p:cNvPicPr>
          <p:nvPr/>
        </p:nvPicPr>
        <p:blipFill rotWithShape="1">
          <a:blip r:embed="rId5"/>
          <a:srcRect l="22501" t="24793" r="19522" b="35953"/>
          <a:stretch/>
        </p:blipFill>
        <p:spPr>
          <a:xfrm>
            <a:off x="3367969" y="2105379"/>
            <a:ext cx="2708586" cy="1031537"/>
          </a:xfrm>
          <a:prstGeom prst="rect">
            <a:avLst/>
          </a:prstGeom>
        </p:spPr>
      </p:pic>
      <p:sp>
        <p:nvSpPr>
          <p:cNvPr id="30" name="文本框 29">
            <a:extLst>
              <a:ext uri="{FF2B5EF4-FFF2-40B4-BE49-F238E27FC236}">
                <a16:creationId xmlns:a16="http://schemas.microsoft.com/office/drawing/2014/main" id="{16488244-D99F-4DD3-8E04-86DE805176F9}"/>
              </a:ext>
            </a:extLst>
          </p:cNvPr>
          <p:cNvSpPr txBox="1"/>
          <p:nvPr/>
        </p:nvSpPr>
        <p:spPr>
          <a:xfrm>
            <a:off x="1124835" y="3851925"/>
            <a:ext cx="1728192" cy="338554"/>
          </a:xfrm>
          <a:prstGeom prst="rect">
            <a:avLst/>
          </a:prstGeom>
          <a:noFill/>
        </p:spPr>
        <p:txBody>
          <a:bodyPr wrap="square">
            <a:spAutoFit/>
          </a:bodyPr>
          <a:lstStyle/>
          <a:p>
            <a:r>
              <a:rPr lang="zh-CN" altLang="en-US" sz="1600" dirty="0">
                <a:solidFill>
                  <a:srgbClr val="FF0000"/>
                </a:solidFill>
                <a:latin typeface="华文楷体" panose="02010600040101010101" pitchFamily="2" charset="-122"/>
                <a:ea typeface="华文楷体" panose="02010600040101010101" pitchFamily="2" charset="-122"/>
              </a:rPr>
              <a:t>目标为二次函数</a:t>
            </a:r>
            <a:endParaRPr lang="zh-CN" altLang="en-US" sz="1600" dirty="0">
              <a:solidFill>
                <a:srgbClr val="FF0000"/>
              </a:solidFill>
            </a:endParaRPr>
          </a:p>
        </p:txBody>
      </p:sp>
      <p:pic>
        <p:nvPicPr>
          <p:cNvPr id="14" name="Picture 2">
            <a:extLst>
              <a:ext uri="{FF2B5EF4-FFF2-40B4-BE49-F238E27FC236}">
                <a16:creationId xmlns:a16="http://schemas.microsoft.com/office/drawing/2014/main" id="{D63B3EB2-D1C9-4574-98DF-5DEB782DA6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3553" y="1885746"/>
            <a:ext cx="3130448" cy="2597672"/>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
            <a:extLst>
              <a:ext uri="{FF2B5EF4-FFF2-40B4-BE49-F238E27FC236}">
                <a16:creationId xmlns:a16="http://schemas.microsoft.com/office/drawing/2014/main" id="{0ADF545A-112D-4229-9E2C-2BBEA64B8D9D}"/>
              </a:ext>
            </a:extLst>
          </p:cNvPr>
          <p:cNvSpPr>
            <a:spLocks noChangeArrowheads="1"/>
          </p:cNvSpPr>
          <p:nvPr/>
        </p:nvSpPr>
        <p:spPr bwMode="auto">
          <a:xfrm>
            <a:off x="3478773" y="3571642"/>
            <a:ext cx="2566383" cy="86177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u"/>
              <a:tabLst/>
            </a:pPr>
            <a:r>
              <a:rPr kumimoji="0" lang="zh-CN" altLang="zh-CN" sz="1400" b="1" i="0" u="none" strike="noStrike" cap="none" normalizeH="0" baseline="0" dirty="0">
                <a:ln>
                  <a:noFill/>
                </a:ln>
                <a:solidFill>
                  <a:srgbClr val="00B0F0"/>
                </a:solidFill>
                <a:effectLst/>
                <a:latin typeface="微软雅黑" panose="020B0503020204020204" pitchFamily="34" charset="-122"/>
                <a:ea typeface="微软雅黑" panose="020B0503020204020204" pitchFamily="34" charset="-122"/>
                <a:cs typeface="Courier New" panose="02070309020205020404" pitchFamily="49" charset="0"/>
              </a:rPr>
              <a:t>离散优化</a:t>
            </a:r>
            <a:r>
              <a:rPr kumimoji="0" lang="zh-CN" altLang="zh-CN" sz="1400" b="1" i="0" u="none" strike="noStrike" cap="none" normalizeH="0" baseline="0" dirty="0">
                <a:ln>
                  <a:noFill/>
                </a:ln>
                <a:solidFill>
                  <a:srgbClr val="00B0F0"/>
                </a:solidFill>
                <a:effectLst/>
                <a:latin typeface="微软雅黑" panose="020B0503020204020204" pitchFamily="34" charset="-122"/>
                <a:ea typeface="微软雅黑" panose="020B0503020204020204" pitchFamily="34" charset="-122"/>
              </a:rPr>
              <a:t>问题比</a:t>
            </a:r>
            <a:r>
              <a:rPr kumimoji="0" lang="zh-CN" altLang="zh-CN" sz="1400" b="1" i="0" u="none" strike="noStrike" cap="none" normalizeH="0" baseline="0" dirty="0">
                <a:ln>
                  <a:noFill/>
                </a:ln>
                <a:solidFill>
                  <a:srgbClr val="00B0F0"/>
                </a:solidFill>
                <a:effectLst/>
                <a:latin typeface="微软雅黑" panose="020B0503020204020204" pitchFamily="34" charset="-122"/>
                <a:ea typeface="微软雅黑" panose="020B0503020204020204" pitchFamily="34" charset="-122"/>
                <a:cs typeface="Courier New" panose="02070309020205020404" pitchFamily="49" charset="0"/>
              </a:rPr>
              <a:t>连续</a:t>
            </a:r>
            <a:r>
              <a:rPr kumimoji="0" lang="zh-CN" altLang="zh-CN" sz="1400" b="1" i="0" u="none" strike="noStrike" cap="none" normalizeH="0" baseline="0" dirty="0">
                <a:ln>
                  <a:noFill/>
                </a:ln>
                <a:solidFill>
                  <a:srgbClr val="00B0F0"/>
                </a:solidFill>
                <a:effectLst/>
                <a:latin typeface="微软雅黑" panose="020B0503020204020204" pitchFamily="34" charset="-122"/>
                <a:ea typeface="微软雅黑" panose="020B0503020204020204" pitchFamily="34" charset="-122"/>
              </a:rPr>
              <a:t>问题难以求解,</a:t>
            </a:r>
            <a:endParaRPr kumimoji="0" lang="en-US" altLang="zh-CN" sz="1400" b="1" i="0" u="none" strike="noStrike" cap="none" normalizeH="0" baseline="0" dirty="0">
              <a:ln>
                <a:noFill/>
              </a:ln>
              <a:solidFill>
                <a:srgbClr val="00B0F0"/>
              </a:solidFill>
              <a:effectLst/>
              <a:latin typeface="微软雅黑" panose="020B0503020204020204" pitchFamily="34" charset="-122"/>
              <a:ea typeface="微软雅黑" panose="020B0503020204020204" pitchFamily="34" charset="-122"/>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u"/>
              <a:tabLst/>
            </a:pPr>
            <a:r>
              <a:rPr kumimoji="0" lang="zh-CN" altLang="zh-CN" sz="1400" b="1" i="0" u="none" strike="noStrike" cap="none" normalizeH="0" baseline="0" dirty="0">
                <a:ln>
                  <a:noFill/>
                </a:ln>
                <a:solidFill>
                  <a:srgbClr val="00B0F0"/>
                </a:solidFill>
                <a:effectLst/>
                <a:latin typeface="微软雅黑" panose="020B0503020204020204" pitchFamily="34" charset="-122"/>
                <a:ea typeface="微软雅黑" panose="020B0503020204020204" pitchFamily="34" charset="-122"/>
                <a:cs typeface="Courier New" panose="02070309020205020404" pitchFamily="49" charset="0"/>
              </a:rPr>
              <a:t>非线性规划</a:t>
            </a:r>
            <a:r>
              <a:rPr kumimoji="0" lang="zh-CN" altLang="zh-CN" sz="1400" b="1" i="0" u="none" strike="noStrike" cap="none" normalizeH="0" baseline="0" dirty="0">
                <a:ln>
                  <a:noFill/>
                </a:ln>
                <a:solidFill>
                  <a:srgbClr val="00B0F0"/>
                </a:solidFill>
                <a:effectLst/>
                <a:latin typeface="微软雅黑" panose="020B0503020204020204" pitchFamily="34" charset="-122"/>
                <a:ea typeface="微软雅黑" panose="020B0503020204020204" pitchFamily="34" charset="-122"/>
              </a:rPr>
              <a:t>问题比</a:t>
            </a:r>
            <a:r>
              <a:rPr kumimoji="0" lang="zh-CN" altLang="zh-CN" sz="1400" b="1" i="0" u="none" strike="noStrike" cap="none" normalizeH="0" baseline="0" dirty="0">
                <a:ln>
                  <a:noFill/>
                </a:ln>
                <a:solidFill>
                  <a:srgbClr val="00B0F0"/>
                </a:solidFill>
                <a:effectLst/>
                <a:latin typeface="微软雅黑" panose="020B0503020204020204" pitchFamily="34" charset="-122"/>
                <a:ea typeface="微软雅黑" panose="020B0503020204020204" pitchFamily="34" charset="-122"/>
                <a:cs typeface="Courier New" panose="02070309020205020404" pitchFamily="49" charset="0"/>
              </a:rPr>
              <a:t>线性</a:t>
            </a:r>
            <a:r>
              <a:rPr kumimoji="0" lang="zh-CN" altLang="zh-CN" sz="1400" b="1" i="0" u="none" strike="noStrike" cap="none" normalizeH="0" baseline="0" dirty="0">
                <a:ln>
                  <a:noFill/>
                </a:ln>
                <a:solidFill>
                  <a:srgbClr val="00B0F0"/>
                </a:solidFill>
                <a:effectLst/>
                <a:latin typeface="微软雅黑" panose="020B0503020204020204" pitchFamily="34" charset="-122"/>
                <a:ea typeface="微软雅黑" panose="020B0503020204020204" pitchFamily="34" charset="-122"/>
              </a:rPr>
              <a:t>问题难以求解</a:t>
            </a:r>
          </a:p>
        </p:txBody>
      </p:sp>
      <p:sp>
        <p:nvSpPr>
          <p:cNvPr id="18" name="文本框 17">
            <a:extLst>
              <a:ext uri="{FF2B5EF4-FFF2-40B4-BE49-F238E27FC236}">
                <a16:creationId xmlns:a16="http://schemas.microsoft.com/office/drawing/2014/main" id="{CAB418DE-40E8-4B32-B17A-339089A3C485}"/>
              </a:ext>
            </a:extLst>
          </p:cNvPr>
          <p:cNvSpPr txBox="1"/>
          <p:nvPr/>
        </p:nvSpPr>
        <p:spPr>
          <a:xfrm>
            <a:off x="6271434" y="1498347"/>
            <a:ext cx="2810290" cy="338554"/>
          </a:xfrm>
          <a:prstGeom prst="rect">
            <a:avLst/>
          </a:prstGeom>
          <a:noFill/>
        </p:spPr>
        <p:txBody>
          <a:bodyPr wrap="square">
            <a:spAutoFit/>
          </a:bodyPr>
          <a:lstStyle/>
          <a:p>
            <a:r>
              <a:rPr lang="zh-CN" altLang="en-US" sz="1600" b="1" dirty="0">
                <a:solidFill>
                  <a:srgbClr val="002060"/>
                </a:solidFill>
                <a:latin typeface="微软雅黑" panose="020B0503020204020204" pitchFamily="34" charset="-122"/>
                <a:ea typeface="微软雅黑" panose="020B0503020204020204" pitchFamily="34" charset="-122"/>
              </a:rPr>
              <a:t>优化问题判断顺序</a:t>
            </a:r>
            <a:r>
              <a:rPr lang="en-US" altLang="zh-CN" sz="1600" b="1" dirty="0">
                <a:solidFill>
                  <a:srgbClr val="002060"/>
                </a:solidFill>
                <a:latin typeface="微软雅黑" panose="020B0503020204020204" pitchFamily="34" charset="-122"/>
                <a:ea typeface="微软雅黑" panose="020B0503020204020204" pitchFamily="34" charset="-122"/>
              </a:rPr>
              <a:t>(</a:t>
            </a:r>
            <a:r>
              <a:rPr lang="zh-CN" altLang="en-US" sz="1600" b="1" dirty="0">
                <a:solidFill>
                  <a:srgbClr val="002060"/>
                </a:solidFill>
                <a:latin typeface="微软雅黑" panose="020B0503020204020204" pitchFamily="34" charset="-122"/>
                <a:ea typeface="微软雅黑" panose="020B0503020204020204" pitchFamily="34" charset="-122"/>
              </a:rPr>
              <a:t>由简入深</a:t>
            </a:r>
            <a:r>
              <a:rPr lang="en-US" altLang="zh-CN" sz="1600" b="1" dirty="0">
                <a:solidFill>
                  <a:srgbClr val="002060"/>
                </a:solidFill>
                <a:latin typeface="微软雅黑" panose="020B0503020204020204" pitchFamily="34" charset="-122"/>
                <a:ea typeface="微软雅黑" panose="020B0503020204020204" pitchFamily="34" charset="-122"/>
              </a:rPr>
              <a:t>)</a:t>
            </a:r>
            <a:endParaRPr lang="zh-CN" altLang="en-US" sz="1600" b="1" dirty="0">
              <a:solidFill>
                <a:srgbClr val="002060"/>
              </a:solidFill>
            </a:endParaRPr>
          </a:p>
        </p:txBody>
      </p:sp>
      <p:sp>
        <p:nvSpPr>
          <p:cNvPr id="2" name="思想气泡: 云 1">
            <a:extLst>
              <a:ext uri="{FF2B5EF4-FFF2-40B4-BE49-F238E27FC236}">
                <a16:creationId xmlns:a16="http://schemas.microsoft.com/office/drawing/2014/main" id="{C7F39A4F-8390-492A-B179-88009893AE29}"/>
              </a:ext>
            </a:extLst>
          </p:cNvPr>
          <p:cNvSpPr/>
          <p:nvPr/>
        </p:nvSpPr>
        <p:spPr bwMode="auto">
          <a:xfrm>
            <a:off x="3372622" y="2054997"/>
            <a:ext cx="2548968" cy="1212486"/>
          </a:xfrm>
          <a:prstGeom prst="cloudCallout">
            <a:avLst>
              <a:gd name="adj1" fmla="val 39383"/>
              <a:gd name="adj2" fmla="val -66110"/>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4277453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9" grpId="0" animBg="1"/>
      <p:bldP spid="20" grpId="0"/>
      <p:bldP spid="21" grpId="0"/>
      <p:bldP spid="24" grpId="0"/>
      <p:bldP spid="28" grpId="0"/>
      <p:bldP spid="29" grpId="0"/>
      <p:bldP spid="30" grpId="0"/>
      <p:bldP spid="18" grpId="0"/>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E9EE94F2-05AF-45B0-8799-48945A5AFC04}"/>
              </a:ext>
            </a:extLst>
          </p:cNvPr>
          <p:cNvSpPr/>
          <p:nvPr/>
        </p:nvSpPr>
        <p:spPr>
          <a:xfrm>
            <a:off x="229662" y="3891726"/>
            <a:ext cx="8896142" cy="747256"/>
          </a:xfrm>
          <a:prstGeom prst="rect">
            <a:avLst/>
          </a:prstGeom>
          <a:solidFill>
            <a:schemeClr val="bg1"/>
          </a:solidFill>
        </p:spPr>
        <p:txBody>
          <a:bodyPr wrap="square">
            <a:spAutoFit/>
          </a:bodyPr>
          <a:lstStyle/>
          <a:p>
            <a:pPr>
              <a:lnSpc>
                <a:spcPts val="2600"/>
              </a:lnSpc>
            </a:pPr>
            <a:r>
              <a:rPr lang="zh-CN" altLang="en-US" sz="2000" dirty="0">
                <a:solidFill>
                  <a:srgbClr val="0070C0"/>
                </a:solidFill>
                <a:latin typeface="华文楷体" panose="02010600040101010101" pitchFamily="2" charset="-122"/>
                <a:ea typeface="华文楷体" panose="02010600040101010101" pitchFamily="2" charset="-122"/>
              </a:rPr>
              <a:t>                   先猜测</a:t>
            </a:r>
            <a:r>
              <a:rPr lang="en-US" altLang="zh-CN" sz="2000" dirty="0" err="1">
                <a:solidFill>
                  <a:srgbClr val="0070C0"/>
                </a:solidFill>
                <a:latin typeface="华文楷体" panose="02010600040101010101" pitchFamily="2" charset="-122"/>
                <a:ea typeface="华文楷体" panose="02010600040101010101" pitchFamily="2" charset="-122"/>
              </a:rPr>
              <a:t>x</a:t>
            </a:r>
            <a:r>
              <a:rPr lang="en-US" altLang="ko-KR" sz="2000" dirty="0" err="1">
                <a:solidFill>
                  <a:srgbClr val="0070C0"/>
                </a:solidFill>
                <a:latin typeface="华文楷体" panose="02010600040101010101" pitchFamily="2" charset="-122"/>
                <a:ea typeface="华文楷体" panose="02010600040101010101" pitchFamily="2" charset="-122"/>
              </a:rPr>
              <a:t>初</a:t>
            </a:r>
            <a:r>
              <a:rPr lang="zh-CN" altLang="en-US" sz="2000" dirty="0">
                <a:solidFill>
                  <a:srgbClr val="0070C0"/>
                </a:solidFill>
                <a:latin typeface="华文楷体" panose="02010600040101010101" pitchFamily="2" charset="-122"/>
                <a:ea typeface="华文楷体" panose="02010600040101010101" pitchFamily="2" charset="-122"/>
              </a:rPr>
              <a:t>始</a:t>
            </a:r>
            <a:r>
              <a:rPr lang="en-US" altLang="ko-KR" sz="2000" dirty="0">
                <a:solidFill>
                  <a:srgbClr val="0070C0"/>
                </a:solidFill>
                <a:latin typeface="华文楷体" panose="02010600040101010101" pitchFamily="2" charset="-122"/>
                <a:ea typeface="华文楷体" panose="02010600040101010101" pitchFamily="2" charset="-122"/>
              </a:rPr>
              <a:t>值x0 </a:t>
            </a:r>
            <a:r>
              <a:rPr lang="zh-CN" altLang="en-US" sz="2000" dirty="0">
                <a:solidFill>
                  <a:srgbClr val="0070C0"/>
                </a:solidFill>
                <a:latin typeface="华文楷体" panose="02010600040101010101" pitchFamily="2" charset="-122"/>
                <a:ea typeface="华文楷体" panose="02010600040101010101" pitchFamily="2" charset="-122"/>
              </a:rPr>
              <a:t>，带入</a:t>
            </a:r>
            <a:r>
              <a:rPr lang="en-US" altLang="zh-CN" sz="2000" dirty="0">
                <a:solidFill>
                  <a:srgbClr val="0070C0"/>
                </a:solidFill>
                <a:latin typeface="华文楷体" panose="02010600040101010101" pitchFamily="2" charset="-122"/>
                <a:ea typeface="华文楷体" panose="02010600040101010101" pitchFamily="2" charset="-122"/>
              </a:rPr>
              <a:t>f(x)</a:t>
            </a:r>
            <a:r>
              <a:rPr lang="zh-CN" altLang="en-US" sz="2000" dirty="0">
                <a:solidFill>
                  <a:srgbClr val="0070C0"/>
                </a:solidFill>
                <a:latin typeface="华文楷体" panose="02010600040101010101" pitchFamily="2" charset="-122"/>
                <a:ea typeface="华文楷体" panose="02010600040101010101" pitchFamily="2" charset="-122"/>
              </a:rPr>
              <a:t>计算是否等于</a:t>
            </a:r>
            <a:r>
              <a:rPr lang="en-US" altLang="zh-CN" sz="2000" dirty="0">
                <a:solidFill>
                  <a:srgbClr val="0070C0"/>
                </a:solidFill>
                <a:latin typeface="华文楷体" panose="02010600040101010101" pitchFamily="2" charset="-122"/>
                <a:ea typeface="华文楷体" panose="02010600040101010101" pitchFamily="2" charset="-122"/>
              </a:rPr>
              <a:t>0</a:t>
            </a:r>
            <a:r>
              <a:rPr lang="zh-CN" altLang="en-US" sz="2000" dirty="0">
                <a:solidFill>
                  <a:srgbClr val="0070C0"/>
                </a:solidFill>
                <a:latin typeface="华文楷体" panose="02010600040101010101" pitchFamily="2" charset="-122"/>
                <a:ea typeface="华文楷体" panose="02010600040101010101" pitchFamily="2" charset="-122"/>
              </a:rPr>
              <a:t>，重复此过程，直到搜索</a:t>
            </a:r>
            <a:r>
              <a:rPr lang="en-US" altLang="zh-CN" sz="2000" dirty="0">
                <a:solidFill>
                  <a:srgbClr val="0070C0"/>
                </a:solidFill>
                <a:latin typeface="华文楷体" panose="02010600040101010101" pitchFamily="2" charset="-122"/>
                <a:ea typeface="华文楷体" panose="02010600040101010101" pitchFamily="2" charset="-122"/>
              </a:rPr>
              <a:t>x</a:t>
            </a:r>
            <a:r>
              <a:rPr lang="zh-CN" altLang="en-US" sz="2000" dirty="0">
                <a:solidFill>
                  <a:srgbClr val="0070C0"/>
                </a:solidFill>
                <a:latin typeface="华文楷体" panose="02010600040101010101" pitchFamily="2" charset="-122"/>
                <a:ea typeface="华文楷体" panose="02010600040101010101" pitchFamily="2" charset="-122"/>
              </a:rPr>
              <a:t>值算出</a:t>
            </a:r>
            <a:r>
              <a:rPr lang="en-US" altLang="zh-CN" sz="2000" dirty="0">
                <a:solidFill>
                  <a:srgbClr val="0070C0"/>
                </a:solidFill>
                <a:latin typeface="华文楷体" panose="02010600040101010101" pitchFamily="2" charset="-122"/>
                <a:ea typeface="华文楷体" panose="02010600040101010101" pitchFamily="2" charset="-122"/>
              </a:rPr>
              <a:t>f(x)</a:t>
            </a:r>
            <a:r>
              <a:rPr lang="zh-CN" altLang="en-US" sz="2000" dirty="0">
                <a:solidFill>
                  <a:srgbClr val="0070C0"/>
                </a:solidFill>
                <a:latin typeface="华文楷体" panose="02010600040101010101" pitchFamily="2" charset="-122"/>
                <a:ea typeface="华文楷体" panose="02010600040101010101" pitchFamily="2" charset="-122"/>
              </a:rPr>
              <a:t>足够接近</a:t>
            </a:r>
            <a:r>
              <a:rPr lang="en-US" altLang="zh-CN" sz="2000" dirty="0">
                <a:solidFill>
                  <a:srgbClr val="0070C0"/>
                </a:solidFill>
                <a:latin typeface="华文楷体" panose="02010600040101010101" pitchFamily="2" charset="-122"/>
                <a:ea typeface="华文楷体" panose="02010600040101010101" pitchFamily="2" charset="-122"/>
              </a:rPr>
              <a:t>0</a:t>
            </a:r>
            <a:r>
              <a:rPr lang="zh-CN" altLang="en-US" sz="2000" dirty="0">
                <a:solidFill>
                  <a:srgbClr val="0070C0"/>
                </a:solidFill>
                <a:latin typeface="华文楷体" panose="02010600040101010101" pitchFamily="2" charset="-122"/>
                <a:ea typeface="华文楷体" panose="02010600040101010101" pitchFamily="2" charset="-122"/>
              </a:rPr>
              <a:t>为止</a:t>
            </a:r>
          </a:p>
        </p:txBody>
      </p:sp>
      <p:pic>
        <p:nvPicPr>
          <p:cNvPr id="5" name="图片 4">
            <a:extLst>
              <a:ext uri="{FF2B5EF4-FFF2-40B4-BE49-F238E27FC236}">
                <a16:creationId xmlns:a16="http://schemas.microsoft.com/office/drawing/2014/main" id="{3AC200D5-6F4D-4C35-96E2-AA6754BCE409}"/>
              </a:ext>
            </a:extLst>
          </p:cNvPr>
          <p:cNvPicPr>
            <a:picLocks noChangeAspect="1"/>
          </p:cNvPicPr>
          <p:nvPr/>
        </p:nvPicPr>
        <p:blipFill rotWithShape="1">
          <a:blip r:embed="rId3">
            <a:lum bright="20000"/>
          </a:blip>
          <a:srcRect t="4593" r="5340" b="1678"/>
          <a:stretch/>
        </p:blipFill>
        <p:spPr>
          <a:xfrm rot="16200000">
            <a:off x="1771167" y="-53793"/>
            <a:ext cx="2483465" cy="5566476"/>
          </a:xfrm>
          <a:prstGeom prst="rect">
            <a:avLst/>
          </a:prstGeom>
          <a:solidFill>
            <a:schemeClr val="accent1"/>
          </a:solidFill>
          <a:ln>
            <a:noFill/>
          </a:ln>
        </p:spPr>
      </p:pic>
      <p:sp>
        <p:nvSpPr>
          <p:cNvPr id="6" name="Text Box 17">
            <a:extLst>
              <a:ext uri="{FF2B5EF4-FFF2-40B4-BE49-F238E27FC236}">
                <a16:creationId xmlns:a16="http://schemas.microsoft.com/office/drawing/2014/main" id="{F0AD8473-22B9-4E99-8C51-9CD360A4543E}"/>
              </a:ext>
            </a:extLst>
          </p:cNvPr>
          <p:cNvSpPr txBox="1"/>
          <p:nvPr/>
        </p:nvSpPr>
        <p:spPr bwMode="auto">
          <a:xfrm>
            <a:off x="354039" y="699542"/>
            <a:ext cx="1837642" cy="369332"/>
          </a:xfrm>
          <a:prstGeom prst="rect">
            <a:avLst/>
          </a:prstGeom>
          <a:solidFill>
            <a:schemeClr val="bg1"/>
          </a:solidFill>
          <a:ln w="0">
            <a:noFill/>
          </a:ln>
        </p:spPr>
        <p:txBody>
          <a:bodyPr vert="horz" wrap="square" lIns="91440" tIns="45720" rIns="91440" bIns="45720" numCol="1" anchor="t">
            <a:spAutoFit/>
          </a:bodyPr>
          <a:lstStyle/>
          <a:p>
            <a:pPr marL="0" indent="0" algn="l" defTabSz="914400" eaLnBrk="0" fontAlgn="base" latinLnBrk="0">
              <a:lnSpc>
                <a:spcPct val="100000"/>
              </a:lnSpc>
              <a:spcBef>
                <a:spcPts val="0"/>
              </a:spcBef>
              <a:spcAft>
                <a:spcPts val="0"/>
              </a:spcAft>
              <a:buFontTx/>
              <a:buNone/>
            </a:pPr>
            <a:r>
              <a:rPr lang="zh-CN" altLang="en-US" b="1" cap="none" dirty="0">
                <a:solidFill>
                  <a:srgbClr val="00B0F0"/>
                </a:solidFill>
                <a:latin typeface="微软雅黑" panose="020B0503020204020204" pitchFamily="34" charset="-122"/>
                <a:ea typeface="微软雅黑" panose="020B0503020204020204" pitchFamily="34" charset="-122"/>
              </a:rPr>
              <a:t>数值计算原理</a:t>
            </a:r>
            <a:r>
              <a:rPr lang="en-US" altLang="zh-CN" b="1" cap="none" dirty="0">
                <a:solidFill>
                  <a:srgbClr val="00B0F0"/>
                </a:solidFill>
                <a:latin typeface="微软雅黑" panose="020B0503020204020204" pitchFamily="34" charset="-122"/>
                <a:ea typeface="微软雅黑" panose="020B0503020204020204" pitchFamily="34" charset="-122"/>
              </a:rPr>
              <a:t>:</a:t>
            </a:r>
            <a:endParaRPr lang="ko-KR" altLang="en-US" b="1" cap="none" dirty="0">
              <a:solidFill>
                <a:srgbClr val="00B0F0"/>
              </a:solidFill>
              <a:latin typeface="微软雅黑" panose="020B0503020204020204" pitchFamily="34" charset="-122"/>
              <a:ea typeface="微软雅黑" panose="020B0503020204020204" charset="-122"/>
            </a:endParaRPr>
          </a:p>
        </p:txBody>
      </p:sp>
      <p:sp>
        <p:nvSpPr>
          <p:cNvPr id="7" name="Text Box 17">
            <a:extLst>
              <a:ext uri="{FF2B5EF4-FFF2-40B4-BE49-F238E27FC236}">
                <a16:creationId xmlns:a16="http://schemas.microsoft.com/office/drawing/2014/main" id="{DF59C3CA-12B2-4F61-B322-07A5195B74B9}"/>
              </a:ext>
            </a:extLst>
          </p:cNvPr>
          <p:cNvSpPr txBox="1"/>
          <p:nvPr/>
        </p:nvSpPr>
        <p:spPr bwMode="auto">
          <a:xfrm>
            <a:off x="2051721" y="699542"/>
            <a:ext cx="6591246" cy="707886"/>
          </a:xfrm>
          <a:prstGeom prst="rect">
            <a:avLst/>
          </a:prstGeom>
          <a:solidFill>
            <a:schemeClr val="bg1"/>
          </a:solidFill>
        </p:spPr>
        <p:txBody>
          <a:bodyPr wrap="square">
            <a:spAutoFit/>
          </a:bodyPr>
          <a:lstStyle>
            <a:defPPr>
              <a:defRPr lang="zh-CN"/>
            </a:defPPr>
            <a:lvl1pPr>
              <a:defRPr sz="2400">
                <a:solidFill>
                  <a:srgbClr val="002060"/>
                </a:solidFill>
                <a:latin typeface="隶书" panose="02010509060101010101" pitchFamily="49" charset="-122"/>
                <a:ea typeface="隶书" panose="02010509060101010101" pitchFamily="49" charset="-122"/>
              </a:defRPr>
            </a:lvl1pPr>
          </a:lstStyle>
          <a:p>
            <a:r>
              <a:rPr lang="zh-CN" altLang="en-US" sz="2000" dirty="0">
                <a:solidFill>
                  <a:srgbClr val="0070C0"/>
                </a:solidFill>
                <a:latin typeface="华文楷体" panose="02010600040101010101" pitchFamily="2" charset="-122"/>
                <a:ea typeface="华文楷体" panose="02010600040101010101" pitchFamily="2" charset="-122"/>
              </a:rPr>
              <a:t>求根和求极值都是猜测或搜索函数</a:t>
            </a:r>
            <a:r>
              <a:rPr lang="en-US" altLang="zh-CN" sz="2000" dirty="0">
                <a:solidFill>
                  <a:srgbClr val="0070C0"/>
                </a:solidFill>
                <a:latin typeface="华文楷体" panose="02010600040101010101" pitchFamily="2" charset="-122"/>
                <a:ea typeface="华文楷体" panose="02010600040101010101" pitchFamily="2" charset="-122"/>
              </a:rPr>
              <a:t>f(x)</a:t>
            </a:r>
            <a:r>
              <a:rPr lang="zh-CN" altLang="en-US" sz="2000" dirty="0">
                <a:solidFill>
                  <a:srgbClr val="0070C0"/>
                </a:solidFill>
                <a:latin typeface="华文楷体" panose="02010600040101010101" pitchFamily="2" charset="-122"/>
                <a:ea typeface="华文楷体" panose="02010600040101010101" pitchFamily="2" charset="-122"/>
              </a:rPr>
              <a:t>的某个</a:t>
            </a:r>
            <a:r>
              <a:rPr lang="en-US" altLang="zh-CN" sz="2000" b="1" dirty="0">
                <a:solidFill>
                  <a:srgbClr val="FF0000"/>
                </a:solidFill>
                <a:latin typeface="华文楷体" panose="02010600040101010101" pitchFamily="2" charset="-122"/>
                <a:ea typeface="华文楷体" panose="02010600040101010101" pitchFamily="2" charset="-122"/>
              </a:rPr>
              <a:t>x</a:t>
            </a:r>
            <a:r>
              <a:rPr lang="zh-CN" altLang="en-US" sz="2000" dirty="0">
                <a:solidFill>
                  <a:srgbClr val="0070C0"/>
                </a:solidFill>
                <a:latin typeface="华文楷体" panose="02010600040101010101" pitchFamily="2" charset="-122"/>
                <a:ea typeface="华文楷体" panose="02010600040101010101" pitchFamily="2" charset="-122"/>
              </a:rPr>
              <a:t>位置，</a:t>
            </a:r>
            <a:endParaRPr lang="en-US" altLang="zh-CN" sz="2000" dirty="0">
              <a:solidFill>
                <a:srgbClr val="0070C0"/>
              </a:solidFill>
              <a:latin typeface="华文楷体" panose="02010600040101010101" pitchFamily="2" charset="-122"/>
              <a:ea typeface="华文楷体" panose="02010600040101010101" pitchFamily="2" charset="-122"/>
            </a:endParaRPr>
          </a:p>
          <a:p>
            <a:r>
              <a:rPr lang="zh-CN" altLang="en-US" sz="2000" dirty="0">
                <a:solidFill>
                  <a:srgbClr val="0070C0"/>
                </a:solidFill>
                <a:latin typeface="华文楷体" panose="02010600040101010101" pitchFamily="2" charset="-122"/>
                <a:ea typeface="华文楷体" panose="02010600040101010101" pitchFamily="2" charset="-122"/>
              </a:rPr>
              <a:t>所以函数命令的关键的</a:t>
            </a:r>
            <a:r>
              <a:rPr lang="en-US" altLang="ko-KR" sz="2000" dirty="0" err="1">
                <a:solidFill>
                  <a:srgbClr val="0070C0"/>
                </a:solidFill>
                <a:latin typeface="华文楷体" panose="02010600040101010101" pitchFamily="2" charset="-122"/>
                <a:ea typeface="华文楷体" panose="02010600040101010101" pitchFamily="2" charset="-122"/>
              </a:rPr>
              <a:t>输入和输出参数</a:t>
            </a:r>
            <a:r>
              <a:rPr lang="zh-CN" altLang="en-US" sz="2000" dirty="0">
                <a:solidFill>
                  <a:srgbClr val="0070C0"/>
                </a:solidFill>
                <a:latin typeface="华文楷体" panose="02010600040101010101" pitchFamily="2" charset="-122"/>
                <a:ea typeface="华文楷体" panose="02010600040101010101" pitchFamily="2" charset="-122"/>
              </a:rPr>
              <a:t>设置是一样的</a:t>
            </a:r>
            <a:endParaRPr lang="ko-KR" altLang="en-US" sz="2000" dirty="0">
              <a:solidFill>
                <a:srgbClr val="0070C0"/>
              </a:solidFill>
              <a:latin typeface="华文楷体" panose="02010600040101010101" pitchFamily="2" charset="-122"/>
            </a:endParaRPr>
          </a:p>
        </p:txBody>
      </p:sp>
      <p:sp>
        <p:nvSpPr>
          <p:cNvPr id="8" name="椭圆 7">
            <a:extLst>
              <a:ext uri="{FF2B5EF4-FFF2-40B4-BE49-F238E27FC236}">
                <a16:creationId xmlns:a16="http://schemas.microsoft.com/office/drawing/2014/main" id="{EF4D5B3A-DDC7-41BF-9AD7-832733A7C17F}"/>
              </a:ext>
            </a:extLst>
          </p:cNvPr>
          <p:cNvSpPr/>
          <p:nvPr/>
        </p:nvSpPr>
        <p:spPr>
          <a:xfrm>
            <a:off x="2700863" y="2531035"/>
            <a:ext cx="144000" cy="144000"/>
          </a:xfrm>
          <a:prstGeom prst="ellipse">
            <a:avLst/>
          </a:prstGeom>
          <a:solidFill>
            <a:srgbClr val="FF0000"/>
          </a:solidFill>
          <a:ln>
            <a:solidFill>
              <a:srgbClr val="C00000"/>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华文楷体" panose="02010600040101010101" pitchFamily="2" charset="-122"/>
              <a:ea typeface="华文楷体" panose="02010600040101010101" pitchFamily="2" charset="-122"/>
            </a:endParaRPr>
          </a:p>
        </p:txBody>
      </p:sp>
      <p:sp>
        <p:nvSpPr>
          <p:cNvPr id="9" name="椭圆 8">
            <a:extLst>
              <a:ext uri="{FF2B5EF4-FFF2-40B4-BE49-F238E27FC236}">
                <a16:creationId xmlns:a16="http://schemas.microsoft.com/office/drawing/2014/main" id="{DD8DDFB0-F2B8-45E7-BE98-60C8687C11A6}"/>
              </a:ext>
            </a:extLst>
          </p:cNvPr>
          <p:cNvSpPr/>
          <p:nvPr/>
        </p:nvSpPr>
        <p:spPr>
          <a:xfrm>
            <a:off x="4627067" y="2567038"/>
            <a:ext cx="144000" cy="144000"/>
          </a:xfrm>
          <a:prstGeom prst="ellipse">
            <a:avLst/>
          </a:prstGeom>
          <a:solidFill>
            <a:srgbClr val="FF0000"/>
          </a:solidFill>
          <a:ln>
            <a:solidFill>
              <a:srgbClr val="C00000"/>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华文楷体" panose="02010600040101010101" pitchFamily="2" charset="-122"/>
              <a:ea typeface="华文楷体" panose="02010600040101010101" pitchFamily="2" charset="-122"/>
            </a:endParaRPr>
          </a:p>
        </p:txBody>
      </p:sp>
      <p:sp>
        <p:nvSpPr>
          <p:cNvPr id="10" name="椭圆 9">
            <a:extLst>
              <a:ext uri="{FF2B5EF4-FFF2-40B4-BE49-F238E27FC236}">
                <a16:creationId xmlns:a16="http://schemas.microsoft.com/office/drawing/2014/main" id="{0B66328D-D91F-4DD5-921A-F006E37B7AF1}"/>
              </a:ext>
            </a:extLst>
          </p:cNvPr>
          <p:cNvSpPr/>
          <p:nvPr/>
        </p:nvSpPr>
        <p:spPr>
          <a:xfrm>
            <a:off x="962043" y="2567038"/>
            <a:ext cx="144000" cy="144000"/>
          </a:xfrm>
          <a:prstGeom prst="ellipse">
            <a:avLst/>
          </a:prstGeom>
          <a:solidFill>
            <a:srgbClr val="FF0000"/>
          </a:solidFill>
          <a:ln>
            <a:solidFill>
              <a:srgbClr val="C00000"/>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华文楷体" panose="02010600040101010101" pitchFamily="2" charset="-122"/>
              <a:ea typeface="华文楷体" panose="02010600040101010101" pitchFamily="2" charset="-122"/>
            </a:endParaRPr>
          </a:p>
        </p:txBody>
      </p:sp>
      <p:sp>
        <p:nvSpPr>
          <p:cNvPr id="11" name="矩形: 圆角 10">
            <a:extLst>
              <a:ext uri="{FF2B5EF4-FFF2-40B4-BE49-F238E27FC236}">
                <a16:creationId xmlns:a16="http://schemas.microsoft.com/office/drawing/2014/main" id="{31C6858D-F5C6-44A7-93D1-DA706260FFC4}"/>
              </a:ext>
            </a:extLst>
          </p:cNvPr>
          <p:cNvSpPr/>
          <p:nvPr/>
        </p:nvSpPr>
        <p:spPr>
          <a:xfrm>
            <a:off x="1436325" y="1951613"/>
            <a:ext cx="882423" cy="255369"/>
          </a:xfrm>
          <a:prstGeom prst="round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latin typeface="华文楷体" panose="02010600040101010101" pitchFamily="2" charset="-122"/>
              <a:ea typeface="华文楷体" panose="02010600040101010101" pitchFamily="2" charset="-122"/>
            </a:endParaRPr>
          </a:p>
        </p:txBody>
      </p:sp>
      <p:sp>
        <p:nvSpPr>
          <p:cNvPr id="12" name="椭圆 11">
            <a:extLst>
              <a:ext uri="{FF2B5EF4-FFF2-40B4-BE49-F238E27FC236}">
                <a16:creationId xmlns:a16="http://schemas.microsoft.com/office/drawing/2014/main" id="{B039DC07-3B07-4B3C-8C6B-73806EBC15B1}"/>
              </a:ext>
            </a:extLst>
          </p:cNvPr>
          <p:cNvSpPr/>
          <p:nvPr/>
        </p:nvSpPr>
        <p:spPr>
          <a:xfrm>
            <a:off x="3724597" y="1851686"/>
            <a:ext cx="144000" cy="144000"/>
          </a:xfrm>
          <a:prstGeom prst="ellipse">
            <a:avLst/>
          </a:prstGeom>
          <a:solidFill>
            <a:srgbClr val="00B0F0"/>
          </a:solidFill>
          <a:ln>
            <a:solidFill>
              <a:srgbClr val="00B0F0"/>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华文楷体" panose="02010600040101010101" pitchFamily="2" charset="-122"/>
              <a:ea typeface="华文楷体" panose="02010600040101010101" pitchFamily="2" charset="-122"/>
            </a:endParaRPr>
          </a:p>
        </p:txBody>
      </p:sp>
      <p:sp>
        <p:nvSpPr>
          <p:cNvPr id="13" name="矩形: 圆角 12">
            <a:extLst>
              <a:ext uri="{FF2B5EF4-FFF2-40B4-BE49-F238E27FC236}">
                <a16:creationId xmlns:a16="http://schemas.microsoft.com/office/drawing/2014/main" id="{1117BD4A-5419-4D75-A963-BDD8B9F816EF}"/>
              </a:ext>
            </a:extLst>
          </p:cNvPr>
          <p:cNvSpPr/>
          <p:nvPr/>
        </p:nvSpPr>
        <p:spPr>
          <a:xfrm>
            <a:off x="996187" y="3438223"/>
            <a:ext cx="738268" cy="292388"/>
          </a:xfrm>
          <a:prstGeom prst="roundRect">
            <a:avLst/>
          </a:prstGeom>
          <a:noFill/>
          <a:ln>
            <a:solidFill>
              <a:srgbClr val="00B0F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latin typeface="华文楷体" panose="02010600040101010101" pitchFamily="2" charset="-122"/>
              <a:ea typeface="华文楷体" panose="02010600040101010101" pitchFamily="2" charset="-122"/>
            </a:endParaRPr>
          </a:p>
        </p:txBody>
      </p:sp>
      <p:sp>
        <p:nvSpPr>
          <p:cNvPr id="14" name="矩形: 圆角 13">
            <a:extLst>
              <a:ext uri="{FF2B5EF4-FFF2-40B4-BE49-F238E27FC236}">
                <a16:creationId xmlns:a16="http://schemas.microsoft.com/office/drawing/2014/main" id="{228B4163-8180-4726-A2B8-F9094014EB0B}"/>
              </a:ext>
            </a:extLst>
          </p:cNvPr>
          <p:cNvSpPr/>
          <p:nvPr/>
        </p:nvSpPr>
        <p:spPr>
          <a:xfrm>
            <a:off x="3555502" y="1491630"/>
            <a:ext cx="777741" cy="325721"/>
          </a:xfrm>
          <a:prstGeom prst="roundRect">
            <a:avLst/>
          </a:prstGeom>
          <a:noFill/>
          <a:ln>
            <a:solidFill>
              <a:srgbClr val="00B0F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latin typeface="华文楷体" panose="02010600040101010101" pitchFamily="2" charset="-122"/>
              <a:ea typeface="华文楷体" panose="02010600040101010101" pitchFamily="2" charset="-122"/>
            </a:endParaRPr>
          </a:p>
        </p:txBody>
      </p:sp>
      <p:sp>
        <p:nvSpPr>
          <p:cNvPr id="15" name="椭圆 14">
            <a:extLst>
              <a:ext uri="{FF2B5EF4-FFF2-40B4-BE49-F238E27FC236}">
                <a16:creationId xmlns:a16="http://schemas.microsoft.com/office/drawing/2014/main" id="{23482202-326A-44F7-9200-CEBC48301A7F}"/>
              </a:ext>
            </a:extLst>
          </p:cNvPr>
          <p:cNvSpPr/>
          <p:nvPr/>
        </p:nvSpPr>
        <p:spPr>
          <a:xfrm>
            <a:off x="1771073" y="3460848"/>
            <a:ext cx="144000" cy="144000"/>
          </a:xfrm>
          <a:prstGeom prst="ellipse">
            <a:avLst/>
          </a:prstGeom>
          <a:solidFill>
            <a:srgbClr val="00B0F0"/>
          </a:solidFill>
          <a:ln>
            <a:solidFill>
              <a:srgbClr val="00B0F0"/>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华文楷体" panose="02010600040101010101" pitchFamily="2" charset="-122"/>
              <a:ea typeface="华文楷体" panose="02010600040101010101" pitchFamily="2" charset="-122"/>
            </a:endParaRPr>
          </a:p>
        </p:txBody>
      </p:sp>
      <p:cxnSp>
        <p:nvCxnSpPr>
          <p:cNvPr id="16" name="直接连接符 15">
            <a:extLst>
              <a:ext uri="{FF2B5EF4-FFF2-40B4-BE49-F238E27FC236}">
                <a16:creationId xmlns:a16="http://schemas.microsoft.com/office/drawing/2014/main" id="{AA704217-8A94-4F8E-97A3-B5353FDBAD3F}"/>
              </a:ext>
            </a:extLst>
          </p:cNvPr>
          <p:cNvCxnSpPr>
            <a:cxnSpLocks/>
          </p:cNvCxnSpPr>
          <p:nvPr/>
        </p:nvCxnSpPr>
        <p:spPr>
          <a:xfrm>
            <a:off x="2501833" y="3572051"/>
            <a:ext cx="1005638" cy="24733"/>
          </a:xfrm>
          <a:prstGeom prst="line">
            <a:avLst/>
          </a:prstGeom>
          <a:ln>
            <a:solidFill>
              <a:srgbClr val="00B0F0"/>
            </a:solidFill>
          </a:ln>
        </p:spPr>
        <p:style>
          <a:lnRef idx="2">
            <a:schemeClr val="accent2"/>
          </a:lnRef>
          <a:fillRef idx="0">
            <a:schemeClr val="accent2"/>
          </a:fillRef>
          <a:effectRef idx="1">
            <a:schemeClr val="accent2"/>
          </a:effectRef>
          <a:fontRef idx="minor">
            <a:schemeClr val="tx1"/>
          </a:fontRef>
        </p:style>
      </p:cxnSp>
      <p:cxnSp>
        <p:nvCxnSpPr>
          <p:cNvPr id="17" name="直接连接符 16">
            <a:extLst>
              <a:ext uri="{FF2B5EF4-FFF2-40B4-BE49-F238E27FC236}">
                <a16:creationId xmlns:a16="http://schemas.microsoft.com/office/drawing/2014/main" id="{0F9FBA2A-6EB3-41D0-9DB4-81FFB6287527}"/>
              </a:ext>
            </a:extLst>
          </p:cNvPr>
          <p:cNvCxnSpPr>
            <a:cxnSpLocks/>
          </p:cNvCxnSpPr>
          <p:nvPr/>
        </p:nvCxnSpPr>
        <p:spPr>
          <a:xfrm>
            <a:off x="1997287" y="1746434"/>
            <a:ext cx="1009092" cy="0"/>
          </a:xfrm>
          <a:prstGeom prst="line">
            <a:avLst/>
          </a:prstGeom>
          <a:ln>
            <a:solidFill>
              <a:srgbClr val="00B0F0"/>
            </a:solidFill>
          </a:ln>
        </p:spPr>
        <p:style>
          <a:lnRef idx="2">
            <a:schemeClr val="accent2"/>
          </a:lnRef>
          <a:fillRef idx="0">
            <a:schemeClr val="accent2"/>
          </a:fillRef>
          <a:effectRef idx="1">
            <a:schemeClr val="accent2"/>
          </a:effectRef>
          <a:fontRef idx="minor">
            <a:schemeClr val="tx1"/>
          </a:fontRef>
        </p:style>
      </p:cxnSp>
      <p:sp>
        <p:nvSpPr>
          <p:cNvPr id="18" name="矩形 17">
            <a:extLst>
              <a:ext uri="{FF2B5EF4-FFF2-40B4-BE49-F238E27FC236}">
                <a16:creationId xmlns:a16="http://schemas.microsoft.com/office/drawing/2014/main" id="{7E674D72-4B2E-4D1F-A422-6E070944BBD9}"/>
              </a:ext>
            </a:extLst>
          </p:cNvPr>
          <p:cNvSpPr/>
          <p:nvPr/>
        </p:nvSpPr>
        <p:spPr>
          <a:xfrm>
            <a:off x="3944373" y="3049203"/>
            <a:ext cx="4444052" cy="400110"/>
          </a:xfrm>
          <a:prstGeom prst="rect">
            <a:avLst/>
          </a:prstGeom>
        </p:spPr>
        <p:txBody>
          <a:bodyPr wrap="square">
            <a:spAutoFit/>
          </a:bodyPr>
          <a:lstStyle/>
          <a:p>
            <a:r>
              <a:rPr lang="zh-CN" altLang="en-US" sz="2000" dirty="0">
                <a:solidFill>
                  <a:srgbClr val="00B0F0"/>
                </a:solidFill>
                <a:latin typeface="华文楷体" panose="02010600040101010101" pitchFamily="2" charset="-122"/>
                <a:ea typeface="华文楷体" panose="02010600040101010101" pitchFamily="2" charset="-122"/>
              </a:rPr>
              <a:t>最优值</a:t>
            </a:r>
            <a:r>
              <a:rPr lang="en-US" altLang="zh-CN" sz="2000" dirty="0">
                <a:solidFill>
                  <a:srgbClr val="00B0F0"/>
                </a:solidFill>
                <a:latin typeface="华文楷体" panose="02010600040101010101" pitchFamily="2" charset="-122"/>
                <a:ea typeface="华文楷体" panose="02010600040101010101" pitchFamily="2" charset="-122"/>
              </a:rPr>
              <a:t>:</a:t>
            </a:r>
            <a:r>
              <a:rPr lang="zh-CN" altLang="en-US" sz="2000" dirty="0">
                <a:solidFill>
                  <a:srgbClr val="00B0F0"/>
                </a:solidFill>
                <a:latin typeface="华文楷体" panose="02010600040101010101" pitchFamily="2" charset="-122"/>
                <a:ea typeface="华文楷体" panose="02010600040101010101" pitchFamily="2" charset="-122"/>
              </a:rPr>
              <a:t>搜索函数导数</a:t>
            </a:r>
            <a:r>
              <a:rPr lang="en-US" altLang="zh-CN" sz="2000" b="1" dirty="0">
                <a:solidFill>
                  <a:srgbClr val="FF0000"/>
                </a:solidFill>
                <a:latin typeface="华文楷体" panose="02010600040101010101" pitchFamily="2" charset="-122"/>
                <a:ea typeface="华文楷体" panose="02010600040101010101" pitchFamily="2" charset="-122"/>
              </a:rPr>
              <a:t>f ‘(x)=0</a:t>
            </a:r>
            <a:r>
              <a:rPr lang="zh-CN" altLang="en-US" sz="2000" dirty="0">
                <a:solidFill>
                  <a:srgbClr val="00B0F0"/>
                </a:solidFill>
                <a:latin typeface="华文楷体" panose="02010600040101010101" pitchFamily="2" charset="-122"/>
                <a:ea typeface="华文楷体" panose="02010600040101010101" pitchFamily="2" charset="-122"/>
              </a:rPr>
              <a:t>的</a:t>
            </a:r>
            <a:r>
              <a:rPr lang="en-US" altLang="zh-CN" sz="2000" dirty="0">
                <a:solidFill>
                  <a:srgbClr val="00B0F0"/>
                </a:solidFill>
                <a:latin typeface="华文楷体" panose="02010600040101010101" pitchFamily="2" charset="-122"/>
                <a:ea typeface="华文楷体" panose="02010600040101010101" pitchFamily="2" charset="-122"/>
              </a:rPr>
              <a:t>x</a:t>
            </a:r>
            <a:r>
              <a:rPr lang="zh-CN" altLang="en-US" sz="2000" dirty="0">
                <a:solidFill>
                  <a:srgbClr val="00B0F0"/>
                </a:solidFill>
                <a:latin typeface="华文楷体" panose="02010600040101010101" pitchFamily="2" charset="-122"/>
                <a:ea typeface="华文楷体" panose="02010600040101010101" pitchFamily="2" charset="-122"/>
              </a:rPr>
              <a:t>位置</a:t>
            </a:r>
          </a:p>
        </p:txBody>
      </p:sp>
      <p:sp>
        <p:nvSpPr>
          <p:cNvPr id="19" name="矩形 18">
            <a:extLst>
              <a:ext uri="{FF2B5EF4-FFF2-40B4-BE49-F238E27FC236}">
                <a16:creationId xmlns:a16="http://schemas.microsoft.com/office/drawing/2014/main" id="{5DF3A777-C907-434E-832F-C0B0D2AF8D0A}"/>
              </a:ext>
            </a:extLst>
          </p:cNvPr>
          <p:cNvSpPr/>
          <p:nvPr/>
        </p:nvSpPr>
        <p:spPr>
          <a:xfrm>
            <a:off x="295405" y="3877020"/>
            <a:ext cx="2010104" cy="369332"/>
          </a:xfrm>
          <a:prstGeom prst="rect">
            <a:avLst/>
          </a:prstGeom>
          <a:solidFill>
            <a:schemeClr val="bg1"/>
          </a:solidFill>
          <a:ln w="0">
            <a:noFill/>
          </a:ln>
        </p:spPr>
        <p:txBody>
          <a:bodyPr vert="horz" wrap="square" lIns="91440" tIns="45720" rIns="91440" bIns="45720" numCol="1" anchor="t">
            <a:spAutoFit/>
          </a:bodyPr>
          <a:lstStyle/>
          <a:p>
            <a:pPr eaLnBrk="0">
              <a:spcBef>
                <a:spcPts val="0"/>
              </a:spcBef>
              <a:spcAft>
                <a:spcPts val="0"/>
              </a:spcAft>
            </a:pPr>
            <a:r>
              <a:rPr lang="zh-CN" altLang="en-US" b="1" dirty="0">
                <a:solidFill>
                  <a:srgbClr val="00B0F0"/>
                </a:solidFill>
                <a:latin typeface="微软雅黑" panose="020B0503020204020204" pitchFamily="34" charset="-122"/>
                <a:ea typeface="微软雅黑" panose="020B0503020204020204" pitchFamily="34" charset="-122"/>
              </a:rPr>
              <a:t>常用迭代试错法</a:t>
            </a:r>
            <a:r>
              <a:rPr lang="en-US" altLang="zh-CN" b="1" dirty="0">
                <a:solidFill>
                  <a:srgbClr val="00B0F0"/>
                </a:solidFill>
                <a:latin typeface="微软雅黑" panose="020B0503020204020204" pitchFamily="34" charset="-122"/>
                <a:ea typeface="微软雅黑" panose="020B0503020204020204" pitchFamily="34" charset="-122"/>
              </a:rPr>
              <a:t>:</a:t>
            </a:r>
          </a:p>
        </p:txBody>
      </p:sp>
      <p:sp>
        <p:nvSpPr>
          <p:cNvPr id="20" name="矩形 19">
            <a:extLst>
              <a:ext uri="{FF2B5EF4-FFF2-40B4-BE49-F238E27FC236}">
                <a16:creationId xmlns:a16="http://schemas.microsoft.com/office/drawing/2014/main" id="{8D9D7706-ED77-4106-B0E3-D7F8E5C4B1E4}"/>
              </a:ext>
            </a:extLst>
          </p:cNvPr>
          <p:cNvSpPr/>
          <p:nvPr/>
        </p:nvSpPr>
        <p:spPr>
          <a:xfrm>
            <a:off x="4284381" y="1821993"/>
            <a:ext cx="4992075" cy="400110"/>
          </a:xfrm>
          <a:prstGeom prst="rect">
            <a:avLst/>
          </a:prstGeom>
        </p:spPr>
        <p:txBody>
          <a:bodyPr wrap="square">
            <a:spAutoFit/>
          </a:bodyPr>
          <a:lstStyle/>
          <a:p>
            <a:r>
              <a:rPr lang="en-US" altLang="zh-CN" sz="2000" dirty="0">
                <a:solidFill>
                  <a:srgbClr val="00B0F0"/>
                </a:solidFill>
                <a:latin typeface="华文楷体" panose="02010600040101010101" pitchFamily="2" charset="-122"/>
                <a:ea typeface="华文楷体" panose="02010600040101010101" pitchFamily="2" charset="-122"/>
              </a:rPr>
              <a:t> </a:t>
            </a:r>
            <a:r>
              <a:rPr lang="zh-CN" altLang="en-US" sz="2000" dirty="0">
                <a:solidFill>
                  <a:srgbClr val="00B0F0"/>
                </a:solidFill>
                <a:latin typeface="华文楷体" panose="02010600040101010101" pitchFamily="2" charset="-122"/>
                <a:ea typeface="华文楷体" panose="02010600040101010101" pitchFamily="2" charset="-122"/>
              </a:rPr>
              <a:t>求根：搜索函数值</a:t>
            </a:r>
            <a:r>
              <a:rPr lang="en-US" altLang="zh-CN" sz="2000" b="1" dirty="0">
                <a:solidFill>
                  <a:srgbClr val="FF0000"/>
                </a:solidFill>
                <a:latin typeface="华文楷体" panose="02010600040101010101" pitchFamily="2" charset="-122"/>
                <a:ea typeface="华文楷体" panose="02010600040101010101" pitchFamily="2" charset="-122"/>
              </a:rPr>
              <a:t>f(x)=0</a:t>
            </a:r>
            <a:r>
              <a:rPr lang="zh-CN" altLang="en-US" sz="2000" dirty="0">
                <a:solidFill>
                  <a:srgbClr val="00B0F0"/>
                </a:solidFill>
                <a:latin typeface="华文楷体" panose="02010600040101010101" pitchFamily="2" charset="-122"/>
                <a:ea typeface="华文楷体" panose="02010600040101010101" pitchFamily="2" charset="-122"/>
              </a:rPr>
              <a:t>的</a:t>
            </a:r>
            <a:r>
              <a:rPr lang="en-US" altLang="zh-CN" sz="2000" dirty="0">
                <a:solidFill>
                  <a:srgbClr val="00B0F0"/>
                </a:solidFill>
                <a:latin typeface="华文楷体" panose="02010600040101010101" pitchFamily="2" charset="-122"/>
                <a:ea typeface="华文楷体" panose="02010600040101010101" pitchFamily="2" charset="-122"/>
              </a:rPr>
              <a:t>x</a:t>
            </a:r>
            <a:r>
              <a:rPr lang="zh-CN" altLang="en-US" sz="2000" dirty="0">
                <a:solidFill>
                  <a:srgbClr val="00B0F0"/>
                </a:solidFill>
                <a:latin typeface="华文楷体" panose="02010600040101010101" pitchFamily="2" charset="-122"/>
                <a:ea typeface="华文楷体" panose="02010600040101010101" pitchFamily="2" charset="-122"/>
              </a:rPr>
              <a:t>位置</a:t>
            </a:r>
            <a:endParaRPr lang="en-US" altLang="zh-CN" sz="2000" dirty="0">
              <a:solidFill>
                <a:srgbClr val="00B0F0"/>
              </a:solidFill>
              <a:latin typeface="华文楷体" panose="02010600040101010101" pitchFamily="2" charset="-122"/>
              <a:ea typeface="华文楷体" panose="02010600040101010101" pitchFamily="2" charset="-122"/>
            </a:endParaRPr>
          </a:p>
        </p:txBody>
      </p:sp>
      <p:sp>
        <p:nvSpPr>
          <p:cNvPr id="21" name="Rectangle 2">
            <a:extLst>
              <a:ext uri="{FF2B5EF4-FFF2-40B4-BE49-F238E27FC236}">
                <a16:creationId xmlns:a16="http://schemas.microsoft.com/office/drawing/2014/main" id="{547BFAA3-0276-4EAC-8268-06D42ECED011}"/>
              </a:ext>
            </a:extLst>
          </p:cNvPr>
          <p:cNvSpPr txBox="1"/>
          <p:nvPr/>
        </p:nvSpPr>
        <p:spPr bwMode="auto">
          <a:xfrm>
            <a:off x="8346629" y="699332"/>
            <a:ext cx="775036" cy="728246"/>
          </a:xfrm>
          <a:prstGeom prst="rect">
            <a:avLst/>
          </a:prstGeom>
          <a:noFill/>
          <a:ln w="0">
            <a:noFill/>
          </a:ln>
          <a:effectLst>
            <a:outerShdw blurRad="190500" dist="228600" dir="2700000" algn="ctr">
              <a:srgbClr val="000000">
                <a:alpha val="29803"/>
              </a:srgbClr>
            </a:outerShdw>
          </a:effectLst>
          <a:scene3d>
            <a:camera prst="orthographicFront">
              <a:rot lat="0" lon="0" rev="0"/>
            </a:camera>
            <a:lightRig rig="threePt" dir="t">
              <a:rot lat="0" lon="0" rev="1200000"/>
            </a:lightRig>
          </a:scene3d>
          <a:sp3d>
            <a:bevelT w="63500" h="25400" prst="softRound"/>
          </a:sp3d>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anchor="ctr">
            <a:noAutofit/>
          </a:bodyPr>
          <a:lstStyle/>
          <a:p>
            <a:pPr marL="0" indent="0" algn="l" defTabSz="914400" fontAlgn="base" latinLnBrk="0">
              <a:lnSpc>
                <a:spcPct val="100000"/>
              </a:lnSpc>
              <a:spcBef>
                <a:spcPts val="0"/>
              </a:spcBef>
              <a:spcAft>
                <a:spcPts val="0"/>
              </a:spcAft>
              <a:buFontTx/>
              <a:buNone/>
            </a:pPr>
            <a:r>
              <a:rPr lang="en-US" altLang="ko-KR" sz="2200" cap="none" dirty="0">
                <a:ln w="9525" cap="flat" cmpd="sng"/>
                <a:solidFill>
                  <a:srgbClr val="FFFF00"/>
                </a:solidFill>
                <a:highlight>
                  <a:srgbClr val="FF0000"/>
                </a:highlight>
                <a:latin typeface="华文楷体" panose="02010600040101010101" pitchFamily="2" charset="-122"/>
                <a:ea typeface="华文楷体" panose="02010600040101010101" pitchFamily="2" charset="-122"/>
              </a:rPr>
              <a:t>迭代解法</a:t>
            </a:r>
          </a:p>
        </p:txBody>
      </p:sp>
      <p:sp>
        <p:nvSpPr>
          <p:cNvPr id="22" name="矩形 21">
            <a:extLst>
              <a:ext uri="{FF2B5EF4-FFF2-40B4-BE49-F238E27FC236}">
                <a16:creationId xmlns:a16="http://schemas.microsoft.com/office/drawing/2014/main" id="{C75D06D5-87F0-4DB6-BF4C-7E68CE251EC7}"/>
              </a:ext>
            </a:extLst>
          </p:cNvPr>
          <p:cNvSpPr/>
          <p:nvPr/>
        </p:nvSpPr>
        <p:spPr>
          <a:xfrm>
            <a:off x="2231625" y="1910730"/>
            <a:ext cx="1051996" cy="338554"/>
          </a:xfrm>
          <a:prstGeom prst="rect">
            <a:avLst/>
          </a:prstGeom>
          <a:noFill/>
        </p:spPr>
        <p:txBody>
          <a:bodyPr wrap="square">
            <a:spAutoFit/>
          </a:bodyPr>
          <a:lstStyle/>
          <a:p>
            <a:r>
              <a:rPr lang="zh-CN" altLang="en-US" sz="1600" dirty="0">
                <a:solidFill>
                  <a:srgbClr val="FFFF00"/>
                </a:solidFill>
                <a:highlight>
                  <a:srgbClr val="FF0000"/>
                </a:highlight>
                <a:latin typeface="华文楷体" panose="02010600040101010101" pitchFamily="2" charset="-122"/>
                <a:ea typeface="华文楷体" panose="02010600040101010101" pitchFamily="2" charset="-122"/>
              </a:rPr>
              <a:t>函数</a:t>
            </a:r>
            <a:r>
              <a:rPr lang="en-US" altLang="ko-KR" sz="1600" dirty="0" err="1">
                <a:solidFill>
                  <a:srgbClr val="FFFF00"/>
                </a:solidFill>
                <a:highlight>
                  <a:srgbClr val="FF0000"/>
                </a:highlight>
                <a:latin typeface="华文楷体" panose="02010600040101010101" pitchFamily="2" charset="-122"/>
                <a:ea typeface="华文楷体" panose="02010600040101010101" pitchFamily="2" charset="-122"/>
              </a:rPr>
              <a:t>零点</a:t>
            </a:r>
            <a:endParaRPr lang="zh-CN" altLang="en-US" sz="1600" dirty="0">
              <a:solidFill>
                <a:srgbClr val="FFFF00"/>
              </a:solidFill>
              <a:highlight>
                <a:srgbClr val="FF0000"/>
              </a:highlight>
              <a:latin typeface="华文楷体" panose="02010600040101010101" pitchFamily="2" charset="-122"/>
              <a:ea typeface="华文楷体" panose="02010600040101010101" pitchFamily="2" charset="-122"/>
            </a:endParaRPr>
          </a:p>
        </p:txBody>
      </p:sp>
      <p:cxnSp>
        <p:nvCxnSpPr>
          <p:cNvPr id="23" name="直接连接符 22">
            <a:extLst>
              <a:ext uri="{FF2B5EF4-FFF2-40B4-BE49-F238E27FC236}">
                <a16:creationId xmlns:a16="http://schemas.microsoft.com/office/drawing/2014/main" id="{3912B9A9-6B39-4903-B35F-22E41D33DC3E}"/>
              </a:ext>
            </a:extLst>
          </p:cNvPr>
          <p:cNvCxnSpPr>
            <a:cxnSpLocks/>
          </p:cNvCxnSpPr>
          <p:nvPr/>
        </p:nvCxnSpPr>
        <p:spPr>
          <a:xfrm>
            <a:off x="1844310" y="2452737"/>
            <a:ext cx="0" cy="1260139"/>
          </a:xfrm>
          <a:prstGeom prst="line">
            <a:avLst/>
          </a:prstGeom>
          <a:ln>
            <a:solidFill>
              <a:srgbClr val="FF0000"/>
            </a:solidFill>
            <a:prstDash val="dashDot"/>
          </a:ln>
        </p:spPr>
        <p:style>
          <a:lnRef idx="2">
            <a:schemeClr val="accent1"/>
          </a:lnRef>
          <a:fillRef idx="0">
            <a:schemeClr val="accent1"/>
          </a:fillRef>
          <a:effectRef idx="1">
            <a:schemeClr val="accent1"/>
          </a:effectRef>
          <a:fontRef idx="minor">
            <a:schemeClr val="tx1"/>
          </a:fontRef>
        </p:style>
      </p:cxnSp>
      <p:sp>
        <p:nvSpPr>
          <p:cNvPr id="24" name="矩形 23">
            <a:extLst>
              <a:ext uri="{FF2B5EF4-FFF2-40B4-BE49-F238E27FC236}">
                <a16:creationId xmlns:a16="http://schemas.microsoft.com/office/drawing/2014/main" id="{CDBDCCA2-08F4-4203-869C-D65DF24F952F}"/>
              </a:ext>
            </a:extLst>
          </p:cNvPr>
          <p:cNvSpPr/>
          <p:nvPr/>
        </p:nvSpPr>
        <p:spPr>
          <a:xfrm>
            <a:off x="1415940" y="2535415"/>
            <a:ext cx="902811" cy="338554"/>
          </a:xfrm>
          <a:prstGeom prst="rect">
            <a:avLst/>
          </a:prstGeom>
          <a:noFill/>
        </p:spPr>
        <p:txBody>
          <a:bodyPr wrap="square">
            <a:spAutoFit/>
          </a:bodyPr>
          <a:lstStyle/>
          <a:p>
            <a:r>
              <a:rPr lang="zh-CN" altLang="en-US" sz="1600" dirty="0">
                <a:solidFill>
                  <a:srgbClr val="FFFF00"/>
                </a:solidFill>
                <a:highlight>
                  <a:srgbClr val="FF0000"/>
                </a:highlight>
                <a:latin typeface="华文楷体" panose="02010600040101010101" pitchFamily="2" charset="-122"/>
                <a:ea typeface="华文楷体" panose="02010600040101010101" pitchFamily="2" charset="-122"/>
              </a:rPr>
              <a:t>极值点</a:t>
            </a:r>
            <a:r>
              <a:rPr lang="en-US" altLang="zh-CN" sz="1600" dirty="0">
                <a:solidFill>
                  <a:srgbClr val="FFFF00"/>
                </a:solidFill>
                <a:highlight>
                  <a:srgbClr val="FF0000"/>
                </a:highlight>
                <a:latin typeface="华文楷体" panose="02010600040101010101" pitchFamily="2" charset="-122"/>
                <a:ea typeface="华文楷体" panose="02010600040101010101" pitchFamily="2" charset="-122"/>
              </a:rPr>
              <a:t>x</a:t>
            </a:r>
            <a:endParaRPr lang="zh-CN" altLang="en-US" sz="1600" dirty="0">
              <a:solidFill>
                <a:srgbClr val="FFFF00"/>
              </a:solidFill>
              <a:highlight>
                <a:srgbClr val="FF0000"/>
              </a:highlight>
              <a:latin typeface="华文楷体" panose="02010600040101010101" pitchFamily="2" charset="-122"/>
              <a:ea typeface="华文楷体" panose="02010600040101010101" pitchFamily="2" charset="-122"/>
            </a:endParaRPr>
          </a:p>
        </p:txBody>
      </p:sp>
      <p:sp>
        <p:nvSpPr>
          <p:cNvPr id="25" name="形状 24">
            <a:extLst>
              <a:ext uri="{FF2B5EF4-FFF2-40B4-BE49-F238E27FC236}">
                <a16:creationId xmlns:a16="http://schemas.microsoft.com/office/drawing/2014/main" id="{EF26D8BF-4E93-476A-B13E-177E5003B7A0}"/>
              </a:ext>
            </a:extLst>
          </p:cNvPr>
          <p:cNvSpPr/>
          <p:nvPr/>
        </p:nvSpPr>
        <p:spPr>
          <a:xfrm>
            <a:off x="4113224" y="4305459"/>
            <a:ext cx="4907076" cy="457124"/>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marL="0" indent="0" algn="ctr" defTabSz="914400" eaLnBrk="0" fontAlgn="auto" latinLnBrk="0">
              <a:lnSpc>
                <a:spcPct val="100000"/>
              </a:lnSpc>
              <a:spcBef>
                <a:spcPts val="0"/>
              </a:spcBef>
              <a:spcAft>
                <a:spcPts val="0"/>
              </a:spcAft>
              <a:buFontTx/>
              <a:buNone/>
            </a:pPr>
            <a:endParaRPr lang="ko-KR" altLang="en-US" sz="2600" b="1" cap="none" dirty="0">
              <a:solidFill>
                <a:srgbClr val="FFFF00"/>
              </a:solidFill>
              <a:latin typeface="华文楷体" panose="02010600040101010101" pitchFamily="2" charset="-122"/>
              <a:ea typeface="楷体_GB2312" charset="0"/>
            </a:endParaRPr>
          </a:p>
        </p:txBody>
      </p:sp>
      <p:sp>
        <p:nvSpPr>
          <p:cNvPr id="26" name="形状 25">
            <a:extLst>
              <a:ext uri="{FF2B5EF4-FFF2-40B4-BE49-F238E27FC236}">
                <a16:creationId xmlns:a16="http://schemas.microsoft.com/office/drawing/2014/main" id="{46F29690-55A2-4D60-9642-D116296EE943}"/>
              </a:ext>
            </a:extLst>
          </p:cNvPr>
          <p:cNvSpPr/>
          <p:nvPr/>
        </p:nvSpPr>
        <p:spPr>
          <a:xfrm>
            <a:off x="4860032" y="4416945"/>
            <a:ext cx="3342581" cy="323165"/>
          </a:xfrm>
          <a:prstGeom prst="rect">
            <a:avLst/>
          </a:prstGeom>
        </p:spPr>
        <p:txBody>
          <a:bodyPr vert="horz" wrap="square" lIns="91440" tIns="45720" rIns="91440" bIns="45720" anchor="t">
            <a:spAutoFit/>
          </a:bodyPr>
          <a:lstStyle/>
          <a:p>
            <a:pPr marL="0" indent="0" defTabSz="914400" eaLnBrk="0" fontAlgn="auto" latinLnBrk="0">
              <a:lnSpc>
                <a:spcPts val="1800"/>
              </a:lnSpc>
              <a:spcBef>
                <a:spcPts val="0"/>
              </a:spcBef>
              <a:spcAft>
                <a:spcPts val="0"/>
              </a:spcAft>
              <a:buFontTx/>
              <a:buNone/>
            </a:pPr>
            <a:r>
              <a:rPr lang="en-US" altLang="ko-KR" sz="1600" b="1" cap="none" dirty="0">
                <a:solidFill>
                  <a:srgbClr val="FFFF00"/>
                </a:solidFill>
                <a:latin typeface="华文楷体" panose="02010600040101010101" pitchFamily="2" charset="-122"/>
                <a:ea typeface="华文楷体" panose="02010600040101010101" pitchFamily="2" charset="-122"/>
              </a:rPr>
              <a:t> 初值x0</a:t>
            </a:r>
            <a:r>
              <a:rPr lang="zh-CN" altLang="en-US" sz="1600" b="1" cap="none" dirty="0">
                <a:solidFill>
                  <a:srgbClr val="FFFF00"/>
                </a:solidFill>
                <a:latin typeface="华文楷体" panose="02010600040101010101" pitchFamily="2" charset="-122"/>
                <a:ea typeface="华文楷体" panose="02010600040101010101" pitchFamily="2" charset="-122"/>
              </a:rPr>
              <a:t>选择重要，猜测不当无解</a:t>
            </a:r>
            <a:endParaRPr lang="ko-KR" altLang="en-US" sz="1600" b="1" cap="none" dirty="0">
              <a:solidFill>
                <a:srgbClr val="FFFF00"/>
              </a:solidFill>
              <a:latin typeface="华文楷体" panose="02010600040101010101" pitchFamily="2" charset="-122"/>
              <a:ea typeface="微软雅黑" panose="020B0503020204020204" charset="-122"/>
            </a:endParaRPr>
          </a:p>
        </p:txBody>
      </p:sp>
      <p:sp>
        <p:nvSpPr>
          <p:cNvPr id="27" name="矩形 26">
            <a:extLst>
              <a:ext uri="{FF2B5EF4-FFF2-40B4-BE49-F238E27FC236}">
                <a16:creationId xmlns:a16="http://schemas.microsoft.com/office/drawing/2014/main" id="{29EDAAA5-F3C7-4BC4-B5F9-7C126DB1354F}"/>
              </a:ext>
            </a:extLst>
          </p:cNvPr>
          <p:cNvSpPr/>
          <p:nvPr/>
        </p:nvSpPr>
        <p:spPr>
          <a:xfrm>
            <a:off x="5724128" y="2324130"/>
            <a:ext cx="3240360" cy="584775"/>
          </a:xfrm>
          <a:prstGeom prst="rect">
            <a:avLst/>
          </a:prstGeom>
          <a:noFill/>
          <a:ln>
            <a:noFill/>
          </a:ln>
          <a:effectLst/>
          <a:scene3d>
            <a:camera prst="orthographicFront"/>
            <a:lightRig rig="threePt" dir="t"/>
          </a:scene3d>
          <a:sp3d>
            <a:bevelT w="139700" h="139700" prst="divot"/>
          </a:sp3d>
        </p:spPr>
        <p:style>
          <a:lnRef idx="3">
            <a:schemeClr val="lt1"/>
          </a:lnRef>
          <a:fillRef idx="1">
            <a:schemeClr val="accent1"/>
          </a:fillRef>
          <a:effectRef idx="1">
            <a:schemeClr val="accent1"/>
          </a:effectRef>
          <a:fontRef idx="minor">
            <a:schemeClr val="lt1"/>
          </a:fontRef>
        </p:style>
        <p:txBody>
          <a:bodyPr wrap="square">
            <a:spAutoFit/>
          </a:bodyPr>
          <a:lstStyle/>
          <a:p>
            <a:pPr algn="just" defTabSz="685800">
              <a:spcBef>
                <a:spcPts val="0"/>
              </a:spcBef>
              <a:spcAft>
                <a:spcPts val="0"/>
              </a:spcAft>
            </a:pPr>
            <a:r>
              <a:rPr lang="zh-CN" altLang="en-US" sz="1600" b="1" dirty="0">
                <a:solidFill>
                  <a:srgbClr val="FF0000"/>
                </a:solidFill>
                <a:latin typeface="微软雅黑" panose="020B0503020204020204" pitchFamily="34" charset="-122"/>
                <a:ea typeface="微软雅黑" panose="020B0503020204020204" pitchFamily="34" charset="-122"/>
              </a:rPr>
              <a:t>建议数值求根和求极小值时，最好配合目标函数</a:t>
            </a:r>
            <a:r>
              <a:rPr lang="en-US" altLang="ko-KR" sz="1600" b="1" dirty="0">
                <a:solidFill>
                  <a:srgbClr val="FF0000"/>
                </a:solidFill>
                <a:latin typeface="微软雅黑" panose="020B0503020204020204" pitchFamily="34" charset="-122"/>
                <a:ea typeface="微软雅黑" panose="020B0503020204020204" pitchFamily="34" charset="-122"/>
              </a:rPr>
              <a:t>图</a:t>
            </a:r>
            <a:r>
              <a:rPr lang="zh-CN" altLang="en-US" sz="1600" b="1" dirty="0">
                <a:solidFill>
                  <a:srgbClr val="FF0000"/>
                </a:solidFill>
                <a:latin typeface="微软雅黑" panose="020B0503020204020204" pitchFamily="34" charset="-122"/>
                <a:ea typeface="微软雅黑" panose="020B0503020204020204" pitchFamily="34" charset="-122"/>
              </a:rPr>
              <a:t>，确认初始值</a:t>
            </a:r>
            <a:r>
              <a:rPr lang="en-US" altLang="zh-CN" sz="1600" b="1" dirty="0">
                <a:solidFill>
                  <a:srgbClr val="FF0000"/>
                </a:solidFill>
                <a:latin typeface="微软雅黑" panose="020B0503020204020204" pitchFamily="34" charset="-122"/>
                <a:ea typeface="微软雅黑" panose="020B0503020204020204" pitchFamily="34" charset="-122"/>
              </a:rPr>
              <a:t>x0</a:t>
            </a:r>
            <a:endParaRPr lang="ko-KR" altLang="en-US" sz="1600" b="1" dirty="0">
              <a:solidFill>
                <a:srgbClr val="FF0000"/>
              </a:solidFill>
              <a:latin typeface="微软雅黑" panose="020B0503020204020204" pitchFamily="34" charset="-122"/>
            </a:endParaRPr>
          </a:p>
        </p:txBody>
      </p:sp>
      <p:sp>
        <p:nvSpPr>
          <p:cNvPr id="28" name="标题 1">
            <a:extLst>
              <a:ext uri="{FF2B5EF4-FFF2-40B4-BE49-F238E27FC236}">
                <a16:creationId xmlns:a16="http://schemas.microsoft.com/office/drawing/2014/main" id="{FB8E46C6-E1AA-4611-ABA1-1605363C3FC6}"/>
              </a:ext>
            </a:extLst>
          </p:cNvPr>
          <p:cNvSpPr txBox="1">
            <a:spLocks/>
          </p:cNvSpPr>
          <p:nvPr/>
        </p:nvSpPr>
        <p:spPr>
          <a:xfrm>
            <a:off x="755577" y="102161"/>
            <a:ext cx="8370226" cy="438150"/>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800" b="0" dirty="0">
                <a:solidFill>
                  <a:srgbClr val="002060"/>
                </a:solidFill>
                <a:latin typeface="华文楷体" panose="02010600040101010101" pitchFamily="2" charset="-122"/>
                <a:ea typeface="华文楷体" panose="02010600040101010101" pitchFamily="2" charset="-122"/>
              </a:rPr>
              <a:t>§ 8.1 </a:t>
            </a:r>
            <a:r>
              <a:rPr lang="zh-CN" altLang="en-US" sz="2800" b="0" dirty="0">
                <a:solidFill>
                  <a:srgbClr val="002060"/>
                </a:solidFill>
                <a:latin typeface="华文楷体" panose="02010600040101010101" pitchFamily="2" charset="-122"/>
                <a:ea typeface="华文楷体" panose="02010600040101010101" pitchFamily="2" charset="-122"/>
              </a:rPr>
              <a:t>最优化概念原理及特征</a:t>
            </a:r>
            <a:r>
              <a:rPr lang="en-US" altLang="zh-CN" sz="2800" b="0" kern="0" dirty="0">
                <a:solidFill>
                  <a:srgbClr val="FF0000"/>
                </a:solidFill>
                <a:latin typeface="华文楷体" panose="02010600040101010101" pitchFamily="2" charset="-122"/>
                <a:ea typeface="华文楷体" panose="02010600040101010101" pitchFamily="2" charset="-122"/>
              </a:rPr>
              <a:t>——</a:t>
            </a:r>
            <a:r>
              <a:rPr lang="zh-CN" altLang="en-US" sz="2800" b="0" kern="0" dirty="0">
                <a:solidFill>
                  <a:srgbClr val="FF0000"/>
                </a:solidFill>
                <a:latin typeface="华文楷体" panose="02010600040101010101" pitchFamily="2" charset="-122"/>
                <a:ea typeface="华文楷体" panose="02010600040101010101" pitchFamily="2" charset="-122"/>
              </a:rPr>
              <a:t>迭代试错法原理</a:t>
            </a:r>
            <a:endParaRPr lang="zh-CN" altLang="en-US" sz="2800" b="0" kern="0" dirty="0">
              <a:solidFill>
                <a:srgbClr val="00206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123372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8" grpId="0"/>
      <p:bldP spid="19" grpId="0" animBg="1"/>
      <p:bldP spid="20" grpId="0" animBg="1"/>
      <p:bldP spid="21" grpId="0"/>
      <p:bldP spid="22" grpId="0"/>
      <p:bldP spid="24" grpId="0"/>
      <p:bldP spid="25" grpId="0" animBg="1"/>
      <p:bldP spid="26" grpId="0"/>
      <p:bldP spid="2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ED945168-E165-412D-81B9-AF6ECF8D27F9}"/>
              </a:ext>
            </a:extLst>
          </p:cNvPr>
          <p:cNvGraphicFramePr>
            <a:graphicFrameLocks noGrp="1"/>
          </p:cNvGraphicFramePr>
          <p:nvPr>
            <p:extLst>
              <p:ext uri="{D42A27DB-BD31-4B8C-83A1-F6EECF244321}">
                <p14:modId xmlns:p14="http://schemas.microsoft.com/office/powerpoint/2010/main" val="2829791420"/>
              </p:ext>
            </p:extLst>
          </p:nvPr>
        </p:nvGraphicFramePr>
        <p:xfrm>
          <a:off x="345067" y="1907586"/>
          <a:ext cx="8515415" cy="2608380"/>
        </p:xfrm>
        <a:graphic>
          <a:graphicData uri="http://schemas.openxmlformats.org/drawingml/2006/table">
            <a:tbl>
              <a:tblPr firstRow="1" firstCol="1" bandRow="1">
                <a:tableStyleId>{5C22544A-7EE6-4342-B048-85BDC9FD1C3A}</a:tableStyleId>
              </a:tblPr>
              <a:tblGrid>
                <a:gridCol w="1893762">
                  <a:extLst>
                    <a:ext uri="{9D8B030D-6E8A-4147-A177-3AD203B41FA5}">
                      <a16:colId xmlns:a16="http://schemas.microsoft.com/office/drawing/2014/main" val="1343060684"/>
                    </a:ext>
                  </a:extLst>
                </a:gridCol>
                <a:gridCol w="4370221">
                  <a:extLst>
                    <a:ext uri="{9D8B030D-6E8A-4147-A177-3AD203B41FA5}">
                      <a16:colId xmlns:a16="http://schemas.microsoft.com/office/drawing/2014/main" val="2335216123"/>
                    </a:ext>
                  </a:extLst>
                </a:gridCol>
                <a:gridCol w="2251432">
                  <a:extLst>
                    <a:ext uri="{9D8B030D-6E8A-4147-A177-3AD203B41FA5}">
                      <a16:colId xmlns:a16="http://schemas.microsoft.com/office/drawing/2014/main" val="495816319"/>
                    </a:ext>
                  </a:extLst>
                </a:gridCol>
              </a:tblGrid>
              <a:tr h="0">
                <a:tc>
                  <a:txBody>
                    <a:bodyPr/>
                    <a:lstStyle/>
                    <a:p>
                      <a:pPr algn="l"/>
                      <a:r>
                        <a:rPr lang="zh-CN" sz="1400" kern="0">
                          <a:effectLst/>
                        </a:rPr>
                        <a:t>类型</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5942" marR="65942" marT="39565" marB="39565" anchor="ctr">
                    <a:solidFill>
                      <a:srgbClr val="0070C0"/>
                    </a:solidFill>
                  </a:tcPr>
                </a:tc>
                <a:tc>
                  <a:txBody>
                    <a:bodyPr/>
                    <a:lstStyle/>
                    <a:p>
                      <a:pPr algn="l"/>
                      <a:r>
                        <a:rPr lang="zh-CN" sz="1400" kern="0" dirty="0">
                          <a:solidFill>
                            <a:schemeClr val="bg1"/>
                          </a:solidFill>
                          <a:effectLst/>
                        </a:rPr>
                        <a:t>问题表示</a:t>
                      </a:r>
                      <a:endParaRPr lang="zh-CN" sz="1400"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txBody>
                  <a:tcPr marL="65942" marR="65942" marT="39565" marB="39565" anchor="ctr">
                    <a:solidFill>
                      <a:srgbClr val="0070C0"/>
                    </a:solidFill>
                  </a:tcPr>
                </a:tc>
                <a:tc>
                  <a:txBody>
                    <a:bodyPr/>
                    <a:lstStyle/>
                    <a:p>
                      <a:pPr algn="l"/>
                      <a:r>
                        <a:rPr lang="zh-CN" sz="1400" kern="0" dirty="0">
                          <a:effectLst/>
                        </a:rPr>
                        <a:t>求解器</a:t>
                      </a:r>
                      <a:r>
                        <a:rPr lang="zh-CN" altLang="en-US" sz="1400" kern="0" dirty="0">
                          <a:effectLst/>
                        </a:rPr>
                        <a:t>即优化函数命令</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5942" marR="65942" marT="39565" marB="39565" anchor="ctr">
                    <a:solidFill>
                      <a:srgbClr val="0070C0"/>
                    </a:solidFill>
                  </a:tcPr>
                </a:tc>
                <a:extLst>
                  <a:ext uri="{0D108BD9-81ED-4DB2-BD59-A6C34878D82A}">
                    <a16:rowId xmlns:a16="http://schemas.microsoft.com/office/drawing/2014/main" val="1420011098"/>
                  </a:ext>
                </a:extLst>
              </a:tr>
              <a:tr h="168617">
                <a:tc>
                  <a:txBody>
                    <a:bodyPr/>
                    <a:lstStyle/>
                    <a:p>
                      <a:pPr algn="l"/>
                      <a:r>
                        <a:rPr lang="zh-CN" sz="1400" kern="0">
                          <a:effectLst/>
                        </a:rPr>
                        <a:t>线性规划</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5942" marR="65942" marT="39565" marB="39565" anchor="ctr">
                    <a:solidFill>
                      <a:srgbClr val="0070C0"/>
                    </a:solidFill>
                  </a:tcPr>
                </a:tc>
                <a:tc>
                  <a:txBody>
                    <a:bodyPr/>
                    <a:lstStyle/>
                    <a:p>
                      <a:pPr algn="l"/>
                      <a:r>
                        <a:rPr lang="en-US" sz="1400" kern="0" dirty="0" err="1">
                          <a:solidFill>
                            <a:schemeClr val="bg1"/>
                          </a:solidFill>
                          <a:effectLst/>
                        </a:rPr>
                        <a:t>minxfTx</a:t>
                      </a:r>
                      <a:br>
                        <a:rPr lang="en-US" sz="1400" kern="0" dirty="0">
                          <a:solidFill>
                            <a:schemeClr val="bg1"/>
                          </a:solidFill>
                          <a:effectLst/>
                        </a:rPr>
                      </a:br>
                      <a:r>
                        <a:rPr lang="zh-CN" sz="1400" kern="0" dirty="0">
                          <a:solidFill>
                            <a:schemeClr val="bg1"/>
                          </a:solidFill>
                          <a:effectLst/>
                        </a:rPr>
                        <a:t>满足</a:t>
                      </a:r>
                      <a:r>
                        <a:rPr lang="en-US" sz="1400" kern="0" dirty="0" err="1">
                          <a:solidFill>
                            <a:schemeClr val="bg1"/>
                          </a:solidFill>
                          <a:effectLst/>
                        </a:rPr>
                        <a:t>A⋅x≤b,Aeq⋅x</a:t>
                      </a:r>
                      <a:r>
                        <a:rPr lang="en-US" sz="1400" kern="0" dirty="0">
                          <a:solidFill>
                            <a:schemeClr val="bg1"/>
                          </a:solidFill>
                          <a:effectLst/>
                        </a:rPr>
                        <a:t>=</a:t>
                      </a:r>
                      <a:r>
                        <a:rPr lang="en-US" sz="1400" kern="0" dirty="0" err="1">
                          <a:solidFill>
                            <a:schemeClr val="bg1"/>
                          </a:solidFill>
                          <a:effectLst/>
                        </a:rPr>
                        <a:t>beq,lb≤x≤ub</a:t>
                      </a:r>
                      <a:endParaRPr lang="zh-CN" sz="1400"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txBody>
                  <a:tcPr marL="65942" marR="65942" marT="39565" marB="39565" anchor="ctr">
                    <a:solidFill>
                      <a:srgbClr val="0070C0"/>
                    </a:solidFill>
                  </a:tcPr>
                </a:tc>
                <a:tc>
                  <a:txBody>
                    <a:bodyPr/>
                    <a:lstStyle/>
                    <a:p>
                      <a:pPr algn="l"/>
                      <a:r>
                        <a:rPr lang="en-US" sz="1400" u="none" kern="0" dirty="0" err="1">
                          <a:solidFill>
                            <a:schemeClr val="bg1"/>
                          </a:solidFill>
                          <a:effectLst/>
                          <a:highlight>
                            <a:srgbClr val="3399FF"/>
                          </a:highlight>
                          <a:latin typeface="+mn-lt"/>
                          <a:ea typeface="+mn-ea"/>
                          <a:cs typeface="+mn-cs"/>
                          <a:hlinkClick r:id="rId2">
                            <a:extLst>
                              <a:ext uri="{A12FA001-AC4F-418D-AE19-62706E023703}">
                                <ahyp:hlinkClr xmlns:ahyp="http://schemas.microsoft.com/office/drawing/2018/hyperlinkcolor" val="tx"/>
                              </a:ext>
                            </a:extLst>
                          </a:hlinkClick>
                        </a:rPr>
                        <a:t>linprog</a:t>
                      </a:r>
                      <a:endParaRPr lang="zh-CN" altLang="en-US" sz="1400" u="none" kern="0" dirty="0">
                        <a:solidFill>
                          <a:schemeClr val="bg1"/>
                        </a:solidFill>
                        <a:effectLst/>
                        <a:highlight>
                          <a:srgbClr val="3399FF"/>
                        </a:highlight>
                        <a:latin typeface="+mn-lt"/>
                        <a:ea typeface="+mn-ea"/>
                        <a:cs typeface="+mn-cs"/>
                      </a:endParaRPr>
                    </a:p>
                  </a:txBody>
                  <a:tcPr marL="65942" marR="65942" marT="39565" marB="39565" anchor="ctr">
                    <a:solidFill>
                      <a:srgbClr val="0070C0"/>
                    </a:solidFill>
                  </a:tcPr>
                </a:tc>
                <a:extLst>
                  <a:ext uri="{0D108BD9-81ED-4DB2-BD59-A6C34878D82A}">
                    <a16:rowId xmlns:a16="http://schemas.microsoft.com/office/drawing/2014/main" val="3017610907"/>
                  </a:ext>
                </a:extLst>
              </a:tr>
              <a:tr h="337233">
                <a:tc>
                  <a:txBody>
                    <a:bodyPr/>
                    <a:lstStyle/>
                    <a:p>
                      <a:pPr algn="l"/>
                      <a:r>
                        <a:rPr lang="zh-CN" sz="1400" kern="0">
                          <a:effectLst/>
                        </a:rPr>
                        <a:t>二次规划</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5942" marR="65942" marT="39565" marB="39565" anchor="ctr">
                    <a:solidFill>
                      <a:srgbClr val="0070C0"/>
                    </a:solidFill>
                  </a:tcPr>
                </a:tc>
                <a:tc>
                  <a:txBody>
                    <a:bodyPr/>
                    <a:lstStyle/>
                    <a:p>
                      <a:pPr algn="l"/>
                      <a:r>
                        <a:rPr lang="en-US" sz="1400" kern="0" dirty="0">
                          <a:solidFill>
                            <a:schemeClr val="bg1"/>
                          </a:solidFill>
                          <a:effectLst/>
                        </a:rPr>
                        <a:t>minx⁡12xTHx+cTx</a:t>
                      </a:r>
                      <a:br>
                        <a:rPr lang="en-US" sz="1400" kern="0" dirty="0">
                          <a:solidFill>
                            <a:schemeClr val="bg1"/>
                          </a:solidFill>
                          <a:effectLst/>
                        </a:rPr>
                      </a:br>
                      <a:r>
                        <a:rPr lang="zh-CN" sz="1400" kern="0" dirty="0">
                          <a:solidFill>
                            <a:schemeClr val="bg1"/>
                          </a:solidFill>
                          <a:effectLst/>
                        </a:rPr>
                        <a:t>满足</a:t>
                      </a:r>
                      <a:r>
                        <a:rPr lang="en-US" sz="1400" kern="0" dirty="0" err="1">
                          <a:solidFill>
                            <a:schemeClr val="bg1"/>
                          </a:solidFill>
                          <a:effectLst/>
                        </a:rPr>
                        <a:t>A⋅x≤b</a:t>
                      </a:r>
                      <a:r>
                        <a:rPr lang="en-US" sz="1400" kern="0" dirty="0">
                          <a:solidFill>
                            <a:schemeClr val="bg1"/>
                          </a:solidFill>
                          <a:effectLst/>
                        </a:rPr>
                        <a:t>, </a:t>
                      </a:r>
                      <a:r>
                        <a:rPr lang="en-US" sz="1400" kern="0" dirty="0" err="1">
                          <a:solidFill>
                            <a:schemeClr val="bg1"/>
                          </a:solidFill>
                          <a:effectLst/>
                        </a:rPr>
                        <a:t>Aeq⋅x</a:t>
                      </a:r>
                      <a:r>
                        <a:rPr lang="en-US" sz="1400" kern="0" dirty="0">
                          <a:solidFill>
                            <a:schemeClr val="bg1"/>
                          </a:solidFill>
                          <a:effectLst/>
                        </a:rPr>
                        <a:t>=</a:t>
                      </a:r>
                      <a:r>
                        <a:rPr lang="en-US" sz="1400" kern="0" dirty="0" err="1">
                          <a:solidFill>
                            <a:schemeClr val="bg1"/>
                          </a:solidFill>
                          <a:effectLst/>
                        </a:rPr>
                        <a:t>bedq</a:t>
                      </a:r>
                      <a:r>
                        <a:rPr lang="en-US" sz="1400" kern="0" dirty="0">
                          <a:solidFill>
                            <a:schemeClr val="bg1"/>
                          </a:solidFill>
                          <a:effectLst/>
                        </a:rPr>
                        <a:t>, </a:t>
                      </a:r>
                      <a:r>
                        <a:rPr lang="en-US" sz="1400" kern="0" dirty="0" err="1">
                          <a:solidFill>
                            <a:schemeClr val="bg1"/>
                          </a:solidFill>
                          <a:effectLst/>
                        </a:rPr>
                        <a:t>lb≤x≤ub</a:t>
                      </a:r>
                      <a:endParaRPr lang="zh-CN" sz="1400"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txBody>
                  <a:tcPr marL="65942" marR="65942" marT="39565" marB="39565" anchor="ctr">
                    <a:solidFill>
                      <a:srgbClr val="0070C0"/>
                    </a:solidFill>
                  </a:tcPr>
                </a:tc>
                <a:tc>
                  <a:txBody>
                    <a:bodyPr/>
                    <a:lstStyle/>
                    <a:p>
                      <a:pPr algn="l"/>
                      <a:r>
                        <a:rPr lang="en-US" sz="1400" u="none" kern="0" dirty="0" err="1">
                          <a:solidFill>
                            <a:schemeClr val="bg1"/>
                          </a:solidFill>
                          <a:effectLst/>
                          <a:highlight>
                            <a:srgbClr val="3399FF"/>
                          </a:highlight>
                          <a:latin typeface="+mn-lt"/>
                          <a:ea typeface="+mn-ea"/>
                          <a:cs typeface="+mn-cs"/>
                          <a:hlinkClick r:id="rId3">
                            <a:extLst>
                              <a:ext uri="{A12FA001-AC4F-418D-AE19-62706E023703}">
                                <ahyp:hlinkClr xmlns:ahyp="http://schemas.microsoft.com/office/drawing/2018/hyperlinkcolor" val="tx"/>
                              </a:ext>
                            </a:extLst>
                          </a:hlinkClick>
                        </a:rPr>
                        <a:t>quadprog</a:t>
                      </a:r>
                      <a:endParaRPr lang="zh-CN" altLang="en-US" sz="1400" u="none" kern="0" dirty="0">
                        <a:solidFill>
                          <a:schemeClr val="bg1"/>
                        </a:solidFill>
                        <a:effectLst/>
                        <a:highlight>
                          <a:srgbClr val="3399FF"/>
                        </a:highlight>
                        <a:latin typeface="+mn-lt"/>
                        <a:ea typeface="+mn-ea"/>
                        <a:cs typeface="+mn-cs"/>
                      </a:endParaRPr>
                    </a:p>
                  </a:txBody>
                  <a:tcPr marL="65942" marR="65942" marT="39565" marB="39565" anchor="ctr">
                    <a:solidFill>
                      <a:srgbClr val="0070C0"/>
                    </a:solidFill>
                  </a:tcPr>
                </a:tc>
                <a:extLst>
                  <a:ext uri="{0D108BD9-81ED-4DB2-BD59-A6C34878D82A}">
                    <a16:rowId xmlns:a16="http://schemas.microsoft.com/office/drawing/2014/main" val="1696495461"/>
                  </a:ext>
                </a:extLst>
              </a:tr>
              <a:tr h="168617">
                <a:tc>
                  <a:txBody>
                    <a:bodyPr/>
                    <a:lstStyle/>
                    <a:p>
                      <a:pPr algn="l"/>
                      <a:r>
                        <a:rPr lang="zh-CN" sz="1400" kern="0" dirty="0">
                          <a:effectLst/>
                        </a:rPr>
                        <a:t>标量最小化</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5942" marR="65942" marT="39565" marB="39565" anchor="ctr">
                    <a:solidFill>
                      <a:srgbClr val="0070C0"/>
                    </a:solidFill>
                  </a:tcPr>
                </a:tc>
                <a:tc>
                  <a:txBody>
                    <a:bodyPr/>
                    <a:lstStyle/>
                    <a:p>
                      <a:pPr algn="l"/>
                      <a:r>
                        <a:rPr lang="en-US" sz="1400" kern="0" dirty="0" err="1">
                          <a:solidFill>
                            <a:schemeClr val="bg1"/>
                          </a:solidFill>
                          <a:effectLst/>
                          <a:latin typeface="微软雅黑" panose="020B0503020204020204" pitchFamily="34" charset="-122"/>
                          <a:ea typeface="微软雅黑" panose="020B0503020204020204" pitchFamily="34" charset="-122"/>
                        </a:rPr>
                        <a:t>minx⁡f</a:t>
                      </a:r>
                      <a:r>
                        <a:rPr lang="en-US" sz="1400" kern="0" dirty="0">
                          <a:solidFill>
                            <a:schemeClr val="bg1"/>
                          </a:solidFill>
                          <a:effectLst/>
                          <a:latin typeface="微软雅黑" panose="020B0503020204020204" pitchFamily="34" charset="-122"/>
                          <a:ea typeface="微软雅黑" panose="020B0503020204020204" pitchFamily="34" charset="-122"/>
                        </a:rPr>
                        <a:t>(x)</a:t>
                      </a:r>
                      <a:br>
                        <a:rPr lang="en-US" sz="1400" kern="0" dirty="0">
                          <a:solidFill>
                            <a:schemeClr val="bg1"/>
                          </a:solidFill>
                          <a:effectLst/>
                          <a:latin typeface="微软雅黑" panose="020B0503020204020204" pitchFamily="34" charset="-122"/>
                          <a:ea typeface="微软雅黑" panose="020B0503020204020204" pitchFamily="34" charset="-122"/>
                        </a:rPr>
                      </a:br>
                      <a:r>
                        <a:rPr lang="zh-CN" sz="1400" kern="0" dirty="0">
                          <a:solidFill>
                            <a:schemeClr val="bg1"/>
                          </a:solidFill>
                          <a:effectLst/>
                          <a:latin typeface="微软雅黑" panose="020B0503020204020204" pitchFamily="34" charset="-122"/>
                          <a:ea typeface="微软雅黑" panose="020B0503020204020204" pitchFamily="34" charset="-122"/>
                        </a:rPr>
                        <a:t>满足</a:t>
                      </a:r>
                      <a:r>
                        <a:rPr lang="en-US" sz="1400" kern="0" dirty="0" err="1">
                          <a:solidFill>
                            <a:schemeClr val="bg1"/>
                          </a:solidFill>
                          <a:effectLst/>
                          <a:latin typeface="微软雅黑" panose="020B0503020204020204" pitchFamily="34" charset="-122"/>
                          <a:ea typeface="微软雅黑" panose="020B0503020204020204" pitchFamily="34" charset="-122"/>
                        </a:rPr>
                        <a:t>lb≤x≤ub</a:t>
                      </a:r>
                      <a:r>
                        <a:rPr lang="zh-CN" sz="1400" kern="0" dirty="0">
                          <a:solidFill>
                            <a:schemeClr val="bg1"/>
                          </a:solidFill>
                          <a:effectLst/>
                          <a:latin typeface="微软雅黑" panose="020B0503020204020204" pitchFamily="34" charset="-122"/>
                          <a:ea typeface="微软雅黑" panose="020B0503020204020204" pitchFamily="34" charset="-122"/>
                        </a:rPr>
                        <a:t>（</a:t>
                      </a:r>
                      <a:r>
                        <a:rPr lang="en-US" sz="1400" kern="0" dirty="0">
                          <a:solidFill>
                            <a:schemeClr val="bg1"/>
                          </a:solidFill>
                          <a:effectLst/>
                          <a:latin typeface="微软雅黑" panose="020B0503020204020204" pitchFamily="34" charset="-122"/>
                          <a:ea typeface="微软雅黑" panose="020B0503020204020204" pitchFamily="34" charset="-122"/>
                        </a:rPr>
                        <a:t>x </a:t>
                      </a:r>
                      <a:r>
                        <a:rPr lang="zh-CN" sz="1400" kern="0" dirty="0">
                          <a:solidFill>
                            <a:schemeClr val="bg1"/>
                          </a:solidFill>
                          <a:effectLst/>
                          <a:latin typeface="微软雅黑" panose="020B0503020204020204" pitchFamily="34" charset="-122"/>
                          <a:ea typeface="微软雅黑" panose="020B0503020204020204" pitchFamily="34" charset="-122"/>
                        </a:rPr>
                        <a:t>是标量）</a:t>
                      </a:r>
                      <a:endParaRPr lang="zh-CN" sz="14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5942" marR="65942" marT="39565" marB="39565" anchor="ctr">
                    <a:solidFill>
                      <a:srgbClr val="0070C0"/>
                    </a:solidFill>
                  </a:tcPr>
                </a:tc>
                <a:tc>
                  <a:txBody>
                    <a:bodyPr/>
                    <a:lstStyle/>
                    <a:p>
                      <a:pPr algn="l"/>
                      <a:r>
                        <a:rPr lang="en-US" sz="1400" u="none" kern="0" dirty="0" err="1">
                          <a:solidFill>
                            <a:schemeClr val="bg1"/>
                          </a:solidFill>
                          <a:effectLst/>
                          <a:highlight>
                            <a:srgbClr val="3399FF"/>
                          </a:highlight>
                          <a:latin typeface="+mn-lt"/>
                          <a:ea typeface="+mn-ea"/>
                          <a:cs typeface="+mn-cs"/>
                          <a:hlinkClick r:id="rId4">
                            <a:extLst>
                              <a:ext uri="{A12FA001-AC4F-418D-AE19-62706E023703}">
                                <ahyp:hlinkClr xmlns:ahyp="http://schemas.microsoft.com/office/drawing/2018/hyperlinkcolor" val="tx"/>
                              </a:ext>
                            </a:extLst>
                          </a:hlinkClick>
                        </a:rPr>
                        <a:t>fminbnd</a:t>
                      </a:r>
                      <a:endParaRPr lang="zh-CN" altLang="en-US" sz="1400" u="none" kern="0" dirty="0">
                        <a:solidFill>
                          <a:schemeClr val="bg1"/>
                        </a:solidFill>
                        <a:effectLst/>
                        <a:highlight>
                          <a:srgbClr val="3399FF"/>
                        </a:highlight>
                        <a:latin typeface="+mn-lt"/>
                        <a:ea typeface="+mn-ea"/>
                        <a:cs typeface="+mn-cs"/>
                      </a:endParaRPr>
                    </a:p>
                  </a:txBody>
                  <a:tcPr marL="65942" marR="65942" marT="39565" marB="39565" anchor="ctr">
                    <a:solidFill>
                      <a:srgbClr val="0070C0"/>
                    </a:solidFill>
                  </a:tcPr>
                </a:tc>
                <a:extLst>
                  <a:ext uri="{0D108BD9-81ED-4DB2-BD59-A6C34878D82A}">
                    <a16:rowId xmlns:a16="http://schemas.microsoft.com/office/drawing/2014/main" val="4211311971"/>
                  </a:ext>
                </a:extLst>
              </a:tr>
              <a:tr h="146245">
                <a:tc>
                  <a:txBody>
                    <a:bodyPr/>
                    <a:lstStyle/>
                    <a:p>
                      <a:pPr algn="l"/>
                      <a:r>
                        <a:rPr lang="zh-CN" sz="1400" kern="0" dirty="0">
                          <a:effectLst/>
                        </a:rPr>
                        <a:t>无约束最小化</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5942" marR="65942" marT="39565" marB="39565" anchor="ctr">
                    <a:solidFill>
                      <a:srgbClr val="0070C0"/>
                    </a:solidFill>
                  </a:tcPr>
                </a:tc>
                <a:tc>
                  <a:txBody>
                    <a:bodyPr/>
                    <a:lstStyle/>
                    <a:p>
                      <a:pPr algn="l"/>
                      <a:r>
                        <a:rPr lang="en-US" sz="1400" kern="0" dirty="0" err="1">
                          <a:solidFill>
                            <a:schemeClr val="bg1"/>
                          </a:solidFill>
                          <a:effectLst/>
                        </a:rPr>
                        <a:t>minx⁡f</a:t>
                      </a:r>
                      <a:r>
                        <a:rPr lang="en-US" sz="1400" kern="0" dirty="0">
                          <a:solidFill>
                            <a:schemeClr val="bg1"/>
                          </a:solidFill>
                          <a:effectLst/>
                        </a:rPr>
                        <a:t>(x)</a:t>
                      </a:r>
                      <a:endParaRPr lang="zh-CN" sz="1400"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txBody>
                  <a:tcPr marL="65942" marR="65942" marT="39565" marB="39565" anchor="ctr">
                    <a:solidFill>
                      <a:srgbClr val="0070C0"/>
                    </a:solidFill>
                  </a:tcPr>
                </a:tc>
                <a:tc>
                  <a:txBody>
                    <a:bodyPr/>
                    <a:lstStyle/>
                    <a:p>
                      <a:pPr algn="l"/>
                      <a:r>
                        <a:rPr lang="en-US" sz="1400" u="none" kern="0" dirty="0" err="1">
                          <a:solidFill>
                            <a:schemeClr val="bg1"/>
                          </a:solidFill>
                          <a:effectLst/>
                          <a:highlight>
                            <a:srgbClr val="3399FF"/>
                          </a:highlight>
                          <a:latin typeface="+mn-lt"/>
                          <a:ea typeface="+mn-ea"/>
                          <a:cs typeface="+mn-cs"/>
                          <a:hlinkClick r:id="rId5">
                            <a:extLst>
                              <a:ext uri="{A12FA001-AC4F-418D-AE19-62706E023703}">
                                <ahyp:hlinkClr xmlns:ahyp="http://schemas.microsoft.com/office/drawing/2018/hyperlinkcolor" val="tx"/>
                              </a:ext>
                            </a:extLst>
                          </a:hlinkClick>
                        </a:rPr>
                        <a:t>fminunc</a:t>
                      </a:r>
                      <a:r>
                        <a:rPr lang="zh-CN" altLang="en-US" sz="1400" u="none" kern="0" dirty="0">
                          <a:solidFill>
                            <a:schemeClr val="bg1"/>
                          </a:solidFill>
                          <a:effectLst/>
                          <a:highlight>
                            <a:srgbClr val="3399FF"/>
                          </a:highlight>
                          <a:latin typeface="+mn-lt"/>
                          <a:ea typeface="+mn-ea"/>
                          <a:cs typeface="+mn-cs"/>
                        </a:rPr>
                        <a:t>、</a:t>
                      </a:r>
                      <a:r>
                        <a:rPr lang="en-US" sz="1400" u="none" kern="0" dirty="0">
                          <a:solidFill>
                            <a:schemeClr val="bg1"/>
                          </a:solidFill>
                          <a:effectLst/>
                          <a:highlight>
                            <a:srgbClr val="3399FF"/>
                          </a:highlight>
                          <a:latin typeface="+mn-lt"/>
                          <a:ea typeface="+mn-ea"/>
                          <a:cs typeface="+mn-cs"/>
                          <a:hlinkClick r:id="rId6">
                            <a:extLst>
                              <a:ext uri="{A12FA001-AC4F-418D-AE19-62706E023703}">
                                <ahyp:hlinkClr xmlns:ahyp="http://schemas.microsoft.com/office/drawing/2018/hyperlinkcolor" val="tx"/>
                              </a:ext>
                            </a:extLst>
                          </a:hlinkClick>
                        </a:rPr>
                        <a:t>fminsearch</a:t>
                      </a:r>
                      <a:endParaRPr lang="zh-CN" altLang="en-US" sz="1400" u="none" kern="0" dirty="0">
                        <a:solidFill>
                          <a:schemeClr val="bg1"/>
                        </a:solidFill>
                        <a:effectLst/>
                        <a:highlight>
                          <a:srgbClr val="3399FF"/>
                        </a:highlight>
                        <a:latin typeface="+mn-lt"/>
                        <a:ea typeface="+mn-ea"/>
                        <a:cs typeface="+mn-cs"/>
                      </a:endParaRPr>
                    </a:p>
                  </a:txBody>
                  <a:tcPr marL="65942" marR="65942" marT="39565" marB="39565" anchor="ctr">
                    <a:solidFill>
                      <a:srgbClr val="0070C0"/>
                    </a:solidFill>
                  </a:tcPr>
                </a:tc>
                <a:extLst>
                  <a:ext uri="{0D108BD9-81ED-4DB2-BD59-A6C34878D82A}">
                    <a16:rowId xmlns:a16="http://schemas.microsoft.com/office/drawing/2014/main" val="1685072875"/>
                  </a:ext>
                </a:extLst>
              </a:tr>
              <a:tr h="146245">
                <a:tc>
                  <a:txBody>
                    <a:bodyPr/>
                    <a:lstStyle/>
                    <a:p>
                      <a:pPr algn="l"/>
                      <a:r>
                        <a:rPr lang="zh-CN" sz="1400" kern="0" dirty="0">
                          <a:effectLst/>
                        </a:rPr>
                        <a:t>约束最小化</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5942" marR="65942" marT="39565" marB="39565" anchor="ctr">
                    <a:solidFill>
                      <a:srgbClr val="0070C0"/>
                    </a:solidFill>
                  </a:tcPr>
                </a:tc>
                <a:tc>
                  <a:txBody>
                    <a:bodyPr/>
                    <a:lstStyle/>
                    <a:p>
                      <a:pPr algn="l"/>
                      <a:r>
                        <a:rPr lang="en-US" sz="1400" kern="0" dirty="0" err="1">
                          <a:solidFill>
                            <a:schemeClr val="bg1"/>
                          </a:solidFill>
                          <a:effectLst/>
                        </a:rPr>
                        <a:t>minx⁡f</a:t>
                      </a:r>
                      <a:r>
                        <a:rPr lang="en-US" sz="1400" kern="0" dirty="0">
                          <a:solidFill>
                            <a:schemeClr val="bg1"/>
                          </a:solidFill>
                          <a:effectLst/>
                        </a:rPr>
                        <a:t>(x)</a:t>
                      </a:r>
                      <a:br>
                        <a:rPr lang="en-US" sz="1400" kern="0" dirty="0">
                          <a:solidFill>
                            <a:schemeClr val="bg1"/>
                          </a:solidFill>
                          <a:effectLst/>
                        </a:rPr>
                      </a:br>
                      <a:r>
                        <a:rPr lang="zh-CN" sz="1400" kern="0" dirty="0">
                          <a:solidFill>
                            <a:schemeClr val="bg1"/>
                          </a:solidFill>
                          <a:effectLst/>
                        </a:rPr>
                        <a:t>满足</a:t>
                      </a:r>
                      <a:r>
                        <a:rPr lang="en-US" sz="1400" kern="0" dirty="0">
                          <a:solidFill>
                            <a:schemeClr val="bg1"/>
                          </a:solidFill>
                          <a:effectLst/>
                        </a:rPr>
                        <a:t>c(x)≤0,ceq(x)=0,A⋅x≤b,Aeq⋅x=</a:t>
                      </a:r>
                      <a:r>
                        <a:rPr lang="en-US" sz="1400" kern="0" dirty="0" err="1">
                          <a:solidFill>
                            <a:schemeClr val="bg1"/>
                          </a:solidFill>
                          <a:effectLst/>
                        </a:rPr>
                        <a:t>beq,lb≤x≤ub</a:t>
                      </a:r>
                      <a:endParaRPr lang="zh-CN" sz="1400"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a:txBody>
                  <a:tcPr marL="65942" marR="65942" marT="39565" marB="39565" anchor="ctr">
                    <a:solidFill>
                      <a:srgbClr val="0070C0"/>
                    </a:solidFill>
                  </a:tcPr>
                </a:tc>
                <a:tc>
                  <a:txBody>
                    <a:bodyPr/>
                    <a:lstStyle/>
                    <a:p>
                      <a:pPr algn="l"/>
                      <a:r>
                        <a:rPr lang="en-US" sz="1400" u="none" kern="0" dirty="0" err="1">
                          <a:solidFill>
                            <a:schemeClr val="bg1"/>
                          </a:solidFill>
                          <a:effectLst/>
                          <a:highlight>
                            <a:srgbClr val="3399FF"/>
                          </a:highlight>
                          <a:latin typeface="+mn-lt"/>
                          <a:ea typeface="+mn-ea"/>
                          <a:cs typeface="+mn-cs"/>
                          <a:hlinkClick r:id="rId7">
                            <a:extLst>
                              <a:ext uri="{A12FA001-AC4F-418D-AE19-62706E023703}">
                                <ahyp:hlinkClr xmlns:ahyp="http://schemas.microsoft.com/office/drawing/2018/hyperlinkcolor" val="tx"/>
                              </a:ext>
                            </a:extLst>
                          </a:hlinkClick>
                        </a:rPr>
                        <a:t>fmincon</a:t>
                      </a:r>
                      <a:endParaRPr lang="zh-CN" altLang="en-US" sz="1400" u="none" kern="0" dirty="0">
                        <a:solidFill>
                          <a:schemeClr val="bg1"/>
                        </a:solidFill>
                        <a:effectLst/>
                        <a:highlight>
                          <a:srgbClr val="3399FF"/>
                        </a:highlight>
                        <a:latin typeface="+mn-lt"/>
                        <a:ea typeface="+mn-ea"/>
                        <a:cs typeface="+mn-cs"/>
                      </a:endParaRPr>
                    </a:p>
                  </a:txBody>
                  <a:tcPr marL="65942" marR="65942" marT="39565" marB="39565" anchor="ctr">
                    <a:solidFill>
                      <a:srgbClr val="0070C0"/>
                    </a:solidFill>
                  </a:tcPr>
                </a:tc>
                <a:extLst>
                  <a:ext uri="{0D108BD9-81ED-4DB2-BD59-A6C34878D82A}">
                    <a16:rowId xmlns:a16="http://schemas.microsoft.com/office/drawing/2014/main" val="2747326265"/>
                  </a:ext>
                </a:extLst>
              </a:tr>
            </a:tbl>
          </a:graphicData>
        </a:graphic>
      </p:graphicFrame>
      <p:sp>
        <p:nvSpPr>
          <p:cNvPr id="6" name="标题 1">
            <a:extLst>
              <a:ext uri="{FF2B5EF4-FFF2-40B4-BE49-F238E27FC236}">
                <a16:creationId xmlns:a16="http://schemas.microsoft.com/office/drawing/2014/main" id="{B547D2F5-8080-42F2-8A6C-63D70EB3EDEF}"/>
              </a:ext>
            </a:extLst>
          </p:cNvPr>
          <p:cNvSpPr txBox="1">
            <a:spLocks/>
          </p:cNvSpPr>
          <p:nvPr/>
        </p:nvSpPr>
        <p:spPr>
          <a:xfrm>
            <a:off x="1259632" y="195486"/>
            <a:ext cx="7056784" cy="438150"/>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600" b="0" dirty="0">
                <a:solidFill>
                  <a:srgbClr val="002060"/>
                </a:solidFill>
                <a:latin typeface="华文楷体" panose="02010600040101010101" pitchFamily="2" charset="-122"/>
                <a:ea typeface="华文楷体" panose="02010600040101010101" pitchFamily="2" charset="-122"/>
              </a:rPr>
              <a:t>§8.1 </a:t>
            </a:r>
            <a:r>
              <a:rPr lang="zh-CN" altLang="en-US" sz="2600" b="0" dirty="0">
                <a:solidFill>
                  <a:srgbClr val="002060"/>
                </a:solidFill>
                <a:latin typeface="华文楷体" panose="02010600040101010101" pitchFamily="2" charset="-122"/>
                <a:ea typeface="华文楷体" panose="02010600040101010101" pitchFamily="2" charset="-122"/>
              </a:rPr>
              <a:t>最优化概念原理及特征</a:t>
            </a:r>
            <a:r>
              <a:rPr lang="en-US" altLang="zh-CN" sz="2600" b="0" kern="0" dirty="0">
                <a:solidFill>
                  <a:srgbClr val="FF0000"/>
                </a:solidFill>
                <a:latin typeface="华文楷体" panose="02010600040101010101" pitchFamily="2" charset="-122"/>
                <a:ea typeface="华文楷体" panose="02010600040101010101" pitchFamily="2" charset="-122"/>
              </a:rPr>
              <a:t>——</a:t>
            </a:r>
            <a:r>
              <a:rPr kumimoji="0" lang="zh-CN" altLang="zh-CN" sz="2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最小化问题</a:t>
            </a:r>
            <a:endParaRPr kumimoji="0" lang="zh-CN" altLang="zh-CN" sz="2400" b="0" i="0" u="none" strike="noStrike" cap="none" normalizeH="0" baseline="0" dirty="0">
              <a:ln>
                <a:noFill/>
              </a:ln>
              <a:solidFill>
                <a:srgbClr val="FF0000"/>
              </a:solidFill>
              <a:effectLst/>
              <a:latin typeface="Arial" panose="020B0604020202020204" pitchFamily="34" charset="0"/>
            </a:endParaRPr>
          </a:p>
          <a:p>
            <a:endParaRPr lang="zh-CN" altLang="en-US" sz="2600" b="0" kern="0" dirty="0">
              <a:solidFill>
                <a:srgbClr val="002060"/>
              </a:solidFill>
              <a:latin typeface="华文楷体" panose="02010600040101010101" pitchFamily="2" charset="-122"/>
              <a:ea typeface="华文楷体" panose="02010600040101010101" pitchFamily="2" charset="-122"/>
            </a:endParaRPr>
          </a:p>
        </p:txBody>
      </p:sp>
      <p:sp>
        <p:nvSpPr>
          <p:cNvPr id="8" name="文本框 7">
            <a:extLst>
              <a:ext uri="{FF2B5EF4-FFF2-40B4-BE49-F238E27FC236}">
                <a16:creationId xmlns:a16="http://schemas.microsoft.com/office/drawing/2014/main" id="{8A5D7B84-D258-4EC0-8B7D-8FB69878A228}"/>
              </a:ext>
            </a:extLst>
          </p:cNvPr>
          <p:cNvSpPr txBox="1"/>
          <p:nvPr/>
        </p:nvSpPr>
        <p:spPr>
          <a:xfrm>
            <a:off x="323528" y="865535"/>
            <a:ext cx="1546677" cy="338554"/>
          </a:xfrm>
          <a:prstGeom prst="rect">
            <a:avLst/>
          </a:prstGeom>
          <a:solidFill>
            <a:schemeClr val="bg1"/>
          </a:solidFill>
          <a:ln>
            <a:solidFill>
              <a:schemeClr val="bg1"/>
            </a:solidFill>
          </a:ln>
        </p:spPr>
        <p:txBody>
          <a:bodyPr wrap="square">
            <a:spAutoFit/>
          </a:bodyPr>
          <a:lstStyle/>
          <a:p>
            <a:r>
              <a:rPr lang="zh-CN" altLang="en-US" sz="1600" b="1" dirty="0">
                <a:solidFill>
                  <a:srgbClr val="0070C0"/>
                </a:solidFill>
                <a:latin typeface="微软雅黑" panose="020B0503020204020204" pitchFamily="34" charset="-122"/>
                <a:ea typeface="微软雅黑" panose="020B0503020204020204" pitchFamily="34" charset="-122"/>
              </a:rPr>
              <a:t>优化函数调用</a:t>
            </a:r>
          </a:p>
        </p:txBody>
      </p:sp>
      <p:sp>
        <p:nvSpPr>
          <p:cNvPr id="7" name="文本框 6">
            <a:extLst>
              <a:ext uri="{FF2B5EF4-FFF2-40B4-BE49-F238E27FC236}">
                <a16:creationId xmlns:a16="http://schemas.microsoft.com/office/drawing/2014/main" id="{00F1631E-4BA0-47C8-BF40-821EBA39706E}"/>
              </a:ext>
            </a:extLst>
          </p:cNvPr>
          <p:cNvSpPr txBox="1"/>
          <p:nvPr/>
        </p:nvSpPr>
        <p:spPr>
          <a:xfrm>
            <a:off x="1687800" y="879729"/>
            <a:ext cx="7094233"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marL="0" indent="0" algn="dist" eaLnBrk="0" hangingPunct="0">
              <a:lnSpc>
                <a:spcPct val="100000"/>
              </a:lnSpc>
            </a:pPr>
            <a:r>
              <a:rPr lang="zh-CN" altLang="en-US" sz="1400" b="0" dirty="0">
                <a:effectLst/>
                <a:latin typeface="Arial Unicode MS"/>
                <a:ea typeface="source-code-pro"/>
              </a:rPr>
              <a:t>决策变量</a:t>
            </a:r>
            <a:r>
              <a:rPr lang="en-US" altLang="zh-CN" sz="1400" b="0" dirty="0">
                <a:effectLst/>
                <a:latin typeface="Arial Unicode MS"/>
                <a:ea typeface="source-code-pro"/>
              </a:rPr>
              <a:t>x,</a:t>
            </a:r>
            <a:r>
              <a:rPr lang="zh-CN" altLang="en-US" sz="1400" b="0" dirty="0">
                <a:effectLst/>
                <a:latin typeface="Arial Unicode MS"/>
                <a:ea typeface="source-code-pro"/>
              </a:rPr>
              <a:t>目标函数值</a:t>
            </a:r>
            <a:r>
              <a:rPr lang="en-US" altLang="zh-CN" sz="1400" b="0" dirty="0" err="1">
                <a:effectLst/>
                <a:latin typeface="Arial Unicode MS"/>
                <a:ea typeface="source-code-pro"/>
              </a:rPr>
              <a:t>fval</a:t>
            </a:r>
            <a:r>
              <a:rPr lang="en-US" altLang="zh-CN" sz="1400" b="0" dirty="0">
                <a:effectLst/>
                <a:latin typeface="Arial Unicode MS"/>
                <a:ea typeface="source-code-pro"/>
              </a:rPr>
              <a:t> </a:t>
            </a:r>
            <a:r>
              <a:rPr lang="zh-CN" altLang="en-US" sz="1400" b="0" dirty="0">
                <a:effectLst/>
                <a:latin typeface="Arial Unicode MS"/>
                <a:ea typeface="source-code-pro"/>
              </a:rPr>
              <a:t>，</a:t>
            </a:r>
            <a:r>
              <a:rPr lang="en-US" altLang="zh-CN" sz="1400" b="0" dirty="0">
                <a:effectLst/>
                <a:latin typeface="Arial Unicode MS"/>
                <a:ea typeface="source-code-pro"/>
              </a:rPr>
              <a:t>,</a:t>
            </a:r>
            <a:r>
              <a:rPr lang="zh-CN" altLang="zh-CN" sz="1400" b="0" dirty="0">
                <a:effectLst/>
                <a:latin typeface="Arial Unicode MS"/>
                <a:ea typeface="source-code-pro"/>
              </a:rPr>
              <a:t>=</a:t>
            </a:r>
            <a:r>
              <a:rPr lang="zh-CN" altLang="en-US" sz="1400" b="0" dirty="0">
                <a:effectLst/>
                <a:latin typeface="Arial Unicode MS"/>
                <a:ea typeface="source-code-pro"/>
              </a:rPr>
              <a:t>优化函数命令（目标函数</a:t>
            </a:r>
            <a:r>
              <a:rPr lang="en-US" altLang="zh-CN" sz="1400" b="0" dirty="0">
                <a:effectLst/>
                <a:latin typeface="Arial Unicode MS"/>
                <a:ea typeface="source-code-pro"/>
              </a:rPr>
              <a:t>fun</a:t>
            </a:r>
            <a:r>
              <a:rPr lang="zh-CN" altLang="en-US" sz="1400" b="0" dirty="0">
                <a:effectLst/>
                <a:latin typeface="Arial Unicode MS"/>
                <a:ea typeface="source-code-pro"/>
              </a:rPr>
              <a:t>，</a:t>
            </a:r>
            <a:r>
              <a:rPr lang="zh-CN" altLang="en-US" sz="1400" b="0" dirty="0">
                <a:solidFill>
                  <a:srgbClr val="FFFF00"/>
                </a:solidFill>
                <a:effectLst/>
                <a:latin typeface="Arial Unicode MS"/>
                <a:ea typeface="source-code-pro"/>
              </a:rPr>
              <a:t>初始条件</a:t>
            </a:r>
            <a:r>
              <a:rPr lang="zh-CN" altLang="en-US" sz="1400" b="0" dirty="0">
                <a:effectLst/>
                <a:latin typeface="Arial Unicode MS"/>
                <a:ea typeface="source-code-pro"/>
              </a:rPr>
              <a:t>、约束条件</a:t>
            </a:r>
            <a:r>
              <a:rPr lang="zh-CN" altLang="zh-CN" sz="1400" b="0" dirty="0">
                <a:effectLst/>
                <a:latin typeface="Arial Unicode MS"/>
                <a:ea typeface="source-code-pro"/>
              </a:rPr>
              <a:t>)</a:t>
            </a:r>
            <a:r>
              <a:rPr lang="zh-CN" altLang="zh-CN" sz="1400" b="0" dirty="0">
                <a:effectLst/>
              </a:rPr>
              <a:t> </a:t>
            </a:r>
            <a:endParaRPr lang="zh-CN" altLang="zh-CN" sz="1400" b="0" dirty="0">
              <a:effectLst/>
              <a:latin typeface="Arial" panose="020B0604020202020204" pitchFamily="34" charset="0"/>
            </a:endParaRPr>
          </a:p>
        </p:txBody>
      </p:sp>
      <p:sp>
        <p:nvSpPr>
          <p:cNvPr id="10" name="矩形 1">
            <a:extLst>
              <a:ext uri="{FF2B5EF4-FFF2-40B4-BE49-F238E27FC236}">
                <a16:creationId xmlns:a16="http://schemas.microsoft.com/office/drawing/2014/main" id="{355A6DCE-F397-4B54-9B21-8CD4D74ED9CA}"/>
              </a:ext>
            </a:extLst>
          </p:cNvPr>
          <p:cNvSpPr/>
          <p:nvPr/>
        </p:nvSpPr>
        <p:spPr bwMode="auto">
          <a:xfrm>
            <a:off x="325785" y="1423781"/>
            <a:ext cx="8716466" cy="315471"/>
          </a:xfrm>
          <a:prstGeom prst="rect">
            <a:avLst/>
          </a:prstGeom>
          <a:noFill/>
          <a:ln w="0">
            <a:noFill/>
          </a:ln>
        </p:spPr>
        <p:txBody>
          <a:bodyPr vert="horz" wrap="square" lIns="68580" tIns="34290" rIns="68580" bIns="34290" numCol="1" anchor="t">
            <a:spAutoFit/>
          </a:bodyPr>
          <a:lstStyle/>
          <a:p>
            <a:pPr eaLnBrk="0">
              <a:spcBef>
                <a:spcPts val="0"/>
              </a:spcBef>
              <a:spcAft>
                <a:spcPts val="0"/>
              </a:spcAft>
            </a:pPr>
            <a:r>
              <a:rPr lang="en-US" altLang="ko-KR" sz="1600" b="1" dirty="0">
                <a:solidFill>
                  <a:srgbClr val="0070C0"/>
                </a:solidFill>
                <a:latin typeface="微软雅黑" panose="020B0503020204020204" pitchFamily="34" charset="-122"/>
                <a:ea typeface="微软雅黑" panose="020B0503020204020204" pitchFamily="34" charset="-122"/>
              </a:rPr>
              <a:t>求</a:t>
            </a:r>
            <a:r>
              <a:rPr lang="zh-CN" altLang="en-US" sz="1600" b="1" dirty="0">
                <a:solidFill>
                  <a:srgbClr val="0070C0"/>
                </a:solidFill>
                <a:latin typeface="微软雅黑" panose="020B0503020204020204" pitchFamily="34" charset="-122"/>
                <a:ea typeface="微软雅黑" panose="020B0503020204020204" pitchFamily="34" charset="-122"/>
              </a:rPr>
              <a:t>函数根</a:t>
            </a:r>
            <a:r>
              <a:rPr lang="en-US" altLang="ko-KR" sz="1600" b="1" dirty="0">
                <a:solidFill>
                  <a:srgbClr val="0070C0"/>
                </a:solidFill>
                <a:latin typeface="微软雅黑" panose="020B0503020204020204" pitchFamily="34" charset="-122"/>
                <a:ea typeface="微软雅黑" panose="020B0503020204020204" pitchFamily="34" charset="-122"/>
              </a:rPr>
              <a:t>和</a:t>
            </a:r>
            <a:r>
              <a:rPr lang="zh-CN" altLang="en-US" sz="1600" b="1" dirty="0">
                <a:solidFill>
                  <a:srgbClr val="0070C0"/>
                </a:solidFill>
                <a:latin typeface="微软雅黑" panose="020B0503020204020204" pitchFamily="34" charset="-122"/>
                <a:ea typeface="微软雅黑" panose="020B0503020204020204" pitchFamily="34" charset="-122"/>
              </a:rPr>
              <a:t>极小值的数命令关键输出和输入参数设置相同，一般输出</a:t>
            </a:r>
            <a:r>
              <a:rPr lang="en-US" altLang="zh-CN" sz="1600" b="1" dirty="0">
                <a:solidFill>
                  <a:srgbClr val="0070C0"/>
                </a:solidFill>
                <a:latin typeface="微软雅黑" panose="020B0503020204020204" pitchFamily="34" charset="-122"/>
                <a:ea typeface="微软雅黑" panose="020B0503020204020204" pitchFamily="34" charset="-122"/>
              </a:rPr>
              <a:t>x</a:t>
            </a:r>
            <a:r>
              <a:rPr lang="zh-CN" altLang="en-US" sz="1600" b="1" dirty="0">
                <a:solidFill>
                  <a:srgbClr val="0070C0"/>
                </a:solidFill>
                <a:latin typeface="微软雅黑" panose="020B0503020204020204" pitchFamily="34" charset="-122"/>
                <a:ea typeface="微软雅黑" panose="020B0503020204020204" pitchFamily="34" charset="-122"/>
              </a:rPr>
              <a:t>和输入</a:t>
            </a:r>
            <a:r>
              <a:rPr lang="en-US" altLang="zh-CN" sz="1600" b="1" dirty="0">
                <a:solidFill>
                  <a:srgbClr val="0070C0"/>
                </a:solidFill>
                <a:latin typeface="微软雅黑" panose="020B0503020204020204" pitchFamily="34" charset="-122"/>
                <a:ea typeface="微软雅黑" panose="020B0503020204020204" pitchFamily="34" charset="-122"/>
              </a:rPr>
              <a:t>fun</a:t>
            </a:r>
            <a:r>
              <a:rPr lang="zh-CN" altLang="en-US" sz="1600" b="1" dirty="0">
                <a:solidFill>
                  <a:srgbClr val="0070C0"/>
                </a:solidFill>
                <a:latin typeface="微软雅黑" panose="020B0503020204020204" pitchFamily="34" charset="-122"/>
                <a:ea typeface="微软雅黑" panose="020B0503020204020204" pitchFamily="34" charset="-122"/>
              </a:rPr>
              <a:t>和</a:t>
            </a:r>
            <a:r>
              <a:rPr lang="en-US" altLang="zh-CN" sz="1600" b="1" dirty="0">
                <a:solidFill>
                  <a:srgbClr val="0070C0"/>
                </a:solidFill>
                <a:latin typeface="微软雅黑" panose="020B0503020204020204" pitchFamily="34" charset="-122"/>
                <a:ea typeface="微软雅黑" panose="020B0503020204020204" pitchFamily="34" charset="-122"/>
              </a:rPr>
              <a:t>x0</a:t>
            </a:r>
            <a:r>
              <a:rPr lang="zh-CN" altLang="en-US" sz="1600" b="1" dirty="0">
                <a:solidFill>
                  <a:srgbClr val="0070C0"/>
                </a:solidFill>
                <a:latin typeface="微软雅黑" panose="020B0503020204020204" pitchFamily="34" charset="-122"/>
                <a:ea typeface="微软雅黑" panose="020B0503020204020204" pitchFamily="34" charset="-122"/>
              </a:rPr>
              <a:t>必不可少</a:t>
            </a:r>
            <a:endParaRPr lang="ko-KR" altLang="en-US" sz="1600" b="1" dirty="0">
              <a:solidFill>
                <a:srgbClr val="0070C0"/>
              </a:solidFill>
              <a:latin typeface="微软雅黑" panose="020B0503020204020204" pitchFamily="34" charset="-122"/>
              <a:ea typeface="微软雅黑" panose="020B0503020204020204" charset="-122"/>
            </a:endParaRPr>
          </a:p>
        </p:txBody>
      </p:sp>
    </p:spTree>
    <p:extLst>
      <p:ext uri="{BB962C8B-B14F-4D97-AF65-F5344CB8AC3E}">
        <p14:creationId xmlns:p14="http://schemas.microsoft.com/office/powerpoint/2010/main" val="3891020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2E9BFF8-253E-4902-8B82-4B76843B5413}"/>
              </a:ext>
            </a:extLst>
          </p:cNvPr>
          <p:cNvSpPr txBox="1">
            <a:spLocks/>
          </p:cNvSpPr>
          <p:nvPr/>
        </p:nvSpPr>
        <p:spPr>
          <a:xfrm>
            <a:off x="71981" y="104184"/>
            <a:ext cx="8554165" cy="438150"/>
          </a:xfrm>
          <a:prstGeom prst="rect">
            <a:avLst/>
          </a:prstGeom>
          <a:solidFill>
            <a:schemeClr val="bg1"/>
          </a:solidFill>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pPr algn="ctr"/>
            <a:r>
              <a:rPr lang="en-US" altLang="zh-CN" sz="2600" b="0" dirty="0">
                <a:solidFill>
                  <a:srgbClr val="002060"/>
                </a:solidFill>
                <a:latin typeface="华文楷体" panose="02010600040101010101" pitchFamily="2" charset="-122"/>
                <a:ea typeface="华文楷体" panose="02010600040101010101" pitchFamily="2" charset="-122"/>
              </a:rPr>
              <a:t>§8.1 </a:t>
            </a:r>
            <a:r>
              <a:rPr lang="zh-CN" altLang="en-US" sz="2600" b="0" dirty="0">
                <a:solidFill>
                  <a:srgbClr val="002060"/>
                </a:solidFill>
                <a:latin typeface="华文楷体" panose="02010600040101010101" pitchFamily="2" charset="-122"/>
                <a:ea typeface="华文楷体" panose="02010600040101010101" pitchFamily="2" charset="-122"/>
              </a:rPr>
              <a:t>最优化概念原理及特征</a:t>
            </a:r>
            <a:r>
              <a:rPr lang="en-US" altLang="zh-CN" sz="2600" b="0" kern="0" dirty="0">
                <a:solidFill>
                  <a:srgbClr val="FF0000"/>
                </a:solidFill>
                <a:latin typeface="华文楷体" panose="02010600040101010101" pitchFamily="2" charset="-122"/>
                <a:ea typeface="华文楷体" panose="02010600040101010101" pitchFamily="2" charset="-122"/>
              </a:rPr>
              <a:t>——</a:t>
            </a:r>
            <a:r>
              <a:rPr lang="zh-CN" altLang="en-US" sz="2600" b="0" kern="0" dirty="0">
                <a:solidFill>
                  <a:srgbClr val="FF0000"/>
                </a:solidFill>
                <a:latin typeface="华文楷体" panose="02010600040101010101" pitchFamily="2" charset="-122"/>
                <a:ea typeface="华文楷体" panose="02010600040101010101" pitchFamily="2" charset="-122"/>
              </a:rPr>
              <a:t>求根和最小值的函数</a:t>
            </a:r>
            <a:endParaRPr lang="zh-CN" altLang="en-US" sz="2600" b="0" kern="0" dirty="0">
              <a:solidFill>
                <a:srgbClr val="002060"/>
              </a:solidFill>
              <a:latin typeface="华文楷体" panose="02010600040101010101" pitchFamily="2" charset="-122"/>
              <a:ea typeface="华文楷体" panose="02010600040101010101" pitchFamily="2" charset="-122"/>
            </a:endParaRPr>
          </a:p>
        </p:txBody>
      </p:sp>
      <p:sp>
        <p:nvSpPr>
          <p:cNvPr id="11" name="矩形 10">
            <a:extLst>
              <a:ext uri="{FF2B5EF4-FFF2-40B4-BE49-F238E27FC236}">
                <a16:creationId xmlns:a16="http://schemas.microsoft.com/office/drawing/2014/main" id="{1F259A62-684E-4EDC-97BD-6D90B2FD2551}"/>
              </a:ext>
            </a:extLst>
          </p:cNvPr>
          <p:cNvSpPr/>
          <p:nvPr/>
        </p:nvSpPr>
        <p:spPr>
          <a:xfrm>
            <a:off x="1909357" y="2268905"/>
            <a:ext cx="6634459" cy="371512"/>
          </a:xfrm>
          <a:prstGeom prst="rect">
            <a:avLst/>
          </a:prstGeom>
          <a:solidFill>
            <a:schemeClr val="bg1"/>
          </a:solid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zh-CN" altLang="en-US" sz="2000" dirty="0">
                <a:solidFill>
                  <a:srgbClr val="002060"/>
                </a:solidFill>
                <a:latin typeface="华文楷体" panose="02010600040101010101" pitchFamily="2" charset="-122"/>
                <a:ea typeface="华文楷体" panose="02010600040101010101" pitchFamily="2" charset="-122"/>
              </a:rPr>
              <a:t>无导数法计算</a:t>
            </a:r>
            <a:r>
              <a:rPr lang="zh-CN" altLang="zh-CN" sz="2000" b="1" kern="0" dirty="0">
                <a:solidFill>
                  <a:srgbClr val="00B0F0"/>
                </a:solidFill>
                <a:latin typeface="华文楷体" panose="02010600040101010101" pitchFamily="2" charset="-122"/>
                <a:ea typeface="华文楷体" panose="02010600040101010101" pitchFamily="2" charset="-122"/>
              </a:rPr>
              <a:t>x,fval,exitflag,output </a:t>
            </a:r>
            <a:r>
              <a:rPr lang="en-US" altLang="ko-KR" sz="2000" kern="0" dirty="0">
                <a:solidFill>
                  <a:srgbClr val="002060"/>
                </a:solidFill>
                <a:latin typeface="华文楷体" panose="02010600040101010101" pitchFamily="2" charset="-122"/>
                <a:ea typeface="华文楷体" panose="02010600040101010101" pitchFamily="2" charset="-122"/>
              </a:rPr>
              <a:t>=</a:t>
            </a:r>
            <a:r>
              <a:rPr lang="en-US" altLang="ko-KR" sz="2000" b="1" kern="0" dirty="0">
                <a:solidFill>
                  <a:srgbClr val="FF0000"/>
                </a:solidFill>
                <a:latin typeface="华文楷体" panose="02010600040101010101" pitchFamily="2" charset="-122"/>
                <a:ea typeface="华文楷体" panose="02010600040101010101" pitchFamily="2" charset="-122"/>
              </a:rPr>
              <a:t>fminsearch</a:t>
            </a:r>
            <a:r>
              <a:rPr lang="en-US" altLang="ko-KR" sz="2000" kern="0" dirty="0">
                <a:solidFill>
                  <a:srgbClr val="002060"/>
                </a:solidFill>
                <a:latin typeface="华文楷体" panose="02010600040101010101" pitchFamily="2" charset="-122"/>
                <a:ea typeface="华文楷体" panose="02010600040101010101" pitchFamily="2" charset="-122"/>
              </a:rPr>
              <a:t>(</a:t>
            </a:r>
            <a:r>
              <a:rPr lang="en-US" altLang="ko-KR" sz="2000" b="1" kern="0" dirty="0">
                <a:solidFill>
                  <a:srgbClr val="00B0F0"/>
                </a:solidFill>
                <a:latin typeface="华文楷体" panose="02010600040101010101" pitchFamily="2" charset="-122"/>
                <a:ea typeface="华文楷体" panose="02010600040101010101" pitchFamily="2" charset="-122"/>
              </a:rPr>
              <a:t>fun,x0</a:t>
            </a:r>
            <a:r>
              <a:rPr lang="en-US" altLang="ko-KR" sz="2000" kern="0" dirty="0">
                <a:solidFill>
                  <a:srgbClr val="002060"/>
                </a:solidFill>
                <a:latin typeface="华文楷体" panose="02010600040101010101" pitchFamily="2" charset="-122"/>
                <a:ea typeface="华文楷体" panose="02010600040101010101" pitchFamily="2" charset="-122"/>
              </a:rPr>
              <a:t>)</a:t>
            </a:r>
            <a:endParaRPr lang="ko-KR" altLang="en-US" sz="2000" kern="0" dirty="0">
              <a:solidFill>
                <a:srgbClr val="002060"/>
              </a:solidFill>
              <a:latin typeface="华文楷体" panose="02010600040101010101" pitchFamily="2" charset="-122"/>
            </a:endParaRPr>
          </a:p>
        </p:txBody>
      </p:sp>
      <p:sp>
        <p:nvSpPr>
          <p:cNvPr id="12" name="Text Box 7">
            <a:extLst>
              <a:ext uri="{FF2B5EF4-FFF2-40B4-BE49-F238E27FC236}">
                <a16:creationId xmlns:a16="http://schemas.microsoft.com/office/drawing/2014/main" id="{C304510D-93EE-41FF-8565-7AE6C676424F}"/>
              </a:ext>
            </a:extLst>
          </p:cNvPr>
          <p:cNvSpPr txBox="1"/>
          <p:nvPr/>
        </p:nvSpPr>
        <p:spPr bwMode="auto">
          <a:xfrm>
            <a:off x="112954" y="1908702"/>
            <a:ext cx="2060611" cy="313932"/>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gn="ctr">
              <a:lnSpc>
                <a:spcPct val="90000"/>
              </a:lnSpc>
              <a:defRPr sz="2000" b="1" kern="0">
                <a:solidFill>
                  <a:srgbClr val="00B0F0"/>
                </a:solidFill>
                <a:latin typeface="隶书" panose="02010509060101010101" pitchFamily="49" charset="-122"/>
                <a:ea typeface="隶书" panose="02010509060101010101" pitchFamily="49" charset="-122"/>
              </a:defRPr>
            </a:lvl1pPr>
          </a:lstStyle>
          <a:p>
            <a:r>
              <a:rPr lang="zh-CN" altLang="en-US" sz="1600" b="0" kern="1200" dirty="0">
                <a:solidFill>
                  <a:srgbClr val="002060"/>
                </a:solidFill>
                <a:latin typeface="微软雅黑" panose="020B0503020204020204" pitchFamily="34" charset="-122"/>
                <a:ea typeface="微软雅黑" panose="020B0503020204020204" pitchFamily="34" charset="-122"/>
              </a:rPr>
              <a:t>一元函数最小值</a:t>
            </a:r>
            <a:r>
              <a:rPr lang="en-US" altLang="zh-CN" sz="1600" b="0" kern="1200" dirty="0">
                <a:solidFill>
                  <a:srgbClr val="002060"/>
                </a:solidFill>
                <a:latin typeface="微软雅黑" panose="020B0503020204020204" pitchFamily="34" charset="-122"/>
                <a:ea typeface="微软雅黑" panose="020B0503020204020204" pitchFamily="34" charset="-122"/>
              </a:rPr>
              <a:t>:</a:t>
            </a:r>
            <a:endParaRPr lang="ko-KR" altLang="en-US" sz="1600" b="0" kern="1200" dirty="0">
              <a:solidFill>
                <a:srgbClr val="002060"/>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68563995-0668-4240-8219-83E3E4CFAB97}"/>
              </a:ext>
            </a:extLst>
          </p:cNvPr>
          <p:cNvSpPr txBox="1"/>
          <p:nvPr/>
        </p:nvSpPr>
        <p:spPr>
          <a:xfrm>
            <a:off x="1888810" y="1855470"/>
            <a:ext cx="6737335" cy="399468"/>
          </a:xfrm>
          <a:prstGeom prst="rect">
            <a:avLst/>
          </a:prstGeom>
          <a:solidFill>
            <a:schemeClr val="bg1"/>
          </a:solid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2000" b="1" kern="0">
                <a:solidFill>
                  <a:srgbClr val="00B0F0"/>
                </a:solidFill>
                <a:latin typeface="隶书" panose="02010509060101010101" pitchFamily="49" charset="-122"/>
                <a:ea typeface="隶书" panose="02010509060101010101" pitchFamily="49" charset="-122"/>
              </a:defRPr>
            </a:lvl1pPr>
          </a:lstStyle>
          <a:p>
            <a:r>
              <a:rPr lang="zh-CN" altLang="zh-CN" sz="2200" dirty="0">
                <a:latin typeface="华文楷体" panose="02010600040101010101" pitchFamily="2" charset="-122"/>
                <a:ea typeface="华文楷体" panose="02010600040101010101" pitchFamily="2" charset="-122"/>
              </a:rPr>
              <a:t>x,fval,exitflag,output </a:t>
            </a:r>
            <a:r>
              <a:rPr lang="en-US" altLang="ko-KR" sz="2200" b="0" dirty="0">
                <a:solidFill>
                  <a:srgbClr val="002060"/>
                </a:solidFill>
                <a:latin typeface="华文楷体" panose="02010600040101010101" pitchFamily="2" charset="-122"/>
                <a:ea typeface="华文楷体" panose="02010600040101010101" pitchFamily="2" charset="-122"/>
              </a:rPr>
              <a:t>=</a:t>
            </a:r>
            <a:r>
              <a:rPr lang="en-US" altLang="ko-KR" sz="1800" dirty="0" err="1">
                <a:solidFill>
                  <a:srgbClr val="FF0000"/>
                </a:solidFill>
                <a:latin typeface="微软雅黑" panose="020B0503020204020204" pitchFamily="34" charset="-122"/>
                <a:ea typeface="微软雅黑" panose="020B0503020204020204" pitchFamily="34" charset="-122"/>
              </a:rPr>
              <a:t>fminbnd</a:t>
            </a:r>
            <a:r>
              <a:rPr lang="en-US" altLang="ko-KR" sz="2200" b="0" dirty="0">
                <a:solidFill>
                  <a:srgbClr val="002060"/>
                </a:solidFill>
                <a:latin typeface="华文楷体" panose="02010600040101010101" pitchFamily="2" charset="-122"/>
                <a:ea typeface="华文楷体" panose="02010600040101010101" pitchFamily="2" charset="-122"/>
              </a:rPr>
              <a:t>(</a:t>
            </a:r>
            <a:r>
              <a:rPr lang="en-US" altLang="ko-KR" sz="2200" dirty="0">
                <a:latin typeface="华文楷体" panose="02010600040101010101" pitchFamily="2" charset="-122"/>
                <a:ea typeface="华文楷体" panose="02010600040101010101" pitchFamily="2" charset="-122"/>
              </a:rPr>
              <a:t>fun</a:t>
            </a:r>
            <a:r>
              <a:rPr lang="en-US" altLang="ko-KR" sz="2200" b="0" dirty="0">
                <a:solidFill>
                  <a:srgbClr val="002060"/>
                </a:solidFill>
                <a:latin typeface="华文楷体" panose="02010600040101010101" pitchFamily="2" charset="-122"/>
                <a:ea typeface="华文楷体" panose="02010600040101010101" pitchFamily="2" charset="-122"/>
              </a:rPr>
              <a:t>,</a:t>
            </a:r>
            <a:r>
              <a:rPr lang="en-US" altLang="ko-KR" dirty="0">
                <a:solidFill>
                  <a:srgbClr val="FF0000"/>
                </a:solidFill>
                <a:latin typeface="微软雅黑" panose="020B0503020204020204" pitchFamily="34" charset="-122"/>
                <a:ea typeface="微软雅黑" panose="020B0503020204020204" pitchFamily="34" charset="-122"/>
              </a:rPr>
              <a:t>x1,x2</a:t>
            </a:r>
            <a:r>
              <a:rPr lang="en-US" altLang="ko-KR" sz="2200" b="0" dirty="0">
                <a:solidFill>
                  <a:srgbClr val="002060"/>
                </a:solidFill>
                <a:latin typeface="华文楷体" panose="02010600040101010101" pitchFamily="2" charset="-122"/>
                <a:ea typeface="华文楷体" panose="02010600040101010101" pitchFamily="2" charset="-122"/>
              </a:rPr>
              <a:t>)</a:t>
            </a:r>
            <a:endParaRPr lang="ko-KR" altLang="en-US" sz="2200" b="0" dirty="0">
              <a:solidFill>
                <a:srgbClr val="002060"/>
              </a:solidFill>
              <a:latin typeface="华文楷体" panose="02010600040101010101" pitchFamily="2" charset="-122"/>
            </a:endParaRPr>
          </a:p>
        </p:txBody>
      </p:sp>
      <p:sp>
        <p:nvSpPr>
          <p:cNvPr id="15" name="Rectangle 6">
            <a:extLst>
              <a:ext uri="{FF2B5EF4-FFF2-40B4-BE49-F238E27FC236}">
                <a16:creationId xmlns:a16="http://schemas.microsoft.com/office/drawing/2014/main" id="{35B41E73-BA2C-44F8-BCA8-E29F724E6459}"/>
              </a:ext>
            </a:extLst>
          </p:cNvPr>
          <p:cNvSpPr>
            <a:spLocks noChangeArrowheads="1"/>
          </p:cNvSpPr>
          <p:nvPr/>
        </p:nvSpPr>
        <p:spPr bwMode="auto">
          <a:xfrm>
            <a:off x="306251" y="3057886"/>
            <a:ext cx="175392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1600" dirty="0">
                <a:solidFill>
                  <a:srgbClr val="002060"/>
                </a:solidFill>
                <a:latin typeface="微软雅黑" panose="020B0503020204020204" pitchFamily="34" charset="-122"/>
                <a:ea typeface="微软雅黑" panose="020B0503020204020204" pitchFamily="34" charset="-122"/>
              </a:rPr>
              <a:t>多元约束最小值</a:t>
            </a:r>
            <a:r>
              <a:rPr lang="en-US" altLang="zh-CN" sz="1600" dirty="0">
                <a:solidFill>
                  <a:srgbClr val="002060"/>
                </a:solidFill>
                <a:latin typeface="微软雅黑" panose="020B0503020204020204" pitchFamily="34" charset="-122"/>
                <a:ea typeface="微软雅黑" panose="020B0503020204020204" pitchFamily="34" charset="-122"/>
              </a:rPr>
              <a:t>:</a:t>
            </a:r>
            <a:endParaRPr lang="zh-CN" altLang="zh-CN" sz="1600" dirty="0">
              <a:solidFill>
                <a:srgbClr val="002060"/>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967AA411-8EE3-4F33-98E5-7EEEE6679F7B}"/>
              </a:ext>
            </a:extLst>
          </p:cNvPr>
          <p:cNvSpPr txBox="1"/>
          <p:nvPr/>
        </p:nvSpPr>
        <p:spPr>
          <a:xfrm>
            <a:off x="226660" y="2273542"/>
            <a:ext cx="2389547" cy="338554"/>
          </a:xfrm>
          <a:prstGeom prst="rect">
            <a:avLst/>
          </a:prstGeom>
          <a:noFill/>
        </p:spPr>
        <p:txBody>
          <a:bodyPr wrap="square">
            <a:spAutoFit/>
          </a:bodyPr>
          <a:lstStyle/>
          <a:p>
            <a:r>
              <a:rPr lang="zh-CN" altLang="en-US" sz="1600" dirty="0">
                <a:solidFill>
                  <a:srgbClr val="002060"/>
                </a:solidFill>
                <a:latin typeface="微软雅黑" panose="020B0503020204020204" pitchFamily="34" charset="-122"/>
                <a:ea typeface="微软雅黑" panose="020B0503020204020204" pitchFamily="34" charset="-122"/>
              </a:rPr>
              <a:t>多元无约束</a:t>
            </a:r>
            <a:r>
              <a:rPr lang="zh-CN" altLang="en-US" sz="1600" b="0" dirty="0">
                <a:solidFill>
                  <a:srgbClr val="002060"/>
                </a:solidFill>
                <a:latin typeface="微软雅黑" panose="020B0503020204020204" pitchFamily="34" charset="-122"/>
                <a:ea typeface="微软雅黑" panose="020B0503020204020204" pitchFamily="34" charset="-122"/>
              </a:rPr>
              <a:t>最小值</a:t>
            </a:r>
            <a:r>
              <a:rPr lang="zh-CN" altLang="en-US" sz="1600" dirty="0">
                <a:solidFill>
                  <a:srgbClr val="002060"/>
                </a:solidFill>
                <a:latin typeface="微软雅黑" panose="020B0503020204020204" pitchFamily="34" charset="-122"/>
                <a:ea typeface="微软雅黑" panose="020B0503020204020204" pitchFamily="34" charset="-122"/>
              </a:rPr>
              <a:t>：</a:t>
            </a:r>
          </a:p>
        </p:txBody>
      </p:sp>
      <p:sp>
        <p:nvSpPr>
          <p:cNvPr id="18" name="Rectangle 5">
            <a:extLst>
              <a:ext uri="{FF2B5EF4-FFF2-40B4-BE49-F238E27FC236}">
                <a16:creationId xmlns:a16="http://schemas.microsoft.com/office/drawing/2014/main" id="{F08833FB-DC1D-4BC0-8AC9-74352F73512F}"/>
              </a:ext>
            </a:extLst>
          </p:cNvPr>
          <p:cNvSpPr>
            <a:spLocks noChangeArrowheads="1"/>
          </p:cNvSpPr>
          <p:nvPr/>
        </p:nvSpPr>
        <p:spPr bwMode="auto">
          <a:xfrm>
            <a:off x="1697719" y="2640089"/>
            <a:ext cx="7380540" cy="371512"/>
          </a:xfrm>
          <a:prstGeom prst="rect">
            <a:avLst/>
          </a:prstGeom>
          <a:solidFill>
            <a:schemeClr val="bg1"/>
          </a:solid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zh-CN" altLang="en-US" sz="2000" dirty="0">
                <a:solidFill>
                  <a:srgbClr val="002060"/>
                </a:solidFill>
                <a:latin typeface="华文楷体" panose="02010600040101010101" pitchFamily="2" charset="-122"/>
                <a:ea typeface="华文楷体" panose="02010600040101010101" pitchFamily="2" charset="-122"/>
              </a:rPr>
              <a:t>导数法计算</a:t>
            </a:r>
            <a:r>
              <a:rPr lang="zh-CN" altLang="zh-CN" sz="2000" b="1" kern="0" dirty="0">
                <a:solidFill>
                  <a:srgbClr val="00B0F0"/>
                </a:solidFill>
                <a:latin typeface="华文楷体" panose="02010600040101010101" pitchFamily="2" charset="-122"/>
                <a:ea typeface="华文楷体" panose="02010600040101010101" pitchFamily="2" charset="-122"/>
              </a:rPr>
              <a:t>x,fval,exitflag,output</a:t>
            </a:r>
            <a:r>
              <a:rPr lang="zh-CN" altLang="zh-CN" sz="2000" kern="0" dirty="0">
                <a:solidFill>
                  <a:srgbClr val="002060"/>
                </a:solidFill>
                <a:latin typeface="华文楷体" panose="02010600040101010101" pitchFamily="2" charset="-122"/>
                <a:ea typeface="华文楷体" panose="02010600040101010101" pitchFamily="2" charset="-122"/>
              </a:rPr>
              <a:t>,grad,hessian </a:t>
            </a:r>
            <a:r>
              <a:rPr lang="zh-CN" altLang="zh-CN" sz="2000" b="1" kern="0" dirty="0">
                <a:solidFill>
                  <a:srgbClr val="FF0000"/>
                </a:solidFill>
                <a:latin typeface="华文楷体" panose="02010600040101010101" pitchFamily="2" charset="-122"/>
                <a:ea typeface="华文楷体" panose="02010600040101010101" pitchFamily="2" charset="-122"/>
              </a:rPr>
              <a:t>= fminunc</a:t>
            </a:r>
            <a:r>
              <a:rPr lang="zh-CN" altLang="zh-CN" sz="2000" kern="0" dirty="0">
                <a:solidFill>
                  <a:srgbClr val="002060"/>
                </a:solidFill>
                <a:latin typeface="华文楷体" panose="02010600040101010101" pitchFamily="2" charset="-122"/>
                <a:ea typeface="华文楷体" panose="02010600040101010101" pitchFamily="2" charset="-122"/>
              </a:rPr>
              <a:t>(</a:t>
            </a:r>
            <a:r>
              <a:rPr lang="zh-CN" altLang="zh-CN" sz="2000" b="1" kern="0" dirty="0">
                <a:solidFill>
                  <a:srgbClr val="00B0F0"/>
                </a:solidFill>
                <a:latin typeface="华文楷体" panose="02010600040101010101" pitchFamily="2" charset="-122"/>
                <a:ea typeface="华文楷体" panose="02010600040101010101" pitchFamily="2" charset="-122"/>
              </a:rPr>
              <a:t>fun,x0</a:t>
            </a:r>
            <a:r>
              <a:rPr lang="zh-CN" altLang="zh-CN" sz="2000" kern="0" dirty="0">
                <a:solidFill>
                  <a:srgbClr val="002060"/>
                </a:solidFill>
                <a:latin typeface="华文楷体" panose="02010600040101010101" pitchFamily="2" charset="-122"/>
                <a:ea typeface="华文楷体" panose="02010600040101010101" pitchFamily="2" charset="-122"/>
              </a:rPr>
              <a:t>) </a:t>
            </a:r>
          </a:p>
        </p:txBody>
      </p:sp>
      <p:sp>
        <p:nvSpPr>
          <p:cNvPr id="20" name="文本框 19">
            <a:extLst>
              <a:ext uri="{FF2B5EF4-FFF2-40B4-BE49-F238E27FC236}">
                <a16:creationId xmlns:a16="http://schemas.microsoft.com/office/drawing/2014/main" id="{ADA02CF1-462B-4B5B-B4D3-066900E1BBB5}"/>
              </a:ext>
            </a:extLst>
          </p:cNvPr>
          <p:cNvSpPr txBox="1"/>
          <p:nvPr/>
        </p:nvSpPr>
        <p:spPr>
          <a:xfrm>
            <a:off x="1768696" y="2932951"/>
            <a:ext cx="7238586" cy="430887"/>
          </a:xfrm>
          <a:prstGeom prst="rect">
            <a:avLst/>
          </a:prstGeom>
          <a:noFill/>
        </p:spPr>
        <p:txBody>
          <a:bodyPr wrap="square">
            <a:spAutoFit/>
          </a:bodyPr>
          <a:lstStyle/>
          <a:p>
            <a:r>
              <a:rPr lang="zh-CN" altLang="zh-CN" sz="2200" b="1" kern="0" dirty="0">
                <a:solidFill>
                  <a:srgbClr val="00B0F0"/>
                </a:solidFill>
                <a:latin typeface="华文楷体" panose="02010600040101010101" pitchFamily="2" charset="-122"/>
                <a:ea typeface="华文楷体" panose="02010600040101010101" pitchFamily="2" charset="-122"/>
              </a:rPr>
              <a:t>x,fval,exitflag,output</a:t>
            </a:r>
            <a:r>
              <a:rPr kumimoji="0" lang="zh-CN" altLang="zh-CN" sz="2200" i="0" u="none" strike="noStrike" cap="none" normalizeH="0" baseline="0" dirty="0">
                <a:ln>
                  <a:noFill/>
                </a:ln>
                <a:solidFill>
                  <a:srgbClr val="002060"/>
                </a:solidFill>
                <a:effectLst/>
                <a:latin typeface="华文楷体" panose="02010600040101010101" pitchFamily="2" charset="-122"/>
                <a:ea typeface="华文楷体" panose="02010600040101010101" pitchFamily="2" charset="-122"/>
              </a:rPr>
              <a:t>,lambda,grad,hessian = </a:t>
            </a:r>
            <a:r>
              <a:rPr lang="zh-CN" altLang="zh-CN" sz="2200" b="1" kern="0" dirty="0">
                <a:solidFill>
                  <a:srgbClr val="FF0000"/>
                </a:solidFill>
                <a:latin typeface="华文楷体" panose="02010600040101010101" pitchFamily="2" charset="-122"/>
                <a:ea typeface="华文楷体" panose="02010600040101010101" pitchFamily="2" charset="-122"/>
              </a:rPr>
              <a:t>fmincon</a:t>
            </a:r>
            <a:r>
              <a:rPr kumimoji="0" lang="zh-CN" altLang="zh-CN" sz="2200" i="0" u="none" strike="noStrike" cap="none" normalizeH="0" baseline="0" dirty="0">
                <a:ln>
                  <a:noFill/>
                </a:ln>
                <a:solidFill>
                  <a:srgbClr val="002060"/>
                </a:solidFill>
                <a:effectLst/>
                <a:latin typeface="华文楷体" panose="02010600040101010101" pitchFamily="2" charset="-122"/>
                <a:ea typeface="华文楷体" panose="02010600040101010101" pitchFamily="2" charset="-122"/>
              </a:rPr>
              <a:t>(</a:t>
            </a:r>
            <a:r>
              <a:rPr lang="zh-CN" altLang="zh-CN" sz="2200" b="1" kern="0" dirty="0">
                <a:solidFill>
                  <a:srgbClr val="00B0F0"/>
                </a:solidFill>
                <a:latin typeface="华文楷体" panose="02010600040101010101" pitchFamily="2" charset="-122"/>
                <a:ea typeface="华文楷体" panose="02010600040101010101" pitchFamily="2" charset="-122"/>
              </a:rPr>
              <a:t>fun,x0</a:t>
            </a:r>
            <a:r>
              <a:rPr kumimoji="0" lang="zh-CN" altLang="zh-CN" sz="2200" i="0" u="none" strike="noStrike" cap="none" normalizeH="0" baseline="0" dirty="0">
                <a:ln>
                  <a:noFill/>
                </a:ln>
                <a:solidFill>
                  <a:srgbClr val="002060"/>
                </a:solidFill>
                <a:effectLst/>
                <a:latin typeface="华文楷体" panose="02010600040101010101" pitchFamily="2" charset="-122"/>
                <a:ea typeface="华文楷体" panose="02010600040101010101" pitchFamily="2" charset="-122"/>
              </a:rPr>
              <a:t>,A,b) </a:t>
            </a:r>
            <a:endParaRPr lang="zh-CN" altLang="en-US" sz="2200" dirty="0">
              <a:solidFill>
                <a:srgbClr val="002060"/>
              </a:solidFill>
              <a:latin typeface="华文楷体" panose="02010600040101010101" pitchFamily="2" charset="-122"/>
              <a:ea typeface="华文楷体" panose="02010600040101010101" pitchFamily="2" charset="-122"/>
            </a:endParaRPr>
          </a:p>
        </p:txBody>
      </p:sp>
      <p:sp>
        <p:nvSpPr>
          <p:cNvPr id="19" name="Text Box 7">
            <a:extLst>
              <a:ext uri="{FF2B5EF4-FFF2-40B4-BE49-F238E27FC236}">
                <a16:creationId xmlns:a16="http://schemas.microsoft.com/office/drawing/2014/main" id="{4BE1D83D-654C-4A2C-A41C-6921B9B2F36E}"/>
              </a:ext>
            </a:extLst>
          </p:cNvPr>
          <p:cNvSpPr txBox="1"/>
          <p:nvPr/>
        </p:nvSpPr>
        <p:spPr bwMode="auto">
          <a:xfrm>
            <a:off x="120495" y="1578621"/>
            <a:ext cx="1513335" cy="313932"/>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2000" b="1" kern="0">
                <a:solidFill>
                  <a:srgbClr val="00B0F0"/>
                </a:solidFill>
                <a:latin typeface="微软雅黑" panose="020B0503020204020204" pitchFamily="34" charset="-122"/>
                <a:ea typeface="微软雅黑" panose="020B0503020204020204" pitchFamily="34" charset="-122"/>
              </a:defRPr>
            </a:lvl1pPr>
          </a:lstStyle>
          <a:p>
            <a:r>
              <a:rPr lang="zh-CN" altLang="en-US" sz="1600" dirty="0"/>
              <a:t>非线性规划</a:t>
            </a:r>
            <a:r>
              <a:rPr lang="en-US" altLang="zh-CN" sz="1600" dirty="0"/>
              <a:t>:</a:t>
            </a:r>
            <a:endParaRPr lang="ko-KR" altLang="en-US" sz="1600" dirty="0"/>
          </a:p>
        </p:txBody>
      </p:sp>
      <p:sp>
        <p:nvSpPr>
          <p:cNvPr id="23" name="矩形 22">
            <a:extLst>
              <a:ext uri="{FF2B5EF4-FFF2-40B4-BE49-F238E27FC236}">
                <a16:creationId xmlns:a16="http://schemas.microsoft.com/office/drawing/2014/main" id="{F19C2AB0-AEDD-49D5-8D57-1170CF7E91C3}"/>
              </a:ext>
            </a:extLst>
          </p:cNvPr>
          <p:cNvSpPr/>
          <p:nvPr/>
        </p:nvSpPr>
        <p:spPr>
          <a:xfrm>
            <a:off x="1331640" y="3987518"/>
            <a:ext cx="4483891" cy="343620"/>
          </a:xfrm>
          <a:prstGeom prst="rect">
            <a:avLst/>
          </a:prstGeom>
          <a:solidFill>
            <a:schemeClr val="bg1"/>
          </a:solid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zh-CN" altLang="zh-CN" b="1" dirty="0">
                <a:solidFill>
                  <a:srgbClr val="00B0F0"/>
                </a:solidFill>
                <a:latin typeface="华文楷体" panose="02010600040101010101" pitchFamily="2" charset="-122"/>
                <a:ea typeface="华文楷体" panose="02010600040101010101" pitchFamily="2" charset="-122"/>
              </a:rPr>
              <a:t>x,fval,exitflag,output</a:t>
            </a:r>
            <a:r>
              <a:rPr lang="zh-CN" altLang="zh-CN" b="1" dirty="0">
                <a:solidFill>
                  <a:srgbClr val="002060"/>
                </a:solidFill>
                <a:latin typeface="华文楷体" panose="02010600040101010101" pitchFamily="2" charset="-122"/>
                <a:ea typeface="华文楷体" panose="02010600040101010101" pitchFamily="2" charset="-122"/>
              </a:rPr>
              <a:t>,jacobian</a:t>
            </a:r>
            <a:r>
              <a:rPr lang="en-US" altLang="ko-KR" b="1" kern="0" dirty="0">
                <a:solidFill>
                  <a:srgbClr val="002060"/>
                </a:solidFill>
                <a:latin typeface="华文楷体" panose="02010600040101010101" pitchFamily="2" charset="-122"/>
                <a:ea typeface="华文楷体" panose="02010600040101010101" pitchFamily="2" charset="-122"/>
              </a:rPr>
              <a:t>=</a:t>
            </a:r>
            <a:r>
              <a:rPr lang="en-US" altLang="ko-KR" b="1" kern="0" dirty="0" err="1">
                <a:solidFill>
                  <a:srgbClr val="FF0000"/>
                </a:solidFill>
                <a:latin typeface="华文楷体" panose="02010600040101010101" pitchFamily="2" charset="-122"/>
                <a:ea typeface="华文楷体" panose="02010600040101010101" pitchFamily="2" charset="-122"/>
              </a:rPr>
              <a:t>fsolve</a:t>
            </a:r>
            <a:r>
              <a:rPr lang="en-US" altLang="ko-KR" b="1" kern="0" dirty="0">
                <a:solidFill>
                  <a:srgbClr val="002060"/>
                </a:solidFill>
                <a:latin typeface="华文楷体" panose="02010600040101010101" pitchFamily="2" charset="-122"/>
                <a:ea typeface="华文楷体" panose="02010600040101010101" pitchFamily="2" charset="-122"/>
              </a:rPr>
              <a:t>(</a:t>
            </a:r>
            <a:r>
              <a:rPr lang="en-US" altLang="ko-KR" b="1" kern="0" dirty="0">
                <a:solidFill>
                  <a:srgbClr val="00B0F0"/>
                </a:solidFill>
                <a:latin typeface="华文楷体" panose="02010600040101010101" pitchFamily="2" charset="-122"/>
                <a:ea typeface="华文楷体" panose="02010600040101010101" pitchFamily="2" charset="-122"/>
              </a:rPr>
              <a:t>fun,x0</a:t>
            </a:r>
            <a:r>
              <a:rPr lang="en-US" altLang="ko-KR" b="1" kern="0" dirty="0">
                <a:solidFill>
                  <a:srgbClr val="002060"/>
                </a:solidFill>
                <a:latin typeface="华文楷体" panose="02010600040101010101" pitchFamily="2" charset="-122"/>
                <a:ea typeface="华文楷体" panose="02010600040101010101" pitchFamily="2" charset="-122"/>
              </a:rPr>
              <a:t>) </a:t>
            </a:r>
            <a:endParaRPr lang="ko-KR" altLang="en-US" b="1" kern="0" dirty="0">
              <a:solidFill>
                <a:srgbClr val="002060"/>
              </a:solidFill>
              <a:latin typeface="华文楷体" panose="02010600040101010101" pitchFamily="2" charset="-122"/>
            </a:endParaRPr>
          </a:p>
        </p:txBody>
      </p:sp>
      <p:sp>
        <p:nvSpPr>
          <p:cNvPr id="24" name="矩形 23">
            <a:extLst>
              <a:ext uri="{FF2B5EF4-FFF2-40B4-BE49-F238E27FC236}">
                <a16:creationId xmlns:a16="http://schemas.microsoft.com/office/drawing/2014/main" id="{D97EBC8E-0A78-41D1-9B37-FC558393370B}"/>
              </a:ext>
            </a:extLst>
          </p:cNvPr>
          <p:cNvSpPr/>
          <p:nvPr/>
        </p:nvSpPr>
        <p:spPr>
          <a:xfrm>
            <a:off x="29385" y="4063309"/>
            <a:ext cx="1513335" cy="313932"/>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ctr">
              <a:lnSpc>
                <a:spcPct val="90000"/>
              </a:lnSpc>
            </a:pPr>
            <a:r>
              <a:rPr lang="en-US" altLang="ko-KR" sz="1600" kern="0" dirty="0" err="1">
                <a:solidFill>
                  <a:srgbClr val="002060"/>
                </a:solidFill>
                <a:latin typeface="微软雅黑" panose="020B0503020204020204" pitchFamily="34" charset="-122"/>
                <a:ea typeface="微软雅黑" panose="020B0503020204020204" pitchFamily="34" charset="-122"/>
              </a:rPr>
              <a:t>方程组求解</a:t>
            </a:r>
            <a:endParaRPr lang="ko-KR" altLang="en-US" sz="1600" kern="0" dirty="0">
              <a:solidFill>
                <a:srgbClr val="002060"/>
              </a:solidFill>
              <a:latin typeface="微软雅黑" panose="020B0503020204020204" pitchFamily="34" charset="-122"/>
            </a:endParaRPr>
          </a:p>
        </p:txBody>
      </p:sp>
      <p:sp>
        <p:nvSpPr>
          <p:cNvPr id="25" name="矩形 24">
            <a:extLst>
              <a:ext uri="{FF2B5EF4-FFF2-40B4-BE49-F238E27FC236}">
                <a16:creationId xmlns:a16="http://schemas.microsoft.com/office/drawing/2014/main" id="{FA70B05D-627D-464F-BF8B-17EB641D4D55}"/>
              </a:ext>
            </a:extLst>
          </p:cNvPr>
          <p:cNvSpPr/>
          <p:nvPr/>
        </p:nvSpPr>
        <p:spPr>
          <a:xfrm>
            <a:off x="160001" y="3728724"/>
            <a:ext cx="1252104" cy="313932"/>
          </a:xfrm>
          <a:prstGeom prst="rect">
            <a:avLst/>
          </a:prstGeom>
          <a:solidFill>
            <a:schemeClr val="bg1"/>
          </a:solid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en-US" altLang="ko-KR" sz="1600" kern="0" dirty="0" err="1">
                <a:solidFill>
                  <a:srgbClr val="002060"/>
                </a:solidFill>
                <a:latin typeface="微软雅黑" panose="020B0503020204020204" pitchFamily="34" charset="-122"/>
                <a:ea typeface="微软雅黑" panose="020B0503020204020204" pitchFamily="34" charset="-122"/>
              </a:rPr>
              <a:t>方程求解</a:t>
            </a:r>
            <a:r>
              <a:rPr lang="en-US" altLang="zh-CN" sz="1600" kern="0" dirty="0">
                <a:solidFill>
                  <a:srgbClr val="002060"/>
                </a:solidFill>
                <a:latin typeface="微软雅黑" panose="020B0503020204020204" pitchFamily="34" charset="-122"/>
                <a:ea typeface="微软雅黑" panose="020B0503020204020204" pitchFamily="34" charset="-122"/>
              </a:rPr>
              <a:t> </a:t>
            </a:r>
            <a:endParaRPr lang="ko-KR" altLang="en-US" sz="1600" kern="0" dirty="0">
              <a:solidFill>
                <a:srgbClr val="002060"/>
              </a:solidFill>
              <a:latin typeface="微软雅黑" panose="020B0503020204020204" pitchFamily="34" charset="-122"/>
            </a:endParaRPr>
          </a:p>
        </p:txBody>
      </p:sp>
      <p:sp>
        <p:nvSpPr>
          <p:cNvPr id="26" name="文本框 25">
            <a:extLst>
              <a:ext uri="{FF2B5EF4-FFF2-40B4-BE49-F238E27FC236}">
                <a16:creationId xmlns:a16="http://schemas.microsoft.com/office/drawing/2014/main" id="{8FD34AD3-99CB-454B-B7EC-3B3561B995D1}"/>
              </a:ext>
            </a:extLst>
          </p:cNvPr>
          <p:cNvSpPr txBox="1"/>
          <p:nvPr/>
        </p:nvSpPr>
        <p:spPr>
          <a:xfrm>
            <a:off x="1086203" y="3645548"/>
            <a:ext cx="6172567" cy="369332"/>
          </a:xfrm>
          <a:prstGeom prst="rect">
            <a:avLst/>
          </a:prstGeom>
          <a:solidFill>
            <a:schemeClr val="bg1"/>
          </a:solid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gn="ctr">
              <a:lnSpc>
                <a:spcPct val="90000"/>
              </a:lnSpc>
              <a:defRPr sz="2000" b="1" kern="0">
                <a:solidFill>
                  <a:srgbClr val="00B0F0"/>
                </a:solidFill>
                <a:latin typeface="隶书" panose="02010509060101010101" pitchFamily="49" charset="-122"/>
                <a:ea typeface="隶书" panose="02010509060101010101" pitchFamily="49" charset="-122"/>
              </a:defRPr>
            </a:lvl1pPr>
          </a:lstStyle>
          <a:p>
            <a:pPr algn="l"/>
            <a:r>
              <a:rPr lang="zh-CN" altLang="zh-CN" dirty="0">
                <a:latin typeface="华文楷体" panose="02010600040101010101" pitchFamily="2" charset="-122"/>
                <a:ea typeface="华文楷体" panose="02010600040101010101" pitchFamily="2" charset="-122"/>
              </a:rPr>
              <a:t>x,fval,exitflag,output</a:t>
            </a:r>
            <a:r>
              <a:rPr lang="en-US" altLang="zh-CN" dirty="0">
                <a:solidFill>
                  <a:srgbClr val="002060"/>
                </a:solidFill>
                <a:latin typeface="华文楷体" panose="02010600040101010101" pitchFamily="2" charset="-122"/>
                <a:ea typeface="华文楷体" panose="02010600040101010101" pitchFamily="2" charset="-122"/>
              </a:rPr>
              <a:t>=</a:t>
            </a:r>
            <a:r>
              <a:rPr lang="en-US" altLang="ko-KR" dirty="0">
                <a:solidFill>
                  <a:srgbClr val="FF0000"/>
                </a:solidFill>
                <a:latin typeface="微软雅黑" panose="020B0503020204020204" pitchFamily="34" charset="-122"/>
                <a:ea typeface="微软雅黑" panose="020B0503020204020204" pitchFamily="34" charset="-122"/>
              </a:rPr>
              <a:t>fzero</a:t>
            </a:r>
            <a:r>
              <a:rPr lang="en-US" altLang="ko-KR" dirty="0">
                <a:solidFill>
                  <a:srgbClr val="002060"/>
                </a:solidFill>
                <a:latin typeface="华文楷体" panose="02010600040101010101" pitchFamily="2" charset="-122"/>
                <a:ea typeface="华文楷体" panose="02010600040101010101" pitchFamily="2" charset="-122"/>
              </a:rPr>
              <a:t>(</a:t>
            </a:r>
            <a:r>
              <a:rPr lang="en-US" altLang="ko-KR" dirty="0">
                <a:latin typeface="华文楷体" panose="02010600040101010101" pitchFamily="2" charset="-122"/>
                <a:ea typeface="华文楷体" panose="02010600040101010101" pitchFamily="2" charset="-122"/>
              </a:rPr>
              <a:t>fun, x0</a:t>
            </a:r>
            <a:r>
              <a:rPr lang="en-US" altLang="ko-KR" dirty="0">
                <a:solidFill>
                  <a:srgbClr val="002060"/>
                </a:solidFill>
                <a:latin typeface="华文楷体" panose="02010600040101010101" pitchFamily="2" charset="-122"/>
                <a:ea typeface="华文楷体" panose="02010600040101010101" pitchFamily="2" charset="-122"/>
              </a:rPr>
              <a:t>)</a:t>
            </a:r>
            <a:endParaRPr lang="ko-KR" altLang="en-US" dirty="0">
              <a:solidFill>
                <a:srgbClr val="002060"/>
              </a:solidFill>
              <a:latin typeface="华文楷体" panose="02010600040101010101" pitchFamily="2" charset="-122"/>
            </a:endParaRPr>
          </a:p>
        </p:txBody>
      </p:sp>
      <p:sp>
        <p:nvSpPr>
          <p:cNvPr id="27" name="Text Box 7">
            <a:extLst>
              <a:ext uri="{FF2B5EF4-FFF2-40B4-BE49-F238E27FC236}">
                <a16:creationId xmlns:a16="http://schemas.microsoft.com/office/drawing/2014/main" id="{798FBF24-4699-4E50-9449-BBACB40728A2}"/>
              </a:ext>
            </a:extLst>
          </p:cNvPr>
          <p:cNvSpPr txBox="1"/>
          <p:nvPr/>
        </p:nvSpPr>
        <p:spPr bwMode="auto">
          <a:xfrm>
            <a:off x="102992" y="3376875"/>
            <a:ext cx="3144576" cy="313932"/>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2000" b="1" kern="0">
                <a:solidFill>
                  <a:srgbClr val="00B0F0"/>
                </a:solidFill>
                <a:latin typeface="微软雅黑" panose="020B0503020204020204" pitchFamily="34" charset="-122"/>
                <a:ea typeface="微软雅黑" panose="020B0503020204020204" pitchFamily="34" charset="-122"/>
              </a:defRPr>
            </a:lvl1pPr>
          </a:lstStyle>
          <a:p>
            <a:r>
              <a:rPr lang="zh-CN" altLang="en-US" sz="1600" dirty="0"/>
              <a:t>非线性方程及方程组求根</a:t>
            </a:r>
            <a:r>
              <a:rPr lang="en-US" altLang="zh-CN" sz="1600" dirty="0"/>
              <a:t>:</a:t>
            </a:r>
            <a:endParaRPr lang="ko-KR" altLang="en-US" sz="1600" dirty="0"/>
          </a:p>
        </p:txBody>
      </p:sp>
      <p:sp>
        <p:nvSpPr>
          <p:cNvPr id="30" name="Text Box 7">
            <a:extLst>
              <a:ext uri="{FF2B5EF4-FFF2-40B4-BE49-F238E27FC236}">
                <a16:creationId xmlns:a16="http://schemas.microsoft.com/office/drawing/2014/main" id="{3A0E1A63-7038-4128-B498-D07661A6B781}"/>
              </a:ext>
            </a:extLst>
          </p:cNvPr>
          <p:cNvSpPr txBox="1"/>
          <p:nvPr/>
        </p:nvSpPr>
        <p:spPr bwMode="auto">
          <a:xfrm>
            <a:off x="119756" y="915566"/>
            <a:ext cx="1046912" cy="313932"/>
          </a:xfrm>
          <a:prstGeom prst="rect">
            <a:avLst/>
          </a:prstGeom>
          <a:solidFill>
            <a:schemeClr val="bg1"/>
          </a:solid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gn="ctr">
              <a:lnSpc>
                <a:spcPct val="90000"/>
              </a:lnSpc>
              <a:defRPr sz="2000" b="1" kern="0">
                <a:solidFill>
                  <a:srgbClr val="00B0F0"/>
                </a:solidFill>
                <a:latin typeface="隶书" panose="02010509060101010101" pitchFamily="49" charset="-122"/>
                <a:ea typeface="隶书" panose="02010509060101010101" pitchFamily="49" charset="-122"/>
              </a:defRPr>
            </a:lvl1pPr>
          </a:lstStyle>
          <a:p>
            <a:pPr algn="l"/>
            <a:r>
              <a:rPr lang="zh-CN" altLang="en-US" sz="1600" dirty="0">
                <a:latin typeface="微软雅黑" panose="020B0503020204020204" pitchFamily="34" charset="-122"/>
                <a:ea typeface="微软雅黑" panose="020B0503020204020204" pitchFamily="34" charset="-122"/>
              </a:rPr>
              <a:t>线性规划</a:t>
            </a:r>
            <a:r>
              <a:rPr lang="en-US" altLang="zh-CN" sz="1600" dirty="0">
                <a:latin typeface="微软雅黑" panose="020B0503020204020204" pitchFamily="34" charset="-122"/>
                <a:ea typeface="微软雅黑" panose="020B0503020204020204" pitchFamily="34" charset="-122"/>
              </a:rPr>
              <a:t>:</a:t>
            </a:r>
            <a:endParaRPr lang="ko-KR" altLang="en-US" sz="1600" dirty="0">
              <a:latin typeface="微软雅黑" panose="020B0503020204020204" pitchFamily="34" charset="-122"/>
            </a:endParaRPr>
          </a:p>
        </p:txBody>
      </p:sp>
      <p:sp>
        <p:nvSpPr>
          <p:cNvPr id="31" name="Rectangle 1">
            <a:extLst>
              <a:ext uri="{FF2B5EF4-FFF2-40B4-BE49-F238E27FC236}">
                <a16:creationId xmlns:a16="http://schemas.microsoft.com/office/drawing/2014/main" id="{E1F2379E-3E44-40D1-8F79-04D7F62D66DB}"/>
              </a:ext>
            </a:extLst>
          </p:cNvPr>
          <p:cNvSpPr>
            <a:spLocks noChangeArrowheads="1"/>
          </p:cNvSpPr>
          <p:nvPr/>
        </p:nvSpPr>
        <p:spPr bwMode="auto">
          <a:xfrm>
            <a:off x="3834330" y="876819"/>
            <a:ext cx="478049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zh-CN" sz="2200" b="1" kern="0" dirty="0">
                <a:solidFill>
                  <a:srgbClr val="00B0F0"/>
                </a:solidFill>
                <a:latin typeface="华文楷体" panose="02010600040101010101" pitchFamily="2" charset="-122"/>
                <a:ea typeface="华文楷体" panose="02010600040101010101" pitchFamily="2" charset="-122"/>
              </a:rPr>
              <a:t>x,fval,exitflag,output = </a:t>
            </a:r>
            <a:r>
              <a:rPr lang="zh-CN" altLang="zh-CN" sz="2200" b="1" kern="0" dirty="0">
                <a:solidFill>
                  <a:srgbClr val="FF0000"/>
                </a:solidFill>
                <a:latin typeface="华文楷体" panose="02010600040101010101" pitchFamily="2" charset="-122"/>
                <a:ea typeface="华文楷体" panose="02010600040101010101" pitchFamily="2" charset="-122"/>
              </a:rPr>
              <a:t>linprog(</a:t>
            </a:r>
            <a:r>
              <a:rPr lang="zh-CN" altLang="zh-CN" sz="2200" b="1" kern="0" dirty="0">
                <a:solidFill>
                  <a:srgbClr val="00B0F0"/>
                </a:solidFill>
                <a:latin typeface="华文楷体" panose="02010600040101010101" pitchFamily="2" charset="-122"/>
                <a:ea typeface="华文楷体" panose="02010600040101010101" pitchFamily="2" charset="-122"/>
              </a:rPr>
              <a:t>f</a:t>
            </a:r>
            <a:r>
              <a:rPr lang="en-US" altLang="zh-CN" sz="2200" b="1" kern="0" dirty="0">
                <a:solidFill>
                  <a:srgbClr val="00B0F0"/>
                </a:solidFill>
                <a:latin typeface="华文楷体" panose="02010600040101010101" pitchFamily="2" charset="-122"/>
                <a:ea typeface="华文楷体" panose="02010600040101010101" pitchFamily="2" charset="-122"/>
              </a:rPr>
              <a:t>un</a:t>
            </a:r>
            <a:r>
              <a:rPr lang="zh-CN" altLang="zh-CN" sz="2200" b="1" kern="0" dirty="0">
                <a:solidFill>
                  <a:srgbClr val="00B0F0"/>
                </a:solidFill>
                <a:latin typeface="华文楷体" panose="02010600040101010101" pitchFamily="2" charset="-122"/>
                <a:ea typeface="华文楷体" panose="02010600040101010101" pitchFamily="2" charset="-122"/>
              </a:rPr>
              <a:t>,A,b) </a:t>
            </a:r>
          </a:p>
        </p:txBody>
      </p: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BC8C7AB2-E99F-4B82-8C9B-5CDE94698F12}"/>
                  </a:ext>
                </a:extLst>
              </p:cNvPr>
              <p:cNvSpPr txBox="1"/>
              <p:nvPr/>
            </p:nvSpPr>
            <p:spPr>
              <a:xfrm>
                <a:off x="1000759" y="904498"/>
                <a:ext cx="3171727" cy="339645"/>
              </a:xfrm>
              <a:prstGeom prst="rect">
                <a:avLst/>
              </a:prstGeom>
              <a:noFill/>
            </p:spPr>
            <p:txBody>
              <a:bodyPr wrap="square">
                <a:spAutoFit/>
              </a:bodyPr>
              <a:lstStyle/>
              <a:p>
                <a:r>
                  <a:rPr lang="zh-CN" altLang="en-US" sz="1600" dirty="0">
                    <a:solidFill>
                      <a:srgbClr val="002060"/>
                    </a:solidFill>
                    <a:latin typeface="微软雅黑" panose="020B0503020204020204" pitchFamily="34" charset="-122"/>
                    <a:ea typeface="微软雅黑" panose="020B0503020204020204" pitchFamily="34" charset="-122"/>
                  </a:rPr>
                  <a:t>目标</a:t>
                </a:r>
                <a:r>
                  <a:rPr lang="en-US" altLang="zh-CN" sz="1600" dirty="0">
                    <a:solidFill>
                      <a:srgbClr val="002060"/>
                    </a:solidFill>
                    <a:latin typeface="微软雅黑" panose="020B0503020204020204" pitchFamily="34" charset="-122"/>
                    <a:ea typeface="微软雅黑" panose="020B0503020204020204" pitchFamily="34" charset="-122"/>
                  </a:rPr>
                  <a:t>f(x)</a:t>
                </a:r>
                <a:r>
                  <a:rPr lang="zh-CN" altLang="en-US" sz="1600" dirty="0">
                    <a:solidFill>
                      <a:srgbClr val="002060"/>
                    </a:solidFill>
                    <a:latin typeface="微软雅黑" panose="020B0503020204020204" pitchFamily="34" charset="-122"/>
                    <a:ea typeface="微软雅黑" panose="020B0503020204020204" pitchFamily="34" charset="-122"/>
                  </a:rPr>
                  <a:t>和约束</a:t>
                </a:r>
                <a14:m>
                  <m:oMath xmlns:m="http://schemas.openxmlformats.org/officeDocument/2006/math">
                    <m:sSub>
                      <m:sSubPr>
                        <m:ctrlPr>
                          <a:rPr lang="en-US" altLang="zh-CN" sz="1600" i="1">
                            <a:solidFill>
                              <a:srgbClr val="002060"/>
                            </a:solidFill>
                            <a:latin typeface="Cambria Math" panose="02040503050406030204" pitchFamily="18" charset="0"/>
                            <a:ea typeface="微软雅黑" panose="020B0503020204020204" pitchFamily="34" charset="-122"/>
                          </a:rPr>
                        </m:ctrlPr>
                      </m:sSubPr>
                      <m:e>
                        <m:r>
                          <a:rPr lang="en-US" altLang="zh-CN" sz="1600">
                            <a:solidFill>
                              <a:srgbClr val="002060"/>
                            </a:solidFill>
                            <a:latin typeface="Cambria Math" panose="02040503050406030204" pitchFamily="18" charset="0"/>
                            <a:ea typeface="微软雅黑" panose="020B0503020204020204" pitchFamily="34" charset="-122"/>
                          </a:rPr>
                          <m:t>𝑐</m:t>
                        </m:r>
                      </m:e>
                      <m:sub>
                        <m:r>
                          <a:rPr lang="en-US" altLang="zh-CN" sz="1600">
                            <a:solidFill>
                              <a:srgbClr val="002060"/>
                            </a:solidFill>
                            <a:latin typeface="Cambria Math" panose="02040503050406030204" pitchFamily="18" charset="0"/>
                            <a:ea typeface="微软雅黑" panose="020B0503020204020204" pitchFamily="34" charset="-122"/>
                          </a:rPr>
                          <m:t>𝑖</m:t>
                        </m:r>
                      </m:sub>
                    </m:sSub>
                    <m:r>
                      <a:rPr lang="en-US" altLang="zh-CN" sz="1600">
                        <a:solidFill>
                          <a:srgbClr val="002060"/>
                        </a:solidFill>
                        <a:latin typeface="Cambria Math" panose="02040503050406030204" pitchFamily="18" charset="0"/>
                        <a:ea typeface="微软雅黑" panose="020B0503020204020204" pitchFamily="34" charset="-122"/>
                      </a:rPr>
                      <m:t>(</m:t>
                    </m:r>
                    <m:r>
                      <a:rPr lang="en-US" altLang="zh-CN" sz="1600">
                        <a:solidFill>
                          <a:srgbClr val="002060"/>
                        </a:solidFill>
                        <a:latin typeface="Cambria Math" panose="02040503050406030204" pitchFamily="18" charset="0"/>
                        <a:ea typeface="微软雅黑" panose="020B0503020204020204" pitchFamily="34" charset="-122"/>
                      </a:rPr>
                      <m:t>𝑥</m:t>
                    </m:r>
                    <m:r>
                      <a:rPr lang="en-US" altLang="zh-CN" sz="1600">
                        <a:solidFill>
                          <a:srgbClr val="002060"/>
                        </a:solidFill>
                        <a:latin typeface="Cambria Math" panose="02040503050406030204" pitchFamily="18" charset="0"/>
                        <a:ea typeface="微软雅黑" panose="020B0503020204020204" pitchFamily="34" charset="-122"/>
                      </a:rPr>
                      <m:t>)</m:t>
                    </m:r>
                    <m:r>
                      <a:rPr lang="zh-CN" altLang="en-US" sz="1600">
                        <a:solidFill>
                          <a:srgbClr val="002060"/>
                        </a:solidFill>
                        <a:latin typeface="Cambria Math" panose="02040503050406030204" pitchFamily="18" charset="0"/>
                        <a:ea typeface="微软雅黑" panose="020B0503020204020204" pitchFamily="34" charset="-122"/>
                      </a:rPr>
                      <m:t>线性</m:t>
                    </m:r>
                    <m:r>
                      <a:rPr lang="zh-CN" altLang="en-US" sz="1600" i="1">
                        <a:solidFill>
                          <a:srgbClr val="002060"/>
                        </a:solidFill>
                        <a:latin typeface="Cambria Math" panose="02040503050406030204" pitchFamily="18" charset="0"/>
                        <a:ea typeface="微软雅黑" panose="020B0503020204020204" pitchFamily="34" charset="-122"/>
                      </a:rPr>
                      <m:t>函数</m:t>
                    </m:r>
                  </m:oMath>
                </a14:m>
                <a:endParaRPr lang="zh-CN" altLang="en-US" sz="1600" dirty="0">
                  <a:solidFill>
                    <a:srgbClr val="002060"/>
                  </a:solidFill>
                </a:endParaRPr>
              </a:p>
            </p:txBody>
          </p:sp>
        </mc:Choice>
        <mc:Fallback xmlns="">
          <p:sp>
            <p:nvSpPr>
              <p:cNvPr id="33" name="文本框 32">
                <a:extLst>
                  <a:ext uri="{FF2B5EF4-FFF2-40B4-BE49-F238E27FC236}">
                    <a16:creationId xmlns:a16="http://schemas.microsoft.com/office/drawing/2014/main" id="{BC8C7AB2-E99F-4B82-8C9B-5CDE94698F12}"/>
                  </a:ext>
                </a:extLst>
              </p:cNvPr>
              <p:cNvSpPr txBox="1">
                <a:spLocks noRot="1" noChangeAspect="1" noMove="1" noResize="1" noEditPoints="1" noAdjustHandles="1" noChangeArrowheads="1" noChangeShapeType="1" noTextEdit="1"/>
              </p:cNvSpPr>
              <p:nvPr/>
            </p:nvSpPr>
            <p:spPr>
              <a:xfrm>
                <a:off x="1000759" y="904498"/>
                <a:ext cx="3171727" cy="339645"/>
              </a:xfrm>
              <a:prstGeom prst="rect">
                <a:avLst/>
              </a:prstGeom>
              <a:blipFill>
                <a:blip r:embed="rId3"/>
                <a:stretch>
                  <a:fillRect l="-962" t="-5357" b="-2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EF966CD4-1F2B-48FB-A00B-D35901E959CC}"/>
                  </a:ext>
                </a:extLst>
              </p:cNvPr>
              <p:cNvSpPr txBox="1"/>
              <p:nvPr/>
            </p:nvSpPr>
            <p:spPr>
              <a:xfrm>
                <a:off x="1145571" y="1545300"/>
                <a:ext cx="7201731" cy="339837"/>
              </a:xfrm>
              <a:prstGeom prst="rect">
                <a:avLst/>
              </a:prstGeom>
              <a:noFill/>
            </p:spPr>
            <p:txBody>
              <a:bodyPr wrap="square">
                <a:spAutoFit/>
              </a:bodyPr>
              <a:lstStyle/>
              <a:p>
                <a:r>
                  <a:rPr lang="zh-CN" altLang="en-US" sz="1600" dirty="0">
                    <a:solidFill>
                      <a:srgbClr val="002060"/>
                    </a:solidFill>
                    <a:latin typeface="微软雅黑" panose="020B0503020204020204" pitchFamily="34" charset="-122"/>
                    <a:ea typeface="微软雅黑" panose="020B0503020204020204" pitchFamily="34" charset="-122"/>
                  </a:rPr>
                  <a:t>目标</a:t>
                </a:r>
                <a:r>
                  <a:rPr lang="en-US" altLang="zh-CN" sz="1600" dirty="0">
                    <a:solidFill>
                      <a:srgbClr val="002060"/>
                    </a:solidFill>
                    <a:latin typeface="微软雅黑" panose="020B0503020204020204" pitchFamily="34" charset="-122"/>
                    <a:ea typeface="微软雅黑" panose="020B0503020204020204" pitchFamily="34" charset="-122"/>
                  </a:rPr>
                  <a:t>f(x)</a:t>
                </a:r>
                <a:r>
                  <a:rPr lang="zh-CN" altLang="en-US" sz="1600" dirty="0">
                    <a:solidFill>
                      <a:srgbClr val="002060"/>
                    </a:solidFill>
                    <a:latin typeface="微软雅黑" panose="020B0503020204020204" pitchFamily="34" charset="-122"/>
                    <a:ea typeface="微软雅黑" panose="020B0503020204020204" pitchFamily="34" charset="-122"/>
                  </a:rPr>
                  <a:t>或约束</a:t>
                </a:r>
                <a14:m>
                  <m:oMath xmlns:m="http://schemas.openxmlformats.org/officeDocument/2006/math">
                    <m:sSub>
                      <m:sSubPr>
                        <m:ctrlPr>
                          <a:rPr lang="en-US" altLang="zh-CN" sz="1600" i="1">
                            <a:solidFill>
                              <a:srgbClr val="002060"/>
                            </a:solidFill>
                            <a:latin typeface="Cambria Math" panose="02040503050406030204" pitchFamily="18" charset="0"/>
                            <a:ea typeface="微软雅黑" panose="020B0503020204020204" pitchFamily="34" charset="-122"/>
                          </a:rPr>
                        </m:ctrlPr>
                      </m:sSubPr>
                      <m:e>
                        <m:r>
                          <a:rPr lang="en-US" altLang="zh-CN" sz="1600">
                            <a:solidFill>
                              <a:srgbClr val="002060"/>
                            </a:solidFill>
                            <a:latin typeface="Cambria Math" panose="02040503050406030204" pitchFamily="18" charset="0"/>
                            <a:ea typeface="微软雅黑" panose="020B0503020204020204" pitchFamily="34" charset="-122"/>
                          </a:rPr>
                          <m:t>𝑐</m:t>
                        </m:r>
                      </m:e>
                      <m:sub>
                        <m:r>
                          <a:rPr lang="en-US" altLang="zh-CN" sz="1600">
                            <a:solidFill>
                              <a:srgbClr val="002060"/>
                            </a:solidFill>
                            <a:latin typeface="Cambria Math" panose="02040503050406030204" pitchFamily="18" charset="0"/>
                            <a:ea typeface="微软雅黑" panose="020B0503020204020204" pitchFamily="34" charset="-122"/>
                          </a:rPr>
                          <m:t>𝑖</m:t>
                        </m:r>
                      </m:sub>
                    </m:sSub>
                    <m:d>
                      <m:dPr>
                        <m:ctrlPr>
                          <a:rPr lang="en-US" altLang="zh-CN" sz="1600" i="1">
                            <a:solidFill>
                              <a:srgbClr val="002060"/>
                            </a:solidFill>
                            <a:latin typeface="Cambria Math" panose="02040503050406030204" pitchFamily="18" charset="0"/>
                            <a:ea typeface="微软雅黑" panose="020B0503020204020204" pitchFamily="34" charset="-122"/>
                          </a:rPr>
                        </m:ctrlPr>
                      </m:dPr>
                      <m:e>
                        <m:r>
                          <a:rPr lang="en-US" altLang="zh-CN" sz="1600">
                            <a:solidFill>
                              <a:srgbClr val="002060"/>
                            </a:solidFill>
                            <a:latin typeface="Cambria Math" panose="02040503050406030204" pitchFamily="18" charset="0"/>
                            <a:ea typeface="微软雅黑" panose="020B0503020204020204" pitchFamily="34" charset="-122"/>
                          </a:rPr>
                          <m:t>𝑥</m:t>
                        </m:r>
                      </m:e>
                    </m:d>
                    <m:r>
                      <a:rPr lang="zh-CN" altLang="en-US" sz="1600" i="1">
                        <a:solidFill>
                          <a:srgbClr val="002060"/>
                        </a:solidFill>
                        <a:latin typeface="Cambria Math" panose="02040503050406030204" pitchFamily="18" charset="0"/>
                        <a:ea typeface="微软雅黑" panose="020B0503020204020204" pitchFamily="34" charset="-122"/>
                      </a:rPr>
                      <m:t>中有非</m:t>
                    </m:r>
                    <m:r>
                      <a:rPr lang="zh-CN" altLang="en-US" sz="1600">
                        <a:solidFill>
                          <a:srgbClr val="002060"/>
                        </a:solidFill>
                        <a:latin typeface="Cambria Math" panose="02040503050406030204" pitchFamily="18" charset="0"/>
                        <a:ea typeface="微软雅黑" panose="020B0503020204020204" pitchFamily="34" charset="-122"/>
                      </a:rPr>
                      <m:t>线性</m:t>
                    </m:r>
                    <m:r>
                      <a:rPr lang="zh-CN" altLang="en-US" sz="1600" i="1">
                        <a:solidFill>
                          <a:srgbClr val="002060"/>
                        </a:solidFill>
                        <a:latin typeface="Cambria Math" panose="02040503050406030204" pitchFamily="18" charset="0"/>
                        <a:ea typeface="微软雅黑" panose="020B0503020204020204" pitchFamily="34" charset="-122"/>
                      </a:rPr>
                      <m:t>函数</m:t>
                    </m:r>
                    <m:r>
                      <a:rPr lang="en-US" altLang="zh-CN" sz="1600" b="0" i="1" smtClean="0">
                        <a:solidFill>
                          <a:srgbClr val="002060"/>
                        </a:solidFill>
                        <a:latin typeface="Cambria Math" panose="02040503050406030204" pitchFamily="18" charset="0"/>
                        <a:ea typeface="微软雅黑" panose="020B0503020204020204" pitchFamily="34" charset="-122"/>
                      </a:rPr>
                      <m:t>,</m:t>
                    </m:r>
                    <m:r>
                      <a:rPr lang="zh-CN" altLang="en-US" sz="1600" i="1">
                        <a:solidFill>
                          <a:srgbClr val="002060"/>
                        </a:solidFill>
                        <a:latin typeface="Cambria Math" panose="02040503050406030204" pitchFamily="18" charset="0"/>
                        <a:ea typeface="微软雅黑" panose="020B0503020204020204" pitchFamily="34" charset="-122"/>
                      </a:rPr>
                      <m:t>非线性函数</m:t>
                    </m:r>
                    <m:r>
                      <a:rPr lang="zh-CN" altLang="en-US" sz="1600" i="1" smtClean="0">
                        <a:solidFill>
                          <a:srgbClr val="002060"/>
                        </a:solidFill>
                        <a:latin typeface="Cambria Math" panose="02040503050406030204" pitchFamily="18" charset="0"/>
                        <a:ea typeface="微软雅黑" panose="020B0503020204020204" pitchFamily="34" charset="-122"/>
                      </a:rPr>
                      <m:t>命令</m:t>
                    </m:r>
                    <m:r>
                      <a:rPr lang="zh-CN" altLang="en-US" sz="1600" i="1">
                        <a:solidFill>
                          <a:srgbClr val="002060"/>
                        </a:solidFill>
                        <a:latin typeface="Cambria Math" panose="02040503050406030204" pitchFamily="18" charset="0"/>
                        <a:ea typeface="微软雅黑" panose="020B0503020204020204" pitchFamily="34" charset="-122"/>
                      </a:rPr>
                      <m:t>前缀</m:t>
                    </m:r>
                    <m:r>
                      <m:rPr>
                        <m:sty m:val="p"/>
                      </m:rPr>
                      <a:rPr lang="en-US" altLang="zh-CN" sz="1600" i="1" smtClean="0">
                        <a:solidFill>
                          <a:srgbClr val="002060"/>
                        </a:solidFill>
                        <a:latin typeface="Cambria Math" panose="02040503050406030204" pitchFamily="18" charset="0"/>
                        <a:ea typeface="微软雅黑" panose="020B0503020204020204" pitchFamily="34" charset="-122"/>
                      </a:rPr>
                      <m:t>f</m:t>
                    </m:r>
                  </m:oMath>
                </a14:m>
                <a:r>
                  <a:rPr lang="en-US" altLang="zh-CN" sz="1600" dirty="0">
                    <a:solidFill>
                      <a:srgbClr val="002060"/>
                    </a:solidFill>
                  </a:rPr>
                  <a:t>min</a:t>
                </a:r>
                <a:endParaRPr lang="zh-CN" altLang="en-US" sz="1600" dirty="0">
                  <a:solidFill>
                    <a:srgbClr val="002060"/>
                  </a:solidFill>
                </a:endParaRPr>
              </a:p>
            </p:txBody>
          </p:sp>
        </mc:Choice>
        <mc:Fallback xmlns="">
          <p:sp>
            <p:nvSpPr>
              <p:cNvPr id="22" name="文本框 21">
                <a:extLst>
                  <a:ext uri="{FF2B5EF4-FFF2-40B4-BE49-F238E27FC236}">
                    <a16:creationId xmlns:a16="http://schemas.microsoft.com/office/drawing/2014/main" id="{EF966CD4-1F2B-48FB-A00B-D35901E959CC}"/>
                  </a:ext>
                </a:extLst>
              </p:cNvPr>
              <p:cNvSpPr txBox="1">
                <a:spLocks noRot="1" noChangeAspect="1" noMove="1" noResize="1" noEditPoints="1" noAdjustHandles="1" noChangeArrowheads="1" noChangeShapeType="1" noTextEdit="1"/>
              </p:cNvSpPr>
              <p:nvPr/>
            </p:nvSpPr>
            <p:spPr>
              <a:xfrm>
                <a:off x="1145571" y="1545300"/>
                <a:ext cx="7201731" cy="339837"/>
              </a:xfrm>
              <a:prstGeom prst="rect">
                <a:avLst/>
              </a:prstGeom>
              <a:blipFill>
                <a:blip r:embed="rId4"/>
                <a:stretch>
                  <a:fillRect l="-508" t="-5357" b="-21429"/>
                </a:stretch>
              </a:blipFill>
            </p:spPr>
            <p:txBody>
              <a:bodyPr/>
              <a:lstStyle/>
              <a:p>
                <a:r>
                  <a:rPr lang="zh-CN" altLang="en-US">
                    <a:noFill/>
                  </a:rPr>
                  <a:t> </a:t>
                </a:r>
              </a:p>
            </p:txBody>
          </p:sp>
        </mc:Fallback>
      </mc:AlternateContent>
      <p:sp>
        <p:nvSpPr>
          <p:cNvPr id="2" name="左大括号 1">
            <a:extLst>
              <a:ext uri="{FF2B5EF4-FFF2-40B4-BE49-F238E27FC236}">
                <a16:creationId xmlns:a16="http://schemas.microsoft.com/office/drawing/2014/main" id="{EC768B11-D202-41DC-A3F7-D7BE4D7C5E8D}"/>
              </a:ext>
            </a:extLst>
          </p:cNvPr>
          <p:cNvSpPr/>
          <p:nvPr/>
        </p:nvSpPr>
        <p:spPr bwMode="auto">
          <a:xfrm>
            <a:off x="102992" y="1963380"/>
            <a:ext cx="185855" cy="1324353"/>
          </a:xfrm>
          <a:prstGeom prst="leftBrace">
            <a:avLst>
              <a:gd name="adj1" fmla="val 8333"/>
              <a:gd name="adj2" fmla="val 46301"/>
            </a:avLst>
          </a:prstGeom>
          <a:ln w="38100">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28" name="左大括号 27">
            <a:extLst>
              <a:ext uri="{FF2B5EF4-FFF2-40B4-BE49-F238E27FC236}">
                <a16:creationId xmlns:a16="http://schemas.microsoft.com/office/drawing/2014/main" id="{3BDDFC20-6991-4DA5-B7AB-A21676D9EC14}"/>
              </a:ext>
            </a:extLst>
          </p:cNvPr>
          <p:cNvSpPr/>
          <p:nvPr/>
        </p:nvSpPr>
        <p:spPr bwMode="auto">
          <a:xfrm>
            <a:off x="116381" y="3725690"/>
            <a:ext cx="172466" cy="627788"/>
          </a:xfrm>
          <a:prstGeom prst="leftBrace">
            <a:avLst>
              <a:gd name="adj1" fmla="val 8333"/>
              <a:gd name="adj2" fmla="val 46301"/>
            </a:avLst>
          </a:prstGeom>
          <a:ln w="38100">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34" name="文本框 33">
            <a:extLst>
              <a:ext uri="{FF2B5EF4-FFF2-40B4-BE49-F238E27FC236}">
                <a16:creationId xmlns:a16="http://schemas.microsoft.com/office/drawing/2014/main" id="{4DA4CEE3-EA6A-4DDB-A6A9-6DC9D203AC58}"/>
              </a:ext>
            </a:extLst>
          </p:cNvPr>
          <p:cNvSpPr txBox="1"/>
          <p:nvPr/>
        </p:nvSpPr>
        <p:spPr>
          <a:xfrm>
            <a:off x="1977786" y="535826"/>
            <a:ext cx="7094233"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marL="0" indent="0" algn="dist" eaLnBrk="0" hangingPunct="0">
              <a:lnSpc>
                <a:spcPct val="100000"/>
              </a:lnSpc>
            </a:pPr>
            <a:r>
              <a:rPr lang="zh-CN" altLang="en-US" sz="1400" b="0" dirty="0">
                <a:effectLst/>
                <a:latin typeface="Arial Unicode MS"/>
                <a:ea typeface="source-code-pro"/>
              </a:rPr>
              <a:t>决策变量</a:t>
            </a:r>
            <a:r>
              <a:rPr lang="en-US" altLang="zh-CN" sz="1400" b="0" dirty="0">
                <a:effectLst/>
                <a:latin typeface="Arial Unicode MS"/>
                <a:ea typeface="source-code-pro"/>
              </a:rPr>
              <a:t>x,</a:t>
            </a:r>
            <a:r>
              <a:rPr lang="zh-CN" altLang="en-US" sz="1400" b="0" dirty="0">
                <a:effectLst/>
                <a:latin typeface="Arial Unicode MS"/>
                <a:ea typeface="source-code-pro"/>
              </a:rPr>
              <a:t>目标函数值</a:t>
            </a:r>
            <a:r>
              <a:rPr lang="en-US" altLang="zh-CN" sz="1400" b="0" dirty="0" err="1">
                <a:effectLst/>
                <a:latin typeface="Arial Unicode MS"/>
                <a:ea typeface="source-code-pro"/>
              </a:rPr>
              <a:t>fval</a:t>
            </a:r>
            <a:r>
              <a:rPr lang="en-US" altLang="zh-CN" sz="1400" b="0" dirty="0">
                <a:effectLst/>
                <a:latin typeface="Arial Unicode MS"/>
                <a:ea typeface="source-code-pro"/>
              </a:rPr>
              <a:t> </a:t>
            </a:r>
            <a:r>
              <a:rPr lang="zh-CN" altLang="en-US" sz="1400" b="0" dirty="0">
                <a:effectLst/>
                <a:latin typeface="Arial Unicode MS"/>
                <a:ea typeface="source-code-pro"/>
              </a:rPr>
              <a:t>，</a:t>
            </a:r>
            <a:r>
              <a:rPr lang="en-US" altLang="zh-CN" sz="1400" b="0" dirty="0">
                <a:effectLst/>
                <a:latin typeface="Arial Unicode MS"/>
                <a:ea typeface="source-code-pro"/>
              </a:rPr>
              <a:t>,</a:t>
            </a:r>
            <a:r>
              <a:rPr lang="zh-CN" altLang="zh-CN" sz="1400" b="0" dirty="0">
                <a:effectLst/>
                <a:latin typeface="Arial Unicode MS"/>
                <a:ea typeface="source-code-pro"/>
              </a:rPr>
              <a:t>=</a:t>
            </a:r>
            <a:r>
              <a:rPr lang="zh-CN" altLang="en-US" sz="1400" b="0" dirty="0">
                <a:effectLst/>
                <a:latin typeface="Arial Unicode MS"/>
                <a:ea typeface="source-code-pro"/>
              </a:rPr>
              <a:t>优化函数命令（目标函数</a:t>
            </a:r>
            <a:r>
              <a:rPr lang="en-US" altLang="zh-CN" sz="1400" b="0" dirty="0">
                <a:effectLst/>
                <a:latin typeface="Arial Unicode MS"/>
                <a:ea typeface="source-code-pro"/>
              </a:rPr>
              <a:t>fun</a:t>
            </a:r>
            <a:r>
              <a:rPr lang="zh-CN" altLang="en-US" sz="1400" b="0" dirty="0">
                <a:effectLst/>
                <a:latin typeface="Arial Unicode MS"/>
                <a:ea typeface="source-code-pro"/>
              </a:rPr>
              <a:t>，</a:t>
            </a:r>
            <a:r>
              <a:rPr lang="zh-CN" altLang="en-US" sz="1400" dirty="0">
                <a:solidFill>
                  <a:srgbClr val="FFFF00"/>
                </a:solidFill>
                <a:effectLst/>
                <a:latin typeface="Arial Unicode MS"/>
                <a:ea typeface="source-code-pro"/>
              </a:rPr>
              <a:t>初始条件</a:t>
            </a:r>
            <a:r>
              <a:rPr lang="zh-CN" altLang="en-US" sz="1400" dirty="0">
                <a:effectLst/>
                <a:latin typeface="Arial Unicode MS"/>
                <a:ea typeface="source-code-pro"/>
              </a:rPr>
              <a:t>、</a:t>
            </a:r>
            <a:r>
              <a:rPr lang="zh-CN" altLang="en-US" sz="1400" b="0" dirty="0">
                <a:effectLst/>
                <a:latin typeface="Arial Unicode MS"/>
                <a:ea typeface="source-code-pro"/>
              </a:rPr>
              <a:t>约束条件</a:t>
            </a:r>
            <a:r>
              <a:rPr lang="zh-CN" altLang="zh-CN" sz="1400" b="0" dirty="0">
                <a:effectLst/>
                <a:latin typeface="Arial Unicode MS"/>
                <a:ea typeface="source-code-pro"/>
              </a:rPr>
              <a:t>)</a:t>
            </a:r>
            <a:r>
              <a:rPr lang="zh-CN" altLang="zh-CN" sz="1400" b="0" dirty="0">
                <a:effectLst/>
              </a:rPr>
              <a:t> </a:t>
            </a:r>
            <a:endParaRPr lang="zh-CN" altLang="zh-CN" sz="1400" b="0" dirty="0">
              <a:effectLst/>
              <a:latin typeface="Arial" panose="020B0604020202020204" pitchFamily="34" charset="0"/>
            </a:endParaRPr>
          </a:p>
        </p:txBody>
      </p:sp>
      <p:sp>
        <p:nvSpPr>
          <p:cNvPr id="35" name="文本框 34">
            <a:extLst>
              <a:ext uri="{FF2B5EF4-FFF2-40B4-BE49-F238E27FC236}">
                <a16:creationId xmlns:a16="http://schemas.microsoft.com/office/drawing/2014/main" id="{159AFD19-66F2-40E8-B5FA-A8C6B3AC5F67}"/>
              </a:ext>
            </a:extLst>
          </p:cNvPr>
          <p:cNvSpPr txBox="1"/>
          <p:nvPr/>
        </p:nvSpPr>
        <p:spPr>
          <a:xfrm>
            <a:off x="66106" y="538480"/>
            <a:ext cx="1978725" cy="353943"/>
          </a:xfrm>
          <a:prstGeom prst="rect">
            <a:avLst/>
          </a:prstGeom>
          <a:solidFill>
            <a:schemeClr val="bg1"/>
          </a:solidFill>
          <a:ln>
            <a:solidFill>
              <a:schemeClr val="bg1"/>
            </a:solidFill>
          </a:ln>
        </p:spPr>
        <p:txBody>
          <a:bodyPr wrap="square">
            <a:spAutoFit/>
          </a:bodyPr>
          <a:lstStyle/>
          <a:p>
            <a:r>
              <a:rPr lang="zh-CN" altLang="en-US" sz="1700" b="1" dirty="0">
                <a:solidFill>
                  <a:srgbClr val="0070C0"/>
                </a:solidFill>
                <a:latin typeface="微软雅黑" panose="020B0503020204020204" pitchFamily="34" charset="-122"/>
                <a:ea typeface="微软雅黑" panose="020B0503020204020204" pitchFamily="34" charset="-122"/>
              </a:rPr>
              <a:t>优化函数调用形式</a:t>
            </a:r>
          </a:p>
        </p:txBody>
      </p:sp>
      <p:sp>
        <p:nvSpPr>
          <p:cNvPr id="37" name="文本框 36">
            <a:extLst>
              <a:ext uri="{FF2B5EF4-FFF2-40B4-BE49-F238E27FC236}">
                <a16:creationId xmlns:a16="http://schemas.microsoft.com/office/drawing/2014/main" id="{226E2D72-5590-4E28-810C-11A5854AA96D}"/>
              </a:ext>
            </a:extLst>
          </p:cNvPr>
          <p:cNvSpPr txBox="1"/>
          <p:nvPr/>
        </p:nvSpPr>
        <p:spPr>
          <a:xfrm>
            <a:off x="5449563" y="3239594"/>
            <a:ext cx="3779912" cy="1170577"/>
          </a:xfrm>
          <a:prstGeom prst="rect">
            <a:avLst/>
          </a:prstGeom>
          <a:noFill/>
        </p:spPr>
        <p:txBody>
          <a:bodyPr wrap="square">
            <a:spAutoFit/>
          </a:bodyPr>
          <a:lstStyle/>
          <a:p>
            <a:pPr marL="285750" indent="-285750" eaLnBrk="0">
              <a:lnSpc>
                <a:spcPts val="1700"/>
              </a:lnSpc>
              <a:spcBef>
                <a:spcPts val="0"/>
              </a:spcBef>
              <a:spcAft>
                <a:spcPts val="0"/>
              </a:spcAft>
              <a:buFont typeface="Wingdings" panose="05000000000000000000" pitchFamily="2" charset="2"/>
              <a:buChar char="Ø"/>
            </a:pPr>
            <a:r>
              <a:rPr lang="en-US" altLang="zh-CN" sz="1400" dirty="0">
                <a:solidFill>
                  <a:srgbClr val="00B0F0"/>
                </a:solidFill>
                <a:latin typeface="微软雅黑" panose="020B0503020204020204" pitchFamily="34" charset="-122"/>
                <a:ea typeface="微软雅黑" panose="020B0503020204020204" pitchFamily="34" charset="-122"/>
              </a:rPr>
              <a:t>x</a:t>
            </a:r>
            <a:r>
              <a:rPr lang="zh-CN" altLang="en-US" sz="1400" dirty="0">
                <a:solidFill>
                  <a:srgbClr val="00B0F0"/>
                </a:solidFill>
                <a:latin typeface="微软雅黑" panose="020B0503020204020204" pitchFamily="34" charset="-122"/>
                <a:ea typeface="微软雅黑" panose="020B0503020204020204" pitchFamily="34" charset="-122"/>
              </a:rPr>
              <a:t>决策量，或极值点或根</a:t>
            </a:r>
            <a:endParaRPr lang="en-US" altLang="zh-CN" sz="1400" dirty="0">
              <a:solidFill>
                <a:srgbClr val="00B0F0"/>
              </a:solidFill>
              <a:latin typeface="微软雅黑" panose="020B0503020204020204" pitchFamily="34" charset="-122"/>
              <a:ea typeface="微软雅黑" panose="020B0503020204020204" pitchFamily="34" charset="-122"/>
            </a:endParaRPr>
          </a:p>
          <a:p>
            <a:pPr marL="285750" indent="-285750" eaLnBrk="0">
              <a:lnSpc>
                <a:spcPts val="1700"/>
              </a:lnSpc>
              <a:spcBef>
                <a:spcPts val="0"/>
              </a:spcBef>
              <a:spcAft>
                <a:spcPts val="0"/>
              </a:spcAft>
              <a:buFont typeface="Wingdings" panose="05000000000000000000" pitchFamily="2" charset="2"/>
              <a:buChar char="Ø"/>
            </a:pPr>
            <a:r>
              <a:rPr lang="en-US" altLang="zh-CN" sz="1400" dirty="0" err="1">
                <a:solidFill>
                  <a:srgbClr val="00B0F0"/>
                </a:solidFill>
                <a:latin typeface="微软雅黑" panose="020B0503020204020204" pitchFamily="34" charset="-122"/>
                <a:ea typeface="微软雅黑" panose="020B0503020204020204" pitchFamily="34" charset="-122"/>
              </a:rPr>
              <a:t>fval</a:t>
            </a:r>
            <a:r>
              <a:rPr lang="zh-CN" altLang="en-US" sz="1400" dirty="0">
                <a:solidFill>
                  <a:srgbClr val="00B0F0"/>
                </a:solidFill>
                <a:latin typeface="微软雅黑" panose="020B0503020204020204" pitchFamily="34" charset="-122"/>
                <a:ea typeface="微软雅黑" panose="020B0503020204020204" pitchFamily="34" charset="-122"/>
              </a:rPr>
              <a:t>：函数值，或极小值或函数零点</a:t>
            </a:r>
            <a:endParaRPr lang="en-US" altLang="zh-CN" sz="1400" dirty="0">
              <a:solidFill>
                <a:srgbClr val="00B0F0"/>
              </a:solidFill>
              <a:latin typeface="微软雅黑" panose="020B0503020204020204" pitchFamily="34" charset="-122"/>
              <a:ea typeface="微软雅黑" panose="020B0503020204020204" pitchFamily="34" charset="-122"/>
            </a:endParaRPr>
          </a:p>
          <a:p>
            <a:pPr marL="285750" indent="-285750" eaLnBrk="0">
              <a:lnSpc>
                <a:spcPts val="1700"/>
              </a:lnSpc>
              <a:spcBef>
                <a:spcPts val="0"/>
              </a:spcBef>
              <a:spcAft>
                <a:spcPts val="0"/>
              </a:spcAft>
              <a:buFont typeface="Wingdings" panose="05000000000000000000" pitchFamily="2" charset="2"/>
              <a:buChar char="Ø"/>
            </a:pPr>
            <a:r>
              <a:rPr lang="en-US" altLang="ko-KR" sz="1400" dirty="0" err="1">
                <a:solidFill>
                  <a:srgbClr val="00B0F0"/>
                </a:solidFill>
                <a:latin typeface="微软雅黑" panose="020B0503020204020204" pitchFamily="34" charset="-122"/>
                <a:ea typeface="微软雅黑" panose="020B0503020204020204" pitchFamily="34" charset="-122"/>
              </a:rPr>
              <a:t>exitflag:</a:t>
            </a:r>
            <a:r>
              <a:rPr lang="en-US" altLang="ko-KR" sz="1400" cap="none" dirty="0" err="1">
                <a:solidFill>
                  <a:srgbClr val="00B0F0"/>
                </a:solidFill>
                <a:latin typeface="微软雅黑" panose="020B0503020204020204" pitchFamily="34" charset="-122"/>
                <a:ea typeface="微软雅黑" panose="020B0503020204020204" pitchFamily="34" charset="-122"/>
              </a:rPr>
              <a:t>程序退出标志</a:t>
            </a:r>
            <a:r>
              <a:rPr lang="en-US" altLang="ko-KR" sz="1400" u="sng" cap="none" dirty="0">
                <a:solidFill>
                  <a:srgbClr val="00B0F0"/>
                </a:solidFill>
                <a:latin typeface="微软雅黑" panose="020B0503020204020204" pitchFamily="34" charset="-122"/>
                <a:ea typeface="微软雅黑" panose="020B0503020204020204" pitchFamily="34" charset="-122"/>
              </a:rPr>
              <a:t> </a:t>
            </a:r>
            <a:r>
              <a:rPr lang="zh-CN" altLang="en-US" sz="1400" dirty="0">
                <a:solidFill>
                  <a:srgbClr val="00B0F0"/>
                </a:solidFill>
                <a:latin typeface="微软雅黑" panose="020B0503020204020204" pitchFamily="34" charset="-122"/>
                <a:ea typeface="微软雅黑" panose="020B0503020204020204" pitchFamily="34" charset="-122"/>
              </a:rPr>
              <a:t>，</a:t>
            </a:r>
            <a:r>
              <a:rPr lang="en-US" altLang="zh-CN" sz="1400" dirty="0">
                <a:solidFill>
                  <a:srgbClr val="00B0F0"/>
                </a:solidFill>
                <a:latin typeface="微软雅黑" panose="020B0503020204020204" pitchFamily="34" charset="-122"/>
                <a:ea typeface="微软雅黑" panose="020B0503020204020204" pitchFamily="34" charset="-122"/>
              </a:rPr>
              <a:t>1</a:t>
            </a:r>
            <a:r>
              <a:rPr lang="zh-CN" altLang="en-US" sz="1400" dirty="0">
                <a:solidFill>
                  <a:srgbClr val="00B0F0"/>
                </a:solidFill>
                <a:latin typeface="微软雅黑" panose="020B0503020204020204" pitchFamily="34" charset="-122"/>
                <a:ea typeface="微软雅黑" panose="020B0503020204020204" pitchFamily="34" charset="-122"/>
              </a:rPr>
              <a:t>为</a:t>
            </a:r>
            <a:r>
              <a:rPr lang="en-US" altLang="ko-KR" sz="1400" dirty="0" err="1">
                <a:solidFill>
                  <a:srgbClr val="00B0F0"/>
                </a:solidFill>
                <a:latin typeface="微软雅黑" panose="020B0503020204020204" pitchFamily="34" charset="-122"/>
                <a:ea typeface="微软雅黑" panose="020B0503020204020204" pitchFamily="34" charset="-122"/>
              </a:rPr>
              <a:t>收敛</a:t>
            </a:r>
            <a:endParaRPr lang="en-US" altLang="ko-KR" sz="1400" dirty="0">
              <a:solidFill>
                <a:srgbClr val="00B0F0"/>
              </a:solidFill>
              <a:latin typeface="微软雅黑" panose="020B0503020204020204" pitchFamily="34" charset="-122"/>
              <a:ea typeface="微软雅黑" panose="020B0503020204020204" pitchFamily="34" charset="-122"/>
            </a:endParaRPr>
          </a:p>
          <a:p>
            <a:pPr marL="285750" indent="-285750" defTabSz="685800" eaLnBrk="0">
              <a:lnSpc>
                <a:spcPts val="1700"/>
              </a:lnSpc>
              <a:spcBef>
                <a:spcPts val="0"/>
              </a:spcBef>
              <a:spcAft>
                <a:spcPts val="0"/>
              </a:spcAft>
              <a:buFont typeface="Wingdings" panose="05000000000000000000" pitchFamily="2" charset="2"/>
              <a:buChar char="Ø"/>
            </a:pPr>
            <a:r>
              <a:rPr lang="en-US" altLang="ko-KR" sz="1400" dirty="0" err="1">
                <a:solidFill>
                  <a:srgbClr val="00B0F0"/>
                </a:solidFill>
                <a:latin typeface="微软雅黑" panose="020B0503020204020204" pitchFamily="34" charset="-122"/>
                <a:ea typeface="微软雅黑" panose="020B0503020204020204" pitchFamily="34" charset="-122"/>
              </a:rPr>
              <a:t>output:</a:t>
            </a:r>
            <a:r>
              <a:rPr lang="en-US" altLang="ko-KR" sz="1400" cap="none" dirty="0" err="1">
                <a:solidFill>
                  <a:srgbClr val="00B0F0"/>
                </a:solidFill>
                <a:latin typeface="微软雅黑" panose="020B0503020204020204" pitchFamily="34" charset="-122"/>
                <a:ea typeface="微软雅黑" panose="020B0503020204020204" pitchFamily="34" charset="-122"/>
              </a:rPr>
              <a:t>输出信息</a:t>
            </a:r>
            <a:r>
              <a:rPr lang="en-US" altLang="zh-CN" sz="1400" dirty="0">
                <a:solidFill>
                  <a:srgbClr val="00B0F0"/>
                </a:solidFill>
                <a:latin typeface="微软雅黑" panose="020B0503020204020204" pitchFamily="34" charset="-122"/>
                <a:ea typeface="微软雅黑" panose="020B0503020204020204" pitchFamily="34" charset="-122"/>
              </a:rPr>
              <a:t>,</a:t>
            </a:r>
            <a:r>
              <a:rPr lang="zh-CN" altLang="en-US" sz="1400" dirty="0">
                <a:solidFill>
                  <a:srgbClr val="00B0F0"/>
                </a:solidFill>
                <a:latin typeface="微软雅黑" panose="020B0503020204020204" pitchFamily="34" charset="-122"/>
                <a:ea typeface="微软雅黑" panose="020B0503020204020204" pitchFamily="34" charset="-122"/>
              </a:rPr>
              <a:t>如迭代次数、算法消息</a:t>
            </a:r>
          </a:p>
          <a:p>
            <a:pPr marL="285750" indent="-285750" defTabSz="685800" eaLnBrk="0">
              <a:lnSpc>
                <a:spcPts val="1700"/>
              </a:lnSpc>
              <a:spcBef>
                <a:spcPts val="0"/>
              </a:spcBef>
              <a:spcAft>
                <a:spcPts val="0"/>
              </a:spcAft>
              <a:buFont typeface="Wingdings" panose="05000000000000000000" pitchFamily="2" charset="2"/>
              <a:buChar char="Ø"/>
            </a:pPr>
            <a:r>
              <a:rPr lang="en-US" altLang="zh-CN" sz="1400" dirty="0">
                <a:solidFill>
                  <a:srgbClr val="00B0F0"/>
                </a:solidFill>
                <a:latin typeface="微软雅黑" panose="020B0503020204020204" pitchFamily="34" charset="-122"/>
                <a:ea typeface="微软雅黑" panose="020B0503020204020204" pitchFamily="34" charset="-122"/>
              </a:rPr>
              <a:t>fun</a:t>
            </a:r>
            <a:r>
              <a:rPr lang="zh-CN" altLang="en-US" sz="1400" dirty="0">
                <a:solidFill>
                  <a:srgbClr val="00B0F0"/>
                </a:solidFill>
                <a:latin typeface="微软雅黑" panose="020B0503020204020204" pitchFamily="34" charset="-122"/>
                <a:ea typeface="微软雅黑" panose="020B0503020204020204" pitchFamily="34" charset="-122"/>
              </a:rPr>
              <a:t>目标函数 ，</a:t>
            </a:r>
            <a:r>
              <a:rPr lang="en-US" altLang="ko-KR" sz="1400" dirty="0">
                <a:solidFill>
                  <a:srgbClr val="00B0F0"/>
                </a:solidFill>
                <a:latin typeface="微软雅黑" panose="020B0503020204020204" pitchFamily="34" charset="-122"/>
                <a:ea typeface="微软雅黑" panose="020B0503020204020204" pitchFamily="34" charset="-122"/>
              </a:rPr>
              <a:t>x0:</a:t>
            </a:r>
            <a:r>
              <a:rPr lang="zh-CN" altLang="en-US" sz="1400" dirty="0">
                <a:solidFill>
                  <a:srgbClr val="00B0F0"/>
                </a:solidFill>
                <a:latin typeface="微软雅黑" panose="020B0503020204020204" pitchFamily="34" charset="-122"/>
                <a:ea typeface="微软雅黑" panose="020B0503020204020204" pitchFamily="34" charset="-122"/>
              </a:rPr>
              <a:t>迭代时</a:t>
            </a:r>
            <a:r>
              <a:rPr lang="en-US" altLang="zh-CN" sz="1400" dirty="0" err="1">
                <a:solidFill>
                  <a:srgbClr val="00B0F0"/>
                </a:solidFill>
                <a:latin typeface="微软雅黑" panose="020B0503020204020204" pitchFamily="34" charset="-122"/>
                <a:ea typeface="微软雅黑" panose="020B0503020204020204" pitchFamily="34" charset="-122"/>
              </a:rPr>
              <a:t>x</a:t>
            </a:r>
            <a:r>
              <a:rPr lang="en-US" altLang="ko-KR" sz="1400" dirty="0" err="1">
                <a:solidFill>
                  <a:srgbClr val="00B0F0"/>
                </a:solidFill>
                <a:latin typeface="微软雅黑" panose="020B0503020204020204" pitchFamily="34" charset="-122"/>
                <a:ea typeface="微软雅黑" panose="020B0503020204020204" pitchFamily="34" charset="-122"/>
              </a:rPr>
              <a:t>初始值</a:t>
            </a:r>
            <a:r>
              <a:rPr lang="en-US" altLang="ko-KR" sz="1400" dirty="0">
                <a:solidFill>
                  <a:srgbClr val="00B0F0"/>
                </a:solidFill>
                <a:latin typeface="微软雅黑" panose="020B0503020204020204" pitchFamily="34" charset="-122"/>
                <a:ea typeface="微软雅黑" panose="020B0503020204020204" pitchFamily="34" charset="-122"/>
              </a:rPr>
              <a:t> </a:t>
            </a:r>
          </a:p>
        </p:txBody>
      </p:sp>
      <p:sp>
        <p:nvSpPr>
          <p:cNvPr id="36" name="文本框 35">
            <a:extLst>
              <a:ext uri="{FF2B5EF4-FFF2-40B4-BE49-F238E27FC236}">
                <a16:creationId xmlns:a16="http://schemas.microsoft.com/office/drawing/2014/main" id="{9749FA38-3456-4407-BAAC-7F0065314EBF}"/>
              </a:ext>
            </a:extLst>
          </p:cNvPr>
          <p:cNvSpPr txBox="1"/>
          <p:nvPr/>
        </p:nvSpPr>
        <p:spPr>
          <a:xfrm>
            <a:off x="1249025" y="4330598"/>
            <a:ext cx="7980450" cy="338554"/>
          </a:xfrm>
          <a:prstGeom prst="rect">
            <a:avLst/>
          </a:prstGeom>
          <a:noFill/>
        </p:spPr>
        <p:txBody>
          <a:bodyPr wrap="square">
            <a:spAutoFit/>
          </a:bodyPr>
          <a:lstStyle/>
          <a:p>
            <a:pPr algn="dist"/>
            <a:r>
              <a:rPr lang="en-US" altLang="zh-CN" sz="1600" b="1" cap="none" dirty="0">
                <a:solidFill>
                  <a:srgbClr val="FF0000"/>
                </a:solidFill>
                <a:latin typeface="微软雅黑" panose="020B0503020204020204" pitchFamily="34" charset="-122"/>
                <a:ea typeface="微软雅黑" panose="020B0503020204020204" pitchFamily="34" charset="-122"/>
              </a:rPr>
              <a:t>M</a:t>
            </a:r>
            <a:r>
              <a:rPr lang="zh-CN" altLang="en-US" sz="1600" b="1" cap="none" dirty="0">
                <a:solidFill>
                  <a:srgbClr val="FF0000"/>
                </a:solidFill>
                <a:latin typeface="微软雅黑" panose="020B0503020204020204" pitchFamily="34" charset="-122"/>
                <a:ea typeface="微软雅黑" panose="020B0503020204020204" pitchFamily="34" charset="-122"/>
              </a:rPr>
              <a:t>优化命令多输出项需要加括号：</a:t>
            </a:r>
            <a:r>
              <a:rPr lang="en-US" altLang="zh-CN" sz="1600" b="1" kern="0" dirty="0">
                <a:solidFill>
                  <a:srgbClr val="FF0000"/>
                </a:solidFill>
                <a:latin typeface="微软雅黑" panose="020B0503020204020204" pitchFamily="34" charset="-122"/>
                <a:ea typeface="微软雅黑" panose="020B0503020204020204" pitchFamily="34" charset="-122"/>
              </a:rPr>
              <a:t>[</a:t>
            </a:r>
            <a:r>
              <a:rPr lang="zh-CN" altLang="zh-CN" sz="1600" b="1" kern="0" dirty="0">
                <a:solidFill>
                  <a:srgbClr val="FF0000"/>
                </a:solidFill>
                <a:latin typeface="微软雅黑" panose="020B0503020204020204" pitchFamily="34" charset="-122"/>
                <a:ea typeface="微软雅黑" panose="020B0503020204020204" pitchFamily="34" charset="-122"/>
              </a:rPr>
              <a:t>x,fval,exitflag,output</a:t>
            </a:r>
            <a:r>
              <a:rPr lang="en-US" altLang="zh-CN" sz="1600" b="1" kern="0" dirty="0">
                <a:solidFill>
                  <a:srgbClr val="FF0000"/>
                </a:solidFill>
                <a:latin typeface="微软雅黑" panose="020B0503020204020204" pitchFamily="34" charset="-122"/>
                <a:ea typeface="微软雅黑" panose="020B0503020204020204" pitchFamily="34" charset="-122"/>
              </a:rPr>
              <a:t>]</a:t>
            </a:r>
            <a:r>
              <a:rPr lang="zh-CN" altLang="zh-CN" sz="1600" b="1" kern="0" dirty="0">
                <a:solidFill>
                  <a:srgbClr val="FF0000"/>
                </a:solidFill>
                <a:latin typeface="微软雅黑" panose="020B0503020204020204" pitchFamily="34" charset="-122"/>
                <a:ea typeface="微软雅黑" panose="020B0503020204020204" pitchFamily="34" charset="-122"/>
              </a:rPr>
              <a:t> </a:t>
            </a:r>
            <a:r>
              <a:rPr lang="en-US" altLang="ko-KR" sz="1600" kern="0" dirty="0">
                <a:solidFill>
                  <a:srgbClr val="FF0000"/>
                </a:solidFill>
                <a:latin typeface="微软雅黑" panose="020B0503020204020204" pitchFamily="34" charset="-122"/>
                <a:ea typeface="微软雅黑" panose="020B0503020204020204" pitchFamily="34" charset="-122"/>
              </a:rPr>
              <a:t>=</a:t>
            </a:r>
            <a:r>
              <a:rPr lang="zh-CN" altLang="en-US" sz="1600" kern="0" dirty="0">
                <a:solidFill>
                  <a:srgbClr val="FF0000"/>
                </a:solidFill>
                <a:latin typeface="微软雅黑" panose="020B0503020204020204" pitchFamily="34" charset="-122"/>
                <a:ea typeface="微软雅黑" panose="020B0503020204020204" pitchFamily="34" charset="-122"/>
              </a:rPr>
              <a:t>优化函数命令</a:t>
            </a:r>
            <a:r>
              <a:rPr lang="en-US" altLang="ko-KR" sz="1600" kern="0" dirty="0">
                <a:solidFill>
                  <a:srgbClr val="FF0000"/>
                </a:solidFill>
                <a:latin typeface="微软雅黑" panose="020B0503020204020204" pitchFamily="34" charset="-122"/>
                <a:ea typeface="微软雅黑" panose="020B0503020204020204" pitchFamily="34" charset="-122"/>
              </a:rPr>
              <a:t>(</a:t>
            </a:r>
            <a:r>
              <a:rPr lang="en-US" altLang="ko-KR" sz="1600" b="1" kern="0" dirty="0">
                <a:solidFill>
                  <a:srgbClr val="FF0000"/>
                </a:solidFill>
                <a:latin typeface="微软雅黑" panose="020B0503020204020204" pitchFamily="34" charset="-122"/>
                <a:ea typeface="微软雅黑" panose="020B0503020204020204" pitchFamily="34" charset="-122"/>
              </a:rPr>
              <a:t>fun,x0</a:t>
            </a:r>
            <a:r>
              <a:rPr lang="en-US" altLang="ko-KR" sz="1600" kern="0" dirty="0">
                <a:solidFill>
                  <a:srgbClr val="FF0000"/>
                </a:solidFill>
                <a:latin typeface="微软雅黑" panose="020B0503020204020204" pitchFamily="34" charset="-122"/>
                <a:ea typeface="微软雅黑" panose="020B0503020204020204" pitchFamily="34" charset="-122"/>
              </a:rPr>
              <a:t>)</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8E1A2A09-DA43-4785-96F0-6C0CE4DA6FBE}"/>
              </a:ext>
            </a:extLst>
          </p:cNvPr>
          <p:cNvSpPr txBox="1"/>
          <p:nvPr/>
        </p:nvSpPr>
        <p:spPr>
          <a:xfrm>
            <a:off x="6710126" y="1789029"/>
            <a:ext cx="2520280" cy="523220"/>
          </a:xfrm>
          <a:prstGeom prst="rect">
            <a:avLst/>
          </a:prstGeom>
          <a:noFill/>
        </p:spPr>
        <p:txBody>
          <a:bodyPr wrap="square">
            <a:spAutoFit/>
          </a:bodyPr>
          <a:lstStyle/>
          <a:p>
            <a:r>
              <a:rPr lang="zh-CN" altLang="en-US" sz="1400" dirty="0">
                <a:solidFill>
                  <a:schemeClr val="bg1"/>
                </a:solidFill>
                <a:highlight>
                  <a:srgbClr val="3399FF"/>
                </a:highlight>
                <a:latin typeface="微软雅黑" panose="020B0503020204020204" pitchFamily="34" charset="-122"/>
                <a:ea typeface="微软雅黑" panose="020B0503020204020204" pitchFamily="34" charset="-122"/>
              </a:rPr>
              <a:t>输出结果建议用打印显示</a:t>
            </a:r>
            <a:endParaRPr lang="en-US" altLang="zh-CN" sz="1400" dirty="0">
              <a:solidFill>
                <a:schemeClr val="bg1"/>
              </a:solidFill>
              <a:highlight>
                <a:srgbClr val="3399FF"/>
              </a:highlight>
              <a:latin typeface="微软雅黑" panose="020B0503020204020204" pitchFamily="34" charset="-122"/>
              <a:ea typeface="微软雅黑" panose="020B0503020204020204" pitchFamily="34" charset="-122"/>
            </a:endParaRPr>
          </a:p>
          <a:p>
            <a:r>
              <a:rPr lang="en-US" altLang="zh-CN" sz="1400" dirty="0" err="1">
                <a:solidFill>
                  <a:schemeClr val="bg1"/>
                </a:solidFill>
                <a:highlight>
                  <a:srgbClr val="3399FF"/>
                </a:highlight>
                <a:latin typeface="微软雅黑" panose="020B0503020204020204" pitchFamily="34" charset="-122"/>
                <a:ea typeface="微软雅黑" panose="020B0503020204020204" pitchFamily="34" charset="-122"/>
              </a:rPr>
              <a:t>println</a:t>
            </a:r>
            <a:r>
              <a:rPr lang="en-US" altLang="zh-CN" sz="1400" dirty="0">
                <a:solidFill>
                  <a:schemeClr val="bg1"/>
                </a:solidFill>
                <a:highlight>
                  <a:srgbClr val="3399FF"/>
                </a:highlight>
                <a:latin typeface="微软雅黑" panose="020B0503020204020204" pitchFamily="34" charset="-122"/>
                <a:ea typeface="微软雅黑" panose="020B0503020204020204" pitchFamily="34" charset="-122"/>
              </a:rPr>
              <a:t>(“</a:t>
            </a:r>
            <a:r>
              <a:rPr lang="zh-CN" altLang="en-US" sz="1400" dirty="0">
                <a:solidFill>
                  <a:schemeClr val="bg1"/>
                </a:solidFill>
                <a:highlight>
                  <a:srgbClr val="3399FF"/>
                </a:highlight>
                <a:latin typeface="微软雅黑" panose="020B0503020204020204" pitchFamily="34" charset="-122"/>
                <a:ea typeface="微软雅黑" panose="020B0503020204020204" pitchFamily="34" charset="-122"/>
              </a:rPr>
              <a:t>结果</a:t>
            </a:r>
            <a:r>
              <a:rPr lang="en-US" altLang="zh-CN" sz="1400" dirty="0">
                <a:solidFill>
                  <a:schemeClr val="bg1"/>
                </a:solidFill>
                <a:highlight>
                  <a:srgbClr val="3399FF"/>
                </a:highlight>
                <a:latin typeface="微软雅黑" panose="020B0503020204020204" pitchFamily="34" charset="-122"/>
                <a:ea typeface="微软雅黑" panose="020B0503020204020204" pitchFamily="34" charset="-122"/>
              </a:rPr>
              <a:t>=$</a:t>
            </a:r>
            <a:r>
              <a:rPr lang="zh-CN" altLang="en-US" sz="1400" dirty="0">
                <a:solidFill>
                  <a:schemeClr val="bg1"/>
                </a:solidFill>
                <a:highlight>
                  <a:srgbClr val="3399FF"/>
                </a:highlight>
                <a:latin typeface="微软雅黑" panose="020B0503020204020204" pitchFamily="34" charset="-122"/>
                <a:ea typeface="微软雅黑" panose="020B0503020204020204" pitchFamily="34" charset="-122"/>
              </a:rPr>
              <a:t>结果值</a:t>
            </a:r>
            <a:r>
              <a:rPr lang="en-US" altLang="zh-CN" sz="1400" dirty="0">
                <a:solidFill>
                  <a:schemeClr val="bg1"/>
                </a:solidFill>
                <a:highlight>
                  <a:srgbClr val="3399FF"/>
                </a:highlight>
                <a:latin typeface="微软雅黑" panose="020B0503020204020204" pitchFamily="34" charset="-122"/>
                <a:ea typeface="微软雅黑" panose="020B0503020204020204" pitchFamily="34" charset="-122"/>
              </a:rPr>
              <a:t>”</a:t>
            </a:r>
            <a:r>
              <a:rPr lang="zh-CN" altLang="en-US" sz="1400" dirty="0">
                <a:solidFill>
                  <a:schemeClr val="bg1"/>
                </a:solidFill>
                <a:highlight>
                  <a:srgbClr val="3399FF"/>
                </a:highlight>
                <a:latin typeface="微软雅黑" panose="020B0503020204020204" pitchFamily="34" charset="-122"/>
                <a:ea typeface="微软雅黑" panose="020B0503020204020204" pitchFamily="34" charset="-122"/>
              </a:rPr>
              <a:t>）</a:t>
            </a:r>
            <a:endParaRPr lang="zh-CN" altLang="en-US" sz="1400" dirty="0">
              <a:solidFill>
                <a:schemeClr val="bg1"/>
              </a:solidFill>
              <a:highlight>
                <a:srgbClr val="3399FF"/>
              </a:highlight>
            </a:endParaRPr>
          </a:p>
        </p:txBody>
      </p:sp>
      <p:sp>
        <p:nvSpPr>
          <p:cNvPr id="32" name="形状 24">
            <a:extLst>
              <a:ext uri="{FF2B5EF4-FFF2-40B4-BE49-F238E27FC236}">
                <a16:creationId xmlns:a16="http://schemas.microsoft.com/office/drawing/2014/main" id="{D55DB98D-4CA5-4EF5-AC8B-05CEE6F41A39}"/>
              </a:ext>
            </a:extLst>
          </p:cNvPr>
          <p:cNvSpPr/>
          <p:nvPr/>
        </p:nvSpPr>
        <p:spPr>
          <a:xfrm>
            <a:off x="66106" y="4410171"/>
            <a:ext cx="1373942" cy="503432"/>
          </a:xfrm>
          <a:prstGeom prst="irregularSeal2">
            <a:avLst/>
          </a:prstGeom>
          <a:solidFill>
            <a:srgbClr val="FF0000"/>
          </a:soli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marL="0" indent="0" algn="ctr" defTabSz="914400" eaLnBrk="0" fontAlgn="auto" latinLnBrk="0">
              <a:lnSpc>
                <a:spcPct val="100000"/>
              </a:lnSpc>
              <a:spcBef>
                <a:spcPts val="0"/>
              </a:spcBef>
              <a:spcAft>
                <a:spcPts val="0"/>
              </a:spcAft>
              <a:buFontTx/>
              <a:buNone/>
            </a:pPr>
            <a:r>
              <a:rPr lang="zh-CN" altLang="en-US" sz="1600" b="1" cap="none" dirty="0">
                <a:solidFill>
                  <a:srgbClr val="FFFF00"/>
                </a:solidFill>
                <a:highlight>
                  <a:srgbClr val="FF0000"/>
                </a:highlight>
                <a:latin typeface="华文楷体" panose="02010600040101010101" pitchFamily="2" charset="-122"/>
                <a:ea typeface="楷体_GB2312" charset="0"/>
              </a:rPr>
              <a:t>注意</a:t>
            </a:r>
            <a:endParaRPr lang="ko-KR" altLang="en-US" sz="1600" b="1" cap="none" dirty="0">
              <a:solidFill>
                <a:srgbClr val="FFFF00"/>
              </a:solidFill>
              <a:highlight>
                <a:srgbClr val="FF0000"/>
              </a:highlight>
              <a:latin typeface="华文楷体" panose="02010600040101010101" pitchFamily="2" charset="-122"/>
              <a:ea typeface="楷体_GB2312" charset="0"/>
            </a:endParaRPr>
          </a:p>
        </p:txBody>
      </p:sp>
      <p:sp>
        <p:nvSpPr>
          <p:cNvPr id="38" name="Text Box 7">
            <a:extLst>
              <a:ext uri="{FF2B5EF4-FFF2-40B4-BE49-F238E27FC236}">
                <a16:creationId xmlns:a16="http://schemas.microsoft.com/office/drawing/2014/main" id="{A04A65AA-341E-40DA-93C5-FDA448DD23F7}"/>
              </a:ext>
            </a:extLst>
          </p:cNvPr>
          <p:cNvSpPr txBox="1"/>
          <p:nvPr/>
        </p:nvSpPr>
        <p:spPr bwMode="auto">
          <a:xfrm>
            <a:off x="131037" y="1233728"/>
            <a:ext cx="1035632" cy="313932"/>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2000" b="1" kern="0">
                <a:solidFill>
                  <a:srgbClr val="00B0F0"/>
                </a:solidFill>
                <a:latin typeface="微软雅黑" panose="020B0503020204020204" pitchFamily="34" charset="-122"/>
                <a:ea typeface="微软雅黑" panose="020B0503020204020204" pitchFamily="34" charset="-122"/>
              </a:defRPr>
            </a:lvl1pPr>
          </a:lstStyle>
          <a:p>
            <a:r>
              <a:rPr lang="zh-CN" altLang="en-US" sz="1600" dirty="0"/>
              <a:t>二次规划</a:t>
            </a:r>
            <a:r>
              <a:rPr lang="en-US" altLang="zh-CN" sz="1600" dirty="0"/>
              <a:t>:</a:t>
            </a:r>
            <a:endParaRPr lang="ko-KR" altLang="en-US" sz="1600" dirty="0"/>
          </a:p>
        </p:txBody>
      </p:sp>
      <p:sp>
        <p:nvSpPr>
          <p:cNvPr id="39" name="Rectangle 1">
            <a:extLst>
              <a:ext uri="{FF2B5EF4-FFF2-40B4-BE49-F238E27FC236}">
                <a16:creationId xmlns:a16="http://schemas.microsoft.com/office/drawing/2014/main" id="{6A23FAD2-D965-4249-9E9D-D0D67B6EA085}"/>
              </a:ext>
            </a:extLst>
          </p:cNvPr>
          <p:cNvSpPr>
            <a:spLocks noChangeArrowheads="1"/>
          </p:cNvSpPr>
          <p:nvPr/>
        </p:nvSpPr>
        <p:spPr bwMode="auto">
          <a:xfrm>
            <a:off x="3016235" y="1198410"/>
            <a:ext cx="5598591" cy="337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eaLnBrk="0" hangingPunct="0"/>
            <a:r>
              <a:rPr lang="zh-CN" altLang="zh-CN" sz="2200" b="1" kern="0" dirty="0">
                <a:solidFill>
                  <a:srgbClr val="00B0F0"/>
                </a:solidFill>
                <a:latin typeface="华文楷体" panose="02010600040101010101" pitchFamily="2" charset="-122"/>
                <a:ea typeface="华文楷体" panose="02010600040101010101" pitchFamily="2" charset="-122"/>
              </a:rPr>
              <a:t>x,fval,exitflag,output,lambda =</a:t>
            </a:r>
            <a:r>
              <a:rPr lang="zh-CN" altLang="zh-CN" sz="2200" b="1" kern="0" dirty="0">
                <a:solidFill>
                  <a:srgbClr val="FF0000"/>
                </a:solidFill>
                <a:latin typeface="华文楷体" panose="02010600040101010101" pitchFamily="2" charset="-122"/>
                <a:ea typeface="华文楷体" panose="02010600040101010101" pitchFamily="2" charset="-122"/>
              </a:rPr>
              <a:t>quadprog</a:t>
            </a:r>
            <a:r>
              <a:rPr lang="zh-CN" altLang="zh-CN" sz="2200" b="1" kern="0" dirty="0">
                <a:solidFill>
                  <a:srgbClr val="00B0F0"/>
                </a:solidFill>
                <a:latin typeface="华文楷体" panose="02010600040101010101" pitchFamily="2" charset="-122"/>
                <a:ea typeface="华文楷体" panose="02010600040101010101" pitchFamily="2" charset="-122"/>
              </a:rPr>
              <a:t>(H,f</a:t>
            </a:r>
            <a:r>
              <a:rPr lang="en-US" altLang="zh-CN" sz="2200" b="1" kern="0" dirty="0">
                <a:solidFill>
                  <a:srgbClr val="00B0F0"/>
                </a:solidFill>
                <a:latin typeface="华文楷体" panose="02010600040101010101" pitchFamily="2" charset="-122"/>
                <a:ea typeface="华文楷体" panose="02010600040101010101" pitchFamily="2" charset="-122"/>
              </a:rPr>
              <a:t>,</a:t>
            </a:r>
            <a:r>
              <a:rPr lang="zh-CN" altLang="zh-CN" sz="2200" b="1" kern="0" dirty="0">
                <a:solidFill>
                  <a:srgbClr val="00B0F0"/>
                </a:solidFill>
                <a:latin typeface="华文楷体" panose="02010600040101010101" pitchFamily="2" charset="-122"/>
                <a:ea typeface="华文楷体" panose="02010600040101010101" pitchFamily="2" charset="-122"/>
              </a:rPr>
              <a:t> A,b) </a:t>
            </a:r>
          </a:p>
        </p:txBody>
      </p:sp>
      <p:sp>
        <p:nvSpPr>
          <p:cNvPr id="40" name="文本框 39">
            <a:extLst>
              <a:ext uri="{FF2B5EF4-FFF2-40B4-BE49-F238E27FC236}">
                <a16:creationId xmlns:a16="http://schemas.microsoft.com/office/drawing/2014/main" id="{0A08C216-5E8E-4EE2-BCD4-14E48865D384}"/>
              </a:ext>
            </a:extLst>
          </p:cNvPr>
          <p:cNvSpPr txBox="1"/>
          <p:nvPr/>
        </p:nvSpPr>
        <p:spPr>
          <a:xfrm>
            <a:off x="1083377" y="1208591"/>
            <a:ext cx="2150808" cy="338554"/>
          </a:xfrm>
          <a:prstGeom prst="rect">
            <a:avLst/>
          </a:prstGeom>
          <a:noFill/>
        </p:spPr>
        <p:txBody>
          <a:bodyPr wrap="square">
            <a:spAutoFit/>
          </a:bodyPr>
          <a:lstStyle/>
          <a:p>
            <a:r>
              <a:rPr lang="zh-CN" altLang="zh-CN" sz="1600" dirty="0">
                <a:solidFill>
                  <a:srgbClr val="002060"/>
                </a:solidFill>
                <a:latin typeface="微软雅黑" panose="020B0503020204020204" pitchFamily="34" charset="-122"/>
                <a:ea typeface="微软雅黑" panose="020B0503020204020204" pitchFamily="34" charset="-122"/>
              </a:rPr>
              <a:t>目标函数为二次函数</a:t>
            </a:r>
            <a:endParaRPr lang="zh-CN" altLang="en-US" sz="1600" dirty="0">
              <a:solidFill>
                <a:srgbClr val="00206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15629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animBg="1"/>
      <p:bldP spid="15" grpId="0"/>
      <p:bldP spid="17" grpId="0"/>
      <p:bldP spid="18" grpId="0" animBg="1"/>
      <p:bldP spid="20" grpId="0"/>
      <p:bldP spid="19" grpId="0"/>
      <p:bldP spid="23" grpId="0" animBg="1"/>
      <p:bldP spid="24" grpId="0"/>
      <p:bldP spid="25" grpId="0" animBg="1"/>
      <p:bldP spid="26" grpId="0" animBg="1"/>
      <p:bldP spid="27" grpId="0"/>
      <p:bldP spid="30" grpId="0" animBg="1"/>
      <p:bldP spid="31" grpId="0"/>
      <p:bldP spid="33" grpId="0"/>
      <p:bldP spid="22" grpId="0"/>
      <p:bldP spid="36" grpId="0"/>
      <p:bldP spid="29" grpId="0"/>
      <p:bldP spid="32" grpId="0" animBg="1"/>
      <p:bldP spid="38" grpId="0"/>
      <p:bldP spid="39" grpId="0"/>
      <p:bldP spid="4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2CDCAA1D-F9BB-42B2-A43E-4930E88EDEDD}"/>
              </a:ext>
            </a:extLst>
          </p:cNvPr>
          <p:cNvPicPr>
            <a:picLocks noChangeAspect="1"/>
          </p:cNvPicPr>
          <p:nvPr/>
        </p:nvPicPr>
        <p:blipFill rotWithShape="1">
          <a:blip r:embed="rId3"/>
          <a:srcRect l="12341" t="47982" r="7330" b="12199"/>
          <a:stretch/>
        </p:blipFill>
        <p:spPr>
          <a:xfrm>
            <a:off x="251519" y="1955671"/>
            <a:ext cx="4297881" cy="2026945"/>
          </a:xfrm>
          <a:prstGeom prst="rect">
            <a:avLst/>
          </a:prstGeom>
          <a:ln>
            <a:solidFill>
              <a:schemeClr val="bg1">
                <a:lumMod val="50000"/>
              </a:schemeClr>
            </a:solidFill>
          </a:ln>
        </p:spPr>
      </p:pic>
      <p:sp>
        <p:nvSpPr>
          <p:cNvPr id="9" name="文本框 8">
            <a:extLst>
              <a:ext uri="{FF2B5EF4-FFF2-40B4-BE49-F238E27FC236}">
                <a16:creationId xmlns:a16="http://schemas.microsoft.com/office/drawing/2014/main" id="{B1C155EF-C5AE-449B-B2E7-B8B9BF40CA32}"/>
              </a:ext>
            </a:extLst>
          </p:cNvPr>
          <p:cNvSpPr txBox="1"/>
          <p:nvPr/>
        </p:nvSpPr>
        <p:spPr>
          <a:xfrm>
            <a:off x="1731355" y="2178586"/>
            <a:ext cx="424278" cy="307777"/>
          </a:xfrm>
          <a:prstGeom prst="rect">
            <a:avLst/>
          </a:prstGeom>
          <a:noFill/>
        </p:spPr>
        <p:txBody>
          <a:bodyPr wrap="square">
            <a:spAutoFit/>
          </a:bodyPr>
          <a:lstStyle/>
          <a:p>
            <a:r>
              <a:rPr lang="zh-CN" altLang="zh-CN" sz="1400" b="0" dirty="0">
                <a:solidFill>
                  <a:schemeClr val="bg1">
                    <a:lumMod val="95000"/>
                  </a:schemeClr>
                </a:solidFill>
                <a:effectLst/>
                <a:highlight>
                  <a:srgbClr val="FF0000"/>
                </a:highlight>
                <a:latin typeface="Arial Unicode MS"/>
                <a:ea typeface="source-code-pro"/>
              </a:rPr>
              <a:t>x</a:t>
            </a:r>
            <a:r>
              <a:rPr lang="en-US" altLang="zh-CN" sz="1400" b="0" dirty="0">
                <a:solidFill>
                  <a:schemeClr val="bg1">
                    <a:lumMod val="95000"/>
                  </a:schemeClr>
                </a:solidFill>
                <a:effectLst/>
                <a:highlight>
                  <a:srgbClr val="FF0000"/>
                </a:highlight>
                <a:latin typeface="Arial Unicode MS"/>
                <a:ea typeface="source-code-pro"/>
              </a:rPr>
              <a:t>1</a:t>
            </a:r>
            <a:endParaRPr lang="zh-CN" altLang="en-US" sz="1400" dirty="0">
              <a:solidFill>
                <a:schemeClr val="bg1">
                  <a:lumMod val="95000"/>
                </a:schemeClr>
              </a:solidFill>
            </a:endParaRPr>
          </a:p>
        </p:txBody>
      </p:sp>
      <p:sp>
        <p:nvSpPr>
          <p:cNvPr id="10" name="文本框 9">
            <a:extLst>
              <a:ext uri="{FF2B5EF4-FFF2-40B4-BE49-F238E27FC236}">
                <a16:creationId xmlns:a16="http://schemas.microsoft.com/office/drawing/2014/main" id="{8540365D-0447-4AF3-811C-05AD4116D123}"/>
              </a:ext>
            </a:extLst>
          </p:cNvPr>
          <p:cNvSpPr txBox="1"/>
          <p:nvPr/>
        </p:nvSpPr>
        <p:spPr>
          <a:xfrm>
            <a:off x="2308033" y="2177097"/>
            <a:ext cx="424278" cy="307777"/>
          </a:xfrm>
          <a:prstGeom prst="rect">
            <a:avLst/>
          </a:prstGeom>
          <a:noFill/>
        </p:spPr>
        <p:txBody>
          <a:bodyPr wrap="square">
            <a:spAutoFit/>
          </a:bodyPr>
          <a:lstStyle/>
          <a:p>
            <a:r>
              <a:rPr lang="zh-CN" altLang="zh-CN" sz="1400" b="0" dirty="0">
                <a:solidFill>
                  <a:schemeClr val="bg1">
                    <a:lumMod val="95000"/>
                  </a:schemeClr>
                </a:solidFill>
                <a:effectLst/>
                <a:highlight>
                  <a:srgbClr val="FF0000"/>
                </a:highlight>
                <a:latin typeface="Arial Unicode MS"/>
                <a:ea typeface="source-code-pro"/>
              </a:rPr>
              <a:t>x</a:t>
            </a:r>
            <a:r>
              <a:rPr lang="en-US" altLang="zh-CN" sz="1400" b="0" dirty="0">
                <a:solidFill>
                  <a:schemeClr val="bg1">
                    <a:lumMod val="95000"/>
                  </a:schemeClr>
                </a:solidFill>
                <a:effectLst/>
                <a:highlight>
                  <a:srgbClr val="FF0000"/>
                </a:highlight>
                <a:latin typeface="Arial Unicode MS"/>
                <a:ea typeface="source-code-pro"/>
              </a:rPr>
              <a:t>2</a:t>
            </a:r>
            <a:endParaRPr lang="zh-CN" altLang="en-US" sz="1400" dirty="0">
              <a:solidFill>
                <a:schemeClr val="bg1">
                  <a:lumMod val="95000"/>
                </a:schemeClr>
              </a:solidFill>
            </a:endParaRPr>
          </a:p>
        </p:txBody>
      </p:sp>
      <p:sp>
        <p:nvSpPr>
          <p:cNvPr id="11" name="文本框 10">
            <a:extLst>
              <a:ext uri="{FF2B5EF4-FFF2-40B4-BE49-F238E27FC236}">
                <a16:creationId xmlns:a16="http://schemas.microsoft.com/office/drawing/2014/main" id="{92056E9A-5545-4799-A71E-3C113F1D3C11}"/>
              </a:ext>
            </a:extLst>
          </p:cNvPr>
          <p:cNvSpPr txBox="1"/>
          <p:nvPr/>
        </p:nvSpPr>
        <p:spPr>
          <a:xfrm>
            <a:off x="2884711" y="2175608"/>
            <a:ext cx="424278" cy="307777"/>
          </a:xfrm>
          <a:prstGeom prst="rect">
            <a:avLst/>
          </a:prstGeom>
          <a:noFill/>
        </p:spPr>
        <p:txBody>
          <a:bodyPr wrap="square">
            <a:spAutoFit/>
          </a:bodyPr>
          <a:lstStyle/>
          <a:p>
            <a:r>
              <a:rPr lang="zh-CN" altLang="zh-CN" sz="1400" b="0" dirty="0">
                <a:solidFill>
                  <a:schemeClr val="bg1">
                    <a:lumMod val="95000"/>
                  </a:schemeClr>
                </a:solidFill>
                <a:effectLst/>
                <a:highlight>
                  <a:srgbClr val="FF0000"/>
                </a:highlight>
                <a:latin typeface="Arial Unicode MS"/>
                <a:ea typeface="source-code-pro"/>
              </a:rPr>
              <a:t>x</a:t>
            </a:r>
            <a:r>
              <a:rPr lang="en-US" altLang="zh-CN" sz="1400" b="0" dirty="0">
                <a:solidFill>
                  <a:schemeClr val="bg1">
                    <a:lumMod val="95000"/>
                  </a:schemeClr>
                </a:solidFill>
                <a:effectLst/>
                <a:highlight>
                  <a:srgbClr val="FF0000"/>
                </a:highlight>
                <a:latin typeface="Arial Unicode MS"/>
                <a:ea typeface="source-code-pro"/>
              </a:rPr>
              <a:t>3</a:t>
            </a:r>
            <a:endParaRPr lang="zh-CN" altLang="en-US" sz="1400" dirty="0">
              <a:solidFill>
                <a:schemeClr val="bg1">
                  <a:lumMod val="95000"/>
                </a:schemeClr>
              </a:solidFill>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ADB930B-6707-43A8-BD6A-71E2AC5403A3}"/>
                  </a:ext>
                </a:extLst>
              </p:cNvPr>
              <p:cNvSpPr txBox="1"/>
              <p:nvPr/>
            </p:nvSpPr>
            <p:spPr>
              <a:xfrm>
                <a:off x="3419872" y="2617090"/>
                <a:ext cx="2372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solidFill>
                            <a:srgbClr val="FF0000"/>
                          </a:solidFill>
                          <a:latin typeface="Cambria Math" panose="02040503050406030204" pitchFamily="18" charset="0"/>
                        </a:rPr>
                        <m:t>≤</m:t>
                      </m:r>
                    </m:oMath>
                  </m:oMathPara>
                </a14:m>
                <a:endParaRPr lang="zh-CN" altLang="en-US" dirty="0">
                  <a:solidFill>
                    <a:srgbClr val="FF0000"/>
                  </a:solidFill>
                </a:endParaRPr>
              </a:p>
            </p:txBody>
          </p:sp>
        </mc:Choice>
        <mc:Fallback xmlns="">
          <p:sp>
            <p:nvSpPr>
              <p:cNvPr id="12" name="文本框 11">
                <a:extLst>
                  <a:ext uri="{FF2B5EF4-FFF2-40B4-BE49-F238E27FC236}">
                    <a16:creationId xmlns:a16="http://schemas.microsoft.com/office/drawing/2014/main" id="{6ADB930B-6707-43A8-BD6A-71E2AC5403A3}"/>
                  </a:ext>
                </a:extLst>
              </p:cNvPr>
              <p:cNvSpPr txBox="1">
                <a:spLocks noRot="1" noChangeAspect="1" noMove="1" noResize="1" noEditPoints="1" noAdjustHandles="1" noChangeArrowheads="1" noChangeShapeType="1" noTextEdit="1"/>
              </p:cNvSpPr>
              <p:nvPr/>
            </p:nvSpPr>
            <p:spPr>
              <a:xfrm>
                <a:off x="3419872" y="2617090"/>
                <a:ext cx="237244" cy="276999"/>
              </a:xfrm>
              <a:prstGeom prst="rect">
                <a:avLst/>
              </a:prstGeom>
              <a:blipFill>
                <a:blip r:embed="rId4"/>
                <a:stretch>
                  <a:fillRect l="-20513" r="-20513" b="-130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C60B880A-0573-41A5-A159-FCEB082248F9}"/>
                  </a:ext>
                </a:extLst>
              </p:cNvPr>
              <p:cNvSpPr txBox="1"/>
              <p:nvPr/>
            </p:nvSpPr>
            <p:spPr>
              <a:xfrm>
                <a:off x="3419872" y="2976805"/>
                <a:ext cx="2372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solidFill>
                            <a:srgbClr val="FF0000"/>
                          </a:solidFill>
                          <a:latin typeface="Cambria Math" panose="02040503050406030204" pitchFamily="18" charset="0"/>
                        </a:rPr>
                        <m:t>≤</m:t>
                      </m:r>
                    </m:oMath>
                  </m:oMathPara>
                </a14:m>
                <a:endParaRPr lang="zh-CN" altLang="en-US" dirty="0">
                  <a:solidFill>
                    <a:srgbClr val="FF0000"/>
                  </a:solidFill>
                </a:endParaRPr>
              </a:p>
            </p:txBody>
          </p:sp>
        </mc:Choice>
        <mc:Fallback xmlns="">
          <p:sp>
            <p:nvSpPr>
              <p:cNvPr id="13" name="文本框 12">
                <a:extLst>
                  <a:ext uri="{FF2B5EF4-FFF2-40B4-BE49-F238E27FC236}">
                    <a16:creationId xmlns:a16="http://schemas.microsoft.com/office/drawing/2014/main" id="{C60B880A-0573-41A5-A159-FCEB082248F9}"/>
                  </a:ext>
                </a:extLst>
              </p:cNvPr>
              <p:cNvSpPr txBox="1">
                <a:spLocks noRot="1" noChangeAspect="1" noMove="1" noResize="1" noEditPoints="1" noAdjustHandles="1" noChangeArrowheads="1" noChangeShapeType="1" noTextEdit="1"/>
              </p:cNvSpPr>
              <p:nvPr/>
            </p:nvSpPr>
            <p:spPr>
              <a:xfrm>
                <a:off x="3419872" y="2976805"/>
                <a:ext cx="237244" cy="276999"/>
              </a:xfrm>
              <a:prstGeom prst="rect">
                <a:avLst/>
              </a:prstGeom>
              <a:blipFill>
                <a:blip r:embed="rId5"/>
                <a:stretch>
                  <a:fillRect l="-20513" r="-20513" b="-130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203E268E-3499-49A5-8549-E43FF81E7811}"/>
                  </a:ext>
                </a:extLst>
              </p:cNvPr>
              <p:cNvSpPr txBox="1"/>
              <p:nvPr/>
            </p:nvSpPr>
            <p:spPr>
              <a:xfrm>
                <a:off x="3419872" y="3253480"/>
                <a:ext cx="2372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solidFill>
                            <a:srgbClr val="FF0000"/>
                          </a:solidFill>
                          <a:latin typeface="Cambria Math" panose="02040503050406030204" pitchFamily="18" charset="0"/>
                        </a:rPr>
                        <m:t>≤</m:t>
                      </m:r>
                    </m:oMath>
                  </m:oMathPara>
                </a14:m>
                <a:endParaRPr lang="zh-CN" altLang="en-US" dirty="0">
                  <a:solidFill>
                    <a:srgbClr val="FF0000"/>
                  </a:solidFill>
                </a:endParaRPr>
              </a:p>
            </p:txBody>
          </p:sp>
        </mc:Choice>
        <mc:Fallback xmlns="">
          <p:sp>
            <p:nvSpPr>
              <p:cNvPr id="14" name="文本框 13">
                <a:extLst>
                  <a:ext uri="{FF2B5EF4-FFF2-40B4-BE49-F238E27FC236}">
                    <a16:creationId xmlns:a16="http://schemas.microsoft.com/office/drawing/2014/main" id="{203E268E-3499-49A5-8549-E43FF81E7811}"/>
                  </a:ext>
                </a:extLst>
              </p:cNvPr>
              <p:cNvSpPr txBox="1">
                <a:spLocks noRot="1" noChangeAspect="1" noMove="1" noResize="1" noEditPoints="1" noAdjustHandles="1" noChangeArrowheads="1" noChangeShapeType="1" noTextEdit="1"/>
              </p:cNvSpPr>
              <p:nvPr/>
            </p:nvSpPr>
            <p:spPr>
              <a:xfrm>
                <a:off x="3419872" y="3253480"/>
                <a:ext cx="237244" cy="276999"/>
              </a:xfrm>
              <a:prstGeom prst="rect">
                <a:avLst/>
              </a:prstGeom>
              <a:blipFill>
                <a:blip r:embed="rId6"/>
                <a:stretch>
                  <a:fillRect l="-20513" r="-20513" b="-13333"/>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D6DE8D5E-514D-4A02-9441-23F93AFC065D}"/>
              </a:ext>
            </a:extLst>
          </p:cNvPr>
          <p:cNvSpPr txBox="1"/>
          <p:nvPr/>
        </p:nvSpPr>
        <p:spPr>
          <a:xfrm>
            <a:off x="1691680" y="2646638"/>
            <a:ext cx="424278" cy="307777"/>
          </a:xfrm>
          <a:prstGeom prst="rect">
            <a:avLst/>
          </a:prstGeom>
          <a:noFill/>
        </p:spPr>
        <p:txBody>
          <a:bodyPr wrap="square">
            <a:spAutoFit/>
          </a:bodyPr>
          <a:lstStyle/>
          <a:p>
            <a:r>
              <a:rPr lang="zh-CN" altLang="zh-CN" sz="1400" b="0" dirty="0">
                <a:solidFill>
                  <a:schemeClr val="bg1">
                    <a:lumMod val="95000"/>
                  </a:schemeClr>
                </a:solidFill>
                <a:effectLst/>
                <a:highlight>
                  <a:srgbClr val="3399FF"/>
                </a:highlight>
                <a:latin typeface="Arial Unicode MS"/>
                <a:ea typeface="source-code-pro"/>
              </a:rPr>
              <a:t>x</a:t>
            </a:r>
            <a:r>
              <a:rPr lang="en-US" altLang="zh-CN" sz="1400" b="0" dirty="0">
                <a:solidFill>
                  <a:schemeClr val="bg1">
                    <a:lumMod val="95000"/>
                  </a:schemeClr>
                </a:solidFill>
                <a:effectLst/>
                <a:highlight>
                  <a:srgbClr val="3399FF"/>
                </a:highlight>
                <a:latin typeface="Arial Unicode MS"/>
                <a:ea typeface="source-code-pro"/>
              </a:rPr>
              <a:t>1</a:t>
            </a:r>
            <a:endParaRPr lang="zh-CN" altLang="en-US" sz="1400" dirty="0">
              <a:solidFill>
                <a:schemeClr val="bg1">
                  <a:lumMod val="95000"/>
                </a:schemeClr>
              </a:solidFill>
              <a:highlight>
                <a:srgbClr val="3399FF"/>
              </a:highlight>
            </a:endParaRPr>
          </a:p>
        </p:txBody>
      </p:sp>
      <p:sp>
        <p:nvSpPr>
          <p:cNvPr id="16" name="文本框 15">
            <a:extLst>
              <a:ext uri="{FF2B5EF4-FFF2-40B4-BE49-F238E27FC236}">
                <a16:creationId xmlns:a16="http://schemas.microsoft.com/office/drawing/2014/main" id="{A0B6FBD5-62E0-4D88-A9F8-489B5E06F605}"/>
              </a:ext>
            </a:extLst>
          </p:cNvPr>
          <p:cNvSpPr txBox="1"/>
          <p:nvPr/>
        </p:nvSpPr>
        <p:spPr>
          <a:xfrm>
            <a:off x="2268358" y="2645149"/>
            <a:ext cx="424278" cy="307777"/>
          </a:xfrm>
          <a:prstGeom prst="rect">
            <a:avLst/>
          </a:prstGeom>
          <a:noFill/>
        </p:spPr>
        <p:txBody>
          <a:bodyPr wrap="square">
            <a:spAutoFit/>
          </a:bodyPr>
          <a:lstStyle/>
          <a:p>
            <a:r>
              <a:rPr lang="zh-CN" altLang="zh-CN" sz="1400" b="0" dirty="0">
                <a:solidFill>
                  <a:schemeClr val="bg1">
                    <a:lumMod val="95000"/>
                  </a:schemeClr>
                </a:solidFill>
                <a:effectLst/>
                <a:highlight>
                  <a:srgbClr val="3399FF"/>
                </a:highlight>
                <a:latin typeface="Arial Unicode MS"/>
                <a:ea typeface="source-code-pro"/>
              </a:rPr>
              <a:t>x</a:t>
            </a:r>
            <a:r>
              <a:rPr lang="en-US" altLang="zh-CN" sz="1400" b="0" dirty="0">
                <a:solidFill>
                  <a:schemeClr val="bg1">
                    <a:lumMod val="95000"/>
                  </a:schemeClr>
                </a:solidFill>
                <a:effectLst/>
                <a:highlight>
                  <a:srgbClr val="3399FF"/>
                </a:highlight>
                <a:latin typeface="Arial Unicode MS"/>
                <a:ea typeface="source-code-pro"/>
              </a:rPr>
              <a:t>2</a:t>
            </a:r>
            <a:endParaRPr lang="zh-CN" altLang="en-US" sz="1400" dirty="0">
              <a:solidFill>
                <a:schemeClr val="bg1">
                  <a:lumMod val="95000"/>
                </a:schemeClr>
              </a:solidFill>
              <a:highlight>
                <a:srgbClr val="3399FF"/>
              </a:highlight>
            </a:endParaRPr>
          </a:p>
        </p:txBody>
      </p:sp>
      <p:sp>
        <p:nvSpPr>
          <p:cNvPr id="17" name="文本框 16">
            <a:extLst>
              <a:ext uri="{FF2B5EF4-FFF2-40B4-BE49-F238E27FC236}">
                <a16:creationId xmlns:a16="http://schemas.microsoft.com/office/drawing/2014/main" id="{015D7EFA-0A4D-42BC-B9D7-7AC961C14550}"/>
              </a:ext>
            </a:extLst>
          </p:cNvPr>
          <p:cNvSpPr txBox="1"/>
          <p:nvPr/>
        </p:nvSpPr>
        <p:spPr>
          <a:xfrm>
            <a:off x="2923586" y="2643660"/>
            <a:ext cx="424278" cy="307777"/>
          </a:xfrm>
          <a:prstGeom prst="rect">
            <a:avLst/>
          </a:prstGeom>
          <a:noFill/>
        </p:spPr>
        <p:txBody>
          <a:bodyPr wrap="square">
            <a:spAutoFit/>
          </a:bodyPr>
          <a:lstStyle/>
          <a:p>
            <a:r>
              <a:rPr lang="zh-CN" altLang="zh-CN" sz="1400" b="0" dirty="0">
                <a:solidFill>
                  <a:schemeClr val="bg1">
                    <a:lumMod val="95000"/>
                  </a:schemeClr>
                </a:solidFill>
                <a:effectLst/>
                <a:highlight>
                  <a:srgbClr val="3399FF"/>
                </a:highlight>
                <a:latin typeface="Arial Unicode MS"/>
                <a:ea typeface="source-code-pro"/>
              </a:rPr>
              <a:t>x</a:t>
            </a:r>
            <a:r>
              <a:rPr lang="en-US" altLang="zh-CN" sz="1400" b="0" dirty="0">
                <a:solidFill>
                  <a:schemeClr val="bg1">
                    <a:lumMod val="95000"/>
                  </a:schemeClr>
                </a:solidFill>
                <a:effectLst/>
                <a:highlight>
                  <a:srgbClr val="3399FF"/>
                </a:highlight>
                <a:latin typeface="Arial Unicode MS"/>
                <a:ea typeface="source-code-pro"/>
              </a:rPr>
              <a:t>3</a:t>
            </a:r>
            <a:endParaRPr lang="zh-CN" altLang="en-US" sz="1400" dirty="0">
              <a:solidFill>
                <a:schemeClr val="bg1">
                  <a:lumMod val="95000"/>
                </a:schemeClr>
              </a:solidFill>
              <a:highlight>
                <a:srgbClr val="3399FF"/>
              </a:highlight>
            </a:endParaRPr>
          </a:p>
        </p:txBody>
      </p:sp>
      <p:sp>
        <p:nvSpPr>
          <p:cNvPr id="18" name="文本框 17">
            <a:extLst>
              <a:ext uri="{FF2B5EF4-FFF2-40B4-BE49-F238E27FC236}">
                <a16:creationId xmlns:a16="http://schemas.microsoft.com/office/drawing/2014/main" id="{7B6E17FB-90FD-4269-AD10-B663F0917E13}"/>
              </a:ext>
            </a:extLst>
          </p:cNvPr>
          <p:cNvSpPr txBox="1"/>
          <p:nvPr/>
        </p:nvSpPr>
        <p:spPr>
          <a:xfrm>
            <a:off x="1691680" y="3006678"/>
            <a:ext cx="424278" cy="307777"/>
          </a:xfrm>
          <a:prstGeom prst="rect">
            <a:avLst/>
          </a:prstGeom>
          <a:noFill/>
        </p:spPr>
        <p:txBody>
          <a:bodyPr wrap="square">
            <a:spAutoFit/>
          </a:bodyPr>
          <a:lstStyle/>
          <a:p>
            <a:r>
              <a:rPr lang="zh-CN" altLang="zh-CN" sz="1400" b="0" dirty="0">
                <a:solidFill>
                  <a:schemeClr val="bg1">
                    <a:lumMod val="95000"/>
                  </a:schemeClr>
                </a:solidFill>
                <a:effectLst/>
                <a:highlight>
                  <a:srgbClr val="3399FF"/>
                </a:highlight>
                <a:latin typeface="Arial Unicode MS"/>
                <a:ea typeface="source-code-pro"/>
              </a:rPr>
              <a:t>x</a:t>
            </a:r>
            <a:r>
              <a:rPr lang="en-US" altLang="zh-CN" sz="1400" b="0" dirty="0">
                <a:solidFill>
                  <a:schemeClr val="bg1">
                    <a:lumMod val="95000"/>
                  </a:schemeClr>
                </a:solidFill>
                <a:effectLst/>
                <a:highlight>
                  <a:srgbClr val="3399FF"/>
                </a:highlight>
                <a:latin typeface="Arial Unicode MS"/>
                <a:ea typeface="source-code-pro"/>
              </a:rPr>
              <a:t>1</a:t>
            </a:r>
            <a:endParaRPr lang="zh-CN" altLang="en-US" sz="1400" dirty="0">
              <a:solidFill>
                <a:schemeClr val="bg1">
                  <a:lumMod val="95000"/>
                </a:schemeClr>
              </a:solidFill>
              <a:highlight>
                <a:srgbClr val="3399FF"/>
              </a:highlight>
            </a:endParaRPr>
          </a:p>
        </p:txBody>
      </p:sp>
      <p:sp>
        <p:nvSpPr>
          <p:cNvPr id="19" name="文本框 18">
            <a:extLst>
              <a:ext uri="{FF2B5EF4-FFF2-40B4-BE49-F238E27FC236}">
                <a16:creationId xmlns:a16="http://schemas.microsoft.com/office/drawing/2014/main" id="{BD2D62F0-A8D6-4E1F-9AE2-B1DAD386F751}"/>
              </a:ext>
            </a:extLst>
          </p:cNvPr>
          <p:cNvSpPr txBox="1"/>
          <p:nvPr/>
        </p:nvSpPr>
        <p:spPr>
          <a:xfrm>
            <a:off x="2268358" y="3005189"/>
            <a:ext cx="424278" cy="307777"/>
          </a:xfrm>
          <a:prstGeom prst="rect">
            <a:avLst/>
          </a:prstGeom>
          <a:noFill/>
        </p:spPr>
        <p:txBody>
          <a:bodyPr wrap="square">
            <a:spAutoFit/>
          </a:bodyPr>
          <a:lstStyle/>
          <a:p>
            <a:r>
              <a:rPr lang="zh-CN" altLang="zh-CN" sz="1400" b="0" dirty="0">
                <a:solidFill>
                  <a:schemeClr val="bg1">
                    <a:lumMod val="95000"/>
                  </a:schemeClr>
                </a:solidFill>
                <a:effectLst/>
                <a:highlight>
                  <a:srgbClr val="3399FF"/>
                </a:highlight>
                <a:latin typeface="Arial Unicode MS"/>
                <a:ea typeface="source-code-pro"/>
              </a:rPr>
              <a:t>x</a:t>
            </a:r>
            <a:r>
              <a:rPr lang="en-US" altLang="zh-CN" sz="1400" b="0" dirty="0">
                <a:solidFill>
                  <a:schemeClr val="bg1">
                    <a:lumMod val="95000"/>
                  </a:schemeClr>
                </a:solidFill>
                <a:effectLst/>
                <a:highlight>
                  <a:srgbClr val="3399FF"/>
                </a:highlight>
                <a:latin typeface="Arial Unicode MS"/>
                <a:ea typeface="source-code-pro"/>
              </a:rPr>
              <a:t>2</a:t>
            </a:r>
            <a:endParaRPr lang="zh-CN" altLang="en-US" sz="1400" dirty="0">
              <a:solidFill>
                <a:schemeClr val="bg1">
                  <a:lumMod val="95000"/>
                </a:schemeClr>
              </a:solidFill>
              <a:highlight>
                <a:srgbClr val="3399FF"/>
              </a:highlight>
            </a:endParaRPr>
          </a:p>
        </p:txBody>
      </p:sp>
      <p:sp>
        <p:nvSpPr>
          <p:cNvPr id="20" name="文本框 19">
            <a:extLst>
              <a:ext uri="{FF2B5EF4-FFF2-40B4-BE49-F238E27FC236}">
                <a16:creationId xmlns:a16="http://schemas.microsoft.com/office/drawing/2014/main" id="{4388564C-A983-4141-9B76-CA63CCD19EAC}"/>
              </a:ext>
            </a:extLst>
          </p:cNvPr>
          <p:cNvSpPr txBox="1"/>
          <p:nvPr/>
        </p:nvSpPr>
        <p:spPr>
          <a:xfrm>
            <a:off x="2923586" y="3003700"/>
            <a:ext cx="424278" cy="307777"/>
          </a:xfrm>
          <a:prstGeom prst="rect">
            <a:avLst/>
          </a:prstGeom>
          <a:noFill/>
        </p:spPr>
        <p:txBody>
          <a:bodyPr wrap="square">
            <a:spAutoFit/>
          </a:bodyPr>
          <a:lstStyle/>
          <a:p>
            <a:r>
              <a:rPr lang="zh-CN" altLang="zh-CN" sz="1400" b="0" dirty="0">
                <a:solidFill>
                  <a:schemeClr val="bg1">
                    <a:lumMod val="95000"/>
                  </a:schemeClr>
                </a:solidFill>
                <a:effectLst/>
                <a:highlight>
                  <a:srgbClr val="3399FF"/>
                </a:highlight>
                <a:latin typeface="Arial Unicode MS"/>
                <a:ea typeface="source-code-pro"/>
              </a:rPr>
              <a:t>x</a:t>
            </a:r>
            <a:r>
              <a:rPr lang="en-US" altLang="zh-CN" sz="1400" b="0" dirty="0">
                <a:solidFill>
                  <a:schemeClr val="bg1">
                    <a:lumMod val="95000"/>
                  </a:schemeClr>
                </a:solidFill>
                <a:effectLst/>
                <a:highlight>
                  <a:srgbClr val="3399FF"/>
                </a:highlight>
                <a:latin typeface="Arial Unicode MS"/>
                <a:ea typeface="source-code-pro"/>
              </a:rPr>
              <a:t>3</a:t>
            </a:r>
            <a:endParaRPr lang="zh-CN" altLang="en-US" sz="1400" dirty="0">
              <a:solidFill>
                <a:schemeClr val="bg1">
                  <a:lumMod val="95000"/>
                </a:schemeClr>
              </a:solidFill>
              <a:highlight>
                <a:srgbClr val="3399FF"/>
              </a:highlight>
            </a:endParaRPr>
          </a:p>
        </p:txBody>
      </p:sp>
      <p:sp>
        <p:nvSpPr>
          <p:cNvPr id="21" name="文本框 20">
            <a:extLst>
              <a:ext uri="{FF2B5EF4-FFF2-40B4-BE49-F238E27FC236}">
                <a16:creationId xmlns:a16="http://schemas.microsoft.com/office/drawing/2014/main" id="{111F83BF-129B-4667-84DD-C3506F7048B8}"/>
              </a:ext>
            </a:extLst>
          </p:cNvPr>
          <p:cNvSpPr txBox="1"/>
          <p:nvPr/>
        </p:nvSpPr>
        <p:spPr>
          <a:xfrm>
            <a:off x="1691680" y="3245425"/>
            <a:ext cx="424278" cy="307777"/>
          </a:xfrm>
          <a:prstGeom prst="rect">
            <a:avLst/>
          </a:prstGeom>
          <a:noFill/>
        </p:spPr>
        <p:txBody>
          <a:bodyPr wrap="square">
            <a:spAutoFit/>
          </a:bodyPr>
          <a:lstStyle/>
          <a:p>
            <a:r>
              <a:rPr lang="zh-CN" altLang="zh-CN" sz="1400" b="0" dirty="0">
                <a:solidFill>
                  <a:schemeClr val="bg1">
                    <a:lumMod val="95000"/>
                  </a:schemeClr>
                </a:solidFill>
                <a:effectLst/>
                <a:highlight>
                  <a:srgbClr val="3399FF"/>
                </a:highlight>
                <a:latin typeface="Arial Unicode MS"/>
                <a:ea typeface="source-code-pro"/>
              </a:rPr>
              <a:t>x</a:t>
            </a:r>
            <a:r>
              <a:rPr lang="en-US" altLang="zh-CN" sz="1400" b="0" dirty="0">
                <a:solidFill>
                  <a:schemeClr val="bg1">
                    <a:lumMod val="95000"/>
                  </a:schemeClr>
                </a:solidFill>
                <a:effectLst/>
                <a:highlight>
                  <a:srgbClr val="3399FF"/>
                </a:highlight>
                <a:latin typeface="Arial Unicode MS"/>
                <a:ea typeface="source-code-pro"/>
              </a:rPr>
              <a:t>1</a:t>
            </a:r>
            <a:endParaRPr lang="zh-CN" altLang="en-US" sz="1400" dirty="0">
              <a:solidFill>
                <a:schemeClr val="bg1">
                  <a:lumMod val="95000"/>
                </a:schemeClr>
              </a:solidFill>
              <a:highlight>
                <a:srgbClr val="3399FF"/>
              </a:highlight>
            </a:endParaRPr>
          </a:p>
        </p:txBody>
      </p:sp>
      <p:sp>
        <p:nvSpPr>
          <p:cNvPr id="22" name="文本框 21">
            <a:extLst>
              <a:ext uri="{FF2B5EF4-FFF2-40B4-BE49-F238E27FC236}">
                <a16:creationId xmlns:a16="http://schemas.microsoft.com/office/drawing/2014/main" id="{8CD8D84E-5147-4D4D-8636-A80A514DE252}"/>
              </a:ext>
            </a:extLst>
          </p:cNvPr>
          <p:cNvSpPr txBox="1"/>
          <p:nvPr/>
        </p:nvSpPr>
        <p:spPr>
          <a:xfrm>
            <a:off x="2268358" y="3243936"/>
            <a:ext cx="424278" cy="307777"/>
          </a:xfrm>
          <a:prstGeom prst="rect">
            <a:avLst/>
          </a:prstGeom>
          <a:noFill/>
        </p:spPr>
        <p:txBody>
          <a:bodyPr wrap="square">
            <a:spAutoFit/>
          </a:bodyPr>
          <a:lstStyle/>
          <a:p>
            <a:r>
              <a:rPr lang="zh-CN" altLang="zh-CN" sz="1400" b="0" dirty="0">
                <a:solidFill>
                  <a:schemeClr val="bg1">
                    <a:lumMod val="95000"/>
                  </a:schemeClr>
                </a:solidFill>
                <a:effectLst/>
                <a:highlight>
                  <a:srgbClr val="3399FF"/>
                </a:highlight>
                <a:latin typeface="Arial Unicode MS"/>
                <a:ea typeface="source-code-pro"/>
              </a:rPr>
              <a:t>x</a:t>
            </a:r>
            <a:r>
              <a:rPr lang="en-US" altLang="zh-CN" sz="1400" b="0" dirty="0">
                <a:solidFill>
                  <a:schemeClr val="bg1">
                    <a:lumMod val="95000"/>
                  </a:schemeClr>
                </a:solidFill>
                <a:effectLst/>
                <a:highlight>
                  <a:srgbClr val="3399FF"/>
                </a:highlight>
                <a:latin typeface="Arial Unicode MS"/>
                <a:ea typeface="source-code-pro"/>
              </a:rPr>
              <a:t>2</a:t>
            </a:r>
            <a:endParaRPr lang="zh-CN" altLang="en-US" sz="1400" dirty="0">
              <a:solidFill>
                <a:schemeClr val="bg1">
                  <a:lumMod val="95000"/>
                </a:schemeClr>
              </a:solidFill>
              <a:highlight>
                <a:srgbClr val="3399FF"/>
              </a:highlight>
            </a:endParaRPr>
          </a:p>
        </p:txBody>
      </p:sp>
      <p:sp>
        <p:nvSpPr>
          <p:cNvPr id="23" name="文本框 22">
            <a:extLst>
              <a:ext uri="{FF2B5EF4-FFF2-40B4-BE49-F238E27FC236}">
                <a16:creationId xmlns:a16="http://schemas.microsoft.com/office/drawing/2014/main" id="{87969E99-45DC-4EB8-A677-73ABE92FAD84}"/>
              </a:ext>
            </a:extLst>
          </p:cNvPr>
          <p:cNvSpPr txBox="1"/>
          <p:nvPr/>
        </p:nvSpPr>
        <p:spPr>
          <a:xfrm>
            <a:off x="2923586" y="3242447"/>
            <a:ext cx="424278" cy="307777"/>
          </a:xfrm>
          <a:prstGeom prst="rect">
            <a:avLst/>
          </a:prstGeom>
          <a:noFill/>
        </p:spPr>
        <p:txBody>
          <a:bodyPr wrap="square">
            <a:spAutoFit/>
          </a:bodyPr>
          <a:lstStyle/>
          <a:p>
            <a:r>
              <a:rPr lang="zh-CN" altLang="zh-CN" sz="1400" b="0" dirty="0">
                <a:solidFill>
                  <a:schemeClr val="bg1">
                    <a:lumMod val="95000"/>
                  </a:schemeClr>
                </a:solidFill>
                <a:effectLst/>
                <a:highlight>
                  <a:srgbClr val="3399FF"/>
                </a:highlight>
                <a:latin typeface="Arial Unicode MS"/>
                <a:ea typeface="source-code-pro"/>
              </a:rPr>
              <a:t>x</a:t>
            </a:r>
            <a:r>
              <a:rPr lang="en-US" altLang="zh-CN" sz="1400" b="0" dirty="0">
                <a:solidFill>
                  <a:schemeClr val="bg1">
                    <a:lumMod val="95000"/>
                  </a:schemeClr>
                </a:solidFill>
                <a:effectLst/>
                <a:highlight>
                  <a:srgbClr val="3399FF"/>
                </a:highlight>
                <a:latin typeface="Arial Unicode MS"/>
                <a:ea typeface="source-code-pro"/>
              </a:rPr>
              <a:t>3</a:t>
            </a:r>
            <a:endParaRPr lang="zh-CN" altLang="en-US" sz="1400" dirty="0">
              <a:solidFill>
                <a:schemeClr val="bg1">
                  <a:lumMod val="95000"/>
                </a:schemeClr>
              </a:solidFill>
              <a:highlight>
                <a:srgbClr val="3399FF"/>
              </a:highlight>
            </a:endParaRPr>
          </a:p>
        </p:txBody>
      </p:sp>
      <p:sp>
        <p:nvSpPr>
          <p:cNvPr id="24" name="文本框 23">
            <a:extLst>
              <a:ext uri="{FF2B5EF4-FFF2-40B4-BE49-F238E27FC236}">
                <a16:creationId xmlns:a16="http://schemas.microsoft.com/office/drawing/2014/main" id="{DCC90B1E-0B1B-42DD-9DD5-0E1C29832164}"/>
              </a:ext>
            </a:extLst>
          </p:cNvPr>
          <p:cNvSpPr txBox="1"/>
          <p:nvPr/>
        </p:nvSpPr>
        <p:spPr>
          <a:xfrm>
            <a:off x="1691680" y="3602487"/>
            <a:ext cx="424278" cy="307777"/>
          </a:xfrm>
          <a:prstGeom prst="rect">
            <a:avLst/>
          </a:prstGeom>
          <a:noFill/>
        </p:spPr>
        <p:txBody>
          <a:bodyPr wrap="square">
            <a:spAutoFit/>
          </a:bodyPr>
          <a:lstStyle/>
          <a:p>
            <a:r>
              <a:rPr lang="zh-CN" altLang="zh-CN" sz="1400" b="0" dirty="0">
                <a:solidFill>
                  <a:schemeClr val="bg1">
                    <a:lumMod val="95000"/>
                  </a:schemeClr>
                </a:solidFill>
                <a:effectLst/>
                <a:highlight>
                  <a:srgbClr val="3399FF"/>
                </a:highlight>
                <a:latin typeface="Arial Unicode MS"/>
                <a:ea typeface="source-code-pro"/>
              </a:rPr>
              <a:t>x</a:t>
            </a:r>
            <a:r>
              <a:rPr lang="en-US" altLang="zh-CN" sz="1400" b="0" dirty="0">
                <a:solidFill>
                  <a:schemeClr val="bg1">
                    <a:lumMod val="95000"/>
                  </a:schemeClr>
                </a:solidFill>
                <a:effectLst/>
                <a:highlight>
                  <a:srgbClr val="3399FF"/>
                </a:highlight>
                <a:latin typeface="Arial Unicode MS"/>
                <a:ea typeface="source-code-pro"/>
              </a:rPr>
              <a:t>1</a:t>
            </a:r>
            <a:endParaRPr lang="zh-CN" altLang="en-US" sz="1400" dirty="0">
              <a:solidFill>
                <a:schemeClr val="bg1">
                  <a:lumMod val="95000"/>
                </a:schemeClr>
              </a:solidFill>
              <a:highlight>
                <a:srgbClr val="3399FF"/>
              </a:highlight>
            </a:endParaRPr>
          </a:p>
        </p:txBody>
      </p:sp>
      <p:sp>
        <p:nvSpPr>
          <p:cNvPr id="25" name="文本框 24">
            <a:extLst>
              <a:ext uri="{FF2B5EF4-FFF2-40B4-BE49-F238E27FC236}">
                <a16:creationId xmlns:a16="http://schemas.microsoft.com/office/drawing/2014/main" id="{DD8A0A0E-26CA-4279-9594-5D569DA4A787}"/>
              </a:ext>
            </a:extLst>
          </p:cNvPr>
          <p:cNvSpPr txBox="1"/>
          <p:nvPr/>
        </p:nvSpPr>
        <p:spPr>
          <a:xfrm>
            <a:off x="2268358" y="3582742"/>
            <a:ext cx="424278" cy="307777"/>
          </a:xfrm>
          <a:prstGeom prst="rect">
            <a:avLst/>
          </a:prstGeom>
          <a:noFill/>
        </p:spPr>
        <p:txBody>
          <a:bodyPr wrap="square">
            <a:spAutoFit/>
          </a:bodyPr>
          <a:lstStyle/>
          <a:p>
            <a:r>
              <a:rPr lang="zh-CN" altLang="zh-CN" sz="1400" b="0" dirty="0">
                <a:solidFill>
                  <a:schemeClr val="bg1">
                    <a:lumMod val="95000"/>
                  </a:schemeClr>
                </a:solidFill>
                <a:effectLst/>
                <a:highlight>
                  <a:srgbClr val="3399FF"/>
                </a:highlight>
                <a:latin typeface="Arial Unicode MS"/>
                <a:ea typeface="source-code-pro"/>
              </a:rPr>
              <a:t>x</a:t>
            </a:r>
            <a:r>
              <a:rPr lang="en-US" altLang="zh-CN" sz="1400" b="0" dirty="0">
                <a:solidFill>
                  <a:schemeClr val="bg1">
                    <a:lumMod val="95000"/>
                  </a:schemeClr>
                </a:solidFill>
                <a:effectLst/>
                <a:highlight>
                  <a:srgbClr val="3399FF"/>
                </a:highlight>
                <a:latin typeface="Arial Unicode MS"/>
                <a:ea typeface="source-code-pro"/>
              </a:rPr>
              <a:t>2</a:t>
            </a:r>
            <a:endParaRPr lang="zh-CN" altLang="en-US" sz="1400" dirty="0">
              <a:solidFill>
                <a:schemeClr val="bg1">
                  <a:lumMod val="95000"/>
                </a:schemeClr>
              </a:solidFill>
              <a:highlight>
                <a:srgbClr val="3399FF"/>
              </a:highlight>
            </a:endParaRPr>
          </a:p>
        </p:txBody>
      </p:sp>
      <p:sp>
        <p:nvSpPr>
          <p:cNvPr id="26" name="文本框 25">
            <a:extLst>
              <a:ext uri="{FF2B5EF4-FFF2-40B4-BE49-F238E27FC236}">
                <a16:creationId xmlns:a16="http://schemas.microsoft.com/office/drawing/2014/main" id="{8AA985C1-07DE-414E-9A73-6FFE50741FA2}"/>
              </a:ext>
            </a:extLst>
          </p:cNvPr>
          <p:cNvSpPr txBox="1"/>
          <p:nvPr/>
        </p:nvSpPr>
        <p:spPr>
          <a:xfrm>
            <a:off x="2923586" y="3582742"/>
            <a:ext cx="424278" cy="307777"/>
          </a:xfrm>
          <a:prstGeom prst="rect">
            <a:avLst/>
          </a:prstGeom>
          <a:noFill/>
        </p:spPr>
        <p:txBody>
          <a:bodyPr wrap="square">
            <a:spAutoFit/>
          </a:bodyPr>
          <a:lstStyle/>
          <a:p>
            <a:r>
              <a:rPr lang="zh-CN" altLang="zh-CN" sz="1400" b="0" dirty="0">
                <a:solidFill>
                  <a:schemeClr val="bg1">
                    <a:lumMod val="95000"/>
                  </a:schemeClr>
                </a:solidFill>
                <a:effectLst/>
                <a:highlight>
                  <a:srgbClr val="3399FF"/>
                </a:highlight>
                <a:latin typeface="Arial Unicode MS"/>
                <a:ea typeface="source-code-pro"/>
              </a:rPr>
              <a:t>x</a:t>
            </a:r>
            <a:r>
              <a:rPr lang="en-US" altLang="zh-CN" sz="1400" b="0" dirty="0">
                <a:solidFill>
                  <a:schemeClr val="bg1">
                    <a:lumMod val="95000"/>
                  </a:schemeClr>
                </a:solidFill>
                <a:effectLst/>
                <a:highlight>
                  <a:srgbClr val="3399FF"/>
                </a:highlight>
                <a:latin typeface="Arial Unicode MS"/>
                <a:ea typeface="source-code-pro"/>
              </a:rPr>
              <a:t>3</a:t>
            </a:r>
            <a:endParaRPr lang="zh-CN" altLang="en-US" sz="1400" dirty="0">
              <a:solidFill>
                <a:schemeClr val="bg1">
                  <a:lumMod val="95000"/>
                </a:schemeClr>
              </a:solidFill>
              <a:highlight>
                <a:srgbClr val="3399FF"/>
              </a:highlight>
            </a:endParaRPr>
          </a:p>
        </p:txBody>
      </p: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9DC4470F-FE9B-4EBD-BDF4-7D5D62880859}"/>
                  </a:ext>
                </a:extLst>
              </p:cNvPr>
              <p:cNvSpPr txBox="1"/>
              <p:nvPr/>
            </p:nvSpPr>
            <p:spPr>
              <a:xfrm>
                <a:off x="3320358" y="3626462"/>
                <a:ext cx="1128514" cy="246221"/>
              </a:xfrm>
              <a:prstGeom prst="rect">
                <a:avLst/>
              </a:prstGeom>
              <a:noFill/>
            </p:spPr>
            <p:txBody>
              <a:bodyPr wrap="none" lIns="0" tIns="0" rIns="0" bIns="0" rtlCol="0">
                <a:spAutoFit/>
              </a:bodyPr>
              <a:lstStyle/>
              <a:p>
                <a:r>
                  <a:rPr lang="zh-CN" altLang="en-US" sz="1600" dirty="0">
                    <a:solidFill>
                      <a:srgbClr val="FF0000"/>
                    </a:solidFill>
                  </a:rPr>
                  <a:t>目标</a:t>
                </a:r>
                <a14:m>
                  <m:oMath xmlns:m="http://schemas.openxmlformats.org/officeDocument/2006/math">
                    <m:r>
                      <a:rPr lang="zh-CN" altLang="en-US" sz="1600" i="1">
                        <a:solidFill>
                          <a:srgbClr val="FF0000"/>
                        </a:solidFill>
                        <a:latin typeface="Cambria Math" panose="02040503050406030204" pitchFamily="18" charset="0"/>
                      </a:rPr>
                      <m:t>总</m:t>
                    </m:r>
                  </m:oMath>
                </a14:m>
                <a:r>
                  <a:rPr lang="zh-CN" altLang="en-US" sz="1600" dirty="0">
                    <a:solidFill>
                      <a:srgbClr val="FF0000"/>
                    </a:solidFill>
                  </a:rPr>
                  <a:t>产值</a:t>
                </a:r>
                <a:r>
                  <a:rPr lang="en-US" altLang="zh-CN" sz="1600" dirty="0">
                    <a:solidFill>
                      <a:srgbClr val="FF0000"/>
                    </a:solidFill>
                  </a:rPr>
                  <a:t>z</a:t>
                </a:r>
                <a:endParaRPr lang="zh-CN" altLang="en-US" sz="1600" dirty="0">
                  <a:solidFill>
                    <a:srgbClr val="FF0000"/>
                  </a:solidFill>
                </a:endParaRPr>
              </a:p>
            </p:txBody>
          </p:sp>
        </mc:Choice>
        <mc:Fallback xmlns="">
          <p:sp>
            <p:nvSpPr>
              <p:cNvPr id="27" name="文本框 26">
                <a:extLst>
                  <a:ext uri="{FF2B5EF4-FFF2-40B4-BE49-F238E27FC236}">
                    <a16:creationId xmlns:a16="http://schemas.microsoft.com/office/drawing/2014/main" id="{9DC4470F-FE9B-4EBD-BDF4-7D5D62880859}"/>
                  </a:ext>
                </a:extLst>
              </p:cNvPr>
              <p:cNvSpPr txBox="1">
                <a:spLocks noRot="1" noChangeAspect="1" noMove="1" noResize="1" noEditPoints="1" noAdjustHandles="1" noChangeArrowheads="1" noChangeShapeType="1" noTextEdit="1"/>
              </p:cNvSpPr>
              <p:nvPr/>
            </p:nvSpPr>
            <p:spPr>
              <a:xfrm>
                <a:off x="3320358" y="3626462"/>
                <a:ext cx="1128514" cy="246221"/>
              </a:xfrm>
              <a:prstGeom prst="rect">
                <a:avLst/>
              </a:prstGeom>
              <a:blipFill>
                <a:blip r:embed="rId7"/>
                <a:stretch>
                  <a:fillRect l="-11351" t="-30000" r="-8649" b="-52500"/>
                </a:stretch>
              </a:blipFill>
            </p:spPr>
            <p:txBody>
              <a:bodyPr/>
              <a:lstStyle/>
              <a:p>
                <a:r>
                  <a:rPr lang="zh-CN" altLang="en-US">
                    <a:noFill/>
                  </a:rPr>
                  <a:t> </a:t>
                </a:r>
              </a:p>
            </p:txBody>
          </p:sp>
        </mc:Fallback>
      </mc:AlternateContent>
      <p:pic>
        <p:nvPicPr>
          <p:cNvPr id="29" name="图片 28">
            <a:extLst>
              <a:ext uri="{FF2B5EF4-FFF2-40B4-BE49-F238E27FC236}">
                <a16:creationId xmlns:a16="http://schemas.microsoft.com/office/drawing/2014/main" id="{E794C96C-2F2A-4064-9C51-3A1D560A0160}"/>
              </a:ext>
            </a:extLst>
          </p:cNvPr>
          <p:cNvPicPr>
            <a:picLocks noChangeAspect="1"/>
          </p:cNvPicPr>
          <p:nvPr/>
        </p:nvPicPr>
        <p:blipFill rotWithShape="1">
          <a:blip r:embed="rId8"/>
          <a:srcRect l="40036" t="64249" r="34723" b="31128"/>
          <a:stretch/>
        </p:blipFill>
        <p:spPr>
          <a:xfrm>
            <a:off x="1619671" y="4201960"/>
            <a:ext cx="2520281" cy="360242"/>
          </a:xfrm>
          <a:prstGeom prst="rect">
            <a:avLst/>
          </a:prstGeom>
        </p:spPr>
      </p:pic>
      <p:sp>
        <p:nvSpPr>
          <p:cNvPr id="31" name="文本框 30">
            <a:extLst>
              <a:ext uri="{FF2B5EF4-FFF2-40B4-BE49-F238E27FC236}">
                <a16:creationId xmlns:a16="http://schemas.microsoft.com/office/drawing/2014/main" id="{C43AC487-A662-42E6-B88D-C94B1DAA86C2}"/>
              </a:ext>
            </a:extLst>
          </p:cNvPr>
          <p:cNvSpPr txBox="1"/>
          <p:nvPr/>
        </p:nvSpPr>
        <p:spPr>
          <a:xfrm>
            <a:off x="4777989" y="1408949"/>
            <a:ext cx="4256518" cy="369332"/>
          </a:xfrm>
          <a:prstGeom prst="rect">
            <a:avLst/>
          </a:prstGeom>
          <a:noFill/>
        </p:spPr>
        <p:txBody>
          <a:bodyPr wrap="square">
            <a:spAutoFit/>
          </a:bodyPr>
          <a:lstStyle/>
          <a:p>
            <a:r>
              <a:rPr lang="zh-CN" altLang="en-US" dirty="0">
                <a:solidFill>
                  <a:srgbClr val="00B0F0"/>
                </a:solidFill>
                <a:latin typeface="微软雅黑" panose="020B0503020204020204" pitchFamily="34" charset="-122"/>
                <a:ea typeface="微软雅黑" panose="020B0503020204020204" pitchFamily="34" charset="-122"/>
              </a:rPr>
              <a:t>A、B、C部件分别为</a:t>
            </a:r>
            <a:r>
              <a:rPr lang="en-US" altLang="zh-CN" dirty="0">
                <a:solidFill>
                  <a:srgbClr val="00B0F0"/>
                </a:solidFill>
                <a:latin typeface="微软雅黑" panose="020B0503020204020204" pitchFamily="34" charset="-122"/>
                <a:ea typeface="微软雅黑" panose="020B0503020204020204" pitchFamily="34" charset="-122"/>
              </a:rPr>
              <a:t>x1</a:t>
            </a:r>
            <a:r>
              <a:rPr lang="zh-CN" altLang="en-US" dirty="0">
                <a:solidFill>
                  <a:srgbClr val="00B0F0"/>
                </a:solidFill>
                <a:latin typeface="微软雅黑" panose="020B0503020204020204" pitchFamily="34" charset="-122"/>
                <a:ea typeface="微软雅黑" panose="020B0503020204020204" pitchFamily="34" charset="-122"/>
              </a:rPr>
              <a:t>、</a:t>
            </a:r>
            <a:r>
              <a:rPr lang="en-US" altLang="zh-CN" dirty="0">
                <a:solidFill>
                  <a:srgbClr val="00B0F0"/>
                </a:solidFill>
                <a:latin typeface="微软雅黑" panose="020B0503020204020204" pitchFamily="34" charset="-122"/>
                <a:ea typeface="微软雅黑" panose="020B0503020204020204" pitchFamily="34" charset="-122"/>
              </a:rPr>
              <a:t>x2</a:t>
            </a:r>
            <a:r>
              <a:rPr lang="zh-CN" altLang="en-US" dirty="0">
                <a:solidFill>
                  <a:srgbClr val="00B0F0"/>
                </a:solidFill>
                <a:latin typeface="微软雅黑" panose="020B0503020204020204" pitchFamily="34" charset="-122"/>
                <a:ea typeface="微软雅黑" panose="020B0503020204020204" pitchFamily="34" charset="-122"/>
              </a:rPr>
              <a:t>、</a:t>
            </a:r>
            <a:r>
              <a:rPr lang="en-US" altLang="zh-CN" dirty="0">
                <a:solidFill>
                  <a:srgbClr val="00B0F0"/>
                </a:solidFill>
                <a:latin typeface="微软雅黑" panose="020B0503020204020204" pitchFamily="34" charset="-122"/>
                <a:ea typeface="微软雅黑" panose="020B0503020204020204" pitchFamily="34" charset="-122"/>
              </a:rPr>
              <a:t>x3</a:t>
            </a:r>
            <a:r>
              <a:rPr lang="zh-CN" altLang="en-US" dirty="0">
                <a:solidFill>
                  <a:srgbClr val="00B0F0"/>
                </a:solidFill>
                <a:latin typeface="微软雅黑" panose="020B0503020204020204" pitchFamily="34" charset="-122"/>
                <a:ea typeface="微软雅黑" panose="020B0503020204020204" pitchFamily="34" charset="-122"/>
              </a:rPr>
              <a:t>件</a:t>
            </a:r>
          </a:p>
        </p:txBody>
      </p:sp>
      <p:sp>
        <p:nvSpPr>
          <p:cNvPr id="33" name="文本框 32">
            <a:extLst>
              <a:ext uri="{FF2B5EF4-FFF2-40B4-BE49-F238E27FC236}">
                <a16:creationId xmlns:a16="http://schemas.microsoft.com/office/drawing/2014/main" id="{6E8C4148-41D9-48B8-83DB-5AF16CD43B26}"/>
              </a:ext>
            </a:extLst>
          </p:cNvPr>
          <p:cNvSpPr txBox="1"/>
          <p:nvPr/>
        </p:nvSpPr>
        <p:spPr>
          <a:xfrm>
            <a:off x="138478" y="4256544"/>
            <a:ext cx="1405111" cy="338554"/>
          </a:xfrm>
          <a:prstGeom prst="rect">
            <a:avLst/>
          </a:prstGeom>
          <a:noFill/>
        </p:spPr>
        <p:txBody>
          <a:bodyPr wrap="square">
            <a:spAutoFit/>
          </a:bodyPr>
          <a:lstStyle/>
          <a:p>
            <a:pPr marL="342900" indent="-342900">
              <a:buFont typeface="+mj-ea"/>
              <a:buAutoNum type="circleNumDbPlain" startAt="4"/>
            </a:pPr>
            <a:r>
              <a:rPr lang="zh-CN" altLang="en-US" sz="1600" b="1" dirty="0">
                <a:solidFill>
                  <a:srgbClr val="0070C0"/>
                </a:solidFill>
                <a:latin typeface="微软雅黑" panose="020B0503020204020204" pitchFamily="34" charset="-122"/>
                <a:ea typeface="微软雅黑" panose="020B0503020204020204" pitchFamily="34" charset="-122"/>
              </a:rPr>
              <a:t>目标函数</a:t>
            </a:r>
            <a:r>
              <a:rPr lang="zh-CN" altLang="en-US" sz="1600" dirty="0">
                <a:solidFill>
                  <a:srgbClr val="0070C0"/>
                </a:solidFill>
                <a:latin typeface="微软雅黑" panose="020B0503020204020204" pitchFamily="34" charset="-122"/>
                <a:ea typeface="微软雅黑" panose="020B0503020204020204" pitchFamily="34" charset="-122"/>
              </a:rPr>
              <a:t>：</a:t>
            </a:r>
          </a:p>
        </p:txBody>
      </p:sp>
      <p:pic>
        <p:nvPicPr>
          <p:cNvPr id="37" name="图片 36">
            <a:extLst>
              <a:ext uri="{FF2B5EF4-FFF2-40B4-BE49-F238E27FC236}">
                <a16:creationId xmlns:a16="http://schemas.microsoft.com/office/drawing/2014/main" id="{5E7A36CC-F72D-47ED-91C4-AF56AE151B96}"/>
              </a:ext>
            </a:extLst>
          </p:cNvPr>
          <p:cNvPicPr>
            <a:picLocks noChangeAspect="1"/>
          </p:cNvPicPr>
          <p:nvPr/>
        </p:nvPicPr>
        <p:blipFill rotWithShape="1">
          <a:blip r:embed="rId9"/>
          <a:srcRect l="40761" t="39986" r="41100" b="44688"/>
          <a:stretch/>
        </p:blipFill>
        <p:spPr>
          <a:xfrm>
            <a:off x="6116780" y="2160865"/>
            <a:ext cx="2282003" cy="1084560"/>
          </a:xfrm>
          <a:prstGeom prst="rect">
            <a:avLst/>
          </a:prstGeom>
        </p:spPr>
      </p:pic>
      <p:sp>
        <p:nvSpPr>
          <p:cNvPr id="41" name="文本框 40">
            <a:extLst>
              <a:ext uri="{FF2B5EF4-FFF2-40B4-BE49-F238E27FC236}">
                <a16:creationId xmlns:a16="http://schemas.microsoft.com/office/drawing/2014/main" id="{65B2AD9C-9685-42DD-9467-1D1B97B01466}"/>
              </a:ext>
            </a:extLst>
          </p:cNvPr>
          <p:cNvSpPr txBox="1"/>
          <p:nvPr/>
        </p:nvSpPr>
        <p:spPr>
          <a:xfrm>
            <a:off x="858736" y="147709"/>
            <a:ext cx="8064896" cy="492443"/>
          </a:xfrm>
          <a:prstGeom prst="rect">
            <a:avLst/>
          </a:prstGeom>
          <a:noFill/>
        </p:spPr>
        <p:txBody>
          <a:bodyPr wrap="square">
            <a:spAutoFit/>
          </a:bodyPr>
          <a:lstStyle/>
          <a:p>
            <a:pPr marL="0" indent="0">
              <a:buNone/>
            </a:pPr>
            <a:r>
              <a:rPr lang="en-US" altLang="zh-CN" sz="2600" b="0" dirty="0">
                <a:solidFill>
                  <a:srgbClr val="002060"/>
                </a:solidFill>
                <a:latin typeface="华文楷体" panose="02010600040101010101" pitchFamily="2" charset="-122"/>
                <a:ea typeface="华文楷体" panose="02010600040101010101" pitchFamily="2" charset="-122"/>
              </a:rPr>
              <a:t>§8.2 </a:t>
            </a:r>
            <a:r>
              <a:rPr lang="zh-CN" altLang="en-US" sz="2600" dirty="0">
                <a:latin typeface="华文楷体" panose="02010600040101010101" pitchFamily="2" charset="-122"/>
                <a:ea typeface="华文楷体" panose="02010600040101010101" pitchFamily="2" charset="-122"/>
              </a:rPr>
              <a:t>线性规划 </a:t>
            </a:r>
            <a:r>
              <a:rPr lang="en-US" altLang="zh-CN" sz="2600" dirty="0">
                <a:latin typeface="华文楷体" panose="02010600040101010101" pitchFamily="2" charset="-122"/>
                <a:ea typeface="华文楷体" panose="02010600040101010101" pitchFamily="2" charset="-122"/>
              </a:rPr>
              <a:t> </a:t>
            </a:r>
            <a:r>
              <a:rPr lang="en-US" altLang="zh-CN" sz="2600" b="0" i="0" u="none" strike="noStrike" dirty="0" err="1">
                <a:solidFill>
                  <a:srgbClr val="FF0000"/>
                </a:solidFill>
                <a:effectLst/>
                <a:latin typeface="华文楷体" panose="02010600040101010101" pitchFamily="2" charset="-122"/>
                <a:ea typeface="华文楷体" panose="02010600040101010101" pitchFamily="2" charset="-122"/>
                <a:hlinkClick r:id="rId10" action="ppaction://hlinkfile">
                  <a:extLst>
                    <a:ext uri="{A12FA001-AC4F-418D-AE19-62706E023703}">
                      <ahyp:hlinkClr xmlns:ahyp="http://schemas.microsoft.com/office/drawing/2018/hyperlinkcolor" val="tx"/>
                    </a:ext>
                  </a:extLst>
                </a:hlinkClick>
              </a:rPr>
              <a:t>linprog</a:t>
            </a:r>
            <a:r>
              <a:rPr lang="en-US" altLang="zh-CN" sz="2600" b="0" kern="0" dirty="0">
                <a:solidFill>
                  <a:srgbClr val="FF0000"/>
                </a:solidFill>
                <a:latin typeface="华文楷体" panose="02010600040101010101" pitchFamily="2" charset="-122"/>
                <a:ea typeface="华文楷体" panose="02010600040101010101" pitchFamily="2" charset="-122"/>
              </a:rPr>
              <a:t> ——</a:t>
            </a:r>
            <a:r>
              <a:rPr lang="zh-CN" altLang="en-US" sz="2600" dirty="0">
                <a:solidFill>
                  <a:srgbClr val="FF0000"/>
                </a:solidFill>
                <a:latin typeface="华文楷体" panose="02010600040101010101" pitchFamily="2" charset="-122"/>
                <a:ea typeface="华文楷体" panose="02010600040101010101" pitchFamily="2" charset="-122"/>
              </a:rPr>
              <a:t>线性规划问题描述实例</a:t>
            </a:r>
            <a:endParaRPr lang="en-US" altLang="zh-CN" sz="2600" dirty="0">
              <a:solidFill>
                <a:srgbClr val="FF0000"/>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38BF97AB-85BD-4F6E-A848-16044B20E5DC}"/>
                  </a:ext>
                </a:extLst>
              </p:cNvPr>
              <p:cNvSpPr txBox="1"/>
              <p:nvPr/>
            </p:nvSpPr>
            <p:spPr>
              <a:xfrm>
                <a:off x="4761667" y="1795013"/>
                <a:ext cx="2834669" cy="338554"/>
              </a:xfrm>
              <a:prstGeom prst="rect">
                <a:avLst/>
              </a:prstGeom>
              <a:noFill/>
            </p:spPr>
            <p:txBody>
              <a:bodyPr wrap="square">
                <a:spAutoFit/>
              </a:bodyPr>
              <a:lstStyle>
                <a:defPPr>
                  <a:defRPr lang="zh-CN"/>
                </a:defPPr>
                <a:lvl1pPr>
                  <a:defRPr sz="1400">
                    <a:solidFill>
                      <a:srgbClr val="FF0000"/>
                    </a:solidFill>
                    <a:latin typeface="微软雅黑" panose="020B0503020204020204" pitchFamily="34" charset="-122"/>
                    <a:ea typeface="微软雅黑" panose="020B0503020204020204" pitchFamily="34" charset="-122"/>
                  </a:defRPr>
                </a:lvl1pPr>
              </a:lstStyle>
              <a:p>
                <a:pPr marL="342900" indent="-342900">
                  <a:buFont typeface="+mj-ea"/>
                  <a:buAutoNum type="circleNumDbPlain"/>
                </a:pPr>
                <a:r>
                  <a:rPr lang="zh-CN" altLang="en-US" sz="1600" b="1" dirty="0">
                    <a:solidFill>
                      <a:srgbClr val="0070C0"/>
                    </a:solidFill>
                  </a:rPr>
                  <a:t>决策变量</a:t>
                </a:r>
                <a:r>
                  <a:rPr lang="zh-CN" altLang="en-US" sz="1600" dirty="0">
                    <a:solidFill>
                      <a:srgbClr val="0070C0"/>
                    </a:solidFill>
                  </a:rPr>
                  <a:t>：</a:t>
                </a:r>
                <a14:m>
                  <m:oMath xmlns:m="http://schemas.openxmlformats.org/officeDocument/2006/math">
                    <m:r>
                      <a:rPr lang="en-US" altLang="zh-CN" sz="1600">
                        <a:latin typeface="Cambria Math" panose="02040503050406030204" pitchFamily="18" charset="0"/>
                      </a:rPr>
                      <m:t>𝑥</m:t>
                    </m:r>
                    <m:r>
                      <a:rPr lang="en-US" altLang="zh-CN" sz="1600">
                        <a:latin typeface="Cambria Math" panose="02040503050406030204" pitchFamily="18" charset="0"/>
                      </a:rPr>
                      <m:t>1</m:t>
                    </m:r>
                    <m:r>
                      <a:rPr lang="zh-CN" altLang="en-US" sz="1600">
                        <a:latin typeface="Cambria Math" panose="02040503050406030204" pitchFamily="18" charset="0"/>
                      </a:rPr>
                      <m:t>，</m:t>
                    </m:r>
                    <m:r>
                      <a:rPr lang="en-US" altLang="zh-CN" sz="1600">
                        <a:latin typeface="Cambria Math" panose="02040503050406030204" pitchFamily="18" charset="0"/>
                      </a:rPr>
                      <m:t>𝑥</m:t>
                    </m:r>
                    <m:r>
                      <a:rPr lang="en-US" altLang="zh-CN" sz="1600">
                        <a:latin typeface="Cambria Math" panose="02040503050406030204" pitchFamily="18" charset="0"/>
                      </a:rPr>
                      <m:t>2,</m:t>
                    </m:r>
                    <m:r>
                      <a:rPr lang="en-US" altLang="zh-CN" sz="1600">
                        <a:latin typeface="Cambria Math" panose="02040503050406030204" pitchFamily="18" charset="0"/>
                      </a:rPr>
                      <m:t>𝑥</m:t>
                    </m:r>
                    <m:r>
                      <a:rPr lang="en-US" altLang="zh-CN" sz="1600">
                        <a:latin typeface="Cambria Math" panose="02040503050406030204" pitchFamily="18" charset="0"/>
                      </a:rPr>
                      <m:t>3 </m:t>
                    </m:r>
                  </m:oMath>
                </a14:m>
                <a:endParaRPr lang="zh-CN" altLang="en-US" sz="1600" dirty="0"/>
              </a:p>
            </p:txBody>
          </p:sp>
        </mc:Choice>
        <mc:Fallback xmlns="">
          <p:sp>
            <p:nvSpPr>
              <p:cNvPr id="43" name="文本框 42">
                <a:extLst>
                  <a:ext uri="{FF2B5EF4-FFF2-40B4-BE49-F238E27FC236}">
                    <a16:creationId xmlns:a16="http://schemas.microsoft.com/office/drawing/2014/main" id="{38BF97AB-85BD-4F6E-A848-16044B20E5DC}"/>
                  </a:ext>
                </a:extLst>
              </p:cNvPr>
              <p:cNvSpPr txBox="1">
                <a:spLocks noRot="1" noChangeAspect="1" noMove="1" noResize="1" noEditPoints="1" noAdjustHandles="1" noChangeArrowheads="1" noChangeShapeType="1" noTextEdit="1"/>
              </p:cNvSpPr>
              <p:nvPr/>
            </p:nvSpPr>
            <p:spPr>
              <a:xfrm>
                <a:off x="4761667" y="1795013"/>
                <a:ext cx="2834669" cy="338554"/>
              </a:xfrm>
              <a:prstGeom prst="rect">
                <a:avLst/>
              </a:prstGeom>
              <a:blipFill>
                <a:blip r:embed="rId11"/>
                <a:stretch>
                  <a:fillRect l="-1505" t="-12500" b="-26786"/>
                </a:stretch>
              </a:blipFill>
            </p:spPr>
            <p:txBody>
              <a:bodyPr/>
              <a:lstStyle/>
              <a:p>
                <a:r>
                  <a:rPr lang="zh-CN" altLang="en-US">
                    <a:noFill/>
                  </a:rPr>
                  <a:t> </a:t>
                </a:r>
              </a:p>
            </p:txBody>
          </p:sp>
        </mc:Fallback>
      </mc:AlternateContent>
      <p:sp>
        <p:nvSpPr>
          <p:cNvPr id="45" name="文本框 44">
            <a:extLst>
              <a:ext uri="{FF2B5EF4-FFF2-40B4-BE49-F238E27FC236}">
                <a16:creationId xmlns:a16="http://schemas.microsoft.com/office/drawing/2014/main" id="{784803E5-A7D3-4058-876C-44FC6BF193EB}"/>
              </a:ext>
            </a:extLst>
          </p:cNvPr>
          <p:cNvSpPr txBox="1"/>
          <p:nvPr/>
        </p:nvSpPr>
        <p:spPr>
          <a:xfrm>
            <a:off x="185956" y="717679"/>
            <a:ext cx="8887037" cy="681020"/>
          </a:xfrm>
          <a:prstGeom prst="rect">
            <a:avLst/>
          </a:prstGeom>
          <a:solidFill>
            <a:schemeClr val="bg1"/>
          </a:solidFill>
        </p:spPr>
        <p:txBody>
          <a:bodyPr wrap="square">
            <a:spAutoFit/>
          </a:bodyPr>
          <a:lstStyle/>
          <a:p>
            <a:pPr>
              <a:lnSpc>
                <a:spcPts val="2400"/>
              </a:lnSpc>
            </a:pPr>
            <a:r>
              <a:rPr lang="zh-CN" altLang="en-US" b="1" dirty="0">
                <a:solidFill>
                  <a:srgbClr val="0070C0"/>
                </a:solidFill>
              </a:rPr>
              <a:t>                某工厂加工A、B、C三种部件,三部件在粗加工、精加工和包装检验的单位工时</a:t>
            </a:r>
            <a:r>
              <a:rPr lang="en-US" altLang="zh-CN" b="1" dirty="0">
                <a:solidFill>
                  <a:srgbClr val="0070C0"/>
                </a:solidFill>
              </a:rPr>
              <a:t>,</a:t>
            </a:r>
            <a:r>
              <a:rPr lang="zh-CN" altLang="en-US" b="1" dirty="0">
                <a:solidFill>
                  <a:srgbClr val="0070C0"/>
                </a:solidFill>
              </a:rPr>
              <a:t>单位价格和各车间总工时限额如表所示,问如何安排生产,可获最大总产值.</a:t>
            </a:r>
          </a:p>
        </p:txBody>
      </p:sp>
      <p:sp>
        <p:nvSpPr>
          <p:cNvPr id="47" name="文本框 46">
            <a:extLst>
              <a:ext uri="{FF2B5EF4-FFF2-40B4-BE49-F238E27FC236}">
                <a16:creationId xmlns:a16="http://schemas.microsoft.com/office/drawing/2014/main" id="{E7A206DF-EE90-4ACC-9EAF-9945D12EC283}"/>
              </a:ext>
            </a:extLst>
          </p:cNvPr>
          <p:cNvSpPr txBox="1"/>
          <p:nvPr/>
        </p:nvSpPr>
        <p:spPr>
          <a:xfrm>
            <a:off x="124301" y="1462066"/>
            <a:ext cx="4608512" cy="310733"/>
          </a:xfrm>
          <a:prstGeom prst="rect">
            <a:avLst/>
          </a:prstGeom>
          <a:noFill/>
        </p:spPr>
        <p:txBody>
          <a:bodyPr wrap="square">
            <a:spAutoFit/>
          </a:bodyPr>
          <a:lstStyle/>
          <a:p>
            <a:r>
              <a:rPr lang="zh-CN" altLang="en-US" sz="1400" b="1" dirty="0">
                <a:solidFill>
                  <a:srgbClr val="0070C0"/>
                </a:solidFill>
                <a:latin typeface="微软雅黑" panose="020B0503020204020204" pitchFamily="34" charset="-122"/>
                <a:ea typeface="微软雅黑" panose="020B0503020204020204" pitchFamily="34" charset="-122"/>
              </a:rPr>
              <a:t>部件加工的单位工时、单位价格和各车间总工时限额表</a:t>
            </a:r>
          </a:p>
        </p:txBody>
      </p:sp>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D566F215-E7AC-4CA7-8366-A4054F74DB39}"/>
                  </a:ext>
                </a:extLst>
              </p:cNvPr>
              <p:cNvSpPr txBox="1"/>
              <p:nvPr/>
            </p:nvSpPr>
            <p:spPr>
              <a:xfrm>
                <a:off x="4777989" y="2517051"/>
                <a:ext cx="1360800" cy="524824"/>
              </a:xfrm>
              <a:prstGeom prst="rect">
                <a:avLst/>
              </a:prstGeom>
              <a:noFill/>
            </p:spPr>
            <p:txBody>
              <a:bodyPr wrap="square">
                <a:spAutoFit/>
              </a:bodyPr>
              <a:lstStyle/>
              <a:p>
                <a:pPr marL="342900" indent="-342900">
                  <a:buFont typeface="+mj-ea"/>
                  <a:buAutoNum type="circleNumDbPlain" startAt="2"/>
                </a:pPr>
                <a14:m>
                  <m:oMath xmlns:m="http://schemas.openxmlformats.org/officeDocument/2006/math">
                    <m:r>
                      <m:rPr>
                        <m:nor/>
                      </m:rPr>
                      <a:rPr lang="zh-CN" altLang="en-US" sz="1400" b="1" dirty="0" smtClean="0">
                        <a:solidFill>
                          <a:srgbClr val="0070C0"/>
                        </a:solidFill>
                        <a:latin typeface="微软雅黑" panose="020B0503020204020204" pitchFamily="34" charset="-122"/>
                        <a:ea typeface="微软雅黑" panose="020B0503020204020204" pitchFamily="34" charset="-122"/>
                      </a:rPr>
                      <m:t>线性不等式</m:t>
                    </m:r>
                  </m:oMath>
                </a14:m>
                <a:endParaRPr lang="en-US" altLang="zh-CN" sz="1400" b="1" dirty="0">
                  <a:solidFill>
                    <a:srgbClr val="0070C0"/>
                  </a:solidFill>
                  <a:latin typeface="微软雅黑" panose="020B0503020204020204" pitchFamily="34" charset="-122"/>
                  <a:ea typeface="微软雅黑" panose="020B0503020204020204" pitchFamily="34" charset="-122"/>
                </a:endParaRPr>
              </a:p>
              <a:p>
                <a14:m>
                  <m:oMath xmlns:m="http://schemas.openxmlformats.org/officeDocument/2006/math">
                    <m:r>
                      <m:rPr>
                        <m:nor/>
                      </m:rPr>
                      <a:rPr lang="zh-CN" altLang="en-US" sz="1400" b="1" dirty="0">
                        <a:solidFill>
                          <a:srgbClr val="0070C0"/>
                        </a:solidFill>
                        <a:latin typeface="微软雅黑" panose="020B0503020204020204" pitchFamily="34" charset="-122"/>
                        <a:ea typeface="微软雅黑" panose="020B0503020204020204" pitchFamily="34" charset="-122"/>
                      </a:rPr>
                      <m:t>约束</m:t>
                    </m:r>
                  </m:oMath>
                </a14:m>
                <a:r>
                  <a:rPr lang="en-US" altLang="zh-CN" sz="1400" b="1" dirty="0">
                    <a:solidFill>
                      <a:srgbClr val="0070C0"/>
                    </a:solidFill>
                  </a:rPr>
                  <a:t>A*x</a:t>
                </a:r>
                <a14:m>
                  <m:oMath xmlns:m="http://schemas.openxmlformats.org/officeDocument/2006/math">
                    <m:r>
                      <a:rPr lang="zh-CN" altLang="en-US" sz="1400" b="1" i="1" smtClean="0">
                        <a:solidFill>
                          <a:srgbClr val="0070C0"/>
                        </a:solidFill>
                        <a:latin typeface="Cambria Math" panose="02040503050406030204" pitchFamily="18" charset="0"/>
                      </a:rPr>
                      <m:t>≤</m:t>
                    </m:r>
                  </m:oMath>
                </a14:m>
                <a:r>
                  <a:rPr lang="en-US" altLang="zh-CN" sz="1400" b="1" dirty="0">
                    <a:solidFill>
                      <a:srgbClr val="0070C0"/>
                    </a:solidFill>
                  </a:rPr>
                  <a:t>b</a:t>
                </a:r>
                <a:endParaRPr lang="zh-CN" altLang="en-US" sz="1400" b="1" dirty="0">
                  <a:solidFill>
                    <a:srgbClr val="0070C0"/>
                  </a:solidFill>
                </a:endParaRPr>
              </a:p>
            </p:txBody>
          </p:sp>
        </mc:Choice>
        <mc:Fallback xmlns="">
          <p:sp>
            <p:nvSpPr>
              <p:cNvPr id="49" name="文本框 48">
                <a:extLst>
                  <a:ext uri="{FF2B5EF4-FFF2-40B4-BE49-F238E27FC236}">
                    <a16:creationId xmlns:a16="http://schemas.microsoft.com/office/drawing/2014/main" id="{D566F215-E7AC-4CA7-8366-A4054F74DB39}"/>
                  </a:ext>
                </a:extLst>
              </p:cNvPr>
              <p:cNvSpPr txBox="1">
                <a:spLocks noRot="1" noChangeAspect="1" noMove="1" noResize="1" noEditPoints="1" noAdjustHandles="1" noChangeArrowheads="1" noChangeShapeType="1" noTextEdit="1"/>
              </p:cNvSpPr>
              <p:nvPr/>
            </p:nvSpPr>
            <p:spPr>
              <a:xfrm>
                <a:off x="4777989" y="2517051"/>
                <a:ext cx="1360800" cy="524824"/>
              </a:xfrm>
              <a:prstGeom prst="rect">
                <a:avLst/>
              </a:prstGeom>
              <a:blipFill>
                <a:blip r:embed="rId12"/>
                <a:stretch>
                  <a:fillRect l="-2242" t="-6977" r="-3587" b="-11628"/>
                </a:stretch>
              </a:blipFill>
            </p:spPr>
            <p:txBody>
              <a:bodyPr/>
              <a:lstStyle/>
              <a:p>
                <a:r>
                  <a:rPr lang="zh-CN" altLang="en-US">
                    <a:noFill/>
                  </a:rPr>
                  <a:t> </a:t>
                </a:r>
              </a:p>
            </p:txBody>
          </p:sp>
        </mc:Fallback>
      </mc:AlternateContent>
      <p:sp>
        <p:nvSpPr>
          <p:cNvPr id="51" name="文本框 50">
            <a:extLst>
              <a:ext uri="{FF2B5EF4-FFF2-40B4-BE49-F238E27FC236}">
                <a16:creationId xmlns:a16="http://schemas.microsoft.com/office/drawing/2014/main" id="{EE6F711A-C1AD-4A6D-8161-C8EF45DEBCF6}"/>
              </a:ext>
            </a:extLst>
          </p:cNvPr>
          <p:cNvSpPr txBox="1"/>
          <p:nvPr/>
        </p:nvSpPr>
        <p:spPr>
          <a:xfrm>
            <a:off x="6106484" y="3286602"/>
            <a:ext cx="3037515" cy="338554"/>
          </a:xfrm>
          <a:prstGeom prst="rect">
            <a:avLst/>
          </a:prstGeom>
          <a:noFill/>
        </p:spPr>
        <p:txBody>
          <a:bodyPr wrap="square">
            <a:spAutoFit/>
          </a:bodyPr>
          <a:lstStyle/>
          <a:p>
            <a:r>
              <a:rPr lang="zh-CN" altLang="en-US" sz="1600" b="1" dirty="0">
                <a:solidFill>
                  <a:srgbClr val="00B0F0"/>
                </a:solidFill>
              </a:rPr>
              <a:t>约束矩阵</a:t>
            </a:r>
            <a:r>
              <a:rPr lang="en-US" altLang="zh-CN" sz="1600" b="1" dirty="0">
                <a:solidFill>
                  <a:srgbClr val="00B0F0"/>
                </a:solidFill>
              </a:rPr>
              <a:t>A</a:t>
            </a:r>
            <a:r>
              <a:rPr lang="zh-CN" altLang="en-US" sz="1600" b="1" dirty="0">
                <a:solidFill>
                  <a:srgbClr val="00B0F0"/>
                </a:solidFill>
              </a:rPr>
              <a:t>=[1 2 1;3 0 2;1 4 0];</a:t>
            </a:r>
          </a:p>
        </p:txBody>
      </p:sp>
      <p:sp>
        <p:nvSpPr>
          <p:cNvPr id="53" name="文本框 52">
            <a:extLst>
              <a:ext uri="{FF2B5EF4-FFF2-40B4-BE49-F238E27FC236}">
                <a16:creationId xmlns:a16="http://schemas.microsoft.com/office/drawing/2014/main" id="{F86A50A4-845D-46DF-93C5-4605F5FE0B65}"/>
              </a:ext>
            </a:extLst>
          </p:cNvPr>
          <p:cNvSpPr txBox="1"/>
          <p:nvPr/>
        </p:nvSpPr>
        <p:spPr>
          <a:xfrm>
            <a:off x="6106372" y="3560910"/>
            <a:ext cx="3063283" cy="339388"/>
          </a:xfrm>
          <a:prstGeom prst="rect">
            <a:avLst/>
          </a:prstGeom>
          <a:noFill/>
        </p:spPr>
        <p:txBody>
          <a:bodyPr wrap="square">
            <a:spAutoFit/>
          </a:bodyPr>
          <a:lstStyle/>
          <a:p>
            <a:r>
              <a:rPr lang="zh-CN" altLang="en-US" sz="1600" b="1" dirty="0">
                <a:solidFill>
                  <a:srgbClr val="00B0F0"/>
                </a:solidFill>
              </a:rPr>
              <a:t>约束列向量</a:t>
            </a:r>
            <a:r>
              <a:rPr lang="en-US" altLang="zh-CN" sz="1600" b="1" dirty="0">
                <a:solidFill>
                  <a:srgbClr val="00B0F0"/>
                </a:solidFill>
              </a:rPr>
              <a:t>b</a:t>
            </a:r>
            <a:r>
              <a:rPr lang="zh-CN" altLang="en-US" sz="1600" b="1" dirty="0">
                <a:solidFill>
                  <a:srgbClr val="00B0F0"/>
                </a:solidFill>
              </a:rPr>
              <a:t>=[430,460,420];</a:t>
            </a:r>
            <a:endParaRPr lang="zh-CN" altLang="en-US" sz="1600" dirty="0"/>
          </a:p>
        </p:txBody>
      </p:sp>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132F81D1-0BC1-4F1D-BF71-C12ED632E8EF}"/>
                  </a:ext>
                </a:extLst>
              </p:cNvPr>
              <p:cNvSpPr txBox="1"/>
              <p:nvPr/>
            </p:nvSpPr>
            <p:spPr>
              <a:xfrm>
                <a:off x="4742550" y="3903461"/>
                <a:ext cx="1559854" cy="340029"/>
              </a:xfrm>
              <a:prstGeom prst="rect">
                <a:avLst/>
              </a:prstGeom>
              <a:noFill/>
            </p:spPr>
            <p:txBody>
              <a:bodyPr wrap="square">
                <a:spAutoFit/>
              </a:bodyPr>
              <a:lstStyle/>
              <a:p>
                <a:pPr marL="342900" indent="-342900">
                  <a:buFont typeface="+mj-ea"/>
                  <a:buAutoNum type="circleNumDbPlain" startAt="3"/>
                </a:pPr>
                <a14:m>
                  <m:oMath xmlns:m="http://schemas.openxmlformats.org/officeDocument/2006/math">
                    <m:r>
                      <m:rPr>
                        <m:nor/>
                      </m:rPr>
                      <a:rPr lang="zh-CN" altLang="en-US" sz="1600" b="1" dirty="0" smtClean="0">
                        <a:solidFill>
                          <a:srgbClr val="0070C0"/>
                        </a:solidFill>
                        <a:latin typeface="微软雅黑" panose="020B0503020204020204" pitchFamily="34" charset="-122"/>
                        <a:ea typeface="微软雅黑" panose="020B0503020204020204" pitchFamily="34" charset="-122"/>
                      </a:rPr>
                      <m:t>边界约束</m:t>
                    </m:r>
                    <m:r>
                      <m:rPr>
                        <m:sty m:val="p"/>
                      </m:rPr>
                      <a:rPr lang="en-US" altLang="zh-CN" sz="1600" b="1" dirty="0">
                        <a:solidFill>
                          <a:srgbClr val="0070C0"/>
                        </a:solidFill>
                        <a:latin typeface="Cambria Math" panose="02040503050406030204" pitchFamily="18" charset="0"/>
                        <a:ea typeface="微软雅黑" panose="020B0503020204020204" pitchFamily="34" charset="-122"/>
                      </a:rPr>
                      <m:t>l</m:t>
                    </m:r>
                  </m:oMath>
                </a14:m>
                <a:r>
                  <a:rPr lang="en-US" altLang="zh-CN" sz="1600" b="1" dirty="0">
                    <a:solidFill>
                      <a:srgbClr val="0070C0"/>
                    </a:solidFill>
                    <a:latin typeface="微软雅黑" panose="020B0503020204020204" pitchFamily="34" charset="-122"/>
                    <a:ea typeface="微软雅黑" panose="020B0503020204020204" pitchFamily="34" charset="-122"/>
                  </a:rPr>
                  <a:t>b</a:t>
                </a:r>
                <a:endParaRPr lang="zh-CN" altLang="en-US" sz="1600" b="1" dirty="0">
                  <a:solidFill>
                    <a:srgbClr val="0070C0"/>
                  </a:solidFill>
                  <a:latin typeface="微软雅黑" panose="020B0503020204020204" pitchFamily="34" charset="-122"/>
                  <a:ea typeface="微软雅黑" panose="020B0503020204020204" pitchFamily="34" charset="-122"/>
                </a:endParaRPr>
              </a:p>
            </p:txBody>
          </p:sp>
        </mc:Choice>
        <mc:Fallback xmlns="">
          <p:sp>
            <p:nvSpPr>
              <p:cNvPr id="54" name="文本框 53">
                <a:extLst>
                  <a:ext uri="{FF2B5EF4-FFF2-40B4-BE49-F238E27FC236}">
                    <a16:creationId xmlns:a16="http://schemas.microsoft.com/office/drawing/2014/main" id="{132F81D1-0BC1-4F1D-BF71-C12ED632E8EF}"/>
                  </a:ext>
                </a:extLst>
              </p:cNvPr>
              <p:cNvSpPr txBox="1">
                <a:spLocks noRot="1" noChangeAspect="1" noMove="1" noResize="1" noEditPoints="1" noAdjustHandles="1" noChangeArrowheads="1" noChangeShapeType="1" noTextEdit="1"/>
              </p:cNvSpPr>
              <p:nvPr/>
            </p:nvSpPr>
            <p:spPr>
              <a:xfrm>
                <a:off x="4742550" y="3903461"/>
                <a:ext cx="1559854" cy="340029"/>
              </a:xfrm>
              <a:prstGeom prst="rect">
                <a:avLst/>
              </a:prstGeom>
              <a:blipFill>
                <a:blip r:embed="rId13"/>
                <a:stretch>
                  <a:fillRect l="-3125" t="-12500" b="-26786"/>
                </a:stretch>
              </a:blipFill>
            </p:spPr>
            <p:txBody>
              <a:bodyPr/>
              <a:lstStyle/>
              <a:p>
                <a:r>
                  <a:rPr lang="zh-CN" altLang="en-US">
                    <a:noFill/>
                  </a:rPr>
                  <a:t> </a:t>
                </a:r>
              </a:p>
            </p:txBody>
          </p:sp>
        </mc:Fallback>
      </mc:AlternateContent>
      <p:pic>
        <p:nvPicPr>
          <p:cNvPr id="55" name="图片 54">
            <a:extLst>
              <a:ext uri="{FF2B5EF4-FFF2-40B4-BE49-F238E27FC236}">
                <a16:creationId xmlns:a16="http://schemas.microsoft.com/office/drawing/2014/main" id="{581D8F35-3763-4422-95DB-A51472729474}"/>
              </a:ext>
            </a:extLst>
          </p:cNvPr>
          <p:cNvPicPr>
            <a:picLocks noChangeAspect="1"/>
          </p:cNvPicPr>
          <p:nvPr/>
        </p:nvPicPr>
        <p:blipFill rotWithShape="1">
          <a:blip r:embed="rId9"/>
          <a:srcRect l="41658" t="57139" r="41516" b="37770"/>
          <a:stretch/>
        </p:blipFill>
        <p:spPr>
          <a:xfrm>
            <a:off x="6302404" y="3930243"/>
            <a:ext cx="1786027" cy="303930"/>
          </a:xfrm>
          <a:prstGeom prst="rect">
            <a:avLst/>
          </a:prstGeom>
        </p:spPr>
      </p:pic>
      <p:sp>
        <p:nvSpPr>
          <p:cNvPr id="56" name="文本框 55">
            <a:extLst>
              <a:ext uri="{FF2B5EF4-FFF2-40B4-BE49-F238E27FC236}">
                <a16:creationId xmlns:a16="http://schemas.microsoft.com/office/drawing/2014/main" id="{94786391-6450-4078-9059-D8CBEC5E3D13}"/>
              </a:ext>
            </a:extLst>
          </p:cNvPr>
          <p:cNvSpPr txBox="1"/>
          <p:nvPr/>
        </p:nvSpPr>
        <p:spPr>
          <a:xfrm>
            <a:off x="7834742" y="3879803"/>
            <a:ext cx="1415982" cy="338554"/>
          </a:xfrm>
          <a:prstGeom prst="rect">
            <a:avLst/>
          </a:prstGeom>
          <a:noFill/>
        </p:spPr>
        <p:txBody>
          <a:bodyPr wrap="square">
            <a:spAutoFit/>
          </a:bodyPr>
          <a:lstStyle/>
          <a:p>
            <a:r>
              <a:rPr lang="zh-CN" altLang="en-US" sz="1600" b="1" dirty="0">
                <a:solidFill>
                  <a:srgbClr val="00B0F0"/>
                </a:solidFill>
              </a:rPr>
              <a:t>即</a:t>
            </a:r>
            <a:r>
              <a:rPr lang="en-US" altLang="zh-CN" sz="1600" b="1" dirty="0" err="1">
                <a:solidFill>
                  <a:srgbClr val="00B0F0"/>
                </a:solidFill>
              </a:rPr>
              <a:t>lb</a:t>
            </a:r>
            <a:r>
              <a:rPr lang="zh-CN" altLang="en-US" sz="1600" b="1" dirty="0">
                <a:solidFill>
                  <a:srgbClr val="00B0F0"/>
                </a:solidFill>
              </a:rPr>
              <a:t>=[0,0,0];</a:t>
            </a:r>
            <a:endParaRPr lang="zh-CN" altLang="en-US" sz="1600" dirty="0"/>
          </a:p>
        </p:txBody>
      </p:sp>
      <p:sp>
        <p:nvSpPr>
          <p:cNvPr id="58" name="文本框 57">
            <a:extLst>
              <a:ext uri="{FF2B5EF4-FFF2-40B4-BE49-F238E27FC236}">
                <a16:creationId xmlns:a16="http://schemas.microsoft.com/office/drawing/2014/main" id="{1F4490E8-60B7-4509-95CA-072AD8FF83DE}"/>
              </a:ext>
            </a:extLst>
          </p:cNvPr>
          <p:cNvSpPr txBox="1"/>
          <p:nvPr/>
        </p:nvSpPr>
        <p:spPr>
          <a:xfrm>
            <a:off x="5825020" y="4258952"/>
            <a:ext cx="3116200" cy="369332"/>
          </a:xfrm>
          <a:prstGeom prst="rect">
            <a:avLst/>
          </a:prstGeom>
          <a:noFill/>
        </p:spPr>
        <p:txBody>
          <a:bodyPr wrap="square">
            <a:spAutoFit/>
          </a:bodyPr>
          <a:lstStyle/>
          <a:p>
            <a:r>
              <a:rPr lang="zh-CN" altLang="en-US" b="1" dirty="0">
                <a:solidFill>
                  <a:srgbClr val="00B0F0"/>
                </a:solidFill>
              </a:rPr>
              <a:t>目标函数系数：</a:t>
            </a:r>
            <a:r>
              <a:rPr lang="en-US" altLang="zh-CN" b="1" dirty="0">
                <a:solidFill>
                  <a:srgbClr val="00B0F0"/>
                </a:solidFill>
              </a:rPr>
              <a:t>f=[30,20,50]</a:t>
            </a:r>
            <a:endParaRPr lang="zh-CN" altLang="en-US" b="1" dirty="0">
              <a:solidFill>
                <a:srgbClr val="00B0F0"/>
              </a:solidFill>
            </a:endParaRPr>
          </a:p>
        </p:txBody>
      </p:sp>
      <p:sp>
        <p:nvSpPr>
          <p:cNvPr id="38" name="文本框 37">
            <a:extLst>
              <a:ext uri="{FF2B5EF4-FFF2-40B4-BE49-F238E27FC236}">
                <a16:creationId xmlns:a16="http://schemas.microsoft.com/office/drawing/2014/main" id="{E72552BE-D711-4905-B658-25DABDA87B87}"/>
              </a:ext>
            </a:extLst>
          </p:cNvPr>
          <p:cNvSpPr txBox="1"/>
          <p:nvPr/>
        </p:nvSpPr>
        <p:spPr>
          <a:xfrm>
            <a:off x="3437036" y="2357133"/>
            <a:ext cx="1295777" cy="338554"/>
          </a:xfrm>
          <a:prstGeom prst="rect">
            <a:avLst/>
          </a:prstGeom>
          <a:noFill/>
        </p:spPr>
        <p:txBody>
          <a:bodyPr wrap="square">
            <a:spAutoFit/>
          </a:bodyPr>
          <a:lstStyle/>
          <a:p>
            <a:r>
              <a:rPr lang="zh-CN" altLang="en-US" sz="1600" b="1" dirty="0">
                <a:solidFill>
                  <a:srgbClr val="FF0000"/>
                </a:solidFill>
              </a:rPr>
              <a:t>总工时限额</a:t>
            </a:r>
            <a:endParaRPr lang="zh-CN" altLang="en-US" sz="1600" dirty="0">
              <a:solidFill>
                <a:srgbClr val="FF0000"/>
              </a:solidFill>
            </a:endParaRPr>
          </a:p>
        </p:txBody>
      </p:sp>
      <p:sp>
        <p:nvSpPr>
          <p:cNvPr id="39" name="波形 38">
            <a:extLst>
              <a:ext uri="{FF2B5EF4-FFF2-40B4-BE49-F238E27FC236}">
                <a16:creationId xmlns:a16="http://schemas.microsoft.com/office/drawing/2014/main" id="{CC27C82D-FFD1-4174-8EF7-84471EEC6F7B}"/>
              </a:ext>
            </a:extLst>
          </p:cNvPr>
          <p:cNvSpPr/>
          <p:nvPr/>
        </p:nvSpPr>
        <p:spPr>
          <a:xfrm>
            <a:off x="179512" y="672739"/>
            <a:ext cx="857652" cy="35114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2000" b="1" dirty="0">
                <a:solidFill>
                  <a:srgbClr val="FFFF00"/>
                </a:solidFill>
                <a:latin typeface="微软雅黑" panose="020B0503020204020204" charset="-122"/>
                <a:ea typeface="微软雅黑" panose="020B0503020204020204" charset="-122"/>
              </a:rPr>
              <a:t>例82-1</a:t>
            </a:r>
            <a:endParaRPr lang="ko-KR" altLang="en-US" sz="2000" b="1" dirty="0">
              <a:solidFill>
                <a:srgbClr val="FFFF00"/>
              </a:solidFill>
              <a:latin typeface="微软雅黑" panose="020B0503020204020204" charset="-122"/>
              <a:ea typeface="微软雅黑" panose="020B0503020204020204" charset="-122"/>
            </a:endParaRPr>
          </a:p>
        </p:txBody>
      </p: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AAC6071C-85E9-41A4-843E-6E987F045C43}"/>
                  </a:ext>
                </a:extLst>
              </p:cNvPr>
              <p:cNvSpPr txBox="1"/>
              <p:nvPr/>
            </p:nvSpPr>
            <p:spPr>
              <a:xfrm>
                <a:off x="4725047" y="3320683"/>
                <a:ext cx="1466683" cy="524118"/>
              </a:xfrm>
              <a:prstGeom prst="rect">
                <a:avLst/>
              </a:prstGeom>
              <a:noFill/>
            </p:spPr>
            <p:txBody>
              <a:bodyPr wrap="square">
                <a:spAutoFit/>
              </a:bodyPr>
              <a:lstStyle/>
              <a:p>
                <a14:m>
                  <m:oMath xmlns:m="http://schemas.openxmlformats.org/officeDocument/2006/math">
                    <m:r>
                      <m:rPr>
                        <m:nor/>
                      </m:rPr>
                      <a:rPr lang="zh-CN" altLang="en-US" sz="1400" dirty="0" smtClean="0">
                        <a:solidFill>
                          <a:schemeClr val="bg1"/>
                        </a:solidFill>
                        <a:highlight>
                          <a:srgbClr val="003B76"/>
                        </a:highlight>
                        <a:latin typeface="微软雅黑" panose="020B0503020204020204" pitchFamily="34" charset="-122"/>
                        <a:ea typeface="微软雅黑" panose="020B0503020204020204" pitchFamily="34" charset="-122"/>
                      </a:rPr>
                      <m:t>线性约束</m:t>
                    </m:r>
                  </m:oMath>
                </a14:m>
                <a:r>
                  <a:rPr lang="zh-CN" altLang="en-US" sz="1400" dirty="0">
                    <a:solidFill>
                      <a:schemeClr val="bg1"/>
                    </a:solidFill>
                    <a:highlight>
                      <a:srgbClr val="003B76"/>
                    </a:highlight>
                    <a:latin typeface="微软雅黑" panose="020B0503020204020204" pitchFamily="34" charset="-122"/>
                    <a:ea typeface="微软雅黑" panose="020B0503020204020204" pitchFamily="34" charset="-122"/>
                  </a:rPr>
                  <a:t>用矩阵</a:t>
                </a:r>
                <a:r>
                  <a:rPr lang="en-US" altLang="zh-CN" sz="1400" dirty="0">
                    <a:solidFill>
                      <a:schemeClr val="bg1"/>
                    </a:solidFill>
                    <a:highlight>
                      <a:srgbClr val="003B76"/>
                    </a:highlight>
                    <a:latin typeface="微软雅黑" panose="020B0503020204020204" pitchFamily="34" charset="-122"/>
                    <a:ea typeface="微软雅黑" panose="020B0503020204020204" pitchFamily="34" charset="-122"/>
                  </a:rPr>
                  <a:t>A</a:t>
                </a:r>
                <a:r>
                  <a:rPr lang="zh-CN" altLang="en-US" sz="1400" dirty="0">
                    <a:solidFill>
                      <a:schemeClr val="bg1"/>
                    </a:solidFill>
                    <a:highlight>
                      <a:srgbClr val="003B76"/>
                    </a:highlight>
                    <a:latin typeface="微软雅黑" panose="020B0503020204020204" pitchFamily="34" charset="-122"/>
                    <a:ea typeface="微软雅黑" panose="020B0503020204020204" pitchFamily="34" charset="-122"/>
                  </a:rPr>
                  <a:t>和向量</a:t>
                </a:r>
                <a:r>
                  <a:rPr lang="en-US" altLang="zh-CN" sz="1400" dirty="0">
                    <a:solidFill>
                      <a:schemeClr val="bg1"/>
                    </a:solidFill>
                    <a:highlight>
                      <a:srgbClr val="003B76"/>
                    </a:highlight>
                    <a:latin typeface="微软雅黑" panose="020B0503020204020204" pitchFamily="34" charset="-122"/>
                    <a:ea typeface="微软雅黑" panose="020B0503020204020204" pitchFamily="34" charset="-122"/>
                  </a:rPr>
                  <a:t>b</a:t>
                </a:r>
                <a:r>
                  <a:rPr lang="zh-CN" altLang="en-US" sz="1400" dirty="0">
                    <a:solidFill>
                      <a:schemeClr val="bg1"/>
                    </a:solidFill>
                    <a:highlight>
                      <a:srgbClr val="003B76"/>
                    </a:highlight>
                    <a:latin typeface="微软雅黑" panose="020B0503020204020204" pitchFamily="34" charset="-122"/>
                    <a:ea typeface="微软雅黑" panose="020B0503020204020204" pitchFamily="34" charset="-122"/>
                  </a:rPr>
                  <a:t>表示</a:t>
                </a:r>
              </a:p>
            </p:txBody>
          </p:sp>
        </mc:Choice>
        <mc:Fallback xmlns="">
          <p:sp>
            <p:nvSpPr>
              <p:cNvPr id="40" name="文本框 39">
                <a:extLst>
                  <a:ext uri="{FF2B5EF4-FFF2-40B4-BE49-F238E27FC236}">
                    <a16:creationId xmlns:a16="http://schemas.microsoft.com/office/drawing/2014/main" id="{AAC6071C-85E9-41A4-843E-6E987F045C43}"/>
                  </a:ext>
                </a:extLst>
              </p:cNvPr>
              <p:cNvSpPr txBox="1">
                <a:spLocks noRot="1" noChangeAspect="1" noMove="1" noResize="1" noEditPoints="1" noAdjustHandles="1" noChangeArrowheads="1" noChangeShapeType="1" noTextEdit="1"/>
              </p:cNvSpPr>
              <p:nvPr/>
            </p:nvSpPr>
            <p:spPr>
              <a:xfrm>
                <a:off x="4725047" y="3320683"/>
                <a:ext cx="1466683" cy="524118"/>
              </a:xfrm>
              <a:prstGeom prst="rect">
                <a:avLst/>
              </a:prstGeom>
              <a:blipFill>
                <a:blip r:embed="rId14"/>
                <a:stretch>
                  <a:fillRect l="-1245" t="-2326" b="-104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759837D9-7021-4869-966C-C7DF954D6801}"/>
                  </a:ext>
                </a:extLst>
              </p:cNvPr>
              <p:cNvSpPr txBox="1"/>
              <p:nvPr/>
            </p:nvSpPr>
            <p:spPr>
              <a:xfrm>
                <a:off x="4072017" y="4287321"/>
                <a:ext cx="1918681" cy="307777"/>
              </a:xfrm>
              <a:prstGeom prst="rect">
                <a:avLst/>
              </a:prstGeom>
              <a:noFill/>
            </p:spPr>
            <p:txBody>
              <a:bodyPr wrap="square">
                <a:spAutoFit/>
              </a:bodyPr>
              <a:lstStyle/>
              <a:p>
                <a14:m>
                  <m:oMath xmlns:m="http://schemas.openxmlformats.org/officeDocument/2006/math">
                    <m:r>
                      <a:rPr lang="zh-CN" altLang="en-US" sz="1400" i="1" dirty="0" smtClean="0">
                        <a:solidFill>
                          <a:schemeClr val="bg1"/>
                        </a:solidFill>
                        <a:highlight>
                          <a:srgbClr val="003B76"/>
                        </a:highlight>
                        <a:latin typeface="Cambria Math" panose="02040503050406030204" pitchFamily="18" charset="0"/>
                        <a:ea typeface="微软雅黑" panose="020B0503020204020204" pitchFamily="34" charset="-122"/>
                      </a:rPr>
                      <m:t>目标</m:t>
                    </m:r>
                  </m:oMath>
                </a14:m>
                <a:r>
                  <a:rPr lang="zh-CN" altLang="en-US" sz="1400" dirty="0">
                    <a:solidFill>
                      <a:schemeClr val="bg1"/>
                    </a:solidFill>
                    <a:highlight>
                      <a:srgbClr val="003B76"/>
                    </a:highlight>
                    <a:latin typeface="微软雅黑" panose="020B0503020204020204" pitchFamily="34" charset="-122"/>
                    <a:ea typeface="微软雅黑" panose="020B0503020204020204" pitchFamily="34" charset="-122"/>
                  </a:rPr>
                  <a:t>函数用系数表示</a:t>
                </a:r>
              </a:p>
            </p:txBody>
          </p:sp>
        </mc:Choice>
        <mc:Fallback xmlns="">
          <p:sp>
            <p:nvSpPr>
              <p:cNvPr id="42" name="文本框 41">
                <a:extLst>
                  <a:ext uri="{FF2B5EF4-FFF2-40B4-BE49-F238E27FC236}">
                    <a16:creationId xmlns:a16="http://schemas.microsoft.com/office/drawing/2014/main" id="{759837D9-7021-4869-966C-C7DF954D6801}"/>
                  </a:ext>
                </a:extLst>
              </p:cNvPr>
              <p:cNvSpPr txBox="1">
                <a:spLocks noRot="1" noChangeAspect="1" noMove="1" noResize="1" noEditPoints="1" noAdjustHandles="1" noChangeArrowheads="1" noChangeShapeType="1" noTextEdit="1"/>
              </p:cNvSpPr>
              <p:nvPr/>
            </p:nvSpPr>
            <p:spPr>
              <a:xfrm>
                <a:off x="4072017" y="4287321"/>
                <a:ext cx="1918681" cy="307777"/>
              </a:xfrm>
              <a:prstGeom prst="rect">
                <a:avLst/>
              </a:prstGeom>
              <a:blipFill>
                <a:blip r:embed="rId15"/>
                <a:stretch>
                  <a:fillRect t="-1961" b="-196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848D0F4C-52C1-412E-94F2-022EDA902684}"/>
                  </a:ext>
                </a:extLst>
              </p:cNvPr>
              <p:cNvSpPr txBox="1"/>
              <p:nvPr/>
            </p:nvSpPr>
            <p:spPr>
              <a:xfrm>
                <a:off x="3869732" y="3021221"/>
                <a:ext cx="52578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a:solidFill>
                            <a:srgbClr val="FF0000"/>
                          </a:solidFill>
                          <a:latin typeface="Cambria Math" panose="02040503050406030204" pitchFamily="18" charset="0"/>
                        </a:rPr>
                        <m:t>约束</m:t>
                      </m:r>
                    </m:oMath>
                  </m:oMathPara>
                </a14:m>
                <a:endParaRPr lang="zh-CN" altLang="en-US" dirty="0">
                  <a:solidFill>
                    <a:srgbClr val="FF0000"/>
                  </a:solidFill>
                </a:endParaRPr>
              </a:p>
            </p:txBody>
          </p:sp>
        </mc:Choice>
        <mc:Fallback xmlns="">
          <p:sp>
            <p:nvSpPr>
              <p:cNvPr id="44" name="文本框 43">
                <a:extLst>
                  <a:ext uri="{FF2B5EF4-FFF2-40B4-BE49-F238E27FC236}">
                    <a16:creationId xmlns:a16="http://schemas.microsoft.com/office/drawing/2014/main" id="{848D0F4C-52C1-412E-94F2-022EDA902684}"/>
                  </a:ext>
                </a:extLst>
              </p:cNvPr>
              <p:cNvSpPr txBox="1">
                <a:spLocks noRot="1" noChangeAspect="1" noMove="1" noResize="1" noEditPoints="1" noAdjustHandles="1" noChangeArrowheads="1" noChangeShapeType="1" noTextEdit="1"/>
              </p:cNvSpPr>
              <p:nvPr/>
            </p:nvSpPr>
            <p:spPr>
              <a:xfrm>
                <a:off x="3869732" y="3021221"/>
                <a:ext cx="525785" cy="276999"/>
              </a:xfrm>
              <a:prstGeom prst="rect">
                <a:avLst/>
              </a:prstGeom>
              <a:blipFill>
                <a:blip r:embed="rId16"/>
                <a:stretch>
                  <a:fillRect l="-13953" t="-11111" r="-16279" b="-28889"/>
                </a:stretch>
              </a:blipFill>
            </p:spPr>
            <p:txBody>
              <a:bodyPr/>
              <a:lstStyle/>
              <a:p>
                <a:r>
                  <a:rPr lang="zh-CN" altLang="en-US">
                    <a:noFill/>
                  </a:rPr>
                  <a:t> </a:t>
                </a:r>
              </a:p>
            </p:txBody>
          </p:sp>
        </mc:Fallback>
      </mc:AlternateContent>
      <p:sp>
        <p:nvSpPr>
          <p:cNvPr id="46" name="文本框 45">
            <a:extLst>
              <a:ext uri="{FF2B5EF4-FFF2-40B4-BE49-F238E27FC236}">
                <a16:creationId xmlns:a16="http://schemas.microsoft.com/office/drawing/2014/main" id="{4F503186-32B2-492C-8E8E-D20171E20DE9}"/>
              </a:ext>
            </a:extLst>
          </p:cNvPr>
          <p:cNvSpPr txBox="1"/>
          <p:nvPr/>
        </p:nvSpPr>
        <p:spPr>
          <a:xfrm>
            <a:off x="1913808" y="2522073"/>
            <a:ext cx="423043" cy="379591"/>
          </a:xfrm>
          <a:prstGeom prst="rect">
            <a:avLst/>
          </a:prstGeom>
          <a:noFill/>
        </p:spPr>
        <p:txBody>
          <a:bodyPr wrap="square">
            <a:spAutoFit/>
          </a:bodyPr>
          <a:lstStyle/>
          <a:p>
            <a:r>
              <a:rPr lang="en-US" altLang="ko-KR" sz="2800" baseline="-25000" dirty="0">
                <a:solidFill>
                  <a:srgbClr val="FF0000"/>
                </a:solidFill>
                <a:latin typeface="微软雅黑" panose="020B0503020204020204" pitchFamily="34" charset="-122"/>
                <a:ea typeface="微软雅黑" panose="020B0503020204020204" pitchFamily="34" charset="-122"/>
              </a:rPr>
              <a:t>+</a:t>
            </a:r>
            <a:endParaRPr lang="zh-CN" altLang="en-US" sz="2800" baseline="-25000" dirty="0"/>
          </a:p>
        </p:txBody>
      </p:sp>
      <p:sp>
        <p:nvSpPr>
          <p:cNvPr id="48" name="文本框 47">
            <a:extLst>
              <a:ext uri="{FF2B5EF4-FFF2-40B4-BE49-F238E27FC236}">
                <a16:creationId xmlns:a16="http://schemas.microsoft.com/office/drawing/2014/main" id="{4B2BFB03-39C0-467E-9DBA-4515DD34A695}"/>
              </a:ext>
            </a:extLst>
          </p:cNvPr>
          <p:cNvSpPr txBox="1"/>
          <p:nvPr/>
        </p:nvSpPr>
        <p:spPr>
          <a:xfrm>
            <a:off x="2505137" y="2505891"/>
            <a:ext cx="423043" cy="379591"/>
          </a:xfrm>
          <a:prstGeom prst="rect">
            <a:avLst/>
          </a:prstGeom>
          <a:noFill/>
        </p:spPr>
        <p:txBody>
          <a:bodyPr wrap="square">
            <a:spAutoFit/>
          </a:bodyPr>
          <a:lstStyle/>
          <a:p>
            <a:r>
              <a:rPr lang="en-US" altLang="ko-KR" sz="2800" baseline="-25000" dirty="0">
                <a:solidFill>
                  <a:srgbClr val="FF0000"/>
                </a:solidFill>
                <a:latin typeface="微软雅黑" panose="020B0503020204020204" pitchFamily="34" charset="-122"/>
                <a:ea typeface="微软雅黑" panose="020B0503020204020204" pitchFamily="34" charset="-122"/>
              </a:rPr>
              <a:t>+</a:t>
            </a:r>
            <a:endParaRPr lang="zh-CN" altLang="en-US" sz="2800" baseline="-25000" dirty="0"/>
          </a:p>
        </p:txBody>
      </p:sp>
      <p:sp>
        <p:nvSpPr>
          <p:cNvPr id="50" name="文本框 49">
            <a:extLst>
              <a:ext uri="{FF2B5EF4-FFF2-40B4-BE49-F238E27FC236}">
                <a16:creationId xmlns:a16="http://schemas.microsoft.com/office/drawing/2014/main" id="{EF6DF8C3-4E3C-4059-854D-4AE4CD0567F0}"/>
              </a:ext>
            </a:extLst>
          </p:cNvPr>
          <p:cNvSpPr txBox="1"/>
          <p:nvPr/>
        </p:nvSpPr>
        <p:spPr>
          <a:xfrm>
            <a:off x="1907704" y="2840231"/>
            <a:ext cx="423043" cy="379591"/>
          </a:xfrm>
          <a:prstGeom prst="rect">
            <a:avLst/>
          </a:prstGeom>
          <a:noFill/>
        </p:spPr>
        <p:txBody>
          <a:bodyPr wrap="square">
            <a:spAutoFit/>
          </a:bodyPr>
          <a:lstStyle/>
          <a:p>
            <a:r>
              <a:rPr lang="en-US" altLang="ko-KR" sz="2800" baseline="-25000" dirty="0">
                <a:solidFill>
                  <a:srgbClr val="FF0000"/>
                </a:solidFill>
                <a:latin typeface="微软雅黑" panose="020B0503020204020204" pitchFamily="34" charset="-122"/>
                <a:ea typeface="微软雅黑" panose="020B0503020204020204" pitchFamily="34" charset="-122"/>
              </a:rPr>
              <a:t>+</a:t>
            </a:r>
            <a:endParaRPr lang="zh-CN" altLang="en-US" sz="2800" baseline="-25000" dirty="0"/>
          </a:p>
        </p:txBody>
      </p:sp>
      <p:sp>
        <p:nvSpPr>
          <p:cNvPr id="52" name="文本框 51">
            <a:extLst>
              <a:ext uri="{FF2B5EF4-FFF2-40B4-BE49-F238E27FC236}">
                <a16:creationId xmlns:a16="http://schemas.microsoft.com/office/drawing/2014/main" id="{B4E1C7AB-361F-496E-84EA-7385DA827B6E}"/>
              </a:ext>
            </a:extLst>
          </p:cNvPr>
          <p:cNvSpPr txBox="1"/>
          <p:nvPr/>
        </p:nvSpPr>
        <p:spPr>
          <a:xfrm>
            <a:off x="2500543" y="2871314"/>
            <a:ext cx="423043" cy="379591"/>
          </a:xfrm>
          <a:prstGeom prst="rect">
            <a:avLst/>
          </a:prstGeom>
          <a:noFill/>
        </p:spPr>
        <p:txBody>
          <a:bodyPr wrap="square">
            <a:spAutoFit/>
          </a:bodyPr>
          <a:lstStyle/>
          <a:p>
            <a:r>
              <a:rPr lang="en-US" altLang="ko-KR" sz="2800" baseline="-25000" dirty="0">
                <a:solidFill>
                  <a:srgbClr val="FF0000"/>
                </a:solidFill>
                <a:latin typeface="微软雅黑" panose="020B0503020204020204" pitchFamily="34" charset="-122"/>
                <a:ea typeface="微软雅黑" panose="020B0503020204020204" pitchFamily="34" charset="-122"/>
              </a:rPr>
              <a:t>+</a:t>
            </a:r>
            <a:endParaRPr lang="zh-CN" altLang="en-US" sz="2800" baseline="-25000" dirty="0"/>
          </a:p>
        </p:txBody>
      </p:sp>
      <p:sp>
        <p:nvSpPr>
          <p:cNvPr id="57" name="文本框 56">
            <a:extLst>
              <a:ext uri="{FF2B5EF4-FFF2-40B4-BE49-F238E27FC236}">
                <a16:creationId xmlns:a16="http://schemas.microsoft.com/office/drawing/2014/main" id="{63B6B486-871B-4E48-8FE8-0DC1FB280A9D}"/>
              </a:ext>
            </a:extLst>
          </p:cNvPr>
          <p:cNvSpPr txBox="1"/>
          <p:nvPr/>
        </p:nvSpPr>
        <p:spPr>
          <a:xfrm>
            <a:off x="1907704" y="3128263"/>
            <a:ext cx="423043" cy="379591"/>
          </a:xfrm>
          <a:prstGeom prst="rect">
            <a:avLst/>
          </a:prstGeom>
          <a:noFill/>
        </p:spPr>
        <p:txBody>
          <a:bodyPr wrap="square">
            <a:spAutoFit/>
          </a:bodyPr>
          <a:lstStyle/>
          <a:p>
            <a:r>
              <a:rPr lang="en-US" altLang="ko-KR" sz="2800" baseline="-25000" dirty="0">
                <a:solidFill>
                  <a:srgbClr val="FF0000"/>
                </a:solidFill>
                <a:latin typeface="微软雅黑" panose="020B0503020204020204" pitchFamily="34" charset="-122"/>
                <a:ea typeface="微软雅黑" panose="020B0503020204020204" pitchFamily="34" charset="-122"/>
              </a:rPr>
              <a:t>+</a:t>
            </a:r>
            <a:endParaRPr lang="zh-CN" altLang="en-US" sz="2800" baseline="-25000" dirty="0"/>
          </a:p>
        </p:txBody>
      </p:sp>
      <p:sp>
        <p:nvSpPr>
          <p:cNvPr id="59" name="文本框 58">
            <a:extLst>
              <a:ext uri="{FF2B5EF4-FFF2-40B4-BE49-F238E27FC236}">
                <a16:creationId xmlns:a16="http://schemas.microsoft.com/office/drawing/2014/main" id="{01DFA86A-8CEE-4A05-AB72-A044ECD79379}"/>
              </a:ext>
            </a:extLst>
          </p:cNvPr>
          <p:cNvSpPr txBox="1"/>
          <p:nvPr/>
        </p:nvSpPr>
        <p:spPr>
          <a:xfrm>
            <a:off x="2485951" y="3128263"/>
            <a:ext cx="423043" cy="379591"/>
          </a:xfrm>
          <a:prstGeom prst="rect">
            <a:avLst/>
          </a:prstGeom>
          <a:noFill/>
        </p:spPr>
        <p:txBody>
          <a:bodyPr wrap="square">
            <a:spAutoFit/>
          </a:bodyPr>
          <a:lstStyle/>
          <a:p>
            <a:r>
              <a:rPr lang="en-US" altLang="ko-KR" sz="2800" baseline="-25000" dirty="0">
                <a:solidFill>
                  <a:srgbClr val="FF0000"/>
                </a:solidFill>
                <a:latin typeface="微软雅黑" panose="020B0503020204020204" pitchFamily="34" charset="-122"/>
                <a:ea typeface="微软雅黑" panose="020B0503020204020204" pitchFamily="34" charset="-122"/>
              </a:rPr>
              <a:t>+</a:t>
            </a:r>
            <a:endParaRPr lang="zh-CN" altLang="en-US" sz="2800" baseline="-25000" dirty="0"/>
          </a:p>
        </p:txBody>
      </p:sp>
      <p:sp>
        <p:nvSpPr>
          <p:cNvPr id="60" name="文本框 59">
            <a:extLst>
              <a:ext uri="{FF2B5EF4-FFF2-40B4-BE49-F238E27FC236}">
                <a16:creationId xmlns:a16="http://schemas.microsoft.com/office/drawing/2014/main" id="{AE181D69-C095-414F-9335-546EC1F54DD4}"/>
              </a:ext>
            </a:extLst>
          </p:cNvPr>
          <p:cNvSpPr txBox="1"/>
          <p:nvPr/>
        </p:nvSpPr>
        <p:spPr>
          <a:xfrm>
            <a:off x="1907704" y="3488303"/>
            <a:ext cx="423043" cy="379591"/>
          </a:xfrm>
          <a:prstGeom prst="rect">
            <a:avLst/>
          </a:prstGeom>
          <a:noFill/>
        </p:spPr>
        <p:txBody>
          <a:bodyPr wrap="square">
            <a:spAutoFit/>
          </a:bodyPr>
          <a:lstStyle/>
          <a:p>
            <a:r>
              <a:rPr lang="en-US" altLang="ko-KR" sz="2800" baseline="-25000" dirty="0">
                <a:solidFill>
                  <a:srgbClr val="FF0000"/>
                </a:solidFill>
                <a:latin typeface="微软雅黑" panose="020B0503020204020204" pitchFamily="34" charset="-122"/>
                <a:ea typeface="微软雅黑" panose="020B0503020204020204" pitchFamily="34" charset="-122"/>
              </a:rPr>
              <a:t>+</a:t>
            </a:r>
            <a:endParaRPr lang="zh-CN" altLang="en-US" sz="2800" baseline="-25000" dirty="0"/>
          </a:p>
        </p:txBody>
      </p:sp>
      <p:sp>
        <p:nvSpPr>
          <p:cNvPr id="61" name="文本框 60">
            <a:extLst>
              <a:ext uri="{FF2B5EF4-FFF2-40B4-BE49-F238E27FC236}">
                <a16:creationId xmlns:a16="http://schemas.microsoft.com/office/drawing/2014/main" id="{7A68F0F5-9269-414B-8527-C982D18A8A8A}"/>
              </a:ext>
            </a:extLst>
          </p:cNvPr>
          <p:cNvSpPr txBox="1"/>
          <p:nvPr/>
        </p:nvSpPr>
        <p:spPr>
          <a:xfrm>
            <a:off x="2483768" y="3464654"/>
            <a:ext cx="423043" cy="379591"/>
          </a:xfrm>
          <a:prstGeom prst="rect">
            <a:avLst/>
          </a:prstGeom>
          <a:noFill/>
        </p:spPr>
        <p:txBody>
          <a:bodyPr wrap="square">
            <a:spAutoFit/>
          </a:bodyPr>
          <a:lstStyle/>
          <a:p>
            <a:r>
              <a:rPr lang="en-US" altLang="ko-KR" sz="2800" baseline="-25000" dirty="0">
                <a:solidFill>
                  <a:srgbClr val="FF0000"/>
                </a:solidFill>
                <a:latin typeface="微软雅黑" panose="020B0503020204020204" pitchFamily="34" charset="-122"/>
                <a:ea typeface="微软雅黑" panose="020B0503020204020204" pitchFamily="34" charset="-122"/>
              </a:rPr>
              <a:t>+</a:t>
            </a:r>
            <a:endParaRPr lang="zh-CN" altLang="en-US" sz="2800" baseline="-25000" dirty="0"/>
          </a:p>
        </p:txBody>
      </p:sp>
    </p:spTree>
    <p:extLst>
      <p:ext uri="{BB962C8B-B14F-4D97-AF65-F5344CB8AC3E}">
        <p14:creationId xmlns:p14="http://schemas.microsoft.com/office/powerpoint/2010/main" val="4076775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5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53"/>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5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5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56"/>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2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5"/>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6"/>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60"/>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61"/>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27"/>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33"/>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nodeType="clickEffect">
                                  <p:stCondLst>
                                    <p:cond delay="0"/>
                                  </p:stCondLst>
                                  <p:childTnLst>
                                    <p:set>
                                      <p:cBhvr>
                                        <p:cTn id="120" dur="1" fill="hold">
                                          <p:stCondLst>
                                            <p:cond delay="0"/>
                                          </p:stCondLst>
                                        </p:cTn>
                                        <p:tgtEl>
                                          <p:spTgt spid="29"/>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42"/>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31" grpId="0"/>
      <p:bldP spid="33" grpId="0"/>
      <p:bldP spid="43" grpId="0"/>
      <p:bldP spid="49" grpId="0"/>
      <p:bldP spid="51" grpId="0"/>
      <p:bldP spid="53" grpId="0"/>
      <p:bldP spid="54" grpId="0"/>
      <p:bldP spid="56" grpId="0"/>
      <p:bldP spid="58" grpId="0"/>
      <p:bldP spid="40" grpId="0"/>
      <p:bldP spid="42" grpId="0"/>
      <p:bldP spid="44" grpId="0"/>
      <p:bldP spid="46" grpId="0"/>
      <p:bldP spid="48" grpId="0"/>
      <p:bldP spid="50" grpId="0"/>
      <p:bldP spid="52" grpId="0"/>
      <p:bldP spid="57" grpId="0"/>
      <p:bldP spid="59" grpId="0"/>
      <p:bldP spid="60" grpId="0"/>
      <p:bldP spid="6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D2AF65D-7FA7-4610-9908-4DEDD8A89696}"/>
              </a:ext>
            </a:extLst>
          </p:cNvPr>
          <p:cNvSpPr txBox="1"/>
          <p:nvPr/>
        </p:nvSpPr>
        <p:spPr>
          <a:xfrm>
            <a:off x="1416969" y="98716"/>
            <a:ext cx="6408712" cy="523220"/>
          </a:xfrm>
          <a:prstGeom prst="rect">
            <a:avLst/>
          </a:prstGeom>
          <a:noFill/>
        </p:spPr>
        <p:txBody>
          <a:bodyPr wrap="square">
            <a:spAutoFit/>
          </a:bodyPr>
          <a:lstStyle/>
          <a:p>
            <a:pPr marL="0" indent="0">
              <a:buNone/>
            </a:pPr>
            <a:r>
              <a:rPr lang="en-US" altLang="zh-CN" sz="2800" b="0" dirty="0">
                <a:solidFill>
                  <a:srgbClr val="002060"/>
                </a:solidFill>
                <a:latin typeface="华文楷体" panose="02010600040101010101" pitchFamily="2" charset="-122"/>
                <a:ea typeface="华文楷体" panose="02010600040101010101" pitchFamily="2" charset="-122"/>
              </a:rPr>
              <a:t>§8.2 </a:t>
            </a:r>
            <a:r>
              <a:rPr lang="zh-CN" altLang="en-US" sz="2800" dirty="0">
                <a:latin typeface="华文楷体" panose="02010600040101010101" pitchFamily="2" charset="-122"/>
                <a:ea typeface="华文楷体" panose="02010600040101010101" pitchFamily="2" charset="-122"/>
              </a:rPr>
              <a:t>线性规划 </a:t>
            </a:r>
            <a:r>
              <a:rPr lang="en-US" altLang="zh-CN" sz="2800" dirty="0">
                <a:latin typeface="华文楷体" panose="02010600040101010101" pitchFamily="2" charset="-122"/>
                <a:ea typeface="华文楷体" panose="02010600040101010101" pitchFamily="2" charset="-122"/>
              </a:rPr>
              <a:t> </a:t>
            </a:r>
            <a:r>
              <a:rPr lang="en-US" altLang="zh-CN" sz="2800" b="0" i="0" u="none" strike="noStrike" dirty="0" err="1">
                <a:solidFill>
                  <a:srgbClr val="FF0000"/>
                </a:solidFill>
                <a:effectLst/>
                <a:latin typeface="华文楷体" panose="02010600040101010101" pitchFamily="2" charset="-122"/>
                <a:ea typeface="华文楷体" panose="02010600040101010101" pitchFamily="2" charset="-122"/>
                <a:hlinkClick r:id="rId3" action="ppaction://hlinkfile">
                  <a:extLst>
                    <a:ext uri="{A12FA001-AC4F-418D-AE19-62706E023703}">
                      <ahyp:hlinkClr xmlns:ahyp="http://schemas.microsoft.com/office/drawing/2018/hyperlinkcolor" val="tx"/>
                    </a:ext>
                  </a:extLst>
                </a:hlinkClick>
              </a:rPr>
              <a:t>linprog</a:t>
            </a:r>
            <a:r>
              <a:rPr lang="en-US" altLang="zh-CN" sz="2800" b="0" kern="0" dirty="0">
                <a:solidFill>
                  <a:srgbClr val="FF0000"/>
                </a:solidFill>
                <a:latin typeface="华文楷体" panose="02010600040101010101" pitchFamily="2" charset="-122"/>
                <a:ea typeface="华文楷体" panose="02010600040101010101" pitchFamily="2" charset="-122"/>
              </a:rPr>
              <a:t> ——</a:t>
            </a:r>
            <a:r>
              <a:rPr lang="zh-CN" altLang="en-US" sz="2800" b="0" kern="0" dirty="0">
                <a:solidFill>
                  <a:srgbClr val="FF0000"/>
                </a:solidFill>
                <a:latin typeface="华文楷体" panose="02010600040101010101" pitchFamily="2" charset="-122"/>
                <a:ea typeface="华文楷体" panose="02010600040101010101" pitchFamily="2" charset="-122"/>
              </a:rPr>
              <a:t>调用语法</a:t>
            </a:r>
            <a:endParaRPr lang="en-US" altLang="zh-CN" sz="2800" b="0" i="0" u="none" strike="noStrike" dirty="0">
              <a:solidFill>
                <a:srgbClr val="FF0000"/>
              </a:solidFill>
              <a:effectLst/>
              <a:latin typeface="华文楷体" panose="02010600040101010101" pitchFamily="2" charset="-122"/>
              <a:ea typeface="华文楷体" panose="02010600040101010101" pitchFamily="2" charset="-122"/>
            </a:endParaRPr>
          </a:p>
        </p:txBody>
      </p:sp>
      <p:sp>
        <p:nvSpPr>
          <p:cNvPr id="8" name="Rectangle 1">
            <a:extLst>
              <a:ext uri="{FF2B5EF4-FFF2-40B4-BE49-F238E27FC236}">
                <a16:creationId xmlns:a16="http://schemas.microsoft.com/office/drawing/2014/main" id="{4D64AF85-2F74-4DA2-862B-F93460E9D52B}"/>
              </a:ext>
            </a:extLst>
          </p:cNvPr>
          <p:cNvSpPr>
            <a:spLocks noChangeArrowheads="1"/>
          </p:cNvSpPr>
          <p:nvPr/>
        </p:nvSpPr>
        <p:spPr bwMode="auto">
          <a:xfrm>
            <a:off x="-7697" y="2290826"/>
            <a:ext cx="2567750"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ea"/>
              <a:buAutoNum type="circleNumDbPlain" startAt="2"/>
              <a:tabLst/>
            </a:pPr>
            <a:r>
              <a:rPr lang="en-US" altLang="zh-CN" sz="2000" b="1" dirty="0" err="1">
                <a:solidFill>
                  <a:srgbClr val="0070C0"/>
                </a:solidFill>
                <a:latin typeface="微软雅黑" panose="020B0503020204020204" pitchFamily="34" charset="-122"/>
                <a:ea typeface="微软雅黑" panose="020B0503020204020204" pitchFamily="34" charset="-122"/>
              </a:rPr>
              <a:t>l</a:t>
            </a:r>
            <a:r>
              <a:rPr lang="en-US" altLang="zh-CN" sz="2000" b="1" i="0" dirty="0" err="1">
                <a:solidFill>
                  <a:srgbClr val="0070C0"/>
                </a:solidFill>
                <a:effectLst/>
                <a:latin typeface="微软雅黑" panose="020B0503020204020204" pitchFamily="34" charset="-122"/>
                <a:ea typeface="微软雅黑" panose="020B0503020204020204" pitchFamily="34" charset="-122"/>
              </a:rPr>
              <a:t>inprog</a:t>
            </a:r>
            <a:r>
              <a:rPr lang="zh-CN" altLang="en-US" sz="2000" b="1" i="0" dirty="0">
                <a:solidFill>
                  <a:srgbClr val="0070C0"/>
                </a:solidFill>
                <a:effectLst/>
                <a:latin typeface="微软雅黑" panose="020B0503020204020204" pitchFamily="34" charset="-122"/>
                <a:ea typeface="微软雅黑" panose="020B0503020204020204" pitchFamily="34" charset="-122"/>
              </a:rPr>
              <a:t>格式：</a:t>
            </a:r>
            <a:endParaRPr kumimoji="0" lang="zh-CN" altLang="zh-CN" sz="20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F09F99D3-EEEC-41A7-8D98-9DA8FC293724}"/>
              </a:ext>
            </a:extLst>
          </p:cNvPr>
          <p:cNvSpPr txBox="1"/>
          <p:nvPr/>
        </p:nvSpPr>
        <p:spPr>
          <a:xfrm>
            <a:off x="2164352" y="2299035"/>
            <a:ext cx="6819284" cy="338554"/>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marL="0" indent="0" algn="dist" eaLnBrk="0" hangingPunct="0">
              <a:lnSpc>
                <a:spcPct val="100000"/>
              </a:lnSpc>
            </a:pPr>
            <a:r>
              <a:rPr lang="zh-CN" altLang="zh-CN" sz="1600" b="0" dirty="0">
                <a:effectLst/>
                <a:highlight>
                  <a:srgbClr val="FF0000"/>
                </a:highlight>
                <a:latin typeface="Arial Unicode MS"/>
                <a:ea typeface="source-code-pro"/>
              </a:rPr>
              <a:t>x</a:t>
            </a:r>
            <a:r>
              <a:rPr lang="zh-CN" altLang="zh-CN" sz="1600" b="0" dirty="0">
                <a:effectLst/>
                <a:latin typeface="Arial Unicode MS"/>
                <a:ea typeface="source-code-pro"/>
              </a:rPr>
              <a:t>,fval,exitflag,output,lambda</a:t>
            </a:r>
            <a:r>
              <a:rPr lang="zh-CN" altLang="zh-CN" sz="1600" b="0" dirty="0">
                <a:effectLst/>
                <a:highlight>
                  <a:srgbClr val="FF0000"/>
                </a:highlight>
                <a:latin typeface="Arial Unicode MS"/>
                <a:ea typeface="source-code-pro"/>
              </a:rPr>
              <a:t>= linprog(f, A, b</a:t>
            </a:r>
            <a:r>
              <a:rPr lang="zh-CN" altLang="zh-CN" sz="1600" b="0" dirty="0">
                <a:effectLst/>
                <a:latin typeface="Arial Unicode MS"/>
                <a:ea typeface="source-code-pro"/>
              </a:rPr>
              <a:t>, Aeq, beq, lb, ub)</a:t>
            </a:r>
            <a:r>
              <a:rPr lang="zh-CN" altLang="zh-CN" sz="1600" b="0" dirty="0">
                <a:effectLst/>
              </a:rPr>
              <a:t> </a:t>
            </a:r>
            <a:endParaRPr lang="zh-CN" altLang="zh-CN" sz="1600" b="0" dirty="0">
              <a:effectLst/>
              <a:latin typeface="Arial" panose="020B0604020202020204" pitchFamily="34" charset="0"/>
            </a:endParaRPr>
          </a:p>
        </p:txBody>
      </p:sp>
      <p:sp>
        <p:nvSpPr>
          <p:cNvPr id="11" name="文本框 10">
            <a:extLst>
              <a:ext uri="{FF2B5EF4-FFF2-40B4-BE49-F238E27FC236}">
                <a16:creationId xmlns:a16="http://schemas.microsoft.com/office/drawing/2014/main" id="{E24FF13B-38C7-40DF-ABF7-0FCB8E1FCE6D}"/>
              </a:ext>
            </a:extLst>
          </p:cNvPr>
          <p:cNvSpPr txBox="1"/>
          <p:nvPr/>
        </p:nvSpPr>
        <p:spPr>
          <a:xfrm>
            <a:off x="60553" y="2667432"/>
            <a:ext cx="8954638" cy="1880066"/>
          </a:xfrm>
          <a:prstGeom prst="rect">
            <a:avLst/>
          </a:prstGeom>
          <a:solidFill>
            <a:schemeClr val="bg1"/>
          </a:solidFill>
          <a:ln>
            <a:noFill/>
          </a:ln>
        </p:spPr>
        <p:txBody>
          <a:bodyPr wrap="square">
            <a:spAutoFit/>
          </a:bodyPr>
          <a:lstStyle/>
          <a:p>
            <a:pPr marL="285750" indent="-285750">
              <a:lnSpc>
                <a:spcPts val="2800"/>
              </a:lnSpc>
              <a:buFont typeface="Wingdings" panose="05000000000000000000" pitchFamily="2" charset="2"/>
              <a:buChar char="Ø"/>
            </a:pPr>
            <a:r>
              <a:rPr lang="en-US" altLang="zh-CN" b="0" i="0" dirty="0">
                <a:solidFill>
                  <a:srgbClr val="2C3E50"/>
                </a:solidFill>
                <a:effectLst/>
                <a:latin typeface="微软雅黑 Light" panose="020B0502040204020203" pitchFamily="34" charset="-122"/>
                <a:ea typeface="微软雅黑 Light" panose="020B0502040204020203" pitchFamily="34" charset="-122"/>
              </a:rPr>
              <a:t>x - </a:t>
            </a:r>
            <a:r>
              <a:rPr lang="zh-CN" altLang="en-US" b="0" i="0" dirty="0">
                <a:solidFill>
                  <a:srgbClr val="2C3E50"/>
                </a:solidFill>
                <a:effectLst/>
                <a:latin typeface="微软雅黑 Light" panose="020B0502040204020203" pitchFamily="34" charset="-122"/>
                <a:ea typeface="微软雅黑 Light" panose="020B0502040204020203" pitchFamily="34" charset="-122"/>
              </a:rPr>
              <a:t>解</a:t>
            </a:r>
            <a:r>
              <a:rPr lang="en-US" altLang="zh-CN" dirty="0">
                <a:solidFill>
                  <a:srgbClr val="002060"/>
                </a:solidFill>
                <a:latin typeface="微软雅黑 Light" panose="020B0502040204020203" pitchFamily="34" charset="-122"/>
                <a:ea typeface="微软雅黑 Light" panose="020B0502040204020203" pitchFamily="34" charset="-122"/>
              </a:rPr>
              <a:t>,</a:t>
            </a:r>
            <a:r>
              <a:rPr lang="zh-CN" altLang="en-US" dirty="0">
                <a:solidFill>
                  <a:srgbClr val="2C3E50"/>
                </a:solidFill>
                <a:latin typeface="微软雅黑 Light" panose="020B0502040204020203" pitchFamily="34" charset="-122"/>
                <a:ea typeface="微软雅黑 Light" panose="020B0502040204020203" pitchFamily="34" charset="-122"/>
              </a:rPr>
              <a:t>即极值点</a:t>
            </a:r>
            <a:endParaRPr lang="zh-CN" altLang="en-US" b="0" i="0" dirty="0">
              <a:solidFill>
                <a:srgbClr val="2C3E50"/>
              </a:solidFill>
              <a:effectLst/>
              <a:latin typeface="微软雅黑 Light" panose="020B0502040204020203" pitchFamily="34" charset="-122"/>
              <a:ea typeface="微软雅黑 Light" panose="020B0502040204020203" pitchFamily="34" charset="-122"/>
            </a:endParaRPr>
          </a:p>
          <a:p>
            <a:pPr marL="285750" indent="-285750">
              <a:lnSpc>
                <a:spcPts val="2800"/>
              </a:lnSpc>
              <a:buFont typeface="Wingdings" panose="05000000000000000000" pitchFamily="2" charset="2"/>
              <a:buChar char="Ø"/>
            </a:pPr>
            <a:r>
              <a:rPr lang="en-US" altLang="zh-CN" b="0" i="0" dirty="0" err="1">
                <a:solidFill>
                  <a:srgbClr val="2C3E50"/>
                </a:solidFill>
                <a:effectLst/>
                <a:latin typeface="微软雅黑 Light" panose="020B0502040204020203" pitchFamily="34" charset="-122"/>
                <a:ea typeface="微软雅黑 Light" panose="020B0502040204020203" pitchFamily="34" charset="-122"/>
              </a:rPr>
              <a:t>fval</a:t>
            </a:r>
            <a:r>
              <a:rPr lang="en-US" altLang="zh-CN" b="0" i="0" dirty="0">
                <a:solidFill>
                  <a:srgbClr val="2C3E50"/>
                </a:solidFill>
                <a:effectLst/>
                <a:latin typeface="微软雅黑 Light" panose="020B0502040204020203" pitchFamily="34" charset="-122"/>
                <a:ea typeface="微软雅黑 Light" panose="020B0502040204020203" pitchFamily="34" charset="-122"/>
              </a:rPr>
              <a:t> -</a:t>
            </a:r>
            <a:r>
              <a:rPr lang="zh-CN" altLang="en-US" dirty="0">
                <a:solidFill>
                  <a:srgbClr val="2C3E50"/>
                </a:solidFill>
                <a:latin typeface="微软雅黑 Light" panose="020B0502040204020203" pitchFamily="34" charset="-122"/>
                <a:ea typeface="微软雅黑 Light" panose="020B0502040204020203" pitchFamily="34" charset="-122"/>
              </a:rPr>
              <a:t>极值点</a:t>
            </a:r>
            <a:r>
              <a:rPr lang="en-US" altLang="zh-CN" dirty="0">
                <a:solidFill>
                  <a:srgbClr val="2C3E50"/>
                </a:solidFill>
                <a:latin typeface="微软雅黑 Light" panose="020B0502040204020203" pitchFamily="34" charset="-122"/>
                <a:ea typeface="微软雅黑 Light" panose="020B0502040204020203" pitchFamily="34" charset="-122"/>
              </a:rPr>
              <a:t>x</a:t>
            </a:r>
            <a:r>
              <a:rPr lang="zh-CN" altLang="en-US" dirty="0">
                <a:solidFill>
                  <a:srgbClr val="2C3E50"/>
                </a:solidFill>
                <a:latin typeface="微软雅黑 Light" panose="020B0502040204020203" pitchFamily="34" charset="-122"/>
                <a:ea typeface="微软雅黑 Light" panose="020B0502040204020203" pitchFamily="34" charset="-122"/>
              </a:rPr>
              <a:t>带入</a:t>
            </a:r>
            <a:r>
              <a:rPr lang="zh-CN" altLang="en-US" b="0" i="0" dirty="0">
                <a:solidFill>
                  <a:srgbClr val="2C3E50"/>
                </a:solidFill>
                <a:effectLst/>
                <a:latin typeface="微软雅黑 Light" panose="020B0502040204020203" pitchFamily="34" charset="-122"/>
                <a:ea typeface="微软雅黑 Light" panose="020B0502040204020203" pitchFamily="34" charset="-122"/>
              </a:rPr>
              <a:t>目标函数 </a:t>
            </a:r>
            <a:r>
              <a:rPr lang="en-US" altLang="zh-CN" b="0" i="0" dirty="0">
                <a:solidFill>
                  <a:srgbClr val="2C3E50"/>
                </a:solidFill>
                <a:effectLst/>
                <a:latin typeface="微软雅黑 Light" panose="020B0502040204020203" pitchFamily="34" charset="-122"/>
                <a:ea typeface="微软雅黑 Light" panose="020B0502040204020203" pitchFamily="34" charset="-122"/>
              </a:rPr>
              <a:t>f</a:t>
            </a:r>
            <a:r>
              <a:rPr lang="zh-CN" altLang="en-US" dirty="0">
                <a:solidFill>
                  <a:srgbClr val="2C3E50"/>
                </a:solidFill>
                <a:latin typeface="微软雅黑 Light" panose="020B0502040204020203" pitchFamily="34" charset="-122"/>
                <a:ea typeface="微软雅黑 Light" panose="020B0502040204020203" pitchFamily="34" charset="-122"/>
              </a:rPr>
              <a:t>算出</a:t>
            </a:r>
            <a:r>
              <a:rPr lang="zh-CN" altLang="en-US" b="0" i="0" dirty="0">
                <a:solidFill>
                  <a:srgbClr val="2C3E50"/>
                </a:solidFill>
                <a:effectLst/>
                <a:latin typeface="微软雅黑 Light" panose="020B0502040204020203" pitchFamily="34" charset="-122"/>
                <a:ea typeface="微软雅黑 Light" panose="020B0502040204020203" pitchFamily="34" charset="-122"/>
              </a:rPr>
              <a:t>函数值</a:t>
            </a:r>
            <a:r>
              <a:rPr lang="en-US" altLang="zh-CN" b="0" i="0" dirty="0">
                <a:solidFill>
                  <a:srgbClr val="2C3E50"/>
                </a:solidFill>
                <a:effectLst/>
                <a:latin typeface="微软雅黑 Light" panose="020B0502040204020203" pitchFamily="34" charset="-122"/>
                <a:ea typeface="微软雅黑 Light" panose="020B0502040204020203" pitchFamily="34" charset="-122"/>
              </a:rPr>
              <a:t> f(x)</a:t>
            </a:r>
          </a:p>
          <a:p>
            <a:pPr marL="285750" indent="-285750" algn="l">
              <a:lnSpc>
                <a:spcPts val="2800"/>
              </a:lnSpc>
              <a:buFont typeface="Wingdings" panose="05000000000000000000" pitchFamily="2" charset="2"/>
              <a:buChar char="Ø"/>
            </a:pPr>
            <a:r>
              <a:rPr lang="en-US" altLang="zh-CN" b="0" i="0" dirty="0" err="1">
                <a:solidFill>
                  <a:srgbClr val="2C3E50"/>
                </a:solidFill>
                <a:effectLst/>
                <a:latin typeface="微软雅黑 Light" panose="020B0502040204020203" pitchFamily="34" charset="-122"/>
                <a:ea typeface="微软雅黑 Light" panose="020B0502040204020203" pitchFamily="34" charset="-122"/>
              </a:rPr>
              <a:t>exitflag</a:t>
            </a:r>
            <a:r>
              <a:rPr lang="en-US" altLang="zh-CN" b="0" i="0" dirty="0">
                <a:solidFill>
                  <a:srgbClr val="2C3E50"/>
                </a:solidFill>
                <a:effectLst/>
                <a:latin typeface="微软雅黑 Light" panose="020B0502040204020203" pitchFamily="34" charset="-122"/>
                <a:ea typeface="微软雅黑 Light" panose="020B0502040204020203" pitchFamily="34" charset="-122"/>
              </a:rPr>
              <a:t> - </a:t>
            </a:r>
            <a:r>
              <a:rPr lang="zh-CN" altLang="en-US" b="0" i="0" dirty="0">
                <a:solidFill>
                  <a:srgbClr val="2C3E50"/>
                </a:solidFill>
                <a:effectLst/>
                <a:latin typeface="微软雅黑 Light" panose="020B0502040204020203" pitchFamily="34" charset="-122"/>
                <a:ea typeface="微软雅黑 Light" panose="020B0502040204020203" pitchFamily="34" charset="-122"/>
              </a:rPr>
              <a:t>说明退出条件的值</a:t>
            </a:r>
          </a:p>
          <a:p>
            <a:pPr marL="285750" indent="-285750" algn="l">
              <a:lnSpc>
                <a:spcPts val="2800"/>
              </a:lnSpc>
              <a:buFont typeface="Wingdings" panose="05000000000000000000" pitchFamily="2" charset="2"/>
              <a:buChar char="Ø"/>
            </a:pPr>
            <a:r>
              <a:rPr lang="en-US" altLang="zh-CN" b="0" i="0" dirty="0">
                <a:solidFill>
                  <a:srgbClr val="2C3E50"/>
                </a:solidFill>
                <a:effectLst/>
                <a:latin typeface="微软雅黑 Light" panose="020B0502040204020203" pitchFamily="34" charset="-122"/>
                <a:ea typeface="微软雅黑 Light" panose="020B0502040204020203" pitchFamily="34" charset="-122"/>
              </a:rPr>
              <a:t>output - </a:t>
            </a:r>
            <a:r>
              <a:rPr lang="zh-CN" altLang="en-US" b="0" i="0" dirty="0">
                <a:solidFill>
                  <a:srgbClr val="2C3E50"/>
                </a:solidFill>
                <a:effectLst/>
                <a:latin typeface="微软雅黑 Light" panose="020B0502040204020203" pitchFamily="34" charset="-122"/>
                <a:ea typeface="微软雅黑 Light" panose="020B0502040204020203" pitchFamily="34" charset="-122"/>
              </a:rPr>
              <a:t>包含优化过程信息的结构体</a:t>
            </a:r>
          </a:p>
          <a:p>
            <a:pPr marL="285750" indent="-285750" algn="l">
              <a:lnSpc>
                <a:spcPts val="2800"/>
              </a:lnSpc>
              <a:buFont typeface="Wingdings" panose="05000000000000000000" pitchFamily="2" charset="2"/>
              <a:buChar char="Ø"/>
            </a:pPr>
            <a:r>
              <a:rPr lang="en-US" altLang="zh-CN" b="0" i="0" dirty="0">
                <a:solidFill>
                  <a:srgbClr val="2C3E50"/>
                </a:solidFill>
                <a:effectLst/>
                <a:latin typeface="微软雅黑 Light" panose="020B0502040204020203" pitchFamily="34" charset="-122"/>
                <a:ea typeface="微软雅黑 Light" panose="020B0502040204020203" pitchFamily="34" charset="-122"/>
              </a:rPr>
              <a:t>lambda - </a:t>
            </a:r>
            <a:r>
              <a:rPr lang="zh-CN" altLang="en-US" b="0" i="0" dirty="0">
                <a:solidFill>
                  <a:srgbClr val="2C3E50"/>
                </a:solidFill>
                <a:effectLst/>
                <a:latin typeface="微软雅黑 Light" panose="020B0502040204020203" pitchFamily="34" charset="-122"/>
                <a:ea typeface="微软雅黑 Light" panose="020B0502040204020203" pitchFamily="34" charset="-122"/>
              </a:rPr>
              <a:t>在解 </a:t>
            </a:r>
            <a:r>
              <a:rPr lang="en-US" altLang="zh-CN" b="0" i="0" dirty="0">
                <a:solidFill>
                  <a:srgbClr val="2C3E50"/>
                </a:solidFill>
                <a:effectLst/>
                <a:latin typeface="微软雅黑 Light" panose="020B0502040204020203" pitchFamily="34" charset="-122"/>
                <a:ea typeface="微软雅黑 Light" panose="020B0502040204020203" pitchFamily="34" charset="-122"/>
              </a:rPr>
              <a:t>x </a:t>
            </a:r>
            <a:r>
              <a:rPr lang="zh-CN" altLang="en-US" b="0" i="0" dirty="0">
                <a:solidFill>
                  <a:srgbClr val="2C3E50"/>
                </a:solidFill>
                <a:effectLst/>
                <a:latin typeface="微软雅黑 Light" panose="020B0502040204020203" pitchFamily="34" charset="-122"/>
                <a:ea typeface="微软雅黑 Light" panose="020B0502040204020203" pitchFamily="34" charset="-122"/>
              </a:rPr>
              <a:t>处的拉格朗日乘数</a:t>
            </a:r>
          </a:p>
        </p:txBody>
      </p:sp>
      <p:pic>
        <p:nvPicPr>
          <p:cNvPr id="6" name="内容占位符 4">
            <a:extLst>
              <a:ext uri="{FF2B5EF4-FFF2-40B4-BE49-F238E27FC236}">
                <a16:creationId xmlns:a16="http://schemas.microsoft.com/office/drawing/2014/main" id="{D8CB13C7-F762-4AD9-9AE3-DB23BEF0A71E}"/>
              </a:ext>
            </a:extLst>
          </p:cNvPr>
          <p:cNvPicPr>
            <a:picLocks noChangeAspect="1"/>
          </p:cNvPicPr>
          <p:nvPr/>
        </p:nvPicPr>
        <p:blipFill rotWithShape="1">
          <a:blip r:embed="rId4">
            <a:extLst>
              <a:ext uri="{28A0092B-C50C-407E-A947-70E740481C1C}">
                <a14:useLocalDpi xmlns:a14="http://schemas.microsoft.com/office/drawing/2010/main" val="0"/>
              </a:ext>
            </a:extLst>
          </a:blip>
          <a:srcRect t="17281" r="1447" b="24170"/>
          <a:stretch/>
        </p:blipFill>
        <p:spPr>
          <a:xfrm>
            <a:off x="208327" y="1199450"/>
            <a:ext cx="4353191" cy="1039841"/>
          </a:xfrm>
          <a:prstGeom prst="rect">
            <a:avLst/>
          </a:prstGeom>
        </p:spPr>
      </p:pic>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E5E07B00-5FC7-49F9-8BD7-C87A1E400713}"/>
                  </a:ext>
                </a:extLst>
              </p:cNvPr>
              <p:cNvSpPr txBox="1"/>
              <p:nvPr/>
            </p:nvSpPr>
            <p:spPr>
              <a:xfrm>
                <a:off x="3838649" y="1151320"/>
                <a:ext cx="5301460" cy="339645"/>
              </a:xfrm>
              <a:prstGeom prst="rect">
                <a:avLst/>
              </a:prstGeom>
              <a:noFill/>
            </p:spPr>
            <p:txBody>
              <a:bodyPr wrap="square">
                <a:spAutoFit/>
              </a:bodyPr>
              <a:lstStyle/>
              <a:p>
                <a14:m>
                  <m:oMath xmlns:m="http://schemas.openxmlformats.org/officeDocument/2006/math">
                    <m:r>
                      <m:rPr>
                        <m:nor/>
                      </m:rPr>
                      <a:rPr lang="zh-CN" altLang="en-US" sz="1600" dirty="0" smtClean="0">
                        <a:solidFill>
                          <a:srgbClr val="00B0F0"/>
                        </a:solidFill>
                        <a:latin typeface="微软雅黑" panose="020B0503020204020204" pitchFamily="34" charset="-122"/>
                        <a:ea typeface="微软雅黑" panose="020B0503020204020204" pitchFamily="34" charset="-122"/>
                      </a:rPr>
                      <m:t>线性不等式约束</m:t>
                    </m:r>
                    <m:r>
                      <m:rPr>
                        <m:nor/>
                      </m:rPr>
                      <a:rPr lang="en-US" altLang="zh-CN" sz="1600" b="0" i="0" dirty="0" smtClean="0">
                        <a:solidFill>
                          <a:srgbClr val="00B0F0"/>
                        </a:solidFill>
                        <a:latin typeface="微软雅黑" panose="020B0503020204020204" pitchFamily="34" charset="-122"/>
                        <a:ea typeface="微软雅黑" panose="020B0503020204020204" pitchFamily="34" charset="-122"/>
                      </a:rPr>
                      <m:t>,  </m:t>
                    </m:r>
                    <m:r>
                      <m:rPr>
                        <m:nor/>
                      </m:rPr>
                      <a:rPr lang="en-US" altLang="zh-CN" sz="1600" b="0" i="0" dirty="0" smtClean="0">
                        <a:solidFill>
                          <a:srgbClr val="00B0F0"/>
                        </a:solidFill>
                        <a:latin typeface="微软雅黑" panose="020B0503020204020204" pitchFamily="34" charset="-122"/>
                        <a:ea typeface="微软雅黑" panose="020B0503020204020204" pitchFamily="34" charset="-122"/>
                      </a:rPr>
                      <m:t>A</m:t>
                    </m:r>
                    <m:r>
                      <a:rPr lang="zh-CN" altLang="en-US" sz="1600" i="1" dirty="0">
                        <a:solidFill>
                          <a:srgbClr val="00B0F0"/>
                        </a:solidFill>
                        <a:latin typeface="Cambria Math" panose="02040503050406030204" pitchFamily="18" charset="0"/>
                        <a:ea typeface="微软雅黑" panose="020B0503020204020204" pitchFamily="34" charset="-122"/>
                      </a:rPr>
                      <m:t>和</m:t>
                    </m:r>
                  </m:oMath>
                </a14:m>
                <a:r>
                  <a:rPr lang="en-US" altLang="zh-CN" sz="1600" dirty="0">
                    <a:solidFill>
                      <a:srgbClr val="00B0F0"/>
                    </a:solidFill>
                    <a:latin typeface="微软雅黑" panose="020B0503020204020204" pitchFamily="34" charset="-122"/>
                    <a:ea typeface="微软雅黑" panose="020B0503020204020204" pitchFamily="34" charset="-122"/>
                  </a:rPr>
                  <a:t>b</a:t>
                </a:r>
                <a14:m>
                  <m:oMath xmlns:m="http://schemas.openxmlformats.org/officeDocument/2006/math">
                    <m:r>
                      <m:rPr>
                        <m:nor/>
                      </m:rPr>
                      <a:rPr lang="zh-CN" altLang="en-US" sz="1600" dirty="0">
                        <a:solidFill>
                          <a:srgbClr val="00B0F0"/>
                        </a:solidFill>
                        <a:latin typeface="微软雅黑" panose="020B0503020204020204" pitchFamily="34" charset="-122"/>
                        <a:ea typeface="微软雅黑" panose="020B0503020204020204" pitchFamily="34" charset="-122"/>
                      </a:rPr>
                      <m:t>不等式</m:t>
                    </m:r>
                    <m:r>
                      <a:rPr lang="zh-CN" altLang="en-US" sz="1600" i="1" dirty="0" smtClean="0">
                        <a:solidFill>
                          <a:srgbClr val="00B0F0"/>
                        </a:solidFill>
                        <a:latin typeface="Cambria Math" panose="02040503050406030204" pitchFamily="18" charset="0"/>
                        <a:ea typeface="微软雅黑" panose="020B0503020204020204" pitchFamily="34" charset="-122"/>
                      </a:rPr>
                      <m:t>约束</m:t>
                    </m:r>
                  </m:oMath>
                </a14:m>
                <a:r>
                  <a:rPr lang="zh-CN" altLang="en-US" sz="1600" dirty="0">
                    <a:solidFill>
                      <a:srgbClr val="00B0F0"/>
                    </a:solidFill>
                    <a:latin typeface="微软雅黑" panose="020B0503020204020204" pitchFamily="34" charset="-122"/>
                    <a:ea typeface="微软雅黑" panose="020B0503020204020204" pitchFamily="34" charset="-122"/>
                  </a:rPr>
                  <a:t>的系数矩阵和列向量</a:t>
                </a:r>
              </a:p>
            </p:txBody>
          </p:sp>
        </mc:Choice>
        <mc:Fallback xmlns="">
          <p:sp>
            <p:nvSpPr>
              <p:cNvPr id="13" name="文本框 12">
                <a:extLst>
                  <a:ext uri="{FF2B5EF4-FFF2-40B4-BE49-F238E27FC236}">
                    <a16:creationId xmlns:a16="http://schemas.microsoft.com/office/drawing/2014/main" id="{E5E07B00-5FC7-49F9-8BD7-C87A1E400713}"/>
                  </a:ext>
                </a:extLst>
              </p:cNvPr>
              <p:cNvSpPr txBox="1">
                <a:spLocks noRot="1" noChangeAspect="1" noMove="1" noResize="1" noEditPoints="1" noAdjustHandles="1" noChangeArrowheads="1" noChangeShapeType="1" noTextEdit="1"/>
              </p:cNvSpPr>
              <p:nvPr/>
            </p:nvSpPr>
            <p:spPr>
              <a:xfrm>
                <a:off x="3838649" y="1151320"/>
                <a:ext cx="5301460" cy="339645"/>
              </a:xfrm>
              <a:prstGeom prst="rect">
                <a:avLst/>
              </a:prstGeom>
              <a:blipFill>
                <a:blip r:embed="rId5"/>
                <a:stretch>
                  <a:fillRect l="-230" t="-5357" b="-2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8C83B285-04B5-4BFC-8DDF-D2558117A61C}"/>
                  </a:ext>
                </a:extLst>
              </p:cNvPr>
              <p:cNvSpPr txBox="1"/>
              <p:nvPr/>
            </p:nvSpPr>
            <p:spPr>
              <a:xfrm>
                <a:off x="3973431" y="1521719"/>
                <a:ext cx="1606670" cy="3396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zh-CN" altLang="en-US" sz="1600" dirty="0" smtClean="0">
                          <a:solidFill>
                            <a:srgbClr val="00B0F0"/>
                          </a:solidFill>
                          <a:latin typeface="微软雅黑" panose="020B0503020204020204" pitchFamily="34" charset="-122"/>
                          <a:ea typeface="微软雅黑" panose="020B0503020204020204" pitchFamily="34" charset="-122"/>
                        </a:rPr>
                        <m:t>线性等式约束</m:t>
                      </m:r>
                      <m:r>
                        <a:rPr lang="zh-CN" altLang="en-US" sz="1600" i="1" dirty="0">
                          <a:solidFill>
                            <a:srgbClr val="00B0F0"/>
                          </a:solidFill>
                          <a:latin typeface="Cambria Math" panose="02040503050406030204" pitchFamily="18" charset="0"/>
                          <a:ea typeface="微软雅黑" panose="020B0503020204020204" pitchFamily="34" charset="-122"/>
                        </a:rPr>
                        <m:t>，</m:t>
                      </m:r>
                      <m:r>
                        <m:rPr>
                          <m:nor/>
                        </m:rPr>
                        <a:rPr lang="en-US" altLang="zh-CN" sz="1600" dirty="0">
                          <a:solidFill>
                            <a:srgbClr val="00B0F0"/>
                          </a:solidFill>
                          <a:latin typeface="微软雅黑" panose="020B0503020204020204" pitchFamily="34" charset="-122"/>
                          <a:ea typeface="微软雅黑" panose="020B0503020204020204" pitchFamily="34" charset="-122"/>
                        </a:rPr>
                        <m:t>A</m:t>
                      </m:r>
                      <m:r>
                        <m:rPr>
                          <m:sty m:val="p"/>
                        </m:rPr>
                        <a:rPr lang="en-US" altLang="zh-CN" sz="1600" i="1" dirty="0" smtClean="0">
                          <a:solidFill>
                            <a:srgbClr val="00B0F0"/>
                          </a:solidFill>
                          <a:latin typeface="Cambria Math" panose="02040503050406030204" pitchFamily="18" charset="0"/>
                          <a:ea typeface="微软雅黑" panose="020B0503020204020204" pitchFamily="34" charset="-122"/>
                        </a:rPr>
                        <m:t>eq</m:t>
                      </m:r>
                      <m:r>
                        <a:rPr lang="zh-CN" altLang="en-US" sz="1600" i="1" dirty="0">
                          <a:solidFill>
                            <a:srgbClr val="00B0F0"/>
                          </a:solidFill>
                          <a:latin typeface="Cambria Math" panose="02040503050406030204" pitchFamily="18" charset="0"/>
                          <a:ea typeface="微软雅黑" panose="020B0503020204020204" pitchFamily="34" charset="-122"/>
                        </a:rPr>
                        <m:t>和</m:t>
                      </m:r>
                      <m:r>
                        <m:rPr>
                          <m:nor/>
                        </m:rPr>
                        <a:rPr lang="en-US" altLang="zh-CN" sz="1600" dirty="0">
                          <a:solidFill>
                            <a:srgbClr val="00B0F0"/>
                          </a:solidFill>
                          <a:latin typeface="微软雅黑" panose="020B0503020204020204" pitchFamily="34" charset="-122"/>
                          <a:ea typeface="微软雅黑" panose="020B0503020204020204" pitchFamily="34" charset="-122"/>
                        </a:rPr>
                        <m:t>b</m:t>
                      </m:r>
                      <m:r>
                        <m:rPr>
                          <m:sty m:val="p"/>
                        </m:rPr>
                        <a:rPr lang="en-US" altLang="zh-CN" sz="1600" i="1" dirty="0">
                          <a:solidFill>
                            <a:srgbClr val="00B0F0"/>
                          </a:solidFill>
                          <a:latin typeface="Cambria Math" panose="02040503050406030204" pitchFamily="18" charset="0"/>
                          <a:ea typeface="微软雅黑" panose="020B0503020204020204" pitchFamily="34" charset="-122"/>
                        </a:rPr>
                        <m:t>eq</m:t>
                      </m:r>
                      <m:r>
                        <m:rPr>
                          <m:nor/>
                        </m:rPr>
                        <a:rPr lang="zh-CN" altLang="en-US" sz="1600" dirty="0">
                          <a:solidFill>
                            <a:srgbClr val="00B0F0"/>
                          </a:solidFill>
                          <a:latin typeface="微软雅黑" panose="020B0503020204020204" pitchFamily="34" charset="-122"/>
                          <a:ea typeface="微软雅黑" panose="020B0503020204020204" pitchFamily="34" charset="-122"/>
                        </a:rPr>
                        <m:t>等式</m:t>
                      </m:r>
                      <m:r>
                        <a:rPr lang="zh-CN" altLang="en-US" sz="1600" i="1" dirty="0">
                          <a:solidFill>
                            <a:srgbClr val="00B0F0"/>
                          </a:solidFill>
                          <a:latin typeface="Cambria Math" panose="02040503050406030204" pitchFamily="18" charset="0"/>
                          <a:ea typeface="微软雅黑" panose="020B0503020204020204" pitchFamily="34" charset="-122"/>
                        </a:rPr>
                        <m:t>约束</m:t>
                      </m:r>
                      <m:r>
                        <m:rPr>
                          <m:nor/>
                        </m:rPr>
                        <a:rPr lang="zh-CN" altLang="en-US" sz="1600" dirty="0">
                          <a:solidFill>
                            <a:srgbClr val="00B0F0"/>
                          </a:solidFill>
                          <a:latin typeface="微软雅黑" panose="020B0503020204020204" pitchFamily="34" charset="-122"/>
                          <a:ea typeface="微软雅黑" panose="020B0503020204020204" pitchFamily="34" charset="-122"/>
                        </a:rPr>
                        <m:t>的系数矩阵和列向量</m:t>
                      </m:r>
                    </m:oMath>
                  </m:oMathPara>
                </a14:m>
                <a:endParaRPr lang="zh-CN" altLang="en-US" sz="1600" dirty="0">
                  <a:latin typeface="微软雅黑" panose="020B0503020204020204" pitchFamily="34" charset="-122"/>
                  <a:ea typeface="微软雅黑" panose="020B0503020204020204" pitchFamily="34" charset="-122"/>
                </a:endParaRPr>
              </a:p>
            </p:txBody>
          </p:sp>
        </mc:Choice>
        <mc:Fallback xmlns="">
          <p:sp>
            <p:nvSpPr>
              <p:cNvPr id="15" name="文本框 14">
                <a:extLst>
                  <a:ext uri="{FF2B5EF4-FFF2-40B4-BE49-F238E27FC236}">
                    <a16:creationId xmlns:a16="http://schemas.microsoft.com/office/drawing/2014/main" id="{8C83B285-04B5-4BFC-8DDF-D2558117A61C}"/>
                  </a:ext>
                </a:extLst>
              </p:cNvPr>
              <p:cNvSpPr txBox="1">
                <a:spLocks noRot="1" noChangeAspect="1" noMove="1" noResize="1" noEditPoints="1" noAdjustHandles="1" noChangeArrowheads="1" noChangeShapeType="1" noTextEdit="1"/>
              </p:cNvSpPr>
              <p:nvPr/>
            </p:nvSpPr>
            <p:spPr>
              <a:xfrm>
                <a:off x="3973431" y="1521719"/>
                <a:ext cx="1606670" cy="339645"/>
              </a:xfrm>
              <a:prstGeom prst="rect">
                <a:avLst/>
              </a:prstGeom>
              <a:blipFill>
                <a:blip r:embed="rId6"/>
                <a:stretch>
                  <a:fillRect l="-760" r="-220913" b="-109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667D5E05-B205-4C7F-B684-2C39EF7B6617}"/>
                  </a:ext>
                </a:extLst>
              </p:cNvPr>
              <p:cNvSpPr txBox="1"/>
              <p:nvPr/>
            </p:nvSpPr>
            <p:spPr>
              <a:xfrm>
                <a:off x="4316890" y="1852377"/>
                <a:ext cx="4100349" cy="33983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nor/>
                        </m:rPr>
                        <a:rPr lang="zh-CN" altLang="en-US" sz="1600" dirty="0" smtClean="0">
                          <a:solidFill>
                            <a:srgbClr val="00B0F0"/>
                          </a:solidFill>
                          <a:latin typeface="微软雅黑" panose="020B0503020204020204" pitchFamily="34" charset="-122"/>
                          <a:ea typeface="微软雅黑" panose="020B0503020204020204" pitchFamily="34" charset="-122"/>
                        </a:rPr>
                        <m:t>边界约束</m:t>
                      </m:r>
                      <m:r>
                        <m:rPr>
                          <m:nor/>
                        </m:rPr>
                        <a:rPr lang="en-US" altLang="zh-CN" sz="1600" b="0" i="0" dirty="0" smtClean="0">
                          <a:solidFill>
                            <a:srgbClr val="00B0F0"/>
                          </a:solidFill>
                          <a:latin typeface="微软雅黑" panose="020B0503020204020204" pitchFamily="34" charset="-122"/>
                          <a:ea typeface="微软雅黑" panose="020B0503020204020204" pitchFamily="34" charset="-122"/>
                        </a:rPr>
                        <m:t>,  </m:t>
                      </m:r>
                      <m:r>
                        <m:rPr>
                          <m:sty m:val="p"/>
                        </m:rPr>
                        <a:rPr lang="en-US" altLang="zh-CN" sz="1600" i="1" dirty="0">
                          <a:solidFill>
                            <a:srgbClr val="00B0F0"/>
                          </a:solidFill>
                          <a:latin typeface="Cambria Math" panose="02040503050406030204" pitchFamily="18" charset="0"/>
                          <a:ea typeface="微软雅黑" panose="020B0503020204020204" pitchFamily="34" charset="-122"/>
                        </a:rPr>
                        <m:t>lb</m:t>
                      </m:r>
                      <m:r>
                        <a:rPr lang="zh-CN" altLang="en-US" sz="1600" i="1" dirty="0" smtClean="0">
                          <a:solidFill>
                            <a:srgbClr val="00B0F0"/>
                          </a:solidFill>
                          <a:latin typeface="Cambria Math" panose="02040503050406030204" pitchFamily="18" charset="0"/>
                          <a:ea typeface="微软雅黑" panose="020B0503020204020204" pitchFamily="34" charset="-122"/>
                        </a:rPr>
                        <m:t>和</m:t>
                      </m:r>
                      <m:r>
                        <m:rPr>
                          <m:sty m:val="p"/>
                        </m:rPr>
                        <a:rPr lang="en-US" altLang="zh-CN" sz="1600" i="1" dirty="0">
                          <a:solidFill>
                            <a:srgbClr val="00B0F0"/>
                          </a:solidFill>
                          <a:latin typeface="Cambria Math" panose="02040503050406030204" pitchFamily="18" charset="0"/>
                          <a:ea typeface="微软雅黑" panose="020B0503020204020204" pitchFamily="34" charset="-122"/>
                        </a:rPr>
                        <m:t>ub</m:t>
                      </m:r>
                      <m:r>
                        <m:rPr>
                          <m:nor/>
                        </m:rPr>
                        <a:rPr lang="zh-CN" altLang="en-US" sz="1600" dirty="0">
                          <a:solidFill>
                            <a:srgbClr val="00B0F0"/>
                          </a:solidFill>
                          <a:latin typeface="Microsoft YaHei" panose="020B0503020204020204" pitchFamily="34" charset="-122"/>
                          <a:ea typeface="Microsoft YaHei" panose="020B0503020204020204" pitchFamily="34" charset="-122"/>
                        </a:rPr>
                        <m:t>变量 </m:t>
                      </m:r>
                      <m:r>
                        <m:rPr>
                          <m:nor/>
                        </m:rPr>
                        <a:rPr lang="en-US" altLang="zh-CN" sz="1600" dirty="0">
                          <a:solidFill>
                            <a:srgbClr val="00B0F0"/>
                          </a:solidFill>
                          <a:latin typeface="Microsoft YaHei" panose="020B0503020204020204" pitchFamily="34" charset="-122"/>
                          <a:ea typeface="Microsoft YaHei" panose="020B0503020204020204" pitchFamily="34" charset="-122"/>
                        </a:rPr>
                        <m:t>x</m:t>
                      </m:r>
                      <m:r>
                        <m:rPr>
                          <m:nor/>
                        </m:rPr>
                        <a:rPr lang="en-US" altLang="zh-CN" sz="1600" dirty="0">
                          <a:solidFill>
                            <a:srgbClr val="00B0F0"/>
                          </a:solidFill>
                          <a:latin typeface="Microsoft YaHei" panose="020B0503020204020204" pitchFamily="34" charset="-122"/>
                          <a:ea typeface="Microsoft YaHei" panose="020B0503020204020204" pitchFamily="34" charset="-122"/>
                        </a:rPr>
                        <m:t> </m:t>
                      </m:r>
                      <m:r>
                        <m:rPr>
                          <m:nor/>
                        </m:rPr>
                        <a:rPr lang="zh-CN" altLang="en-US" sz="1600" dirty="0">
                          <a:solidFill>
                            <a:srgbClr val="00B0F0"/>
                          </a:solidFill>
                          <a:latin typeface="Microsoft YaHei" panose="020B0503020204020204" pitchFamily="34" charset="-122"/>
                          <a:ea typeface="Microsoft YaHei" panose="020B0503020204020204" pitchFamily="34" charset="-122"/>
                        </a:rPr>
                        <m:t>下界和上界</m:t>
                      </m:r>
                    </m:oMath>
                  </m:oMathPara>
                </a14:m>
                <a:endParaRPr lang="zh-CN" altLang="en-US" sz="1600" dirty="0">
                  <a:latin typeface="微软雅黑" panose="020B0503020204020204" pitchFamily="34" charset="-122"/>
                  <a:ea typeface="微软雅黑" panose="020B0503020204020204" pitchFamily="34" charset="-122"/>
                </a:endParaRPr>
              </a:p>
            </p:txBody>
          </p:sp>
        </mc:Choice>
        <mc:Fallback xmlns="">
          <p:sp>
            <p:nvSpPr>
              <p:cNvPr id="17" name="文本框 16">
                <a:extLst>
                  <a:ext uri="{FF2B5EF4-FFF2-40B4-BE49-F238E27FC236}">
                    <a16:creationId xmlns:a16="http://schemas.microsoft.com/office/drawing/2014/main" id="{667D5E05-B205-4C7F-B684-2C39EF7B6617}"/>
                  </a:ext>
                </a:extLst>
              </p:cNvPr>
              <p:cNvSpPr txBox="1">
                <a:spLocks noRot="1" noChangeAspect="1" noMove="1" noResize="1" noEditPoints="1" noAdjustHandles="1" noChangeArrowheads="1" noChangeShapeType="1" noTextEdit="1"/>
              </p:cNvSpPr>
              <p:nvPr/>
            </p:nvSpPr>
            <p:spPr>
              <a:xfrm>
                <a:off x="4316890" y="1852377"/>
                <a:ext cx="4100349" cy="339837"/>
              </a:xfrm>
              <a:prstGeom prst="rect">
                <a:avLst/>
              </a:prstGeom>
              <a:blipFill>
                <a:blip r:embed="rId7"/>
                <a:stretch>
                  <a:fillRect l="-149" b="-8929"/>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52E9F0DA-6253-427A-9B92-ACC3AF2E604B}"/>
              </a:ext>
            </a:extLst>
          </p:cNvPr>
          <p:cNvSpPr txBox="1"/>
          <p:nvPr/>
        </p:nvSpPr>
        <p:spPr>
          <a:xfrm>
            <a:off x="6077564" y="2694180"/>
            <a:ext cx="2937627" cy="584775"/>
          </a:xfrm>
          <a:prstGeom prst="rect">
            <a:avLst/>
          </a:prstGeom>
          <a:noFill/>
        </p:spPr>
        <p:txBody>
          <a:bodyPr wrap="square">
            <a:spAutoFit/>
          </a:bodyPr>
          <a:lstStyle/>
          <a:p>
            <a:pPr marL="342900" indent="-342900">
              <a:buFont typeface="Wingdings" panose="05000000000000000000" pitchFamily="2" charset="2"/>
              <a:buChar char="Ø"/>
            </a:pPr>
            <a:r>
              <a:rPr lang="en-US" altLang="zh-CN" sz="1600" dirty="0">
                <a:solidFill>
                  <a:srgbClr val="00B0F0"/>
                </a:solidFill>
                <a:latin typeface="微软雅黑" panose="020B0503020204020204" pitchFamily="34" charset="-122"/>
                <a:ea typeface="微软雅黑" panose="020B0503020204020204" pitchFamily="34" charset="-122"/>
              </a:rPr>
              <a:t>f</a:t>
            </a:r>
            <a:r>
              <a:rPr lang="zh-CN" altLang="en-US" sz="1600" dirty="0">
                <a:solidFill>
                  <a:srgbClr val="00B0F0"/>
                </a:solidFill>
                <a:latin typeface="微软雅黑" panose="020B0503020204020204" pitchFamily="34" charset="-122"/>
                <a:ea typeface="微软雅黑" panose="020B0503020204020204" pitchFamily="34" charset="-122"/>
              </a:rPr>
              <a:t>、</a:t>
            </a:r>
            <a:r>
              <a:rPr lang="en-US" altLang="zh-CN" sz="1600" dirty="0">
                <a:solidFill>
                  <a:srgbClr val="00B0F0"/>
                </a:solidFill>
                <a:latin typeface="微软雅黑" panose="020B0503020204020204" pitchFamily="34" charset="-122"/>
                <a:ea typeface="微软雅黑" panose="020B0503020204020204" pitchFamily="34" charset="-122"/>
              </a:rPr>
              <a:t>x</a:t>
            </a:r>
            <a:r>
              <a:rPr lang="zh-CN" altLang="en-US" sz="1600" dirty="0">
                <a:solidFill>
                  <a:srgbClr val="00B0F0"/>
                </a:solidFill>
                <a:latin typeface="微软雅黑" panose="020B0503020204020204" pitchFamily="34" charset="-122"/>
                <a:ea typeface="微软雅黑" panose="020B0503020204020204" pitchFamily="34" charset="-122"/>
              </a:rPr>
              <a:t>、</a:t>
            </a:r>
            <a:r>
              <a:rPr lang="en-US" altLang="zh-CN" sz="1600" dirty="0">
                <a:solidFill>
                  <a:srgbClr val="00B0F0"/>
                </a:solidFill>
                <a:latin typeface="微软雅黑" panose="020B0503020204020204" pitchFamily="34" charset="-122"/>
                <a:ea typeface="微软雅黑" panose="020B0503020204020204" pitchFamily="34" charset="-122"/>
              </a:rPr>
              <a:t>b</a:t>
            </a:r>
            <a:r>
              <a:rPr lang="zh-CN" altLang="en-US" sz="1600" dirty="0">
                <a:solidFill>
                  <a:srgbClr val="00B0F0"/>
                </a:solidFill>
                <a:latin typeface="微软雅黑" panose="020B0503020204020204" pitchFamily="34" charset="-122"/>
                <a:ea typeface="微软雅黑" panose="020B0503020204020204" pitchFamily="34" charset="-122"/>
              </a:rPr>
              <a:t>、</a:t>
            </a:r>
            <a:r>
              <a:rPr lang="en-US" altLang="zh-CN" sz="1600" dirty="0" err="1">
                <a:solidFill>
                  <a:srgbClr val="00B0F0"/>
                </a:solidFill>
                <a:latin typeface="微软雅黑" panose="020B0503020204020204" pitchFamily="34" charset="-122"/>
                <a:ea typeface="微软雅黑" panose="020B0503020204020204" pitchFamily="34" charset="-122"/>
              </a:rPr>
              <a:t>beq</a:t>
            </a:r>
            <a:r>
              <a:rPr lang="zh-CN" altLang="en-US" sz="1600" dirty="0">
                <a:solidFill>
                  <a:srgbClr val="00B0F0"/>
                </a:solidFill>
                <a:latin typeface="微软雅黑" panose="020B0503020204020204" pitchFamily="34" charset="-122"/>
                <a:ea typeface="微软雅黑" panose="020B0503020204020204" pitchFamily="34" charset="-122"/>
              </a:rPr>
              <a:t>、</a:t>
            </a:r>
            <a:r>
              <a:rPr lang="en-US" altLang="zh-CN" sz="1600" dirty="0" err="1">
                <a:solidFill>
                  <a:srgbClr val="00B0F0"/>
                </a:solidFill>
                <a:latin typeface="微软雅黑" panose="020B0503020204020204" pitchFamily="34" charset="-122"/>
                <a:ea typeface="微软雅黑" panose="020B0503020204020204" pitchFamily="34" charset="-122"/>
              </a:rPr>
              <a:t>lb</a:t>
            </a:r>
            <a:r>
              <a:rPr lang="zh-CN" altLang="en-US" sz="1600" i="0" dirty="0">
                <a:solidFill>
                  <a:srgbClr val="00B0F0"/>
                </a:solidFill>
                <a:effectLst/>
                <a:latin typeface="微软雅黑" panose="020B0503020204020204" pitchFamily="34" charset="-122"/>
                <a:ea typeface="微软雅黑" panose="020B0503020204020204" pitchFamily="34" charset="-122"/>
              </a:rPr>
              <a:t>和</a:t>
            </a:r>
            <a:r>
              <a:rPr lang="en-US" altLang="zh-CN" sz="1600" i="0" dirty="0" err="1">
                <a:solidFill>
                  <a:srgbClr val="00B0F0"/>
                </a:solidFill>
                <a:effectLst/>
                <a:latin typeface="微软雅黑" panose="020B0503020204020204" pitchFamily="34" charset="-122"/>
                <a:ea typeface="微软雅黑" panose="020B0503020204020204" pitchFamily="34" charset="-122"/>
              </a:rPr>
              <a:t>ub</a:t>
            </a:r>
            <a:r>
              <a:rPr lang="zh-CN" altLang="en-US" sz="1600" i="0" dirty="0">
                <a:solidFill>
                  <a:srgbClr val="00B0F0"/>
                </a:solidFill>
                <a:effectLst/>
                <a:latin typeface="微软雅黑" panose="020B0503020204020204" pitchFamily="34" charset="-122"/>
                <a:ea typeface="微软雅黑" panose="020B0503020204020204" pitchFamily="34" charset="-122"/>
              </a:rPr>
              <a:t> 是向量，</a:t>
            </a:r>
            <a:r>
              <a:rPr lang="en-US" altLang="zh-CN" sz="1600" i="0" dirty="0">
                <a:solidFill>
                  <a:srgbClr val="00B0F0"/>
                </a:solidFill>
                <a:effectLst/>
                <a:latin typeface="微软雅黑" panose="020B0503020204020204" pitchFamily="34" charset="-122"/>
                <a:ea typeface="微软雅黑" panose="020B0503020204020204" pitchFamily="34" charset="-122"/>
              </a:rPr>
              <a:t>A</a:t>
            </a:r>
            <a:r>
              <a:rPr lang="zh-CN" altLang="en-US" sz="1600" i="0" dirty="0">
                <a:solidFill>
                  <a:srgbClr val="00B0F0"/>
                </a:solidFill>
                <a:effectLst/>
                <a:latin typeface="微软雅黑" panose="020B0503020204020204" pitchFamily="34" charset="-122"/>
                <a:ea typeface="微软雅黑" panose="020B0503020204020204" pitchFamily="34" charset="-122"/>
              </a:rPr>
              <a:t> 和 </a:t>
            </a:r>
            <a:r>
              <a:rPr lang="en-US" altLang="zh-CN" sz="1600" dirty="0" err="1">
                <a:solidFill>
                  <a:srgbClr val="00B0F0"/>
                </a:solidFill>
                <a:latin typeface="微软雅黑" panose="020B0503020204020204" pitchFamily="34" charset="-122"/>
                <a:ea typeface="微软雅黑" panose="020B0503020204020204" pitchFamily="34" charset="-122"/>
              </a:rPr>
              <a:t>Aeq</a:t>
            </a:r>
            <a:r>
              <a:rPr lang="zh-CN" altLang="en-US" sz="1600" i="0" dirty="0">
                <a:solidFill>
                  <a:srgbClr val="00B0F0"/>
                </a:solidFill>
                <a:effectLst/>
                <a:latin typeface="微软雅黑" panose="020B0503020204020204" pitchFamily="34" charset="-122"/>
                <a:ea typeface="微软雅黑" panose="020B0503020204020204" pitchFamily="34" charset="-122"/>
              </a:rPr>
              <a:t> 是矩阵</a:t>
            </a:r>
            <a:endParaRPr lang="zh-CN" altLang="en-US" sz="1600" dirty="0">
              <a:solidFill>
                <a:srgbClr val="00B0F0"/>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C740DE7B-3451-4876-B65F-FB58C24C19BF}"/>
              </a:ext>
            </a:extLst>
          </p:cNvPr>
          <p:cNvSpPr txBox="1"/>
          <p:nvPr/>
        </p:nvSpPr>
        <p:spPr>
          <a:xfrm>
            <a:off x="6077564" y="3538381"/>
            <a:ext cx="3057718" cy="799321"/>
          </a:xfrm>
          <a:prstGeom prst="rect">
            <a:avLst/>
          </a:prstGeom>
          <a:noFill/>
        </p:spPr>
        <p:txBody>
          <a:bodyPr wrap="square">
            <a:spAutoFit/>
          </a:bodyPr>
          <a:lstStyle>
            <a:defPPr>
              <a:defRPr lang="zh-CN"/>
            </a:defPPr>
            <a:lvl1pPr marL="285750" indent="-285750">
              <a:lnSpc>
                <a:spcPts val="2800"/>
              </a:lnSpc>
              <a:buFont typeface="Wingdings" panose="05000000000000000000" pitchFamily="2" charset="2"/>
              <a:buChar char="Ø"/>
              <a:defRPr sz="2200">
                <a:solidFill>
                  <a:srgbClr val="2C3E50"/>
                </a:solidFill>
                <a:latin typeface="华文楷体" panose="02010600040101010101" pitchFamily="2" charset="-122"/>
                <a:ea typeface="华文楷体" panose="02010600040101010101" pitchFamily="2" charset="-122"/>
              </a:defRPr>
            </a:lvl1pPr>
          </a:lstStyle>
          <a:p>
            <a:r>
              <a:rPr lang="zh-CN" altLang="en-US" sz="1600" dirty="0">
                <a:solidFill>
                  <a:srgbClr val="00B0F0"/>
                </a:solidFill>
                <a:latin typeface="微软雅黑" panose="020B0503020204020204" pitchFamily="34" charset="-122"/>
                <a:ea typeface="微软雅黑" panose="020B0503020204020204" pitchFamily="34" charset="-122"/>
              </a:rPr>
              <a:t>如果不存在不等式和边界，请设置 </a:t>
            </a:r>
            <a:r>
              <a:rPr lang="en-US" altLang="zh-CN" sz="1600" dirty="0">
                <a:solidFill>
                  <a:srgbClr val="00B0F0"/>
                </a:solidFill>
                <a:latin typeface="微软雅黑" panose="020B0503020204020204" pitchFamily="34" charset="-122"/>
                <a:ea typeface="微软雅黑" panose="020B0503020204020204" pitchFamily="34" charset="-122"/>
              </a:rPr>
              <a:t>A = [ ] </a:t>
            </a:r>
            <a:r>
              <a:rPr lang="zh-CN" altLang="en-US" sz="1600" dirty="0">
                <a:solidFill>
                  <a:srgbClr val="00B0F0"/>
                </a:solidFill>
                <a:latin typeface="微软雅黑" panose="020B0503020204020204" pitchFamily="34" charset="-122"/>
                <a:ea typeface="微软雅黑" panose="020B0503020204020204" pitchFamily="34" charset="-122"/>
              </a:rPr>
              <a:t>和 </a:t>
            </a:r>
            <a:r>
              <a:rPr lang="en-US" altLang="zh-CN" sz="1600" dirty="0">
                <a:solidFill>
                  <a:srgbClr val="00B0F0"/>
                </a:solidFill>
                <a:latin typeface="微软雅黑" panose="020B0503020204020204" pitchFamily="34" charset="-122"/>
                <a:ea typeface="微软雅黑" panose="020B0503020204020204" pitchFamily="34" charset="-122"/>
              </a:rPr>
              <a:t>b = [ ]</a:t>
            </a:r>
            <a:r>
              <a:rPr lang="zh-CN" altLang="en-US" sz="1600" dirty="0">
                <a:solidFill>
                  <a:srgbClr val="00B0F0"/>
                </a:solidFill>
                <a:latin typeface="微软雅黑" panose="020B0503020204020204" pitchFamily="34" charset="-122"/>
                <a:ea typeface="微软雅黑" panose="020B0503020204020204" pitchFamily="34" charset="-122"/>
              </a:rPr>
              <a:t>等</a:t>
            </a:r>
          </a:p>
        </p:txBody>
      </p:sp>
      <p:sp>
        <p:nvSpPr>
          <p:cNvPr id="7" name="Rectangle 1">
            <a:extLst>
              <a:ext uri="{FF2B5EF4-FFF2-40B4-BE49-F238E27FC236}">
                <a16:creationId xmlns:a16="http://schemas.microsoft.com/office/drawing/2014/main" id="{8CA78BF6-1AB3-48C1-9C26-26A600193C0F}"/>
              </a:ext>
            </a:extLst>
          </p:cNvPr>
          <p:cNvSpPr>
            <a:spLocks noChangeArrowheads="1"/>
          </p:cNvSpPr>
          <p:nvPr/>
        </p:nvSpPr>
        <p:spPr bwMode="auto">
          <a:xfrm>
            <a:off x="19730" y="727327"/>
            <a:ext cx="3384376" cy="4616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hangingPunct="0">
              <a:buFont typeface="+mj-ea"/>
              <a:buAutoNum type="circleNumDbPlain"/>
            </a:pPr>
            <a:r>
              <a:rPr lang="zh-CN" altLang="en-US" sz="2000" b="1" dirty="0">
                <a:solidFill>
                  <a:srgbClr val="0070C0"/>
                </a:solidFill>
                <a:latin typeface="微软雅黑" panose="020B0503020204020204" pitchFamily="34" charset="-122"/>
                <a:ea typeface="微软雅黑" panose="020B0503020204020204" pitchFamily="34" charset="-122"/>
              </a:rPr>
              <a:t>线性规划问题描述：</a:t>
            </a:r>
            <a:endParaRPr lang="zh-CN" altLang="zh-CN" sz="2000" b="1" dirty="0">
              <a:solidFill>
                <a:srgbClr val="0070C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92547D5-AA01-49A8-8912-E4BE4881E425}"/>
                  </a:ext>
                </a:extLst>
              </p:cNvPr>
              <p:cNvSpPr txBox="1"/>
              <p:nvPr/>
            </p:nvSpPr>
            <p:spPr>
              <a:xfrm>
                <a:off x="283614" y="2045351"/>
                <a:ext cx="11541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0" smtClean="0">
                          <a:latin typeface="Cambria Math" panose="02040503050406030204" pitchFamily="18" charset="0"/>
                        </a:rPr>
                        <m:t> </m:t>
                      </m:r>
                    </m:oMath>
                  </m:oMathPara>
                </a14:m>
                <a:endParaRPr lang="zh-CN" altLang="en-US" dirty="0"/>
              </a:p>
            </p:txBody>
          </p:sp>
        </mc:Choice>
        <mc:Fallback xmlns="">
          <p:sp>
            <p:nvSpPr>
              <p:cNvPr id="4" name="文本框 3">
                <a:extLst>
                  <a:ext uri="{FF2B5EF4-FFF2-40B4-BE49-F238E27FC236}">
                    <a16:creationId xmlns:a16="http://schemas.microsoft.com/office/drawing/2014/main" id="{E92547D5-AA01-49A8-8912-E4BE4881E425}"/>
                  </a:ext>
                </a:extLst>
              </p:cNvPr>
              <p:cNvSpPr txBox="1">
                <a:spLocks noRot="1" noChangeAspect="1" noMove="1" noResize="1" noEditPoints="1" noAdjustHandles="1" noChangeArrowheads="1" noChangeShapeType="1" noTextEdit="1"/>
              </p:cNvSpPr>
              <p:nvPr/>
            </p:nvSpPr>
            <p:spPr>
              <a:xfrm>
                <a:off x="283614" y="2045351"/>
                <a:ext cx="115416" cy="276999"/>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65642DC4-AD5C-428D-9D98-EC6518A7C2CC}"/>
                  </a:ext>
                </a:extLst>
              </p:cNvPr>
              <p:cNvSpPr txBox="1"/>
              <p:nvPr/>
            </p:nvSpPr>
            <p:spPr>
              <a:xfrm>
                <a:off x="2641687" y="757547"/>
                <a:ext cx="3687319" cy="370486"/>
              </a:xfrm>
              <a:prstGeom prst="rect">
                <a:avLst/>
              </a:prstGeom>
              <a:noFill/>
            </p:spPr>
            <p:txBody>
              <a:bodyPr wrap="square">
                <a:spAutoFit/>
              </a:bodyPr>
              <a:lstStyle/>
              <a:p>
                <a:r>
                  <a:rPr lang="zh-CN" altLang="en-US" b="1" dirty="0">
                    <a:solidFill>
                      <a:srgbClr val="FF0000"/>
                    </a:solidFill>
                    <a:latin typeface="微软雅黑" panose="020B0503020204020204" pitchFamily="34" charset="-122"/>
                    <a:ea typeface="微软雅黑" panose="020B0503020204020204" pitchFamily="34" charset="-122"/>
                  </a:rPr>
                  <a:t>目标</a:t>
                </a:r>
                <a:r>
                  <a:rPr lang="en-US" altLang="zh-CN" b="1" dirty="0">
                    <a:solidFill>
                      <a:srgbClr val="FF0000"/>
                    </a:solidFill>
                    <a:latin typeface="微软雅黑" panose="020B0503020204020204" pitchFamily="34" charset="-122"/>
                    <a:ea typeface="微软雅黑" panose="020B0503020204020204" pitchFamily="34" charset="-122"/>
                  </a:rPr>
                  <a:t>f(x)</a:t>
                </a:r>
                <a:r>
                  <a:rPr lang="zh-CN" altLang="en-US" b="1" dirty="0">
                    <a:solidFill>
                      <a:srgbClr val="FF0000"/>
                    </a:solidFill>
                    <a:latin typeface="微软雅黑" panose="020B0503020204020204" pitchFamily="34" charset="-122"/>
                    <a:ea typeface="微软雅黑" panose="020B0503020204020204" pitchFamily="34" charset="-122"/>
                  </a:rPr>
                  <a:t>和约束</a:t>
                </a:r>
                <a14:m>
                  <m:oMath xmlns:m="http://schemas.openxmlformats.org/officeDocument/2006/math">
                    <m:sSub>
                      <m:sSubPr>
                        <m:ctrlPr>
                          <a:rPr lang="en-US" altLang="zh-CN" b="1" i="1">
                            <a:solidFill>
                              <a:srgbClr val="FF0000"/>
                            </a:solidFill>
                            <a:latin typeface="Cambria Math" panose="02040503050406030204" pitchFamily="18" charset="0"/>
                            <a:ea typeface="微软雅黑" panose="020B0503020204020204" pitchFamily="34" charset="-122"/>
                          </a:rPr>
                        </m:ctrlPr>
                      </m:sSubPr>
                      <m:e>
                        <m:r>
                          <a:rPr lang="en-US" altLang="zh-CN" b="1" i="1">
                            <a:solidFill>
                              <a:srgbClr val="FF0000"/>
                            </a:solidFill>
                            <a:latin typeface="Cambria Math" panose="02040503050406030204" pitchFamily="18" charset="0"/>
                            <a:ea typeface="微软雅黑" panose="020B0503020204020204" pitchFamily="34" charset="-122"/>
                          </a:rPr>
                          <m:t>𝒄</m:t>
                        </m:r>
                      </m:e>
                      <m:sub>
                        <m:r>
                          <a:rPr lang="en-US" altLang="zh-CN" b="1" i="1">
                            <a:solidFill>
                              <a:srgbClr val="FF0000"/>
                            </a:solidFill>
                            <a:latin typeface="Cambria Math" panose="02040503050406030204" pitchFamily="18" charset="0"/>
                            <a:ea typeface="微软雅黑" panose="020B0503020204020204" pitchFamily="34" charset="-122"/>
                          </a:rPr>
                          <m:t>𝒊</m:t>
                        </m:r>
                      </m:sub>
                    </m:sSub>
                    <m:r>
                      <a:rPr lang="en-US" altLang="zh-CN" b="1">
                        <a:solidFill>
                          <a:srgbClr val="FF0000"/>
                        </a:solidFill>
                        <a:latin typeface="Cambria Math" panose="02040503050406030204" pitchFamily="18" charset="0"/>
                        <a:ea typeface="微软雅黑" panose="020B0503020204020204" pitchFamily="34" charset="-122"/>
                      </a:rPr>
                      <m:t>(</m:t>
                    </m:r>
                    <m:r>
                      <a:rPr lang="en-US" altLang="zh-CN" b="1" i="1">
                        <a:solidFill>
                          <a:srgbClr val="FF0000"/>
                        </a:solidFill>
                        <a:latin typeface="Cambria Math" panose="02040503050406030204" pitchFamily="18" charset="0"/>
                        <a:ea typeface="微软雅黑" panose="020B0503020204020204" pitchFamily="34" charset="-122"/>
                      </a:rPr>
                      <m:t>𝐱</m:t>
                    </m:r>
                    <m:r>
                      <a:rPr lang="en-US" altLang="zh-CN" b="1">
                        <a:solidFill>
                          <a:srgbClr val="FF0000"/>
                        </a:solidFill>
                        <a:latin typeface="Cambria Math" panose="02040503050406030204" pitchFamily="18" charset="0"/>
                        <a:ea typeface="微软雅黑" panose="020B0503020204020204" pitchFamily="34" charset="-122"/>
                      </a:rPr>
                      <m:t>)</m:t>
                    </m:r>
                    <m:r>
                      <a:rPr lang="zh-CN" altLang="en-US" b="1" smtClean="0">
                        <a:solidFill>
                          <a:srgbClr val="00B0F0"/>
                        </a:solidFill>
                        <a:effectLst/>
                        <a:latin typeface="Cambria Math" panose="02040503050406030204" pitchFamily="18" charset="0"/>
                        <a:ea typeface="微软雅黑" panose="020B0503020204020204" pitchFamily="34" charset="-122"/>
                      </a:rPr>
                      <m:t>线性</m:t>
                    </m:r>
                    <m:r>
                      <a:rPr lang="zh-CN" altLang="en-US" b="1" i="1">
                        <a:solidFill>
                          <a:srgbClr val="00B0F0"/>
                        </a:solidFill>
                        <a:effectLst/>
                        <a:latin typeface="Cambria Math" panose="02040503050406030204" pitchFamily="18" charset="0"/>
                        <a:ea typeface="微软雅黑" panose="020B0503020204020204" pitchFamily="34" charset="-122"/>
                      </a:rPr>
                      <m:t>函数</m:t>
                    </m:r>
                  </m:oMath>
                </a14:m>
                <a:endParaRPr lang="zh-CN" altLang="en-US" b="1"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18" name="文本框 17">
                <a:extLst>
                  <a:ext uri="{FF2B5EF4-FFF2-40B4-BE49-F238E27FC236}">
                    <a16:creationId xmlns:a16="http://schemas.microsoft.com/office/drawing/2014/main" id="{65642DC4-AD5C-428D-9D98-EC6518A7C2CC}"/>
                  </a:ext>
                </a:extLst>
              </p:cNvPr>
              <p:cNvSpPr txBox="1">
                <a:spLocks noRot="1" noChangeAspect="1" noMove="1" noResize="1" noEditPoints="1" noAdjustHandles="1" noChangeArrowheads="1" noChangeShapeType="1" noTextEdit="1"/>
              </p:cNvSpPr>
              <p:nvPr/>
            </p:nvSpPr>
            <p:spPr>
              <a:xfrm>
                <a:off x="2641687" y="757547"/>
                <a:ext cx="3687319" cy="370486"/>
              </a:xfrm>
              <a:prstGeom prst="rect">
                <a:avLst/>
              </a:prstGeom>
              <a:blipFill>
                <a:blip r:embed="rId9"/>
                <a:stretch>
                  <a:fillRect l="-1322" t="-8197" b="-24590"/>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E9678902-BFFE-4DA0-A1F1-520088F4D585}"/>
              </a:ext>
            </a:extLst>
          </p:cNvPr>
          <p:cNvSpPr txBox="1"/>
          <p:nvPr/>
        </p:nvSpPr>
        <p:spPr>
          <a:xfrm>
            <a:off x="2294764" y="2637589"/>
            <a:ext cx="3153651" cy="416589"/>
          </a:xfrm>
          <a:prstGeom prst="rect">
            <a:avLst/>
          </a:prstGeom>
          <a:noFill/>
        </p:spPr>
        <p:txBody>
          <a:bodyPr wrap="square">
            <a:spAutoFit/>
          </a:bodyPr>
          <a:lstStyle/>
          <a:p>
            <a:pPr marL="285750" indent="-285750">
              <a:lnSpc>
                <a:spcPts val="2800"/>
              </a:lnSpc>
              <a:buFont typeface="Wingdings" panose="05000000000000000000" pitchFamily="2" charset="2"/>
              <a:buChar char="Ø"/>
            </a:pPr>
            <a:r>
              <a:rPr lang="en-US" altLang="zh-CN" dirty="0">
                <a:solidFill>
                  <a:srgbClr val="2C3E50"/>
                </a:solidFill>
                <a:latin typeface="微软雅黑" panose="020B0503020204020204" pitchFamily="34" charset="-122"/>
                <a:ea typeface="微软雅黑" panose="020B0503020204020204" pitchFamily="34" charset="-122"/>
              </a:rPr>
              <a:t>f -</a:t>
            </a:r>
            <a:r>
              <a:rPr lang="zh-CN" altLang="en-US" dirty="0">
                <a:solidFill>
                  <a:srgbClr val="2C3E50"/>
                </a:solidFill>
                <a:latin typeface="微软雅黑" panose="020B0503020204020204" pitchFamily="34" charset="-122"/>
                <a:ea typeface="微软雅黑" panose="020B0503020204020204" pitchFamily="34" charset="-122"/>
              </a:rPr>
              <a:t>线性目标函数向量 </a:t>
            </a:r>
            <a:r>
              <a:rPr lang="en-US" altLang="zh-CN" dirty="0">
                <a:solidFill>
                  <a:srgbClr val="2C3E50"/>
                </a:solidFill>
                <a:latin typeface="微软雅黑" panose="020B0503020204020204" pitchFamily="34" charset="-122"/>
                <a:ea typeface="微软雅黑" panose="020B0503020204020204" pitchFamily="34" charset="-122"/>
              </a:rPr>
              <a:t> </a:t>
            </a:r>
          </a:p>
        </p:txBody>
      </p:sp>
      <p:sp>
        <p:nvSpPr>
          <p:cNvPr id="21" name="文本框 20">
            <a:extLst>
              <a:ext uri="{FF2B5EF4-FFF2-40B4-BE49-F238E27FC236}">
                <a16:creationId xmlns:a16="http://schemas.microsoft.com/office/drawing/2014/main" id="{21CFCCBE-CEC8-4959-95C2-F646388C1C88}"/>
              </a:ext>
            </a:extLst>
          </p:cNvPr>
          <p:cNvSpPr txBox="1"/>
          <p:nvPr/>
        </p:nvSpPr>
        <p:spPr>
          <a:xfrm>
            <a:off x="6092216" y="3227695"/>
            <a:ext cx="2937627" cy="416589"/>
          </a:xfrm>
          <a:prstGeom prst="rect">
            <a:avLst/>
          </a:prstGeom>
          <a:noFill/>
        </p:spPr>
        <p:txBody>
          <a:bodyPr wrap="square">
            <a:spAutoFit/>
          </a:bodyPr>
          <a:lstStyle>
            <a:defPPr>
              <a:defRPr lang="zh-CN"/>
            </a:defPPr>
            <a:lvl1pPr marL="285750" indent="-285750">
              <a:lnSpc>
                <a:spcPts val="2800"/>
              </a:lnSpc>
              <a:buFont typeface="Wingdings" panose="05000000000000000000" pitchFamily="2" charset="2"/>
              <a:buChar char="Ø"/>
              <a:defRPr sz="2200">
                <a:solidFill>
                  <a:srgbClr val="2C3E50"/>
                </a:solidFill>
                <a:latin typeface="华文楷体" panose="02010600040101010101" pitchFamily="2" charset="-122"/>
                <a:ea typeface="华文楷体" panose="02010600040101010101" pitchFamily="2" charset="-122"/>
              </a:defRPr>
            </a:lvl1pPr>
          </a:lstStyle>
          <a:p>
            <a:r>
              <a:rPr lang="en-US" altLang="zh-CN" sz="1600" dirty="0">
                <a:solidFill>
                  <a:srgbClr val="00B0F0"/>
                </a:solidFill>
                <a:latin typeface="微软雅黑" panose="020B0503020204020204" pitchFamily="34" charset="-122"/>
                <a:ea typeface="微软雅黑" panose="020B0503020204020204" pitchFamily="34" charset="-122"/>
              </a:rPr>
              <a:t>x</a:t>
            </a:r>
            <a:r>
              <a:rPr lang="zh-CN" altLang="en-US" sz="1600" dirty="0">
                <a:solidFill>
                  <a:srgbClr val="00B0F0"/>
                </a:solidFill>
                <a:latin typeface="微软雅黑" panose="020B0503020204020204" pitchFamily="34" charset="-122"/>
                <a:ea typeface="微软雅黑" panose="020B0503020204020204" pitchFamily="34" charset="-122"/>
              </a:rPr>
              <a:t>、</a:t>
            </a:r>
            <a:r>
              <a:rPr lang="en-US" altLang="zh-CN" sz="1600" dirty="0">
                <a:solidFill>
                  <a:srgbClr val="00B0F0"/>
                </a:solidFill>
                <a:latin typeface="微软雅黑" panose="020B0503020204020204" pitchFamily="34" charset="-122"/>
                <a:ea typeface="微软雅黑" panose="020B0503020204020204" pitchFamily="34" charset="-122"/>
              </a:rPr>
              <a:t>fun</a:t>
            </a:r>
            <a:r>
              <a:rPr lang="zh-CN" altLang="en-US" sz="1600" dirty="0">
                <a:solidFill>
                  <a:srgbClr val="00B0F0"/>
                </a:solidFill>
                <a:latin typeface="微软雅黑" panose="020B0503020204020204" pitchFamily="34" charset="-122"/>
                <a:ea typeface="微软雅黑" panose="020B0503020204020204" pitchFamily="34" charset="-122"/>
              </a:rPr>
              <a:t>和</a:t>
            </a:r>
            <a:r>
              <a:rPr lang="en-US" altLang="zh-CN" sz="1600" dirty="0">
                <a:solidFill>
                  <a:srgbClr val="00B0F0"/>
                </a:solidFill>
                <a:latin typeface="微软雅黑" panose="020B0503020204020204" pitchFamily="34" charset="-122"/>
                <a:ea typeface="微软雅黑" panose="020B0503020204020204" pitchFamily="34" charset="-122"/>
              </a:rPr>
              <a:t>A</a:t>
            </a:r>
            <a:r>
              <a:rPr lang="zh-CN" altLang="en-US" sz="1600" dirty="0">
                <a:solidFill>
                  <a:srgbClr val="00B0F0"/>
                </a:solidFill>
                <a:latin typeface="微软雅黑" panose="020B0503020204020204" pitchFamily="34" charset="-122"/>
                <a:ea typeface="微软雅黑" panose="020B0503020204020204" pitchFamily="34" charset="-122"/>
              </a:rPr>
              <a:t>、</a:t>
            </a:r>
            <a:r>
              <a:rPr lang="en-US" altLang="zh-CN" sz="1600" dirty="0">
                <a:solidFill>
                  <a:srgbClr val="00B0F0"/>
                </a:solidFill>
                <a:latin typeface="微软雅黑" panose="020B0503020204020204" pitchFamily="34" charset="-122"/>
                <a:ea typeface="微软雅黑" panose="020B0503020204020204" pitchFamily="34" charset="-122"/>
              </a:rPr>
              <a:t>b</a:t>
            </a:r>
            <a:r>
              <a:rPr lang="zh-CN" altLang="en-US" sz="1600" dirty="0">
                <a:solidFill>
                  <a:srgbClr val="00B0F0"/>
                </a:solidFill>
                <a:latin typeface="微软雅黑" panose="020B0503020204020204" pitchFamily="34" charset="-122"/>
                <a:ea typeface="微软雅黑" panose="020B0503020204020204" pitchFamily="34" charset="-122"/>
              </a:rPr>
              <a:t>不能省略</a:t>
            </a:r>
          </a:p>
        </p:txBody>
      </p:sp>
      <p:sp>
        <p:nvSpPr>
          <p:cNvPr id="22" name="文本框 21">
            <a:extLst>
              <a:ext uri="{FF2B5EF4-FFF2-40B4-BE49-F238E27FC236}">
                <a16:creationId xmlns:a16="http://schemas.microsoft.com/office/drawing/2014/main" id="{C31E25B9-A0A9-4500-BBDA-0571968FC40C}"/>
              </a:ext>
            </a:extLst>
          </p:cNvPr>
          <p:cNvSpPr txBox="1"/>
          <p:nvPr/>
        </p:nvSpPr>
        <p:spPr>
          <a:xfrm>
            <a:off x="5709753" y="788901"/>
            <a:ext cx="3499574" cy="338554"/>
          </a:xfrm>
          <a:prstGeom prst="rect">
            <a:avLst/>
          </a:prstGeom>
          <a:noFill/>
        </p:spPr>
        <p:txBody>
          <a:bodyPr wrap="square">
            <a:spAutoFit/>
          </a:bodyPr>
          <a:lstStyle/>
          <a:p>
            <a:r>
              <a:rPr lang="zh-CN" altLang="en-US" sz="1600" b="1" i="0" dirty="0">
                <a:solidFill>
                  <a:srgbClr val="FF0000"/>
                </a:solidFill>
                <a:effectLst/>
                <a:latin typeface="PingFang SC"/>
              </a:rPr>
              <a:t>应用覆盖工业、经济、物流等多领域</a:t>
            </a:r>
            <a:endParaRPr lang="zh-CN" altLang="en-US" sz="1600" b="1" dirty="0">
              <a:solidFill>
                <a:srgbClr val="FF0000"/>
              </a:solidFill>
            </a:endParaRPr>
          </a:p>
        </p:txBody>
      </p:sp>
      <p:sp>
        <p:nvSpPr>
          <p:cNvPr id="20" name="形状 18">
            <a:extLst>
              <a:ext uri="{FF2B5EF4-FFF2-40B4-BE49-F238E27FC236}">
                <a16:creationId xmlns:a16="http://schemas.microsoft.com/office/drawing/2014/main" id="{3131DB87-B531-4747-AB04-CC6FB9A9749E}"/>
              </a:ext>
            </a:extLst>
          </p:cNvPr>
          <p:cNvSpPr/>
          <p:nvPr/>
        </p:nvSpPr>
        <p:spPr>
          <a:xfrm>
            <a:off x="5168399" y="4222096"/>
            <a:ext cx="1055139" cy="441009"/>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just" defTabSz="685800">
              <a:spcBef>
                <a:spcPts val="0"/>
              </a:spcBef>
              <a:spcAft>
                <a:spcPts val="0"/>
              </a:spcAft>
            </a:pPr>
            <a:r>
              <a:rPr lang="zh-CN" altLang="en-US" b="1" dirty="0">
                <a:solidFill>
                  <a:srgbClr val="FFFF00"/>
                </a:solidFill>
                <a:latin typeface="华文楷体" panose="02010600040101010101" pitchFamily="2" charset="-122"/>
                <a:ea typeface="隶书" panose="02010509060101010101" pitchFamily="49" charset="-122"/>
              </a:rPr>
              <a:t>注意</a:t>
            </a:r>
            <a:endParaRPr lang="ko-KR" altLang="en-US" b="1" dirty="0">
              <a:solidFill>
                <a:srgbClr val="FFFF00"/>
              </a:solidFill>
              <a:latin typeface="华文楷体" panose="02010600040101010101" pitchFamily="2" charset="-122"/>
              <a:ea typeface="隶书" panose="02010509060101010101" pitchFamily="49" charset="-122"/>
            </a:endParaRPr>
          </a:p>
        </p:txBody>
      </p:sp>
      <p:sp>
        <p:nvSpPr>
          <p:cNvPr id="23" name="文本框 22">
            <a:extLst>
              <a:ext uri="{FF2B5EF4-FFF2-40B4-BE49-F238E27FC236}">
                <a16:creationId xmlns:a16="http://schemas.microsoft.com/office/drawing/2014/main" id="{2E8B8452-6EBB-4D29-A30C-62C83202CF5D}"/>
              </a:ext>
            </a:extLst>
          </p:cNvPr>
          <p:cNvSpPr txBox="1"/>
          <p:nvPr/>
        </p:nvSpPr>
        <p:spPr>
          <a:xfrm>
            <a:off x="6022291" y="4276224"/>
            <a:ext cx="2666578" cy="369332"/>
          </a:xfrm>
          <a:prstGeom prst="rect">
            <a:avLst/>
          </a:prstGeom>
          <a:noFill/>
        </p:spPr>
        <p:txBody>
          <a:bodyPr wrap="square">
            <a:spAutoFit/>
          </a:bodyPr>
          <a:lstStyle/>
          <a:p>
            <a:pPr algn="just" defTabSz="685800">
              <a:spcBef>
                <a:spcPts val="0"/>
              </a:spcBef>
              <a:spcAft>
                <a:spcPts val="0"/>
              </a:spcAft>
            </a:pPr>
            <a:r>
              <a:rPr lang="en-US" altLang="zh-CN" b="1" dirty="0">
                <a:solidFill>
                  <a:srgbClr val="FF0000"/>
                </a:solidFill>
                <a:latin typeface="华文楷体" panose="02010600040101010101" pitchFamily="2" charset="-122"/>
                <a:ea typeface="华文楷体" panose="02010600040101010101" pitchFamily="2" charset="-122"/>
              </a:rPr>
              <a:t>x</a:t>
            </a:r>
            <a:r>
              <a:rPr lang="zh-CN" altLang="en-US" b="1" dirty="0">
                <a:solidFill>
                  <a:srgbClr val="FF0000"/>
                </a:solidFill>
                <a:latin typeface="华文楷体" panose="02010600040101010101" pitchFamily="2" charset="-122"/>
                <a:ea typeface="华文楷体" panose="02010600040101010101" pitchFamily="2" charset="-122"/>
              </a:rPr>
              <a:t>、</a:t>
            </a:r>
            <a:r>
              <a:rPr lang="en-US" altLang="zh-CN" b="1" dirty="0">
                <a:solidFill>
                  <a:srgbClr val="FF0000"/>
                </a:solidFill>
                <a:latin typeface="华文楷体" panose="02010600040101010101" pitchFamily="2" charset="-122"/>
                <a:ea typeface="华文楷体" panose="02010600040101010101" pitchFamily="2" charset="-122"/>
              </a:rPr>
              <a:t>fun</a:t>
            </a:r>
            <a:r>
              <a:rPr lang="zh-CN" altLang="en-US" b="1" dirty="0">
                <a:solidFill>
                  <a:srgbClr val="FF0000"/>
                </a:solidFill>
                <a:latin typeface="华文楷体" panose="02010600040101010101" pitchFamily="2" charset="-122"/>
                <a:ea typeface="华文楷体" panose="02010600040101010101" pitchFamily="2" charset="-122"/>
              </a:rPr>
              <a:t>和</a:t>
            </a:r>
            <a:r>
              <a:rPr lang="en-US" altLang="zh-CN" b="1" dirty="0">
                <a:solidFill>
                  <a:srgbClr val="FF0000"/>
                </a:solidFill>
                <a:latin typeface="华文楷体" panose="02010600040101010101" pitchFamily="2" charset="-122"/>
                <a:ea typeface="华文楷体" panose="02010600040101010101" pitchFamily="2" charset="-122"/>
              </a:rPr>
              <a:t>A</a:t>
            </a:r>
            <a:r>
              <a:rPr lang="zh-CN" altLang="en-US" b="1" dirty="0">
                <a:solidFill>
                  <a:srgbClr val="FF0000"/>
                </a:solidFill>
                <a:latin typeface="华文楷体" panose="02010600040101010101" pitchFamily="2" charset="-122"/>
                <a:ea typeface="华文楷体" panose="02010600040101010101" pitchFamily="2" charset="-122"/>
              </a:rPr>
              <a:t>、</a:t>
            </a:r>
            <a:r>
              <a:rPr lang="en-US" altLang="zh-CN" b="1" dirty="0">
                <a:solidFill>
                  <a:srgbClr val="FF0000"/>
                </a:solidFill>
                <a:latin typeface="华文楷体" panose="02010600040101010101" pitchFamily="2" charset="-122"/>
                <a:ea typeface="华文楷体" panose="02010600040101010101" pitchFamily="2" charset="-122"/>
              </a:rPr>
              <a:t>b</a:t>
            </a:r>
            <a:r>
              <a:rPr lang="zh-CN" altLang="en-US" b="1" dirty="0">
                <a:solidFill>
                  <a:srgbClr val="FF0000"/>
                </a:solidFill>
                <a:latin typeface="华文楷体" panose="02010600040101010101" pitchFamily="2" charset="-122"/>
                <a:ea typeface="华文楷体" panose="02010600040101010101" pitchFamily="2" charset="-122"/>
              </a:rPr>
              <a:t>必不可少</a:t>
            </a:r>
            <a:endParaRPr lang="ko-KR" altLang="en-US" b="1" dirty="0">
              <a:solidFill>
                <a:srgbClr val="FF0000"/>
              </a:solidFill>
              <a:latin typeface="华文楷体" panose="02010600040101010101" pitchFamily="2" charset="-122"/>
              <a:ea typeface="隶书" panose="02010509060101010101" pitchFamily="49" charset="-122"/>
            </a:endParaRPr>
          </a:p>
        </p:txBody>
      </p:sp>
    </p:spTree>
    <p:extLst>
      <p:ext uri="{BB962C8B-B14F-4D97-AF65-F5344CB8AC3E}">
        <p14:creationId xmlns:p14="http://schemas.microsoft.com/office/powerpoint/2010/main" val="1691505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5" grpId="0"/>
      <p:bldP spid="17" grpId="0"/>
      <p:bldP spid="12" grpId="0"/>
      <p:bldP spid="16" grpId="0"/>
      <p:bldP spid="19" grpId="0"/>
      <p:bldP spid="21" grpId="0"/>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23FCB6B-1923-4F47-84AA-FA345A8FD1DE}"/>
              </a:ext>
            </a:extLst>
          </p:cNvPr>
          <p:cNvSpPr txBox="1"/>
          <p:nvPr/>
        </p:nvSpPr>
        <p:spPr>
          <a:xfrm>
            <a:off x="194960" y="986024"/>
            <a:ext cx="8887036" cy="3693319"/>
          </a:xfrm>
          <a:prstGeom prst="rect">
            <a:avLst/>
          </a:prstGeom>
          <a:noFill/>
        </p:spPr>
        <p:txBody>
          <a:bodyPr wrap="square">
            <a:spAutoFit/>
          </a:bodyPr>
          <a:lstStyle/>
          <a:p>
            <a:pPr>
              <a:lnSpc>
                <a:spcPts val="2400"/>
              </a:lnSpc>
            </a:pP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目标系数向量</a:t>
            </a:r>
            <a:endParaRPr lang="zh-CN" altLang="en-US" b="0" dirty="0">
              <a:solidFill>
                <a:srgbClr val="000000"/>
              </a:solidFill>
              <a:effectLst/>
              <a:latin typeface="Consolas" panose="020B0609020204030204" pitchFamily="49" charset="0"/>
            </a:endParaRPr>
          </a:p>
          <a:p>
            <a:pPr>
              <a:lnSpc>
                <a:spcPts val="2400"/>
              </a:lnSpc>
            </a:pPr>
            <a:r>
              <a:rPr lang="en-US" altLang="zh-CN" b="0" dirty="0">
                <a:solidFill>
                  <a:srgbClr val="000000"/>
                </a:solidFill>
                <a:effectLst/>
                <a:latin typeface="Consolas" panose="020B0609020204030204" pitchFamily="49" charset="0"/>
              </a:rPr>
              <a:t>fun1=-[</a:t>
            </a:r>
            <a:r>
              <a:rPr lang="en-US" altLang="zh-CN" b="0" dirty="0">
                <a:solidFill>
                  <a:srgbClr val="098658"/>
                </a:solidFill>
                <a:effectLst/>
                <a:latin typeface="Consolas" panose="020B0609020204030204" pitchFamily="49" charset="0"/>
              </a:rPr>
              <a:t>30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50</a:t>
            </a:r>
            <a:r>
              <a:rPr lang="en-US" altLang="zh-CN" b="0" dirty="0">
                <a:solidFill>
                  <a:srgbClr val="000000"/>
                </a:solidFill>
                <a:effectLst/>
                <a:latin typeface="Consolas" panose="020B0609020204030204" pitchFamily="49" charset="0"/>
              </a:rPr>
              <a:t>]; </a:t>
            </a:r>
          </a:p>
          <a:p>
            <a:pPr>
              <a:lnSpc>
                <a:spcPts val="2400"/>
              </a:lnSpc>
            </a:pP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线性不等式约束矩阵</a:t>
            </a:r>
            <a:endParaRPr lang="zh-CN" altLang="en-US" b="0" dirty="0">
              <a:solidFill>
                <a:srgbClr val="000000"/>
              </a:solidFill>
              <a:effectLst/>
              <a:latin typeface="Consolas" panose="020B0609020204030204" pitchFamily="49" charset="0"/>
            </a:endParaRPr>
          </a:p>
          <a:p>
            <a:pPr>
              <a:lnSpc>
                <a:spcPts val="2400"/>
              </a:lnSpc>
            </a:pPr>
            <a:r>
              <a:rPr lang="en-US" altLang="zh-CN" b="0" dirty="0">
                <a:solidFill>
                  <a:srgbClr val="000000"/>
                </a:solidFill>
                <a:effectLst/>
                <a:latin typeface="Consolas" panose="020B0609020204030204" pitchFamily="49" charset="0"/>
              </a:rPr>
              <a:t>A=[</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p>
          <a:p>
            <a:pPr>
              <a:lnSpc>
                <a:spcPts val="2400"/>
              </a:lnSpc>
            </a:pP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线性不等式约束向量，一定是向量</a:t>
            </a:r>
            <a:endParaRPr lang="zh-CN" altLang="en-US" b="0" dirty="0">
              <a:solidFill>
                <a:srgbClr val="000000"/>
              </a:solidFill>
              <a:effectLst/>
              <a:latin typeface="Consolas" panose="020B0609020204030204" pitchFamily="49" charset="0"/>
            </a:endParaRPr>
          </a:p>
          <a:p>
            <a:pPr>
              <a:lnSpc>
                <a:spcPts val="2400"/>
              </a:lnSpc>
            </a:pPr>
            <a:r>
              <a:rPr lang="en-US" altLang="zh-CN" b="0" dirty="0">
                <a:solidFill>
                  <a:srgbClr val="000000"/>
                </a:solidFill>
                <a:effectLst/>
                <a:latin typeface="Consolas" panose="020B0609020204030204" pitchFamily="49" charset="0"/>
              </a:rPr>
              <a:t>b=[</a:t>
            </a:r>
            <a:r>
              <a:rPr lang="en-US" altLang="zh-CN" b="0" dirty="0">
                <a:solidFill>
                  <a:srgbClr val="098658"/>
                </a:solidFill>
                <a:effectLst/>
                <a:latin typeface="Consolas" panose="020B0609020204030204" pitchFamily="49" charset="0"/>
              </a:rPr>
              <a:t>430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460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420</a:t>
            </a:r>
            <a:r>
              <a:rPr lang="en-US" altLang="zh-CN" b="0" dirty="0">
                <a:solidFill>
                  <a:srgbClr val="000000"/>
                </a:solidFill>
                <a:effectLst/>
                <a:latin typeface="Consolas" panose="020B0609020204030204" pitchFamily="49" charset="0"/>
              </a:rPr>
              <a:t>]; </a:t>
            </a:r>
          </a:p>
          <a:p>
            <a:pPr>
              <a:lnSpc>
                <a:spcPts val="2400"/>
              </a:lnSpc>
            </a:pPr>
            <a:r>
              <a:rPr lang="en-US" altLang="zh-CN" b="0" dirty="0" err="1">
                <a:solidFill>
                  <a:srgbClr val="000000"/>
                </a:solidFill>
                <a:effectLst/>
                <a:latin typeface="Consolas" panose="020B0609020204030204" pitchFamily="49" charset="0"/>
              </a:rPr>
              <a:t>lb</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p>
          <a:p>
            <a:pPr>
              <a:lnSpc>
                <a:spcPts val="2400"/>
              </a:lnSpc>
            </a:pP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不存在等式和上边界</a:t>
            </a:r>
            <a:r>
              <a:rPr lang="en-US" altLang="zh-CN" dirty="0">
                <a:solidFill>
                  <a:srgbClr val="008000"/>
                </a:solidFill>
                <a:latin typeface="Consolas" panose="020B0609020204030204" pitchFamily="49" charset="0"/>
              </a:rPr>
              <a:t>,</a:t>
            </a:r>
            <a:r>
              <a:rPr lang="en-US" altLang="zh-CN" dirty="0" err="1">
                <a:solidFill>
                  <a:srgbClr val="008000"/>
                </a:solidFill>
                <a:latin typeface="Consolas" panose="020B0609020204030204" pitchFamily="49" charset="0"/>
              </a:rPr>
              <a:t>Aeq</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和</a:t>
            </a:r>
            <a:r>
              <a:rPr lang="en-US" altLang="zh-CN" dirty="0" err="1">
                <a:solidFill>
                  <a:srgbClr val="008000"/>
                </a:solidFill>
                <a:latin typeface="Consolas" panose="020B0609020204030204" pitchFamily="49" charset="0"/>
              </a:rPr>
              <a:t>beq</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等</a:t>
            </a:r>
          </a:p>
          <a:p>
            <a:pPr>
              <a:lnSpc>
                <a:spcPts val="2400"/>
              </a:lnSpc>
            </a:pPr>
            <a:r>
              <a:rPr lang="en-US" altLang="zh-CN" b="0" dirty="0" err="1">
                <a:solidFill>
                  <a:srgbClr val="000000"/>
                </a:solidFill>
                <a:effectLst/>
                <a:latin typeface="Consolas" panose="020B0609020204030204" pitchFamily="49" charset="0"/>
              </a:rPr>
              <a:t>x,fm,ex</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linprog</a:t>
            </a:r>
            <a:r>
              <a:rPr lang="en-US" altLang="zh-CN" b="0" dirty="0">
                <a:solidFill>
                  <a:srgbClr val="000000"/>
                </a:solidFill>
                <a:effectLst/>
                <a:latin typeface="Consolas" panose="020B0609020204030204" pitchFamily="49" charset="0"/>
              </a:rPr>
              <a:t>(fun1,A,b,</a:t>
            </a:r>
            <a:r>
              <a:rPr lang="en-US" altLang="zh-CN" b="1" dirty="0">
                <a:solidFill>
                  <a:srgbClr val="FF0000"/>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lb</a:t>
            </a:r>
            <a:r>
              <a:rPr lang="en-US" altLang="zh-CN" b="0" dirty="0">
                <a:solidFill>
                  <a:srgbClr val="000000"/>
                </a:solidFill>
                <a:effectLst/>
                <a:latin typeface="Consolas" panose="020B0609020204030204" pitchFamily="49" charset="0"/>
              </a:rPr>
              <a:t>,</a:t>
            </a:r>
            <a:r>
              <a:rPr lang="en-US" altLang="zh-CN" b="1" dirty="0">
                <a:solidFill>
                  <a:srgbClr val="FF0000"/>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pt-BR" altLang="zh-CN" dirty="0"/>
              <a:t>println("x=$x;</a:t>
            </a:r>
          </a:p>
          <a:p>
            <a:r>
              <a:rPr lang="pt-BR" altLang="zh-CN" dirty="0"/>
              <a:t>fm=$fm;</a:t>
            </a:r>
          </a:p>
          <a:p>
            <a:r>
              <a:rPr lang="pt-BR" altLang="zh-CN" dirty="0"/>
              <a:t>ex=$ex")</a:t>
            </a:r>
          </a:p>
        </p:txBody>
      </p:sp>
      <p:sp>
        <p:nvSpPr>
          <p:cNvPr id="7" name="文本框 6">
            <a:extLst>
              <a:ext uri="{FF2B5EF4-FFF2-40B4-BE49-F238E27FC236}">
                <a16:creationId xmlns:a16="http://schemas.microsoft.com/office/drawing/2014/main" id="{F5B47399-F279-468C-8E69-DEC20EDE6426}"/>
              </a:ext>
            </a:extLst>
          </p:cNvPr>
          <p:cNvSpPr txBox="1"/>
          <p:nvPr/>
        </p:nvSpPr>
        <p:spPr>
          <a:xfrm>
            <a:off x="1331640" y="4036556"/>
            <a:ext cx="7920880" cy="584775"/>
          </a:xfrm>
          <a:prstGeom prst="rect">
            <a:avLst/>
          </a:prstGeom>
          <a:noFill/>
        </p:spPr>
        <p:txBody>
          <a:bodyPr wrap="square">
            <a:spAutoFit/>
          </a:bodyPr>
          <a:lstStyle/>
          <a:p>
            <a:r>
              <a:rPr lang="zh-CN" altLang="en-US" sz="1600" dirty="0">
                <a:solidFill>
                  <a:srgbClr val="00B0F0"/>
                </a:solidFill>
                <a:latin typeface="微软雅黑" panose="020B0503020204020204" pitchFamily="34" charset="-122"/>
                <a:ea typeface="微软雅黑" panose="020B0503020204020204" pitchFamily="34" charset="-122"/>
              </a:rPr>
              <a:t>结果：</a:t>
            </a:r>
            <a:r>
              <a:rPr lang="en-US" altLang="zh-CN" sz="1600" dirty="0">
                <a:solidFill>
                  <a:srgbClr val="00B0F0"/>
                </a:solidFill>
                <a:latin typeface="微软雅黑" panose="020B0503020204020204" pitchFamily="34" charset="-122"/>
                <a:ea typeface="微软雅黑" panose="020B0503020204020204" pitchFamily="34" charset="-122"/>
              </a:rPr>
              <a:t>f=[0</a:t>
            </a:r>
            <a:r>
              <a:rPr lang="zh-CN" altLang="en-US" sz="1600" dirty="0">
                <a:solidFill>
                  <a:srgbClr val="00B0F0"/>
                </a:solidFill>
                <a:latin typeface="微软雅黑" panose="020B0503020204020204" pitchFamily="34" charset="-122"/>
                <a:ea typeface="微软雅黑" panose="020B0503020204020204" pitchFamily="34" charset="-122"/>
              </a:rPr>
              <a:t>，</a:t>
            </a:r>
            <a:r>
              <a:rPr lang="en-US" altLang="zh-CN" sz="1600" dirty="0">
                <a:solidFill>
                  <a:srgbClr val="00B0F0"/>
                </a:solidFill>
                <a:latin typeface="微软雅黑" panose="020B0503020204020204" pitchFamily="34" charset="-122"/>
                <a:ea typeface="微软雅黑" panose="020B0503020204020204" pitchFamily="34" charset="-122"/>
              </a:rPr>
              <a:t>100</a:t>
            </a:r>
            <a:r>
              <a:rPr lang="zh-CN" altLang="en-US" sz="1600" dirty="0">
                <a:solidFill>
                  <a:srgbClr val="00B0F0"/>
                </a:solidFill>
                <a:latin typeface="微软雅黑" panose="020B0503020204020204" pitchFamily="34" charset="-122"/>
                <a:ea typeface="微软雅黑" panose="020B0503020204020204" pitchFamily="34" charset="-122"/>
              </a:rPr>
              <a:t>、</a:t>
            </a:r>
            <a:r>
              <a:rPr lang="en-US" altLang="zh-CN" sz="1600" dirty="0">
                <a:solidFill>
                  <a:srgbClr val="00B0F0"/>
                </a:solidFill>
                <a:latin typeface="微软雅黑" panose="020B0503020204020204" pitchFamily="34" charset="-122"/>
                <a:ea typeface="微软雅黑" panose="020B0503020204020204" pitchFamily="34" charset="-122"/>
              </a:rPr>
              <a:t>230]</a:t>
            </a:r>
            <a:r>
              <a:rPr lang="zh-CN" altLang="en-US" sz="1600" dirty="0">
                <a:solidFill>
                  <a:srgbClr val="00B0F0"/>
                </a:solidFill>
                <a:latin typeface="微软雅黑" panose="020B0503020204020204" pitchFamily="34" charset="-122"/>
                <a:ea typeface="微软雅黑" panose="020B0503020204020204" pitchFamily="34" charset="-122"/>
              </a:rPr>
              <a:t>， </a:t>
            </a:r>
            <a:r>
              <a:rPr lang="en-US" altLang="zh-CN" sz="1600" dirty="0" err="1">
                <a:solidFill>
                  <a:srgbClr val="00B0F0"/>
                </a:solidFill>
                <a:latin typeface="微软雅黑" panose="020B0503020204020204" pitchFamily="34" charset="-122"/>
                <a:ea typeface="微软雅黑" panose="020B0503020204020204" pitchFamily="34" charset="-122"/>
              </a:rPr>
              <a:t>fm</a:t>
            </a:r>
            <a:r>
              <a:rPr lang="zh-CN" altLang="en-US" sz="1600" dirty="0">
                <a:solidFill>
                  <a:srgbClr val="00B0F0"/>
                </a:solidFill>
                <a:latin typeface="微软雅黑" panose="020B0503020204020204" pitchFamily="34" charset="-122"/>
                <a:ea typeface="微软雅黑" panose="020B0503020204020204" pitchFamily="34" charset="-122"/>
              </a:rPr>
              <a:t>＝</a:t>
            </a:r>
            <a:r>
              <a:rPr lang="en-US" altLang="zh-CN" sz="1600" dirty="0">
                <a:solidFill>
                  <a:srgbClr val="00B0F0"/>
                </a:solidFill>
                <a:latin typeface="微软雅黑" panose="020B0503020204020204" pitchFamily="34" charset="-122"/>
                <a:ea typeface="微软雅黑" panose="020B0503020204020204" pitchFamily="34" charset="-122"/>
              </a:rPr>
              <a:t>-1</a:t>
            </a:r>
            <a:r>
              <a:rPr lang="zh-CN" altLang="en-US" sz="1600" dirty="0">
                <a:solidFill>
                  <a:srgbClr val="00B0F0"/>
                </a:solidFill>
                <a:latin typeface="微软雅黑" panose="020B0503020204020204" pitchFamily="34" charset="-122"/>
                <a:ea typeface="微软雅黑" panose="020B0503020204020204" pitchFamily="34" charset="-122"/>
              </a:rPr>
              <a:t>．</a:t>
            </a:r>
            <a:r>
              <a:rPr lang="en-US" altLang="zh-CN" sz="1600" dirty="0">
                <a:solidFill>
                  <a:srgbClr val="00B0F0"/>
                </a:solidFill>
                <a:latin typeface="微软雅黑" panose="020B0503020204020204" pitchFamily="34" charset="-122"/>
                <a:ea typeface="微软雅黑" panose="020B0503020204020204" pitchFamily="34" charset="-122"/>
              </a:rPr>
              <a:t>3500e</a:t>
            </a:r>
            <a:r>
              <a:rPr lang="zh-CN" altLang="en-US" sz="1600" dirty="0">
                <a:solidFill>
                  <a:srgbClr val="00B0F0"/>
                </a:solidFill>
                <a:latin typeface="微软雅黑" panose="020B0503020204020204" pitchFamily="34" charset="-122"/>
                <a:ea typeface="微软雅黑" panose="020B0503020204020204" pitchFamily="34" charset="-122"/>
              </a:rPr>
              <a:t>十</a:t>
            </a:r>
            <a:r>
              <a:rPr lang="en-US" altLang="zh-CN" sz="1600" dirty="0">
                <a:solidFill>
                  <a:srgbClr val="00B0F0"/>
                </a:solidFill>
                <a:latin typeface="微软雅黑" panose="020B0503020204020204" pitchFamily="34" charset="-122"/>
                <a:ea typeface="微软雅黑" panose="020B0503020204020204" pitchFamily="34" charset="-122"/>
              </a:rPr>
              <a:t>O04</a:t>
            </a:r>
            <a:r>
              <a:rPr lang="zh-CN" altLang="en-US" sz="1600" dirty="0">
                <a:solidFill>
                  <a:srgbClr val="00B0F0"/>
                </a:solidFill>
                <a:latin typeface="微软雅黑" panose="020B0503020204020204" pitchFamily="34" charset="-122"/>
                <a:ea typeface="微软雅黑" panose="020B0503020204020204" pitchFamily="34" charset="-122"/>
              </a:rPr>
              <a:t>，</a:t>
            </a:r>
            <a:r>
              <a:rPr lang="en-US" altLang="zh-CN" sz="1600" dirty="0">
                <a:solidFill>
                  <a:srgbClr val="00B0F0"/>
                </a:solidFill>
                <a:latin typeface="微软雅黑" panose="020B0503020204020204" pitchFamily="34" charset="-122"/>
                <a:ea typeface="微软雅黑" panose="020B0503020204020204" pitchFamily="34" charset="-122"/>
              </a:rPr>
              <a:t>ex</a:t>
            </a:r>
            <a:r>
              <a:rPr lang="zh-CN" altLang="en-US" sz="1600" dirty="0">
                <a:solidFill>
                  <a:srgbClr val="00B0F0"/>
                </a:solidFill>
                <a:latin typeface="微软雅黑" panose="020B0503020204020204" pitchFamily="34" charset="-122"/>
                <a:ea typeface="微软雅黑" panose="020B0503020204020204" pitchFamily="34" charset="-122"/>
              </a:rPr>
              <a:t>＝</a:t>
            </a:r>
            <a:r>
              <a:rPr lang="en-US" altLang="zh-CN" sz="1600" dirty="0">
                <a:solidFill>
                  <a:srgbClr val="00B0F0"/>
                </a:solidFill>
                <a:latin typeface="微软雅黑" panose="020B0503020204020204" pitchFamily="34" charset="-122"/>
                <a:ea typeface="微软雅黑" panose="020B0503020204020204" pitchFamily="34" charset="-122"/>
              </a:rPr>
              <a:t>1</a:t>
            </a:r>
            <a:r>
              <a:rPr lang="zh-CN" altLang="en-US" sz="1600" dirty="0">
                <a:solidFill>
                  <a:srgbClr val="00B0F0"/>
                </a:solidFill>
                <a:latin typeface="微软雅黑" panose="020B0503020204020204" pitchFamily="34" charset="-122"/>
                <a:ea typeface="微软雅黑" panose="020B0503020204020204" pitchFamily="34" charset="-122"/>
              </a:rPr>
              <a:t>．</a:t>
            </a:r>
          </a:p>
          <a:p>
            <a:r>
              <a:rPr lang="zh-CN" altLang="en-US" sz="1600" dirty="0">
                <a:solidFill>
                  <a:srgbClr val="00B0F0"/>
                </a:solidFill>
                <a:latin typeface="微软雅黑" panose="020B0503020204020204" pitchFamily="34" charset="-122"/>
                <a:ea typeface="微软雅黑" panose="020B0503020204020204" pitchFamily="34" charset="-122"/>
              </a:rPr>
              <a:t>优化方案：</a:t>
            </a:r>
            <a:r>
              <a:rPr lang="en-US" altLang="zh-CN" sz="1600" dirty="0">
                <a:solidFill>
                  <a:srgbClr val="00B0F0"/>
                </a:solidFill>
                <a:latin typeface="微软雅黑" panose="020B0503020204020204" pitchFamily="34" charset="-122"/>
                <a:ea typeface="微软雅黑" panose="020B0503020204020204" pitchFamily="34" charset="-122"/>
              </a:rPr>
              <a:t>A</a:t>
            </a:r>
            <a:r>
              <a:rPr lang="zh-CN" altLang="en-US" sz="1600" dirty="0">
                <a:solidFill>
                  <a:srgbClr val="00B0F0"/>
                </a:solidFill>
                <a:latin typeface="微软雅黑" panose="020B0503020204020204" pitchFamily="34" charset="-122"/>
                <a:ea typeface="微软雅黑" panose="020B0503020204020204" pitchFamily="34" charset="-122"/>
              </a:rPr>
              <a:t>部件不生产，</a:t>
            </a:r>
            <a:r>
              <a:rPr lang="en-US" altLang="zh-CN" sz="1600" dirty="0">
                <a:solidFill>
                  <a:srgbClr val="00B0F0"/>
                </a:solidFill>
                <a:latin typeface="微软雅黑" panose="020B0503020204020204" pitchFamily="34" charset="-122"/>
                <a:ea typeface="微软雅黑" panose="020B0503020204020204" pitchFamily="34" charset="-122"/>
              </a:rPr>
              <a:t>B</a:t>
            </a:r>
            <a:r>
              <a:rPr lang="zh-CN" altLang="en-US" sz="1600" dirty="0">
                <a:solidFill>
                  <a:srgbClr val="00B0F0"/>
                </a:solidFill>
                <a:latin typeface="微软雅黑" panose="020B0503020204020204" pitchFamily="34" charset="-122"/>
                <a:ea typeface="微软雅黑" panose="020B0503020204020204" pitchFamily="34" charset="-122"/>
              </a:rPr>
              <a:t>部件生产</a:t>
            </a:r>
            <a:r>
              <a:rPr lang="en-US" altLang="zh-CN" sz="1600" dirty="0">
                <a:solidFill>
                  <a:srgbClr val="00B0F0"/>
                </a:solidFill>
                <a:latin typeface="微软雅黑" panose="020B0503020204020204" pitchFamily="34" charset="-122"/>
                <a:ea typeface="微软雅黑" panose="020B0503020204020204" pitchFamily="34" charset="-122"/>
              </a:rPr>
              <a:t>100</a:t>
            </a:r>
            <a:r>
              <a:rPr lang="zh-CN" altLang="en-US" sz="1600" dirty="0">
                <a:solidFill>
                  <a:srgbClr val="00B0F0"/>
                </a:solidFill>
                <a:latin typeface="微软雅黑" panose="020B0503020204020204" pitchFamily="34" charset="-122"/>
                <a:ea typeface="微软雅黑" panose="020B0503020204020204" pitchFamily="34" charset="-122"/>
              </a:rPr>
              <a:t>件，</a:t>
            </a:r>
            <a:r>
              <a:rPr lang="en-US" altLang="zh-CN" sz="1600" dirty="0">
                <a:solidFill>
                  <a:srgbClr val="00B0F0"/>
                </a:solidFill>
                <a:latin typeface="微软雅黑" panose="020B0503020204020204" pitchFamily="34" charset="-122"/>
                <a:ea typeface="微软雅黑" panose="020B0503020204020204" pitchFamily="34" charset="-122"/>
              </a:rPr>
              <a:t>C</a:t>
            </a:r>
            <a:r>
              <a:rPr lang="zh-CN" altLang="en-US" sz="1600" dirty="0">
                <a:solidFill>
                  <a:srgbClr val="00B0F0"/>
                </a:solidFill>
                <a:latin typeface="微软雅黑" panose="020B0503020204020204" pitchFamily="34" charset="-122"/>
                <a:ea typeface="微软雅黑" panose="020B0503020204020204" pitchFamily="34" charset="-122"/>
              </a:rPr>
              <a:t>部件生产</a:t>
            </a:r>
            <a:r>
              <a:rPr lang="en-US" altLang="zh-CN" sz="1600" dirty="0">
                <a:solidFill>
                  <a:srgbClr val="00B0F0"/>
                </a:solidFill>
                <a:latin typeface="微软雅黑" panose="020B0503020204020204" pitchFamily="34" charset="-122"/>
                <a:ea typeface="微软雅黑" panose="020B0503020204020204" pitchFamily="34" charset="-122"/>
              </a:rPr>
              <a:t>230</a:t>
            </a:r>
            <a:r>
              <a:rPr lang="zh-CN" altLang="en-US" sz="1600" dirty="0">
                <a:solidFill>
                  <a:srgbClr val="00B0F0"/>
                </a:solidFill>
                <a:latin typeface="微软雅黑" panose="020B0503020204020204" pitchFamily="34" charset="-122"/>
                <a:ea typeface="微软雅黑" panose="020B0503020204020204" pitchFamily="34" charset="-122"/>
              </a:rPr>
              <a:t>件，可很最大产值</a:t>
            </a:r>
            <a:r>
              <a:rPr lang="en-US" altLang="zh-CN" sz="1600" dirty="0">
                <a:solidFill>
                  <a:srgbClr val="00B0F0"/>
                </a:solidFill>
                <a:latin typeface="微软雅黑" panose="020B0503020204020204" pitchFamily="34" charset="-122"/>
                <a:ea typeface="微软雅黑" panose="020B0503020204020204" pitchFamily="34" charset="-122"/>
              </a:rPr>
              <a:t>13500</a:t>
            </a:r>
            <a:endParaRPr lang="zh-CN" altLang="en-US" sz="1600" dirty="0">
              <a:solidFill>
                <a:srgbClr val="00B0F0"/>
              </a:solidFill>
            </a:endParaRPr>
          </a:p>
        </p:txBody>
      </p:sp>
      <p:sp>
        <p:nvSpPr>
          <p:cNvPr id="8" name="文本框 7">
            <a:extLst>
              <a:ext uri="{FF2B5EF4-FFF2-40B4-BE49-F238E27FC236}">
                <a16:creationId xmlns:a16="http://schemas.microsoft.com/office/drawing/2014/main" id="{76990644-F403-41D1-86AF-5A1D68280DA6}"/>
              </a:ext>
            </a:extLst>
          </p:cNvPr>
          <p:cNvSpPr txBox="1"/>
          <p:nvPr/>
        </p:nvSpPr>
        <p:spPr>
          <a:xfrm>
            <a:off x="1416968" y="98716"/>
            <a:ext cx="7043463" cy="523220"/>
          </a:xfrm>
          <a:prstGeom prst="rect">
            <a:avLst/>
          </a:prstGeom>
          <a:noFill/>
        </p:spPr>
        <p:txBody>
          <a:bodyPr wrap="square">
            <a:spAutoFit/>
          </a:bodyPr>
          <a:lstStyle/>
          <a:p>
            <a:pPr marL="0" indent="0">
              <a:buNone/>
            </a:pPr>
            <a:r>
              <a:rPr lang="en-US" altLang="zh-CN" sz="2800" b="0" dirty="0">
                <a:solidFill>
                  <a:srgbClr val="002060"/>
                </a:solidFill>
                <a:latin typeface="华文楷体" panose="02010600040101010101" pitchFamily="2" charset="-122"/>
                <a:ea typeface="华文楷体" panose="02010600040101010101" pitchFamily="2" charset="-122"/>
              </a:rPr>
              <a:t>§8.2 </a:t>
            </a:r>
            <a:r>
              <a:rPr lang="zh-CN" altLang="en-US" sz="2800" dirty="0">
                <a:latin typeface="华文楷体" panose="02010600040101010101" pitchFamily="2" charset="-122"/>
                <a:ea typeface="华文楷体" panose="02010600040101010101" pitchFamily="2" charset="-122"/>
              </a:rPr>
              <a:t>线性规划 </a:t>
            </a:r>
            <a:r>
              <a:rPr lang="en-US" altLang="zh-CN" sz="2800" dirty="0">
                <a:latin typeface="华文楷体" panose="02010600040101010101" pitchFamily="2" charset="-122"/>
                <a:ea typeface="华文楷体" panose="02010600040101010101" pitchFamily="2" charset="-122"/>
              </a:rPr>
              <a:t> </a:t>
            </a:r>
            <a:r>
              <a:rPr lang="en-US" altLang="zh-CN" sz="2800" b="0" i="0" u="none" strike="noStrike" dirty="0" err="1">
                <a:solidFill>
                  <a:srgbClr val="FF0000"/>
                </a:solidFill>
                <a:effectLst/>
                <a:latin typeface="华文楷体" panose="02010600040101010101" pitchFamily="2" charset="-122"/>
                <a:ea typeface="华文楷体" panose="02010600040101010101" pitchFamily="2" charset="-122"/>
                <a:hlinkClick r:id="rId2" action="ppaction://hlinkfile">
                  <a:extLst>
                    <a:ext uri="{A12FA001-AC4F-418D-AE19-62706E023703}">
                      <ahyp:hlinkClr xmlns:ahyp="http://schemas.microsoft.com/office/drawing/2018/hyperlinkcolor" val="tx"/>
                    </a:ext>
                  </a:extLst>
                </a:hlinkClick>
              </a:rPr>
              <a:t>linprog</a:t>
            </a:r>
            <a:r>
              <a:rPr lang="en-US" altLang="zh-CN" sz="2800" b="0" kern="0" dirty="0">
                <a:solidFill>
                  <a:srgbClr val="FF0000"/>
                </a:solidFill>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最大总产值设计</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10" name="文本框 9">
            <a:extLst>
              <a:ext uri="{FF2B5EF4-FFF2-40B4-BE49-F238E27FC236}">
                <a16:creationId xmlns:a16="http://schemas.microsoft.com/office/drawing/2014/main" id="{76B3403A-ED67-4A65-99A6-1885F28A296E}"/>
              </a:ext>
            </a:extLst>
          </p:cNvPr>
          <p:cNvSpPr txBox="1"/>
          <p:nvPr/>
        </p:nvSpPr>
        <p:spPr>
          <a:xfrm>
            <a:off x="296602" y="680584"/>
            <a:ext cx="8776391" cy="369332"/>
          </a:xfrm>
          <a:prstGeom prst="rect">
            <a:avLst/>
          </a:prstGeom>
          <a:solidFill>
            <a:schemeClr val="bg1"/>
          </a:solidFill>
        </p:spPr>
        <p:txBody>
          <a:bodyPr wrap="square">
            <a:spAutoFit/>
          </a:bodyPr>
          <a:lstStyle/>
          <a:p>
            <a:pPr algn="dist"/>
            <a:r>
              <a:rPr lang="zh-CN" altLang="en-US" b="1" dirty="0">
                <a:solidFill>
                  <a:srgbClr val="0070C0"/>
                </a:solidFill>
              </a:rPr>
              <a:t>               某工厂加工A、B、C三种部件</a:t>
            </a:r>
            <a:r>
              <a:rPr lang="en-US" altLang="zh-CN" b="1" dirty="0">
                <a:solidFill>
                  <a:srgbClr val="0070C0"/>
                </a:solidFill>
              </a:rPr>
              <a:t>,</a:t>
            </a:r>
            <a:r>
              <a:rPr lang="zh-CN" altLang="en-US" b="1" dirty="0">
                <a:solidFill>
                  <a:srgbClr val="0070C0"/>
                </a:solidFill>
              </a:rPr>
              <a:t>问如何安排生产,可获最大总产值.</a:t>
            </a:r>
          </a:p>
        </p:txBody>
      </p:sp>
      <p:sp>
        <p:nvSpPr>
          <p:cNvPr id="12" name="文本框 11">
            <a:extLst>
              <a:ext uri="{FF2B5EF4-FFF2-40B4-BE49-F238E27FC236}">
                <a16:creationId xmlns:a16="http://schemas.microsoft.com/office/drawing/2014/main" id="{6340CF9D-E429-40EB-8CE4-A2BCA2DA8219}"/>
              </a:ext>
            </a:extLst>
          </p:cNvPr>
          <p:cNvSpPr txBox="1"/>
          <p:nvPr/>
        </p:nvSpPr>
        <p:spPr>
          <a:xfrm>
            <a:off x="3626456" y="1462534"/>
            <a:ext cx="1728192" cy="369332"/>
          </a:xfrm>
          <a:prstGeom prst="rect">
            <a:avLst/>
          </a:prstGeom>
          <a:noFill/>
        </p:spPr>
        <p:txBody>
          <a:bodyPr wrap="square">
            <a:spAutoFit/>
          </a:bodyPr>
          <a:lstStyle/>
          <a:p>
            <a:r>
              <a:rPr lang="zh-CN" altLang="en-US" dirty="0">
                <a:solidFill>
                  <a:srgbClr val="FF0000"/>
                </a:solidFill>
                <a:latin typeface="微软雅黑" panose="020B0503020204020204" pitchFamily="34" charset="-122"/>
                <a:ea typeface="微软雅黑" panose="020B0503020204020204" pitchFamily="34" charset="-122"/>
              </a:rPr>
              <a:t>最大目标函数：</a:t>
            </a:r>
          </a:p>
        </p:txBody>
      </p:sp>
      <p:pic>
        <p:nvPicPr>
          <p:cNvPr id="13" name="图片 12">
            <a:extLst>
              <a:ext uri="{FF2B5EF4-FFF2-40B4-BE49-F238E27FC236}">
                <a16:creationId xmlns:a16="http://schemas.microsoft.com/office/drawing/2014/main" id="{C930524F-7210-4675-914E-9619F5601B1C}"/>
              </a:ext>
            </a:extLst>
          </p:cNvPr>
          <p:cNvPicPr>
            <a:picLocks noChangeAspect="1"/>
          </p:cNvPicPr>
          <p:nvPr/>
        </p:nvPicPr>
        <p:blipFill rotWithShape="1">
          <a:blip r:embed="rId3"/>
          <a:srcRect l="40761" t="39986" r="41100" b="44688"/>
          <a:stretch/>
        </p:blipFill>
        <p:spPr>
          <a:xfrm>
            <a:off x="6451833" y="2263936"/>
            <a:ext cx="2282003" cy="981663"/>
          </a:xfrm>
          <a:prstGeom prst="rect">
            <a:avLst/>
          </a:prstGeom>
        </p:spPr>
      </p:pic>
      <p:pic>
        <p:nvPicPr>
          <p:cNvPr id="14" name="图片 13">
            <a:extLst>
              <a:ext uri="{FF2B5EF4-FFF2-40B4-BE49-F238E27FC236}">
                <a16:creationId xmlns:a16="http://schemas.microsoft.com/office/drawing/2014/main" id="{BDF5E4E4-C853-4048-BCA2-5933763BA1B6}"/>
              </a:ext>
            </a:extLst>
          </p:cNvPr>
          <p:cNvPicPr>
            <a:picLocks noChangeAspect="1"/>
          </p:cNvPicPr>
          <p:nvPr/>
        </p:nvPicPr>
        <p:blipFill rotWithShape="1">
          <a:blip r:embed="rId3"/>
          <a:srcRect l="41658" t="57139" r="41516" b="37770"/>
          <a:stretch/>
        </p:blipFill>
        <p:spPr>
          <a:xfrm>
            <a:off x="6865907" y="3795684"/>
            <a:ext cx="2116939" cy="360242"/>
          </a:xfrm>
          <a:prstGeom prst="rect">
            <a:avLst/>
          </a:prstGeom>
        </p:spPr>
      </p:pic>
      <p:sp>
        <p:nvSpPr>
          <p:cNvPr id="9" name="波形 8">
            <a:extLst>
              <a:ext uri="{FF2B5EF4-FFF2-40B4-BE49-F238E27FC236}">
                <a16:creationId xmlns:a16="http://schemas.microsoft.com/office/drawing/2014/main" id="{F33C0AE3-0775-4330-BAB9-49D4D5B0FB04}"/>
              </a:ext>
            </a:extLst>
          </p:cNvPr>
          <p:cNvSpPr/>
          <p:nvPr/>
        </p:nvSpPr>
        <p:spPr>
          <a:xfrm>
            <a:off x="330712" y="690340"/>
            <a:ext cx="857652" cy="295684"/>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charset="-122"/>
                <a:ea typeface="微软雅黑" panose="020B0503020204020204" charset="-122"/>
              </a:rPr>
              <a:t>例82-1</a:t>
            </a:r>
            <a:endParaRPr lang="ko-KR" altLang="en-US" b="1" dirty="0">
              <a:solidFill>
                <a:srgbClr val="FFFF00"/>
              </a:solidFill>
              <a:latin typeface="微软雅黑" panose="020B0503020204020204" charset="-122"/>
              <a:ea typeface="微软雅黑" panose="020B0503020204020204" charset="-122"/>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A2E180CB-FA4B-4E58-B775-6C6450FF001A}"/>
                  </a:ext>
                </a:extLst>
              </p:cNvPr>
              <p:cNvSpPr txBox="1"/>
              <p:nvPr/>
            </p:nvSpPr>
            <p:spPr>
              <a:xfrm>
                <a:off x="4938699" y="2378336"/>
                <a:ext cx="1360800" cy="64844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nor/>
                        </m:rPr>
                        <a:rPr lang="zh-CN" altLang="en-US" dirty="0">
                          <a:solidFill>
                            <a:srgbClr val="FF0000"/>
                          </a:solidFill>
                          <a:latin typeface="微软雅黑" panose="020B0503020204020204" pitchFamily="34" charset="-122"/>
                          <a:ea typeface="微软雅黑" panose="020B0503020204020204" pitchFamily="34" charset="-122"/>
                        </a:rPr>
                        <m:t>线性不等式</m:t>
                      </m:r>
                    </m:oMath>
                  </m:oMathPara>
                </a14:m>
                <a:endParaRPr lang="en-US" altLang="zh-CN" dirty="0">
                  <a:solidFill>
                    <a:srgbClr val="FF0000"/>
                  </a:solidFill>
                  <a:latin typeface="微软雅黑" panose="020B0503020204020204" pitchFamily="34" charset="-122"/>
                  <a:ea typeface="微软雅黑" panose="020B0503020204020204" pitchFamily="34" charset="-122"/>
                </a:endParaRPr>
              </a:p>
              <a:p>
                <a14:m>
                  <m:oMath xmlns:m="http://schemas.openxmlformats.org/officeDocument/2006/math">
                    <m:r>
                      <m:rPr>
                        <m:nor/>
                      </m:rPr>
                      <a:rPr lang="zh-CN" altLang="en-US" dirty="0">
                        <a:solidFill>
                          <a:srgbClr val="FF0000"/>
                        </a:solidFill>
                        <a:latin typeface="微软雅黑" panose="020B0503020204020204" pitchFamily="34" charset="-122"/>
                        <a:ea typeface="微软雅黑" panose="020B0503020204020204" pitchFamily="34" charset="-122"/>
                      </a:rPr>
                      <m:t>约束</m:t>
                    </m:r>
                  </m:oMath>
                </a14:m>
                <a:r>
                  <a:rPr lang="en-US" altLang="zh-CN" dirty="0">
                    <a:solidFill>
                      <a:srgbClr val="FF0000"/>
                    </a:solidFill>
                    <a:latin typeface="微软雅黑" panose="020B0503020204020204" pitchFamily="34" charset="-122"/>
                    <a:ea typeface="微软雅黑" panose="020B0503020204020204" pitchFamily="34" charset="-122"/>
                  </a:rPr>
                  <a:t>A*x</a:t>
                </a:r>
                <a14:m>
                  <m:oMath xmlns:m="http://schemas.openxmlformats.org/officeDocument/2006/math">
                    <m:r>
                      <a:rPr lang="zh-CN" altLang="en-US">
                        <a:solidFill>
                          <a:srgbClr val="FF0000"/>
                        </a:solidFill>
                        <a:latin typeface="Cambria Math" panose="02040503050406030204" pitchFamily="18" charset="0"/>
                        <a:ea typeface="微软雅黑" panose="020B0503020204020204" pitchFamily="34" charset="-122"/>
                      </a:rPr>
                      <m:t>≤</m:t>
                    </m:r>
                  </m:oMath>
                </a14:m>
                <a:r>
                  <a:rPr lang="en-US" altLang="zh-CN" dirty="0">
                    <a:solidFill>
                      <a:srgbClr val="FF0000"/>
                    </a:solidFill>
                    <a:latin typeface="微软雅黑" panose="020B0503020204020204" pitchFamily="34" charset="-122"/>
                    <a:ea typeface="微软雅黑" panose="020B0503020204020204" pitchFamily="34" charset="-122"/>
                  </a:rPr>
                  <a:t>b</a:t>
                </a:r>
                <a:endParaRPr lang="zh-CN" altLang="en-US"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16" name="文本框 15">
                <a:extLst>
                  <a:ext uri="{FF2B5EF4-FFF2-40B4-BE49-F238E27FC236}">
                    <a16:creationId xmlns:a16="http://schemas.microsoft.com/office/drawing/2014/main" id="{A2E180CB-FA4B-4E58-B775-6C6450FF001A}"/>
                  </a:ext>
                </a:extLst>
              </p:cNvPr>
              <p:cNvSpPr txBox="1">
                <a:spLocks noRot="1" noChangeAspect="1" noMove="1" noResize="1" noEditPoints="1" noAdjustHandles="1" noChangeArrowheads="1" noChangeShapeType="1" noTextEdit="1"/>
              </p:cNvSpPr>
              <p:nvPr/>
            </p:nvSpPr>
            <p:spPr>
              <a:xfrm>
                <a:off x="4938699" y="2378336"/>
                <a:ext cx="1360800" cy="648447"/>
              </a:xfrm>
              <a:prstGeom prst="rect">
                <a:avLst/>
              </a:prstGeom>
              <a:blipFill>
                <a:blip r:embed="rId4"/>
                <a:stretch>
                  <a:fillRect l="-1794" r="-1794" b="-140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120B3E32-6BB6-45C5-8530-0B0855FBB1DD}"/>
                  </a:ext>
                </a:extLst>
              </p:cNvPr>
              <p:cNvSpPr txBox="1"/>
              <p:nvPr/>
            </p:nvSpPr>
            <p:spPr>
              <a:xfrm>
                <a:off x="5895415" y="3391404"/>
                <a:ext cx="3171727" cy="370486"/>
              </a:xfrm>
              <a:prstGeom prst="rect">
                <a:avLst/>
              </a:prstGeom>
              <a:noFill/>
            </p:spPr>
            <p:txBody>
              <a:bodyPr wrap="square">
                <a:spAutoFit/>
              </a:bodyPr>
              <a:lstStyle/>
              <a:p>
                <a:r>
                  <a:rPr lang="zh-CN" altLang="en-US" dirty="0">
                    <a:solidFill>
                      <a:srgbClr val="FF0000"/>
                    </a:solidFill>
                    <a:latin typeface="微软雅黑" panose="020B0503020204020204" pitchFamily="34" charset="-122"/>
                    <a:ea typeface="微软雅黑" panose="020B0503020204020204" pitchFamily="34" charset="-122"/>
                  </a:rPr>
                  <a:t>目标</a:t>
                </a:r>
                <a:r>
                  <a:rPr lang="en-US" altLang="zh-CN" dirty="0">
                    <a:solidFill>
                      <a:srgbClr val="FF0000"/>
                    </a:solidFill>
                    <a:latin typeface="微软雅黑" panose="020B0503020204020204" pitchFamily="34" charset="-122"/>
                    <a:ea typeface="微软雅黑" panose="020B0503020204020204" pitchFamily="34" charset="-122"/>
                  </a:rPr>
                  <a:t>f(x)</a:t>
                </a:r>
                <a:r>
                  <a:rPr lang="zh-CN" altLang="en-US" dirty="0">
                    <a:solidFill>
                      <a:srgbClr val="FF0000"/>
                    </a:solidFill>
                    <a:latin typeface="微软雅黑" panose="020B0503020204020204" pitchFamily="34" charset="-122"/>
                    <a:ea typeface="微软雅黑" panose="020B0503020204020204" pitchFamily="34" charset="-122"/>
                  </a:rPr>
                  <a:t>和约束</a:t>
                </a:r>
                <a14:m>
                  <m:oMath xmlns:m="http://schemas.openxmlformats.org/officeDocument/2006/math">
                    <m:sSub>
                      <m:sSubPr>
                        <m:ctrlPr>
                          <a:rPr lang="en-US" altLang="zh-CN" i="1">
                            <a:solidFill>
                              <a:srgbClr val="FF0000"/>
                            </a:solidFill>
                            <a:latin typeface="Cambria Math" panose="02040503050406030204" pitchFamily="18" charset="0"/>
                            <a:ea typeface="微软雅黑" panose="020B0503020204020204" pitchFamily="34" charset="-122"/>
                          </a:rPr>
                        </m:ctrlPr>
                      </m:sSubPr>
                      <m:e>
                        <m:r>
                          <a:rPr lang="en-US" altLang="zh-CN">
                            <a:solidFill>
                              <a:srgbClr val="FF0000"/>
                            </a:solidFill>
                            <a:latin typeface="Cambria Math" panose="02040503050406030204" pitchFamily="18" charset="0"/>
                            <a:ea typeface="微软雅黑" panose="020B0503020204020204" pitchFamily="34" charset="-122"/>
                          </a:rPr>
                          <m:t>𝑐</m:t>
                        </m:r>
                      </m:e>
                      <m:sub>
                        <m:r>
                          <a:rPr lang="en-US" altLang="zh-CN">
                            <a:solidFill>
                              <a:srgbClr val="FF0000"/>
                            </a:solidFill>
                            <a:latin typeface="Cambria Math" panose="02040503050406030204" pitchFamily="18" charset="0"/>
                            <a:ea typeface="微软雅黑" panose="020B0503020204020204" pitchFamily="34" charset="-122"/>
                          </a:rPr>
                          <m:t>𝑖</m:t>
                        </m:r>
                      </m:sub>
                    </m:sSub>
                    <m:r>
                      <a:rPr lang="en-US" altLang="zh-CN">
                        <a:solidFill>
                          <a:srgbClr val="FF0000"/>
                        </a:solidFill>
                        <a:latin typeface="Cambria Math" panose="02040503050406030204" pitchFamily="18" charset="0"/>
                        <a:ea typeface="微软雅黑" panose="020B0503020204020204" pitchFamily="34" charset="-122"/>
                      </a:rPr>
                      <m:t>(</m:t>
                    </m:r>
                    <m:r>
                      <a:rPr lang="en-US" altLang="zh-CN">
                        <a:solidFill>
                          <a:srgbClr val="FF0000"/>
                        </a:solidFill>
                        <a:latin typeface="Cambria Math" panose="02040503050406030204" pitchFamily="18" charset="0"/>
                        <a:ea typeface="微软雅黑" panose="020B0503020204020204" pitchFamily="34" charset="-122"/>
                      </a:rPr>
                      <m:t>𝑥</m:t>
                    </m:r>
                    <m:r>
                      <a:rPr lang="en-US" altLang="zh-CN">
                        <a:solidFill>
                          <a:srgbClr val="FF0000"/>
                        </a:solidFill>
                        <a:latin typeface="Cambria Math" panose="02040503050406030204" pitchFamily="18" charset="0"/>
                        <a:ea typeface="微软雅黑" panose="020B0503020204020204" pitchFamily="34" charset="-122"/>
                      </a:rPr>
                      <m:t>)</m:t>
                    </m:r>
                    <m:r>
                      <a:rPr lang="zh-CN" altLang="en-US">
                        <a:solidFill>
                          <a:srgbClr val="FF0000"/>
                        </a:solidFill>
                        <a:latin typeface="Cambria Math" panose="02040503050406030204" pitchFamily="18" charset="0"/>
                        <a:ea typeface="微软雅黑" panose="020B0503020204020204" pitchFamily="34" charset="-122"/>
                      </a:rPr>
                      <m:t>线性</m:t>
                    </m:r>
                    <m:r>
                      <a:rPr lang="zh-CN" altLang="en-US" i="1">
                        <a:solidFill>
                          <a:srgbClr val="FF0000"/>
                        </a:solidFill>
                        <a:latin typeface="Cambria Math" panose="02040503050406030204" pitchFamily="18" charset="0"/>
                        <a:ea typeface="微软雅黑" panose="020B0503020204020204" pitchFamily="34" charset="-122"/>
                      </a:rPr>
                      <m:t>函数</m:t>
                    </m:r>
                  </m:oMath>
                </a14:m>
                <a:endParaRPr lang="zh-CN" altLang="en-US" dirty="0">
                  <a:solidFill>
                    <a:srgbClr val="FF0000"/>
                  </a:solidFill>
                </a:endParaRPr>
              </a:p>
            </p:txBody>
          </p:sp>
        </mc:Choice>
        <mc:Fallback xmlns="">
          <p:sp>
            <p:nvSpPr>
              <p:cNvPr id="17" name="文本框 16">
                <a:extLst>
                  <a:ext uri="{FF2B5EF4-FFF2-40B4-BE49-F238E27FC236}">
                    <a16:creationId xmlns:a16="http://schemas.microsoft.com/office/drawing/2014/main" id="{120B3E32-6BB6-45C5-8530-0B0855FBB1DD}"/>
                  </a:ext>
                </a:extLst>
              </p:cNvPr>
              <p:cNvSpPr txBox="1">
                <a:spLocks noRot="1" noChangeAspect="1" noMove="1" noResize="1" noEditPoints="1" noAdjustHandles="1" noChangeArrowheads="1" noChangeShapeType="1" noTextEdit="1"/>
              </p:cNvSpPr>
              <p:nvPr/>
            </p:nvSpPr>
            <p:spPr>
              <a:xfrm>
                <a:off x="5895415" y="3391404"/>
                <a:ext cx="3171727" cy="370486"/>
              </a:xfrm>
              <a:prstGeom prst="rect">
                <a:avLst/>
              </a:prstGeom>
              <a:blipFill>
                <a:blip r:embed="rId5"/>
                <a:stretch>
                  <a:fillRect l="-1538" t="-8197" b="-24590"/>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5AD197FF-A04D-4A4B-96DC-C781007797AC}"/>
              </a:ext>
            </a:extLst>
          </p:cNvPr>
          <p:cNvSpPr txBox="1"/>
          <p:nvPr/>
        </p:nvSpPr>
        <p:spPr>
          <a:xfrm>
            <a:off x="3650104" y="1878231"/>
            <a:ext cx="1639841" cy="369332"/>
          </a:xfrm>
          <a:prstGeom prst="rect">
            <a:avLst/>
          </a:prstGeom>
          <a:noFill/>
        </p:spPr>
        <p:txBody>
          <a:bodyPr wrap="square">
            <a:spAutoFit/>
          </a:bodyPr>
          <a:lstStyle/>
          <a:p>
            <a:r>
              <a:rPr lang="zh-CN" altLang="en-US" dirty="0">
                <a:solidFill>
                  <a:srgbClr val="FF0000"/>
                </a:solidFill>
                <a:latin typeface="微软雅黑" panose="020B0503020204020204" pitchFamily="34" charset="-122"/>
                <a:ea typeface="微软雅黑" panose="020B0503020204020204" pitchFamily="34" charset="-122"/>
              </a:rPr>
              <a:t>最小目标函数：</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7A7FE21-0B64-4488-BB12-43820D0A8850}"/>
                  </a:ext>
                </a:extLst>
              </p:cNvPr>
              <p:cNvSpPr txBox="1"/>
              <p:nvPr/>
            </p:nvSpPr>
            <p:spPr>
              <a:xfrm>
                <a:off x="5289945" y="1904177"/>
                <a:ext cx="37469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altLang="zh-CN" b="0" i="1" smtClean="0">
                              <a:solidFill>
                                <a:srgbClr val="002060"/>
                              </a:solidFill>
                              <a:latin typeface="Cambria Math" panose="02040503050406030204" pitchFamily="18" charset="0"/>
                            </a:rPr>
                          </m:ctrlPr>
                        </m:funcPr>
                        <m:fName>
                          <m:r>
                            <m:rPr>
                              <m:sty m:val="p"/>
                            </m:rPr>
                            <a:rPr lang="en-US" altLang="zh-CN" b="0" i="0" smtClean="0">
                              <a:solidFill>
                                <a:srgbClr val="002060"/>
                              </a:solidFill>
                              <a:latin typeface="Cambria Math" panose="02040503050406030204" pitchFamily="18" charset="0"/>
                            </a:rPr>
                            <m:t>min</m:t>
                          </m:r>
                        </m:fName>
                        <m:e>
                          <m:r>
                            <a:rPr lang="en-US" altLang="zh-CN" b="0" i="1" smtClean="0">
                              <a:solidFill>
                                <a:srgbClr val="002060"/>
                              </a:solidFill>
                              <a:latin typeface="Cambria Math" panose="02040503050406030204" pitchFamily="18" charset="0"/>
                            </a:rPr>
                            <m:t>𝑧𝑚𝑖𝑛</m:t>
                          </m:r>
                          <m:r>
                            <a:rPr lang="en-US" altLang="zh-CN" b="0" i="1" smtClean="0">
                              <a:solidFill>
                                <a:srgbClr val="002060"/>
                              </a:solidFill>
                              <a:latin typeface="Cambria Math" panose="02040503050406030204" pitchFamily="18" charset="0"/>
                            </a:rPr>
                            <m:t>=−(30</m:t>
                          </m:r>
                          <m:r>
                            <a:rPr lang="en-US" altLang="zh-CN" b="0" i="1" smtClean="0">
                              <a:solidFill>
                                <a:srgbClr val="002060"/>
                              </a:solidFill>
                              <a:latin typeface="Cambria Math" panose="02040503050406030204" pitchFamily="18" charset="0"/>
                            </a:rPr>
                            <m:t>𝑥</m:t>
                          </m:r>
                          <m:r>
                            <a:rPr lang="en-US" altLang="zh-CN" b="0" i="1" baseline="-25000" smtClean="0">
                              <a:solidFill>
                                <a:srgbClr val="002060"/>
                              </a:solidFill>
                              <a:latin typeface="Cambria Math" panose="02040503050406030204" pitchFamily="18" charset="0"/>
                            </a:rPr>
                            <m:t>1</m:t>
                          </m:r>
                          <m:r>
                            <a:rPr lang="en-US" altLang="zh-CN" b="0" i="1" smtClean="0">
                              <a:solidFill>
                                <a:srgbClr val="002060"/>
                              </a:solidFill>
                              <a:latin typeface="Cambria Math" panose="02040503050406030204" pitchFamily="18" charset="0"/>
                            </a:rPr>
                            <m:t>+20</m:t>
                          </m:r>
                          <m:r>
                            <a:rPr lang="en-US" altLang="zh-CN" b="0" i="1" smtClean="0">
                              <a:solidFill>
                                <a:srgbClr val="002060"/>
                              </a:solidFill>
                              <a:latin typeface="Cambria Math" panose="02040503050406030204" pitchFamily="18" charset="0"/>
                            </a:rPr>
                            <m:t>𝑥</m:t>
                          </m:r>
                          <m:r>
                            <a:rPr lang="en-US" altLang="zh-CN" i="1" baseline="-25000">
                              <a:solidFill>
                                <a:srgbClr val="002060"/>
                              </a:solidFill>
                              <a:latin typeface="Cambria Math" panose="02040503050406030204" pitchFamily="18" charset="0"/>
                            </a:rPr>
                            <m:t>2</m:t>
                          </m:r>
                          <m:r>
                            <a:rPr lang="en-US" altLang="zh-CN" b="0" i="1" smtClean="0">
                              <a:solidFill>
                                <a:srgbClr val="002060"/>
                              </a:solidFill>
                              <a:latin typeface="Cambria Math" panose="02040503050406030204" pitchFamily="18" charset="0"/>
                            </a:rPr>
                            <m:t>+50</m:t>
                          </m:r>
                          <m:r>
                            <a:rPr lang="en-US" altLang="zh-CN" b="0" i="1" smtClean="0">
                              <a:solidFill>
                                <a:srgbClr val="002060"/>
                              </a:solidFill>
                              <a:latin typeface="Cambria Math" panose="02040503050406030204" pitchFamily="18" charset="0"/>
                            </a:rPr>
                            <m:t>𝑥</m:t>
                          </m:r>
                          <m:r>
                            <a:rPr lang="en-US" altLang="zh-CN" i="1" baseline="-25000">
                              <a:solidFill>
                                <a:srgbClr val="002060"/>
                              </a:solidFill>
                              <a:latin typeface="Cambria Math" panose="02040503050406030204" pitchFamily="18" charset="0"/>
                            </a:rPr>
                            <m:t>3</m:t>
                          </m:r>
                          <m:r>
                            <a:rPr lang="en-US" altLang="zh-CN" b="0" i="1" smtClean="0">
                              <a:solidFill>
                                <a:srgbClr val="002060"/>
                              </a:solidFill>
                              <a:latin typeface="Cambria Math" panose="02040503050406030204" pitchFamily="18" charset="0"/>
                            </a:rPr>
                            <m:t>)</m:t>
                          </m:r>
                        </m:e>
                      </m:func>
                    </m:oMath>
                  </m:oMathPara>
                </a14:m>
                <a:endParaRPr lang="zh-CN" altLang="en-US" dirty="0">
                  <a:solidFill>
                    <a:srgbClr val="002060"/>
                  </a:solidFill>
                </a:endParaRPr>
              </a:p>
            </p:txBody>
          </p:sp>
        </mc:Choice>
        <mc:Fallback xmlns="">
          <p:sp>
            <p:nvSpPr>
              <p:cNvPr id="2" name="文本框 1">
                <a:extLst>
                  <a:ext uri="{FF2B5EF4-FFF2-40B4-BE49-F238E27FC236}">
                    <a16:creationId xmlns:a16="http://schemas.microsoft.com/office/drawing/2014/main" id="{47A7FE21-0B64-4488-BB12-43820D0A8850}"/>
                  </a:ext>
                </a:extLst>
              </p:cNvPr>
              <p:cNvSpPr txBox="1">
                <a:spLocks noRot="1" noChangeAspect="1" noMove="1" noResize="1" noEditPoints="1" noAdjustHandles="1" noChangeArrowheads="1" noChangeShapeType="1" noTextEdit="1"/>
              </p:cNvSpPr>
              <p:nvPr/>
            </p:nvSpPr>
            <p:spPr>
              <a:xfrm>
                <a:off x="5289945" y="1904177"/>
                <a:ext cx="3746988" cy="276999"/>
              </a:xfrm>
              <a:prstGeom prst="rect">
                <a:avLst/>
              </a:prstGeom>
              <a:blipFill>
                <a:blip r:embed="rId6"/>
                <a:stretch>
                  <a:fillRect r="-163" b="-347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44529415-7526-4CF4-BF24-B36DE5F1009B}"/>
                  </a:ext>
                </a:extLst>
              </p:cNvPr>
              <p:cNvSpPr txBox="1"/>
              <p:nvPr/>
            </p:nvSpPr>
            <p:spPr>
              <a:xfrm>
                <a:off x="4239273" y="1452085"/>
                <a:ext cx="487942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altLang="zh-CN" b="0" i="1" smtClean="0">
                              <a:solidFill>
                                <a:srgbClr val="002060"/>
                              </a:solidFill>
                              <a:latin typeface="Cambria Math" panose="02040503050406030204" pitchFamily="18" charset="0"/>
                            </a:rPr>
                          </m:ctrlPr>
                        </m:funcPr>
                        <m:fName>
                          <m:r>
                            <m:rPr>
                              <m:sty m:val="p"/>
                            </m:rPr>
                            <a:rPr lang="en-US" altLang="zh-CN" b="0" i="0" smtClean="0">
                              <a:solidFill>
                                <a:srgbClr val="002060"/>
                              </a:solidFill>
                              <a:latin typeface="Cambria Math" panose="02040503050406030204" pitchFamily="18" charset="0"/>
                            </a:rPr>
                            <m:t>m</m:t>
                          </m:r>
                          <m:r>
                            <m:rPr>
                              <m:sty m:val="p"/>
                            </m:rPr>
                            <a:rPr lang="en-US" altLang="zh-CN" i="1">
                              <a:solidFill>
                                <a:srgbClr val="002060"/>
                              </a:solidFill>
                              <a:latin typeface="Cambria Math" panose="02040503050406030204" pitchFamily="18" charset="0"/>
                            </a:rPr>
                            <m:t>ax</m:t>
                          </m:r>
                        </m:fName>
                        <m:e>
                          <m:r>
                            <a:rPr lang="en-US" altLang="zh-CN" b="0" i="1" smtClean="0">
                              <a:solidFill>
                                <a:srgbClr val="002060"/>
                              </a:solidFill>
                              <a:latin typeface="Cambria Math" panose="02040503050406030204" pitchFamily="18" charset="0"/>
                            </a:rPr>
                            <m:t>𝑧</m:t>
                          </m:r>
                          <m:r>
                            <a:rPr lang="en-US" altLang="zh-CN" b="0" i="1" smtClean="0">
                              <a:solidFill>
                                <a:srgbClr val="002060"/>
                              </a:solidFill>
                              <a:latin typeface="Cambria Math" panose="02040503050406030204" pitchFamily="18" charset="0"/>
                            </a:rPr>
                            <m:t>=30</m:t>
                          </m:r>
                          <m:r>
                            <a:rPr lang="en-US" altLang="zh-CN" b="0" i="1" smtClean="0">
                              <a:solidFill>
                                <a:srgbClr val="002060"/>
                              </a:solidFill>
                              <a:latin typeface="Cambria Math" panose="02040503050406030204" pitchFamily="18" charset="0"/>
                            </a:rPr>
                            <m:t>𝑥</m:t>
                          </m:r>
                          <m:r>
                            <a:rPr lang="en-US" altLang="zh-CN" b="0" i="1" baseline="-25000" smtClean="0">
                              <a:solidFill>
                                <a:srgbClr val="002060"/>
                              </a:solidFill>
                              <a:latin typeface="Cambria Math" panose="02040503050406030204" pitchFamily="18" charset="0"/>
                            </a:rPr>
                            <m:t>1</m:t>
                          </m:r>
                          <m:r>
                            <a:rPr lang="en-US" altLang="zh-CN" b="0" i="1" smtClean="0">
                              <a:solidFill>
                                <a:srgbClr val="002060"/>
                              </a:solidFill>
                              <a:latin typeface="Cambria Math" panose="02040503050406030204" pitchFamily="18" charset="0"/>
                            </a:rPr>
                            <m:t>+20</m:t>
                          </m:r>
                          <m:r>
                            <a:rPr lang="en-US" altLang="zh-CN" b="0" i="1" smtClean="0">
                              <a:solidFill>
                                <a:srgbClr val="002060"/>
                              </a:solidFill>
                              <a:latin typeface="Cambria Math" panose="02040503050406030204" pitchFamily="18" charset="0"/>
                            </a:rPr>
                            <m:t>𝑥</m:t>
                          </m:r>
                          <m:r>
                            <a:rPr lang="en-US" altLang="zh-CN" i="1" baseline="-25000">
                              <a:solidFill>
                                <a:srgbClr val="002060"/>
                              </a:solidFill>
                              <a:latin typeface="Cambria Math" panose="02040503050406030204" pitchFamily="18" charset="0"/>
                            </a:rPr>
                            <m:t>2</m:t>
                          </m:r>
                          <m:r>
                            <a:rPr lang="en-US" altLang="zh-CN" b="0" i="1" smtClean="0">
                              <a:solidFill>
                                <a:srgbClr val="002060"/>
                              </a:solidFill>
                              <a:latin typeface="Cambria Math" panose="02040503050406030204" pitchFamily="18" charset="0"/>
                            </a:rPr>
                            <m:t>+50</m:t>
                          </m:r>
                          <m:r>
                            <a:rPr lang="en-US" altLang="zh-CN" b="0" i="1" smtClean="0">
                              <a:solidFill>
                                <a:srgbClr val="002060"/>
                              </a:solidFill>
                              <a:latin typeface="Cambria Math" panose="02040503050406030204" pitchFamily="18" charset="0"/>
                            </a:rPr>
                            <m:t>𝑥</m:t>
                          </m:r>
                          <m:r>
                            <a:rPr lang="en-US" altLang="zh-CN" i="1" baseline="-25000">
                              <a:solidFill>
                                <a:srgbClr val="002060"/>
                              </a:solidFill>
                              <a:latin typeface="Cambria Math" panose="02040503050406030204" pitchFamily="18" charset="0"/>
                            </a:rPr>
                            <m:t>3</m:t>
                          </m:r>
                        </m:e>
                      </m:func>
                    </m:oMath>
                  </m:oMathPara>
                </a14:m>
                <a:endParaRPr lang="zh-CN" altLang="en-US" dirty="0"/>
              </a:p>
            </p:txBody>
          </p:sp>
        </mc:Choice>
        <mc:Fallback xmlns="">
          <p:sp>
            <p:nvSpPr>
              <p:cNvPr id="19" name="文本框 18">
                <a:extLst>
                  <a:ext uri="{FF2B5EF4-FFF2-40B4-BE49-F238E27FC236}">
                    <a16:creationId xmlns:a16="http://schemas.microsoft.com/office/drawing/2014/main" id="{44529415-7526-4CF4-BF24-B36DE5F1009B}"/>
                  </a:ext>
                </a:extLst>
              </p:cNvPr>
              <p:cNvSpPr txBox="1">
                <a:spLocks noRot="1" noChangeAspect="1" noMove="1" noResize="1" noEditPoints="1" noAdjustHandles="1" noChangeArrowheads="1" noChangeShapeType="1" noTextEdit="1"/>
              </p:cNvSpPr>
              <p:nvPr/>
            </p:nvSpPr>
            <p:spPr>
              <a:xfrm>
                <a:off x="4239273" y="1452085"/>
                <a:ext cx="4879426" cy="369332"/>
              </a:xfrm>
              <a:prstGeom prst="rect">
                <a:avLst/>
              </a:prstGeom>
              <a:blipFill>
                <a:blip r:embed="rId7"/>
                <a:stretch>
                  <a:fillRect/>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C71BD33B-1F56-4BC3-9144-3084C487A53F}"/>
              </a:ext>
            </a:extLst>
          </p:cNvPr>
          <p:cNvSpPr txBox="1"/>
          <p:nvPr/>
        </p:nvSpPr>
        <p:spPr>
          <a:xfrm>
            <a:off x="2700311" y="1096097"/>
            <a:ext cx="6228118" cy="338554"/>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marL="0" indent="0" algn="dist" eaLnBrk="0" hangingPunct="0">
              <a:lnSpc>
                <a:spcPct val="100000"/>
              </a:lnSpc>
            </a:pPr>
            <a:r>
              <a:rPr lang="zh-CN" altLang="zh-CN" sz="1600" b="0" dirty="0">
                <a:effectLst/>
                <a:highlight>
                  <a:srgbClr val="FF0000"/>
                </a:highlight>
                <a:latin typeface="Arial Unicode MS"/>
                <a:ea typeface="source-code-pro"/>
              </a:rPr>
              <a:t>x</a:t>
            </a:r>
            <a:r>
              <a:rPr lang="zh-CN" altLang="zh-CN" sz="1600" b="0" dirty="0">
                <a:effectLst/>
                <a:latin typeface="Arial Unicode MS"/>
                <a:ea typeface="source-code-pro"/>
              </a:rPr>
              <a:t>,fval,exitflag,output,lambda</a:t>
            </a:r>
            <a:r>
              <a:rPr lang="zh-CN" altLang="zh-CN" sz="1600" b="0" dirty="0">
                <a:effectLst/>
                <a:highlight>
                  <a:srgbClr val="FF0000"/>
                </a:highlight>
                <a:latin typeface="Arial Unicode MS"/>
                <a:ea typeface="source-code-pro"/>
              </a:rPr>
              <a:t>= linprog(f, A, b</a:t>
            </a:r>
            <a:r>
              <a:rPr lang="zh-CN" altLang="zh-CN" sz="1600" b="0" dirty="0">
                <a:effectLst/>
                <a:latin typeface="Arial Unicode MS"/>
                <a:ea typeface="source-code-pro"/>
              </a:rPr>
              <a:t>, Aeq, beq, lb, ub)</a:t>
            </a:r>
            <a:r>
              <a:rPr lang="zh-CN" altLang="zh-CN" sz="1600" b="0" dirty="0">
                <a:effectLst/>
              </a:rPr>
              <a:t> </a:t>
            </a:r>
            <a:endParaRPr lang="zh-CN" altLang="zh-CN" sz="1600" b="0" dirty="0">
              <a:effectLst/>
              <a:latin typeface="Arial" panose="020B0604020202020204" pitchFamily="34" charset="0"/>
            </a:endParaRPr>
          </a:p>
        </p:txBody>
      </p:sp>
    </p:spTree>
    <p:extLst>
      <p:ext uri="{BB962C8B-B14F-4D97-AF65-F5344CB8AC3E}">
        <p14:creationId xmlns:p14="http://schemas.microsoft.com/office/powerpoint/2010/main" val="112388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5">
                                            <p:txEl>
                                              <p:pRg st="9" end="9"/>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
                                            <p:txEl>
                                              <p:pRg st="10" end="10"/>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17" grpId="0"/>
      <p:bldP spid="18"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33C5A031-5E51-4C37-B876-D8FE6CC72EC5}"/>
              </a:ext>
            </a:extLst>
          </p:cNvPr>
          <p:cNvSpPr txBox="1"/>
          <p:nvPr/>
        </p:nvSpPr>
        <p:spPr>
          <a:xfrm>
            <a:off x="1416968" y="67185"/>
            <a:ext cx="7547520" cy="523220"/>
          </a:xfrm>
          <a:prstGeom prst="rect">
            <a:avLst/>
          </a:prstGeom>
          <a:noFill/>
        </p:spPr>
        <p:txBody>
          <a:bodyPr wrap="square">
            <a:spAutoFit/>
          </a:bodyPr>
          <a:lstStyle/>
          <a:p>
            <a:pPr marL="0" indent="0">
              <a:buNone/>
            </a:pPr>
            <a:r>
              <a:rPr lang="en-US" altLang="zh-CN" sz="2800" b="0" dirty="0">
                <a:solidFill>
                  <a:srgbClr val="002060"/>
                </a:solidFill>
                <a:latin typeface="华文楷体" panose="02010600040101010101" pitchFamily="2" charset="-122"/>
                <a:ea typeface="华文楷体" panose="02010600040101010101" pitchFamily="2" charset="-122"/>
              </a:rPr>
              <a:t>§8.3 </a:t>
            </a:r>
            <a:r>
              <a:rPr lang="zh-CN" altLang="en-US" sz="2800" b="0" dirty="0">
                <a:solidFill>
                  <a:srgbClr val="002060"/>
                </a:solidFill>
                <a:latin typeface="华文楷体" panose="02010600040101010101" pitchFamily="2" charset="-122"/>
                <a:ea typeface="华文楷体" panose="02010600040101010101" pitchFamily="2" charset="-122"/>
              </a:rPr>
              <a:t>二次</a:t>
            </a:r>
            <a:r>
              <a:rPr lang="zh-CN" altLang="en-US" sz="2800" dirty="0">
                <a:latin typeface="华文楷体" panose="02010600040101010101" pitchFamily="2" charset="-122"/>
                <a:ea typeface="华文楷体" panose="02010600040101010101" pitchFamily="2" charset="-122"/>
              </a:rPr>
              <a:t>规划 </a:t>
            </a:r>
            <a:r>
              <a:rPr lang="en-US" altLang="zh-CN" sz="2800" dirty="0" err="1">
                <a:solidFill>
                  <a:srgbClr val="0070C0"/>
                </a:solidFill>
                <a:latin typeface="华文楷体" panose="02010600040101010101" pitchFamily="2" charset="-122"/>
                <a:ea typeface="华文楷体" panose="02010600040101010101" pitchFamily="2" charset="-122"/>
              </a:rPr>
              <a:t>quad</a:t>
            </a:r>
            <a:r>
              <a:rPr lang="en-US" altLang="zh-CN" sz="2800" b="0" i="0" u="none" strike="noStrike" dirty="0" err="1">
                <a:solidFill>
                  <a:srgbClr val="0070C0"/>
                </a:solidFill>
                <a:effectLst/>
                <a:latin typeface="华文楷体" panose="02010600040101010101" pitchFamily="2" charset="-122"/>
                <a:ea typeface="华文楷体" panose="02010600040101010101" pitchFamily="2" charset="-122"/>
                <a:hlinkClick r:id="rId3" action="ppaction://hlinkfile">
                  <a:extLst>
                    <a:ext uri="{A12FA001-AC4F-418D-AE19-62706E023703}">
                      <ahyp:hlinkClr xmlns:ahyp="http://schemas.microsoft.com/office/drawing/2018/hyperlinkcolor" val="tx"/>
                    </a:ext>
                  </a:extLst>
                </a:hlinkClick>
              </a:rPr>
              <a:t>prog</a:t>
            </a:r>
            <a:r>
              <a:rPr lang="en-US" altLang="zh-CN" sz="2800" b="0" kern="0" dirty="0">
                <a:solidFill>
                  <a:srgbClr val="FF0000"/>
                </a:solidFill>
                <a:latin typeface="华文楷体" panose="02010600040101010101" pitchFamily="2" charset="-122"/>
                <a:ea typeface="华文楷体" panose="02010600040101010101" pitchFamily="2" charset="-122"/>
              </a:rPr>
              <a:t> ——</a:t>
            </a:r>
            <a:r>
              <a:rPr lang="zh-CN" altLang="en-US" sz="2800" b="0" kern="0" dirty="0">
                <a:solidFill>
                  <a:srgbClr val="FF0000"/>
                </a:solidFill>
                <a:latin typeface="华文楷体" panose="02010600040101010101" pitchFamily="2" charset="-122"/>
                <a:ea typeface="华文楷体" panose="02010600040101010101" pitchFamily="2" charset="-122"/>
              </a:rPr>
              <a:t>规划</a:t>
            </a:r>
            <a:r>
              <a:rPr lang="zh-CN" altLang="en-US" sz="2800" kern="0" dirty="0">
                <a:solidFill>
                  <a:srgbClr val="FF0000"/>
                </a:solidFill>
                <a:latin typeface="华文楷体" panose="02010600040101010101" pitchFamily="2" charset="-122"/>
                <a:ea typeface="华文楷体" panose="02010600040101010101" pitchFamily="2" charset="-122"/>
              </a:rPr>
              <a:t>问题描述</a:t>
            </a:r>
            <a:endParaRPr lang="en-US" altLang="zh-CN" sz="2800" dirty="0">
              <a:solidFill>
                <a:srgbClr val="FF0000"/>
              </a:solidFill>
              <a:latin typeface="华文楷体" panose="02010600040101010101" pitchFamily="2" charset="-122"/>
              <a:ea typeface="华文楷体" panose="02010600040101010101" pitchFamily="2" charset="-122"/>
            </a:endParaRPr>
          </a:p>
        </p:txBody>
      </p:sp>
      <p:pic>
        <p:nvPicPr>
          <p:cNvPr id="11" name="图片 10">
            <a:extLst>
              <a:ext uri="{FF2B5EF4-FFF2-40B4-BE49-F238E27FC236}">
                <a16:creationId xmlns:a16="http://schemas.microsoft.com/office/drawing/2014/main" id="{0CB64723-E51F-4234-9B64-AE4D8261305A}"/>
              </a:ext>
            </a:extLst>
          </p:cNvPr>
          <p:cNvPicPr>
            <a:picLocks noChangeAspect="1"/>
          </p:cNvPicPr>
          <p:nvPr/>
        </p:nvPicPr>
        <p:blipFill>
          <a:blip r:embed="rId4"/>
          <a:stretch>
            <a:fillRect/>
          </a:stretch>
        </p:blipFill>
        <p:spPr>
          <a:xfrm>
            <a:off x="3022163" y="1905132"/>
            <a:ext cx="2143424" cy="562053"/>
          </a:xfrm>
          <a:prstGeom prst="rect">
            <a:avLst/>
          </a:prstGeom>
        </p:spPr>
      </p:pic>
      <p:pic>
        <p:nvPicPr>
          <p:cNvPr id="13" name="图片 12">
            <a:extLst>
              <a:ext uri="{FF2B5EF4-FFF2-40B4-BE49-F238E27FC236}">
                <a16:creationId xmlns:a16="http://schemas.microsoft.com/office/drawing/2014/main" id="{67800786-CD9E-4DC4-8431-C7C49A727731}"/>
              </a:ext>
            </a:extLst>
          </p:cNvPr>
          <p:cNvPicPr>
            <a:picLocks noChangeAspect="1"/>
          </p:cNvPicPr>
          <p:nvPr/>
        </p:nvPicPr>
        <p:blipFill>
          <a:blip r:embed="rId5"/>
          <a:stretch>
            <a:fillRect/>
          </a:stretch>
        </p:blipFill>
        <p:spPr>
          <a:xfrm>
            <a:off x="6612324" y="1510618"/>
            <a:ext cx="1223530" cy="838123"/>
          </a:xfrm>
          <a:prstGeom prst="rect">
            <a:avLst/>
          </a:prstGeom>
        </p:spPr>
      </p:pic>
      <p:sp>
        <p:nvSpPr>
          <p:cNvPr id="17" name="Rectangle 1">
            <a:extLst>
              <a:ext uri="{FF2B5EF4-FFF2-40B4-BE49-F238E27FC236}">
                <a16:creationId xmlns:a16="http://schemas.microsoft.com/office/drawing/2014/main" id="{8B3DBA49-3D75-4534-9CE0-4391E34FB19F}"/>
              </a:ext>
            </a:extLst>
          </p:cNvPr>
          <p:cNvSpPr>
            <a:spLocks noChangeArrowheads="1"/>
          </p:cNvSpPr>
          <p:nvPr/>
        </p:nvSpPr>
        <p:spPr bwMode="auto">
          <a:xfrm>
            <a:off x="35496" y="1091520"/>
            <a:ext cx="2590722"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hangingPunct="0">
              <a:buFont typeface="+mj-ea"/>
              <a:buAutoNum type="circleNumDbPlain"/>
            </a:pPr>
            <a:r>
              <a:rPr lang="zh-CN" altLang="en-US" sz="2000" b="1" dirty="0">
                <a:solidFill>
                  <a:srgbClr val="0070C0"/>
                </a:solidFill>
                <a:latin typeface="微软雅黑" panose="020B0503020204020204" pitchFamily="34" charset="-122"/>
                <a:ea typeface="微软雅黑" panose="020B0503020204020204" pitchFamily="34" charset="-122"/>
              </a:rPr>
              <a:t>二次规划问题：</a:t>
            </a:r>
            <a:endParaRPr lang="zh-CN" altLang="zh-CN" b="1" dirty="0">
              <a:solidFill>
                <a:srgbClr val="00B0F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49AFAA13-3E70-4DAC-9F57-F14D52F6C855}"/>
                  </a:ext>
                </a:extLst>
              </p:cNvPr>
              <p:cNvSpPr txBox="1"/>
              <p:nvPr/>
            </p:nvSpPr>
            <p:spPr>
              <a:xfrm>
                <a:off x="7495557" y="1503734"/>
                <a:ext cx="1606670" cy="30867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nor/>
                        </m:rPr>
                        <a:rPr lang="zh-CN" altLang="en-US" sz="1400" dirty="0" smtClean="0">
                          <a:solidFill>
                            <a:srgbClr val="00B0F0"/>
                          </a:solidFill>
                          <a:latin typeface="微软雅黑" panose="020B0503020204020204" pitchFamily="34" charset="-122"/>
                          <a:ea typeface="微软雅黑" panose="020B0503020204020204" pitchFamily="34" charset="-122"/>
                        </a:rPr>
                        <m:t>线性不等式约束</m:t>
                      </m:r>
                    </m:oMath>
                  </m:oMathPara>
                </a14:m>
                <a:endParaRPr lang="zh-CN" altLang="en-US" sz="1400" dirty="0">
                  <a:latin typeface="微软雅黑" panose="020B0503020204020204" pitchFamily="34" charset="-122"/>
                  <a:ea typeface="微软雅黑" panose="020B0503020204020204" pitchFamily="34" charset="-122"/>
                </a:endParaRPr>
              </a:p>
            </p:txBody>
          </p:sp>
        </mc:Choice>
        <mc:Fallback xmlns="">
          <p:sp>
            <p:nvSpPr>
              <p:cNvPr id="26" name="文本框 25">
                <a:extLst>
                  <a:ext uri="{FF2B5EF4-FFF2-40B4-BE49-F238E27FC236}">
                    <a16:creationId xmlns:a16="http://schemas.microsoft.com/office/drawing/2014/main" id="{49AFAA13-3E70-4DAC-9F57-F14D52F6C855}"/>
                  </a:ext>
                </a:extLst>
              </p:cNvPr>
              <p:cNvSpPr txBox="1">
                <a:spLocks noRot="1" noChangeAspect="1" noMove="1" noResize="1" noEditPoints="1" noAdjustHandles="1" noChangeArrowheads="1" noChangeShapeType="1" noTextEdit="1"/>
              </p:cNvSpPr>
              <p:nvPr/>
            </p:nvSpPr>
            <p:spPr>
              <a:xfrm>
                <a:off x="7495557" y="1503734"/>
                <a:ext cx="1606670" cy="308674"/>
              </a:xfrm>
              <a:prstGeom prst="rect">
                <a:avLst/>
              </a:prstGeom>
              <a:blipFill>
                <a:blip r:embed="rId6"/>
                <a:stretch>
                  <a:fillRect b="-8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96F12F4E-539E-444A-8BD1-E2BE06EF2F7E}"/>
                  </a:ext>
                </a:extLst>
              </p:cNvPr>
              <p:cNvSpPr txBox="1"/>
              <p:nvPr/>
            </p:nvSpPr>
            <p:spPr>
              <a:xfrm>
                <a:off x="7515494" y="1800884"/>
                <a:ext cx="1606670" cy="3086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zh-CN" altLang="en-US" sz="1400" dirty="0" smtClean="0">
                          <a:solidFill>
                            <a:srgbClr val="00B0F0"/>
                          </a:solidFill>
                          <a:latin typeface="微软雅黑" panose="020B0503020204020204" pitchFamily="34" charset="-122"/>
                          <a:ea typeface="微软雅黑" panose="020B0503020204020204" pitchFamily="34" charset="-122"/>
                        </a:rPr>
                        <m:t>线性等式约束</m:t>
                      </m:r>
                    </m:oMath>
                  </m:oMathPara>
                </a14:m>
                <a:endParaRPr lang="zh-CN" altLang="en-US" sz="1400" dirty="0">
                  <a:latin typeface="微软雅黑" panose="020B0503020204020204" pitchFamily="34" charset="-122"/>
                  <a:ea typeface="微软雅黑" panose="020B0503020204020204" pitchFamily="34" charset="-122"/>
                </a:endParaRPr>
              </a:p>
            </p:txBody>
          </p:sp>
        </mc:Choice>
        <mc:Fallback xmlns="">
          <p:sp>
            <p:nvSpPr>
              <p:cNvPr id="27" name="文本框 26">
                <a:extLst>
                  <a:ext uri="{FF2B5EF4-FFF2-40B4-BE49-F238E27FC236}">
                    <a16:creationId xmlns:a16="http://schemas.microsoft.com/office/drawing/2014/main" id="{96F12F4E-539E-444A-8BD1-E2BE06EF2F7E}"/>
                  </a:ext>
                </a:extLst>
              </p:cNvPr>
              <p:cNvSpPr txBox="1">
                <a:spLocks noRot="1" noChangeAspect="1" noMove="1" noResize="1" noEditPoints="1" noAdjustHandles="1" noChangeArrowheads="1" noChangeShapeType="1" noTextEdit="1"/>
              </p:cNvSpPr>
              <p:nvPr/>
            </p:nvSpPr>
            <p:spPr>
              <a:xfrm>
                <a:off x="7515494" y="1800884"/>
                <a:ext cx="1606670" cy="308674"/>
              </a:xfrm>
              <a:prstGeom prst="rect">
                <a:avLst/>
              </a:prstGeom>
              <a:blipFill>
                <a:blip r:embed="rId7"/>
                <a:stretch>
                  <a:fillRect b="-78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9A53631D-80AD-4894-B028-FC76661A9D95}"/>
                  </a:ext>
                </a:extLst>
              </p:cNvPr>
              <p:cNvSpPr txBox="1"/>
              <p:nvPr/>
            </p:nvSpPr>
            <p:spPr>
              <a:xfrm>
                <a:off x="7604756" y="2047244"/>
                <a:ext cx="1221238" cy="3084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zh-CN" altLang="en-US" sz="1400" dirty="0" smtClean="0">
                          <a:solidFill>
                            <a:srgbClr val="00B0F0"/>
                          </a:solidFill>
                          <a:latin typeface="微软雅黑" panose="020B0503020204020204" pitchFamily="34" charset="-122"/>
                          <a:ea typeface="微软雅黑" panose="020B0503020204020204" pitchFamily="34" charset="-122"/>
                        </a:rPr>
                        <m:t>边界约束</m:t>
                      </m:r>
                    </m:oMath>
                  </m:oMathPara>
                </a14:m>
                <a:endParaRPr lang="zh-CN" altLang="en-US" sz="1400" dirty="0">
                  <a:latin typeface="微软雅黑" panose="020B0503020204020204" pitchFamily="34" charset="-122"/>
                  <a:ea typeface="微软雅黑" panose="020B0503020204020204" pitchFamily="34" charset="-122"/>
                </a:endParaRPr>
              </a:p>
            </p:txBody>
          </p:sp>
        </mc:Choice>
        <mc:Fallback xmlns="">
          <p:sp>
            <p:nvSpPr>
              <p:cNvPr id="28" name="文本框 27">
                <a:extLst>
                  <a:ext uri="{FF2B5EF4-FFF2-40B4-BE49-F238E27FC236}">
                    <a16:creationId xmlns:a16="http://schemas.microsoft.com/office/drawing/2014/main" id="{9A53631D-80AD-4894-B028-FC76661A9D95}"/>
                  </a:ext>
                </a:extLst>
              </p:cNvPr>
              <p:cNvSpPr txBox="1">
                <a:spLocks noRot="1" noChangeAspect="1" noMove="1" noResize="1" noEditPoints="1" noAdjustHandles="1" noChangeArrowheads="1" noChangeShapeType="1" noTextEdit="1"/>
              </p:cNvSpPr>
              <p:nvPr/>
            </p:nvSpPr>
            <p:spPr>
              <a:xfrm>
                <a:off x="7604756" y="2047244"/>
                <a:ext cx="1221238" cy="308482"/>
              </a:xfrm>
              <a:prstGeom prst="rect">
                <a:avLst/>
              </a:prstGeom>
              <a:blipFill>
                <a:blip r:embed="rId8"/>
                <a:stretch>
                  <a:fillRect b="-8000"/>
                </a:stretch>
              </a:blipFill>
            </p:spPr>
            <p:txBody>
              <a:bodyPr/>
              <a:lstStyle/>
              <a:p>
                <a:r>
                  <a:rPr lang="zh-CN" altLang="en-US">
                    <a:noFill/>
                  </a:rPr>
                  <a:t> </a:t>
                </a:r>
              </a:p>
            </p:txBody>
          </p:sp>
        </mc:Fallback>
      </mc:AlternateContent>
      <p:pic>
        <p:nvPicPr>
          <p:cNvPr id="31" name="图片 30">
            <a:extLst>
              <a:ext uri="{FF2B5EF4-FFF2-40B4-BE49-F238E27FC236}">
                <a16:creationId xmlns:a16="http://schemas.microsoft.com/office/drawing/2014/main" id="{8AA4B2DD-EE70-4266-9044-4E0317BFFE81}"/>
              </a:ext>
            </a:extLst>
          </p:cNvPr>
          <p:cNvPicPr>
            <a:picLocks noChangeAspect="1"/>
          </p:cNvPicPr>
          <p:nvPr/>
        </p:nvPicPr>
        <p:blipFill>
          <a:blip r:embed="rId9"/>
          <a:stretch>
            <a:fillRect/>
          </a:stretch>
        </p:blipFill>
        <p:spPr>
          <a:xfrm>
            <a:off x="418934" y="4155926"/>
            <a:ext cx="4163006" cy="405258"/>
          </a:xfrm>
          <a:prstGeom prst="rect">
            <a:avLst/>
          </a:prstGeom>
          <a:noFill/>
        </p:spPr>
      </p:pic>
      <p:sp>
        <p:nvSpPr>
          <p:cNvPr id="33" name="Rectangle 1">
            <a:extLst>
              <a:ext uri="{FF2B5EF4-FFF2-40B4-BE49-F238E27FC236}">
                <a16:creationId xmlns:a16="http://schemas.microsoft.com/office/drawing/2014/main" id="{3323B382-5F37-4B86-8AF5-F5B2BA408D0E}"/>
              </a:ext>
            </a:extLst>
          </p:cNvPr>
          <p:cNvSpPr>
            <a:spLocks noChangeArrowheads="1"/>
          </p:cNvSpPr>
          <p:nvPr/>
        </p:nvSpPr>
        <p:spPr bwMode="auto">
          <a:xfrm>
            <a:off x="55250" y="2994506"/>
            <a:ext cx="3220773"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hangingPunct="0">
              <a:buFont typeface="+mj-ea"/>
              <a:buAutoNum type="circleNumDbPlain" startAt="3"/>
            </a:pPr>
            <a:r>
              <a:rPr lang="zh-CN" altLang="en-US" b="1" dirty="0">
                <a:solidFill>
                  <a:srgbClr val="0070C0"/>
                </a:solidFill>
                <a:latin typeface="微软雅黑" panose="020B0503020204020204" pitchFamily="34" charset="-122"/>
                <a:ea typeface="微软雅黑" panose="020B0503020204020204" pitchFamily="34" charset="-122"/>
              </a:rPr>
              <a:t>二次函数转化为标准形式</a:t>
            </a:r>
            <a:endParaRPr lang="zh-CN" altLang="zh-CN" b="1" dirty="0">
              <a:solidFill>
                <a:srgbClr val="0070C0"/>
              </a:solidFill>
              <a:latin typeface="微软雅黑" panose="020B0503020204020204" pitchFamily="34" charset="-122"/>
              <a:ea typeface="微软雅黑" panose="020B0503020204020204" pitchFamily="34" charset="-122"/>
            </a:endParaRPr>
          </a:p>
        </p:txBody>
      </p:sp>
      <p:pic>
        <p:nvPicPr>
          <p:cNvPr id="38" name="图片 37">
            <a:extLst>
              <a:ext uri="{FF2B5EF4-FFF2-40B4-BE49-F238E27FC236}">
                <a16:creationId xmlns:a16="http://schemas.microsoft.com/office/drawing/2014/main" id="{BCD3182A-C5D0-4432-9FE9-48704728572F}"/>
              </a:ext>
            </a:extLst>
          </p:cNvPr>
          <p:cNvPicPr>
            <a:picLocks noChangeAspect="1"/>
          </p:cNvPicPr>
          <p:nvPr/>
        </p:nvPicPr>
        <p:blipFill rotWithShape="1">
          <a:blip r:embed="rId10"/>
          <a:srcRect l="12821" r="8393" b="17947"/>
          <a:stretch/>
        </p:blipFill>
        <p:spPr>
          <a:xfrm>
            <a:off x="7249846" y="2946693"/>
            <a:ext cx="1716899" cy="369332"/>
          </a:xfrm>
          <a:prstGeom prst="rect">
            <a:avLst/>
          </a:prstGeom>
        </p:spPr>
      </p:pic>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125EFA67-A7AF-4485-B28C-09066A8A9349}"/>
                  </a:ext>
                </a:extLst>
              </p:cNvPr>
              <p:cNvSpPr txBox="1"/>
              <p:nvPr/>
            </p:nvSpPr>
            <p:spPr>
              <a:xfrm>
                <a:off x="5703864" y="3289820"/>
                <a:ext cx="3091963" cy="530594"/>
              </a:xfrm>
              <a:prstGeom prst="rect">
                <a:avLst/>
              </a:prstGeom>
              <a:noFill/>
            </p:spPr>
            <p:txBody>
              <a:bodyPr wrap="square">
                <a:spAutoFit/>
              </a:bodyPr>
              <a:lstStyle/>
              <a:p>
                <a:r>
                  <a:rPr lang="zh-CN" altLang="en-US" sz="1600" b="1" i="0" dirty="0">
                    <a:solidFill>
                      <a:srgbClr val="FF0000"/>
                    </a:solidFill>
                    <a:effectLst/>
                    <a:latin typeface="Microsoft YaHei" panose="020B0503020204020204" pitchFamily="34" charset="-122"/>
                    <a:ea typeface="Microsoft YaHei" panose="020B0503020204020204" pitchFamily="34" charset="-122"/>
                  </a:rPr>
                  <a:t>则二次目标项</a:t>
                </a:r>
                <a:r>
                  <a:rPr lang="en-US" altLang="zh-CN" sz="1600" b="1" i="0" dirty="0">
                    <a:solidFill>
                      <a:srgbClr val="FF0000"/>
                    </a:solidFill>
                    <a:effectLst/>
                    <a:latin typeface="Microsoft YaHei" panose="020B0503020204020204" pitchFamily="34" charset="-122"/>
                    <a:ea typeface="Microsoft YaHei" panose="020B0503020204020204" pitchFamily="34" charset="-122"/>
                  </a:rPr>
                  <a:t>H=</a:t>
                </a:r>
                <a:r>
                  <a:rPr lang="en-US" altLang="zh-CN" sz="1600" dirty="0">
                    <a:solidFill>
                      <a:srgbClr val="FF0000"/>
                    </a:solidFill>
                    <a:ea typeface="微软雅黑" panose="020B0503020204020204" pitchFamily="34" charset="-122"/>
                  </a:rPr>
                  <a:t> </a:t>
                </a:r>
                <a14:m>
                  <m:oMath xmlns:m="http://schemas.openxmlformats.org/officeDocument/2006/math">
                    <m:d>
                      <m:dPr>
                        <m:begChr m:val="⌈"/>
                        <m:endChr m:val="⌉"/>
                        <m:ctrlPr>
                          <a:rPr lang="en-US" altLang="zh-CN" sz="1600" i="1" dirty="0">
                            <a:solidFill>
                              <a:srgbClr val="FF0000"/>
                            </a:solidFill>
                            <a:latin typeface="Cambria Math" panose="02040503050406030204" pitchFamily="18" charset="0"/>
                            <a:ea typeface="微软雅黑" panose="020B0503020204020204" pitchFamily="34" charset="-122"/>
                          </a:rPr>
                        </m:ctrlPr>
                      </m:dPr>
                      <m:e>
                        <m:m>
                          <m:mPr>
                            <m:mcs>
                              <m:mc>
                                <m:mcPr>
                                  <m:count m:val="2"/>
                                  <m:mcJc m:val="center"/>
                                </m:mcPr>
                              </m:mc>
                            </m:mcs>
                            <m:ctrlPr>
                              <a:rPr lang="en-US" altLang="zh-CN" sz="1600" i="1" dirty="0">
                                <a:solidFill>
                                  <a:srgbClr val="FF0000"/>
                                </a:solidFill>
                                <a:latin typeface="Cambria Math" panose="02040503050406030204" pitchFamily="18" charset="0"/>
                                <a:ea typeface="微软雅黑" panose="020B0503020204020204" pitchFamily="34" charset="-122"/>
                              </a:rPr>
                            </m:ctrlPr>
                          </m:mPr>
                          <m:mr>
                            <m:e>
                              <m:r>
                                <m:rPr>
                                  <m:brk m:alnAt="7"/>
                                </m:rPr>
                                <a:rPr lang="en-US" altLang="zh-CN" sz="1600" i="1" dirty="0">
                                  <a:solidFill>
                                    <a:srgbClr val="FF0000"/>
                                  </a:solidFill>
                                  <a:latin typeface="Cambria Math" panose="02040503050406030204" pitchFamily="18" charset="0"/>
                                  <a:ea typeface="微软雅黑" panose="020B0503020204020204" pitchFamily="34" charset="-122"/>
                                </a:rPr>
                                <m:t>𝑎</m:t>
                              </m:r>
                            </m:e>
                            <m:e>
                              <m:r>
                                <a:rPr lang="en-US" altLang="zh-CN" sz="1600" i="1" dirty="0">
                                  <a:solidFill>
                                    <a:srgbClr val="FF0000"/>
                                  </a:solidFill>
                                  <a:latin typeface="Cambria Math" panose="02040503050406030204" pitchFamily="18" charset="0"/>
                                  <a:ea typeface="微软雅黑" panose="020B0503020204020204" pitchFamily="34" charset="-122"/>
                                </a:rPr>
                                <m:t>𝑏</m:t>
                              </m:r>
                            </m:e>
                          </m:mr>
                          <m:mr>
                            <m:e>
                              <m:r>
                                <a:rPr lang="en-US" altLang="zh-CN" sz="1600" b="0" i="1" dirty="0" smtClean="0">
                                  <a:solidFill>
                                    <a:srgbClr val="FF0000"/>
                                  </a:solidFill>
                                  <a:latin typeface="Cambria Math" panose="02040503050406030204" pitchFamily="18" charset="0"/>
                                  <a:ea typeface="微软雅黑" panose="020B0503020204020204" pitchFamily="34" charset="-122"/>
                                </a:rPr>
                                <m:t>𝑏</m:t>
                              </m:r>
                            </m:e>
                            <m:e>
                              <m:r>
                                <a:rPr lang="en-US" altLang="zh-CN" sz="1600" b="0" i="1" dirty="0" smtClean="0">
                                  <a:solidFill>
                                    <a:srgbClr val="FF0000"/>
                                  </a:solidFill>
                                  <a:latin typeface="Cambria Math" panose="02040503050406030204" pitchFamily="18" charset="0"/>
                                  <a:ea typeface="微软雅黑" panose="020B0503020204020204" pitchFamily="34" charset="-122"/>
                                </a:rPr>
                                <m:t>𝑐</m:t>
                              </m:r>
                            </m:e>
                          </m:mr>
                        </m:m>
                      </m:e>
                    </m:d>
                  </m:oMath>
                </a14:m>
                <a:endParaRPr lang="zh-CN" altLang="en-US" sz="1600" dirty="0">
                  <a:solidFill>
                    <a:srgbClr val="FF0000"/>
                  </a:solidFill>
                </a:endParaRPr>
              </a:p>
            </p:txBody>
          </p:sp>
        </mc:Choice>
        <mc:Fallback xmlns="">
          <p:sp>
            <p:nvSpPr>
              <p:cNvPr id="40" name="文本框 39">
                <a:extLst>
                  <a:ext uri="{FF2B5EF4-FFF2-40B4-BE49-F238E27FC236}">
                    <a16:creationId xmlns:a16="http://schemas.microsoft.com/office/drawing/2014/main" id="{125EFA67-A7AF-4485-B28C-09066A8A9349}"/>
                  </a:ext>
                </a:extLst>
              </p:cNvPr>
              <p:cNvSpPr txBox="1">
                <a:spLocks noRot="1" noChangeAspect="1" noMove="1" noResize="1" noEditPoints="1" noAdjustHandles="1" noChangeArrowheads="1" noChangeShapeType="1" noTextEdit="1"/>
              </p:cNvSpPr>
              <p:nvPr/>
            </p:nvSpPr>
            <p:spPr>
              <a:xfrm>
                <a:off x="5703864" y="3289820"/>
                <a:ext cx="3091963" cy="530594"/>
              </a:xfrm>
              <a:prstGeom prst="rect">
                <a:avLst/>
              </a:prstGeom>
              <a:blipFill>
                <a:blip r:embed="rId11"/>
                <a:stretch>
                  <a:fillRect l="-1183" b="-229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CD9841C1-BB04-417A-B148-5D9CF3EF4123}"/>
                  </a:ext>
                </a:extLst>
              </p:cNvPr>
              <p:cNvSpPr txBox="1"/>
              <p:nvPr/>
            </p:nvSpPr>
            <p:spPr>
              <a:xfrm>
                <a:off x="199131" y="3422582"/>
                <a:ext cx="5587442" cy="69493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2200" b="0" i="1" smtClean="0">
                          <a:latin typeface="Cambria Math" panose="02040503050406030204" pitchFamily="18" charset="0"/>
                        </a:rPr>
                        <m:t>𝑎</m:t>
                      </m:r>
                      <m:sSubSup>
                        <m:sSubSupPr>
                          <m:ctrlPr>
                            <a:rPr lang="en-US" altLang="zh-CN" sz="2200" b="0" i="1" smtClean="0">
                              <a:latin typeface="Cambria Math" panose="02040503050406030204" pitchFamily="18" charset="0"/>
                            </a:rPr>
                          </m:ctrlPr>
                        </m:sSubSupPr>
                        <m:e>
                          <m:r>
                            <a:rPr lang="en-US" altLang="zh-CN" sz="2200" b="0" i="1" smtClean="0">
                              <a:latin typeface="Cambria Math" panose="02040503050406030204" pitchFamily="18" charset="0"/>
                            </a:rPr>
                            <m:t>𝑥</m:t>
                          </m:r>
                        </m:e>
                        <m:sub>
                          <m:r>
                            <a:rPr lang="en-US" altLang="zh-CN" sz="2200" b="0" i="1" smtClean="0">
                              <a:latin typeface="Cambria Math" panose="02040503050406030204" pitchFamily="18" charset="0"/>
                            </a:rPr>
                            <m:t>1</m:t>
                          </m:r>
                        </m:sub>
                        <m:sup>
                          <m:r>
                            <a:rPr lang="en-US" altLang="zh-CN" sz="2200" b="0" i="1" smtClean="0">
                              <a:latin typeface="Cambria Math" panose="02040503050406030204" pitchFamily="18" charset="0"/>
                            </a:rPr>
                            <m:t>2</m:t>
                          </m:r>
                        </m:sup>
                      </m:sSubSup>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𝑐</m:t>
                      </m:r>
                      <m:sSubSup>
                        <m:sSubSupPr>
                          <m:ctrlPr>
                            <a:rPr lang="en-US" altLang="zh-CN" sz="2200" i="1">
                              <a:latin typeface="Cambria Math" panose="02040503050406030204" pitchFamily="18" charset="0"/>
                            </a:rPr>
                          </m:ctrlPr>
                        </m:sSubSupPr>
                        <m:e>
                          <m:r>
                            <a:rPr lang="en-US" altLang="zh-CN" sz="2200" i="1">
                              <a:latin typeface="Cambria Math" panose="02040503050406030204" pitchFamily="18" charset="0"/>
                            </a:rPr>
                            <m:t>𝑥</m:t>
                          </m:r>
                        </m:e>
                        <m:sub>
                          <m:r>
                            <a:rPr lang="en-US" altLang="zh-CN" sz="2200" b="0" i="1" smtClean="0">
                              <a:latin typeface="Cambria Math" panose="02040503050406030204" pitchFamily="18" charset="0"/>
                            </a:rPr>
                            <m:t>2</m:t>
                          </m:r>
                        </m:sub>
                        <m:sup>
                          <m:r>
                            <a:rPr lang="en-US" altLang="zh-CN" sz="2200" i="1">
                              <a:latin typeface="Cambria Math" panose="02040503050406030204" pitchFamily="18" charset="0"/>
                            </a:rPr>
                            <m:t>2</m:t>
                          </m:r>
                        </m:sup>
                      </m:sSubSup>
                      <m:r>
                        <a:rPr lang="en-US" altLang="zh-CN" sz="2200" b="0" i="1" smtClean="0">
                          <a:latin typeface="Cambria Math" panose="02040503050406030204" pitchFamily="18" charset="0"/>
                        </a:rPr>
                        <m:t>+2</m:t>
                      </m:r>
                      <m:r>
                        <a:rPr lang="en-US" altLang="zh-CN" sz="2200" b="0" i="1" smtClean="0">
                          <a:latin typeface="Cambria Math" panose="02040503050406030204" pitchFamily="18" charset="0"/>
                        </a:rPr>
                        <m:t>𝑏</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𝑥</m:t>
                          </m:r>
                        </m:e>
                        <m:sub>
                          <m:r>
                            <a:rPr lang="en-US" altLang="zh-CN" sz="2200" b="0" i="1" smtClean="0">
                              <a:latin typeface="Cambria Math" panose="02040503050406030204" pitchFamily="18" charset="0"/>
                            </a:rPr>
                            <m:t>1</m:t>
                          </m:r>
                        </m:sub>
                      </m:sSub>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b="0" i="1" smtClean="0">
                              <a:latin typeface="Cambria Math" panose="02040503050406030204" pitchFamily="18" charset="0"/>
                            </a:rPr>
                            <m:t>2</m:t>
                          </m:r>
                        </m:sub>
                      </m:sSub>
                      <m:r>
                        <a:rPr lang="en-US" altLang="zh-CN" sz="2200" b="0" i="1" smtClean="0">
                          <a:latin typeface="Cambria Math" panose="02040503050406030204" pitchFamily="18" charset="0"/>
                        </a:rPr>
                        <m:t>=</m:t>
                      </m:r>
                      <m:d>
                        <m:dPr>
                          <m:begChr m:val="["/>
                          <m:endChr m:val="]"/>
                          <m:ctrlPr>
                            <a:rPr lang="en-US" altLang="zh-CN" sz="2200" i="1" dirty="0">
                              <a:solidFill>
                                <a:srgbClr val="00B0F0"/>
                              </a:solidFill>
                              <a:latin typeface="Cambria Math" panose="02040503050406030204" pitchFamily="18" charset="0"/>
                              <a:ea typeface="微软雅黑" panose="020B0503020204020204" pitchFamily="34" charset="-122"/>
                            </a:rPr>
                          </m:ctrlPr>
                        </m:dPr>
                        <m:e>
                          <m:sSub>
                            <m:sSubPr>
                              <m:ctrlPr>
                                <a:rPr lang="en-US" altLang="zh-CN" sz="2200" i="1" dirty="0">
                                  <a:solidFill>
                                    <a:srgbClr val="00B0F0"/>
                                  </a:solidFill>
                                  <a:latin typeface="Cambria Math" panose="02040503050406030204" pitchFamily="18" charset="0"/>
                                  <a:ea typeface="微软雅黑" panose="020B0503020204020204" pitchFamily="34" charset="-122"/>
                                </a:rPr>
                              </m:ctrlPr>
                            </m:sSubPr>
                            <m:e>
                              <m:r>
                                <a:rPr lang="en-US" altLang="zh-CN" sz="2200" i="1" dirty="0">
                                  <a:solidFill>
                                    <a:srgbClr val="00B0F0"/>
                                  </a:solidFill>
                                  <a:latin typeface="Cambria Math" panose="02040503050406030204" pitchFamily="18" charset="0"/>
                                  <a:ea typeface="微软雅黑" panose="020B0503020204020204" pitchFamily="34" charset="-122"/>
                                </a:rPr>
                                <m:t>𝑥</m:t>
                              </m:r>
                            </m:e>
                            <m:sub>
                              <m:r>
                                <a:rPr lang="en-US" altLang="zh-CN" sz="2200" i="1" dirty="0">
                                  <a:solidFill>
                                    <a:srgbClr val="00B0F0"/>
                                  </a:solidFill>
                                  <a:latin typeface="Cambria Math" panose="02040503050406030204" pitchFamily="18" charset="0"/>
                                  <a:ea typeface="微软雅黑" panose="020B0503020204020204" pitchFamily="34" charset="-122"/>
                                </a:rPr>
                                <m:t>1</m:t>
                              </m:r>
                            </m:sub>
                          </m:sSub>
                          <m:r>
                            <a:rPr lang="en-US" altLang="zh-CN" sz="2200" i="1" dirty="0">
                              <a:solidFill>
                                <a:srgbClr val="00B0F0"/>
                              </a:solidFill>
                              <a:latin typeface="Cambria Math" panose="02040503050406030204" pitchFamily="18" charset="0"/>
                              <a:ea typeface="微软雅黑" panose="020B0503020204020204" pitchFamily="34" charset="-122"/>
                            </a:rPr>
                            <m:t>,</m:t>
                          </m:r>
                          <m:sSub>
                            <m:sSubPr>
                              <m:ctrlPr>
                                <a:rPr lang="en-US" altLang="zh-CN" sz="2200" i="1" dirty="0">
                                  <a:solidFill>
                                    <a:srgbClr val="00B0F0"/>
                                  </a:solidFill>
                                  <a:latin typeface="Cambria Math" panose="02040503050406030204" pitchFamily="18" charset="0"/>
                                  <a:ea typeface="微软雅黑" panose="020B0503020204020204" pitchFamily="34" charset="-122"/>
                                </a:rPr>
                              </m:ctrlPr>
                            </m:sSubPr>
                            <m:e>
                              <m:r>
                                <a:rPr lang="en-US" altLang="zh-CN" sz="2200" i="1" dirty="0">
                                  <a:solidFill>
                                    <a:srgbClr val="00B0F0"/>
                                  </a:solidFill>
                                  <a:latin typeface="Cambria Math" panose="02040503050406030204" pitchFamily="18" charset="0"/>
                                  <a:ea typeface="微软雅黑" panose="020B0503020204020204" pitchFamily="34" charset="-122"/>
                                </a:rPr>
                                <m:t>𝑥</m:t>
                              </m:r>
                            </m:e>
                            <m:sub>
                              <m:r>
                                <a:rPr lang="en-US" altLang="zh-CN" sz="2200" i="1" dirty="0">
                                  <a:solidFill>
                                    <a:srgbClr val="00B0F0"/>
                                  </a:solidFill>
                                  <a:latin typeface="Cambria Math" panose="02040503050406030204" pitchFamily="18" charset="0"/>
                                  <a:ea typeface="微软雅黑" panose="020B0503020204020204" pitchFamily="34" charset="-122"/>
                                </a:rPr>
                                <m:t>2</m:t>
                              </m:r>
                            </m:sub>
                          </m:sSub>
                          <m:r>
                            <a:rPr lang="en-US" altLang="zh-CN" sz="2200" i="1" dirty="0">
                              <a:solidFill>
                                <a:srgbClr val="00B0F0"/>
                              </a:solidFill>
                              <a:latin typeface="Cambria Math" panose="02040503050406030204" pitchFamily="18" charset="0"/>
                              <a:ea typeface="微软雅黑" panose="020B0503020204020204" pitchFamily="34" charset="-122"/>
                            </a:rPr>
                            <m:t> </m:t>
                          </m:r>
                        </m:e>
                      </m:d>
                      <m:d>
                        <m:dPr>
                          <m:begChr m:val="⌈"/>
                          <m:endChr m:val="⌉"/>
                          <m:ctrlPr>
                            <a:rPr lang="en-US" altLang="zh-CN" sz="2200" i="1" dirty="0">
                              <a:solidFill>
                                <a:srgbClr val="00B0F0"/>
                              </a:solidFill>
                              <a:latin typeface="Cambria Math" panose="02040503050406030204" pitchFamily="18" charset="0"/>
                              <a:ea typeface="微软雅黑" panose="020B0503020204020204" pitchFamily="34" charset="-122"/>
                            </a:rPr>
                          </m:ctrlPr>
                        </m:dPr>
                        <m:e>
                          <m:m>
                            <m:mPr>
                              <m:mcs>
                                <m:mc>
                                  <m:mcPr>
                                    <m:count m:val="2"/>
                                    <m:mcJc m:val="center"/>
                                  </m:mcPr>
                                </m:mc>
                              </m:mcs>
                              <m:ctrlPr>
                                <a:rPr lang="en-US" altLang="zh-CN" sz="2200" i="1" dirty="0">
                                  <a:solidFill>
                                    <a:srgbClr val="00B0F0"/>
                                  </a:solidFill>
                                  <a:latin typeface="Cambria Math" panose="02040503050406030204" pitchFamily="18" charset="0"/>
                                  <a:ea typeface="微软雅黑" panose="020B0503020204020204" pitchFamily="34" charset="-122"/>
                                </a:rPr>
                              </m:ctrlPr>
                            </m:mPr>
                            <m:mr>
                              <m:e>
                                <m:r>
                                  <m:rPr>
                                    <m:brk m:alnAt="7"/>
                                  </m:rPr>
                                  <a:rPr lang="en-US" altLang="zh-CN" sz="2200" i="1" dirty="0">
                                    <a:solidFill>
                                      <a:srgbClr val="00B0F0"/>
                                    </a:solidFill>
                                    <a:latin typeface="Cambria Math" panose="02040503050406030204" pitchFamily="18" charset="0"/>
                                    <a:ea typeface="微软雅黑" panose="020B0503020204020204" pitchFamily="34" charset="-122"/>
                                  </a:rPr>
                                  <m:t>𝑎</m:t>
                                </m:r>
                              </m:e>
                              <m:e>
                                <m:r>
                                  <a:rPr lang="en-US" altLang="zh-CN" sz="2200" i="1" dirty="0">
                                    <a:solidFill>
                                      <a:srgbClr val="00B0F0"/>
                                    </a:solidFill>
                                    <a:latin typeface="Cambria Math" panose="02040503050406030204" pitchFamily="18" charset="0"/>
                                    <a:ea typeface="微软雅黑" panose="020B0503020204020204" pitchFamily="34" charset="-122"/>
                                  </a:rPr>
                                  <m:t>𝑏</m:t>
                                </m:r>
                              </m:e>
                            </m:mr>
                            <m:mr>
                              <m:e>
                                <m:r>
                                  <a:rPr lang="en-US" altLang="zh-CN" sz="2200" b="0" i="1" dirty="0" smtClean="0">
                                    <a:solidFill>
                                      <a:srgbClr val="00B0F0"/>
                                    </a:solidFill>
                                    <a:latin typeface="Cambria Math" panose="02040503050406030204" pitchFamily="18" charset="0"/>
                                    <a:ea typeface="微软雅黑" panose="020B0503020204020204" pitchFamily="34" charset="-122"/>
                                  </a:rPr>
                                  <m:t>𝑏</m:t>
                                </m:r>
                              </m:e>
                              <m:e>
                                <m:r>
                                  <a:rPr lang="en-US" altLang="zh-CN" sz="2200" b="0" i="1" dirty="0" smtClean="0">
                                    <a:solidFill>
                                      <a:srgbClr val="00B0F0"/>
                                    </a:solidFill>
                                    <a:latin typeface="Cambria Math" panose="02040503050406030204" pitchFamily="18" charset="0"/>
                                    <a:ea typeface="微软雅黑" panose="020B0503020204020204" pitchFamily="34" charset="-122"/>
                                  </a:rPr>
                                  <m:t>𝑐</m:t>
                                </m:r>
                              </m:e>
                            </m:mr>
                          </m:m>
                        </m:e>
                      </m:d>
                      <m:d>
                        <m:dPr>
                          <m:begChr m:val="⌈"/>
                          <m:endChr m:val="⌉"/>
                          <m:ctrlPr>
                            <a:rPr lang="en-US" altLang="zh-CN" sz="2200" i="1" dirty="0">
                              <a:solidFill>
                                <a:srgbClr val="00B0F0"/>
                              </a:solidFill>
                              <a:latin typeface="Cambria Math" panose="02040503050406030204" pitchFamily="18" charset="0"/>
                              <a:ea typeface="微软雅黑" panose="020B0503020204020204" pitchFamily="34" charset="-122"/>
                            </a:rPr>
                          </m:ctrlPr>
                        </m:dPr>
                        <m:e>
                          <m:m>
                            <m:mPr>
                              <m:mcs>
                                <m:mc>
                                  <m:mcPr>
                                    <m:count m:val="1"/>
                                    <m:mcJc m:val="center"/>
                                  </m:mcPr>
                                </m:mc>
                              </m:mcs>
                              <m:ctrlPr>
                                <a:rPr lang="en-US" altLang="zh-CN" sz="2200" i="1" dirty="0">
                                  <a:solidFill>
                                    <a:srgbClr val="00B0F0"/>
                                  </a:solidFill>
                                  <a:latin typeface="Cambria Math" panose="02040503050406030204" pitchFamily="18" charset="0"/>
                                  <a:ea typeface="微软雅黑" panose="020B0503020204020204" pitchFamily="34" charset="-122"/>
                                </a:rPr>
                              </m:ctrlPr>
                            </m:mPr>
                            <m:mr>
                              <m:e>
                                <m:sSub>
                                  <m:sSubPr>
                                    <m:ctrlPr>
                                      <a:rPr lang="en-US" altLang="zh-CN" sz="2200" i="1" dirty="0">
                                        <a:solidFill>
                                          <a:srgbClr val="00B0F0"/>
                                        </a:solidFill>
                                        <a:latin typeface="Cambria Math" panose="02040503050406030204" pitchFamily="18" charset="0"/>
                                        <a:ea typeface="微软雅黑" panose="020B0503020204020204" pitchFamily="34" charset="-122"/>
                                      </a:rPr>
                                    </m:ctrlPr>
                                  </m:sSubPr>
                                  <m:e>
                                    <m:r>
                                      <a:rPr lang="en-US" altLang="zh-CN" sz="2200" i="1" dirty="0">
                                        <a:solidFill>
                                          <a:srgbClr val="00B0F0"/>
                                        </a:solidFill>
                                        <a:latin typeface="Cambria Math" panose="02040503050406030204" pitchFamily="18" charset="0"/>
                                        <a:ea typeface="微软雅黑" panose="020B0503020204020204" pitchFamily="34" charset="-122"/>
                                      </a:rPr>
                                      <m:t>𝑥</m:t>
                                    </m:r>
                                  </m:e>
                                  <m:sub>
                                    <m:r>
                                      <a:rPr lang="en-US" altLang="zh-CN" sz="2200" i="1" dirty="0">
                                        <a:solidFill>
                                          <a:srgbClr val="00B0F0"/>
                                        </a:solidFill>
                                        <a:latin typeface="Cambria Math" panose="02040503050406030204" pitchFamily="18" charset="0"/>
                                        <a:ea typeface="微软雅黑" panose="020B0503020204020204" pitchFamily="34" charset="-122"/>
                                      </a:rPr>
                                      <m:t>1</m:t>
                                    </m:r>
                                  </m:sub>
                                </m:sSub>
                              </m:e>
                            </m:mr>
                            <m:mr>
                              <m:e>
                                <m:sSub>
                                  <m:sSubPr>
                                    <m:ctrlPr>
                                      <a:rPr lang="en-US" altLang="zh-CN" sz="2200" i="1" dirty="0">
                                        <a:solidFill>
                                          <a:srgbClr val="00B0F0"/>
                                        </a:solidFill>
                                        <a:latin typeface="Cambria Math" panose="02040503050406030204" pitchFamily="18" charset="0"/>
                                        <a:ea typeface="微软雅黑" panose="020B0503020204020204" pitchFamily="34" charset="-122"/>
                                      </a:rPr>
                                    </m:ctrlPr>
                                  </m:sSubPr>
                                  <m:e>
                                    <m:r>
                                      <a:rPr lang="en-US" altLang="zh-CN" sz="2200" i="1" dirty="0">
                                        <a:solidFill>
                                          <a:srgbClr val="00B0F0"/>
                                        </a:solidFill>
                                        <a:latin typeface="Cambria Math" panose="02040503050406030204" pitchFamily="18" charset="0"/>
                                        <a:ea typeface="微软雅黑" panose="020B0503020204020204" pitchFamily="34" charset="-122"/>
                                      </a:rPr>
                                      <m:t>𝑥</m:t>
                                    </m:r>
                                  </m:e>
                                  <m:sub>
                                    <m:r>
                                      <a:rPr lang="en-US" altLang="zh-CN" sz="2200" i="1" dirty="0">
                                        <a:solidFill>
                                          <a:srgbClr val="00B0F0"/>
                                        </a:solidFill>
                                        <a:latin typeface="Cambria Math" panose="02040503050406030204" pitchFamily="18" charset="0"/>
                                        <a:ea typeface="微软雅黑" panose="020B0503020204020204" pitchFamily="34" charset="-122"/>
                                      </a:rPr>
                                      <m:t>2</m:t>
                                    </m:r>
                                  </m:sub>
                                </m:sSub>
                              </m:e>
                            </m:mr>
                          </m:m>
                        </m:e>
                      </m:d>
                    </m:oMath>
                  </m:oMathPara>
                </a14:m>
                <a:endParaRPr lang="zh-CN" altLang="en-US" sz="2200" dirty="0"/>
              </a:p>
            </p:txBody>
          </p:sp>
        </mc:Choice>
        <mc:Fallback xmlns="">
          <p:sp>
            <p:nvSpPr>
              <p:cNvPr id="47" name="文本框 46">
                <a:extLst>
                  <a:ext uri="{FF2B5EF4-FFF2-40B4-BE49-F238E27FC236}">
                    <a16:creationId xmlns:a16="http://schemas.microsoft.com/office/drawing/2014/main" id="{CD9841C1-BB04-417A-B148-5D9CF3EF4123}"/>
                  </a:ext>
                </a:extLst>
              </p:cNvPr>
              <p:cNvSpPr txBox="1">
                <a:spLocks noRot="1" noChangeAspect="1" noMove="1" noResize="1" noEditPoints="1" noAdjustHandles="1" noChangeArrowheads="1" noChangeShapeType="1" noTextEdit="1"/>
              </p:cNvSpPr>
              <p:nvPr/>
            </p:nvSpPr>
            <p:spPr>
              <a:xfrm>
                <a:off x="199131" y="3422582"/>
                <a:ext cx="5587442" cy="694934"/>
              </a:xfrm>
              <a:prstGeom prst="rect">
                <a:avLst/>
              </a:prstGeom>
              <a:blipFill>
                <a:blip r:embed="rId12"/>
                <a:stretch>
                  <a:fillRect/>
                </a:stretch>
              </a:blipFill>
            </p:spPr>
            <p:txBody>
              <a:bodyPr/>
              <a:lstStyle/>
              <a:p>
                <a:r>
                  <a:rPr lang="zh-CN" altLang="en-US">
                    <a:noFill/>
                  </a:rPr>
                  <a:t> </a:t>
                </a:r>
              </a:p>
            </p:txBody>
          </p:sp>
        </mc:Fallback>
      </mc:AlternateContent>
      <p:sp>
        <p:nvSpPr>
          <p:cNvPr id="49" name="文本框 48">
            <a:extLst>
              <a:ext uri="{FF2B5EF4-FFF2-40B4-BE49-F238E27FC236}">
                <a16:creationId xmlns:a16="http://schemas.microsoft.com/office/drawing/2014/main" id="{E9A59B72-AA48-492A-9CD2-D830695953E5}"/>
              </a:ext>
            </a:extLst>
          </p:cNvPr>
          <p:cNvSpPr txBox="1"/>
          <p:nvPr/>
        </p:nvSpPr>
        <p:spPr>
          <a:xfrm>
            <a:off x="5703864" y="3835219"/>
            <a:ext cx="2199245" cy="338554"/>
          </a:xfrm>
          <a:prstGeom prst="rect">
            <a:avLst/>
          </a:prstGeom>
          <a:noFill/>
        </p:spPr>
        <p:txBody>
          <a:bodyPr wrap="square">
            <a:spAutoFit/>
          </a:bodyPr>
          <a:lstStyle/>
          <a:p>
            <a:r>
              <a:rPr lang="zh-CN" altLang="en-US" sz="1600" b="1" dirty="0">
                <a:solidFill>
                  <a:srgbClr val="FF0000"/>
                </a:solidFill>
                <a:latin typeface="Microsoft YaHei" panose="020B0503020204020204" pitchFamily="34" charset="-122"/>
                <a:ea typeface="Microsoft YaHei" panose="020B0503020204020204" pitchFamily="34" charset="-122"/>
              </a:rPr>
              <a:t>线性目标项</a:t>
            </a:r>
            <a:r>
              <a:rPr lang="en-US" altLang="zh-CN" sz="1600" b="1" dirty="0">
                <a:solidFill>
                  <a:srgbClr val="FF0000"/>
                </a:solidFill>
                <a:latin typeface="Microsoft YaHei" panose="020B0503020204020204" pitchFamily="34" charset="-122"/>
                <a:ea typeface="Microsoft YaHei" panose="020B0503020204020204" pitchFamily="34" charset="-122"/>
              </a:rPr>
              <a:t>f=[</a:t>
            </a:r>
            <a:r>
              <a:rPr lang="en-US" altLang="zh-CN" sz="1600" b="1" dirty="0" err="1">
                <a:solidFill>
                  <a:srgbClr val="FF0000"/>
                </a:solidFill>
                <a:latin typeface="Microsoft YaHei" panose="020B0503020204020204" pitchFamily="34" charset="-122"/>
                <a:ea typeface="Microsoft YaHei" panose="020B0503020204020204" pitchFamily="34" charset="-122"/>
              </a:rPr>
              <a:t>d;e</a:t>
            </a:r>
            <a:r>
              <a:rPr lang="en-US" altLang="zh-CN" sz="1600" b="1" dirty="0">
                <a:solidFill>
                  <a:srgbClr val="FF0000"/>
                </a:solidFill>
                <a:latin typeface="Microsoft YaHei" panose="020B0503020204020204" pitchFamily="34" charset="-122"/>
                <a:ea typeface="Microsoft YaHei" panose="020B0503020204020204" pitchFamily="34" charset="-122"/>
              </a:rPr>
              <a:t>]</a:t>
            </a:r>
            <a:endParaRPr lang="zh-CN" altLang="en-US" sz="1600" dirty="0">
              <a:solidFill>
                <a:srgbClr val="FF0000"/>
              </a:solidFill>
            </a:endParaRPr>
          </a:p>
        </p:txBody>
      </p:sp>
      <p:sp>
        <p:nvSpPr>
          <p:cNvPr id="51" name="文本框 50">
            <a:extLst>
              <a:ext uri="{FF2B5EF4-FFF2-40B4-BE49-F238E27FC236}">
                <a16:creationId xmlns:a16="http://schemas.microsoft.com/office/drawing/2014/main" id="{7DF5ACB6-155B-409B-96F6-6A621AE26CA4}"/>
              </a:ext>
            </a:extLst>
          </p:cNvPr>
          <p:cNvSpPr txBox="1"/>
          <p:nvPr/>
        </p:nvSpPr>
        <p:spPr>
          <a:xfrm>
            <a:off x="4878252" y="4191852"/>
            <a:ext cx="4076849"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H = [1 -1; -1 2];  f = [-2; -6];</a:t>
            </a:r>
            <a:endParaRPr kumimoji="0" lang="en-US" altLang="zh-CN" sz="1800" b="0" i="0" u="none" strike="noStrike" cap="none" normalizeH="0" baseline="0" dirty="0">
              <a:ln>
                <a:noFill/>
              </a:ln>
              <a:solidFill>
                <a:schemeClr val="tx1"/>
              </a:solidFill>
              <a:effectLst/>
            </a:endParaRPr>
          </a:p>
        </p:txBody>
      </p:sp>
      <p:sp>
        <p:nvSpPr>
          <p:cNvPr id="53" name="文本框 52">
            <a:extLst>
              <a:ext uri="{FF2B5EF4-FFF2-40B4-BE49-F238E27FC236}">
                <a16:creationId xmlns:a16="http://schemas.microsoft.com/office/drawing/2014/main" id="{26AC37B9-92B6-4E89-BA52-A42E878D5863}"/>
              </a:ext>
            </a:extLst>
          </p:cNvPr>
          <p:cNvSpPr txBox="1"/>
          <p:nvPr/>
        </p:nvSpPr>
        <p:spPr>
          <a:xfrm>
            <a:off x="126718" y="4166198"/>
            <a:ext cx="385624" cy="369332"/>
          </a:xfrm>
          <a:prstGeom prst="rect">
            <a:avLst/>
          </a:prstGeom>
          <a:noFill/>
        </p:spPr>
        <p:txBody>
          <a:bodyPr wrap="square">
            <a:spAutoFit/>
          </a:bodyPr>
          <a:lstStyle/>
          <a:p>
            <a:r>
              <a:rPr lang="zh-CN" altLang="en-US" b="1" dirty="0">
                <a:solidFill>
                  <a:srgbClr val="0070C0"/>
                </a:solidFill>
                <a:latin typeface="微软雅黑" panose="020B0503020204020204" pitchFamily="34" charset="-122"/>
                <a:ea typeface="微软雅黑" panose="020B0503020204020204" pitchFamily="34" charset="-122"/>
              </a:rPr>
              <a:t>例</a:t>
            </a:r>
            <a:endParaRPr lang="zh-CN" altLang="en-US" dirty="0"/>
          </a:p>
        </p:txBody>
      </p:sp>
      <p:sp>
        <p:nvSpPr>
          <p:cNvPr id="24" name="Rectangle 1">
            <a:extLst>
              <a:ext uri="{FF2B5EF4-FFF2-40B4-BE49-F238E27FC236}">
                <a16:creationId xmlns:a16="http://schemas.microsoft.com/office/drawing/2014/main" id="{C950C6A0-BB40-4F3D-9140-4B6DC592C906}"/>
              </a:ext>
            </a:extLst>
          </p:cNvPr>
          <p:cNvSpPr>
            <a:spLocks noChangeArrowheads="1"/>
          </p:cNvSpPr>
          <p:nvPr/>
        </p:nvSpPr>
        <p:spPr bwMode="auto">
          <a:xfrm>
            <a:off x="126717" y="1590255"/>
            <a:ext cx="2733753" cy="338554"/>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hangingPunct="0"/>
            <a:r>
              <a:rPr lang="zh-CN" altLang="en-US" sz="1600" b="1" dirty="0">
                <a:solidFill>
                  <a:srgbClr val="0070C0"/>
                </a:solidFill>
                <a:latin typeface="微软雅黑" panose="020B0503020204020204" pitchFamily="34" charset="-122"/>
                <a:ea typeface="微软雅黑" panose="020B0503020204020204" pitchFamily="34" charset="-122"/>
              </a:rPr>
              <a:t>   求最小值的二次目标函数</a:t>
            </a:r>
            <a:endParaRPr lang="zh-CN" altLang="zh-CN" sz="1600" b="1" dirty="0">
              <a:solidFill>
                <a:srgbClr val="0070C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A45205A1-14B6-4A9F-B4AE-90E001996FDB}"/>
                  </a:ext>
                </a:extLst>
              </p:cNvPr>
              <p:cNvSpPr txBox="1"/>
              <p:nvPr/>
            </p:nvSpPr>
            <p:spPr>
              <a:xfrm>
                <a:off x="2726637" y="1543589"/>
                <a:ext cx="3727511" cy="341888"/>
              </a:xfrm>
              <a:prstGeom prst="rect">
                <a:avLst/>
              </a:prstGeom>
              <a:noFill/>
            </p:spPr>
            <p:txBody>
              <a:bodyPr wrap="square">
                <a:spAutoFit/>
              </a:bodyPr>
              <a:lstStyle/>
              <a:p>
                <a:r>
                  <a:rPr lang="en-US" altLang="zh-CN" sz="1600" dirty="0"/>
                  <a:t>F</a:t>
                </a:r>
                <a:r>
                  <a:rPr lang="en-US" altLang="zh-CN" sz="1600" b="0" dirty="0"/>
                  <a:t>(x)=</a:t>
                </a:r>
                <a14:m>
                  <m:oMath xmlns:m="http://schemas.openxmlformats.org/officeDocument/2006/math">
                    <m:r>
                      <a:rPr lang="en-US" altLang="zh-CN" sz="1600" b="0" i="1" smtClean="0">
                        <a:latin typeface="Cambria Math" panose="02040503050406030204" pitchFamily="18" charset="0"/>
                      </a:rPr>
                      <m:t>𝑎</m:t>
                    </m:r>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1</m:t>
                        </m:r>
                      </m:sub>
                      <m:sup>
                        <m:r>
                          <a:rPr lang="en-US" altLang="zh-CN" sz="1600" b="0" i="1" smtClean="0">
                            <a:latin typeface="Cambria Math" panose="02040503050406030204" pitchFamily="18" charset="0"/>
                          </a:rPr>
                          <m:t>2</m:t>
                        </m:r>
                      </m:sup>
                    </m:sSubSup>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𝑐</m:t>
                    </m:r>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𝑥</m:t>
                        </m:r>
                      </m:e>
                      <m:sub>
                        <m:r>
                          <a:rPr lang="en-US" altLang="zh-CN" sz="1600" b="0" i="1" smtClean="0">
                            <a:latin typeface="Cambria Math" panose="02040503050406030204" pitchFamily="18" charset="0"/>
                          </a:rPr>
                          <m:t>2</m:t>
                        </m:r>
                      </m:sub>
                      <m:sup>
                        <m:r>
                          <a:rPr lang="en-US" altLang="zh-CN" sz="1600" i="1">
                            <a:latin typeface="Cambria Math" panose="02040503050406030204" pitchFamily="18" charset="0"/>
                          </a:rPr>
                          <m:t>2</m:t>
                        </m:r>
                      </m:sup>
                    </m:sSubSup>
                    <m:r>
                      <a:rPr lang="en-US" altLang="zh-CN" sz="1600" b="0" i="1" smtClean="0">
                        <a:latin typeface="Cambria Math" panose="02040503050406030204" pitchFamily="18" charset="0"/>
                      </a:rPr>
                      <m:t>+2</m:t>
                    </m:r>
                    <m:r>
                      <a:rPr lang="en-US" altLang="zh-CN" sz="1600" b="0" i="1" smtClean="0">
                        <a:latin typeface="Cambria Math" panose="02040503050406030204" pitchFamily="18" charset="0"/>
                      </a:rPr>
                      <m:t>𝑏</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1</m:t>
                        </m:r>
                      </m:sub>
                    </m:sSub>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b="0" i="1" smtClean="0">
                            <a:latin typeface="Cambria Math" panose="02040503050406030204" pitchFamily="18" charset="0"/>
                          </a:rPr>
                          <m:t>2</m:t>
                        </m:r>
                      </m:sub>
                    </m:sSub>
                    <m:r>
                      <a:rPr lang="en-US" altLang="zh-CN" sz="1600" b="0" i="0" smtClean="0">
                        <a:latin typeface="Cambria Math" panose="02040503050406030204" pitchFamily="18" charset="0"/>
                      </a:rPr>
                      <m:t>+</m:t>
                    </m:r>
                    <m:r>
                      <a:rPr lang="en-US" altLang="zh-CN" sz="1600" b="0" i="1" smtClean="0">
                        <a:latin typeface="Cambria Math" panose="02040503050406030204" pitchFamily="18" charset="0"/>
                      </a:rPr>
                      <m:t>𝑑</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i="1">
                            <a:latin typeface="Cambria Math" panose="02040503050406030204" pitchFamily="18" charset="0"/>
                          </a:rPr>
                          <m:t>1</m:t>
                        </m:r>
                      </m:sub>
                    </m:sSub>
                    <m:r>
                      <a:rPr lang="en-US" altLang="zh-CN" sz="1600" b="0" i="0" smtClean="0">
                        <a:latin typeface="Cambria Math" panose="02040503050406030204" pitchFamily="18" charset="0"/>
                      </a:rPr>
                      <m:t>+</m:t>
                    </m:r>
                    <m:r>
                      <a:rPr lang="en-US" altLang="zh-CN" sz="1600" b="0" i="1" smtClean="0">
                        <a:latin typeface="Cambria Math" panose="02040503050406030204" pitchFamily="18" charset="0"/>
                      </a:rPr>
                      <m:t>𝑒</m:t>
                    </m:r>
                  </m:oMath>
                </a14:m>
                <a:r>
                  <a:rPr lang="en-US" altLang="zh-CN" sz="1600" dirty="0"/>
                  <a:t>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i="1">
                            <a:latin typeface="Cambria Math" panose="02040503050406030204" pitchFamily="18" charset="0"/>
                          </a:rPr>
                          <m:t>2</m:t>
                        </m:r>
                      </m:sub>
                    </m:sSub>
                  </m:oMath>
                </a14:m>
                <a:endParaRPr lang="zh-CN" altLang="en-US" sz="1600" dirty="0"/>
              </a:p>
            </p:txBody>
          </p:sp>
        </mc:Choice>
        <mc:Fallback xmlns="">
          <p:sp>
            <p:nvSpPr>
              <p:cNvPr id="30" name="文本框 29">
                <a:extLst>
                  <a:ext uri="{FF2B5EF4-FFF2-40B4-BE49-F238E27FC236}">
                    <a16:creationId xmlns:a16="http://schemas.microsoft.com/office/drawing/2014/main" id="{A45205A1-14B6-4A9F-B4AE-90E001996FDB}"/>
                  </a:ext>
                </a:extLst>
              </p:cNvPr>
              <p:cNvSpPr txBox="1">
                <a:spLocks noRot="1" noChangeAspect="1" noMove="1" noResize="1" noEditPoints="1" noAdjustHandles="1" noChangeArrowheads="1" noChangeShapeType="1" noTextEdit="1"/>
              </p:cNvSpPr>
              <p:nvPr/>
            </p:nvSpPr>
            <p:spPr>
              <a:xfrm>
                <a:off x="2726637" y="1543589"/>
                <a:ext cx="3727511" cy="341888"/>
              </a:xfrm>
              <a:prstGeom prst="rect">
                <a:avLst/>
              </a:prstGeom>
              <a:blipFill>
                <a:blip r:embed="rId13"/>
                <a:stretch>
                  <a:fillRect l="-817" t="-3571" b="-23214"/>
                </a:stretch>
              </a:blipFill>
            </p:spPr>
            <p:txBody>
              <a:bodyPr/>
              <a:lstStyle/>
              <a:p>
                <a:r>
                  <a:rPr lang="zh-CN" altLang="en-US">
                    <a:noFill/>
                  </a:rPr>
                  <a:t> </a:t>
                </a:r>
              </a:p>
            </p:txBody>
          </p:sp>
        </mc:Fallback>
      </mc:AlternateContent>
      <p:sp>
        <p:nvSpPr>
          <p:cNvPr id="2" name="矩形: 圆角 1">
            <a:extLst>
              <a:ext uri="{FF2B5EF4-FFF2-40B4-BE49-F238E27FC236}">
                <a16:creationId xmlns:a16="http://schemas.microsoft.com/office/drawing/2014/main" id="{F3614FA6-A086-44E7-A37B-F2A75E34F10F}"/>
              </a:ext>
            </a:extLst>
          </p:cNvPr>
          <p:cNvSpPr/>
          <p:nvPr/>
        </p:nvSpPr>
        <p:spPr bwMode="auto">
          <a:xfrm>
            <a:off x="5289969" y="1583600"/>
            <a:ext cx="1020163" cy="294860"/>
          </a:xfrm>
          <a:prstGeom prst="roundRect">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32" name="矩形: 圆角 31">
            <a:extLst>
              <a:ext uri="{FF2B5EF4-FFF2-40B4-BE49-F238E27FC236}">
                <a16:creationId xmlns:a16="http://schemas.microsoft.com/office/drawing/2014/main" id="{B9B4B160-E0E8-41D0-8F8F-95164CA11BA8}"/>
              </a:ext>
            </a:extLst>
          </p:cNvPr>
          <p:cNvSpPr/>
          <p:nvPr/>
        </p:nvSpPr>
        <p:spPr bwMode="auto">
          <a:xfrm>
            <a:off x="3277860" y="1582025"/>
            <a:ext cx="1808136" cy="311470"/>
          </a:xfrm>
          <a:prstGeom prst="roundRect">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7" name="标注: 线形 6">
            <a:extLst>
              <a:ext uri="{FF2B5EF4-FFF2-40B4-BE49-F238E27FC236}">
                <a16:creationId xmlns:a16="http://schemas.microsoft.com/office/drawing/2014/main" id="{C549491F-0A6F-4BB2-B973-B09F54E52B1A}"/>
              </a:ext>
            </a:extLst>
          </p:cNvPr>
          <p:cNvSpPr/>
          <p:nvPr/>
        </p:nvSpPr>
        <p:spPr bwMode="auto">
          <a:xfrm>
            <a:off x="4347271" y="2614458"/>
            <a:ext cx="1321862" cy="307777"/>
          </a:xfrm>
          <a:prstGeom prst="borderCallout1">
            <a:avLst>
              <a:gd name="adj1" fmla="val -9423"/>
              <a:gd name="adj2" fmla="val 37381"/>
              <a:gd name="adj3" fmla="val -108865"/>
              <a:gd name="adj4" fmla="val 35764"/>
            </a:avLst>
          </a:prstGeom>
          <a:noFill/>
          <a:ln>
            <a:solidFill>
              <a:srgbClr val="FF0000"/>
            </a:solidFill>
          </a:ln>
        </p:spPr>
        <p:txBody>
          <a:bodyPr wrap="square">
            <a:spAutoFit/>
          </a:bodyPr>
          <a:lstStyle/>
          <a:p>
            <a:r>
              <a:rPr lang="en-US" altLang="zh-CN" sz="1400" b="1" dirty="0">
                <a:solidFill>
                  <a:srgbClr val="FF0000"/>
                </a:solidFill>
                <a:latin typeface="Microsoft YaHei" panose="020B0503020204020204" pitchFamily="34" charset="-122"/>
                <a:ea typeface="Microsoft YaHei" panose="020B0503020204020204" pitchFamily="34" charset="-122"/>
              </a:rPr>
              <a:t>f:</a:t>
            </a:r>
            <a:r>
              <a:rPr lang="zh-CN" altLang="en-US" sz="1400" b="1" dirty="0">
                <a:solidFill>
                  <a:srgbClr val="FF0000"/>
                </a:solidFill>
                <a:latin typeface="Microsoft YaHei" panose="020B0503020204020204" pitchFamily="34" charset="-122"/>
                <a:ea typeface="Microsoft YaHei" panose="020B0503020204020204" pitchFamily="34" charset="-122"/>
              </a:rPr>
              <a:t>线性目标项</a:t>
            </a:r>
          </a:p>
        </p:txBody>
      </p:sp>
      <p:sp>
        <p:nvSpPr>
          <p:cNvPr id="39" name="文本框 38">
            <a:extLst>
              <a:ext uri="{FF2B5EF4-FFF2-40B4-BE49-F238E27FC236}">
                <a16:creationId xmlns:a16="http://schemas.microsoft.com/office/drawing/2014/main" id="{8582C352-177E-403B-83F9-F0C30186F3FE}"/>
              </a:ext>
            </a:extLst>
          </p:cNvPr>
          <p:cNvSpPr txBox="1"/>
          <p:nvPr/>
        </p:nvSpPr>
        <p:spPr>
          <a:xfrm>
            <a:off x="42219" y="2069761"/>
            <a:ext cx="2818252" cy="369332"/>
          </a:xfrm>
          <a:prstGeom prst="rect">
            <a:avLst/>
          </a:prstGeom>
          <a:noFill/>
        </p:spPr>
        <p:txBody>
          <a:bodyPr wrap="square">
            <a:spAutoFit/>
          </a:bodyPr>
          <a:lstStyle/>
          <a:p>
            <a:pPr marL="342900" indent="-342900">
              <a:buFont typeface="+mj-ea"/>
              <a:buAutoNum type="circleNumDbPlain" startAt="2"/>
            </a:pPr>
            <a:r>
              <a:rPr lang="zh-CN" altLang="en-US" sz="1800" b="1" dirty="0">
                <a:solidFill>
                  <a:srgbClr val="0070C0"/>
                </a:solidFill>
                <a:latin typeface="微软雅黑" panose="020B0503020204020204" pitchFamily="34" charset="-122"/>
                <a:ea typeface="微软雅黑" panose="020B0503020204020204" pitchFamily="34" charset="-122"/>
              </a:rPr>
              <a:t>二次规划问题标准描述</a:t>
            </a:r>
            <a:endParaRPr lang="zh-CN" altLang="en-US" dirty="0"/>
          </a:p>
        </p:txBody>
      </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CA5E3C47-CD0C-499D-8740-0397B1054B35}"/>
                  </a:ext>
                </a:extLst>
              </p:cNvPr>
              <p:cNvSpPr txBox="1"/>
              <p:nvPr/>
            </p:nvSpPr>
            <p:spPr>
              <a:xfrm>
                <a:off x="3024765" y="2971126"/>
                <a:ext cx="4076849" cy="373051"/>
              </a:xfrm>
              <a:prstGeom prst="rect">
                <a:avLst/>
              </a:prstGeom>
              <a:noFill/>
            </p:spPr>
            <p:txBody>
              <a:bodyPr wrap="square">
                <a:spAutoFit/>
              </a:bodyPr>
              <a:lstStyle/>
              <a:p>
                <a:r>
                  <a:rPr lang="en-US" altLang="zh-CN" dirty="0"/>
                  <a:t>F</a:t>
                </a:r>
                <a:r>
                  <a:rPr lang="en-US" altLang="zh-CN" b="0" dirty="0"/>
                  <a:t>(x)=</a:t>
                </a:r>
                <a14:m>
                  <m:oMath xmlns:m="http://schemas.openxmlformats.org/officeDocument/2006/math">
                    <m:r>
                      <a:rPr lang="en-US" altLang="zh-CN" b="0" i="1" smtClean="0">
                        <a:latin typeface="Cambria Math" panose="02040503050406030204" pitchFamily="18" charset="0"/>
                      </a:rPr>
                      <m:t>𝑎</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r>
                      <a:rPr lang="en-US" altLang="zh-CN" b="0" i="1" smtClean="0">
                        <a:latin typeface="Cambria Math" panose="02040503050406030204" pitchFamily="18" charset="0"/>
                      </a:rPr>
                      <m:t>𝑐</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up>
                        <m:r>
                          <a:rPr lang="en-US" altLang="zh-CN" i="1">
                            <a:latin typeface="Cambria Math" panose="02040503050406030204" pitchFamily="18" charset="0"/>
                          </a:rPr>
                          <m:t>2</m:t>
                        </m:r>
                      </m:sup>
                    </m:sSubSup>
                    <m:r>
                      <a:rPr lang="en-US" altLang="zh-CN" b="0" i="1" smtClean="0">
                        <a:latin typeface="Cambria Math" panose="02040503050406030204" pitchFamily="18" charset="0"/>
                      </a:rPr>
                      <m:t>+2</m:t>
                    </m:r>
                    <m:r>
                      <a:rPr lang="en-US" altLang="zh-CN" b="0" i="1" smtClean="0">
                        <a:latin typeface="Cambria Math" panose="02040503050406030204" pitchFamily="18" charset="0"/>
                      </a:rPr>
                      <m:t>𝑏</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0" smtClean="0">
                        <a:latin typeface="Cambria Math" panose="02040503050406030204" pitchFamily="18" charset="0"/>
                      </a:rPr>
                      <m:t>+</m:t>
                    </m:r>
                    <m:r>
                      <a:rPr lang="en-US" altLang="zh-CN" b="0" i="1" smtClean="0">
                        <a:latin typeface="Cambria Math" panose="02040503050406030204" pitchFamily="18" charset="0"/>
                      </a:rPr>
                      <m:t>𝑑</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b="0" i="0" smtClean="0">
                        <a:latin typeface="Cambria Math" panose="02040503050406030204" pitchFamily="18" charset="0"/>
                      </a:rPr>
                      <m:t>+</m:t>
                    </m:r>
                    <m:r>
                      <a:rPr lang="en-US" altLang="zh-CN" b="0" i="1" smtClean="0">
                        <a:latin typeface="Cambria Math" panose="02040503050406030204" pitchFamily="18" charset="0"/>
                      </a:rPr>
                      <m:t>𝑒</m:t>
                    </m:r>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oMath>
                </a14:m>
                <a:endParaRPr lang="zh-CN" altLang="en-US" dirty="0"/>
              </a:p>
            </p:txBody>
          </p:sp>
        </mc:Choice>
        <mc:Fallback xmlns="">
          <p:sp>
            <p:nvSpPr>
              <p:cNvPr id="41" name="文本框 40">
                <a:extLst>
                  <a:ext uri="{FF2B5EF4-FFF2-40B4-BE49-F238E27FC236}">
                    <a16:creationId xmlns:a16="http://schemas.microsoft.com/office/drawing/2014/main" id="{CA5E3C47-CD0C-499D-8740-0397B1054B35}"/>
                  </a:ext>
                </a:extLst>
              </p:cNvPr>
              <p:cNvSpPr txBox="1">
                <a:spLocks noRot="1" noChangeAspect="1" noMove="1" noResize="1" noEditPoints="1" noAdjustHandles="1" noChangeArrowheads="1" noChangeShapeType="1" noTextEdit="1"/>
              </p:cNvSpPr>
              <p:nvPr/>
            </p:nvSpPr>
            <p:spPr>
              <a:xfrm>
                <a:off x="3024765" y="2971126"/>
                <a:ext cx="4076849" cy="373051"/>
              </a:xfrm>
              <a:prstGeom prst="rect">
                <a:avLst/>
              </a:prstGeom>
              <a:blipFill>
                <a:blip r:embed="rId14"/>
                <a:stretch>
                  <a:fillRect l="-1196" t="-6452" b="-24194"/>
                </a:stretch>
              </a:blipFill>
            </p:spPr>
            <p:txBody>
              <a:bodyPr/>
              <a:lstStyle/>
              <a:p>
                <a:r>
                  <a:rPr lang="zh-CN" altLang="en-US">
                    <a:noFill/>
                  </a:rPr>
                  <a:t> </a:t>
                </a:r>
              </a:p>
            </p:txBody>
          </p:sp>
        </mc:Fallback>
      </mc:AlternateContent>
      <p:sp>
        <p:nvSpPr>
          <p:cNvPr id="10" name="等号 9">
            <a:extLst>
              <a:ext uri="{FF2B5EF4-FFF2-40B4-BE49-F238E27FC236}">
                <a16:creationId xmlns:a16="http://schemas.microsoft.com/office/drawing/2014/main" id="{E5492A43-929C-4A6C-AA3E-EB88B79BE8B9}"/>
              </a:ext>
            </a:extLst>
          </p:cNvPr>
          <p:cNvSpPr/>
          <p:nvPr/>
        </p:nvSpPr>
        <p:spPr bwMode="auto">
          <a:xfrm>
            <a:off x="6953383" y="2996659"/>
            <a:ext cx="296463" cy="302462"/>
          </a:xfrm>
          <a:prstGeom prst="mathEqual">
            <a:avLst/>
          </a:prstGeom>
          <a:solidFill>
            <a:srgbClr val="FF0000"/>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dirty="0">
              <a:ln>
                <a:noFill/>
              </a:ln>
              <a:solidFill>
                <a:schemeClr val="tx1"/>
              </a:solidFill>
              <a:effectLst/>
              <a:latin typeface="Times New Roman" pitchFamily="18" charset="0"/>
            </a:endParaRPr>
          </a:p>
        </p:txBody>
      </p:sp>
      <p:sp>
        <p:nvSpPr>
          <p:cNvPr id="14" name="对话气泡: 圆角矩形 13">
            <a:extLst>
              <a:ext uri="{FF2B5EF4-FFF2-40B4-BE49-F238E27FC236}">
                <a16:creationId xmlns:a16="http://schemas.microsoft.com/office/drawing/2014/main" id="{4FA31D3F-1FBC-48CA-895A-3F28A81F5ACC}"/>
              </a:ext>
            </a:extLst>
          </p:cNvPr>
          <p:cNvSpPr/>
          <p:nvPr/>
        </p:nvSpPr>
        <p:spPr bwMode="auto">
          <a:xfrm>
            <a:off x="4671651" y="1987384"/>
            <a:ext cx="493936" cy="404132"/>
          </a:xfrm>
          <a:prstGeom prst="wedgeRoundRectCallout">
            <a:avLst>
              <a:gd name="adj1" fmla="val 192133"/>
              <a:gd name="adj2" fmla="val -72607"/>
              <a:gd name="adj3" fmla="val 16667"/>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43" name="对话气泡: 圆角矩形 42">
            <a:extLst>
              <a:ext uri="{FF2B5EF4-FFF2-40B4-BE49-F238E27FC236}">
                <a16:creationId xmlns:a16="http://schemas.microsoft.com/office/drawing/2014/main" id="{34D32A5E-83B0-43D0-8979-A7E804FF641A}"/>
              </a:ext>
            </a:extLst>
          </p:cNvPr>
          <p:cNvSpPr/>
          <p:nvPr/>
        </p:nvSpPr>
        <p:spPr bwMode="auto">
          <a:xfrm>
            <a:off x="3635896" y="2001353"/>
            <a:ext cx="807357" cy="461442"/>
          </a:xfrm>
          <a:prstGeom prst="wedgeRoundRectCallout">
            <a:avLst>
              <a:gd name="adj1" fmla="val 40876"/>
              <a:gd name="adj2" fmla="val -84413"/>
              <a:gd name="adj3" fmla="val 16667"/>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44" name="标注: 线形 43">
            <a:extLst>
              <a:ext uri="{FF2B5EF4-FFF2-40B4-BE49-F238E27FC236}">
                <a16:creationId xmlns:a16="http://schemas.microsoft.com/office/drawing/2014/main" id="{48DD68C5-CE9E-4E18-BCEF-4686C6109D1D}"/>
              </a:ext>
            </a:extLst>
          </p:cNvPr>
          <p:cNvSpPr/>
          <p:nvPr/>
        </p:nvSpPr>
        <p:spPr bwMode="auto">
          <a:xfrm>
            <a:off x="2898209" y="2624013"/>
            <a:ext cx="1321863" cy="307777"/>
          </a:xfrm>
          <a:prstGeom prst="borderCallout1">
            <a:avLst>
              <a:gd name="adj1" fmla="val 34117"/>
              <a:gd name="adj2" fmla="val 96752"/>
              <a:gd name="adj3" fmla="val -99093"/>
              <a:gd name="adj4" fmla="val 92576"/>
            </a:avLst>
          </a:prstGeom>
          <a:noFill/>
          <a:ln>
            <a:solidFill>
              <a:srgbClr val="FF0000"/>
            </a:solidFill>
          </a:ln>
        </p:spPr>
        <p:txBody>
          <a:bodyPr wrap="square">
            <a:spAutoFit/>
          </a:bodyPr>
          <a:lstStyle/>
          <a:p>
            <a:r>
              <a:rPr lang="en-US" altLang="zh-CN" sz="1400" b="1" dirty="0">
                <a:solidFill>
                  <a:srgbClr val="FF0000"/>
                </a:solidFill>
                <a:latin typeface="Microsoft YaHei" panose="020B0503020204020204" pitchFamily="34" charset="-122"/>
                <a:ea typeface="Microsoft YaHei" panose="020B0503020204020204" pitchFamily="34" charset="-122"/>
              </a:rPr>
              <a:t>H:</a:t>
            </a:r>
            <a:r>
              <a:rPr lang="zh-CN" altLang="en-US" sz="1400" b="1" dirty="0">
                <a:solidFill>
                  <a:srgbClr val="FF0000"/>
                </a:solidFill>
                <a:latin typeface="Microsoft YaHei" panose="020B0503020204020204" pitchFamily="34" charset="-122"/>
                <a:ea typeface="Microsoft YaHei" panose="020B0503020204020204" pitchFamily="34" charset="-122"/>
              </a:rPr>
              <a:t>二次目标项</a:t>
            </a:r>
            <a:endParaRPr lang="zh-CN" altLang="en-US" sz="1400" dirty="0">
              <a:solidFill>
                <a:srgbClr val="FF0000"/>
              </a:solidFill>
            </a:endParaRPr>
          </a:p>
        </p:txBody>
      </p:sp>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837ACB33-F3D1-45CB-B14E-279BAF4299EA}"/>
                  </a:ext>
                </a:extLst>
              </p:cNvPr>
              <p:cNvSpPr txBox="1"/>
              <p:nvPr/>
            </p:nvSpPr>
            <p:spPr>
              <a:xfrm>
                <a:off x="2224135" y="1098707"/>
                <a:ext cx="1537433" cy="36958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zh-CN" altLang="en-US" i="0" kern="0" dirty="0" smtClean="0">
                          <a:latin typeface="Cambria Math" panose="02040503050406030204" pitchFamily="18" charset="0"/>
                          <a:ea typeface="宋体" panose="02010600030101010101" pitchFamily="2" charset="-122"/>
                          <a:cs typeface="宋体" panose="02010600030101010101" pitchFamily="2" charset="-122"/>
                        </a:rPr>
                        <m:t>决策</m:t>
                      </m:r>
                      <m:r>
                        <m:rPr>
                          <m:nor/>
                        </m:rPr>
                        <a:rPr lang="zh-CN" altLang="en-US" kern="0" dirty="0">
                          <a:latin typeface="Cambria Math" panose="02040503050406030204" pitchFamily="18" charset="0"/>
                          <a:ea typeface="宋体" panose="02010600030101010101" pitchFamily="2" charset="-122"/>
                          <a:cs typeface="宋体" panose="02010600030101010101" pitchFamily="2" charset="-122"/>
                        </a:rPr>
                        <m:t>向量</m:t>
                      </m:r>
                      <m:r>
                        <m:rPr>
                          <m:nor/>
                        </m:rPr>
                        <a:rPr lang="en-US" altLang="zh-CN" sz="1800" b="0" i="0" dirty="0" smtClean="0">
                          <a:solidFill>
                            <a:srgbClr val="00B0F0"/>
                          </a:solidFill>
                          <a:latin typeface="微软雅黑" panose="020B0503020204020204" pitchFamily="34" charset="-122"/>
                          <a:ea typeface="微软雅黑" panose="020B0503020204020204" pitchFamily="34" charset="-122"/>
                        </a:rPr>
                        <m:t>x</m:t>
                      </m:r>
                      <m:r>
                        <m:rPr>
                          <m:nor/>
                        </m:rPr>
                        <a:rPr lang="en-US" altLang="zh-CN" sz="1800" b="0" i="0" dirty="0" smtClean="0">
                          <a:solidFill>
                            <a:srgbClr val="00B0F0"/>
                          </a:solidFill>
                          <a:latin typeface="微软雅黑" panose="020B0503020204020204" pitchFamily="34" charset="-122"/>
                          <a:ea typeface="微软雅黑" panose="020B0503020204020204" pitchFamily="34" charset="-122"/>
                        </a:rPr>
                        <m:t>=[</m:t>
                      </m:r>
                      <m:r>
                        <m:rPr>
                          <m:nor/>
                        </m:rPr>
                        <a:rPr lang="en-US" altLang="zh-CN" sz="1800" b="0" i="0" dirty="0" smtClean="0">
                          <a:solidFill>
                            <a:srgbClr val="00B0F0"/>
                          </a:solidFill>
                          <a:latin typeface="微软雅黑" panose="020B0503020204020204" pitchFamily="34" charset="-122"/>
                          <a:ea typeface="微软雅黑" panose="020B0503020204020204" pitchFamily="34" charset="-122"/>
                        </a:rPr>
                        <m:t>x</m:t>
                      </m:r>
                      <m:r>
                        <m:rPr>
                          <m:nor/>
                        </m:rPr>
                        <a:rPr lang="en-US" altLang="zh-CN" sz="1800" b="0" i="0" dirty="0" smtClean="0">
                          <a:solidFill>
                            <a:srgbClr val="00B0F0"/>
                          </a:solidFill>
                          <a:latin typeface="微软雅黑" panose="020B0503020204020204" pitchFamily="34" charset="-122"/>
                          <a:ea typeface="微软雅黑" panose="020B0503020204020204" pitchFamily="34" charset="-122"/>
                        </a:rPr>
                        <m:t>1;</m:t>
                      </m:r>
                      <m:r>
                        <m:rPr>
                          <m:nor/>
                        </m:rPr>
                        <a:rPr lang="en-US" altLang="zh-CN" sz="1800" b="0" i="0" dirty="0" smtClean="0">
                          <a:solidFill>
                            <a:srgbClr val="00B0F0"/>
                          </a:solidFill>
                          <a:latin typeface="微软雅黑" panose="020B0503020204020204" pitchFamily="34" charset="-122"/>
                          <a:ea typeface="微软雅黑" panose="020B0503020204020204" pitchFamily="34" charset="-122"/>
                        </a:rPr>
                        <m:t>x</m:t>
                      </m:r>
                      <m:r>
                        <m:rPr>
                          <m:nor/>
                        </m:rPr>
                        <a:rPr lang="en-US" altLang="zh-CN" sz="1800" b="0" i="0" dirty="0" smtClean="0">
                          <a:solidFill>
                            <a:srgbClr val="00B0F0"/>
                          </a:solidFill>
                          <a:latin typeface="微软雅黑" panose="020B0503020204020204" pitchFamily="34" charset="-122"/>
                          <a:ea typeface="微软雅黑" panose="020B0503020204020204" pitchFamily="34" charset="-122"/>
                        </a:rPr>
                        <m:t>2]</m:t>
                      </m:r>
                    </m:oMath>
                  </m:oMathPara>
                </a14:m>
                <a:endParaRPr lang="zh-CN" altLang="en-US" dirty="0"/>
              </a:p>
            </p:txBody>
          </p:sp>
        </mc:Choice>
        <mc:Fallback xmlns="">
          <p:sp>
            <p:nvSpPr>
              <p:cNvPr id="52" name="文本框 51">
                <a:extLst>
                  <a:ext uri="{FF2B5EF4-FFF2-40B4-BE49-F238E27FC236}">
                    <a16:creationId xmlns:a16="http://schemas.microsoft.com/office/drawing/2014/main" id="{837ACB33-F3D1-45CB-B14E-279BAF4299EA}"/>
                  </a:ext>
                </a:extLst>
              </p:cNvPr>
              <p:cNvSpPr txBox="1">
                <a:spLocks noRot="1" noChangeAspect="1" noMove="1" noResize="1" noEditPoints="1" noAdjustHandles="1" noChangeArrowheads="1" noChangeShapeType="1" noTextEdit="1"/>
              </p:cNvSpPr>
              <p:nvPr/>
            </p:nvSpPr>
            <p:spPr>
              <a:xfrm>
                <a:off x="2224135" y="1098707"/>
                <a:ext cx="1537433" cy="369588"/>
              </a:xfrm>
              <a:prstGeom prst="rect">
                <a:avLst/>
              </a:prstGeom>
              <a:blipFill>
                <a:blip r:embed="rId15"/>
                <a:stretch>
                  <a:fillRect l="-1190" r="-37698" b="-13115"/>
                </a:stretch>
              </a:blipFill>
            </p:spPr>
            <p:txBody>
              <a:bodyPr/>
              <a:lstStyle/>
              <a:p>
                <a:r>
                  <a:rPr lang="zh-CN" altLang="en-US">
                    <a:noFill/>
                  </a:rPr>
                  <a:t> </a:t>
                </a:r>
              </a:p>
            </p:txBody>
          </p:sp>
        </mc:Fallback>
      </mc:AlternateContent>
      <p:sp>
        <p:nvSpPr>
          <p:cNvPr id="54" name="标注: 线形 53">
            <a:extLst>
              <a:ext uri="{FF2B5EF4-FFF2-40B4-BE49-F238E27FC236}">
                <a16:creationId xmlns:a16="http://schemas.microsoft.com/office/drawing/2014/main" id="{E19E829D-3DF7-4F2B-8BE4-A7702287622A}"/>
              </a:ext>
            </a:extLst>
          </p:cNvPr>
          <p:cNvSpPr/>
          <p:nvPr/>
        </p:nvSpPr>
        <p:spPr bwMode="auto">
          <a:xfrm>
            <a:off x="450541" y="2614458"/>
            <a:ext cx="2196031" cy="307777"/>
          </a:xfrm>
          <a:prstGeom prst="borderCallout1">
            <a:avLst>
              <a:gd name="adj1" fmla="val -20238"/>
              <a:gd name="adj2" fmla="val 104981"/>
              <a:gd name="adj3" fmla="val -6890"/>
              <a:gd name="adj4" fmla="val 50724"/>
            </a:avLst>
          </a:prstGeom>
          <a:noFill/>
          <a:ln>
            <a:solidFill>
              <a:srgbClr val="FF0000"/>
            </a:solidFill>
          </a:ln>
        </p:spPr>
        <p:txBody>
          <a:bodyPr wrap="square">
            <a:spAutoFit/>
          </a:bodyPr>
          <a:lstStyle/>
          <a:p>
            <a:r>
              <a:rPr lang="zh-CN" altLang="en-US" sz="1400" b="1" dirty="0">
                <a:solidFill>
                  <a:srgbClr val="FF0000"/>
                </a:solidFill>
                <a:latin typeface="Microsoft YaHei" panose="020B0503020204020204" pitchFamily="34" charset="-122"/>
                <a:ea typeface="Microsoft YaHei" panose="020B0503020204020204" pitchFamily="34" charset="-122"/>
              </a:rPr>
              <a:t>用</a:t>
            </a:r>
            <a:r>
              <a:rPr lang="en-US" altLang="zh-CN" sz="1400" b="1" dirty="0">
                <a:solidFill>
                  <a:srgbClr val="FF0000"/>
                </a:solidFill>
                <a:latin typeface="Microsoft YaHei" panose="020B0503020204020204" pitchFamily="34" charset="-122"/>
                <a:ea typeface="Microsoft YaHei" panose="020B0503020204020204" pitchFamily="34" charset="-122"/>
              </a:rPr>
              <a:t>H</a:t>
            </a:r>
            <a:r>
              <a:rPr lang="zh-CN" altLang="en-US" sz="1400" b="1" dirty="0">
                <a:solidFill>
                  <a:srgbClr val="FF0000"/>
                </a:solidFill>
                <a:latin typeface="Microsoft YaHei" panose="020B0503020204020204" pitchFamily="34" charset="-122"/>
                <a:ea typeface="Microsoft YaHei" panose="020B0503020204020204" pitchFamily="34" charset="-122"/>
              </a:rPr>
              <a:t>和</a:t>
            </a:r>
            <a:r>
              <a:rPr lang="en-US" altLang="zh-CN" sz="1400" b="1" dirty="0">
                <a:solidFill>
                  <a:srgbClr val="FF0000"/>
                </a:solidFill>
                <a:latin typeface="Microsoft YaHei" panose="020B0503020204020204" pitchFamily="34" charset="-122"/>
                <a:ea typeface="Microsoft YaHei" panose="020B0503020204020204" pitchFamily="34" charset="-122"/>
              </a:rPr>
              <a:t>f</a:t>
            </a:r>
            <a:r>
              <a:rPr lang="zh-CN" altLang="en-US" sz="1400" b="1" dirty="0">
                <a:solidFill>
                  <a:srgbClr val="FF0000"/>
                </a:solidFill>
                <a:latin typeface="Microsoft YaHei" panose="020B0503020204020204" pitchFamily="34" charset="-122"/>
                <a:ea typeface="Microsoft YaHei" panose="020B0503020204020204" pitchFamily="34" charset="-122"/>
              </a:rPr>
              <a:t>表示二次目标函数</a:t>
            </a:r>
            <a:endParaRPr lang="zh-CN" altLang="en-US" sz="1400" dirty="0">
              <a:solidFill>
                <a:srgbClr val="FF0000"/>
              </a:solidFill>
            </a:endParaRPr>
          </a:p>
        </p:txBody>
      </p:sp>
      <p:sp>
        <p:nvSpPr>
          <p:cNvPr id="34" name="文本框 33">
            <a:extLst>
              <a:ext uri="{FF2B5EF4-FFF2-40B4-BE49-F238E27FC236}">
                <a16:creationId xmlns:a16="http://schemas.microsoft.com/office/drawing/2014/main" id="{F43C3ACB-E2DD-4B9B-A5C4-EBC1DD5A5527}"/>
              </a:ext>
            </a:extLst>
          </p:cNvPr>
          <p:cNvSpPr txBox="1"/>
          <p:nvPr/>
        </p:nvSpPr>
        <p:spPr>
          <a:xfrm>
            <a:off x="4203217" y="1139004"/>
            <a:ext cx="5057902" cy="338554"/>
          </a:xfrm>
          <a:prstGeom prst="rect">
            <a:avLst/>
          </a:prstGeom>
          <a:noFill/>
        </p:spPr>
        <p:txBody>
          <a:bodyPr wrap="square">
            <a:spAutoFit/>
          </a:bodyPr>
          <a:lstStyle/>
          <a:p>
            <a:r>
              <a:rPr lang="zh-CN" altLang="zh-CN" sz="1600" kern="0" dirty="0">
                <a:ea typeface="宋体" panose="02010600030101010101" pitchFamily="2" charset="-122"/>
                <a:cs typeface="宋体" panose="02010600030101010101" pitchFamily="2" charset="-122"/>
              </a:rPr>
              <a:t>目标函数为</a:t>
            </a:r>
            <a:r>
              <a:rPr lang="zh-CN" altLang="zh-CN" sz="1600" kern="0" dirty="0">
                <a:solidFill>
                  <a:srgbClr val="00B0F0"/>
                </a:solidFill>
                <a:latin typeface="微软雅黑" panose="020B0503020204020204" pitchFamily="34" charset="-122"/>
                <a:ea typeface="微软雅黑" panose="020B0503020204020204" pitchFamily="34" charset="-122"/>
              </a:rPr>
              <a:t>二次函数</a:t>
            </a:r>
            <a:r>
              <a:rPr lang="zh-CN" altLang="zh-CN" sz="1600" kern="0" dirty="0">
                <a:ea typeface="宋体" panose="02010600030101010101" pitchFamily="2" charset="-122"/>
                <a:cs typeface="宋体" panose="02010600030101010101" pitchFamily="2" charset="-122"/>
              </a:rPr>
              <a:t>，约束条件为</a:t>
            </a:r>
            <a:r>
              <a:rPr lang="zh-CN" altLang="zh-CN" sz="1600" kern="0" dirty="0">
                <a:solidFill>
                  <a:srgbClr val="00B0F0"/>
                </a:solidFill>
                <a:latin typeface="微软雅黑" panose="020B0503020204020204" pitchFamily="34" charset="-122"/>
                <a:ea typeface="微软雅黑" panose="020B0503020204020204" pitchFamily="34" charset="-122"/>
                <a:cs typeface="宋体" panose="02010600030101010101" pitchFamily="2" charset="-122"/>
              </a:rPr>
              <a:t>线性不等式或等式</a:t>
            </a:r>
            <a:endParaRPr lang="zh-CN" altLang="en-US" sz="1600" dirty="0"/>
          </a:p>
        </p:txBody>
      </p:sp>
      <p:sp>
        <p:nvSpPr>
          <p:cNvPr id="35" name="文本框 34">
            <a:extLst>
              <a:ext uri="{FF2B5EF4-FFF2-40B4-BE49-F238E27FC236}">
                <a16:creationId xmlns:a16="http://schemas.microsoft.com/office/drawing/2014/main" id="{B2F0940D-D6BE-444E-88BB-228858E73205}"/>
              </a:ext>
            </a:extLst>
          </p:cNvPr>
          <p:cNvSpPr txBox="1"/>
          <p:nvPr/>
        </p:nvSpPr>
        <p:spPr>
          <a:xfrm>
            <a:off x="1" y="693372"/>
            <a:ext cx="9173694" cy="369332"/>
          </a:xfrm>
          <a:prstGeom prst="rect">
            <a:avLst/>
          </a:prstGeom>
          <a:solidFill>
            <a:schemeClr val="bg1"/>
          </a:solidFill>
        </p:spPr>
        <p:txBody>
          <a:bodyPr wrap="square">
            <a:spAutoFit/>
          </a:bodyPr>
          <a:lstStyle/>
          <a:p>
            <a:pPr algn="dist"/>
            <a:r>
              <a:rPr lang="zh-CN" altLang="en-US" dirty="0">
                <a:solidFill>
                  <a:srgbClr val="0070C0"/>
                </a:solidFill>
                <a:latin typeface="微软雅黑" panose="020B0503020204020204" pitchFamily="34" charset="-122"/>
                <a:ea typeface="微软雅黑" panose="020B0503020204020204" pitchFamily="34" charset="-122"/>
              </a:rPr>
              <a:t>应用：</a:t>
            </a:r>
            <a:r>
              <a:rPr lang="zh-CN" altLang="en-US" i="0" dirty="0">
                <a:solidFill>
                  <a:srgbClr val="0070C0"/>
                </a:solidFill>
                <a:effectLst/>
                <a:latin typeface="微软雅黑" panose="020B0503020204020204" pitchFamily="34" charset="-122"/>
                <a:ea typeface="微软雅黑" panose="020B0503020204020204" pitchFamily="34" charset="-122"/>
              </a:rPr>
              <a:t>金融投资组合优化、机器人运动与控制、机器学习、计算机视觉与控制系统等等</a:t>
            </a:r>
          </a:p>
        </p:txBody>
      </p:sp>
    </p:spTree>
    <p:extLst>
      <p:ext uri="{BB962C8B-B14F-4D97-AF65-F5344CB8AC3E}">
        <p14:creationId xmlns:p14="http://schemas.microsoft.com/office/powerpoint/2010/main" val="3720618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0"/>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8"/>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47"/>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40"/>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49"/>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31"/>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53"/>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33" grpId="0" animBg="1"/>
      <p:bldP spid="40" grpId="0"/>
      <p:bldP spid="47" grpId="0"/>
      <p:bldP spid="49" grpId="0"/>
      <p:bldP spid="51" grpId="0"/>
      <p:bldP spid="53" grpId="0"/>
      <p:bldP spid="24" grpId="0"/>
      <p:bldP spid="30" grpId="0"/>
      <p:bldP spid="2" grpId="0" animBg="1"/>
      <p:bldP spid="32" grpId="0" animBg="1"/>
      <p:bldP spid="7" grpId="0" animBg="1"/>
      <p:bldP spid="39" grpId="0"/>
      <p:bldP spid="41" grpId="0"/>
      <p:bldP spid="10" grpId="0" animBg="1"/>
      <p:bldP spid="14" grpId="0" animBg="1"/>
      <p:bldP spid="43" grpId="0" animBg="1"/>
      <p:bldP spid="44" grpId="0" animBg="1"/>
      <p:bldP spid="52" grpId="0"/>
      <p:bldP spid="54" grpId="0" animBg="1"/>
      <p:bldP spid="3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2EF208FE-AE53-4EF6-8BE3-B72DCB2187F6}"/>
              </a:ext>
            </a:extLst>
          </p:cNvPr>
          <p:cNvSpPr>
            <a:spLocks noChangeArrowheads="1"/>
          </p:cNvSpPr>
          <p:nvPr/>
        </p:nvSpPr>
        <p:spPr bwMode="auto">
          <a:xfrm>
            <a:off x="323528" y="717956"/>
            <a:ext cx="2232248"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lang="en-US" altLang="zh-CN" sz="2000" b="1" dirty="0" err="1">
                <a:solidFill>
                  <a:srgbClr val="0070C0"/>
                </a:solidFill>
                <a:latin typeface="微软雅黑" panose="020B0503020204020204" pitchFamily="34" charset="-122"/>
                <a:ea typeface="微软雅黑" panose="020B0503020204020204" pitchFamily="34" charset="-122"/>
              </a:rPr>
              <a:t>quad</a:t>
            </a:r>
            <a:r>
              <a:rPr lang="en-US" altLang="zh-CN" sz="2000" b="1" i="0" dirty="0" err="1">
                <a:solidFill>
                  <a:srgbClr val="0070C0"/>
                </a:solidFill>
                <a:effectLst/>
                <a:latin typeface="微软雅黑" panose="020B0503020204020204" pitchFamily="34" charset="-122"/>
                <a:ea typeface="微软雅黑" panose="020B0503020204020204" pitchFamily="34" charset="-122"/>
              </a:rPr>
              <a:t>prog</a:t>
            </a:r>
            <a:r>
              <a:rPr lang="zh-CN" altLang="en-US" sz="2000" b="1" i="0" dirty="0">
                <a:solidFill>
                  <a:srgbClr val="0070C0"/>
                </a:solidFill>
                <a:effectLst/>
                <a:latin typeface="微软雅黑" panose="020B0503020204020204" pitchFamily="34" charset="-122"/>
                <a:ea typeface="微软雅黑" panose="020B0503020204020204" pitchFamily="34" charset="-122"/>
              </a:rPr>
              <a:t>格式：</a:t>
            </a:r>
            <a:endParaRPr kumimoji="0" lang="zh-CN" altLang="zh-CN" sz="20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endParaRPr>
          </a:p>
        </p:txBody>
      </p:sp>
      <p:sp>
        <p:nvSpPr>
          <p:cNvPr id="4" name="Rectangle 1">
            <a:extLst>
              <a:ext uri="{FF2B5EF4-FFF2-40B4-BE49-F238E27FC236}">
                <a16:creationId xmlns:a16="http://schemas.microsoft.com/office/drawing/2014/main" id="{22B480FC-D98D-48BF-9B15-9A7C321B1274}"/>
              </a:ext>
            </a:extLst>
          </p:cNvPr>
          <p:cNvSpPr>
            <a:spLocks noChangeArrowheads="1"/>
          </p:cNvSpPr>
          <p:nvPr/>
        </p:nvSpPr>
        <p:spPr bwMode="auto">
          <a:xfrm>
            <a:off x="2376995" y="730055"/>
            <a:ext cx="6443477" cy="338554"/>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eaLnBrk="0" hangingPunct="0"/>
            <a:r>
              <a:rPr lang="zh-CN" altLang="zh-CN" sz="1600" kern="0" dirty="0">
                <a:solidFill>
                  <a:schemeClr val="bg1"/>
                </a:solidFill>
                <a:highlight>
                  <a:srgbClr val="FF0000"/>
                </a:highlight>
                <a:latin typeface="Arial Unicode MS"/>
                <a:ea typeface="source-code-pro"/>
              </a:rPr>
              <a:t>x,</a:t>
            </a:r>
            <a:r>
              <a:rPr lang="zh-CN" altLang="zh-CN" sz="1600" kern="0" dirty="0">
                <a:solidFill>
                  <a:schemeClr val="bg1"/>
                </a:solidFill>
                <a:highlight>
                  <a:srgbClr val="003B76"/>
                </a:highlight>
                <a:latin typeface="Arial Unicode MS"/>
                <a:ea typeface="source-code-pro"/>
              </a:rPr>
              <a:t>fval,exitflag,output,lambda </a:t>
            </a:r>
            <a:r>
              <a:rPr lang="zh-CN" altLang="zh-CN" sz="1600" kern="0" dirty="0">
                <a:solidFill>
                  <a:schemeClr val="bg1"/>
                </a:solidFill>
                <a:highlight>
                  <a:srgbClr val="FF0000"/>
                </a:highlight>
                <a:latin typeface="Arial Unicode MS"/>
                <a:ea typeface="source-code-pro"/>
              </a:rPr>
              <a:t>=quadprog(H,f</a:t>
            </a:r>
            <a:r>
              <a:rPr lang="en-US" altLang="zh-CN" sz="1600" kern="0" dirty="0">
                <a:solidFill>
                  <a:schemeClr val="bg1"/>
                </a:solidFill>
                <a:highlight>
                  <a:srgbClr val="FF0000"/>
                </a:highlight>
                <a:latin typeface="Arial Unicode MS"/>
                <a:ea typeface="source-code-pro"/>
              </a:rPr>
              <a:t>,</a:t>
            </a:r>
            <a:r>
              <a:rPr kumimoji="0" lang="zh-CN" altLang="zh-CN" sz="1600" b="0" i="0" u="none" strike="noStrike" cap="none" normalizeH="0" baseline="0" dirty="0">
                <a:ln>
                  <a:noFill/>
                </a:ln>
                <a:solidFill>
                  <a:schemeClr val="bg1"/>
                </a:solidFill>
                <a:effectLst/>
                <a:latin typeface="Arial Unicode MS"/>
                <a:ea typeface="source-code-pro"/>
              </a:rPr>
              <a:t> A,b,Aeq,beq,lb,ub</a:t>
            </a:r>
            <a:r>
              <a:rPr lang="zh-CN" altLang="zh-CN" sz="1600" kern="0" dirty="0">
                <a:solidFill>
                  <a:schemeClr val="bg1"/>
                </a:solidFill>
                <a:highlight>
                  <a:srgbClr val="FF0000"/>
                </a:highlight>
                <a:latin typeface="Arial Unicode MS"/>
                <a:ea typeface="source-code-pro"/>
              </a:rPr>
              <a:t>) </a:t>
            </a:r>
          </a:p>
        </p:txBody>
      </p:sp>
      <p:sp>
        <p:nvSpPr>
          <p:cNvPr id="5" name="文本框 4">
            <a:extLst>
              <a:ext uri="{FF2B5EF4-FFF2-40B4-BE49-F238E27FC236}">
                <a16:creationId xmlns:a16="http://schemas.microsoft.com/office/drawing/2014/main" id="{25A8ACC6-2EC7-4B4C-B6FD-7D8E6EED8745}"/>
              </a:ext>
            </a:extLst>
          </p:cNvPr>
          <p:cNvSpPr txBox="1"/>
          <p:nvPr/>
        </p:nvSpPr>
        <p:spPr>
          <a:xfrm>
            <a:off x="323528" y="4224123"/>
            <a:ext cx="6272834" cy="338554"/>
          </a:xfrm>
          <a:prstGeom prst="rect">
            <a:avLst/>
          </a:prstGeom>
          <a:noFill/>
        </p:spPr>
        <p:txBody>
          <a:bodyPr wrap="square">
            <a:spAutoFit/>
          </a:bodyPr>
          <a:lstStyle/>
          <a:p>
            <a:r>
              <a:rPr lang="en-US" altLang="zh-CN" sz="1600" b="0" i="0" dirty="0">
                <a:solidFill>
                  <a:srgbClr val="212121"/>
                </a:solidFill>
                <a:effectLst/>
                <a:latin typeface="Microsoft YaHei" panose="020B0503020204020204" pitchFamily="34" charset="-122"/>
                <a:ea typeface="Microsoft YaHei" panose="020B0503020204020204" pitchFamily="34" charset="-122"/>
              </a:rPr>
              <a:t>,</a:t>
            </a:r>
            <a:endParaRPr lang="zh-CN" altLang="en-US" sz="1600" dirty="0"/>
          </a:p>
        </p:txBody>
      </p:sp>
      <p:sp>
        <p:nvSpPr>
          <p:cNvPr id="7" name="文本框 6">
            <a:extLst>
              <a:ext uri="{FF2B5EF4-FFF2-40B4-BE49-F238E27FC236}">
                <a16:creationId xmlns:a16="http://schemas.microsoft.com/office/drawing/2014/main" id="{C290F4E7-FCFD-49B8-898A-2F71202082CB}"/>
              </a:ext>
            </a:extLst>
          </p:cNvPr>
          <p:cNvSpPr txBox="1"/>
          <p:nvPr/>
        </p:nvSpPr>
        <p:spPr>
          <a:xfrm>
            <a:off x="323528" y="1068609"/>
            <a:ext cx="8352928" cy="3895938"/>
          </a:xfrm>
          <a:prstGeom prst="rect">
            <a:avLst/>
          </a:prstGeom>
          <a:noFill/>
        </p:spPr>
        <p:txBody>
          <a:bodyPr wrap="square">
            <a:spAutoFit/>
          </a:bodyPr>
          <a:lstStyle/>
          <a:p>
            <a:pPr marL="285750" indent="-285750" algn="l">
              <a:lnSpc>
                <a:spcPts val="2500"/>
              </a:lnSpc>
              <a:buFont typeface="Wingdings" panose="05000000000000000000" pitchFamily="2" charset="2"/>
              <a:buChar char="p"/>
            </a:pPr>
            <a:r>
              <a:rPr lang="en-US" altLang="zh-CN" sz="1600" b="0" i="0" dirty="0">
                <a:solidFill>
                  <a:srgbClr val="0070C0"/>
                </a:solidFill>
                <a:effectLst/>
                <a:latin typeface="Microsoft YaHei" panose="020B0503020204020204" pitchFamily="34" charset="-122"/>
                <a:ea typeface="Microsoft YaHei" panose="020B0503020204020204" pitchFamily="34" charset="-122"/>
              </a:rPr>
              <a:t>x</a:t>
            </a:r>
            <a:r>
              <a:rPr lang="zh-CN" altLang="en-US" sz="1600" b="0" i="0" dirty="0">
                <a:solidFill>
                  <a:srgbClr val="0070C0"/>
                </a:solidFill>
                <a:effectLst/>
                <a:latin typeface="Microsoft YaHei" panose="020B0503020204020204" pitchFamily="34" charset="-122"/>
                <a:ea typeface="Microsoft YaHei" panose="020B0503020204020204" pitchFamily="34" charset="-122"/>
              </a:rPr>
              <a:t>：解向量</a:t>
            </a:r>
            <a:r>
              <a:rPr lang="en-US" altLang="zh-CN" sz="1600" b="0" i="0" dirty="0">
                <a:solidFill>
                  <a:srgbClr val="0070C0"/>
                </a:solidFill>
                <a:effectLst/>
                <a:latin typeface="Microsoft YaHei" panose="020B0503020204020204" pitchFamily="34" charset="-122"/>
                <a:ea typeface="Microsoft YaHei" panose="020B0503020204020204" pitchFamily="34" charset="-122"/>
              </a:rPr>
              <a:t>,</a:t>
            </a:r>
            <a:r>
              <a:rPr lang="zh-CN" altLang="en-US" sz="1600" b="0" i="0" dirty="0">
                <a:solidFill>
                  <a:srgbClr val="0070C0"/>
                </a:solidFill>
                <a:effectLst/>
                <a:latin typeface="Microsoft YaHei" panose="020B0503020204020204" pitchFamily="34" charset="-122"/>
                <a:ea typeface="Microsoft YaHei" panose="020B0503020204020204" pitchFamily="34" charset="-122"/>
              </a:rPr>
              <a:t>极值点</a:t>
            </a:r>
          </a:p>
          <a:p>
            <a:pPr marL="285750" indent="-285750" algn="l">
              <a:lnSpc>
                <a:spcPts val="2500"/>
              </a:lnSpc>
              <a:buFont typeface="Wingdings" panose="05000000000000000000" pitchFamily="2" charset="2"/>
              <a:buChar char="p"/>
            </a:pPr>
            <a:r>
              <a:rPr lang="en-US" altLang="zh-CN" sz="1600" b="0" i="0" dirty="0" err="1">
                <a:solidFill>
                  <a:srgbClr val="0070C0"/>
                </a:solidFill>
                <a:effectLst/>
                <a:latin typeface="Microsoft YaHei" panose="020B0503020204020204" pitchFamily="34" charset="-122"/>
                <a:ea typeface="Microsoft YaHei" panose="020B0503020204020204" pitchFamily="34" charset="-122"/>
              </a:rPr>
              <a:t>fval</a:t>
            </a:r>
            <a:r>
              <a:rPr lang="en-US" altLang="zh-CN" sz="1600" b="0" i="0" dirty="0">
                <a:solidFill>
                  <a:srgbClr val="0070C0"/>
                </a:solidFill>
                <a:effectLst/>
                <a:latin typeface="Microsoft YaHei" panose="020B0503020204020204" pitchFamily="34" charset="-122"/>
                <a:ea typeface="Microsoft YaHei" panose="020B0503020204020204" pitchFamily="34" charset="-122"/>
              </a:rPr>
              <a:t> : x </a:t>
            </a:r>
            <a:r>
              <a:rPr lang="zh-CN" altLang="en-US" sz="1600" b="0" i="0" dirty="0">
                <a:solidFill>
                  <a:srgbClr val="0070C0"/>
                </a:solidFill>
                <a:effectLst/>
                <a:latin typeface="Microsoft YaHei" panose="020B0503020204020204" pitchFamily="34" charset="-122"/>
                <a:ea typeface="Microsoft YaHei" panose="020B0503020204020204" pitchFamily="34" charset="-122"/>
              </a:rPr>
              <a:t>处的目标函数值：</a:t>
            </a:r>
            <a:r>
              <a:rPr lang="en-US" altLang="zh-CN" sz="1600" b="0" i="0" dirty="0" err="1">
                <a:solidFill>
                  <a:srgbClr val="0070C0"/>
                </a:solidFill>
                <a:effectLst/>
                <a:latin typeface="Microsoft YaHei" panose="020B0503020204020204" pitchFamily="34" charset="-122"/>
                <a:ea typeface="Microsoft YaHei" panose="020B0503020204020204" pitchFamily="34" charset="-122"/>
              </a:rPr>
              <a:t>fval</a:t>
            </a:r>
            <a:r>
              <a:rPr lang="en-US" altLang="zh-CN" sz="1600" b="0" i="0" dirty="0">
                <a:solidFill>
                  <a:srgbClr val="0070C0"/>
                </a:solidFill>
                <a:effectLst/>
                <a:latin typeface="Microsoft YaHei" panose="020B0503020204020204" pitchFamily="34" charset="-122"/>
                <a:ea typeface="Microsoft YaHei" panose="020B0503020204020204" pitchFamily="34" charset="-122"/>
              </a:rPr>
              <a:t> = 0.5*x'*H*x + f’*x</a:t>
            </a:r>
          </a:p>
          <a:p>
            <a:pPr marL="285750" indent="-285750" algn="l">
              <a:lnSpc>
                <a:spcPts val="2500"/>
              </a:lnSpc>
              <a:buFont typeface="Wingdings" panose="05000000000000000000" pitchFamily="2" charset="2"/>
              <a:buChar char="p"/>
            </a:pPr>
            <a:r>
              <a:rPr lang="en-US" altLang="zh-CN" sz="1600" b="0" i="0" dirty="0" err="1">
                <a:solidFill>
                  <a:srgbClr val="0070C0"/>
                </a:solidFill>
                <a:effectLst/>
                <a:latin typeface="Microsoft YaHei" panose="020B0503020204020204" pitchFamily="34" charset="-122"/>
                <a:ea typeface="Microsoft YaHei" panose="020B0503020204020204" pitchFamily="34" charset="-122"/>
              </a:rPr>
              <a:t>exitflag</a:t>
            </a:r>
            <a:r>
              <a:rPr lang="en-US" altLang="zh-CN" sz="1600" b="0" i="0" dirty="0">
                <a:solidFill>
                  <a:srgbClr val="0070C0"/>
                </a:solidFill>
                <a:effectLst/>
                <a:latin typeface="Microsoft YaHei" panose="020B0503020204020204" pitchFamily="34" charset="-122"/>
                <a:ea typeface="Microsoft YaHei" panose="020B0503020204020204" pitchFamily="34" charset="-122"/>
              </a:rPr>
              <a:t>: </a:t>
            </a:r>
            <a:r>
              <a:rPr lang="zh-CN" altLang="en-US" sz="1600" b="0" i="0" dirty="0">
                <a:solidFill>
                  <a:srgbClr val="0070C0"/>
                </a:solidFill>
                <a:effectLst/>
                <a:latin typeface="Microsoft YaHei" panose="020B0503020204020204" pitchFamily="34" charset="-122"/>
                <a:ea typeface="Microsoft YaHei" panose="020B0503020204020204" pitchFamily="34" charset="-122"/>
              </a:rPr>
              <a:t>描述 </a:t>
            </a:r>
            <a:r>
              <a:rPr lang="en-US" altLang="zh-CN" sz="1600" b="0" i="0" dirty="0" err="1">
                <a:solidFill>
                  <a:srgbClr val="0070C0"/>
                </a:solidFill>
                <a:effectLst/>
                <a:latin typeface="Microsoft YaHei" panose="020B0503020204020204" pitchFamily="34" charset="-122"/>
                <a:ea typeface="Microsoft YaHei" panose="020B0503020204020204" pitchFamily="34" charset="-122"/>
              </a:rPr>
              <a:t>quadprog</a:t>
            </a:r>
            <a:r>
              <a:rPr lang="en-US" altLang="zh-CN" sz="1600" b="0" i="0" dirty="0">
                <a:solidFill>
                  <a:srgbClr val="0070C0"/>
                </a:solidFill>
                <a:effectLst/>
                <a:latin typeface="Microsoft YaHei" panose="020B0503020204020204" pitchFamily="34" charset="-122"/>
                <a:ea typeface="Microsoft YaHei" panose="020B0503020204020204" pitchFamily="34" charset="-122"/>
              </a:rPr>
              <a:t> </a:t>
            </a:r>
            <a:r>
              <a:rPr lang="zh-CN" altLang="en-US" sz="1600" b="0" i="0" dirty="0">
                <a:solidFill>
                  <a:srgbClr val="0070C0"/>
                </a:solidFill>
                <a:effectLst/>
                <a:latin typeface="Microsoft YaHei" panose="020B0503020204020204" pitchFamily="34" charset="-122"/>
                <a:ea typeface="Microsoft YaHei" panose="020B0503020204020204" pitchFamily="34" charset="-122"/>
              </a:rPr>
              <a:t>退出条件的整数</a:t>
            </a:r>
          </a:p>
          <a:p>
            <a:pPr marL="285750" indent="-285750" algn="l">
              <a:lnSpc>
                <a:spcPts val="2500"/>
              </a:lnSpc>
              <a:buFont typeface="Wingdings" panose="05000000000000000000" pitchFamily="2" charset="2"/>
              <a:buChar char="p"/>
            </a:pPr>
            <a:r>
              <a:rPr lang="en-US" altLang="zh-CN" sz="1600" b="0" i="0" dirty="0" err="1">
                <a:solidFill>
                  <a:srgbClr val="0070C0"/>
                </a:solidFill>
                <a:effectLst/>
                <a:latin typeface="Microsoft YaHei" panose="020B0503020204020204" pitchFamily="34" charset="-122"/>
                <a:ea typeface="Microsoft YaHei" panose="020B0503020204020204" pitchFamily="34" charset="-122"/>
              </a:rPr>
              <a:t>otput</a:t>
            </a:r>
            <a:r>
              <a:rPr lang="en-US" altLang="zh-CN" sz="1600" b="0" i="0" dirty="0">
                <a:solidFill>
                  <a:srgbClr val="0070C0"/>
                </a:solidFill>
                <a:effectLst/>
                <a:latin typeface="Microsoft YaHei" panose="020B0503020204020204" pitchFamily="34" charset="-122"/>
                <a:ea typeface="Microsoft YaHei" panose="020B0503020204020204" pitchFamily="34" charset="-122"/>
              </a:rPr>
              <a:t>:</a:t>
            </a:r>
            <a:r>
              <a:rPr lang="zh-CN" altLang="en-US" sz="1600" b="0" i="0" dirty="0">
                <a:solidFill>
                  <a:srgbClr val="0070C0"/>
                </a:solidFill>
                <a:effectLst/>
                <a:latin typeface="Microsoft YaHei" panose="020B0503020204020204" pitchFamily="34" charset="-122"/>
                <a:ea typeface="Microsoft YaHei" panose="020B0503020204020204" pitchFamily="34" charset="-122"/>
              </a:rPr>
              <a:t>有关优化信息的结构体</a:t>
            </a:r>
          </a:p>
          <a:p>
            <a:pPr marL="285750" indent="-285750" algn="l">
              <a:lnSpc>
                <a:spcPts val="2500"/>
              </a:lnSpc>
              <a:buFont typeface="Wingdings" panose="05000000000000000000" pitchFamily="2" charset="2"/>
              <a:buChar char="p"/>
            </a:pPr>
            <a:r>
              <a:rPr lang="en-US" altLang="zh-CN" sz="1600" b="0" i="0" dirty="0">
                <a:solidFill>
                  <a:srgbClr val="0070C0"/>
                </a:solidFill>
                <a:effectLst/>
                <a:latin typeface="Microsoft YaHei" panose="020B0503020204020204" pitchFamily="34" charset="-122"/>
                <a:ea typeface="Microsoft YaHei" panose="020B0503020204020204" pitchFamily="34" charset="-122"/>
              </a:rPr>
              <a:t>lambda:</a:t>
            </a:r>
            <a:r>
              <a:rPr lang="zh-CN" altLang="en-US" sz="1600" b="0" i="0" dirty="0">
                <a:solidFill>
                  <a:srgbClr val="0070C0"/>
                </a:solidFill>
                <a:effectLst/>
                <a:latin typeface="Microsoft YaHei" panose="020B0503020204020204" pitchFamily="34" charset="-122"/>
                <a:ea typeface="Microsoft YaHei" panose="020B0503020204020204" pitchFamily="34" charset="-122"/>
              </a:rPr>
              <a:t>在解 </a:t>
            </a:r>
            <a:r>
              <a:rPr lang="en-US" altLang="zh-CN" sz="1600" b="0" i="0" dirty="0">
                <a:solidFill>
                  <a:srgbClr val="0070C0"/>
                </a:solidFill>
                <a:effectLst/>
                <a:latin typeface="Microsoft YaHei" panose="020B0503020204020204" pitchFamily="34" charset="-122"/>
                <a:ea typeface="Microsoft YaHei" panose="020B0503020204020204" pitchFamily="34" charset="-122"/>
              </a:rPr>
              <a:t>x </a:t>
            </a:r>
            <a:r>
              <a:rPr lang="zh-CN" altLang="en-US" sz="1600" b="0" i="0" dirty="0">
                <a:solidFill>
                  <a:srgbClr val="0070C0"/>
                </a:solidFill>
                <a:effectLst/>
                <a:latin typeface="Microsoft YaHei" panose="020B0503020204020204" pitchFamily="34" charset="-122"/>
                <a:ea typeface="Microsoft YaHei" panose="020B0503020204020204" pitchFamily="34" charset="-122"/>
              </a:rPr>
              <a:t>处的拉格朗日乘数</a:t>
            </a:r>
            <a:endParaRPr lang="en-US" altLang="zh-CN" sz="1600" b="0" i="0" dirty="0">
              <a:solidFill>
                <a:srgbClr val="0070C0"/>
              </a:solidFill>
              <a:effectLst/>
              <a:latin typeface="Microsoft YaHei" panose="020B0503020204020204" pitchFamily="34" charset="-122"/>
              <a:ea typeface="Microsoft YaHei" panose="020B0503020204020204" pitchFamily="34" charset="-122"/>
            </a:endParaRPr>
          </a:p>
          <a:p>
            <a:pPr marL="285750" indent="-285750">
              <a:lnSpc>
                <a:spcPts val="2500"/>
              </a:lnSpc>
              <a:buFont typeface="Wingdings" panose="05000000000000000000" pitchFamily="2" charset="2"/>
              <a:buChar char="p"/>
            </a:pPr>
            <a:r>
              <a:rPr lang="en-US" altLang="zh-CN" sz="1600" dirty="0">
                <a:solidFill>
                  <a:srgbClr val="0070C0"/>
                </a:solidFill>
                <a:latin typeface="Microsoft YaHei" panose="020B0503020204020204" pitchFamily="34" charset="-122"/>
                <a:ea typeface="Microsoft YaHei" panose="020B0503020204020204" pitchFamily="34" charset="-122"/>
              </a:rPr>
              <a:t>H</a:t>
            </a:r>
            <a:r>
              <a:rPr lang="zh-CN" altLang="en-US" sz="1600" dirty="0">
                <a:solidFill>
                  <a:srgbClr val="0070C0"/>
                </a:solidFill>
                <a:latin typeface="Microsoft YaHei" panose="020B0503020204020204" pitchFamily="34" charset="-122"/>
                <a:ea typeface="Microsoft YaHei" panose="020B0503020204020204" pitchFamily="34" charset="-122"/>
              </a:rPr>
              <a:t>：二次目标项，</a:t>
            </a:r>
            <a:r>
              <a:rPr lang="zh-CN" altLang="en-US" sz="1600" b="0" i="0" dirty="0">
                <a:solidFill>
                  <a:srgbClr val="0070C0"/>
                </a:solidFill>
                <a:effectLst/>
                <a:latin typeface="Microsoft YaHei" panose="020B0503020204020204" pitchFamily="34" charset="-122"/>
                <a:ea typeface="Microsoft YaHei" panose="020B0503020204020204" pitchFamily="34" charset="-122"/>
              </a:rPr>
              <a:t>必须为正定矩阵。</a:t>
            </a:r>
            <a:r>
              <a:rPr lang="en-US" altLang="zh-CN" sz="1600" b="0" i="0" dirty="0">
                <a:solidFill>
                  <a:srgbClr val="0070C0"/>
                </a:solidFill>
                <a:effectLst/>
                <a:latin typeface="Microsoft YaHei" panose="020B0503020204020204" pitchFamily="34" charset="-122"/>
                <a:ea typeface="Microsoft YaHei" panose="020B0503020204020204" pitchFamily="34" charset="-122"/>
              </a:rPr>
              <a:t>H </a:t>
            </a:r>
            <a:r>
              <a:rPr lang="zh-CN" altLang="en-US" sz="1600" b="0" i="0" dirty="0">
                <a:solidFill>
                  <a:srgbClr val="0070C0"/>
                </a:solidFill>
                <a:effectLst/>
                <a:latin typeface="Microsoft YaHei" panose="020B0503020204020204" pitchFamily="34" charset="-122"/>
                <a:ea typeface="Microsoft YaHei" panose="020B0503020204020204" pitchFamily="34" charset="-122"/>
              </a:rPr>
              <a:t>以 </a:t>
            </a:r>
            <a:r>
              <a:rPr lang="en-US" altLang="zh-CN" sz="1600" b="0" i="0" dirty="0">
                <a:solidFill>
                  <a:srgbClr val="0070C0"/>
                </a:solidFill>
                <a:effectLst/>
                <a:latin typeface="Microsoft YaHei" panose="020B0503020204020204" pitchFamily="34" charset="-122"/>
                <a:ea typeface="Microsoft YaHei" panose="020B0503020204020204" pitchFamily="34" charset="-122"/>
              </a:rPr>
              <a:t>1/2*x'*H*x + f'*x </a:t>
            </a:r>
            <a:r>
              <a:rPr lang="zh-CN" altLang="en-US" sz="1600" b="0" i="0" dirty="0">
                <a:solidFill>
                  <a:srgbClr val="0070C0"/>
                </a:solidFill>
                <a:effectLst/>
                <a:latin typeface="Microsoft YaHei" panose="020B0503020204020204" pitchFamily="34" charset="-122"/>
                <a:ea typeface="Microsoft YaHei" panose="020B0503020204020204" pitchFamily="34" charset="-122"/>
              </a:rPr>
              <a:t>表达式形式表示二次矩阵。如 </a:t>
            </a:r>
            <a:r>
              <a:rPr lang="en-US" altLang="zh-CN" sz="1600" b="0" i="0" dirty="0">
                <a:solidFill>
                  <a:srgbClr val="0070C0"/>
                </a:solidFill>
                <a:effectLst/>
                <a:latin typeface="Microsoft YaHei" panose="020B0503020204020204" pitchFamily="34" charset="-122"/>
                <a:ea typeface="Microsoft YaHei" panose="020B0503020204020204" pitchFamily="34" charset="-122"/>
              </a:rPr>
              <a:t>H </a:t>
            </a:r>
            <a:r>
              <a:rPr lang="zh-CN" altLang="en-US" sz="1600" b="0" i="0" dirty="0">
                <a:solidFill>
                  <a:srgbClr val="0070C0"/>
                </a:solidFill>
                <a:effectLst/>
                <a:latin typeface="Microsoft YaHei" panose="020B0503020204020204" pitchFamily="34" charset="-122"/>
                <a:ea typeface="Microsoft YaHei" panose="020B0503020204020204" pitchFamily="34" charset="-122"/>
              </a:rPr>
              <a:t>不对称，</a:t>
            </a:r>
            <a:r>
              <a:rPr lang="en-US" altLang="zh-CN" sz="1600" dirty="0" err="1">
                <a:solidFill>
                  <a:srgbClr val="0070C0"/>
                </a:solidFill>
              </a:rPr>
              <a:t>quadprog</a:t>
            </a:r>
            <a:r>
              <a:rPr lang="en-US" altLang="zh-CN" sz="1600" b="0" i="0" dirty="0">
                <a:solidFill>
                  <a:srgbClr val="0070C0"/>
                </a:solidFill>
                <a:effectLst/>
                <a:latin typeface="Microsoft YaHei" panose="020B0503020204020204" pitchFamily="34" charset="-122"/>
                <a:ea typeface="Microsoft YaHei" panose="020B0503020204020204" pitchFamily="34" charset="-122"/>
              </a:rPr>
              <a:t> </a:t>
            </a:r>
            <a:r>
              <a:rPr lang="zh-CN" altLang="en-US" sz="1600" b="0" i="0" dirty="0">
                <a:solidFill>
                  <a:srgbClr val="0070C0"/>
                </a:solidFill>
                <a:effectLst/>
                <a:latin typeface="Microsoft YaHei" panose="020B0503020204020204" pitchFamily="34" charset="-122"/>
                <a:ea typeface="Microsoft YaHei" panose="020B0503020204020204" pitchFamily="34" charset="-122"/>
              </a:rPr>
              <a:t>会发出警告，并改用对称版本（</a:t>
            </a:r>
            <a:r>
              <a:rPr lang="en-US" altLang="zh-CN" sz="1600" b="0" i="0" dirty="0">
                <a:solidFill>
                  <a:srgbClr val="0070C0"/>
                </a:solidFill>
                <a:effectLst/>
                <a:latin typeface="Microsoft YaHei" panose="020B0503020204020204" pitchFamily="34" charset="-122"/>
                <a:ea typeface="Microsoft YaHei" panose="020B0503020204020204" pitchFamily="34" charset="-122"/>
              </a:rPr>
              <a:t>H + H'</a:t>
            </a:r>
            <a:r>
              <a:rPr lang="zh-CN" altLang="en-US" sz="1600" b="0" i="0" dirty="0">
                <a:solidFill>
                  <a:srgbClr val="0070C0"/>
                </a:solidFill>
                <a:effectLst/>
                <a:latin typeface="Microsoft YaHei" panose="020B0503020204020204" pitchFamily="34" charset="-122"/>
                <a:ea typeface="Microsoft YaHei" panose="020B0503020204020204" pitchFamily="34" charset="-122"/>
              </a:rPr>
              <a:t>）</a:t>
            </a:r>
            <a:r>
              <a:rPr lang="en-US" altLang="zh-CN" sz="1600" b="0" i="0" dirty="0">
                <a:solidFill>
                  <a:srgbClr val="0070C0"/>
                </a:solidFill>
                <a:effectLst/>
                <a:latin typeface="Microsoft YaHei" panose="020B0503020204020204" pitchFamily="34" charset="-122"/>
                <a:ea typeface="Microsoft YaHei" panose="020B0503020204020204" pitchFamily="34" charset="-122"/>
              </a:rPr>
              <a:t>/2</a:t>
            </a:r>
            <a:r>
              <a:rPr lang="zh-CN" altLang="en-US" sz="1600" b="0" i="0" dirty="0">
                <a:solidFill>
                  <a:srgbClr val="0070C0"/>
                </a:solidFill>
                <a:effectLst/>
                <a:latin typeface="Microsoft YaHei" panose="020B0503020204020204" pitchFamily="34" charset="-122"/>
                <a:ea typeface="Microsoft YaHei" panose="020B0503020204020204" pitchFamily="34" charset="-122"/>
              </a:rPr>
              <a:t>。如果 </a:t>
            </a:r>
            <a:r>
              <a:rPr lang="en-US" altLang="zh-CN" sz="1600" b="0" i="0" dirty="0">
                <a:solidFill>
                  <a:srgbClr val="0070C0"/>
                </a:solidFill>
                <a:effectLst/>
                <a:latin typeface="Microsoft YaHei" panose="020B0503020204020204" pitchFamily="34" charset="-122"/>
                <a:ea typeface="Microsoft YaHei" panose="020B0503020204020204" pitchFamily="34" charset="-122"/>
              </a:rPr>
              <a:t>H </a:t>
            </a:r>
            <a:r>
              <a:rPr lang="zh-CN" altLang="en-US" sz="1600" b="0" i="0" dirty="0">
                <a:solidFill>
                  <a:srgbClr val="0070C0"/>
                </a:solidFill>
                <a:effectLst/>
                <a:latin typeface="Microsoft YaHei" panose="020B0503020204020204" pitchFamily="34" charset="-122"/>
                <a:ea typeface="Microsoft YaHei" panose="020B0503020204020204" pitchFamily="34" charset="-122"/>
              </a:rPr>
              <a:t>是正定矩阵，则解 </a:t>
            </a:r>
            <a:r>
              <a:rPr lang="en-US" altLang="zh-CN" sz="1600" b="0" i="0" dirty="0">
                <a:solidFill>
                  <a:srgbClr val="0070C0"/>
                </a:solidFill>
                <a:effectLst/>
                <a:latin typeface="Microsoft YaHei" panose="020B0503020204020204" pitchFamily="34" charset="-122"/>
                <a:ea typeface="Microsoft YaHei" panose="020B0503020204020204" pitchFamily="34" charset="-122"/>
              </a:rPr>
              <a:t>x = H\-f</a:t>
            </a:r>
            <a:r>
              <a:rPr lang="zh-CN" altLang="en-US" sz="1600" b="0" i="0" dirty="0">
                <a:solidFill>
                  <a:srgbClr val="0070C0"/>
                </a:solidFill>
                <a:effectLst/>
                <a:latin typeface="Microsoft YaHei" panose="020B0503020204020204" pitchFamily="34" charset="-122"/>
                <a:ea typeface="Microsoft YaHei" panose="020B0503020204020204" pitchFamily="34" charset="-122"/>
              </a:rPr>
              <a:t>）</a:t>
            </a:r>
            <a:endParaRPr lang="en-US" altLang="zh-CN" sz="1600" b="0" i="0" dirty="0">
              <a:solidFill>
                <a:srgbClr val="0070C0"/>
              </a:solidFill>
              <a:effectLst/>
              <a:latin typeface="Microsoft YaHei" panose="020B0503020204020204" pitchFamily="34" charset="-122"/>
              <a:ea typeface="Microsoft YaHei" panose="020B0503020204020204" pitchFamily="34" charset="-122"/>
            </a:endParaRPr>
          </a:p>
          <a:p>
            <a:pPr marL="285750" indent="-285750">
              <a:lnSpc>
                <a:spcPts val="2500"/>
              </a:lnSpc>
              <a:buFont typeface="Wingdings" panose="05000000000000000000" pitchFamily="2" charset="2"/>
              <a:buChar char="p"/>
            </a:pPr>
            <a:r>
              <a:rPr lang="en-US" altLang="zh-CN" sz="1600" dirty="0">
                <a:solidFill>
                  <a:srgbClr val="0070C0"/>
                </a:solidFill>
                <a:latin typeface="Microsoft YaHei" panose="020B0503020204020204" pitchFamily="34" charset="-122"/>
                <a:ea typeface="Microsoft YaHei" panose="020B0503020204020204" pitchFamily="34" charset="-122"/>
              </a:rPr>
              <a:t>f </a:t>
            </a:r>
            <a:r>
              <a:rPr lang="zh-CN" altLang="en-US" sz="1600" dirty="0">
                <a:solidFill>
                  <a:srgbClr val="0070C0"/>
                </a:solidFill>
                <a:latin typeface="Microsoft YaHei" panose="020B0503020204020204" pitchFamily="34" charset="-122"/>
                <a:ea typeface="Microsoft YaHei" panose="020B0503020204020204" pitchFamily="34" charset="-122"/>
              </a:rPr>
              <a:t>：</a:t>
            </a:r>
            <a:r>
              <a:rPr lang="en-US" altLang="zh-CN" sz="1600" dirty="0">
                <a:solidFill>
                  <a:srgbClr val="0070C0"/>
                </a:solidFill>
                <a:latin typeface="Microsoft YaHei" panose="020B0503020204020204" pitchFamily="34" charset="-122"/>
                <a:ea typeface="Microsoft YaHei" panose="020B0503020204020204" pitchFamily="34" charset="-122"/>
              </a:rPr>
              <a:t> </a:t>
            </a:r>
            <a:r>
              <a:rPr lang="zh-CN" altLang="en-US" sz="1600" dirty="0">
                <a:solidFill>
                  <a:srgbClr val="0070C0"/>
                </a:solidFill>
                <a:latin typeface="Microsoft YaHei" panose="020B0503020204020204" pitchFamily="34" charset="-122"/>
                <a:ea typeface="Microsoft YaHei" panose="020B0503020204020204" pitchFamily="34" charset="-122"/>
              </a:rPr>
              <a:t>线性目标项</a:t>
            </a:r>
            <a:r>
              <a:rPr lang="zh-CN" altLang="en-US" sz="1600" b="1" dirty="0">
                <a:solidFill>
                  <a:srgbClr val="0070C0"/>
                </a:solidFill>
                <a:latin typeface="Microsoft YaHei" panose="020B0503020204020204" pitchFamily="34" charset="-122"/>
                <a:ea typeface="Microsoft YaHei" panose="020B0503020204020204" pitchFamily="34" charset="-122"/>
              </a:rPr>
              <a:t>，</a:t>
            </a:r>
            <a:r>
              <a:rPr lang="zh-CN" altLang="en-US" sz="1600" dirty="0">
                <a:solidFill>
                  <a:srgbClr val="0070C0"/>
                </a:solidFill>
                <a:latin typeface="Microsoft YaHei" panose="020B0503020204020204" pitchFamily="34" charset="-122"/>
                <a:ea typeface="Microsoft YaHei" panose="020B0503020204020204" pitchFamily="34" charset="-122"/>
              </a:rPr>
              <a:t>实数向量，</a:t>
            </a:r>
            <a:r>
              <a:rPr lang="zh-CN" altLang="en-US" sz="1600" b="0" i="0" dirty="0">
                <a:solidFill>
                  <a:srgbClr val="0070C0"/>
                </a:solidFill>
                <a:effectLst/>
                <a:latin typeface="Microsoft YaHei" panose="020B0503020204020204" pitchFamily="34" charset="-122"/>
                <a:ea typeface="Microsoft YaHei" panose="020B0503020204020204" pitchFamily="34" charset="-122"/>
              </a:rPr>
              <a:t>线性目标项，指定为实数向量。</a:t>
            </a:r>
            <a:r>
              <a:rPr lang="en-US" altLang="zh-CN" sz="1600" b="0" i="0" dirty="0">
                <a:solidFill>
                  <a:srgbClr val="0070C0"/>
                </a:solidFill>
                <a:effectLst/>
                <a:latin typeface="Microsoft YaHei" panose="020B0503020204020204" pitchFamily="34" charset="-122"/>
                <a:ea typeface="Microsoft YaHei" panose="020B0503020204020204" pitchFamily="34" charset="-122"/>
              </a:rPr>
              <a:t>f </a:t>
            </a:r>
            <a:r>
              <a:rPr lang="zh-CN" altLang="en-US" sz="1600" b="0" i="0" dirty="0">
                <a:solidFill>
                  <a:srgbClr val="0070C0"/>
                </a:solidFill>
                <a:effectLst/>
                <a:latin typeface="Microsoft YaHei" panose="020B0503020204020204" pitchFamily="34" charset="-122"/>
                <a:ea typeface="Microsoft YaHei" panose="020B0503020204020204" pitchFamily="34" charset="-122"/>
              </a:rPr>
              <a:t>表示 </a:t>
            </a:r>
            <a:r>
              <a:rPr lang="en-US" altLang="zh-CN" sz="1600" b="0" i="0" dirty="0">
                <a:solidFill>
                  <a:srgbClr val="0070C0"/>
                </a:solidFill>
                <a:effectLst/>
                <a:latin typeface="Microsoft YaHei" panose="020B0503020204020204" pitchFamily="34" charset="-122"/>
                <a:ea typeface="Microsoft YaHei" panose="020B0503020204020204" pitchFamily="34" charset="-122"/>
              </a:rPr>
              <a:t>1/2*x'*H*x + f'*x </a:t>
            </a:r>
            <a:r>
              <a:rPr lang="zh-CN" altLang="en-US" sz="1600" b="0" i="0" dirty="0">
                <a:solidFill>
                  <a:srgbClr val="0070C0"/>
                </a:solidFill>
                <a:effectLst/>
                <a:latin typeface="Microsoft YaHei" panose="020B0503020204020204" pitchFamily="34" charset="-122"/>
                <a:ea typeface="Microsoft YaHei" panose="020B0503020204020204" pitchFamily="34" charset="-122"/>
              </a:rPr>
              <a:t>表达式中的线性项。</a:t>
            </a:r>
            <a:endParaRPr lang="en-US" altLang="zh-CN" sz="1600" b="0" i="0" dirty="0">
              <a:solidFill>
                <a:srgbClr val="0070C0"/>
              </a:solidFill>
              <a:effectLst/>
              <a:latin typeface="Microsoft YaHei" panose="020B0503020204020204" pitchFamily="34" charset="-122"/>
              <a:ea typeface="Microsoft YaHei" panose="020B0503020204020204" pitchFamily="34" charset="-122"/>
            </a:endParaRPr>
          </a:p>
          <a:p>
            <a:pPr marL="285750" indent="-285750">
              <a:lnSpc>
                <a:spcPts val="2500"/>
              </a:lnSpc>
              <a:buFont typeface="Wingdings" panose="05000000000000000000" pitchFamily="2" charset="2"/>
              <a:buChar char="p"/>
            </a:pPr>
            <a:r>
              <a:rPr lang="en-US" altLang="zh-CN" sz="1600" b="0" i="0" dirty="0">
                <a:solidFill>
                  <a:srgbClr val="0070C0"/>
                </a:solidFill>
                <a:effectLst/>
                <a:latin typeface="Microsoft YaHei" panose="020B0503020204020204" pitchFamily="34" charset="-122"/>
                <a:ea typeface="Microsoft YaHei" panose="020B0503020204020204" pitchFamily="34" charset="-122"/>
              </a:rPr>
              <a:t>H</a:t>
            </a:r>
            <a:r>
              <a:rPr lang="zh-CN" altLang="en-US" sz="1600" b="0" i="0" dirty="0">
                <a:solidFill>
                  <a:srgbClr val="0070C0"/>
                </a:solidFill>
                <a:effectLst/>
                <a:latin typeface="Microsoft YaHei" panose="020B0503020204020204" pitchFamily="34" charset="-122"/>
                <a:ea typeface="Microsoft YaHei" panose="020B0503020204020204" pitchFamily="34" charset="-122"/>
              </a:rPr>
              <a:t>、</a:t>
            </a:r>
            <a:r>
              <a:rPr lang="en-US" altLang="zh-CN" sz="1600" b="0" i="0" dirty="0">
                <a:solidFill>
                  <a:srgbClr val="0070C0"/>
                </a:solidFill>
                <a:effectLst/>
                <a:latin typeface="Microsoft YaHei" panose="020B0503020204020204" pitchFamily="34" charset="-122"/>
                <a:ea typeface="Microsoft YaHei" panose="020B0503020204020204" pitchFamily="34" charset="-122"/>
              </a:rPr>
              <a:t>A </a:t>
            </a:r>
            <a:r>
              <a:rPr lang="zh-CN" altLang="en-US" sz="1600" b="0" i="0" dirty="0">
                <a:solidFill>
                  <a:srgbClr val="0070C0"/>
                </a:solidFill>
                <a:effectLst/>
                <a:latin typeface="Microsoft YaHei" panose="020B0503020204020204" pitchFamily="34" charset="-122"/>
                <a:ea typeface="Microsoft YaHei" panose="020B0503020204020204" pitchFamily="34" charset="-122"/>
              </a:rPr>
              <a:t>和 </a:t>
            </a:r>
            <a:r>
              <a:rPr lang="en-US" altLang="zh-CN" sz="1600" b="0" i="0" dirty="0" err="1">
                <a:solidFill>
                  <a:srgbClr val="0070C0"/>
                </a:solidFill>
                <a:effectLst/>
                <a:latin typeface="Microsoft YaHei" panose="020B0503020204020204" pitchFamily="34" charset="-122"/>
                <a:ea typeface="Microsoft YaHei" panose="020B0503020204020204" pitchFamily="34" charset="-122"/>
              </a:rPr>
              <a:t>Aeq</a:t>
            </a:r>
            <a:r>
              <a:rPr lang="en-US" altLang="zh-CN" sz="1600" b="0" i="0" dirty="0">
                <a:solidFill>
                  <a:srgbClr val="0070C0"/>
                </a:solidFill>
                <a:effectLst/>
                <a:latin typeface="Microsoft YaHei" panose="020B0503020204020204" pitchFamily="34" charset="-122"/>
                <a:ea typeface="Microsoft YaHei" panose="020B0503020204020204" pitchFamily="34" charset="-122"/>
              </a:rPr>
              <a:t> </a:t>
            </a:r>
            <a:r>
              <a:rPr lang="zh-CN" altLang="en-US" sz="1600" b="0" i="0" dirty="0">
                <a:solidFill>
                  <a:srgbClr val="0070C0"/>
                </a:solidFill>
                <a:effectLst/>
                <a:latin typeface="Microsoft YaHei" panose="020B0503020204020204" pitchFamily="34" charset="-122"/>
                <a:ea typeface="Microsoft YaHei" panose="020B0503020204020204" pitchFamily="34" charset="-122"/>
              </a:rPr>
              <a:t>是矩阵，</a:t>
            </a:r>
            <a:r>
              <a:rPr lang="en-US" altLang="zh-CN" sz="1600" b="0" i="0" dirty="0">
                <a:solidFill>
                  <a:srgbClr val="0070C0"/>
                </a:solidFill>
                <a:effectLst/>
                <a:latin typeface="Microsoft YaHei" panose="020B0503020204020204" pitchFamily="34" charset="-122"/>
                <a:ea typeface="Microsoft YaHei" panose="020B0503020204020204" pitchFamily="34" charset="-122"/>
              </a:rPr>
              <a:t>f</a:t>
            </a:r>
            <a:r>
              <a:rPr lang="zh-CN" altLang="en-US" sz="1600" b="0" i="0" dirty="0">
                <a:solidFill>
                  <a:srgbClr val="0070C0"/>
                </a:solidFill>
                <a:effectLst/>
                <a:latin typeface="Microsoft YaHei" panose="020B0503020204020204" pitchFamily="34" charset="-122"/>
                <a:ea typeface="Microsoft YaHei" panose="020B0503020204020204" pitchFamily="34" charset="-122"/>
              </a:rPr>
              <a:t>、</a:t>
            </a:r>
            <a:r>
              <a:rPr lang="en-US" altLang="zh-CN" sz="1600" b="0" i="0" dirty="0">
                <a:solidFill>
                  <a:srgbClr val="0070C0"/>
                </a:solidFill>
                <a:effectLst/>
                <a:latin typeface="Microsoft YaHei" panose="020B0503020204020204" pitchFamily="34" charset="-122"/>
                <a:ea typeface="Microsoft YaHei" panose="020B0503020204020204" pitchFamily="34" charset="-122"/>
              </a:rPr>
              <a:t>b</a:t>
            </a:r>
            <a:r>
              <a:rPr lang="zh-CN" altLang="en-US" sz="1600" b="0" i="0" dirty="0">
                <a:solidFill>
                  <a:srgbClr val="0070C0"/>
                </a:solidFill>
                <a:effectLst/>
                <a:latin typeface="Microsoft YaHei" panose="020B0503020204020204" pitchFamily="34" charset="-122"/>
                <a:ea typeface="Microsoft YaHei" panose="020B0503020204020204" pitchFamily="34" charset="-122"/>
              </a:rPr>
              <a:t>、</a:t>
            </a:r>
            <a:r>
              <a:rPr lang="en-US" altLang="zh-CN" sz="1600" b="0" i="0" dirty="0" err="1">
                <a:solidFill>
                  <a:srgbClr val="0070C0"/>
                </a:solidFill>
                <a:effectLst/>
                <a:latin typeface="Microsoft YaHei" panose="020B0503020204020204" pitchFamily="34" charset="-122"/>
                <a:ea typeface="Microsoft YaHei" panose="020B0503020204020204" pitchFamily="34" charset="-122"/>
              </a:rPr>
              <a:t>beq</a:t>
            </a:r>
            <a:r>
              <a:rPr lang="zh-CN" altLang="en-US" sz="1600" b="0" i="0" dirty="0">
                <a:solidFill>
                  <a:srgbClr val="0070C0"/>
                </a:solidFill>
                <a:effectLst/>
                <a:latin typeface="Microsoft YaHei" panose="020B0503020204020204" pitchFamily="34" charset="-122"/>
                <a:ea typeface="Microsoft YaHei" panose="020B0503020204020204" pitchFamily="34" charset="-122"/>
              </a:rPr>
              <a:t>、</a:t>
            </a:r>
            <a:r>
              <a:rPr lang="en-US" altLang="zh-CN" sz="1600" b="0" i="0" dirty="0" err="1">
                <a:solidFill>
                  <a:srgbClr val="0070C0"/>
                </a:solidFill>
                <a:effectLst/>
                <a:latin typeface="Microsoft YaHei" panose="020B0503020204020204" pitchFamily="34" charset="-122"/>
                <a:ea typeface="Microsoft YaHei" panose="020B0503020204020204" pitchFamily="34" charset="-122"/>
              </a:rPr>
              <a:t>lb</a:t>
            </a:r>
            <a:r>
              <a:rPr lang="zh-CN" altLang="en-US" sz="1600" b="0" i="0" dirty="0">
                <a:solidFill>
                  <a:srgbClr val="0070C0"/>
                </a:solidFill>
                <a:effectLst/>
                <a:latin typeface="Microsoft YaHei" panose="020B0503020204020204" pitchFamily="34" charset="-122"/>
                <a:ea typeface="Microsoft YaHei" panose="020B0503020204020204" pitchFamily="34" charset="-122"/>
              </a:rPr>
              <a:t>、</a:t>
            </a:r>
            <a:r>
              <a:rPr lang="en-US" altLang="zh-CN" sz="1600" b="0" i="0" dirty="0" err="1">
                <a:solidFill>
                  <a:srgbClr val="0070C0"/>
                </a:solidFill>
                <a:effectLst/>
                <a:latin typeface="Microsoft YaHei" panose="020B0503020204020204" pitchFamily="34" charset="-122"/>
                <a:ea typeface="Microsoft YaHei" panose="020B0503020204020204" pitchFamily="34" charset="-122"/>
              </a:rPr>
              <a:t>ub</a:t>
            </a:r>
            <a:r>
              <a:rPr lang="en-US" altLang="zh-CN" sz="1600" b="0" i="0" dirty="0">
                <a:solidFill>
                  <a:srgbClr val="0070C0"/>
                </a:solidFill>
                <a:effectLst/>
                <a:latin typeface="Microsoft YaHei" panose="020B0503020204020204" pitchFamily="34" charset="-122"/>
                <a:ea typeface="Microsoft YaHei" panose="020B0503020204020204" pitchFamily="34" charset="-122"/>
              </a:rPr>
              <a:t> </a:t>
            </a:r>
            <a:r>
              <a:rPr lang="zh-CN" altLang="en-US" sz="1600" b="0" i="0" dirty="0">
                <a:solidFill>
                  <a:srgbClr val="0070C0"/>
                </a:solidFill>
                <a:effectLst/>
                <a:latin typeface="Microsoft YaHei" panose="020B0503020204020204" pitchFamily="34" charset="-122"/>
                <a:ea typeface="Microsoft YaHei" panose="020B0503020204020204" pitchFamily="34" charset="-122"/>
              </a:rPr>
              <a:t>和 </a:t>
            </a:r>
            <a:r>
              <a:rPr lang="en-US" altLang="zh-CN" sz="1600" b="0" i="0" dirty="0">
                <a:solidFill>
                  <a:srgbClr val="0070C0"/>
                </a:solidFill>
                <a:effectLst/>
                <a:latin typeface="Microsoft YaHei" panose="020B0503020204020204" pitchFamily="34" charset="-122"/>
                <a:ea typeface="Microsoft YaHei" panose="020B0503020204020204" pitchFamily="34" charset="-122"/>
              </a:rPr>
              <a:t>x </a:t>
            </a:r>
            <a:r>
              <a:rPr lang="zh-CN" altLang="en-US" sz="1600" b="0" i="0" dirty="0">
                <a:solidFill>
                  <a:srgbClr val="0070C0"/>
                </a:solidFill>
                <a:effectLst/>
                <a:latin typeface="Microsoft YaHei" panose="020B0503020204020204" pitchFamily="34" charset="-122"/>
                <a:ea typeface="Microsoft YaHei" panose="020B0503020204020204" pitchFamily="34" charset="-122"/>
              </a:rPr>
              <a:t>是向量</a:t>
            </a:r>
          </a:p>
          <a:p>
            <a:pPr marL="285750" indent="-285750" algn="l">
              <a:buFont typeface="Wingdings" panose="05000000000000000000" pitchFamily="2" charset="2"/>
              <a:buChar char="p"/>
            </a:pPr>
            <a:endParaRPr lang="zh-CN" altLang="en-US" b="0" i="0" dirty="0">
              <a:solidFill>
                <a:srgbClr val="212121"/>
              </a:solidFill>
              <a:effectLst/>
              <a:latin typeface="Microsoft YaHei" panose="020B0503020204020204" pitchFamily="34" charset="-122"/>
              <a:ea typeface="Microsoft YaHei" panose="020B0503020204020204" pitchFamily="34" charset="-122"/>
            </a:endParaRPr>
          </a:p>
        </p:txBody>
      </p:sp>
      <p:sp>
        <p:nvSpPr>
          <p:cNvPr id="9" name="文本框 8">
            <a:extLst>
              <a:ext uri="{FF2B5EF4-FFF2-40B4-BE49-F238E27FC236}">
                <a16:creationId xmlns:a16="http://schemas.microsoft.com/office/drawing/2014/main" id="{7532A80D-C603-4F33-B326-523DEC217F1C}"/>
              </a:ext>
            </a:extLst>
          </p:cNvPr>
          <p:cNvSpPr txBox="1"/>
          <p:nvPr/>
        </p:nvSpPr>
        <p:spPr>
          <a:xfrm>
            <a:off x="1416968" y="67185"/>
            <a:ext cx="7547520" cy="523220"/>
          </a:xfrm>
          <a:prstGeom prst="rect">
            <a:avLst/>
          </a:prstGeom>
          <a:noFill/>
        </p:spPr>
        <p:txBody>
          <a:bodyPr wrap="square">
            <a:spAutoFit/>
          </a:bodyPr>
          <a:lstStyle/>
          <a:p>
            <a:pPr marL="0" indent="0">
              <a:buNone/>
            </a:pPr>
            <a:r>
              <a:rPr lang="en-US" altLang="zh-CN" sz="2800" b="0" dirty="0">
                <a:solidFill>
                  <a:srgbClr val="002060"/>
                </a:solidFill>
                <a:latin typeface="华文楷体" panose="02010600040101010101" pitchFamily="2" charset="-122"/>
                <a:ea typeface="华文楷体" panose="02010600040101010101" pitchFamily="2" charset="-122"/>
              </a:rPr>
              <a:t>§8.3 </a:t>
            </a:r>
            <a:r>
              <a:rPr lang="zh-CN" altLang="en-US" sz="2800" b="0" dirty="0">
                <a:solidFill>
                  <a:srgbClr val="002060"/>
                </a:solidFill>
                <a:latin typeface="华文楷体" panose="02010600040101010101" pitchFamily="2" charset="-122"/>
                <a:ea typeface="华文楷体" panose="02010600040101010101" pitchFamily="2" charset="-122"/>
              </a:rPr>
              <a:t>二次</a:t>
            </a:r>
            <a:r>
              <a:rPr lang="zh-CN" altLang="en-US" sz="2800" dirty="0">
                <a:latin typeface="华文楷体" panose="02010600040101010101" pitchFamily="2" charset="-122"/>
                <a:ea typeface="华文楷体" panose="02010600040101010101" pitchFamily="2" charset="-122"/>
              </a:rPr>
              <a:t>规划 </a:t>
            </a:r>
            <a:r>
              <a:rPr lang="en-US" altLang="zh-CN" sz="2800" dirty="0" err="1">
                <a:latin typeface="华文楷体" panose="02010600040101010101" pitchFamily="2" charset="-122"/>
                <a:ea typeface="华文楷体" panose="02010600040101010101" pitchFamily="2" charset="-122"/>
              </a:rPr>
              <a:t>quad</a:t>
            </a:r>
            <a:r>
              <a:rPr lang="en-US" altLang="zh-CN" sz="2800" dirty="0" err="1">
                <a:latin typeface="华文楷体" panose="02010600040101010101" pitchFamily="2" charset="-122"/>
                <a:ea typeface="华文楷体" panose="02010600040101010101" pitchFamily="2" charset="-122"/>
                <a:hlinkClick r:id="rId2" action="ppaction://hlinkfile">
                  <a:extLst>
                    <a:ext uri="{A12FA001-AC4F-418D-AE19-62706E023703}">
                      <ahyp:hlinkClr xmlns:ahyp="http://schemas.microsoft.com/office/drawing/2018/hyperlinkcolor" val="tx"/>
                    </a:ext>
                  </a:extLst>
                </a:hlinkClick>
              </a:rPr>
              <a:t>prog</a:t>
            </a:r>
            <a:r>
              <a:rPr lang="en-US" altLang="zh-CN" sz="2800" b="0" kern="0" dirty="0">
                <a:solidFill>
                  <a:srgbClr val="FF0000"/>
                </a:solidFill>
                <a:latin typeface="华文楷体" panose="02010600040101010101" pitchFamily="2" charset="-122"/>
                <a:ea typeface="华文楷体" panose="02010600040101010101" pitchFamily="2" charset="-122"/>
              </a:rPr>
              <a:t> ——</a:t>
            </a:r>
            <a:r>
              <a:rPr lang="zh-CN" altLang="en-US" sz="2800" b="0" kern="0" dirty="0">
                <a:solidFill>
                  <a:srgbClr val="FF0000"/>
                </a:solidFill>
                <a:latin typeface="华文楷体" panose="02010600040101010101" pitchFamily="2" charset="-122"/>
                <a:ea typeface="华文楷体" panose="02010600040101010101" pitchFamily="2" charset="-122"/>
              </a:rPr>
              <a:t>规划函数</a:t>
            </a:r>
            <a:r>
              <a:rPr lang="zh-CN" altLang="en-US" sz="2800" kern="0" dirty="0">
                <a:solidFill>
                  <a:srgbClr val="FF0000"/>
                </a:solidFill>
                <a:latin typeface="华文楷体" panose="02010600040101010101" pitchFamily="2" charset="-122"/>
                <a:ea typeface="华文楷体" panose="02010600040101010101" pitchFamily="2" charset="-122"/>
              </a:rPr>
              <a:t>语法</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10" name="文本框 9">
            <a:extLst>
              <a:ext uri="{FF2B5EF4-FFF2-40B4-BE49-F238E27FC236}">
                <a16:creationId xmlns:a16="http://schemas.microsoft.com/office/drawing/2014/main" id="{15496C67-D1B2-4316-A60A-64DB2E988312}"/>
              </a:ext>
            </a:extLst>
          </p:cNvPr>
          <p:cNvSpPr txBox="1"/>
          <p:nvPr/>
        </p:nvSpPr>
        <p:spPr>
          <a:xfrm>
            <a:off x="6456915" y="1198868"/>
            <a:ext cx="2483661" cy="416589"/>
          </a:xfrm>
          <a:prstGeom prst="rect">
            <a:avLst/>
          </a:prstGeom>
          <a:noFill/>
        </p:spPr>
        <p:txBody>
          <a:bodyPr wrap="square">
            <a:spAutoFit/>
          </a:bodyPr>
          <a:lstStyle>
            <a:defPPr>
              <a:defRPr lang="zh-CN"/>
            </a:defPPr>
            <a:lvl1pPr marL="285750" indent="-285750">
              <a:lnSpc>
                <a:spcPts val="2800"/>
              </a:lnSpc>
              <a:buFont typeface="Wingdings" panose="05000000000000000000" pitchFamily="2" charset="2"/>
              <a:buChar char="Ø"/>
              <a:defRPr sz="2200">
                <a:solidFill>
                  <a:srgbClr val="2C3E50"/>
                </a:solidFill>
                <a:latin typeface="华文楷体" panose="02010600040101010101" pitchFamily="2" charset="-122"/>
                <a:ea typeface="华文楷体" panose="02010600040101010101" pitchFamily="2" charset="-122"/>
              </a:defRPr>
            </a:lvl1pPr>
          </a:lstStyle>
          <a:p>
            <a:r>
              <a:rPr lang="en-US" altLang="zh-CN" sz="1800" dirty="0">
                <a:solidFill>
                  <a:srgbClr val="FF0000"/>
                </a:solidFill>
                <a:latin typeface="微软雅黑" panose="020B0503020204020204" pitchFamily="34" charset="-122"/>
                <a:ea typeface="微软雅黑" panose="020B0503020204020204" pitchFamily="34" charset="-122"/>
              </a:rPr>
              <a:t>x</a:t>
            </a:r>
            <a:r>
              <a:rPr lang="zh-CN" altLang="en-US" sz="1800" dirty="0">
                <a:solidFill>
                  <a:srgbClr val="FF0000"/>
                </a:solidFill>
                <a:latin typeface="微软雅黑" panose="020B0503020204020204" pitchFamily="34" charset="-122"/>
                <a:ea typeface="微软雅黑" panose="020B0503020204020204" pitchFamily="34" charset="-122"/>
              </a:rPr>
              <a:t>、</a:t>
            </a:r>
            <a:r>
              <a:rPr lang="en-US" altLang="zh-CN" sz="1800" dirty="0">
                <a:solidFill>
                  <a:srgbClr val="FF0000"/>
                </a:solidFill>
                <a:latin typeface="微软雅黑" panose="020B0503020204020204" pitchFamily="34" charset="-122"/>
                <a:ea typeface="微软雅黑" panose="020B0503020204020204" pitchFamily="34" charset="-122"/>
              </a:rPr>
              <a:t>H</a:t>
            </a:r>
            <a:r>
              <a:rPr lang="zh-CN" altLang="en-US" sz="1800" dirty="0">
                <a:solidFill>
                  <a:srgbClr val="FF0000"/>
                </a:solidFill>
                <a:latin typeface="微软雅黑" panose="020B0503020204020204" pitchFamily="34" charset="-122"/>
                <a:ea typeface="微软雅黑" panose="020B0503020204020204" pitchFamily="34" charset="-122"/>
              </a:rPr>
              <a:t>和</a:t>
            </a:r>
            <a:r>
              <a:rPr lang="en-US" altLang="zh-CN" sz="1800" dirty="0">
                <a:solidFill>
                  <a:srgbClr val="FF0000"/>
                </a:solidFill>
                <a:latin typeface="微软雅黑" panose="020B0503020204020204" pitchFamily="34" charset="-122"/>
                <a:ea typeface="微软雅黑" panose="020B0503020204020204" pitchFamily="34" charset="-122"/>
              </a:rPr>
              <a:t>f</a:t>
            </a:r>
            <a:r>
              <a:rPr lang="zh-CN" altLang="en-US" sz="1800" dirty="0">
                <a:solidFill>
                  <a:srgbClr val="FF0000"/>
                </a:solidFill>
                <a:latin typeface="微软雅黑" panose="020B0503020204020204" pitchFamily="34" charset="-122"/>
                <a:ea typeface="微软雅黑" panose="020B0503020204020204" pitchFamily="34" charset="-122"/>
              </a:rPr>
              <a:t>必不可少</a:t>
            </a:r>
          </a:p>
        </p:txBody>
      </p:sp>
    </p:spTree>
    <p:extLst>
      <p:ext uri="{BB962C8B-B14F-4D97-AF65-F5344CB8AC3E}">
        <p14:creationId xmlns:p14="http://schemas.microsoft.com/office/powerpoint/2010/main" val="3824467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775CD26-4092-4778-920B-6F18AF4E4844}"/>
              </a:ext>
            </a:extLst>
          </p:cNvPr>
          <p:cNvSpPr txBox="1"/>
          <p:nvPr/>
        </p:nvSpPr>
        <p:spPr>
          <a:xfrm>
            <a:off x="1416968" y="67185"/>
            <a:ext cx="7547520" cy="523220"/>
          </a:xfrm>
          <a:prstGeom prst="rect">
            <a:avLst/>
          </a:prstGeom>
          <a:noFill/>
        </p:spPr>
        <p:txBody>
          <a:bodyPr wrap="square">
            <a:spAutoFit/>
          </a:bodyPr>
          <a:lstStyle/>
          <a:p>
            <a:pPr marL="0" indent="0">
              <a:buNone/>
            </a:pPr>
            <a:r>
              <a:rPr lang="en-US" altLang="zh-CN" sz="2800" b="0" dirty="0">
                <a:solidFill>
                  <a:srgbClr val="002060"/>
                </a:solidFill>
                <a:latin typeface="华文楷体" panose="02010600040101010101" pitchFamily="2" charset="-122"/>
                <a:ea typeface="华文楷体" panose="02010600040101010101" pitchFamily="2" charset="-122"/>
              </a:rPr>
              <a:t>§8.3 </a:t>
            </a:r>
            <a:r>
              <a:rPr lang="zh-CN" altLang="en-US" sz="2800" b="0" dirty="0">
                <a:solidFill>
                  <a:srgbClr val="002060"/>
                </a:solidFill>
                <a:latin typeface="华文楷体" panose="02010600040101010101" pitchFamily="2" charset="-122"/>
                <a:ea typeface="华文楷体" panose="02010600040101010101" pitchFamily="2" charset="-122"/>
              </a:rPr>
              <a:t>二次</a:t>
            </a:r>
            <a:r>
              <a:rPr lang="zh-CN" altLang="en-US" sz="2800" dirty="0">
                <a:latin typeface="华文楷体" panose="02010600040101010101" pitchFamily="2" charset="-122"/>
                <a:ea typeface="华文楷体" panose="02010600040101010101" pitchFamily="2" charset="-122"/>
              </a:rPr>
              <a:t>规划 </a:t>
            </a:r>
            <a:r>
              <a:rPr lang="en-US" altLang="zh-CN" sz="2800" dirty="0" err="1">
                <a:solidFill>
                  <a:srgbClr val="002060"/>
                </a:solidFill>
                <a:latin typeface="华文楷体" panose="02010600040101010101" pitchFamily="2" charset="-122"/>
                <a:ea typeface="华文楷体" panose="02010600040101010101" pitchFamily="2" charset="-122"/>
              </a:rPr>
              <a:t>quad</a:t>
            </a:r>
            <a:r>
              <a:rPr lang="en-US" altLang="zh-CN" sz="2800" dirty="0" err="1">
                <a:solidFill>
                  <a:srgbClr val="002060"/>
                </a:solidFill>
                <a:latin typeface="华文楷体" panose="02010600040101010101" pitchFamily="2" charset="-122"/>
                <a:ea typeface="华文楷体" panose="02010600040101010101" pitchFamily="2" charset="-122"/>
                <a:hlinkClick r:id="rId2" action="ppaction://hlinkfile">
                  <a:extLst>
                    <a:ext uri="{A12FA001-AC4F-418D-AE19-62706E023703}">
                      <ahyp:hlinkClr xmlns:ahyp="http://schemas.microsoft.com/office/drawing/2018/hyperlinkcolor" val="tx"/>
                    </a:ext>
                  </a:extLst>
                </a:hlinkClick>
              </a:rPr>
              <a:t>prog</a:t>
            </a:r>
            <a:r>
              <a:rPr lang="en-US" altLang="zh-CN" sz="2800" dirty="0">
                <a:solidFill>
                  <a:srgbClr val="002060"/>
                </a:solidFill>
                <a:latin typeface="华文楷体" panose="02010600040101010101" pitchFamily="2" charset="-122"/>
                <a:ea typeface="华文楷体" panose="02010600040101010101" pitchFamily="2" charset="-122"/>
              </a:rPr>
              <a:t> </a:t>
            </a:r>
            <a:r>
              <a:rPr lang="en-US" altLang="zh-CN" sz="2800" b="0" kern="0" dirty="0">
                <a:solidFill>
                  <a:srgbClr val="FF0000"/>
                </a:solidFill>
                <a:latin typeface="华文楷体" panose="02010600040101010101" pitchFamily="2" charset="-122"/>
                <a:ea typeface="华文楷体" panose="02010600040101010101" pitchFamily="2" charset="-122"/>
              </a:rPr>
              <a:t>——</a:t>
            </a:r>
            <a:r>
              <a:rPr lang="zh-CN" altLang="en-US" sz="2800" b="0" kern="0" dirty="0">
                <a:solidFill>
                  <a:srgbClr val="FF0000"/>
                </a:solidFill>
                <a:latin typeface="华文楷体" panose="02010600040101010101" pitchFamily="2" charset="-122"/>
                <a:ea typeface="华文楷体" panose="02010600040101010101" pitchFamily="2" charset="-122"/>
              </a:rPr>
              <a:t>投资组合案例</a:t>
            </a:r>
            <a:endParaRPr lang="en-US" altLang="zh-CN" sz="2800" dirty="0">
              <a:solidFill>
                <a:srgbClr val="FF0000"/>
              </a:solidFill>
              <a:latin typeface="华文楷体" panose="02010600040101010101" pitchFamily="2" charset="-122"/>
              <a:ea typeface="华文楷体" panose="02010600040101010101" pitchFamily="2" charset="-122"/>
            </a:endParaRPr>
          </a:p>
        </p:txBody>
      </p:sp>
      <p:pic>
        <p:nvPicPr>
          <p:cNvPr id="5" name="图片 4">
            <a:extLst>
              <a:ext uri="{FF2B5EF4-FFF2-40B4-BE49-F238E27FC236}">
                <a16:creationId xmlns:a16="http://schemas.microsoft.com/office/drawing/2014/main" id="{8B9B7349-4DAE-422A-B573-1E122674820A}"/>
              </a:ext>
            </a:extLst>
          </p:cNvPr>
          <p:cNvPicPr/>
          <p:nvPr/>
        </p:nvPicPr>
        <p:blipFill rotWithShape="1">
          <a:blip r:embed="rId3"/>
          <a:srcRect l="-1" t="80550" r="46825" b="3734"/>
          <a:stretch/>
        </p:blipFill>
        <p:spPr>
          <a:xfrm>
            <a:off x="1434451" y="3792249"/>
            <a:ext cx="3600400" cy="795725"/>
          </a:xfrm>
          <a:prstGeom prst="rect">
            <a:avLst/>
          </a:prstGeom>
        </p:spPr>
      </p:pic>
      <p:sp>
        <p:nvSpPr>
          <p:cNvPr id="7" name="文本框 6">
            <a:extLst>
              <a:ext uri="{FF2B5EF4-FFF2-40B4-BE49-F238E27FC236}">
                <a16:creationId xmlns:a16="http://schemas.microsoft.com/office/drawing/2014/main" id="{6C222D50-C055-4F86-B2EC-4379AC1D5A51}"/>
              </a:ext>
            </a:extLst>
          </p:cNvPr>
          <p:cNvSpPr txBox="1"/>
          <p:nvPr/>
        </p:nvSpPr>
        <p:spPr>
          <a:xfrm>
            <a:off x="1511644" y="714517"/>
            <a:ext cx="7145956" cy="400110"/>
          </a:xfrm>
          <a:prstGeom prst="rect">
            <a:avLst/>
          </a:prstGeom>
          <a:noFill/>
        </p:spPr>
        <p:txBody>
          <a:bodyPr wrap="square">
            <a:spAutoFit/>
          </a:bodyPr>
          <a:lstStyle/>
          <a:p>
            <a:pPr algn="just"/>
            <a:r>
              <a:rPr lang="zh-CN" altLang="zh-CN" sz="2000" b="1"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投资组合优化</a:t>
            </a:r>
            <a:r>
              <a:rPr lang="zh-CN" altLang="zh-CN" sz="2000" b="1" kern="100" dirty="0">
                <a:solidFill>
                  <a:srgbClr val="0070C0"/>
                </a:solidFill>
                <a:effectLst/>
                <a:latin typeface="等线" panose="02010600030101010101" pitchFamily="2" charset="-122"/>
                <a:ea typeface="MS Gothic" panose="020B0609070205080204" pitchFamily="49" charset="-128"/>
                <a:cs typeface="MS Gothic" panose="020B0609070205080204" pitchFamily="49" charset="-128"/>
              </a:rPr>
              <a:t>‌</a:t>
            </a:r>
            <a:r>
              <a:rPr lang="zh-CN" altLang="zh-CN" sz="2000" b="1"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问题描述</a:t>
            </a:r>
            <a:r>
              <a:rPr lang="zh-CN" altLang="en-US" sz="2000" b="1"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a:t>
            </a:r>
            <a:r>
              <a:rPr lang="zh-CN" altLang="zh-CN" sz="2000"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某基金需配置</a:t>
            </a:r>
            <a:r>
              <a:rPr lang="en-US" altLang="zh-CN" sz="2000"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3</a:t>
            </a:r>
            <a:r>
              <a:rPr lang="zh-CN" altLang="zh-CN" sz="2000"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只股票</a:t>
            </a:r>
            <a:r>
              <a:rPr lang="zh-CN" altLang="zh-CN" sz="2000" b="1" kern="100" dirty="0">
                <a:solidFill>
                  <a:srgbClr val="0070C0"/>
                </a:solidFill>
                <a:latin typeface="等线" panose="02010600030101010101" pitchFamily="2" charset="-122"/>
                <a:ea typeface="MS Gothic" panose="020B0609070205080204" pitchFamily="49" charset="-128"/>
                <a:cs typeface="MS Gothic" panose="020B0609070205080204" pitchFamily="49" charset="-128"/>
              </a:rPr>
              <a:t>‌</a:t>
            </a:r>
            <a:r>
              <a:rPr lang="zh-CN" altLang="en-US" sz="2000" b="1"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20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8D3CB34A-47CD-4812-BE69-7D76706B35BF}"/>
              </a:ext>
            </a:extLst>
          </p:cNvPr>
          <p:cNvSpPr txBox="1"/>
          <p:nvPr/>
        </p:nvSpPr>
        <p:spPr>
          <a:xfrm>
            <a:off x="1403617" y="1914386"/>
            <a:ext cx="7538542" cy="369332"/>
          </a:xfrm>
          <a:prstGeom prst="rect">
            <a:avLst/>
          </a:prstGeom>
          <a:noFill/>
        </p:spPr>
        <p:txBody>
          <a:bodyPr wrap="square">
            <a:spAutoFit/>
          </a:bodyPr>
          <a:lstStyle/>
          <a:p>
            <a:pPr lvl="0">
              <a:buSzPts val="1000"/>
              <a:tabLst>
                <a:tab pos="457200" algn="l"/>
              </a:tabLst>
            </a:pPr>
            <a:r>
              <a:rPr lang="zh-CN" altLang="en-US"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目标函数：</a:t>
            </a:r>
            <a:r>
              <a:rPr lang="zh-CN"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协方差矩阵：</a:t>
            </a:r>
            <a:r>
              <a:rPr lang="en-US"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Σ=[0.04 0.01 0.02</a:t>
            </a:r>
            <a:r>
              <a:rPr lang="en-US" altLang="zh-CN"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  0.01 0.09 0.03</a:t>
            </a:r>
            <a:r>
              <a:rPr lang="zh-CN" altLang="en-US"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0.02 0.03 0.16]</a:t>
            </a:r>
            <a:endParaRPr lang="zh-CN"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11" name="文本框 10">
            <a:extLst>
              <a:ext uri="{FF2B5EF4-FFF2-40B4-BE49-F238E27FC236}">
                <a16:creationId xmlns:a16="http://schemas.microsoft.com/office/drawing/2014/main" id="{E49D2BCB-C627-4317-A189-D9BA582A03EA}"/>
              </a:ext>
            </a:extLst>
          </p:cNvPr>
          <p:cNvSpPr txBox="1"/>
          <p:nvPr/>
        </p:nvSpPr>
        <p:spPr>
          <a:xfrm>
            <a:off x="1422998" y="3386352"/>
            <a:ext cx="2942166" cy="369332"/>
          </a:xfrm>
          <a:prstGeom prst="rect">
            <a:avLst/>
          </a:prstGeom>
          <a:noFill/>
        </p:spPr>
        <p:txBody>
          <a:bodyPr wrap="square">
            <a:spAutoFit/>
          </a:bodyPr>
          <a:lstStyle/>
          <a:p>
            <a:r>
              <a:rPr lang="zh-CN" altLang="zh-CN" sz="1800" b="1"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投资组合优化</a:t>
            </a:r>
            <a:r>
              <a:rPr lang="zh-CN" altLang="zh-CN" sz="1800" b="1" kern="100" dirty="0">
                <a:solidFill>
                  <a:srgbClr val="0070C0"/>
                </a:solidFill>
                <a:effectLst/>
                <a:latin typeface="等线" panose="02010600030101010101" pitchFamily="2" charset="-122"/>
                <a:ea typeface="MS Gothic" panose="020B0609070205080204" pitchFamily="49" charset="-128"/>
                <a:cs typeface="MS Gothic" panose="020B0609070205080204" pitchFamily="49" charset="-128"/>
              </a:rPr>
              <a:t>‌</a:t>
            </a:r>
            <a:r>
              <a:rPr lang="zh-CN" altLang="en-US" sz="1800" b="1"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的数学模型</a:t>
            </a:r>
            <a:endParaRPr lang="zh-CN" altLang="en-US" dirty="0"/>
          </a:p>
        </p:txBody>
      </p:sp>
      <p:sp>
        <p:nvSpPr>
          <p:cNvPr id="13" name="文本框 12">
            <a:extLst>
              <a:ext uri="{FF2B5EF4-FFF2-40B4-BE49-F238E27FC236}">
                <a16:creationId xmlns:a16="http://schemas.microsoft.com/office/drawing/2014/main" id="{1611E238-D433-4C27-BF58-D20ACFAB83E8}"/>
              </a:ext>
            </a:extLst>
          </p:cNvPr>
          <p:cNvSpPr txBox="1"/>
          <p:nvPr/>
        </p:nvSpPr>
        <p:spPr>
          <a:xfrm>
            <a:off x="1434451" y="1117761"/>
            <a:ext cx="7386021" cy="2214004"/>
          </a:xfrm>
          <a:prstGeom prst="rect">
            <a:avLst/>
          </a:prstGeom>
          <a:noFill/>
        </p:spPr>
        <p:txBody>
          <a:bodyPr wrap="square">
            <a:spAutoFit/>
          </a:bodyPr>
          <a:lstStyle/>
          <a:p>
            <a:pPr marL="285750" indent="-285750" algn="just">
              <a:lnSpc>
                <a:spcPts val="2800"/>
              </a:lnSpc>
              <a:buFont typeface="Wingdings" panose="05000000000000000000" pitchFamily="2" charset="2"/>
              <a:buChar char="p"/>
            </a:pPr>
            <a:r>
              <a:rPr lang="zh-CN" altLang="en-US"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决策量：投资比例</a:t>
            </a:r>
            <a:r>
              <a:rPr lang="en-US"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w=[x1</a:t>
            </a:r>
            <a:r>
              <a:rPr lang="zh-CN"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x2</a:t>
            </a:r>
            <a:r>
              <a:rPr lang="zh-CN"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x3]</a:t>
            </a:r>
            <a:r>
              <a:rPr lang="zh-CN"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a:t>
            </a:r>
            <a:r>
              <a:rPr lang="zh-CN" altLang="en-US"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即</a:t>
            </a:r>
            <a:r>
              <a:rPr lang="en-US" altLang="zh-CN"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x1+x2+x3=100%</a:t>
            </a:r>
            <a:endParaRPr lang="en-US"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endParaRPr>
          </a:p>
          <a:p>
            <a:pPr marL="285750" indent="-285750" algn="just">
              <a:lnSpc>
                <a:spcPts val="2800"/>
              </a:lnSpc>
              <a:buFont typeface="Wingdings" panose="05000000000000000000" pitchFamily="2" charset="2"/>
              <a:buChar char="p"/>
            </a:pPr>
            <a:r>
              <a:rPr lang="zh-CN" altLang="en-US"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优化</a:t>
            </a:r>
            <a:r>
              <a:rPr lang="zh-CN"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目标</a:t>
            </a:r>
            <a:r>
              <a:rPr lang="zh-CN" altLang="en-US"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年化收益率</a:t>
            </a:r>
            <a:r>
              <a:rPr lang="en-US"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≥15%</a:t>
            </a:r>
            <a:r>
              <a:rPr lang="zh-CN"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的条件下</a:t>
            </a:r>
            <a:r>
              <a:rPr lang="en-US"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投资</a:t>
            </a:r>
            <a:r>
              <a:rPr lang="zh-CN" altLang="zh-CN"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风险最小化。</a:t>
            </a:r>
            <a:endParaRPr lang="en-US"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endParaRPr>
          </a:p>
          <a:p>
            <a:pPr marL="285750" lvl="0" indent="-285750" algn="just">
              <a:lnSpc>
                <a:spcPts val="2800"/>
              </a:lnSpc>
              <a:buSzPts val="1000"/>
              <a:buFont typeface="Wingdings" panose="05000000000000000000" pitchFamily="2" charset="2"/>
              <a:buChar char="p"/>
              <a:tabLst>
                <a:tab pos="457200" algn="l"/>
              </a:tabLst>
            </a:pPr>
            <a:endParaRPr lang="en-US"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endParaRPr>
          </a:p>
          <a:p>
            <a:pPr marL="285750" lvl="0" indent="-285750" algn="just">
              <a:lnSpc>
                <a:spcPts val="2800"/>
              </a:lnSpc>
              <a:buSzPts val="1000"/>
              <a:buFont typeface="Wingdings" panose="05000000000000000000" pitchFamily="2" charset="2"/>
              <a:buChar char="p"/>
              <a:tabLst>
                <a:tab pos="457200" algn="l"/>
              </a:tabLst>
            </a:pPr>
            <a:endParaRPr lang="en-US" altLang="zh-CN"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a:p>
            <a:pPr marL="285750" lvl="0" indent="-285750" algn="just">
              <a:lnSpc>
                <a:spcPts val="2800"/>
              </a:lnSpc>
              <a:buSzPts val="1000"/>
              <a:buFont typeface="Wingdings" panose="05000000000000000000" pitchFamily="2" charset="2"/>
              <a:buChar char="p"/>
              <a:tabLst>
                <a:tab pos="457200" algn="l"/>
              </a:tabLst>
            </a:pPr>
            <a:r>
              <a:rPr lang="zh-CN"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收益率：</a:t>
            </a:r>
            <a:r>
              <a:rPr lang="en-US"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μ=[0.18,0.12,0.25]</a:t>
            </a:r>
            <a:r>
              <a:rPr lang="en-US" altLang="zh-CN" sz="1800" i="1"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 </a:t>
            </a:r>
            <a:endParaRPr lang="en-US" altLang="zh-CN" i="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a:p>
            <a:pPr marL="285750" lvl="0" indent="-285750" algn="just">
              <a:lnSpc>
                <a:spcPts val="2800"/>
              </a:lnSpc>
              <a:buSzPts val="1000"/>
              <a:buFont typeface="Wingdings" panose="05000000000000000000" pitchFamily="2" charset="2"/>
              <a:buChar char="p"/>
              <a:tabLst>
                <a:tab pos="457200" algn="l"/>
              </a:tabLst>
            </a:pPr>
            <a:r>
              <a:rPr lang="zh-CN"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约束条件：单只股票仓位</a:t>
            </a:r>
            <a:r>
              <a:rPr lang="en-US"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≤50%</a:t>
            </a:r>
            <a:r>
              <a:rPr lang="zh-CN"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，总仓位</a:t>
            </a:r>
            <a:r>
              <a:rPr lang="en-US" altLang="zh-CN"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x1+x2+x3</a:t>
            </a:r>
            <a:r>
              <a:rPr lang="en-US"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=100%</a:t>
            </a:r>
            <a:r>
              <a:rPr lang="en-US" altLang="zh-CN" sz="1800" kern="100" dirty="0">
                <a:solidFill>
                  <a:srgbClr val="0070C0"/>
                </a:solidFill>
                <a:effectLst/>
                <a:latin typeface="MS Gothic" panose="020B0609070205080204" pitchFamily="49" charset="-128"/>
                <a:ea typeface="等线" panose="02010600030101010101" pitchFamily="2" charset="-122"/>
                <a:cs typeface="MS Gothic" panose="020B0609070205080204" pitchFamily="49" charset="-128"/>
              </a:rPr>
              <a:t> </a:t>
            </a:r>
            <a:endParaRPr lang="zh-CN" altLang="zh-CN" sz="1800"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8" name="波形 7">
            <a:extLst>
              <a:ext uri="{FF2B5EF4-FFF2-40B4-BE49-F238E27FC236}">
                <a16:creationId xmlns:a16="http://schemas.microsoft.com/office/drawing/2014/main" id="{593EE50F-A522-4B6C-B088-9308BDD89192}"/>
              </a:ext>
            </a:extLst>
          </p:cNvPr>
          <p:cNvSpPr/>
          <p:nvPr/>
        </p:nvSpPr>
        <p:spPr>
          <a:xfrm>
            <a:off x="570355" y="755963"/>
            <a:ext cx="864096" cy="295684"/>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charset="-122"/>
                <a:ea typeface="微软雅黑" panose="020B0503020204020204" charset="-122"/>
              </a:rPr>
              <a:t>例83-1</a:t>
            </a:r>
            <a:endParaRPr lang="ko-KR" altLang="en-US" b="1" dirty="0">
              <a:solidFill>
                <a:srgbClr val="FFFF00"/>
              </a:solidFill>
              <a:latin typeface="微软雅黑" panose="020B0503020204020204" charset="-122"/>
              <a:ea typeface="微软雅黑" panose="020B0503020204020204" charset="-122"/>
            </a:endParaRPr>
          </a:p>
        </p:txBody>
      </p:sp>
      <p:sp>
        <p:nvSpPr>
          <p:cNvPr id="10" name="文本框 9">
            <a:extLst>
              <a:ext uri="{FF2B5EF4-FFF2-40B4-BE49-F238E27FC236}">
                <a16:creationId xmlns:a16="http://schemas.microsoft.com/office/drawing/2014/main" id="{F2FB01E0-5F3A-426A-933E-79B0A61D873F}"/>
              </a:ext>
            </a:extLst>
          </p:cNvPr>
          <p:cNvSpPr txBox="1"/>
          <p:nvPr/>
        </p:nvSpPr>
        <p:spPr>
          <a:xfrm>
            <a:off x="1403617" y="2293017"/>
            <a:ext cx="7362011" cy="369332"/>
          </a:xfrm>
          <a:prstGeom prst="rect">
            <a:avLst/>
          </a:prstGeom>
          <a:noFill/>
        </p:spPr>
        <p:txBody>
          <a:bodyPr wrap="square">
            <a:spAutoFit/>
          </a:bodyPr>
          <a:lstStyle/>
          <a:p>
            <a:r>
              <a:rPr lang="en-US" altLang="zh-CN" b="1" kern="100" dirty="0">
                <a:solidFill>
                  <a:srgbClr val="00B0F0"/>
                </a:solidFill>
                <a:latin typeface="等线" panose="02010600030101010101" pitchFamily="2" charset="-122"/>
                <a:ea typeface="等线" panose="02010600030101010101" pitchFamily="2" charset="-122"/>
                <a:cs typeface="Times New Roman" panose="02020603050405020304" pitchFamily="18" charset="0"/>
              </a:rPr>
              <a:t>#</a:t>
            </a:r>
            <a:r>
              <a:rPr lang="zh-CN" altLang="en-US" b="1" kern="100" dirty="0">
                <a:solidFill>
                  <a:srgbClr val="00B0F0"/>
                </a:solidFill>
                <a:latin typeface="等线" panose="02010600030101010101" pitchFamily="2" charset="-122"/>
                <a:ea typeface="等线" panose="02010600030101010101" pitchFamily="2" charset="-122"/>
                <a:cs typeface="Times New Roman" panose="02020603050405020304" pitchFamily="18" charset="0"/>
              </a:rPr>
              <a:t>通过选择低协方差或负协方差的资产组合，可显著降低整体风险</a:t>
            </a:r>
          </a:p>
        </p:txBody>
      </p:sp>
      <p:sp>
        <p:nvSpPr>
          <p:cNvPr id="12" name="对话气泡: 圆角矩形 11">
            <a:extLst>
              <a:ext uri="{FF2B5EF4-FFF2-40B4-BE49-F238E27FC236}">
                <a16:creationId xmlns:a16="http://schemas.microsoft.com/office/drawing/2014/main" id="{59C7D7C5-808F-48B8-9A12-7723F815DC6C}"/>
              </a:ext>
            </a:extLst>
          </p:cNvPr>
          <p:cNvSpPr/>
          <p:nvPr/>
        </p:nvSpPr>
        <p:spPr bwMode="auto">
          <a:xfrm>
            <a:off x="1907704" y="4184771"/>
            <a:ext cx="936104" cy="404132"/>
          </a:xfrm>
          <a:prstGeom prst="wedgeRoundRectCallout">
            <a:avLst>
              <a:gd name="adj1" fmla="val 77610"/>
              <a:gd name="adj2" fmla="val -86260"/>
              <a:gd name="adj3" fmla="val 16667"/>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14" name="文本框 13">
            <a:extLst>
              <a:ext uri="{FF2B5EF4-FFF2-40B4-BE49-F238E27FC236}">
                <a16:creationId xmlns:a16="http://schemas.microsoft.com/office/drawing/2014/main" id="{5504E731-6543-437A-B288-1973B638E737}"/>
              </a:ext>
            </a:extLst>
          </p:cNvPr>
          <p:cNvSpPr txBox="1"/>
          <p:nvPr/>
        </p:nvSpPr>
        <p:spPr>
          <a:xfrm>
            <a:off x="2617972" y="3797244"/>
            <a:ext cx="1512168" cy="369332"/>
          </a:xfrm>
          <a:prstGeom prst="rect">
            <a:avLst/>
          </a:prstGeom>
          <a:noFill/>
        </p:spPr>
        <p:txBody>
          <a:bodyPr wrap="square">
            <a:spAutoFit/>
          </a:bodyPr>
          <a:lstStyle/>
          <a:p>
            <a:r>
              <a:rPr lang="zh-CN" altLang="en-US"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不等式约束</a:t>
            </a:r>
            <a:endParaRPr lang="zh-CN" altLang="en-US" dirty="0"/>
          </a:p>
        </p:txBody>
      </p:sp>
      <p:sp>
        <p:nvSpPr>
          <p:cNvPr id="15" name="对话气泡: 圆角矩形 14">
            <a:extLst>
              <a:ext uri="{FF2B5EF4-FFF2-40B4-BE49-F238E27FC236}">
                <a16:creationId xmlns:a16="http://schemas.microsoft.com/office/drawing/2014/main" id="{703831F0-251C-495A-8E8B-B54552650316}"/>
              </a:ext>
            </a:extLst>
          </p:cNvPr>
          <p:cNvSpPr/>
          <p:nvPr/>
        </p:nvSpPr>
        <p:spPr bwMode="auto">
          <a:xfrm>
            <a:off x="2987824" y="4197973"/>
            <a:ext cx="720080" cy="354846"/>
          </a:xfrm>
          <a:prstGeom prst="wedgeRoundRectCallout">
            <a:avLst>
              <a:gd name="adj1" fmla="val 108262"/>
              <a:gd name="adj2" fmla="val -84038"/>
              <a:gd name="adj3" fmla="val 16667"/>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16" name="文本框 15">
            <a:extLst>
              <a:ext uri="{FF2B5EF4-FFF2-40B4-BE49-F238E27FC236}">
                <a16:creationId xmlns:a16="http://schemas.microsoft.com/office/drawing/2014/main" id="{C3CE1F7A-1E9C-40F9-9950-59DA8439AEDD}"/>
              </a:ext>
            </a:extLst>
          </p:cNvPr>
          <p:cNvSpPr txBox="1"/>
          <p:nvPr/>
        </p:nvSpPr>
        <p:spPr>
          <a:xfrm>
            <a:off x="4029239" y="3792249"/>
            <a:ext cx="1249939" cy="369332"/>
          </a:xfrm>
          <a:prstGeom prst="rect">
            <a:avLst/>
          </a:prstGeom>
          <a:noFill/>
        </p:spPr>
        <p:txBody>
          <a:bodyPr wrap="square">
            <a:spAutoFit/>
          </a:bodyPr>
          <a:lstStyle/>
          <a:p>
            <a:r>
              <a:rPr lang="zh-CN" altLang="en-US"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等式约束</a:t>
            </a:r>
            <a:endParaRPr lang="zh-CN" altLang="en-US" dirty="0"/>
          </a:p>
        </p:txBody>
      </p:sp>
      <p:sp>
        <p:nvSpPr>
          <p:cNvPr id="17" name="对话气泡: 圆角矩形 16">
            <a:extLst>
              <a:ext uri="{FF2B5EF4-FFF2-40B4-BE49-F238E27FC236}">
                <a16:creationId xmlns:a16="http://schemas.microsoft.com/office/drawing/2014/main" id="{2E3B8673-547B-4B5F-A118-CADAB48D7C1D}"/>
              </a:ext>
            </a:extLst>
          </p:cNvPr>
          <p:cNvSpPr/>
          <p:nvPr/>
        </p:nvSpPr>
        <p:spPr bwMode="auto">
          <a:xfrm>
            <a:off x="3860304" y="4221163"/>
            <a:ext cx="936104" cy="354846"/>
          </a:xfrm>
          <a:prstGeom prst="wedgeRoundRectCallout">
            <a:avLst>
              <a:gd name="adj1" fmla="val 130156"/>
              <a:gd name="adj2" fmla="val -95145"/>
              <a:gd name="adj3" fmla="val 16667"/>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18" name="文本框 17">
            <a:extLst>
              <a:ext uri="{FF2B5EF4-FFF2-40B4-BE49-F238E27FC236}">
                <a16:creationId xmlns:a16="http://schemas.microsoft.com/office/drawing/2014/main" id="{BC3D46DE-0C68-4A1A-A62F-8D1AE3DB6811}"/>
              </a:ext>
            </a:extLst>
          </p:cNvPr>
          <p:cNvSpPr txBox="1"/>
          <p:nvPr/>
        </p:nvSpPr>
        <p:spPr>
          <a:xfrm>
            <a:off x="5204469" y="3773576"/>
            <a:ext cx="1249939" cy="369332"/>
          </a:xfrm>
          <a:prstGeom prst="rect">
            <a:avLst/>
          </a:prstGeom>
          <a:noFill/>
        </p:spPr>
        <p:txBody>
          <a:bodyPr wrap="square">
            <a:spAutoFit/>
          </a:bodyPr>
          <a:lstStyle/>
          <a:p>
            <a:r>
              <a:rPr lang="zh-CN" altLang="en-US"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边界约束</a:t>
            </a:r>
            <a:endParaRPr lang="zh-CN" altLang="en-US" dirty="0"/>
          </a:p>
        </p:txBody>
      </p:sp>
      <p:sp>
        <p:nvSpPr>
          <p:cNvPr id="19" name="文本框 18">
            <a:extLst>
              <a:ext uri="{FF2B5EF4-FFF2-40B4-BE49-F238E27FC236}">
                <a16:creationId xmlns:a16="http://schemas.microsoft.com/office/drawing/2014/main" id="{057FB576-630B-4F08-9366-D993BB828837}"/>
              </a:ext>
            </a:extLst>
          </p:cNvPr>
          <p:cNvSpPr txBox="1"/>
          <p:nvPr/>
        </p:nvSpPr>
        <p:spPr>
          <a:xfrm>
            <a:off x="463322" y="3851831"/>
            <a:ext cx="1249939" cy="369332"/>
          </a:xfrm>
          <a:prstGeom prst="rect">
            <a:avLst/>
          </a:prstGeom>
          <a:noFill/>
        </p:spPr>
        <p:txBody>
          <a:bodyPr wrap="square">
            <a:spAutoFit/>
          </a:bodyPr>
          <a:lstStyle/>
          <a:p>
            <a:r>
              <a:rPr lang="zh-CN" altLang="en-US"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目标函数</a:t>
            </a:r>
            <a:endParaRPr lang="zh-CN" altLang="en-US" dirty="0"/>
          </a:p>
        </p:txBody>
      </p:sp>
    </p:spTree>
    <p:extLst>
      <p:ext uri="{BB962C8B-B14F-4D97-AF65-F5344CB8AC3E}">
        <p14:creationId xmlns:p14="http://schemas.microsoft.com/office/powerpoint/2010/main" val="4151117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animBg="1"/>
      <p:bldP spid="14" grpId="0"/>
      <p:bldP spid="15" grpId="0" animBg="1"/>
      <p:bldP spid="16" grpId="0"/>
      <p:bldP spid="17" grpId="0" animBg="1"/>
      <p:bldP spid="18" grpId="0"/>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627A35F-A9D1-4759-A3F3-DD4CABE646C4}"/>
              </a:ext>
            </a:extLst>
          </p:cNvPr>
          <p:cNvSpPr txBox="1"/>
          <p:nvPr/>
        </p:nvSpPr>
        <p:spPr>
          <a:xfrm>
            <a:off x="160325" y="1208259"/>
            <a:ext cx="8550896" cy="369332"/>
          </a:xfrm>
          <a:prstGeom prst="rect">
            <a:avLst/>
          </a:prstGeom>
          <a:solidFill>
            <a:schemeClr val="bg1"/>
          </a:solidFill>
        </p:spPr>
        <p:txBody>
          <a:bodyPr wrap="square">
            <a:spAutoFit/>
          </a:bodyPr>
          <a:lstStyle/>
          <a:p>
            <a:endParaRPr lang="en-US" altLang="zh-CN" dirty="0">
              <a:solidFill>
                <a:srgbClr val="000000"/>
              </a:solidFill>
              <a:latin typeface="Consolas" panose="020B0609020204030204" pitchFamily="49" charset="0"/>
            </a:endParaRPr>
          </a:p>
        </p:txBody>
      </p:sp>
      <p:sp>
        <p:nvSpPr>
          <p:cNvPr id="6" name="文本框 5">
            <a:extLst>
              <a:ext uri="{FF2B5EF4-FFF2-40B4-BE49-F238E27FC236}">
                <a16:creationId xmlns:a16="http://schemas.microsoft.com/office/drawing/2014/main" id="{0A57C19A-5F06-47F9-9621-CD48CB86F2B1}"/>
              </a:ext>
            </a:extLst>
          </p:cNvPr>
          <p:cNvSpPr txBox="1"/>
          <p:nvPr/>
        </p:nvSpPr>
        <p:spPr>
          <a:xfrm>
            <a:off x="1043608" y="111360"/>
            <a:ext cx="7547520" cy="523220"/>
          </a:xfrm>
          <a:prstGeom prst="rect">
            <a:avLst/>
          </a:prstGeom>
          <a:noFill/>
        </p:spPr>
        <p:txBody>
          <a:bodyPr wrap="square">
            <a:spAutoFit/>
          </a:bodyPr>
          <a:lstStyle/>
          <a:p>
            <a:pPr marL="0" indent="0">
              <a:buNone/>
            </a:pPr>
            <a:r>
              <a:rPr lang="en-US" altLang="zh-CN" sz="2800" b="0" dirty="0">
                <a:solidFill>
                  <a:srgbClr val="002060"/>
                </a:solidFill>
                <a:latin typeface="华文楷体" panose="02010600040101010101" pitchFamily="2" charset="-122"/>
                <a:ea typeface="华文楷体" panose="02010600040101010101" pitchFamily="2" charset="-122"/>
              </a:rPr>
              <a:t>§8.3 </a:t>
            </a:r>
            <a:r>
              <a:rPr lang="zh-CN" altLang="en-US" sz="2800" b="0" dirty="0">
                <a:solidFill>
                  <a:srgbClr val="002060"/>
                </a:solidFill>
                <a:latin typeface="华文楷体" panose="02010600040101010101" pitchFamily="2" charset="-122"/>
                <a:ea typeface="华文楷体" panose="02010600040101010101" pitchFamily="2" charset="-122"/>
              </a:rPr>
              <a:t>二次</a:t>
            </a:r>
            <a:r>
              <a:rPr lang="zh-CN" altLang="en-US" sz="2800" dirty="0">
                <a:latin typeface="华文楷体" panose="02010600040101010101" pitchFamily="2" charset="-122"/>
                <a:ea typeface="华文楷体" panose="02010600040101010101" pitchFamily="2" charset="-122"/>
              </a:rPr>
              <a:t>规划 </a:t>
            </a:r>
            <a:r>
              <a:rPr lang="en-US" altLang="zh-CN" sz="2800" dirty="0" err="1">
                <a:solidFill>
                  <a:srgbClr val="002060"/>
                </a:solidFill>
                <a:latin typeface="华文楷体" panose="02010600040101010101" pitchFamily="2" charset="-122"/>
                <a:ea typeface="华文楷体" panose="02010600040101010101" pitchFamily="2" charset="-122"/>
              </a:rPr>
              <a:t>quad</a:t>
            </a:r>
            <a:r>
              <a:rPr lang="en-US" altLang="zh-CN" sz="2800" dirty="0" err="1">
                <a:solidFill>
                  <a:srgbClr val="002060"/>
                </a:solidFill>
                <a:latin typeface="华文楷体" panose="02010600040101010101" pitchFamily="2" charset="-122"/>
                <a:ea typeface="华文楷体" panose="02010600040101010101" pitchFamily="2" charset="-122"/>
                <a:hlinkClick r:id="rId2" action="ppaction://hlinkfile">
                  <a:extLst>
                    <a:ext uri="{A12FA001-AC4F-418D-AE19-62706E023703}">
                      <ahyp:hlinkClr xmlns:ahyp="http://schemas.microsoft.com/office/drawing/2018/hyperlinkcolor" val="tx"/>
                    </a:ext>
                  </a:extLst>
                </a:hlinkClick>
              </a:rPr>
              <a:t>prog</a:t>
            </a:r>
            <a:r>
              <a:rPr lang="en-US" altLang="zh-CN" sz="2800" dirty="0">
                <a:solidFill>
                  <a:srgbClr val="002060"/>
                </a:solidFill>
                <a:latin typeface="华文楷体" panose="02010600040101010101" pitchFamily="2" charset="-122"/>
                <a:ea typeface="华文楷体" panose="02010600040101010101" pitchFamily="2" charset="-122"/>
              </a:rPr>
              <a:t> </a:t>
            </a:r>
            <a:r>
              <a:rPr lang="en-US" altLang="zh-CN" sz="2800" b="0" kern="0" dirty="0">
                <a:solidFill>
                  <a:srgbClr val="FF0000"/>
                </a:solidFill>
                <a:latin typeface="华文楷体" panose="02010600040101010101" pitchFamily="2" charset="-122"/>
                <a:ea typeface="华文楷体" panose="02010600040101010101" pitchFamily="2" charset="-122"/>
              </a:rPr>
              <a:t>——</a:t>
            </a:r>
            <a:r>
              <a:rPr lang="zh-CN" altLang="en-US" sz="2800" b="0" kern="0" dirty="0">
                <a:solidFill>
                  <a:srgbClr val="FF0000"/>
                </a:solidFill>
                <a:latin typeface="华文楷体" panose="02010600040101010101" pitchFamily="2" charset="-122"/>
                <a:ea typeface="华文楷体" panose="02010600040101010101" pitchFamily="2" charset="-122"/>
              </a:rPr>
              <a:t>投资组合案例</a:t>
            </a:r>
            <a:r>
              <a:rPr lang="zh-CN" altLang="en-US" sz="2800" kern="0" dirty="0">
                <a:solidFill>
                  <a:srgbClr val="FF0000"/>
                </a:solidFill>
                <a:latin typeface="华文楷体" panose="02010600040101010101" pitchFamily="2" charset="-122"/>
                <a:ea typeface="华文楷体" panose="02010600040101010101" pitchFamily="2" charset="-122"/>
              </a:rPr>
              <a:t>代码</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8" name="文本框 7">
            <a:extLst>
              <a:ext uri="{FF2B5EF4-FFF2-40B4-BE49-F238E27FC236}">
                <a16:creationId xmlns:a16="http://schemas.microsoft.com/office/drawing/2014/main" id="{BC69A339-39BC-4223-9872-FA105DD55F04}"/>
              </a:ext>
            </a:extLst>
          </p:cNvPr>
          <p:cNvSpPr txBox="1"/>
          <p:nvPr/>
        </p:nvSpPr>
        <p:spPr>
          <a:xfrm>
            <a:off x="5347778" y="2697182"/>
            <a:ext cx="3646039" cy="738664"/>
          </a:xfrm>
          <a:prstGeom prst="rect">
            <a:avLst/>
          </a:prstGeom>
          <a:gradFill flip="none" rotWithShape="1">
            <a:gsLst>
              <a:gs pos="0">
                <a:schemeClr val="accent5">
                  <a:lumMod val="20000"/>
                  <a:lumOff val="80000"/>
                  <a:shade val="30000"/>
                  <a:satMod val="115000"/>
                </a:schemeClr>
              </a:gs>
              <a:gs pos="0">
                <a:schemeClr val="accent5">
                  <a:lumMod val="20000"/>
                  <a:lumOff val="80000"/>
                  <a:shade val="67500"/>
                  <a:satMod val="115000"/>
                </a:schemeClr>
              </a:gs>
              <a:gs pos="100000">
                <a:schemeClr val="accent5">
                  <a:lumMod val="20000"/>
                  <a:lumOff val="80000"/>
                  <a:shade val="100000"/>
                  <a:satMod val="115000"/>
                </a:schemeClr>
              </a:gs>
            </a:gsLst>
            <a:lin ang="18900000" scaled="1"/>
            <a:tileRect/>
          </a:gradFill>
        </p:spPr>
        <p:txBody>
          <a:bodyPr wrap="square">
            <a:spAutoFit/>
          </a:bodyPr>
          <a:lstStyle/>
          <a:p>
            <a:r>
              <a:rPr lang="en-US" altLang="zh-CN" sz="1400" dirty="0">
                <a:solidFill>
                  <a:srgbClr val="0070C0"/>
                </a:solidFill>
              </a:rPr>
              <a:t>#</a:t>
            </a:r>
            <a:r>
              <a:rPr lang="zh-CN" altLang="en-US" sz="1400" dirty="0">
                <a:solidFill>
                  <a:srgbClr val="0070C0"/>
                </a:solidFill>
              </a:rPr>
              <a:t>各项股票投资比例w=[0.5, 0.3684, 0.131</a:t>
            </a:r>
            <a:r>
              <a:rPr lang="en-US" altLang="zh-CN" sz="1400" dirty="0">
                <a:solidFill>
                  <a:srgbClr val="0070C0"/>
                </a:solidFill>
              </a:rPr>
              <a:t>6</a:t>
            </a:r>
            <a:r>
              <a:rPr lang="zh-CN" altLang="en-US" sz="1400" dirty="0">
                <a:solidFill>
                  <a:srgbClr val="0070C0"/>
                </a:solidFill>
              </a:rPr>
              <a:t>];</a:t>
            </a:r>
          </a:p>
          <a:p>
            <a:r>
              <a:rPr lang="zh-CN" altLang="en-US" sz="1400" dirty="0">
                <a:solidFill>
                  <a:srgbClr val="0070C0"/>
                </a:solidFill>
              </a:rPr>
              <a:t>        目标函数值f=0.0171;</a:t>
            </a:r>
          </a:p>
          <a:p>
            <a:r>
              <a:rPr lang="zh-CN" altLang="en-US" sz="1400" dirty="0">
                <a:solidFill>
                  <a:srgbClr val="0070C0"/>
                </a:solidFill>
              </a:rPr>
              <a:t>        退出标记e=1;</a:t>
            </a:r>
          </a:p>
        </p:txBody>
      </p:sp>
      <p:sp>
        <p:nvSpPr>
          <p:cNvPr id="7" name="波形 6">
            <a:extLst>
              <a:ext uri="{FF2B5EF4-FFF2-40B4-BE49-F238E27FC236}">
                <a16:creationId xmlns:a16="http://schemas.microsoft.com/office/drawing/2014/main" id="{52F2B58E-E975-4D7F-A17F-0A1C10FCBE1F}"/>
              </a:ext>
            </a:extLst>
          </p:cNvPr>
          <p:cNvSpPr/>
          <p:nvPr/>
        </p:nvSpPr>
        <p:spPr>
          <a:xfrm>
            <a:off x="27642" y="294721"/>
            <a:ext cx="864096" cy="295684"/>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charset="-122"/>
                <a:ea typeface="微软雅黑" panose="020B0503020204020204" charset="-122"/>
              </a:rPr>
              <a:t>例83-1</a:t>
            </a:r>
            <a:endParaRPr lang="ko-KR" altLang="en-US" b="1" dirty="0">
              <a:solidFill>
                <a:srgbClr val="FFFF00"/>
              </a:solidFill>
              <a:latin typeface="微软雅黑" panose="020B0503020204020204" charset="-122"/>
              <a:ea typeface="微软雅黑" panose="020B0503020204020204" charset="-122"/>
            </a:endParaRPr>
          </a:p>
        </p:txBody>
      </p:sp>
      <p:sp>
        <p:nvSpPr>
          <p:cNvPr id="10" name="Rectangle 1">
            <a:extLst>
              <a:ext uri="{FF2B5EF4-FFF2-40B4-BE49-F238E27FC236}">
                <a16:creationId xmlns:a16="http://schemas.microsoft.com/office/drawing/2014/main" id="{CE5E7F9D-446A-4425-82D1-5EDD2299CF84}"/>
              </a:ext>
            </a:extLst>
          </p:cNvPr>
          <p:cNvSpPr>
            <a:spLocks noChangeArrowheads="1"/>
          </p:cNvSpPr>
          <p:nvPr/>
        </p:nvSpPr>
        <p:spPr bwMode="auto">
          <a:xfrm>
            <a:off x="150184" y="699542"/>
            <a:ext cx="2232248"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lang="en-US" altLang="zh-CN" sz="2000" b="1" dirty="0" err="1">
                <a:solidFill>
                  <a:srgbClr val="0070C0"/>
                </a:solidFill>
                <a:latin typeface="微软雅黑" panose="020B0503020204020204" pitchFamily="34" charset="-122"/>
                <a:ea typeface="微软雅黑" panose="020B0503020204020204" pitchFamily="34" charset="-122"/>
              </a:rPr>
              <a:t>quad</a:t>
            </a:r>
            <a:r>
              <a:rPr lang="en-US" altLang="zh-CN" sz="2000" b="1" i="0" dirty="0" err="1">
                <a:solidFill>
                  <a:srgbClr val="0070C0"/>
                </a:solidFill>
                <a:effectLst/>
                <a:latin typeface="微软雅黑" panose="020B0503020204020204" pitchFamily="34" charset="-122"/>
                <a:ea typeface="微软雅黑" panose="020B0503020204020204" pitchFamily="34" charset="-122"/>
              </a:rPr>
              <a:t>prog</a:t>
            </a:r>
            <a:r>
              <a:rPr lang="zh-CN" altLang="en-US" sz="2000" b="1" i="0" dirty="0">
                <a:solidFill>
                  <a:srgbClr val="0070C0"/>
                </a:solidFill>
                <a:effectLst/>
                <a:latin typeface="微软雅黑" panose="020B0503020204020204" pitchFamily="34" charset="-122"/>
                <a:ea typeface="微软雅黑" panose="020B0503020204020204" pitchFamily="34" charset="-122"/>
              </a:rPr>
              <a:t>格式：</a:t>
            </a:r>
            <a:endParaRPr kumimoji="0" lang="zh-CN" altLang="zh-CN" sz="20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endParaRPr>
          </a:p>
        </p:txBody>
      </p:sp>
      <p:sp>
        <p:nvSpPr>
          <p:cNvPr id="9" name="Rectangle 1">
            <a:extLst>
              <a:ext uri="{FF2B5EF4-FFF2-40B4-BE49-F238E27FC236}">
                <a16:creationId xmlns:a16="http://schemas.microsoft.com/office/drawing/2014/main" id="{84566F5F-1E89-4796-BC35-7C63C0F64B81}"/>
              </a:ext>
            </a:extLst>
          </p:cNvPr>
          <p:cNvSpPr>
            <a:spLocks noChangeArrowheads="1"/>
          </p:cNvSpPr>
          <p:nvPr/>
        </p:nvSpPr>
        <p:spPr bwMode="auto">
          <a:xfrm>
            <a:off x="2267744" y="730320"/>
            <a:ext cx="6715930" cy="338554"/>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eaLnBrk="0" hangingPunct="0"/>
            <a:r>
              <a:rPr lang="zh-CN" altLang="zh-CN" sz="1600" kern="0" dirty="0">
                <a:solidFill>
                  <a:schemeClr val="bg1"/>
                </a:solidFill>
                <a:highlight>
                  <a:srgbClr val="FF0000"/>
                </a:highlight>
                <a:latin typeface="Arial Unicode MS"/>
                <a:ea typeface="source-code-pro"/>
              </a:rPr>
              <a:t>x,</a:t>
            </a:r>
            <a:r>
              <a:rPr lang="zh-CN" altLang="zh-CN" sz="1600" kern="0" dirty="0">
                <a:solidFill>
                  <a:schemeClr val="bg1"/>
                </a:solidFill>
                <a:highlight>
                  <a:srgbClr val="003B76"/>
                </a:highlight>
                <a:latin typeface="Arial Unicode MS"/>
                <a:ea typeface="source-code-pro"/>
              </a:rPr>
              <a:t>fval,exitflag,output,lambda </a:t>
            </a:r>
            <a:r>
              <a:rPr lang="zh-CN" altLang="zh-CN" sz="1600" kern="0" dirty="0">
                <a:solidFill>
                  <a:schemeClr val="bg1"/>
                </a:solidFill>
                <a:highlight>
                  <a:srgbClr val="FF0000"/>
                </a:highlight>
                <a:latin typeface="Arial Unicode MS"/>
                <a:ea typeface="source-code-pro"/>
              </a:rPr>
              <a:t>=quadprog(H,f</a:t>
            </a:r>
            <a:r>
              <a:rPr lang="en-US" altLang="zh-CN" sz="1600" kern="0" dirty="0">
                <a:solidFill>
                  <a:schemeClr val="bg1"/>
                </a:solidFill>
                <a:highlight>
                  <a:srgbClr val="FF0000"/>
                </a:highlight>
                <a:latin typeface="Arial Unicode MS"/>
                <a:ea typeface="source-code-pro"/>
              </a:rPr>
              <a:t>,</a:t>
            </a:r>
            <a:r>
              <a:rPr kumimoji="0" lang="zh-CN" altLang="zh-CN" sz="1600" b="0" i="0" u="none" strike="noStrike" cap="none" normalizeH="0" baseline="0" dirty="0">
                <a:ln>
                  <a:noFill/>
                </a:ln>
                <a:solidFill>
                  <a:schemeClr val="bg1"/>
                </a:solidFill>
                <a:effectLst/>
                <a:latin typeface="Arial Unicode MS"/>
                <a:ea typeface="source-code-pro"/>
              </a:rPr>
              <a:t> A,b,Aeq,beq,lb,ub</a:t>
            </a:r>
            <a:r>
              <a:rPr lang="zh-CN" altLang="zh-CN" sz="1600" kern="0" dirty="0">
                <a:solidFill>
                  <a:schemeClr val="bg1"/>
                </a:solidFill>
                <a:highlight>
                  <a:srgbClr val="FF0000"/>
                </a:highlight>
                <a:latin typeface="Arial Unicode MS"/>
                <a:ea typeface="source-code-pro"/>
              </a:rPr>
              <a:t>) </a:t>
            </a:r>
          </a:p>
        </p:txBody>
      </p:sp>
      <p:sp>
        <p:nvSpPr>
          <p:cNvPr id="11" name="文本框 10">
            <a:extLst>
              <a:ext uri="{FF2B5EF4-FFF2-40B4-BE49-F238E27FC236}">
                <a16:creationId xmlns:a16="http://schemas.microsoft.com/office/drawing/2014/main" id="{EF552EC3-F105-483F-8BD5-4CF9395888A1}"/>
              </a:ext>
            </a:extLst>
          </p:cNvPr>
          <p:cNvSpPr txBox="1"/>
          <p:nvPr/>
        </p:nvSpPr>
        <p:spPr>
          <a:xfrm>
            <a:off x="150183" y="1133836"/>
            <a:ext cx="8833491" cy="3613297"/>
          </a:xfrm>
          <a:prstGeom prst="rect">
            <a:avLst/>
          </a:prstGeom>
          <a:noFill/>
        </p:spPr>
        <p:txBody>
          <a:bodyPr wrap="square">
            <a:spAutoFit/>
          </a:bodyPr>
          <a:lstStyle/>
          <a:p>
            <a:pPr>
              <a:lnSpc>
                <a:spcPts val="2300"/>
              </a:lnSpc>
            </a:pPr>
            <a:r>
              <a:rPr lang="en-US" altLang="zh-CN" b="0" dirty="0">
                <a:solidFill>
                  <a:srgbClr val="000000"/>
                </a:solidFill>
                <a:effectLst/>
                <a:latin typeface="Consolas" panose="020B0609020204030204" pitchFamily="49" charset="0"/>
              </a:rPr>
              <a:t>Sigma=[</a:t>
            </a:r>
            <a:r>
              <a:rPr lang="en-US" altLang="zh-CN" b="0" dirty="0">
                <a:solidFill>
                  <a:srgbClr val="098658"/>
                </a:solidFill>
                <a:effectLst/>
                <a:latin typeface="Consolas" panose="020B0609020204030204" pitchFamily="49" charset="0"/>
              </a:rPr>
              <a:t>0.04</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0.01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0.02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0.01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0.09</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0.03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0.02</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0.03</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0.16</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协方差矩阵</a:t>
            </a:r>
            <a:endParaRPr lang="zh-CN" altLang="en-US" b="0" dirty="0">
              <a:solidFill>
                <a:srgbClr val="000000"/>
              </a:solidFill>
              <a:effectLst/>
              <a:latin typeface="Consolas" panose="020B0609020204030204" pitchFamily="49" charset="0"/>
            </a:endParaRPr>
          </a:p>
          <a:p>
            <a:pPr>
              <a:lnSpc>
                <a:spcPts val="2300"/>
              </a:lnSpc>
            </a:pPr>
            <a:r>
              <a:rPr lang="en-US" altLang="zh-CN" b="0" dirty="0">
                <a:solidFill>
                  <a:srgbClr val="000000"/>
                </a:solidFill>
                <a:effectLst/>
                <a:latin typeface="Consolas" panose="020B0609020204030204" pitchFamily="49" charset="0"/>
              </a:rPr>
              <a:t>mu=[</a:t>
            </a:r>
            <a:r>
              <a:rPr lang="en-US" altLang="zh-CN" b="0" dirty="0">
                <a:solidFill>
                  <a:srgbClr val="098658"/>
                </a:solidFill>
                <a:effectLst/>
                <a:latin typeface="Consolas" panose="020B0609020204030204" pitchFamily="49" charset="0"/>
              </a:rPr>
              <a:t>0.18</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0.12</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0.25</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预期收益率</a:t>
            </a:r>
            <a:r>
              <a:rPr lang="en-US" altLang="zh-CN" b="0" dirty="0">
                <a:solidFill>
                  <a:srgbClr val="008000"/>
                </a:solidFill>
                <a:effectLst/>
                <a:latin typeface="Consolas" panose="020B0609020204030204" pitchFamily="49" charset="0"/>
              </a:rPr>
              <a:t>mu*【x1,x2,x3】≥15% </a:t>
            </a:r>
            <a:endParaRPr lang="en-US" altLang="zh-CN" b="0" dirty="0">
              <a:solidFill>
                <a:srgbClr val="000000"/>
              </a:solidFill>
              <a:effectLst/>
              <a:latin typeface="Consolas" panose="020B0609020204030204" pitchFamily="49" charset="0"/>
            </a:endParaRPr>
          </a:p>
          <a:p>
            <a:pPr>
              <a:lnSpc>
                <a:spcPts val="2300"/>
              </a:lnSpc>
            </a:pPr>
            <a:r>
              <a:rPr lang="en-US" altLang="zh-CN" b="0" dirty="0">
                <a:solidFill>
                  <a:srgbClr val="000000"/>
                </a:solidFill>
                <a:effectLst/>
                <a:latin typeface="Consolas" panose="020B0609020204030204" pitchFamily="49" charset="0"/>
              </a:rPr>
              <a:t>A=-mu;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最小预期收益率，取负值</a:t>
            </a:r>
            <a:r>
              <a:rPr lang="en-US" altLang="zh-CN" b="0" dirty="0">
                <a:solidFill>
                  <a:srgbClr val="008000"/>
                </a:solidFill>
                <a:effectLst/>
                <a:latin typeface="Consolas" panose="020B0609020204030204" pitchFamily="49" charset="0"/>
              </a:rPr>
              <a:t>A*w=b</a:t>
            </a:r>
            <a:endParaRPr lang="en-US" altLang="zh-CN" b="0" dirty="0">
              <a:solidFill>
                <a:srgbClr val="000000"/>
              </a:solidFill>
              <a:effectLst/>
              <a:latin typeface="Consolas" panose="020B0609020204030204" pitchFamily="49" charset="0"/>
            </a:endParaRPr>
          </a:p>
          <a:p>
            <a:pPr>
              <a:lnSpc>
                <a:spcPts val="2300"/>
              </a:lnSpc>
            </a:pPr>
            <a:r>
              <a:rPr lang="en-US" altLang="zh-CN" b="0" dirty="0">
                <a:solidFill>
                  <a:srgbClr val="000000"/>
                </a:solidFill>
                <a:effectLst/>
                <a:latin typeface="Consolas" panose="020B0609020204030204" pitchFamily="49" charset="0"/>
              </a:rPr>
              <a:t>b=[-</a:t>
            </a:r>
            <a:r>
              <a:rPr lang="en-US" altLang="zh-CN" b="0" dirty="0">
                <a:solidFill>
                  <a:srgbClr val="098658"/>
                </a:solidFill>
                <a:effectLst/>
                <a:latin typeface="Consolas" panose="020B0609020204030204" pitchFamily="49" charset="0"/>
              </a:rPr>
              <a:t>0.15</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最小目标年化收益率  </a:t>
            </a:r>
            <a:endParaRPr lang="zh-CN" altLang="en-US" b="0" dirty="0">
              <a:solidFill>
                <a:srgbClr val="000000"/>
              </a:solidFill>
              <a:effectLst/>
              <a:latin typeface="Consolas" panose="020B0609020204030204" pitchFamily="49" charset="0"/>
            </a:endParaRPr>
          </a:p>
          <a:p>
            <a:pPr>
              <a:lnSpc>
                <a:spcPts val="2300"/>
              </a:lnSpc>
            </a:pPr>
            <a:r>
              <a:rPr lang="en-US" altLang="zh-CN" b="0" dirty="0" err="1">
                <a:solidFill>
                  <a:srgbClr val="000000"/>
                </a:solidFill>
                <a:effectLst/>
                <a:latin typeface="Consolas" panose="020B0609020204030204" pitchFamily="49" charset="0"/>
              </a:rPr>
              <a:t>Aeq</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各单只股票比例即</a:t>
            </a:r>
            <a:r>
              <a:rPr lang="en-US" altLang="zh-CN" b="0" dirty="0">
                <a:solidFill>
                  <a:srgbClr val="008000"/>
                </a:solidFill>
                <a:effectLst/>
                <a:latin typeface="Consolas" panose="020B0609020204030204" pitchFamily="49" charset="0"/>
              </a:rPr>
              <a:t>x1+x2+x3=100%</a:t>
            </a:r>
            <a:endParaRPr lang="en-US" altLang="zh-CN" b="0" dirty="0">
              <a:solidFill>
                <a:srgbClr val="000000"/>
              </a:solidFill>
              <a:effectLst/>
              <a:latin typeface="Consolas" panose="020B0609020204030204" pitchFamily="49" charset="0"/>
            </a:endParaRPr>
          </a:p>
          <a:p>
            <a:pPr>
              <a:lnSpc>
                <a:spcPts val="2300"/>
              </a:lnSpc>
            </a:pPr>
            <a:r>
              <a:rPr lang="en-US" altLang="zh-CN" b="0" dirty="0" err="1">
                <a:solidFill>
                  <a:srgbClr val="000000"/>
                </a:solidFill>
                <a:effectLst/>
                <a:latin typeface="Consolas" panose="020B0609020204030204" pitchFamily="49" charset="0"/>
              </a:rPr>
              <a:t>beq</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各单只股票比例的和</a:t>
            </a:r>
            <a:endParaRPr lang="zh-CN" altLang="en-US" b="0" dirty="0">
              <a:solidFill>
                <a:srgbClr val="000000"/>
              </a:solidFill>
              <a:effectLst/>
              <a:latin typeface="Consolas" panose="020B0609020204030204" pitchFamily="49" charset="0"/>
            </a:endParaRPr>
          </a:p>
          <a:p>
            <a:pPr>
              <a:lnSpc>
                <a:spcPts val="2300"/>
              </a:lnSpc>
            </a:pPr>
            <a:r>
              <a:rPr lang="en-US" altLang="zh-CN" b="0" dirty="0" err="1">
                <a:solidFill>
                  <a:srgbClr val="000000"/>
                </a:solidFill>
                <a:effectLst/>
                <a:latin typeface="Consolas" panose="020B0609020204030204" pitchFamily="49" charset="0"/>
              </a:rPr>
              <a:t>lb</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股票仓位下限</a:t>
            </a:r>
            <a:endParaRPr lang="zh-CN" altLang="en-US" b="0" dirty="0">
              <a:solidFill>
                <a:srgbClr val="000000"/>
              </a:solidFill>
              <a:effectLst/>
              <a:latin typeface="Consolas" panose="020B0609020204030204" pitchFamily="49" charset="0"/>
            </a:endParaRPr>
          </a:p>
          <a:p>
            <a:pPr>
              <a:lnSpc>
                <a:spcPts val="2300"/>
              </a:lnSpc>
            </a:pPr>
            <a:r>
              <a:rPr lang="en-US" altLang="zh-CN" b="0" dirty="0" err="1">
                <a:solidFill>
                  <a:srgbClr val="000000"/>
                </a:solidFill>
                <a:effectLst/>
                <a:latin typeface="Consolas" panose="020B0609020204030204" pitchFamily="49" charset="0"/>
              </a:rPr>
              <a:t>ub</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0.5</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股票仓位上限 </a:t>
            </a:r>
            <a:endParaRPr lang="zh-CN" altLang="en-US" b="0" dirty="0">
              <a:solidFill>
                <a:srgbClr val="000000"/>
              </a:solidFill>
              <a:effectLst/>
              <a:latin typeface="Consolas" panose="020B0609020204030204" pitchFamily="49" charset="0"/>
            </a:endParaRPr>
          </a:p>
          <a:p>
            <a:pPr>
              <a:lnSpc>
                <a:spcPts val="2300"/>
              </a:lnSpc>
            </a:pPr>
            <a:r>
              <a:rPr lang="en-US" altLang="zh-CN" b="0" dirty="0" err="1">
                <a:solidFill>
                  <a:srgbClr val="000000"/>
                </a:solidFill>
                <a:effectLst/>
                <a:latin typeface="Consolas" panose="020B0609020204030204" pitchFamily="49" charset="0"/>
              </a:rPr>
              <a:t>w,f,e,o</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quadprog</a:t>
            </a:r>
            <a:r>
              <a:rPr lang="en-US" altLang="zh-CN" b="0" dirty="0">
                <a:solidFill>
                  <a:srgbClr val="000000"/>
                </a:solidFill>
                <a:effectLst/>
                <a:latin typeface="Consolas" panose="020B0609020204030204" pitchFamily="49" charset="0"/>
              </a:rPr>
              <a:t>(Sigma,[],</a:t>
            </a:r>
            <a:r>
              <a:rPr lang="en-US" altLang="zh-CN" b="0" dirty="0" err="1">
                <a:solidFill>
                  <a:srgbClr val="000000"/>
                </a:solidFill>
                <a:effectLst/>
                <a:latin typeface="Consolas" panose="020B0609020204030204" pitchFamily="49" charset="0"/>
              </a:rPr>
              <a:t>A,b,Aeq,beq,lb,ub</a:t>
            </a:r>
            <a:r>
              <a:rPr lang="en-US" altLang="zh-CN" b="0" dirty="0">
                <a:solidFill>
                  <a:srgbClr val="000000"/>
                </a:solidFill>
                <a:effectLst/>
                <a:latin typeface="Consolas" panose="020B0609020204030204" pitchFamily="49" charset="0"/>
              </a:rPr>
              <a:t>); </a:t>
            </a:r>
          </a:p>
          <a:p>
            <a:pPr>
              <a:lnSpc>
                <a:spcPts val="2300"/>
              </a:lnSpc>
            </a:pPr>
            <a:r>
              <a:rPr lang="en-US" altLang="zh-CN" b="0" dirty="0" err="1">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各项股票投资比例</a:t>
            </a:r>
            <a:r>
              <a:rPr lang="en-US" altLang="zh-CN" b="0" dirty="0">
                <a:solidFill>
                  <a:srgbClr val="A31515"/>
                </a:solidFill>
                <a:effectLst/>
                <a:latin typeface="Consolas" panose="020B0609020204030204" pitchFamily="49" charset="0"/>
              </a:rPr>
              <a:t>w=</a:t>
            </a:r>
            <a:r>
              <a:rPr lang="en-US" altLang="zh-CN" b="0" dirty="0">
                <a:solidFill>
                  <a:srgbClr val="001080"/>
                </a:solidFill>
                <a:effectLst/>
                <a:latin typeface="Consolas" panose="020B0609020204030204" pitchFamily="49" charset="0"/>
              </a:rPr>
              <a:t>$w</a:t>
            </a:r>
            <a:r>
              <a:rPr lang="en-US" altLang="zh-CN" b="0" dirty="0">
                <a:solidFill>
                  <a:srgbClr val="A31515"/>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pPr>
              <a:lnSpc>
                <a:spcPts val="2300"/>
              </a:lnSpc>
            </a:pPr>
            <a:r>
              <a:rPr lang="en-US" altLang="zh-CN" b="0" dirty="0">
                <a:solidFill>
                  <a:srgbClr val="A31515"/>
                </a:solidFill>
                <a:effectLst/>
                <a:latin typeface="Consolas" panose="020B0609020204030204" pitchFamily="49" charset="0"/>
              </a:rPr>
              <a:t>        </a:t>
            </a:r>
            <a:r>
              <a:rPr lang="zh-CN" altLang="en-US" b="0" dirty="0">
                <a:solidFill>
                  <a:srgbClr val="A31515"/>
                </a:solidFill>
                <a:effectLst/>
                <a:latin typeface="Consolas" panose="020B0609020204030204" pitchFamily="49" charset="0"/>
              </a:rPr>
              <a:t>目标函数值</a:t>
            </a:r>
            <a:r>
              <a:rPr lang="en-US" altLang="zh-CN" b="0" dirty="0">
                <a:solidFill>
                  <a:srgbClr val="A31515"/>
                </a:solidFill>
                <a:effectLst/>
                <a:latin typeface="Consolas" panose="020B0609020204030204" pitchFamily="49" charset="0"/>
              </a:rPr>
              <a:t>f=</a:t>
            </a:r>
            <a:r>
              <a:rPr lang="en-US" altLang="zh-CN" b="0" dirty="0">
                <a:solidFill>
                  <a:srgbClr val="001080"/>
                </a:solidFill>
                <a:effectLst/>
                <a:latin typeface="Consolas" panose="020B0609020204030204" pitchFamily="49" charset="0"/>
              </a:rPr>
              <a:t>$f</a:t>
            </a:r>
            <a:r>
              <a:rPr lang="en-US" altLang="zh-CN" b="0" dirty="0">
                <a:solidFill>
                  <a:srgbClr val="A31515"/>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pPr>
              <a:lnSpc>
                <a:spcPts val="2300"/>
              </a:lnSpc>
            </a:pPr>
            <a:r>
              <a:rPr lang="en-US" altLang="zh-CN" b="0" dirty="0">
                <a:solidFill>
                  <a:srgbClr val="A31515"/>
                </a:solidFill>
                <a:effectLst/>
                <a:latin typeface="Consolas" panose="020B0609020204030204" pitchFamily="49" charset="0"/>
              </a:rPr>
              <a:t>        </a:t>
            </a:r>
            <a:r>
              <a:rPr lang="zh-CN" altLang="en-US" b="0" dirty="0">
                <a:solidFill>
                  <a:srgbClr val="A31515"/>
                </a:solidFill>
                <a:effectLst/>
                <a:latin typeface="Consolas" panose="020B0609020204030204" pitchFamily="49" charset="0"/>
              </a:rPr>
              <a:t>退出标记</a:t>
            </a:r>
            <a:r>
              <a:rPr lang="en-US" altLang="zh-CN" b="0" dirty="0">
                <a:solidFill>
                  <a:srgbClr val="A31515"/>
                </a:solidFill>
                <a:effectLst/>
                <a:latin typeface="Consolas" panose="020B0609020204030204" pitchFamily="49" charset="0"/>
              </a:rPr>
              <a:t>e=</a:t>
            </a:r>
            <a:r>
              <a:rPr lang="en-US" altLang="zh-CN" b="0" dirty="0">
                <a:solidFill>
                  <a:srgbClr val="001080"/>
                </a:solidFill>
                <a:effectLst/>
                <a:latin typeface="Consolas" panose="020B0609020204030204" pitchFamily="49" charset="0"/>
              </a:rPr>
              <a:t>$e</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517814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
                                            <p:txEl>
                                              <p:pRg st="9" end="9"/>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
                                            <p:txEl>
                                              <p:pRg st="10" end="1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
                                            <p:txEl>
                                              <p:pRg st="11" end="1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2F51533-EB63-B2D7-339B-6219F1C33D7B}"/>
              </a:ext>
            </a:extLst>
          </p:cNvPr>
          <p:cNvSpPr>
            <a:spLocks noGrp="1"/>
          </p:cNvSpPr>
          <p:nvPr>
            <p:ph idx="1"/>
          </p:nvPr>
        </p:nvSpPr>
        <p:spPr>
          <a:xfrm>
            <a:off x="146196" y="1074352"/>
            <a:ext cx="8684512" cy="1605568"/>
          </a:xfrm>
          <a:solidFill>
            <a:schemeClr val="bg1"/>
          </a:solidFill>
          <a:ln>
            <a:noFill/>
          </a:ln>
          <a:effectLst/>
        </p:spPr>
        <p:txBody>
          <a:bodyPr/>
          <a:lstStyle/>
          <a:p>
            <a:pPr marL="0" indent="0">
              <a:lnSpc>
                <a:spcPts val="2200"/>
              </a:lnSpc>
              <a:buNone/>
            </a:pPr>
            <a:r>
              <a:rPr lang="zh-CN" altLang="en-US" sz="1600" kern="1200" dirty="0">
                <a:solidFill>
                  <a:srgbClr val="00B0F0"/>
                </a:solidFill>
                <a:latin typeface="微软雅黑" panose="020B0503020204020204" pitchFamily="34" charset="-122"/>
                <a:ea typeface="微软雅黑" panose="020B0503020204020204" pitchFamily="34" charset="-122"/>
              </a:rPr>
              <a:t>基于求解器的非线性优化的函数命令</a:t>
            </a:r>
          </a:p>
          <a:p>
            <a:pPr>
              <a:lnSpc>
                <a:spcPts val="2400"/>
              </a:lnSpc>
              <a:buFont typeface="Wingdings" panose="05000000000000000000" pitchFamily="2" charset="2"/>
              <a:buChar char="p"/>
            </a:pPr>
            <a:r>
              <a:rPr lang="en-US" altLang="zh-CN" sz="1600" b="1" dirty="0">
                <a:solidFill>
                  <a:srgbClr val="00B0F0"/>
                </a:solidFill>
                <a:latin typeface="微软雅黑" panose="020B0503020204020204" pitchFamily="34" charset="-122"/>
                <a:ea typeface="微软雅黑" panose="020B0503020204020204" pitchFamily="34" charset="-122"/>
              </a:rPr>
              <a:t>   </a:t>
            </a:r>
            <a:r>
              <a:rPr lang="en-US" altLang="zh-CN" sz="1600" b="1" dirty="0" err="1">
                <a:solidFill>
                  <a:srgbClr val="00B0F0"/>
                </a:solidFill>
                <a:latin typeface="微软雅黑" panose="020B0503020204020204" pitchFamily="34" charset="-122"/>
                <a:ea typeface="微软雅黑" panose="020B0503020204020204" pitchFamily="34" charset="-122"/>
              </a:rPr>
              <a:t>fminbnd</a:t>
            </a:r>
            <a:r>
              <a:rPr lang="en-US" altLang="zh-CN" sz="1600" b="1" dirty="0">
                <a:solidFill>
                  <a:srgbClr val="00B0F0"/>
                </a:solidFill>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查找一元函数在指定区间上的最小值</a:t>
            </a:r>
          </a:p>
          <a:p>
            <a:pPr>
              <a:lnSpc>
                <a:spcPts val="2400"/>
              </a:lnSpc>
              <a:buFont typeface="Wingdings" panose="05000000000000000000" pitchFamily="2" charset="2"/>
              <a:buChar char="p"/>
            </a:pPr>
            <a:r>
              <a:rPr lang="en-US" altLang="zh-CN" sz="1600" b="1" dirty="0">
                <a:solidFill>
                  <a:srgbClr val="00B0F0"/>
                </a:solidFill>
                <a:latin typeface="微软雅黑" panose="020B0503020204020204" pitchFamily="34" charset="-122"/>
                <a:ea typeface="微软雅黑" panose="020B0503020204020204" pitchFamily="34" charset="-122"/>
              </a:rPr>
              <a:t>   fminsearch   </a:t>
            </a:r>
            <a:r>
              <a:rPr lang="zh-CN" altLang="en-US" sz="1600" dirty="0">
                <a:latin typeface="微软雅黑" panose="020B0503020204020204" pitchFamily="34" charset="-122"/>
                <a:ea typeface="微软雅黑" panose="020B0503020204020204" pitchFamily="34" charset="-122"/>
              </a:rPr>
              <a:t>无约束不需要求导的多元函数的最小值</a:t>
            </a:r>
            <a:endParaRPr lang="en-US" altLang="zh-CN" sz="1600" dirty="0">
              <a:latin typeface="微软雅黑" panose="020B0503020204020204" pitchFamily="34" charset="-122"/>
              <a:ea typeface="微软雅黑" panose="020B0503020204020204" pitchFamily="34" charset="-122"/>
            </a:endParaRPr>
          </a:p>
          <a:p>
            <a:pPr>
              <a:lnSpc>
                <a:spcPts val="2400"/>
              </a:lnSpc>
              <a:buFont typeface="Wingdings" panose="05000000000000000000" pitchFamily="2" charset="2"/>
              <a:buChar char="p"/>
            </a:pPr>
            <a:r>
              <a:rPr lang="en-US" altLang="zh-CN" sz="1600" b="1" dirty="0">
                <a:solidFill>
                  <a:srgbClr val="00B0F0"/>
                </a:solidFill>
                <a:latin typeface="微软雅黑" panose="020B0503020204020204" pitchFamily="34" charset="-122"/>
                <a:ea typeface="微软雅黑" panose="020B0503020204020204" pitchFamily="34" charset="-122"/>
              </a:rPr>
              <a:t>   </a:t>
            </a:r>
            <a:r>
              <a:rPr lang="en-US" altLang="zh-CN" sz="1600" b="1" dirty="0" err="1">
                <a:solidFill>
                  <a:srgbClr val="00B0F0"/>
                </a:solidFill>
                <a:latin typeface="微软雅黑" panose="020B0503020204020204" pitchFamily="34" charset="-122"/>
                <a:ea typeface="微软雅黑" panose="020B0503020204020204" pitchFamily="34" charset="-122"/>
              </a:rPr>
              <a:t>fminunc</a:t>
            </a:r>
            <a:r>
              <a:rPr lang="en-US" altLang="zh-CN" sz="1600" b="1" dirty="0">
                <a:solidFill>
                  <a:srgbClr val="00B0F0"/>
                </a:solidFill>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无约束需求导的多元函数的最小值</a:t>
            </a:r>
          </a:p>
          <a:p>
            <a:pPr>
              <a:lnSpc>
                <a:spcPts val="2400"/>
              </a:lnSpc>
              <a:buFont typeface="Wingdings" panose="05000000000000000000" pitchFamily="2" charset="2"/>
              <a:buChar char="p"/>
            </a:pPr>
            <a:r>
              <a:rPr lang="en-US" altLang="zh-CN" sz="1600" b="1" dirty="0">
                <a:solidFill>
                  <a:srgbClr val="00B0F0"/>
                </a:solidFill>
                <a:latin typeface="微软雅黑" panose="020B0503020204020204" pitchFamily="34" charset="-122"/>
                <a:ea typeface="微软雅黑" panose="020B0503020204020204" pitchFamily="34" charset="-122"/>
              </a:rPr>
              <a:t>   </a:t>
            </a:r>
            <a:r>
              <a:rPr lang="en-US" altLang="zh-CN" sz="1600" b="1" dirty="0" err="1">
                <a:solidFill>
                  <a:srgbClr val="00B0F0"/>
                </a:solidFill>
                <a:latin typeface="微软雅黑" panose="020B0503020204020204" pitchFamily="34" charset="-122"/>
                <a:ea typeface="微软雅黑" panose="020B0503020204020204" pitchFamily="34" charset="-122"/>
              </a:rPr>
              <a:t>fmincon</a:t>
            </a:r>
            <a:r>
              <a:rPr lang="en-US" altLang="zh-CN" sz="1600" b="1" dirty="0">
                <a:solidFill>
                  <a:srgbClr val="00B0F0"/>
                </a:solidFill>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求线性及非线性</a:t>
            </a:r>
            <a:r>
              <a:rPr lang="zh-CN" altLang="en-US" sz="1600" dirty="0">
                <a:solidFill>
                  <a:srgbClr val="FF0000"/>
                </a:solidFill>
                <a:latin typeface="微软雅黑" panose="020B0503020204020204" pitchFamily="34" charset="-122"/>
                <a:ea typeface="微软雅黑" panose="020B0503020204020204" pitchFamily="34" charset="-122"/>
              </a:rPr>
              <a:t>约束条件下</a:t>
            </a:r>
            <a:r>
              <a:rPr lang="zh-CN" altLang="en-US" sz="1600" dirty="0">
                <a:latin typeface="微软雅黑" panose="020B0503020204020204" pitchFamily="34" charset="-122"/>
                <a:ea typeface="微软雅黑" panose="020B0503020204020204" pitchFamily="34" charset="-122"/>
              </a:rPr>
              <a:t>多元函数的最小值</a:t>
            </a:r>
          </a:p>
        </p:txBody>
      </p:sp>
      <p:sp>
        <p:nvSpPr>
          <p:cNvPr id="5" name="文本框 4">
            <a:extLst>
              <a:ext uri="{FF2B5EF4-FFF2-40B4-BE49-F238E27FC236}">
                <a16:creationId xmlns:a16="http://schemas.microsoft.com/office/drawing/2014/main" id="{11D210C4-C01D-4621-A8A1-9EE831BDB0A3}"/>
              </a:ext>
            </a:extLst>
          </p:cNvPr>
          <p:cNvSpPr txBox="1"/>
          <p:nvPr/>
        </p:nvSpPr>
        <p:spPr>
          <a:xfrm>
            <a:off x="1187624" y="-85509"/>
            <a:ext cx="8192729" cy="677108"/>
          </a:xfrm>
          <a:prstGeom prst="rect">
            <a:avLst/>
          </a:prstGeom>
          <a:noFill/>
        </p:spPr>
        <p:txBody>
          <a:bodyPr wrap="square">
            <a:spAutoFit/>
          </a:bodyPr>
          <a:lstStyle/>
          <a:p>
            <a:pPr>
              <a:lnSpc>
                <a:spcPct val="150000"/>
              </a:lnSpc>
            </a:pPr>
            <a:r>
              <a:rPr lang="en-US" altLang="zh-CN" sz="2800" b="0" dirty="0">
                <a:solidFill>
                  <a:srgbClr val="002060"/>
                </a:solidFill>
                <a:latin typeface="华文楷体" panose="02010600040101010101" pitchFamily="2" charset="-122"/>
                <a:ea typeface="华文楷体" panose="02010600040101010101" pitchFamily="2" charset="-122"/>
              </a:rPr>
              <a:t>§8.4 </a:t>
            </a:r>
            <a:r>
              <a:rPr lang="zh-CN" altLang="en-US" sz="2800" dirty="0">
                <a:solidFill>
                  <a:srgbClr val="002060"/>
                </a:solidFill>
                <a:latin typeface="华文楷体" panose="02010600040101010101" pitchFamily="2" charset="-122"/>
                <a:ea typeface="华文楷体" panose="02010600040101010101" pitchFamily="2" charset="-122"/>
              </a:rPr>
              <a:t>非线性规划</a:t>
            </a:r>
            <a:r>
              <a:rPr lang="en-US" altLang="zh-CN" sz="2800" b="0" kern="0" dirty="0">
                <a:solidFill>
                  <a:srgbClr val="FF0000"/>
                </a:solidFill>
                <a:latin typeface="华文楷体" panose="02010600040101010101" pitchFamily="2" charset="-122"/>
                <a:ea typeface="华文楷体" panose="02010600040101010101" pitchFamily="2" charset="-122"/>
              </a:rPr>
              <a:t>——</a:t>
            </a:r>
            <a:r>
              <a:rPr lang="zh-CN" altLang="zh-CN" sz="2800" dirty="0">
                <a:solidFill>
                  <a:srgbClr val="FF0000"/>
                </a:solidFill>
                <a:latin typeface="华文楷体" panose="02010600040101010101" pitchFamily="2" charset="-122"/>
                <a:ea typeface="华文楷体" panose="02010600040101010101" pitchFamily="2" charset="-122"/>
              </a:rPr>
              <a:t>基于求解器的优化</a:t>
            </a:r>
            <a:r>
              <a:rPr lang="zh-CN" altLang="en-US" sz="2800" dirty="0">
                <a:solidFill>
                  <a:srgbClr val="FF0000"/>
                </a:solidFill>
                <a:latin typeface="华文楷体" panose="02010600040101010101" pitchFamily="2" charset="-122"/>
                <a:ea typeface="华文楷体" panose="02010600040101010101" pitchFamily="2" charset="-122"/>
              </a:rPr>
              <a:t>计算</a:t>
            </a:r>
            <a:endParaRPr lang="en-US" altLang="zh-CN" sz="2800" dirty="0">
              <a:solidFill>
                <a:srgbClr val="002060"/>
              </a:solidFill>
              <a:latin typeface="华文楷体" panose="02010600040101010101" pitchFamily="2" charset="-122"/>
              <a:ea typeface="华文楷体" panose="02010600040101010101" pitchFamily="2" charset="-122"/>
            </a:endParaRPr>
          </a:p>
        </p:txBody>
      </p:sp>
      <p:sp>
        <p:nvSpPr>
          <p:cNvPr id="7" name="形状 18">
            <a:extLst>
              <a:ext uri="{FF2B5EF4-FFF2-40B4-BE49-F238E27FC236}">
                <a16:creationId xmlns:a16="http://schemas.microsoft.com/office/drawing/2014/main" id="{2279EF09-937D-4730-BF95-5857B9BF0119}"/>
              </a:ext>
            </a:extLst>
          </p:cNvPr>
          <p:cNvSpPr/>
          <p:nvPr/>
        </p:nvSpPr>
        <p:spPr>
          <a:xfrm>
            <a:off x="6414927" y="1089055"/>
            <a:ext cx="2405555" cy="461665"/>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marL="0" indent="0" algn="ctr" defTabSz="914400" eaLnBrk="0" fontAlgn="auto" latinLnBrk="0">
              <a:lnSpc>
                <a:spcPct val="100000"/>
              </a:lnSpc>
              <a:spcBef>
                <a:spcPts val="0"/>
              </a:spcBef>
              <a:spcAft>
                <a:spcPts val="0"/>
              </a:spcAft>
              <a:buFontTx/>
              <a:buNone/>
            </a:pPr>
            <a:r>
              <a:rPr lang="zh-CN" altLang="en-US" sz="1600" cap="none" dirty="0">
                <a:solidFill>
                  <a:srgbClr val="FFFF00"/>
                </a:solidFill>
                <a:latin typeface="微软雅黑" panose="020B0503020204020204" pitchFamily="34" charset="-122"/>
                <a:ea typeface="微软雅黑" panose="020B0503020204020204" pitchFamily="34" charset="-122"/>
              </a:rPr>
              <a:t>局部最</a:t>
            </a:r>
            <a:r>
              <a:rPr lang="zh-CN" altLang="en-US" sz="1600" dirty="0">
                <a:solidFill>
                  <a:srgbClr val="FFFF00"/>
                </a:solidFill>
                <a:latin typeface="微软雅黑" panose="020B0503020204020204" pitchFamily="34" charset="-122"/>
                <a:ea typeface="微软雅黑" panose="020B0503020204020204" pitchFamily="34" charset="-122"/>
              </a:rPr>
              <a:t>小值</a:t>
            </a:r>
            <a:endParaRPr lang="ko-KR" altLang="en-US" sz="1600" cap="none" dirty="0">
              <a:solidFill>
                <a:srgbClr val="FFFF00"/>
              </a:solidFill>
              <a:latin typeface="微软雅黑" panose="020B0503020204020204" pitchFamily="34" charset="-122"/>
              <a:ea typeface="楷体_GB2312" charset="0"/>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08B6135A-5B12-4528-B06A-1C6429EC5D53}"/>
                  </a:ext>
                </a:extLst>
              </p:cNvPr>
              <p:cNvSpPr txBox="1"/>
              <p:nvPr/>
            </p:nvSpPr>
            <p:spPr>
              <a:xfrm>
                <a:off x="146195" y="703609"/>
                <a:ext cx="8730102" cy="370743"/>
              </a:xfrm>
              <a:prstGeom prst="rect">
                <a:avLst/>
              </a:prstGeom>
              <a:solidFill>
                <a:srgbClr val="0070C0"/>
              </a:solidFill>
            </p:spPr>
            <p:txBody>
              <a:bodyPr wrap="square">
                <a:spAutoFit/>
              </a:bodyPr>
              <a:lstStyle/>
              <a:p>
                <a:pPr algn="dist"/>
                <a:r>
                  <a:rPr lang="zh-CN" altLang="en-US" dirty="0">
                    <a:solidFill>
                      <a:schemeClr val="bg1"/>
                    </a:solidFill>
                    <a:latin typeface="微软雅黑" panose="020B0503020204020204" pitchFamily="34" charset="-122"/>
                    <a:ea typeface="微软雅黑" panose="020B0503020204020204" pitchFamily="34" charset="-122"/>
                  </a:rPr>
                  <a:t>非线性规划：目标函数</a:t>
                </a:r>
                <a:r>
                  <a:rPr lang="en-US" altLang="zh-CN" dirty="0">
                    <a:solidFill>
                      <a:schemeClr val="bg1"/>
                    </a:solidFill>
                    <a:latin typeface="微软雅黑" panose="020B0503020204020204" pitchFamily="34" charset="-122"/>
                    <a:ea typeface="微软雅黑" panose="020B0503020204020204" pitchFamily="34" charset="-122"/>
                  </a:rPr>
                  <a:t>f(x)</a:t>
                </a:r>
                <a:r>
                  <a:rPr lang="zh-CN" altLang="en-US" dirty="0">
                    <a:solidFill>
                      <a:schemeClr val="bg1"/>
                    </a:solidFill>
                    <a:latin typeface="微软雅黑" panose="020B0503020204020204" pitchFamily="34" charset="-122"/>
                    <a:ea typeface="微软雅黑" panose="020B0503020204020204" pitchFamily="34" charset="-122"/>
                  </a:rPr>
                  <a:t>或约束函数</a:t>
                </a:r>
                <a14:m>
                  <m:oMath xmlns:m="http://schemas.openxmlformats.org/officeDocument/2006/math">
                    <m:sSub>
                      <m:sSubPr>
                        <m:ctrlPr>
                          <a:rPr lang="en-US" altLang="zh-CN" i="1">
                            <a:solidFill>
                              <a:schemeClr val="bg1"/>
                            </a:solidFill>
                            <a:latin typeface="Cambria Math" panose="02040503050406030204" pitchFamily="18" charset="0"/>
                            <a:ea typeface="微软雅黑" panose="020B0503020204020204" pitchFamily="34" charset="-122"/>
                          </a:rPr>
                        </m:ctrlPr>
                      </m:sSubPr>
                      <m:e>
                        <m:r>
                          <a:rPr lang="en-US" altLang="zh-CN">
                            <a:solidFill>
                              <a:schemeClr val="bg1"/>
                            </a:solidFill>
                            <a:latin typeface="Cambria Math" panose="02040503050406030204" pitchFamily="18" charset="0"/>
                            <a:ea typeface="微软雅黑" panose="020B0503020204020204" pitchFamily="34" charset="-122"/>
                          </a:rPr>
                          <m:t>𝑐</m:t>
                        </m:r>
                      </m:e>
                      <m:sub>
                        <m:r>
                          <a:rPr lang="en-US" altLang="zh-CN">
                            <a:solidFill>
                              <a:schemeClr val="bg1"/>
                            </a:solidFill>
                            <a:latin typeface="Cambria Math" panose="02040503050406030204" pitchFamily="18" charset="0"/>
                            <a:ea typeface="微软雅黑" panose="020B0503020204020204" pitchFamily="34" charset="-122"/>
                          </a:rPr>
                          <m:t>𝑖</m:t>
                        </m:r>
                      </m:sub>
                    </m:sSub>
                    <m:d>
                      <m:dPr>
                        <m:ctrlPr>
                          <a:rPr lang="en-US" altLang="zh-CN" i="1">
                            <a:solidFill>
                              <a:schemeClr val="bg1"/>
                            </a:solidFill>
                            <a:latin typeface="Cambria Math" panose="02040503050406030204" pitchFamily="18" charset="0"/>
                            <a:ea typeface="微软雅黑" panose="020B0503020204020204" pitchFamily="34" charset="-122"/>
                          </a:rPr>
                        </m:ctrlPr>
                      </m:dPr>
                      <m:e>
                        <m:r>
                          <a:rPr lang="en-US" altLang="zh-CN">
                            <a:solidFill>
                              <a:schemeClr val="bg1"/>
                            </a:solidFill>
                            <a:latin typeface="Cambria Math" panose="02040503050406030204" pitchFamily="18" charset="0"/>
                            <a:ea typeface="微软雅黑" panose="020B0503020204020204" pitchFamily="34" charset="-122"/>
                          </a:rPr>
                          <m:t>𝑥</m:t>
                        </m:r>
                      </m:e>
                    </m:d>
                    <m:r>
                      <a:rPr lang="zh-CN" altLang="en-US" i="1">
                        <a:solidFill>
                          <a:schemeClr val="bg1"/>
                        </a:solidFill>
                        <a:latin typeface="Cambria Math" panose="02040503050406030204" pitchFamily="18" charset="0"/>
                        <a:ea typeface="微软雅黑" panose="020B0503020204020204" pitchFamily="34" charset="-122"/>
                      </a:rPr>
                      <m:t>是非</m:t>
                    </m:r>
                    <m:r>
                      <a:rPr lang="zh-CN" altLang="en-US">
                        <a:solidFill>
                          <a:schemeClr val="bg1"/>
                        </a:solidFill>
                        <a:latin typeface="Cambria Math" panose="02040503050406030204" pitchFamily="18" charset="0"/>
                        <a:ea typeface="微软雅黑" panose="020B0503020204020204" pitchFamily="34" charset="-122"/>
                      </a:rPr>
                      <m:t>线性</m:t>
                    </m:r>
                    <m:r>
                      <a:rPr lang="zh-CN" altLang="en-US" i="1">
                        <a:solidFill>
                          <a:schemeClr val="bg1"/>
                        </a:solidFill>
                        <a:latin typeface="Cambria Math" panose="02040503050406030204" pitchFamily="18" charset="0"/>
                        <a:ea typeface="微软雅黑" panose="020B0503020204020204" pitchFamily="34" charset="-122"/>
                      </a:rPr>
                      <m:t>函数</m:t>
                    </m:r>
                    <m:r>
                      <a:rPr lang="en-US" altLang="zh-CN" b="0" i="1" smtClean="0">
                        <a:solidFill>
                          <a:schemeClr val="bg1"/>
                        </a:solidFill>
                        <a:latin typeface="Cambria Math" panose="02040503050406030204" pitchFamily="18" charset="0"/>
                        <a:ea typeface="微软雅黑" panose="020B0503020204020204" pitchFamily="34" charset="-122"/>
                      </a:rPr>
                      <m:t>,</m:t>
                    </m:r>
                    <m:r>
                      <a:rPr lang="zh-CN" altLang="en-US" i="1">
                        <a:solidFill>
                          <a:schemeClr val="bg1"/>
                        </a:solidFill>
                        <a:latin typeface="Cambria Math" panose="02040503050406030204" pitchFamily="18" charset="0"/>
                        <a:ea typeface="微软雅黑" panose="020B0503020204020204" pitchFamily="34" charset="-122"/>
                      </a:rPr>
                      <m:t>一般函数</m:t>
                    </m:r>
                    <m:r>
                      <a:rPr lang="zh-CN" altLang="en-US" i="1" smtClean="0">
                        <a:solidFill>
                          <a:schemeClr val="bg1"/>
                        </a:solidFill>
                        <a:latin typeface="Cambria Math" panose="02040503050406030204" pitchFamily="18" charset="0"/>
                        <a:ea typeface="微软雅黑" panose="020B0503020204020204" pitchFamily="34" charset="-122"/>
                      </a:rPr>
                      <m:t>命令</m:t>
                    </m:r>
                    <m:r>
                      <a:rPr lang="zh-CN" altLang="en-US" i="1">
                        <a:solidFill>
                          <a:schemeClr val="bg1"/>
                        </a:solidFill>
                        <a:latin typeface="Cambria Math" panose="02040503050406030204" pitchFamily="18" charset="0"/>
                        <a:ea typeface="微软雅黑" panose="020B0503020204020204" pitchFamily="34" charset="-122"/>
                      </a:rPr>
                      <m:t>前缀</m:t>
                    </m:r>
                    <m:r>
                      <m:rPr>
                        <m:sty m:val="p"/>
                      </m:rPr>
                      <a:rPr lang="en-US" altLang="zh-CN" i="1" smtClean="0">
                        <a:solidFill>
                          <a:schemeClr val="bg1"/>
                        </a:solidFill>
                        <a:latin typeface="Cambria Math" panose="02040503050406030204" pitchFamily="18" charset="0"/>
                        <a:ea typeface="微软雅黑" panose="020B0503020204020204" pitchFamily="34" charset="-122"/>
                      </a:rPr>
                      <m:t>f</m:t>
                    </m:r>
                  </m:oMath>
                </a14:m>
                <a:r>
                  <a:rPr lang="en-US" altLang="zh-CN" dirty="0">
                    <a:solidFill>
                      <a:schemeClr val="bg1"/>
                    </a:solidFill>
                  </a:rPr>
                  <a:t>min</a:t>
                </a:r>
                <a:endParaRPr lang="zh-CN" altLang="en-US" dirty="0">
                  <a:solidFill>
                    <a:schemeClr val="bg1"/>
                  </a:solidFill>
                </a:endParaRPr>
              </a:p>
            </p:txBody>
          </p:sp>
        </mc:Choice>
        <mc:Fallback xmlns="">
          <p:sp>
            <p:nvSpPr>
              <p:cNvPr id="8" name="文本框 7">
                <a:extLst>
                  <a:ext uri="{FF2B5EF4-FFF2-40B4-BE49-F238E27FC236}">
                    <a16:creationId xmlns:a16="http://schemas.microsoft.com/office/drawing/2014/main" id="{08B6135A-5B12-4528-B06A-1C6429EC5D53}"/>
                  </a:ext>
                </a:extLst>
              </p:cNvPr>
              <p:cNvSpPr txBox="1">
                <a:spLocks noRot="1" noChangeAspect="1" noMove="1" noResize="1" noEditPoints="1" noAdjustHandles="1" noChangeArrowheads="1" noChangeShapeType="1" noTextEdit="1"/>
              </p:cNvSpPr>
              <p:nvPr/>
            </p:nvSpPr>
            <p:spPr>
              <a:xfrm>
                <a:off x="146195" y="703609"/>
                <a:ext cx="8730102" cy="370743"/>
              </a:xfrm>
              <a:prstGeom prst="rect">
                <a:avLst/>
              </a:prstGeom>
              <a:blipFill>
                <a:blip r:embed="rId2"/>
                <a:stretch>
                  <a:fillRect l="-628" t="-8197" r="-559" b="-24590"/>
                </a:stretch>
              </a:blipFill>
            </p:spPr>
            <p:txBody>
              <a:bodyPr/>
              <a:lstStyle/>
              <a:p>
                <a:r>
                  <a:rPr lang="zh-CN" altLang="en-US">
                    <a:noFill/>
                  </a:rPr>
                  <a:t> </a:t>
                </a:r>
              </a:p>
            </p:txBody>
          </p:sp>
        </mc:Fallback>
      </mc:AlternateContent>
      <p:sp>
        <p:nvSpPr>
          <p:cNvPr id="14" name="矩形 13">
            <a:extLst>
              <a:ext uri="{FF2B5EF4-FFF2-40B4-BE49-F238E27FC236}">
                <a16:creationId xmlns:a16="http://schemas.microsoft.com/office/drawing/2014/main" id="{CE4B566B-B89F-48A4-A715-A2B93E950F93}"/>
              </a:ext>
            </a:extLst>
          </p:cNvPr>
          <p:cNvSpPr/>
          <p:nvPr/>
        </p:nvSpPr>
        <p:spPr>
          <a:xfrm>
            <a:off x="6510884" y="1565423"/>
            <a:ext cx="2213639" cy="747256"/>
          </a:xfrm>
          <a:prstGeom prst="rect">
            <a:avLst/>
          </a:prstGeom>
          <a:solidFill>
            <a:schemeClr val="bg1"/>
          </a:solidFill>
        </p:spPr>
        <p:txBody>
          <a:bodyPr wrap="square">
            <a:spAutoFit/>
          </a:bodyPr>
          <a:lstStyle/>
          <a:p>
            <a:pPr>
              <a:lnSpc>
                <a:spcPts val="2600"/>
              </a:lnSpc>
            </a:pPr>
            <a:r>
              <a:rPr lang="zh-CN" altLang="en-US" sz="2000" dirty="0">
                <a:solidFill>
                  <a:srgbClr val="FF0000"/>
                </a:solidFill>
                <a:latin typeface="华文楷体" panose="02010600040101010101" pitchFamily="2" charset="-122"/>
                <a:ea typeface="华文楷体" panose="02010600040101010101" pitchFamily="2" charset="-122"/>
              </a:rPr>
              <a:t>迭代试错法：</a:t>
            </a:r>
            <a:endParaRPr lang="en-US" altLang="zh-CN" sz="2000" dirty="0">
              <a:solidFill>
                <a:srgbClr val="FF0000"/>
              </a:solidFill>
              <a:latin typeface="华文楷体" panose="02010600040101010101" pitchFamily="2" charset="-122"/>
              <a:ea typeface="华文楷体" panose="02010600040101010101" pitchFamily="2" charset="-122"/>
            </a:endParaRPr>
          </a:p>
          <a:p>
            <a:pPr>
              <a:lnSpc>
                <a:spcPts val="2600"/>
              </a:lnSpc>
            </a:pPr>
            <a:r>
              <a:rPr lang="zh-CN" altLang="en-US" sz="2000" dirty="0">
                <a:solidFill>
                  <a:srgbClr val="0070C0"/>
                </a:solidFill>
                <a:latin typeface="华文楷体" panose="02010600040101010101" pitchFamily="2" charset="-122"/>
                <a:ea typeface="华文楷体" panose="02010600040101010101" pitchFamily="2" charset="-122"/>
              </a:rPr>
              <a:t>先猜测</a:t>
            </a:r>
            <a:r>
              <a:rPr lang="en-US" altLang="zh-CN" sz="2000" dirty="0" err="1">
                <a:solidFill>
                  <a:srgbClr val="0070C0"/>
                </a:solidFill>
                <a:latin typeface="华文楷体" panose="02010600040101010101" pitchFamily="2" charset="-122"/>
                <a:ea typeface="华文楷体" panose="02010600040101010101" pitchFamily="2" charset="-122"/>
              </a:rPr>
              <a:t>x</a:t>
            </a:r>
            <a:r>
              <a:rPr lang="en-US" altLang="ko-KR" sz="2000" dirty="0" err="1">
                <a:solidFill>
                  <a:srgbClr val="0070C0"/>
                </a:solidFill>
                <a:latin typeface="华文楷体" panose="02010600040101010101" pitchFamily="2" charset="-122"/>
                <a:ea typeface="华文楷体" panose="02010600040101010101" pitchFamily="2" charset="-122"/>
              </a:rPr>
              <a:t>初</a:t>
            </a:r>
            <a:r>
              <a:rPr lang="zh-CN" altLang="en-US" sz="2000" dirty="0">
                <a:solidFill>
                  <a:srgbClr val="0070C0"/>
                </a:solidFill>
                <a:latin typeface="华文楷体" panose="02010600040101010101" pitchFamily="2" charset="-122"/>
                <a:ea typeface="华文楷体" panose="02010600040101010101" pitchFamily="2" charset="-122"/>
              </a:rPr>
              <a:t>始</a:t>
            </a:r>
            <a:r>
              <a:rPr lang="en-US" altLang="ko-KR" sz="2000" dirty="0">
                <a:solidFill>
                  <a:srgbClr val="0070C0"/>
                </a:solidFill>
                <a:latin typeface="华文楷体" panose="02010600040101010101" pitchFamily="2" charset="-122"/>
                <a:ea typeface="华文楷体" panose="02010600040101010101" pitchFamily="2" charset="-122"/>
              </a:rPr>
              <a:t>值x0</a:t>
            </a:r>
            <a:endParaRPr lang="zh-CN" altLang="en-US" sz="2000" dirty="0">
              <a:solidFill>
                <a:srgbClr val="0070C0"/>
              </a:solidFill>
              <a:latin typeface="华文楷体" panose="02010600040101010101" pitchFamily="2" charset="-122"/>
              <a:ea typeface="华文楷体" panose="02010600040101010101" pitchFamily="2" charset="-122"/>
            </a:endParaRPr>
          </a:p>
        </p:txBody>
      </p:sp>
      <p:sp>
        <p:nvSpPr>
          <p:cNvPr id="16" name="矩形 15">
            <a:extLst>
              <a:ext uri="{FF2B5EF4-FFF2-40B4-BE49-F238E27FC236}">
                <a16:creationId xmlns:a16="http://schemas.microsoft.com/office/drawing/2014/main" id="{C9E87D4D-DF34-4A6A-B1C4-EFBF370D3436}"/>
              </a:ext>
            </a:extLst>
          </p:cNvPr>
          <p:cNvSpPr/>
          <p:nvPr/>
        </p:nvSpPr>
        <p:spPr>
          <a:xfrm>
            <a:off x="1909357" y="3129201"/>
            <a:ext cx="6634459" cy="371512"/>
          </a:xfrm>
          <a:prstGeom prst="rect">
            <a:avLst/>
          </a:prstGeom>
          <a:solidFill>
            <a:schemeClr val="bg1"/>
          </a:solid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zh-CN" altLang="en-US" sz="2000" dirty="0">
                <a:solidFill>
                  <a:srgbClr val="002060"/>
                </a:solidFill>
                <a:latin typeface="华文楷体" panose="02010600040101010101" pitchFamily="2" charset="-122"/>
                <a:ea typeface="华文楷体" panose="02010600040101010101" pitchFamily="2" charset="-122"/>
              </a:rPr>
              <a:t>无导数法计算</a:t>
            </a:r>
            <a:r>
              <a:rPr lang="zh-CN" altLang="zh-CN" sz="2000" b="1" kern="0" dirty="0">
                <a:solidFill>
                  <a:srgbClr val="00B0F0"/>
                </a:solidFill>
                <a:latin typeface="华文楷体" panose="02010600040101010101" pitchFamily="2" charset="-122"/>
                <a:ea typeface="华文楷体" panose="02010600040101010101" pitchFamily="2" charset="-122"/>
              </a:rPr>
              <a:t>x,fval,exitflag,output </a:t>
            </a:r>
            <a:r>
              <a:rPr lang="en-US" altLang="ko-KR" sz="2000" kern="0" dirty="0">
                <a:solidFill>
                  <a:srgbClr val="002060"/>
                </a:solidFill>
                <a:latin typeface="华文楷体" panose="02010600040101010101" pitchFamily="2" charset="-122"/>
                <a:ea typeface="华文楷体" panose="02010600040101010101" pitchFamily="2" charset="-122"/>
              </a:rPr>
              <a:t>=</a:t>
            </a:r>
            <a:r>
              <a:rPr lang="en-US" altLang="ko-KR" sz="2000" b="1" kern="0" dirty="0">
                <a:solidFill>
                  <a:srgbClr val="FF0000"/>
                </a:solidFill>
                <a:latin typeface="微软雅黑" panose="020B0503020204020204" pitchFamily="34" charset="-122"/>
                <a:ea typeface="微软雅黑" panose="020B0503020204020204" pitchFamily="34" charset="-122"/>
              </a:rPr>
              <a:t>fminsearch</a:t>
            </a:r>
            <a:r>
              <a:rPr lang="en-US" altLang="ko-KR" sz="2000" kern="0" dirty="0">
                <a:solidFill>
                  <a:srgbClr val="002060"/>
                </a:solidFill>
                <a:latin typeface="华文楷体" panose="02010600040101010101" pitchFamily="2" charset="-122"/>
                <a:ea typeface="华文楷体" panose="02010600040101010101" pitchFamily="2" charset="-122"/>
              </a:rPr>
              <a:t>(</a:t>
            </a:r>
            <a:r>
              <a:rPr lang="en-US" altLang="ko-KR" sz="2000" b="1" kern="0" dirty="0">
                <a:solidFill>
                  <a:srgbClr val="00B0F0"/>
                </a:solidFill>
                <a:latin typeface="华文楷体" panose="02010600040101010101" pitchFamily="2" charset="-122"/>
                <a:ea typeface="华文楷体" panose="02010600040101010101" pitchFamily="2" charset="-122"/>
              </a:rPr>
              <a:t>fun,x0</a:t>
            </a:r>
            <a:r>
              <a:rPr lang="en-US" altLang="ko-KR" sz="2000" kern="0" dirty="0">
                <a:solidFill>
                  <a:srgbClr val="002060"/>
                </a:solidFill>
                <a:latin typeface="华文楷体" panose="02010600040101010101" pitchFamily="2" charset="-122"/>
                <a:ea typeface="华文楷体" panose="02010600040101010101" pitchFamily="2" charset="-122"/>
              </a:rPr>
              <a:t>)</a:t>
            </a:r>
            <a:endParaRPr lang="ko-KR" altLang="en-US" sz="2000" kern="0" dirty="0">
              <a:solidFill>
                <a:srgbClr val="002060"/>
              </a:solidFill>
              <a:latin typeface="华文楷体" panose="02010600040101010101" pitchFamily="2" charset="-122"/>
            </a:endParaRPr>
          </a:p>
        </p:txBody>
      </p:sp>
      <p:sp>
        <p:nvSpPr>
          <p:cNvPr id="17" name="Text Box 7">
            <a:extLst>
              <a:ext uri="{FF2B5EF4-FFF2-40B4-BE49-F238E27FC236}">
                <a16:creationId xmlns:a16="http://schemas.microsoft.com/office/drawing/2014/main" id="{9604B62B-0EDC-4B6A-A264-0D41E2EE23F6}"/>
              </a:ext>
            </a:extLst>
          </p:cNvPr>
          <p:cNvSpPr txBox="1"/>
          <p:nvPr/>
        </p:nvSpPr>
        <p:spPr bwMode="auto">
          <a:xfrm>
            <a:off x="32489" y="2768998"/>
            <a:ext cx="2060611" cy="313932"/>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gn="ctr">
              <a:lnSpc>
                <a:spcPct val="90000"/>
              </a:lnSpc>
              <a:defRPr sz="2000" b="1" kern="0">
                <a:solidFill>
                  <a:srgbClr val="00B0F0"/>
                </a:solidFill>
                <a:latin typeface="隶书" panose="02010509060101010101" pitchFamily="49" charset="-122"/>
                <a:ea typeface="隶书" panose="02010509060101010101" pitchFamily="49" charset="-122"/>
              </a:defRPr>
            </a:lvl1pPr>
          </a:lstStyle>
          <a:p>
            <a:r>
              <a:rPr lang="zh-CN" altLang="en-US" sz="1600" b="0" kern="1200" dirty="0">
                <a:solidFill>
                  <a:srgbClr val="002060"/>
                </a:solidFill>
                <a:latin typeface="微软雅黑" panose="020B0503020204020204" pitchFamily="34" charset="-122"/>
                <a:ea typeface="微软雅黑" panose="020B0503020204020204" pitchFamily="34" charset="-122"/>
              </a:rPr>
              <a:t>一元函数最小值</a:t>
            </a:r>
            <a:r>
              <a:rPr lang="en-US" altLang="zh-CN" sz="1600" b="0" kern="1200" dirty="0">
                <a:solidFill>
                  <a:srgbClr val="002060"/>
                </a:solidFill>
                <a:latin typeface="微软雅黑" panose="020B0503020204020204" pitchFamily="34" charset="-122"/>
                <a:ea typeface="微软雅黑" panose="020B0503020204020204" pitchFamily="34" charset="-122"/>
              </a:rPr>
              <a:t>:</a:t>
            </a:r>
            <a:endParaRPr lang="ko-KR" altLang="en-US" sz="1600" b="0" kern="1200" dirty="0">
              <a:solidFill>
                <a:srgbClr val="002060"/>
              </a:solidFill>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0A161B9A-81D7-4068-BFB0-94B63580E8C8}"/>
              </a:ext>
            </a:extLst>
          </p:cNvPr>
          <p:cNvSpPr txBox="1"/>
          <p:nvPr/>
        </p:nvSpPr>
        <p:spPr>
          <a:xfrm>
            <a:off x="1888810" y="2715766"/>
            <a:ext cx="6737335" cy="399468"/>
          </a:xfrm>
          <a:prstGeom prst="rect">
            <a:avLst/>
          </a:prstGeom>
          <a:solidFill>
            <a:schemeClr val="bg1"/>
          </a:solid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2000" b="1" kern="0">
                <a:solidFill>
                  <a:srgbClr val="00B0F0"/>
                </a:solidFill>
                <a:latin typeface="隶书" panose="02010509060101010101" pitchFamily="49" charset="-122"/>
                <a:ea typeface="隶书" panose="02010509060101010101" pitchFamily="49" charset="-122"/>
              </a:defRPr>
            </a:lvl1pPr>
          </a:lstStyle>
          <a:p>
            <a:r>
              <a:rPr lang="zh-CN" altLang="zh-CN" sz="2200" dirty="0">
                <a:latin typeface="华文楷体" panose="02010600040101010101" pitchFamily="2" charset="-122"/>
                <a:ea typeface="华文楷体" panose="02010600040101010101" pitchFamily="2" charset="-122"/>
              </a:rPr>
              <a:t>x,fval,exitflag,output </a:t>
            </a:r>
            <a:r>
              <a:rPr lang="en-US" altLang="ko-KR" sz="2200" b="0" dirty="0">
                <a:solidFill>
                  <a:srgbClr val="002060"/>
                </a:solidFill>
                <a:latin typeface="华文楷体" panose="02010600040101010101" pitchFamily="2" charset="-122"/>
                <a:ea typeface="华文楷体" panose="02010600040101010101" pitchFamily="2" charset="-122"/>
              </a:rPr>
              <a:t>=</a:t>
            </a:r>
            <a:r>
              <a:rPr lang="en-US" altLang="ko-KR" sz="1800" dirty="0" err="1">
                <a:solidFill>
                  <a:srgbClr val="FF0000"/>
                </a:solidFill>
                <a:latin typeface="微软雅黑" panose="020B0503020204020204" pitchFamily="34" charset="-122"/>
                <a:ea typeface="微软雅黑" panose="020B0503020204020204" pitchFamily="34" charset="-122"/>
              </a:rPr>
              <a:t>fminbnd</a:t>
            </a:r>
            <a:r>
              <a:rPr lang="en-US" altLang="ko-KR" sz="2200" b="0" dirty="0">
                <a:solidFill>
                  <a:srgbClr val="002060"/>
                </a:solidFill>
                <a:latin typeface="华文楷体" panose="02010600040101010101" pitchFamily="2" charset="-122"/>
                <a:ea typeface="华文楷体" panose="02010600040101010101" pitchFamily="2" charset="-122"/>
              </a:rPr>
              <a:t>(</a:t>
            </a:r>
            <a:r>
              <a:rPr lang="en-US" altLang="ko-KR" sz="2200" dirty="0">
                <a:latin typeface="华文楷体" panose="02010600040101010101" pitchFamily="2" charset="-122"/>
                <a:ea typeface="华文楷体" panose="02010600040101010101" pitchFamily="2" charset="-122"/>
              </a:rPr>
              <a:t>fun</a:t>
            </a:r>
            <a:r>
              <a:rPr lang="en-US" altLang="ko-KR" sz="2200" b="0" dirty="0">
                <a:solidFill>
                  <a:srgbClr val="002060"/>
                </a:solidFill>
                <a:latin typeface="华文楷体" panose="02010600040101010101" pitchFamily="2" charset="-122"/>
                <a:ea typeface="华文楷体" panose="02010600040101010101" pitchFamily="2" charset="-122"/>
              </a:rPr>
              <a:t>,</a:t>
            </a:r>
            <a:r>
              <a:rPr lang="en-US" altLang="ko-KR" dirty="0">
                <a:solidFill>
                  <a:srgbClr val="FF0000"/>
                </a:solidFill>
                <a:latin typeface="微软雅黑" panose="020B0503020204020204" pitchFamily="34" charset="-122"/>
                <a:ea typeface="微软雅黑" panose="020B0503020204020204" pitchFamily="34" charset="-122"/>
              </a:rPr>
              <a:t>x1,x2</a:t>
            </a:r>
            <a:r>
              <a:rPr lang="en-US" altLang="ko-KR" sz="2200" b="0" dirty="0">
                <a:solidFill>
                  <a:srgbClr val="002060"/>
                </a:solidFill>
                <a:latin typeface="华文楷体" panose="02010600040101010101" pitchFamily="2" charset="-122"/>
                <a:ea typeface="华文楷体" panose="02010600040101010101" pitchFamily="2" charset="-122"/>
              </a:rPr>
              <a:t>)</a:t>
            </a:r>
            <a:endParaRPr lang="ko-KR" altLang="en-US" sz="2200" b="0" dirty="0">
              <a:solidFill>
                <a:srgbClr val="002060"/>
              </a:solidFill>
              <a:latin typeface="华文楷体" panose="02010600040101010101" pitchFamily="2" charset="-122"/>
            </a:endParaRPr>
          </a:p>
        </p:txBody>
      </p:sp>
      <p:sp>
        <p:nvSpPr>
          <p:cNvPr id="19" name="Rectangle 6">
            <a:extLst>
              <a:ext uri="{FF2B5EF4-FFF2-40B4-BE49-F238E27FC236}">
                <a16:creationId xmlns:a16="http://schemas.microsoft.com/office/drawing/2014/main" id="{23F68799-D8DB-456B-BA30-A3296CE6F24B}"/>
              </a:ext>
            </a:extLst>
          </p:cNvPr>
          <p:cNvSpPr>
            <a:spLocks noChangeArrowheads="1"/>
          </p:cNvSpPr>
          <p:nvPr/>
        </p:nvSpPr>
        <p:spPr bwMode="auto">
          <a:xfrm>
            <a:off x="225786" y="3918182"/>
            <a:ext cx="175392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1600" dirty="0">
                <a:solidFill>
                  <a:srgbClr val="002060"/>
                </a:solidFill>
                <a:latin typeface="微软雅黑" panose="020B0503020204020204" pitchFamily="34" charset="-122"/>
                <a:ea typeface="微软雅黑" panose="020B0503020204020204" pitchFamily="34" charset="-122"/>
              </a:rPr>
              <a:t>多元约束最小值</a:t>
            </a:r>
            <a:r>
              <a:rPr lang="en-US" altLang="zh-CN" sz="1600" dirty="0">
                <a:solidFill>
                  <a:srgbClr val="002060"/>
                </a:solidFill>
                <a:latin typeface="微软雅黑" panose="020B0503020204020204" pitchFamily="34" charset="-122"/>
                <a:ea typeface="微软雅黑" panose="020B0503020204020204" pitchFamily="34" charset="-122"/>
              </a:rPr>
              <a:t>:</a:t>
            </a:r>
            <a:endParaRPr lang="zh-CN" altLang="zh-CN" sz="1600" dirty="0">
              <a:solidFill>
                <a:srgbClr val="002060"/>
              </a:solidFill>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DA9C5697-671A-4ADF-9635-FFDD2E02D0D8}"/>
              </a:ext>
            </a:extLst>
          </p:cNvPr>
          <p:cNvSpPr txBox="1"/>
          <p:nvPr/>
        </p:nvSpPr>
        <p:spPr>
          <a:xfrm>
            <a:off x="146195" y="3133838"/>
            <a:ext cx="2389547" cy="338554"/>
          </a:xfrm>
          <a:prstGeom prst="rect">
            <a:avLst/>
          </a:prstGeom>
          <a:noFill/>
        </p:spPr>
        <p:txBody>
          <a:bodyPr wrap="square">
            <a:spAutoFit/>
          </a:bodyPr>
          <a:lstStyle/>
          <a:p>
            <a:r>
              <a:rPr lang="zh-CN" altLang="en-US" sz="1600" dirty="0">
                <a:solidFill>
                  <a:srgbClr val="002060"/>
                </a:solidFill>
                <a:latin typeface="微软雅黑" panose="020B0503020204020204" pitchFamily="34" charset="-122"/>
                <a:ea typeface="微软雅黑" panose="020B0503020204020204" pitchFamily="34" charset="-122"/>
              </a:rPr>
              <a:t>多元无约束</a:t>
            </a:r>
            <a:r>
              <a:rPr lang="zh-CN" altLang="en-US" sz="1600" b="0" dirty="0">
                <a:solidFill>
                  <a:srgbClr val="002060"/>
                </a:solidFill>
                <a:latin typeface="微软雅黑" panose="020B0503020204020204" pitchFamily="34" charset="-122"/>
                <a:ea typeface="微软雅黑" panose="020B0503020204020204" pitchFamily="34" charset="-122"/>
              </a:rPr>
              <a:t>最小值</a:t>
            </a:r>
            <a:r>
              <a:rPr lang="zh-CN" altLang="en-US" sz="1600" dirty="0">
                <a:solidFill>
                  <a:srgbClr val="002060"/>
                </a:solidFill>
                <a:latin typeface="微软雅黑" panose="020B0503020204020204" pitchFamily="34" charset="-122"/>
                <a:ea typeface="微软雅黑" panose="020B0503020204020204" pitchFamily="34" charset="-122"/>
              </a:rPr>
              <a:t>：</a:t>
            </a:r>
          </a:p>
        </p:txBody>
      </p:sp>
      <p:sp>
        <p:nvSpPr>
          <p:cNvPr id="21" name="Rectangle 5">
            <a:extLst>
              <a:ext uri="{FF2B5EF4-FFF2-40B4-BE49-F238E27FC236}">
                <a16:creationId xmlns:a16="http://schemas.microsoft.com/office/drawing/2014/main" id="{D5E1700D-7A68-479C-A6C3-52CD1A941B4F}"/>
              </a:ext>
            </a:extLst>
          </p:cNvPr>
          <p:cNvSpPr>
            <a:spLocks noChangeArrowheads="1"/>
          </p:cNvSpPr>
          <p:nvPr/>
        </p:nvSpPr>
        <p:spPr bwMode="auto">
          <a:xfrm>
            <a:off x="1697719" y="3500385"/>
            <a:ext cx="7380540" cy="371512"/>
          </a:xfrm>
          <a:prstGeom prst="rect">
            <a:avLst/>
          </a:prstGeom>
          <a:solidFill>
            <a:schemeClr val="bg1"/>
          </a:solid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zh-CN" altLang="en-US" sz="2000" dirty="0">
                <a:solidFill>
                  <a:srgbClr val="002060"/>
                </a:solidFill>
                <a:latin typeface="华文楷体" panose="02010600040101010101" pitchFamily="2" charset="-122"/>
                <a:ea typeface="华文楷体" panose="02010600040101010101" pitchFamily="2" charset="-122"/>
              </a:rPr>
              <a:t>导数法计算</a:t>
            </a:r>
            <a:r>
              <a:rPr lang="zh-CN" altLang="zh-CN" sz="2000" b="1" kern="0" dirty="0">
                <a:solidFill>
                  <a:srgbClr val="00B0F0"/>
                </a:solidFill>
                <a:latin typeface="华文楷体" panose="02010600040101010101" pitchFamily="2" charset="-122"/>
                <a:ea typeface="华文楷体" panose="02010600040101010101" pitchFamily="2" charset="-122"/>
              </a:rPr>
              <a:t>x,fval,exitflag,output</a:t>
            </a:r>
            <a:r>
              <a:rPr lang="zh-CN" altLang="zh-CN" sz="2000" kern="0" dirty="0">
                <a:solidFill>
                  <a:srgbClr val="002060"/>
                </a:solidFill>
                <a:latin typeface="华文楷体" panose="02010600040101010101" pitchFamily="2" charset="-122"/>
                <a:ea typeface="华文楷体" panose="02010600040101010101" pitchFamily="2" charset="-122"/>
              </a:rPr>
              <a:t>,grad,hessian </a:t>
            </a:r>
            <a:r>
              <a:rPr lang="zh-CN" altLang="zh-CN" sz="2000" b="1" kern="0" dirty="0">
                <a:solidFill>
                  <a:srgbClr val="FF0000"/>
                </a:solidFill>
                <a:latin typeface="华文楷体" panose="02010600040101010101" pitchFamily="2" charset="-122"/>
                <a:ea typeface="华文楷体" panose="02010600040101010101" pitchFamily="2" charset="-122"/>
              </a:rPr>
              <a:t>= </a:t>
            </a:r>
            <a:r>
              <a:rPr lang="zh-CN" altLang="zh-CN" sz="2000" b="1" kern="0" dirty="0">
                <a:solidFill>
                  <a:srgbClr val="FF0000"/>
                </a:solidFill>
                <a:latin typeface="微软雅黑" panose="020B0503020204020204" pitchFamily="34" charset="-122"/>
                <a:ea typeface="微软雅黑" panose="020B0503020204020204" pitchFamily="34" charset="-122"/>
              </a:rPr>
              <a:t>fminunc</a:t>
            </a:r>
            <a:r>
              <a:rPr lang="zh-CN" altLang="zh-CN" sz="2000" kern="0" dirty="0">
                <a:solidFill>
                  <a:srgbClr val="002060"/>
                </a:solidFill>
                <a:latin typeface="华文楷体" panose="02010600040101010101" pitchFamily="2" charset="-122"/>
                <a:ea typeface="华文楷体" panose="02010600040101010101" pitchFamily="2" charset="-122"/>
              </a:rPr>
              <a:t>(</a:t>
            </a:r>
            <a:r>
              <a:rPr lang="zh-CN" altLang="zh-CN" sz="2000" b="1" kern="0" dirty="0">
                <a:solidFill>
                  <a:srgbClr val="00B0F0"/>
                </a:solidFill>
                <a:latin typeface="华文楷体" panose="02010600040101010101" pitchFamily="2" charset="-122"/>
                <a:ea typeface="华文楷体" panose="02010600040101010101" pitchFamily="2" charset="-122"/>
              </a:rPr>
              <a:t>fun,x0</a:t>
            </a:r>
            <a:r>
              <a:rPr lang="zh-CN" altLang="zh-CN" sz="2000" kern="0" dirty="0">
                <a:solidFill>
                  <a:srgbClr val="002060"/>
                </a:solidFill>
                <a:latin typeface="华文楷体" panose="02010600040101010101" pitchFamily="2" charset="-122"/>
                <a:ea typeface="华文楷体" panose="02010600040101010101" pitchFamily="2" charset="-122"/>
              </a:rPr>
              <a:t>) </a:t>
            </a:r>
          </a:p>
        </p:txBody>
      </p:sp>
      <p:sp>
        <p:nvSpPr>
          <p:cNvPr id="22" name="文本框 21">
            <a:extLst>
              <a:ext uri="{FF2B5EF4-FFF2-40B4-BE49-F238E27FC236}">
                <a16:creationId xmlns:a16="http://schemas.microsoft.com/office/drawing/2014/main" id="{12BFEAC2-F8D4-4BE3-B117-0815F46A2710}"/>
              </a:ext>
            </a:extLst>
          </p:cNvPr>
          <p:cNvSpPr txBox="1"/>
          <p:nvPr/>
        </p:nvSpPr>
        <p:spPr>
          <a:xfrm>
            <a:off x="1768696" y="3793247"/>
            <a:ext cx="7375304" cy="430887"/>
          </a:xfrm>
          <a:prstGeom prst="rect">
            <a:avLst/>
          </a:prstGeom>
          <a:noFill/>
        </p:spPr>
        <p:txBody>
          <a:bodyPr wrap="square">
            <a:spAutoFit/>
          </a:bodyPr>
          <a:lstStyle/>
          <a:p>
            <a:r>
              <a:rPr lang="zh-CN" altLang="zh-CN" sz="2200" b="1" kern="0" dirty="0">
                <a:solidFill>
                  <a:srgbClr val="00B0F0"/>
                </a:solidFill>
                <a:latin typeface="华文楷体" panose="02010600040101010101" pitchFamily="2" charset="-122"/>
                <a:ea typeface="华文楷体" panose="02010600040101010101" pitchFamily="2" charset="-122"/>
              </a:rPr>
              <a:t>x,fval,exitflag,output</a:t>
            </a:r>
            <a:r>
              <a:rPr kumimoji="0" lang="zh-CN" altLang="zh-CN" sz="2200" i="0" u="none" strike="noStrike" cap="none" normalizeH="0" baseline="0" dirty="0">
                <a:ln>
                  <a:noFill/>
                </a:ln>
                <a:solidFill>
                  <a:srgbClr val="002060"/>
                </a:solidFill>
                <a:effectLst/>
                <a:latin typeface="华文楷体" panose="02010600040101010101" pitchFamily="2" charset="-122"/>
                <a:ea typeface="华文楷体" panose="02010600040101010101" pitchFamily="2" charset="-122"/>
              </a:rPr>
              <a:t>,lambda,grad,hessian = </a:t>
            </a:r>
            <a:r>
              <a:rPr lang="zh-CN" altLang="zh-CN" sz="2000" b="1" kern="0" dirty="0">
                <a:solidFill>
                  <a:srgbClr val="FF0000"/>
                </a:solidFill>
                <a:latin typeface="微软雅黑" panose="020B0503020204020204" pitchFamily="34" charset="-122"/>
                <a:ea typeface="微软雅黑" panose="020B0503020204020204" pitchFamily="34" charset="-122"/>
              </a:rPr>
              <a:t>fmincon</a:t>
            </a:r>
            <a:r>
              <a:rPr kumimoji="0" lang="zh-CN" altLang="zh-CN" sz="2200" i="0" u="none" strike="noStrike" cap="none" normalizeH="0" baseline="0" dirty="0">
                <a:ln>
                  <a:noFill/>
                </a:ln>
                <a:solidFill>
                  <a:srgbClr val="002060"/>
                </a:solidFill>
                <a:effectLst/>
                <a:latin typeface="华文楷体" panose="02010600040101010101" pitchFamily="2" charset="-122"/>
                <a:ea typeface="华文楷体" panose="02010600040101010101" pitchFamily="2" charset="-122"/>
              </a:rPr>
              <a:t>(</a:t>
            </a:r>
            <a:r>
              <a:rPr lang="zh-CN" altLang="zh-CN" sz="2200" b="1" kern="0" dirty="0">
                <a:solidFill>
                  <a:srgbClr val="00B0F0"/>
                </a:solidFill>
                <a:latin typeface="华文楷体" panose="02010600040101010101" pitchFamily="2" charset="-122"/>
                <a:ea typeface="华文楷体" panose="02010600040101010101" pitchFamily="2" charset="-122"/>
              </a:rPr>
              <a:t>fun,x0</a:t>
            </a:r>
            <a:r>
              <a:rPr kumimoji="0" lang="zh-CN" altLang="zh-CN" sz="2200" i="0" u="none" strike="noStrike" cap="none" normalizeH="0" baseline="0" dirty="0">
                <a:ln>
                  <a:noFill/>
                </a:ln>
                <a:solidFill>
                  <a:srgbClr val="002060"/>
                </a:solidFill>
                <a:effectLst/>
                <a:latin typeface="华文楷体" panose="02010600040101010101" pitchFamily="2" charset="-122"/>
                <a:ea typeface="华文楷体" panose="02010600040101010101" pitchFamily="2" charset="-122"/>
              </a:rPr>
              <a:t>,A,b) </a:t>
            </a:r>
            <a:endParaRPr lang="zh-CN" altLang="en-US" sz="2200" dirty="0">
              <a:solidFill>
                <a:srgbClr val="002060"/>
              </a:solidFill>
              <a:latin typeface="华文楷体" panose="02010600040101010101" pitchFamily="2" charset="-122"/>
              <a:ea typeface="华文楷体" panose="02010600040101010101" pitchFamily="2" charset="-122"/>
            </a:endParaRPr>
          </a:p>
        </p:txBody>
      </p:sp>
      <p:sp>
        <p:nvSpPr>
          <p:cNvPr id="26" name="文本框 25">
            <a:extLst>
              <a:ext uri="{FF2B5EF4-FFF2-40B4-BE49-F238E27FC236}">
                <a16:creationId xmlns:a16="http://schemas.microsoft.com/office/drawing/2014/main" id="{0B80358D-9B90-4E2A-AA8B-DD20E185B5E6}"/>
              </a:ext>
            </a:extLst>
          </p:cNvPr>
          <p:cNvSpPr txBox="1"/>
          <p:nvPr/>
        </p:nvSpPr>
        <p:spPr>
          <a:xfrm>
            <a:off x="200670" y="4257048"/>
            <a:ext cx="8911554" cy="338554"/>
          </a:xfrm>
          <a:prstGeom prst="rect">
            <a:avLst/>
          </a:prstGeom>
          <a:solidFill>
            <a:srgbClr val="0070C0"/>
          </a:solidFill>
        </p:spPr>
        <p:txBody>
          <a:bodyPr wrap="square">
            <a:spAutoFit/>
          </a:bodyPr>
          <a:lstStyle>
            <a:defPPr>
              <a:defRPr lang="zh-CN"/>
            </a:defPPr>
            <a:lvl1pPr algn="dist">
              <a:defRPr>
                <a:solidFill>
                  <a:schemeClr val="bg1"/>
                </a:solidFill>
                <a:latin typeface="微软雅黑" panose="020B0503020204020204" pitchFamily="34" charset="-122"/>
                <a:ea typeface="微软雅黑" panose="020B0503020204020204" pitchFamily="34" charset="-122"/>
              </a:defRPr>
            </a:lvl1pPr>
          </a:lstStyle>
          <a:p>
            <a:r>
              <a:rPr lang="zh-CN" altLang="en-US" sz="1600" dirty="0"/>
              <a:t>输出结果建议用打印显示</a:t>
            </a:r>
            <a:r>
              <a:rPr lang="en-US" altLang="zh-CN" sz="1600" dirty="0" err="1"/>
              <a:t>println</a:t>
            </a:r>
            <a:r>
              <a:rPr lang="en-US" altLang="zh-CN" sz="1600" dirty="0"/>
              <a:t>("x=$</a:t>
            </a:r>
            <a:r>
              <a:rPr lang="en-US" altLang="zh-CN" sz="1600" dirty="0" err="1"/>
              <a:t>x,fval</a:t>
            </a:r>
            <a:r>
              <a:rPr lang="en-US" altLang="zh-CN" sz="1600" dirty="0"/>
              <a:t>=$</a:t>
            </a:r>
            <a:r>
              <a:rPr lang="en-US" altLang="zh-CN" sz="1600" dirty="0" err="1"/>
              <a:t>fval,exitflag</a:t>
            </a:r>
            <a:r>
              <a:rPr lang="en-US" altLang="zh-CN" sz="1600" dirty="0"/>
              <a:t>=$</a:t>
            </a:r>
            <a:r>
              <a:rPr lang="en-US" altLang="zh-CN" sz="1600" dirty="0" err="1"/>
              <a:t>exitflag,output</a:t>
            </a:r>
            <a:r>
              <a:rPr lang="en-US" altLang="zh-CN" sz="1600" dirty="0"/>
              <a:t>=$output")</a:t>
            </a:r>
            <a:endParaRPr lang="zh-CN" altLang="en-US" sz="1600" dirty="0"/>
          </a:p>
        </p:txBody>
      </p:sp>
    </p:spTree>
    <p:extLst>
      <p:ext uri="{BB962C8B-B14F-4D97-AF65-F5344CB8AC3E}">
        <p14:creationId xmlns:p14="http://schemas.microsoft.com/office/powerpoint/2010/main" val="2945170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animBg="1"/>
      <p:bldP spid="16" grpId="0" animBg="1"/>
      <p:bldP spid="17" grpId="0"/>
      <p:bldP spid="18" grpId="0" animBg="1"/>
      <p:bldP spid="19" grpId="0"/>
      <p:bldP spid="20" grpId="0"/>
      <p:bldP spid="21" grpId="0" animBg="1"/>
      <p:bldP spid="22" grpId="0"/>
      <p:bldP spid="2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55372A1-93E3-4B64-9986-E950D47F8722}"/>
              </a:ext>
            </a:extLst>
          </p:cNvPr>
          <p:cNvSpPr>
            <a:spLocks noGrp="1"/>
          </p:cNvSpPr>
          <p:nvPr>
            <p:ph idx="1"/>
          </p:nvPr>
        </p:nvSpPr>
        <p:spPr>
          <a:xfrm>
            <a:off x="91945" y="1501950"/>
            <a:ext cx="3086630" cy="415370"/>
          </a:xfrm>
        </p:spPr>
        <p:txBody>
          <a:bodyPr/>
          <a:lstStyle/>
          <a:p>
            <a:pPr marL="514350" indent="-514350">
              <a:buFont typeface="+mj-ea"/>
              <a:buAutoNum type="circleNumDbPlain" startAt="2"/>
            </a:pPr>
            <a:r>
              <a:rPr lang="en-US" altLang="zh-CN" sz="2000" b="1" kern="1200" dirty="0" err="1">
                <a:solidFill>
                  <a:srgbClr val="0070C0"/>
                </a:solidFill>
                <a:latin typeface="微软雅黑" panose="020B0503020204020204" pitchFamily="34" charset="-122"/>
                <a:ea typeface="微软雅黑" panose="020B0503020204020204" pitchFamily="34" charset="-122"/>
              </a:rPr>
              <a:t>fminbnd</a:t>
            </a:r>
            <a:r>
              <a:rPr lang="zh-CN" altLang="en-US" sz="2000" b="1" kern="1200" dirty="0">
                <a:solidFill>
                  <a:srgbClr val="0070C0"/>
                </a:solidFill>
                <a:latin typeface="微软雅黑" panose="020B0503020204020204" pitchFamily="34" charset="-122"/>
                <a:ea typeface="微软雅黑" panose="020B0503020204020204" pitchFamily="34" charset="-122"/>
              </a:rPr>
              <a:t>调用格式</a:t>
            </a:r>
            <a:r>
              <a:rPr lang="zh-CN" altLang="en-US" sz="2000" dirty="0"/>
              <a:t>：</a:t>
            </a:r>
          </a:p>
        </p:txBody>
      </p:sp>
      <p:sp>
        <p:nvSpPr>
          <p:cNvPr id="5" name="文本框 4">
            <a:extLst>
              <a:ext uri="{FF2B5EF4-FFF2-40B4-BE49-F238E27FC236}">
                <a16:creationId xmlns:a16="http://schemas.microsoft.com/office/drawing/2014/main" id="{73109ACD-3D73-44B4-8C41-70511365729A}"/>
              </a:ext>
            </a:extLst>
          </p:cNvPr>
          <p:cNvSpPr txBox="1"/>
          <p:nvPr/>
        </p:nvSpPr>
        <p:spPr>
          <a:xfrm>
            <a:off x="2987823" y="1539363"/>
            <a:ext cx="5976665" cy="313932"/>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algn="dist"/>
            <a:r>
              <a:rPr lang="zh-CN" altLang="zh-CN" sz="1600" dirty="0">
                <a:highlight>
                  <a:srgbClr val="FF0000"/>
                </a:highlight>
                <a:latin typeface="华文楷体" panose="02010600040101010101" pitchFamily="2" charset="-122"/>
                <a:ea typeface="华文楷体" panose="02010600040101010101" pitchFamily="2" charset="-122"/>
              </a:rPr>
              <a:t>x</a:t>
            </a:r>
            <a:r>
              <a:rPr lang="zh-CN" altLang="zh-CN" sz="1600" dirty="0">
                <a:latin typeface="华文楷体" panose="02010600040101010101" pitchFamily="2" charset="-122"/>
                <a:ea typeface="华文楷体" panose="02010600040101010101" pitchFamily="2" charset="-122"/>
              </a:rPr>
              <a:t>,fval,exitflag,output </a:t>
            </a:r>
            <a:r>
              <a:rPr lang="en-US" altLang="zh-CN" sz="1600" dirty="0">
                <a:highlight>
                  <a:srgbClr val="FF0000"/>
                </a:highlight>
                <a:latin typeface="Times New Roman" panose="02020603050405020304" pitchFamily="18" charset="0"/>
                <a:cs typeface="Times New Roman" panose="02020603050405020304" pitchFamily="18" charset="0"/>
              </a:rPr>
              <a:t>=</a:t>
            </a:r>
            <a:r>
              <a:rPr lang="en-US" altLang="ko-KR" sz="1600" dirty="0" err="1">
                <a:highlight>
                  <a:srgbClr val="FF0000"/>
                </a:highlight>
                <a:latin typeface="Times New Roman" panose="02020603050405020304" pitchFamily="18" charset="0"/>
                <a:cs typeface="Times New Roman" panose="02020603050405020304" pitchFamily="18" charset="0"/>
              </a:rPr>
              <a:t>fminbnd</a:t>
            </a:r>
            <a:r>
              <a:rPr lang="en-US" altLang="ko-KR" sz="1600" dirty="0">
                <a:highlight>
                  <a:srgbClr val="FF0000"/>
                </a:highlight>
                <a:latin typeface="Times New Roman" panose="02020603050405020304" pitchFamily="18" charset="0"/>
                <a:cs typeface="Times New Roman" panose="02020603050405020304" pitchFamily="18" charset="0"/>
              </a:rPr>
              <a:t>(fun,x1,x2,</a:t>
            </a:r>
            <a:r>
              <a:rPr lang="zh-CN" altLang="zh-CN" sz="1600" dirty="0">
                <a:solidFill>
                  <a:srgbClr val="000000"/>
                </a:solidFill>
                <a:effectLst/>
                <a:highlight>
                  <a:srgbClr val="FF0000"/>
                </a:highlight>
                <a:latin typeface="Arial Unicode MS"/>
                <a:ea typeface="source-code-pro"/>
              </a:rPr>
              <a:t> </a:t>
            </a:r>
            <a:r>
              <a:rPr lang="zh-CN" altLang="zh-CN" sz="1600" dirty="0">
                <a:latin typeface="华文楷体" panose="02010600040101010101" pitchFamily="2" charset="-122"/>
                <a:ea typeface="华文楷体" panose="02010600040101010101" pitchFamily="2" charset="-122"/>
              </a:rPr>
              <a:t>options</a:t>
            </a:r>
            <a:r>
              <a:rPr lang="en-US" altLang="ko-KR" sz="1600" dirty="0">
                <a:latin typeface="华文楷体" panose="02010600040101010101" pitchFamily="2" charset="-122"/>
                <a:ea typeface="华文楷体" panose="02010600040101010101" pitchFamily="2" charset="-122"/>
              </a:rPr>
              <a:t>)</a:t>
            </a:r>
            <a:endParaRPr lang="ko-KR" altLang="en-US" sz="1600" dirty="0">
              <a:latin typeface="华文楷体" panose="02010600040101010101" pitchFamily="2" charset="-122"/>
              <a:ea typeface="华文楷体" panose="02010600040101010101" pitchFamily="2" charset="-122"/>
            </a:endParaRPr>
          </a:p>
        </p:txBody>
      </p:sp>
      <p:sp>
        <p:nvSpPr>
          <p:cNvPr id="6" name="矩形 1">
            <a:extLst>
              <a:ext uri="{FF2B5EF4-FFF2-40B4-BE49-F238E27FC236}">
                <a16:creationId xmlns:a16="http://schemas.microsoft.com/office/drawing/2014/main" id="{3B39B654-3873-4A38-9C22-F492B364EFB0}"/>
              </a:ext>
            </a:extLst>
          </p:cNvPr>
          <p:cNvSpPr/>
          <p:nvPr/>
        </p:nvSpPr>
        <p:spPr bwMode="auto">
          <a:xfrm>
            <a:off x="118084" y="690248"/>
            <a:ext cx="3086630" cy="461665"/>
          </a:xfrm>
          <a:prstGeom prst="rect">
            <a:avLst/>
          </a:prstGeom>
          <a:solidFill>
            <a:schemeClr val="bg1"/>
          </a:solidFill>
        </p:spPr>
        <p:txBody>
          <a:bodyPr vert="horz" wrap="square" lIns="91440" tIns="45720" rIns="91440" bIns="45720" numCol="1" anchor="t">
            <a:spAutoFit/>
          </a:bodyPr>
          <a:lstStyle/>
          <a:p>
            <a:pPr marL="514350" indent="-514350" eaLnBrk="0">
              <a:spcBef>
                <a:spcPts val="800"/>
              </a:spcBef>
              <a:spcAft>
                <a:spcPts val="0"/>
              </a:spcAft>
              <a:buClr>
                <a:srgbClr val="002060"/>
              </a:buClr>
              <a:buFont typeface="+mj-ea"/>
              <a:buAutoNum type="circleNumDbPlain"/>
            </a:pPr>
            <a:r>
              <a:rPr lang="zh-CN" altLang="en-US" sz="2000" b="1" dirty="0">
                <a:solidFill>
                  <a:srgbClr val="0070C0"/>
                </a:solidFill>
                <a:latin typeface="微软雅黑" panose="020B0503020204020204" pitchFamily="34" charset="-122"/>
                <a:ea typeface="微软雅黑" panose="020B0503020204020204" pitchFamily="34" charset="-122"/>
              </a:rPr>
              <a:t>最小值问题描述</a:t>
            </a:r>
            <a:r>
              <a:rPr lang="zh-CN" altLang="en-US" sz="2400" dirty="0">
                <a:solidFill>
                  <a:srgbClr val="002060"/>
                </a:solidFill>
                <a:latin typeface="华文楷体" panose="02010600040101010101" pitchFamily="2" charset="-122"/>
                <a:ea typeface="华文楷体" panose="02010600040101010101" pitchFamily="2" charset="-122"/>
                <a:cs typeface="Times New Roman" panose="02020603050405020304" pitchFamily="18" charset="0"/>
              </a:rPr>
              <a:t>：</a:t>
            </a:r>
            <a:r>
              <a:rPr lang="en-US" altLang="zh-CN" sz="24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 </a:t>
            </a:r>
            <a:endParaRPr lang="zh-CN" altLang="en-US" sz="24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p:txBody>
      </p:sp>
      <p:pic>
        <p:nvPicPr>
          <p:cNvPr id="7" name="图片 6">
            <a:extLst>
              <a:ext uri="{FF2B5EF4-FFF2-40B4-BE49-F238E27FC236}">
                <a16:creationId xmlns:a16="http://schemas.microsoft.com/office/drawing/2014/main" id="{B4A8C9E4-6359-42E0-9E93-22B9E4B8F8C4}"/>
              </a:ext>
            </a:extLst>
          </p:cNvPr>
          <p:cNvPicPr>
            <a:picLocks noChangeAspect="1"/>
          </p:cNvPicPr>
          <p:nvPr/>
        </p:nvPicPr>
        <p:blipFill rotWithShape="1">
          <a:blip r:embed="rId3">
            <a:extLst>
              <a:ext uri="{28A0092B-C50C-407E-A947-70E740481C1C}">
                <a14:useLocalDpi xmlns:a14="http://schemas.microsoft.com/office/drawing/2010/main" val="0"/>
              </a:ext>
            </a:extLst>
          </a:blip>
          <a:srcRect l="-1" t="19730" r="2041" b="17466"/>
          <a:stretch/>
        </p:blipFill>
        <p:spPr>
          <a:xfrm>
            <a:off x="2748511" y="742297"/>
            <a:ext cx="3456384" cy="441058"/>
          </a:xfrm>
          <a:prstGeom prst="rect">
            <a:avLst/>
          </a:prstGeom>
          <a:noFill/>
        </p:spPr>
      </p:pic>
      <p:sp>
        <p:nvSpPr>
          <p:cNvPr id="9" name="文本框 8">
            <a:extLst>
              <a:ext uri="{FF2B5EF4-FFF2-40B4-BE49-F238E27FC236}">
                <a16:creationId xmlns:a16="http://schemas.microsoft.com/office/drawing/2014/main" id="{12958EC1-F718-4497-BEE7-A408CFB2EB4A}"/>
              </a:ext>
            </a:extLst>
          </p:cNvPr>
          <p:cNvSpPr txBox="1"/>
          <p:nvPr/>
        </p:nvSpPr>
        <p:spPr>
          <a:xfrm>
            <a:off x="686682" y="1115921"/>
            <a:ext cx="8277805" cy="400110"/>
          </a:xfrm>
          <a:prstGeom prst="rect">
            <a:avLst/>
          </a:prstGeom>
          <a:noFill/>
        </p:spPr>
        <p:txBody>
          <a:bodyPr wrap="square">
            <a:spAutoFit/>
          </a:bodyPr>
          <a:lstStyle/>
          <a:p>
            <a:r>
              <a:rPr lang="zh-CN" altLang="en-US" sz="2000" dirty="0">
                <a:solidFill>
                  <a:srgbClr val="002060"/>
                </a:solidFill>
                <a:latin typeface="华文楷体" panose="02010600040101010101" pitchFamily="2" charset="-122"/>
                <a:ea typeface="华文楷体" panose="02010600040101010101" pitchFamily="2" charset="-122"/>
              </a:rPr>
              <a:t>在区间 </a:t>
            </a:r>
            <a:r>
              <a:rPr lang="en-US" altLang="zh-CN" sz="2000" b="1" dirty="0">
                <a:solidFill>
                  <a:srgbClr val="FF0000"/>
                </a:solidFill>
                <a:latin typeface="微软雅黑" panose="020B0503020204020204" pitchFamily="34" charset="-122"/>
                <a:ea typeface="微软雅黑" panose="020B0503020204020204" pitchFamily="34" charset="-122"/>
              </a:rPr>
              <a:t>x1 &lt; x &lt; x2 </a:t>
            </a:r>
            <a:r>
              <a:rPr lang="zh-CN" altLang="en-US" sz="2000" dirty="0">
                <a:solidFill>
                  <a:srgbClr val="002060"/>
                </a:solidFill>
                <a:latin typeface="华文楷体" panose="02010600040101010101" pitchFamily="2" charset="-122"/>
                <a:ea typeface="华文楷体" panose="02010600040101010101" pitchFamily="2" charset="-122"/>
              </a:rPr>
              <a:t>中寻找一个变量</a:t>
            </a:r>
            <a:r>
              <a:rPr lang="en-US" altLang="zh-CN" sz="2000" dirty="0">
                <a:solidFill>
                  <a:srgbClr val="002060"/>
                </a:solidFill>
                <a:latin typeface="华文楷体" panose="02010600040101010101" pitchFamily="2" charset="-122"/>
                <a:ea typeface="华文楷体" panose="02010600040101010101" pitchFamily="2" charset="-122"/>
              </a:rPr>
              <a:t>x</a:t>
            </a:r>
            <a:r>
              <a:rPr lang="zh-CN" altLang="en-US" sz="2000" dirty="0">
                <a:solidFill>
                  <a:srgbClr val="002060"/>
                </a:solidFill>
                <a:latin typeface="华文楷体" panose="02010600040101010101" pitchFamily="2" charset="-122"/>
                <a:ea typeface="华文楷体" panose="02010600040101010101" pitchFamily="2" charset="-122"/>
              </a:rPr>
              <a:t>，使函数</a:t>
            </a:r>
            <a:r>
              <a:rPr lang="en-US" altLang="zh-CN" sz="2000" dirty="0">
                <a:solidFill>
                  <a:srgbClr val="002060"/>
                </a:solidFill>
                <a:latin typeface="华文楷体" panose="02010600040101010101" pitchFamily="2" charset="-122"/>
                <a:ea typeface="华文楷体" panose="02010600040101010101" pitchFamily="2" charset="-122"/>
              </a:rPr>
              <a:t>fun</a:t>
            </a:r>
            <a:r>
              <a:rPr lang="zh-CN" altLang="en-US" sz="2000" dirty="0">
                <a:solidFill>
                  <a:srgbClr val="002060"/>
                </a:solidFill>
                <a:latin typeface="华文楷体" panose="02010600040101010101" pitchFamily="2" charset="-122"/>
                <a:ea typeface="华文楷体" panose="02010600040101010101" pitchFamily="2" charset="-122"/>
              </a:rPr>
              <a:t>的局部最小值</a:t>
            </a:r>
          </a:p>
        </p:txBody>
      </p:sp>
      <p:sp>
        <p:nvSpPr>
          <p:cNvPr id="11" name="内容占位符 2">
            <a:extLst>
              <a:ext uri="{FF2B5EF4-FFF2-40B4-BE49-F238E27FC236}">
                <a16:creationId xmlns:a16="http://schemas.microsoft.com/office/drawing/2014/main" id="{99A3666F-70DB-488F-A648-BC3E1AB86835}"/>
              </a:ext>
            </a:extLst>
          </p:cNvPr>
          <p:cNvSpPr txBox="1">
            <a:spLocks/>
          </p:cNvSpPr>
          <p:nvPr/>
        </p:nvSpPr>
        <p:spPr bwMode="auto">
          <a:xfrm>
            <a:off x="118084" y="1864891"/>
            <a:ext cx="8746036" cy="31708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a:lnSpc>
                <a:spcPts val="2700"/>
              </a:lnSpc>
            </a:pPr>
            <a:r>
              <a:rPr lang="en-US" altLang="zh-CN" sz="1600" dirty="0">
                <a:solidFill>
                  <a:srgbClr val="00B0F0"/>
                </a:solidFill>
                <a:latin typeface="微软雅黑" panose="020B0503020204020204" pitchFamily="34" charset="-122"/>
                <a:ea typeface="微软雅黑" panose="020B0503020204020204" pitchFamily="34" charset="-122"/>
              </a:rPr>
              <a:t>x:</a:t>
            </a:r>
            <a:r>
              <a:rPr lang="zh-CN" altLang="en-US" sz="1600" dirty="0">
                <a:solidFill>
                  <a:srgbClr val="00B0F0"/>
                </a:solidFill>
                <a:latin typeface="微软雅黑" panose="020B0503020204020204" pitchFamily="34" charset="-122"/>
                <a:ea typeface="微软雅黑" panose="020B0503020204020204" pitchFamily="34" charset="-122"/>
              </a:rPr>
              <a:t>优化</a:t>
            </a:r>
            <a:r>
              <a:rPr lang="zh-CN" altLang="en-US" sz="1600" dirty="0">
                <a:latin typeface="微软雅黑" panose="020B0503020204020204" pitchFamily="34" charset="-122"/>
                <a:ea typeface="微软雅黑" panose="020B0503020204020204" pitchFamily="34" charset="-122"/>
              </a:rPr>
              <a:t>解</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即极值点，为实数标量，为该问题局部解</a:t>
            </a:r>
            <a:endParaRPr lang="en-US" altLang="zh-CN" sz="1600" dirty="0">
              <a:latin typeface="微软雅黑" panose="020B0503020204020204" pitchFamily="34" charset="-122"/>
              <a:ea typeface="微软雅黑" panose="020B0503020204020204" pitchFamily="34" charset="-122"/>
            </a:endParaRPr>
          </a:p>
          <a:p>
            <a:pPr>
              <a:lnSpc>
                <a:spcPts val="2700"/>
              </a:lnSpc>
            </a:pPr>
            <a:r>
              <a:rPr lang="en-US" altLang="zh-CN" sz="1600" dirty="0" err="1">
                <a:solidFill>
                  <a:srgbClr val="00B0F0"/>
                </a:solidFill>
                <a:latin typeface="微软雅黑" panose="020B0503020204020204" pitchFamily="34" charset="-122"/>
                <a:ea typeface="微软雅黑" panose="020B0503020204020204" pitchFamily="34" charset="-122"/>
              </a:rPr>
              <a:t>fval</a:t>
            </a:r>
            <a:r>
              <a:rPr lang="en-US" altLang="zh-CN" sz="1600" dirty="0">
                <a:solidFill>
                  <a:srgbClr val="00B0F0"/>
                </a:solidFill>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极小值，即解</a:t>
            </a:r>
            <a:r>
              <a:rPr lang="en-US" altLang="zh-CN" sz="1600" dirty="0">
                <a:latin typeface="微软雅黑" panose="020B0503020204020204" pitchFamily="34" charset="-122"/>
                <a:ea typeface="微软雅黑" panose="020B0503020204020204" pitchFamily="34" charset="-122"/>
              </a:rPr>
              <a:t>x</a:t>
            </a:r>
            <a:r>
              <a:rPr lang="zh-CN" altLang="en-US" sz="1600" dirty="0">
                <a:latin typeface="微软雅黑" panose="020B0503020204020204" pitchFamily="34" charset="-122"/>
                <a:ea typeface="微软雅黑" panose="020B0503020204020204" pitchFamily="34" charset="-122"/>
              </a:rPr>
              <a:t>处的目标函数值，结果</a:t>
            </a:r>
            <a:r>
              <a:rPr lang="en-US" altLang="zh-CN" sz="1600" b="0" i="0" dirty="0">
                <a:solidFill>
                  <a:srgbClr val="2C3E50"/>
                </a:solidFill>
                <a:effectLst/>
                <a:latin typeface="微软雅黑" panose="020B0503020204020204" pitchFamily="34" charset="-122"/>
                <a:ea typeface="微软雅黑" panose="020B0503020204020204" pitchFamily="34" charset="-122"/>
              </a:rPr>
              <a:t> </a:t>
            </a:r>
            <a:r>
              <a:rPr lang="en-US" altLang="zh-CN" sz="1600" b="0" i="0" dirty="0" err="1">
                <a:solidFill>
                  <a:srgbClr val="2C3E50"/>
                </a:solidFill>
                <a:effectLst/>
                <a:latin typeface="微软雅黑" panose="020B0503020204020204" pitchFamily="34" charset="-122"/>
                <a:ea typeface="微软雅黑" panose="020B0503020204020204" pitchFamily="34" charset="-122"/>
              </a:rPr>
              <a:t>fval</a:t>
            </a:r>
            <a:r>
              <a:rPr lang="en-US" altLang="zh-CN" sz="1600" b="0" i="0" dirty="0">
                <a:solidFill>
                  <a:srgbClr val="2C3E50"/>
                </a:solidFill>
                <a:effectLst/>
                <a:latin typeface="微软雅黑" panose="020B0503020204020204" pitchFamily="34" charset="-122"/>
                <a:ea typeface="微软雅黑" panose="020B0503020204020204" pitchFamily="34" charset="-122"/>
              </a:rPr>
              <a:t> = fun</a:t>
            </a:r>
            <a:r>
              <a:rPr lang="zh-CN" altLang="en-US" sz="1600" b="0" i="0" dirty="0">
                <a:solidFill>
                  <a:srgbClr val="2C3E50"/>
                </a:solidFill>
                <a:effectLst/>
                <a:latin typeface="微软雅黑" panose="020B0503020204020204" pitchFamily="34" charset="-122"/>
                <a:ea typeface="微软雅黑" panose="020B0503020204020204" pitchFamily="34" charset="-122"/>
              </a:rPr>
              <a:t>（</a:t>
            </a:r>
            <a:r>
              <a:rPr lang="en-US" altLang="zh-CN" sz="1600" b="0" i="0" dirty="0">
                <a:solidFill>
                  <a:srgbClr val="2C3E50"/>
                </a:solidFill>
                <a:effectLst/>
                <a:latin typeface="微软雅黑" panose="020B0503020204020204" pitchFamily="34" charset="-122"/>
                <a:ea typeface="微软雅黑" panose="020B0503020204020204" pitchFamily="34" charset="-122"/>
              </a:rPr>
              <a:t>x</a:t>
            </a:r>
            <a:r>
              <a:rPr lang="zh-CN" altLang="en-US" sz="1600" b="0" i="0" dirty="0">
                <a:solidFill>
                  <a:srgbClr val="2C3E50"/>
                </a:solidFill>
                <a:effectLst/>
                <a:latin typeface="微软雅黑" panose="020B0503020204020204" pitchFamily="34" charset="-122"/>
                <a:ea typeface="微软雅黑" panose="020B0503020204020204" pitchFamily="34" charset="-122"/>
              </a:rPr>
              <a:t>）</a:t>
            </a:r>
            <a:endParaRPr lang="en-US" altLang="zh-CN" sz="1600" b="0" i="0" dirty="0">
              <a:solidFill>
                <a:srgbClr val="2C3E50"/>
              </a:solidFill>
              <a:effectLst/>
              <a:latin typeface="微软雅黑" panose="020B0503020204020204" pitchFamily="34" charset="-122"/>
              <a:ea typeface="微软雅黑" panose="020B0503020204020204" pitchFamily="34" charset="-122"/>
            </a:endParaRPr>
          </a:p>
          <a:p>
            <a:pPr>
              <a:lnSpc>
                <a:spcPts val="2700"/>
              </a:lnSpc>
            </a:pPr>
            <a:r>
              <a:rPr lang="en-US" altLang="zh-CN" sz="1600" dirty="0" err="1">
                <a:solidFill>
                  <a:srgbClr val="00B0F0"/>
                </a:solidFill>
                <a:latin typeface="微软雅黑" panose="020B0503020204020204" pitchFamily="34" charset="-122"/>
                <a:ea typeface="微软雅黑" panose="020B0503020204020204" pitchFamily="34" charset="-122"/>
              </a:rPr>
              <a:t>exitflag</a:t>
            </a:r>
            <a:r>
              <a:rPr lang="en-US" altLang="zh-CN" sz="1600" dirty="0">
                <a:solidFill>
                  <a:srgbClr val="00B0F0"/>
                </a:solidFill>
                <a:latin typeface="微软雅黑" panose="020B0503020204020204" pitchFamily="34" charset="-122"/>
                <a:ea typeface="微软雅黑" panose="020B0503020204020204" pitchFamily="34" charset="-122"/>
              </a:rPr>
              <a:t>:</a:t>
            </a:r>
            <a:r>
              <a:rPr lang="en-US" altLang="ko-KR" sz="1600" cap="none" dirty="0">
                <a:solidFill>
                  <a:srgbClr val="0070C0"/>
                </a:solidFill>
                <a:latin typeface="微软雅黑" panose="020B0503020204020204" pitchFamily="34" charset="-122"/>
                <a:ea typeface="微软雅黑" panose="020B0503020204020204" pitchFamily="34" charset="-122"/>
              </a:rPr>
              <a:t> </a:t>
            </a:r>
            <a:r>
              <a:rPr lang="en-US" altLang="ko-KR" sz="1600" dirty="0" err="1">
                <a:latin typeface="微软雅黑" panose="020B0503020204020204" pitchFamily="34" charset="-122"/>
                <a:ea typeface="微软雅黑" panose="020B0503020204020204" pitchFamily="34" charset="-122"/>
              </a:rPr>
              <a:t>程序退出标志</a:t>
            </a:r>
            <a:r>
              <a:rPr lang="en-US" altLang="ko-KR" sz="1600" dirty="0">
                <a:latin typeface="微软雅黑" panose="020B0503020204020204" pitchFamily="34" charset="-122"/>
                <a:ea typeface="微软雅黑" panose="020B0503020204020204" pitchFamily="34" charset="-122"/>
              </a:rPr>
              <a:t>,</a:t>
            </a:r>
          </a:p>
          <a:p>
            <a:pPr marL="0" indent="0">
              <a:lnSpc>
                <a:spcPts val="2700"/>
              </a:lnSpc>
              <a:buNone/>
            </a:pPr>
            <a:r>
              <a:rPr lang="en-US" altLang="ko-KR" sz="1600" dirty="0">
                <a:latin typeface="微软雅黑" panose="020B0503020204020204" pitchFamily="34" charset="-122"/>
                <a:ea typeface="微软雅黑" panose="020B0503020204020204" pitchFamily="34" charset="-122"/>
              </a:rPr>
              <a:t>    1</a:t>
            </a:r>
            <a:r>
              <a:rPr lang="zh-CN" altLang="en-US" sz="1600" dirty="0">
                <a:latin typeface="微软雅黑" panose="020B0503020204020204" pitchFamily="34" charset="-122"/>
                <a:ea typeface="微软雅黑" panose="020B0503020204020204" pitchFamily="34" charset="-122"/>
              </a:rPr>
              <a:t>是收敛</a:t>
            </a:r>
            <a:r>
              <a:rPr lang="en-US" altLang="zh-CN" sz="1600" dirty="0">
                <a:latin typeface="微软雅黑" panose="020B0503020204020204" pitchFamily="34" charset="-122"/>
                <a:ea typeface="微软雅黑" panose="020B0503020204020204" pitchFamily="34" charset="-122"/>
              </a:rPr>
              <a:t>,</a:t>
            </a:r>
            <a:r>
              <a:rPr lang="zh-CN" altLang="en-US" sz="1600" b="0" i="0" dirty="0">
                <a:solidFill>
                  <a:srgbClr val="2C3E50"/>
                </a:solidFill>
                <a:effectLst/>
                <a:latin typeface="微软雅黑" panose="020B0503020204020204" pitchFamily="34" charset="-122"/>
                <a:ea typeface="微软雅黑" panose="020B0503020204020204" pitchFamily="34" charset="-122"/>
              </a:rPr>
              <a:t> </a:t>
            </a:r>
            <a:r>
              <a:rPr lang="en-US" altLang="zh-CN" sz="1600" b="0" i="0" dirty="0">
                <a:solidFill>
                  <a:srgbClr val="2C3E50"/>
                </a:solidFill>
                <a:effectLst/>
                <a:latin typeface="微软雅黑" panose="020B0503020204020204" pitchFamily="34" charset="-122"/>
                <a:ea typeface="微软雅黑" panose="020B0503020204020204" pitchFamily="34" charset="-122"/>
              </a:rPr>
              <a:t>0</a:t>
            </a:r>
            <a:r>
              <a:rPr lang="zh-CN" altLang="en-US" sz="1600" b="0" i="0" dirty="0">
                <a:solidFill>
                  <a:srgbClr val="2C3E50"/>
                </a:solidFill>
                <a:effectLst/>
                <a:latin typeface="微软雅黑" panose="020B0503020204020204" pitchFamily="34" charset="-122"/>
                <a:ea typeface="微软雅黑" panose="020B0503020204020204" pitchFamily="34" charset="-122"/>
              </a:rPr>
              <a:t>是迭代次数超出上限</a:t>
            </a:r>
            <a:r>
              <a:rPr lang="en-US" altLang="zh-CN" sz="1600" b="0" i="0" dirty="0">
                <a:solidFill>
                  <a:srgbClr val="2C3E50"/>
                </a:solidFill>
                <a:effectLst/>
                <a:latin typeface="微软雅黑" panose="020B0503020204020204" pitchFamily="34" charset="-122"/>
                <a:ea typeface="微软雅黑" panose="020B0503020204020204" pitchFamily="34" charset="-122"/>
              </a:rPr>
              <a:t>,</a:t>
            </a:r>
            <a:r>
              <a:rPr lang="zh-CN" altLang="en-US" sz="1600" b="0" i="0" dirty="0">
                <a:solidFill>
                  <a:srgbClr val="2C3E50"/>
                </a:solidFill>
                <a:effectLst/>
                <a:latin typeface="微软雅黑" panose="020B0503020204020204" pitchFamily="34" charset="-122"/>
                <a:ea typeface="微软雅黑" panose="020B0503020204020204" pitchFamily="34" charset="-122"/>
              </a:rPr>
              <a:t> </a:t>
            </a:r>
            <a:r>
              <a:rPr lang="en-US" altLang="zh-CN" sz="1600" b="0" i="0" dirty="0">
                <a:solidFill>
                  <a:srgbClr val="2C3E50"/>
                </a:solidFill>
                <a:effectLst/>
                <a:latin typeface="微软雅黑" panose="020B0503020204020204" pitchFamily="34" charset="-122"/>
                <a:ea typeface="微软雅黑" panose="020B0503020204020204" pitchFamily="34" charset="-122"/>
              </a:rPr>
              <a:t>-2</a:t>
            </a:r>
            <a:r>
              <a:rPr lang="zh-CN" altLang="en-US" sz="1600" b="0" i="0" dirty="0">
                <a:solidFill>
                  <a:srgbClr val="2C3E50"/>
                </a:solidFill>
                <a:effectLst/>
                <a:latin typeface="微软雅黑" panose="020B0503020204020204" pitchFamily="34" charset="-122"/>
                <a:ea typeface="微软雅黑" panose="020B0503020204020204" pitchFamily="34" charset="-122"/>
              </a:rPr>
              <a:t>是边界不一致</a:t>
            </a:r>
            <a:r>
              <a:rPr lang="zh-CN" altLang="en-US" sz="1600" b="1" i="0" dirty="0">
                <a:solidFill>
                  <a:srgbClr val="2C3E50"/>
                </a:solidFill>
                <a:effectLst/>
                <a:latin typeface="微软雅黑" panose="020B0503020204020204" pitchFamily="34" charset="-122"/>
                <a:ea typeface="微软雅黑" panose="020B0503020204020204" pitchFamily="34" charset="-122"/>
              </a:rPr>
              <a:t>， </a:t>
            </a:r>
            <a:r>
              <a:rPr lang="en-US" altLang="zh-CN" sz="1600" b="1" dirty="0">
                <a:solidFill>
                  <a:srgbClr val="FF0000"/>
                </a:solidFill>
                <a:latin typeface="微软雅黑" panose="020B0503020204020204" pitchFamily="34" charset="-122"/>
                <a:ea typeface="微软雅黑" panose="020B0503020204020204" pitchFamily="34" charset="-122"/>
              </a:rPr>
              <a:t>x1 &gt;= x2</a:t>
            </a:r>
          </a:p>
          <a:p>
            <a:pPr>
              <a:lnSpc>
                <a:spcPts val="2700"/>
              </a:lnSpc>
            </a:pPr>
            <a:r>
              <a:rPr lang="en-US" altLang="zh-CN" sz="1600" dirty="0">
                <a:solidFill>
                  <a:srgbClr val="00B0F0"/>
                </a:solidFill>
                <a:latin typeface="微软雅黑" panose="020B0503020204020204" pitchFamily="34" charset="-122"/>
                <a:ea typeface="微软雅黑" panose="020B0503020204020204" pitchFamily="34" charset="-122"/>
              </a:rPr>
              <a:t>output :</a:t>
            </a:r>
            <a:r>
              <a:rPr lang="en-US" altLang="ko-KR" sz="1600" cap="none" dirty="0">
                <a:solidFill>
                  <a:srgbClr val="0070C0"/>
                </a:solidFill>
                <a:latin typeface="微软雅黑" panose="020B0503020204020204" pitchFamily="34" charset="-122"/>
                <a:ea typeface="微软雅黑" panose="020B0503020204020204" pitchFamily="34" charset="-122"/>
              </a:rPr>
              <a:t> </a:t>
            </a:r>
            <a:r>
              <a:rPr lang="en-US" altLang="ko-KR" sz="1600" dirty="0" err="1">
                <a:latin typeface="微软雅黑" panose="020B0503020204020204" pitchFamily="34" charset="-122"/>
                <a:ea typeface="微软雅黑" panose="020B0503020204020204" pitchFamily="34" charset="-122"/>
              </a:rPr>
              <a:t>输出信息</a:t>
            </a:r>
            <a:r>
              <a:rPr lang="zh-CN" altLang="en-US" sz="1600" dirty="0">
                <a:latin typeface="微软雅黑" panose="020B0503020204020204" pitchFamily="34" charset="-122"/>
                <a:ea typeface="微软雅黑" panose="020B0503020204020204" pitchFamily="34" charset="-122"/>
              </a:rPr>
              <a:t>结构体</a:t>
            </a:r>
            <a:r>
              <a:rPr lang="en-US" altLang="ko-KR"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包括迭代次数、函数计算次数、算法和退出消息</a:t>
            </a:r>
            <a:endParaRPr lang="en-US" altLang="zh-CN" sz="1600" dirty="0">
              <a:latin typeface="微软雅黑" panose="020B0503020204020204" pitchFamily="34" charset="-122"/>
              <a:ea typeface="微软雅黑" panose="020B0503020204020204" pitchFamily="34" charset="-122"/>
            </a:endParaRPr>
          </a:p>
          <a:p>
            <a:pPr>
              <a:lnSpc>
                <a:spcPts val="2700"/>
              </a:lnSpc>
            </a:pPr>
            <a:r>
              <a:rPr lang="en-US" altLang="zh-CN" sz="1600" dirty="0">
                <a:solidFill>
                  <a:srgbClr val="00B0F0"/>
                </a:solidFill>
                <a:latin typeface="微软雅黑" panose="020B0503020204020204" pitchFamily="34" charset="-122"/>
                <a:ea typeface="微软雅黑" panose="020B0503020204020204" pitchFamily="34" charset="-122"/>
              </a:rPr>
              <a:t>fun</a:t>
            </a:r>
            <a:r>
              <a:rPr lang="zh-CN" altLang="en-US" sz="1600" dirty="0">
                <a:solidFill>
                  <a:srgbClr val="00B0F0"/>
                </a:solidFill>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最小化的目标函数名</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即用来计算最小值的函数，</a:t>
            </a:r>
            <a:endParaRPr lang="en-US" altLang="zh-CN" sz="1600" dirty="0">
              <a:latin typeface="微软雅黑" panose="020B0503020204020204" pitchFamily="34" charset="-122"/>
              <a:ea typeface="微软雅黑" panose="020B0503020204020204" pitchFamily="34" charset="-122"/>
            </a:endParaRPr>
          </a:p>
          <a:p>
            <a:pPr>
              <a:lnSpc>
                <a:spcPts val="2700"/>
              </a:lnSpc>
            </a:pPr>
            <a:r>
              <a:rPr lang="en-US" altLang="zh-CN" sz="1600" dirty="0">
                <a:solidFill>
                  <a:srgbClr val="00B0F0"/>
                </a:solidFill>
                <a:latin typeface="微软雅黑" panose="020B0503020204020204" pitchFamily="34" charset="-122"/>
                <a:ea typeface="微软雅黑" panose="020B0503020204020204" pitchFamily="34" charset="-122"/>
              </a:rPr>
              <a:t>x1</a:t>
            </a:r>
            <a:r>
              <a:rPr lang="zh-CN" altLang="en-US" sz="1600" dirty="0">
                <a:solidFill>
                  <a:srgbClr val="00B0F0"/>
                </a:solidFill>
                <a:latin typeface="微软雅黑" panose="020B0503020204020204" pitchFamily="34" charset="-122"/>
                <a:ea typeface="微软雅黑" panose="020B0503020204020204" pitchFamily="34" charset="-122"/>
              </a:rPr>
              <a:t>和</a:t>
            </a:r>
            <a:r>
              <a:rPr lang="en-US" altLang="zh-CN" sz="1600" dirty="0">
                <a:solidFill>
                  <a:srgbClr val="00B0F0"/>
                </a:solidFill>
                <a:latin typeface="微软雅黑" panose="020B0503020204020204" pitchFamily="34" charset="-122"/>
                <a:ea typeface="微软雅黑" panose="020B0503020204020204" pitchFamily="34" charset="-122"/>
              </a:rPr>
              <a:t>x2:</a:t>
            </a:r>
            <a:r>
              <a:rPr lang="zh-CN" altLang="en-US" sz="1600" b="0" i="0" dirty="0">
                <a:solidFill>
                  <a:srgbClr val="2C3E50"/>
                </a:solidFill>
                <a:effectLst/>
                <a:latin typeface="微软雅黑" panose="020B0503020204020204" pitchFamily="34" charset="-122"/>
                <a:ea typeface="微软雅黑" panose="020B0503020204020204" pitchFamily="34" charset="-122"/>
              </a:rPr>
              <a:t>优化目标函数</a:t>
            </a:r>
            <a:r>
              <a:rPr lang="zh-CN" altLang="en-US" sz="1600" dirty="0">
                <a:solidFill>
                  <a:srgbClr val="2C3E50"/>
                </a:solidFill>
                <a:latin typeface="微软雅黑" panose="020B0503020204020204" pitchFamily="34" charset="-122"/>
                <a:ea typeface="微软雅黑" panose="020B0503020204020204" pitchFamily="34" charset="-122"/>
              </a:rPr>
              <a:t>的</a:t>
            </a:r>
            <a:r>
              <a:rPr lang="zh-CN" altLang="en-US" sz="1600" b="0" i="0" dirty="0">
                <a:solidFill>
                  <a:srgbClr val="2C3E50"/>
                </a:solidFill>
                <a:effectLst/>
                <a:latin typeface="微软雅黑" panose="020B0503020204020204" pitchFamily="34" charset="-122"/>
                <a:ea typeface="微软雅黑" panose="020B0503020204020204" pitchFamily="34" charset="-122"/>
              </a:rPr>
              <a:t>自变量的上界</a:t>
            </a:r>
            <a:r>
              <a:rPr lang="zh-CN" altLang="en-US" sz="1600" dirty="0">
                <a:solidFill>
                  <a:srgbClr val="2C3E50"/>
                </a:solidFill>
                <a:latin typeface="微软雅黑" panose="020B0503020204020204" pitchFamily="34" charset="-122"/>
                <a:ea typeface="微软雅黑" panose="020B0503020204020204" pitchFamily="34" charset="-122"/>
              </a:rPr>
              <a:t>和下界，是</a:t>
            </a:r>
            <a:r>
              <a:rPr lang="en-US" altLang="zh-CN" sz="1600" b="0" i="0" dirty="0">
                <a:solidFill>
                  <a:srgbClr val="2C3E50"/>
                </a:solidFill>
                <a:effectLst/>
                <a:latin typeface="微软雅黑" panose="020B0503020204020204" pitchFamily="34" charset="-122"/>
                <a:ea typeface="微软雅黑" panose="020B0503020204020204" pitchFamily="34" charset="-122"/>
              </a:rPr>
              <a:t>float</a:t>
            </a:r>
            <a:r>
              <a:rPr lang="zh-CN" altLang="en-US" sz="1600" b="0" i="0" dirty="0">
                <a:solidFill>
                  <a:srgbClr val="2C3E50"/>
                </a:solidFill>
                <a:effectLst/>
                <a:latin typeface="微软雅黑" panose="020B0503020204020204" pitchFamily="34" charset="-122"/>
                <a:ea typeface="微软雅黑" panose="020B0503020204020204" pitchFamily="34" charset="-122"/>
              </a:rPr>
              <a:t>类型</a:t>
            </a:r>
            <a:endParaRPr lang="en-US" altLang="zh-CN" sz="1600" b="0" i="0" dirty="0">
              <a:solidFill>
                <a:srgbClr val="2C3E50"/>
              </a:solidFill>
              <a:effectLst/>
              <a:latin typeface="微软雅黑" panose="020B0503020204020204" pitchFamily="34" charset="-122"/>
              <a:ea typeface="微软雅黑" panose="020B0503020204020204" pitchFamily="34" charset="-122"/>
            </a:endParaRPr>
          </a:p>
          <a:p>
            <a:pPr>
              <a:lnSpc>
                <a:spcPts val="2700"/>
              </a:lnSpc>
            </a:pPr>
            <a:r>
              <a:rPr lang="en-US" altLang="zh-CN" sz="1600" dirty="0">
                <a:solidFill>
                  <a:srgbClr val="00B0F0"/>
                </a:solidFill>
                <a:latin typeface="微软雅黑" panose="020B0503020204020204" pitchFamily="34" charset="-122"/>
                <a:ea typeface="微软雅黑" panose="020B0503020204020204" pitchFamily="34" charset="-122"/>
              </a:rPr>
              <a:t>options:</a:t>
            </a:r>
            <a:r>
              <a:rPr lang="zh-CN" altLang="en-US" sz="1600" dirty="0">
                <a:solidFill>
                  <a:srgbClr val="2C3E50"/>
                </a:solidFill>
                <a:latin typeface="微软雅黑" panose="020B0503020204020204" pitchFamily="34" charset="-122"/>
                <a:ea typeface="微软雅黑" panose="020B0503020204020204" pitchFamily="34" charset="-122"/>
              </a:rPr>
              <a:t>优化选项</a:t>
            </a:r>
            <a:r>
              <a:rPr lang="en-US" altLang="zh-CN" sz="1600" dirty="0">
                <a:solidFill>
                  <a:srgbClr val="2C3E50"/>
                </a:solidFill>
                <a:latin typeface="微软雅黑" panose="020B0503020204020204" pitchFamily="34" charset="-122"/>
                <a:ea typeface="微软雅黑" panose="020B0503020204020204" pitchFamily="34" charset="-122"/>
              </a:rPr>
              <a:t>,</a:t>
            </a:r>
            <a:r>
              <a:rPr lang="zh-CN" altLang="en-US" sz="1600" dirty="0"/>
              <a:t> </a:t>
            </a:r>
            <a:r>
              <a:rPr lang="zh-CN" altLang="en-US" sz="1600" dirty="0">
                <a:solidFill>
                  <a:srgbClr val="2C3E50"/>
                </a:solidFill>
                <a:latin typeface="微软雅黑" panose="020B0503020204020204" pitchFamily="34" charset="-122"/>
                <a:ea typeface="微软雅黑" panose="020B0503020204020204" pitchFamily="34" charset="-122"/>
              </a:rPr>
              <a:t>“</a:t>
            </a:r>
            <a:r>
              <a:rPr lang="en-US" altLang="zh-CN" sz="1600" dirty="0" err="1">
                <a:solidFill>
                  <a:srgbClr val="2C3E50"/>
                </a:solidFill>
                <a:latin typeface="微软雅黑" panose="020B0503020204020204" pitchFamily="34" charset="-122"/>
                <a:ea typeface="微软雅黑" panose="020B0503020204020204" pitchFamily="34" charset="-122"/>
              </a:rPr>
              <a:t>iter</a:t>
            </a:r>
            <a:r>
              <a:rPr lang="en-US" altLang="zh-CN" sz="1600" dirty="0">
                <a:solidFill>
                  <a:srgbClr val="2C3E50"/>
                </a:solidFill>
                <a:latin typeface="微软雅黑" panose="020B0503020204020204" pitchFamily="34" charset="-122"/>
                <a:ea typeface="微软雅黑" panose="020B0503020204020204" pitchFamily="34" charset="-122"/>
              </a:rPr>
              <a:t>” </a:t>
            </a:r>
            <a:r>
              <a:rPr lang="zh-CN" altLang="en-US" sz="1600" dirty="0">
                <a:solidFill>
                  <a:srgbClr val="2C3E50"/>
                </a:solidFill>
                <a:latin typeface="微软雅黑" panose="020B0503020204020204" pitchFamily="34" charset="-122"/>
                <a:ea typeface="微软雅黑" panose="020B0503020204020204" pitchFamily="34" charset="-122"/>
              </a:rPr>
              <a:t>每次迭代显示输出</a:t>
            </a:r>
            <a:r>
              <a:rPr lang="en-US" altLang="zh-CN" sz="1600" dirty="0">
                <a:solidFill>
                  <a:srgbClr val="2C3E50"/>
                </a:solidFill>
                <a:latin typeface="微软雅黑" panose="020B0503020204020204" pitchFamily="34" charset="-122"/>
                <a:ea typeface="微软雅黑" panose="020B0503020204020204" pitchFamily="34" charset="-122"/>
              </a:rPr>
              <a:t>,</a:t>
            </a:r>
            <a:r>
              <a:rPr lang="zh-CN" altLang="en-US" sz="1600" dirty="0">
                <a:solidFill>
                  <a:srgbClr val="2C3E50"/>
                </a:solidFill>
                <a:latin typeface="微软雅黑" panose="020B0503020204020204" pitchFamily="34" charset="-122"/>
                <a:ea typeface="微软雅黑" panose="020B0503020204020204" pitchFamily="34" charset="-122"/>
              </a:rPr>
              <a:t>“</a:t>
            </a:r>
            <a:r>
              <a:rPr lang="en-US" altLang="zh-CN" sz="1600" dirty="0">
                <a:solidFill>
                  <a:srgbClr val="2C3E50"/>
                </a:solidFill>
                <a:latin typeface="微软雅黑" panose="020B0503020204020204" pitchFamily="34" charset="-122"/>
                <a:ea typeface="微软雅黑" panose="020B0503020204020204" pitchFamily="34" charset="-122"/>
              </a:rPr>
              <a:t>final” </a:t>
            </a:r>
            <a:r>
              <a:rPr lang="zh-CN" altLang="en-US" sz="1600" dirty="0">
                <a:solidFill>
                  <a:srgbClr val="2C3E50"/>
                </a:solidFill>
                <a:latin typeface="微软雅黑" panose="020B0503020204020204" pitchFamily="34" charset="-122"/>
                <a:ea typeface="微软雅黑" panose="020B0503020204020204" pitchFamily="34" charset="-122"/>
              </a:rPr>
              <a:t>仅显示最终输出</a:t>
            </a:r>
          </a:p>
          <a:p>
            <a:pPr>
              <a:lnSpc>
                <a:spcPts val="2700"/>
              </a:lnSpc>
            </a:pPr>
            <a:endParaRPr lang="zh-CN" altLang="en-US" sz="1600" dirty="0">
              <a:solidFill>
                <a:srgbClr val="2C3E50"/>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46141145-C8A7-46C8-9EFD-B0F9AB0B8FB9}"/>
              </a:ext>
            </a:extLst>
          </p:cNvPr>
          <p:cNvSpPr txBox="1"/>
          <p:nvPr/>
        </p:nvSpPr>
        <p:spPr>
          <a:xfrm>
            <a:off x="755576" y="-82067"/>
            <a:ext cx="7920880" cy="677108"/>
          </a:xfrm>
          <a:prstGeom prst="rect">
            <a:avLst/>
          </a:prstGeom>
          <a:noFill/>
        </p:spPr>
        <p:txBody>
          <a:bodyPr wrap="square">
            <a:spAutoFit/>
          </a:bodyPr>
          <a:lstStyle>
            <a:defPPr>
              <a:defRPr lang="zh-CN"/>
            </a:defPPr>
            <a:lvl1pPr>
              <a:lnSpc>
                <a:spcPct val="150000"/>
              </a:lnSpc>
              <a:defRPr sz="3200">
                <a:solidFill>
                  <a:srgbClr val="002060"/>
                </a:solidFill>
                <a:latin typeface="华文楷体" panose="02010600040101010101" pitchFamily="2" charset="-122"/>
                <a:ea typeface="华文楷体" panose="02010600040101010101" pitchFamily="2" charset="-122"/>
              </a:defRPr>
            </a:lvl1pPr>
          </a:lstStyle>
          <a:p>
            <a:r>
              <a:rPr lang="en-US" altLang="zh-CN" sz="2800" b="0" dirty="0">
                <a:solidFill>
                  <a:srgbClr val="002060"/>
                </a:solidFill>
                <a:latin typeface="华文楷体" panose="02010600040101010101" pitchFamily="2" charset="-122"/>
                <a:ea typeface="华文楷体" panose="02010600040101010101" pitchFamily="2" charset="-122"/>
              </a:rPr>
              <a:t>§8.4.1 </a:t>
            </a:r>
            <a:r>
              <a:rPr lang="zh-CN" altLang="en-US" sz="2800" dirty="0"/>
              <a:t> 一元</a:t>
            </a:r>
            <a:r>
              <a:rPr lang="zh-CN" altLang="en-US" sz="2800" dirty="0">
                <a:latin typeface="华文楷体" panose="02010600040101010101" pitchFamily="2" charset="-122"/>
                <a:ea typeface="华文楷体" panose="02010600040101010101" pitchFamily="2" charset="-122"/>
              </a:rPr>
              <a:t>函数最</a:t>
            </a:r>
            <a:r>
              <a:rPr lang="en-US" altLang="ko-KR" sz="2800" dirty="0" err="1">
                <a:latin typeface="华文楷体" panose="02010600040101010101" pitchFamily="2" charset="-122"/>
                <a:ea typeface="华文楷体" panose="02010600040101010101" pitchFamily="2" charset="-122"/>
              </a:rPr>
              <a:t>小值</a:t>
            </a:r>
            <a:r>
              <a:rPr lang="en-US" altLang="zh-CN" sz="2800" b="1" kern="0" dirty="0" err="1">
                <a:solidFill>
                  <a:srgbClr val="FF0000"/>
                </a:solidFill>
              </a:rPr>
              <a:t>fminbnd</a:t>
            </a:r>
            <a:r>
              <a:rPr lang="zh-CN" altLang="en-US" sz="2800" dirty="0">
                <a:latin typeface="华文楷体" panose="02010600040101010101" pitchFamily="2" charset="-122"/>
                <a:ea typeface="华文楷体" panose="02010600040101010101" pitchFamily="2" charset="-122"/>
              </a:rPr>
              <a:t> </a:t>
            </a:r>
            <a:r>
              <a:rPr lang="en-US" altLang="zh-CN" sz="2800" kern="0" dirty="0">
                <a:solidFill>
                  <a:srgbClr val="FF0000"/>
                </a:solidFill>
              </a:rPr>
              <a:t>——</a:t>
            </a:r>
            <a:r>
              <a:rPr lang="zh-CN" altLang="en-US" sz="2800" kern="0" dirty="0">
                <a:solidFill>
                  <a:srgbClr val="FF0000"/>
                </a:solidFill>
              </a:rPr>
              <a:t>调用格式</a:t>
            </a:r>
            <a:endParaRPr lang="zh-CN" altLang="en-US" sz="2800" dirty="0"/>
          </a:p>
        </p:txBody>
      </p:sp>
      <p:sp>
        <p:nvSpPr>
          <p:cNvPr id="13" name="形状 18">
            <a:extLst>
              <a:ext uri="{FF2B5EF4-FFF2-40B4-BE49-F238E27FC236}">
                <a16:creationId xmlns:a16="http://schemas.microsoft.com/office/drawing/2014/main" id="{4CF67E1C-0EF7-444C-820D-F56AF632992A}"/>
              </a:ext>
            </a:extLst>
          </p:cNvPr>
          <p:cNvSpPr/>
          <p:nvPr/>
        </p:nvSpPr>
        <p:spPr>
          <a:xfrm>
            <a:off x="7021916" y="616843"/>
            <a:ext cx="1970676" cy="461665"/>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marL="0" indent="0" algn="ctr" defTabSz="914400" eaLnBrk="0" fontAlgn="auto" latinLnBrk="0">
              <a:lnSpc>
                <a:spcPct val="100000"/>
              </a:lnSpc>
              <a:spcBef>
                <a:spcPts val="0"/>
              </a:spcBef>
              <a:spcAft>
                <a:spcPts val="0"/>
              </a:spcAft>
              <a:buFontTx/>
              <a:buNone/>
            </a:pPr>
            <a:r>
              <a:rPr lang="zh-CN" altLang="en-US" cap="none" dirty="0">
                <a:solidFill>
                  <a:srgbClr val="FFFF00"/>
                </a:solidFill>
                <a:latin typeface="华文楷体" panose="02010600040101010101" pitchFamily="2" charset="-122"/>
                <a:ea typeface="华文楷体" panose="02010600040101010101" pitchFamily="2" charset="-122"/>
              </a:rPr>
              <a:t>局部最优化</a:t>
            </a:r>
            <a:endParaRPr lang="ko-KR" altLang="en-US" cap="none" dirty="0">
              <a:solidFill>
                <a:srgbClr val="FFFF00"/>
              </a:solidFill>
              <a:latin typeface="华文楷体" panose="02010600040101010101" pitchFamily="2" charset="-122"/>
              <a:ea typeface="楷体_GB2312" charset="0"/>
            </a:endParaRPr>
          </a:p>
        </p:txBody>
      </p:sp>
      <p:sp>
        <p:nvSpPr>
          <p:cNvPr id="16" name="形状 18">
            <a:extLst>
              <a:ext uri="{FF2B5EF4-FFF2-40B4-BE49-F238E27FC236}">
                <a16:creationId xmlns:a16="http://schemas.microsoft.com/office/drawing/2014/main" id="{C0908537-A704-488F-90A9-84102A605612}"/>
              </a:ext>
            </a:extLst>
          </p:cNvPr>
          <p:cNvSpPr/>
          <p:nvPr/>
        </p:nvSpPr>
        <p:spPr>
          <a:xfrm>
            <a:off x="5770340" y="3709926"/>
            <a:ext cx="707081" cy="615439"/>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just" defTabSz="685800">
              <a:spcBef>
                <a:spcPts val="0"/>
              </a:spcBef>
              <a:spcAft>
                <a:spcPts val="0"/>
              </a:spcAft>
            </a:pPr>
            <a:r>
              <a:rPr lang="zh-CN" altLang="en-US" sz="1200" b="1" dirty="0">
                <a:solidFill>
                  <a:srgbClr val="FFFF00"/>
                </a:solidFill>
                <a:latin typeface="华文楷体" panose="02010600040101010101" pitchFamily="2" charset="-122"/>
                <a:ea typeface="隶书" panose="02010509060101010101" pitchFamily="49" charset="-122"/>
              </a:rPr>
              <a:t>注</a:t>
            </a:r>
            <a:endParaRPr lang="en-US" altLang="zh-CN" sz="1200" b="1" dirty="0">
              <a:solidFill>
                <a:srgbClr val="FFFF00"/>
              </a:solidFill>
              <a:latin typeface="华文楷体" panose="02010600040101010101" pitchFamily="2" charset="-122"/>
              <a:ea typeface="隶书" panose="02010509060101010101" pitchFamily="49" charset="-122"/>
            </a:endParaRPr>
          </a:p>
          <a:p>
            <a:pPr algn="just" defTabSz="685800">
              <a:spcBef>
                <a:spcPts val="0"/>
              </a:spcBef>
              <a:spcAft>
                <a:spcPts val="0"/>
              </a:spcAft>
            </a:pPr>
            <a:r>
              <a:rPr lang="zh-CN" altLang="en-US" sz="1200" b="1" dirty="0">
                <a:solidFill>
                  <a:srgbClr val="FFFF00"/>
                </a:solidFill>
                <a:latin typeface="华文楷体" panose="02010600040101010101" pitchFamily="2" charset="-122"/>
                <a:ea typeface="隶书" panose="02010509060101010101" pitchFamily="49" charset="-122"/>
              </a:rPr>
              <a:t>意</a:t>
            </a:r>
            <a:endParaRPr lang="ko-KR" altLang="en-US" sz="1200" b="1" dirty="0">
              <a:solidFill>
                <a:srgbClr val="FFFF00"/>
              </a:solidFill>
              <a:latin typeface="华文楷体" panose="02010600040101010101" pitchFamily="2" charset="-122"/>
              <a:ea typeface="隶书" panose="02010509060101010101" pitchFamily="49" charset="-122"/>
            </a:endParaRPr>
          </a:p>
        </p:txBody>
      </p:sp>
      <p:sp>
        <p:nvSpPr>
          <p:cNvPr id="17" name="文本框 16">
            <a:extLst>
              <a:ext uri="{FF2B5EF4-FFF2-40B4-BE49-F238E27FC236}">
                <a16:creationId xmlns:a16="http://schemas.microsoft.com/office/drawing/2014/main" id="{8416F2C9-9F92-43EF-AAE1-225AAC220E26}"/>
              </a:ext>
            </a:extLst>
          </p:cNvPr>
          <p:cNvSpPr txBox="1"/>
          <p:nvPr/>
        </p:nvSpPr>
        <p:spPr>
          <a:xfrm>
            <a:off x="6362937" y="3791839"/>
            <a:ext cx="2666578" cy="369332"/>
          </a:xfrm>
          <a:prstGeom prst="rect">
            <a:avLst/>
          </a:prstGeom>
          <a:noFill/>
        </p:spPr>
        <p:txBody>
          <a:bodyPr wrap="square">
            <a:spAutoFit/>
          </a:bodyPr>
          <a:lstStyle/>
          <a:p>
            <a:pPr algn="just" defTabSz="685800">
              <a:spcBef>
                <a:spcPts val="0"/>
              </a:spcBef>
              <a:spcAft>
                <a:spcPts val="0"/>
              </a:spcAft>
            </a:pPr>
            <a:r>
              <a:rPr lang="en-US" altLang="zh-CN" b="1" dirty="0">
                <a:solidFill>
                  <a:srgbClr val="FF0000"/>
                </a:solidFill>
                <a:latin typeface="华文楷体" panose="02010600040101010101" pitchFamily="2" charset="-122"/>
                <a:ea typeface="华文楷体" panose="02010600040101010101" pitchFamily="2" charset="-122"/>
              </a:rPr>
              <a:t>x</a:t>
            </a:r>
            <a:r>
              <a:rPr lang="zh-CN" altLang="en-US" b="1" dirty="0">
                <a:solidFill>
                  <a:srgbClr val="FF0000"/>
                </a:solidFill>
                <a:latin typeface="华文楷体" panose="02010600040101010101" pitchFamily="2" charset="-122"/>
                <a:ea typeface="华文楷体" panose="02010600040101010101" pitchFamily="2" charset="-122"/>
              </a:rPr>
              <a:t>、</a:t>
            </a:r>
            <a:r>
              <a:rPr lang="en-US" altLang="zh-CN" b="1" dirty="0">
                <a:solidFill>
                  <a:srgbClr val="FF0000"/>
                </a:solidFill>
                <a:latin typeface="华文楷体" panose="02010600040101010101" pitchFamily="2" charset="-122"/>
                <a:ea typeface="华文楷体" panose="02010600040101010101" pitchFamily="2" charset="-122"/>
              </a:rPr>
              <a:t>fun</a:t>
            </a:r>
            <a:r>
              <a:rPr lang="zh-CN" altLang="en-US" b="1" dirty="0">
                <a:solidFill>
                  <a:srgbClr val="FF0000"/>
                </a:solidFill>
                <a:latin typeface="华文楷体" panose="02010600040101010101" pitchFamily="2" charset="-122"/>
                <a:ea typeface="华文楷体" panose="02010600040101010101" pitchFamily="2" charset="-122"/>
              </a:rPr>
              <a:t>和</a:t>
            </a:r>
            <a:r>
              <a:rPr lang="en-US" altLang="zh-CN" b="1" dirty="0">
                <a:solidFill>
                  <a:srgbClr val="FF0000"/>
                </a:solidFill>
                <a:latin typeface="华文楷体" panose="02010600040101010101" pitchFamily="2" charset="-122"/>
                <a:ea typeface="华文楷体" panose="02010600040101010101" pitchFamily="2" charset="-122"/>
              </a:rPr>
              <a:t>x1</a:t>
            </a:r>
            <a:r>
              <a:rPr lang="zh-CN" altLang="en-US" b="1" dirty="0">
                <a:solidFill>
                  <a:srgbClr val="FF0000"/>
                </a:solidFill>
                <a:latin typeface="华文楷体" panose="02010600040101010101" pitchFamily="2" charset="-122"/>
                <a:ea typeface="华文楷体" panose="02010600040101010101" pitchFamily="2" charset="-122"/>
              </a:rPr>
              <a:t>、</a:t>
            </a:r>
            <a:r>
              <a:rPr lang="en-US" altLang="zh-CN" b="1" dirty="0">
                <a:solidFill>
                  <a:srgbClr val="FF0000"/>
                </a:solidFill>
                <a:latin typeface="华文楷体" panose="02010600040101010101" pitchFamily="2" charset="-122"/>
                <a:ea typeface="华文楷体" panose="02010600040101010101" pitchFamily="2" charset="-122"/>
              </a:rPr>
              <a:t>x2</a:t>
            </a:r>
            <a:r>
              <a:rPr lang="zh-CN" altLang="en-US" b="1" dirty="0">
                <a:solidFill>
                  <a:srgbClr val="FF0000"/>
                </a:solidFill>
                <a:latin typeface="华文楷体" panose="02010600040101010101" pitchFamily="2" charset="-122"/>
                <a:ea typeface="华文楷体" panose="02010600040101010101" pitchFamily="2" charset="-122"/>
              </a:rPr>
              <a:t>必不可少</a:t>
            </a:r>
            <a:endParaRPr lang="ko-KR" altLang="en-US" b="1" dirty="0">
              <a:solidFill>
                <a:srgbClr val="FF0000"/>
              </a:solidFill>
              <a:latin typeface="华文楷体" panose="02010600040101010101" pitchFamily="2" charset="-122"/>
              <a:ea typeface="隶书" panose="02010509060101010101" pitchFamily="49" charset="-122"/>
            </a:endParaRPr>
          </a:p>
        </p:txBody>
      </p:sp>
      <p:sp>
        <p:nvSpPr>
          <p:cNvPr id="2" name="Rectangle 1">
            <a:extLst>
              <a:ext uri="{FF2B5EF4-FFF2-40B4-BE49-F238E27FC236}">
                <a16:creationId xmlns:a16="http://schemas.microsoft.com/office/drawing/2014/main" id="{F40D3156-2FAE-4318-AC75-9B728D3360AB}"/>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0000"/>
                </a:solidFill>
                <a:effectLst/>
                <a:latin typeface="Arial Unicode MS"/>
                <a:ea typeface="source-code-pro"/>
              </a:rPr>
              <a:t>options</a:t>
            </a:r>
            <a:r>
              <a:rPr kumimoji="0" lang="zh-CN" altLang="zh-CN" sz="600" b="0" i="0" u="none" strike="noStrike" cap="none" normalizeH="0" baseline="0" dirty="0">
                <a:ln>
                  <a:noFill/>
                </a:ln>
                <a:solidFill>
                  <a:schemeClr val="tx1"/>
                </a:solidFill>
                <a:effectLst/>
              </a:rPr>
              <a:t> </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4" name="文本框 13">
            <a:extLst>
              <a:ext uri="{FF2B5EF4-FFF2-40B4-BE49-F238E27FC236}">
                <a16:creationId xmlns:a16="http://schemas.microsoft.com/office/drawing/2014/main" id="{3F09BC66-95A6-49B4-B61B-9A869D064ACD}"/>
              </a:ext>
            </a:extLst>
          </p:cNvPr>
          <p:cNvSpPr txBox="1"/>
          <p:nvPr/>
        </p:nvSpPr>
        <p:spPr>
          <a:xfrm>
            <a:off x="6780309" y="4325365"/>
            <a:ext cx="2645778" cy="369332"/>
          </a:xfrm>
          <a:prstGeom prst="rect">
            <a:avLst/>
          </a:prstGeom>
          <a:noFill/>
        </p:spPr>
        <p:txBody>
          <a:bodyPr wrap="square">
            <a:spAutoFit/>
          </a:bodyPr>
          <a:lstStyle>
            <a:defPPr>
              <a:defRPr lang="zh-CN"/>
            </a:defPPr>
            <a:lvl1pPr algn="just" defTabSz="685800">
              <a:spcBef>
                <a:spcPts val="0"/>
              </a:spcBef>
              <a:spcAft>
                <a:spcPts val="0"/>
              </a:spcAft>
              <a:defRPr b="1">
                <a:solidFill>
                  <a:srgbClr val="FF0000"/>
                </a:solidFill>
                <a:latin typeface="华文楷体" panose="02010600040101010101" pitchFamily="2" charset="-122"/>
                <a:ea typeface="华文楷体" panose="02010600040101010101" pitchFamily="2" charset="-122"/>
              </a:defRPr>
            </a:lvl1pPr>
          </a:lstStyle>
          <a:p>
            <a:r>
              <a:rPr lang="zh-CN" altLang="zh-CN" dirty="0"/>
              <a:t>optimset(Display="iter")</a:t>
            </a:r>
            <a:r>
              <a:rPr lang="en-US" altLang="ko-KR" dirty="0"/>
              <a:t>)</a:t>
            </a:r>
            <a:endParaRPr lang="zh-CN" altLang="en-US" dirty="0"/>
          </a:p>
        </p:txBody>
      </p:sp>
    </p:spTree>
    <p:extLst>
      <p:ext uri="{BB962C8B-B14F-4D97-AF65-F5344CB8AC3E}">
        <p14:creationId xmlns:p14="http://schemas.microsoft.com/office/powerpoint/2010/main" val="4079897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9" grpId="0"/>
      <p:bldP spid="13" grpId="0" animBg="1"/>
      <p:bldP spid="16" grpId="0" animBg="1"/>
      <p:bldP spid="17" grpId="0"/>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a:extLst>
              <a:ext uri="{FF2B5EF4-FFF2-40B4-BE49-F238E27FC236}">
                <a16:creationId xmlns:a16="http://schemas.microsoft.com/office/drawing/2014/main" id="{2AECC1B1-463E-4378-A12E-EE9B8297E5AA}"/>
              </a:ext>
            </a:extLst>
          </p:cNvPr>
          <p:cNvPicPr>
            <a:picLocks noChangeAspect="1"/>
          </p:cNvPicPr>
          <p:nvPr/>
        </p:nvPicPr>
        <p:blipFill rotWithShape="1">
          <a:blip r:embed="rId3"/>
          <a:srcRect l="22439" t="75212" r="23890" b="16522"/>
          <a:stretch/>
        </p:blipFill>
        <p:spPr>
          <a:xfrm>
            <a:off x="253953" y="997847"/>
            <a:ext cx="8686777" cy="536785"/>
          </a:xfrm>
          <a:prstGeom prst="rect">
            <a:avLst/>
          </a:prstGeom>
        </p:spPr>
      </p:pic>
      <p:pic>
        <p:nvPicPr>
          <p:cNvPr id="5" name="图片 4">
            <a:extLst>
              <a:ext uri="{FF2B5EF4-FFF2-40B4-BE49-F238E27FC236}">
                <a16:creationId xmlns:a16="http://schemas.microsoft.com/office/drawing/2014/main" id="{C2724D85-F20D-4995-84E5-029B4914F596}"/>
              </a:ext>
            </a:extLst>
          </p:cNvPr>
          <p:cNvPicPr>
            <a:picLocks noChangeAspect="1"/>
          </p:cNvPicPr>
          <p:nvPr/>
        </p:nvPicPr>
        <p:blipFill rotWithShape="1">
          <a:blip r:embed="rId3"/>
          <a:srcRect l="31337" t="72625" r="22948" b="25024"/>
          <a:stretch/>
        </p:blipFill>
        <p:spPr>
          <a:xfrm>
            <a:off x="1636396" y="762081"/>
            <a:ext cx="7399017" cy="187166"/>
          </a:xfrm>
          <a:prstGeom prst="rect">
            <a:avLst/>
          </a:prstGeom>
        </p:spPr>
      </p:pic>
      <p:pic>
        <p:nvPicPr>
          <p:cNvPr id="7" name="图片 6">
            <a:extLst>
              <a:ext uri="{FF2B5EF4-FFF2-40B4-BE49-F238E27FC236}">
                <a16:creationId xmlns:a16="http://schemas.microsoft.com/office/drawing/2014/main" id="{5F5A41C1-2AC9-4CD4-9E6A-E10634B95559}"/>
              </a:ext>
            </a:extLst>
          </p:cNvPr>
          <p:cNvPicPr>
            <a:picLocks noChangeAspect="1"/>
          </p:cNvPicPr>
          <p:nvPr/>
        </p:nvPicPr>
        <p:blipFill rotWithShape="1">
          <a:blip r:embed="rId4"/>
          <a:srcRect l="31738" t="36211" r="34256" b="39884"/>
          <a:stretch/>
        </p:blipFill>
        <p:spPr>
          <a:xfrm>
            <a:off x="288536" y="2234132"/>
            <a:ext cx="4032509" cy="2309785"/>
          </a:xfrm>
          <a:prstGeom prst="rect">
            <a:avLst/>
          </a:prstGeom>
        </p:spPr>
      </p:pic>
      <p:pic>
        <p:nvPicPr>
          <p:cNvPr id="8" name="图片 7">
            <a:extLst>
              <a:ext uri="{FF2B5EF4-FFF2-40B4-BE49-F238E27FC236}">
                <a16:creationId xmlns:a16="http://schemas.microsoft.com/office/drawing/2014/main" id="{FE52EFD6-BA41-47E2-9EB1-C869C0E0D737}"/>
              </a:ext>
            </a:extLst>
          </p:cNvPr>
          <p:cNvPicPr>
            <a:picLocks noChangeAspect="1"/>
          </p:cNvPicPr>
          <p:nvPr/>
        </p:nvPicPr>
        <p:blipFill rotWithShape="1">
          <a:blip r:embed="rId4"/>
          <a:srcRect l="20863" t="30400" r="63118" b="64869"/>
          <a:stretch/>
        </p:blipFill>
        <p:spPr>
          <a:xfrm>
            <a:off x="253953" y="1491630"/>
            <a:ext cx="2352939" cy="390867"/>
          </a:xfrm>
          <a:prstGeom prst="rect">
            <a:avLst/>
          </a:prstGeom>
        </p:spPr>
      </p:pic>
      <p:sp>
        <p:nvSpPr>
          <p:cNvPr id="12" name="文本框 11">
            <a:extLst>
              <a:ext uri="{FF2B5EF4-FFF2-40B4-BE49-F238E27FC236}">
                <a16:creationId xmlns:a16="http://schemas.microsoft.com/office/drawing/2014/main" id="{83C24002-CB0B-4FE5-A6B2-7E88C21056EF}"/>
              </a:ext>
            </a:extLst>
          </p:cNvPr>
          <p:cNvSpPr txBox="1"/>
          <p:nvPr/>
        </p:nvSpPr>
        <p:spPr>
          <a:xfrm>
            <a:off x="2301466" y="4365503"/>
            <a:ext cx="6733947" cy="307777"/>
          </a:xfrm>
          <a:prstGeom prst="rect">
            <a:avLst/>
          </a:prstGeom>
          <a:noFill/>
        </p:spPr>
        <p:txBody>
          <a:bodyPr wrap="square">
            <a:spAutoFit/>
          </a:bodyPr>
          <a:lstStyle/>
          <a:p>
            <a:pPr algn="dist"/>
            <a:r>
              <a:rPr lang="zh-CN" altLang="en-US" sz="1400" b="1" dirty="0">
                <a:solidFill>
                  <a:srgbClr val="FF0000"/>
                </a:solidFill>
                <a:latin typeface="微软雅黑" panose="020B0503020204020204" pitchFamily="34" charset="-122"/>
                <a:ea typeface="微软雅黑" panose="020B0503020204020204" pitchFamily="34" charset="-122"/>
              </a:rPr>
              <a:t>结果：</a:t>
            </a:r>
            <a:r>
              <a:rPr lang="en-US" altLang="zh-CN" sz="1400" b="1" dirty="0">
                <a:solidFill>
                  <a:srgbClr val="FF0000"/>
                </a:solidFill>
                <a:latin typeface="微软雅黑" panose="020B0503020204020204" pitchFamily="34" charset="-122"/>
                <a:ea typeface="微软雅黑" panose="020B0503020204020204" pitchFamily="34" charset="-122"/>
              </a:rPr>
              <a:t>x=15,fmin=380,ex=1.</a:t>
            </a:r>
            <a:r>
              <a:rPr lang="zh-CN" altLang="en-US" sz="1400" b="1" dirty="0">
                <a:solidFill>
                  <a:srgbClr val="FF0000"/>
                </a:solidFill>
                <a:latin typeface="微软雅黑" panose="020B0503020204020204" pitchFamily="34" charset="-122"/>
                <a:ea typeface="微软雅黑" panose="020B0503020204020204" pitchFamily="34" charset="-122"/>
              </a:rPr>
              <a:t> </a:t>
            </a:r>
            <a:r>
              <a:rPr lang="en-US" altLang="zh-CN" sz="1400" b="1" dirty="0">
                <a:solidFill>
                  <a:srgbClr val="FF0000"/>
                </a:solidFill>
                <a:latin typeface="微软雅黑" panose="020B0503020204020204" pitchFamily="34" charset="-122"/>
                <a:ea typeface="微软雅黑" panose="020B0503020204020204" pitchFamily="34" charset="-122"/>
              </a:rPr>
              <a:t>AD=15(km)</a:t>
            </a:r>
            <a:r>
              <a:rPr lang="zh-CN" altLang="en-US" sz="1400" b="1" dirty="0">
                <a:solidFill>
                  <a:srgbClr val="FF0000"/>
                </a:solidFill>
                <a:latin typeface="微软雅黑" panose="020B0503020204020204" pitchFamily="34" charset="-122"/>
                <a:ea typeface="微软雅黑" panose="020B0503020204020204" pitchFamily="34" charset="-122"/>
              </a:rPr>
              <a:t>时</a:t>
            </a:r>
            <a:r>
              <a:rPr lang="en-US" altLang="zh-CN" sz="1400" b="1" dirty="0">
                <a:solidFill>
                  <a:srgbClr val="FF0000"/>
                </a:solidFill>
                <a:latin typeface="微软雅黑" panose="020B0503020204020204" pitchFamily="34" charset="-122"/>
                <a:ea typeface="微软雅黑" panose="020B0503020204020204" pitchFamily="34" charset="-122"/>
              </a:rPr>
              <a:t>,</a:t>
            </a:r>
            <a:r>
              <a:rPr lang="zh-CN" altLang="en-US" sz="1400" b="1" dirty="0">
                <a:solidFill>
                  <a:srgbClr val="FF0000"/>
                </a:solidFill>
                <a:latin typeface="微软雅黑" panose="020B0503020204020204" pitchFamily="34" charset="-122"/>
                <a:ea typeface="微软雅黑" panose="020B0503020204020204" pitchFamily="34" charset="-122"/>
              </a:rPr>
              <a:t>总运费为</a:t>
            </a:r>
            <a:r>
              <a:rPr lang="en-US" altLang="zh-CN" sz="1400" b="1" dirty="0">
                <a:solidFill>
                  <a:srgbClr val="FF0000"/>
                </a:solidFill>
                <a:latin typeface="微软雅黑" panose="020B0503020204020204" pitchFamily="34" charset="-122"/>
                <a:ea typeface="微软雅黑" panose="020B0503020204020204" pitchFamily="34" charset="-122"/>
              </a:rPr>
              <a:t>380(</a:t>
            </a:r>
            <a:r>
              <a:rPr lang="zh-CN" altLang="en-US" sz="1400" b="1" dirty="0">
                <a:solidFill>
                  <a:srgbClr val="FF0000"/>
                </a:solidFill>
                <a:latin typeface="微软雅黑" panose="020B0503020204020204" pitchFamily="34" charset="-122"/>
                <a:ea typeface="微软雅黑" panose="020B0503020204020204" pitchFamily="34" charset="-122"/>
              </a:rPr>
              <a:t>千元</a:t>
            </a:r>
            <a:r>
              <a:rPr lang="en-US" altLang="zh-CN" sz="1400" b="1" dirty="0">
                <a:solidFill>
                  <a:srgbClr val="FF0000"/>
                </a:solidFill>
                <a:latin typeface="微软雅黑" panose="020B0503020204020204" pitchFamily="34" charset="-122"/>
                <a:ea typeface="微软雅黑" panose="020B0503020204020204" pitchFamily="34" charset="-122"/>
              </a:rPr>
              <a:t>),</a:t>
            </a:r>
            <a:r>
              <a:rPr lang="zh-CN" altLang="en-US" sz="1400" b="1" dirty="0">
                <a:solidFill>
                  <a:srgbClr val="FF0000"/>
                </a:solidFill>
                <a:latin typeface="微软雅黑" panose="020B0503020204020204" pitchFamily="34" charset="-122"/>
                <a:ea typeface="微软雅黑" panose="020B0503020204020204" pitchFamily="34" charset="-122"/>
              </a:rPr>
              <a:t>为最省</a:t>
            </a:r>
          </a:p>
        </p:txBody>
      </p:sp>
      <p:sp>
        <p:nvSpPr>
          <p:cNvPr id="14" name="文本框 13">
            <a:extLst>
              <a:ext uri="{FF2B5EF4-FFF2-40B4-BE49-F238E27FC236}">
                <a16:creationId xmlns:a16="http://schemas.microsoft.com/office/drawing/2014/main" id="{E9699122-1A70-4546-A1C9-66FEEF2032FF}"/>
              </a:ext>
            </a:extLst>
          </p:cNvPr>
          <p:cNvSpPr txBox="1"/>
          <p:nvPr/>
        </p:nvSpPr>
        <p:spPr>
          <a:xfrm>
            <a:off x="375193" y="2150786"/>
            <a:ext cx="1596496" cy="369332"/>
          </a:xfrm>
          <a:prstGeom prst="rect">
            <a:avLst/>
          </a:prstGeom>
          <a:noFill/>
        </p:spPr>
        <p:txBody>
          <a:bodyPr wrap="square">
            <a:spAutoFit/>
          </a:bodyPr>
          <a:lstStyle/>
          <a:p>
            <a:r>
              <a:rPr lang="zh-CN" altLang="en-US" b="1" dirty="0">
                <a:solidFill>
                  <a:srgbClr val="C00000"/>
                </a:solidFill>
              </a:rPr>
              <a:t>设 </a:t>
            </a:r>
            <a:r>
              <a:rPr lang="en-US" altLang="zh-CN" b="1" dirty="0">
                <a:solidFill>
                  <a:srgbClr val="C00000"/>
                </a:solidFill>
              </a:rPr>
              <a:t>AD=x(km)</a:t>
            </a:r>
            <a:endParaRPr lang="zh-CN" altLang="en-US" b="1" dirty="0">
              <a:solidFill>
                <a:srgbClr val="C00000"/>
              </a:solidFill>
            </a:endParaRPr>
          </a:p>
        </p:txBody>
      </p:sp>
      <p:sp>
        <p:nvSpPr>
          <p:cNvPr id="16" name="文本框 15">
            <a:extLst>
              <a:ext uri="{FF2B5EF4-FFF2-40B4-BE49-F238E27FC236}">
                <a16:creationId xmlns:a16="http://schemas.microsoft.com/office/drawing/2014/main" id="{8285AE24-A4F6-44AC-BDD7-1EDFF8BBF78F}"/>
              </a:ext>
            </a:extLst>
          </p:cNvPr>
          <p:cNvSpPr txBox="1"/>
          <p:nvPr/>
        </p:nvSpPr>
        <p:spPr>
          <a:xfrm>
            <a:off x="2483919" y="2210488"/>
            <a:ext cx="1285222" cy="369332"/>
          </a:xfrm>
          <a:prstGeom prst="rect">
            <a:avLst/>
          </a:prstGeom>
          <a:noFill/>
        </p:spPr>
        <p:txBody>
          <a:bodyPr wrap="square">
            <a:spAutoFit/>
          </a:bodyPr>
          <a:lstStyle/>
          <a:p>
            <a:r>
              <a:rPr lang="en-US" altLang="zh-CN" b="1" dirty="0">
                <a:solidFill>
                  <a:srgbClr val="002060"/>
                </a:solidFill>
              </a:rPr>
              <a:t>DB=100-x</a:t>
            </a:r>
            <a:endParaRPr lang="zh-CN" altLang="en-US" b="1" dirty="0">
              <a:solidFill>
                <a:srgbClr val="002060"/>
              </a:solidFill>
            </a:endParaRPr>
          </a:p>
        </p:txBody>
      </p:sp>
      <p:sp>
        <p:nvSpPr>
          <p:cNvPr id="18" name="文本框 17">
            <a:extLst>
              <a:ext uri="{FF2B5EF4-FFF2-40B4-BE49-F238E27FC236}">
                <a16:creationId xmlns:a16="http://schemas.microsoft.com/office/drawing/2014/main" id="{8C6D288C-2194-4722-BCBF-DB283718B8EE}"/>
              </a:ext>
            </a:extLst>
          </p:cNvPr>
          <p:cNvSpPr txBox="1"/>
          <p:nvPr/>
        </p:nvSpPr>
        <p:spPr>
          <a:xfrm rot="18769843">
            <a:off x="556010" y="3453211"/>
            <a:ext cx="1921415" cy="307777"/>
          </a:xfrm>
          <a:prstGeom prst="rect">
            <a:avLst/>
          </a:prstGeom>
          <a:noFill/>
        </p:spPr>
        <p:txBody>
          <a:bodyPr wrap="square">
            <a:spAutoFit/>
          </a:bodyPr>
          <a:lstStyle/>
          <a:p>
            <a:r>
              <a:rPr lang="en-US" altLang="zh-CN" sz="1400" b="1" dirty="0">
                <a:solidFill>
                  <a:srgbClr val="002060"/>
                </a:solidFill>
              </a:rPr>
              <a:t>CD=sqrt(400+x^2)</a:t>
            </a:r>
            <a:endParaRPr lang="zh-CN" altLang="en-US" sz="1400" b="1" dirty="0">
              <a:solidFill>
                <a:srgbClr val="002060"/>
              </a:solidFill>
            </a:endParaRPr>
          </a:p>
        </p:txBody>
      </p:sp>
      <p:sp>
        <p:nvSpPr>
          <p:cNvPr id="20" name="文本框 19">
            <a:extLst>
              <a:ext uri="{FF2B5EF4-FFF2-40B4-BE49-F238E27FC236}">
                <a16:creationId xmlns:a16="http://schemas.microsoft.com/office/drawing/2014/main" id="{DF722A9D-0F39-4FD2-8C6A-11A62D3DD972}"/>
              </a:ext>
            </a:extLst>
          </p:cNvPr>
          <p:cNvSpPr txBox="1"/>
          <p:nvPr/>
        </p:nvSpPr>
        <p:spPr>
          <a:xfrm>
            <a:off x="2563407" y="1556294"/>
            <a:ext cx="6457572" cy="338554"/>
          </a:xfrm>
          <a:prstGeom prst="rect">
            <a:avLst/>
          </a:prstGeom>
          <a:noFill/>
        </p:spPr>
        <p:txBody>
          <a:bodyPr wrap="square">
            <a:spAutoFit/>
          </a:bodyPr>
          <a:lstStyle>
            <a:defPPr>
              <a:defRPr lang="zh-CN"/>
            </a:defPPr>
            <a:lvl1pPr>
              <a:defRPr b="1">
                <a:solidFill>
                  <a:srgbClr val="00B0F0"/>
                </a:solidFill>
                <a:latin typeface="微软雅黑" panose="020B0503020204020204" pitchFamily="34" charset="-122"/>
                <a:ea typeface="微软雅黑" panose="020B0503020204020204" pitchFamily="34" charset="-122"/>
              </a:defRPr>
            </a:lvl1pPr>
          </a:lstStyle>
          <a:p>
            <a:pPr algn="dist"/>
            <a:r>
              <a:rPr lang="zh-CN" altLang="en-US" sz="1600" dirty="0"/>
              <a:t>设</a:t>
            </a:r>
            <a:r>
              <a:rPr lang="en-US" altLang="zh-CN" sz="1600" dirty="0"/>
              <a:t>B</a:t>
            </a:r>
            <a:r>
              <a:rPr lang="zh-CN" altLang="en-US" sz="1600" dirty="0"/>
              <a:t>到</a:t>
            </a:r>
            <a:r>
              <a:rPr lang="en-US" altLang="zh-CN" sz="1600" dirty="0"/>
              <a:t>C</a:t>
            </a:r>
            <a:r>
              <a:rPr lang="zh-CN" altLang="en-US" sz="1600" dirty="0"/>
              <a:t>点总运费为</a:t>
            </a:r>
            <a:r>
              <a:rPr lang="en-US" altLang="zh-CN" sz="1600" dirty="0"/>
              <a:t>y(</a:t>
            </a:r>
            <a:r>
              <a:rPr lang="zh-CN" altLang="en-US" sz="1600" dirty="0"/>
              <a:t>千元</a:t>
            </a:r>
            <a:r>
              <a:rPr lang="en-US" altLang="zh-CN" sz="1600" dirty="0"/>
              <a:t>),y=f(x)= 3(100-x) +5sqrt(400+x^2)</a:t>
            </a:r>
            <a:endParaRPr lang="zh-CN" altLang="en-US" sz="1600" dirty="0"/>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928B7C3D-DFA8-4490-A094-D37B0C4B58A3}"/>
                  </a:ext>
                </a:extLst>
              </p:cNvPr>
              <p:cNvSpPr txBox="1"/>
              <p:nvPr/>
            </p:nvSpPr>
            <p:spPr>
              <a:xfrm>
                <a:off x="3355543" y="1837411"/>
                <a:ext cx="5896978" cy="369332"/>
              </a:xfrm>
              <a:prstGeom prst="rect">
                <a:avLst/>
              </a:prstGeom>
              <a:noFill/>
            </p:spPr>
            <p:txBody>
              <a:bodyPr wrap="square">
                <a:spAutoFit/>
              </a:bodyPr>
              <a:lstStyle/>
              <a:p>
                <a:r>
                  <a:rPr lang="zh-CN" altLang="en-US" b="1" dirty="0">
                    <a:solidFill>
                      <a:srgbClr val="0070C0"/>
                    </a:solidFill>
                    <a:effectLst/>
                    <a:latin typeface="微软雅黑" panose="020B0503020204020204" pitchFamily="34" charset="-122"/>
                    <a:ea typeface="微软雅黑" panose="020B0503020204020204" pitchFamily="34" charset="-122"/>
                  </a:rPr>
                  <a:t>目标函数</a:t>
                </a:r>
                <a:r>
                  <a:rPr lang="en-US" altLang="zh-CN" b="1" dirty="0">
                    <a:solidFill>
                      <a:srgbClr val="0070C0"/>
                    </a:solidFill>
                    <a:effectLst/>
                    <a:latin typeface="微软雅黑" panose="020B0503020204020204" pitchFamily="34" charset="-122"/>
                    <a:ea typeface="微软雅黑" panose="020B0503020204020204" pitchFamily="34" charset="-122"/>
                  </a:rPr>
                  <a:t>: min f(x)=</a:t>
                </a:r>
                <a14:m>
                  <m:oMath xmlns:m="http://schemas.openxmlformats.org/officeDocument/2006/math">
                    <m:r>
                      <a:rPr lang="en-US" altLang="zh-CN" b="1" i="0" smtClean="0">
                        <a:solidFill>
                          <a:srgbClr val="0070C0"/>
                        </a:solidFill>
                        <a:effectLst/>
                        <a:latin typeface="Cambria Math" panose="02040503050406030204" pitchFamily="18" charset="0"/>
                      </a:rPr>
                      <m:t>𝐦𝐢𝐧</m:t>
                    </m:r>
                    <m:r>
                      <a:rPr lang="en-US" altLang="zh-CN" b="1" i="1" smtClean="0">
                        <a:solidFill>
                          <a:srgbClr val="0070C0"/>
                        </a:solidFill>
                        <a:effectLst/>
                        <a:latin typeface="Cambria Math" panose="02040503050406030204" pitchFamily="18" charset="0"/>
                      </a:rPr>
                      <m:t>⁡(</m:t>
                    </m:r>
                    <m:r>
                      <m:rPr>
                        <m:nor/>
                      </m:rPr>
                      <a:rPr lang="en-US" altLang="zh-CN" b="1" dirty="0">
                        <a:solidFill>
                          <a:srgbClr val="0070C0"/>
                        </a:solidFill>
                      </a:rPr>
                      <m:t>3(100−</m:t>
                    </m:r>
                    <m:r>
                      <m:rPr>
                        <m:nor/>
                      </m:rPr>
                      <a:rPr lang="en-US" altLang="zh-CN" b="1" dirty="0">
                        <a:solidFill>
                          <a:srgbClr val="0070C0"/>
                        </a:solidFill>
                      </a:rPr>
                      <m:t>x</m:t>
                    </m:r>
                    <m:r>
                      <m:rPr>
                        <m:nor/>
                      </m:rPr>
                      <a:rPr lang="en-US" altLang="zh-CN" b="1" dirty="0">
                        <a:solidFill>
                          <a:srgbClr val="0070C0"/>
                        </a:solidFill>
                      </a:rPr>
                      <m:t>) +5</m:t>
                    </m:r>
                    <m:r>
                      <m:rPr>
                        <m:nor/>
                      </m:rPr>
                      <a:rPr lang="en-US" altLang="zh-CN" b="1" dirty="0">
                        <a:solidFill>
                          <a:srgbClr val="0070C0"/>
                        </a:solidFill>
                      </a:rPr>
                      <m:t>sqrt</m:t>
                    </m:r>
                    <m:r>
                      <m:rPr>
                        <m:nor/>
                      </m:rPr>
                      <a:rPr lang="en-US" altLang="zh-CN" b="1" dirty="0">
                        <a:solidFill>
                          <a:srgbClr val="0070C0"/>
                        </a:solidFill>
                      </a:rPr>
                      <m:t>(400+</m:t>
                    </m:r>
                    <m:r>
                      <m:rPr>
                        <m:nor/>
                      </m:rPr>
                      <a:rPr lang="en-US" altLang="zh-CN" b="1" dirty="0">
                        <a:solidFill>
                          <a:srgbClr val="0070C0"/>
                        </a:solidFill>
                      </a:rPr>
                      <m:t>x</m:t>
                    </m:r>
                    <m:r>
                      <m:rPr>
                        <m:nor/>
                      </m:rPr>
                      <a:rPr lang="en-US" altLang="zh-CN" b="1" dirty="0">
                        <a:solidFill>
                          <a:srgbClr val="0070C0"/>
                        </a:solidFill>
                      </a:rPr>
                      <m:t>^2)</m:t>
                    </m:r>
                    <m:r>
                      <a:rPr lang="en-US" altLang="zh-CN" b="1" i="1" smtClean="0">
                        <a:solidFill>
                          <a:srgbClr val="0070C0"/>
                        </a:solidFill>
                        <a:effectLst/>
                        <a:latin typeface="Cambria Math" panose="02040503050406030204" pitchFamily="18" charset="0"/>
                      </a:rPr>
                      <m:t>)   </m:t>
                    </m:r>
                  </m:oMath>
                </a14:m>
                <a:endParaRPr lang="zh-CN" altLang="en-US" b="1" dirty="0">
                  <a:solidFill>
                    <a:srgbClr val="0070C0"/>
                  </a:solidFill>
                  <a:latin typeface="微软雅黑" panose="020B0503020204020204" pitchFamily="34" charset="-122"/>
                  <a:ea typeface="微软雅黑" panose="020B0503020204020204" pitchFamily="34" charset="-122"/>
                </a:endParaRPr>
              </a:p>
            </p:txBody>
          </p:sp>
        </mc:Choice>
        <mc:Fallback xmlns="">
          <p:sp>
            <p:nvSpPr>
              <p:cNvPr id="23" name="文本框 22">
                <a:extLst>
                  <a:ext uri="{FF2B5EF4-FFF2-40B4-BE49-F238E27FC236}">
                    <a16:creationId xmlns:a16="http://schemas.microsoft.com/office/drawing/2014/main" id="{928B7C3D-DFA8-4490-A094-D37B0C4B58A3}"/>
                  </a:ext>
                </a:extLst>
              </p:cNvPr>
              <p:cNvSpPr txBox="1">
                <a:spLocks noRot="1" noChangeAspect="1" noMove="1" noResize="1" noEditPoints="1" noAdjustHandles="1" noChangeArrowheads="1" noChangeShapeType="1" noTextEdit="1"/>
              </p:cNvSpPr>
              <p:nvPr/>
            </p:nvSpPr>
            <p:spPr>
              <a:xfrm>
                <a:off x="3355543" y="1837411"/>
                <a:ext cx="5896978" cy="369332"/>
              </a:xfrm>
              <a:prstGeom prst="rect">
                <a:avLst/>
              </a:prstGeom>
              <a:blipFill>
                <a:blip r:embed="rId5"/>
                <a:stretch>
                  <a:fillRect l="-826" t="-8197" b="-24590"/>
                </a:stretch>
              </a:blipFill>
            </p:spPr>
            <p:txBody>
              <a:bodyPr/>
              <a:lstStyle/>
              <a:p>
                <a:r>
                  <a:rPr lang="zh-CN" altLang="en-US">
                    <a:noFill/>
                  </a:rPr>
                  <a:t> </a:t>
                </a:r>
              </a:p>
            </p:txBody>
          </p:sp>
        </mc:Fallback>
      </mc:AlternateContent>
      <p:sp>
        <p:nvSpPr>
          <p:cNvPr id="25" name="文本框 24">
            <a:extLst>
              <a:ext uri="{FF2B5EF4-FFF2-40B4-BE49-F238E27FC236}">
                <a16:creationId xmlns:a16="http://schemas.microsoft.com/office/drawing/2014/main" id="{EBEB2033-13B7-4077-A954-4B8B63EDD5B4}"/>
              </a:ext>
            </a:extLst>
          </p:cNvPr>
          <p:cNvSpPr txBox="1"/>
          <p:nvPr/>
        </p:nvSpPr>
        <p:spPr>
          <a:xfrm>
            <a:off x="5004048" y="2211710"/>
            <a:ext cx="3874441" cy="338554"/>
          </a:xfrm>
          <a:prstGeom prst="rect">
            <a:avLst/>
          </a:prstGeom>
          <a:noFill/>
        </p:spPr>
        <p:txBody>
          <a:bodyPr wrap="square">
            <a:spAutoFit/>
          </a:bodyPr>
          <a:lstStyle/>
          <a:p>
            <a:r>
              <a:rPr lang="zh-CN" altLang="en-US" sz="1600" b="1" dirty="0">
                <a:solidFill>
                  <a:srgbClr val="00B0F0"/>
                </a:solidFill>
                <a:latin typeface="微软雅黑" panose="020B0503020204020204" pitchFamily="34" charset="-122"/>
                <a:ea typeface="微软雅黑" panose="020B0503020204020204" pitchFamily="34" charset="-122"/>
              </a:rPr>
              <a:t>求</a:t>
            </a:r>
            <a:r>
              <a:rPr lang="en-US" altLang="zh-CN" sz="1600" b="1" dirty="0">
                <a:solidFill>
                  <a:srgbClr val="00B0F0"/>
                </a:solidFill>
                <a:latin typeface="微软雅黑" panose="020B0503020204020204" pitchFamily="34" charset="-122"/>
                <a:ea typeface="微软雅黑" panose="020B0503020204020204" pitchFamily="34" charset="-122"/>
              </a:rPr>
              <a:t>f(x)</a:t>
            </a:r>
            <a:r>
              <a:rPr lang="zh-CN" altLang="en-US" sz="1600" b="1" dirty="0">
                <a:solidFill>
                  <a:srgbClr val="00B0F0"/>
                </a:solidFill>
                <a:latin typeface="微软雅黑" panose="020B0503020204020204" pitchFamily="34" charset="-122"/>
                <a:ea typeface="微软雅黑" panose="020B0503020204020204" pitchFamily="34" charset="-122"/>
              </a:rPr>
              <a:t>在</a:t>
            </a:r>
            <a:r>
              <a:rPr lang="en-US" altLang="zh-CN" sz="1600" b="1" dirty="0">
                <a:solidFill>
                  <a:srgbClr val="00B0F0"/>
                </a:solidFill>
                <a:latin typeface="微软雅黑" panose="020B0503020204020204" pitchFamily="34" charset="-122"/>
                <a:ea typeface="微软雅黑" panose="020B0503020204020204" pitchFamily="34" charset="-122"/>
              </a:rPr>
              <a:t>[0,100]</a:t>
            </a:r>
            <a:r>
              <a:rPr lang="zh-CN" altLang="en-US" sz="1600" b="1" dirty="0">
                <a:solidFill>
                  <a:srgbClr val="00B0F0"/>
                </a:solidFill>
                <a:latin typeface="微软雅黑" panose="020B0503020204020204" pitchFamily="34" charset="-122"/>
                <a:ea typeface="微软雅黑" panose="020B0503020204020204" pitchFamily="34" charset="-122"/>
              </a:rPr>
              <a:t>最小值时的</a:t>
            </a:r>
            <a:r>
              <a:rPr lang="en-US" altLang="zh-CN" sz="1600" b="1" dirty="0">
                <a:solidFill>
                  <a:srgbClr val="00B0F0"/>
                </a:solidFill>
                <a:latin typeface="微软雅黑" panose="020B0503020204020204" pitchFamily="34" charset="-122"/>
                <a:ea typeface="微软雅黑" panose="020B0503020204020204" pitchFamily="34" charset="-122"/>
              </a:rPr>
              <a:t>x</a:t>
            </a:r>
            <a:r>
              <a:rPr lang="zh-CN" altLang="en-US" sz="1600" b="1" dirty="0">
                <a:solidFill>
                  <a:srgbClr val="00B0F0"/>
                </a:solidFill>
                <a:latin typeface="微软雅黑" panose="020B0503020204020204" pitchFamily="34" charset="-122"/>
                <a:ea typeface="微软雅黑" panose="020B0503020204020204" pitchFamily="34" charset="-122"/>
              </a:rPr>
              <a:t>值位置</a:t>
            </a:r>
          </a:p>
        </p:txBody>
      </p:sp>
      <p:sp>
        <p:nvSpPr>
          <p:cNvPr id="27" name="文本框 26">
            <a:extLst>
              <a:ext uri="{FF2B5EF4-FFF2-40B4-BE49-F238E27FC236}">
                <a16:creationId xmlns:a16="http://schemas.microsoft.com/office/drawing/2014/main" id="{2762E84B-4CC4-47F5-A239-F7B8F0466CE5}"/>
              </a:ext>
            </a:extLst>
          </p:cNvPr>
          <p:cNvSpPr txBox="1"/>
          <p:nvPr/>
        </p:nvSpPr>
        <p:spPr>
          <a:xfrm>
            <a:off x="2330119" y="2992249"/>
            <a:ext cx="6610611" cy="1404102"/>
          </a:xfrm>
          <a:prstGeom prst="rect">
            <a:avLst/>
          </a:prstGeom>
          <a:solidFill>
            <a:schemeClr val="bg1"/>
          </a:solidFill>
          <a:ln>
            <a:solidFill>
              <a:schemeClr val="bg1">
                <a:lumMod val="85000"/>
              </a:schemeClr>
            </a:solidFill>
          </a:ln>
        </p:spPr>
        <p:txBody>
          <a:bodyPr wrap="square">
            <a:spAutoFit/>
          </a:bodyPr>
          <a:lstStyle/>
          <a:p>
            <a:pPr>
              <a:lnSpc>
                <a:spcPts val="2600"/>
              </a:lnSpc>
            </a:pPr>
            <a:r>
              <a:rPr lang="en-US" altLang="zh-CN" b="0" dirty="0">
                <a:solidFill>
                  <a:srgbClr val="795E26"/>
                </a:solidFill>
                <a:effectLst/>
                <a:latin typeface="Consolas" panose="020B0609020204030204" pitchFamily="49" charset="0"/>
              </a:rPr>
              <a:t>fun</a:t>
            </a:r>
            <a:r>
              <a:rPr lang="en-US" altLang="zh-CN" b="0" dirty="0">
                <a:solidFill>
                  <a:srgbClr val="000000"/>
                </a:solidFill>
                <a:effectLst/>
                <a:latin typeface="Consolas" panose="020B0609020204030204" pitchFamily="49" charset="0"/>
              </a:rPr>
              <a:t>(x)=</a:t>
            </a:r>
            <a:r>
              <a:rPr lang="en-US" altLang="zh-CN" dirty="0"/>
              <a:t> 3(100-x) +5sqrt(400+x^2)</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建立表达式</a:t>
            </a:r>
            <a:endParaRPr lang="zh-CN" altLang="en-US" b="0" dirty="0">
              <a:solidFill>
                <a:srgbClr val="000000"/>
              </a:solidFill>
              <a:effectLst/>
              <a:latin typeface="Consolas" panose="020B0609020204030204" pitchFamily="49" charset="0"/>
            </a:endParaRPr>
          </a:p>
          <a:p>
            <a:pPr>
              <a:lnSpc>
                <a:spcPts val="2600"/>
              </a:lnSpc>
            </a:pPr>
            <a:r>
              <a:rPr lang="en-US" altLang="zh-CN" b="0" dirty="0" err="1">
                <a:solidFill>
                  <a:srgbClr val="000000"/>
                </a:solidFill>
                <a:effectLst/>
                <a:latin typeface="Consolas" panose="020B0609020204030204" pitchFamily="49" charset="0"/>
              </a:rPr>
              <a:t>x,fmin,ex</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fminbnd</a:t>
            </a:r>
            <a:r>
              <a:rPr lang="en-US" altLang="zh-CN" b="0" dirty="0">
                <a:solidFill>
                  <a:srgbClr val="000000"/>
                </a:solidFill>
                <a:effectLst/>
                <a:latin typeface="Consolas" panose="020B0609020204030204" pitchFamily="49" charset="0"/>
              </a:rPr>
              <a:t>(fun,</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100</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求一元函数最小值</a:t>
            </a:r>
            <a:endParaRPr lang="zh-CN" altLang="en-US" b="0" dirty="0">
              <a:solidFill>
                <a:srgbClr val="000000"/>
              </a:solidFill>
              <a:effectLst/>
              <a:latin typeface="Consolas" panose="020B0609020204030204" pitchFamily="49" charset="0"/>
            </a:endParaRPr>
          </a:p>
          <a:p>
            <a:pPr>
              <a:lnSpc>
                <a:spcPts val="2600"/>
              </a:lnSpc>
            </a:pPr>
            <a:r>
              <a:rPr lang="en-US" altLang="zh-CN" b="0" dirty="0">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"x=</a:t>
            </a:r>
            <a:r>
              <a:rPr lang="en-US" altLang="zh-CN" b="0" dirty="0">
                <a:solidFill>
                  <a:srgbClr val="001080"/>
                </a:solidFill>
                <a:effectLst/>
                <a:latin typeface="Consolas" panose="020B0609020204030204" pitchFamily="49" charset="0"/>
              </a:rPr>
              <a:t>$x</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显示极值点</a:t>
            </a:r>
            <a:endParaRPr lang="zh-CN" altLang="en-US" b="0" dirty="0">
              <a:solidFill>
                <a:srgbClr val="000000"/>
              </a:solidFill>
              <a:effectLst/>
              <a:latin typeface="Consolas" panose="020B0609020204030204" pitchFamily="49" charset="0"/>
            </a:endParaRPr>
          </a:p>
          <a:p>
            <a:pPr>
              <a:lnSpc>
                <a:spcPts val="2600"/>
              </a:lnSpc>
            </a:pPr>
            <a:r>
              <a:rPr lang="en-US" altLang="zh-CN" b="0" dirty="0">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fmin</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fmin</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显示最小值</a:t>
            </a:r>
            <a:endParaRPr lang="zh-CN" altLang="en-US" b="0" dirty="0">
              <a:solidFill>
                <a:srgbClr val="000000"/>
              </a:solidFill>
              <a:effectLst/>
              <a:latin typeface="Consolas" panose="020B0609020204030204" pitchFamily="49" charset="0"/>
            </a:endParaRPr>
          </a:p>
        </p:txBody>
      </p:sp>
      <p:sp>
        <p:nvSpPr>
          <p:cNvPr id="28" name="文本框 27">
            <a:extLst>
              <a:ext uri="{FF2B5EF4-FFF2-40B4-BE49-F238E27FC236}">
                <a16:creationId xmlns:a16="http://schemas.microsoft.com/office/drawing/2014/main" id="{82DDA9E4-B59C-4AF0-9003-6B350081BD60}"/>
              </a:ext>
            </a:extLst>
          </p:cNvPr>
          <p:cNvSpPr txBox="1"/>
          <p:nvPr/>
        </p:nvSpPr>
        <p:spPr>
          <a:xfrm>
            <a:off x="570844" y="-45936"/>
            <a:ext cx="8578368" cy="677108"/>
          </a:xfrm>
          <a:prstGeom prst="rect">
            <a:avLst/>
          </a:prstGeom>
          <a:noFill/>
        </p:spPr>
        <p:txBody>
          <a:bodyPr wrap="square">
            <a:spAutoFit/>
          </a:bodyPr>
          <a:lstStyle>
            <a:defPPr>
              <a:defRPr lang="zh-CN"/>
            </a:defPPr>
            <a:lvl1pPr>
              <a:lnSpc>
                <a:spcPct val="150000"/>
              </a:lnSpc>
              <a:defRPr sz="3200">
                <a:solidFill>
                  <a:srgbClr val="002060"/>
                </a:solidFill>
                <a:latin typeface="华文楷体" panose="02010600040101010101" pitchFamily="2" charset="-122"/>
                <a:ea typeface="华文楷体" panose="02010600040101010101" pitchFamily="2" charset="-122"/>
              </a:defRPr>
            </a:lvl1pPr>
          </a:lstStyle>
          <a:p>
            <a:r>
              <a:rPr lang="en-US" altLang="zh-CN" sz="2800" b="0" dirty="0">
                <a:solidFill>
                  <a:srgbClr val="002060"/>
                </a:solidFill>
                <a:latin typeface="华文楷体" panose="02010600040101010101" pitchFamily="2" charset="-122"/>
                <a:ea typeface="华文楷体" panose="02010600040101010101" pitchFamily="2" charset="-122"/>
              </a:rPr>
              <a:t>§8.4.1</a:t>
            </a:r>
            <a:r>
              <a:rPr lang="zh-CN" altLang="en-US" sz="2800" dirty="0"/>
              <a:t>一元</a:t>
            </a:r>
            <a:r>
              <a:rPr lang="zh-CN" altLang="en-US" sz="2800" dirty="0">
                <a:latin typeface="华文楷体" panose="02010600040101010101" pitchFamily="2" charset="-122"/>
                <a:ea typeface="华文楷体" panose="02010600040101010101" pitchFamily="2" charset="-122"/>
              </a:rPr>
              <a:t>函数最</a:t>
            </a:r>
            <a:r>
              <a:rPr lang="en-US" altLang="ko-KR" sz="2800" dirty="0" err="1">
                <a:latin typeface="华文楷体" panose="02010600040101010101" pitchFamily="2" charset="-122"/>
                <a:ea typeface="华文楷体" panose="02010600040101010101" pitchFamily="2" charset="-122"/>
              </a:rPr>
              <a:t>小值</a:t>
            </a:r>
            <a:r>
              <a:rPr lang="en-US" altLang="zh-CN" sz="2800" b="1" kern="0" dirty="0" err="1">
                <a:solidFill>
                  <a:srgbClr val="FF0000"/>
                </a:solidFill>
              </a:rPr>
              <a:t>fminbnd</a:t>
            </a:r>
            <a:r>
              <a:rPr lang="zh-CN" altLang="en-US" sz="2800" dirty="0">
                <a:latin typeface="华文楷体" panose="02010600040101010101" pitchFamily="2" charset="-122"/>
                <a:ea typeface="华文楷体" panose="02010600040101010101" pitchFamily="2" charset="-122"/>
              </a:rPr>
              <a:t> </a:t>
            </a:r>
            <a:r>
              <a:rPr lang="en-US" altLang="zh-CN" sz="2800" kern="0" dirty="0">
                <a:solidFill>
                  <a:srgbClr val="FF0000"/>
                </a:solidFill>
              </a:rPr>
              <a:t>——</a:t>
            </a:r>
            <a:r>
              <a:rPr lang="zh-CN" altLang="en-US" sz="2800" kern="0" dirty="0">
                <a:solidFill>
                  <a:srgbClr val="FF0000"/>
                </a:solidFill>
              </a:rPr>
              <a:t>设计公路最佳路口</a:t>
            </a:r>
            <a:endParaRPr lang="zh-CN" altLang="en-US" sz="2800" dirty="0"/>
          </a:p>
        </p:txBody>
      </p:sp>
      <p:sp>
        <p:nvSpPr>
          <p:cNvPr id="19" name="波形 18">
            <a:extLst>
              <a:ext uri="{FF2B5EF4-FFF2-40B4-BE49-F238E27FC236}">
                <a16:creationId xmlns:a16="http://schemas.microsoft.com/office/drawing/2014/main" id="{24199565-2AE7-468F-9FD2-ECB89779C9F7}"/>
              </a:ext>
            </a:extLst>
          </p:cNvPr>
          <p:cNvSpPr/>
          <p:nvPr/>
        </p:nvSpPr>
        <p:spPr>
          <a:xfrm>
            <a:off x="425394" y="678113"/>
            <a:ext cx="868127" cy="313104"/>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2000" b="1" dirty="0">
                <a:solidFill>
                  <a:srgbClr val="FFFF00"/>
                </a:solidFill>
                <a:latin typeface="微软雅黑" panose="020B0503020204020204" charset="-122"/>
                <a:ea typeface="微软雅黑" panose="020B0503020204020204" charset="-122"/>
              </a:rPr>
              <a:t>例84-1</a:t>
            </a:r>
            <a:endParaRPr lang="ko-KR" altLang="en-US" sz="2000" b="1" dirty="0">
              <a:solidFill>
                <a:srgbClr val="FFFF00"/>
              </a:solidFill>
              <a:latin typeface="微软雅黑" panose="020B0503020204020204" charset="-122"/>
              <a:ea typeface="微软雅黑" panose="020B0503020204020204" charset="-122"/>
            </a:endParaRPr>
          </a:p>
        </p:txBody>
      </p:sp>
      <p:sp>
        <p:nvSpPr>
          <p:cNvPr id="21" name="文本框 20">
            <a:extLst>
              <a:ext uri="{FF2B5EF4-FFF2-40B4-BE49-F238E27FC236}">
                <a16:creationId xmlns:a16="http://schemas.microsoft.com/office/drawing/2014/main" id="{A7B684AA-270C-41E2-A7A3-F8D624FE1BFF}"/>
              </a:ext>
            </a:extLst>
          </p:cNvPr>
          <p:cNvSpPr txBox="1"/>
          <p:nvPr/>
        </p:nvSpPr>
        <p:spPr>
          <a:xfrm>
            <a:off x="831511" y="1807266"/>
            <a:ext cx="1110440" cy="369332"/>
          </a:xfrm>
          <a:prstGeom prst="rect">
            <a:avLst/>
          </a:prstGeom>
          <a:noFill/>
        </p:spPr>
        <p:txBody>
          <a:bodyPr wrap="square">
            <a:spAutoFit/>
          </a:bodyPr>
          <a:lstStyle/>
          <a:p>
            <a:r>
              <a:rPr lang="en-US" altLang="zh-CN" b="1" dirty="0">
                <a:solidFill>
                  <a:srgbClr val="002060"/>
                </a:solidFill>
              </a:rPr>
              <a:t>AB=100</a:t>
            </a:r>
            <a:endParaRPr lang="zh-CN" altLang="en-US" b="1" dirty="0">
              <a:solidFill>
                <a:srgbClr val="002060"/>
              </a:solidFill>
            </a:endParaRPr>
          </a:p>
        </p:txBody>
      </p:sp>
      <p:sp>
        <p:nvSpPr>
          <p:cNvPr id="22" name="文本框 21">
            <a:extLst>
              <a:ext uri="{FF2B5EF4-FFF2-40B4-BE49-F238E27FC236}">
                <a16:creationId xmlns:a16="http://schemas.microsoft.com/office/drawing/2014/main" id="{4BC83AD7-6E3F-4EFF-9AD4-1DB63FFF9925}"/>
              </a:ext>
            </a:extLst>
          </p:cNvPr>
          <p:cNvSpPr txBox="1"/>
          <p:nvPr/>
        </p:nvSpPr>
        <p:spPr>
          <a:xfrm>
            <a:off x="425394" y="4362809"/>
            <a:ext cx="1178882" cy="338554"/>
          </a:xfrm>
          <a:prstGeom prst="rect">
            <a:avLst/>
          </a:prstGeom>
          <a:noFill/>
        </p:spPr>
        <p:txBody>
          <a:bodyPr wrap="square">
            <a:spAutoFit/>
          </a:bodyPr>
          <a:lstStyle>
            <a:defPPr>
              <a:defRPr lang="zh-CN"/>
            </a:defPPr>
            <a:lvl1pPr>
              <a:defRPr b="1">
                <a:solidFill>
                  <a:srgbClr val="FF0000"/>
                </a:solidFill>
                <a:latin typeface="微软雅黑" panose="020B0503020204020204" pitchFamily="34" charset="-122"/>
                <a:ea typeface="微软雅黑" panose="020B0503020204020204" pitchFamily="34" charset="-122"/>
              </a:defRPr>
            </a:lvl1pPr>
          </a:lstStyle>
          <a:p>
            <a:r>
              <a:rPr lang="en-US" altLang="zh-CN" sz="1600" dirty="0">
                <a:solidFill>
                  <a:srgbClr val="C00000"/>
                </a:solidFill>
              </a:rPr>
              <a:t>C</a:t>
            </a:r>
            <a:r>
              <a:rPr lang="zh-CN" altLang="en-US" sz="1600" dirty="0">
                <a:solidFill>
                  <a:srgbClr val="C00000"/>
                </a:solidFill>
              </a:rPr>
              <a:t>工厂</a:t>
            </a:r>
          </a:p>
        </p:txBody>
      </p:sp>
      <p:sp>
        <p:nvSpPr>
          <p:cNvPr id="24" name="文本框 23">
            <a:extLst>
              <a:ext uri="{FF2B5EF4-FFF2-40B4-BE49-F238E27FC236}">
                <a16:creationId xmlns:a16="http://schemas.microsoft.com/office/drawing/2014/main" id="{A39C0FB9-582D-4A53-A0A6-13EFCC9D80A5}"/>
              </a:ext>
            </a:extLst>
          </p:cNvPr>
          <p:cNvSpPr txBox="1"/>
          <p:nvPr/>
        </p:nvSpPr>
        <p:spPr>
          <a:xfrm>
            <a:off x="341317" y="1828169"/>
            <a:ext cx="818842" cy="369332"/>
          </a:xfrm>
          <a:prstGeom prst="rect">
            <a:avLst/>
          </a:prstGeom>
          <a:noFill/>
        </p:spPr>
        <p:txBody>
          <a:bodyPr wrap="square">
            <a:spAutoFit/>
          </a:bodyPr>
          <a:lstStyle>
            <a:defPPr>
              <a:defRPr lang="zh-CN"/>
            </a:defPPr>
            <a:lvl1pPr>
              <a:defRPr b="1">
                <a:solidFill>
                  <a:srgbClr val="FF0000"/>
                </a:solidFill>
                <a:latin typeface="微软雅黑" panose="020B0503020204020204" pitchFamily="34" charset="-122"/>
                <a:ea typeface="微软雅黑" panose="020B0503020204020204" pitchFamily="34" charset="-122"/>
              </a:defRPr>
            </a:lvl1pPr>
          </a:lstStyle>
          <a:p>
            <a:r>
              <a:rPr lang="zh-CN" altLang="en-US" dirty="0">
                <a:solidFill>
                  <a:srgbClr val="736303"/>
                </a:solidFill>
              </a:rPr>
              <a:t>铁路</a:t>
            </a:r>
          </a:p>
        </p:txBody>
      </p:sp>
      <p:sp>
        <p:nvSpPr>
          <p:cNvPr id="26" name="文本框 25">
            <a:extLst>
              <a:ext uri="{FF2B5EF4-FFF2-40B4-BE49-F238E27FC236}">
                <a16:creationId xmlns:a16="http://schemas.microsoft.com/office/drawing/2014/main" id="{EA5D15BF-9D8F-4F32-94EB-2A2CC7A372CE}"/>
              </a:ext>
            </a:extLst>
          </p:cNvPr>
          <p:cNvSpPr txBox="1"/>
          <p:nvPr/>
        </p:nvSpPr>
        <p:spPr>
          <a:xfrm>
            <a:off x="1767367" y="2604522"/>
            <a:ext cx="849972" cy="307777"/>
          </a:xfrm>
          <a:prstGeom prst="rect">
            <a:avLst/>
          </a:prstGeom>
          <a:noFill/>
        </p:spPr>
        <p:txBody>
          <a:bodyPr wrap="square">
            <a:spAutoFit/>
          </a:bodyPr>
          <a:lstStyle>
            <a:defPPr>
              <a:defRPr lang="zh-CN"/>
            </a:defPPr>
            <a:lvl1pPr>
              <a:defRPr b="1">
                <a:solidFill>
                  <a:srgbClr val="FF0000"/>
                </a:solidFill>
                <a:latin typeface="微软雅黑" panose="020B0503020204020204" pitchFamily="34" charset="-122"/>
                <a:ea typeface="微软雅黑" panose="020B0503020204020204" pitchFamily="34" charset="-122"/>
              </a:defRPr>
            </a:lvl1pPr>
          </a:lstStyle>
          <a:p>
            <a:r>
              <a:rPr lang="zh-CN" altLang="en-US" sz="1400" dirty="0">
                <a:solidFill>
                  <a:srgbClr val="C00000"/>
                </a:solidFill>
              </a:rPr>
              <a:t>路口</a:t>
            </a:r>
            <a:r>
              <a:rPr lang="en-US" altLang="zh-CN" sz="1400" dirty="0">
                <a:solidFill>
                  <a:srgbClr val="C00000"/>
                </a:solidFill>
              </a:rPr>
              <a:t>D</a:t>
            </a:r>
            <a:endParaRPr lang="zh-CN" altLang="en-US" sz="1400" dirty="0">
              <a:solidFill>
                <a:srgbClr val="C00000"/>
              </a:solidFill>
            </a:endParaRPr>
          </a:p>
        </p:txBody>
      </p:sp>
      <p:sp>
        <p:nvSpPr>
          <p:cNvPr id="29" name="文本框 28">
            <a:extLst>
              <a:ext uri="{FF2B5EF4-FFF2-40B4-BE49-F238E27FC236}">
                <a16:creationId xmlns:a16="http://schemas.microsoft.com/office/drawing/2014/main" id="{9A2C235B-61B6-4730-8141-2BDCCDDE856E}"/>
              </a:ext>
            </a:extLst>
          </p:cNvPr>
          <p:cNvSpPr txBox="1"/>
          <p:nvPr/>
        </p:nvSpPr>
        <p:spPr>
          <a:xfrm rot="18758581">
            <a:off x="671192" y="3233234"/>
            <a:ext cx="994976" cy="307777"/>
          </a:xfrm>
          <a:prstGeom prst="rect">
            <a:avLst/>
          </a:prstGeom>
          <a:noFill/>
        </p:spPr>
        <p:txBody>
          <a:bodyPr wrap="square">
            <a:spAutoFit/>
          </a:bodyPr>
          <a:lstStyle/>
          <a:p>
            <a:r>
              <a:rPr lang="zh-CN" altLang="en-US" sz="1400" b="1" dirty="0">
                <a:solidFill>
                  <a:srgbClr val="C00000"/>
                </a:solidFill>
                <a:latin typeface="微软雅黑" panose="020B0503020204020204" pitchFamily="34" charset="-122"/>
                <a:ea typeface="微软雅黑" panose="020B0503020204020204" pitchFamily="34" charset="-122"/>
              </a:rPr>
              <a:t>公路</a:t>
            </a:r>
            <a:r>
              <a:rPr lang="en-US" altLang="zh-CN" sz="1400" dirty="0">
                <a:solidFill>
                  <a:srgbClr val="C00000"/>
                </a:solidFill>
                <a:latin typeface="+mj-lt"/>
                <a:ea typeface="华文琥珀" panose="02010800040101010101" pitchFamily="2" charset="-122"/>
              </a:rPr>
              <a:t>CD</a:t>
            </a:r>
            <a:endParaRPr lang="zh-CN" altLang="en-US" sz="1400" dirty="0">
              <a:solidFill>
                <a:srgbClr val="C00000"/>
              </a:solidFill>
              <a:latin typeface="华文琥珀" panose="02010800040101010101" pitchFamily="2" charset="-122"/>
              <a:ea typeface="华文琥珀" panose="02010800040101010101" pitchFamily="2" charset="-122"/>
            </a:endParaRPr>
          </a:p>
        </p:txBody>
      </p:sp>
      <p:sp>
        <p:nvSpPr>
          <p:cNvPr id="2" name="椭圆 1">
            <a:extLst>
              <a:ext uri="{FF2B5EF4-FFF2-40B4-BE49-F238E27FC236}">
                <a16:creationId xmlns:a16="http://schemas.microsoft.com/office/drawing/2014/main" id="{3A2531BD-5AE4-4C1C-81EC-BF159387800C}"/>
              </a:ext>
            </a:extLst>
          </p:cNvPr>
          <p:cNvSpPr/>
          <p:nvPr/>
        </p:nvSpPr>
        <p:spPr bwMode="auto">
          <a:xfrm>
            <a:off x="325952" y="1203598"/>
            <a:ext cx="1365776" cy="264951"/>
          </a:xfrm>
          <a:prstGeom prst="ellipse">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30" name="椭圆 29">
            <a:extLst>
              <a:ext uri="{FF2B5EF4-FFF2-40B4-BE49-F238E27FC236}">
                <a16:creationId xmlns:a16="http://schemas.microsoft.com/office/drawing/2014/main" id="{5027AB1B-0E6C-4A83-B769-BD277B59069A}"/>
              </a:ext>
            </a:extLst>
          </p:cNvPr>
          <p:cNvSpPr/>
          <p:nvPr/>
        </p:nvSpPr>
        <p:spPr bwMode="auto">
          <a:xfrm>
            <a:off x="1884306" y="1247065"/>
            <a:ext cx="2687694" cy="293492"/>
          </a:xfrm>
          <a:prstGeom prst="ellipse">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31" name="文本框 30">
            <a:extLst>
              <a:ext uri="{FF2B5EF4-FFF2-40B4-BE49-F238E27FC236}">
                <a16:creationId xmlns:a16="http://schemas.microsoft.com/office/drawing/2014/main" id="{1B581BBB-C15B-4965-A8B5-ADFCBD756801}"/>
              </a:ext>
            </a:extLst>
          </p:cNvPr>
          <p:cNvSpPr txBox="1"/>
          <p:nvPr/>
        </p:nvSpPr>
        <p:spPr>
          <a:xfrm>
            <a:off x="3926538" y="2242355"/>
            <a:ext cx="933490" cy="338554"/>
          </a:xfrm>
          <a:prstGeom prst="rect">
            <a:avLst/>
          </a:prstGeom>
          <a:noFill/>
        </p:spPr>
        <p:txBody>
          <a:bodyPr wrap="square">
            <a:spAutoFit/>
          </a:bodyPr>
          <a:lstStyle/>
          <a:p>
            <a:r>
              <a:rPr lang="en-US" altLang="zh-CN" sz="1600" b="1" dirty="0">
                <a:solidFill>
                  <a:srgbClr val="C00000"/>
                </a:solidFill>
                <a:latin typeface="微软雅黑" panose="020B0503020204020204" pitchFamily="34" charset="-122"/>
                <a:ea typeface="微软雅黑" panose="020B0503020204020204" pitchFamily="34" charset="-122"/>
              </a:rPr>
              <a:t>B</a:t>
            </a:r>
            <a:r>
              <a:rPr lang="zh-CN" altLang="en-US" sz="1600" b="1" dirty="0">
                <a:solidFill>
                  <a:srgbClr val="C00000"/>
                </a:solidFill>
                <a:latin typeface="微软雅黑" panose="020B0503020204020204" pitchFamily="34" charset="-122"/>
                <a:ea typeface="微软雅黑" panose="020B0503020204020204" pitchFamily="34" charset="-122"/>
              </a:rPr>
              <a:t>供应站</a:t>
            </a:r>
          </a:p>
        </p:txBody>
      </p:sp>
      <p:sp>
        <p:nvSpPr>
          <p:cNvPr id="32" name="文本框 31">
            <a:extLst>
              <a:ext uri="{FF2B5EF4-FFF2-40B4-BE49-F238E27FC236}">
                <a16:creationId xmlns:a16="http://schemas.microsoft.com/office/drawing/2014/main" id="{490A62E3-D1B1-41C4-8324-8BD477DC16F5}"/>
              </a:ext>
            </a:extLst>
          </p:cNvPr>
          <p:cNvSpPr txBox="1"/>
          <p:nvPr/>
        </p:nvSpPr>
        <p:spPr>
          <a:xfrm>
            <a:off x="1932148" y="1837323"/>
            <a:ext cx="1522801" cy="369332"/>
          </a:xfrm>
          <a:prstGeom prst="rect">
            <a:avLst/>
          </a:prstGeom>
          <a:noFill/>
        </p:spPr>
        <p:txBody>
          <a:bodyPr wrap="square">
            <a:spAutoFit/>
          </a:bodyPr>
          <a:lstStyle>
            <a:defPPr>
              <a:defRPr lang="zh-CN"/>
            </a:defPPr>
            <a:lvl1pPr>
              <a:defRPr b="0">
                <a:solidFill>
                  <a:srgbClr val="00B0F0"/>
                </a:solidFill>
                <a:latin typeface="微软雅黑" panose="020B0503020204020204" pitchFamily="34" charset="-122"/>
                <a:ea typeface="微软雅黑" panose="020B0503020204020204" pitchFamily="34" charset="-122"/>
              </a:defRPr>
            </a:lvl1pPr>
          </a:lstStyle>
          <a:p>
            <a:r>
              <a:rPr lang="zh-CN" altLang="en-US" b="1" dirty="0">
                <a:solidFill>
                  <a:srgbClr val="0070C0"/>
                </a:solidFill>
              </a:rPr>
              <a:t>决策变量</a:t>
            </a:r>
            <a:r>
              <a:rPr lang="en-US" altLang="zh-CN" b="1" dirty="0">
                <a:solidFill>
                  <a:srgbClr val="0070C0"/>
                </a:solidFill>
              </a:rPr>
              <a:t>:x</a:t>
            </a:r>
            <a:r>
              <a:rPr lang="zh-CN" altLang="en-US" b="1" dirty="0">
                <a:solidFill>
                  <a:srgbClr val="0070C0"/>
                </a:solidFill>
              </a:rPr>
              <a:t>；</a:t>
            </a:r>
          </a:p>
        </p:txBody>
      </p:sp>
      <p:sp>
        <p:nvSpPr>
          <p:cNvPr id="34" name="文本框 33">
            <a:extLst>
              <a:ext uri="{FF2B5EF4-FFF2-40B4-BE49-F238E27FC236}">
                <a16:creationId xmlns:a16="http://schemas.microsoft.com/office/drawing/2014/main" id="{81776F2B-8380-4153-B6ED-DD34B9ACE46E}"/>
              </a:ext>
            </a:extLst>
          </p:cNvPr>
          <p:cNvSpPr txBox="1"/>
          <p:nvPr/>
        </p:nvSpPr>
        <p:spPr>
          <a:xfrm>
            <a:off x="2384333" y="2661385"/>
            <a:ext cx="6502182" cy="286232"/>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algn="dist"/>
            <a:r>
              <a:rPr lang="zh-CN" altLang="zh-CN" sz="1400" b="0" dirty="0">
                <a:highlight>
                  <a:srgbClr val="FF0000"/>
                </a:highlight>
                <a:latin typeface="华文楷体" panose="02010600040101010101" pitchFamily="2" charset="-122"/>
                <a:ea typeface="华文楷体" panose="02010600040101010101" pitchFamily="2" charset="-122"/>
              </a:rPr>
              <a:t>x</a:t>
            </a:r>
            <a:r>
              <a:rPr lang="zh-CN" altLang="zh-CN" sz="1400" b="0" dirty="0">
                <a:latin typeface="华文楷体" panose="02010600040101010101" pitchFamily="2" charset="-122"/>
                <a:ea typeface="华文楷体" panose="02010600040101010101" pitchFamily="2" charset="-122"/>
              </a:rPr>
              <a:t>,fval,exitflag,output </a:t>
            </a:r>
            <a:r>
              <a:rPr lang="en-US" altLang="zh-CN" sz="1400" b="0" dirty="0">
                <a:highlight>
                  <a:srgbClr val="FF0000"/>
                </a:highlight>
                <a:latin typeface="Times New Roman" panose="02020603050405020304" pitchFamily="18" charset="0"/>
                <a:cs typeface="Times New Roman" panose="02020603050405020304" pitchFamily="18" charset="0"/>
              </a:rPr>
              <a:t>=</a:t>
            </a:r>
            <a:r>
              <a:rPr lang="en-US" altLang="ko-KR" sz="1400" b="0" dirty="0" err="1">
                <a:highlight>
                  <a:srgbClr val="FF0000"/>
                </a:highlight>
                <a:latin typeface="Times New Roman" panose="02020603050405020304" pitchFamily="18" charset="0"/>
                <a:cs typeface="Times New Roman" panose="02020603050405020304" pitchFamily="18" charset="0"/>
              </a:rPr>
              <a:t>fminbnd</a:t>
            </a:r>
            <a:r>
              <a:rPr lang="en-US" altLang="ko-KR" sz="1400" b="0" dirty="0">
                <a:highlight>
                  <a:srgbClr val="FF0000"/>
                </a:highlight>
                <a:latin typeface="Times New Roman" panose="02020603050405020304" pitchFamily="18" charset="0"/>
                <a:cs typeface="Times New Roman" panose="02020603050405020304" pitchFamily="18" charset="0"/>
              </a:rPr>
              <a:t>(fun,x1,x2</a:t>
            </a:r>
            <a:r>
              <a:rPr lang="en-US" altLang="ko-KR" sz="1400" b="0" dirty="0">
                <a:latin typeface="Times New Roman" panose="02020603050405020304" pitchFamily="18" charset="0"/>
                <a:cs typeface="Times New Roman" panose="02020603050405020304" pitchFamily="18" charset="0"/>
              </a:rPr>
              <a:t>)</a:t>
            </a:r>
            <a:endParaRPr lang="ko-KR" altLang="en-US" sz="14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1962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27">
                                            <p:txEl>
                                              <p:pRg st="1" end="1"/>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27">
                                            <p:txEl>
                                              <p:pRg st="2" end="2"/>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7">
                                            <p:txEl>
                                              <p:pRg st="3" end="3"/>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6" grpId="0" animBg="1"/>
      <p:bldP spid="18" grpId="0"/>
      <p:bldP spid="20" grpId="0"/>
      <p:bldP spid="23" grpId="0"/>
      <p:bldP spid="25" grpId="0"/>
      <p:bldP spid="21" grpId="0"/>
      <p:bldP spid="22" grpId="0"/>
      <p:bldP spid="24" grpId="0"/>
      <p:bldP spid="26" grpId="0"/>
      <p:bldP spid="29" grpId="0"/>
      <p:bldP spid="2" grpId="0" animBg="1"/>
      <p:bldP spid="30" grpId="0" animBg="1"/>
      <p:bldP spid="31" grpId="0"/>
      <p:bldP spid="32" grpId="0"/>
      <p:bldP spid="3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690D48E1-DD5E-4603-8B9A-94DEF53990B5}"/>
              </a:ext>
            </a:extLst>
          </p:cNvPr>
          <p:cNvPicPr>
            <a:picLocks noChangeAspect="1"/>
          </p:cNvPicPr>
          <p:nvPr/>
        </p:nvPicPr>
        <p:blipFill rotWithShape="1">
          <a:blip r:embed="rId3"/>
          <a:srcRect l="14563" t="26253" r="50000" b="17748"/>
          <a:stretch/>
        </p:blipFill>
        <p:spPr>
          <a:xfrm>
            <a:off x="639645" y="1709288"/>
            <a:ext cx="3240360" cy="2590654"/>
          </a:xfrm>
          <a:prstGeom prst="rect">
            <a:avLst/>
          </a:prstGeom>
        </p:spPr>
      </p:pic>
      <p:sp>
        <p:nvSpPr>
          <p:cNvPr id="6" name="内容占位符 2">
            <a:extLst>
              <a:ext uri="{FF2B5EF4-FFF2-40B4-BE49-F238E27FC236}">
                <a16:creationId xmlns:a16="http://schemas.microsoft.com/office/drawing/2014/main" id="{6882A71D-28C7-468C-BF62-E6209449CD35}"/>
              </a:ext>
            </a:extLst>
          </p:cNvPr>
          <p:cNvSpPr txBox="1">
            <a:spLocks/>
          </p:cNvSpPr>
          <p:nvPr/>
        </p:nvSpPr>
        <p:spPr bwMode="auto">
          <a:xfrm>
            <a:off x="380348" y="1461380"/>
            <a:ext cx="8575969" cy="369332"/>
          </a:xfrm>
          <a:prstGeom prst="rect">
            <a:avLst/>
          </a:prstGeom>
          <a:noFill/>
          <a:ln>
            <a:solidFill>
              <a:schemeClr val="bg1"/>
            </a:solidFill>
          </a:ln>
        </p:spPr>
        <p:txBody>
          <a:bodyPr wrap="square" rtlCol="0" anchor="t">
            <a:spAutoFit/>
          </a:bodyPr>
          <a:lstStyle>
            <a:defPPr>
              <a:defRPr lang="zh-CN"/>
            </a:defPPr>
            <a:lvl1pPr algn="dist">
              <a:defRPr sz="1800" b="1" i="0">
                <a:solidFill>
                  <a:srgbClr val="00B0F0"/>
                </a:solidFill>
                <a:effectLst/>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r>
              <a:rPr lang="zh-CN" altLang="zh-CN" dirty="0"/>
              <a:t>采用</a:t>
            </a:r>
            <a:r>
              <a:rPr lang="en-US" altLang="zh-CN" dirty="0" err="1"/>
              <a:t>fminbnd</a:t>
            </a:r>
            <a:r>
              <a:rPr lang="zh-CN" altLang="zh-CN" dirty="0"/>
              <a:t>求</a:t>
            </a:r>
            <a:r>
              <a:rPr lang="zh-CN" altLang="en-US" dirty="0">
                <a:cs typeface="Times New Roman" panose="02020603050405020304" pitchFamily="18" charset="0"/>
              </a:rPr>
              <a:t>浓度</a:t>
            </a:r>
            <a:r>
              <a:rPr lang="en-US" altLang="zh-CN" dirty="0">
                <a:cs typeface="Times New Roman" panose="02020603050405020304" pitchFamily="18" charset="0"/>
              </a:rPr>
              <a:t>c</a:t>
            </a:r>
            <a:r>
              <a:rPr lang="zh-CN" altLang="en-US" dirty="0">
                <a:cs typeface="Times New Roman" panose="02020603050405020304" pitchFamily="18" charset="0"/>
              </a:rPr>
              <a:t>多大时，生长速率</a:t>
            </a:r>
            <a:r>
              <a:rPr lang="en-US" altLang="zh-CN" dirty="0">
                <a:cs typeface="Times New Roman" panose="02020603050405020304" pitchFamily="18" charset="0"/>
              </a:rPr>
              <a:t>g</a:t>
            </a:r>
            <a:r>
              <a:rPr lang="zh-CN" altLang="en-US" dirty="0">
                <a:cs typeface="Times New Roman" panose="02020603050405020304" pitchFamily="18" charset="0"/>
              </a:rPr>
              <a:t>最大，最大值多少？</a:t>
            </a:r>
            <a:endParaRPr lang="en-US" altLang="zh-CN" dirty="0"/>
          </a:p>
        </p:txBody>
      </p:sp>
      <p:sp>
        <p:nvSpPr>
          <p:cNvPr id="8" name="文本框 7">
            <a:extLst>
              <a:ext uri="{FF2B5EF4-FFF2-40B4-BE49-F238E27FC236}">
                <a16:creationId xmlns:a16="http://schemas.microsoft.com/office/drawing/2014/main" id="{96570C66-27E2-471A-818C-CE91CBAC16D9}"/>
              </a:ext>
            </a:extLst>
          </p:cNvPr>
          <p:cNvSpPr txBox="1"/>
          <p:nvPr/>
        </p:nvSpPr>
        <p:spPr>
          <a:xfrm>
            <a:off x="755576" y="-35637"/>
            <a:ext cx="8280920" cy="677108"/>
          </a:xfrm>
          <a:prstGeom prst="rect">
            <a:avLst/>
          </a:prstGeom>
          <a:noFill/>
        </p:spPr>
        <p:txBody>
          <a:bodyPr wrap="square">
            <a:spAutoFit/>
          </a:bodyPr>
          <a:lstStyle>
            <a:defPPr>
              <a:defRPr lang="zh-CN"/>
            </a:defPPr>
            <a:lvl1pPr>
              <a:lnSpc>
                <a:spcPct val="150000"/>
              </a:lnSpc>
              <a:defRPr sz="3200">
                <a:solidFill>
                  <a:srgbClr val="002060"/>
                </a:solidFill>
                <a:latin typeface="华文楷体" panose="02010600040101010101" pitchFamily="2" charset="-122"/>
                <a:ea typeface="华文楷体" panose="02010600040101010101" pitchFamily="2" charset="-122"/>
              </a:defRPr>
            </a:lvl1pPr>
          </a:lstStyle>
          <a:p>
            <a:r>
              <a:rPr lang="en-US" altLang="zh-CN" sz="2800" b="0" dirty="0">
                <a:solidFill>
                  <a:srgbClr val="002060"/>
                </a:solidFill>
                <a:latin typeface="华文楷体" panose="02010600040101010101" pitchFamily="2" charset="-122"/>
                <a:ea typeface="华文楷体" panose="02010600040101010101" pitchFamily="2" charset="-122"/>
              </a:rPr>
              <a:t> §8.4.1</a:t>
            </a:r>
            <a:r>
              <a:rPr lang="zh-CN" altLang="en-US" sz="2800" dirty="0"/>
              <a:t>一元</a:t>
            </a:r>
            <a:r>
              <a:rPr lang="zh-CN" altLang="en-US" sz="2800" dirty="0">
                <a:latin typeface="华文楷体" panose="02010600040101010101" pitchFamily="2" charset="-122"/>
                <a:ea typeface="华文楷体" panose="02010600040101010101" pitchFamily="2" charset="-122"/>
              </a:rPr>
              <a:t>函数最</a:t>
            </a:r>
            <a:r>
              <a:rPr lang="en-US" altLang="ko-KR" sz="2800" dirty="0" err="1">
                <a:latin typeface="华文楷体" panose="02010600040101010101" pitchFamily="2" charset="-122"/>
                <a:ea typeface="华文楷体" panose="02010600040101010101" pitchFamily="2" charset="-122"/>
              </a:rPr>
              <a:t>小值</a:t>
            </a:r>
            <a:r>
              <a:rPr lang="en-US" altLang="zh-CN" sz="2800" b="1" kern="0" dirty="0" err="1">
                <a:solidFill>
                  <a:srgbClr val="FF0000"/>
                </a:solidFill>
              </a:rPr>
              <a:t>fminbnd</a:t>
            </a:r>
            <a:r>
              <a:rPr lang="zh-CN" altLang="en-US" sz="2800" dirty="0">
                <a:latin typeface="华文楷体" panose="02010600040101010101" pitchFamily="2" charset="-122"/>
                <a:ea typeface="华文楷体" panose="02010600040101010101" pitchFamily="2" charset="-122"/>
              </a:rPr>
              <a:t> </a:t>
            </a:r>
            <a:r>
              <a:rPr lang="en-US" altLang="zh-CN" sz="2800" kern="0" dirty="0">
                <a:solidFill>
                  <a:srgbClr val="FF0000"/>
                </a:solidFill>
              </a:rPr>
              <a:t>——</a:t>
            </a:r>
            <a:r>
              <a:rPr lang="zh-CN" altLang="en-US" sz="2800" kern="0" dirty="0">
                <a:solidFill>
                  <a:srgbClr val="FF0000"/>
                </a:solidFill>
              </a:rPr>
              <a:t>求最大值案例</a:t>
            </a:r>
            <a:endParaRPr lang="zh-CN" altLang="en-US" sz="2800" dirty="0"/>
          </a:p>
        </p:txBody>
      </p:sp>
      <p:sp>
        <p:nvSpPr>
          <p:cNvPr id="9" name="Rectangle 2">
            <a:extLst>
              <a:ext uri="{FF2B5EF4-FFF2-40B4-BE49-F238E27FC236}">
                <a16:creationId xmlns:a16="http://schemas.microsoft.com/office/drawing/2014/main" id="{59787FF5-FD46-4032-8F64-4B080A01A5D1}"/>
              </a:ext>
            </a:extLst>
          </p:cNvPr>
          <p:cNvSpPr txBox="1"/>
          <p:nvPr/>
        </p:nvSpPr>
        <p:spPr bwMode="auto">
          <a:xfrm>
            <a:off x="3957460" y="1828748"/>
            <a:ext cx="4752528" cy="2351734"/>
          </a:xfrm>
          <a:prstGeom prst="rect">
            <a:avLst/>
          </a:prstGeom>
          <a:noFill/>
          <a:scene3d>
            <a:camera prst="orthographicFront"/>
            <a:lightRig rig="threePt" dir="t"/>
          </a:scene3d>
          <a:sp3d>
            <a:bevelT prst="angle"/>
          </a:sp3d>
        </p:spPr>
        <p:txBody>
          <a:bodyPr vert="horz" wrap="square" lIns="91440" tIns="45720" rIns="91440" bIns="45720" numCol="1" anchor="t">
            <a:spAutoFit/>
          </a:bodyPr>
          <a:lstStyle>
            <a:defPPr>
              <a:defRPr lang="zh-CN"/>
            </a:defPPr>
            <a:lvl1pPr eaLnBrk="0">
              <a:spcBef>
                <a:spcPts val="800"/>
              </a:spcBef>
              <a:spcAft>
                <a:spcPts val="0"/>
              </a:spcAft>
              <a:buClr>
                <a:schemeClr val="bg1"/>
              </a:buClr>
              <a:buFont typeface="+mj-ea"/>
              <a:buNone/>
              <a:defRPr sz="2400">
                <a:solidFill>
                  <a:srgbClr val="002060"/>
                </a:solidFill>
                <a:latin typeface="Times New Roman" panose="02020603050405020304" pitchFamily="18" charset="0"/>
                <a:ea typeface="隶书" panose="02010509060101010101" pitchFamily="49" charset="-122"/>
                <a:cs typeface="Times New Roman" panose="02020603050405020304" pitchFamily="18" charset="0"/>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a:defRPr>
                <a:solidFill>
                  <a:schemeClr val="tx1"/>
                </a:solidFill>
                <a:latin typeface="Arial" panose="020B0604020202020204" pitchFamily="34" charset="0"/>
                <a:ea typeface="宋体" panose="02010600030101010101" pitchFamily="2" charset="-122"/>
              </a:defRPr>
            </a:lvl6pPr>
            <a:lvl7pPr>
              <a:defRPr>
                <a:solidFill>
                  <a:schemeClr val="tx1"/>
                </a:solidFill>
                <a:latin typeface="Arial" panose="020B0604020202020204" pitchFamily="34" charset="0"/>
                <a:ea typeface="宋体" panose="02010600030101010101" pitchFamily="2" charset="-122"/>
              </a:defRPr>
            </a:lvl7pPr>
            <a:lvl8pPr>
              <a:defRPr>
                <a:solidFill>
                  <a:schemeClr val="tx1"/>
                </a:solidFill>
                <a:latin typeface="Arial" panose="020B0604020202020204" pitchFamily="34" charset="0"/>
                <a:ea typeface="宋体" panose="02010600030101010101" pitchFamily="2" charset="-122"/>
              </a:defRPr>
            </a:lvl8pPr>
            <a:lvl9pPr>
              <a:defRPr>
                <a:solidFill>
                  <a:schemeClr val="tx1"/>
                </a:solidFill>
                <a:latin typeface="Arial" panose="020B0604020202020204" pitchFamily="34" charset="0"/>
                <a:ea typeface="宋体" panose="02010600030101010101" pitchFamily="2" charset="-122"/>
              </a:defRPr>
            </a:lvl9pPr>
          </a:lstStyle>
          <a:p>
            <a:pPr marL="457200" indent="-457200">
              <a:lnSpc>
                <a:spcPts val="3400"/>
              </a:lnSpc>
              <a:buClr>
                <a:srgbClr val="002060"/>
              </a:buClr>
              <a:buFont typeface="Wingdings" panose="05000000000000000000" pitchFamily="2" charset="2"/>
              <a:buChar char="Ø"/>
            </a:pPr>
            <a:r>
              <a:rPr lang="en-US" altLang="zh-CN" dirty="0">
                <a:latin typeface="华文楷体" panose="02010600040101010101" pitchFamily="2" charset="-122"/>
                <a:ea typeface="华文楷体" panose="02010600040101010101" pitchFamily="2" charset="-122"/>
              </a:rPr>
              <a:t>syslab</a:t>
            </a:r>
            <a:r>
              <a:rPr lang="zh-CN" altLang="en-US" dirty="0">
                <a:latin typeface="华文楷体" panose="02010600040101010101" pitchFamily="2" charset="-122"/>
                <a:ea typeface="华文楷体" panose="02010600040101010101" pitchFamily="2" charset="-122"/>
              </a:rPr>
              <a:t>只提供了求函数最小值的函数命令</a:t>
            </a:r>
            <a:r>
              <a:rPr lang="en-US" altLang="zh-CN" dirty="0" err="1">
                <a:latin typeface="华文楷体" panose="02010600040101010101" pitchFamily="2" charset="-122"/>
                <a:ea typeface="华文楷体" panose="02010600040101010101" pitchFamily="2" charset="-122"/>
              </a:rPr>
              <a:t>fminbnd</a:t>
            </a:r>
            <a:endParaRPr lang="en-US" altLang="zh-CN" dirty="0">
              <a:latin typeface="华文楷体" panose="02010600040101010101" pitchFamily="2" charset="-122"/>
              <a:ea typeface="华文楷体" panose="02010600040101010101" pitchFamily="2" charset="-122"/>
            </a:endParaRPr>
          </a:p>
          <a:p>
            <a:pPr marL="457200" indent="-457200">
              <a:lnSpc>
                <a:spcPts val="3400"/>
              </a:lnSpc>
              <a:buClr>
                <a:srgbClr val="002060"/>
              </a:buClr>
              <a:buFont typeface="Wingdings" panose="05000000000000000000" pitchFamily="2" charset="2"/>
              <a:buChar char="Ø"/>
            </a:pPr>
            <a:r>
              <a:rPr lang="zh-CN" altLang="en-US" dirty="0">
                <a:latin typeface="华文楷体" panose="02010600040101010101" pitchFamily="2" charset="-122"/>
                <a:ea typeface="华文楷体" panose="02010600040101010101" pitchFamily="2" charset="-122"/>
              </a:rPr>
              <a:t>求函数</a:t>
            </a:r>
            <a:r>
              <a:rPr lang="en-US" altLang="zh-CN" dirty="0">
                <a:latin typeface="华文楷体" panose="02010600040101010101" pitchFamily="2" charset="-122"/>
                <a:ea typeface="华文楷体" panose="02010600040101010101" pitchFamily="2" charset="-122"/>
              </a:rPr>
              <a:t>f(x)</a:t>
            </a:r>
            <a:r>
              <a:rPr lang="zh-CN" altLang="en-US" dirty="0">
                <a:latin typeface="华文楷体" panose="02010600040101010101" pitchFamily="2" charset="-122"/>
                <a:ea typeface="华文楷体" panose="02010600040101010101" pitchFamily="2" charset="-122"/>
              </a:rPr>
              <a:t>最大值时</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对函数</a:t>
            </a:r>
            <a:r>
              <a:rPr lang="en-US" altLang="zh-CN" i="1" dirty="0">
                <a:latin typeface="华文楷体" panose="02010600040101010101" pitchFamily="2" charset="-122"/>
                <a:ea typeface="华文楷体" panose="02010600040101010101" pitchFamily="2" charset="-122"/>
              </a:rPr>
              <a:t>f</a:t>
            </a:r>
            <a:r>
              <a:rPr lang="en-US" altLang="zh-CN" dirty="0">
                <a:latin typeface="华文楷体" panose="02010600040101010101" pitchFamily="2" charset="-122"/>
                <a:ea typeface="华文楷体" panose="02010600040101010101" pitchFamily="2" charset="-122"/>
              </a:rPr>
              <a:t>(x)</a:t>
            </a:r>
            <a:r>
              <a:rPr lang="zh-CN" altLang="en-US" dirty="0">
                <a:latin typeface="华文楷体" panose="02010600040101010101" pitchFamily="2" charset="-122"/>
                <a:ea typeface="华文楷体" panose="02010600040101010101" pitchFamily="2" charset="-122"/>
              </a:rPr>
              <a:t>取负值，可求</a:t>
            </a:r>
            <a:r>
              <a:rPr lang="en-US" altLang="zh-CN" dirty="0">
                <a:latin typeface="华文楷体" panose="02010600040101010101" pitchFamily="2" charset="-122"/>
                <a:ea typeface="华文楷体" panose="02010600040101010101" pitchFamily="2" charset="-122"/>
              </a:rPr>
              <a:t>-f(x)</a:t>
            </a:r>
            <a:r>
              <a:rPr lang="zh-CN" altLang="en-US" dirty="0">
                <a:latin typeface="华文楷体" panose="02010600040101010101" pitchFamily="2" charset="-122"/>
                <a:ea typeface="华文楷体" panose="02010600040101010101" pitchFamily="2" charset="-122"/>
              </a:rPr>
              <a:t>的最小值，从而求出其最大值</a:t>
            </a:r>
            <a:endParaRPr lang="en-US" altLang="ko-KR" dirty="0">
              <a:latin typeface="华文楷体" panose="02010600040101010101" pitchFamily="2" charset="-122"/>
              <a:ea typeface="华文楷体" panose="02010600040101010101" pitchFamily="2" charset="-122"/>
            </a:endParaRPr>
          </a:p>
        </p:txBody>
      </p:sp>
      <p:sp>
        <p:nvSpPr>
          <p:cNvPr id="11" name="波形 10">
            <a:extLst>
              <a:ext uri="{FF2B5EF4-FFF2-40B4-BE49-F238E27FC236}">
                <a16:creationId xmlns:a16="http://schemas.microsoft.com/office/drawing/2014/main" id="{AA201D1C-66AF-4262-B14E-B433B778145A}"/>
              </a:ext>
            </a:extLst>
          </p:cNvPr>
          <p:cNvSpPr/>
          <p:nvPr/>
        </p:nvSpPr>
        <p:spPr>
          <a:xfrm>
            <a:off x="165448" y="4222135"/>
            <a:ext cx="924009" cy="433305"/>
          </a:xfrm>
          <a:prstGeom prst="wave">
            <a:avLst>
              <a:gd name="adj1" fmla="val 14183"/>
              <a:gd name="adj2" fmla="val 0"/>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r>
              <a:rPr lang="zh-CN" altLang="en-US" sz="1400" dirty="0">
                <a:solidFill>
                  <a:srgbClr val="FFFF00"/>
                </a:solidFill>
                <a:latin typeface="隶书" panose="02010509060101010101" pitchFamily="49" charset="-122"/>
                <a:ea typeface="隶书" panose="02010509060101010101" pitchFamily="49" charset="-122"/>
              </a:rPr>
              <a:t>课堂练习</a:t>
            </a:r>
            <a:endParaRPr lang="en-US" altLang="zh-CN" sz="1400" dirty="0">
              <a:solidFill>
                <a:srgbClr val="FFFF00"/>
              </a:solidFill>
              <a:latin typeface="隶书" panose="02010509060101010101" pitchFamily="49" charset="-122"/>
              <a:ea typeface="隶书" panose="02010509060101010101" pitchFamily="49" charset="-122"/>
            </a:endParaRPr>
          </a:p>
        </p:txBody>
      </p:sp>
      <p:sp>
        <p:nvSpPr>
          <p:cNvPr id="12" name="文本框 11">
            <a:extLst>
              <a:ext uri="{FF2B5EF4-FFF2-40B4-BE49-F238E27FC236}">
                <a16:creationId xmlns:a16="http://schemas.microsoft.com/office/drawing/2014/main" id="{718B75C3-2DE0-4870-94FC-9C141DE28F9A}"/>
              </a:ext>
            </a:extLst>
          </p:cNvPr>
          <p:cNvSpPr txBox="1"/>
          <p:nvPr/>
        </p:nvSpPr>
        <p:spPr>
          <a:xfrm>
            <a:off x="1100497" y="4279777"/>
            <a:ext cx="8043503" cy="323165"/>
          </a:xfrm>
          <a:prstGeom prst="rect">
            <a:avLst/>
          </a:prstGeom>
          <a:noFill/>
          <a:ln>
            <a:solidFill>
              <a:schemeClr val="bg1"/>
            </a:solidFill>
          </a:ln>
        </p:spPr>
        <p:txBody>
          <a:bodyPr wrap="square" rtlCol="0" anchor="t">
            <a:spAutoFit/>
          </a:bodyPr>
          <a:lstStyle>
            <a:defPPr>
              <a:defRPr lang="zh-CN"/>
            </a:defPPr>
            <a:lvl1pPr algn="dist">
              <a:defRPr sz="1800" b="1" i="0">
                <a:solidFill>
                  <a:srgbClr val="00B0F0"/>
                </a:solidFill>
                <a:effectLst/>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pPr algn="l"/>
            <a:r>
              <a:rPr lang="zh-CN" altLang="en-US" sz="1500" dirty="0">
                <a:solidFill>
                  <a:srgbClr val="0070C0"/>
                </a:solidFill>
              </a:rPr>
              <a:t>用</a:t>
            </a:r>
            <a:r>
              <a:rPr lang="zh-CN" altLang="zh-CN" sz="1500" dirty="0">
                <a:solidFill>
                  <a:srgbClr val="0070C0"/>
                </a:solidFill>
              </a:rPr>
              <a:t>x,fval</a:t>
            </a:r>
            <a:r>
              <a:rPr lang="en-US" altLang="zh-CN" sz="1500" dirty="0">
                <a:solidFill>
                  <a:srgbClr val="0070C0"/>
                </a:solidFill>
              </a:rPr>
              <a:t>=</a:t>
            </a:r>
            <a:r>
              <a:rPr lang="en-US" altLang="ko-KR" sz="1500" dirty="0" err="1">
                <a:solidFill>
                  <a:srgbClr val="0070C0"/>
                </a:solidFill>
              </a:rPr>
              <a:t>fminbnd</a:t>
            </a:r>
            <a:r>
              <a:rPr lang="en-US" altLang="ko-KR" sz="1500" dirty="0">
                <a:solidFill>
                  <a:srgbClr val="0070C0"/>
                </a:solidFill>
              </a:rPr>
              <a:t>(fun,</a:t>
            </a:r>
            <a:r>
              <a:rPr lang="en-US" altLang="zh-CN" sz="1500" dirty="0">
                <a:solidFill>
                  <a:srgbClr val="0070C0"/>
                </a:solidFill>
              </a:rPr>
              <a:t>c</a:t>
            </a:r>
            <a:r>
              <a:rPr lang="en-US" altLang="ko-KR" sz="1500" dirty="0">
                <a:solidFill>
                  <a:srgbClr val="0070C0"/>
                </a:solidFill>
              </a:rPr>
              <a:t>1,</a:t>
            </a:r>
            <a:r>
              <a:rPr lang="en-US" altLang="zh-CN" sz="1500" dirty="0">
                <a:solidFill>
                  <a:srgbClr val="0070C0"/>
                </a:solidFill>
              </a:rPr>
              <a:t>c</a:t>
            </a:r>
            <a:r>
              <a:rPr lang="en-US" altLang="ko-KR" sz="1500" dirty="0">
                <a:solidFill>
                  <a:srgbClr val="0070C0"/>
                </a:solidFill>
              </a:rPr>
              <a:t>2)</a:t>
            </a:r>
            <a:r>
              <a:rPr lang="zh-CN" altLang="en-US" sz="1500" dirty="0">
                <a:solidFill>
                  <a:srgbClr val="0070C0"/>
                </a:solidFill>
              </a:rPr>
              <a:t> 任意</a:t>
            </a:r>
            <a:r>
              <a:rPr lang="en-US" altLang="zh-CN" sz="1500" dirty="0">
                <a:solidFill>
                  <a:srgbClr val="0070C0"/>
                </a:solidFill>
              </a:rPr>
              <a:t>c1,c2</a:t>
            </a:r>
            <a:r>
              <a:rPr lang="zh-CN" altLang="en-US" sz="1500" dirty="0">
                <a:solidFill>
                  <a:srgbClr val="0070C0"/>
                </a:solidFill>
              </a:rPr>
              <a:t>求</a:t>
            </a:r>
            <a:r>
              <a:rPr lang="en-US" altLang="zh-CN" sz="1500" dirty="0">
                <a:solidFill>
                  <a:srgbClr val="0070C0"/>
                </a:solidFill>
              </a:rPr>
              <a:t>g=2</a:t>
            </a:r>
            <a:r>
              <a:rPr lang="zh-CN" altLang="en-US" sz="1500" dirty="0">
                <a:solidFill>
                  <a:srgbClr val="0070C0"/>
                </a:solidFill>
              </a:rPr>
              <a:t>*</a:t>
            </a:r>
            <a:r>
              <a:rPr lang="en-US" altLang="zh-CN" sz="1500" dirty="0">
                <a:solidFill>
                  <a:srgbClr val="0070C0"/>
                </a:solidFill>
              </a:rPr>
              <a:t>c/(4+0.8</a:t>
            </a:r>
            <a:r>
              <a:rPr lang="zh-CN" altLang="en-US" sz="1500" dirty="0">
                <a:solidFill>
                  <a:srgbClr val="0070C0"/>
                </a:solidFill>
              </a:rPr>
              <a:t>*</a:t>
            </a:r>
            <a:r>
              <a:rPr lang="en-US" altLang="zh-CN" sz="1500" dirty="0">
                <a:solidFill>
                  <a:srgbClr val="0070C0"/>
                </a:solidFill>
              </a:rPr>
              <a:t>c+c^2+0.2</a:t>
            </a:r>
            <a:r>
              <a:rPr lang="zh-CN" altLang="en-US" sz="1500" dirty="0">
                <a:solidFill>
                  <a:srgbClr val="0070C0"/>
                </a:solidFill>
              </a:rPr>
              <a:t>*</a:t>
            </a:r>
            <a:r>
              <a:rPr lang="en-US" altLang="zh-CN" sz="1500" dirty="0">
                <a:solidFill>
                  <a:srgbClr val="0070C0"/>
                </a:solidFill>
              </a:rPr>
              <a:t>c^3)</a:t>
            </a:r>
            <a:r>
              <a:rPr lang="zh-CN" altLang="en-US" sz="1500" dirty="0">
                <a:solidFill>
                  <a:srgbClr val="0070C0"/>
                </a:solidFill>
              </a:rPr>
              <a:t>最大时浓度</a:t>
            </a:r>
          </a:p>
        </p:txBody>
      </p:sp>
      <p:sp>
        <p:nvSpPr>
          <p:cNvPr id="16" name="矩形 15">
            <a:extLst>
              <a:ext uri="{FF2B5EF4-FFF2-40B4-BE49-F238E27FC236}">
                <a16:creationId xmlns:a16="http://schemas.microsoft.com/office/drawing/2014/main" id="{2B9A6935-8AEE-4758-8234-9E49D1378788}"/>
              </a:ext>
            </a:extLst>
          </p:cNvPr>
          <p:cNvSpPr/>
          <p:nvPr/>
        </p:nvSpPr>
        <p:spPr>
          <a:xfrm>
            <a:off x="380348" y="643065"/>
            <a:ext cx="8536987" cy="792012"/>
          </a:xfrm>
          <a:prstGeom prst="rect">
            <a:avLst/>
          </a:prstGeom>
          <a:noFill/>
        </p:spPr>
        <p:txBody>
          <a:bodyPr vert="horz" wrap="square" lIns="91440" tIns="45720" rIns="91440" bIns="45720" anchor="t">
            <a:spAutoFit/>
          </a:bodyPr>
          <a:lstStyle/>
          <a:p>
            <a:pPr marL="0" indent="0" algn="l" defTabSz="914400" eaLnBrk="0" fontAlgn="base" latinLnBrk="0">
              <a:lnSpc>
                <a:spcPts val="2900"/>
              </a:lnSpc>
              <a:spcBef>
                <a:spcPts val="0"/>
              </a:spcBef>
              <a:spcAft>
                <a:spcPts val="0"/>
              </a:spcAft>
              <a:buFontTx/>
              <a:buNone/>
            </a:pPr>
            <a:r>
              <a:rPr lang="zh-CN" altLang="en-US" sz="2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r>
              <a:rPr lang="zh-CN" altLang="en-US" sz="16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用于生产抗生素的酵母生长速率</a:t>
            </a:r>
            <a:r>
              <a:rPr lang="en-US" altLang="zh-CN" sz="16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sz="16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为食物浓度</a:t>
            </a:r>
            <a:r>
              <a:rPr lang="en-US" altLang="zh-CN" sz="16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c</a:t>
            </a:r>
            <a:r>
              <a:rPr lang="zh-CN" altLang="en-US" sz="16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的函数</a:t>
            </a:r>
            <a:r>
              <a:rPr lang="en-US" altLang="ko-KR" sz="1600" cap="none"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6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浓度过高过低，生长速率趋于零，</a:t>
            </a:r>
            <a:endParaRPr lang="ko-KR" altLang="en-US" sz="1600" dirty="0">
              <a:solidFill>
                <a:srgbClr val="002060"/>
              </a:solidFill>
              <a:latin typeface="微软雅黑" panose="020B0503020204020204" pitchFamily="34" charset="-122"/>
              <a:ea typeface="隶书" panose="02010509060101010101" pitchFamily="49" charset="-122"/>
              <a:cs typeface="Times New Roman" panose="02020603050405020304" pitchFamily="18" charset="0"/>
            </a:endParaRPr>
          </a:p>
        </p:txBody>
      </p:sp>
      <p:sp>
        <p:nvSpPr>
          <p:cNvPr id="17" name="波形 16">
            <a:extLst>
              <a:ext uri="{FF2B5EF4-FFF2-40B4-BE49-F238E27FC236}">
                <a16:creationId xmlns:a16="http://schemas.microsoft.com/office/drawing/2014/main" id="{C8A79CEA-068B-433B-A9E1-EA2F37C0F1AE}"/>
              </a:ext>
            </a:extLst>
          </p:cNvPr>
          <p:cNvSpPr/>
          <p:nvPr/>
        </p:nvSpPr>
        <p:spPr>
          <a:xfrm>
            <a:off x="261187" y="704712"/>
            <a:ext cx="1249958" cy="36933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just" eaLnBrk="0" fontAlgn="auto">
              <a:lnSpc>
                <a:spcPct val="140000"/>
              </a:lnSpc>
              <a:spcBef>
                <a:spcPts val="0"/>
              </a:spcBef>
              <a:spcAft>
                <a:spcPts val="0"/>
              </a:spcAft>
            </a:pPr>
            <a:r>
              <a:rPr lang="en-US" altLang="ko-KR" b="1" dirty="0">
                <a:solidFill>
                  <a:srgbClr val="FFFF00"/>
                </a:solidFill>
                <a:latin typeface="微软雅黑" panose="020B0503020204020204" charset="-122"/>
                <a:ea typeface="微软雅黑" panose="020B0503020204020204" charset="-122"/>
              </a:rPr>
              <a:t>  例84-2</a:t>
            </a:r>
            <a:endParaRPr lang="ko-KR" altLang="en-US" b="1" dirty="0">
              <a:solidFill>
                <a:srgbClr val="FFFF00"/>
              </a:solidFill>
              <a:latin typeface="微软雅黑" panose="020B0503020204020204" charset="-122"/>
              <a:ea typeface="微软雅黑" panose="020B0503020204020204" charset="-122"/>
            </a:endParaRPr>
          </a:p>
        </p:txBody>
      </p:sp>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9442114C-7896-41D9-9034-9B335514610D}"/>
                  </a:ext>
                </a:extLst>
              </p:cNvPr>
              <p:cNvSpPr/>
              <p:nvPr/>
            </p:nvSpPr>
            <p:spPr>
              <a:xfrm>
                <a:off x="6804248" y="679542"/>
                <a:ext cx="2469265" cy="589970"/>
              </a:xfrm>
              <a:prstGeom prst="rect">
                <a:avLst/>
              </a:prstGeom>
              <a:noFill/>
              <a:ln>
                <a:noFill/>
              </a:ln>
              <a:effectLst/>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14:m>
                  <m:oMath xmlns:m="http://schemas.openxmlformats.org/officeDocument/2006/math">
                    <m:r>
                      <m:rPr>
                        <m:sty m:val="p"/>
                      </m:rPr>
                      <a:rPr lang="en-US" altLang="zh-CN" sz="2400" b="0" kern="0" dirty="0" smtClean="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t>g</m:t>
                    </m:r>
                  </m:oMath>
                </a14:m>
                <a:r>
                  <a:rPr lang="en-US" altLang="ko-KR" sz="2400" kern="0" dirty="0">
                    <a:solidFill>
                      <a:srgbClr val="FF0000"/>
                    </a:solidFill>
                    <a:effectLst/>
                    <a:latin typeface="Times New Roman" panose="02020603050405020304" pitchFamily="18" charset="0"/>
                    <a:ea typeface="隶书" panose="02010509060101010101" pitchFamily="49" charset="-122"/>
                    <a:cs typeface="Times New Roman" panose="02020603050405020304" pitchFamily="18" charset="0"/>
                  </a:rPr>
                  <a:t>=</a:t>
                </a:r>
                <a14:m>
                  <m:oMath xmlns:m="http://schemas.openxmlformats.org/officeDocument/2006/math">
                    <m:f>
                      <m:fPr>
                        <m:ctrlPr>
                          <a:rPr lang="en-US" altLang="ko-KR" sz="2400" i="1"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ctrlPr>
                      </m:fPr>
                      <m:num>
                        <m:r>
                          <a:rPr lang="en-US" altLang="ko-KR" sz="2400" b="0"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t>2</m:t>
                        </m:r>
                        <m:r>
                          <m:rPr>
                            <m:sty m:val="p"/>
                          </m:rPr>
                          <a:rPr lang="en-US" altLang="ko-KR" sz="2400" b="0" i="1"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t>c</m:t>
                        </m:r>
                      </m:num>
                      <m:den>
                        <m:r>
                          <a:rPr lang="en-US" altLang="ko-KR" sz="2400" b="0"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t>4+0.8</m:t>
                        </m:r>
                        <m:r>
                          <m:rPr>
                            <m:sty m:val="p"/>
                          </m:rPr>
                          <a:rPr lang="en-US" altLang="ko-KR" sz="2400" b="0" i="1"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t>c</m:t>
                        </m:r>
                        <m:r>
                          <a:rPr lang="en-US" altLang="ko-KR" sz="2400" b="0"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t>+</m:t>
                        </m:r>
                        <m:sSup>
                          <m:sSupPr>
                            <m:ctrlPr>
                              <a:rPr lang="en-US" altLang="ko-KR" sz="2400" i="1"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ctrlPr>
                          </m:sSupPr>
                          <m:e>
                            <m:r>
                              <m:rPr>
                                <m:sty m:val="p"/>
                              </m:rPr>
                              <a:rPr lang="en-US" altLang="ko-KR" sz="2400" b="0" i="1"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t>c</m:t>
                            </m:r>
                          </m:e>
                          <m:sup>
                            <m:r>
                              <a:rPr lang="en-US" altLang="ko-KR" sz="2400" b="0"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t>2</m:t>
                            </m:r>
                          </m:sup>
                        </m:sSup>
                        <m:r>
                          <a:rPr lang="en-US" altLang="ko-KR" sz="2400" b="0"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t>+0.2</m:t>
                        </m:r>
                        <m:sSup>
                          <m:sSupPr>
                            <m:ctrlPr>
                              <a:rPr lang="en-US" altLang="ko-KR" sz="2400" i="1"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ctrlPr>
                          </m:sSupPr>
                          <m:e>
                            <m:r>
                              <m:rPr>
                                <m:sty m:val="p"/>
                              </m:rPr>
                              <a:rPr lang="en-US" altLang="ko-KR" sz="2400" b="0" i="1"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t>c</m:t>
                            </m:r>
                          </m:e>
                          <m:sup>
                            <m:r>
                              <a:rPr lang="en-US" altLang="ko-KR" sz="2400" b="0"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t>3</m:t>
                            </m:r>
                          </m:sup>
                        </m:sSup>
                      </m:den>
                    </m:f>
                  </m:oMath>
                </a14:m>
                <a:endParaRPr lang="zh-CN" altLang="en-US" sz="2400" kern="0" dirty="0">
                  <a:solidFill>
                    <a:srgbClr val="FF0000"/>
                  </a:solidFill>
                  <a:effectLst/>
                  <a:latin typeface="Times New Roman" panose="02020603050405020304" pitchFamily="18" charset="0"/>
                  <a:ea typeface="隶书" panose="02010509060101010101" pitchFamily="49" charset="-122"/>
                  <a:cs typeface="Times New Roman" panose="02020603050405020304" pitchFamily="18" charset="0"/>
                </a:endParaRPr>
              </a:p>
            </p:txBody>
          </p:sp>
        </mc:Choice>
        <mc:Fallback xmlns="">
          <p:sp>
            <p:nvSpPr>
              <p:cNvPr id="18" name="矩形 17">
                <a:extLst>
                  <a:ext uri="{FF2B5EF4-FFF2-40B4-BE49-F238E27FC236}">
                    <a16:creationId xmlns:a16="http://schemas.microsoft.com/office/drawing/2014/main" id="{9442114C-7896-41D9-9034-9B335514610D}"/>
                  </a:ext>
                </a:extLst>
              </p:cNvPr>
              <p:cNvSpPr>
                <a:spLocks noRot="1" noChangeAspect="1" noMove="1" noResize="1" noEditPoints="1" noAdjustHandles="1" noChangeArrowheads="1" noChangeShapeType="1" noTextEdit="1"/>
              </p:cNvSpPr>
              <p:nvPr/>
            </p:nvSpPr>
            <p:spPr>
              <a:xfrm>
                <a:off x="6804248" y="679542"/>
                <a:ext cx="2469265" cy="589970"/>
              </a:xfrm>
              <a:prstGeom prst="rect">
                <a:avLst/>
              </a:prstGeom>
              <a:blipFill>
                <a:blip r:embed="rId4"/>
                <a:stretch>
                  <a:fillRect t="-980" b="-2941"/>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2106069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74F53195-7391-4BCA-BF4D-0AC719EEA47B}"/>
              </a:ext>
            </a:extLst>
          </p:cNvPr>
          <p:cNvSpPr/>
          <p:nvPr/>
        </p:nvSpPr>
        <p:spPr>
          <a:xfrm>
            <a:off x="469830" y="695365"/>
            <a:ext cx="8536987" cy="792012"/>
          </a:xfrm>
          <a:prstGeom prst="rect">
            <a:avLst/>
          </a:prstGeom>
          <a:solidFill>
            <a:schemeClr val="bg1"/>
          </a:solidFill>
        </p:spPr>
        <p:txBody>
          <a:bodyPr vert="horz" wrap="square" lIns="91440" tIns="45720" rIns="91440" bIns="45720" anchor="t">
            <a:spAutoFit/>
          </a:bodyPr>
          <a:lstStyle/>
          <a:p>
            <a:pPr marL="0" indent="0" algn="l" defTabSz="914400" eaLnBrk="0" fontAlgn="base" latinLnBrk="0">
              <a:lnSpc>
                <a:spcPts val="2900"/>
              </a:lnSpc>
              <a:spcBef>
                <a:spcPts val="0"/>
              </a:spcBef>
              <a:spcAft>
                <a:spcPts val="0"/>
              </a:spcAft>
              <a:buFontTx/>
              <a:buNone/>
            </a:pPr>
            <a:r>
              <a:rPr lang="zh-CN" altLang="en-US" sz="2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r>
              <a:rPr lang="zh-CN" altLang="en-US" sz="16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用于生产抗生素的酵母生长速率</a:t>
            </a:r>
            <a:r>
              <a:rPr lang="en-US" altLang="zh-CN" sz="16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g</a:t>
            </a:r>
            <a:r>
              <a:rPr lang="zh-CN" altLang="en-US" sz="16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为食物浓度</a:t>
            </a:r>
            <a:r>
              <a:rPr lang="en-US" altLang="zh-CN" sz="16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c</a:t>
            </a:r>
            <a:r>
              <a:rPr lang="zh-CN" altLang="en-US" sz="16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的函数</a:t>
            </a:r>
            <a:r>
              <a:rPr lang="en-US" altLang="ko-KR" sz="1600" cap="none"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6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浓度过高过低，生长速率趋于零，求生长速率</a:t>
            </a:r>
            <a:r>
              <a:rPr lang="zh-CN" altLang="en-US"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最大</a:t>
            </a:r>
            <a:r>
              <a:rPr lang="zh-CN" altLang="en-US" sz="16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时的浓度</a:t>
            </a:r>
            <a:endParaRPr lang="ko-KR" altLang="en-US" sz="1600" dirty="0">
              <a:solidFill>
                <a:srgbClr val="002060"/>
              </a:solidFill>
              <a:latin typeface="微软雅黑" panose="020B0503020204020204" pitchFamily="34" charset="-122"/>
              <a:ea typeface="隶书" panose="02010509060101010101" pitchFamily="49" charset="-122"/>
              <a:cs typeface="Times New Roman" panose="02020603050405020304" pitchFamily="18" charset="0"/>
            </a:endParaRPr>
          </a:p>
        </p:txBody>
      </p:sp>
      <p:sp>
        <p:nvSpPr>
          <p:cNvPr id="4" name="文本框 3">
            <a:extLst>
              <a:ext uri="{FF2B5EF4-FFF2-40B4-BE49-F238E27FC236}">
                <a16:creationId xmlns:a16="http://schemas.microsoft.com/office/drawing/2014/main" id="{D19108E0-F7F3-4377-A1BC-1F7AC0137997}"/>
              </a:ext>
            </a:extLst>
          </p:cNvPr>
          <p:cNvSpPr txBox="1"/>
          <p:nvPr/>
        </p:nvSpPr>
        <p:spPr>
          <a:xfrm>
            <a:off x="755576" y="-35637"/>
            <a:ext cx="8280920" cy="677108"/>
          </a:xfrm>
          <a:prstGeom prst="rect">
            <a:avLst/>
          </a:prstGeom>
          <a:noFill/>
        </p:spPr>
        <p:txBody>
          <a:bodyPr wrap="square">
            <a:spAutoFit/>
          </a:bodyPr>
          <a:lstStyle>
            <a:defPPr>
              <a:defRPr lang="zh-CN"/>
            </a:defPPr>
            <a:lvl1pPr>
              <a:lnSpc>
                <a:spcPct val="150000"/>
              </a:lnSpc>
              <a:defRPr sz="3200">
                <a:solidFill>
                  <a:srgbClr val="002060"/>
                </a:solidFill>
                <a:latin typeface="华文楷体" panose="02010600040101010101" pitchFamily="2" charset="-122"/>
                <a:ea typeface="华文楷体" panose="02010600040101010101" pitchFamily="2" charset="-122"/>
              </a:defRPr>
            </a:lvl1pPr>
          </a:lstStyle>
          <a:p>
            <a:r>
              <a:rPr lang="en-US" altLang="zh-CN" sz="2800" b="0" dirty="0">
                <a:solidFill>
                  <a:srgbClr val="002060"/>
                </a:solidFill>
                <a:latin typeface="华文楷体" panose="02010600040101010101" pitchFamily="2" charset="-122"/>
                <a:ea typeface="华文楷体" panose="02010600040101010101" pitchFamily="2" charset="-122"/>
              </a:rPr>
              <a:t> §8.4.1</a:t>
            </a:r>
            <a:r>
              <a:rPr lang="zh-CN" altLang="en-US" sz="2800" dirty="0"/>
              <a:t>一元</a:t>
            </a:r>
            <a:r>
              <a:rPr lang="zh-CN" altLang="en-US" sz="2800" dirty="0">
                <a:latin typeface="华文楷体" panose="02010600040101010101" pitchFamily="2" charset="-122"/>
                <a:ea typeface="华文楷体" panose="02010600040101010101" pitchFamily="2" charset="-122"/>
              </a:rPr>
              <a:t>函数最</a:t>
            </a:r>
            <a:r>
              <a:rPr lang="en-US" altLang="ko-KR" sz="2800" dirty="0" err="1">
                <a:latin typeface="华文楷体" panose="02010600040101010101" pitchFamily="2" charset="-122"/>
                <a:ea typeface="华文楷体" panose="02010600040101010101" pitchFamily="2" charset="-122"/>
              </a:rPr>
              <a:t>小值</a:t>
            </a:r>
            <a:r>
              <a:rPr lang="en-US" altLang="zh-CN" sz="2800" b="1" kern="0" dirty="0" err="1">
                <a:solidFill>
                  <a:srgbClr val="FF0000"/>
                </a:solidFill>
              </a:rPr>
              <a:t>fminbnd</a:t>
            </a:r>
            <a:r>
              <a:rPr lang="zh-CN" altLang="en-US" sz="2800" dirty="0">
                <a:latin typeface="华文楷体" panose="02010600040101010101" pitchFamily="2" charset="-122"/>
                <a:ea typeface="华文楷体" panose="02010600040101010101" pitchFamily="2" charset="-122"/>
              </a:rPr>
              <a:t> </a:t>
            </a:r>
            <a:r>
              <a:rPr lang="en-US" altLang="zh-CN" sz="2800" kern="0" dirty="0">
                <a:solidFill>
                  <a:srgbClr val="FF0000"/>
                </a:solidFill>
              </a:rPr>
              <a:t>——</a:t>
            </a:r>
            <a:r>
              <a:rPr lang="zh-CN" altLang="en-US" sz="2800" kern="0" dirty="0">
                <a:solidFill>
                  <a:srgbClr val="FF0000"/>
                </a:solidFill>
              </a:rPr>
              <a:t>求最大值案例</a:t>
            </a:r>
            <a:endParaRPr lang="zh-CN" altLang="en-US" sz="2800" dirty="0"/>
          </a:p>
        </p:txBody>
      </p:sp>
      <p:sp>
        <p:nvSpPr>
          <p:cNvPr id="5" name="波形 4">
            <a:extLst>
              <a:ext uri="{FF2B5EF4-FFF2-40B4-BE49-F238E27FC236}">
                <a16:creationId xmlns:a16="http://schemas.microsoft.com/office/drawing/2014/main" id="{D9E7D5C4-9DB9-4853-B903-F5DD22978301}"/>
              </a:ext>
            </a:extLst>
          </p:cNvPr>
          <p:cNvSpPr/>
          <p:nvPr/>
        </p:nvSpPr>
        <p:spPr>
          <a:xfrm>
            <a:off x="503880" y="798569"/>
            <a:ext cx="1249958" cy="36933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just" eaLnBrk="0" fontAlgn="auto">
              <a:lnSpc>
                <a:spcPct val="140000"/>
              </a:lnSpc>
              <a:spcBef>
                <a:spcPts val="0"/>
              </a:spcBef>
              <a:spcAft>
                <a:spcPts val="0"/>
              </a:spcAft>
            </a:pPr>
            <a:r>
              <a:rPr lang="en-US" altLang="ko-KR" b="1" dirty="0">
                <a:solidFill>
                  <a:srgbClr val="FFFF00"/>
                </a:solidFill>
                <a:latin typeface="微软雅黑" panose="020B0503020204020204" charset="-122"/>
                <a:ea typeface="微软雅黑" panose="020B0503020204020204" charset="-122"/>
              </a:rPr>
              <a:t>  例84-2</a:t>
            </a:r>
            <a:endParaRPr lang="ko-KR" altLang="en-US" b="1" dirty="0">
              <a:solidFill>
                <a:srgbClr val="FFFF00"/>
              </a:solidFill>
              <a:latin typeface="微软雅黑" panose="020B0503020204020204" charset="-122"/>
              <a:ea typeface="微软雅黑" panose="020B0503020204020204" charset="-122"/>
            </a:endParaRP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73959D35-7969-4B79-AE17-A239570A9963}"/>
                  </a:ext>
                </a:extLst>
              </p:cNvPr>
              <p:cNvSpPr/>
              <p:nvPr/>
            </p:nvSpPr>
            <p:spPr>
              <a:xfrm>
                <a:off x="6804248" y="751474"/>
                <a:ext cx="2469265" cy="589970"/>
              </a:xfrm>
              <a:prstGeom prst="rect">
                <a:avLst/>
              </a:prstGeom>
              <a:noFill/>
              <a:ln>
                <a:noFill/>
              </a:ln>
              <a:effectLst/>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14:m>
                  <m:oMath xmlns:m="http://schemas.openxmlformats.org/officeDocument/2006/math">
                    <m:r>
                      <m:rPr>
                        <m:sty m:val="p"/>
                      </m:rPr>
                      <a:rPr lang="en-US" altLang="zh-CN" sz="2400" b="0" kern="0" dirty="0" smtClean="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t>g</m:t>
                    </m:r>
                  </m:oMath>
                </a14:m>
                <a:r>
                  <a:rPr lang="en-US" altLang="ko-KR" sz="2400" kern="0" dirty="0">
                    <a:solidFill>
                      <a:srgbClr val="FF0000"/>
                    </a:solidFill>
                    <a:effectLst/>
                    <a:latin typeface="Times New Roman" panose="02020603050405020304" pitchFamily="18" charset="0"/>
                    <a:ea typeface="隶书" panose="02010509060101010101" pitchFamily="49" charset="-122"/>
                    <a:cs typeface="Times New Roman" panose="02020603050405020304" pitchFamily="18" charset="0"/>
                  </a:rPr>
                  <a:t>=</a:t>
                </a:r>
                <a14:m>
                  <m:oMath xmlns:m="http://schemas.openxmlformats.org/officeDocument/2006/math">
                    <m:f>
                      <m:fPr>
                        <m:ctrlPr>
                          <a:rPr lang="en-US" altLang="ko-KR" sz="2400" i="1"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ctrlPr>
                      </m:fPr>
                      <m:num>
                        <m:r>
                          <a:rPr lang="en-US" altLang="ko-KR" sz="2400" b="0"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t>2</m:t>
                        </m:r>
                        <m:r>
                          <m:rPr>
                            <m:sty m:val="p"/>
                          </m:rPr>
                          <a:rPr lang="en-US" altLang="ko-KR" sz="2400" b="0" i="1"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t>c</m:t>
                        </m:r>
                      </m:num>
                      <m:den>
                        <m:r>
                          <a:rPr lang="en-US" altLang="ko-KR" sz="2400" b="0"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t>4+0.8</m:t>
                        </m:r>
                        <m:r>
                          <m:rPr>
                            <m:sty m:val="p"/>
                          </m:rPr>
                          <a:rPr lang="en-US" altLang="ko-KR" sz="2400" b="0" i="1"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t>c</m:t>
                        </m:r>
                        <m:r>
                          <a:rPr lang="en-US" altLang="ko-KR" sz="2400" b="0"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t>+</m:t>
                        </m:r>
                        <m:sSup>
                          <m:sSupPr>
                            <m:ctrlPr>
                              <a:rPr lang="en-US" altLang="ko-KR" sz="2400" i="1"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ctrlPr>
                          </m:sSupPr>
                          <m:e>
                            <m:r>
                              <m:rPr>
                                <m:sty m:val="p"/>
                              </m:rPr>
                              <a:rPr lang="en-US" altLang="ko-KR" sz="2400" b="0" i="1"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t>c</m:t>
                            </m:r>
                          </m:e>
                          <m:sup>
                            <m:r>
                              <a:rPr lang="en-US" altLang="ko-KR" sz="2400" b="0"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t>2</m:t>
                            </m:r>
                          </m:sup>
                        </m:sSup>
                        <m:r>
                          <a:rPr lang="en-US" altLang="ko-KR" sz="2400" b="0"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t>+0.2</m:t>
                        </m:r>
                        <m:sSup>
                          <m:sSupPr>
                            <m:ctrlPr>
                              <a:rPr lang="en-US" altLang="ko-KR" sz="2400" i="1"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ctrlPr>
                          </m:sSupPr>
                          <m:e>
                            <m:r>
                              <m:rPr>
                                <m:sty m:val="p"/>
                              </m:rPr>
                              <a:rPr lang="en-US" altLang="ko-KR" sz="2400" b="0" i="1"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t>c</m:t>
                            </m:r>
                          </m:e>
                          <m:sup>
                            <m:r>
                              <a:rPr lang="en-US" altLang="ko-KR" sz="2400" b="0" kern="0" dirty="0">
                                <a:solidFill>
                                  <a:srgbClr val="FF0000"/>
                                </a:solidFill>
                                <a:effectLst/>
                                <a:latin typeface="Cambria Math" panose="02040503050406030204" pitchFamily="18" charset="0"/>
                                <a:ea typeface="隶书" panose="02010509060101010101" pitchFamily="49" charset="-122"/>
                                <a:cs typeface="Times New Roman" panose="02020603050405020304" pitchFamily="18" charset="0"/>
                              </a:rPr>
                              <m:t>3</m:t>
                            </m:r>
                          </m:sup>
                        </m:sSup>
                      </m:den>
                    </m:f>
                  </m:oMath>
                </a14:m>
                <a:endParaRPr lang="zh-CN" altLang="en-US" sz="2400" kern="0" dirty="0">
                  <a:solidFill>
                    <a:srgbClr val="FF0000"/>
                  </a:solidFill>
                  <a:effectLst/>
                  <a:latin typeface="Times New Roman" panose="02020603050405020304" pitchFamily="18" charset="0"/>
                  <a:ea typeface="隶书" panose="02010509060101010101" pitchFamily="49" charset="-122"/>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73959D35-7969-4B79-AE17-A239570A9963}"/>
                  </a:ext>
                </a:extLst>
              </p:cNvPr>
              <p:cNvSpPr>
                <a:spLocks noRot="1" noChangeAspect="1" noMove="1" noResize="1" noEditPoints="1" noAdjustHandles="1" noChangeArrowheads="1" noChangeShapeType="1" noTextEdit="1"/>
              </p:cNvSpPr>
              <p:nvPr/>
            </p:nvSpPr>
            <p:spPr>
              <a:xfrm>
                <a:off x="6804248" y="751474"/>
                <a:ext cx="2469265" cy="589970"/>
              </a:xfrm>
              <a:prstGeom prst="rect">
                <a:avLst/>
              </a:prstGeom>
              <a:blipFill>
                <a:blip r:embed="rId3"/>
                <a:stretch>
                  <a:fillRect t="-980" b="-2941"/>
                </a:stretch>
              </a:blipFill>
              <a:ln>
                <a:noFill/>
              </a:ln>
              <a:effectLst/>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C31B8345-888E-4CE9-9117-5C2F9F459CB5}"/>
              </a:ext>
            </a:extLst>
          </p:cNvPr>
          <p:cNvSpPr txBox="1"/>
          <p:nvPr/>
        </p:nvSpPr>
        <p:spPr>
          <a:xfrm>
            <a:off x="484082" y="2008597"/>
            <a:ext cx="4659782" cy="2657907"/>
          </a:xfrm>
          <a:prstGeom prst="rect">
            <a:avLst/>
          </a:prstGeom>
          <a:noFill/>
        </p:spPr>
        <p:txBody>
          <a:bodyPr wrap="square">
            <a:spAutoFit/>
          </a:bodyPr>
          <a:lstStyle/>
          <a:p>
            <a:pPr>
              <a:lnSpc>
                <a:spcPts val="2900"/>
              </a:lnSpc>
            </a:pP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建立简化函数</a:t>
            </a:r>
            <a:endParaRPr lang="zh-CN" altLang="en-US" b="0" dirty="0">
              <a:solidFill>
                <a:srgbClr val="000000"/>
              </a:solidFill>
              <a:effectLst/>
              <a:latin typeface="Consolas" panose="020B0609020204030204" pitchFamily="49" charset="0"/>
            </a:endParaRPr>
          </a:p>
          <a:p>
            <a:pPr>
              <a:lnSpc>
                <a:spcPts val="2900"/>
              </a:lnSpc>
            </a:pPr>
            <a:r>
              <a:rPr lang="en-US" altLang="zh-CN" b="0" dirty="0">
                <a:solidFill>
                  <a:srgbClr val="795E26"/>
                </a:solidFill>
                <a:effectLst/>
                <a:latin typeface="Consolas" panose="020B0609020204030204" pitchFamily="49" charset="0"/>
              </a:rPr>
              <a:t>g</a:t>
            </a:r>
            <a:r>
              <a:rPr lang="en-US" altLang="zh-CN" b="0" dirty="0">
                <a:solidFill>
                  <a:srgbClr val="000000"/>
                </a:solidFill>
                <a:effectLst/>
                <a:latin typeface="Consolas" panose="020B0609020204030204" pitchFamily="49" charset="0"/>
              </a:rPr>
              <a:t>(c)=</a:t>
            </a:r>
            <a:r>
              <a:rPr lang="en-US" altLang="zh-CN" b="0" dirty="0">
                <a:solidFill>
                  <a:srgbClr val="098658"/>
                </a:solidFill>
                <a:effectLst/>
                <a:latin typeface="Consolas" panose="020B0609020204030204" pitchFamily="49" charset="0"/>
              </a:rPr>
              <a:t>2</a:t>
            </a:r>
            <a:r>
              <a:rPr lang="zh-CN" altLang="en-US" b="0" dirty="0">
                <a:solidFill>
                  <a:srgbClr val="000000"/>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c/(</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0.8</a:t>
            </a:r>
            <a:r>
              <a:rPr lang="zh-CN" altLang="en-US" b="0" dirty="0">
                <a:solidFill>
                  <a:srgbClr val="000000"/>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c+c^</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0.2</a:t>
            </a:r>
            <a:r>
              <a:rPr lang="zh-CN" altLang="en-US" b="0" dirty="0">
                <a:solidFill>
                  <a:srgbClr val="000000"/>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c^</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p>
          <a:p>
            <a:pPr>
              <a:lnSpc>
                <a:spcPts val="2900"/>
              </a:lnSpc>
            </a:pP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自适应绘制</a:t>
            </a:r>
            <a:r>
              <a:rPr lang="en-US" altLang="zh-CN" b="0" dirty="0">
                <a:solidFill>
                  <a:srgbClr val="008000"/>
                </a:solidFill>
                <a:effectLst/>
                <a:latin typeface="Consolas" panose="020B0609020204030204" pitchFamily="49" charset="0"/>
              </a:rPr>
              <a:t>g-c</a:t>
            </a:r>
            <a:r>
              <a:rPr lang="zh-CN" altLang="en-US" b="0" dirty="0">
                <a:solidFill>
                  <a:srgbClr val="008000"/>
                </a:solidFill>
                <a:effectLst/>
                <a:latin typeface="Consolas" panose="020B0609020204030204" pitchFamily="49" charset="0"/>
              </a:rPr>
              <a:t>曲线</a:t>
            </a:r>
            <a:endParaRPr lang="zh-CN" altLang="en-US" b="0" dirty="0">
              <a:solidFill>
                <a:srgbClr val="000000"/>
              </a:solidFill>
              <a:effectLst/>
              <a:latin typeface="Consolas" panose="020B0609020204030204" pitchFamily="49" charset="0"/>
            </a:endParaRPr>
          </a:p>
          <a:p>
            <a:pPr>
              <a:lnSpc>
                <a:spcPts val="2900"/>
              </a:lnSpc>
            </a:pPr>
            <a:r>
              <a:rPr lang="en-US" altLang="zh-CN" b="0" dirty="0" err="1">
                <a:solidFill>
                  <a:srgbClr val="795E26"/>
                </a:solidFill>
                <a:effectLst/>
                <a:latin typeface="Consolas" panose="020B0609020204030204" pitchFamily="49" charset="0"/>
              </a:rPr>
              <a:t>fplot</a:t>
            </a:r>
            <a:r>
              <a:rPr lang="en-US" altLang="zh-CN" b="0" dirty="0">
                <a:solidFill>
                  <a:srgbClr val="000000"/>
                </a:solidFill>
                <a:effectLst/>
                <a:latin typeface="Consolas" panose="020B0609020204030204" pitchFamily="49" charset="0"/>
              </a:rPr>
              <a:t>(g,[</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60</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"-or"</a:t>
            </a:r>
            <a:r>
              <a:rPr lang="en-US" altLang="zh-CN" b="0" dirty="0">
                <a:solidFill>
                  <a:srgbClr val="000000"/>
                </a:solidFill>
                <a:effectLst/>
                <a:latin typeface="Consolas" panose="020B0609020204030204" pitchFamily="49" charset="0"/>
              </a:rPr>
              <a:t>) </a:t>
            </a:r>
          </a:p>
          <a:p>
            <a:pPr>
              <a:lnSpc>
                <a:spcPts val="2900"/>
              </a:lnSpc>
            </a:pPr>
            <a:r>
              <a:rPr lang="en-US" altLang="zh-CN" b="0" dirty="0" err="1">
                <a:solidFill>
                  <a:srgbClr val="795E26"/>
                </a:solidFill>
                <a:effectLst/>
                <a:latin typeface="Consolas" panose="020B0609020204030204" pitchFamily="49" charset="0"/>
              </a:rPr>
              <a:t>xlabel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"c"</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#x</a:t>
            </a:r>
            <a:r>
              <a:rPr lang="zh-CN" altLang="en-US" b="0" dirty="0">
                <a:solidFill>
                  <a:srgbClr val="008000"/>
                </a:solidFill>
                <a:effectLst/>
                <a:latin typeface="Consolas" panose="020B0609020204030204" pitchFamily="49" charset="0"/>
              </a:rPr>
              <a:t>轴浓度</a:t>
            </a:r>
            <a:endParaRPr lang="zh-CN" altLang="en-US" b="0" dirty="0">
              <a:solidFill>
                <a:srgbClr val="000000"/>
              </a:solidFill>
              <a:effectLst/>
              <a:latin typeface="Consolas" panose="020B0609020204030204" pitchFamily="49" charset="0"/>
            </a:endParaRPr>
          </a:p>
          <a:p>
            <a:pPr>
              <a:lnSpc>
                <a:spcPts val="2900"/>
              </a:lnSpc>
            </a:pPr>
            <a:r>
              <a:rPr lang="en-US" altLang="zh-CN" b="0" dirty="0" err="1">
                <a:solidFill>
                  <a:srgbClr val="795E26"/>
                </a:solidFill>
                <a:effectLst/>
                <a:latin typeface="Consolas" panose="020B0609020204030204" pitchFamily="49" charset="0"/>
              </a:rPr>
              <a:t>ylabel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"g"</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#y</a:t>
            </a:r>
            <a:r>
              <a:rPr lang="zh-CN" altLang="en-US" b="0" dirty="0">
                <a:solidFill>
                  <a:srgbClr val="008000"/>
                </a:solidFill>
                <a:effectLst/>
                <a:latin typeface="Consolas" panose="020B0609020204030204" pitchFamily="49" charset="0"/>
              </a:rPr>
              <a:t>轴生长速率</a:t>
            </a:r>
            <a:endParaRPr lang="zh-CN" altLang="en-US" b="0" dirty="0">
              <a:solidFill>
                <a:srgbClr val="000000"/>
              </a:solidFill>
              <a:effectLst/>
              <a:latin typeface="Consolas" panose="020B0609020204030204" pitchFamily="49" charset="0"/>
            </a:endParaRPr>
          </a:p>
          <a:p>
            <a:pPr>
              <a:lnSpc>
                <a:spcPts val="2900"/>
              </a:lnSpc>
            </a:pPr>
            <a:r>
              <a:rPr lang="en-US" altLang="zh-CN" b="0" dirty="0" err="1">
                <a:solidFill>
                  <a:srgbClr val="795E26"/>
                </a:solidFill>
                <a:effectLst/>
                <a:latin typeface="Consolas" panose="020B0609020204030204" pitchFamily="49" charset="0"/>
              </a:rPr>
              <a:t>ylim</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0.4</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调控</a:t>
            </a:r>
            <a:r>
              <a:rPr lang="en-US" altLang="zh-CN" b="0" dirty="0">
                <a:solidFill>
                  <a:srgbClr val="008000"/>
                </a:solidFill>
                <a:effectLst/>
                <a:latin typeface="Consolas" panose="020B0609020204030204" pitchFamily="49" charset="0"/>
              </a:rPr>
              <a:t>y</a:t>
            </a:r>
            <a:r>
              <a:rPr lang="zh-CN" altLang="en-US" b="0" dirty="0">
                <a:solidFill>
                  <a:srgbClr val="008000"/>
                </a:solidFill>
                <a:effectLst/>
                <a:latin typeface="Consolas" panose="020B0609020204030204" pitchFamily="49" charset="0"/>
              </a:rPr>
              <a:t>轴范围</a:t>
            </a:r>
            <a:endParaRPr lang="zh-CN" altLang="en-US" b="0" dirty="0">
              <a:solidFill>
                <a:srgbClr val="000000"/>
              </a:solidFill>
              <a:effectLst/>
              <a:latin typeface="Consolas" panose="020B0609020204030204" pitchFamily="49" charset="0"/>
            </a:endParaRPr>
          </a:p>
        </p:txBody>
      </p:sp>
      <p:pic>
        <p:nvPicPr>
          <p:cNvPr id="11" name="图片 10">
            <a:extLst>
              <a:ext uri="{FF2B5EF4-FFF2-40B4-BE49-F238E27FC236}">
                <a16:creationId xmlns:a16="http://schemas.microsoft.com/office/drawing/2014/main" id="{771DD84F-981F-4B32-A442-99EFF60911FA}"/>
              </a:ext>
            </a:extLst>
          </p:cNvPr>
          <p:cNvPicPr>
            <a:picLocks noChangeAspect="1"/>
          </p:cNvPicPr>
          <p:nvPr/>
        </p:nvPicPr>
        <p:blipFill>
          <a:blip r:embed="rId4"/>
          <a:stretch>
            <a:fillRect/>
          </a:stretch>
        </p:blipFill>
        <p:spPr>
          <a:xfrm>
            <a:off x="5683883" y="1785240"/>
            <a:ext cx="3436809" cy="2699327"/>
          </a:xfrm>
          <a:prstGeom prst="rect">
            <a:avLst/>
          </a:prstGeom>
        </p:spPr>
      </p:pic>
      <p:sp>
        <p:nvSpPr>
          <p:cNvPr id="13" name="文本框 12">
            <a:extLst>
              <a:ext uri="{FF2B5EF4-FFF2-40B4-BE49-F238E27FC236}">
                <a16:creationId xmlns:a16="http://schemas.microsoft.com/office/drawing/2014/main" id="{B687F701-9E42-4431-9D82-BC67C147EE13}"/>
              </a:ext>
            </a:extLst>
          </p:cNvPr>
          <p:cNvSpPr txBox="1"/>
          <p:nvPr/>
        </p:nvSpPr>
        <p:spPr>
          <a:xfrm>
            <a:off x="429585" y="1608487"/>
            <a:ext cx="5254298" cy="400110"/>
          </a:xfrm>
          <a:prstGeom prst="rect">
            <a:avLst/>
          </a:prstGeom>
          <a:noFill/>
        </p:spPr>
        <p:txBody>
          <a:bodyPr wrap="square">
            <a:spAutoFit/>
          </a:bodyPr>
          <a:lstStyle/>
          <a:p>
            <a:r>
              <a:rPr lang="en-US" altLang="zh-CN" sz="2000" b="1" dirty="0">
                <a:solidFill>
                  <a:srgbClr val="00B0F0"/>
                </a:solidFill>
              </a:rPr>
              <a:t>(1)</a:t>
            </a:r>
            <a:r>
              <a:rPr lang="zh-CN" altLang="en-US" sz="2000" b="1" dirty="0">
                <a:solidFill>
                  <a:srgbClr val="00B0F0"/>
                </a:solidFill>
              </a:rPr>
              <a:t>酵母生长速率</a:t>
            </a:r>
            <a:r>
              <a:rPr lang="en-US" altLang="zh-CN" sz="2000" b="1" dirty="0">
                <a:solidFill>
                  <a:srgbClr val="00B0F0"/>
                </a:solidFill>
              </a:rPr>
              <a:t>g</a:t>
            </a:r>
            <a:r>
              <a:rPr lang="zh-CN" altLang="en-US" sz="2000" b="1" dirty="0">
                <a:solidFill>
                  <a:srgbClr val="00B0F0"/>
                </a:solidFill>
              </a:rPr>
              <a:t>关于食物浓度</a:t>
            </a:r>
            <a:r>
              <a:rPr lang="en-US" altLang="zh-CN" sz="2000" b="1" dirty="0">
                <a:solidFill>
                  <a:srgbClr val="00B0F0"/>
                </a:solidFill>
              </a:rPr>
              <a:t>c</a:t>
            </a:r>
            <a:r>
              <a:rPr lang="zh-CN" altLang="en-US" sz="2000" b="1" dirty="0">
                <a:solidFill>
                  <a:srgbClr val="00B0F0"/>
                </a:solidFill>
              </a:rPr>
              <a:t>的图解曲线</a:t>
            </a:r>
          </a:p>
        </p:txBody>
      </p:sp>
    </p:spTree>
    <p:extLst>
      <p:ext uri="{BB962C8B-B14F-4D97-AF65-F5344CB8AC3E}">
        <p14:creationId xmlns:p14="http://schemas.microsoft.com/office/powerpoint/2010/main" val="6206664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DD1B45F-A718-4427-8A88-5175FB93798D}"/>
              </a:ext>
            </a:extLst>
          </p:cNvPr>
          <p:cNvPicPr>
            <a:picLocks noChangeAspect="1"/>
          </p:cNvPicPr>
          <p:nvPr/>
        </p:nvPicPr>
        <p:blipFill>
          <a:blip r:embed="rId2"/>
          <a:stretch>
            <a:fillRect/>
          </a:stretch>
        </p:blipFill>
        <p:spPr>
          <a:xfrm>
            <a:off x="5796136" y="1118868"/>
            <a:ext cx="3161805" cy="2478060"/>
          </a:xfrm>
          <a:prstGeom prst="rect">
            <a:avLst/>
          </a:prstGeom>
        </p:spPr>
      </p:pic>
      <p:sp>
        <p:nvSpPr>
          <p:cNvPr id="7" name="文本框 6">
            <a:extLst>
              <a:ext uri="{FF2B5EF4-FFF2-40B4-BE49-F238E27FC236}">
                <a16:creationId xmlns:a16="http://schemas.microsoft.com/office/drawing/2014/main" id="{D14923CB-281A-474B-A968-01EAAAF9F180}"/>
              </a:ext>
            </a:extLst>
          </p:cNvPr>
          <p:cNvSpPr txBox="1"/>
          <p:nvPr/>
        </p:nvSpPr>
        <p:spPr>
          <a:xfrm>
            <a:off x="755576" y="-35637"/>
            <a:ext cx="8280920" cy="677108"/>
          </a:xfrm>
          <a:prstGeom prst="rect">
            <a:avLst/>
          </a:prstGeom>
          <a:noFill/>
        </p:spPr>
        <p:txBody>
          <a:bodyPr wrap="square">
            <a:spAutoFit/>
          </a:bodyPr>
          <a:lstStyle>
            <a:defPPr>
              <a:defRPr lang="zh-CN"/>
            </a:defPPr>
            <a:lvl1pPr>
              <a:lnSpc>
                <a:spcPct val="150000"/>
              </a:lnSpc>
              <a:defRPr sz="3200">
                <a:solidFill>
                  <a:srgbClr val="002060"/>
                </a:solidFill>
                <a:latin typeface="华文楷体" panose="02010600040101010101" pitchFamily="2" charset="-122"/>
                <a:ea typeface="华文楷体" panose="02010600040101010101" pitchFamily="2" charset="-122"/>
              </a:defRPr>
            </a:lvl1pPr>
          </a:lstStyle>
          <a:p>
            <a:r>
              <a:rPr lang="en-US" altLang="zh-CN" sz="2800" b="0" dirty="0">
                <a:solidFill>
                  <a:srgbClr val="002060"/>
                </a:solidFill>
                <a:latin typeface="华文楷体" panose="02010600040101010101" pitchFamily="2" charset="-122"/>
                <a:ea typeface="华文楷体" panose="02010600040101010101" pitchFamily="2" charset="-122"/>
              </a:rPr>
              <a:t> §8.4.1</a:t>
            </a:r>
            <a:r>
              <a:rPr lang="zh-CN" altLang="en-US" sz="2800" dirty="0"/>
              <a:t>一元</a:t>
            </a:r>
            <a:r>
              <a:rPr lang="zh-CN" altLang="en-US" sz="2800" dirty="0">
                <a:latin typeface="华文楷体" panose="02010600040101010101" pitchFamily="2" charset="-122"/>
                <a:ea typeface="华文楷体" panose="02010600040101010101" pitchFamily="2" charset="-122"/>
              </a:rPr>
              <a:t>函数最</a:t>
            </a:r>
            <a:r>
              <a:rPr lang="en-US" altLang="ko-KR" sz="2800" dirty="0" err="1">
                <a:latin typeface="华文楷体" panose="02010600040101010101" pitchFamily="2" charset="-122"/>
                <a:ea typeface="华文楷体" panose="02010600040101010101" pitchFamily="2" charset="-122"/>
              </a:rPr>
              <a:t>小值</a:t>
            </a:r>
            <a:r>
              <a:rPr lang="en-US" altLang="zh-CN" sz="2800" b="1" kern="0" dirty="0" err="1">
                <a:solidFill>
                  <a:srgbClr val="FF0000"/>
                </a:solidFill>
              </a:rPr>
              <a:t>fminbnd</a:t>
            </a:r>
            <a:r>
              <a:rPr lang="zh-CN" altLang="en-US" sz="2800" dirty="0">
                <a:latin typeface="华文楷体" panose="02010600040101010101" pitchFamily="2" charset="-122"/>
                <a:ea typeface="华文楷体" panose="02010600040101010101" pitchFamily="2" charset="-122"/>
              </a:rPr>
              <a:t> </a:t>
            </a:r>
            <a:r>
              <a:rPr lang="en-US" altLang="zh-CN" sz="2800" kern="0" dirty="0">
                <a:solidFill>
                  <a:srgbClr val="FF0000"/>
                </a:solidFill>
              </a:rPr>
              <a:t>——</a:t>
            </a:r>
            <a:r>
              <a:rPr lang="zh-CN" altLang="en-US" sz="2800" kern="0" dirty="0">
                <a:solidFill>
                  <a:srgbClr val="FF0000"/>
                </a:solidFill>
              </a:rPr>
              <a:t>求最大值案例</a:t>
            </a:r>
            <a:endParaRPr lang="zh-CN" altLang="en-US" sz="2800" dirty="0"/>
          </a:p>
        </p:txBody>
      </p:sp>
      <p:sp>
        <p:nvSpPr>
          <p:cNvPr id="9" name="文本框 8">
            <a:extLst>
              <a:ext uri="{FF2B5EF4-FFF2-40B4-BE49-F238E27FC236}">
                <a16:creationId xmlns:a16="http://schemas.microsoft.com/office/drawing/2014/main" id="{C08CDAC3-4267-47C0-A376-97F3BCBC22DD}"/>
              </a:ext>
            </a:extLst>
          </p:cNvPr>
          <p:cNvSpPr txBox="1"/>
          <p:nvPr/>
        </p:nvSpPr>
        <p:spPr>
          <a:xfrm>
            <a:off x="315461" y="1129384"/>
            <a:ext cx="6208823" cy="3416320"/>
          </a:xfrm>
          <a:prstGeom prst="rect">
            <a:avLst/>
          </a:prstGeom>
          <a:noFill/>
        </p:spPr>
        <p:txBody>
          <a:bodyPr wrap="square">
            <a:spAutoFit/>
          </a:bodyPr>
          <a:lstStyle/>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取负的生长速率表达式</a:t>
            </a:r>
            <a:r>
              <a:rPr lang="en-US" altLang="zh-CN" b="0" dirty="0" err="1">
                <a:solidFill>
                  <a:srgbClr val="008000"/>
                </a:solidFill>
                <a:effectLst/>
                <a:latin typeface="Consolas" panose="020B0609020204030204" pitchFamily="49" charset="0"/>
              </a:rPr>
              <a:t>gmin</a:t>
            </a:r>
            <a:endParaRPr lang="en-US" altLang="zh-CN" b="0" dirty="0">
              <a:solidFill>
                <a:srgbClr val="000000"/>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gmin</a:t>
            </a:r>
            <a:r>
              <a:rPr lang="en-US" altLang="zh-CN" b="0" dirty="0">
                <a:solidFill>
                  <a:srgbClr val="000000"/>
                </a:solidFill>
                <a:effectLst/>
                <a:latin typeface="Consolas" panose="020B0609020204030204" pitchFamily="49" charset="0"/>
              </a:rPr>
              <a:t>(c)=-</a:t>
            </a:r>
            <a:r>
              <a:rPr lang="en-US" altLang="zh-CN" b="0" dirty="0">
                <a:solidFill>
                  <a:srgbClr val="795E26"/>
                </a:solidFill>
                <a:effectLst/>
                <a:latin typeface="Consolas" panose="020B0609020204030204" pitchFamily="49" charset="0"/>
              </a:rPr>
              <a:t>g</a:t>
            </a:r>
            <a:r>
              <a:rPr lang="en-US" altLang="zh-CN" b="0" dirty="0">
                <a:solidFill>
                  <a:srgbClr val="000000"/>
                </a:solidFill>
                <a:effectLst/>
                <a:latin typeface="Consolas" panose="020B0609020204030204" pitchFamily="49" charset="0"/>
              </a:rPr>
              <a:t>(c);</a:t>
            </a: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求</a:t>
            </a:r>
            <a:r>
              <a:rPr lang="en-US" altLang="zh-CN" b="0" dirty="0">
                <a:solidFill>
                  <a:srgbClr val="008000"/>
                </a:solidFill>
                <a:effectLst/>
                <a:latin typeface="Consolas" panose="020B0609020204030204" pitchFamily="49" charset="0"/>
              </a:rPr>
              <a:t>g</a:t>
            </a:r>
            <a:r>
              <a:rPr lang="zh-CN" altLang="en-US" b="0" dirty="0">
                <a:solidFill>
                  <a:srgbClr val="008000"/>
                </a:solidFill>
                <a:effectLst/>
                <a:latin typeface="Consolas" panose="020B0609020204030204" pitchFamily="49" charset="0"/>
              </a:rPr>
              <a:t>最小值</a:t>
            </a:r>
            <a:r>
              <a:rPr lang="en-US" altLang="zh-CN" b="0" dirty="0">
                <a:solidFill>
                  <a:srgbClr val="008000"/>
                </a:solidFill>
                <a:effectLst/>
                <a:latin typeface="Consolas" panose="020B0609020204030204" pitchFamily="49" charset="0"/>
              </a:rPr>
              <a:t>gm</a:t>
            </a:r>
            <a:r>
              <a:rPr lang="zh-CN" altLang="en-US" b="0" dirty="0">
                <a:solidFill>
                  <a:srgbClr val="008000"/>
                </a:solidFill>
                <a:effectLst/>
                <a:latin typeface="Consolas" panose="020B0609020204030204" pitchFamily="49" charset="0"/>
              </a:rPr>
              <a:t>和极值点</a:t>
            </a:r>
            <a:r>
              <a:rPr lang="en-US" altLang="zh-CN" b="0" dirty="0">
                <a:solidFill>
                  <a:srgbClr val="008000"/>
                </a:solidFill>
                <a:effectLst/>
                <a:latin typeface="Consolas" panose="020B0609020204030204" pitchFamily="49" charset="0"/>
              </a:rPr>
              <a:t>cm</a:t>
            </a:r>
            <a:endParaRPr lang="en-US" altLang="zh-CN" b="0" dirty="0">
              <a:solidFill>
                <a:srgbClr val="000000"/>
              </a:solidFill>
              <a:effectLst/>
              <a:latin typeface="Consolas" panose="020B0609020204030204" pitchFamily="49" charset="0"/>
            </a:endParaRPr>
          </a:p>
          <a:p>
            <a:r>
              <a:rPr lang="en-US" altLang="zh-CN" b="0" dirty="0" err="1">
                <a:solidFill>
                  <a:srgbClr val="000000"/>
                </a:solidFill>
                <a:effectLst/>
                <a:latin typeface="Consolas" panose="020B0609020204030204" pitchFamily="49" charset="0"/>
              </a:rPr>
              <a:t>cm,gm</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fminbnd</a:t>
            </a:r>
            <a:r>
              <a:rPr lang="en-US" altLang="zh-CN" b="0" dirty="0">
                <a:solidFill>
                  <a:srgbClr val="000000"/>
                </a:solidFill>
                <a:effectLst/>
                <a:latin typeface="Consolas" panose="020B0609020204030204" pitchFamily="49" charset="0"/>
              </a:rPr>
              <a:t>(gmin,</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60</a:t>
            </a:r>
            <a:r>
              <a:rPr lang="en-US" altLang="zh-CN" b="0" dirty="0">
                <a:solidFill>
                  <a:srgbClr val="000000"/>
                </a:solidFill>
                <a:effectLst/>
                <a:latin typeface="Consolas" panose="020B0609020204030204" pitchFamily="49" charset="0"/>
              </a:rPr>
              <a:t>);</a:t>
            </a: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求最大值</a:t>
            </a:r>
            <a:r>
              <a:rPr lang="en-US" altLang="zh-CN" b="0" dirty="0" err="1">
                <a:solidFill>
                  <a:srgbClr val="008000"/>
                </a:solidFill>
                <a:effectLst/>
                <a:latin typeface="Consolas" panose="020B0609020204030204" pitchFamily="49" charset="0"/>
              </a:rPr>
              <a:t>gmax</a:t>
            </a:r>
            <a:endParaRPr lang="en-US" altLang="zh-CN" b="0" dirty="0">
              <a:solidFill>
                <a:srgbClr val="000000"/>
              </a:solidFill>
              <a:effectLst/>
              <a:latin typeface="Consolas" panose="020B0609020204030204" pitchFamily="49" charset="0"/>
            </a:endParaRPr>
          </a:p>
          <a:p>
            <a:r>
              <a:rPr lang="en-US" altLang="zh-CN" b="0" dirty="0" err="1">
                <a:solidFill>
                  <a:srgbClr val="000000"/>
                </a:solidFill>
                <a:effectLst/>
                <a:latin typeface="Consolas" panose="020B0609020204030204" pitchFamily="49" charset="0"/>
              </a:rPr>
              <a:t>gmax</a:t>
            </a:r>
            <a:r>
              <a:rPr lang="en-US" altLang="zh-CN" b="0" dirty="0">
                <a:solidFill>
                  <a:srgbClr val="000000"/>
                </a:solidFill>
                <a:effectLst/>
                <a:latin typeface="Consolas" panose="020B0609020204030204" pitchFamily="49" charset="0"/>
              </a:rPr>
              <a:t>=-gm;</a:t>
            </a: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图中标注出极值点和极大值</a:t>
            </a:r>
            <a:endParaRPr lang="zh-CN" altLang="en-US" b="0" dirty="0">
              <a:solidFill>
                <a:srgbClr val="000000"/>
              </a:solidFill>
              <a:effectLst/>
              <a:latin typeface="Consolas" panose="020B0609020204030204" pitchFamily="49" charset="0"/>
            </a:endParaRPr>
          </a:p>
          <a:p>
            <a:r>
              <a:rPr lang="en-US" altLang="zh-CN" b="0" dirty="0">
                <a:solidFill>
                  <a:srgbClr val="795E26"/>
                </a:solidFill>
                <a:effectLst/>
                <a:latin typeface="Consolas" panose="020B0609020204030204" pitchFamily="49" charset="0"/>
              </a:rPr>
              <a:t>text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cm,gmax,</a:t>
            </a:r>
            <a:r>
              <a:rPr lang="en-US" altLang="zh-CN" b="0" dirty="0" err="1">
                <a:solidFill>
                  <a:srgbClr val="795E26"/>
                </a:solidFill>
                <a:effectLst/>
                <a:latin typeface="Consolas" panose="020B0609020204030204" pitchFamily="49" charset="0"/>
              </a:rPr>
              <a:t>raw</a:t>
            </a:r>
            <a:r>
              <a:rPr lang="en-US" altLang="zh-CN" b="0" dirty="0">
                <a:solidFill>
                  <a:srgbClr val="A31515"/>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leftarrow</a:t>
            </a:r>
            <a:r>
              <a:rPr lang="en-US" altLang="zh-CN" b="0" dirty="0">
                <a:solidFill>
                  <a:srgbClr val="A31515"/>
                </a:solidFill>
                <a:effectLst/>
                <a:latin typeface="Consolas" panose="020B0609020204030204" pitchFamily="49" charset="0"/>
              </a:rPr>
              <a:t> </a:t>
            </a:r>
            <a:r>
              <a:rPr lang="en-US" altLang="zh-CN" b="0" dirty="0" err="1">
                <a:solidFill>
                  <a:srgbClr val="A31515"/>
                </a:solidFill>
                <a:effectLst/>
                <a:latin typeface="Consolas" panose="020B0609020204030204" pitchFamily="49" charset="0"/>
              </a:rPr>
              <a:t>gmax</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string</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gmax</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注释最大值</a:t>
            </a:r>
            <a:endParaRPr lang="zh-CN" altLang="en-US" b="0" dirty="0">
              <a:solidFill>
                <a:srgbClr val="000000"/>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浓度</a:t>
            </a:r>
            <a:r>
              <a:rPr lang="en-US" altLang="zh-CN" b="0" dirty="0">
                <a:solidFill>
                  <a:srgbClr val="A31515"/>
                </a:solidFill>
                <a:effectLst/>
                <a:latin typeface="Consolas" panose="020B0609020204030204" pitchFamily="49" charset="0"/>
              </a:rPr>
              <a:t>cm=</a:t>
            </a:r>
            <a:r>
              <a:rPr lang="en-US" altLang="zh-CN" b="0" dirty="0">
                <a:solidFill>
                  <a:srgbClr val="001080"/>
                </a:solidFill>
                <a:effectLst/>
                <a:latin typeface="Consolas" panose="020B0609020204030204" pitchFamily="49" charset="0"/>
              </a:rPr>
              <a:t>$cm</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最高值</a:t>
            </a:r>
            <a:r>
              <a:rPr lang="en-US" altLang="zh-CN" b="0" dirty="0" err="1">
                <a:solidFill>
                  <a:srgbClr val="A31515"/>
                </a:solidFill>
                <a:effectLst/>
                <a:latin typeface="Consolas" panose="020B0609020204030204" pitchFamily="49" charset="0"/>
              </a:rPr>
              <a:t>gmax</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gmax</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显示极值点和最小值</a:t>
            </a:r>
            <a:endParaRPr lang="zh-CN" altLang="en-US" b="0" dirty="0">
              <a:solidFill>
                <a:srgbClr val="000000"/>
              </a:solidFill>
              <a:effectLst/>
              <a:latin typeface="Consolas" panose="020B0609020204030204" pitchFamily="49" charset="0"/>
            </a:endParaRP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结果：浓度为</a:t>
            </a:r>
            <a:r>
              <a:rPr lang="en-US" altLang="zh-CN" b="0" dirty="0">
                <a:solidFill>
                  <a:srgbClr val="008000"/>
                </a:solidFill>
                <a:effectLst/>
                <a:latin typeface="Consolas" panose="020B0609020204030204" pitchFamily="49" charset="0"/>
              </a:rPr>
              <a:t>1.5679</a:t>
            </a:r>
            <a:r>
              <a:rPr lang="zh-CN" altLang="en-US" b="0" dirty="0">
                <a:solidFill>
                  <a:srgbClr val="008000"/>
                </a:solidFill>
                <a:effectLst/>
                <a:latin typeface="Consolas" panose="020B0609020204030204" pitchFamily="49" charset="0"/>
              </a:rPr>
              <a:t>时</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生长速率最大为</a:t>
            </a:r>
            <a:r>
              <a:rPr lang="en-US" altLang="zh-CN" b="0" dirty="0">
                <a:solidFill>
                  <a:srgbClr val="008000"/>
                </a:solidFill>
                <a:effectLst/>
                <a:latin typeface="Consolas" panose="020B0609020204030204" pitchFamily="49" charset="0"/>
              </a:rPr>
              <a:t>0.3696</a:t>
            </a:r>
            <a:endParaRPr lang="zh-CN" altLang="en-US" b="0" dirty="0">
              <a:solidFill>
                <a:srgbClr val="000000"/>
              </a:solidFill>
              <a:effectLst/>
              <a:latin typeface="Consolas" panose="020B0609020204030204" pitchFamily="49" charset="0"/>
            </a:endParaRPr>
          </a:p>
        </p:txBody>
      </p:sp>
      <p:sp>
        <p:nvSpPr>
          <p:cNvPr id="10" name="文本框 9">
            <a:extLst>
              <a:ext uri="{FF2B5EF4-FFF2-40B4-BE49-F238E27FC236}">
                <a16:creationId xmlns:a16="http://schemas.microsoft.com/office/drawing/2014/main" id="{086A7296-E7F2-45BD-86BE-EE3F73B8799C}"/>
              </a:ext>
            </a:extLst>
          </p:cNvPr>
          <p:cNvSpPr txBox="1"/>
          <p:nvPr/>
        </p:nvSpPr>
        <p:spPr>
          <a:xfrm>
            <a:off x="315461" y="736413"/>
            <a:ext cx="4968552" cy="369332"/>
          </a:xfrm>
          <a:prstGeom prst="rect">
            <a:avLst/>
          </a:prstGeom>
          <a:solidFill>
            <a:schemeClr val="bg1"/>
          </a:solidFill>
        </p:spPr>
        <p:txBody>
          <a:bodyPr wrap="square">
            <a:spAutoFit/>
          </a:bodyPr>
          <a:lstStyle/>
          <a:p>
            <a:r>
              <a:rPr lang="en-US" altLang="zh-CN" b="1" dirty="0">
                <a:solidFill>
                  <a:srgbClr val="00B0F0"/>
                </a:solidFill>
              </a:rPr>
              <a:t>(2) </a:t>
            </a:r>
            <a:r>
              <a:rPr lang="en-US" altLang="zh-CN" b="1" dirty="0" err="1">
                <a:solidFill>
                  <a:srgbClr val="00B0F0"/>
                </a:solidFill>
              </a:rPr>
              <a:t>fminbnd</a:t>
            </a:r>
            <a:r>
              <a:rPr lang="en-US" altLang="zh-CN" b="1" dirty="0">
                <a:solidFill>
                  <a:srgbClr val="00B0F0"/>
                </a:solidFill>
              </a:rPr>
              <a:t> </a:t>
            </a:r>
            <a:r>
              <a:rPr lang="zh-CN" altLang="en-US"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求生长速率最大时的浓度</a:t>
            </a:r>
            <a:endParaRPr lang="zh-CN" altLang="en-US" b="1" dirty="0">
              <a:solidFill>
                <a:srgbClr val="00B0F0"/>
              </a:solidFill>
            </a:endParaRPr>
          </a:p>
        </p:txBody>
      </p:sp>
      <p:sp>
        <p:nvSpPr>
          <p:cNvPr id="11" name="形状 18">
            <a:extLst>
              <a:ext uri="{FF2B5EF4-FFF2-40B4-BE49-F238E27FC236}">
                <a16:creationId xmlns:a16="http://schemas.microsoft.com/office/drawing/2014/main" id="{A8DB1317-A08F-458E-99EF-C4C479A3C9A3}"/>
              </a:ext>
            </a:extLst>
          </p:cNvPr>
          <p:cNvSpPr/>
          <p:nvPr/>
        </p:nvSpPr>
        <p:spPr>
          <a:xfrm>
            <a:off x="6941789" y="3425497"/>
            <a:ext cx="1970676" cy="461665"/>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marL="0" indent="0" algn="ctr" defTabSz="914400" eaLnBrk="0" fontAlgn="auto" latinLnBrk="0">
              <a:lnSpc>
                <a:spcPct val="100000"/>
              </a:lnSpc>
              <a:spcBef>
                <a:spcPts val="0"/>
              </a:spcBef>
              <a:spcAft>
                <a:spcPts val="0"/>
              </a:spcAft>
              <a:buFontTx/>
              <a:buNone/>
            </a:pPr>
            <a:r>
              <a:rPr lang="zh-CN" altLang="en-US" cap="none" dirty="0">
                <a:solidFill>
                  <a:srgbClr val="FFFF00"/>
                </a:solidFill>
                <a:latin typeface="华文楷体" panose="02010600040101010101" pitchFamily="2" charset="-122"/>
                <a:ea typeface="华文楷体" panose="02010600040101010101" pitchFamily="2" charset="-122"/>
              </a:rPr>
              <a:t>局部最优化</a:t>
            </a:r>
            <a:endParaRPr lang="ko-KR" altLang="en-US" cap="none" dirty="0">
              <a:solidFill>
                <a:srgbClr val="FFFF00"/>
              </a:solidFill>
              <a:latin typeface="华文楷体" panose="02010600040101010101" pitchFamily="2" charset="-122"/>
              <a:ea typeface="楷体_GB2312" charset="0"/>
            </a:endParaRPr>
          </a:p>
        </p:txBody>
      </p:sp>
      <p:sp>
        <p:nvSpPr>
          <p:cNvPr id="12" name="矩形 11">
            <a:extLst>
              <a:ext uri="{FF2B5EF4-FFF2-40B4-BE49-F238E27FC236}">
                <a16:creationId xmlns:a16="http://schemas.microsoft.com/office/drawing/2014/main" id="{4B9B74A7-F395-4A5C-8E12-D68268CEA8E5}"/>
              </a:ext>
            </a:extLst>
          </p:cNvPr>
          <p:cNvSpPr/>
          <p:nvPr/>
        </p:nvSpPr>
        <p:spPr>
          <a:xfrm>
            <a:off x="6164243" y="4084039"/>
            <a:ext cx="2664296" cy="461665"/>
          </a:xfrm>
          <a:prstGeom prst="rect">
            <a:avLst/>
          </a:prstGeom>
          <a:noFill/>
          <a:ln>
            <a:noFill/>
          </a:ln>
          <a:effectLst/>
          <a:scene3d>
            <a:camera prst="orthographicFront"/>
            <a:lightRig rig="threePt" dir="t"/>
          </a:scene3d>
          <a:sp3d>
            <a:bevelT w="139700" h="139700" prst="divot"/>
          </a:sp3d>
        </p:spPr>
        <p:style>
          <a:lnRef idx="3">
            <a:schemeClr val="lt1"/>
          </a:lnRef>
          <a:fillRef idx="1">
            <a:schemeClr val="accent1"/>
          </a:fillRef>
          <a:effectRef idx="1">
            <a:schemeClr val="accent1"/>
          </a:effectRef>
          <a:fontRef idx="minor">
            <a:schemeClr val="lt1"/>
          </a:fontRef>
        </p:style>
        <p:txBody>
          <a:bodyPr wrap="square">
            <a:spAutoFit/>
          </a:bodyPr>
          <a:lstStyle/>
          <a:p>
            <a:pPr algn="just" defTabSz="685800">
              <a:spcBef>
                <a:spcPts val="0"/>
              </a:spcBef>
              <a:spcAft>
                <a:spcPts val="0"/>
              </a:spcAft>
            </a:pPr>
            <a:r>
              <a:rPr lang="zh-CN" altLang="en-US" sz="1200" b="1" dirty="0">
                <a:solidFill>
                  <a:srgbClr val="FF0000"/>
                </a:solidFill>
                <a:latin typeface="微软雅黑" panose="020B0503020204020204" pitchFamily="34" charset="-122"/>
                <a:ea typeface="微软雅黑" panose="020B0503020204020204" pitchFamily="34" charset="-122"/>
              </a:rPr>
              <a:t>建议数值求根和求极小值时，最好配合目标函数</a:t>
            </a:r>
            <a:r>
              <a:rPr lang="en-US" altLang="ko-KR" sz="1200" b="1" dirty="0">
                <a:solidFill>
                  <a:srgbClr val="FF0000"/>
                </a:solidFill>
                <a:latin typeface="微软雅黑" panose="020B0503020204020204" pitchFamily="34" charset="-122"/>
                <a:ea typeface="微软雅黑" panose="020B0503020204020204" pitchFamily="34" charset="-122"/>
              </a:rPr>
              <a:t>图</a:t>
            </a:r>
            <a:r>
              <a:rPr lang="zh-CN" altLang="en-US" sz="1200" b="1" dirty="0">
                <a:solidFill>
                  <a:srgbClr val="FF0000"/>
                </a:solidFill>
                <a:latin typeface="微软雅黑" panose="020B0503020204020204" pitchFamily="34" charset="-122"/>
                <a:ea typeface="微软雅黑" panose="020B0503020204020204" pitchFamily="34" charset="-122"/>
              </a:rPr>
              <a:t>，确认变量范围</a:t>
            </a:r>
            <a:endParaRPr lang="ko-KR" altLang="en-US" sz="1200" b="1" dirty="0">
              <a:solidFill>
                <a:srgbClr val="FF0000"/>
              </a:solidFill>
              <a:latin typeface="微软雅黑" panose="020B0503020204020204" pitchFamily="34" charset="-122"/>
            </a:endParaRPr>
          </a:p>
        </p:txBody>
      </p:sp>
      <p:sp>
        <p:nvSpPr>
          <p:cNvPr id="13" name="文本框 12">
            <a:extLst>
              <a:ext uri="{FF2B5EF4-FFF2-40B4-BE49-F238E27FC236}">
                <a16:creationId xmlns:a16="http://schemas.microsoft.com/office/drawing/2014/main" id="{D034465F-27BD-4C18-B3FB-FA0019BCAFCF}"/>
              </a:ext>
            </a:extLst>
          </p:cNvPr>
          <p:cNvSpPr txBox="1"/>
          <p:nvPr/>
        </p:nvSpPr>
        <p:spPr>
          <a:xfrm>
            <a:off x="4637208" y="715392"/>
            <a:ext cx="4477531" cy="954107"/>
          </a:xfrm>
          <a:prstGeom prst="rect">
            <a:avLst/>
          </a:prstGeom>
          <a:noFill/>
        </p:spPr>
        <p:txBody>
          <a:bodyPr wrap="square">
            <a:spAutoFit/>
          </a:bodyPr>
          <a:lstStyle/>
          <a:p>
            <a:r>
              <a:rPr lang="zh-CN" altLang="en-US" sz="1400" dirty="0">
                <a:solidFill>
                  <a:srgbClr val="00B0F0"/>
                </a:solidFill>
              </a:rPr>
              <a:t>cm,gm=fminbnd(gmin,2,60)</a:t>
            </a:r>
            <a:endParaRPr lang="en-US" altLang="zh-CN" sz="1400" dirty="0">
              <a:solidFill>
                <a:srgbClr val="00B0F0"/>
              </a:solidFill>
            </a:endParaRPr>
          </a:p>
          <a:p>
            <a:r>
              <a:rPr lang="zh-CN" altLang="en-US" sz="1400" dirty="0">
                <a:solidFill>
                  <a:srgbClr val="00B0F0"/>
                </a:solidFill>
              </a:rPr>
              <a:t> </a:t>
            </a:r>
            <a:r>
              <a:rPr lang="en-US" altLang="zh-CN" sz="1400" dirty="0">
                <a:solidFill>
                  <a:srgbClr val="00B0F0"/>
                </a:solidFill>
              </a:rPr>
              <a:t>#</a:t>
            </a:r>
            <a:r>
              <a:rPr lang="zh-CN" altLang="en-US" sz="1400" dirty="0">
                <a:solidFill>
                  <a:srgbClr val="00B0F0"/>
                </a:solidFill>
              </a:rPr>
              <a:t>结果(2.0000482526301684, -0.3571403951870017</a:t>
            </a:r>
            <a:endParaRPr lang="en-US" altLang="zh-CN" sz="1400" dirty="0">
              <a:solidFill>
                <a:srgbClr val="00B0F0"/>
              </a:solidFill>
            </a:endParaRPr>
          </a:p>
          <a:p>
            <a:r>
              <a:rPr lang="en-US" altLang="zh-CN" sz="1400" dirty="0">
                <a:solidFill>
                  <a:srgbClr val="00B0F0"/>
                </a:solidFill>
              </a:rPr>
              <a:t>#</a:t>
            </a:r>
            <a:r>
              <a:rPr lang="zh-CN" altLang="en-US" sz="1400" dirty="0">
                <a:solidFill>
                  <a:srgbClr val="00B0F0"/>
                </a:solidFill>
              </a:rPr>
              <a:t>最小值在下边界处</a:t>
            </a:r>
            <a:r>
              <a:rPr lang="en-US" altLang="zh-CN" sz="1400" dirty="0">
                <a:solidFill>
                  <a:srgbClr val="00B0F0"/>
                </a:solidFill>
              </a:rPr>
              <a:t>,</a:t>
            </a:r>
            <a:r>
              <a:rPr lang="zh-CN" altLang="en-US" sz="1400" dirty="0">
                <a:solidFill>
                  <a:srgbClr val="00B0F0"/>
                </a:solidFill>
              </a:rPr>
              <a:t>，即单调增加，不包括峰值区</a:t>
            </a:r>
          </a:p>
          <a:p>
            <a:endParaRPr lang="zh-CN" altLang="en-US" sz="1400" dirty="0">
              <a:solidFill>
                <a:srgbClr val="00B0F0"/>
              </a:solidFill>
            </a:endParaRPr>
          </a:p>
        </p:txBody>
      </p:sp>
    </p:spTree>
    <p:extLst>
      <p:ext uri="{BB962C8B-B14F-4D97-AF65-F5344CB8AC3E}">
        <p14:creationId xmlns:p14="http://schemas.microsoft.com/office/powerpoint/2010/main" val="1935526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E87AD1-0A40-481D-860D-AE27ACD9A86F}"/>
              </a:ext>
            </a:extLst>
          </p:cNvPr>
          <p:cNvSpPr>
            <a:spLocks noGrp="1"/>
          </p:cNvSpPr>
          <p:nvPr>
            <p:ph type="title"/>
          </p:nvPr>
        </p:nvSpPr>
        <p:spPr/>
        <p:txBody>
          <a:bodyPr/>
          <a:lstStyle/>
          <a:p>
            <a:r>
              <a:rPr lang="zh-CN" altLang="en-US" dirty="0"/>
              <a:t>大作业</a:t>
            </a:r>
          </a:p>
        </p:txBody>
      </p:sp>
      <p:pic>
        <p:nvPicPr>
          <p:cNvPr id="5" name="图片 4">
            <a:extLst>
              <a:ext uri="{FF2B5EF4-FFF2-40B4-BE49-F238E27FC236}">
                <a16:creationId xmlns:a16="http://schemas.microsoft.com/office/drawing/2014/main" id="{24F25A9E-BAD7-4A1C-A54C-505B3ACE94E2}"/>
              </a:ext>
            </a:extLst>
          </p:cNvPr>
          <p:cNvPicPr>
            <a:picLocks noChangeAspect="1"/>
          </p:cNvPicPr>
          <p:nvPr/>
        </p:nvPicPr>
        <p:blipFill rotWithShape="1">
          <a:blip r:embed="rId2"/>
          <a:srcRect r="3382" b="78865"/>
          <a:stretch/>
        </p:blipFill>
        <p:spPr>
          <a:xfrm>
            <a:off x="896932" y="841787"/>
            <a:ext cx="6609394" cy="1552282"/>
          </a:xfrm>
          <a:prstGeom prst="rect">
            <a:avLst/>
          </a:prstGeom>
        </p:spPr>
      </p:pic>
      <p:pic>
        <p:nvPicPr>
          <p:cNvPr id="4" name="图片 3">
            <a:extLst>
              <a:ext uri="{FF2B5EF4-FFF2-40B4-BE49-F238E27FC236}">
                <a16:creationId xmlns:a16="http://schemas.microsoft.com/office/drawing/2014/main" id="{0BE71853-1EA5-4FE3-BEF7-B99372ED296D}"/>
              </a:ext>
            </a:extLst>
          </p:cNvPr>
          <p:cNvPicPr>
            <a:picLocks noChangeAspect="1"/>
          </p:cNvPicPr>
          <p:nvPr/>
        </p:nvPicPr>
        <p:blipFill rotWithShape="1">
          <a:blip r:embed="rId2"/>
          <a:srcRect t="67034" r="750" b="8614"/>
          <a:stretch/>
        </p:blipFill>
        <p:spPr>
          <a:xfrm>
            <a:off x="806922" y="2571750"/>
            <a:ext cx="6789414" cy="1872208"/>
          </a:xfrm>
          <a:prstGeom prst="rect">
            <a:avLst/>
          </a:prstGeom>
        </p:spPr>
      </p:pic>
    </p:spTree>
    <p:extLst>
      <p:ext uri="{BB962C8B-B14F-4D97-AF65-F5344CB8AC3E}">
        <p14:creationId xmlns:p14="http://schemas.microsoft.com/office/powerpoint/2010/main" val="2307879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1">
            <a:extLst>
              <a:ext uri="{FF2B5EF4-FFF2-40B4-BE49-F238E27FC236}">
                <a16:creationId xmlns:a16="http://schemas.microsoft.com/office/drawing/2014/main" id="{4A3A74E4-DC6C-436E-87C5-D9CCD11330FB}"/>
              </a:ext>
            </a:extLst>
          </p:cNvPr>
          <p:cNvSpPr/>
          <p:nvPr/>
        </p:nvSpPr>
        <p:spPr bwMode="auto">
          <a:xfrm>
            <a:off x="57491" y="672651"/>
            <a:ext cx="8411714" cy="400110"/>
          </a:xfrm>
          <a:prstGeom prst="rect">
            <a:avLst/>
          </a:prstGeom>
          <a:solidFill>
            <a:schemeClr val="bg1"/>
          </a:solidFill>
        </p:spPr>
        <p:txBody>
          <a:bodyPr vert="horz" wrap="square" lIns="91440" tIns="45720" rIns="91440" bIns="45720" numCol="1" anchor="t">
            <a:spAutoFit/>
          </a:bodyPr>
          <a:lstStyle/>
          <a:p>
            <a:pPr eaLnBrk="0">
              <a:spcBef>
                <a:spcPts val="800"/>
              </a:spcBef>
              <a:spcAft>
                <a:spcPts val="0"/>
              </a:spcAft>
              <a:buClr>
                <a:srgbClr val="002060"/>
              </a:buClr>
            </a:pPr>
            <a:r>
              <a:rPr lang="en-US" altLang="zh-CN"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fminsearch</a:t>
            </a:r>
            <a:r>
              <a:rPr lang="zh-CN" altLang="en-US"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无约束多变量函数最小值</a:t>
            </a:r>
            <a:r>
              <a:rPr lang="zh-CN" altLang="en-US" sz="2000" dirty="0">
                <a:solidFill>
                  <a:srgbClr val="0070C0"/>
                </a:solidFill>
                <a:latin typeface="微软雅黑" panose="020B0503020204020204" pitchFamily="34" charset="-122"/>
                <a:ea typeface="微软雅黑" panose="020B0503020204020204" pitchFamily="34" charset="-122"/>
              </a:rPr>
              <a:t>问题描述</a:t>
            </a:r>
            <a:r>
              <a:rPr lang="zh-CN" altLang="en-US"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p>
        </p:txBody>
      </p:sp>
      <p:pic>
        <p:nvPicPr>
          <p:cNvPr id="15" name="图片 14">
            <a:extLst>
              <a:ext uri="{FF2B5EF4-FFF2-40B4-BE49-F238E27FC236}">
                <a16:creationId xmlns:a16="http://schemas.microsoft.com/office/drawing/2014/main" id="{10542C54-A316-4BD1-803A-5CC27C6FA1CB}"/>
              </a:ext>
            </a:extLst>
          </p:cNvPr>
          <p:cNvPicPr>
            <a:picLocks noChangeAspect="1"/>
          </p:cNvPicPr>
          <p:nvPr/>
        </p:nvPicPr>
        <p:blipFill rotWithShape="1">
          <a:blip r:embed="rId3"/>
          <a:srcRect l="65750" t="85243" r="21650" b="8001"/>
          <a:stretch/>
        </p:blipFill>
        <p:spPr>
          <a:xfrm>
            <a:off x="5436120" y="688403"/>
            <a:ext cx="1214506" cy="507817"/>
          </a:xfrm>
          <a:prstGeom prst="rect">
            <a:avLst/>
          </a:prstGeom>
        </p:spPr>
      </p:pic>
      <p:sp>
        <p:nvSpPr>
          <p:cNvPr id="12" name="文本框 11">
            <a:extLst>
              <a:ext uri="{FF2B5EF4-FFF2-40B4-BE49-F238E27FC236}">
                <a16:creationId xmlns:a16="http://schemas.microsoft.com/office/drawing/2014/main" id="{1CD4EF3B-4480-431A-A799-EE7601479441}"/>
              </a:ext>
            </a:extLst>
          </p:cNvPr>
          <p:cNvSpPr txBox="1"/>
          <p:nvPr/>
        </p:nvSpPr>
        <p:spPr>
          <a:xfrm>
            <a:off x="10357" y="154640"/>
            <a:ext cx="9040193" cy="492443"/>
          </a:xfrm>
          <a:prstGeom prst="rect">
            <a:avLst/>
          </a:prstGeom>
          <a:solidFill>
            <a:schemeClr val="bg1"/>
          </a:solidFill>
        </p:spPr>
        <p:txBody>
          <a:bodyPr wrap="square">
            <a:spAutoFit/>
          </a:bodyPr>
          <a:lstStyle>
            <a:defPPr>
              <a:defRPr lang="zh-CN"/>
            </a:defPPr>
            <a:lvl1pPr>
              <a:lnSpc>
                <a:spcPct val="150000"/>
              </a:lnSpc>
              <a:defRPr sz="3200">
                <a:solidFill>
                  <a:srgbClr val="002060"/>
                </a:solidFill>
                <a:latin typeface="华文楷体" panose="02010600040101010101" pitchFamily="2" charset="-122"/>
                <a:ea typeface="华文楷体" panose="02010600040101010101" pitchFamily="2" charset="-122"/>
              </a:defRPr>
            </a:lvl1pPr>
          </a:lstStyle>
          <a:p>
            <a:pPr>
              <a:lnSpc>
                <a:spcPct val="100000"/>
              </a:lnSpc>
            </a:pPr>
            <a:r>
              <a:rPr lang="en-US" altLang="zh-CN" sz="2600" b="0" dirty="0">
                <a:solidFill>
                  <a:srgbClr val="002060"/>
                </a:solidFill>
              </a:rPr>
              <a:t>§8.4.2 </a:t>
            </a:r>
            <a:r>
              <a:rPr lang="zh-CN" altLang="en-US" sz="2600" kern="0" dirty="0"/>
              <a:t>多元</a:t>
            </a:r>
            <a:r>
              <a:rPr lang="zh-CN" altLang="en-US" sz="2600" dirty="0"/>
              <a:t>函数</a:t>
            </a:r>
            <a:r>
              <a:rPr lang="en-US" altLang="zh-CN" sz="2600" dirty="0"/>
              <a:t>f(x1,x2)</a:t>
            </a:r>
            <a:r>
              <a:rPr lang="zh-CN" altLang="en-US" sz="2600" dirty="0"/>
              <a:t>无约束最</a:t>
            </a:r>
            <a:r>
              <a:rPr lang="en-US" altLang="ko-KR" sz="2600" dirty="0" err="1"/>
              <a:t>小值</a:t>
            </a:r>
            <a:r>
              <a:rPr lang="en-US" altLang="zh-CN" sz="2600" kern="0" dirty="0">
                <a:solidFill>
                  <a:srgbClr val="FF0000"/>
                </a:solidFill>
              </a:rPr>
              <a:t>——fminsearch</a:t>
            </a:r>
            <a:r>
              <a:rPr lang="zh-CN" altLang="en-US" sz="2600" kern="0" dirty="0">
                <a:solidFill>
                  <a:srgbClr val="FF0000"/>
                </a:solidFill>
              </a:rPr>
              <a:t>和</a:t>
            </a:r>
            <a:r>
              <a:rPr lang="en-US" altLang="zh-CN" sz="2600" b="0" dirty="0" err="1">
                <a:solidFill>
                  <a:srgbClr val="FF0000"/>
                </a:solidFill>
              </a:rPr>
              <a:t>fminunc</a:t>
            </a:r>
            <a:endParaRPr lang="zh-CN" altLang="en-US" sz="2600" dirty="0"/>
          </a:p>
        </p:txBody>
      </p:sp>
      <p:sp>
        <p:nvSpPr>
          <p:cNvPr id="13" name="形状 18">
            <a:extLst>
              <a:ext uri="{FF2B5EF4-FFF2-40B4-BE49-F238E27FC236}">
                <a16:creationId xmlns:a16="http://schemas.microsoft.com/office/drawing/2014/main" id="{2C4E48E8-2D30-4C93-9A1F-F516AA26C0E5}"/>
              </a:ext>
            </a:extLst>
          </p:cNvPr>
          <p:cNvSpPr/>
          <p:nvPr/>
        </p:nvSpPr>
        <p:spPr>
          <a:xfrm>
            <a:off x="6555702" y="679958"/>
            <a:ext cx="2405555" cy="461665"/>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marL="0" indent="0" algn="ctr" defTabSz="914400" eaLnBrk="0" fontAlgn="auto" latinLnBrk="0">
              <a:lnSpc>
                <a:spcPct val="100000"/>
              </a:lnSpc>
              <a:spcBef>
                <a:spcPts val="0"/>
              </a:spcBef>
              <a:spcAft>
                <a:spcPts val="0"/>
              </a:spcAft>
              <a:buFontTx/>
              <a:buNone/>
            </a:pPr>
            <a:r>
              <a:rPr lang="zh-CN" altLang="en-US" cap="none" dirty="0">
                <a:solidFill>
                  <a:srgbClr val="FFFF00"/>
                </a:solidFill>
                <a:latin typeface="华文楷体" panose="02010600040101010101" pitchFamily="2" charset="-122"/>
                <a:ea typeface="华文楷体" panose="02010600040101010101" pitchFamily="2" charset="-122"/>
              </a:rPr>
              <a:t>局部最优化</a:t>
            </a:r>
            <a:endParaRPr lang="ko-KR" altLang="en-US" cap="none" dirty="0">
              <a:solidFill>
                <a:srgbClr val="FFFF00"/>
              </a:solidFill>
              <a:latin typeface="华文楷体" panose="02010600040101010101" pitchFamily="2" charset="-122"/>
              <a:ea typeface="楷体_GB2312" charset="0"/>
            </a:endParaRPr>
          </a:p>
        </p:txBody>
      </p:sp>
      <p:sp>
        <p:nvSpPr>
          <p:cNvPr id="19" name="内容占位符 2">
            <a:extLst>
              <a:ext uri="{FF2B5EF4-FFF2-40B4-BE49-F238E27FC236}">
                <a16:creationId xmlns:a16="http://schemas.microsoft.com/office/drawing/2014/main" id="{D29187B2-0E66-49CD-AFBD-EB9E13B4EC3F}"/>
              </a:ext>
            </a:extLst>
          </p:cNvPr>
          <p:cNvSpPr txBox="1">
            <a:spLocks/>
          </p:cNvSpPr>
          <p:nvPr/>
        </p:nvSpPr>
        <p:spPr bwMode="auto">
          <a:xfrm>
            <a:off x="57491" y="1899377"/>
            <a:ext cx="9217024" cy="2721579"/>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a:lnSpc>
                <a:spcPts val="2300"/>
              </a:lnSpc>
            </a:pPr>
            <a:r>
              <a:rPr lang="en-US" altLang="zh-CN" sz="1400" dirty="0">
                <a:solidFill>
                  <a:srgbClr val="00B0F0"/>
                </a:solidFill>
                <a:latin typeface="微软雅黑" panose="020B0503020204020204" pitchFamily="34" charset="-122"/>
                <a:ea typeface="微软雅黑" panose="020B0503020204020204" pitchFamily="34" charset="-122"/>
              </a:rPr>
              <a:t>fun</a:t>
            </a:r>
            <a:r>
              <a:rPr lang="zh-CN" altLang="en-US" sz="1400" dirty="0">
                <a:solidFill>
                  <a:srgbClr val="00B0F0"/>
                </a:solidFill>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目标函数</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即要计算最小值的函数 </a:t>
            </a:r>
            <a:r>
              <a:rPr lang="en-US" altLang="zh-CN" sz="1400" dirty="0">
                <a:latin typeface="微软雅黑" panose="020B0503020204020204" pitchFamily="34" charset="-122"/>
                <a:ea typeface="微软雅黑" panose="020B0503020204020204" pitchFamily="34" charset="-122"/>
              </a:rPr>
              <a:t>fun(x),</a:t>
            </a:r>
            <a:r>
              <a:rPr lang="zh-CN" altLang="en-US" sz="1400" dirty="0">
                <a:latin typeface="微软雅黑" panose="020B0503020204020204" pitchFamily="34" charset="-122"/>
                <a:ea typeface="微软雅黑" panose="020B0503020204020204" pitchFamily="34" charset="-122"/>
              </a:rPr>
              <a:t> </a:t>
            </a:r>
            <a:r>
              <a:rPr lang="en-US" altLang="zh-CN" sz="1400" dirty="0">
                <a:latin typeface="微软雅黑" panose="020B0503020204020204" pitchFamily="34" charset="-122"/>
                <a:ea typeface="微软雅黑" panose="020B0503020204020204" pitchFamily="34" charset="-122"/>
              </a:rPr>
              <a:t>fun</a:t>
            </a:r>
            <a:r>
              <a:rPr lang="zh-CN" altLang="en-US" sz="1400" dirty="0">
                <a:latin typeface="微软雅黑" panose="020B0503020204020204" pitchFamily="34" charset="-122"/>
                <a:ea typeface="微软雅黑" panose="020B0503020204020204" pitchFamily="34" charset="-122"/>
              </a:rPr>
              <a:t>只能有一个自变量</a:t>
            </a:r>
            <a:r>
              <a:rPr lang="en-US" altLang="zh-CN" sz="1400" dirty="0">
                <a:latin typeface="微软雅黑" panose="020B0503020204020204" pitchFamily="34" charset="-122"/>
                <a:ea typeface="微软雅黑" panose="020B0503020204020204" pitchFamily="34" charset="-122"/>
              </a:rPr>
              <a:t>x,</a:t>
            </a:r>
            <a:r>
              <a:rPr lang="zh-CN" altLang="en-US" sz="1400" dirty="0">
                <a:latin typeface="微软雅黑" panose="020B0503020204020204" pitchFamily="34" charset="-122"/>
                <a:ea typeface="微软雅黑" panose="020B0503020204020204" pitchFamily="34" charset="-122"/>
              </a:rPr>
              <a:t>则向量</a:t>
            </a:r>
            <a:r>
              <a:rPr lang="en-US" altLang="zh-CN" sz="1400" dirty="0">
                <a:latin typeface="微软雅黑" panose="020B0503020204020204" pitchFamily="34" charset="-122"/>
                <a:ea typeface="微软雅黑" panose="020B0503020204020204" pitchFamily="34" charset="-122"/>
              </a:rPr>
              <a:t>x=[x1,x2]</a:t>
            </a:r>
          </a:p>
          <a:p>
            <a:pPr>
              <a:lnSpc>
                <a:spcPts val="2300"/>
              </a:lnSpc>
            </a:pPr>
            <a:r>
              <a:rPr lang="en-US" altLang="zh-CN" sz="1400" dirty="0">
                <a:solidFill>
                  <a:srgbClr val="00B0F0"/>
                </a:solidFill>
                <a:latin typeface="微软雅黑" panose="020B0503020204020204" pitchFamily="34" charset="-122"/>
                <a:ea typeface="微软雅黑" panose="020B0503020204020204" pitchFamily="34" charset="-122"/>
              </a:rPr>
              <a:t>x0:</a:t>
            </a:r>
            <a:r>
              <a:rPr lang="en-US" altLang="zh-CN" sz="1400" dirty="0">
                <a:solidFill>
                  <a:srgbClr val="2C3E50"/>
                </a:solidFill>
                <a:latin typeface="微软雅黑" panose="020B0503020204020204" pitchFamily="34" charset="-122"/>
                <a:ea typeface="微软雅黑" panose="020B0503020204020204" pitchFamily="34" charset="-122"/>
              </a:rPr>
              <a:t> </a:t>
            </a:r>
            <a:r>
              <a:rPr lang="zh-CN" altLang="en-US" sz="1400" b="1" dirty="0">
                <a:solidFill>
                  <a:srgbClr val="2C3E50"/>
                </a:solidFill>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初始点，</a:t>
            </a:r>
            <a:r>
              <a:rPr lang="zh-CN" altLang="en-US" sz="1400" b="1" dirty="0">
                <a:solidFill>
                  <a:srgbClr val="FF0000"/>
                </a:solidFill>
                <a:latin typeface="微软雅黑" panose="020B0503020204020204" pitchFamily="34" charset="-122"/>
                <a:ea typeface="微软雅黑" panose="020B0503020204020204" pitchFamily="34" charset="-122"/>
              </a:rPr>
              <a:t>从</a:t>
            </a:r>
            <a:r>
              <a:rPr lang="en-US" altLang="zh-CN" sz="1400" b="1" dirty="0">
                <a:solidFill>
                  <a:srgbClr val="FF0000"/>
                </a:solidFill>
                <a:latin typeface="微软雅黑" panose="020B0503020204020204" pitchFamily="34" charset="-122"/>
                <a:ea typeface="微软雅黑" panose="020B0503020204020204" pitchFamily="34" charset="-122"/>
              </a:rPr>
              <a:t>x0</a:t>
            </a:r>
            <a:r>
              <a:rPr lang="zh-CN" altLang="en-US" sz="1400" b="1" dirty="0">
                <a:solidFill>
                  <a:srgbClr val="FF0000"/>
                </a:solidFill>
                <a:latin typeface="微软雅黑" panose="020B0503020204020204" pitchFamily="34" charset="-122"/>
                <a:ea typeface="微软雅黑" panose="020B0503020204020204" pitchFamily="34" charset="-122"/>
              </a:rPr>
              <a:t>开始搜索，尝试寻找</a:t>
            </a:r>
            <a:r>
              <a:rPr lang="en-US" altLang="zh-CN" sz="1400" b="1" dirty="0">
                <a:solidFill>
                  <a:srgbClr val="FF0000"/>
                </a:solidFill>
                <a:latin typeface="微软雅黑" panose="020B0503020204020204" pitchFamily="34" charset="-122"/>
                <a:ea typeface="微软雅黑" panose="020B0503020204020204" pitchFamily="34" charset="-122"/>
              </a:rPr>
              <a:t>fun</a:t>
            </a:r>
            <a:r>
              <a:rPr lang="zh-CN" altLang="en-US" sz="1400" b="1" dirty="0">
                <a:solidFill>
                  <a:srgbClr val="FF0000"/>
                </a:solidFill>
                <a:latin typeface="微软雅黑" panose="020B0503020204020204" pitchFamily="34" charset="-122"/>
                <a:ea typeface="微软雅黑" panose="020B0503020204020204" pitchFamily="34" charset="-122"/>
              </a:rPr>
              <a:t>局部最小的</a:t>
            </a:r>
            <a:r>
              <a:rPr lang="en-US" altLang="zh-CN" sz="1400" b="1" dirty="0">
                <a:solidFill>
                  <a:srgbClr val="FF0000"/>
                </a:solidFill>
                <a:latin typeface="微软雅黑" panose="020B0503020204020204" pitchFamily="34" charset="-122"/>
                <a:ea typeface="微软雅黑" panose="020B0503020204020204" pitchFamily="34" charset="-122"/>
              </a:rPr>
              <a:t>x</a:t>
            </a:r>
            <a:r>
              <a:rPr lang="zh-CN" altLang="en-US" sz="1400" b="1" dirty="0">
                <a:solidFill>
                  <a:srgbClr val="FF0000"/>
                </a:solidFill>
                <a:latin typeface="微软雅黑" panose="020B0503020204020204" pitchFamily="34" charset="-122"/>
                <a:ea typeface="微软雅黑" panose="020B0503020204020204" pitchFamily="34" charset="-122"/>
              </a:rPr>
              <a:t>值，为</a:t>
            </a:r>
            <a:r>
              <a:rPr lang="en-US" altLang="zh-CN" sz="1400" b="1" dirty="0">
                <a:solidFill>
                  <a:srgbClr val="FF0000"/>
                </a:solidFill>
                <a:latin typeface="微软雅黑" panose="020B0503020204020204" pitchFamily="34" charset="-122"/>
                <a:ea typeface="微软雅黑" panose="020B0503020204020204" pitchFamily="34" charset="-122"/>
              </a:rPr>
              <a:t>x0=x10,x20】</a:t>
            </a:r>
            <a:endParaRPr lang="en-US" altLang="zh-CN" sz="1400" dirty="0">
              <a:solidFill>
                <a:srgbClr val="00B0F0"/>
              </a:solidFill>
              <a:latin typeface="微软雅黑" panose="020B0503020204020204" pitchFamily="34" charset="-122"/>
              <a:ea typeface="微软雅黑" panose="020B0503020204020204" pitchFamily="34" charset="-122"/>
            </a:endParaRPr>
          </a:p>
          <a:p>
            <a:pPr>
              <a:lnSpc>
                <a:spcPts val="2300"/>
              </a:lnSpc>
            </a:pPr>
            <a:r>
              <a:rPr lang="en-US" altLang="zh-CN" sz="1400" dirty="0">
                <a:solidFill>
                  <a:srgbClr val="00B0F0"/>
                </a:solidFill>
                <a:latin typeface="微软雅黑" panose="020B0503020204020204" pitchFamily="34" charset="-122"/>
                <a:ea typeface="微软雅黑" panose="020B0503020204020204" pitchFamily="34" charset="-122"/>
              </a:rPr>
              <a:t>x</a:t>
            </a:r>
            <a:r>
              <a:rPr lang="zh-CN" altLang="en-US" sz="1400" dirty="0">
                <a:solidFill>
                  <a:srgbClr val="00B0F0"/>
                </a:solidFill>
                <a:latin typeface="微软雅黑" panose="020B0503020204020204" pitchFamily="34" charset="-122"/>
                <a:ea typeface="微软雅黑" panose="020B0503020204020204" pitchFamily="34" charset="-122"/>
              </a:rPr>
              <a:t>：最优</a:t>
            </a:r>
            <a:r>
              <a:rPr lang="zh-CN" altLang="en-US" sz="1400" dirty="0">
                <a:latin typeface="微软雅黑" panose="020B0503020204020204" pitchFamily="34" charset="-122"/>
                <a:ea typeface="微软雅黑" panose="020B0503020204020204" pitchFamily="34" charset="-122"/>
              </a:rPr>
              <a:t>解</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即极值点，为实数向量</a:t>
            </a:r>
            <a:r>
              <a:rPr lang="en-US" altLang="zh-CN" sz="1400" dirty="0">
                <a:latin typeface="微软雅黑" panose="020B0503020204020204" pitchFamily="34" charset="-122"/>
                <a:ea typeface="微软雅黑" panose="020B0503020204020204" pitchFamily="34" charset="-122"/>
              </a:rPr>
              <a:t>x=[x1,x2】</a:t>
            </a:r>
            <a:r>
              <a:rPr lang="zh-CN" altLang="en-US" sz="1400" dirty="0">
                <a:latin typeface="微软雅黑" panose="020B0503020204020204" pitchFamily="34" charset="-122"/>
                <a:ea typeface="微软雅黑" panose="020B0503020204020204" pitchFamily="34" charset="-122"/>
              </a:rPr>
              <a:t>，为该问题局部解</a:t>
            </a:r>
            <a:endParaRPr lang="en-US" altLang="zh-CN" sz="1400" dirty="0">
              <a:latin typeface="微软雅黑" panose="020B0503020204020204" pitchFamily="34" charset="-122"/>
              <a:ea typeface="微软雅黑" panose="020B0503020204020204" pitchFamily="34" charset="-122"/>
            </a:endParaRPr>
          </a:p>
          <a:p>
            <a:pPr>
              <a:lnSpc>
                <a:spcPts val="2300"/>
              </a:lnSpc>
            </a:pPr>
            <a:r>
              <a:rPr lang="en-US" altLang="zh-CN" sz="1400" dirty="0" err="1">
                <a:solidFill>
                  <a:srgbClr val="00B0F0"/>
                </a:solidFill>
                <a:latin typeface="微软雅黑" panose="020B0503020204020204" pitchFamily="34" charset="-122"/>
                <a:ea typeface="微软雅黑" panose="020B0503020204020204" pitchFamily="34" charset="-122"/>
              </a:rPr>
              <a:t>fval</a:t>
            </a:r>
            <a:r>
              <a:rPr lang="en-US" altLang="zh-CN" sz="1400" dirty="0">
                <a:solidFill>
                  <a:srgbClr val="00B0F0"/>
                </a:solidFill>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极小值，即解</a:t>
            </a:r>
            <a:r>
              <a:rPr lang="en-US" altLang="zh-CN" sz="1400" dirty="0">
                <a:latin typeface="微软雅黑" panose="020B0503020204020204" pitchFamily="34" charset="-122"/>
                <a:ea typeface="微软雅黑" panose="020B0503020204020204" pitchFamily="34" charset="-122"/>
              </a:rPr>
              <a:t>x</a:t>
            </a:r>
            <a:r>
              <a:rPr lang="zh-CN" altLang="en-US" sz="1400" dirty="0">
                <a:latin typeface="微软雅黑" panose="020B0503020204020204" pitchFamily="34" charset="-122"/>
                <a:ea typeface="微软雅黑" panose="020B0503020204020204" pitchFamily="34" charset="-122"/>
              </a:rPr>
              <a:t>处的目标函数值，结果</a:t>
            </a:r>
            <a:r>
              <a:rPr lang="en-US" altLang="zh-CN" sz="1400" b="0" i="0" dirty="0">
                <a:solidFill>
                  <a:srgbClr val="2C3E50"/>
                </a:solidFill>
                <a:effectLst/>
                <a:latin typeface="微软雅黑" panose="020B0503020204020204" pitchFamily="34" charset="-122"/>
                <a:ea typeface="微软雅黑" panose="020B0503020204020204" pitchFamily="34" charset="-122"/>
              </a:rPr>
              <a:t> </a:t>
            </a:r>
            <a:r>
              <a:rPr lang="en-US" altLang="zh-CN" sz="1400" b="0" i="0" dirty="0" err="1">
                <a:solidFill>
                  <a:srgbClr val="2C3E50"/>
                </a:solidFill>
                <a:effectLst/>
                <a:latin typeface="微软雅黑" panose="020B0503020204020204" pitchFamily="34" charset="-122"/>
                <a:ea typeface="微软雅黑" panose="020B0503020204020204" pitchFamily="34" charset="-122"/>
              </a:rPr>
              <a:t>fval</a:t>
            </a:r>
            <a:r>
              <a:rPr lang="en-US" altLang="zh-CN" sz="1400" b="0" i="0" dirty="0">
                <a:solidFill>
                  <a:srgbClr val="2C3E50"/>
                </a:solidFill>
                <a:effectLst/>
                <a:latin typeface="微软雅黑" panose="020B0503020204020204" pitchFamily="34" charset="-122"/>
                <a:ea typeface="微软雅黑" panose="020B0503020204020204" pitchFamily="34" charset="-122"/>
              </a:rPr>
              <a:t> = fun</a:t>
            </a:r>
            <a:r>
              <a:rPr lang="zh-CN" altLang="en-US" sz="1400" b="0" i="0" dirty="0">
                <a:solidFill>
                  <a:srgbClr val="2C3E50"/>
                </a:solidFill>
                <a:effectLst/>
                <a:latin typeface="微软雅黑" panose="020B0503020204020204" pitchFamily="34" charset="-122"/>
                <a:ea typeface="微软雅黑" panose="020B0503020204020204" pitchFamily="34" charset="-122"/>
              </a:rPr>
              <a:t>（</a:t>
            </a:r>
            <a:r>
              <a:rPr lang="en-US" altLang="zh-CN" sz="1400" b="0" i="0" dirty="0">
                <a:solidFill>
                  <a:srgbClr val="2C3E50"/>
                </a:solidFill>
                <a:effectLst/>
                <a:latin typeface="微软雅黑" panose="020B0503020204020204" pitchFamily="34" charset="-122"/>
                <a:ea typeface="微软雅黑" panose="020B0503020204020204" pitchFamily="34" charset="-122"/>
              </a:rPr>
              <a:t>x</a:t>
            </a:r>
            <a:r>
              <a:rPr lang="zh-CN" altLang="en-US" sz="1400" b="0" i="0" dirty="0">
                <a:solidFill>
                  <a:srgbClr val="2C3E50"/>
                </a:solidFill>
                <a:effectLst/>
                <a:latin typeface="微软雅黑" panose="020B0503020204020204" pitchFamily="34" charset="-122"/>
                <a:ea typeface="微软雅黑" panose="020B0503020204020204" pitchFamily="34" charset="-122"/>
              </a:rPr>
              <a:t>）</a:t>
            </a:r>
            <a:endParaRPr lang="en-US" altLang="zh-CN" sz="1400" b="0" i="0" dirty="0">
              <a:solidFill>
                <a:srgbClr val="2C3E50"/>
              </a:solidFill>
              <a:effectLst/>
              <a:latin typeface="微软雅黑" panose="020B0503020204020204" pitchFamily="34" charset="-122"/>
              <a:ea typeface="微软雅黑" panose="020B0503020204020204" pitchFamily="34" charset="-122"/>
            </a:endParaRPr>
          </a:p>
          <a:p>
            <a:pPr>
              <a:lnSpc>
                <a:spcPts val="2300"/>
              </a:lnSpc>
            </a:pPr>
            <a:r>
              <a:rPr lang="en-US" altLang="zh-CN" sz="1400" dirty="0" err="1">
                <a:solidFill>
                  <a:srgbClr val="00B0F0"/>
                </a:solidFill>
                <a:latin typeface="微软雅黑" panose="020B0503020204020204" pitchFamily="34" charset="-122"/>
                <a:ea typeface="微软雅黑" panose="020B0503020204020204" pitchFamily="34" charset="-122"/>
              </a:rPr>
              <a:t>exitflag</a:t>
            </a:r>
            <a:r>
              <a:rPr lang="en-US" altLang="zh-CN" sz="1400" dirty="0">
                <a:solidFill>
                  <a:srgbClr val="00B0F0"/>
                </a:solidFill>
                <a:latin typeface="微软雅黑" panose="020B0503020204020204" pitchFamily="34" charset="-122"/>
                <a:ea typeface="微软雅黑" panose="020B0503020204020204" pitchFamily="34" charset="-122"/>
              </a:rPr>
              <a:t>:</a:t>
            </a:r>
            <a:r>
              <a:rPr lang="en-US" altLang="ko-KR" sz="1400" cap="none" dirty="0">
                <a:solidFill>
                  <a:srgbClr val="0070C0"/>
                </a:solidFill>
                <a:latin typeface="微软雅黑" panose="020B0503020204020204" pitchFamily="34" charset="-122"/>
                <a:ea typeface="微软雅黑" panose="020B0503020204020204" pitchFamily="34" charset="-122"/>
              </a:rPr>
              <a:t> </a:t>
            </a:r>
            <a:r>
              <a:rPr lang="en-US" altLang="ko-KR" sz="1400" dirty="0" err="1">
                <a:latin typeface="微软雅黑" panose="020B0503020204020204" pitchFamily="34" charset="-122"/>
                <a:ea typeface="微软雅黑" panose="020B0503020204020204" pitchFamily="34" charset="-122"/>
              </a:rPr>
              <a:t>程序退出标志</a:t>
            </a:r>
            <a:r>
              <a:rPr lang="en-US" altLang="ko-KR" sz="1400" dirty="0">
                <a:latin typeface="微软雅黑" panose="020B0503020204020204" pitchFamily="34" charset="-122"/>
                <a:ea typeface="微软雅黑" panose="020B0503020204020204" pitchFamily="34" charset="-122"/>
              </a:rPr>
              <a:t>,    1</a:t>
            </a:r>
            <a:r>
              <a:rPr lang="zh-CN" altLang="en-US" sz="1400" dirty="0">
                <a:latin typeface="微软雅黑" panose="020B0503020204020204" pitchFamily="34" charset="-122"/>
                <a:ea typeface="微软雅黑" panose="020B0503020204020204" pitchFamily="34" charset="-122"/>
              </a:rPr>
              <a:t>收敛</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 </a:t>
            </a:r>
            <a:r>
              <a:rPr lang="en-US" altLang="zh-CN" sz="1400" dirty="0">
                <a:latin typeface="微软雅黑" panose="020B0503020204020204" pitchFamily="34" charset="-122"/>
                <a:ea typeface="微软雅黑" panose="020B0503020204020204" pitchFamily="34" charset="-122"/>
              </a:rPr>
              <a:t>0</a:t>
            </a:r>
            <a:r>
              <a:rPr lang="zh-CN" altLang="en-US" sz="1400" dirty="0">
                <a:latin typeface="微软雅黑" panose="020B0503020204020204" pitchFamily="34" charset="-122"/>
                <a:ea typeface="微软雅黑" panose="020B0503020204020204" pitchFamily="34" charset="-122"/>
              </a:rPr>
              <a:t>迭代次数超出上限</a:t>
            </a:r>
            <a:endParaRPr lang="en-US" altLang="zh-CN" sz="1400" dirty="0">
              <a:latin typeface="微软雅黑" panose="020B0503020204020204" pitchFamily="34" charset="-122"/>
              <a:ea typeface="微软雅黑" panose="020B0503020204020204" pitchFamily="34" charset="-122"/>
            </a:endParaRPr>
          </a:p>
          <a:p>
            <a:pPr>
              <a:lnSpc>
                <a:spcPts val="2300"/>
              </a:lnSpc>
            </a:pPr>
            <a:r>
              <a:rPr lang="en-US" altLang="zh-CN" sz="1400" dirty="0">
                <a:solidFill>
                  <a:srgbClr val="00B0F0"/>
                </a:solidFill>
                <a:latin typeface="微软雅黑" panose="020B0503020204020204" pitchFamily="34" charset="-122"/>
                <a:ea typeface="微软雅黑" panose="020B0503020204020204" pitchFamily="34" charset="-122"/>
              </a:rPr>
              <a:t>output :</a:t>
            </a:r>
            <a:r>
              <a:rPr lang="en-US" altLang="ko-KR" sz="1400" dirty="0">
                <a:solidFill>
                  <a:srgbClr val="00B0F0"/>
                </a:solidFill>
                <a:latin typeface="微软雅黑" panose="020B0503020204020204" pitchFamily="34" charset="-122"/>
                <a:ea typeface="微软雅黑" panose="020B0503020204020204" pitchFamily="34" charset="-122"/>
              </a:rPr>
              <a:t> </a:t>
            </a:r>
            <a:r>
              <a:rPr lang="en-US" altLang="ko-KR" sz="1400" dirty="0" err="1">
                <a:latin typeface="微软雅黑" panose="020B0503020204020204" pitchFamily="34" charset="-122"/>
                <a:ea typeface="微软雅黑" panose="020B0503020204020204" pitchFamily="34" charset="-122"/>
              </a:rPr>
              <a:t>输出信息</a:t>
            </a:r>
            <a:r>
              <a:rPr lang="zh-CN" altLang="en-US" sz="1400" dirty="0">
                <a:latin typeface="微软雅黑" panose="020B0503020204020204" pitchFamily="34" charset="-122"/>
                <a:ea typeface="微软雅黑" panose="020B0503020204020204" pitchFamily="34" charset="-122"/>
              </a:rPr>
              <a:t>结构体</a:t>
            </a:r>
            <a:r>
              <a:rPr lang="en-US" altLang="ko-KR"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包括迭代次数、函数计算次数、算法和退出消息</a:t>
            </a:r>
            <a:endParaRPr lang="en-US" altLang="zh-CN" sz="1400" dirty="0">
              <a:latin typeface="微软雅黑" panose="020B0503020204020204" pitchFamily="34" charset="-122"/>
              <a:ea typeface="微软雅黑" panose="020B0503020204020204" pitchFamily="34" charset="-122"/>
            </a:endParaRPr>
          </a:p>
          <a:p>
            <a:pPr>
              <a:lnSpc>
                <a:spcPts val="2300"/>
              </a:lnSpc>
            </a:pPr>
            <a:r>
              <a:rPr lang="en-US" altLang="zh-CN" sz="1400" dirty="0" err="1">
                <a:solidFill>
                  <a:srgbClr val="00B0F0"/>
                </a:solidFill>
                <a:latin typeface="微软雅黑" panose="020B0503020204020204" pitchFamily="34" charset="-122"/>
                <a:ea typeface="微软雅黑" panose="020B0503020204020204" pitchFamily="34" charset="-122"/>
              </a:rPr>
              <a:t>grad:</a:t>
            </a:r>
            <a:r>
              <a:rPr lang="en-US" altLang="zh-CN" sz="1400" dirty="0" err="1">
                <a:latin typeface="微软雅黑" panose="020B0503020204020204" pitchFamily="34" charset="-122"/>
                <a:ea typeface="微软雅黑" panose="020B0503020204020204" pitchFamily="34" charset="-122"/>
              </a:rPr>
              <a:t>fun</a:t>
            </a:r>
            <a:r>
              <a:rPr lang="zh-CN" altLang="en-US" sz="1400" dirty="0">
                <a:latin typeface="微软雅黑" panose="020B0503020204020204" pitchFamily="34" charset="-122"/>
                <a:ea typeface="微软雅黑" panose="020B0503020204020204" pitchFamily="34" charset="-122"/>
              </a:rPr>
              <a:t>在解</a:t>
            </a:r>
            <a:r>
              <a:rPr lang="en-US" altLang="zh-CN" sz="1400" dirty="0">
                <a:latin typeface="微软雅黑" panose="020B0503020204020204" pitchFamily="34" charset="-122"/>
                <a:ea typeface="微软雅黑" panose="020B0503020204020204" pitchFamily="34" charset="-122"/>
              </a:rPr>
              <a:t>x</a:t>
            </a:r>
            <a:r>
              <a:rPr lang="zh-CN" altLang="en-US" sz="1400" dirty="0">
                <a:latin typeface="微软雅黑" panose="020B0503020204020204" pitchFamily="34" charset="-122"/>
                <a:ea typeface="微软雅黑" panose="020B0503020204020204" pitchFamily="34" charset="-122"/>
              </a:rPr>
              <a:t>处的梯度，可以忽略</a:t>
            </a:r>
            <a:endParaRPr lang="en-US" altLang="zh-CN" sz="1400" dirty="0">
              <a:latin typeface="微软雅黑" panose="020B0503020204020204" pitchFamily="34" charset="-122"/>
              <a:ea typeface="微软雅黑" panose="020B0503020204020204" pitchFamily="34" charset="-122"/>
            </a:endParaRPr>
          </a:p>
          <a:p>
            <a:pPr>
              <a:lnSpc>
                <a:spcPts val="2300"/>
              </a:lnSpc>
            </a:pPr>
            <a:r>
              <a:rPr lang="en-US" altLang="zh-CN" sz="1400" dirty="0">
                <a:solidFill>
                  <a:srgbClr val="00B0F0"/>
                </a:solidFill>
                <a:latin typeface="微软雅黑" panose="020B0503020204020204" pitchFamily="34" charset="-122"/>
                <a:ea typeface="微软雅黑" panose="020B0503020204020204" pitchFamily="34" charset="-122"/>
              </a:rPr>
              <a:t>hessian :</a:t>
            </a:r>
            <a:r>
              <a:rPr lang="en-US" altLang="zh-CN" sz="1400" dirty="0">
                <a:solidFill>
                  <a:srgbClr val="2C3E50"/>
                </a:solidFill>
                <a:latin typeface="微软雅黑" panose="020B0503020204020204" pitchFamily="34" charset="-122"/>
                <a:ea typeface="微软雅黑" panose="020B0503020204020204" pitchFamily="34" charset="-122"/>
              </a:rPr>
              <a:t>fun </a:t>
            </a:r>
            <a:r>
              <a:rPr lang="zh-CN" altLang="en-US" sz="1400" dirty="0">
                <a:solidFill>
                  <a:srgbClr val="2C3E50"/>
                </a:solidFill>
                <a:latin typeface="微软雅黑" panose="020B0503020204020204" pitchFamily="34" charset="-122"/>
                <a:ea typeface="微软雅黑" panose="020B0503020204020204" pitchFamily="34" charset="-122"/>
              </a:rPr>
              <a:t>在解 </a:t>
            </a:r>
            <a:r>
              <a:rPr lang="en-US" altLang="zh-CN" sz="1400" dirty="0">
                <a:solidFill>
                  <a:srgbClr val="2C3E50"/>
                </a:solidFill>
                <a:latin typeface="微软雅黑" panose="020B0503020204020204" pitchFamily="34" charset="-122"/>
                <a:ea typeface="微软雅黑" panose="020B0503020204020204" pitchFamily="34" charset="-122"/>
              </a:rPr>
              <a:t>x </a:t>
            </a:r>
            <a:r>
              <a:rPr lang="zh-CN" altLang="en-US" sz="1400" dirty="0">
                <a:solidFill>
                  <a:srgbClr val="2C3E50"/>
                </a:solidFill>
                <a:latin typeface="微软雅黑" panose="020B0503020204020204" pitchFamily="34" charset="-122"/>
                <a:ea typeface="微软雅黑" panose="020B0503020204020204" pitchFamily="34" charset="-122"/>
              </a:rPr>
              <a:t>处的 </a:t>
            </a:r>
            <a:r>
              <a:rPr lang="en-US" altLang="zh-CN" sz="1400" dirty="0">
                <a:solidFill>
                  <a:srgbClr val="2C3E50"/>
                </a:solidFill>
                <a:latin typeface="微软雅黑" panose="020B0503020204020204" pitchFamily="34" charset="-122"/>
                <a:ea typeface="微软雅黑" panose="020B0503020204020204" pitchFamily="34" charset="-122"/>
              </a:rPr>
              <a:t>Hessian </a:t>
            </a:r>
            <a:r>
              <a:rPr lang="zh-CN" altLang="en-US" sz="1400" dirty="0">
                <a:solidFill>
                  <a:srgbClr val="2C3E50"/>
                </a:solidFill>
                <a:latin typeface="微软雅黑" panose="020B0503020204020204" pitchFamily="34" charset="-122"/>
                <a:ea typeface="微软雅黑" panose="020B0503020204020204" pitchFamily="34" charset="-122"/>
              </a:rPr>
              <a:t>矩阵</a:t>
            </a:r>
            <a:r>
              <a:rPr lang="zh-CN" altLang="en-US" sz="1400" dirty="0">
                <a:latin typeface="微软雅黑" panose="020B0503020204020204" pitchFamily="34" charset="-122"/>
                <a:ea typeface="微软雅黑" panose="020B0503020204020204" pitchFamily="34" charset="-122"/>
              </a:rPr>
              <a:t>，可忽略</a:t>
            </a:r>
            <a:endParaRPr lang="en-US" altLang="zh-CN" sz="1400" dirty="0">
              <a:latin typeface="微软雅黑" panose="020B0503020204020204" pitchFamily="34" charset="-122"/>
              <a:ea typeface="微软雅黑" panose="020B0503020204020204" pitchFamily="34" charset="-122"/>
            </a:endParaRPr>
          </a:p>
          <a:p>
            <a:pPr>
              <a:lnSpc>
                <a:spcPts val="2300"/>
              </a:lnSpc>
            </a:pPr>
            <a:r>
              <a:rPr lang="zh-CN" altLang="en-US" sz="1400" dirty="0">
                <a:solidFill>
                  <a:srgbClr val="00B0F0"/>
                </a:solidFill>
                <a:latin typeface="微软雅黑" panose="020B0503020204020204" pitchFamily="34" charset="-122"/>
                <a:ea typeface="微软雅黑" panose="020B0503020204020204" pitchFamily="34" charset="-122"/>
              </a:rPr>
              <a:t>优化选项</a:t>
            </a:r>
            <a:r>
              <a:rPr lang="zh-CN" altLang="zh-CN" sz="1400" dirty="0">
                <a:solidFill>
                  <a:srgbClr val="000000"/>
                </a:solidFill>
                <a:latin typeface="微软雅黑" panose="020B0503020204020204" pitchFamily="34" charset="-122"/>
                <a:ea typeface="微软雅黑" panose="020B0503020204020204" pitchFamily="34" charset="-122"/>
              </a:rPr>
              <a:t>options</a:t>
            </a:r>
            <a:r>
              <a:rPr lang="zh-CN" altLang="en-US" sz="1400" dirty="0">
                <a:solidFill>
                  <a:srgbClr val="00B0F0"/>
                </a:solidFill>
                <a:latin typeface="微软雅黑" panose="020B0503020204020204" pitchFamily="34" charset="-122"/>
                <a:ea typeface="微软雅黑" panose="020B0503020204020204" pitchFamily="34" charset="-122"/>
              </a:rPr>
              <a:t>显示设置</a:t>
            </a:r>
            <a:r>
              <a:rPr lang="zh-CN" altLang="en-US" sz="1400" dirty="0">
                <a:latin typeface="微软雅黑" panose="020B0503020204020204" pitchFamily="34" charset="-122"/>
                <a:ea typeface="微软雅黑" panose="020B0503020204020204" pitchFamily="34" charset="-122"/>
              </a:rPr>
              <a:t>：</a:t>
            </a:r>
            <a:r>
              <a:rPr lang="zh-CN" altLang="zh-CN" sz="1400" dirty="0">
                <a:latin typeface="微软雅黑" panose="020B0503020204020204" pitchFamily="34" charset="-122"/>
                <a:ea typeface="微软雅黑" panose="020B0503020204020204" pitchFamily="34" charset="-122"/>
              </a:rPr>
              <a:t>optimset(Display=“iter”)</a:t>
            </a:r>
            <a:r>
              <a:rPr lang="zh-CN" altLang="en-US" sz="1400" dirty="0">
                <a:latin typeface="微软雅黑" panose="020B0503020204020204" pitchFamily="34" charset="-122"/>
                <a:ea typeface="微软雅黑" panose="020B0503020204020204" pitchFamily="34" charset="-122"/>
              </a:rPr>
              <a:t>默认</a:t>
            </a:r>
            <a:r>
              <a:rPr lang="en-US" altLang="zh-CN" sz="1400" dirty="0">
                <a:latin typeface="微软雅黑" panose="020B0503020204020204" pitchFamily="34" charset="-122"/>
                <a:ea typeface="微软雅黑" panose="020B0503020204020204" pitchFamily="34" charset="-122"/>
              </a:rPr>
              <a:t>notify</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off, </a:t>
            </a:r>
            <a:r>
              <a:rPr lang="en-US" altLang="zh-CN" sz="1400" dirty="0" err="1">
                <a:latin typeface="微软雅黑" panose="020B0503020204020204" pitchFamily="34" charset="-122"/>
                <a:ea typeface="微软雅黑" panose="020B0503020204020204" pitchFamily="34" charset="-122"/>
              </a:rPr>
              <a:t>iter</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final</a:t>
            </a:r>
            <a:r>
              <a:rPr lang="zh-CN" altLang="en-US" sz="1400" dirty="0">
                <a:latin typeface="微软雅黑" panose="020B0503020204020204" pitchFamily="34" charset="-122"/>
                <a:ea typeface="微软雅黑" panose="020B0503020204020204" pitchFamily="34" charset="-122"/>
              </a:rPr>
              <a:t>，可忽略</a:t>
            </a:r>
          </a:p>
        </p:txBody>
      </p:sp>
      <p:sp>
        <p:nvSpPr>
          <p:cNvPr id="20" name="形状 18">
            <a:extLst>
              <a:ext uri="{FF2B5EF4-FFF2-40B4-BE49-F238E27FC236}">
                <a16:creationId xmlns:a16="http://schemas.microsoft.com/office/drawing/2014/main" id="{64A703F7-14BB-4F0F-9161-0F505DF0C71B}"/>
              </a:ext>
            </a:extLst>
          </p:cNvPr>
          <p:cNvSpPr/>
          <p:nvPr/>
        </p:nvSpPr>
        <p:spPr>
          <a:xfrm>
            <a:off x="5949839" y="3712557"/>
            <a:ext cx="1055139" cy="441009"/>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just" defTabSz="685800">
              <a:spcBef>
                <a:spcPts val="0"/>
              </a:spcBef>
              <a:spcAft>
                <a:spcPts val="0"/>
              </a:spcAft>
            </a:pPr>
            <a:r>
              <a:rPr lang="zh-CN" altLang="en-US" b="1" dirty="0">
                <a:solidFill>
                  <a:srgbClr val="FFFF00"/>
                </a:solidFill>
                <a:latin typeface="华文楷体" panose="02010600040101010101" pitchFamily="2" charset="-122"/>
                <a:ea typeface="隶书" panose="02010509060101010101" pitchFamily="49" charset="-122"/>
              </a:rPr>
              <a:t>注意</a:t>
            </a:r>
            <a:endParaRPr lang="ko-KR" altLang="en-US" b="1" dirty="0">
              <a:solidFill>
                <a:srgbClr val="FFFF00"/>
              </a:solidFill>
              <a:latin typeface="华文楷体" panose="02010600040101010101" pitchFamily="2" charset="-122"/>
              <a:ea typeface="隶书" panose="02010509060101010101" pitchFamily="49" charset="-122"/>
            </a:endParaRPr>
          </a:p>
        </p:txBody>
      </p:sp>
      <p:pic>
        <p:nvPicPr>
          <p:cNvPr id="21" name="图片 20">
            <a:extLst>
              <a:ext uri="{FF2B5EF4-FFF2-40B4-BE49-F238E27FC236}">
                <a16:creationId xmlns:a16="http://schemas.microsoft.com/office/drawing/2014/main" id="{980568AF-BD98-4920-8E79-5B834DCA6924}"/>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36320" b="77596" l="51558" r="78648"/>
                    </a14:imgEffect>
                  </a14:imgLayer>
                </a14:imgProps>
              </a:ext>
            </a:extLst>
          </a:blip>
          <a:srcRect l="48172" t="31161" r="17966" b="17245"/>
          <a:stretch/>
        </p:blipFill>
        <p:spPr>
          <a:xfrm>
            <a:off x="6832810" y="1830236"/>
            <a:ext cx="2538719" cy="2175817"/>
          </a:xfrm>
          <a:prstGeom prst="rect">
            <a:avLst/>
          </a:prstGeom>
        </p:spPr>
      </p:pic>
      <p:sp>
        <p:nvSpPr>
          <p:cNvPr id="2" name="文本框 1">
            <a:extLst>
              <a:ext uri="{FF2B5EF4-FFF2-40B4-BE49-F238E27FC236}">
                <a16:creationId xmlns:a16="http://schemas.microsoft.com/office/drawing/2014/main" id="{6A47919D-3176-4280-B24E-C8967E63F21B}"/>
              </a:ext>
            </a:extLst>
          </p:cNvPr>
          <p:cNvSpPr txBox="1"/>
          <p:nvPr/>
        </p:nvSpPr>
        <p:spPr>
          <a:xfrm>
            <a:off x="7524328" y="2418442"/>
            <a:ext cx="646331" cy="369332"/>
          </a:xfrm>
          <a:prstGeom prst="rect">
            <a:avLst/>
          </a:prstGeom>
          <a:noFill/>
        </p:spPr>
        <p:txBody>
          <a:bodyPr wrap="none" rtlCol="0">
            <a:spAutoFit/>
          </a:bodyPr>
          <a:lstStyle/>
          <a:p>
            <a:r>
              <a:rPr lang="zh-CN" altLang="en-US" dirty="0">
                <a:solidFill>
                  <a:srgbClr val="FF0000"/>
                </a:solidFill>
              </a:rPr>
              <a:t>峰谷</a:t>
            </a:r>
          </a:p>
        </p:txBody>
      </p:sp>
      <p:sp>
        <p:nvSpPr>
          <p:cNvPr id="16" name="矩形 15">
            <a:extLst>
              <a:ext uri="{FF2B5EF4-FFF2-40B4-BE49-F238E27FC236}">
                <a16:creationId xmlns:a16="http://schemas.microsoft.com/office/drawing/2014/main" id="{3B36C017-44DE-4E78-B425-23200BF7224C}"/>
              </a:ext>
            </a:extLst>
          </p:cNvPr>
          <p:cNvSpPr/>
          <p:nvPr/>
        </p:nvSpPr>
        <p:spPr>
          <a:xfrm>
            <a:off x="59476" y="1146398"/>
            <a:ext cx="1870555" cy="341632"/>
          </a:xfrm>
          <a:prstGeom prst="rect">
            <a:avLst/>
          </a:prstGeom>
          <a:solidFill>
            <a:schemeClr val="bg1"/>
          </a:solid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zh-CN" altLang="en-US"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无导数法计算</a:t>
            </a:r>
            <a:endParaRPr lang="ko-KR" altLang="en-US"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Rectangle 5">
            <a:extLst>
              <a:ext uri="{FF2B5EF4-FFF2-40B4-BE49-F238E27FC236}">
                <a16:creationId xmlns:a16="http://schemas.microsoft.com/office/drawing/2014/main" id="{CE40CD58-27B8-4224-9EE9-128A63A30E57}"/>
              </a:ext>
            </a:extLst>
          </p:cNvPr>
          <p:cNvSpPr>
            <a:spLocks noChangeArrowheads="1"/>
          </p:cNvSpPr>
          <p:nvPr/>
        </p:nvSpPr>
        <p:spPr bwMode="auto">
          <a:xfrm>
            <a:off x="55284" y="1582046"/>
            <a:ext cx="1608640" cy="341632"/>
          </a:xfrm>
          <a:prstGeom prst="rect">
            <a:avLst/>
          </a:prstGeom>
          <a:solidFill>
            <a:schemeClr val="bg1"/>
          </a:solid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zh-CN" altLang="en-US"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导数法计算</a:t>
            </a:r>
            <a:endParaRPr lang="zh-CN" altLang="zh-CN"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Rectangle 1">
            <a:extLst>
              <a:ext uri="{FF2B5EF4-FFF2-40B4-BE49-F238E27FC236}">
                <a16:creationId xmlns:a16="http://schemas.microsoft.com/office/drawing/2014/main" id="{4A98862A-819C-4523-A09B-95D7E0310BDB}"/>
              </a:ext>
            </a:extLst>
          </p:cNvPr>
          <p:cNvSpPr>
            <a:spLocks noChangeArrowheads="1"/>
          </p:cNvSpPr>
          <p:nvPr/>
        </p:nvSpPr>
        <p:spPr bwMode="auto">
          <a:xfrm>
            <a:off x="0" y="182433"/>
            <a:ext cx="20840" cy="92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600" b="0" i="0" u="none" strike="noStrike" cap="none" normalizeH="0" baseline="0" dirty="0">
                <a:ln>
                  <a:noFill/>
                </a:ln>
                <a:solidFill>
                  <a:schemeClr val="tx1"/>
                </a:solidFill>
                <a:effectLst/>
              </a:rPr>
              <a:t> </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4" name="文本框 13">
            <a:extLst>
              <a:ext uri="{FF2B5EF4-FFF2-40B4-BE49-F238E27FC236}">
                <a16:creationId xmlns:a16="http://schemas.microsoft.com/office/drawing/2014/main" id="{F1CE67F6-BC27-467D-B00B-6D7D198BD351}"/>
              </a:ext>
            </a:extLst>
          </p:cNvPr>
          <p:cNvSpPr txBox="1"/>
          <p:nvPr/>
        </p:nvSpPr>
        <p:spPr>
          <a:xfrm>
            <a:off x="1533374" y="1558135"/>
            <a:ext cx="7538845" cy="300082"/>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algn="dist"/>
            <a:r>
              <a:rPr lang="zh-CN" altLang="zh-CN" sz="1500" dirty="0">
                <a:effectLst/>
                <a:highlight>
                  <a:srgbClr val="FF0000"/>
                </a:highlight>
                <a:latin typeface="Times New Roman" panose="02020603050405020304" pitchFamily="18" charset="0"/>
                <a:ea typeface="source-code-pro"/>
                <a:cs typeface="Times New Roman" panose="02020603050405020304" pitchFamily="18" charset="0"/>
              </a:rPr>
              <a:t>x</a:t>
            </a:r>
            <a:r>
              <a:rPr lang="zh-CN" altLang="zh-CN" sz="1500" dirty="0">
                <a:effectLst/>
                <a:latin typeface="Times New Roman" panose="02020603050405020304" pitchFamily="18" charset="0"/>
                <a:ea typeface="source-code-pro"/>
                <a:cs typeface="Times New Roman" panose="02020603050405020304" pitchFamily="18" charset="0"/>
              </a:rPr>
              <a:t>,fval,exitflag,output,grad,hessian</a:t>
            </a:r>
            <a:r>
              <a:rPr lang="en-US" altLang="zh-CN" sz="1500" dirty="0">
                <a:latin typeface="Times New Roman" panose="02020603050405020304" pitchFamily="18" charset="0"/>
                <a:cs typeface="Times New Roman" panose="02020603050405020304" pitchFamily="18" charset="0"/>
              </a:rPr>
              <a:t> </a:t>
            </a:r>
            <a:r>
              <a:rPr lang="en-US" altLang="zh-CN" sz="1500" b="0" dirty="0">
                <a:effectLst/>
                <a:latin typeface="Times New Roman" panose="02020603050405020304" pitchFamily="18" charset="0"/>
                <a:cs typeface="Times New Roman" panose="02020603050405020304" pitchFamily="18" charset="0"/>
              </a:rPr>
              <a:t>= </a:t>
            </a:r>
            <a:r>
              <a:rPr lang="en-US" altLang="zh-CN" sz="1500" b="0" dirty="0" err="1">
                <a:effectLst/>
                <a:highlight>
                  <a:srgbClr val="FF0000"/>
                </a:highlight>
                <a:latin typeface="Times New Roman" panose="02020603050405020304" pitchFamily="18" charset="0"/>
                <a:cs typeface="Times New Roman" panose="02020603050405020304" pitchFamily="18" charset="0"/>
              </a:rPr>
              <a:t>fminunc</a:t>
            </a:r>
            <a:r>
              <a:rPr lang="en-US" altLang="zh-CN" sz="1500" b="0" dirty="0">
                <a:effectLst/>
                <a:highlight>
                  <a:srgbClr val="FF0000"/>
                </a:highlight>
                <a:latin typeface="Times New Roman" panose="02020603050405020304" pitchFamily="18" charset="0"/>
                <a:cs typeface="Times New Roman" panose="02020603050405020304" pitchFamily="18" charset="0"/>
              </a:rPr>
              <a:t>(fun, x0</a:t>
            </a:r>
            <a:r>
              <a:rPr lang="en-US" altLang="ko-KR" sz="1500" b="0" dirty="0">
                <a:effectLst/>
                <a:latin typeface="华文楷体" panose="02010600040101010101" pitchFamily="2" charset="-122"/>
                <a:ea typeface="华文楷体" panose="02010600040101010101" pitchFamily="2" charset="-122"/>
                <a:cs typeface="Times New Roman" panose="02020603050405020304" pitchFamily="18" charset="0"/>
              </a:rPr>
              <a:t> </a:t>
            </a:r>
            <a:r>
              <a:rPr lang="en-US" altLang="ko-KR" sz="1500" dirty="0">
                <a:latin typeface="华文楷体" panose="02010600040101010101" pitchFamily="2" charset="-122"/>
                <a:ea typeface="华文楷体" panose="02010600040101010101" pitchFamily="2" charset="-122"/>
                <a:cs typeface="Times New Roman" panose="02020603050405020304" pitchFamily="18" charset="0"/>
              </a:rPr>
              <a:t>,</a:t>
            </a:r>
            <a:r>
              <a:rPr kumimoji="0" lang="zh-CN" altLang="zh-CN" sz="1500" i="0" u="none" strike="noStrike" cap="none" normalizeH="0" baseline="0" dirty="0">
                <a:ln>
                  <a:noFill/>
                </a:ln>
                <a:solidFill>
                  <a:srgbClr val="000000"/>
                </a:solidFill>
                <a:effectLst/>
                <a:latin typeface="Arial Unicode MS"/>
                <a:ea typeface="source-code-pro"/>
              </a:rPr>
              <a:t> </a:t>
            </a:r>
            <a:r>
              <a:rPr kumimoji="0" lang="zh-CN" altLang="zh-CN" sz="1500" i="0" u="none" strike="noStrike" cap="none" normalizeH="0" baseline="0" dirty="0">
                <a:ln>
                  <a:noFill/>
                </a:ln>
                <a:effectLst/>
                <a:latin typeface="Arial Unicode MS"/>
                <a:ea typeface="source-code-pro"/>
              </a:rPr>
              <a:t>options</a:t>
            </a:r>
            <a:r>
              <a:rPr lang="en-US" altLang="zh-CN" sz="1500" dirty="0">
                <a:highlight>
                  <a:srgbClr val="FF0000"/>
                </a:highlight>
                <a:latin typeface="Times New Roman" panose="02020603050405020304" pitchFamily="18" charset="0"/>
                <a:cs typeface="Times New Roman" panose="02020603050405020304" pitchFamily="18" charset="0"/>
              </a:rPr>
              <a:t>)</a:t>
            </a:r>
            <a:endParaRPr lang="ko-KR" altLang="en-US" sz="1500" dirty="0">
              <a:highlight>
                <a:srgbClr val="FF0000"/>
              </a:highlight>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FA7105B3-B31C-4E25-AC5C-3CD75C25C7EF}"/>
              </a:ext>
            </a:extLst>
          </p:cNvPr>
          <p:cNvSpPr txBox="1"/>
          <p:nvPr/>
        </p:nvSpPr>
        <p:spPr>
          <a:xfrm>
            <a:off x="1712304" y="1131266"/>
            <a:ext cx="7372220" cy="300082"/>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algn="dist"/>
            <a:r>
              <a:rPr lang="zh-CN" altLang="zh-CN" sz="1500" dirty="0">
                <a:highlight>
                  <a:srgbClr val="FF0000"/>
                </a:highlight>
                <a:latin typeface="华文楷体" panose="02010600040101010101" pitchFamily="2" charset="-122"/>
                <a:ea typeface="华文楷体" panose="02010600040101010101" pitchFamily="2" charset="-122"/>
              </a:rPr>
              <a:t>x</a:t>
            </a:r>
            <a:r>
              <a:rPr lang="zh-CN" altLang="zh-CN" sz="1500" dirty="0">
                <a:latin typeface="华文楷体" panose="02010600040101010101" pitchFamily="2" charset="-122"/>
                <a:ea typeface="华文楷体" panose="02010600040101010101" pitchFamily="2" charset="-122"/>
              </a:rPr>
              <a:t>,fval,exitflag,output</a:t>
            </a:r>
            <a:r>
              <a:rPr lang="en-US" altLang="zh-CN" sz="1500" dirty="0">
                <a:latin typeface="华文楷体" panose="02010600040101010101" pitchFamily="2" charset="-122"/>
                <a:ea typeface="华文楷体" panose="02010600040101010101" pitchFamily="2" charset="-122"/>
                <a:cs typeface="Times New Roman" panose="02020603050405020304" pitchFamily="18" charset="0"/>
              </a:rPr>
              <a:t>=</a:t>
            </a:r>
            <a:r>
              <a:rPr lang="en-US" altLang="ko-KR" sz="1500" dirty="0">
                <a:highlight>
                  <a:srgbClr val="FF0000"/>
                </a:highlight>
                <a:latin typeface="华文楷体" panose="02010600040101010101" pitchFamily="2" charset="-122"/>
                <a:ea typeface="华文楷体" panose="02010600040101010101" pitchFamily="2" charset="-122"/>
                <a:cs typeface="Times New Roman" panose="02020603050405020304" pitchFamily="18" charset="0"/>
              </a:rPr>
              <a:t>fminsearch(fun,</a:t>
            </a:r>
            <a:r>
              <a:rPr lang="en-US" altLang="zh-CN" sz="1500" dirty="0">
                <a:highlight>
                  <a:srgbClr val="FF0000"/>
                </a:highlight>
                <a:latin typeface="华文楷体" panose="02010600040101010101" pitchFamily="2" charset="-122"/>
                <a:ea typeface="华文楷体" panose="02010600040101010101" pitchFamily="2" charset="-122"/>
                <a:cs typeface="Times New Roman" panose="02020603050405020304" pitchFamily="18" charset="0"/>
              </a:rPr>
              <a:t>x0</a:t>
            </a:r>
            <a:r>
              <a:rPr lang="en-US" altLang="ko-KR" sz="1500" dirty="0">
                <a:latin typeface="华文楷体" panose="02010600040101010101" pitchFamily="2" charset="-122"/>
                <a:ea typeface="华文楷体" panose="02010600040101010101" pitchFamily="2" charset="-122"/>
                <a:cs typeface="Times New Roman" panose="02020603050405020304" pitchFamily="18" charset="0"/>
              </a:rPr>
              <a:t>,</a:t>
            </a:r>
            <a:r>
              <a:rPr kumimoji="0" lang="zh-CN" altLang="zh-CN" sz="1500" i="0" u="none" strike="noStrike" cap="none" normalizeH="0" baseline="0" dirty="0">
                <a:ln>
                  <a:noFill/>
                </a:ln>
                <a:solidFill>
                  <a:srgbClr val="000000"/>
                </a:solidFill>
                <a:effectLst/>
                <a:latin typeface="Arial Unicode MS"/>
                <a:ea typeface="source-code-pro"/>
              </a:rPr>
              <a:t> </a:t>
            </a:r>
            <a:r>
              <a:rPr kumimoji="0" lang="zh-CN" altLang="zh-CN" sz="1500" i="0" u="none" strike="noStrike" cap="none" normalizeH="0" baseline="0" dirty="0">
                <a:ln>
                  <a:noFill/>
                </a:ln>
                <a:effectLst/>
                <a:latin typeface="Arial Unicode MS"/>
                <a:ea typeface="source-code-pro"/>
              </a:rPr>
              <a:t>options</a:t>
            </a:r>
            <a:r>
              <a:rPr lang="en-US" altLang="ko-KR" sz="1500" dirty="0">
                <a:latin typeface="华文楷体" panose="02010600040101010101" pitchFamily="2" charset="-122"/>
                <a:ea typeface="华文楷体" panose="02010600040101010101" pitchFamily="2" charset="-122"/>
                <a:cs typeface="Times New Roman" panose="02020603050405020304" pitchFamily="18" charset="0"/>
              </a:rPr>
              <a:t>)</a:t>
            </a:r>
            <a:endParaRPr lang="ko-KR" altLang="en-US" sz="1500" dirty="0">
              <a:latin typeface="华文楷体" panose="02010600040101010101" pitchFamily="2" charset="-122"/>
              <a:cs typeface="Times New Roman" panose="02020603050405020304" pitchFamily="18" charset="0"/>
            </a:endParaRPr>
          </a:p>
        </p:txBody>
      </p:sp>
      <p:sp>
        <p:nvSpPr>
          <p:cNvPr id="24" name="文本框 23">
            <a:extLst>
              <a:ext uri="{FF2B5EF4-FFF2-40B4-BE49-F238E27FC236}">
                <a16:creationId xmlns:a16="http://schemas.microsoft.com/office/drawing/2014/main" id="{14539338-D2DA-484C-A574-B6C7FC3C0CEF}"/>
              </a:ext>
            </a:extLst>
          </p:cNvPr>
          <p:cNvSpPr txBox="1"/>
          <p:nvPr/>
        </p:nvSpPr>
        <p:spPr>
          <a:xfrm>
            <a:off x="7008922" y="3775369"/>
            <a:ext cx="2459622" cy="369332"/>
          </a:xfrm>
          <a:prstGeom prst="rect">
            <a:avLst/>
          </a:prstGeom>
          <a:noFill/>
        </p:spPr>
        <p:txBody>
          <a:bodyPr wrap="square">
            <a:spAutoFit/>
          </a:bodyPr>
          <a:lstStyle/>
          <a:p>
            <a:pPr algn="just" defTabSz="685800">
              <a:spcBef>
                <a:spcPts val="0"/>
              </a:spcBef>
              <a:spcAft>
                <a:spcPts val="0"/>
              </a:spcAft>
            </a:pPr>
            <a:r>
              <a:rPr lang="en-US" altLang="zh-CN" b="1" dirty="0">
                <a:solidFill>
                  <a:srgbClr val="FF0000"/>
                </a:solidFill>
                <a:latin typeface="华文楷体" panose="02010600040101010101" pitchFamily="2" charset="-122"/>
                <a:ea typeface="华文楷体" panose="02010600040101010101" pitchFamily="2" charset="-122"/>
              </a:rPr>
              <a:t>x</a:t>
            </a:r>
            <a:r>
              <a:rPr lang="zh-CN" altLang="en-US" b="1" dirty="0">
                <a:solidFill>
                  <a:srgbClr val="FF0000"/>
                </a:solidFill>
                <a:latin typeface="华文楷体" panose="02010600040101010101" pitchFamily="2" charset="-122"/>
                <a:ea typeface="华文楷体" panose="02010600040101010101" pitchFamily="2" charset="-122"/>
              </a:rPr>
              <a:t>、</a:t>
            </a:r>
            <a:r>
              <a:rPr lang="en-US" altLang="zh-CN" b="1" dirty="0">
                <a:solidFill>
                  <a:srgbClr val="FF0000"/>
                </a:solidFill>
                <a:latin typeface="华文楷体" panose="02010600040101010101" pitchFamily="2" charset="-122"/>
                <a:ea typeface="华文楷体" panose="02010600040101010101" pitchFamily="2" charset="-122"/>
              </a:rPr>
              <a:t>fun</a:t>
            </a:r>
            <a:r>
              <a:rPr lang="zh-CN" altLang="en-US" b="1" dirty="0">
                <a:solidFill>
                  <a:srgbClr val="FF0000"/>
                </a:solidFill>
                <a:latin typeface="华文楷体" panose="02010600040101010101" pitchFamily="2" charset="-122"/>
                <a:ea typeface="华文楷体" panose="02010600040101010101" pitchFamily="2" charset="-122"/>
              </a:rPr>
              <a:t>和</a:t>
            </a:r>
            <a:r>
              <a:rPr lang="en-US" altLang="zh-CN" b="1" dirty="0">
                <a:solidFill>
                  <a:srgbClr val="FF0000"/>
                </a:solidFill>
                <a:latin typeface="华文楷体" panose="02010600040101010101" pitchFamily="2" charset="-122"/>
                <a:ea typeface="华文楷体" panose="02010600040101010101" pitchFamily="2" charset="-122"/>
              </a:rPr>
              <a:t>x0</a:t>
            </a:r>
            <a:r>
              <a:rPr lang="zh-CN" altLang="en-US" b="1" dirty="0">
                <a:solidFill>
                  <a:srgbClr val="FF0000"/>
                </a:solidFill>
                <a:latin typeface="华文楷体" panose="02010600040101010101" pitchFamily="2" charset="-122"/>
                <a:ea typeface="华文楷体" panose="02010600040101010101" pitchFamily="2" charset="-122"/>
              </a:rPr>
              <a:t>必不可少</a:t>
            </a:r>
            <a:endParaRPr lang="ko-KR" altLang="en-US" b="1" dirty="0">
              <a:solidFill>
                <a:srgbClr val="FF0000"/>
              </a:solidFill>
              <a:latin typeface="华文楷体" panose="02010600040101010101" pitchFamily="2" charset="-122"/>
              <a:ea typeface="隶书" panose="02010509060101010101" pitchFamily="49" charset="-122"/>
            </a:endParaRPr>
          </a:p>
        </p:txBody>
      </p:sp>
      <p:sp>
        <p:nvSpPr>
          <p:cNvPr id="23" name="文本框 22">
            <a:extLst>
              <a:ext uri="{FF2B5EF4-FFF2-40B4-BE49-F238E27FC236}">
                <a16:creationId xmlns:a16="http://schemas.microsoft.com/office/drawing/2014/main" id="{83C21680-1F89-40CC-92E1-8BA2F4B046E6}"/>
              </a:ext>
            </a:extLst>
          </p:cNvPr>
          <p:cNvSpPr txBox="1"/>
          <p:nvPr/>
        </p:nvSpPr>
        <p:spPr>
          <a:xfrm>
            <a:off x="6067123" y="2522646"/>
            <a:ext cx="1630243" cy="646331"/>
          </a:xfrm>
          <a:prstGeom prst="rect">
            <a:avLst/>
          </a:prstGeom>
          <a:noFill/>
        </p:spPr>
        <p:txBody>
          <a:bodyPr wrap="square">
            <a:spAutoFit/>
          </a:bodyPr>
          <a:lstStyle/>
          <a:p>
            <a:r>
              <a:rPr lang="zh-CN" altLang="en-US" sz="1800" dirty="0">
                <a:solidFill>
                  <a:srgbClr val="00B0F0"/>
                </a:solidFill>
                <a:effectLst/>
              </a:rPr>
              <a:t>某个邻域内的相对最优解</a:t>
            </a:r>
            <a:endParaRPr lang="zh-CN" altLang="en-US" dirty="0">
              <a:solidFill>
                <a:srgbClr val="00B0F0"/>
              </a:solidFill>
            </a:endParaRPr>
          </a:p>
        </p:txBody>
      </p:sp>
    </p:spTree>
    <p:extLst>
      <p:ext uri="{BB962C8B-B14F-4D97-AF65-F5344CB8AC3E}">
        <p14:creationId xmlns:p14="http://schemas.microsoft.com/office/powerpoint/2010/main" val="2624413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 grpId="0"/>
      <p:bldP spid="17" grpId="0" animBg="1"/>
      <p:bldP spid="14" grpId="0" animBg="1"/>
      <p:bldP spid="24" grpId="0"/>
      <p:bldP spid="2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a:extLst>
              <a:ext uri="{FF2B5EF4-FFF2-40B4-BE49-F238E27FC236}">
                <a16:creationId xmlns:a16="http://schemas.microsoft.com/office/drawing/2014/main" id="{8B9CCC4B-E4C4-44E3-9D02-B980CD6AF226}"/>
              </a:ext>
            </a:extLst>
          </p:cNvPr>
          <p:cNvPicPr>
            <a:picLocks noChangeAspect="1"/>
          </p:cNvPicPr>
          <p:nvPr/>
        </p:nvPicPr>
        <p:blipFill rotWithShape="1">
          <a:blip r:embed="rId3"/>
          <a:srcRect b="6318"/>
          <a:stretch/>
        </p:blipFill>
        <p:spPr>
          <a:xfrm>
            <a:off x="4718521" y="1741347"/>
            <a:ext cx="4156995" cy="2716675"/>
          </a:xfrm>
          <a:prstGeom prst="rect">
            <a:avLst/>
          </a:prstGeom>
        </p:spPr>
      </p:pic>
      <p:sp>
        <p:nvSpPr>
          <p:cNvPr id="6" name="Rectangle 3">
            <a:extLst>
              <a:ext uri="{FF2B5EF4-FFF2-40B4-BE49-F238E27FC236}">
                <a16:creationId xmlns:a16="http://schemas.microsoft.com/office/drawing/2014/main" id="{F53BE958-DEF4-4601-9472-4A60FDECC273}"/>
              </a:ext>
            </a:extLst>
          </p:cNvPr>
          <p:cNvSpPr>
            <a:spLocks noChangeArrowheads="1"/>
          </p:cNvSpPr>
          <p:nvPr/>
        </p:nvSpPr>
        <p:spPr bwMode="auto">
          <a:xfrm>
            <a:off x="46495" y="1252670"/>
            <a:ext cx="335284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eaLnBrk="0" hangingPunct="0"/>
            <a:r>
              <a:rPr lang="zh-CN" altLang="en-US" sz="2000" b="1" dirty="0">
                <a:solidFill>
                  <a:srgbClr val="0070C0"/>
                </a:solidFill>
                <a:latin typeface="微软雅黑" panose="020B0503020204020204" pitchFamily="34" charset="-122"/>
                <a:ea typeface="微软雅黑" panose="020B0503020204020204" pitchFamily="34" charset="-122"/>
              </a:rPr>
              <a:t>（</a:t>
            </a:r>
            <a:r>
              <a:rPr lang="en-US" altLang="zh-CN" sz="2000" b="1" dirty="0">
                <a:solidFill>
                  <a:srgbClr val="0070C0"/>
                </a:solidFill>
                <a:latin typeface="微软雅黑" panose="020B0503020204020204" pitchFamily="34" charset="-122"/>
                <a:ea typeface="微软雅黑" panose="020B0503020204020204" pitchFamily="34" charset="-122"/>
              </a:rPr>
              <a:t>1</a:t>
            </a:r>
            <a:r>
              <a:rPr lang="zh-CN" altLang="en-US" sz="2000" b="1" dirty="0">
                <a:solidFill>
                  <a:srgbClr val="0070C0"/>
                </a:solidFill>
                <a:latin typeface="微软雅黑" panose="020B0503020204020204" pitchFamily="34" charset="-122"/>
                <a:ea typeface="微软雅黑" panose="020B0503020204020204" pitchFamily="34" charset="-122"/>
              </a:rPr>
              <a:t>）绘制带等高线曲面</a:t>
            </a:r>
            <a:endParaRPr lang="zh-CN" altLang="zh-CN" sz="2000" b="1" dirty="0">
              <a:solidFill>
                <a:srgbClr val="0070C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8" name="Rectangle 3">
                <a:extLst>
                  <a:ext uri="{FF2B5EF4-FFF2-40B4-BE49-F238E27FC236}">
                    <a16:creationId xmlns:a16="http://schemas.microsoft.com/office/drawing/2014/main" id="{F838843D-FDE2-4041-A629-A52172EC894E}"/>
                  </a:ext>
                </a:extLst>
              </p:cNvPr>
              <p:cNvSpPr>
                <a:spLocks noChangeArrowheads="1"/>
              </p:cNvSpPr>
              <p:nvPr/>
            </p:nvSpPr>
            <p:spPr bwMode="auto">
              <a:xfrm>
                <a:off x="1001178" y="796805"/>
                <a:ext cx="8021916" cy="283219"/>
              </a:xfrm>
              <a:prstGeom prst="rect">
                <a:avLst/>
              </a:prstGeom>
              <a:solidFill>
                <a:schemeClr val="bg1"/>
              </a:solidFill>
              <a:ln>
                <a:noFill/>
              </a:ln>
              <a:effectLst/>
            </p:spPr>
            <p:txBody>
              <a:bodyPr vert="horz" wrap="square" lIns="0" tIns="0" rIns="0" bIns="0" numCol="1" anchor="ctr" anchorCtr="0" compatLnSpc="1">
                <a:prstTxWarp prst="textNoShape">
                  <a:avLst/>
                </a:prstTxWarp>
                <a:spAutoFit/>
              </a:bodyPr>
              <a:lstStyle/>
              <a:p>
                <a:pPr lvl="0" algn="dist" eaLnBrk="0" hangingPunct="0"/>
                <a:r>
                  <a:rPr kumimoji="0" lang="en-US" altLang="zh-CN" b="1" i="0" u="none" strike="noStrike" cap="none" normalizeH="0" baseline="0" dirty="0">
                    <a:ln>
                      <a:noFill/>
                    </a:ln>
                    <a:solidFill>
                      <a:srgbClr val="0070C0"/>
                    </a:solidFill>
                    <a:effectLst/>
                    <a:latin typeface="Arial Unicode MS"/>
                    <a:ea typeface="Menlo"/>
                  </a:rPr>
                  <a:t> </a:t>
                </a:r>
                <a:r>
                  <a:rPr lang="en-US" altLang="zh-CN" b="1" kern="0" dirty="0">
                    <a:solidFill>
                      <a:srgbClr val="0070C0"/>
                    </a:solidFill>
                  </a:rPr>
                  <a:t>fminsearch</a:t>
                </a:r>
                <a:r>
                  <a:rPr lang="zh-CN" altLang="en-US" b="1" kern="0" dirty="0">
                    <a:solidFill>
                      <a:srgbClr val="0070C0"/>
                    </a:solidFill>
                  </a:rPr>
                  <a:t>和</a:t>
                </a:r>
                <a:r>
                  <a:rPr lang="en-US" altLang="zh-CN" b="1" kern="0" dirty="0" err="1">
                    <a:solidFill>
                      <a:srgbClr val="0070C0"/>
                    </a:solidFill>
                  </a:rPr>
                  <a:t>fminunc</a:t>
                </a:r>
                <a:r>
                  <a:rPr kumimoji="0" lang="zh-CN" altLang="en-US" b="1" i="0" u="none" strike="noStrike" cap="none" normalizeH="0" baseline="0" dirty="0">
                    <a:ln>
                      <a:noFill/>
                    </a:ln>
                    <a:solidFill>
                      <a:srgbClr val="0070C0"/>
                    </a:solidFill>
                    <a:effectLst/>
                    <a:latin typeface="Arial Unicode MS"/>
                    <a:ea typeface="Menlo"/>
                  </a:rPr>
                  <a:t>求</a:t>
                </a:r>
                <a14:m>
                  <m:oMath xmlns:m="http://schemas.openxmlformats.org/officeDocument/2006/math">
                    <m:r>
                      <a:rPr lang="en-US" altLang="zh-CN" b="1" i="1">
                        <a:solidFill>
                          <a:srgbClr val="0070C0"/>
                        </a:solidFill>
                        <a:latin typeface="Cambria Math" panose="02040503050406030204" pitchFamily="18" charset="0"/>
                        <a:ea typeface="Menlo"/>
                      </a:rPr>
                      <m:t>𝒇</m:t>
                    </m:r>
                    <m:r>
                      <a:rPr lang="en-US" altLang="zh-CN" b="1" i="1" smtClean="0">
                        <a:solidFill>
                          <a:srgbClr val="0070C0"/>
                        </a:solidFill>
                        <a:latin typeface="Cambria Math" panose="02040503050406030204" pitchFamily="18" charset="0"/>
                        <a:ea typeface="Menlo"/>
                      </a:rPr>
                      <m:t>(</m:t>
                    </m:r>
                    <m:r>
                      <a:rPr lang="en-US" altLang="zh-CN" b="1" i="1" smtClean="0">
                        <a:solidFill>
                          <a:srgbClr val="0070C0"/>
                        </a:solidFill>
                        <a:latin typeface="Cambria Math" panose="02040503050406030204" pitchFamily="18" charset="0"/>
                        <a:ea typeface="Menlo"/>
                      </a:rPr>
                      <m:t>𝒙</m:t>
                    </m:r>
                    <m:r>
                      <a:rPr lang="en-US" altLang="zh-CN" b="1" i="1" smtClean="0">
                        <a:solidFill>
                          <a:srgbClr val="0070C0"/>
                        </a:solidFill>
                        <a:latin typeface="Cambria Math" panose="02040503050406030204" pitchFamily="18" charset="0"/>
                        <a:ea typeface="Menlo"/>
                      </a:rPr>
                      <m:t>,</m:t>
                    </m:r>
                    <m:r>
                      <a:rPr lang="en-US" altLang="zh-CN" b="1" i="1" smtClean="0">
                        <a:solidFill>
                          <a:srgbClr val="0070C0"/>
                        </a:solidFill>
                        <a:latin typeface="Cambria Math" panose="02040503050406030204" pitchFamily="18" charset="0"/>
                        <a:ea typeface="Menlo"/>
                      </a:rPr>
                      <m:t>𝒚</m:t>
                    </m:r>
                    <m:r>
                      <a:rPr lang="en-US" altLang="zh-CN" b="1" i="1" smtClean="0">
                        <a:solidFill>
                          <a:srgbClr val="0070C0"/>
                        </a:solidFill>
                        <a:latin typeface="Cambria Math" panose="02040503050406030204" pitchFamily="18" charset="0"/>
                        <a:ea typeface="Menlo"/>
                      </a:rPr>
                      <m:t>)=</m:t>
                    </m:r>
                    <m:sSup>
                      <m:sSupPr>
                        <m:ctrlPr>
                          <a:rPr lang="en-US" altLang="zh-CN" b="1" i="1">
                            <a:solidFill>
                              <a:srgbClr val="0070C0"/>
                            </a:solidFill>
                            <a:latin typeface="Cambria Math" panose="02040503050406030204" pitchFamily="18" charset="0"/>
                          </a:rPr>
                        </m:ctrlPr>
                      </m:sSupPr>
                      <m:e>
                        <m:r>
                          <a:rPr lang="en-US" altLang="zh-CN" b="1" i="1">
                            <a:solidFill>
                              <a:srgbClr val="0070C0"/>
                            </a:solidFill>
                            <a:latin typeface="Cambria Math" panose="02040503050406030204" pitchFamily="18" charset="0"/>
                          </a:rPr>
                          <m:t>𝒙</m:t>
                        </m:r>
                      </m:e>
                      <m:sup>
                        <m:r>
                          <a:rPr lang="en-US" altLang="zh-CN" b="1" i="1">
                            <a:solidFill>
                              <a:srgbClr val="0070C0"/>
                            </a:solidFill>
                            <a:latin typeface="Cambria Math" panose="02040503050406030204" pitchFamily="18" charset="0"/>
                          </a:rPr>
                          <m:t>𝟐</m:t>
                        </m:r>
                      </m:sup>
                    </m:sSup>
                    <m:r>
                      <a:rPr lang="en-US" altLang="zh-CN" b="1" i="1">
                        <a:solidFill>
                          <a:srgbClr val="0070C0"/>
                        </a:solidFill>
                        <a:latin typeface="Cambria Math" panose="02040503050406030204" pitchFamily="18" charset="0"/>
                      </a:rPr>
                      <m:t>+</m:t>
                    </m:r>
                    <m:sSup>
                      <m:sSupPr>
                        <m:ctrlPr>
                          <a:rPr lang="en-US" altLang="zh-CN" b="1" i="1" smtClean="0">
                            <a:solidFill>
                              <a:srgbClr val="0070C0"/>
                            </a:solidFill>
                            <a:latin typeface="Cambria Math" panose="02040503050406030204" pitchFamily="18" charset="0"/>
                          </a:rPr>
                        </m:ctrlPr>
                      </m:sSupPr>
                      <m:e>
                        <m:r>
                          <a:rPr lang="en-US" altLang="zh-CN" b="1" i="1">
                            <a:solidFill>
                              <a:srgbClr val="0070C0"/>
                            </a:solidFill>
                            <a:latin typeface="Cambria Math" panose="02040503050406030204" pitchFamily="18" charset="0"/>
                          </a:rPr>
                          <m:t>𝒚</m:t>
                        </m:r>
                      </m:e>
                      <m:sup>
                        <m:r>
                          <a:rPr lang="en-US" altLang="zh-CN" b="1" i="1">
                            <a:solidFill>
                              <a:srgbClr val="0070C0"/>
                            </a:solidFill>
                            <a:latin typeface="Cambria Math" panose="02040503050406030204" pitchFamily="18" charset="0"/>
                          </a:rPr>
                          <m:t>𝟐</m:t>
                        </m:r>
                      </m:sup>
                    </m:sSup>
                  </m:oMath>
                </a14:m>
                <a:r>
                  <a:rPr kumimoji="0" lang="en-US" altLang="zh-CN" b="1" i="0" u="none" strike="noStrike" cap="none" normalizeH="0" baseline="0" dirty="0">
                    <a:ln>
                      <a:noFill/>
                    </a:ln>
                    <a:solidFill>
                      <a:srgbClr val="0070C0"/>
                    </a:solidFill>
                    <a:effectLst/>
                    <a:latin typeface="华文楷体" panose="02010600040101010101" pitchFamily="2" charset="-122"/>
                    <a:ea typeface="华文楷体" panose="02010600040101010101" pitchFamily="2" charset="-122"/>
                  </a:rPr>
                  <a:t>+3</a:t>
                </a:r>
                <a14:m>
                  <m:oMath xmlns:m="http://schemas.openxmlformats.org/officeDocument/2006/math">
                    <m:func>
                      <m:funcPr>
                        <m:ctrlPr>
                          <a:rPr lang="en-US" altLang="zh-CN" b="1" i="1" smtClean="0">
                            <a:solidFill>
                              <a:srgbClr val="0070C0"/>
                            </a:solidFill>
                            <a:latin typeface="Cambria Math" panose="02040503050406030204" pitchFamily="18" charset="0"/>
                          </a:rPr>
                        </m:ctrlPr>
                      </m:funcPr>
                      <m:fName>
                        <m:r>
                          <a:rPr lang="en-US" altLang="zh-CN" b="1" i="0">
                            <a:solidFill>
                              <a:srgbClr val="0070C0"/>
                            </a:solidFill>
                            <a:latin typeface="Cambria Math" panose="02040503050406030204" pitchFamily="18" charset="0"/>
                          </a:rPr>
                          <m:t>𝐬𝐢𝐧</m:t>
                        </m:r>
                      </m:fName>
                      <m:e>
                        <m:d>
                          <m:dPr>
                            <m:ctrlPr>
                              <a:rPr lang="en-US" altLang="zh-CN" b="1" i="1" smtClean="0">
                                <a:solidFill>
                                  <a:srgbClr val="0070C0"/>
                                </a:solidFill>
                                <a:latin typeface="Cambria Math" panose="02040503050406030204" pitchFamily="18" charset="0"/>
                              </a:rPr>
                            </m:ctrlPr>
                          </m:dPr>
                          <m:e>
                            <m:r>
                              <a:rPr lang="en-US" altLang="zh-CN" b="1" i="1" smtClean="0">
                                <a:solidFill>
                                  <a:srgbClr val="0070C0"/>
                                </a:solidFill>
                                <a:latin typeface="Cambria Math" panose="02040503050406030204" pitchFamily="18" charset="0"/>
                              </a:rPr>
                              <m:t>𝟐</m:t>
                            </m:r>
                            <m:r>
                              <a:rPr lang="en-US" altLang="zh-CN" b="1" i="1" smtClean="0">
                                <a:solidFill>
                                  <a:srgbClr val="0070C0"/>
                                </a:solidFill>
                                <a:latin typeface="Cambria Math" panose="02040503050406030204" pitchFamily="18" charset="0"/>
                              </a:rPr>
                              <m:t>𝒙</m:t>
                            </m:r>
                          </m:e>
                        </m:d>
                      </m:e>
                    </m:func>
                    <m:r>
                      <a:rPr lang="en-US" altLang="zh-CN" b="1" i="1" smtClean="0">
                        <a:solidFill>
                          <a:srgbClr val="0070C0"/>
                        </a:solidFill>
                        <a:latin typeface="Cambria Math" panose="02040503050406030204" pitchFamily="18" charset="0"/>
                      </a:rPr>
                      <m:t>+</m:t>
                    </m:r>
                    <m:r>
                      <m:rPr>
                        <m:nor/>
                      </m:rPr>
                      <a:rPr lang="en-US" altLang="zh-CN" b="1" dirty="0">
                        <a:solidFill>
                          <a:srgbClr val="0070C0"/>
                        </a:solidFill>
                        <a:latin typeface="华文楷体" panose="02010600040101010101" pitchFamily="2" charset="-122"/>
                        <a:ea typeface="华文楷体" panose="02010600040101010101" pitchFamily="2" charset="-122"/>
                      </a:rPr>
                      <m:t>3</m:t>
                    </m:r>
                    <m:func>
                      <m:funcPr>
                        <m:ctrlPr>
                          <a:rPr lang="en-US" altLang="zh-CN" b="1" i="1">
                            <a:solidFill>
                              <a:srgbClr val="0070C0"/>
                            </a:solidFill>
                            <a:latin typeface="Cambria Math" panose="02040503050406030204" pitchFamily="18" charset="0"/>
                          </a:rPr>
                        </m:ctrlPr>
                      </m:funcPr>
                      <m:fName>
                        <m:r>
                          <a:rPr lang="en-US" altLang="zh-CN" b="1" i="1">
                            <a:solidFill>
                              <a:srgbClr val="0070C0"/>
                            </a:solidFill>
                            <a:latin typeface="Cambria Math" panose="02040503050406030204" pitchFamily="18" charset="0"/>
                          </a:rPr>
                          <m:t>𝒔𝒊𝒏</m:t>
                        </m:r>
                      </m:fName>
                      <m:e>
                        <m:d>
                          <m:dPr>
                            <m:ctrlPr>
                              <a:rPr lang="en-US" altLang="zh-CN" b="1" i="1">
                                <a:solidFill>
                                  <a:srgbClr val="0070C0"/>
                                </a:solidFill>
                                <a:latin typeface="Cambria Math" panose="02040503050406030204" pitchFamily="18" charset="0"/>
                              </a:rPr>
                            </m:ctrlPr>
                          </m:dPr>
                          <m:e>
                            <m:r>
                              <a:rPr lang="en-US" altLang="zh-CN" b="1" i="1" smtClean="0">
                                <a:solidFill>
                                  <a:srgbClr val="0070C0"/>
                                </a:solidFill>
                                <a:latin typeface="Cambria Math" panose="02040503050406030204" pitchFamily="18" charset="0"/>
                              </a:rPr>
                              <m:t>𝟐</m:t>
                            </m:r>
                            <m:r>
                              <a:rPr lang="en-US" altLang="zh-CN" b="1" i="1" smtClean="0">
                                <a:solidFill>
                                  <a:srgbClr val="0070C0"/>
                                </a:solidFill>
                                <a:latin typeface="Cambria Math" panose="02040503050406030204" pitchFamily="18" charset="0"/>
                              </a:rPr>
                              <m:t>𝒚</m:t>
                            </m:r>
                          </m:e>
                        </m:d>
                        <m:r>
                          <a:rPr lang="en-US" altLang="zh-CN" b="1" i="1" smtClean="0">
                            <a:solidFill>
                              <a:srgbClr val="0070C0"/>
                            </a:solidFill>
                            <a:latin typeface="Cambria Math" panose="02040503050406030204" pitchFamily="18" charset="0"/>
                          </a:rPr>
                          <m:t> </m:t>
                        </m:r>
                        <m:r>
                          <m:rPr>
                            <m:nor/>
                          </m:rPr>
                          <a:rPr lang="zh-CN" altLang="en-US" b="1" dirty="0">
                            <a:solidFill>
                              <a:srgbClr val="0070C0"/>
                            </a:solidFill>
                            <a:latin typeface="Arial Unicode MS"/>
                            <a:ea typeface="Menlo"/>
                          </a:rPr>
                          <m:t>最小值</m:t>
                        </m:r>
                      </m:e>
                    </m:func>
                  </m:oMath>
                </a14:m>
                <a:endParaRPr kumimoji="0" lang="zh-CN" altLang="en-US" b="1" i="0" u="none" strike="noStrike" cap="none" normalizeH="0" baseline="0" dirty="0">
                  <a:ln>
                    <a:noFill/>
                  </a:ln>
                  <a:solidFill>
                    <a:srgbClr val="0070C0"/>
                  </a:solidFill>
                  <a:effectLst/>
                  <a:latin typeface="华文楷体" panose="02010600040101010101" pitchFamily="2" charset="-122"/>
                  <a:ea typeface="华文楷体" panose="02010600040101010101" pitchFamily="2" charset="-122"/>
                </a:endParaRPr>
              </a:p>
            </p:txBody>
          </p:sp>
        </mc:Choice>
        <mc:Fallback xmlns="">
          <p:sp>
            <p:nvSpPr>
              <p:cNvPr id="8" name="Rectangle 3">
                <a:extLst>
                  <a:ext uri="{FF2B5EF4-FFF2-40B4-BE49-F238E27FC236}">
                    <a16:creationId xmlns:a16="http://schemas.microsoft.com/office/drawing/2014/main" id="{F838843D-FDE2-4041-A629-A52172EC894E}"/>
                  </a:ext>
                </a:extLst>
              </p:cNvPr>
              <p:cNvSpPr>
                <a:spLocks noRot="1" noChangeAspect="1" noMove="1" noResize="1" noEditPoints="1" noAdjustHandles="1" noChangeArrowheads="1" noChangeShapeType="1" noTextEdit="1"/>
              </p:cNvSpPr>
              <p:nvPr/>
            </p:nvSpPr>
            <p:spPr bwMode="auto">
              <a:xfrm>
                <a:off x="1001178" y="796805"/>
                <a:ext cx="8021916" cy="283219"/>
              </a:xfrm>
              <a:prstGeom prst="rect">
                <a:avLst/>
              </a:prstGeom>
              <a:blipFill>
                <a:blip r:embed="rId4"/>
                <a:stretch>
                  <a:fillRect l="-912" t="-34783" r="-1520" b="-52174"/>
                </a:stretch>
              </a:blipFill>
              <a:ln>
                <a:noFill/>
              </a:ln>
              <a:effectLst/>
            </p:spPr>
            <p:txBody>
              <a:bodyPr/>
              <a:lstStyle/>
              <a:p>
                <a:r>
                  <a:rPr lang="zh-CN" altLang="en-US">
                    <a:noFill/>
                  </a:rPr>
                  <a:t> </a:t>
                </a:r>
              </a:p>
            </p:txBody>
          </p:sp>
        </mc:Fallback>
      </mc:AlternateContent>
      <p:sp>
        <p:nvSpPr>
          <p:cNvPr id="9" name="矩形 8">
            <a:extLst>
              <a:ext uri="{FF2B5EF4-FFF2-40B4-BE49-F238E27FC236}">
                <a16:creationId xmlns:a16="http://schemas.microsoft.com/office/drawing/2014/main" id="{8483F51B-5BBD-42F3-9493-93E3B95AE601}"/>
              </a:ext>
            </a:extLst>
          </p:cNvPr>
          <p:cNvSpPr/>
          <p:nvPr/>
        </p:nvSpPr>
        <p:spPr>
          <a:xfrm>
            <a:off x="178646" y="1633780"/>
            <a:ext cx="7022016" cy="2947666"/>
          </a:xfrm>
          <a:prstGeom prst="rect">
            <a:avLst/>
          </a:prstGeom>
          <a:noFill/>
        </p:spPr>
        <p:txBody>
          <a:bodyPr wrap="square">
            <a:spAutoFit/>
          </a:bodyPr>
          <a:lstStyle/>
          <a:p>
            <a:pPr>
              <a:lnSpc>
                <a:spcPts val="2800"/>
              </a:lnSpc>
            </a:pPr>
            <a:r>
              <a:rPr lang="en-US" altLang="zh-CN" sz="2200" b="0" dirty="0">
                <a:solidFill>
                  <a:srgbClr val="795E26"/>
                </a:solidFill>
                <a:effectLst/>
                <a:latin typeface="Consolas" panose="020B0609020204030204" pitchFamily="49" charset="0"/>
              </a:rPr>
              <a:t>figure</a:t>
            </a:r>
            <a:r>
              <a:rPr lang="en-US" altLang="zh-CN" sz="2200" b="0" dirty="0">
                <a:solidFill>
                  <a:srgbClr val="000000"/>
                </a:solidFill>
                <a:effectLst/>
                <a:latin typeface="Consolas" panose="020B0609020204030204" pitchFamily="49" charset="0"/>
              </a:rPr>
              <a:t>()</a:t>
            </a:r>
          </a:p>
          <a:p>
            <a:pPr>
              <a:lnSpc>
                <a:spcPts val="2800"/>
              </a:lnSpc>
            </a:pPr>
            <a:r>
              <a:rPr lang="en-US" altLang="zh-CN" sz="2200" dirty="0">
                <a:solidFill>
                  <a:srgbClr val="008000"/>
                </a:solidFill>
                <a:latin typeface="Consolas" panose="020B0609020204030204" pitchFamily="49" charset="0"/>
              </a:rPr>
              <a:t>#x</a:t>
            </a:r>
            <a:r>
              <a:rPr lang="zh-CN" altLang="en-US" sz="2200" dirty="0">
                <a:solidFill>
                  <a:srgbClr val="008000"/>
                </a:solidFill>
                <a:latin typeface="Consolas" panose="020B0609020204030204" pitchFamily="49" charset="0"/>
              </a:rPr>
              <a:t>和</a:t>
            </a:r>
            <a:r>
              <a:rPr lang="en-US" altLang="zh-CN" sz="2200" dirty="0">
                <a:solidFill>
                  <a:srgbClr val="008000"/>
                </a:solidFill>
                <a:latin typeface="Consolas" panose="020B0609020204030204" pitchFamily="49" charset="0"/>
              </a:rPr>
              <a:t>y</a:t>
            </a:r>
            <a:r>
              <a:rPr lang="zh-CN" altLang="en-US" sz="2200" dirty="0">
                <a:solidFill>
                  <a:srgbClr val="008000"/>
                </a:solidFill>
                <a:latin typeface="Consolas" panose="020B0609020204030204" pitchFamily="49" charset="0"/>
              </a:rPr>
              <a:t>的网格矩阵</a:t>
            </a:r>
            <a:endParaRPr lang="en-US" altLang="zh-CN" sz="2200" dirty="0">
              <a:solidFill>
                <a:srgbClr val="008000"/>
              </a:solidFill>
              <a:latin typeface="Consolas" panose="020B0609020204030204" pitchFamily="49" charset="0"/>
            </a:endParaRPr>
          </a:p>
          <a:p>
            <a:pPr>
              <a:lnSpc>
                <a:spcPts val="2800"/>
              </a:lnSpc>
            </a:pPr>
            <a:r>
              <a:rPr lang="en-US" altLang="zh-CN" sz="2200" b="0" dirty="0" err="1">
                <a:solidFill>
                  <a:srgbClr val="000000"/>
                </a:solidFill>
                <a:effectLst/>
                <a:latin typeface="Consolas" panose="020B0609020204030204" pitchFamily="49" charset="0"/>
              </a:rPr>
              <a:t>x,y</a:t>
            </a:r>
            <a:r>
              <a:rPr lang="en-US" altLang="zh-CN" sz="2200" b="0" dirty="0">
                <a:solidFill>
                  <a:srgbClr val="000000"/>
                </a:solidFill>
                <a:effectLst/>
                <a:latin typeface="Consolas" panose="020B0609020204030204" pitchFamily="49" charset="0"/>
              </a:rPr>
              <a:t>=</a:t>
            </a:r>
            <a:r>
              <a:rPr lang="en-US" altLang="zh-CN" sz="2200" b="0" dirty="0">
                <a:solidFill>
                  <a:srgbClr val="795E26"/>
                </a:solidFill>
                <a:effectLst/>
                <a:latin typeface="Consolas" panose="020B0609020204030204" pitchFamily="49" charset="0"/>
              </a:rPr>
              <a:t>meshgrid2</a:t>
            </a:r>
            <a:r>
              <a:rPr lang="en-US" altLang="zh-CN" sz="2200" b="0" dirty="0">
                <a:solidFill>
                  <a:srgbClr val="000000"/>
                </a:solidFill>
                <a:effectLst/>
                <a:latin typeface="Consolas" panose="020B0609020204030204" pitchFamily="49" charset="0"/>
              </a:rPr>
              <a:t>(-</a:t>
            </a:r>
            <a:r>
              <a:rPr lang="en-US" altLang="zh-CN" sz="2200" b="0" dirty="0">
                <a:solidFill>
                  <a:srgbClr val="098658"/>
                </a:solidFill>
                <a:effectLst/>
                <a:latin typeface="Consolas" panose="020B0609020204030204" pitchFamily="49" charset="0"/>
              </a:rPr>
              <a:t>5</a:t>
            </a:r>
            <a:r>
              <a:rPr lang="en-US" altLang="zh-CN" sz="2200" b="0" dirty="0">
                <a:solidFill>
                  <a:srgbClr val="000000"/>
                </a:solidFill>
                <a:effectLst/>
                <a:latin typeface="Consolas" panose="020B0609020204030204" pitchFamily="49" charset="0"/>
              </a:rPr>
              <a:t>:</a:t>
            </a:r>
            <a:r>
              <a:rPr lang="en-US" altLang="zh-CN" sz="2200" b="0" dirty="0">
                <a:solidFill>
                  <a:srgbClr val="098658"/>
                </a:solidFill>
                <a:effectLst/>
                <a:latin typeface="Consolas" panose="020B0609020204030204" pitchFamily="49" charset="0"/>
              </a:rPr>
              <a:t>0.1</a:t>
            </a:r>
            <a:r>
              <a:rPr lang="en-US" altLang="zh-CN" sz="2200" b="0" dirty="0">
                <a:solidFill>
                  <a:srgbClr val="000000"/>
                </a:solidFill>
                <a:effectLst/>
                <a:latin typeface="Consolas" panose="020B0609020204030204" pitchFamily="49" charset="0"/>
              </a:rPr>
              <a:t>:</a:t>
            </a:r>
            <a:r>
              <a:rPr lang="en-US" altLang="zh-CN" sz="2200" b="0" dirty="0">
                <a:solidFill>
                  <a:srgbClr val="098658"/>
                </a:solidFill>
                <a:effectLst/>
                <a:latin typeface="Consolas" panose="020B0609020204030204" pitchFamily="49" charset="0"/>
              </a:rPr>
              <a:t>5</a:t>
            </a:r>
            <a:r>
              <a:rPr lang="en-US" altLang="zh-CN" sz="2200" b="0" dirty="0">
                <a:solidFill>
                  <a:srgbClr val="000000"/>
                </a:solidFill>
                <a:effectLst/>
                <a:latin typeface="Consolas" panose="020B0609020204030204" pitchFamily="49" charset="0"/>
              </a:rPr>
              <a:t>)</a:t>
            </a:r>
          </a:p>
          <a:p>
            <a:pPr>
              <a:lnSpc>
                <a:spcPts val="2800"/>
              </a:lnSpc>
            </a:pPr>
            <a:r>
              <a:rPr lang="en-US" altLang="zh-CN" sz="2200" b="0" dirty="0">
                <a:solidFill>
                  <a:srgbClr val="008000"/>
                </a:solidFill>
                <a:effectLst/>
                <a:latin typeface="Consolas" panose="020B0609020204030204" pitchFamily="49" charset="0"/>
              </a:rPr>
              <a:t>#</a:t>
            </a:r>
            <a:r>
              <a:rPr lang="zh-CN" altLang="en-US" sz="2200" b="0" dirty="0">
                <a:solidFill>
                  <a:srgbClr val="008000"/>
                </a:solidFill>
                <a:effectLst/>
                <a:latin typeface="Consolas" panose="020B0609020204030204" pitchFamily="49" charset="0"/>
              </a:rPr>
              <a:t>高度网格矩阵</a:t>
            </a:r>
            <a:endParaRPr lang="zh-CN" altLang="en-US" sz="2200" b="0" dirty="0">
              <a:solidFill>
                <a:srgbClr val="000000"/>
              </a:solidFill>
              <a:effectLst/>
              <a:latin typeface="Consolas" panose="020B0609020204030204" pitchFamily="49" charset="0"/>
            </a:endParaRPr>
          </a:p>
          <a:p>
            <a:pPr>
              <a:lnSpc>
                <a:spcPts val="2800"/>
              </a:lnSpc>
            </a:pPr>
            <a:r>
              <a:rPr lang="en-US" altLang="zh-CN" sz="2200" b="0" dirty="0">
                <a:solidFill>
                  <a:srgbClr val="000000"/>
                </a:solidFill>
                <a:effectLst/>
                <a:latin typeface="Consolas" panose="020B0609020204030204" pitchFamily="49" charset="0"/>
              </a:rPr>
              <a:t>z=</a:t>
            </a:r>
            <a:r>
              <a:rPr lang="en-US" altLang="zh-CN" sz="2200" b="0" dirty="0">
                <a:solidFill>
                  <a:srgbClr val="795E26"/>
                </a:solidFill>
                <a:effectLst/>
                <a:latin typeface="Consolas" panose="020B0609020204030204" pitchFamily="49" charset="0"/>
              </a:rPr>
              <a:t>@.</a:t>
            </a:r>
            <a:r>
              <a:rPr lang="en-US" altLang="zh-CN" sz="2200" b="0" dirty="0">
                <a:solidFill>
                  <a:srgbClr val="000000"/>
                </a:solidFill>
                <a:effectLst/>
                <a:latin typeface="Consolas" panose="020B0609020204030204" pitchFamily="49" charset="0"/>
              </a:rPr>
              <a:t> x^</a:t>
            </a:r>
            <a:r>
              <a:rPr lang="en-US" altLang="zh-CN" sz="2200" b="0" dirty="0">
                <a:solidFill>
                  <a:srgbClr val="098658"/>
                </a:solidFill>
                <a:effectLst/>
                <a:latin typeface="Consolas" panose="020B0609020204030204" pitchFamily="49" charset="0"/>
              </a:rPr>
              <a:t>2</a:t>
            </a:r>
            <a:r>
              <a:rPr lang="en-US" altLang="zh-CN" sz="2200" b="0" dirty="0">
                <a:solidFill>
                  <a:srgbClr val="000000"/>
                </a:solidFill>
                <a:effectLst/>
                <a:latin typeface="Consolas" panose="020B0609020204030204" pitchFamily="49" charset="0"/>
              </a:rPr>
              <a:t>+y^</a:t>
            </a:r>
            <a:r>
              <a:rPr lang="en-US" altLang="zh-CN" sz="2200" b="0" dirty="0">
                <a:solidFill>
                  <a:srgbClr val="098658"/>
                </a:solidFill>
                <a:effectLst/>
                <a:latin typeface="Consolas" panose="020B0609020204030204" pitchFamily="49" charset="0"/>
              </a:rPr>
              <a:t>2</a:t>
            </a:r>
            <a:r>
              <a:rPr lang="en-US" altLang="zh-CN" sz="2200" b="0" dirty="0">
                <a:solidFill>
                  <a:srgbClr val="000000"/>
                </a:solidFill>
                <a:effectLst/>
                <a:latin typeface="Consolas" panose="020B0609020204030204" pitchFamily="49" charset="0"/>
              </a:rPr>
              <a:t>+</a:t>
            </a:r>
            <a:r>
              <a:rPr lang="en-US" altLang="zh-CN" sz="2200" b="0" dirty="0">
                <a:solidFill>
                  <a:srgbClr val="098658"/>
                </a:solidFill>
                <a:effectLst/>
                <a:latin typeface="Consolas" panose="020B0609020204030204" pitchFamily="49" charset="0"/>
              </a:rPr>
              <a:t>3</a:t>
            </a:r>
            <a:r>
              <a:rPr lang="en-US" altLang="zh-CN" sz="2200" b="0" dirty="0">
                <a:solidFill>
                  <a:srgbClr val="795E26"/>
                </a:solidFill>
                <a:effectLst/>
                <a:latin typeface="Consolas" panose="020B0609020204030204" pitchFamily="49" charset="0"/>
              </a:rPr>
              <a:t>sin</a:t>
            </a:r>
            <a:r>
              <a:rPr lang="en-US" altLang="zh-CN" sz="2200" b="0" dirty="0">
                <a:solidFill>
                  <a:srgbClr val="000000"/>
                </a:solidFill>
                <a:effectLst/>
                <a:latin typeface="Consolas" panose="020B0609020204030204" pitchFamily="49" charset="0"/>
              </a:rPr>
              <a:t>(</a:t>
            </a:r>
            <a:r>
              <a:rPr lang="en-US" altLang="zh-CN" sz="2200" b="0" dirty="0">
                <a:solidFill>
                  <a:srgbClr val="098658"/>
                </a:solidFill>
                <a:effectLst/>
                <a:latin typeface="Consolas" panose="020B0609020204030204" pitchFamily="49" charset="0"/>
              </a:rPr>
              <a:t>2</a:t>
            </a:r>
            <a:r>
              <a:rPr lang="en-US" altLang="zh-CN" sz="2200" b="0" dirty="0">
                <a:solidFill>
                  <a:srgbClr val="000000"/>
                </a:solidFill>
                <a:effectLst/>
                <a:latin typeface="Consolas" panose="020B0609020204030204" pitchFamily="49" charset="0"/>
              </a:rPr>
              <a:t>x)+</a:t>
            </a:r>
            <a:r>
              <a:rPr lang="en-US" altLang="zh-CN" sz="2200" b="0" dirty="0">
                <a:solidFill>
                  <a:srgbClr val="098658"/>
                </a:solidFill>
                <a:effectLst/>
                <a:latin typeface="Consolas" panose="020B0609020204030204" pitchFamily="49" charset="0"/>
              </a:rPr>
              <a:t>3</a:t>
            </a:r>
            <a:r>
              <a:rPr lang="en-US" altLang="zh-CN" sz="2200" b="0" dirty="0">
                <a:solidFill>
                  <a:srgbClr val="795E26"/>
                </a:solidFill>
                <a:effectLst/>
                <a:latin typeface="Consolas" panose="020B0609020204030204" pitchFamily="49" charset="0"/>
              </a:rPr>
              <a:t>sin</a:t>
            </a:r>
            <a:r>
              <a:rPr lang="en-US" altLang="zh-CN" sz="2200" b="0" dirty="0">
                <a:solidFill>
                  <a:srgbClr val="000000"/>
                </a:solidFill>
                <a:effectLst/>
                <a:latin typeface="Consolas" panose="020B0609020204030204" pitchFamily="49" charset="0"/>
              </a:rPr>
              <a:t>(</a:t>
            </a:r>
            <a:r>
              <a:rPr lang="en-US" altLang="zh-CN" sz="2200" b="0" dirty="0">
                <a:solidFill>
                  <a:srgbClr val="098658"/>
                </a:solidFill>
                <a:effectLst/>
                <a:latin typeface="Consolas" panose="020B0609020204030204" pitchFamily="49" charset="0"/>
              </a:rPr>
              <a:t>2</a:t>
            </a:r>
            <a:r>
              <a:rPr lang="en-US" altLang="zh-CN" sz="2200" b="0" dirty="0">
                <a:solidFill>
                  <a:srgbClr val="000000"/>
                </a:solidFill>
                <a:effectLst/>
                <a:latin typeface="Consolas" panose="020B0609020204030204" pitchFamily="49" charset="0"/>
              </a:rPr>
              <a:t>y)</a:t>
            </a:r>
            <a:endParaRPr lang="zh-CN" altLang="en-US" sz="2200" b="0" dirty="0">
              <a:solidFill>
                <a:srgbClr val="000000"/>
              </a:solidFill>
              <a:effectLst/>
              <a:latin typeface="Consolas" panose="020B0609020204030204" pitchFamily="49" charset="0"/>
            </a:endParaRPr>
          </a:p>
          <a:p>
            <a:pPr>
              <a:lnSpc>
                <a:spcPts val="2800"/>
              </a:lnSpc>
            </a:pPr>
            <a:r>
              <a:rPr lang="en-US" altLang="zh-CN" sz="2200" b="0" dirty="0">
                <a:solidFill>
                  <a:srgbClr val="008000"/>
                </a:solidFill>
                <a:effectLst/>
                <a:latin typeface="Consolas" panose="020B0609020204030204" pitchFamily="49" charset="0"/>
              </a:rPr>
              <a:t>#</a:t>
            </a:r>
            <a:r>
              <a:rPr lang="zh-CN" altLang="en-US" sz="2200" b="0" dirty="0">
                <a:solidFill>
                  <a:srgbClr val="008000"/>
                </a:solidFill>
                <a:effectLst/>
                <a:latin typeface="Consolas" panose="020B0609020204030204" pitchFamily="49" charset="0"/>
              </a:rPr>
              <a:t>带等高线曲面</a:t>
            </a:r>
            <a:r>
              <a:rPr lang="zh-CN" altLang="en-US" sz="2200" dirty="0">
                <a:solidFill>
                  <a:srgbClr val="008000"/>
                </a:solidFill>
                <a:latin typeface="Consolas" panose="020B0609020204030204" pitchFamily="49" charset="0"/>
              </a:rPr>
              <a:t>图</a:t>
            </a:r>
            <a:endParaRPr lang="en-US" altLang="zh-CN" sz="2200" b="0" dirty="0">
              <a:solidFill>
                <a:srgbClr val="795E26"/>
              </a:solidFill>
              <a:effectLst/>
              <a:latin typeface="Consolas" panose="020B0609020204030204" pitchFamily="49" charset="0"/>
            </a:endParaRPr>
          </a:p>
          <a:p>
            <a:pPr>
              <a:lnSpc>
                <a:spcPts val="2800"/>
              </a:lnSpc>
            </a:pPr>
            <a:r>
              <a:rPr lang="en-US" altLang="zh-CN" sz="2200" b="0" dirty="0" err="1">
                <a:solidFill>
                  <a:srgbClr val="795E26"/>
                </a:solidFill>
                <a:effectLst/>
                <a:latin typeface="Consolas" panose="020B0609020204030204" pitchFamily="49" charset="0"/>
              </a:rPr>
              <a:t>surfc</a:t>
            </a:r>
            <a:r>
              <a:rPr lang="en-US" altLang="zh-CN" sz="2200" b="0" dirty="0">
                <a:solidFill>
                  <a:srgbClr val="000000"/>
                </a:solidFill>
                <a:effectLst/>
                <a:latin typeface="Consolas" panose="020B0609020204030204" pitchFamily="49" charset="0"/>
              </a:rPr>
              <a:t>(</a:t>
            </a:r>
            <a:r>
              <a:rPr lang="en-US" altLang="zh-CN" sz="2200" b="0" dirty="0" err="1">
                <a:solidFill>
                  <a:srgbClr val="000000"/>
                </a:solidFill>
                <a:effectLst/>
                <a:latin typeface="Consolas" panose="020B0609020204030204" pitchFamily="49" charset="0"/>
              </a:rPr>
              <a:t>x,y,z</a:t>
            </a:r>
            <a:r>
              <a:rPr lang="en-US" altLang="zh-CN" sz="2200" b="0" dirty="0">
                <a:solidFill>
                  <a:srgbClr val="000000"/>
                </a:solidFill>
                <a:effectLst/>
                <a:latin typeface="Consolas" panose="020B0609020204030204" pitchFamily="49" charset="0"/>
              </a:rPr>
              <a:t>) </a:t>
            </a:r>
            <a:r>
              <a:rPr lang="en-US" altLang="zh-CN" sz="2200" b="0" dirty="0" err="1">
                <a:solidFill>
                  <a:srgbClr val="795E26"/>
                </a:solidFill>
                <a:effectLst/>
                <a:latin typeface="Consolas" panose="020B0609020204030204" pitchFamily="49" charset="0"/>
              </a:rPr>
              <a:t>xlabel</a:t>
            </a:r>
            <a:r>
              <a:rPr lang="en-US" altLang="zh-CN" sz="2200" b="0" dirty="0">
                <a:solidFill>
                  <a:srgbClr val="000000"/>
                </a:solidFill>
                <a:effectLst/>
                <a:latin typeface="Consolas" panose="020B0609020204030204" pitchFamily="49" charset="0"/>
              </a:rPr>
              <a:t>(</a:t>
            </a:r>
            <a:r>
              <a:rPr lang="en-US" altLang="zh-CN" sz="2200" b="0" dirty="0">
                <a:solidFill>
                  <a:srgbClr val="A31515"/>
                </a:solidFill>
                <a:effectLst/>
                <a:latin typeface="Consolas" panose="020B0609020204030204" pitchFamily="49" charset="0"/>
              </a:rPr>
              <a:t>"x"</a:t>
            </a:r>
            <a:r>
              <a:rPr lang="en-US" altLang="zh-CN" sz="2200" b="0" dirty="0">
                <a:solidFill>
                  <a:srgbClr val="000000"/>
                </a:solidFill>
                <a:effectLst/>
                <a:latin typeface="Consolas" panose="020B0609020204030204" pitchFamily="49" charset="0"/>
              </a:rPr>
              <a:t>);</a:t>
            </a:r>
            <a:r>
              <a:rPr lang="en-US" altLang="zh-CN" sz="2200" b="0" dirty="0" err="1">
                <a:solidFill>
                  <a:srgbClr val="795E26"/>
                </a:solidFill>
                <a:effectLst/>
                <a:latin typeface="Consolas" panose="020B0609020204030204" pitchFamily="49" charset="0"/>
              </a:rPr>
              <a:t>ylabel</a:t>
            </a:r>
            <a:r>
              <a:rPr lang="en-US" altLang="zh-CN" sz="2200" b="0" dirty="0">
                <a:solidFill>
                  <a:srgbClr val="000000"/>
                </a:solidFill>
                <a:effectLst/>
                <a:latin typeface="Consolas" panose="020B0609020204030204" pitchFamily="49" charset="0"/>
              </a:rPr>
              <a:t>(</a:t>
            </a:r>
            <a:r>
              <a:rPr lang="en-US" altLang="zh-CN" sz="2200" b="0" dirty="0">
                <a:solidFill>
                  <a:srgbClr val="A31515"/>
                </a:solidFill>
                <a:effectLst/>
                <a:latin typeface="Consolas" panose="020B0609020204030204" pitchFamily="49" charset="0"/>
              </a:rPr>
              <a:t>"y"</a:t>
            </a:r>
            <a:r>
              <a:rPr lang="en-US" altLang="zh-CN" sz="2200" b="0" dirty="0">
                <a:solidFill>
                  <a:srgbClr val="000000"/>
                </a:solidFill>
                <a:effectLst/>
                <a:latin typeface="Consolas" panose="020B0609020204030204" pitchFamily="49" charset="0"/>
              </a:rPr>
              <a:t>);</a:t>
            </a:r>
            <a:r>
              <a:rPr lang="en-US" altLang="zh-CN" sz="2200" b="0" dirty="0" err="1">
                <a:solidFill>
                  <a:srgbClr val="795E26"/>
                </a:solidFill>
                <a:effectLst/>
                <a:latin typeface="Consolas" panose="020B0609020204030204" pitchFamily="49" charset="0"/>
              </a:rPr>
              <a:t>zlabel</a:t>
            </a:r>
            <a:r>
              <a:rPr lang="en-US" altLang="zh-CN" sz="2200" b="0" dirty="0">
                <a:solidFill>
                  <a:srgbClr val="000000"/>
                </a:solidFill>
                <a:effectLst/>
                <a:latin typeface="Consolas" panose="020B0609020204030204" pitchFamily="49" charset="0"/>
              </a:rPr>
              <a:t>(</a:t>
            </a:r>
            <a:r>
              <a:rPr lang="en-US" altLang="zh-CN" sz="2200" b="0" dirty="0">
                <a:solidFill>
                  <a:srgbClr val="A31515"/>
                </a:solidFill>
                <a:effectLst/>
                <a:latin typeface="Consolas" panose="020B0609020204030204" pitchFamily="49" charset="0"/>
              </a:rPr>
              <a:t>"z"</a:t>
            </a:r>
            <a:r>
              <a:rPr lang="en-US" altLang="zh-CN" sz="2200" b="0" dirty="0">
                <a:solidFill>
                  <a:srgbClr val="000000"/>
                </a:solidFill>
                <a:effectLst/>
                <a:latin typeface="Consolas" panose="020B0609020204030204" pitchFamily="49" charset="0"/>
              </a:rPr>
              <a:t>)</a:t>
            </a:r>
          </a:p>
        </p:txBody>
      </p:sp>
      <p:sp>
        <p:nvSpPr>
          <p:cNvPr id="10" name="矩形 9">
            <a:extLst>
              <a:ext uri="{FF2B5EF4-FFF2-40B4-BE49-F238E27FC236}">
                <a16:creationId xmlns:a16="http://schemas.microsoft.com/office/drawing/2014/main" id="{23D435AA-0612-4743-9B99-72797176909A}"/>
              </a:ext>
            </a:extLst>
          </p:cNvPr>
          <p:cNvSpPr/>
          <p:nvPr/>
        </p:nvSpPr>
        <p:spPr>
          <a:xfrm>
            <a:off x="2915816" y="1202378"/>
            <a:ext cx="6107277" cy="369332"/>
          </a:xfrm>
          <a:prstGeom prst="rect">
            <a:avLst/>
          </a:prstGeom>
          <a:noFill/>
        </p:spPr>
        <p:txBody>
          <a:bodyPr wrap="square">
            <a:spAutoFit/>
          </a:bodyPr>
          <a:lstStyle/>
          <a:p>
            <a:pPr algn="dist"/>
            <a:r>
              <a:rPr lang="zh-CN" altLang="en-US" b="1" dirty="0">
                <a:solidFill>
                  <a:srgbClr val="00B0F0"/>
                </a:solidFill>
                <a:latin typeface="微软雅黑" panose="020B0503020204020204" pitchFamily="34" charset="-122"/>
                <a:ea typeface="微软雅黑" panose="020B0503020204020204" pitchFamily="34" charset="-122"/>
              </a:rPr>
              <a:t>封闭曲线心部对应峰和谷，</a:t>
            </a:r>
            <a:r>
              <a:rPr lang="zh-CN" altLang="en-US" b="1" dirty="0">
                <a:solidFill>
                  <a:srgbClr val="00B0F0"/>
                </a:solidFill>
                <a:latin typeface="微软雅黑" panose="020B0503020204020204" pitchFamily="34" charset="-122"/>
                <a:ea typeface="微软雅黑" panose="020B0503020204020204" pitchFamily="34" charset="-122"/>
                <a:sym typeface="+mn-ea"/>
              </a:rPr>
              <a:t>从而</a:t>
            </a:r>
            <a:r>
              <a:rPr lang="zh-CN" altLang="en-US" b="1" dirty="0">
                <a:solidFill>
                  <a:srgbClr val="00B0F0"/>
                </a:solidFill>
                <a:latin typeface="微软雅黑" panose="020B0503020204020204" pitchFamily="34" charset="-122"/>
                <a:ea typeface="微软雅黑" panose="020B0503020204020204" pitchFamily="34" charset="-122"/>
              </a:rPr>
              <a:t>确定初始值</a:t>
            </a:r>
          </a:p>
        </p:txBody>
      </p:sp>
      <p:sp>
        <p:nvSpPr>
          <p:cNvPr id="13" name="对话气泡: 圆角矩形 12">
            <a:extLst>
              <a:ext uri="{FF2B5EF4-FFF2-40B4-BE49-F238E27FC236}">
                <a16:creationId xmlns:a16="http://schemas.microsoft.com/office/drawing/2014/main" id="{8FC5CD7F-2F4D-47B4-BC6E-B48D74D1A39D}"/>
              </a:ext>
            </a:extLst>
          </p:cNvPr>
          <p:cNvSpPr/>
          <p:nvPr/>
        </p:nvSpPr>
        <p:spPr>
          <a:xfrm>
            <a:off x="7535615" y="3970690"/>
            <a:ext cx="1096268" cy="347329"/>
          </a:xfrm>
          <a:prstGeom prst="wedgeRoundRectCallout">
            <a:avLst>
              <a:gd name="adj1" fmla="val -59951"/>
              <a:gd name="adj2" fmla="val -126687"/>
              <a:gd name="adj3" fmla="val 16667"/>
            </a:avLst>
          </a:prstGeom>
          <a:noFill/>
          <a:ln>
            <a:solidFill>
              <a:srgbClr val="FF0000"/>
            </a:solidFill>
          </a:ln>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zh-CN" altLang="en-US" sz="1600" b="1" kern="0"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rPr>
              <a:t>谷最小值</a:t>
            </a:r>
          </a:p>
        </p:txBody>
      </p:sp>
      <p:sp>
        <p:nvSpPr>
          <p:cNvPr id="14" name="Rectangle 2">
            <a:extLst>
              <a:ext uri="{FF2B5EF4-FFF2-40B4-BE49-F238E27FC236}">
                <a16:creationId xmlns:a16="http://schemas.microsoft.com/office/drawing/2014/main" id="{FA19692E-3C39-414E-86A3-15CDF4917A15}"/>
              </a:ext>
            </a:extLst>
          </p:cNvPr>
          <p:cNvSpPr txBox="1"/>
          <p:nvPr/>
        </p:nvSpPr>
        <p:spPr bwMode="auto">
          <a:xfrm>
            <a:off x="8640616" y="2364161"/>
            <a:ext cx="649476" cy="1195395"/>
          </a:xfrm>
          <a:prstGeom prst="rect">
            <a:avLst/>
          </a:prstGeom>
          <a:noFill/>
          <a:ln w="0">
            <a:noFill/>
          </a:ln>
          <a:effectLst>
            <a:outerShdw blurRad="190500" dist="228600" dir="2700000" algn="ctr">
              <a:srgbClr val="000000">
                <a:alpha val="29803"/>
              </a:srgbClr>
            </a:outerShdw>
          </a:effectLst>
          <a:scene3d>
            <a:camera prst="orthographicFront">
              <a:rot lat="0" lon="0" rev="0"/>
            </a:camera>
            <a:lightRig rig="threePt" dir="t">
              <a:rot lat="0" lon="0" rev="1200000"/>
            </a:lightRig>
          </a:scene3d>
          <a:sp3d>
            <a:bevelT w="63500" h="25400" prst="softRound"/>
          </a:sp3d>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anchor="ctr">
            <a:noAutofit/>
          </a:bodyPr>
          <a:lstStyle/>
          <a:p>
            <a:pPr marL="0" indent="0" algn="l" defTabSz="914400" fontAlgn="base" latinLnBrk="0">
              <a:lnSpc>
                <a:spcPct val="100000"/>
              </a:lnSpc>
              <a:spcBef>
                <a:spcPts val="0"/>
              </a:spcBef>
              <a:spcAft>
                <a:spcPts val="0"/>
              </a:spcAft>
              <a:buFontTx/>
              <a:buNone/>
            </a:pPr>
            <a:r>
              <a:rPr lang="zh-CN" altLang="en-US" sz="2000" cap="none" dirty="0">
                <a:ln w="9525" cap="flat" cmpd="sng"/>
                <a:solidFill>
                  <a:srgbClr val="FFFF00"/>
                </a:solidFill>
                <a:highlight>
                  <a:srgbClr val="FF0000"/>
                </a:highlight>
                <a:latin typeface="隶书" panose="02010509060101010101" pitchFamily="49" charset="-122"/>
                <a:ea typeface="隶书" panose="02010509060101010101" pitchFamily="49" charset="-122"/>
              </a:rPr>
              <a:t>最小值的图解法</a:t>
            </a:r>
            <a:endParaRPr lang="en-US" altLang="ko-KR" sz="2000" cap="none" dirty="0">
              <a:ln w="9525" cap="flat" cmpd="sng"/>
              <a:solidFill>
                <a:srgbClr val="FFFF00"/>
              </a:solidFill>
              <a:highlight>
                <a:srgbClr val="FF0000"/>
              </a:highlight>
              <a:latin typeface="隶书" panose="02010509060101010101" pitchFamily="49" charset="-122"/>
              <a:ea typeface="隶书" panose="02010509060101010101" pitchFamily="49" charset="-122"/>
            </a:endParaRPr>
          </a:p>
        </p:txBody>
      </p:sp>
      <p:sp>
        <p:nvSpPr>
          <p:cNvPr id="15" name="文本框 14">
            <a:extLst>
              <a:ext uri="{FF2B5EF4-FFF2-40B4-BE49-F238E27FC236}">
                <a16:creationId xmlns:a16="http://schemas.microsoft.com/office/drawing/2014/main" id="{E7644D50-7F6C-4058-9406-3322A84FCB4F}"/>
              </a:ext>
            </a:extLst>
          </p:cNvPr>
          <p:cNvSpPr txBox="1"/>
          <p:nvPr/>
        </p:nvSpPr>
        <p:spPr>
          <a:xfrm>
            <a:off x="886189" y="136534"/>
            <a:ext cx="8136904" cy="461665"/>
          </a:xfrm>
          <a:prstGeom prst="rect">
            <a:avLst/>
          </a:prstGeom>
          <a:solidFill>
            <a:schemeClr val="bg1"/>
          </a:solidFill>
        </p:spPr>
        <p:txBody>
          <a:bodyPr wrap="square">
            <a:spAutoFit/>
          </a:bodyPr>
          <a:lstStyle>
            <a:defPPr>
              <a:defRPr lang="zh-CN"/>
            </a:defPPr>
            <a:lvl1pPr>
              <a:lnSpc>
                <a:spcPct val="150000"/>
              </a:lnSpc>
              <a:defRPr sz="3200">
                <a:solidFill>
                  <a:srgbClr val="002060"/>
                </a:solidFill>
                <a:latin typeface="华文楷体" panose="02010600040101010101" pitchFamily="2" charset="-122"/>
                <a:ea typeface="华文楷体" panose="02010600040101010101" pitchFamily="2" charset="-122"/>
              </a:defRPr>
            </a:lvl1pPr>
          </a:lstStyle>
          <a:p>
            <a:pPr>
              <a:lnSpc>
                <a:spcPct val="100000"/>
              </a:lnSpc>
            </a:pPr>
            <a:r>
              <a:rPr lang="en-US" altLang="zh-CN" sz="2400" b="0" dirty="0">
                <a:solidFill>
                  <a:srgbClr val="002060"/>
                </a:solidFill>
                <a:latin typeface="华文楷体" panose="02010600040101010101" pitchFamily="2" charset="-122"/>
                <a:ea typeface="华文楷体" panose="02010600040101010101" pitchFamily="2" charset="-122"/>
              </a:rPr>
              <a:t>§8.4.2 </a:t>
            </a:r>
            <a:r>
              <a:rPr lang="zh-CN" altLang="en-US" sz="2400" kern="0" dirty="0"/>
              <a:t>多元</a:t>
            </a:r>
            <a:r>
              <a:rPr lang="zh-CN" altLang="en-US" sz="2400" dirty="0"/>
              <a:t>函数无约束最</a:t>
            </a:r>
            <a:r>
              <a:rPr lang="en-US" altLang="ko-KR" sz="2400" dirty="0" err="1"/>
              <a:t>小值</a:t>
            </a:r>
            <a:r>
              <a:rPr lang="en-US" altLang="zh-CN" sz="2400" kern="0" dirty="0">
                <a:solidFill>
                  <a:srgbClr val="FF0000"/>
                </a:solidFill>
              </a:rPr>
              <a:t>——fminsearch</a:t>
            </a:r>
            <a:r>
              <a:rPr lang="zh-CN" altLang="en-US" sz="2400" kern="0" dirty="0">
                <a:solidFill>
                  <a:srgbClr val="FF0000"/>
                </a:solidFill>
              </a:rPr>
              <a:t>和</a:t>
            </a:r>
            <a:r>
              <a:rPr lang="en-US" altLang="zh-CN" sz="2400" b="0" dirty="0" err="1">
                <a:solidFill>
                  <a:srgbClr val="FF0000"/>
                </a:solidFill>
                <a:latin typeface="华文楷体" panose="02010600040101010101" pitchFamily="2" charset="-122"/>
                <a:ea typeface="华文楷体" panose="02010600040101010101" pitchFamily="2" charset="-122"/>
              </a:rPr>
              <a:t>fminunc</a:t>
            </a:r>
            <a:r>
              <a:rPr lang="zh-CN" altLang="en-US" sz="2400" kern="0" dirty="0">
                <a:solidFill>
                  <a:srgbClr val="FF0000"/>
                </a:solidFill>
              </a:rPr>
              <a:t>案例</a:t>
            </a:r>
            <a:endParaRPr lang="zh-CN" altLang="en-US" sz="2400" dirty="0"/>
          </a:p>
        </p:txBody>
      </p:sp>
      <p:sp>
        <p:nvSpPr>
          <p:cNvPr id="16" name="波形 15">
            <a:extLst>
              <a:ext uri="{FF2B5EF4-FFF2-40B4-BE49-F238E27FC236}">
                <a16:creationId xmlns:a16="http://schemas.microsoft.com/office/drawing/2014/main" id="{569245F8-AABD-4216-B6A2-FDAF3E87BC47}"/>
              </a:ext>
            </a:extLst>
          </p:cNvPr>
          <p:cNvSpPr/>
          <p:nvPr/>
        </p:nvSpPr>
        <p:spPr>
          <a:xfrm>
            <a:off x="148000" y="793238"/>
            <a:ext cx="817360" cy="33483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charset="-122"/>
                <a:ea typeface="微软雅黑" panose="020B0503020204020204" charset="-122"/>
              </a:rPr>
              <a:t>例84-3</a:t>
            </a:r>
            <a:endParaRPr lang="ko-KR" altLang="en-US" sz="1600" b="1" dirty="0">
              <a:solidFill>
                <a:srgbClr val="FFFF00"/>
              </a:solidFill>
              <a:latin typeface="微软雅黑" panose="020B0503020204020204" charset="-122"/>
              <a:ea typeface="微软雅黑" panose="020B0503020204020204" charset="-122"/>
            </a:endParaRPr>
          </a:p>
        </p:txBody>
      </p:sp>
      <p:sp>
        <p:nvSpPr>
          <p:cNvPr id="11" name="文本框 10">
            <a:extLst>
              <a:ext uri="{FF2B5EF4-FFF2-40B4-BE49-F238E27FC236}">
                <a16:creationId xmlns:a16="http://schemas.microsoft.com/office/drawing/2014/main" id="{EAD33BF7-8D4A-4C2D-B3B7-58B828E89E99}"/>
              </a:ext>
            </a:extLst>
          </p:cNvPr>
          <p:cNvSpPr txBox="1"/>
          <p:nvPr/>
        </p:nvSpPr>
        <p:spPr>
          <a:xfrm>
            <a:off x="140319" y="100270"/>
            <a:ext cx="8863361" cy="523220"/>
          </a:xfrm>
          <a:prstGeom prst="rect">
            <a:avLst/>
          </a:prstGeom>
          <a:solidFill>
            <a:schemeClr val="bg1"/>
          </a:solidFill>
        </p:spPr>
        <p:txBody>
          <a:bodyPr wrap="square">
            <a:spAutoFit/>
          </a:bodyPr>
          <a:lstStyle>
            <a:defPPr>
              <a:defRPr lang="zh-CN"/>
            </a:defPPr>
            <a:lvl1pPr>
              <a:lnSpc>
                <a:spcPct val="150000"/>
              </a:lnSpc>
              <a:defRPr sz="3200">
                <a:solidFill>
                  <a:srgbClr val="002060"/>
                </a:solidFill>
                <a:latin typeface="华文楷体" panose="02010600040101010101" pitchFamily="2" charset="-122"/>
                <a:ea typeface="华文楷体" panose="02010600040101010101" pitchFamily="2" charset="-122"/>
              </a:defRPr>
            </a:lvl1pPr>
          </a:lstStyle>
          <a:p>
            <a:pPr>
              <a:lnSpc>
                <a:spcPct val="100000"/>
              </a:lnSpc>
            </a:pPr>
            <a:r>
              <a:rPr lang="en-US" altLang="zh-CN" sz="2600" b="0" dirty="0">
                <a:solidFill>
                  <a:srgbClr val="002060"/>
                </a:solidFill>
                <a:latin typeface="华文楷体" panose="02010600040101010101" pitchFamily="2" charset="-122"/>
                <a:ea typeface="华文楷体" panose="02010600040101010101" pitchFamily="2" charset="-122"/>
              </a:rPr>
              <a:t>§8.4.2 </a:t>
            </a:r>
            <a:r>
              <a:rPr lang="zh-CN" altLang="en-US" sz="2600" kern="0" dirty="0"/>
              <a:t>多元</a:t>
            </a:r>
            <a:r>
              <a:rPr lang="zh-CN" altLang="en-US" sz="2600" dirty="0"/>
              <a:t>函数</a:t>
            </a:r>
            <a:r>
              <a:rPr lang="en-US" altLang="zh-CN" sz="2600" dirty="0"/>
              <a:t>f(</a:t>
            </a:r>
            <a:r>
              <a:rPr lang="en-US" altLang="zh-CN" sz="2600" dirty="0" err="1"/>
              <a:t>x,y</a:t>
            </a:r>
            <a:r>
              <a:rPr lang="en-US" altLang="zh-CN" sz="2600" dirty="0"/>
              <a:t>)</a:t>
            </a:r>
            <a:r>
              <a:rPr lang="zh-CN" altLang="en-US" sz="2600" dirty="0"/>
              <a:t>无约束最</a:t>
            </a:r>
            <a:r>
              <a:rPr lang="en-US" altLang="ko-KR" sz="2600" dirty="0" err="1"/>
              <a:t>小值</a:t>
            </a:r>
            <a:r>
              <a:rPr lang="en-US" altLang="zh-CN" sz="2600" kern="0" dirty="0">
                <a:solidFill>
                  <a:srgbClr val="FF0000"/>
                </a:solidFill>
              </a:rPr>
              <a:t>——fminsearch</a:t>
            </a:r>
            <a:r>
              <a:rPr lang="zh-CN" altLang="en-US" sz="2600" kern="0" dirty="0">
                <a:solidFill>
                  <a:srgbClr val="FF0000"/>
                </a:solidFill>
              </a:rPr>
              <a:t>和</a:t>
            </a:r>
            <a:r>
              <a:rPr lang="en-US" altLang="zh-CN" sz="2800" b="0" dirty="0" err="1">
                <a:solidFill>
                  <a:srgbClr val="FF0000"/>
                </a:solidFill>
                <a:latin typeface="华文楷体" panose="02010600040101010101" pitchFamily="2" charset="-122"/>
                <a:ea typeface="华文楷体" panose="02010600040101010101" pitchFamily="2" charset="-122"/>
              </a:rPr>
              <a:t>fminunc</a:t>
            </a:r>
            <a:endParaRPr lang="zh-CN" altLang="en-US" sz="2600" dirty="0"/>
          </a:p>
        </p:txBody>
      </p:sp>
      <p:sp>
        <p:nvSpPr>
          <p:cNvPr id="12" name="对话气泡: 圆角矩形 11">
            <a:extLst>
              <a:ext uri="{FF2B5EF4-FFF2-40B4-BE49-F238E27FC236}">
                <a16:creationId xmlns:a16="http://schemas.microsoft.com/office/drawing/2014/main" id="{AE26D773-B575-4E1D-B147-EBB773D35DD2}"/>
              </a:ext>
            </a:extLst>
          </p:cNvPr>
          <p:cNvSpPr/>
          <p:nvPr/>
        </p:nvSpPr>
        <p:spPr>
          <a:xfrm>
            <a:off x="5940152" y="4168637"/>
            <a:ext cx="1096268" cy="347329"/>
          </a:xfrm>
          <a:prstGeom prst="wedgeRoundRectCallout">
            <a:avLst>
              <a:gd name="adj1" fmla="val 39474"/>
              <a:gd name="adj2" fmla="val -170916"/>
              <a:gd name="adj3" fmla="val 16667"/>
            </a:avLst>
          </a:prstGeom>
          <a:noFill/>
          <a:ln>
            <a:solidFill>
              <a:srgbClr val="FF0000"/>
            </a:solidFill>
          </a:ln>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zh-CN" altLang="en-US" sz="1600" b="1" kern="0"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rPr>
              <a:t>谷最小值</a:t>
            </a:r>
          </a:p>
        </p:txBody>
      </p:sp>
    </p:spTree>
    <p:extLst>
      <p:ext uri="{BB962C8B-B14F-4D97-AF65-F5344CB8AC3E}">
        <p14:creationId xmlns:p14="http://schemas.microsoft.com/office/powerpoint/2010/main" val="1371339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BE5DD778-FF7B-4742-A7E1-1091AB63D90F}"/>
              </a:ext>
            </a:extLst>
          </p:cNvPr>
          <p:cNvPicPr>
            <a:picLocks noChangeAspect="1"/>
          </p:cNvPicPr>
          <p:nvPr/>
        </p:nvPicPr>
        <p:blipFill>
          <a:blip r:embed="rId2"/>
          <a:stretch>
            <a:fillRect/>
          </a:stretch>
        </p:blipFill>
        <p:spPr>
          <a:xfrm>
            <a:off x="3956569" y="1230345"/>
            <a:ext cx="4504976" cy="3393061"/>
          </a:xfrm>
          <a:prstGeom prst="rect">
            <a:avLst/>
          </a:prstGeom>
        </p:spPr>
      </p:pic>
      <p:sp>
        <p:nvSpPr>
          <p:cNvPr id="11" name="矩形 10">
            <a:extLst>
              <a:ext uri="{FF2B5EF4-FFF2-40B4-BE49-F238E27FC236}">
                <a16:creationId xmlns:a16="http://schemas.microsoft.com/office/drawing/2014/main" id="{1ABBC4FC-33BC-41D6-BF7E-FA87B8C6A9AD}"/>
              </a:ext>
            </a:extLst>
          </p:cNvPr>
          <p:cNvSpPr/>
          <p:nvPr/>
        </p:nvSpPr>
        <p:spPr>
          <a:xfrm>
            <a:off x="8485934" y="1321821"/>
            <a:ext cx="418717" cy="2751522"/>
          </a:xfrm>
          <a:prstGeom prst="rect">
            <a:avLst/>
          </a:prstGeom>
          <a:no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zh-CN" altLang="en-US" sz="2400" b="1" kern="0"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rPr>
              <a:t>等高</a:t>
            </a:r>
            <a:endParaRPr lang="en-US" altLang="zh-CN" sz="2400" b="1" kern="0"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endParaRPr>
          </a:p>
          <a:p>
            <a:pPr marL="177800" indent="-177800">
              <a:lnSpc>
                <a:spcPct val="90000"/>
              </a:lnSpc>
            </a:pPr>
            <a:r>
              <a:rPr lang="en-US" altLang="zh-CN" sz="2400" b="1" kern="0"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rPr>
              <a:t> </a:t>
            </a:r>
            <a:r>
              <a:rPr lang="zh-CN" altLang="en-US" sz="2400" b="1" kern="0"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rPr>
              <a:t>线</a:t>
            </a:r>
          </a:p>
          <a:p>
            <a:pPr marL="177800" indent="-177800">
              <a:lnSpc>
                <a:spcPct val="90000"/>
              </a:lnSpc>
            </a:pPr>
            <a:r>
              <a:rPr lang="zh-CN" altLang="en-US" sz="2400" b="1" kern="0"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rPr>
              <a:t>图 </a:t>
            </a:r>
            <a:endParaRPr lang="en-US" altLang="zh-CN" sz="2400" b="1" kern="0"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endParaRPr>
          </a:p>
          <a:p>
            <a:pPr marL="177800" indent="-177800">
              <a:lnSpc>
                <a:spcPct val="90000"/>
              </a:lnSpc>
            </a:pPr>
            <a:r>
              <a:rPr lang="zh-CN" altLang="en-US" sz="2400" b="1" kern="0"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rPr>
              <a:t> 解</a:t>
            </a:r>
            <a:endParaRPr lang="en-US" altLang="zh-CN" sz="2400" b="1" kern="0"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endParaRPr>
          </a:p>
          <a:p>
            <a:pPr marL="177800" indent="-177800">
              <a:lnSpc>
                <a:spcPct val="90000"/>
              </a:lnSpc>
            </a:pPr>
            <a:r>
              <a:rPr lang="zh-CN" altLang="en-US" sz="2400" b="1" kern="0"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rPr>
              <a:t>法</a:t>
            </a:r>
          </a:p>
        </p:txBody>
      </p:sp>
      <p:sp>
        <p:nvSpPr>
          <p:cNvPr id="12" name="矩形 11">
            <a:extLst>
              <a:ext uri="{FF2B5EF4-FFF2-40B4-BE49-F238E27FC236}">
                <a16:creationId xmlns:a16="http://schemas.microsoft.com/office/drawing/2014/main" id="{7784E514-DE38-4BB9-9C0F-2BD816E2A5B8}"/>
              </a:ext>
            </a:extLst>
          </p:cNvPr>
          <p:cNvSpPr/>
          <p:nvPr/>
        </p:nvSpPr>
        <p:spPr>
          <a:xfrm>
            <a:off x="96672" y="3329236"/>
            <a:ext cx="4615563" cy="1199174"/>
          </a:xfrm>
          <a:prstGeom prst="rect">
            <a:avLst/>
          </a:prstGeom>
        </p:spPr>
        <p:txBody>
          <a:bodyPr wrap="square">
            <a:spAutoFit/>
          </a:bodyPr>
          <a:lstStyle/>
          <a:p>
            <a:pPr>
              <a:lnSpc>
                <a:spcPts val="2200"/>
              </a:lnSpc>
            </a:pPr>
            <a:r>
              <a:rPr lang="zh-CN" altLang="en-US" sz="1600" b="1" dirty="0">
                <a:solidFill>
                  <a:srgbClr val="0070C0"/>
                </a:solidFill>
                <a:latin typeface="宋体" panose="02010600030101010101" pitchFamily="2" charset="-122"/>
                <a:ea typeface="宋体" panose="02010600030101010101" pitchFamily="2" charset="-122"/>
              </a:rPr>
              <a:t>如图有</a:t>
            </a:r>
            <a:r>
              <a:rPr lang="en-US" altLang="zh-CN" sz="1600" b="1" dirty="0">
                <a:solidFill>
                  <a:srgbClr val="0070C0"/>
                </a:solidFill>
                <a:latin typeface="宋体" panose="02010600030101010101" pitchFamily="2" charset="-122"/>
                <a:ea typeface="宋体" panose="02010600030101010101" pitchFamily="2" charset="-122"/>
              </a:rPr>
              <a:t>5</a:t>
            </a:r>
            <a:r>
              <a:rPr lang="zh-CN" altLang="en-US" sz="1600" b="1" dirty="0">
                <a:solidFill>
                  <a:srgbClr val="0070C0"/>
                </a:solidFill>
                <a:latin typeface="宋体" panose="02010600030101010101" pitchFamily="2" charset="-122"/>
                <a:ea typeface="宋体" panose="02010600030101010101" pitchFamily="2" charset="-122"/>
              </a:rPr>
              <a:t>个低谷，</a:t>
            </a:r>
            <a:r>
              <a:rPr lang="en-US" altLang="zh-CN" sz="1600" b="1" dirty="0">
                <a:solidFill>
                  <a:srgbClr val="0070C0"/>
                </a:solidFill>
                <a:latin typeface="宋体" panose="02010600030101010101" pitchFamily="2" charset="-122"/>
                <a:ea typeface="宋体" panose="02010600030101010101" pitchFamily="2" charset="-122"/>
              </a:rPr>
              <a:t>1</a:t>
            </a:r>
            <a:r>
              <a:rPr lang="zh-CN" altLang="en-US" sz="1600" b="1" dirty="0">
                <a:solidFill>
                  <a:srgbClr val="0070C0"/>
                </a:solidFill>
                <a:latin typeface="宋体" panose="02010600030101010101" pitchFamily="2" charset="-122"/>
                <a:ea typeface="宋体" panose="02010600030101010101" pitchFamily="2" charset="-122"/>
              </a:rPr>
              <a:t>、</a:t>
            </a:r>
            <a:r>
              <a:rPr lang="en-US" altLang="zh-CN" sz="1600" b="1" dirty="0">
                <a:solidFill>
                  <a:srgbClr val="0070C0"/>
                </a:solidFill>
                <a:latin typeface="宋体" panose="02010600030101010101" pitchFamily="2" charset="-122"/>
                <a:ea typeface="宋体" panose="02010600030101010101" pitchFamily="2" charset="-122"/>
              </a:rPr>
              <a:t>2</a:t>
            </a:r>
            <a:r>
              <a:rPr lang="zh-CN" altLang="en-US" sz="1600" b="1" dirty="0">
                <a:solidFill>
                  <a:srgbClr val="0070C0"/>
                </a:solidFill>
                <a:latin typeface="宋体" panose="02010600030101010101" pitchFamily="2" charset="-122"/>
                <a:ea typeface="宋体" panose="02010600030101010101" pitchFamily="2" charset="-122"/>
              </a:rPr>
              <a:t>、</a:t>
            </a:r>
            <a:r>
              <a:rPr lang="en-US" altLang="zh-CN" sz="1600" b="1" dirty="0">
                <a:solidFill>
                  <a:srgbClr val="0070C0"/>
                </a:solidFill>
                <a:latin typeface="宋体" panose="02010600030101010101" pitchFamily="2" charset="-122"/>
                <a:ea typeface="宋体" panose="02010600030101010101" pitchFamily="2" charset="-122"/>
              </a:rPr>
              <a:t>3</a:t>
            </a:r>
            <a:r>
              <a:rPr lang="zh-CN" altLang="en-US" sz="1600" b="1" dirty="0">
                <a:solidFill>
                  <a:srgbClr val="0070C0"/>
                </a:solidFill>
                <a:latin typeface="宋体" panose="02010600030101010101" pitchFamily="2" charset="-122"/>
                <a:ea typeface="宋体" panose="02010600030101010101" pitchFamily="2" charset="-122"/>
              </a:rPr>
              <a:t>、</a:t>
            </a:r>
            <a:r>
              <a:rPr lang="en-US" altLang="zh-CN" sz="1600" b="1" dirty="0">
                <a:solidFill>
                  <a:srgbClr val="0070C0"/>
                </a:solidFill>
                <a:latin typeface="宋体" panose="02010600030101010101" pitchFamily="2" charset="-122"/>
                <a:ea typeface="宋体" panose="02010600030101010101" pitchFamily="2" charset="-122"/>
              </a:rPr>
              <a:t>4</a:t>
            </a:r>
            <a:r>
              <a:rPr lang="zh-CN" altLang="en-US" sz="1600" b="1" dirty="0">
                <a:solidFill>
                  <a:srgbClr val="0070C0"/>
                </a:solidFill>
                <a:latin typeface="宋体" panose="02010600030101010101" pitchFamily="2" charset="-122"/>
                <a:ea typeface="宋体" panose="02010600030101010101" pitchFamily="2" charset="-122"/>
              </a:rPr>
              <a:t>、</a:t>
            </a:r>
            <a:r>
              <a:rPr lang="en-US" altLang="zh-CN" sz="1600" b="1" dirty="0">
                <a:solidFill>
                  <a:srgbClr val="0070C0"/>
                </a:solidFill>
                <a:latin typeface="宋体" panose="02010600030101010101" pitchFamily="2" charset="-122"/>
                <a:ea typeface="宋体" panose="02010600030101010101" pitchFamily="2" charset="-122"/>
              </a:rPr>
              <a:t>5</a:t>
            </a:r>
          </a:p>
          <a:p>
            <a:pPr>
              <a:lnSpc>
                <a:spcPts val="2200"/>
              </a:lnSpc>
            </a:pPr>
            <a:r>
              <a:rPr lang="zh-CN" altLang="en-US" sz="1600" b="1" dirty="0">
                <a:solidFill>
                  <a:srgbClr val="0070C0"/>
                </a:solidFill>
                <a:latin typeface="宋体" panose="02010600030101010101" pitchFamily="2" charset="-122"/>
                <a:ea typeface="宋体" panose="02010600030101010101" pitchFamily="2" charset="-122"/>
              </a:rPr>
              <a:t>可以猜测</a:t>
            </a:r>
            <a:r>
              <a:rPr lang="en-US" altLang="zh-CN" sz="1600" b="1" dirty="0">
                <a:solidFill>
                  <a:srgbClr val="0070C0"/>
                </a:solidFill>
                <a:latin typeface="宋体" panose="02010600030101010101" pitchFamily="2" charset="-122"/>
                <a:ea typeface="宋体" panose="02010600030101010101" pitchFamily="2" charset="-122"/>
              </a:rPr>
              <a:t>5</a:t>
            </a:r>
            <a:r>
              <a:rPr lang="zh-CN" altLang="en-US" sz="1600" b="1" dirty="0">
                <a:solidFill>
                  <a:srgbClr val="0070C0"/>
                </a:solidFill>
                <a:latin typeface="宋体" panose="02010600030101010101" pitchFamily="2" charset="-122"/>
                <a:ea typeface="宋体" panose="02010600030101010101" pitchFamily="2" charset="-122"/>
              </a:rPr>
              <a:t>个初始值</a:t>
            </a:r>
            <a:r>
              <a:rPr lang="en-US" altLang="zh-CN" sz="1600" b="1" dirty="0">
                <a:solidFill>
                  <a:srgbClr val="0070C0"/>
                </a:solidFill>
                <a:latin typeface="宋体" panose="02010600030101010101" pitchFamily="2" charset="-122"/>
                <a:ea typeface="宋体" panose="02010600030101010101" pitchFamily="2" charset="-122"/>
              </a:rPr>
              <a:t>xy0=[x0,y0]</a:t>
            </a:r>
          </a:p>
          <a:p>
            <a:pPr>
              <a:lnSpc>
                <a:spcPts val="2200"/>
              </a:lnSpc>
            </a:pPr>
            <a:r>
              <a:rPr lang="zh-CN" altLang="en-US" sz="1600" b="1" dirty="0">
                <a:solidFill>
                  <a:srgbClr val="0070C0"/>
                </a:solidFill>
                <a:latin typeface="宋体" panose="02010600030101010101" pitchFamily="2" charset="-122"/>
                <a:ea typeface="宋体" panose="02010600030101010101" pitchFamily="2" charset="-122"/>
              </a:rPr>
              <a:t>猜测</a:t>
            </a:r>
            <a:r>
              <a:rPr lang="en-US" altLang="zh-CN" sz="1600" b="1" dirty="0">
                <a:solidFill>
                  <a:srgbClr val="0070C0"/>
                </a:solidFill>
                <a:latin typeface="宋体" panose="02010600030101010101" pitchFamily="2" charset="-122"/>
                <a:ea typeface="宋体" panose="02010600030101010101" pitchFamily="2" charset="-122"/>
              </a:rPr>
              <a:t>3</a:t>
            </a:r>
            <a:r>
              <a:rPr lang="zh-CN" altLang="en-US" sz="1600" b="1" dirty="0">
                <a:solidFill>
                  <a:srgbClr val="0070C0"/>
                </a:solidFill>
                <a:latin typeface="宋体" panose="02010600030101010101" pitchFamily="2" charset="-122"/>
                <a:ea typeface="宋体" panose="02010600030101010101" pitchFamily="2" charset="-122"/>
              </a:rPr>
              <a:t>个点坐标大概分别是</a:t>
            </a:r>
            <a:r>
              <a:rPr lang="en-US" altLang="zh-CN" sz="1600" b="1" dirty="0">
                <a:solidFill>
                  <a:srgbClr val="0070C0"/>
                </a:solidFill>
                <a:latin typeface="宋体" panose="02010600030101010101" pitchFamily="2" charset="-122"/>
                <a:ea typeface="宋体" panose="02010600030101010101" pitchFamily="2" charset="-122"/>
              </a:rPr>
              <a:t>[1,1], [2,2]</a:t>
            </a:r>
            <a:r>
              <a:rPr lang="zh-CN" altLang="en-US" sz="1600" b="1" dirty="0">
                <a:solidFill>
                  <a:srgbClr val="0070C0"/>
                </a:solidFill>
                <a:latin typeface="宋体" panose="02010600030101010101" pitchFamily="2" charset="-122"/>
                <a:ea typeface="宋体" panose="02010600030101010101" pitchFamily="2" charset="-122"/>
              </a:rPr>
              <a:t>和</a:t>
            </a:r>
            <a:endParaRPr lang="en-US" altLang="zh-CN" sz="1600" b="1" dirty="0">
              <a:solidFill>
                <a:srgbClr val="0070C0"/>
              </a:solidFill>
              <a:latin typeface="宋体" panose="02010600030101010101" pitchFamily="2" charset="-122"/>
              <a:ea typeface="宋体" panose="02010600030101010101" pitchFamily="2" charset="-122"/>
            </a:endParaRPr>
          </a:p>
          <a:p>
            <a:pPr>
              <a:lnSpc>
                <a:spcPts val="2200"/>
              </a:lnSpc>
            </a:pPr>
            <a:r>
              <a:rPr lang="en-US" altLang="zh-CN" sz="1600" b="1" dirty="0">
                <a:solidFill>
                  <a:srgbClr val="0070C0"/>
                </a:solidFill>
                <a:latin typeface="宋体" panose="02010600030101010101" pitchFamily="2" charset="-122"/>
                <a:ea typeface="宋体" panose="02010600030101010101" pitchFamily="2" charset="-122"/>
              </a:rPr>
              <a:t>[-1,2].</a:t>
            </a:r>
            <a:r>
              <a:rPr lang="zh-CN" altLang="en-US" sz="1600" b="1" dirty="0">
                <a:solidFill>
                  <a:srgbClr val="0070C0"/>
                </a:solidFill>
                <a:latin typeface="宋体" panose="02010600030101010101" pitchFamily="2" charset="-122"/>
                <a:ea typeface="宋体" panose="02010600030101010101" pitchFamily="2" charset="-122"/>
              </a:rPr>
              <a:t>也可以看图猜测</a:t>
            </a:r>
            <a:r>
              <a:rPr lang="en-US" altLang="zh-CN" sz="1600" b="1" dirty="0">
                <a:solidFill>
                  <a:srgbClr val="0070C0"/>
                </a:solidFill>
                <a:latin typeface="宋体" panose="02010600030101010101" pitchFamily="2" charset="-122"/>
                <a:ea typeface="宋体" panose="02010600030101010101" pitchFamily="2" charset="-122"/>
              </a:rPr>
              <a:t>4</a:t>
            </a:r>
            <a:r>
              <a:rPr lang="zh-CN" altLang="en-US" sz="1600" b="1" dirty="0">
                <a:solidFill>
                  <a:srgbClr val="0070C0"/>
                </a:solidFill>
                <a:latin typeface="宋体" panose="02010600030101010101" pitchFamily="2" charset="-122"/>
                <a:ea typeface="宋体" panose="02010600030101010101" pitchFamily="2" charset="-122"/>
              </a:rPr>
              <a:t>和</a:t>
            </a:r>
            <a:r>
              <a:rPr lang="en-US" altLang="zh-CN" sz="1600" b="1" dirty="0">
                <a:solidFill>
                  <a:srgbClr val="0070C0"/>
                </a:solidFill>
                <a:latin typeface="宋体" panose="02010600030101010101" pitchFamily="2" charset="-122"/>
                <a:ea typeface="宋体" panose="02010600030101010101" pitchFamily="2" charset="-122"/>
              </a:rPr>
              <a:t>5</a:t>
            </a:r>
            <a:r>
              <a:rPr lang="zh-CN" altLang="en-US" sz="1600" b="1" dirty="0">
                <a:solidFill>
                  <a:srgbClr val="0070C0"/>
                </a:solidFill>
                <a:latin typeface="宋体" panose="02010600030101010101" pitchFamily="2" charset="-122"/>
                <a:ea typeface="宋体" panose="02010600030101010101" pitchFamily="2" charset="-122"/>
              </a:rPr>
              <a:t>点坐标</a:t>
            </a:r>
          </a:p>
        </p:txBody>
      </p:sp>
      <p:sp>
        <p:nvSpPr>
          <p:cNvPr id="19" name="Rectangle 3">
            <a:extLst>
              <a:ext uri="{FF2B5EF4-FFF2-40B4-BE49-F238E27FC236}">
                <a16:creationId xmlns:a16="http://schemas.microsoft.com/office/drawing/2014/main" id="{3032CD7F-1D76-4FAC-B24B-5FE53A8C8B7D}"/>
              </a:ext>
            </a:extLst>
          </p:cNvPr>
          <p:cNvSpPr>
            <a:spLocks noChangeArrowheads="1"/>
          </p:cNvSpPr>
          <p:nvPr/>
        </p:nvSpPr>
        <p:spPr bwMode="auto">
          <a:xfrm>
            <a:off x="1053008" y="800756"/>
            <a:ext cx="799938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dist" eaLnBrk="0" hangingPunct="0"/>
            <a:r>
              <a:rPr lang="en-US" altLang="zh-CN" b="1" dirty="0">
                <a:solidFill>
                  <a:srgbClr val="0070C0"/>
                </a:solidFill>
                <a:latin typeface="微软雅黑" panose="020B0503020204020204" pitchFamily="34" charset="-122"/>
                <a:ea typeface="微软雅黑" panose="020B0503020204020204" pitchFamily="34" charset="-122"/>
              </a:rPr>
              <a:t>(2)</a:t>
            </a:r>
            <a:r>
              <a:rPr lang="zh-CN" altLang="en-US" b="1" dirty="0">
                <a:solidFill>
                  <a:srgbClr val="0070C0"/>
                </a:solidFill>
                <a:latin typeface="微软雅黑" panose="020B0503020204020204" pitchFamily="34" charset="-122"/>
                <a:ea typeface="微软雅黑" panose="020B0503020204020204" pitchFamily="34" charset="-122"/>
              </a:rPr>
              <a:t>绘制二元函数的等高线contour，确定初始猜测值</a:t>
            </a:r>
            <a:r>
              <a:rPr lang="en-US" altLang="zh-CN" b="1" dirty="0">
                <a:solidFill>
                  <a:srgbClr val="0070C0"/>
                </a:solidFill>
                <a:latin typeface="微软雅黑" panose="020B0503020204020204" pitchFamily="34" charset="-122"/>
                <a:ea typeface="微软雅黑" panose="020B0503020204020204" pitchFamily="34" charset="-122"/>
              </a:rPr>
              <a:t>xy0=【x0,y0】</a:t>
            </a:r>
            <a:endParaRPr lang="zh-CN" altLang="zh-CN" b="1" dirty="0">
              <a:solidFill>
                <a:srgbClr val="0070C0"/>
              </a:solidFill>
              <a:latin typeface="微软雅黑" panose="020B0503020204020204" pitchFamily="34" charset="-122"/>
              <a:ea typeface="微软雅黑" panose="020B0503020204020204" pitchFamily="34" charset="-122"/>
            </a:endParaRPr>
          </a:p>
        </p:txBody>
      </p:sp>
      <p:sp>
        <p:nvSpPr>
          <p:cNvPr id="18" name="波形 17">
            <a:extLst>
              <a:ext uri="{FF2B5EF4-FFF2-40B4-BE49-F238E27FC236}">
                <a16:creationId xmlns:a16="http://schemas.microsoft.com/office/drawing/2014/main" id="{3852D807-287E-4BE9-8381-341C49B36DD4}"/>
              </a:ext>
            </a:extLst>
          </p:cNvPr>
          <p:cNvSpPr/>
          <p:nvPr/>
        </p:nvSpPr>
        <p:spPr>
          <a:xfrm>
            <a:off x="76176" y="735058"/>
            <a:ext cx="817360" cy="33483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charset="-122"/>
                <a:ea typeface="微软雅黑" panose="020B0503020204020204" charset="-122"/>
              </a:rPr>
              <a:t>例84-3</a:t>
            </a:r>
            <a:endParaRPr lang="ko-KR" altLang="en-US" sz="1600" b="1" dirty="0">
              <a:solidFill>
                <a:srgbClr val="FFFF00"/>
              </a:solidFill>
              <a:latin typeface="微软雅黑" panose="020B0503020204020204" charset="-122"/>
              <a:ea typeface="微软雅黑" panose="020B0503020204020204" charset="-122"/>
            </a:endParaRPr>
          </a:p>
        </p:txBody>
      </p:sp>
      <p:sp>
        <p:nvSpPr>
          <p:cNvPr id="15" name="矩形 14">
            <a:extLst>
              <a:ext uri="{FF2B5EF4-FFF2-40B4-BE49-F238E27FC236}">
                <a16:creationId xmlns:a16="http://schemas.microsoft.com/office/drawing/2014/main" id="{57AFA81B-4F6B-48FF-9CCF-B8A61FE11DE3}"/>
              </a:ext>
            </a:extLst>
          </p:cNvPr>
          <p:cNvSpPr/>
          <p:nvPr/>
        </p:nvSpPr>
        <p:spPr>
          <a:xfrm>
            <a:off x="4830222" y="987574"/>
            <a:ext cx="389850" cy="584775"/>
          </a:xfrm>
          <a:prstGeom prst="rect">
            <a:avLst/>
          </a:prstGeom>
          <a:ln>
            <a:noFill/>
            <a:prstDash val="sysDot"/>
          </a:ln>
        </p:spPr>
        <p:txBody>
          <a:bodyPr wrap="none">
            <a:spAutoFit/>
          </a:bodyPr>
          <a:lstStyle/>
          <a:p>
            <a:r>
              <a:rPr lang="en-US" altLang="zh-CN" sz="3200" dirty="0">
                <a:solidFill>
                  <a:srgbClr val="FF00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mn-ea"/>
              </a:rPr>
              <a:t>y</a:t>
            </a:r>
            <a:endParaRPr lang="zh-CN" altLang="en-US" sz="3200" dirty="0">
              <a:solidFill>
                <a:srgbClr val="FF0000"/>
              </a:solidFill>
              <a:effectLst>
                <a:outerShdw blurRad="38100" dist="38100" dir="2700000" algn="tl">
                  <a:srgbClr val="000000">
                    <a:alpha val="43137"/>
                  </a:srgbClr>
                </a:outerShdw>
              </a:effectLst>
            </a:endParaRPr>
          </a:p>
        </p:txBody>
      </p:sp>
      <p:cxnSp>
        <p:nvCxnSpPr>
          <p:cNvPr id="17" name="直接连接符 16">
            <a:extLst>
              <a:ext uri="{FF2B5EF4-FFF2-40B4-BE49-F238E27FC236}">
                <a16:creationId xmlns:a16="http://schemas.microsoft.com/office/drawing/2014/main" id="{3BCFD18E-E138-4F43-BD10-D9F6135D26F4}"/>
              </a:ext>
            </a:extLst>
          </p:cNvPr>
          <p:cNvCxnSpPr>
            <a:cxnSpLocks/>
          </p:cNvCxnSpPr>
          <p:nvPr/>
        </p:nvCxnSpPr>
        <p:spPr>
          <a:xfrm>
            <a:off x="4418738" y="2511980"/>
            <a:ext cx="2360304" cy="57157"/>
          </a:xfrm>
          <a:prstGeom prst="line">
            <a:avLst/>
          </a:prstGeom>
          <a:ln w="28575">
            <a:solidFill>
              <a:srgbClr val="C00000"/>
            </a:solidFill>
            <a:prstDash val="sysDot"/>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C2BA7024-2961-4C3B-8C40-FD471FF02832}"/>
              </a:ext>
            </a:extLst>
          </p:cNvPr>
          <p:cNvCxnSpPr>
            <a:cxnSpLocks/>
          </p:cNvCxnSpPr>
          <p:nvPr/>
        </p:nvCxnSpPr>
        <p:spPr>
          <a:xfrm flipV="1">
            <a:off x="6586431" y="2477797"/>
            <a:ext cx="69636" cy="1852293"/>
          </a:xfrm>
          <a:prstGeom prst="line">
            <a:avLst/>
          </a:prstGeom>
          <a:ln w="28575">
            <a:solidFill>
              <a:srgbClr val="C00000"/>
            </a:solidFill>
            <a:prstDash val="sysDot"/>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2287C8F4-CABD-462F-8515-ADFAAEFE0187}"/>
              </a:ext>
            </a:extLst>
          </p:cNvPr>
          <p:cNvSpPr/>
          <p:nvPr/>
        </p:nvSpPr>
        <p:spPr>
          <a:xfrm>
            <a:off x="8183701" y="3821679"/>
            <a:ext cx="389850" cy="584775"/>
          </a:xfrm>
          <a:prstGeom prst="rect">
            <a:avLst/>
          </a:prstGeom>
          <a:ln>
            <a:noFill/>
            <a:prstDash val="sysDot"/>
          </a:ln>
        </p:spPr>
        <p:txBody>
          <a:bodyPr wrap="none">
            <a:spAutoFit/>
          </a:bodyPr>
          <a:lstStyle/>
          <a:p>
            <a:r>
              <a:rPr lang="en-US" altLang="zh-CN" sz="3200" dirty="0">
                <a:solidFill>
                  <a:srgbClr val="FF00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mn-ea"/>
              </a:rPr>
              <a:t>x</a:t>
            </a:r>
            <a:endParaRPr lang="zh-CN" altLang="en-US" sz="3200" dirty="0">
              <a:solidFill>
                <a:srgbClr val="FF0000"/>
              </a:solidFill>
              <a:effectLst>
                <a:outerShdw blurRad="38100" dist="38100" dir="2700000" algn="tl">
                  <a:srgbClr val="000000">
                    <a:alpha val="43137"/>
                  </a:srgbClr>
                </a:outerShdw>
              </a:effectLst>
            </a:endParaRPr>
          </a:p>
        </p:txBody>
      </p:sp>
      <p:cxnSp>
        <p:nvCxnSpPr>
          <p:cNvPr id="23" name="直接连接符 22">
            <a:extLst>
              <a:ext uri="{FF2B5EF4-FFF2-40B4-BE49-F238E27FC236}">
                <a16:creationId xmlns:a16="http://schemas.microsoft.com/office/drawing/2014/main" id="{E56A1AD3-3DAF-4B1C-BFC2-FC09B88D4BC7}"/>
              </a:ext>
            </a:extLst>
          </p:cNvPr>
          <p:cNvCxnSpPr>
            <a:cxnSpLocks/>
          </p:cNvCxnSpPr>
          <p:nvPr/>
        </p:nvCxnSpPr>
        <p:spPr>
          <a:xfrm>
            <a:off x="4385473" y="2217366"/>
            <a:ext cx="2971782" cy="42130"/>
          </a:xfrm>
          <a:prstGeom prst="line">
            <a:avLst/>
          </a:prstGeom>
          <a:ln w="28575">
            <a:solidFill>
              <a:srgbClr val="C00000"/>
            </a:solidFill>
            <a:prstDash val="sysDot"/>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43C64E95-E7E4-4F05-A942-4A971824B45E}"/>
              </a:ext>
            </a:extLst>
          </p:cNvPr>
          <p:cNvCxnSpPr>
            <a:cxnSpLocks/>
          </p:cNvCxnSpPr>
          <p:nvPr/>
        </p:nvCxnSpPr>
        <p:spPr>
          <a:xfrm flipV="1">
            <a:off x="5983920" y="2008475"/>
            <a:ext cx="45549" cy="2321615"/>
          </a:xfrm>
          <a:prstGeom prst="line">
            <a:avLst/>
          </a:prstGeom>
          <a:ln w="28575">
            <a:solidFill>
              <a:srgbClr val="C00000"/>
            </a:solidFill>
            <a:prstDash val="sysDot"/>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7E889C77-4CC4-4A4E-872D-FE0A5C48FE1C}"/>
              </a:ext>
            </a:extLst>
          </p:cNvPr>
          <p:cNvSpPr txBox="1"/>
          <p:nvPr/>
        </p:nvSpPr>
        <p:spPr>
          <a:xfrm>
            <a:off x="103324" y="1148366"/>
            <a:ext cx="3676588" cy="2149243"/>
          </a:xfrm>
          <a:prstGeom prst="rect">
            <a:avLst/>
          </a:prstGeom>
          <a:noFill/>
        </p:spPr>
        <p:txBody>
          <a:bodyPr wrap="square">
            <a:spAutoFit/>
          </a:bodyPr>
          <a:lstStyle/>
          <a:p>
            <a:pPr>
              <a:lnSpc>
                <a:spcPts val="2700"/>
              </a:lnSpc>
            </a:pPr>
            <a:r>
              <a:rPr lang="en-US" altLang="zh-CN" sz="2000" b="0" dirty="0">
                <a:solidFill>
                  <a:srgbClr val="795E26"/>
                </a:solidFill>
                <a:effectLst/>
                <a:latin typeface="Consolas" panose="020B0609020204030204" pitchFamily="49" charset="0"/>
              </a:rPr>
              <a:t>figure</a:t>
            </a:r>
            <a:r>
              <a:rPr lang="en-US" altLang="zh-CN" sz="2000" b="0" dirty="0">
                <a:solidFill>
                  <a:srgbClr val="000000"/>
                </a:solidFill>
                <a:effectLst/>
                <a:latin typeface="Consolas" panose="020B0609020204030204" pitchFamily="49" charset="0"/>
              </a:rPr>
              <a:t>()</a:t>
            </a:r>
          </a:p>
          <a:p>
            <a:pPr>
              <a:lnSpc>
                <a:spcPts val="2700"/>
              </a:lnSpc>
            </a:pPr>
            <a:r>
              <a:rPr lang="en-US" altLang="zh-CN" sz="2000" b="0" dirty="0">
                <a:solidFill>
                  <a:srgbClr val="008000"/>
                </a:solidFill>
                <a:effectLst/>
                <a:latin typeface="Consolas" panose="020B0609020204030204" pitchFamily="49" charset="0"/>
              </a:rPr>
              <a:t>#</a:t>
            </a:r>
            <a:r>
              <a:rPr lang="zh-CN" altLang="en-US" sz="2000" b="0" dirty="0">
                <a:solidFill>
                  <a:srgbClr val="008000"/>
                </a:solidFill>
                <a:effectLst/>
                <a:latin typeface="Consolas" panose="020B0609020204030204" pitchFamily="49" charset="0"/>
              </a:rPr>
              <a:t>在</a:t>
            </a:r>
            <a:r>
              <a:rPr lang="en-US" altLang="zh-CN" sz="2000" b="0" dirty="0" err="1">
                <a:solidFill>
                  <a:srgbClr val="008000"/>
                </a:solidFill>
                <a:effectLst/>
                <a:latin typeface="Consolas" panose="020B0609020204030204" pitchFamily="49" charset="0"/>
              </a:rPr>
              <a:t>xy</a:t>
            </a:r>
            <a:r>
              <a:rPr lang="zh-CN" altLang="en-US" sz="2000" b="0" dirty="0">
                <a:solidFill>
                  <a:srgbClr val="008000"/>
                </a:solidFill>
                <a:effectLst/>
                <a:latin typeface="Consolas" panose="020B0609020204030204" pitchFamily="49" charset="0"/>
              </a:rPr>
              <a:t>水平面上闭合等高线</a:t>
            </a:r>
            <a:endParaRPr lang="zh-CN" altLang="en-US" sz="2000" b="0" dirty="0">
              <a:solidFill>
                <a:srgbClr val="000000"/>
              </a:solidFill>
              <a:effectLst/>
              <a:latin typeface="Consolas" panose="020B0609020204030204" pitchFamily="49" charset="0"/>
            </a:endParaRPr>
          </a:p>
          <a:p>
            <a:pPr>
              <a:lnSpc>
                <a:spcPts val="2700"/>
              </a:lnSpc>
            </a:pPr>
            <a:r>
              <a:rPr lang="en-US" altLang="zh-CN" sz="2000" b="0" dirty="0">
                <a:solidFill>
                  <a:srgbClr val="000000"/>
                </a:solidFill>
                <a:effectLst/>
                <a:latin typeface="Consolas" panose="020B0609020204030204" pitchFamily="49" charset="0"/>
              </a:rPr>
              <a:t>c=</a:t>
            </a:r>
            <a:r>
              <a:rPr lang="en-US" altLang="zh-CN" sz="2000" b="0" dirty="0">
                <a:solidFill>
                  <a:srgbClr val="795E26"/>
                </a:solidFill>
                <a:effectLst/>
                <a:latin typeface="Consolas" panose="020B0609020204030204" pitchFamily="49" charset="0"/>
              </a:rPr>
              <a:t>contour</a:t>
            </a:r>
            <a:r>
              <a:rPr lang="en-US" altLang="zh-CN" sz="2000" b="0" dirty="0">
                <a:solidFill>
                  <a:srgbClr val="000000"/>
                </a:solidFill>
                <a:effectLst/>
                <a:latin typeface="Consolas" panose="020B0609020204030204" pitchFamily="49" charset="0"/>
              </a:rPr>
              <a:t>(x,y,z,</a:t>
            </a:r>
            <a:r>
              <a:rPr lang="en-US" altLang="zh-CN" sz="2000" b="0" dirty="0">
                <a:solidFill>
                  <a:srgbClr val="098658"/>
                </a:solidFill>
                <a:effectLst/>
                <a:latin typeface="Consolas" panose="020B0609020204030204" pitchFamily="49" charset="0"/>
              </a:rPr>
              <a:t>40</a:t>
            </a:r>
            <a:r>
              <a:rPr lang="en-US" altLang="zh-CN" sz="2000" b="0" dirty="0">
                <a:solidFill>
                  <a:srgbClr val="000000"/>
                </a:solidFill>
                <a:effectLst/>
                <a:latin typeface="Consolas" panose="020B0609020204030204" pitchFamily="49" charset="0"/>
              </a:rPr>
              <a:t>)</a:t>
            </a:r>
          </a:p>
          <a:p>
            <a:pPr>
              <a:lnSpc>
                <a:spcPts val="2700"/>
              </a:lnSpc>
            </a:pPr>
            <a:r>
              <a:rPr lang="en-US" altLang="zh-CN" sz="2000" b="0" dirty="0">
                <a:solidFill>
                  <a:srgbClr val="008000"/>
                </a:solidFill>
                <a:effectLst/>
                <a:latin typeface="Consolas" panose="020B0609020204030204" pitchFamily="49" charset="0"/>
              </a:rPr>
              <a:t>#</a:t>
            </a:r>
            <a:r>
              <a:rPr lang="zh-CN" altLang="en-US" sz="2000" b="0" dirty="0">
                <a:solidFill>
                  <a:srgbClr val="008000"/>
                </a:solidFill>
                <a:effectLst/>
                <a:latin typeface="Consolas" panose="020B0609020204030204" pitchFamily="49" charset="0"/>
              </a:rPr>
              <a:t>等高线标识高度</a:t>
            </a:r>
            <a:r>
              <a:rPr lang="en-US" altLang="zh-CN" sz="2000" b="0" dirty="0">
                <a:solidFill>
                  <a:srgbClr val="008000"/>
                </a:solidFill>
                <a:effectLst/>
                <a:latin typeface="Consolas" panose="020B0609020204030204" pitchFamily="49" charset="0"/>
              </a:rPr>
              <a:t>z</a:t>
            </a:r>
            <a:r>
              <a:rPr lang="zh-CN" altLang="en-US" sz="2000" b="0" dirty="0">
                <a:solidFill>
                  <a:srgbClr val="008000"/>
                </a:solidFill>
                <a:effectLst/>
                <a:latin typeface="Consolas" panose="020B0609020204030204" pitchFamily="49" charset="0"/>
              </a:rPr>
              <a:t>值 </a:t>
            </a:r>
            <a:endParaRPr lang="zh-CN" altLang="en-US" sz="2000" b="0" dirty="0">
              <a:solidFill>
                <a:srgbClr val="000000"/>
              </a:solidFill>
              <a:effectLst/>
              <a:latin typeface="Consolas" panose="020B0609020204030204" pitchFamily="49" charset="0"/>
            </a:endParaRPr>
          </a:p>
          <a:p>
            <a:pPr>
              <a:lnSpc>
                <a:spcPts val="2700"/>
              </a:lnSpc>
            </a:pPr>
            <a:r>
              <a:rPr lang="en-US" altLang="zh-CN" sz="2000" b="0" dirty="0" err="1">
                <a:solidFill>
                  <a:srgbClr val="795E26"/>
                </a:solidFill>
                <a:effectLst/>
                <a:latin typeface="Consolas" panose="020B0609020204030204" pitchFamily="49" charset="0"/>
              </a:rPr>
              <a:t>clabel</a:t>
            </a:r>
            <a:r>
              <a:rPr lang="en-US" altLang="zh-CN" sz="2000" b="0" dirty="0">
                <a:solidFill>
                  <a:srgbClr val="000000"/>
                </a:solidFill>
                <a:effectLst/>
                <a:latin typeface="Consolas" panose="020B0609020204030204" pitchFamily="49" charset="0"/>
              </a:rPr>
              <a:t>(c)</a:t>
            </a:r>
          </a:p>
          <a:p>
            <a:pPr>
              <a:lnSpc>
                <a:spcPts val="2700"/>
              </a:lnSpc>
            </a:pPr>
            <a:r>
              <a:rPr lang="en-US" altLang="zh-CN" sz="2000" b="0" dirty="0" err="1">
                <a:solidFill>
                  <a:srgbClr val="000000"/>
                </a:solidFill>
                <a:effectLst/>
                <a:latin typeface="Consolas" panose="020B0609020204030204" pitchFamily="49" charset="0"/>
              </a:rPr>
              <a:t>xlabel</a:t>
            </a:r>
            <a:r>
              <a:rPr lang="en-US" altLang="zh-CN" sz="2000" b="0" dirty="0">
                <a:solidFill>
                  <a:srgbClr val="000000"/>
                </a:solidFill>
                <a:effectLst/>
                <a:latin typeface="Consolas" panose="020B0609020204030204" pitchFamily="49" charset="0"/>
              </a:rPr>
              <a:t>("x");</a:t>
            </a:r>
            <a:r>
              <a:rPr lang="en-US" altLang="zh-CN" sz="2000" b="0" dirty="0" err="1">
                <a:solidFill>
                  <a:srgbClr val="000000"/>
                </a:solidFill>
                <a:effectLst/>
                <a:latin typeface="Consolas" panose="020B0609020204030204" pitchFamily="49" charset="0"/>
              </a:rPr>
              <a:t>ylabel</a:t>
            </a:r>
            <a:r>
              <a:rPr lang="en-US" altLang="zh-CN" sz="2000" b="0" dirty="0">
                <a:solidFill>
                  <a:srgbClr val="000000"/>
                </a:solidFill>
                <a:effectLst/>
                <a:latin typeface="Consolas" panose="020B0609020204030204" pitchFamily="49" charset="0"/>
              </a:rPr>
              <a:t>("y");</a:t>
            </a:r>
          </a:p>
        </p:txBody>
      </p:sp>
      <p:cxnSp>
        <p:nvCxnSpPr>
          <p:cNvPr id="26" name="直接连接符 25">
            <a:extLst>
              <a:ext uri="{FF2B5EF4-FFF2-40B4-BE49-F238E27FC236}">
                <a16:creationId xmlns:a16="http://schemas.microsoft.com/office/drawing/2014/main" id="{516788DE-33C0-47F6-957D-E45215B3F20A}"/>
              </a:ext>
            </a:extLst>
          </p:cNvPr>
          <p:cNvCxnSpPr>
            <a:cxnSpLocks/>
          </p:cNvCxnSpPr>
          <p:nvPr/>
        </p:nvCxnSpPr>
        <p:spPr>
          <a:xfrm flipV="1">
            <a:off x="7030987" y="2139702"/>
            <a:ext cx="0" cy="2146280"/>
          </a:xfrm>
          <a:prstGeom prst="line">
            <a:avLst/>
          </a:prstGeom>
          <a:ln w="28575">
            <a:solidFill>
              <a:srgbClr val="C00000"/>
            </a:solidFill>
            <a:prstDash val="sysDot"/>
          </a:ln>
        </p:spPr>
        <p:style>
          <a:lnRef idx="1">
            <a:schemeClr val="accent1"/>
          </a:lnRef>
          <a:fillRef idx="0">
            <a:schemeClr val="accent1"/>
          </a:fillRef>
          <a:effectRef idx="0">
            <a:schemeClr val="accent1"/>
          </a:effectRef>
          <a:fontRef idx="minor">
            <a:schemeClr val="tx1"/>
          </a:fontRef>
        </p:style>
      </p:cxnSp>
      <p:sp>
        <p:nvSpPr>
          <p:cNvPr id="28" name="椭圆 27">
            <a:extLst>
              <a:ext uri="{FF2B5EF4-FFF2-40B4-BE49-F238E27FC236}">
                <a16:creationId xmlns:a16="http://schemas.microsoft.com/office/drawing/2014/main" id="{6C0D14AD-9929-4F1F-B465-7DEE7D096099}"/>
              </a:ext>
            </a:extLst>
          </p:cNvPr>
          <p:cNvSpPr/>
          <p:nvPr/>
        </p:nvSpPr>
        <p:spPr>
          <a:xfrm>
            <a:off x="6599335" y="2543135"/>
            <a:ext cx="76949" cy="74432"/>
          </a:xfrm>
          <a:prstGeom prst="ellipse">
            <a:avLst/>
          </a:prstGeom>
          <a:solidFill>
            <a:srgbClr val="FF0000"/>
          </a:solidFill>
          <a:ln>
            <a:solidFill>
              <a:srgbClr val="C00000"/>
            </a:solidFill>
            <a:prstDash val="sysDot"/>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E07063EB-173E-4864-B9F2-87DBC13C0C10}"/>
              </a:ext>
            </a:extLst>
          </p:cNvPr>
          <p:cNvSpPr/>
          <p:nvPr/>
        </p:nvSpPr>
        <p:spPr>
          <a:xfrm>
            <a:off x="5976120" y="3001374"/>
            <a:ext cx="76949" cy="74432"/>
          </a:xfrm>
          <a:prstGeom prst="ellipse">
            <a:avLst/>
          </a:prstGeom>
          <a:solidFill>
            <a:srgbClr val="FF0000"/>
          </a:solidFill>
          <a:ln>
            <a:solidFill>
              <a:srgbClr val="C00000"/>
            </a:solidFill>
            <a:prstDash val="sysDot"/>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C6DD254A-9D83-4A41-B7A9-544F6A913548}"/>
              </a:ext>
            </a:extLst>
          </p:cNvPr>
          <p:cNvSpPr/>
          <p:nvPr/>
        </p:nvSpPr>
        <p:spPr>
          <a:xfrm>
            <a:off x="6980905" y="3003798"/>
            <a:ext cx="76949" cy="74432"/>
          </a:xfrm>
          <a:prstGeom prst="ellipse">
            <a:avLst/>
          </a:prstGeom>
          <a:solidFill>
            <a:srgbClr val="FF0000"/>
          </a:solidFill>
          <a:ln>
            <a:solidFill>
              <a:srgbClr val="C00000"/>
            </a:solidFill>
            <a:prstDash val="sysDot"/>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a:extLst>
              <a:ext uri="{FF2B5EF4-FFF2-40B4-BE49-F238E27FC236}">
                <a16:creationId xmlns:a16="http://schemas.microsoft.com/office/drawing/2014/main" id="{317F150C-F8E9-4635-A9D0-9ED4BB740593}"/>
              </a:ext>
            </a:extLst>
          </p:cNvPr>
          <p:cNvCxnSpPr>
            <a:cxnSpLocks/>
          </p:cNvCxnSpPr>
          <p:nvPr/>
        </p:nvCxnSpPr>
        <p:spPr>
          <a:xfrm>
            <a:off x="4436524" y="3003798"/>
            <a:ext cx="2920731" cy="47157"/>
          </a:xfrm>
          <a:prstGeom prst="line">
            <a:avLst/>
          </a:prstGeom>
          <a:ln w="28575">
            <a:solidFill>
              <a:srgbClr val="C00000"/>
            </a:solidFill>
            <a:prstDash val="sysDot"/>
          </a:ln>
        </p:spPr>
        <p:style>
          <a:lnRef idx="1">
            <a:schemeClr val="accent1"/>
          </a:lnRef>
          <a:fillRef idx="0">
            <a:schemeClr val="accent1"/>
          </a:fillRef>
          <a:effectRef idx="0">
            <a:schemeClr val="accent1"/>
          </a:effectRef>
          <a:fontRef idx="minor">
            <a:schemeClr val="tx1"/>
          </a:fontRef>
        </p:style>
      </p:cxnSp>
      <p:sp>
        <p:nvSpPr>
          <p:cNvPr id="36" name="椭圆 35">
            <a:extLst>
              <a:ext uri="{FF2B5EF4-FFF2-40B4-BE49-F238E27FC236}">
                <a16:creationId xmlns:a16="http://schemas.microsoft.com/office/drawing/2014/main" id="{69A981CE-A080-422A-9A09-3124A5D35E49}"/>
              </a:ext>
            </a:extLst>
          </p:cNvPr>
          <p:cNvSpPr/>
          <p:nvPr/>
        </p:nvSpPr>
        <p:spPr>
          <a:xfrm>
            <a:off x="5983920" y="2217366"/>
            <a:ext cx="76949" cy="74432"/>
          </a:xfrm>
          <a:prstGeom prst="ellipse">
            <a:avLst/>
          </a:prstGeom>
          <a:solidFill>
            <a:srgbClr val="FF0000"/>
          </a:solidFill>
          <a:ln>
            <a:solidFill>
              <a:srgbClr val="C00000"/>
            </a:solidFill>
            <a:prstDash val="sysDot"/>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a:extLst>
              <a:ext uri="{FF2B5EF4-FFF2-40B4-BE49-F238E27FC236}">
                <a16:creationId xmlns:a16="http://schemas.microsoft.com/office/drawing/2014/main" id="{874CE681-271A-4999-BD77-09D9162E616D}"/>
              </a:ext>
            </a:extLst>
          </p:cNvPr>
          <p:cNvSpPr/>
          <p:nvPr/>
        </p:nvSpPr>
        <p:spPr>
          <a:xfrm>
            <a:off x="6980905" y="2209286"/>
            <a:ext cx="76949" cy="74432"/>
          </a:xfrm>
          <a:prstGeom prst="ellipse">
            <a:avLst/>
          </a:prstGeom>
          <a:solidFill>
            <a:srgbClr val="FF0000"/>
          </a:solidFill>
          <a:ln>
            <a:solidFill>
              <a:srgbClr val="C00000"/>
            </a:solidFill>
            <a:prstDash val="sysDot"/>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a:extLst>
              <a:ext uri="{FF2B5EF4-FFF2-40B4-BE49-F238E27FC236}">
                <a16:creationId xmlns:a16="http://schemas.microsoft.com/office/drawing/2014/main" id="{242A9FD2-CDA2-41DE-8288-06B3F48C24AF}"/>
              </a:ext>
            </a:extLst>
          </p:cNvPr>
          <p:cNvSpPr/>
          <p:nvPr/>
        </p:nvSpPr>
        <p:spPr>
          <a:xfrm>
            <a:off x="6620865" y="2355726"/>
            <a:ext cx="708848" cy="307777"/>
          </a:xfrm>
          <a:prstGeom prst="rect">
            <a:avLst/>
          </a:prstGeom>
          <a:ln>
            <a:noFill/>
            <a:prstDash val="sysDot"/>
          </a:ln>
        </p:spPr>
        <p:txBody>
          <a:bodyPr wrap="none">
            <a:spAutoFit/>
          </a:bodyPr>
          <a:lstStyle/>
          <a:p>
            <a:r>
              <a:rPr lang="en-US" altLang="zh-CN" sz="1400" b="1" dirty="0">
                <a:solidFill>
                  <a:srgbClr val="FF0000"/>
                </a:solidFill>
                <a:effectLst>
                  <a:outerShdw blurRad="38100" dist="38100" dir="2700000" algn="tl">
                    <a:srgbClr val="000000">
                      <a:alpha val="43137"/>
                    </a:srgbClr>
                  </a:outerShdw>
                </a:effectLst>
                <a:highlight>
                  <a:srgbClr val="FFFF00"/>
                </a:highlight>
                <a:latin typeface="微软雅黑" panose="020B0503020204020204" pitchFamily="34" charset="-122"/>
                <a:ea typeface="微软雅黑" panose="020B0503020204020204" pitchFamily="34" charset="-122"/>
                <a:sym typeface="+mn-ea"/>
              </a:rPr>
              <a:t>1(1,1)</a:t>
            </a:r>
            <a:endParaRPr lang="zh-CN" altLang="en-US" sz="1400" b="1" dirty="0">
              <a:solidFill>
                <a:srgbClr val="FF0000"/>
              </a:solidFill>
              <a:effectLst>
                <a:outerShdw blurRad="38100" dist="38100" dir="2700000" algn="tl">
                  <a:srgbClr val="000000">
                    <a:alpha val="43137"/>
                  </a:srgbClr>
                </a:outerShdw>
              </a:effectLst>
              <a:highlight>
                <a:srgbClr val="FFFF00"/>
              </a:highlight>
              <a:latin typeface="微软雅黑" panose="020B0503020204020204" pitchFamily="34" charset="-122"/>
              <a:ea typeface="微软雅黑" panose="020B0503020204020204" pitchFamily="34" charset="-122"/>
            </a:endParaRPr>
          </a:p>
        </p:txBody>
      </p:sp>
      <p:sp>
        <p:nvSpPr>
          <p:cNvPr id="47" name="矩形 46">
            <a:extLst>
              <a:ext uri="{FF2B5EF4-FFF2-40B4-BE49-F238E27FC236}">
                <a16:creationId xmlns:a16="http://schemas.microsoft.com/office/drawing/2014/main" id="{959226AA-6C62-4039-934F-1B68E497ABC0}"/>
              </a:ext>
            </a:extLst>
          </p:cNvPr>
          <p:cNvSpPr/>
          <p:nvPr/>
        </p:nvSpPr>
        <p:spPr>
          <a:xfrm>
            <a:off x="7008340" y="1923678"/>
            <a:ext cx="708848" cy="307777"/>
          </a:xfrm>
          <a:prstGeom prst="rect">
            <a:avLst/>
          </a:prstGeom>
          <a:ln>
            <a:noFill/>
            <a:prstDash val="sysDot"/>
          </a:ln>
        </p:spPr>
        <p:txBody>
          <a:bodyPr wrap="none">
            <a:spAutoFit/>
          </a:bodyPr>
          <a:lstStyle/>
          <a:p>
            <a:r>
              <a:rPr lang="en-US" altLang="zh-CN" sz="1400" b="1" dirty="0">
                <a:solidFill>
                  <a:srgbClr val="FF0000"/>
                </a:solidFill>
                <a:effectLst>
                  <a:outerShdw blurRad="38100" dist="38100" dir="2700000" algn="tl">
                    <a:srgbClr val="000000">
                      <a:alpha val="43137"/>
                    </a:srgbClr>
                  </a:outerShdw>
                </a:effectLst>
                <a:highlight>
                  <a:srgbClr val="FFFF00"/>
                </a:highlight>
                <a:latin typeface="微软雅黑" panose="020B0503020204020204" pitchFamily="34" charset="-122"/>
                <a:ea typeface="微软雅黑" panose="020B0503020204020204" pitchFamily="34" charset="-122"/>
                <a:sym typeface="+mn-ea"/>
              </a:rPr>
              <a:t>2(2,2)</a:t>
            </a:r>
            <a:endParaRPr lang="zh-CN" altLang="en-US" sz="1400" b="1" dirty="0">
              <a:solidFill>
                <a:srgbClr val="FF0000"/>
              </a:solidFill>
              <a:effectLst>
                <a:outerShdw blurRad="38100" dist="38100" dir="2700000" algn="tl">
                  <a:srgbClr val="000000">
                    <a:alpha val="43137"/>
                  </a:srgbClr>
                </a:outerShdw>
              </a:effectLst>
              <a:highlight>
                <a:srgbClr val="FFFF00"/>
              </a:highlight>
              <a:latin typeface="微软雅黑" panose="020B0503020204020204" pitchFamily="34" charset="-122"/>
              <a:ea typeface="微软雅黑" panose="020B0503020204020204" pitchFamily="34" charset="-122"/>
            </a:endParaRPr>
          </a:p>
        </p:txBody>
      </p:sp>
      <p:sp>
        <p:nvSpPr>
          <p:cNvPr id="48" name="矩形 47">
            <a:extLst>
              <a:ext uri="{FF2B5EF4-FFF2-40B4-BE49-F238E27FC236}">
                <a16:creationId xmlns:a16="http://schemas.microsoft.com/office/drawing/2014/main" id="{E68F5521-9688-4EAC-A7C7-5130B955366B}"/>
              </a:ext>
            </a:extLst>
          </p:cNvPr>
          <p:cNvSpPr/>
          <p:nvPr/>
        </p:nvSpPr>
        <p:spPr>
          <a:xfrm>
            <a:off x="5756769" y="1945164"/>
            <a:ext cx="787395" cy="307777"/>
          </a:xfrm>
          <a:prstGeom prst="rect">
            <a:avLst/>
          </a:prstGeom>
          <a:ln>
            <a:noFill/>
            <a:prstDash val="sysDot"/>
          </a:ln>
        </p:spPr>
        <p:txBody>
          <a:bodyPr wrap="none">
            <a:spAutoFit/>
          </a:bodyPr>
          <a:lstStyle/>
          <a:p>
            <a:r>
              <a:rPr lang="en-US" altLang="zh-CN" sz="1400" b="1" dirty="0">
                <a:solidFill>
                  <a:srgbClr val="FF0000"/>
                </a:solidFill>
                <a:effectLst>
                  <a:outerShdw blurRad="38100" dist="38100" dir="2700000" algn="tl">
                    <a:srgbClr val="000000">
                      <a:alpha val="43137"/>
                    </a:srgbClr>
                  </a:outerShdw>
                </a:effectLst>
                <a:highlight>
                  <a:srgbClr val="FFFF00"/>
                </a:highlight>
                <a:latin typeface="微软雅黑" panose="020B0503020204020204" pitchFamily="34" charset="-122"/>
                <a:ea typeface="微软雅黑" panose="020B0503020204020204" pitchFamily="34" charset="-122"/>
                <a:sym typeface="+mn-ea"/>
              </a:rPr>
              <a:t>3(-1,2)</a:t>
            </a:r>
            <a:endParaRPr lang="zh-CN" altLang="en-US" sz="1400" b="1" dirty="0">
              <a:solidFill>
                <a:srgbClr val="FF0000"/>
              </a:solidFill>
              <a:effectLst>
                <a:outerShdw blurRad="38100" dist="38100" dir="2700000" algn="tl">
                  <a:srgbClr val="000000">
                    <a:alpha val="43137"/>
                  </a:srgbClr>
                </a:outerShdw>
              </a:effectLst>
              <a:highlight>
                <a:srgbClr val="FFFF00"/>
              </a:highlight>
              <a:latin typeface="微软雅黑" panose="020B0503020204020204" pitchFamily="34" charset="-122"/>
              <a:ea typeface="微软雅黑" panose="020B0503020204020204" pitchFamily="34" charset="-122"/>
            </a:endParaRPr>
          </a:p>
        </p:txBody>
      </p:sp>
      <p:sp>
        <p:nvSpPr>
          <p:cNvPr id="49" name="矩形 48">
            <a:extLst>
              <a:ext uri="{FF2B5EF4-FFF2-40B4-BE49-F238E27FC236}">
                <a16:creationId xmlns:a16="http://schemas.microsoft.com/office/drawing/2014/main" id="{24267738-92F8-4100-AFB1-54CF066EAD0B}"/>
              </a:ext>
            </a:extLst>
          </p:cNvPr>
          <p:cNvSpPr/>
          <p:nvPr/>
        </p:nvSpPr>
        <p:spPr>
          <a:xfrm>
            <a:off x="7124920" y="2859782"/>
            <a:ext cx="300007" cy="307777"/>
          </a:xfrm>
          <a:prstGeom prst="rect">
            <a:avLst/>
          </a:prstGeom>
          <a:ln>
            <a:noFill/>
            <a:prstDash val="sysDot"/>
          </a:ln>
        </p:spPr>
        <p:txBody>
          <a:bodyPr wrap="square">
            <a:spAutoFit/>
          </a:bodyPr>
          <a:lstStyle/>
          <a:p>
            <a:r>
              <a:rPr lang="en-US" altLang="zh-CN" sz="1400" b="1" dirty="0">
                <a:solidFill>
                  <a:srgbClr val="FF0000"/>
                </a:solidFill>
                <a:effectLst>
                  <a:outerShdw blurRad="38100" dist="38100" dir="2700000" algn="tl">
                    <a:srgbClr val="000000">
                      <a:alpha val="43137"/>
                    </a:srgbClr>
                  </a:outerShdw>
                </a:effectLst>
                <a:highlight>
                  <a:srgbClr val="FFFF00"/>
                </a:highlight>
                <a:latin typeface="微软雅黑" panose="020B0503020204020204" pitchFamily="34" charset="-122"/>
                <a:ea typeface="微软雅黑" panose="020B0503020204020204" pitchFamily="34" charset="-122"/>
                <a:sym typeface="+mn-ea"/>
              </a:rPr>
              <a:t>4</a:t>
            </a:r>
            <a:endParaRPr lang="zh-CN" altLang="en-US" sz="1400" b="1" dirty="0">
              <a:solidFill>
                <a:srgbClr val="FF0000"/>
              </a:solidFill>
              <a:effectLst>
                <a:outerShdw blurRad="38100" dist="38100" dir="2700000" algn="tl">
                  <a:srgbClr val="000000">
                    <a:alpha val="43137"/>
                  </a:srgbClr>
                </a:outerShdw>
              </a:effectLst>
              <a:highlight>
                <a:srgbClr val="FFFF00"/>
              </a:highlight>
              <a:latin typeface="微软雅黑" panose="020B0503020204020204" pitchFamily="34" charset="-122"/>
              <a:ea typeface="微软雅黑" panose="020B0503020204020204" pitchFamily="34" charset="-122"/>
            </a:endParaRPr>
          </a:p>
        </p:txBody>
      </p:sp>
      <p:sp>
        <p:nvSpPr>
          <p:cNvPr id="50" name="矩形 49">
            <a:extLst>
              <a:ext uri="{FF2B5EF4-FFF2-40B4-BE49-F238E27FC236}">
                <a16:creationId xmlns:a16="http://schemas.microsoft.com/office/drawing/2014/main" id="{C593EAF7-AA09-4970-B043-8B56022EA8A7}"/>
              </a:ext>
            </a:extLst>
          </p:cNvPr>
          <p:cNvSpPr/>
          <p:nvPr/>
        </p:nvSpPr>
        <p:spPr>
          <a:xfrm>
            <a:off x="6021529" y="2859782"/>
            <a:ext cx="295274" cy="307777"/>
          </a:xfrm>
          <a:prstGeom prst="rect">
            <a:avLst/>
          </a:prstGeom>
          <a:ln>
            <a:noFill/>
            <a:prstDash val="sysDot"/>
          </a:ln>
        </p:spPr>
        <p:txBody>
          <a:bodyPr wrap="none">
            <a:spAutoFit/>
          </a:bodyPr>
          <a:lstStyle/>
          <a:p>
            <a:r>
              <a:rPr lang="en-US" altLang="zh-CN" sz="1400" b="1" dirty="0">
                <a:solidFill>
                  <a:srgbClr val="FF0000"/>
                </a:solidFill>
                <a:effectLst>
                  <a:outerShdw blurRad="38100" dist="38100" dir="2700000" algn="tl">
                    <a:srgbClr val="000000">
                      <a:alpha val="43137"/>
                    </a:srgbClr>
                  </a:outerShdw>
                </a:effectLst>
                <a:highlight>
                  <a:srgbClr val="FFFF00"/>
                </a:highlight>
                <a:latin typeface="微软雅黑" panose="020B0503020204020204" pitchFamily="34" charset="-122"/>
                <a:ea typeface="微软雅黑" panose="020B0503020204020204" pitchFamily="34" charset="-122"/>
                <a:sym typeface="+mn-ea"/>
              </a:rPr>
              <a:t>5</a:t>
            </a:r>
            <a:endParaRPr lang="zh-CN" altLang="en-US" sz="1400" b="1" dirty="0">
              <a:solidFill>
                <a:srgbClr val="FF0000"/>
              </a:solidFill>
              <a:effectLst>
                <a:outerShdw blurRad="38100" dist="38100" dir="2700000" algn="tl">
                  <a:srgbClr val="000000">
                    <a:alpha val="43137"/>
                  </a:srgbClr>
                </a:outerShdw>
              </a:effectLst>
              <a:highlight>
                <a:srgbClr val="FFFF00"/>
              </a:highlight>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8682011D-F3C2-4568-A910-37F7FDCC9B00}"/>
              </a:ext>
            </a:extLst>
          </p:cNvPr>
          <p:cNvSpPr txBox="1"/>
          <p:nvPr/>
        </p:nvSpPr>
        <p:spPr>
          <a:xfrm>
            <a:off x="140319" y="100270"/>
            <a:ext cx="8863361" cy="523220"/>
          </a:xfrm>
          <a:prstGeom prst="rect">
            <a:avLst/>
          </a:prstGeom>
          <a:solidFill>
            <a:schemeClr val="bg1"/>
          </a:solidFill>
        </p:spPr>
        <p:txBody>
          <a:bodyPr wrap="square">
            <a:spAutoFit/>
          </a:bodyPr>
          <a:lstStyle>
            <a:defPPr>
              <a:defRPr lang="zh-CN"/>
            </a:defPPr>
            <a:lvl1pPr>
              <a:lnSpc>
                <a:spcPct val="150000"/>
              </a:lnSpc>
              <a:defRPr sz="3200">
                <a:solidFill>
                  <a:srgbClr val="002060"/>
                </a:solidFill>
                <a:latin typeface="华文楷体" panose="02010600040101010101" pitchFamily="2" charset="-122"/>
                <a:ea typeface="华文楷体" panose="02010600040101010101" pitchFamily="2" charset="-122"/>
              </a:defRPr>
            </a:lvl1pPr>
          </a:lstStyle>
          <a:p>
            <a:pPr>
              <a:lnSpc>
                <a:spcPct val="100000"/>
              </a:lnSpc>
            </a:pPr>
            <a:r>
              <a:rPr lang="en-US" altLang="zh-CN" sz="2600" b="0" dirty="0">
                <a:solidFill>
                  <a:srgbClr val="002060"/>
                </a:solidFill>
                <a:latin typeface="华文楷体" panose="02010600040101010101" pitchFamily="2" charset="-122"/>
                <a:ea typeface="华文楷体" panose="02010600040101010101" pitchFamily="2" charset="-122"/>
              </a:rPr>
              <a:t>§8.4.2 </a:t>
            </a:r>
            <a:r>
              <a:rPr lang="zh-CN" altLang="en-US" sz="2600" kern="0" dirty="0"/>
              <a:t>多元</a:t>
            </a:r>
            <a:r>
              <a:rPr lang="zh-CN" altLang="en-US" sz="2600" dirty="0"/>
              <a:t>函数</a:t>
            </a:r>
            <a:r>
              <a:rPr lang="en-US" altLang="zh-CN" sz="2600" dirty="0"/>
              <a:t>f(</a:t>
            </a:r>
            <a:r>
              <a:rPr lang="en-US" altLang="zh-CN" sz="2600" dirty="0" err="1"/>
              <a:t>x,y</a:t>
            </a:r>
            <a:r>
              <a:rPr lang="en-US" altLang="zh-CN" sz="2600" dirty="0"/>
              <a:t>)</a:t>
            </a:r>
            <a:r>
              <a:rPr lang="zh-CN" altLang="en-US" sz="2600" dirty="0"/>
              <a:t>无约束最</a:t>
            </a:r>
            <a:r>
              <a:rPr lang="en-US" altLang="ko-KR" sz="2600" dirty="0" err="1"/>
              <a:t>小值</a:t>
            </a:r>
            <a:r>
              <a:rPr lang="en-US" altLang="zh-CN" sz="2600" kern="0" dirty="0">
                <a:solidFill>
                  <a:srgbClr val="FF0000"/>
                </a:solidFill>
              </a:rPr>
              <a:t>——fminsearch</a:t>
            </a:r>
            <a:r>
              <a:rPr lang="zh-CN" altLang="en-US" sz="2600" kern="0" dirty="0">
                <a:solidFill>
                  <a:srgbClr val="FF0000"/>
                </a:solidFill>
              </a:rPr>
              <a:t>和</a:t>
            </a:r>
            <a:r>
              <a:rPr lang="en-US" altLang="zh-CN" sz="2800" b="0" dirty="0" err="1">
                <a:solidFill>
                  <a:srgbClr val="FF0000"/>
                </a:solidFill>
                <a:latin typeface="华文楷体" panose="02010600040101010101" pitchFamily="2" charset="-122"/>
                <a:ea typeface="华文楷体" panose="02010600040101010101" pitchFamily="2" charset="-122"/>
              </a:rPr>
              <a:t>fminunc</a:t>
            </a:r>
            <a:endParaRPr lang="zh-CN" altLang="en-US" sz="2600" dirty="0"/>
          </a:p>
        </p:txBody>
      </p:sp>
    </p:spTree>
    <p:extLst>
      <p:ext uri="{BB962C8B-B14F-4D97-AF65-F5344CB8AC3E}">
        <p14:creationId xmlns:p14="http://schemas.microsoft.com/office/powerpoint/2010/main" val="334880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3" grpId="0" animBg="1"/>
      <p:bldP spid="36" grpId="0" animBg="1"/>
      <p:bldP spid="42" grpId="0" animBg="1"/>
      <p:bldP spid="46" grpId="0"/>
      <p:bldP spid="47" grpId="0"/>
      <p:bldP spid="48" grpId="0"/>
      <p:bldP spid="49" grpId="0"/>
      <p:bldP spid="5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a:extLst>
              <a:ext uri="{FF2B5EF4-FFF2-40B4-BE49-F238E27FC236}">
                <a16:creationId xmlns:a16="http://schemas.microsoft.com/office/drawing/2014/main" id="{AAD82680-E973-42C2-A5F4-C7CFFC3D308D}"/>
              </a:ext>
            </a:extLst>
          </p:cNvPr>
          <p:cNvPicPr>
            <a:picLocks noChangeAspect="1"/>
          </p:cNvPicPr>
          <p:nvPr/>
        </p:nvPicPr>
        <p:blipFill rotWithShape="1">
          <a:blip r:embed="rId3"/>
          <a:srcRect r="2902"/>
          <a:stretch/>
        </p:blipFill>
        <p:spPr>
          <a:xfrm>
            <a:off x="6255936" y="2024523"/>
            <a:ext cx="2747744" cy="2131403"/>
          </a:xfrm>
          <a:prstGeom prst="rect">
            <a:avLst/>
          </a:prstGeom>
        </p:spPr>
      </p:pic>
      <p:sp>
        <p:nvSpPr>
          <p:cNvPr id="5" name="Rectangle 3">
            <a:extLst>
              <a:ext uri="{FF2B5EF4-FFF2-40B4-BE49-F238E27FC236}">
                <a16:creationId xmlns:a16="http://schemas.microsoft.com/office/drawing/2014/main" id="{CE6E276D-F551-4089-86DA-53A46F438B7D}"/>
              </a:ext>
            </a:extLst>
          </p:cNvPr>
          <p:cNvSpPr>
            <a:spLocks noChangeArrowheads="1"/>
          </p:cNvSpPr>
          <p:nvPr/>
        </p:nvSpPr>
        <p:spPr bwMode="auto">
          <a:xfrm>
            <a:off x="236806" y="2670308"/>
            <a:ext cx="5301161" cy="400110"/>
          </a:xfrm>
          <a:prstGeom prst="rect">
            <a:avLst/>
          </a:prstGeom>
          <a:noFill/>
          <a:ln>
            <a:noFill/>
          </a:ln>
          <a:scene3d>
            <a:camera prst="orthographicFront"/>
            <a:lightRig rig="threePt" dir="t"/>
          </a:scene3d>
          <a:sp3d>
            <a:bevelT prst="angle"/>
          </a:sp3d>
        </p:spPr>
        <p:txBody>
          <a:bodyPr vert="horz" wrap="square" lIns="91440" tIns="45720" rIns="91440" bIns="45720" numCol="1" anchor="t">
            <a:spAutoFit/>
          </a:bodyPr>
          <a:lstStyle/>
          <a:p>
            <a:pPr eaLnBrk="0">
              <a:spcBef>
                <a:spcPts val="800"/>
              </a:spcBef>
              <a:spcAft>
                <a:spcPts val="0"/>
              </a:spcAft>
              <a:buClr>
                <a:schemeClr val="bg1"/>
              </a:buClr>
            </a:pPr>
            <a:r>
              <a:rPr lang="en-US" altLang="zh-CN" sz="2000" dirty="0" err="1">
                <a:solidFill>
                  <a:srgbClr val="00B0F0"/>
                </a:solidFill>
                <a:latin typeface="Consolas" panose="020B0609020204030204" pitchFamily="49" charset="0"/>
              </a:rPr>
              <a:t>xy,fval,ex</a:t>
            </a:r>
            <a:r>
              <a:rPr lang="en-US" altLang="zh-CN" sz="2000" dirty="0">
                <a:solidFill>
                  <a:srgbClr val="00B0F0"/>
                </a:solidFill>
                <a:latin typeface="Consolas" panose="020B0609020204030204" pitchFamily="49" charset="0"/>
              </a:rPr>
              <a:t>=fminsearch(</a:t>
            </a:r>
            <a:r>
              <a:rPr lang="en-US" altLang="zh-CN" sz="2000" dirty="0" err="1">
                <a:solidFill>
                  <a:srgbClr val="00B0F0"/>
                </a:solidFill>
                <a:latin typeface="Consolas" panose="020B0609020204030204" pitchFamily="49" charset="0"/>
              </a:rPr>
              <a:t>fxy</a:t>
            </a:r>
            <a:r>
              <a:rPr lang="en-US" altLang="zh-CN" sz="2000" dirty="0">
                <a:solidFill>
                  <a:srgbClr val="00B0F0"/>
                </a:solidFill>
                <a:latin typeface="Consolas" panose="020B0609020204030204" pitchFamily="49" charset="0"/>
              </a:rPr>
              <a:t>,[2,2])</a:t>
            </a:r>
            <a:endParaRPr lang="en-US" altLang="zh-CN" sz="2000" dirty="0">
              <a:solidFill>
                <a:srgbClr val="00B0F0"/>
              </a:solidFill>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6" name="矩形 5">
            <a:extLst>
              <a:ext uri="{FF2B5EF4-FFF2-40B4-BE49-F238E27FC236}">
                <a16:creationId xmlns:a16="http://schemas.microsoft.com/office/drawing/2014/main" id="{DC0A8CC2-FE73-4F3F-9C45-F07EBE6D7E59}"/>
              </a:ext>
            </a:extLst>
          </p:cNvPr>
          <p:cNvSpPr/>
          <p:nvPr/>
        </p:nvSpPr>
        <p:spPr>
          <a:xfrm>
            <a:off x="236806" y="1132385"/>
            <a:ext cx="303905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eaLnBrk="0" hangingPunct="0"/>
            <a:r>
              <a:rPr lang="zh-CN" altLang="en-US" sz="1600" b="1" dirty="0">
                <a:solidFill>
                  <a:srgbClr val="0070C0"/>
                </a:solidFill>
                <a:latin typeface="微软雅黑" panose="020B0503020204020204" pitchFamily="34" charset="-122"/>
                <a:ea typeface="微软雅黑" panose="020B0503020204020204" pitchFamily="34" charset="-122"/>
              </a:rPr>
              <a:t>（</a:t>
            </a:r>
            <a:r>
              <a:rPr lang="en-US" altLang="zh-CN" sz="1600" b="1" dirty="0">
                <a:solidFill>
                  <a:srgbClr val="0070C0"/>
                </a:solidFill>
                <a:latin typeface="微软雅黑" panose="020B0503020204020204" pitchFamily="34" charset="-122"/>
                <a:ea typeface="微软雅黑" panose="020B0503020204020204" pitchFamily="34" charset="-122"/>
              </a:rPr>
              <a:t>3</a:t>
            </a:r>
            <a:r>
              <a:rPr lang="zh-CN" altLang="en-US" sz="1600" b="1" dirty="0">
                <a:solidFill>
                  <a:srgbClr val="0070C0"/>
                </a:solidFill>
                <a:latin typeface="微软雅黑" panose="020B0503020204020204" pitchFamily="34" charset="-122"/>
                <a:ea typeface="微软雅黑" panose="020B0503020204020204" pitchFamily="34" charset="-122"/>
              </a:rPr>
              <a:t>）建函数</a:t>
            </a:r>
            <a:r>
              <a:rPr lang="en-US" altLang="zh-CN" sz="1600" b="1" dirty="0" err="1">
                <a:solidFill>
                  <a:srgbClr val="0070C0"/>
                </a:solidFill>
                <a:latin typeface="微软雅黑" panose="020B0503020204020204" pitchFamily="34" charset="-122"/>
                <a:ea typeface="微软雅黑" panose="020B0503020204020204" pitchFamily="34" charset="-122"/>
              </a:rPr>
              <a:t>fxy</a:t>
            </a:r>
            <a:r>
              <a:rPr lang="en-US" altLang="zh-CN" sz="1600" b="1" dirty="0">
                <a:solidFill>
                  <a:srgbClr val="0070C0"/>
                </a:solidFill>
                <a:latin typeface="微软雅黑" panose="020B0503020204020204" pitchFamily="34" charset="-122"/>
                <a:ea typeface="微软雅黑" panose="020B0503020204020204" pitchFamily="34" charset="-122"/>
              </a:rPr>
              <a:t>,</a:t>
            </a:r>
            <a:r>
              <a:rPr lang="zh-CN" altLang="en-US" sz="1600" b="1" dirty="0">
                <a:solidFill>
                  <a:srgbClr val="0070C0"/>
                </a:solidFill>
                <a:latin typeface="微软雅黑" panose="020B0503020204020204" pitchFamily="34" charset="-122"/>
                <a:ea typeface="微软雅黑" panose="020B0503020204020204" pitchFamily="34" charset="-122"/>
              </a:rPr>
              <a:t>只能有一个变量</a:t>
            </a:r>
            <a:endParaRPr lang="zh-CN" altLang="zh-CN" sz="1600" b="1" dirty="0">
              <a:solidFill>
                <a:srgbClr val="0070C0"/>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41E29C84-D33D-45DA-A663-B311B4916D3F}"/>
              </a:ext>
            </a:extLst>
          </p:cNvPr>
          <p:cNvSpPr/>
          <p:nvPr/>
        </p:nvSpPr>
        <p:spPr>
          <a:xfrm>
            <a:off x="179513" y="3126941"/>
            <a:ext cx="172819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eaLnBrk="0" hangingPunct="0"/>
            <a:r>
              <a:rPr lang="zh-CN" altLang="en-US" sz="1600" b="1" dirty="0">
                <a:solidFill>
                  <a:srgbClr val="0070C0"/>
                </a:solidFill>
                <a:latin typeface="微软雅黑" panose="020B0503020204020204" pitchFamily="34" charset="-122"/>
                <a:ea typeface="微软雅黑" panose="020B0503020204020204" pitchFamily="34" charset="-122"/>
              </a:rPr>
              <a:t>（</a:t>
            </a:r>
            <a:r>
              <a:rPr lang="en-US" altLang="zh-CN" sz="1600" b="1" dirty="0">
                <a:solidFill>
                  <a:srgbClr val="0070C0"/>
                </a:solidFill>
                <a:latin typeface="微软雅黑" panose="020B0503020204020204" pitchFamily="34" charset="-122"/>
                <a:ea typeface="微软雅黑" panose="020B0503020204020204" pitchFamily="34" charset="-122"/>
              </a:rPr>
              <a:t>5</a:t>
            </a:r>
            <a:r>
              <a:rPr lang="zh-CN" altLang="en-US" sz="1600" b="1" dirty="0">
                <a:solidFill>
                  <a:srgbClr val="0070C0"/>
                </a:solidFill>
                <a:latin typeface="微软雅黑" panose="020B0503020204020204" pitchFamily="34" charset="-122"/>
                <a:ea typeface="微软雅黑" panose="020B0503020204020204" pitchFamily="34" charset="-122"/>
              </a:rPr>
              <a:t>）运行结果：</a:t>
            </a:r>
            <a:endParaRPr lang="zh-CN" altLang="zh-CN" sz="1600" b="1" dirty="0">
              <a:solidFill>
                <a:srgbClr val="0070C0"/>
              </a:solidFill>
              <a:latin typeface="微软雅黑" panose="020B0503020204020204" pitchFamily="34" charset="-122"/>
              <a:ea typeface="微软雅黑" panose="020B0503020204020204" pitchFamily="34" charset="-122"/>
            </a:endParaRPr>
          </a:p>
        </p:txBody>
      </p:sp>
      <p:sp>
        <p:nvSpPr>
          <p:cNvPr id="10" name="Rectangle 3">
            <a:extLst>
              <a:ext uri="{FF2B5EF4-FFF2-40B4-BE49-F238E27FC236}">
                <a16:creationId xmlns:a16="http://schemas.microsoft.com/office/drawing/2014/main" id="{E1ED7FA4-4384-4A70-ACD4-B96DBE9024C2}"/>
              </a:ext>
            </a:extLst>
          </p:cNvPr>
          <p:cNvSpPr>
            <a:spLocks noChangeArrowheads="1"/>
          </p:cNvSpPr>
          <p:nvPr/>
        </p:nvSpPr>
        <p:spPr bwMode="auto">
          <a:xfrm>
            <a:off x="199736" y="1876371"/>
            <a:ext cx="5452847" cy="369332"/>
          </a:xfrm>
          <a:prstGeom prst="rect">
            <a:avLst/>
          </a:prstGeom>
          <a:noFill/>
          <a:ln>
            <a:noFill/>
          </a:ln>
          <a:scene3d>
            <a:camera prst="orthographicFront"/>
            <a:lightRig rig="threePt" dir="t"/>
          </a:scene3d>
          <a:sp3d>
            <a:bevelT prst="angle"/>
          </a:sp3d>
        </p:spPr>
        <p:txBody>
          <a:bodyPr vert="horz" wrap="square" lIns="91440" tIns="45720" rIns="91440" bIns="45720" numCol="1" anchor="t">
            <a:spAutoFit/>
          </a:bodyPr>
          <a:lstStyle/>
          <a:p>
            <a:pPr eaLnBrk="0">
              <a:spcBef>
                <a:spcPts val="800"/>
              </a:spcBef>
              <a:spcAft>
                <a:spcPts val="0"/>
              </a:spcAft>
              <a:buClr>
                <a:schemeClr val="bg1"/>
              </a:buClr>
            </a:pPr>
            <a:r>
              <a:rPr lang="en-US" altLang="zh-CN" dirty="0">
                <a:solidFill>
                  <a:srgbClr val="00B0F0"/>
                </a:solidFill>
                <a:latin typeface="华文楷体" panose="02010600040101010101" pitchFamily="2" charset="-122"/>
                <a:ea typeface="华文楷体" panose="02010600040101010101" pitchFamily="2" charset="-122"/>
                <a:cs typeface="Times New Roman" panose="02020603050405020304" pitchFamily="18" charset="0"/>
              </a:rPr>
              <a:t> </a:t>
            </a:r>
            <a:r>
              <a:rPr lang="en-US" altLang="zh-CN" dirty="0" err="1">
                <a:solidFill>
                  <a:srgbClr val="00B0F0"/>
                </a:solidFill>
              </a:rPr>
              <a:t>fxy</a:t>
            </a:r>
            <a:r>
              <a:rPr lang="en-US" altLang="zh-CN" dirty="0">
                <a:solidFill>
                  <a:srgbClr val="00B0F0"/>
                </a:solidFill>
              </a:rPr>
              <a:t>(</a:t>
            </a:r>
            <a:r>
              <a:rPr lang="en-US" altLang="zh-CN" dirty="0" err="1">
                <a:solidFill>
                  <a:srgbClr val="00B0F0"/>
                </a:solidFill>
              </a:rPr>
              <a:t>xy</a:t>
            </a:r>
            <a:r>
              <a:rPr lang="en-US" altLang="zh-CN" dirty="0">
                <a:solidFill>
                  <a:srgbClr val="00B0F0"/>
                </a:solidFill>
              </a:rPr>
              <a:t>)=</a:t>
            </a:r>
            <a:r>
              <a:rPr lang="en-US" altLang="zh-CN" dirty="0" err="1">
                <a:solidFill>
                  <a:srgbClr val="00B0F0"/>
                </a:solidFill>
              </a:rPr>
              <a:t>xy</a:t>
            </a:r>
            <a:r>
              <a:rPr lang="en-US" altLang="zh-CN" dirty="0">
                <a:solidFill>
                  <a:srgbClr val="00B0F0"/>
                </a:solidFill>
              </a:rPr>
              <a:t>[1]^2+xy[2]^2+3sin(2xy[1])+3sin(2xy[2])</a:t>
            </a:r>
            <a:endParaRPr lang="nl-NL" altLang="zh-CN" dirty="0">
              <a:solidFill>
                <a:srgbClr val="00B0F0"/>
              </a:solidFill>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11" name="Rectangle 3">
            <a:extLst>
              <a:ext uri="{FF2B5EF4-FFF2-40B4-BE49-F238E27FC236}">
                <a16:creationId xmlns:a16="http://schemas.microsoft.com/office/drawing/2014/main" id="{D54C97BB-0624-4F19-9870-72485B085BFC}"/>
              </a:ext>
            </a:extLst>
          </p:cNvPr>
          <p:cNvSpPr>
            <a:spLocks noChangeArrowheads="1"/>
          </p:cNvSpPr>
          <p:nvPr/>
        </p:nvSpPr>
        <p:spPr bwMode="auto">
          <a:xfrm>
            <a:off x="5605098" y="2260348"/>
            <a:ext cx="3118379" cy="830997"/>
          </a:xfrm>
          <a:prstGeom prst="rect">
            <a:avLst/>
          </a:prstGeom>
          <a:solidFill>
            <a:schemeClr val="accent5">
              <a:lumMod val="20000"/>
              <a:lumOff val="80000"/>
              <a:alpha val="36000"/>
            </a:schemeClr>
          </a:solidFill>
          <a:ln>
            <a:noFill/>
          </a:ln>
        </p:spPr>
        <p:txBody>
          <a:bodyPr vert="horz" wrap="square" lIns="91440" tIns="45720" rIns="91440" bIns="45720" numCol="1" anchor="t">
            <a:spAutoFit/>
          </a:bodyPr>
          <a:lstStyle/>
          <a:p>
            <a:pPr eaLnBrk="0">
              <a:spcBef>
                <a:spcPts val="0"/>
              </a:spcBef>
              <a:spcAft>
                <a:spcPts val="0"/>
              </a:spcAft>
              <a:buClr>
                <a:schemeClr val="bg1"/>
              </a:buClr>
            </a:pPr>
            <a:r>
              <a:rPr lang="nl-NL" altLang="zh-CN" sz="160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en-US" sz="160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结果</a:t>
            </a:r>
            <a:r>
              <a:rPr lang="nl-NL" altLang="zh-CN" sz="160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xy=[1.9929, 1.9929],</a:t>
            </a:r>
          </a:p>
          <a:p>
            <a:pPr eaLnBrk="0">
              <a:spcBef>
                <a:spcPts val="0"/>
              </a:spcBef>
              <a:spcAft>
                <a:spcPts val="0"/>
              </a:spcAft>
              <a:buClr>
                <a:schemeClr val="bg1"/>
              </a:buClr>
            </a:pPr>
            <a:r>
              <a:rPr lang="nl-NL" altLang="zh-CN" sz="160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fval=3.4586322095451933,ex=1</a:t>
            </a:r>
          </a:p>
          <a:p>
            <a:pPr eaLnBrk="0">
              <a:spcBef>
                <a:spcPts val="0"/>
              </a:spcBef>
              <a:spcAft>
                <a:spcPts val="0"/>
              </a:spcAft>
              <a:buClr>
                <a:schemeClr val="bg1"/>
              </a:buClr>
            </a:pPr>
            <a:r>
              <a:rPr lang="en-US" altLang="zh-CN" sz="1600" dirty="0" err="1">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ou</a:t>
            </a:r>
            <a:r>
              <a:rPr lang="en-US" altLang="zh-CN" sz="160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=(iterations = 5, </a:t>
            </a:r>
            <a:r>
              <a:rPr lang="en-US" altLang="zh-CN" sz="1600" dirty="0" err="1">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funcCount</a:t>
            </a:r>
            <a:r>
              <a:rPr lang="en-US" altLang="zh-CN" sz="160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 = 18,</a:t>
            </a:r>
          </a:p>
        </p:txBody>
      </p:sp>
      <p:sp>
        <p:nvSpPr>
          <p:cNvPr id="12" name="矩形 11">
            <a:extLst>
              <a:ext uri="{FF2B5EF4-FFF2-40B4-BE49-F238E27FC236}">
                <a16:creationId xmlns:a16="http://schemas.microsoft.com/office/drawing/2014/main" id="{A82C287C-F4A0-49FF-A91E-5AC946705DC4}"/>
              </a:ext>
            </a:extLst>
          </p:cNvPr>
          <p:cNvSpPr/>
          <p:nvPr/>
        </p:nvSpPr>
        <p:spPr>
          <a:xfrm>
            <a:off x="301178" y="2349823"/>
            <a:ext cx="545284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eaLnBrk="0" hangingPunct="0"/>
            <a:r>
              <a:rPr lang="en-US" altLang="zh-CN" sz="1600" b="1" dirty="0">
                <a:solidFill>
                  <a:srgbClr val="0070C0"/>
                </a:solidFill>
                <a:latin typeface="微软雅黑" panose="020B0503020204020204" pitchFamily="34" charset="-122"/>
                <a:ea typeface="微软雅黑" panose="020B0503020204020204" pitchFamily="34" charset="-122"/>
              </a:rPr>
              <a:t>(4)</a:t>
            </a:r>
            <a:r>
              <a:rPr lang="zh-CN" altLang="en-US" sz="1600" b="1" dirty="0">
                <a:solidFill>
                  <a:srgbClr val="0070C0"/>
                </a:solidFill>
                <a:latin typeface="微软雅黑" panose="020B0503020204020204" pitchFamily="34" charset="-122"/>
                <a:ea typeface="微软雅黑" panose="020B0503020204020204" pitchFamily="34" charset="-122"/>
              </a:rPr>
              <a:t>用</a:t>
            </a:r>
            <a:r>
              <a:rPr lang="en-US" altLang="zh-CN" sz="1600" b="1" dirty="0">
                <a:solidFill>
                  <a:srgbClr val="0070C0"/>
                </a:solidFill>
                <a:latin typeface="微软雅黑" panose="020B0503020204020204" pitchFamily="34" charset="-122"/>
                <a:ea typeface="微软雅黑" panose="020B0503020204020204" pitchFamily="34" charset="-122"/>
              </a:rPr>
              <a:t>fminsearch</a:t>
            </a:r>
            <a:r>
              <a:rPr lang="zh-CN" altLang="en-US" sz="1600" b="1" dirty="0">
                <a:solidFill>
                  <a:srgbClr val="0070C0"/>
                </a:solidFill>
                <a:latin typeface="微软雅黑" panose="020B0503020204020204" pitchFamily="34" charset="-122"/>
                <a:ea typeface="微软雅黑" panose="020B0503020204020204" pitchFamily="34" charset="-122"/>
              </a:rPr>
              <a:t>或</a:t>
            </a:r>
            <a:r>
              <a:rPr lang="en-US" altLang="zh-CN" sz="1600" b="1" dirty="0" err="1">
                <a:solidFill>
                  <a:srgbClr val="0070C0"/>
                </a:solidFill>
                <a:latin typeface="微软雅黑" panose="020B0503020204020204" pitchFamily="34" charset="-122"/>
                <a:ea typeface="微软雅黑" panose="020B0503020204020204" pitchFamily="34" charset="-122"/>
              </a:rPr>
              <a:t>fminunc</a:t>
            </a:r>
            <a:r>
              <a:rPr lang="zh-CN" altLang="en-US" sz="1600" b="1" dirty="0">
                <a:solidFill>
                  <a:srgbClr val="0070C0"/>
                </a:solidFill>
                <a:latin typeface="微软雅黑" panose="020B0503020204020204" pitchFamily="34" charset="-122"/>
                <a:ea typeface="微软雅黑" panose="020B0503020204020204" pitchFamily="34" charset="-122"/>
              </a:rPr>
              <a:t>求函数句柄的最小值</a:t>
            </a:r>
            <a:r>
              <a:rPr lang="en-US" altLang="zh-CN" sz="1600" b="1" dirty="0">
                <a:solidFill>
                  <a:srgbClr val="0070C0"/>
                </a:solidFill>
                <a:latin typeface="微软雅黑" panose="020B0503020204020204" pitchFamily="34" charset="-122"/>
                <a:ea typeface="微软雅黑" panose="020B0503020204020204" pitchFamily="34" charset="-122"/>
              </a:rPr>
              <a:t> </a:t>
            </a:r>
            <a:endParaRPr lang="zh-CN" altLang="zh-CN" sz="1600" b="1" dirty="0">
              <a:solidFill>
                <a:srgbClr val="0070C0"/>
              </a:solidFill>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B9DEDA28-6B47-4FE7-8261-A7C5EE081E9E}"/>
              </a:ext>
            </a:extLst>
          </p:cNvPr>
          <p:cNvSpPr txBox="1"/>
          <p:nvPr/>
        </p:nvSpPr>
        <p:spPr>
          <a:xfrm>
            <a:off x="302048" y="3424747"/>
            <a:ext cx="3477864" cy="923330"/>
          </a:xfrm>
          <a:prstGeom prst="rect">
            <a:avLst/>
          </a:prstGeom>
          <a:noFill/>
        </p:spPr>
        <p:txBody>
          <a:bodyPr wrap="square">
            <a:spAutoFit/>
          </a:bodyPr>
          <a:lstStyle/>
          <a:p>
            <a:r>
              <a:rPr lang="en-US" altLang="zh-CN" dirty="0" err="1">
                <a:solidFill>
                  <a:srgbClr val="00B0F0"/>
                </a:solidFill>
                <a:latin typeface="Consolas" panose="020B0609020204030204" pitchFamily="49" charset="0"/>
              </a:rPr>
              <a:t>println</a:t>
            </a:r>
            <a:r>
              <a:rPr lang="en-US" altLang="zh-CN" dirty="0">
                <a:solidFill>
                  <a:srgbClr val="00B0F0"/>
                </a:solidFill>
                <a:latin typeface="Consolas" panose="020B0609020204030204" pitchFamily="49" charset="0"/>
              </a:rPr>
              <a:t>("</a:t>
            </a:r>
            <a:r>
              <a:rPr lang="en-US" altLang="zh-CN" dirty="0" err="1">
                <a:solidFill>
                  <a:srgbClr val="00B0F0"/>
                </a:solidFill>
                <a:latin typeface="Consolas" panose="020B0609020204030204" pitchFamily="49" charset="0"/>
              </a:rPr>
              <a:t>xy</a:t>
            </a:r>
            <a:r>
              <a:rPr lang="en-US" altLang="zh-CN" dirty="0">
                <a:solidFill>
                  <a:srgbClr val="00B0F0"/>
                </a:solidFill>
                <a:latin typeface="Consolas" panose="020B0609020204030204" pitchFamily="49" charset="0"/>
              </a:rPr>
              <a:t>=$</a:t>
            </a:r>
            <a:r>
              <a:rPr lang="en-US" altLang="zh-CN" dirty="0" err="1">
                <a:solidFill>
                  <a:srgbClr val="00B0F0"/>
                </a:solidFill>
                <a:latin typeface="Consolas" panose="020B0609020204030204" pitchFamily="49" charset="0"/>
              </a:rPr>
              <a:t>xy</a:t>
            </a:r>
            <a:r>
              <a:rPr lang="en-US" altLang="zh-CN" dirty="0">
                <a:solidFill>
                  <a:srgbClr val="00B0F0"/>
                </a:solidFill>
                <a:latin typeface="Consolas" panose="020B0609020204030204" pitchFamily="49" charset="0"/>
              </a:rPr>
              <a:t>,</a:t>
            </a:r>
          </a:p>
          <a:p>
            <a:r>
              <a:rPr lang="en-US" altLang="zh-CN" dirty="0">
                <a:solidFill>
                  <a:srgbClr val="00B0F0"/>
                </a:solidFill>
                <a:latin typeface="Consolas" panose="020B0609020204030204" pitchFamily="49" charset="0"/>
              </a:rPr>
              <a:t>       </a:t>
            </a:r>
            <a:r>
              <a:rPr lang="en-US" altLang="zh-CN" dirty="0" err="1">
                <a:solidFill>
                  <a:srgbClr val="00B0F0"/>
                </a:solidFill>
                <a:latin typeface="Consolas" panose="020B0609020204030204" pitchFamily="49" charset="0"/>
              </a:rPr>
              <a:t>fval</a:t>
            </a:r>
            <a:r>
              <a:rPr lang="en-US" altLang="zh-CN" dirty="0">
                <a:solidFill>
                  <a:srgbClr val="00B0F0"/>
                </a:solidFill>
                <a:latin typeface="Consolas" panose="020B0609020204030204" pitchFamily="49" charset="0"/>
              </a:rPr>
              <a:t>=$</a:t>
            </a:r>
            <a:r>
              <a:rPr lang="en-US" altLang="zh-CN" dirty="0" err="1">
                <a:solidFill>
                  <a:srgbClr val="00B0F0"/>
                </a:solidFill>
                <a:latin typeface="Consolas" panose="020B0609020204030204" pitchFamily="49" charset="0"/>
              </a:rPr>
              <a:t>fval,ex</a:t>
            </a:r>
            <a:r>
              <a:rPr lang="en-US" altLang="zh-CN" dirty="0">
                <a:solidFill>
                  <a:srgbClr val="00B0F0"/>
                </a:solidFill>
                <a:latin typeface="Consolas" panose="020B0609020204030204" pitchFamily="49" charset="0"/>
              </a:rPr>
              <a:t>=$ex,</a:t>
            </a:r>
          </a:p>
          <a:p>
            <a:r>
              <a:rPr lang="en-US" altLang="zh-CN" dirty="0">
                <a:solidFill>
                  <a:srgbClr val="00B0F0"/>
                </a:solidFill>
                <a:latin typeface="Consolas" panose="020B0609020204030204" pitchFamily="49" charset="0"/>
              </a:rPr>
              <a:t>       </a:t>
            </a:r>
            <a:r>
              <a:rPr lang="en-US" altLang="zh-CN" dirty="0" err="1">
                <a:solidFill>
                  <a:srgbClr val="00B0F0"/>
                </a:solidFill>
                <a:latin typeface="Consolas" panose="020B0609020204030204" pitchFamily="49" charset="0"/>
              </a:rPr>
              <a:t>ou</a:t>
            </a:r>
            <a:r>
              <a:rPr lang="en-US" altLang="zh-CN" dirty="0">
                <a:solidFill>
                  <a:srgbClr val="00B0F0"/>
                </a:solidFill>
                <a:latin typeface="Consolas" panose="020B0609020204030204" pitchFamily="49" charset="0"/>
              </a:rPr>
              <a:t>=$</a:t>
            </a:r>
            <a:r>
              <a:rPr lang="en-US" altLang="zh-CN" dirty="0" err="1">
                <a:solidFill>
                  <a:srgbClr val="00B0F0"/>
                </a:solidFill>
                <a:latin typeface="Consolas" panose="020B0609020204030204" pitchFamily="49" charset="0"/>
              </a:rPr>
              <a:t>ou</a:t>
            </a:r>
            <a:r>
              <a:rPr lang="en-US" altLang="zh-CN" dirty="0">
                <a:solidFill>
                  <a:srgbClr val="00B0F0"/>
                </a:solidFill>
                <a:latin typeface="Consolas" panose="020B0609020204030204" pitchFamily="49" charset="0"/>
              </a:rPr>
              <a:t>")</a:t>
            </a:r>
          </a:p>
        </p:txBody>
      </p:sp>
      <p:sp>
        <p:nvSpPr>
          <p:cNvPr id="22" name="文本框 21">
            <a:extLst>
              <a:ext uri="{FF2B5EF4-FFF2-40B4-BE49-F238E27FC236}">
                <a16:creationId xmlns:a16="http://schemas.microsoft.com/office/drawing/2014/main" id="{81C5DDB0-2C0A-443D-A2D5-ADD5FDCCF829}"/>
              </a:ext>
            </a:extLst>
          </p:cNvPr>
          <p:cNvSpPr txBox="1"/>
          <p:nvPr/>
        </p:nvSpPr>
        <p:spPr>
          <a:xfrm>
            <a:off x="3275856" y="1083234"/>
            <a:ext cx="3888432" cy="307777"/>
          </a:xfrm>
          <a:prstGeom prst="rect">
            <a:avLst/>
          </a:prstGeom>
          <a:noFill/>
        </p:spPr>
        <p:txBody>
          <a:bodyPr wrap="square">
            <a:spAutoFit/>
          </a:bodyPr>
          <a:lstStyle/>
          <a:p>
            <a:r>
              <a:rPr lang="zh-CN" altLang="en-US" sz="1400" dirty="0">
                <a:solidFill>
                  <a:srgbClr val="FF0000"/>
                </a:solidFill>
                <a:latin typeface="微软雅黑" panose="020B0503020204020204" pitchFamily="34" charset="-122"/>
                <a:ea typeface="微软雅黑" panose="020B0503020204020204" pitchFamily="34" charset="-122"/>
              </a:rPr>
              <a:t>单下标表示法：</a:t>
            </a:r>
            <a:r>
              <a:rPr lang="en-US" altLang="zh-CN" sz="1400" dirty="0">
                <a:solidFill>
                  <a:srgbClr val="FF0000"/>
                </a:solidFill>
                <a:latin typeface="微软雅黑" panose="020B0503020204020204" pitchFamily="34" charset="-122"/>
                <a:ea typeface="微软雅黑" panose="020B0503020204020204" pitchFamily="34" charset="-122"/>
              </a:rPr>
              <a:t>w[k]</a:t>
            </a:r>
            <a:r>
              <a:rPr lang="zh-CN" altLang="en-US" sz="1400" dirty="0">
                <a:solidFill>
                  <a:srgbClr val="FF0000"/>
                </a:solidFill>
                <a:latin typeface="微软雅黑" panose="020B0503020204020204" pitchFamily="34" charset="-122"/>
                <a:ea typeface="微软雅黑" panose="020B0503020204020204" pitchFamily="34" charset="-122"/>
              </a:rPr>
              <a:t>表示向量</a:t>
            </a:r>
            <a:r>
              <a:rPr lang="en-US" altLang="zh-CN" sz="1400" dirty="0">
                <a:solidFill>
                  <a:srgbClr val="FF0000"/>
                </a:solidFill>
                <a:latin typeface="微软雅黑" panose="020B0503020204020204" pitchFamily="34" charset="-122"/>
                <a:ea typeface="微软雅黑" panose="020B0503020204020204" pitchFamily="34" charset="-122"/>
              </a:rPr>
              <a:t>w</a:t>
            </a:r>
            <a:r>
              <a:rPr lang="zh-CN" altLang="en-US" sz="1400" dirty="0">
                <a:solidFill>
                  <a:srgbClr val="FF0000"/>
                </a:solidFill>
                <a:latin typeface="微软雅黑" panose="020B0503020204020204" pitchFamily="34" charset="-122"/>
                <a:ea typeface="微软雅黑" panose="020B0503020204020204" pitchFamily="34" charset="-122"/>
              </a:rPr>
              <a:t>中第</a:t>
            </a:r>
            <a:r>
              <a:rPr lang="en-US" altLang="zh-CN" sz="1400" dirty="0">
                <a:solidFill>
                  <a:srgbClr val="FF0000"/>
                </a:solidFill>
                <a:latin typeface="微软雅黑" panose="020B0503020204020204" pitchFamily="34" charset="-122"/>
                <a:ea typeface="微软雅黑" panose="020B0503020204020204" pitchFamily="34" charset="-122"/>
              </a:rPr>
              <a:t>k</a:t>
            </a:r>
            <a:r>
              <a:rPr lang="zh-CN" altLang="en-US" sz="1400" dirty="0">
                <a:solidFill>
                  <a:srgbClr val="FF0000"/>
                </a:solidFill>
                <a:latin typeface="微软雅黑" panose="020B0503020204020204" pitchFamily="34" charset="-122"/>
                <a:ea typeface="微软雅黑" panose="020B0503020204020204" pitchFamily="34" charset="-122"/>
              </a:rPr>
              <a:t>个元素</a:t>
            </a:r>
          </a:p>
        </p:txBody>
      </p:sp>
      <p:sp>
        <p:nvSpPr>
          <p:cNvPr id="23" name="文本框 22">
            <a:extLst>
              <a:ext uri="{FF2B5EF4-FFF2-40B4-BE49-F238E27FC236}">
                <a16:creationId xmlns:a16="http://schemas.microsoft.com/office/drawing/2014/main" id="{46826D9E-611A-4A19-85DA-B00809587FC5}"/>
              </a:ext>
            </a:extLst>
          </p:cNvPr>
          <p:cNvSpPr txBox="1"/>
          <p:nvPr/>
        </p:nvSpPr>
        <p:spPr>
          <a:xfrm>
            <a:off x="236806" y="1479573"/>
            <a:ext cx="6337123" cy="338554"/>
          </a:xfrm>
          <a:prstGeom prst="rect">
            <a:avLst/>
          </a:prstGeom>
          <a:noFill/>
        </p:spPr>
        <p:txBody>
          <a:bodyPr wrap="square">
            <a:spAutoFit/>
          </a:bodyPr>
          <a:lstStyle/>
          <a:p>
            <a:r>
              <a:rPr lang="en-US" altLang="zh-CN" sz="1600" dirty="0">
                <a:solidFill>
                  <a:srgbClr val="00B0F0"/>
                </a:solidFill>
                <a:latin typeface="微软雅黑" panose="020B0503020204020204" pitchFamily="34" charset="-122"/>
                <a:ea typeface="微软雅黑" panose="020B0503020204020204" pitchFamily="34" charset="-122"/>
              </a:rPr>
              <a:t>#</a:t>
            </a:r>
            <a:r>
              <a:rPr lang="zh-CN" altLang="en-US" sz="1600" dirty="0">
                <a:solidFill>
                  <a:srgbClr val="00B0F0"/>
                </a:solidFill>
                <a:latin typeface="微软雅黑" panose="020B0503020204020204" pitchFamily="34" charset="-122"/>
                <a:ea typeface="微软雅黑" panose="020B0503020204020204" pitchFamily="34" charset="-122"/>
              </a:rPr>
              <a:t>二元变量</a:t>
            </a:r>
            <a:r>
              <a:rPr lang="en-US" altLang="zh-CN" sz="1600" dirty="0">
                <a:solidFill>
                  <a:srgbClr val="00B0F0"/>
                </a:solidFill>
                <a:latin typeface="微软雅黑" panose="020B0503020204020204" pitchFamily="34" charset="-122"/>
                <a:ea typeface="微软雅黑" panose="020B0503020204020204" pitchFamily="34" charset="-122"/>
              </a:rPr>
              <a:t>x</a:t>
            </a:r>
            <a:r>
              <a:rPr lang="zh-CN" altLang="en-US" sz="1600" dirty="0">
                <a:solidFill>
                  <a:srgbClr val="00B0F0"/>
                </a:solidFill>
                <a:latin typeface="微软雅黑" panose="020B0503020204020204" pitchFamily="34" charset="-122"/>
                <a:ea typeface="微软雅黑" panose="020B0503020204020204" pitchFamily="34" charset="-122"/>
              </a:rPr>
              <a:t>和</a:t>
            </a:r>
            <a:r>
              <a:rPr lang="en-US" altLang="zh-CN" sz="1600" dirty="0">
                <a:solidFill>
                  <a:srgbClr val="00B0F0"/>
                </a:solidFill>
                <a:latin typeface="微软雅黑" panose="020B0503020204020204" pitchFamily="34" charset="-122"/>
                <a:ea typeface="微软雅黑" panose="020B0503020204020204" pitchFamily="34" charset="-122"/>
              </a:rPr>
              <a:t>y</a:t>
            </a:r>
            <a:r>
              <a:rPr lang="zh-CN" altLang="en-US" sz="1600" dirty="0">
                <a:solidFill>
                  <a:srgbClr val="00B0F0"/>
                </a:solidFill>
                <a:latin typeface="微软雅黑" panose="020B0503020204020204" pitchFamily="34" charset="-122"/>
                <a:ea typeface="微软雅黑" panose="020B0503020204020204" pitchFamily="34" charset="-122"/>
              </a:rPr>
              <a:t>构成向量</a:t>
            </a:r>
            <a:r>
              <a:rPr lang="en-US" altLang="zh-CN" sz="1600" dirty="0" err="1">
                <a:solidFill>
                  <a:srgbClr val="00B0F0"/>
                </a:solidFill>
                <a:latin typeface="微软雅黑" panose="020B0503020204020204" pitchFamily="34" charset="-122"/>
                <a:ea typeface="微软雅黑" panose="020B0503020204020204" pitchFamily="34" charset="-122"/>
              </a:rPr>
              <a:t>xy</a:t>
            </a:r>
            <a:r>
              <a:rPr lang="en-US" altLang="zh-CN" sz="1600" dirty="0">
                <a:solidFill>
                  <a:srgbClr val="00B0F0"/>
                </a:solidFill>
                <a:latin typeface="微软雅黑" panose="020B0503020204020204" pitchFamily="34" charset="-122"/>
                <a:ea typeface="微软雅黑" panose="020B0503020204020204" pitchFamily="34" charset="-122"/>
              </a:rPr>
              <a:t>,</a:t>
            </a:r>
            <a:r>
              <a:rPr lang="zh-CN" altLang="en-US" sz="1600"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即</a:t>
            </a:r>
            <a:r>
              <a:rPr lang="en-US" altLang="zh-CN" sz="1600" kern="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xy</a:t>
            </a:r>
            <a:r>
              <a:rPr lang="en-US" altLang="ko-KR" sz="1600"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ko-KR" sz="1600" kern="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x,y</a:t>
            </a:r>
            <a:r>
              <a:rPr lang="en-US" altLang="ko-KR" sz="1600"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x=</a:t>
            </a:r>
            <a:r>
              <a:rPr lang="en-US" altLang="zh-CN" sz="1600" kern="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xy</a:t>
            </a:r>
            <a:r>
              <a:rPr lang="en-US" altLang="zh-CN" sz="1600"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ko-KR" sz="1600"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1],  </a:t>
            </a:r>
            <a:r>
              <a:rPr lang="en-US" altLang="zh-CN" sz="1600"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y=</a:t>
            </a:r>
            <a:r>
              <a:rPr lang="en-US" altLang="ko-KR" sz="1600" kern="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xy</a:t>
            </a:r>
            <a:r>
              <a:rPr lang="en-US" altLang="ko-KR" sz="1600"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[2]</a:t>
            </a:r>
            <a:endParaRPr lang="zh-CN" altLang="en-US" sz="1600" dirty="0">
              <a:solidFill>
                <a:srgbClr val="00B0F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5" name="Rectangle 3">
                <a:extLst>
                  <a:ext uri="{FF2B5EF4-FFF2-40B4-BE49-F238E27FC236}">
                    <a16:creationId xmlns:a16="http://schemas.microsoft.com/office/drawing/2014/main" id="{AC5D32E0-2630-43E1-A34F-FFED9AFF6269}"/>
                  </a:ext>
                </a:extLst>
              </p:cNvPr>
              <p:cNvSpPr>
                <a:spLocks noChangeArrowheads="1"/>
              </p:cNvSpPr>
              <p:nvPr/>
            </p:nvSpPr>
            <p:spPr bwMode="auto">
              <a:xfrm>
                <a:off x="1043608" y="730997"/>
                <a:ext cx="7863585" cy="283219"/>
              </a:xfrm>
              <a:prstGeom prst="rect">
                <a:avLst/>
              </a:prstGeom>
              <a:solidFill>
                <a:schemeClr val="bg1"/>
              </a:solidFill>
              <a:ln>
                <a:noFill/>
              </a:ln>
              <a:effectLst/>
            </p:spPr>
            <p:txBody>
              <a:bodyPr vert="horz" wrap="square" lIns="0" tIns="0" rIns="0" bIns="0" numCol="1" anchor="ctr" anchorCtr="0" compatLnSpc="1">
                <a:prstTxWarp prst="textNoShape">
                  <a:avLst/>
                </a:prstTxWarp>
                <a:spAutoFit/>
              </a:bodyPr>
              <a:lstStyle/>
              <a:p>
                <a:pPr lvl="0" eaLnBrk="0" hangingPunct="0"/>
                <a14:m>
                  <m:oMath xmlns:m="http://schemas.openxmlformats.org/officeDocument/2006/math">
                    <m:r>
                      <a:rPr lang="zh-CN" altLang="en-US" b="1" dirty="0">
                        <a:solidFill>
                          <a:srgbClr val="0070C0"/>
                        </a:solidFill>
                        <a:latin typeface="Cambria Math" panose="02040503050406030204" pitchFamily="18" charset="0"/>
                        <a:ea typeface="微软雅黑" panose="020B0503020204020204" pitchFamily="34" charset="-122"/>
                      </a:rPr>
                      <m:t>求二元函数</m:t>
                    </m:r>
                    <m:r>
                      <a:rPr lang="en-US" altLang="zh-CN" b="1">
                        <a:solidFill>
                          <a:srgbClr val="0070C0"/>
                        </a:solidFill>
                        <a:latin typeface="Cambria Math" panose="02040503050406030204" pitchFamily="18" charset="0"/>
                        <a:ea typeface="微软雅黑" panose="020B0503020204020204" pitchFamily="34" charset="-122"/>
                      </a:rPr>
                      <m:t>𝑓</m:t>
                    </m:r>
                    <m:r>
                      <a:rPr lang="en-US" altLang="zh-CN" b="1">
                        <a:solidFill>
                          <a:srgbClr val="0070C0"/>
                        </a:solidFill>
                        <a:latin typeface="Cambria Math" panose="02040503050406030204" pitchFamily="18" charset="0"/>
                        <a:ea typeface="微软雅黑" panose="020B0503020204020204" pitchFamily="34" charset="-122"/>
                      </a:rPr>
                      <m:t>(</m:t>
                    </m:r>
                    <m:r>
                      <a:rPr lang="en-US" altLang="zh-CN" b="1">
                        <a:solidFill>
                          <a:srgbClr val="0070C0"/>
                        </a:solidFill>
                        <a:latin typeface="Cambria Math" panose="02040503050406030204" pitchFamily="18" charset="0"/>
                        <a:ea typeface="微软雅黑" panose="020B0503020204020204" pitchFamily="34" charset="-122"/>
                      </a:rPr>
                      <m:t>𝑥</m:t>
                    </m:r>
                    <m:r>
                      <a:rPr lang="en-US" altLang="zh-CN" b="1">
                        <a:solidFill>
                          <a:srgbClr val="0070C0"/>
                        </a:solidFill>
                        <a:latin typeface="Cambria Math" panose="02040503050406030204" pitchFamily="18" charset="0"/>
                        <a:ea typeface="微软雅黑" panose="020B0503020204020204" pitchFamily="34" charset="-122"/>
                      </a:rPr>
                      <m:t>,</m:t>
                    </m:r>
                    <m:r>
                      <a:rPr lang="en-US" altLang="zh-CN" b="1">
                        <a:solidFill>
                          <a:srgbClr val="0070C0"/>
                        </a:solidFill>
                        <a:latin typeface="Cambria Math" panose="02040503050406030204" pitchFamily="18" charset="0"/>
                        <a:ea typeface="微软雅黑" panose="020B0503020204020204" pitchFamily="34" charset="-122"/>
                      </a:rPr>
                      <m:t>𝑦</m:t>
                    </m:r>
                    <m:r>
                      <a:rPr lang="en-US" altLang="zh-CN" b="1">
                        <a:solidFill>
                          <a:srgbClr val="0070C0"/>
                        </a:solidFill>
                        <a:latin typeface="Cambria Math" panose="02040503050406030204" pitchFamily="18" charset="0"/>
                        <a:ea typeface="微软雅黑" panose="020B0503020204020204" pitchFamily="34" charset="-122"/>
                      </a:rPr>
                      <m:t>)=</m:t>
                    </m:r>
                    <m:sSup>
                      <m:sSupPr>
                        <m:ctrlPr>
                          <a:rPr lang="en-US" altLang="zh-CN" b="1" i="1">
                            <a:solidFill>
                              <a:srgbClr val="0070C0"/>
                            </a:solidFill>
                            <a:latin typeface="Cambria Math" panose="02040503050406030204" pitchFamily="18" charset="0"/>
                            <a:ea typeface="微软雅黑" panose="020B0503020204020204" pitchFamily="34" charset="-122"/>
                          </a:rPr>
                        </m:ctrlPr>
                      </m:sSupPr>
                      <m:e>
                        <m:r>
                          <a:rPr lang="en-US" altLang="zh-CN" b="1">
                            <a:solidFill>
                              <a:srgbClr val="0070C0"/>
                            </a:solidFill>
                            <a:latin typeface="Cambria Math" panose="02040503050406030204" pitchFamily="18" charset="0"/>
                            <a:ea typeface="微软雅黑" panose="020B0503020204020204" pitchFamily="34" charset="-122"/>
                          </a:rPr>
                          <m:t>𝑥</m:t>
                        </m:r>
                      </m:e>
                      <m:sup>
                        <m:r>
                          <a:rPr lang="en-US" altLang="zh-CN" b="1">
                            <a:solidFill>
                              <a:srgbClr val="0070C0"/>
                            </a:solidFill>
                            <a:latin typeface="Cambria Math" panose="02040503050406030204" pitchFamily="18" charset="0"/>
                            <a:ea typeface="微软雅黑" panose="020B0503020204020204" pitchFamily="34" charset="-122"/>
                          </a:rPr>
                          <m:t>2</m:t>
                        </m:r>
                      </m:sup>
                    </m:sSup>
                    <m:r>
                      <a:rPr lang="en-US" altLang="zh-CN" b="1">
                        <a:solidFill>
                          <a:srgbClr val="0070C0"/>
                        </a:solidFill>
                        <a:latin typeface="Cambria Math" panose="02040503050406030204" pitchFamily="18" charset="0"/>
                        <a:ea typeface="微软雅黑" panose="020B0503020204020204" pitchFamily="34" charset="-122"/>
                      </a:rPr>
                      <m:t>+</m:t>
                    </m:r>
                    <m:sSup>
                      <m:sSupPr>
                        <m:ctrlPr>
                          <a:rPr lang="en-US" altLang="zh-CN" b="1" i="1">
                            <a:solidFill>
                              <a:srgbClr val="0070C0"/>
                            </a:solidFill>
                            <a:latin typeface="Cambria Math" panose="02040503050406030204" pitchFamily="18" charset="0"/>
                            <a:ea typeface="微软雅黑" panose="020B0503020204020204" pitchFamily="34" charset="-122"/>
                          </a:rPr>
                        </m:ctrlPr>
                      </m:sSupPr>
                      <m:e>
                        <m:r>
                          <a:rPr lang="en-US" altLang="zh-CN" b="1">
                            <a:solidFill>
                              <a:srgbClr val="0070C0"/>
                            </a:solidFill>
                            <a:latin typeface="Cambria Math" panose="02040503050406030204" pitchFamily="18" charset="0"/>
                            <a:ea typeface="微软雅黑" panose="020B0503020204020204" pitchFamily="34" charset="-122"/>
                          </a:rPr>
                          <m:t>𝑦</m:t>
                        </m:r>
                      </m:e>
                      <m:sup>
                        <m:r>
                          <a:rPr lang="en-US" altLang="zh-CN" b="1">
                            <a:solidFill>
                              <a:srgbClr val="0070C0"/>
                            </a:solidFill>
                            <a:latin typeface="Cambria Math" panose="02040503050406030204" pitchFamily="18" charset="0"/>
                            <a:ea typeface="微软雅黑" panose="020B0503020204020204" pitchFamily="34" charset="-122"/>
                          </a:rPr>
                          <m:t>2</m:t>
                        </m:r>
                      </m:sup>
                    </m:sSup>
                  </m:oMath>
                </a14:m>
                <a:r>
                  <a:rPr lang="en-US" altLang="zh-CN" b="1" dirty="0">
                    <a:solidFill>
                      <a:srgbClr val="0070C0"/>
                    </a:solidFill>
                    <a:latin typeface="微软雅黑" panose="020B0503020204020204" pitchFamily="34" charset="-122"/>
                    <a:ea typeface="微软雅黑" panose="020B0503020204020204" pitchFamily="34" charset="-122"/>
                  </a:rPr>
                  <a:t>+3</a:t>
                </a:r>
                <a14:m>
                  <m:oMath xmlns:m="http://schemas.openxmlformats.org/officeDocument/2006/math">
                    <m:func>
                      <m:funcPr>
                        <m:ctrlPr>
                          <a:rPr lang="en-US" altLang="zh-CN" b="1" i="1">
                            <a:solidFill>
                              <a:srgbClr val="0070C0"/>
                            </a:solidFill>
                            <a:latin typeface="Cambria Math" panose="02040503050406030204" pitchFamily="18" charset="0"/>
                            <a:ea typeface="微软雅黑" panose="020B0503020204020204" pitchFamily="34" charset="-122"/>
                          </a:rPr>
                        </m:ctrlPr>
                      </m:funcPr>
                      <m:fName>
                        <m:r>
                          <m:rPr>
                            <m:sty m:val="p"/>
                          </m:rPr>
                          <a:rPr lang="en-US" altLang="zh-CN" b="1">
                            <a:solidFill>
                              <a:srgbClr val="0070C0"/>
                            </a:solidFill>
                            <a:latin typeface="Cambria Math" panose="02040503050406030204" pitchFamily="18" charset="0"/>
                            <a:ea typeface="微软雅黑" panose="020B0503020204020204" pitchFamily="34" charset="-122"/>
                          </a:rPr>
                          <m:t>sin</m:t>
                        </m:r>
                      </m:fName>
                      <m:e>
                        <m:d>
                          <m:dPr>
                            <m:ctrlPr>
                              <a:rPr lang="en-US" altLang="zh-CN" b="1" i="1">
                                <a:solidFill>
                                  <a:srgbClr val="0070C0"/>
                                </a:solidFill>
                                <a:latin typeface="Cambria Math" panose="02040503050406030204" pitchFamily="18" charset="0"/>
                                <a:ea typeface="微软雅黑" panose="020B0503020204020204" pitchFamily="34" charset="-122"/>
                              </a:rPr>
                            </m:ctrlPr>
                          </m:dPr>
                          <m:e>
                            <m:r>
                              <a:rPr lang="en-US" altLang="zh-CN" b="1">
                                <a:solidFill>
                                  <a:srgbClr val="0070C0"/>
                                </a:solidFill>
                                <a:latin typeface="Cambria Math" panose="02040503050406030204" pitchFamily="18" charset="0"/>
                                <a:ea typeface="微软雅黑" panose="020B0503020204020204" pitchFamily="34" charset="-122"/>
                              </a:rPr>
                              <m:t>2</m:t>
                            </m:r>
                            <m:r>
                              <a:rPr lang="en-US" altLang="zh-CN" b="1">
                                <a:solidFill>
                                  <a:srgbClr val="0070C0"/>
                                </a:solidFill>
                                <a:latin typeface="Cambria Math" panose="02040503050406030204" pitchFamily="18" charset="0"/>
                                <a:ea typeface="微软雅黑" panose="020B0503020204020204" pitchFamily="34" charset="-122"/>
                              </a:rPr>
                              <m:t>𝑥</m:t>
                            </m:r>
                          </m:e>
                        </m:d>
                      </m:e>
                    </m:func>
                    <m:r>
                      <a:rPr lang="en-US" altLang="zh-CN" b="1">
                        <a:solidFill>
                          <a:srgbClr val="0070C0"/>
                        </a:solidFill>
                        <a:latin typeface="Cambria Math" panose="02040503050406030204" pitchFamily="18" charset="0"/>
                        <a:ea typeface="微软雅黑" panose="020B0503020204020204" pitchFamily="34" charset="-122"/>
                      </a:rPr>
                      <m:t>+</m:t>
                    </m:r>
                    <m:r>
                      <m:rPr>
                        <m:nor/>
                      </m:rPr>
                      <a:rPr lang="en-US" altLang="zh-CN" b="1" dirty="0">
                        <a:solidFill>
                          <a:srgbClr val="0070C0"/>
                        </a:solidFill>
                        <a:latin typeface="微软雅黑" panose="020B0503020204020204" pitchFamily="34" charset="-122"/>
                        <a:ea typeface="微软雅黑" panose="020B0503020204020204" pitchFamily="34" charset="-122"/>
                      </a:rPr>
                      <m:t>3</m:t>
                    </m:r>
                    <m:func>
                      <m:funcPr>
                        <m:ctrlPr>
                          <a:rPr lang="en-US" altLang="zh-CN" b="1" i="1">
                            <a:solidFill>
                              <a:srgbClr val="0070C0"/>
                            </a:solidFill>
                            <a:latin typeface="Cambria Math" panose="02040503050406030204" pitchFamily="18" charset="0"/>
                            <a:ea typeface="微软雅黑" panose="020B0503020204020204" pitchFamily="34" charset="-122"/>
                          </a:rPr>
                        </m:ctrlPr>
                      </m:funcPr>
                      <m:fName>
                        <m:r>
                          <m:rPr>
                            <m:sty m:val="p"/>
                          </m:rPr>
                          <a:rPr lang="en-US" altLang="zh-CN" b="1">
                            <a:solidFill>
                              <a:srgbClr val="0070C0"/>
                            </a:solidFill>
                            <a:latin typeface="Cambria Math" panose="02040503050406030204" pitchFamily="18" charset="0"/>
                            <a:ea typeface="微软雅黑" panose="020B0503020204020204" pitchFamily="34" charset="-122"/>
                          </a:rPr>
                          <m:t>sin</m:t>
                        </m:r>
                      </m:fName>
                      <m:e>
                        <m:d>
                          <m:dPr>
                            <m:ctrlPr>
                              <a:rPr lang="en-US" altLang="zh-CN" b="1" i="1">
                                <a:solidFill>
                                  <a:srgbClr val="0070C0"/>
                                </a:solidFill>
                                <a:latin typeface="Cambria Math" panose="02040503050406030204" pitchFamily="18" charset="0"/>
                                <a:ea typeface="微软雅黑" panose="020B0503020204020204" pitchFamily="34" charset="-122"/>
                              </a:rPr>
                            </m:ctrlPr>
                          </m:dPr>
                          <m:e>
                            <m:r>
                              <a:rPr lang="en-US" altLang="zh-CN" b="1">
                                <a:solidFill>
                                  <a:srgbClr val="0070C0"/>
                                </a:solidFill>
                                <a:latin typeface="Cambria Math" panose="02040503050406030204" pitchFamily="18" charset="0"/>
                                <a:ea typeface="微软雅黑" panose="020B0503020204020204" pitchFamily="34" charset="-122"/>
                              </a:rPr>
                              <m:t>2</m:t>
                            </m:r>
                            <m:r>
                              <a:rPr lang="en-US" altLang="zh-CN" b="1">
                                <a:solidFill>
                                  <a:srgbClr val="0070C0"/>
                                </a:solidFill>
                                <a:latin typeface="Cambria Math" panose="02040503050406030204" pitchFamily="18" charset="0"/>
                                <a:ea typeface="微软雅黑" panose="020B0503020204020204" pitchFamily="34" charset="-122"/>
                              </a:rPr>
                              <m:t>𝑦</m:t>
                            </m:r>
                          </m:e>
                        </m:d>
                        <m:r>
                          <a:rPr lang="zh-CN" altLang="en-US" b="1">
                            <a:solidFill>
                              <a:srgbClr val="0070C0"/>
                            </a:solidFill>
                            <a:latin typeface="Cambria Math" panose="02040503050406030204" pitchFamily="18" charset="0"/>
                            <a:ea typeface="微软雅黑" panose="020B0503020204020204" pitchFamily="34" charset="-122"/>
                          </a:rPr>
                          <m:t>最小值时</m:t>
                        </m:r>
                        <m:r>
                          <a:rPr lang="zh-CN" altLang="en-US" b="1" i="1">
                            <a:solidFill>
                              <a:srgbClr val="0070C0"/>
                            </a:solidFill>
                            <a:latin typeface="Cambria Math" panose="02040503050406030204" pitchFamily="18" charset="0"/>
                            <a:ea typeface="微软雅黑" panose="020B0503020204020204" pitchFamily="34" charset="-122"/>
                          </a:rPr>
                          <m:t>，</m:t>
                        </m:r>
                        <m:r>
                          <m:rPr>
                            <m:sty m:val="p"/>
                          </m:rPr>
                          <a:rPr lang="en-US" altLang="zh-CN" b="1">
                            <a:solidFill>
                              <a:srgbClr val="0070C0"/>
                            </a:solidFill>
                            <a:latin typeface="Cambria Math" panose="02040503050406030204" pitchFamily="18" charset="0"/>
                            <a:ea typeface="微软雅黑" panose="020B0503020204020204" pitchFamily="34" charset="-122"/>
                          </a:rPr>
                          <m:t>x</m:t>
                        </m:r>
                        <m:r>
                          <a:rPr lang="zh-CN" altLang="en-US" b="1" i="1" smtClean="0">
                            <a:solidFill>
                              <a:srgbClr val="0070C0"/>
                            </a:solidFill>
                            <a:latin typeface="Cambria Math" panose="02040503050406030204" pitchFamily="18" charset="0"/>
                            <a:ea typeface="微软雅黑" panose="020B0503020204020204" pitchFamily="34" charset="-122"/>
                          </a:rPr>
                          <m:t>和</m:t>
                        </m:r>
                        <m:r>
                          <m:rPr>
                            <m:sty m:val="p"/>
                          </m:rPr>
                          <a:rPr lang="en-US" altLang="zh-CN" b="1">
                            <a:solidFill>
                              <a:srgbClr val="0070C0"/>
                            </a:solidFill>
                            <a:latin typeface="Cambria Math" panose="02040503050406030204" pitchFamily="18" charset="0"/>
                            <a:ea typeface="微软雅黑" panose="020B0503020204020204" pitchFamily="34" charset="-122"/>
                          </a:rPr>
                          <m:t>y</m:t>
                        </m:r>
                        <m:r>
                          <a:rPr lang="zh-CN" altLang="en-US" b="1" i="1" smtClean="0">
                            <a:solidFill>
                              <a:srgbClr val="0070C0"/>
                            </a:solidFill>
                            <a:latin typeface="Cambria Math" panose="02040503050406030204" pitchFamily="18" charset="0"/>
                            <a:ea typeface="微软雅黑" panose="020B0503020204020204" pitchFamily="34" charset="-122"/>
                          </a:rPr>
                          <m:t>应该</m:t>
                        </m:r>
                        <m:r>
                          <a:rPr lang="zh-CN" altLang="en-US" b="1">
                            <a:solidFill>
                              <a:srgbClr val="0070C0"/>
                            </a:solidFill>
                            <a:latin typeface="Cambria Math" panose="02040503050406030204" pitchFamily="18" charset="0"/>
                            <a:ea typeface="微软雅黑" panose="020B0503020204020204" pitchFamily="34" charset="-122"/>
                          </a:rPr>
                          <m:t>为何值</m:t>
                        </m:r>
                      </m:e>
                    </m:func>
                  </m:oMath>
                </a14:m>
                <a:endParaRPr lang="zh-CN" altLang="en-US" b="1" dirty="0">
                  <a:solidFill>
                    <a:srgbClr val="0070C0"/>
                  </a:solidFill>
                  <a:latin typeface="微软雅黑" panose="020B0503020204020204" pitchFamily="34" charset="-122"/>
                  <a:ea typeface="微软雅黑" panose="020B0503020204020204" pitchFamily="34" charset="-122"/>
                </a:endParaRPr>
              </a:p>
            </p:txBody>
          </p:sp>
        </mc:Choice>
        <mc:Fallback xmlns="">
          <p:sp>
            <p:nvSpPr>
              <p:cNvPr id="25" name="Rectangle 3">
                <a:extLst>
                  <a:ext uri="{FF2B5EF4-FFF2-40B4-BE49-F238E27FC236}">
                    <a16:creationId xmlns:a16="http://schemas.microsoft.com/office/drawing/2014/main" id="{AC5D32E0-2630-43E1-A34F-FFED9AFF6269}"/>
                  </a:ext>
                </a:extLst>
              </p:cNvPr>
              <p:cNvSpPr>
                <a:spLocks noRot="1" noChangeAspect="1" noMove="1" noResize="1" noEditPoints="1" noAdjustHandles="1" noChangeArrowheads="1" noChangeShapeType="1" noTextEdit="1"/>
              </p:cNvSpPr>
              <p:nvPr/>
            </p:nvSpPr>
            <p:spPr bwMode="auto">
              <a:xfrm>
                <a:off x="1043608" y="730997"/>
                <a:ext cx="7863585" cy="283219"/>
              </a:xfrm>
              <a:prstGeom prst="rect">
                <a:avLst/>
              </a:prstGeom>
              <a:blipFill>
                <a:blip r:embed="rId4"/>
                <a:stretch>
                  <a:fillRect l="-1473" t="-26087" r="-1473" b="-52174"/>
                </a:stretch>
              </a:blipFill>
              <a:ln>
                <a:noFill/>
              </a:ln>
              <a:effectLst/>
            </p:spPr>
            <p:txBody>
              <a:bodyPr/>
              <a:lstStyle/>
              <a:p>
                <a:r>
                  <a:rPr lang="zh-CN" altLang="en-US">
                    <a:noFill/>
                  </a:rPr>
                  <a:t> </a:t>
                </a:r>
              </a:p>
            </p:txBody>
          </p:sp>
        </mc:Fallback>
      </mc:AlternateContent>
      <p:sp>
        <p:nvSpPr>
          <p:cNvPr id="24" name="波形 23">
            <a:extLst>
              <a:ext uri="{FF2B5EF4-FFF2-40B4-BE49-F238E27FC236}">
                <a16:creationId xmlns:a16="http://schemas.microsoft.com/office/drawing/2014/main" id="{C44A9F43-F5F1-4349-AC3C-021B4E1AE9D9}"/>
              </a:ext>
            </a:extLst>
          </p:cNvPr>
          <p:cNvSpPr/>
          <p:nvPr/>
        </p:nvSpPr>
        <p:spPr>
          <a:xfrm>
            <a:off x="0" y="710963"/>
            <a:ext cx="817360" cy="33483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charset="-122"/>
                <a:ea typeface="微软雅黑" panose="020B0503020204020204" charset="-122"/>
              </a:rPr>
              <a:t>例84-3</a:t>
            </a:r>
            <a:endParaRPr lang="ko-KR" altLang="en-US" sz="1600" b="1" dirty="0">
              <a:solidFill>
                <a:srgbClr val="FFFF00"/>
              </a:solidFill>
              <a:latin typeface="微软雅黑" panose="020B0503020204020204" charset="-122"/>
              <a:ea typeface="微软雅黑" panose="020B0503020204020204" charset="-122"/>
            </a:endParaRPr>
          </a:p>
        </p:txBody>
      </p:sp>
      <p:sp>
        <p:nvSpPr>
          <p:cNvPr id="20" name="文本框 19">
            <a:extLst>
              <a:ext uri="{FF2B5EF4-FFF2-40B4-BE49-F238E27FC236}">
                <a16:creationId xmlns:a16="http://schemas.microsoft.com/office/drawing/2014/main" id="{0E18F290-2F72-4BDC-A6BA-665BFA9AF838}"/>
              </a:ext>
            </a:extLst>
          </p:cNvPr>
          <p:cNvSpPr txBox="1"/>
          <p:nvPr/>
        </p:nvSpPr>
        <p:spPr>
          <a:xfrm>
            <a:off x="140319" y="100270"/>
            <a:ext cx="8863361" cy="523220"/>
          </a:xfrm>
          <a:prstGeom prst="rect">
            <a:avLst/>
          </a:prstGeom>
          <a:solidFill>
            <a:schemeClr val="bg1"/>
          </a:solidFill>
        </p:spPr>
        <p:txBody>
          <a:bodyPr wrap="square">
            <a:spAutoFit/>
          </a:bodyPr>
          <a:lstStyle>
            <a:defPPr>
              <a:defRPr lang="zh-CN"/>
            </a:defPPr>
            <a:lvl1pPr>
              <a:lnSpc>
                <a:spcPct val="150000"/>
              </a:lnSpc>
              <a:defRPr sz="3200">
                <a:solidFill>
                  <a:srgbClr val="002060"/>
                </a:solidFill>
                <a:latin typeface="华文楷体" panose="02010600040101010101" pitchFamily="2" charset="-122"/>
                <a:ea typeface="华文楷体" panose="02010600040101010101" pitchFamily="2" charset="-122"/>
              </a:defRPr>
            </a:lvl1pPr>
          </a:lstStyle>
          <a:p>
            <a:pPr>
              <a:lnSpc>
                <a:spcPct val="100000"/>
              </a:lnSpc>
            </a:pPr>
            <a:r>
              <a:rPr lang="en-US" altLang="zh-CN" sz="2600" b="0" dirty="0">
                <a:solidFill>
                  <a:srgbClr val="002060"/>
                </a:solidFill>
                <a:latin typeface="华文楷体" panose="02010600040101010101" pitchFamily="2" charset="-122"/>
                <a:ea typeface="华文楷体" panose="02010600040101010101" pitchFamily="2" charset="-122"/>
              </a:rPr>
              <a:t>§8.4.2 </a:t>
            </a:r>
            <a:r>
              <a:rPr lang="zh-CN" altLang="en-US" sz="2600" kern="0" dirty="0"/>
              <a:t>多元</a:t>
            </a:r>
            <a:r>
              <a:rPr lang="zh-CN" altLang="en-US" sz="2600" dirty="0"/>
              <a:t>函数</a:t>
            </a:r>
            <a:r>
              <a:rPr lang="en-US" altLang="zh-CN" sz="2600" dirty="0"/>
              <a:t>f(</a:t>
            </a:r>
            <a:r>
              <a:rPr lang="en-US" altLang="zh-CN" sz="2600" dirty="0" err="1"/>
              <a:t>x,y</a:t>
            </a:r>
            <a:r>
              <a:rPr lang="en-US" altLang="zh-CN" sz="2600" dirty="0"/>
              <a:t>)</a:t>
            </a:r>
            <a:r>
              <a:rPr lang="zh-CN" altLang="en-US" sz="2600" dirty="0"/>
              <a:t>无约束最</a:t>
            </a:r>
            <a:r>
              <a:rPr lang="en-US" altLang="ko-KR" sz="2600" dirty="0" err="1"/>
              <a:t>小值</a:t>
            </a:r>
            <a:r>
              <a:rPr lang="en-US" altLang="zh-CN" sz="2600" kern="0" dirty="0">
                <a:solidFill>
                  <a:srgbClr val="FF0000"/>
                </a:solidFill>
              </a:rPr>
              <a:t>——fminsearch</a:t>
            </a:r>
            <a:r>
              <a:rPr lang="zh-CN" altLang="en-US" sz="2600" kern="0" dirty="0">
                <a:solidFill>
                  <a:srgbClr val="FF0000"/>
                </a:solidFill>
              </a:rPr>
              <a:t>和</a:t>
            </a:r>
            <a:r>
              <a:rPr lang="en-US" altLang="zh-CN" sz="2800" b="0" dirty="0" err="1">
                <a:solidFill>
                  <a:srgbClr val="FF0000"/>
                </a:solidFill>
                <a:latin typeface="华文楷体" panose="02010600040101010101" pitchFamily="2" charset="-122"/>
                <a:ea typeface="华文楷体" panose="02010600040101010101" pitchFamily="2" charset="-122"/>
              </a:rPr>
              <a:t>fminunc</a:t>
            </a:r>
            <a:endParaRPr lang="zh-CN" altLang="en-US" sz="2600" dirty="0"/>
          </a:p>
        </p:txBody>
      </p:sp>
      <p:sp>
        <p:nvSpPr>
          <p:cNvPr id="31" name="文本框 30">
            <a:extLst>
              <a:ext uri="{FF2B5EF4-FFF2-40B4-BE49-F238E27FC236}">
                <a16:creationId xmlns:a16="http://schemas.microsoft.com/office/drawing/2014/main" id="{EC7AD5AE-2DD6-43EE-812D-A0357E72B08B}"/>
              </a:ext>
            </a:extLst>
          </p:cNvPr>
          <p:cNvSpPr txBox="1"/>
          <p:nvPr/>
        </p:nvSpPr>
        <p:spPr>
          <a:xfrm>
            <a:off x="6948264" y="1437819"/>
            <a:ext cx="1958930" cy="286232"/>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algn="r"/>
            <a:r>
              <a:rPr lang="zh-CN" altLang="zh-CN" sz="1400" b="0" dirty="0">
                <a:effectLst/>
                <a:highlight>
                  <a:srgbClr val="3399FF"/>
                </a:highlight>
                <a:latin typeface="Times New Roman" panose="02020603050405020304" pitchFamily="18" charset="0"/>
                <a:ea typeface="source-code-pro"/>
                <a:cs typeface="Times New Roman" panose="02020603050405020304" pitchFamily="18" charset="0"/>
              </a:rPr>
              <a:t>x,fval</a:t>
            </a:r>
            <a:r>
              <a:rPr lang="en-US" altLang="zh-CN" sz="1400" b="0" dirty="0">
                <a:highlight>
                  <a:srgbClr val="3399FF"/>
                </a:highlight>
                <a:latin typeface="Times New Roman" panose="02020603050405020304" pitchFamily="18" charset="0"/>
                <a:cs typeface="Times New Roman" panose="02020603050405020304" pitchFamily="18" charset="0"/>
              </a:rPr>
              <a:t>= </a:t>
            </a:r>
            <a:r>
              <a:rPr lang="en-US" altLang="zh-CN" sz="1400" b="0" dirty="0" err="1">
                <a:highlight>
                  <a:srgbClr val="3399FF"/>
                </a:highlight>
                <a:latin typeface="Times New Roman" panose="02020603050405020304" pitchFamily="18" charset="0"/>
                <a:cs typeface="Times New Roman" panose="02020603050405020304" pitchFamily="18" charset="0"/>
              </a:rPr>
              <a:t>fminunc</a:t>
            </a:r>
            <a:r>
              <a:rPr lang="en-US" altLang="zh-CN" sz="1400" b="0" dirty="0">
                <a:highlight>
                  <a:srgbClr val="3399FF"/>
                </a:highlight>
                <a:latin typeface="Times New Roman" panose="02020603050405020304" pitchFamily="18" charset="0"/>
                <a:cs typeface="Times New Roman" panose="02020603050405020304" pitchFamily="18" charset="0"/>
              </a:rPr>
              <a:t>(fun, x0)</a:t>
            </a:r>
            <a:endParaRPr lang="ko-KR" altLang="en-US" sz="1400" b="0" dirty="0">
              <a:highlight>
                <a:srgbClr val="3399FF"/>
              </a:highlight>
              <a:latin typeface="Times New Roman" panose="02020603050405020304" pitchFamily="18" charset="0"/>
              <a:cs typeface="Times New Roman" panose="02020603050405020304" pitchFamily="18" charset="0"/>
            </a:endParaRPr>
          </a:p>
        </p:txBody>
      </p:sp>
      <p:sp>
        <p:nvSpPr>
          <p:cNvPr id="32" name="文本框 31">
            <a:extLst>
              <a:ext uri="{FF2B5EF4-FFF2-40B4-BE49-F238E27FC236}">
                <a16:creationId xmlns:a16="http://schemas.microsoft.com/office/drawing/2014/main" id="{6A437F43-A105-48BD-8CAB-F27AA5EB9077}"/>
              </a:ext>
            </a:extLst>
          </p:cNvPr>
          <p:cNvSpPr txBox="1"/>
          <p:nvPr/>
        </p:nvSpPr>
        <p:spPr>
          <a:xfrm>
            <a:off x="6892748" y="1076679"/>
            <a:ext cx="2014446" cy="287771"/>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algn="r"/>
            <a:r>
              <a:rPr lang="zh-CN" altLang="zh-CN" sz="1400" b="0" dirty="0">
                <a:highlight>
                  <a:srgbClr val="3399FF"/>
                </a:highlight>
                <a:latin typeface="华文楷体" panose="02010600040101010101" pitchFamily="2" charset="-122"/>
                <a:ea typeface="华文楷体" panose="02010600040101010101" pitchFamily="2" charset="-122"/>
              </a:rPr>
              <a:t>x,fval</a:t>
            </a:r>
            <a:r>
              <a:rPr lang="en-US" altLang="zh-CN" sz="1400" b="0" dirty="0">
                <a:highlight>
                  <a:srgbClr val="3399FF"/>
                </a:highlight>
                <a:latin typeface="华文楷体" panose="02010600040101010101" pitchFamily="2" charset="-122"/>
                <a:ea typeface="华文楷体" panose="02010600040101010101" pitchFamily="2" charset="-122"/>
                <a:cs typeface="Times New Roman" panose="02020603050405020304" pitchFamily="18" charset="0"/>
              </a:rPr>
              <a:t>=</a:t>
            </a:r>
            <a:r>
              <a:rPr lang="en-US" altLang="ko-KR" sz="1400" b="0" dirty="0">
                <a:highlight>
                  <a:srgbClr val="3399FF"/>
                </a:highlight>
                <a:latin typeface="华文楷体" panose="02010600040101010101" pitchFamily="2" charset="-122"/>
                <a:ea typeface="华文楷体" panose="02010600040101010101" pitchFamily="2" charset="-122"/>
                <a:cs typeface="Times New Roman" panose="02020603050405020304" pitchFamily="18" charset="0"/>
              </a:rPr>
              <a:t>fminsearch(fun,</a:t>
            </a:r>
            <a:r>
              <a:rPr lang="en-US" altLang="zh-CN" sz="1400" b="0" dirty="0">
                <a:highlight>
                  <a:srgbClr val="3399FF"/>
                </a:highlight>
                <a:latin typeface="华文楷体" panose="02010600040101010101" pitchFamily="2" charset="-122"/>
                <a:ea typeface="华文楷体" panose="02010600040101010101" pitchFamily="2" charset="-122"/>
                <a:cs typeface="Times New Roman" panose="02020603050405020304" pitchFamily="18" charset="0"/>
              </a:rPr>
              <a:t>x0</a:t>
            </a:r>
            <a:r>
              <a:rPr lang="en-US" altLang="ko-KR" sz="1400" b="0" dirty="0">
                <a:highlight>
                  <a:srgbClr val="3399FF"/>
                </a:highlight>
                <a:latin typeface="华文楷体" panose="02010600040101010101" pitchFamily="2" charset="-122"/>
                <a:ea typeface="华文楷体" panose="02010600040101010101" pitchFamily="2" charset="-122"/>
                <a:cs typeface="Times New Roman" panose="02020603050405020304" pitchFamily="18" charset="0"/>
              </a:rPr>
              <a:t>)</a:t>
            </a:r>
            <a:endParaRPr lang="ko-KR" altLang="en-US" sz="1400" b="0" dirty="0">
              <a:highlight>
                <a:srgbClr val="3399FF"/>
              </a:highlight>
              <a:latin typeface="华文楷体" panose="02010600040101010101" pitchFamily="2" charset="-122"/>
              <a:cs typeface="Times New Roman" panose="02020603050405020304" pitchFamily="18" charset="0"/>
            </a:endParaRPr>
          </a:p>
        </p:txBody>
      </p:sp>
      <p:sp>
        <p:nvSpPr>
          <p:cNvPr id="33" name="波形 32">
            <a:extLst>
              <a:ext uri="{FF2B5EF4-FFF2-40B4-BE49-F238E27FC236}">
                <a16:creationId xmlns:a16="http://schemas.microsoft.com/office/drawing/2014/main" id="{2CDBA460-2946-4FDA-A79D-A164F180FFA6}"/>
              </a:ext>
            </a:extLst>
          </p:cNvPr>
          <p:cNvSpPr/>
          <p:nvPr/>
        </p:nvSpPr>
        <p:spPr>
          <a:xfrm>
            <a:off x="165448" y="4222135"/>
            <a:ext cx="924009" cy="433305"/>
          </a:xfrm>
          <a:prstGeom prst="wave">
            <a:avLst>
              <a:gd name="adj1" fmla="val 14183"/>
              <a:gd name="adj2" fmla="val 0"/>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r>
              <a:rPr lang="zh-CN" altLang="en-US" sz="1400" dirty="0">
                <a:solidFill>
                  <a:srgbClr val="FFFF00"/>
                </a:solidFill>
                <a:latin typeface="隶书" panose="02010509060101010101" pitchFamily="49" charset="-122"/>
                <a:ea typeface="隶书" panose="02010509060101010101" pitchFamily="49" charset="-122"/>
              </a:rPr>
              <a:t>课堂练习</a:t>
            </a:r>
            <a:endParaRPr lang="en-US" altLang="zh-CN" sz="1400" dirty="0">
              <a:solidFill>
                <a:srgbClr val="FFFF00"/>
              </a:solidFill>
              <a:latin typeface="隶书" panose="02010509060101010101" pitchFamily="49" charset="-122"/>
              <a:ea typeface="隶书" panose="02010509060101010101" pitchFamily="49" charset="-122"/>
            </a:endParaRPr>
          </a:p>
        </p:txBody>
      </p: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69EFCDCA-43C3-4A30-A104-BF838916DF33}"/>
                  </a:ext>
                </a:extLst>
              </p:cNvPr>
              <p:cNvSpPr txBox="1"/>
              <p:nvPr/>
            </p:nvSpPr>
            <p:spPr>
              <a:xfrm>
                <a:off x="1100497" y="4279777"/>
                <a:ext cx="8008007" cy="571247"/>
              </a:xfrm>
              <a:prstGeom prst="rect">
                <a:avLst/>
              </a:prstGeom>
              <a:noFill/>
              <a:ln>
                <a:solidFill>
                  <a:schemeClr val="bg1"/>
                </a:solidFill>
              </a:ln>
            </p:spPr>
            <p:txBody>
              <a:bodyPr wrap="square" rtlCol="0" anchor="t">
                <a:spAutoFit/>
              </a:bodyPr>
              <a:lstStyle>
                <a:defPPr>
                  <a:defRPr lang="zh-CN"/>
                </a:defPPr>
                <a:lvl1pPr algn="dist">
                  <a:defRPr sz="1800" b="1" i="0">
                    <a:solidFill>
                      <a:srgbClr val="00B0F0"/>
                    </a:solidFill>
                    <a:effectLst/>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r>
                  <a:rPr lang="zh-CN" altLang="en-US" sz="1600" dirty="0">
                    <a:solidFill>
                      <a:srgbClr val="0070C0"/>
                    </a:solidFill>
                    <a:latin typeface="Cambria Math" panose="02040503050406030204" pitchFamily="18" charset="0"/>
                  </a:rPr>
                  <a:t>用</a:t>
                </a:r>
                <a:r>
                  <a:rPr lang="en-US" altLang="zh-CN" sz="1600" dirty="0" err="1">
                    <a:solidFill>
                      <a:srgbClr val="0070C0"/>
                    </a:solidFill>
                    <a:latin typeface="Cambria Math" panose="02040503050406030204" pitchFamily="18" charset="0"/>
                  </a:rPr>
                  <a:t>fminunc</a:t>
                </a:r>
                <a:r>
                  <a:rPr lang="zh-CN" altLang="en-US" sz="1600" dirty="0">
                    <a:solidFill>
                      <a:srgbClr val="0070C0"/>
                    </a:solidFill>
                    <a:latin typeface="Cambria Math" panose="02040503050406030204" pitchFamily="18" charset="0"/>
                  </a:rPr>
                  <a:t>取任意</a:t>
                </a:r>
                <a:r>
                  <a:rPr lang="en-US" altLang="zh-CN" sz="1600" dirty="0">
                    <a:solidFill>
                      <a:srgbClr val="0070C0"/>
                    </a:solidFill>
                    <a:latin typeface="Cambria Math" panose="02040503050406030204" pitchFamily="18" charset="0"/>
                  </a:rPr>
                  <a:t>x0</a:t>
                </a:r>
                <a:r>
                  <a:rPr lang="zh-CN" altLang="en-US" sz="1600" dirty="0">
                    <a:solidFill>
                      <a:srgbClr val="0070C0"/>
                    </a:solidFill>
                    <a:latin typeface="Cambria Math" panose="02040503050406030204" pitchFamily="18" charset="0"/>
                  </a:rPr>
                  <a:t>求</a:t>
                </a:r>
                <a:r>
                  <a:rPr lang="en-US" altLang="zh-CN" sz="1600" dirty="0">
                    <a:solidFill>
                      <a:srgbClr val="0070C0"/>
                    </a:solidFill>
                    <a:latin typeface="Cambria Math" panose="02040503050406030204" pitchFamily="18" charset="0"/>
                  </a:rPr>
                  <a:t>f(</a:t>
                </a:r>
                <a:r>
                  <a:rPr lang="en-US" altLang="zh-CN" sz="1600" dirty="0" err="1">
                    <a:solidFill>
                      <a:srgbClr val="0070C0"/>
                    </a:solidFill>
                    <a:latin typeface="Cambria Math" panose="02040503050406030204" pitchFamily="18" charset="0"/>
                  </a:rPr>
                  <a:t>x,y</a:t>
                </a:r>
                <a:r>
                  <a:rPr lang="en-US" altLang="zh-CN" sz="1600" dirty="0">
                    <a:solidFill>
                      <a:srgbClr val="0070C0"/>
                    </a:solidFill>
                    <a:latin typeface="Cambria Math" panose="02040503050406030204" pitchFamily="18" charset="0"/>
                  </a:rPr>
                  <a:t>)=x^2+y^2+3sin(2x)+3sin(2y)</a:t>
                </a:r>
                <a14:m>
                  <m:oMath xmlns:m="http://schemas.openxmlformats.org/officeDocument/2006/math">
                    <m:r>
                      <a:rPr lang="zh-CN" altLang="en-US" sz="1600">
                        <a:solidFill>
                          <a:srgbClr val="0070C0"/>
                        </a:solidFill>
                        <a:latin typeface="Cambria Math" panose="02040503050406030204" pitchFamily="18" charset="0"/>
                      </a:rPr>
                      <m:t>最小值时，</m:t>
                    </m:r>
                    <m:r>
                      <m:rPr>
                        <m:sty m:val="p"/>
                      </m:rPr>
                      <a:rPr lang="en-US" altLang="zh-CN" sz="1600">
                        <a:solidFill>
                          <a:srgbClr val="0070C0"/>
                        </a:solidFill>
                        <a:latin typeface="Cambria Math" panose="02040503050406030204" pitchFamily="18" charset="0"/>
                      </a:rPr>
                      <m:t>x</m:t>
                    </m:r>
                    <m:r>
                      <a:rPr lang="zh-CN" altLang="en-US" sz="1600">
                        <a:solidFill>
                          <a:srgbClr val="0070C0"/>
                        </a:solidFill>
                        <a:latin typeface="Cambria Math" panose="02040503050406030204" pitchFamily="18" charset="0"/>
                      </a:rPr>
                      <m:t>和</m:t>
                    </m:r>
                    <m:r>
                      <m:rPr>
                        <m:sty m:val="p"/>
                      </m:rPr>
                      <a:rPr lang="en-US" altLang="zh-CN" sz="1600">
                        <a:solidFill>
                          <a:srgbClr val="0070C0"/>
                        </a:solidFill>
                        <a:latin typeface="Cambria Math" panose="02040503050406030204" pitchFamily="18" charset="0"/>
                      </a:rPr>
                      <m:t>y</m:t>
                    </m:r>
                    <m:r>
                      <a:rPr lang="zh-CN" altLang="en-US" sz="1600">
                        <a:solidFill>
                          <a:srgbClr val="0070C0"/>
                        </a:solidFill>
                        <a:latin typeface="Cambria Math" panose="02040503050406030204" pitchFamily="18" charset="0"/>
                      </a:rPr>
                      <m:t>应该为</m:t>
                    </m:r>
                  </m:oMath>
                </a14:m>
                <a:r>
                  <a:rPr lang="zh-CN" altLang="en-US" sz="1600" dirty="0">
                    <a:solidFill>
                      <a:srgbClr val="0070C0"/>
                    </a:solidFill>
                    <a:latin typeface="Cambria Math" panose="02040503050406030204" pitchFamily="18" charset="0"/>
                  </a:rPr>
                  <a:t>何值</a:t>
                </a:r>
              </a:p>
              <a:p>
                <a:pPr algn="l"/>
                <a:endParaRPr lang="zh-CN" altLang="en-US" sz="1500" dirty="0">
                  <a:solidFill>
                    <a:srgbClr val="0070C0"/>
                  </a:solidFill>
                </a:endParaRPr>
              </a:p>
            </p:txBody>
          </p:sp>
        </mc:Choice>
        <mc:Fallback xmlns="">
          <p:sp>
            <p:nvSpPr>
              <p:cNvPr id="34" name="文本框 33">
                <a:extLst>
                  <a:ext uri="{FF2B5EF4-FFF2-40B4-BE49-F238E27FC236}">
                    <a16:creationId xmlns:a16="http://schemas.microsoft.com/office/drawing/2014/main" id="{69EFCDCA-43C3-4A30-A104-BF838916DF33}"/>
                  </a:ext>
                </a:extLst>
              </p:cNvPr>
              <p:cNvSpPr txBox="1">
                <a:spLocks noRot="1" noChangeAspect="1" noMove="1" noResize="1" noEditPoints="1" noAdjustHandles="1" noChangeArrowheads="1" noChangeShapeType="1" noTextEdit="1"/>
              </p:cNvSpPr>
              <p:nvPr/>
            </p:nvSpPr>
            <p:spPr>
              <a:xfrm>
                <a:off x="1100497" y="4279777"/>
                <a:ext cx="8008007" cy="571247"/>
              </a:xfrm>
              <a:prstGeom prst="rect">
                <a:avLst/>
              </a:prstGeom>
              <a:blipFill>
                <a:blip r:embed="rId5"/>
                <a:stretch>
                  <a:fillRect l="-380" t="-3125" r="-380"/>
                </a:stretch>
              </a:blipFill>
              <a:ln>
                <a:solidFill>
                  <a:schemeClr val="bg1"/>
                </a:solidFill>
              </a:ln>
            </p:spPr>
            <p:txBody>
              <a:bodyPr/>
              <a:lstStyle/>
              <a:p>
                <a:r>
                  <a:rPr lang="zh-CN" altLang="en-US">
                    <a:noFill/>
                  </a:rPr>
                  <a:t> </a:t>
                </a:r>
              </a:p>
            </p:txBody>
          </p:sp>
        </mc:Fallback>
      </mc:AlternateContent>
      <p:sp>
        <p:nvSpPr>
          <p:cNvPr id="36" name="文本框 35">
            <a:extLst>
              <a:ext uri="{FF2B5EF4-FFF2-40B4-BE49-F238E27FC236}">
                <a16:creationId xmlns:a16="http://schemas.microsoft.com/office/drawing/2014/main" id="{101FCD2B-ADDB-4F0B-B54B-B353F492DB5B}"/>
              </a:ext>
            </a:extLst>
          </p:cNvPr>
          <p:cNvSpPr txBox="1"/>
          <p:nvPr/>
        </p:nvSpPr>
        <p:spPr>
          <a:xfrm>
            <a:off x="1736809" y="3188496"/>
            <a:ext cx="3477864" cy="369332"/>
          </a:xfrm>
          <a:prstGeom prst="rect">
            <a:avLst/>
          </a:prstGeom>
          <a:noFill/>
        </p:spPr>
        <p:txBody>
          <a:bodyPr wrap="square">
            <a:spAutoFit/>
          </a:bodyPr>
          <a:lstStyle/>
          <a:p>
            <a:r>
              <a:rPr lang="zh-CN" altLang="en-US" dirty="0"/>
              <a:t>xy,fval,ex,ou=fminsearch(f,[0,0])</a:t>
            </a:r>
          </a:p>
        </p:txBody>
      </p:sp>
      <p:sp>
        <p:nvSpPr>
          <p:cNvPr id="37" name="Rectangle 3">
            <a:extLst>
              <a:ext uri="{FF2B5EF4-FFF2-40B4-BE49-F238E27FC236}">
                <a16:creationId xmlns:a16="http://schemas.microsoft.com/office/drawing/2014/main" id="{2720A10F-F221-4C3A-A94F-1DAAED567446}"/>
              </a:ext>
            </a:extLst>
          </p:cNvPr>
          <p:cNvSpPr>
            <a:spLocks noChangeArrowheads="1"/>
          </p:cNvSpPr>
          <p:nvPr/>
        </p:nvSpPr>
        <p:spPr bwMode="auto">
          <a:xfrm>
            <a:off x="5238980" y="3268063"/>
            <a:ext cx="3477864" cy="830997"/>
          </a:xfrm>
          <a:prstGeom prst="rect">
            <a:avLst/>
          </a:prstGeom>
          <a:solidFill>
            <a:schemeClr val="accent5">
              <a:lumMod val="20000"/>
              <a:lumOff val="80000"/>
              <a:alpha val="36000"/>
            </a:schemeClr>
          </a:solidFill>
          <a:ln>
            <a:noFill/>
          </a:ln>
        </p:spPr>
        <p:txBody>
          <a:bodyPr vert="horz" wrap="square" lIns="91440" tIns="45720" rIns="91440" bIns="45720" numCol="1" anchor="t">
            <a:spAutoFit/>
          </a:bodyPr>
          <a:lstStyle/>
          <a:p>
            <a:pPr eaLnBrk="0">
              <a:spcBef>
                <a:spcPts val="0"/>
              </a:spcBef>
              <a:spcAft>
                <a:spcPts val="0"/>
              </a:spcAft>
              <a:buClr>
                <a:schemeClr val="bg1"/>
              </a:buClr>
            </a:pPr>
            <a:r>
              <a:rPr lang="fr-FR" altLang="zh-CN" sz="160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en-US" sz="160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结果</a:t>
            </a:r>
            <a:r>
              <a:rPr lang="fr-FR" altLang="zh-CN" sz="160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xy=[-0.6724, 0.6724],</a:t>
            </a:r>
          </a:p>
          <a:p>
            <a:pPr eaLnBrk="0">
              <a:spcBef>
                <a:spcPts val="0"/>
              </a:spcBef>
              <a:spcAft>
                <a:spcPts val="0"/>
              </a:spcAft>
              <a:buClr>
                <a:schemeClr val="bg1"/>
              </a:buClr>
            </a:pPr>
            <a:r>
              <a:rPr lang="fr-FR" altLang="zh-CN" sz="160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 fval=-4.943184502648746, ex=1,</a:t>
            </a:r>
          </a:p>
          <a:p>
            <a:pPr eaLnBrk="0">
              <a:spcBef>
                <a:spcPts val="0"/>
              </a:spcBef>
              <a:spcAft>
                <a:spcPts val="0"/>
              </a:spcAft>
              <a:buClr>
                <a:schemeClr val="bg1"/>
              </a:buClr>
            </a:pPr>
            <a:r>
              <a:rPr lang="fr-FR" altLang="zh-CN" sz="160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 ou=iterations: 60</a:t>
            </a:r>
            <a:r>
              <a:rPr lang="en-US" altLang="zh-CN" sz="160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18,</a:t>
            </a:r>
          </a:p>
        </p:txBody>
      </p:sp>
    </p:spTree>
    <p:extLst>
      <p:ext uri="{BB962C8B-B14F-4D97-AF65-F5344CB8AC3E}">
        <p14:creationId xmlns:p14="http://schemas.microsoft.com/office/powerpoint/2010/main" val="237171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0" grpId="0"/>
      <p:bldP spid="11" grpId="0" animBg="1"/>
      <p:bldP spid="12" grpId="0"/>
      <p:bldP spid="19" grpId="0"/>
      <p:bldP spid="33" grpId="0" animBg="1"/>
      <p:bldP spid="34" grpId="0" animBg="1"/>
      <p:bldP spid="36" grpId="0"/>
      <p:bldP spid="3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D9BD92E7-AD5F-4F9E-ACDE-8311BA01994A}"/>
              </a:ext>
            </a:extLst>
          </p:cNvPr>
          <p:cNvSpPr/>
          <p:nvPr/>
        </p:nvSpPr>
        <p:spPr bwMode="auto">
          <a:xfrm>
            <a:off x="322427" y="664208"/>
            <a:ext cx="8523399" cy="375359"/>
          </a:xfrm>
          <a:prstGeom prst="rect">
            <a:avLst/>
          </a:prstGeom>
          <a:solidFill>
            <a:schemeClr val="bg1"/>
          </a:solidFill>
          <a:ln w="0">
            <a:noFill/>
          </a:ln>
        </p:spPr>
        <p:txBody>
          <a:bodyPr vert="horz" wrap="square" lIns="91440" tIns="45720" rIns="91440" bIns="45720" anchor="ctr">
            <a:spAutoFit/>
          </a:bodyPr>
          <a:lstStyle/>
          <a:p>
            <a:pPr algn="r" eaLnBrk="0">
              <a:lnSpc>
                <a:spcPts val="2200"/>
              </a:lnSpc>
              <a:spcBef>
                <a:spcPts val="0"/>
              </a:spcBef>
              <a:spcAft>
                <a:spcPts val="0"/>
              </a:spcAft>
            </a:pPr>
            <a:r>
              <a:rPr lang="en-US" altLang="ko-KR" sz="2000" cap="none" dirty="0">
                <a:solidFill>
                  <a:srgbClr val="002060"/>
                </a:solidFill>
                <a:latin typeface="华文楷体" panose="02010600040101010101" pitchFamily="2" charset="-122"/>
                <a:ea typeface="华文楷体" panose="02010600040101010101" pitchFamily="2" charset="-122"/>
              </a:rPr>
              <a:t>  </a:t>
            </a:r>
            <a:r>
              <a:rPr lang="en-US" altLang="ko-KR" sz="2000" cap="none" dirty="0" err="1">
                <a:solidFill>
                  <a:srgbClr val="002060"/>
                </a:solidFill>
                <a:latin typeface="华文楷体" panose="02010600040101010101" pitchFamily="2" charset="-122"/>
                <a:ea typeface="华文楷体" panose="02010600040101010101" pitchFamily="2" charset="-122"/>
              </a:rPr>
              <a:t>著名Rosenbrocks</a:t>
            </a:r>
            <a:r>
              <a:rPr lang="zh-CN" altLang="en-US" sz="2000" b="0" i="0" dirty="0">
                <a:solidFill>
                  <a:srgbClr val="2C3E50"/>
                </a:solidFill>
                <a:effectLst/>
                <a:latin typeface="华文楷体" panose="02010600040101010101" pitchFamily="2" charset="-122"/>
                <a:ea typeface="华文楷体" panose="02010600040101010101" pitchFamily="2" charset="-122"/>
              </a:rPr>
              <a:t>香蕉</a:t>
            </a:r>
            <a:r>
              <a:rPr lang="en-US" altLang="ko-KR" sz="2000" dirty="0" err="1">
                <a:solidFill>
                  <a:srgbClr val="002060"/>
                </a:solidFill>
                <a:latin typeface="华文楷体" panose="02010600040101010101" pitchFamily="2" charset="-122"/>
                <a:ea typeface="华文楷体" panose="02010600040101010101" pitchFamily="2" charset="-122"/>
              </a:rPr>
              <a:t>数学优化函数</a:t>
            </a:r>
            <a:r>
              <a:rPr lang="en-US" altLang="zh-CN" sz="2000" b="0" i="0" dirty="0" err="1">
                <a:solidFill>
                  <a:srgbClr val="0070C0"/>
                </a:solidFill>
                <a:effectLst/>
                <a:latin typeface="华文楷体" panose="02010600040101010101" pitchFamily="2" charset="-122"/>
                <a:ea typeface="华文楷体" panose="02010600040101010101" pitchFamily="2" charset="-122"/>
              </a:rPr>
              <a:t>f</a:t>
            </a:r>
            <a:r>
              <a:rPr lang="zh-CN" altLang="en-US" sz="2000" b="1" i="0" dirty="0">
                <a:solidFill>
                  <a:srgbClr val="0070C0"/>
                </a:solidFill>
                <a:effectLst/>
                <a:latin typeface="华文楷体" panose="02010600040101010101" pitchFamily="2" charset="-122"/>
                <a:ea typeface="华文楷体" panose="02010600040101010101" pitchFamily="2" charset="-122"/>
              </a:rPr>
              <a:t>（</a:t>
            </a:r>
            <a:r>
              <a:rPr lang="en-US" altLang="zh-CN" sz="2000" b="1" i="0" dirty="0" err="1">
                <a:solidFill>
                  <a:srgbClr val="00B0F0"/>
                </a:solidFill>
                <a:effectLst/>
                <a:latin typeface="华文楷体" panose="02010600040101010101" pitchFamily="2" charset="-122"/>
                <a:ea typeface="华文楷体" panose="02010600040101010101" pitchFamily="2" charset="-122"/>
              </a:rPr>
              <a:t>x,y</a:t>
            </a:r>
            <a:r>
              <a:rPr lang="zh-CN" altLang="en-US" sz="2000" b="1" i="0" dirty="0">
                <a:solidFill>
                  <a:srgbClr val="00B0F0"/>
                </a:solidFill>
                <a:effectLst/>
                <a:latin typeface="华文楷体" panose="02010600040101010101" pitchFamily="2" charset="-122"/>
                <a:ea typeface="华文楷体" panose="02010600040101010101" pitchFamily="2" charset="-122"/>
              </a:rPr>
              <a:t>）</a:t>
            </a:r>
            <a:r>
              <a:rPr lang="en-US" altLang="zh-CN" sz="2000" b="1" i="0" dirty="0">
                <a:solidFill>
                  <a:srgbClr val="00B0F0"/>
                </a:solidFill>
                <a:effectLst/>
                <a:latin typeface="华文楷体" panose="02010600040101010101" pitchFamily="2" charset="-122"/>
                <a:ea typeface="华文楷体" panose="02010600040101010101" pitchFamily="2" charset="-122"/>
              </a:rPr>
              <a:t>=100(y-x^2))^2+(1-x)^2)</a:t>
            </a:r>
            <a:endParaRPr lang="ko-KR" altLang="en-US" sz="2000" cap="none" dirty="0">
              <a:solidFill>
                <a:srgbClr val="002060"/>
              </a:solidFill>
              <a:latin typeface="华文楷体" panose="02010600040101010101" pitchFamily="2" charset="-122"/>
            </a:endParaRPr>
          </a:p>
        </p:txBody>
      </p:sp>
      <p:pic>
        <p:nvPicPr>
          <p:cNvPr id="11" name="图片 10">
            <a:extLst>
              <a:ext uri="{FF2B5EF4-FFF2-40B4-BE49-F238E27FC236}">
                <a16:creationId xmlns:a16="http://schemas.microsoft.com/office/drawing/2014/main" id="{B13661F8-601E-484F-92AE-E002A2242D82}"/>
              </a:ext>
            </a:extLst>
          </p:cNvPr>
          <p:cNvPicPr>
            <a:picLocks noChangeAspect="1"/>
          </p:cNvPicPr>
          <p:nvPr/>
        </p:nvPicPr>
        <p:blipFill rotWithShape="1">
          <a:blip r:embed="rId3"/>
          <a:srcRect l="4325" t="16401" r="28738" b="5201"/>
          <a:stretch/>
        </p:blipFill>
        <p:spPr>
          <a:xfrm>
            <a:off x="6037514" y="2638651"/>
            <a:ext cx="2717233" cy="1790177"/>
          </a:xfrm>
          <a:prstGeom prst="rect">
            <a:avLst/>
          </a:prstGeom>
        </p:spPr>
      </p:pic>
      <p:pic>
        <p:nvPicPr>
          <p:cNvPr id="13" name="图片 12">
            <a:extLst>
              <a:ext uri="{FF2B5EF4-FFF2-40B4-BE49-F238E27FC236}">
                <a16:creationId xmlns:a16="http://schemas.microsoft.com/office/drawing/2014/main" id="{FF725B8D-769C-4AAF-82B9-ABDA45D7C507}"/>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36244" b="85805" l="12042" r="61182"/>
                    </a14:imgEffect>
                  </a14:imgLayer>
                </a14:imgProps>
              </a:ext>
            </a:extLst>
          </a:blip>
          <a:srcRect l="5900" t="30049" r="32675" b="8000"/>
          <a:stretch/>
        </p:blipFill>
        <p:spPr>
          <a:xfrm>
            <a:off x="2459068" y="1442132"/>
            <a:ext cx="3736726" cy="2119940"/>
          </a:xfrm>
          <a:prstGeom prst="rect">
            <a:avLst/>
          </a:prstGeom>
        </p:spPr>
      </p:pic>
      <p:sp>
        <p:nvSpPr>
          <p:cNvPr id="16" name="矩形 15">
            <a:extLst>
              <a:ext uri="{FF2B5EF4-FFF2-40B4-BE49-F238E27FC236}">
                <a16:creationId xmlns:a16="http://schemas.microsoft.com/office/drawing/2014/main" id="{330C5C7C-2147-4A7A-8F72-AB02CB0A3B63}"/>
              </a:ext>
            </a:extLst>
          </p:cNvPr>
          <p:cNvSpPr/>
          <p:nvPr/>
        </p:nvSpPr>
        <p:spPr>
          <a:xfrm>
            <a:off x="322427" y="1344795"/>
            <a:ext cx="378245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eaLnBrk="0" hangingPunct="0"/>
            <a:r>
              <a:rPr lang="en-US" altLang="zh-CN" dirty="0">
                <a:solidFill>
                  <a:srgbClr val="00B0F0"/>
                </a:solidFill>
                <a:latin typeface="微软雅黑" panose="020B0503020204020204" pitchFamily="34" charset="-122"/>
                <a:ea typeface="微软雅黑" panose="020B0503020204020204" pitchFamily="34" charset="-122"/>
              </a:rPr>
              <a:t>(1)</a:t>
            </a:r>
            <a:r>
              <a:rPr lang="zh-CN" altLang="en-US" dirty="0">
                <a:solidFill>
                  <a:srgbClr val="00B0F0"/>
                </a:solidFill>
                <a:latin typeface="微软雅黑" panose="020B0503020204020204" pitchFamily="34" charset="-122"/>
                <a:ea typeface="微软雅黑" panose="020B0503020204020204" pitchFamily="34" charset="-122"/>
              </a:rPr>
              <a:t>绘制香蕉函数曲面和等高线</a:t>
            </a:r>
          </a:p>
        </p:txBody>
      </p:sp>
      <p:cxnSp>
        <p:nvCxnSpPr>
          <p:cNvPr id="18" name="直接连接符 17">
            <a:extLst>
              <a:ext uri="{FF2B5EF4-FFF2-40B4-BE49-F238E27FC236}">
                <a16:creationId xmlns:a16="http://schemas.microsoft.com/office/drawing/2014/main" id="{807045A3-FF40-4300-BDF7-7E5256362706}"/>
              </a:ext>
            </a:extLst>
          </p:cNvPr>
          <p:cNvCxnSpPr>
            <a:cxnSpLocks/>
          </p:cNvCxnSpPr>
          <p:nvPr/>
        </p:nvCxnSpPr>
        <p:spPr bwMode="auto">
          <a:xfrm flipV="1">
            <a:off x="7405666" y="3214715"/>
            <a:ext cx="0" cy="1308480"/>
          </a:xfrm>
          <a:prstGeom prst="line">
            <a:avLst/>
          </a:prstGeom>
          <a:noFill/>
          <a:ln w="38100" cap="flat" cmpd="sng" algn="ctr">
            <a:solidFill>
              <a:srgbClr val="FF0000"/>
            </a:solidFill>
            <a:prstDash val="sysDash"/>
            <a:round/>
            <a:headEnd type="none" w="med" len="med"/>
            <a:tailEnd type="none" w="med" len="med"/>
          </a:ln>
          <a:effectLst/>
        </p:spPr>
      </p:cxnSp>
      <p:sp>
        <p:nvSpPr>
          <p:cNvPr id="15" name="文本框 14">
            <a:extLst>
              <a:ext uri="{FF2B5EF4-FFF2-40B4-BE49-F238E27FC236}">
                <a16:creationId xmlns:a16="http://schemas.microsoft.com/office/drawing/2014/main" id="{5D29226C-5D78-46F3-AB3E-DE3A03848E6B}"/>
              </a:ext>
            </a:extLst>
          </p:cNvPr>
          <p:cNvSpPr txBox="1"/>
          <p:nvPr/>
        </p:nvSpPr>
        <p:spPr>
          <a:xfrm>
            <a:off x="227917" y="1609306"/>
            <a:ext cx="5036408" cy="3041858"/>
          </a:xfrm>
          <a:prstGeom prst="rect">
            <a:avLst/>
          </a:prstGeom>
          <a:noFill/>
        </p:spPr>
        <p:txBody>
          <a:bodyPr wrap="square">
            <a:spAutoFit/>
          </a:bodyPr>
          <a:lstStyle/>
          <a:p>
            <a:pPr>
              <a:lnSpc>
                <a:spcPts val="2300"/>
              </a:lnSpc>
            </a:pPr>
            <a:r>
              <a:rPr lang="en-US" altLang="zh-CN" sz="2000" b="0" dirty="0">
                <a:solidFill>
                  <a:srgbClr val="000000"/>
                </a:solidFill>
                <a:effectLst/>
                <a:latin typeface="华文楷体" panose="02010600040101010101" pitchFamily="2" charset="-122"/>
                <a:ea typeface="华文楷体" panose="02010600040101010101" pitchFamily="2" charset="-122"/>
              </a:rPr>
              <a:t>x,y=</a:t>
            </a:r>
            <a:r>
              <a:rPr lang="en-US" altLang="zh-CN" sz="2000" b="0" dirty="0">
                <a:solidFill>
                  <a:srgbClr val="795E26"/>
                </a:solidFill>
                <a:effectLst/>
                <a:latin typeface="华文楷体" panose="02010600040101010101" pitchFamily="2" charset="-122"/>
                <a:ea typeface="华文楷体" panose="02010600040101010101" pitchFamily="2" charset="-122"/>
              </a:rPr>
              <a:t>meshgrid2</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2</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0.1</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2</a:t>
            </a:r>
            <a:r>
              <a:rPr lang="en-US" altLang="zh-CN" sz="2000" b="0" dirty="0">
                <a:solidFill>
                  <a:srgbClr val="000000"/>
                </a:solidFill>
                <a:effectLst/>
                <a:latin typeface="华文楷体" panose="02010600040101010101" pitchFamily="2" charset="-122"/>
                <a:ea typeface="华文楷体" panose="02010600040101010101" pitchFamily="2" charset="-122"/>
              </a:rPr>
              <a:t>); </a:t>
            </a:r>
          </a:p>
          <a:p>
            <a:pPr>
              <a:lnSpc>
                <a:spcPts val="2300"/>
              </a:lnSpc>
            </a:pPr>
            <a:r>
              <a:rPr lang="en-US" altLang="zh-CN" sz="2000" b="0" dirty="0">
                <a:solidFill>
                  <a:srgbClr val="008000"/>
                </a:solidFill>
                <a:effectLst/>
                <a:latin typeface="华文楷体" panose="02010600040101010101" pitchFamily="2" charset="-122"/>
                <a:ea typeface="华文楷体" panose="02010600040101010101" pitchFamily="2" charset="-122"/>
              </a:rPr>
              <a:t>#</a:t>
            </a:r>
            <a:r>
              <a:rPr lang="zh-CN" altLang="en-US" sz="2000" b="0" dirty="0">
                <a:solidFill>
                  <a:srgbClr val="008000"/>
                </a:solidFill>
                <a:effectLst/>
                <a:latin typeface="华文楷体" panose="02010600040101010101" pitchFamily="2" charset="-122"/>
                <a:ea typeface="华文楷体" panose="02010600040101010101" pitchFamily="2" charset="-122"/>
              </a:rPr>
              <a:t>计算出</a:t>
            </a:r>
            <a:r>
              <a:rPr lang="en-US" altLang="zh-CN" sz="2000" b="0" dirty="0" err="1">
                <a:solidFill>
                  <a:srgbClr val="008000"/>
                </a:solidFill>
                <a:effectLst/>
                <a:latin typeface="华文楷体" panose="02010600040101010101" pitchFamily="2" charset="-122"/>
                <a:ea typeface="华文楷体" panose="02010600040101010101" pitchFamily="2" charset="-122"/>
              </a:rPr>
              <a:t>zz</a:t>
            </a:r>
            <a:r>
              <a:rPr lang="zh-CN" altLang="en-US" sz="2000" b="0" dirty="0">
                <a:solidFill>
                  <a:srgbClr val="008000"/>
                </a:solidFill>
                <a:effectLst/>
                <a:latin typeface="华文楷体" panose="02010600040101010101" pitchFamily="2" charset="-122"/>
                <a:ea typeface="华文楷体" panose="02010600040101010101" pitchFamily="2" charset="-122"/>
              </a:rPr>
              <a:t>的高度网格矩阵</a:t>
            </a:r>
            <a:endParaRPr lang="en-US" altLang="zh-CN" sz="2000" b="0" dirty="0">
              <a:solidFill>
                <a:srgbClr val="008000"/>
              </a:solidFill>
              <a:effectLst/>
              <a:latin typeface="华文楷体" panose="02010600040101010101" pitchFamily="2" charset="-122"/>
              <a:ea typeface="华文楷体" panose="02010600040101010101" pitchFamily="2" charset="-122"/>
            </a:endParaRPr>
          </a:p>
          <a:p>
            <a:pPr>
              <a:lnSpc>
                <a:spcPts val="2300"/>
              </a:lnSpc>
            </a:pPr>
            <a:r>
              <a:rPr lang="es-ES" altLang="zh-CN" sz="2000" b="0" dirty="0">
                <a:solidFill>
                  <a:srgbClr val="008000"/>
                </a:solidFill>
                <a:effectLst/>
                <a:latin typeface="华文楷体" panose="02010600040101010101" pitchFamily="2" charset="-122"/>
                <a:ea typeface="华文楷体" panose="02010600040101010101" pitchFamily="2" charset="-122"/>
              </a:rPr>
              <a:t>f(x,y)=100(y-x^2)^2+(1-x)^2;</a:t>
            </a:r>
            <a:endParaRPr lang="es-ES" altLang="zh-CN" sz="2000" b="0" dirty="0">
              <a:solidFill>
                <a:srgbClr val="000000"/>
              </a:solidFill>
              <a:effectLst/>
              <a:latin typeface="华文楷体" panose="02010600040101010101" pitchFamily="2" charset="-122"/>
              <a:ea typeface="华文楷体" panose="02010600040101010101" pitchFamily="2" charset="-122"/>
            </a:endParaRPr>
          </a:p>
          <a:p>
            <a:pPr>
              <a:lnSpc>
                <a:spcPts val="2300"/>
              </a:lnSpc>
            </a:pPr>
            <a:r>
              <a:rPr lang="es-ES" altLang="zh-CN" sz="2000" b="0" dirty="0">
                <a:solidFill>
                  <a:srgbClr val="008000"/>
                </a:solidFill>
                <a:effectLst/>
                <a:latin typeface="华文楷体" panose="02010600040101010101" pitchFamily="2" charset="-122"/>
                <a:ea typeface="华文楷体" panose="02010600040101010101" pitchFamily="2" charset="-122"/>
              </a:rPr>
              <a:t>z=f.(x,y)</a:t>
            </a:r>
            <a:endParaRPr lang="zh-CN" altLang="en-US" sz="2000" b="0" dirty="0">
              <a:solidFill>
                <a:srgbClr val="000000"/>
              </a:solidFill>
              <a:effectLst/>
              <a:latin typeface="华文楷体" panose="02010600040101010101" pitchFamily="2" charset="-122"/>
              <a:ea typeface="华文楷体" panose="02010600040101010101" pitchFamily="2" charset="-122"/>
            </a:endParaRPr>
          </a:p>
          <a:p>
            <a:pPr>
              <a:lnSpc>
                <a:spcPts val="2300"/>
              </a:lnSpc>
            </a:pPr>
            <a:r>
              <a:rPr lang="es-ES" altLang="zh-CN" sz="2000" dirty="0">
                <a:solidFill>
                  <a:srgbClr val="008000"/>
                </a:solidFill>
                <a:latin typeface="华文楷体" panose="02010600040101010101" pitchFamily="2" charset="-122"/>
                <a:ea typeface="华文楷体" panose="02010600040101010101" pitchFamily="2" charset="-122"/>
              </a:rPr>
              <a:t>#</a:t>
            </a:r>
            <a:r>
              <a:rPr lang="en-US" altLang="zh-CN" sz="2000" b="0" dirty="0">
                <a:solidFill>
                  <a:srgbClr val="000000"/>
                </a:solidFill>
                <a:effectLst/>
                <a:latin typeface="华文楷体" panose="02010600040101010101" pitchFamily="2" charset="-122"/>
                <a:ea typeface="华文楷体" panose="02010600040101010101" pitchFamily="2" charset="-122"/>
              </a:rPr>
              <a:t>z=</a:t>
            </a:r>
            <a:r>
              <a:rPr lang="en-US" altLang="zh-CN" sz="2000" b="0" dirty="0">
                <a:solidFill>
                  <a:srgbClr val="098658"/>
                </a:solidFill>
                <a:effectLst/>
                <a:latin typeface="华文楷体" panose="02010600040101010101" pitchFamily="2" charset="-122"/>
                <a:ea typeface="华文楷体" panose="02010600040101010101" pitchFamily="2" charset="-122"/>
              </a:rPr>
              <a:t>100</a:t>
            </a:r>
            <a:r>
              <a:rPr lang="en-US" altLang="zh-CN" sz="2000" b="0" dirty="0">
                <a:solidFill>
                  <a:srgbClr val="000000"/>
                </a:solidFill>
                <a:effectLst/>
                <a:latin typeface="华文楷体" panose="02010600040101010101" pitchFamily="2" charset="-122"/>
                <a:ea typeface="华文楷体" panose="02010600040101010101" pitchFamily="2" charset="-122"/>
              </a:rPr>
              <a:t>(y.-x.^</a:t>
            </a:r>
            <a:r>
              <a:rPr lang="en-US" altLang="zh-CN" sz="2000" b="0" dirty="0">
                <a:solidFill>
                  <a:srgbClr val="098658"/>
                </a:solidFill>
                <a:effectLst/>
                <a:latin typeface="华文楷体" panose="02010600040101010101" pitchFamily="2" charset="-122"/>
                <a:ea typeface="华文楷体" panose="02010600040101010101" pitchFamily="2" charset="-122"/>
              </a:rPr>
              <a:t>2</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2</a:t>
            </a:r>
            <a:r>
              <a:rPr lang="en-US" altLang="zh-CN" sz="2000" b="0" dirty="0">
                <a:solidFill>
                  <a:srgbClr val="000000"/>
                </a:solidFill>
                <a:effectLst/>
                <a:latin typeface="华文楷体" panose="02010600040101010101" pitchFamily="2" charset="-122"/>
                <a:ea typeface="华文楷体" panose="02010600040101010101" pitchFamily="2" charset="-122"/>
              </a:rPr>
              <a:t> .+ (</a:t>
            </a:r>
            <a:r>
              <a:rPr lang="en-US" altLang="zh-CN" sz="2000" b="0" dirty="0">
                <a:solidFill>
                  <a:srgbClr val="098658"/>
                </a:solidFill>
                <a:effectLst/>
                <a:latin typeface="华文楷体" panose="02010600040101010101" pitchFamily="2" charset="-122"/>
                <a:ea typeface="华文楷体" panose="02010600040101010101" pitchFamily="2" charset="-122"/>
              </a:rPr>
              <a:t>1</a:t>
            </a:r>
            <a:r>
              <a:rPr lang="en-US" altLang="zh-CN" sz="2000" b="0" dirty="0">
                <a:solidFill>
                  <a:srgbClr val="000000"/>
                </a:solidFill>
                <a:effectLst/>
                <a:latin typeface="华文楷体" panose="02010600040101010101" pitchFamily="2" charset="-122"/>
                <a:ea typeface="华文楷体" panose="02010600040101010101" pitchFamily="2" charset="-122"/>
              </a:rPr>
              <a:t> .- x).^ </a:t>
            </a:r>
            <a:r>
              <a:rPr lang="en-US" altLang="zh-CN" sz="2000" b="0" dirty="0">
                <a:solidFill>
                  <a:srgbClr val="098658"/>
                </a:solidFill>
                <a:effectLst/>
                <a:latin typeface="华文楷体" panose="02010600040101010101" pitchFamily="2" charset="-122"/>
                <a:ea typeface="华文楷体" panose="02010600040101010101" pitchFamily="2" charset="-122"/>
              </a:rPr>
              <a:t>2</a:t>
            </a:r>
            <a:r>
              <a:rPr lang="en-US" altLang="zh-CN" sz="2000" b="0" dirty="0">
                <a:solidFill>
                  <a:srgbClr val="000000"/>
                </a:solidFill>
                <a:effectLst/>
                <a:latin typeface="华文楷体" panose="02010600040101010101" pitchFamily="2" charset="-122"/>
                <a:ea typeface="华文楷体" panose="02010600040101010101" pitchFamily="2" charset="-122"/>
              </a:rPr>
              <a:t>;</a:t>
            </a:r>
          </a:p>
          <a:p>
            <a:pPr>
              <a:lnSpc>
                <a:spcPts val="2300"/>
              </a:lnSpc>
            </a:pPr>
            <a:r>
              <a:rPr lang="en-US" altLang="zh-CN" sz="2000" b="0" dirty="0">
                <a:solidFill>
                  <a:srgbClr val="795E26"/>
                </a:solidFill>
                <a:effectLst/>
                <a:latin typeface="华文楷体" panose="02010600040101010101" pitchFamily="2" charset="-122"/>
                <a:ea typeface="华文楷体" panose="02010600040101010101" pitchFamily="2" charset="-122"/>
              </a:rPr>
              <a:t>surf</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err="1">
                <a:solidFill>
                  <a:srgbClr val="000000"/>
                </a:solidFill>
                <a:effectLst/>
                <a:latin typeface="华文楷体" panose="02010600040101010101" pitchFamily="2" charset="-122"/>
                <a:ea typeface="华文楷体" panose="02010600040101010101" pitchFamily="2" charset="-122"/>
              </a:rPr>
              <a:t>x,y,z</a:t>
            </a:r>
            <a:r>
              <a:rPr lang="en-US" altLang="zh-CN" sz="2000" b="0" dirty="0">
                <a:solidFill>
                  <a:srgbClr val="000000"/>
                </a:solidFill>
                <a:effectLst/>
                <a:latin typeface="华文楷体" panose="02010600040101010101" pitchFamily="2" charset="-122"/>
                <a:ea typeface="华文楷体" panose="02010600040101010101" pitchFamily="2" charset="-122"/>
              </a:rPr>
              <a:t>)  </a:t>
            </a:r>
            <a:r>
              <a:rPr lang="en-US" altLang="zh-CN" sz="2000" b="0" dirty="0">
                <a:solidFill>
                  <a:srgbClr val="008000"/>
                </a:solidFill>
                <a:effectLst/>
                <a:latin typeface="华文楷体" panose="02010600040101010101" pitchFamily="2" charset="-122"/>
                <a:ea typeface="华文楷体" panose="02010600040101010101" pitchFamily="2" charset="-122"/>
              </a:rPr>
              <a:t>#</a:t>
            </a:r>
            <a:r>
              <a:rPr lang="zh-CN" altLang="en-US" sz="2000" b="0" dirty="0">
                <a:solidFill>
                  <a:srgbClr val="008000"/>
                </a:solidFill>
                <a:effectLst/>
                <a:latin typeface="华文楷体" panose="02010600040101010101" pitchFamily="2" charset="-122"/>
                <a:ea typeface="华文楷体" panose="02010600040101010101" pitchFamily="2" charset="-122"/>
              </a:rPr>
              <a:t>曲面图</a:t>
            </a:r>
            <a:endParaRPr lang="en-US" altLang="zh-CN" sz="2000" b="0" dirty="0">
              <a:solidFill>
                <a:srgbClr val="008000"/>
              </a:solidFill>
              <a:effectLst/>
              <a:latin typeface="华文楷体" panose="02010600040101010101" pitchFamily="2" charset="-122"/>
              <a:ea typeface="华文楷体" panose="02010600040101010101" pitchFamily="2" charset="-122"/>
            </a:endParaRPr>
          </a:p>
          <a:p>
            <a:pPr>
              <a:lnSpc>
                <a:spcPts val="2300"/>
              </a:lnSpc>
            </a:pPr>
            <a:r>
              <a:rPr lang="en-US" altLang="zh-CN" sz="2000" b="0" dirty="0">
                <a:solidFill>
                  <a:srgbClr val="000000"/>
                </a:solidFill>
                <a:effectLst/>
                <a:latin typeface="华文楷体" panose="02010600040101010101" pitchFamily="2" charset="-122"/>
                <a:ea typeface="华文楷体" panose="02010600040101010101" pitchFamily="2" charset="-122"/>
              </a:rPr>
              <a:t>as=</a:t>
            </a:r>
            <a:r>
              <a:rPr lang="en-US" altLang="zh-CN" sz="2000" b="0" dirty="0" err="1">
                <a:solidFill>
                  <a:srgbClr val="000000"/>
                </a:solidFill>
                <a:effectLst/>
                <a:latin typeface="华文楷体" panose="02010600040101010101" pitchFamily="2" charset="-122"/>
                <a:ea typeface="华文楷体" panose="02010600040101010101" pitchFamily="2" charset="-122"/>
              </a:rPr>
              <a:t>gca</a:t>
            </a:r>
            <a:r>
              <a:rPr lang="en-US" altLang="zh-CN" sz="2000" b="0" dirty="0">
                <a:solidFill>
                  <a:srgbClr val="000000"/>
                </a:solidFill>
                <a:effectLst/>
                <a:latin typeface="华文楷体" panose="02010600040101010101" pitchFamily="2" charset="-122"/>
                <a:ea typeface="华文楷体" panose="02010600040101010101" pitchFamily="2" charset="-122"/>
              </a:rPr>
              <a:t>()</a:t>
            </a:r>
            <a:endParaRPr lang="zh-CN" altLang="en-US" sz="2000" b="0" dirty="0">
              <a:solidFill>
                <a:srgbClr val="000000"/>
              </a:solidFill>
              <a:effectLst/>
              <a:latin typeface="华文楷体" panose="02010600040101010101" pitchFamily="2" charset="-122"/>
              <a:ea typeface="华文楷体" panose="02010600040101010101" pitchFamily="2" charset="-122"/>
            </a:endParaRPr>
          </a:p>
          <a:p>
            <a:pPr>
              <a:lnSpc>
                <a:spcPts val="2300"/>
              </a:lnSpc>
            </a:pPr>
            <a:r>
              <a:rPr lang="en-US" altLang="zh-CN" sz="2000" b="0" dirty="0">
                <a:solidFill>
                  <a:srgbClr val="795E26"/>
                </a:solidFill>
                <a:effectLst/>
                <a:latin typeface="华文楷体" panose="02010600040101010101" pitchFamily="2" charset="-122"/>
                <a:ea typeface="华文楷体" panose="02010600040101010101" pitchFamily="2" charset="-122"/>
              </a:rPr>
              <a:t>figure</a:t>
            </a:r>
            <a:r>
              <a:rPr lang="en-US" altLang="zh-CN" sz="2000" b="0" dirty="0">
                <a:solidFill>
                  <a:srgbClr val="000000"/>
                </a:solidFill>
                <a:effectLst/>
                <a:latin typeface="华文楷体" panose="02010600040101010101" pitchFamily="2" charset="-122"/>
                <a:ea typeface="华文楷体" panose="02010600040101010101" pitchFamily="2" charset="-122"/>
              </a:rPr>
              <a:t>()  </a:t>
            </a:r>
            <a:r>
              <a:rPr lang="en-US" altLang="zh-CN" sz="2000" b="0" dirty="0">
                <a:solidFill>
                  <a:srgbClr val="008000"/>
                </a:solidFill>
                <a:effectLst/>
                <a:latin typeface="华文楷体" panose="02010600040101010101" pitchFamily="2" charset="-122"/>
                <a:ea typeface="华文楷体" panose="02010600040101010101" pitchFamily="2" charset="-122"/>
              </a:rPr>
              <a:t>#</a:t>
            </a:r>
            <a:r>
              <a:rPr lang="zh-CN" altLang="en-US" sz="2000" b="0" dirty="0">
                <a:solidFill>
                  <a:srgbClr val="008000"/>
                </a:solidFill>
                <a:effectLst/>
                <a:latin typeface="华文楷体" panose="02010600040101010101" pitchFamily="2" charset="-122"/>
                <a:ea typeface="华文楷体" panose="02010600040101010101" pitchFamily="2" charset="-122"/>
              </a:rPr>
              <a:t>打开新图窗</a:t>
            </a:r>
            <a:endParaRPr lang="zh-CN" altLang="en-US" sz="2000" b="0" dirty="0">
              <a:solidFill>
                <a:srgbClr val="000000"/>
              </a:solidFill>
              <a:effectLst/>
              <a:latin typeface="华文楷体" panose="02010600040101010101" pitchFamily="2" charset="-122"/>
              <a:ea typeface="华文楷体" panose="02010600040101010101" pitchFamily="2" charset="-122"/>
            </a:endParaRPr>
          </a:p>
          <a:p>
            <a:pPr>
              <a:lnSpc>
                <a:spcPts val="2300"/>
              </a:lnSpc>
            </a:pPr>
            <a:r>
              <a:rPr lang="en-US" altLang="zh-CN" sz="2000" b="0" dirty="0">
                <a:solidFill>
                  <a:srgbClr val="000000"/>
                </a:solidFill>
                <a:effectLst/>
                <a:latin typeface="华文楷体" panose="02010600040101010101" pitchFamily="2" charset="-122"/>
                <a:ea typeface="华文楷体" panose="02010600040101010101" pitchFamily="2" charset="-122"/>
              </a:rPr>
              <a:t>c=</a:t>
            </a:r>
            <a:r>
              <a:rPr lang="en-US" altLang="zh-CN" sz="2000" b="0" dirty="0">
                <a:solidFill>
                  <a:srgbClr val="795E26"/>
                </a:solidFill>
                <a:effectLst/>
                <a:latin typeface="华文楷体" panose="02010600040101010101" pitchFamily="2" charset="-122"/>
                <a:ea typeface="华文楷体" panose="02010600040101010101" pitchFamily="2" charset="-122"/>
              </a:rPr>
              <a:t>contour</a:t>
            </a:r>
            <a:r>
              <a:rPr lang="en-US" altLang="zh-CN" sz="2000" b="0" dirty="0">
                <a:solidFill>
                  <a:srgbClr val="000000"/>
                </a:solidFill>
                <a:effectLst/>
                <a:latin typeface="华文楷体" panose="02010600040101010101" pitchFamily="2" charset="-122"/>
                <a:ea typeface="华文楷体" panose="02010600040101010101" pitchFamily="2" charset="-122"/>
              </a:rPr>
              <a:t>(x,y,z,</a:t>
            </a:r>
            <a:r>
              <a:rPr lang="en-US" altLang="zh-CN" sz="2000" b="0" dirty="0">
                <a:solidFill>
                  <a:srgbClr val="098658"/>
                </a:solidFill>
                <a:effectLst/>
                <a:latin typeface="华文楷体" panose="02010600040101010101" pitchFamily="2" charset="-122"/>
                <a:ea typeface="华文楷体" panose="02010600040101010101" pitchFamily="2" charset="-122"/>
              </a:rPr>
              <a:t>200</a:t>
            </a:r>
            <a:r>
              <a:rPr lang="en-US" altLang="zh-CN" sz="2000" b="0" dirty="0">
                <a:solidFill>
                  <a:srgbClr val="000000"/>
                </a:solidFill>
                <a:effectLst/>
                <a:latin typeface="华文楷体" panose="02010600040101010101" pitchFamily="2" charset="-122"/>
                <a:ea typeface="华文楷体" panose="02010600040101010101" pitchFamily="2" charset="-122"/>
              </a:rPr>
              <a:t>) </a:t>
            </a:r>
            <a:r>
              <a:rPr lang="en-US" altLang="zh-CN" sz="2000" b="0" dirty="0">
                <a:solidFill>
                  <a:srgbClr val="008000"/>
                </a:solidFill>
                <a:effectLst/>
                <a:latin typeface="华文楷体" panose="02010600040101010101" pitchFamily="2" charset="-122"/>
                <a:ea typeface="华文楷体" panose="02010600040101010101" pitchFamily="2" charset="-122"/>
              </a:rPr>
              <a:t>#200</a:t>
            </a:r>
            <a:r>
              <a:rPr lang="zh-CN" altLang="en-US" sz="2000" b="0" dirty="0">
                <a:solidFill>
                  <a:srgbClr val="008000"/>
                </a:solidFill>
                <a:effectLst/>
                <a:latin typeface="华文楷体" panose="02010600040101010101" pitchFamily="2" charset="-122"/>
                <a:ea typeface="华文楷体" panose="02010600040101010101" pitchFamily="2" charset="-122"/>
              </a:rPr>
              <a:t>条等高线</a:t>
            </a:r>
            <a:endParaRPr lang="zh-CN" altLang="en-US" sz="2000" b="0" dirty="0">
              <a:solidFill>
                <a:srgbClr val="000000"/>
              </a:solidFill>
              <a:effectLst/>
              <a:latin typeface="华文楷体" panose="02010600040101010101" pitchFamily="2" charset="-122"/>
              <a:ea typeface="华文楷体" panose="02010600040101010101" pitchFamily="2" charset="-122"/>
            </a:endParaRPr>
          </a:p>
          <a:p>
            <a:pPr>
              <a:lnSpc>
                <a:spcPts val="2300"/>
              </a:lnSpc>
            </a:pPr>
            <a:r>
              <a:rPr lang="en-US" altLang="zh-CN" sz="2000" b="0" dirty="0" err="1">
                <a:solidFill>
                  <a:srgbClr val="795E26"/>
                </a:solidFill>
                <a:effectLst/>
                <a:latin typeface="华文楷体" panose="02010600040101010101" pitchFamily="2" charset="-122"/>
                <a:ea typeface="华文楷体" panose="02010600040101010101" pitchFamily="2" charset="-122"/>
              </a:rPr>
              <a:t>clabel</a:t>
            </a:r>
            <a:r>
              <a:rPr lang="en-US" altLang="zh-CN" sz="2000" b="0" dirty="0">
                <a:solidFill>
                  <a:srgbClr val="000000"/>
                </a:solidFill>
                <a:effectLst/>
                <a:latin typeface="华文楷体" panose="02010600040101010101" pitchFamily="2" charset="-122"/>
                <a:ea typeface="华文楷体" panose="02010600040101010101" pitchFamily="2" charset="-122"/>
              </a:rPr>
              <a:t>(c)  </a:t>
            </a:r>
            <a:r>
              <a:rPr lang="en-US" altLang="zh-CN" sz="2000" b="0" dirty="0">
                <a:solidFill>
                  <a:srgbClr val="008000"/>
                </a:solidFill>
                <a:effectLst/>
                <a:latin typeface="华文楷体" panose="02010600040101010101" pitchFamily="2" charset="-122"/>
                <a:ea typeface="华文楷体" panose="02010600040101010101" pitchFamily="2" charset="-122"/>
              </a:rPr>
              <a:t>#</a:t>
            </a:r>
            <a:r>
              <a:rPr lang="zh-CN" altLang="en-US" sz="2000" b="0" dirty="0">
                <a:solidFill>
                  <a:srgbClr val="008000"/>
                </a:solidFill>
                <a:effectLst/>
                <a:latin typeface="华文楷体" panose="02010600040101010101" pitchFamily="2" charset="-122"/>
                <a:ea typeface="华文楷体" panose="02010600040101010101" pitchFamily="2" charset="-122"/>
              </a:rPr>
              <a:t>标注等高线</a:t>
            </a:r>
            <a:endParaRPr lang="zh-CN" altLang="en-US" sz="2000" b="0" dirty="0">
              <a:solidFill>
                <a:srgbClr val="000000"/>
              </a:solidFill>
              <a:effectLst/>
              <a:latin typeface="华文楷体" panose="02010600040101010101" pitchFamily="2" charset="-122"/>
              <a:ea typeface="华文楷体" panose="02010600040101010101" pitchFamily="2" charset="-122"/>
            </a:endParaRPr>
          </a:p>
        </p:txBody>
      </p:sp>
      <p:cxnSp>
        <p:nvCxnSpPr>
          <p:cNvPr id="20" name="直接连接符 19">
            <a:extLst>
              <a:ext uri="{FF2B5EF4-FFF2-40B4-BE49-F238E27FC236}">
                <a16:creationId xmlns:a16="http://schemas.microsoft.com/office/drawing/2014/main" id="{38B9F9D2-E5DF-4594-BB19-C46FE4CACBBD}"/>
              </a:ext>
            </a:extLst>
          </p:cNvPr>
          <p:cNvCxnSpPr>
            <a:cxnSpLocks/>
          </p:cNvCxnSpPr>
          <p:nvPr/>
        </p:nvCxnSpPr>
        <p:spPr bwMode="auto">
          <a:xfrm>
            <a:off x="5780826" y="3430739"/>
            <a:ext cx="1940685" cy="0"/>
          </a:xfrm>
          <a:prstGeom prst="line">
            <a:avLst/>
          </a:prstGeom>
          <a:noFill/>
          <a:ln w="38100" cap="flat" cmpd="sng" algn="ctr">
            <a:solidFill>
              <a:srgbClr val="FF0000"/>
            </a:solidFill>
            <a:prstDash val="sysDash"/>
            <a:round/>
            <a:headEnd type="none" w="med" len="med"/>
            <a:tailEnd type="none" w="med" len="med"/>
          </a:ln>
          <a:effectLst/>
        </p:spPr>
      </p:cxnSp>
      <p:sp>
        <p:nvSpPr>
          <p:cNvPr id="24" name="文本框 23">
            <a:extLst>
              <a:ext uri="{FF2B5EF4-FFF2-40B4-BE49-F238E27FC236}">
                <a16:creationId xmlns:a16="http://schemas.microsoft.com/office/drawing/2014/main" id="{ABC41477-FE50-49CA-8CAD-1427E1F06F64}"/>
              </a:ext>
            </a:extLst>
          </p:cNvPr>
          <p:cNvSpPr txBox="1"/>
          <p:nvPr/>
        </p:nvSpPr>
        <p:spPr>
          <a:xfrm>
            <a:off x="6684933" y="3061308"/>
            <a:ext cx="1621837" cy="338554"/>
          </a:xfrm>
          <a:prstGeom prst="rect">
            <a:avLst/>
          </a:prstGeom>
          <a:noFill/>
        </p:spPr>
        <p:txBody>
          <a:bodyPr wrap="square">
            <a:spAutoFit/>
          </a:bodyPr>
          <a:lstStyle/>
          <a:p>
            <a:r>
              <a:rPr lang="zh-CN" altLang="en-US" sz="1600" b="0" i="0" dirty="0">
                <a:solidFill>
                  <a:srgbClr val="2C3E50"/>
                </a:solidFill>
                <a:effectLst/>
                <a:highlight>
                  <a:srgbClr val="FFFF00"/>
                </a:highlight>
                <a:latin typeface="华文楷体" panose="02010600040101010101" pitchFamily="2" charset="-122"/>
                <a:ea typeface="华文楷体" panose="02010600040101010101" pitchFamily="2" charset="-122"/>
              </a:rPr>
              <a:t>初始猜测值</a:t>
            </a:r>
            <a:r>
              <a:rPr lang="en-US" altLang="zh-CN" sz="1600" b="0" i="0" dirty="0">
                <a:solidFill>
                  <a:srgbClr val="2C3E50"/>
                </a:solidFill>
                <a:effectLst/>
                <a:highlight>
                  <a:srgbClr val="FFFF00"/>
                </a:highlight>
                <a:latin typeface="华文楷体" panose="02010600040101010101" pitchFamily="2" charset="-122"/>
                <a:ea typeface="华文楷体" panose="02010600040101010101" pitchFamily="2" charset="-122"/>
              </a:rPr>
              <a:t>(0,0)</a:t>
            </a:r>
            <a:endParaRPr lang="zh-CN" altLang="en-US" sz="1600" dirty="0">
              <a:highlight>
                <a:srgbClr val="FFFF00"/>
              </a:highlight>
              <a:latin typeface="华文楷体" panose="02010600040101010101" pitchFamily="2" charset="-122"/>
              <a:ea typeface="华文楷体" panose="02010600040101010101" pitchFamily="2" charset="-122"/>
            </a:endParaRPr>
          </a:p>
        </p:txBody>
      </p:sp>
      <p:sp>
        <p:nvSpPr>
          <p:cNvPr id="14" name="波形 13">
            <a:extLst>
              <a:ext uri="{FF2B5EF4-FFF2-40B4-BE49-F238E27FC236}">
                <a16:creationId xmlns:a16="http://schemas.microsoft.com/office/drawing/2014/main" id="{2B2B09E1-35B6-4086-B9DC-C7E424B967E4}"/>
              </a:ext>
            </a:extLst>
          </p:cNvPr>
          <p:cNvSpPr/>
          <p:nvPr/>
        </p:nvSpPr>
        <p:spPr>
          <a:xfrm>
            <a:off x="322426" y="690514"/>
            <a:ext cx="1153229" cy="276999"/>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r" eaLnBrk="0" fontAlgn="auto">
              <a:lnSpc>
                <a:spcPct val="140000"/>
              </a:lnSpc>
              <a:spcBef>
                <a:spcPts val="0"/>
              </a:spcBef>
              <a:spcAft>
                <a:spcPts val="0"/>
              </a:spcAft>
            </a:pPr>
            <a:r>
              <a:rPr lang="en-US" altLang="ko-KR" b="1" dirty="0">
                <a:solidFill>
                  <a:srgbClr val="FFFF00"/>
                </a:solidFill>
                <a:latin typeface="微软雅黑" panose="020B0503020204020204" charset="-122"/>
                <a:ea typeface="微软雅黑" panose="020B0503020204020204" charset="-122"/>
              </a:rPr>
              <a:t>例84-4</a:t>
            </a:r>
            <a:endParaRPr lang="ko-KR" altLang="en-US" b="1" dirty="0">
              <a:solidFill>
                <a:srgbClr val="FFFF00"/>
              </a:solidFill>
              <a:latin typeface="微软雅黑" panose="020B0503020204020204" charset="-122"/>
              <a:ea typeface="微软雅黑" panose="020B0503020204020204" charset="-122"/>
            </a:endParaRPr>
          </a:p>
        </p:txBody>
      </p:sp>
      <p:sp>
        <p:nvSpPr>
          <p:cNvPr id="12" name="文本框 11">
            <a:extLst>
              <a:ext uri="{FF2B5EF4-FFF2-40B4-BE49-F238E27FC236}">
                <a16:creationId xmlns:a16="http://schemas.microsoft.com/office/drawing/2014/main" id="{28605354-FB77-44E3-B901-1807F9F7F4E7}"/>
              </a:ext>
            </a:extLst>
          </p:cNvPr>
          <p:cNvSpPr txBox="1"/>
          <p:nvPr/>
        </p:nvSpPr>
        <p:spPr>
          <a:xfrm>
            <a:off x="6300192" y="1875921"/>
            <a:ext cx="2436330" cy="341632"/>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algn="r"/>
            <a:r>
              <a:rPr lang="zh-CN" altLang="zh-CN" sz="1800" b="0" dirty="0">
                <a:effectLst/>
                <a:highlight>
                  <a:srgbClr val="3399FF"/>
                </a:highlight>
                <a:latin typeface="Times New Roman" panose="02020603050405020304" pitchFamily="18" charset="0"/>
                <a:ea typeface="source-code-pro"/>
                <a:cs typeface="Times New Roman" panose="02020603050405020304" pitchFamily="18" charset="0"/>
              </a:rPr>
              <a:t>x,fval</a:t>
            </a:r>
            <a:r>
              <a:rPr lang="en-US" altLang="zh-CN" sz="1800" b="0" dirty="0">
                <a:highlight>
                  <a:srgbClr val="3399FF"/>
                </a:highlight>
                <a:latin typeface="Times New Roman" panose="02020603050405020304" pitchFamily="18" charset="0"/>
                <a:cs typeface="Times New Roman" panose="02020603050405020304" pitchFamily="18" charset="0"/>
              </a:rPr>
              <a:t>= </a:t>
            </a:r>
            <a:r>
              <a:rPr lang="en-US" altLang="zh-CN" sz="1800" b="0" dirty="0" err="1">
                <a:highlight>
                  <a:srgbClr val="3399FF"/>
                </a:highlight>
                <a:latin typeface="Times New Roman" panose="02020603050405020304" pitchFamily="18" charset="0"/>
                <a:cs typeface="Times New Roman" panose="02020603050405020304" pitchFamily="18" charset="0"/>
              </a:rPr>
              <a:t>fminunc</a:t>
            </a:r>
            <a:r>
              <a:rPr lang="en-US" altLang="zh-CN" sz="1800" b="0" dirty="0">
                <a:highlight>
                  <a:srgbClr val="3399FF"/>
                </a:highlight>
                <a:latin typeface="Times New Roman" panose="02020603050405020304" pitchFamily="18" charset="0"/>
                <a:cs typeface="Times New Roman" panose="02020603050405020304" pitchFamily="18" charset="0"/>
              </a:rPr>
              <a:t>(fun, x0)</a:t>
            </a:r>
            <a:endParaRPr lang="ko-KR" altLang="en-US" sz="1800" b="0" dirty="0">
              <a:highlight>
                <a:srgbClr val="3399FF"/>
              </a:highlight>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6BA7758F-7792-4943-9396-3DD7C38061BB}"/>
              </a:ext>
            </a:extLst>
          </p:cNvPr>
          <p:cNvSpPr txBox="1"/>
          <p:nvPr/>
        </p:nvSpPr>
        <p:spPr>
          <a:xfrm>
            <a:off x="6241519" y="1362222"/>
            <a:ext cx="2505376" cy="343620"/>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algn="r"/>
            <a:r>
              <a:rPr lang="zh-CN" altLang="zh-CN" sz="1800" b="0" dirty="0">
                <a:highlight>
                  <a:srgbClr val="3399FF"/>
                </a:highlight>
                <a:latin typeface="华文楷体" panose="02010600040101010101" pitchFamily="2" charset="-122"/>
                <a:ea typeface="华文楷体" panose="02010600040101010101" pitchFamily="2" charset="-122"/>
              </a:rPr>
              <a:t>x,fval</a:t>
            </a:r>
            <a:r>
              <a:rPr lang="en-US" altLang="zh-CN" sz="1800" b="0" dirty="0">
                <a:highlight>
                  <a:srgbClr val="3399FF"/>
                </a:highlight>
                <a:latin typeface="华文楷体" panose="02010600040101010101" pitchFamily="2" charset="-122"/>
                <a:ea typeface="华文楷体" panose="02010600040101010101" pitchFamily="2" charset="-122"/>
                <a:cs typeface="Times New Roman" panose="02020603050405020304" pitchFamily="18" charset="0"/>
              </a:rPr>
              <a:t>=</a:t>
            </a:r>
            <a:r>
              <a:rPr lang="en-US" altLang="ko-KR" sz="1800" b="0" dirty="0">
                <a:highlight>
                  <a:srgbClr val="3399FF"/>
                </a:highlight>
                <a:latin typeface="华文楷体" panose="02010600040101010101" pitchFamily="2" charset="-122"/>
                <a:ea typeface="华文楷体" panose="02010600040101010101" pitchFamily="2" charset="-122"/>
                <a:cs typeface="Times New Roman" panose="02020603050405020304" pitchFamily="18" charset="0"/>
              </a:rPr>
              <a:t>fminsearch(fun,</a:t>
            </a:r>
            <a:r>
              <a:rPr lang="en-US" altLang="zh-CN" sz="1800" b="0" dirty="0">
                <a:highlight>
                  <a:srgbClr val="3399FF"/>
                </a:highlight>
                <a:latin typeface="华文楷体" panose="02010600040101010101" pitchFamily="2" charset="-122"/>
                <a:ea typeface="华文楷体" panose="02010600040101010101" pitchFamily="2" charset="-122"/>
                <a:cs typeface="Times New Roman" panose="02020603050405020304" pitchFamily="18" charset="0"/>
              </a:rPr>
              <a:t>x0</a:t>
            </a:r>
            <a:r>
              <a:rPr lang="en-US" altLang="ko-KR" sz="1800" b="0" dirty="0">
                <a:highlight>
                  <a:srgbClr val="3399FF"/>
                </a:highlight>
                <a:latin typeface="华文楷体" panose="02010600040101010101" pitchFamily="2" charset="-122"/>
                <a:ea typeface="华文楷体" panose="02010600040101010101" pitchFamily="2" charset="-122"/>
                <a:cs typeface="Times New Roman" panose="02020603050405020304" pitchFamily="18" charset="0"/>
              </a:rPr>
              <a:t>)</a:t>
            </a:r>
            <a:endParaRPr lang="ko-KR" altLang="en-US" sz="1800" b="0" dirty="0">
              <a:highlight>
                <a:srgbClr val="3399FF"/>
              </a:highlight>
              <a:latin typeface="华文楷体" panose="02010600040101010101" pitchFamily="2" charset="-122"/>
              <a:cs typeface="Times New Roman" panose="02020603050405020304" pitchFamily="18" charset="0"/>
            </a:endParaRPr>
          </a:p>
        </p:txBody>
      </p:sp>
      <p:sp>
        <p:nvSpPr>
          <p:cNvPr id="21" name="文本框 20">
            <a:extLst>
              <a:ext uri="{FF2B5EF4-FFF2-40B4-BE49-F238E27FC236}">
                <a16:creationId xmlns:a16="http://schemas.microsoft.com/office/drawing/2014/main" id="{26E914BA-6CA7-4696-B1D1-69764C3364DB}"/>
              </a:ext>
            </a:extLst>
          </p:cNvPr>
          <p:cNvSpPr txBox="1"/>
          <p:nvPr/>
        </p:nvSpPr>
        <p:spPr>
          <a:xfrm>
            <a:off x="140319" y="100270"/>
            <a:ext cx="8863361" cy="523220"/>
          </a:xfrm>
          <a:prstGeom prst="rect">
            <a:avLst/>
          </a:prstGeom>
          <a:solidFill>
            <a:schemeClr val="bg1"/>
          </a:solidFill>
        </p:spPr>
        <p:txBody>
          <a:bodyPr wrap="square">
            <a:spAutoFit/>
          </a:bodyPr>
          <a:lstStyle>
            <a:defPPr>
              <a:defRPr lang="zh-CN"/>
            </a:defPPr>
            <a:lvl1pPr>
              <a:lnSpc>
                <a:spcPct val="150000"/>
              </a:lnSpc>
              <a:defRPr sz="3200">
                <a:solidFill>
                  <a:srgbClr val="002060"/>
                </a:solidFill>
                <a:latin typeface="华文楷体" panose="02010600040101010101" pitchFamily="2" charset="-122"/>
                <a:ea typeface="华文楷体" panose="02010600040101010101" pitchFamily="2" charset="-122"/>
              </a:defRPr>
            </a:lvl1pPr>
          </a:lstStyle>
          <a:p>
            <a:pPr>
              <a:lnSpc>
                <a:spcPct val="100000"/>
              </a:lnSpc>
            </a:pPr>
            <a:r>
              <a:rPr lang="en-US" altLang="zh-CN" sz="2600" b="0" dirty="0">
                <a:solidFill>
                  <a:srgbClr val="002060"/>
                </a:solidFill>
                <a:latin typeface="华文楷体" panose="02010600040101010101" pitchFamily="2" charset="-122"/>
                <a:ea typeface="华文楷体" panose="02010600040101010101" pitchFamily="2" charset="-122"/>
              </a:rPr>
              <a:t>§8.4.2 </a:t>
            </a:r>
            <a:r>
              <a:rPr lang="zh-CN" altLang="en-US" sz="2600" kern="0" dirty="0"/>
              <a:t>多元</a:t>
            </a:r>
            <a:r>
              <a:rPr lang="zh-CN" altLang="en-US" sz="2600" dirty="0"/>
              <a:t>函数</a:t>
            </a:r>
            <a:r>
              <a:rPr lang="en-US" altLang="zh-CN" sz="2600" dirty="0"/>
              <a:t>f(</a:t>
            </a:r>
            <a:r>
              <a:rPr lang="en-US" altLang="zh-CN" sz="2600" dirty="0" err="1"/>
              <a:t>x,y</a:t>
            </a:r>
            <a:r>
              <a:rPr lang="en-US" altLang="zh-CN" sz="2600" dirty="0"/>
              <a:t>)</a:t>
            </a:r>
            <a:r>
              <a:rPr lang="zh-CN" altLang="en-US" sz="2600" dirty="0"/>
              <a:t>无约束最</a:t>
            </a:r>
            <a:r>
              <a:rPr lang="en-US" altLang="ko-KR" sz="2600" dirty="0" err="1"/>
              <a:t>小值</a:t>
            </a:r>
            <a:r>
              <a:rPr lang="en-US" altLang="zh-CN" sz="2600" kern="0" dirty="0">
                <a:solidFill>
                  <a:srgbClr val="FF0000"/>
                </a:solidFill>
              </a:rPr>
              <a:t>——fminsearch</a:t>
            </a:r>
            <a:r>
              <a:rPr lang="zh-CN" altLang="en-US" sz="2600" kern="0" dirty="0">
                <a:solidFill>
                  <a:srgbClr val="FF0000"/>
                </a:solidFill>
              </a:rPr>
              <a:t>和</a:t>
            </a:r>
            <a:r>
              <a:rPr lang="en-US" altLang="zh-CN" sz="2800" b="0" dirty="0" err="1">
                <a:solidFill>
                  <a:srgbClr val="FF0000"/>
                </a:solidFill>
                <a:latin typeface="华文楷体" panose="02010600040101010101" pitchFamily="2" charset="-122"/>
                <a:ea typeface="华文楷体" panose="02010600040101010101" pitchFamily="2" charset="-122"/>
              </a:rPr>
              <a:t>fminunc</a:t>
            </a:r>
            <a:endParaRPr lang="zh-CN" altLang="en-US" sz="2600" dirty="0"/>
          </a:p>
        </p:txBody>
      </p:sp>
      <p:sp>
        <p:nvSpPr>
          <p:cNvPr id="22" name="文本框 21">
            <a:extLst>
              <a:ext uri="{FF2B5EF4-FFF2-40B4-BE49-F238E27FC236}">
                <a16:creationId xmlns:a16="http://schemas.microsoft.com/office/drawing/2014/main" id="{468DAE15-21C4-48A7-9986-86FFF8ED0594}"/>
              </a:ext>
            </a:extLst>
          </p:cNvPr>
          <p:cNvSpPr txBox="1"/>
          <p:nvPr/>
        </p:nvSpPr>
        <p:spPr>
          <a:xfrm>
            <a:off x="314208" y="967513"/>
            <a:ext cx="8290240" cy="369332"/>
          </a:xfrm>
          <a:prstGeom prst="rect">
            <a:avLst/>
          </a:prstGeom>
          <a:noFill/>
        </p:spPr>
        <p:txBody>
          <a:bodyPr wrap="square">
            <a:spAutoFit/>
          </a:bodyPr>
          <a:lstStyle/>
          <a:p>
            <a:r>
              <a:rPr lang="en-US" altLang="ko-KR" sz="1800" dirty="0" err="1">
                <a:solidFill>
                  <a:srgbClr val="002060"/>
                </a:solidFill>
                <a:latin typeface="华文楷体" panose="02010600040101010101" pitchFamily="2" charset="-122"/>
                <a:ea typeface="华文楷体" panose="02010600040101010101" pitchFamily="2" charset="-122"/>
              </a:rPr>
              <a:t>有一浅谷</a:t>
            </a:r>
            <a:r>
              <a:rPr lang="zh-CN" altLang="en-US" sz="1800" dirty="0">
                <a:solidFill>
                  <a:srgbClr val="002060"/>
                </a:solidFill>
                <a:latin typeface="华文楷体" panose="02010600040101010101" pitchFamily="2" charset="-122"/>
                <a:ea typeface="华文楷体" panose="02010600040101010101" pitchFamily="2" charset="-122"/>
              </a:rPr>
              <a:t>，</a:t>
            </a:r>
            <a:r>
              <a:rPr lang="en-US" altLang="ko-KR" sz="1800" cap="none" dirty="0" err="1">
                <a:solidFill>
                  <a:srgbClr val="002060"/>
                </a:solidFill>
                <a:latin typeface="华文楷体" panose="02010600040101010101" pitchFamily="2" charset="-122"/>
                <a:ea typeface="华文楷体" panose="02010600040101010101" pitchFamily="2" charset="-122"/>
              </a:rPr>
              <a:t>许多算法对此谷难以逾越。理论极小值x</a:t>
            </a:r>
            <a:r>
              <a:rPr lang="en-US" altLang="ko-KR" sz="1800" cap="none" dirty="0">
                <a:solidFill>
                  <a:srgbClr val="002060"/>
                </a:solidFill>
                <a:latin typeface="华文楷体" panose="02010600040101010101" pitchFamily="2" charset="-122"/>
                <a:ea typeface="华文楷体" panose="02010600040101010101" pitchFamily="2" charset="-122"/>
              </a:rPr>
              <a:t>=1,y=1.求极小值点</a:t>
            </a:r>
            <a:endParaRPr lang="zh-CN" altLang="en-US" dirty="0"/>
          </a:p>
        </p:txBody>
      </p:sp>
    </p:spTree>
    <p:extLst>
      <p:ext uri="{BB962C8B-B14F-4D97-AF65-F5344CB8AC3E}">
        <p14:creationId xmlns:p14="http://schemas.microsoft.com/office/powerpoint/2010/main" val="37086317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F9D8CA4-68CF-4D4C-B3F9-4E5215B55B8C}"/>
              </a:ext>
            </a:extLst>
          </p:cNvPr>
          <p:cNvSpPr/>
          <p:nvPr/>
        </p:nvSpPr>
        <p:spPr>
          <a:xfrm>
            <a:off x="185843" y="1564357"/>
            <a:ext cx="8971530" cy="2327817"/>
          </a:xfrm>
          <a:prstGeom prst="rect">
            <a:avLst/>
          </a:prstGeom>
          <a:solidFill>
            <a:schemeClr val="bg1"/>
          </a:solidFill>
        </p:spPr>
        <p:txBody>
          <a:bodyPr wrap="square">
            <a:spAutoFit/>
          </a:bodyPr>
          <a:lstStyle/>
          <a:p>
            <a:pPr>
              <a:lnSpc>
                <a:spcPts val="2500"/>
              </a:lnSpc>
            </a:pPr>
            <a:r>
              <a:rPr lang="en-US" altLang="zh-CN" sz="2200" dirty="0">
                <a:latin typeface="华文楷体" panose="02010600040101010101" pitchFamily="2" charset="-122"/>
                <a:ea typeface="华文楷体" panose="02010600040101010101" pitchFamily="2" charset="-122"/>
              </a:rPr>
              <a:t>fxy(</a:t>
            </a:r>
            <a:r>
              <a:rPr lang="en-US" altLang="zh-CN" sz="2200" dirty="0" err="1">
                <a:latin typeface="华文楷体" panose="02010600040101010101" pitchFamily="2" charset="-122"/>
                <a:ea typeface="华文楷体" panose="02010600040101010101" pitchFamily="2" charset="-122"/>
              </a:rPr>
              <a:t>xy</a:t>
            </a:r>
            <a:r>
              <a:rPr lang="en-US" altLang="zh-CN" sz="2200" dirty="0">
                <a:latin typeface="华文楷体" panose="02010600040101010101" pitchFamily="2" charset="-122"/>
                <a:ea typeface="华文楷体" panose="02010600040101010101" pitchFamily="2" charset="-122"/>
              </a:rPr>
              <a:t>)=100*(</a:t>
            </a:r>
            <a:r>
              <a:rPr lang="en-US" altLang="zh-CN" sz="2200" dirty="0" err="1">
                <a:latin typeface="华文楷体" panose="02010600040101010101" pitchFamily="2" charset="-122"/>
                <a:ea typeface="华文楷体" panose="02010600040101010101" pitchFamily="2" charset="-122"/>
              </a:rPr>
              <a:t>xy</a:t>
            </a:r>
            <a:r>
              <a:rPr lang="en-US" altLang="zh-CN" sz="2200" dirty="0">
                <a:latin typeface="华文楷体" panose="02010600040101010101" pitchFamily="2" charset="-122"/>
                <a:ea typeface="华文楷体" panose="02010600040101010101" pitchFamily="2" charset="-122"/>
              </a:rPr>
              <a:t>[2]-(</a:t>
            </a:r>
            <a:r>
              <a:rPr lang="en-US" altLang="zh-CN" sz="2200" dirty="0" err="1">
                <a:latin typeface="华文楷体" panose="02010600040101010101" pitchFamily="2" charset="-122"/>
                <a:ea typeface="华文楷体" panose="02010600040101010101" pitchFamily="2" charset="-122"/>
              </a:rPr>
              <a:t>xy</a:t>
            </a:r>
            <a:r>
              <a:rPr lang="en-US" altLang="zh-CN" sz="2200" dirty="0">
                <a:latin typeface="华文楷体" panose="02010600040101010101" pitchFamily="2" charset="-122"/>
                <a:ea typeface="华文楷体" panose="02010600040101010101" pitchFamily="2" charset="-122"/>
              </a:rPr>
              <a:t>[1]^2))^2+(1-xy[1])^2; #</a:t>
            </a:r>
            <a:r>
              <a:rPr lang="zh-CN" altLang="en-US" sz="2200" dirty="0">
                <a:latin typeface="华文楷体" panose="02010600040101010101" pitchFamily="2" charset="-122"/>
                <a:ea typeface="华文楷体" panose="02010600040101010101" pitchFamily="2" charset="-122"/>
              </a:rPr>
              <a:t>建立向量元素函数</a:t>
            </a:r>
            <a:endParaRPr lang="en-US" altLang="zh-CN" sz="2200" dirty="0">
              <a:latin typeface="华文楷体" panose="02010600040101010101" pitchFamily="2" charset="-122"/>
              <a:ea typeface="华文楷体" panose="02010600040101010101" pitchFamily="2" charset="-122"/>
            </a:endParaRPr>
          </a:p>
          <a:p>
            <a:pPr>
              <a:lnSpc>
                <a:spcPts val="2500"/>
              </a:lnSpc>
            </a:pPr>
            <a:r>
              <a:rPr lang="en-US" altLang="zh-CN" sz="2200" dirty="0">
                <a:latin typeface="华文楷体" panose="02010600040101010101" pitchFamily="2" charset="-122"/>
                <a:ea typeface="华文楷体" panose="02010600040101010101" pitchFamily="2" charset="-122"/>
              </a:rPr>
              <a:t>xy0=[0,0]; #</a:t>
            </a:r>
            <a:r>
              <a:rPr lang="zh-CN" altLang="en-US" sz="2200" dirty="0">
                <a:latin typeface="华文楷体" panose="02010600040101010101" pitchFamily="2" charset="-122"/>
                <a:ea typeface="华文楷体" panose="02010600040101010101" pitchFamily="2" charset="-122"/>
              </a:rPr>
              <a:t>初始值</a:t>
            </a:r>
            <a:endParaRPr lang="en-US" altLang="zh-CN" sz="2200" dirty="0">
              <a:latin typeface="华文楷体" panose="02010600040101010101" pitchFamily="2" charset="-122"/>
              <a:ea typeface="华文楷体" panose="02010600040101010101" pitchFamily="2" charset="-122"/>
            </a:endParaRPr>
          </a:p>
          <a:p>
            <a:pPr>
              <a:lnSpc>
                <a:spcPts val="2500"/>
              </a:lnSpc>
            </a:pPr>
            <a:r>
              <a:rPr lang="en-US" altLang="zh-CN" sz="2200" dirty="0" err="1">
                <a:latin typeface="华文楷体" panose="02010600040101010101" pitchFamily="2" charset="-122"/>
                <a:ea typeface="华文楷体" panose="02010600040101010101" pitchFamily="2" charset="-122"/>
              </a:rPr>
              <a:t>xy,fy,ex</a:t>
            </a:r>
            <a:r>
              <a:rPr lang="en-US" altLang="zh-CN" sz="2200" dirty="0">
                <a:latin typeface="华文楷体" panose="02010600040101010101" pitchFamily="2" charset="-122"/>
                <a:ea typeface="华文楷体" panose="02010600040101010101" pitchFamily="2" charset="-122"/>
              </a:rPr>
              <a:t>,=</a:t>
            </a:r>
            <a:r>
              <a:rPr lang="en-US" altLang="zh-CN" sz="2200" dirty="0" err="1">
                <a:latin typeface="华文楷体" panose="02010600040101010101" pitchFamily="2" charset="-122"/>
                <a:ea typeface="华文楷体" panose="02010600040101010101" pitchFamily="2" charset="-122"/>
              </a:rPr>
              <a:t>fminunc</a:t>
            </a:r>
            <a:r>
              <a:rPr lang="en-US" altLang="zh-CN" sz="2200" dirty="0">
                <a:latin typeface="华文楷体" panose="02010600040101010101" pitchFamily="2" charset="-122"/>
                <a:ea typeface="华文楷体" panose="02010600040101010101" pitchFamily="2" charset="-122"/>
              </a:rPr>
              <a:t>(fxy,xy0)  #</a:t>
            </a:r>
            <a:r>
              <a:rPr lang="zh-CN" altLang="en-US" sz="2200" dirty="0">
                <a:latin typeface="华文楷体" panose="02010600040101010101" pitchFamily="2" charset="-122"/>
                <a:ea typeface="华文楷体" panose="02010600040101010101" pitchFamily="2" charset="-122"/>
              </a:rPr>
              <a:t>有导数的最小值</a:t>
            </a:r>
            <a:endParaRPr lang="en-US" altLang="zh-CN" sz="2200" dirty="0">
              <a:latin typeface="华文楷体" panose="02010600040101010101" pitchFamily="2" charset="-122"/>
              <a:ea typeface="华文楷体" panose="02010600040101010101" pitchFamily="2" charset="-122"/>
            </a:endParaRPr>
          </a:p>
          <a:p>
            <a:pPr>
              <a:lnSpc>
                <a:spcPts val="2500"/>
              </a:lnSpc>
            </a:pPr>
            <a:r>
              <a:rPr lang="en-US" altLang="zh-CN" sz="2000" dirty="0" err="1">
                <a:solidFill>
                  <a:srgbClr val="00B0F0"/>
                </a:solidFill>
                <a:latin typeface="华文楷体" panose="02010600040101010101" pitchFamily="2" charset="-122"/>
                <a:ea typeface="华文楷体" panose="02010600040101010101" pitchFamily="2" charset="-122"/>
              </a:rPr>
              <a:t>println</a:t>
            </a:r>
            <a:r>
              <a:rPr lang="en-US" altLang="zh-CN" sz="2000" dirty="0">
                <a:solidFill>
                  <a:srgbClr val="00B0F0"/>
                </a:solidFill>
                <a:latin typeface="华文楷体" panose="02010600040101010101" pitchFamily="2" charset="-122"/>
                <a:ea typeface="华文楷体" panose="02010600040101010101" pitchFamily="2" charset="-122"/>
              </a:rPr>
              <a:t>("</a:t>
            </a:r>
            <a:r>
              <a:rPr lang="zh-CN" altLang="en-US" sz="2000" dirty="0">
                <a:solidFill>
                  <a:srgbClr val="00B0F0"/>
                </a:solidFill>
                <a:latin typeface="华文楷体" panose="02010600040101010101" pitchFamily="2" charset="-122"/>
                <a:ea typeface="华文楷体" panose="02010600040101010101" pitchFamily="2" charset="-122"/>
              </a:rPr>
              <a:t>极值点</a:t>
            </a:r>
            <a:r>
              <a:rPr lang="en-US" altLang="zh-CN" sz="2000" dirty="0" err="1">
                <a:solidFill>
                  <a:srgbClr val="00B0F0"/>
                </a:solidFill>
                <a:latin typeface="华文楷体" panose="02010600040101010101" pitchFamily="2" charset="-122"/>
                <a:ea typeface="华文楷体" panose="02010600040101010101" pitchFamily="2" charset="-122"/>
              </a:rPr>
              <a:t>xy</a:t>
            </a:r>
            <a:r>
              <a:rPr lang="en-US" altLang="zh-CN" sz="2000" dirty="0">
                <a:solidFill>
                  <a:srgbClr val="00B0F0"/>
                </a:solidFill>
                <a:latin typeface="华文楷体" panose="02010600040101010101" pitchFamily="2" charset="-122"/>
                <a:ea typeface="华文楷体" panose="02010600040101010101" pitchFamily="2" charset="-122"/>
              </a:rPr>
              <a:t>=$</a:t>
            </a:r>
            <a:r>
              <a:rPr lang="en-US" altLang="zh-CN" sz="2000" dirty="0" err="1">
                <a:solidFill>
                  <a:srgbClr val="00B0F0"/>
                </a:solidFill>
                <a:latin typeface="华文楷体" panose="02010600040101010101" pitchFamily="2" charset="-122"/>
                <a:ea typeface="华文楷体" panose="02010600040101010101" pitchFamily="2" charset="-122"/>
              </a:rPr>
              <a:t>xy</a:t>
            </a:r>
            <a:r>
              <a:rPr lang="en-US" altLang="zh-CN" sz="2000" dirty="0">
                <a:solidFill>
                  <a:srgbClr val="00B0F0"/>
                </a:solidFill>
                <a:latin typeface="华文楷体" panose="02010600040101010101" pitchFamily="2" charset="-122"/>
                <a:ea typeface="华文楷体" panose="02010600040101010101" pitchFamily="2" charset="-122"/>
              </a:rPr>
              <a:t>,</a:t>
            </a:r>
            <a:r>
              <a:rPr lang="zh-CN" altLang="en-US" sz="2000" dirty="0">
                <a:solidFill>
                  <a:srgbClr val="00B0F0"/>
                </a:solidFill>
                <a:latin typeface="华文楷体" panose="02010600040101010101" pitchFamily="2" charset="-122"/>
                <a:ea typeface="华文楷体" panose="02010600040101010101" pitchFamily="2" charset="-122"/>
              </a:rPr>
              <a:t>极小值</a:t>
            </a:r>
            <a:r>
              <a:rPr lang="en-US" altLang="zh-CN" sz="2000" dirty="0" err="1">
                <a:solidFill>
                  <a:srgbClr val="00B0F0"/>
                </a:solidFill>
                <a:latin typeface="华文楷体" panose="02010600040101010101" pitchFamily="2" charset="-122"/>
                <a:ea typeface="华文楷体" panose="02010600040101010101" pitchFamily="2" charset="-122"/>
              </a:rPr>
              <a:t>fy</a:t>
            </a:r>
            <a:r>
              <a:rPr lang="en-US" altLang="zh-CN" sz="2000" dirty="0">
                <a:solidFill>
                  <a:srgbClr val="00B0F0"/>
                </a:solidFill>
                <a:latin typeface="华文楷体" panose="02010600040101010101" pitchFamily="2" charset="-122"/>
                <a:ea typeface="华文楷体" panose="02010600040101010101" pitchFamily="2" charset="-122"/>
              </a:rPr>
              <a:t>=$</a:t>
            </a:r>
            <a:r>
              <a:rPr lang="en-US" altLang="zh-CN" sz="2000" dirty="0" err="1">
                <a:solidFill>
                  <a:srgbClr val="00B0F0"/>
                </a:solidFill>
                <a:latin typeface="华文楷体" panose="02010600040101010101" pitchFamily="2" charset="-122"/>
                <a:ea typeface="华文楷体" panose="02010600040101010101" pitchFamily="2" charset="-122"/>
              </a:rPr>
              <a:t>fy</a:t>
            </a:r>
            <a:r>
              <a:rPr lang="en-US" altLang="zh-CN" sz="2000" dirty="0">
                <a:solidFill>
                  <a:srgbClr val="00B0F0"/>
                </a:solidFill>
                <a:latin typeface="华文楷体" panose="02010600040101010101" pitchFamily="2" charset="-122"/>
                <a:ea typeface="华文楷体" panose="02010600040101010101" pitchFamily="2" charset="-122"/>
              </a:rPr>
              <a:t>,</a:t>
            </a:r>
            <a:r>
              <a:rPr lang="zh-CN" altLang="en-US" sz="2000" dirty="0">
                <a:solidFill>
                  <a:srgbClr val="00B0F0"/>
                </a:solidFill>
                <a:latin typeface="华文楷体" panose="02010600040101010101" pitchFamily="2" charset="-122"/>
                <a:ea typeface="华文楷体" panose="02010600040101010101" pitchFamily="2" charset="-122"/>
              </a:rPr>
              <a:t>退出标志</a:t>
            </a:r>
            <a:r>
              <a:rPr lang="en-US" altLang="zh-CN" sz="2000" dirty="0">
                <a:solidFill>
                  <a:srgbClr val="00B0F0"/>
                </a:solidFill>
                <a:latin typeface="华文楷体" panose="02010600040101010101" pitchFamily="2" charset="-122"/>
                <a:ea typeface="华文楷体" panose="02010600040101010101" pitchFamily="2" charset="-122"/>
              </a:rPr>
              <a:t>ex=$ex") </a:t>
            </a:r>
          </a:p>
          <a:p>
            <a:pPr>
              <a:lnSpc>
                <a:spcPts val="2500"/>
              </a:lnSpc>
            </a:pPr>
            <a:r>
              <a:rPr lang="en-US" altLang="zh-CN" sz="2000" dirty="0">
                <a:solidFill>
                  <a:srgbClr val="00B0F0"/>
                </a:solidFill>
                <a:latin typeface="华文楷体" panose="02010600040101010101" pitchFamily="2" charset="-122"/>
                <a:ea typeface="华文楷体" panose="02010600040101010101" pitchFamily="2" charset="-122"/>
              </a:rPr>
              <a:t>#</a:t>
            </a:r>
            <a:r>
              <a:rPr lang="zh-CN" altLang="en-US" sz="2000" dirty="0">
                <a:solidFill>
                  <a:srgbClr val="00B0F0"/>
                </a:solidFill>
                <a:latin typeface="华文楷体" panose="02010600040101010101" pitchFamily="2" charset="-122"/>
                <a:ea typeface="华文楷体" panose="02010600040101010101" pitchFamily="2" charset="-122"/>
              </a:rPr>
              <a:t>结果：极值点</a:t>
            </a:r>
            <a:r>
              <a:rPr lang="en-US" altLang="zh-CN" sz="2000" dirty="0" err="1">
                <a:solidFill>
                  <a:srgbClr val="00B0F0"/>
                </a:solidFill>
                <a:latin typeface="华文楷体" panose="02010600040101010101" pitchFamily="2" charset="-122"/>
                <a:ea typeface="华文楷体" panose="02010600040101010101" pitchFamily="2" charset="-122"/>
              </a:rPr>
              <a:t>xy</a:t>
            </a:r>
            <a:r>
              <a:rPr lang="en-US" altLang="zh-CN" sz="2000" dirty="0">
                <a:solidFill>
                  <a:srgbClr val="00B0F0"/>
                </a:solidFill>
                <a:latin typeface="华文楷体" panose="02010600040101010101" pitchFamily="2" charset="-122"/>
                <a:ea typeface="华文楷体" panose="02010600040101010101" pitchFamily="2" charset="-122"/>
              </a:rPr>
              <a:t>=[0.18606, 0.0471],</a:t>
            </a:r>
            <a:r>
              <a:rPr lang="zh-CN" altLang="en-US" sz="2000" dirty="0">
                <a:solidFill>
                  <a:srgbClr val="00B0F0"/>
                </a:solidFill>
                <a:latin typeface="华文楷体" panose="02010600040101010101" pitchFamily="2" charset="-122"/>
                <a:ea typeface="华文楷体" panose="02010600040101010101" pitchFamily="2" charset="-122"/>
              </a:rPr>
              <a:t>极小值</a:t>
            </a:r>
            <a:r>
              <a:rPr lang="en-US" altLang="zh-CN" sz="2000" dirty="0" err="1">
                <a:solidFill>
                  <a:srgbClr val="00B0F0"/>
                </a:solidFill>
                <a:latin typeface="华文楷体" panose="02010600040101010101" pitchFamily="2" charset="-122"/>
                <a:ea typeface="华文楷体" panose="02010600040101010101" pitchFamily="2" charset="-122"/>
              </a:rPr>
              <a:t>fy</a:t>
            </a:r>
            <a:r>
              <a:rPr lang="en-US" altLang="zh-CN" sz="2000" dirty="0">
                <a:solidFill>
                  <a:srgbClr val="00B0F0"/>
                </a:solidFill>
                <a:latin typeface="华文楷体" panose="02010600040101010101" pitchFamily="2" charset="-122"/>
                <a:ea typeface="华文楷体" panose="02010600040101010101" pitchFamily="2" charset="-122"/>
              </a:rPr>
              <a:t>=0.6780,</a:t>
            </a:r>
            <a:r>
              <a:rPr lang="zh-CN" altLang="en-US" sz="2000" dirty="0">
                <a:solidFill>
                  <a:srgbClr val="00B0F0"/>
                </a:solidFill>
                <a:latin typeface="华文楷体" panose="02010600040101010101" pitchFamily="2" charset="-122"/>
                <a:ea typeface="华文楷体" panose="02010600040101010101" pitchFamily="2" charset="-122"/>
              </a:rPr>
              <a:t>退出标志</a:t>
            </a:r>
            <a:r>
              <a:rPr lang="en-US" altLang="zh-CN" sz="2000" dirty="0">
                <a:solidFill>
                  <a:srgbClr val="00B0F0"/>
                </a:solidFill>
                <a:latin typeface="华文楷体" panose="02010600040101010101" pitchFamily="2" charset="-122"/>
                <a:ea typeface="华文楷体" panose="02010600040101010101" pitchFamily="2" charset="-122"/>
              </a:rPr>
              <a:t>ex=0</a:t>
            </a:r>
          </a:p>
          <a:p>
            <a:pPr>
              <a:lnSpc>
                <a:spcPts val="2500"/>
              </a:lnSpc>
            </a:pPr>
            <a:r>
              <a:rPr lang="zh-CN" altLang="en-US" sz="1600" dirty="0">
                <a:solidFill>
                  <a:srgbClr val="FF0000"/>
                </a:solidFill>
                <a:latin typeface="微软雅黑" panose="020B0503020204020204" pitchFamily="34" charset="-122"/>
                <a:ea typeface="微软雅黑" panose="020B0503020204020204" pitchFamily="34" charset="-122"/>
              </a:rPr>
              <a:t>退出标志</a:t>
            </a:r>
            <a:r>
              <a:rPr lang="en-US" altLang="zh-CN" sz="1600" dirty="0">
                <a:solidFill>
                  <a:srgbClr val="FF0000"/>
                </a:solidFill>
                <a:latin typeface="微软雅黑" panose="020B0503020204020204" pitchFamily="34" charset="-122"/>
                <a:ea typeface="微软雅黑" panose="020B0503020204020204" pitchFamily="34" charset="-122"/>
              </a:rPr>
              <a:t>ex=0</a:t>
            </a:r>
            <a:r>
              <a:rPr lang="zh-CN" altLang="en-US" sz="1600" dirty="0">
                <a:solidFill>
                  <a:srgbClr val="FF0000"/>
                </a:solidFill>
                <a:latin typeface="微软雅黑" panose="020B0503020204020204" pitchFamily="34" charset="-122"/>
                <a:ea typeface="微软雅黑" panose="020B0503020204020204" pitchFamily="34" charset="-122"/>
              </a:rPr>
              <a:t>：迭代次数超出 </a:t>
            </a:r>
            <a:r>
              <a:rPr lang="en-US" altLang="zh-CN" sz="1600" dirty="0" err="1">
                <a:solidFill>
                  <a:srgbClr val="FF0000"/>
                </a:solidFill>
                <a:latin typeface="微软雅黑" panose="020B0503020204020204" pitchFamily="34" charset="-122"/>
                <a:ea typeface="微软雅黑" panose="020B0503020204020204" pitchFamily="34" charset="-122"/>
              </a:rPr>
              <a:t>MaxIterations</a:t>
            </a:r>
            <a:r>
              <a:rPr lang="en-US" altLang="zh-CN" sz="1600" dirty="0">
                <a:solidFill>
                  <a:srgbClr val="FF0000"/>
                </a:solidFill>
                <a:latin typeface="微软雅黑" panose="020B0503020204020204" pitchFamily="34" charset="-122"/>
                <a:ea typeface="微软雅黑" panose="020B0503020204020204" pitchFamily="34" charset="-122"/>
              </a:rPr>
              <a:t> </a:t>
            </a:r>
            <a:r>
              <a:rPr lang="zh-CN" altLang="en-US" sz="1600" dirty="0">
                <a:solidFill>
                  <a:srgbClr val="FF0000"/>
                </a:solidFill>
                <a:latin typeface="微软雅黑" panose="020B0503020204020204" pitchFamily="34" charset="-122"/>
                <a:ea typeface="微软雅黑" panose="020B0503020204020204" pitchFamily="34" charset="-122"/>
              </a:rPr>
              <a:t>或函数计算次数超过 </a:t>
            </a:r>
            <a:r>
              <a:rPr lang="en-US" altLang="zh-CN" sz="1600" dirty="0" err="1">
                <a:solidFill>
                  <a:srgbClr val="FF0000"/>
                </a:solidFill>
                <a:latin typeface="微软雅黑" panose="020B0503020204020204" pitchFamily="34" charset="-122"/>
                <a:ea typeface="微软雅黑" panose="020B0503020204020204" pitchFamily="34" charset="-122"/>
              </a:rPr>
              <a:t>MaxFunction</a:t>
            </a:r>
            <a:r>
              <a:rPr lang="en-US" altLang="zh-CN" sz="1600" dirty="0">
                <a:solidFill>
                  <a:srgbClr val="FF0000"/>
                </a:solidFill>
                <a:latin typeface="微软雅黑" panose="020B0503020204020204" pitchFamily="34" charset="-122"/>
                <a:ea typeface="微软雅黑" panose="020B0503020204020204" pitchFamily="34" charset="-122"/>
              </a:rPr>
              <a:t> Evaluations</a:t>
            </a:r>
            <a:r>
              <a:rPr lang="en-US" altLang="zh-CN" sz="1600" dirty="0">
                <a:solidFill>
                  <a:srgbClr val="FF0000"/>
                </a:solidFill>
                <a:latin typeface="华文楷体" panose="02010600040101010101" pitchFamily="2" charset="-122"/>
                <a:ea typeface="华文楷体" panose="02010600040101010101" pitchFamily="2" charset="-122"/>
              </a:rPr>
              <a:t>。</a:t>
            </a:r>
            <a:endParaRPr lang="en-US" altLang="zh-CN" sz="1600" dirty="0">
              <a:solidFill>
                <a:srgbClr val="00B0F0"/>
              </a:solidFill>
              <a:latin typeface="华文楷体" panose="02010600040101010101" pitchFamily="2" charset="-122"/>
              <a:ea typeface="华文楷体" panose="02010600040101010101" pitchFamily="2" charset="-122"/>
            </a:endParaRPr>
          </a:p>
          <a:p>
            <a:pPr>
              <a:lnSpc>
                <a:spcPts val="2500"/>
              </a:lnSpc>
            </a:pPr>
            <a:r>
              <a:rPr lang="en-US" altLang="zh-CN" sz="1600" dirty="0">
                <a:solidFill>
                  <a:srgbClr val="00B0F0"/>
                </a:solidFill>
                <a:latin typeface="华文楷体" panose="02010600040101010101" pitchFamily="2" charset="-122"/>
                <a:ea typeface="华文楷体" panose="02010600040101010101" pitchFamily="2" charset="-122"/>
              </a:rPr>
              <a:t>#</a:t>
            </a:r>
            <a:r>
              <a:rPr lang="zh-CN" altLang="en-US" sz="1600" dirty="0">
                <a:solidFill>
                  <a:srgbClr val="00B0F0"/>
                </a:solidFill>
                <a:latin typeface="华文楷体" panose="02010600040101010101" pitchFamily="2" charset="-122"/>
                <a:ea typeface="华文楷体" panose="02010600040101010101" pitchFamily="2" charset="-122"/>
              </a:rPr>
              <a:t>警告</a:t>
            </a:r>
            <a:r>
              <a:rPr lang="en-US" altLang="zh-CN" sz="1600" b="1" dirty="0">
                <a:solidFill>
                  <a:srgbClr val="FF0000"/>
                </a:solidFill>
                <a:latin typeface="微软雅黑" panose="020B0503020204020204" pitchFamily="34" charset="-122"/>
                <a:ea typeface="微软雅黑" panose="020B0503020204020204" pitchFamily="34" charset="-122"/>
              </a:rPr>
              <a:t>stopped prematurely</a:t>
            </a:r>
            <a:r>
              <a:rPr lang="zh-CN" altLang="en-US" sz="1600" b="1" dirty="0">
                <a:solidFill>
                  <a:srgbClr val="FF0000"/>
                </a:solidFill>
                <a:latin typeface="微软雅黑" panose="020B0503020204020204" pitchFamily="34" charset="-122"/>
                <a:ea typeface="微软雅黑" panose="020B0503020204020204" pitchFamily="34" charset="-122"/>
              </a:rPr>
              <a:t>，</a:t>
            </a:r>
            <a:r>
              <a:rPr lang="en-US" altLang="zh-CN" sz="1600" b="1" dirty="0">
                <a:solidFill>
                  <a:srgbClr val="FF0000"/>
                </a:solidFill>
                <a:latin typeface="微软雅黑" panose="020B0503020204020204" pitchFamily="34" charset="-122"/>
                <a:ea typeface="微软雅黑" panose="020B0503020204020204" pitchFamily="34" charset="-122"/>
              </a:rPr>
              <a:t> because it exceeded the function evaluation limit</a:t>
            </a:r>
          </a:p>
        </p:txBody>
      </p:sp>
      <p:sp>
        <p:nvSpPr>
          <p:cNvPr id="6" name="矩形 5">
            <a:extLst>
              <a:ext uri="{FF2B5EF4-FFF2-40B4-BE49-F238E27FC236}">
                <a16:creationId xmlns:a16="http://schemas.microsoft.com/office/drawing/2014/main" id="{F0DC8106-6755-4F0F-A893-DACF32D6A1B8}"/>
              </a:ext>
            </a:extLst>
          </p:cNvPr>
          <p:cNvSpPr/>
          <p:nvPr/>
        </p:nvSpPr>
        <p:spPr>
          <a:xfrm>
            <a:off x="726730" y="678236"/>
            <a:ext cx="4054603" cy="430887"/>
          </a:xfrm>
          <a:prstGeom prst="rect">
            <a:avLst/>
          </a:prstGeom>
          <a:noFill/>
          <a:ln>
            <a:noFill/>
          </a:ln>
          <a:effectLst>
            <a:outerShdw blurRad="63500" sx="102000" sy="102000" algn="ctr" rotWithShape="0">
              <a:prstClr val="black">
                <a:alpha val="40000"/>
              </a:prstClr>
            </a:outerShdw>
          </a:effectLst>
        </p:spPr>
        <p:txBody>
          <a:bodyPr wrap="square">
            <a:spAutoFit/>
          </a:bodyPr>
          <a:lstStyle/>
          <a:p>
            <a:r>
              <a:rPr lang="zh-CN" altLang="en-US" sz="2200" b="1"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二元函数</a:t>
            </a:r>
            <a:r>
              <a:rPr lang="en-US" altLang="zh-CN" sz="2200" b="1"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x</a:t>
            </a:r>
            <a:r>
              <a:rPr lang="zh-CN" altLang="en-US" sz="2200" b="1"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和</a:t>
            </a:r>
            <a:r>
              <a:rPr lang="en-US" altLang="zh-CN" sz="2200" b="1"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y</a:t>
            </a:r>
            <a:r>
              <a:rPr lang="zh-CN" altLang="en-US" sz="2200" b="1"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自变量构成</a:t>
            </a:r>
            <a:r>
              <a:rPr lang="en-US" altLang="zh-CN" sz="2200" b="1"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z</a:t>
            </a:r>
            <a:r>
              <a:rPr lang="zh-CN" altLang="en-US" sz="2200" b="1"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向量</a:t>
            </a:r>
            <a:endParaRPr lang="en-US" altLang="zh-CN" sz="2200" b="1" dirty="0">
              <a:solidFill>
                <a:srgbClr val="002060"/>
              </a:solidFill>
              <a:latin typeface="华文楷体" panose="02010600040101010101" pitchFamily="2" charset="-122"/>
              <a:ea typeface="华文楷体" panose="02010600040101010101" pitchFamily="2" charset="-122"/>
              <a:sym typeface="Arial" panose="020B0604020202020204" pitchFamily="34" charset="0"/>
            </a:endParaRPr>
          </a:p>
        </p:txBody>
      </p:sp>
      <p:sp>
        <p:nvSpPr>
          <p:cNvPr id="7" name="矩形 6">
            <a:extLst>
              <a:ext uri="{FF2B5EF4-FFF2-40B4-BE49-F238E27FC236}">
                <a16:creationId xmlns:a16="http://schemas.microsoft.com/office/drawing/2014/main" id="{318AFC8A-EBAD-47B9-984B-E3C26E3CFDC4}"/>
              </a:ext>
            </a:extLst>
          </p:cNvPr>
          <p:cNvSpPr/>
          <p:nvPr/>
        </p:nvSpPr>
        <p:spPr>
          <a:xfrm>
            <a:off x="4608400" y="752197"/>
            <a:ext cx="2411871" cy="341632"/>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en-US" altLang="ko-KR" b="1" kern="0" dirty="0" err="1">
                <a:solidFill>
                  <a:srgbClr val="FF0000"/>
                </a:solidFill>
                <a:latin typeface="Times New Roman" panose="02020603050405020304" pitchFamily="18" charset="0"/>
                <a:ea typeface="隶书" panose="02010509060101010101" pitchFamily="49" charset="-122"/>
                <a:cs typeface="Times New Roman" panose="02020603050405020304" pitchFamily="18" charset="0"/>
              </a:rPr>
              <a:t>xy</a:t>
            </a:r>
            <a:r>
              <a:rPr lang="en-US" altLang="ko-KR" b="1" kern="0" dirty="0">
                <a:solidFill>
                  <a:srgbClr val="FF0000"/>
                </a:solidFill>
                <a:latin typeface="Times New Roman" panose="02020603050405020304" pitchFamily="18" charset="0"/>
                <a:ea typeface="隶书" panose="02010509060101010101" pitchFamily="49" charset="-122"/>
                <a:cs typeface="Times New Roman" panose="02020603050405020304" pitchFamily="18" charset="0"/>
              </a:rPr>
              <a:t>=[</a:t>
            </a:r>
            <a:r>
              <a:rPr lang="en-US" altLang="ko-KR" b="1" kern="0" dirty="0" err="1">
                <a:solidFill>
                  <a:srgbClr val="FF0000"/>
                </a:solidFill>
                <a:latin typeface="Times New Roman" panose="02020603050405020304" pitchFamily="18" charset="0"/>
                <a:ea typeface="隶书" panose="02010509060101010101" pitchFamily="49" charset="-122"/>
                <a:cs typeface="Times New Roman" panose="02020603050405020304" pitchFamily="18" charset="0"/>
              </a:rPr>
              <a:t>x,y</a:t>
            </a:r>
            <a:r>
              <a:rPr lang="en-US" altLang="ko-KR" b="1" kern="0" dirty="0">
                <a:solidFill>
                  <a:srgbClr val="FF0000"/>
                </a:solidFill>
                <a:latin typeface="Times New Roman" panose="02020603050405020304" pitchFamily="18" charset="0"/>
                <a:ea typeface="隶书" panose="02010509060101010101" pitchFamily="49" charset="-122"/>
                <a:cs typeface="Times New Roman" panose="02020603050405020304" pitchFamily="18" charset="0"/>
              </a:rPr>
              <a:t>]=[</a:t>
            </a:r>
            <a:r>
              <a:rPr lang="en-US" altLang="ko-KR" b="1" kern="0" dirty="0" err="1">
                <a:solidFill>
                  <a:srgbClr val="FF0000"/>
                </a:solidFill>
                <a:latin typeface="Times New Roman" panose="02020603050405020304" pitchFamily="18" charset="0"/>
                <a:ea typeface="隶书" panose="02010509060101010101" pitchFamily="49" charset="-122"/>
                <a:cs typeface="Times New Roman" panose="02020603050405020304" pitchFamily="18" charset="0"/>
              </a:rPr>
              <a:t>xy</a:t>
            </a:r>
            <a:r>
              <a:rPr lang="en-US" altLang="ko-KR" b="1" kern="0" dirty="0">
                <a:solidFill>
                  <a:srgbClr val="FF0000"/>
                </a:solidFill>
                <a:latin typeface="Times New Roman" panose="02020603050405020304" pitchFamily="18" charset="0"/>
                <a:ea typeface="隶书" panose="02010509060101010101" pitchFamily="49" charset="-122"/>
                <a:cs typeface="Times New Roman" panose="02020603050405020304" pitchFamily="18" charset="0"/>
              </a:rPr>
              <a:t>(1), </a:t>
            </a:r>
            <a:r>
              <a:rPr lang="en-US" altLang="ko-KR" b="1" kern="0" dirty="0" err="1">
                <a:solidFill>
                  <a:srgbClr val="FF0000"/>
                </a:solidFill>
                <a:latin typeface="Times New Roman" panose="02020603050405020304" pitchFamily="18" charset="0"/>
                <a:ea typeface="隶书" panose="02010509060101010101" pitchFamily="49" charset="-122"/>
                <a:cs typeface="Times New Roman" panose="02020603050405020304" pitchFamily="18" charset="0"/>
              </a:rPr>
              <a:t>xy</a:t>
            </a:r>
            <a:r>
              <a:rPr lang="en-US" altLang="ko-KR" b="1" kern="0" dirty="0">
                <a:solidFill>
                  <a:srgbClr val="FF0000"/>
                </a:solidFill>
                <a:latin typeface="Times New Roman" panose="02020603050405020304" pitchFamily="18" charset="0"/>
                <a:ea typeface="隶书" panose="02010509060101010101" pitchFamily="49" charset="-122"/>
                <a:cs typeface="Times New Roman" panose="02020603050405020304" pitchFamily="18" charset="0"/>
              </a:rPr>
              <a:t>(2)]</a:t>
            </a:r>
            <a:endParaRPr lang="zh-CN" altLang="en-US" b="1" kern="0" dirty="0">
              <a:solidFill>
                <a:srgbClr val="FF0000"/>
              </a:solidFill>
              <a:latin typeface="Times New Roman" panose="02020603050405020304" pitchFamily="18" charset="0"/>
              <a:ea typeface="隶书" panose="02010509060101010101" pitchFamily="49" charset="-122"/>
              <a:cs typeface="Times New Roman" panose="02020603050405020304" pitchFamily="18" charset="0"/>
            </a:endParaRPr>
          </a:p>
        </p:txBody>
      </p:sp>
      <p:sp>
        <p:nvSpPr>
          <p:cNvPr id="8" name="矩形 7">
            <a:extLst>
              <a:ext uri="{FF2B5EF4-FFF2-40B4-BE49-F238E27FC236}">
                <a16:creationId xmlns:a16="http://schemas.microsoft.com/office/drawing/2014/main" id="{76E21E35-32BF-4046-B333-12D5EBF284EA}"/>
              </a:ext>
            </a:extLst>
          </p:cNvPr>
          <p:cNvSpPr/>
          <p:nvPr/>
        </p:nvSpPr>
        <p:spPr>
          <a:xfrm>
            <a:off x="7020272" y="718429"/>
            <a:ext cx="1977636" cy="341632"/>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en-US" altLang="ko-KR" b="1" kern="0" dirty="0">
                <a:solidFill>
                  <a:srgbClr val="FF0000"/>
                </a:solidFill>
                <a:latin typeface="Times New Roman" panose="02020603050405020304" pitchFamily="18" charset="0"/>
                <a:ea typeface="隶书" panose="02010509060101010101" pitchFamily="49" charset="-122"/>
                <a:cs typeface="Times New Roman" panose="02020603050405020304" pitchFamily="18" charset="0"/>
              </a:rPr>
              <a:t>x=</a:t>
            </a:r>
            <a:r>
              <a:rPr lang="en-US" altLang="ko-KR" b="1" kern="0" dirty="0" err="1">
                <a:solidFill>
                  <a:srgbClr val="FF0000"/>
                </a:solidFill>
                <a:latin typeface="Times New Roman" panose="02020603050405020304" pitchFamily="18" charset="0"/>
                <a:ea typeface="隶书" panose="02010509060101010101" pitchFamily="49" charset="-122"/>
                <a:cs typeface="Times New Roman" panose="02020603050405020304" pitchFamily="18" charset="0"/>
              </a:rPr>
              <a:t>xy</a:t>
            </a:r>
            <a:r>
              <a:rPr lang="en-US" altLang="ko-KR" b="1" kern="0" dirty="0">
                <a:solidFill>
                  <a:srgbClr val="FF0000"/>
                </a:solidFill>
                <a:latin typeface="Times New Roman" panose="02020603050405020304" pitchFamily="18" charset="0"/>
                <a:ea typeface="隶书" panose="02010509060101010101" pitchFamily="49" charset="-122"/>
                <a:cs typeface="Times New Roman" panose="02020603050405020304" pitchFamily="18" charset="0"/>
              </a:rPr>
              <a:t>(1)</a:t>
            </a:r>
            <a:r>
              <a:rPr lang="zh-CN" altLang="en-US" b="1" kern="0" dirty="0">
                <a:solidFill>
                  <a:srgbClr val="FF0000"/>
                </a:solidFill>
                <a:latin typeface="Times New Roman" panose="02020603050405020304" pitchFamily="18" charset="0"/>
                <a:ea typeface="隶书" panose="02010509060101010101" pitchFamily="49" charset="-122"/>
                <a:cs typeface="Times New Roman" panose="02020603050405020304" pitchFamily="18" charset="0"/>
              </a:rPr>
              <a:t>，</a:t>
            </a:r>
            <a:r>
              <a:rPr lang="en-US" altLang="zh-CN" b="1" kern="0" dirty="0">
                <a:solidFill>
                  <a:srgbClr val="FF0000"/>
                </a:solidFill>
                <a:latin typeface="Times New Roman" panose="02020603050405020304" pitchFamily="18" charset="0"/>
                <a:ea typeface="隶书" panose="02010509060101010101" pitchFamily="49" charset="-122"/>
                <a:cs typeface="Times New Roman" panose="02020603050405020304" pitchFamily="18" charset="0"/>
              </a:rPr>
              <a:t>y=</a:t>
            </a:r>
            <a:r>
              <a:rPr lang="en-US" altLang="ko-KR" b="1" kern="0" dirty="0" err="1">
                <a:solidFill>
                  <a:srgbClr val="FF0000"/>
                </a:solidFill>
                <a:latin typeface="Times New Roman" panose="02020603050405020304" pitchFamily="18" charset="0"/>
                <a:ea typeface="隶书" panose="02010509060101010101" pitchFamily="49" charset="-122"/>
                <a:cs typeface="Times New Roman" panose="02020603050405020304" pitchFamily="18" charset="0"/>
              </a:rPr>
              <a:t>xy</a:t>
            </a:r>
            <a:r>
              <a:rPr lang="en-US" altLang="ko-KR" b="1" kern="0" dirty="0">
                <a:solidFill>
                  <a:srgbClr val="FF0000"/>
                </a:solidFill>
                <a:latin typeface="Times New Roman" panose="02020603050405020304" pitchFamily="18" charset="0"/>
                <a:ea typeface="隶书" panose="02010509060101010101" pitchFamily="49" charset="-122"/>
                <a:cs typeface="Times New Roman" panose="02020603050405020304" pitchFamily="18" charset="0"/>
              </a:rPr>
              <a:t>(2)</a:t>
            </a:r>
            <a:endParaRPr lang="zh-CN" altLang="en-US" b="1" kern="0" dirty="0">
              <a:solidFill>
                <a:srgbClr val="FF0000"/>
              </a:solidFill>
              <a:latin typeface="Times New Roman" panose="02020603050405020304" pitchFamily="18" charset="0"/>
              <a:ea typeface="隶书" panose="02010509060101010101" pitchFamily="49" charset="-122"/>
              <a:cs typeface="Times New Roman" panose="02020603050405020304" pitchFamily="18" charset="0"/>
            </a:endParaRPr>
          </a:p>
        </p:txBody>
      </p:sp>
      <p:sp>
        <p:nvSpPr>
          <p:cNvPr id="9" name="矩形 8">
            <a:extLst>
              <a:ext uri="{FF2B5EF4-FFF2-40B4-BE49-F238E27FC236}">
                <a16:creationId xmlns:a16="http://schemas.microsoft.com/office/drawing/2014/main" id="{A5BB8EF1-125F-48C3-98C8-605FE1C8EA17}"/>
              </a:ext>
            </a:extLst>
          </p:cNvPr>
          <p:cNvSpPr/>
          <p:nvPr/>
        </p:nvSpPr>
        <p:spPr>
          <a:xfrm>
            <a:off x="146093" y="1167461"/>
            <a:ext cx="417078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eaLnBrk="0" hangingPunct="0"/>
            <a:r>
              <a:rPr lang="zh-CN" altLang="en-US" sz="2000" dirty="0">
                <a:solidFill>
                  <a:srgbClr val="00B0F0"/>
                </a:solidFill>
                <a:latin typeface="微软雅黑" panose="020B0503020204020204" pitchFamily="34" charset="-122"/>
                <a:ea typeface="微软雅黑" panose="020B0503020204020204" pitchFamily="34" charset="-122"/>
              </a:rPr>
              <a:t>（</a:t>
            </a:r>
            <a:r>
              <a:rPr lang="en-US" altLang="zh-CN" sz="2000" dirty="0">
                <a:solidFill>
                  <a:srgbClr val="00B0F0"/>
                </a:solidFill>
                <a:latin typeface="微软雅黑" panose="020B0503020204020204" pitchFamily="34" charset="-122"/>
                <a:ea typeface="微软雅黑" panose="020B0503020204020204" pitchFamily="34" charset="-122"/>
              </a:rPr>
              <a:t>2</a:t>
            </a:r>
            <a:r>
              <a:rPr lang="zh-CN" altLang="en-US" sz="2000" dirty="0">
                <a:solidFill>
                  <a:srgbClr val="00B0F0"/>
                </a:solidFill>
                <a:latin typeface="微软雅黑" panose="020B0503020204020204" pitchFamily="34" charset="-122"/>
                <a:ea typeface="微软雅黑" panose="020B0503020204020204" pitchFamily="34" charset="-122"/>
              </a:rPr>
              <a:t>）求香蕉函数曲面的最低点</a:t>
            </a:r>
          </a:p>
        </p:txBody>
      </p:sp>
      <p:sp>
        <p:nvSpPr>
          <p:cNvPr id="12" name="文本框 11">
            <a:extLst>
              <a:ext uri="{FF2B5EF4-FFF2-40B4-BE49-F238E27FC236}">
                <a16:creationId xmlns:a16="http://schemas.microsoft.com/office/drawing/2014/main" id="{512505EA-907C-4424-927C-5EDDD1225DD3}"/>
              </a:ext>
            </a:extLst>
          </p:cNvPr>
          <p:cNvSpPr txBox="1"/>
          <p:nvPr/>
        </p:nvSpPr>
        <p:spPr>
          <a:xfrm>
            <a:off x="934885" y="69257"/>
            <a:ext cx="7638527" cy="523220"/>
          </a:xfrm>
          <a:prstGeom prst="rect">
            <a:avLst/>
          </a:prstGeom>
          <a:solidFill>
            <a:schemeClr val="bg1"/>
          </a:solidFill>
        </p:spPr>
        <p:txBody>
          <a:bodyPr wrap="square">
            <a:spAutoFit/>
          </a:bodyPr>
          <a:lstStyle>
            <a:defPPr>
              <a:defRPr lang="zh-CN"/>
            </a:defPPr>
            <a:lvl1pPr>
              <a:lnSpc>
                <a:spcPct val="150000"/>
              </a:lnSpc>
              <a:defRPr sz="3200">
                <a:solidFill>
                  <a:srgbClr val="002060"/>
                </a:solidFill>
                <a:latin typeface="华文楷体" panose="02010600040101010101" pitchFamily="2" charset="-122"/>
                <a:ea typeface="华文楷体" panose="02010600040101010101" pitchFamily="2" charset="-122"/>
              </a:defRPr>
            </a:lvl1pPr>
          </a:lstStyle>
          <a:p>
            <a:pPr>
              <a:lnSpc>
                <a:spcPct val="100000"/>
              </a:lnSpc>
            </a:pPr>
            <a:r>
              <a:rPr lang="en-US" altLang="zh-CN" sz="2800" b="0" dirty="0">
                <a:solidFill>
                  <a:srgbClr val="002060"/>
                </a:solidFill>
                <a:latin typeface="华文楷体" panose="02010600040101010101" pitchFamily="2" charset="-122"/>
                <a:ea typeface="华文楷体" panose="02010600040101010101" pitchFamily="2" charset="-122"/>
              </a:rPr>
              <a:t>§8.4.2</a:t>
            </a:r>
            <a:r>
              <a:rPr lang="zh-CN" altLang="en-US" sz="2800" dirty="0"/>
              <a:t>求</a:t>
            </a:r>
            <a:r>
              <a:rPr lang="zh-CN" altLang="en-US" sz="2800" kern="0" dirty="0"/>
              <a:t>多变量</a:t>
            </a:r>
            <a:r>
              <a:rPr lang="zh-CN" altLang="en-US" sz="2800" dirty="0"/>
              <a:t>函数最</a:t>
            </a:r>
            <a:r>
              <a:rPr lang="en-US" altLang="ko-KR" sz="2800" dirty="0" err="1"/>
              <a:t>小值</a:t>
            </a:r>
            <a:r>
              <a:rPr lang="en-US" altLang="zh-CN" sz="2800" kern="0" dirty="0">
                <a:solidFill>
                  <a:srgbClr val="FF0000"/>
                </a:solidFill>
              </a:rPr>
              <a:t> </a:t>
            </a:r>
            <a:r>
              <a:rPr lang="en-US" altLang="zh-CN" sz="2800" dirty="0" err="1">
                <a:solidFill>
                  <a:srgbClr val="FF0000"/>
                </a:solidFill>
              </a:rPr>
              <a:t>fminunc</a:t>
            </a:r>
            <a:r>
              <a:rPr lang="zh-CN" altLang="en-US" sz="2800" dirty="0">
                <a:solidFill>
                  <a:srgbClr val="FF0000"/>
                </a:solidFill>
              </a:rPr>
              <a:t>和</a:t>
            </a:r>
            <a:r>
              <a:rPr lang="en-US" altLang="zh-CN" sz="2800" dirty="0">
                <a:solidFill>
                  <a:srgbClr val="FF0000"/>
                </a:solidFill>
              </a:rPr>
              <a:t>fminsearch</a:t>
            </a:r>
            <a:endParaRPr lang="zh-CN" altLang="en-US" sz="2800" dirty="0"/>
          </a:p>
        </p:txBody>
      </p:sp>
      <p:sp>
        <p:nvSpPr>
          <p:cNvPr id="11" name="Rectangle 1">
            <a:extLst>
              <a:ext uri="{FF2B5EF4-FFF2-40B4-BE49-F238E27FC236}">
                <a16:creationId xmlns:a16="http://schemas.microsoft.com/office/drawing/2014/main" id="{5E7BAC05-57F4-4347-9A86-7E2B9D01F74E}"/>
              </a:ext>
            </a:extLst>
          </p:cNvPr>
          <p:cNvSpPr>
            <a:spLocks noChangeArrowheads="1"/>
          </p:cNvSpPr>
          <p:nvPr/>
        </p:nvSpPr>
        <p:spPr bwMode="auto">
          <a:xfrm>
            <a:off x="1537417" y="4090645"/>
            <a:ext cx="7449987" cy="37709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dist"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0070C0"/>
                </a:solidFill>
                <a:effectLst/>
                <a:latin typeface="华文楷体" panose="02010600040101010101" pitchFamily="2" charset="-122"/>
                <a:ea typeface="华文楷体" panose="02010600040101010101" pitchFamily="2" charset="-122"/>
              </a:rPr>
              <a:t>fminsearch 使用的算法不估计目标函数的任何导数。</a:t>
            </a:r>
            <a:r>
              <a:rPr lang="zh-CN" altLang="en-US" b="1" dirty="0">
                <a:solidFill>
                  <a:srgbClr val="0070C0"/>
                </a:solidFill>
                <a:latin typeface="华文楷体" panose="02010600040101010101" pitchFamily="2" charset="-122"/>
                <a:ea typeface="华文楷体" panose="02010600040101010101" pitchFamily="2" charset="-122"/>
              </a:rPr>
              <a:t>直接</a:t>
            </a:r>
            <a:r>
              <a:rPr kumimoji="0" lang="zh-CN" altLang="zh-CN" b="1" i="0" u="none" strike="noStrike" cap="none" normalizeH="0" baseline="0" dirty="0">
                <a:ln>
                  <a:noFill/>
                </a:ln>
                <a:solidFill>
                  <a:srgbClr val="0070C0"/>
                </a:solidFill>
                <a:effectLst/>
                <a:latin typeface="华文楷体" panose="02010600040101010101" pitchFamily="2" charset="-122"/>
                <a:ea typeface="华文楷体" panose="02010600040101010101" pitchFamily="2" charset="-122"/>
              </a:rPr>
              <a:t>搜索方法 </a:t>
            </a:r>
          </a:p>
        </p:txBody>
      </p:sp>
      <p:sp>
        <p:nvSpPr>
          <p:cNvPr id="13" name="波形 12">
            <a:extLst>
              <a:ext uri="{FF2B5EF4-FFF2-40B4-BE49-F238E27FC236}">
                <a16:creationId xmlns:a16="http://schemas.microsoft.com/office/drawing/2014/main" id="{E98FA1FF-AC4A-4A45-9862-E05408C50B35}"/>
              </a:ext>
            </a:extLst>
          </p:cNvPr>
          <p:cNvSpPr/>
          <p:nvPr/>
        </p:nvSpPr>
        <p:spPr>
          <a:xfrm>
            <a:off x="146093" y="669039"/>
            <a:ext cx="610556" cy="474076"/>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charset="-122"/>
                <a:ea typeface="微软雅黑" panose="020B0503020204020204" charset="-122"/>
              </a:rPr>
              <a:t>例84-4</a:t>
            </a:r>
            <a:endParaRPr lang="ko-KR" altLang="en-US" sz="1600" b="1" dirty="0">
              <a:solidFill>
                <a:srgbClr val="FFFF00"/>
              </a:solidFill>
              <a:latin typeface="微软雅黑" panose="020B0503020204020204" charset="-122"/>
              <a:ea typeface="微软雅黑" panose="020B0503020204020204" charset="-122"/>
            </a:endParaRPr>
          </a:p>
        </p:txBody>
      </p:sp>
      <p:sp>
        <p:nvSpPr>
          <p:cNvPr id="15" name="文本框 14">
            <a:extLst>
              <a:ext uri="{FF2B5EF4-FFF2-40B4-BE49-F238E27FC236}">
                <a16:creationId xmlns:a16="http://schemas.microsoft.com/office/drawing/2014/main" id="{5E8C408A-3F31-4B51-BB85-FDC9BB70F5A9}"/>
              </a:ext>
            </a:extLst>
          </p:cNvPr>
          <p:cNvSpPr txBox="1"/>
          <p:nvPr/>
        </p:nvSpPr>
        <p:spPr>
          <a:xfrm>
            <a:off x="3739527" y="1105606"/>
            <a:ext cx="4149616" cy="400110"/>
          </a:xfrm>
          <a:prstGeom prst="rect">
            <a:avLst/>
          </a:prstGeom>
          <a:noFill/>
        </p:spPr>
        <p:txBody>
          <a:bodyPr wrap="square">
            <a:spAutoFit/>
          </a:bodyPr>
          <a:lstStyle/>
          <a:p>
            <a:pPr algn="dist"/>
            <a:r>
              <a:rPr lang="en-US" altLang="zh-CN" sz="2000" b="1" i="0" dirty="0">
                <a:solidFill>
                  <a:srgbClr val="FF0000"/>
                </a:solidFill>
                <a:effectLst/>
                <a:latin typeface="华文楷体" panose="02010600040101010101" pitchFamily="2" charset="-122"/>
                <a:ea typeface="华文楷体" panose="02010600040101010101" pitchFamily="2" charset="-122"/>
              </a:rPr>
              <a:t>z=f(</a:t>
            </a:r>
            <a:r>
              <a:rPr lang="en-US" altLang="zh-CN" sz="2000" b="1" i="0" dirty="0" err="1">
                <a:solidFill>
                  <a:srgbClr val="FF0000"/>
                </a:solidFill>
                <a:effectLst/>
                <a:latin typeface="华文楷体" panose="02010600040101010101" pitchFamily="2" charset="-122"/>
                <a:ea typeface="华文楷体" panose="02010600040101010101" pitchFamily="2" charset="-122"/>
              </a:rPr>
              <a:t>x,y</a:t>
            </a:r>
            <a:r>
              <a:rPr lang="en-US" altLang="zh-CN" sz="2000" b="1" i="0" dirty="0">
                <a:solidFill>
                  <a:srgbClr val="FF0000"/>
                </a:solidFill>
                <a:effectLst/>
                <a:latin typeface="华文楷体" panose="02010600040101010101" pitchFamily="2" charset="-122"/>
                <a:ea typeface="华文楷体" panose="02010600040101010101" pitchFamily="2" charset="-122"/>
              </a:rPr>
              <a:t>)=100(y-x^2))^2+(1-x)^2)</a:t>
            </a:r>
            <a:r>
              <a:rPr lang="en-US" altLang="ko-KR" sz="2000" b="1" dirty="0">
                <a:solidFill>
                  <a:srgbClr val="FF0000"/>
                </a:solidFill>
                <a:latin typeface="华文楷体" panose="02010600040101010101" pitchFamily="2" charset="-122"/>
                <a:ea typeface="华文楷体" panose="02010600040101010101" pitchFamily="2" charset="-122"/>
              </a:rPr>
              <a:t> </a:t>
            </a:r>
            <a:endParaRPr lang="zh-CN" altLang="en-US" sz="2000" b="1" dirty="0">
              <a:solidFill>
                <a:srgbClr val="FF0000"/>
              </a:solidFill>
            </a:endParaRPr>
          </a:p>
        </p:txBody>
      </p:sp>
      <p:sp>
        <p:nvSpPr>
          <p:cNvPr id="16" name="AutoShape 13">
            <a:extLst>
              <a:ext uri="{FF2B5EF4-FFF2-40B4-BE49-F238E27FC236}">
                <a16:creationId xmlns:a16="http://schemas.microsoft.com/office/drawing/2014/main" id="{1481145F-D2A3-4776-83A8-9DD2D78D1FA6}"/>
              </a:ext>
            </a:extLst>
          </p:cNvPr>
          <p:cNvSpPr/>
          <p:nvPr/>
        </p:nvSpPr>
        <p:spPr bwMode="auto">
          <a:xfrm>
            <a:off x="241273" y="3974192"/>
            <a:ext cx="1296144" cy="609995"/>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numCol="1" anchor="ctr">
            <a:noAutofit/>
          </a:bodyPr>
          <a:lstStyle/>
          <a:p>
            <a:pPr algn="l"/>
            <a:r>
              <a:rPr lang="zh-CN" altLang="en-US" sz="1400" b="1" dirty="0">
                <a:solidFill>
                  <a:srgbClr val="FFFF00"/>
                </a:solidFill>
                <a:latin typeface="微软雅黑" panose="020B0503020204020204" pitchFamily="34" charset="-122"/>
                <a:ea typeface="微软雅黑" panose="020B0503020204020204" pitchFamily="34" charset="-122"/>
              </a:rPr>
              <a:t>注意</a:t>
            </a:r>
            <a:endParaRPr lang="zh-CN" altLang="en-US" sz="1400" b="1" i="0" dirty="0">
              <a:solidFill>
                <a:srgbClr val="FFFF00"/>
              </a:solidFill>
              <a:effectLst/>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FE7135B3-992F-46C8-A3BB-3808CBC5D7A7}"/>
              </a:ext>
            </a:extLst>
          </p:cNvPr>
          <p:cNvSpPr txBox="1"/>
          <p:nvPr/>
        </p:nvSpPr>
        <p:spPr>
          <a:xfrm>
            <a:off x="6240923" y="2018845"/>
            <a:ext cx="2717234" cy="369332"/>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r>
              <a:rPr lang="zh-CN" altLang="zh-CN" sz="2000" b="0" dirty="0">
                <a:effectLst/>
                <a:highlight>
                  <a:srgbClr val="FF0000"/>
                </a:highlight>
                <a:latin typeface="Times New Roman" panose="02020603050405020304" pitchFamily="18" charset="0"/>
                <a:ea typeface="source-code-pro"/>
                <a:cs typeface="Times New Roman" panose="02020603050405020304" pitchFamily="18" charset="0"/>
              </a:rPr>
              <a:t>x,fval</a:t>
            </a:r>
            <a:r>
              <a:rPr lang="en-US" altLang="zh-CN" sz="2000" b="0" dirty="0">
                <a:highlight>
                  <a:srgbClr val="FF0000"/>
                </a:highlight>
                <a:latin typeface="Times New Roman" panose="02020603050405020304" pitchFamily="18" charset="0"/>
                <a:cs typeface="Times New Roman" panose="02020603050405020304" pitchFamily="18" charset="0"/>
              </a:rPr>
              <a:t>= </a:t>
            </a:r>
            <a:r>
              <a:rPr lang="en-US" altLang="zh-CN" sz="2000" b="0" dirty="0" err="1">
                <a:highlight>
                  <a:srgbClr val="FF0000"/>
                </a:highlight>
                <a:latin typeface="Times New Roman" panose="02020603050405020304" pitchFamily="18" charset="0"/>
                <a:cs typeface="Times New Roman" panose="02020603050405020304" pitchFamily="18" charset="0"/>
              </a:rPr>
              <a:t>fminunc</a:t>
            </a:r>
            <a:r>
              <a:rPr lang="en-US" altLang="zh-CN" sz="2000" b="0" dirty="0">
                <a:highlight>
                  <a:srgbClr val="FF0000"/>
                </a:highlight>
                <a:latin typeface="Times New Roman" panose="02020603050405020304" pitchFamily="18" charset="0"/>
                <a:cs typeface="Times New Roman" panose="02020603050405020304" pitchFamily="18" charset="0"/>
              </a:rPr>
              <a:t>(fun, x0)</a:t>
            </a:r>
            <a:endParaRPr lang="ko-KR" altLang="en-US" sz="2000" b="0" dirty="0">
              <a:highlight>
                <a:srgbClr val="FF00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47151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323D63ED-FBE2-FB89-C82D-B71321DE14F4}"/>
              </a:ext>
            </a:extLst>
          </p:cNvPr>
          <p:cNvSpPr>
            <a:spLocks noGrp="1"/>
          </p:cNvSpPr>
          <p:nvPr>
            <p:ph idx="1"/>
          </p:nvPr>
        </p:nvSpPr>
        <p:spPr>
          <a:xfrm>
            <a:off x="414400" y="677444"/>
            <a:ext cx="8571409" cy="1673364"/>
          </a:xfrm>
          <a:noFill/>
          <a:ln>
            <a:noFill/>
          </a:ln>
        </p:spPr>
        <p:txBody>
          <a:bodyPr>
            <a:noAutofit/>
          </a:bodyPr>
          <a:lstStyle/>
          <a:p>
            <a:pPr marL="0" indent="0">
              <a:lnSpc>
                <a:spcPts val="3000"/>
              </a:lnSpc>
              <a:buNone/>
            </a:pPr>
            <a:r>
              <a:rPr lang="zh-CN" altLang="en-US" sz="2200" dirty="0">
                <a:solidFill>
                  <a:srgbClr val="002060"/>
                </a:solidFill>
                <a:latin typeface="华文楷体" panose="02010600040101010101" pitchFamily="2" charset="-122"/>
                <a:ea typeface="华文楷体" panose="02010600040101010101" pitchFamily="2" charset="-122"/>
              </a:rPr>
              <a:t> 设某地有</a:t>
            </a:r>
            <a:r>
              <a:rPr lang="en-US" altLang="zh-CN" sz="2200" dirty="0">
                <a:solidFill>
                  <a:srgbClr val="002060"/>
                </a:solidFill>
                <a:latin typeface="华文楷体" panose="02010600040101010101" pitchFamily="2" charset="-122"/>
                <a:ea typeface="华文楷体" panose="02010600040101010101" pitchFamily="2" charset="-122"/>
              </a:rPr>
              <a:t>7</a:t>
            </a:r>
            <a:r>
              <a:rPr lang="zh-CN" altLang="en-US" sz="2200" dirty="0">
                <a:solidFill>
                  <a:srgbClr val="002060"/>
                </a:solidFill>
                <a:latin typeface="华文楷体" panose="02010600040101010101" pitchFamily="2" charset="-122"/>
                <a:ea typeface="华文楷体" panose="02010600040101010101" pitchFamily="2" charset="-122"/>
              </a:rPr>
              <a:t>个镇坐标</a:t>
            </a:r>
            <a:r>
              <a:rPr lang="en-US" altLang="zh-CN" sz="2200" b="1" dirty="0">
                <a:solidFill>
                  <a:srgbClr val="00B0F0"/>
                </a:solidFill>
                <a:latin typeface="华文楷体" panose="02010600040101010101" pitchFamily="2" charset="-122"/>
                <a:ea typeface="华文楷体" panose="02010600040101010101" pitchFamily="2" charset="-122"/>
              </a:rPr>
              <a:t>x</a:t>
            </a:r>
            <a:r>
              <a:rPr lang="en-US" altLang="zh-CN" sz="2200" b="1" baseline="-25000" dirty="0">
                <a:solidFill>
                  <a:srgbClr val="00B0F0"/>
                </a:solidFill>
                <a:latin typeface="华文楷体" panose="02010600040101010101" pitchFamily="2" charset="-122"/>
                <a:ea typeface="华文楷体" panose="02010600040101010101" pitchFamily="2" charset="-122"/>
              </a:rPr>
              <a:t>i</a:t>
            </a:r>
            <a:r>
              <a:rPr lang="en-US" altLang="zh-CN" sz="2200" b="1" dirty="0">
                <a:solidFill>
                  <a:srgbClr val="00B0F0"/>
                </a:solidFill>
                <a:latin typeface="华文楷体" panose="02010600040101010101" pitchFamily="2" charset="-122"/>
                <a:ea typeface="华文楷体" panose="02010600040101010101" pitchFamily="2" charset="-122"/>
              </a:rPr>
              <a:t>,y</a:t>
            </a:r>
            <a:r>
              <a:rPr lang="en-US" altLang="zh-CN" sz="2200" b="1" baseline="-25000" dirty="0">
                <a:solidFill>
                  <a:srgbClr val="00B0F0"/>
                </a:solidFill>
                <a:latin typeface="华文楷体" panose="02010600040101010101" pitchFamily="2" charset="-122"/>
                <a:ea typeface="华文楷体" panose="02010600040101010101" pitchFamily="2" charset="-122"/>
              </a:rPr>
              <a:t>i</a:t>
            </a:r>
            <a:r>
              <a:rPr lang="zh-CN" altLang="en-US" sz="2200" dirty="0">
                <a:solidFill>
                  <a:srgbClr val="002060"/>
                </a:solidFill>
                <a:latin typeface="华文楷体" panose="02010600040101010101" pitchFamily="2" charset="-122"/>
                <a:ea typeface="华文楷体" panose="02010600040101010101" pitchFamily="2" charset="-122"/>
              </a:rPr>
              <a:t>分别为（</a:t>
            </a:r>
            <a:r>
              <a:rPr lang="en-US" altLang="zh-CN" sz="2200" dirty="0">
                <a:solidFill>
                  <a:srgbClr val="002060"/>
                </a:solidFill>
                <a:latin typeface="华文楷体" panose="02010600040101010101" pitchFamily="2" charset="-122"/>
                <a:ea typeface="华文楷体" panose="02010600040101010101" pitchFamily="2" charset="-122"/>
              </a:rPr>
              <a:t>2.3,8.2), (4.6,7.4), (4.9</a:t>
            </a:r>
            <a:r>
              <a:rPr lang="zh-CN" altLang="en-US" sz="2200" dirty="0">
                <a:solidFill>
                  <a:srgbClr val="002060"/>
                </a:solidFill>
                <a:latin typeface="华文楷体" panose="02010600040101010101" pitchFamily="2" charset="-122"/>
                <a:ea typeface="华文楷体" panose="02010600040101010101" pitchFamily="2" charset="-122"/>
              </a:rPr>
              <a:t>，</a:t>
            </a:r>
            <a:r>
              <a:rPr lang="en-US" altLang="zh-CN" sz="2200" dirty="0">
                <a:solidFill>
                  <a:srgbClr val="002060"/>
                </a:solidFill>
                <a:latin typeface="华文楷体" panose="02010600040101010101" pitchFamily="2" charset="-122"/>
                <a:ea typeface="华文楷体" panose="02010600040101010101" pitchFamily="2" charset="-122"/>
              </a:rPr>
              <a:t>6.2), (6.1,4.4), (7.6,9.2), (8.9,7.9), (9.5,0.2)</a:t>
            </a:r>
            <a:r>
              <a:rPr lang="zh-CN" altLang="en-US" sz="2200" dirty="0">
                <a:solidFill>
                  <a:srgbClr val="002060"/>
                </a:solidFill>
                <a:latin typeface="华文楷体" panose="02010600040101010101" pitchFamily="2" charset="-122"/>
                <a:ea typeface="华文楷体" panose="02010600040101010101" pitchFamily="2" charset="-122"/>
              </a:rPr>
              <a:t>，单位</a:t>
            </a:r>
            <a:r>
              <a:rPr lang="en-US" altLang="zh-CN" sz="2200" dirty="0">
                <a:solidFill>
                  <a:srgbClr val="002060"/>
                </a:solidFill>
                <a:latin typeface="华文楷体" panose="02010600040101010101" pitchFamily="2" charset="-122"/>
                <a:ea typeface="华文楷体" panose="02010600040101010101" pitchFamily="2" charset="-122"/>
              </a:rPr>
              <a:t>:km,7</a:t>
            </a:r>
            <a:r>
              <a:rPr lang="zh-CN" altLang="en-US" sz="2200" dirty="0">
                <a:solidFill>
                  <a:srgbClr val="002060"/>
                </a:solidFill>
                <a:latin typeface="华文楷体" panose="02010600040101010101" pitchFamily="2" charset="-122"/>
                <a:ea typeface="华文楷体" panose="02010600040101010101" pitchFamily="2" charset="-122"/>
              </a:rPr>
              <a:t>个镇依次每天分别清扫出垃圾车次</a:t>
            </a:r>
            <a:r>
              <a:rPr lang="en-US" altLang="zh-CN" sz="2200" b="1" dirty="0">
                <a:solidFill>
                  <a:srgbClr val="00B0F0"/>
                </a:solidFill>
              </a:rPr>
              <a:t>c</a:t>
            </a:r>
            <a:r>
              <a:rPr lang="zh-CN" altLang="en-US" sz="2200" dirty="0">
                <a:solidFill>
                  <a:srgbClr val="002060"/>
                </a:solidFill>
                <a:latin typeface="华文楷体" panose="02010600040101010101" pitchFamily="2" charset="-122"/>
                <a:ea typeface="华文楷体" panose="02010600040101010101" pitchFamily="2" charset="-122"/>
              </a:rPr>
              <a:t>分别为</a:t>
            </a:r>
            <a:r>
              <a:rPr lang="en-US" altLang="zh-CN" sz="2200" dirty="0">
                <a:solidFill>
                  <a:srgbClr val="002060"/>
                </a:solidFill>
                <a:latin typeface="华文楷体" panose="02010600040101010101" pitchFamily="2" charset="-122"/>
                <a:ea typeface="华文楷体" panose="02010600040101010101" pitchFamily="2" charset="-122"/>
              </a:rPr>
              <a:t>5,6,3,1,3,7,2</a:t>
            </a:r>
            <a:r>
              <a:rPr lang="zh-CN" altLang="en-US" sz="2200" dirty="0">
                <a:solidFill>
                  <a:srgbClr val="002060"/>
                </a:solidFill>
                <a:latin typeface="华文楷体" panose="02010600040101010101" pitchFamily="2" charset="-122"/>
                <a:ea typeface="华文楷体" panose="02010600040101010101" pitchFamily="2" charset="-122"/>
              </a:rPr>
              <a:t>，当地政府考虑集中建立一个垃圾处理站，问垃圾处理站建在何处</a:t>
            </a:r>
            <a:r>
              <a:rPr lang="en-US" altLang="zh-CN" sz="2200" dirty="0">
                <a:solidFill>
                  <a:srgbClr val="002060"/>
                </a:solidFill>
                <a:latin typeface="华文楷体" panose="02010600040101010101" pitchFamily="2" charset="-122"/>
                <a:ea typeface="华文楷体" panose="02010600040101010101" pitchFamily="2" charset="-122"/>
              </a:rPr>
              <a:t>(</a:t>
            </a:r>
            <a:r>
              <a:rPr lang="en-US" altLang="zh-CN" sz="2200" b="1" dirty="0" err="1">
                <a:solidFill>
                  <a:srgbClr val="FF0000"/>
                </a:solidFill>
              </a:rPr>
              <a:t>xx,yy</a:t>
            </a:r>
            <a:r>
              <a:rPr lang="zh-CN" altLang="en-US" sz="2200" dirty="0">
                <a:solidFill>
                  <a:srgbClr val="002060"/>
                </a:solidFill>
                <a:latin typeface="华文楷体" panose="02010600040101010101" pitchFamily="2" charset="-122"/>
                <a:ea typeface="华文楷体" panose="02010600040101010101" pitchFamily="2" charset="-122"/>
              </a:rPr>
              <a:t>）</a:t>
            </a:r>
            <a:r>
              <a:rPr lang="en-US" altLang="zh-CN" sz="2200" dirty="0">
                <a:solidFill>
                  <a:srgbClr val="002060"/>
                </a:solidFill>
                <a:latin typeface="华文楷体" panose="02010600040101010101" pitchFamily="2" charset="-122"/>
                <a:ea typeface="华文楷体" panose="02010600040101010101" pitchFamily="2" charset="-122"/>
              </a:rPr>
              <a:t>,</a:t>
            </a:r>
            <a:r>
              <a:rPr lang="zh-CN" altLang="en-US" sz="2200" dirty="0">
                <a:solidFill>
                  <a:srgbClr val="002060"/>
                </a:solidFill>
                <a:latin typeface="华文楷体" panose="02010600040101010101" pitchFamily="2" charset="-122"/>
                <a:ea typeface="华文楷体" panose="02010600040101010101" pitchFamily="2" charset="-122"/>
              </a:rPr>
              <a:t>能使每天垃圾所行驶的总路程最短</a:t>
            </a:r>
            <a:r>
              <a:rPr lang="en-US" altLang="zh-CN" sz="2200" b="1" dirty="0">
                <a:solidFill>
                  <a:srgbClr val="FF0000"/>
                </a:solidFill>
                <a:latin typeface="华文楷体" panose="02010600040101010101" pitchFamily="2" charset="-122"/>
                <a:ea typeface="华文楷体" panose="02010600040101010101" pitchFamily="2" charset="-122"/>
              </a:rPr>
              <a:t>w</a:t>
            </a:r>
            <a:r>
              <a:rPr lang="en-US" altLang="zh-CN" sz="2200" dirty="0">
                <a:solidFill>
                  <a:srgbClr val="002060"/>
                </a:solidFill>
                <a:latin typeface="华文楷体" panose="02010600040101010101" pitchFamily="2" charset="-122"/>
                <a:ea typeface="华文楷体" panose="02010600040101010101" pitchFamily="2" charset="-122"/>
              </a:rPr>
              <a:t>.</a:t>
            </a:r>
            <a:r>
              <a:rPr lang="zh-CN" altLang="en-US" sz="2200" dirty="0">
                <a:solidFill>
                  <a:srgbClr val="002060"/>
                </a:solidFill>
                <a:latin typeface="华文楷体" panose="02010600040101010101" pitchFamily="2" charset="-122"/>
                <a:ea typeface="华文楷体" panose="02010600040101010101" pitchFamily="2" charset="-122"/>
              </a:rPr>
              <a:t> </a:t>
            </a:r>
            <a:endParaRPr lang="en-US" altLang="zh-CN" sz="2200" dirty="0">
              <a:solidFill>
                <a:srgbClr val="002060"/>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4E9CFBF9-8819-EBA1-9E41-E04ABB3CBA79}"/>
                  </a:ext>
                </a:extLst>
              </p:cNvPr>
              <p:cNvSpPr/>
              <p:nvPr/>
            </p:nvSpPr>
            <p:spPr>
              <a:xfrm>
                <a:off x="395536" y="4052344"/>
                <a:ext cx="8565440" cy="539571"/>
              </a:xfrm>
              <a:prstGeom prst="rect">
                <a:avLst/>
              </a:prstGeom>
              <a:solidFill>
                <a:schemeClr val="bg1"/>
              </a:solidFill>
            </p:spPr>
            <p:txBody>
              <a:bodyPr wrap="square">
                <a:spAutoFit/>
              </a:bodyPr>
              <a:lstStyle/>
              <a:p>
                <a:pPr algn="dist"/>
                <a:r>
                  <a:rPr lang="zh-CN" altLang="en-US" sz="2000" kern="0" dirty="0">
                    <a:solidFill>
                      <a:srgbClr val="0070C0"/>
                    </a:solidFill>
                    <a:latin typeface="微软雅黑" panose="020B0503020204020204" pitchFamily="34" charset="-122"/>
                    <a:ea typeface="微软雅黑" panose="020B0503020204020204" pitchFamily="34" charset="-122"/>
                    <a:sym typeface="Arial" panose="020B0604020202020204" pitchFamily="34" charset="0"/>
                  </a:rPr>
                  <a:t>目标函数是</a:t>
                </a:r>
                <a:r>
                  <a:rPr lang="en-US" altLang="zh-CN" sz="2400" dirty="0">
                    <a:solidFill>
                      <a:srgbClr val="FF0000"/>
                    </a:solidFill>
                    <a:effectLst/>
                    <a:latin typeface="隶书" panose="02010509060101010101" pitchFamily="49" charset="-122"/>
                    <a:ea typeface="隶书" panose="02010509060101010101" pitchFamily="49" charset="-122"/>
                  </a:rPr>
                  <a:t>Min w=</a:t>
                </a:r>
                <a14:m>
                  <m:oMath xmlns:m="http://schemas.openxmlformats.org/officeDocument/2006/math">
                    <m:r>
                      <a:rPr lang="en-US" altLang="zh-CN" sz="2400" b="0" i="1" smtClean="0">
                        <a:solidFill>
                          <a:srgbClr val="FF0000"/>
                        </a:solidFill>
                        <a:effectLst/>
                        <a:latin typeface="Cambria Math" panose="02040503050406030204" pitchFamily="18" charset="0"/>
                      </a:rPr>
                      <m:t>𝑚𝑖𝑛</m:t>
                    </m:r>
                    <m:r>
                      <a:rPr lang="en-US" altLang="zh-CN" sz="2400" b="0" i="1" smtClean="0">
                        <a:solidFill>
                          <a:srgbClr val="FF0000"/>
                        </a:solidFill>
                        <a:effectLst/>
                        <a:latin typeface="Cambria Math" panose="02040503050406030204" pitchFamily="18" charset="0"/>
                      </a:rPr>
                      <m:t>  </m:t>
                    </m:r>
                    <m:nary>
                      <m:naryPr>
                        <m:chr m:val="∑"/>
                        <m:ctrlPr>
                          <a:rPr lang="en-US" altLang="zh-CN" sz="2400" b="0" i="1" smtClean="0">
                            <a:solidFill>
                              <a:srgbClr val="FF0000"/>
                            </a:solidFill>
                            <a:effectLst/>
                            <a:latin typeface="Cambria Math" panose="02040503050406030204" pitchFamily="18" charset="0"/>
                          </a:rPr>
                        </m:ctrlPr>
                      </m:naryPr>
                      <m:sub>
                        <m:r>
                          <m:rPr>
                            <m:brk m:alnAt="23"/>
                          </m:rPr>
                          <a:rPr lang="en-US" altLang="zh-CN" sz="2400" b="0" i="1" smtClean="0">
                            <a:solidFill>
                              <a:srgbClr val="FF0000"/>
                            </a:solidFill>
                            <a:effectLst/>
                            <a:latin typeface="Cambria Math" panose="02040503050406030204" pitchFamily="18" charset="0"/>
                          </a:rPr>
                          <m:t>𝑖</m:t>
                        </m:r>
                        <m:r>
                          <a:rPr lang="en-US" altLang="zh-CN" sz="2400" b="0" i="1" smtClean="0">
                            <a:solidFill>
                              <a:srgbClr val="FF0000"/>
                            </a:solidFill>
                            <a:effectLst/>
                            <a:latin typeface="Cambria Math" panose="02040503050406030204" pitchFamily="18" charset="0"/>
                          </a:rPr>
                          <m:t>=1</m:t>
                        </m:r>
                      </m:sub>
                      <m:sup>
                        <m:r>
                          <a:rPr lang="en-US" altLang="zh-CN" sz="2400" b="0" i="1" smtClean="0">
                            <a:solidFill>
                              <a:srgbClr val="FF0000"/>
                            </a:solidFill>
                            <a:effectLst/>
                            <a:latin typeface="Cambria Math" panose="02040503050406030204" pitchFamily="18" charset="0"/>
                          </a:rPr>
                          <m:t>7</m:t>
                        </m:r>
                      </m:sup>
                      <m:e>
                        <m:r>
                          <a:rPr lang="en-US" altLang="zh-CN" sz="2400" b="0" i="1" smtClean="0">
                            <a:solidFill>
                              <a:srgbClr val="FF0000"/>
                            </a:solidFill>
                            <a:effectLst/>
                            <a:latin typeface="Cambria Math" panose="02040503050406030204" pitchFamily="18" charset="0"/>
                          </a:rPr>
                          <m:t>𝑐</m:t>
                        </m:r>
                        <m:r>
                          <a:rPr lang="en-US" altLang="zh-CN" sz="2400" b="0" i="1" smtClean="0">
                            <a:solidFill>
                              <a:srgbClr val="FF0000"/>
                            </a:solidFill>
                            <a:effectLst/>
                            <a:latin typeface="Cambria Math" panose="02040503050406030204" pitchFamily="18" charset="0"/>
                          </a:rPr>
                          <m:t>∗</m:t>
                        </m:r>
                        <m:rad>
                          <m:radPr>
                            <m:degHide m:val="on"/>
                            <m:ctrlPr>
                              <a:rPr lang="en-US" altLang="zh-CN" sz="2400" b="0" i="1" smtClean="0">
                                <a:solidFill>
                                  <a:srgbClr val="FF0000"/>
                                </a:solidFill>
                                <a:effectLst/>
                                <a:latin typeface="Cambria Math" panose="02040503050406030204" pitchFamily="18" charset="0"/>
                              </a:rPr>
                            </m:ctrlPr>
                          </m:radPr>
                          <m:deg/>
                          <m:e>
                            <m:sSup>
                              <m:sSupPr>
                                <m:ctrlPr>
                                  <a:rPr lang="en-US" altLang="zh-CN" sz="2400" b="0" i="1" smtClean="0">
                                    <a:solidFill>
                                      <a:srgbClr val="FF0000"/>
                                    </a:solidFill>
                                    <a:effectLst/>
                                    <a:latin typeface="Cambria Math" panose="02040503050406030204" pitchFamily="18" charset="0"/>
                                  </a:rPr>
                                </m:ctrlPr>
                              </m:sSupPr>
                              <m:e>
                                <m:r>
                                  <a:rPr lang="en-US" altLang="zh-CN" sz="2400" b="0" i="1" smtClean="0">
                                    <a:solidFill>
                                      <a:srgbClr val="FF0000"/>
                                    </a:solidFill>
                                    <a:effectLst/>
                                    <a:latin typeface="Cambria Math" panose="02040503050406030204" pitchFamily="18" charset="0"/>
                                  </a:rPr>
                                  <m:t>(</m:t>
                                </m:r>
                                <m:r>
                                  <a:rPr lang="en-US" altLang="zh-CN" sz="2400" b="0" i="1" smtClean="0">
                                    <a:solidFill>
                                      <a:srgbClr val="FF0000"/>
                                    </a:solidFill>
                                    <a:effectLst/>
                                    <a:latin typeface="Cambria Math" panose="02040503050406030204" pitchFamily="18" charset="0"/>
                                  </a:rPr>
                                  <m:t>𝑥𝑥</m:t>
                                </m:r>
                                <m:r>
                                  <a:rPr lang="en-US" altLang="zh-CN" sz="2400" b="0" i="1" smtClean="0">
                                    <a:solidFill>
                                      <a:srgbClr val="FF0000"/>
                                    </a:solidFill>
                                    <a:effectLst/>
                                    <a:latin typeface="Cambria Math" panose="02040503050406030204" pitchFamily="18" charset="0"/>
                                  </a:rPr>
                                  <m:t>−</m:t>
                                </m:r>
                                <m:sSub>
                                  <m:sSubPr>
                                    <m:ctrlPr>
                                      <a:rPr lang="en-US" altLang="zh-CN" sz="2400" b="0" i="1" smtClean="0">
                                        <a:solidFill>
                                          <a:srgbClr val="FF0000"/>
                                        </a:solidFill>
                                        <a:effectLst/>
                                        <a:latin typeface="Cambria Math" panose="02040503050406030204" pitchFamily="18" charset="0"/>
                                      </a:rPr>
                                    </m:ctrlPr>
                                  </m:sSubPr>
                                  <m:e>
                                    <m:r>
                                      <a:rPr lang="en-US" altLang="zh-CN" sz="2400" b="0" i="1" smtClean="0">
                                        <a:solidFill>
                                          <a:srgbClr val="FF0000"/>
                                        </a:solidFill>
                                        <a:effectLst/>
                                        <a:latin typeface="Cambria Math" panose="02040503050406030204" pitchFamily="18" charset="0"/>
                                      </a:rPr>
                                      <m:t>𝑥</m:t>
                                    </m:r>
                                  </m:e>
                                  <m:sub>
                                    <m:r>
                                      <a:rPr lang="en-US" altLang="zh-CN" sz="2400" b="0" i="1" smtClean="0">
                                        <a:solidFill>
                                          <a:srgbClr val="FF0000"/>
                                        </a:solidFill>
                                        <a:effectLst/>
                                        <a:latin typeface="Cambria Math" panose="02040503050406030204" pitchFamily="18" charset="0"/>
                                      </a:rPr>
                                      <m:t>𝑖</m:t>
                                    </m:r>
                                  </m:sub>
                                </m:sSub>
                                <m:r>
                                  <a:rPr lang="en-US" altLang="zh-CN" sz="2400" b="0" i="1" smtClean="0">
                                    <a:solidFill>
                                      <a:srgbClr val="FF0000"/>
                                    </a:solidFill>
                                    <a:effectLst/>
                                    <a:latin typeface="Cambria Math" panose="02040503050406030204" pitchFamily="18" charset="0"/>
                                  </a:rPr>
                                  <m:t>)</m:t>
                                </m:r>
                              </m:e>
                              <m:sup>
                                <m:r>
                                  <a:rPr lang="en-US" altLang="zh-CN" sz="2400" b="0" i="1" smtClean="0">
                                    <a:solidFill>
                                      <a:srgbClr val="FF0000"/>
                                    </a:solidFill>
                                    <a:effectLst/>
                                    <a:latin typeface="Cambria Math" panose="02040503050406030204" pitchFamily="18" charset="0"/>
                                  </a:rPr>
                                  <m:t>2</m:t>
                                </m:r>
                              </m:sup>
                            </m:sSup>
                            <m:r>
                              <a:rPr lang="en-US" altLang="zh-CN" sz="2400" b="0" i="1" smtClean="0">
                                <a:solidFill>
                                  <a:srgbClr val="FF0000"/>
                                </a:solidFill>
                                <a:effectLst/>
                                <a:latin typeface="Cambria Math" panose="02040503050406030204" pitchFamily="18" charset="0"/>
                              </a:rPr>
                              <m:t>+</m:t>
                            </m:r>
                            <m:sSup>
                              <m:sSupPr>
                                <m:ctrlPr>
                                  <a:rPr lang="en-US" altLang="zh-CN" sz="2400" b="0" i="1" smtClean="0">
                                    <a:solidFill>
                                      <a:srgbClr val="FF0000"/>
                                    </a:solidFill>
                                    <a:effectLst/>
                                    <a:latin typeface="Cambria Math" panose="02040503050406030204" pitchFamily="18" charset="0"/>
                                  </a:rPr>
                                </m:ctrlPr>
                              </m:sSupPr>
                              <m:e>
                                <m:r>
                                  <a:rPr lang="en-US" altLang="zh-CN" sz="2400" b="0" i="1" smtClean="0">
                                    <a:solidFill>
                                      <a:srgbClr val="FF0000"/>
                                    </a:solidFill>
                                    <a:effectLst/>
                                    <a:latin typeface="Cambria Math" panose="02040503050406030204" pitchFamily="18" charset="0"/>
                                  </a:rPr>
                                  <m:t>(</m:t>
                                </m:r>
                                <m:r>
                                  <a:rPr lang="en-US" altLang="zh-CN" sz="2400" b="0" i="1" smtClean="0">
                                    <a:solidFill>
                                      <a:srgbClr val="FF0000"/>
                                    </a:solidFill>
                                    <a:effectLst/>
                                    <a:latin typeface="Cambria Math" panose="02040503050406030204" pitchFamily="18" charset="0"/>
                                  </a:rPr>
                                  <m:t>𝑦𝑦</m:t>
                                </m:r>
                                <m:r>
                                  <a:rPr lang="en-US" altLang="zh-CN" sz="2400" b="0" i="1" smtClean="0">
                                    <a:solidFill>
                                      <a:srgbClr val="FF0000"/>
                                    </a:solidFill>
                                    <a:effectLst/>
                                    <a:latin typeface="Cambria Math" panose="02040503050406030204" pitchFamily="18" charset="0"/>
                                  </a:rPr>
                                  <m:t>−</m:t>
                                </m:r>
                                <m:sSub>
                                  <m:sSubPr>
                                    <m:ctrlPr>
                                      <a:rPr lang="en-US" altLang="zh-CN" sz="2400" b="0" i="1" smtClean="0">
                                        <a:solidFill>
                                          <a:srgbClr val="FF0000"/>
                                        </a:solidFill>
                                        <a:effectLst/>
                                        <a:latin typeface="Cambria Math" panose="02040503050406030204" pitchFamily="18" charset="0"/>
                                      </a:rPr>
                                    </m:ctrlPr>
                                  </m:sSubPr>
                                  <m:e>
                                    <m:r>
                                      <a:rPr lang="en-US" altLang="zh-CN" sz="2400" b="0" i="1" smtClean="0">
                                        <a:solidFill>
                                          <a:srgbClr val="FF0000"/>
                                        </a:solidFill>
                                        <a:effectLst/>
                                        <a:latin typeface="Cambria Math" panose="02040503050406030204" pitchFamily="18" charset="0"/>
                                      </a:rPr>
                                      <m:t>𝑦</m:t>
                                    </m:r>
                                  </m:e>
                                  <m:sub>
                                    <m:r>
                                      <a:rPr lang="en-US" altLang="zh-CN" sz="2400" b="0" i="1" smtClean="0">
                                        <a:solidFill>
                                          <a:srgbClr val="FF0000"/>
                                        </a:solidFill>
                                        <a:effectLst/>
                                        <a:latin typeface="Cambria Math" panose="02040503050406030204" pitchFamily="18" charset="0"/>
                                      </a:rPr>
                                      <m:t>𝑖</m:t>
                                    </m:r>
                                  </m:sub>
                                </m:sSub>
                                <m:r>
                                  <a:rPr lang="en-US" altLang="zh-CN" sz="2400" b="0" i="1" smtClean="0">
                                    <a:solidFill>
                                      <a:srgbClr val="FF0000"/>
                                    </a:solidFill>
                                    <a:effectLst/>
                                    <a:latin typeface="Cambria Math" panose="02040503050406030204" pitchFamily="18" charset="0"/>
                                  </a:rPr>
                                  <m:t>)</m:t>
                                </m:r>
                              </m:e>
                              <m:sup>
                                <m:r>
                                  <a:rPr lang="en-US" altLang="zh-CN" sz="2400" b="0" i="1" smtClean="0">
                                    <a:solidFill>
                                      <a:srgbClr val="FF0000"/>
                                    </a:solidFill>
                                    <a:effectLst/>
                                    <a:latin typeface="Cambria Math" panose="02040503050406030204" pitchFamily="18" charset="0"/>
                                  </a:rPr>
                                  <m:t>2</m:t>
                                </m:r>
                              </m:sup>
                            </m:sSup>
                            <m:r>
                              <a:rPr lang="en-US" altLang="zh-CN" sz="2400" b="0" i="1" smtClean="0">
                                <a:solidFill>
                                  <a:srgbClr val="FF0000"/>
                                </a:solidFill>
                                <a:effectLst/>
                                <a:latin typeface="Cambria Math" panose="02040503050406030204" pitchFamily="18" charset="0"/>
                              </a:rPr>
                              <m:t>  </m:t>
                            </m:r>
                          </m:e>
                        </m:rad>
                      </m:e>
                    </m:nary>
                  </m:oMath>
                </a14:m>
                <a:endParaRPr lang="zh-CN" altLang="en-US" sz="2400" dirty="0">
                  <a:solidFill>
                    <a:srgbClr val="FF0000"/>
                  </a:solidFill>
                  <a:effectLst/>
                </a:endParaRPr>
              </a:p>
            </p:txBody>
          </p:sp>
        </mc:Choice>
        <mc:Fallback xmlns="">
          <p:sp>
            <p:nvSpPr>
              <p:cNvPr id="12" name="矩形 11">
                <a:extLst>
                  <a:ext uri="{FF2B5EF4-FFF2-40B4-BE49-F238E27FC236}">
                    <a16:creationId xmlns:a16="http://schemas.microsoft.com/office/drawing/2014/main" id="{4E9CFBF9-8819-EBA1-9E41-E04ABB3CBA79}"/>
                  </a:ext>
                </a:extLst>
              </p:cNvPr>
              <p:cNvSpPr>
                <a:spLocks noRot="1" noChangeAspect="1" noMove="1" noResize="1" noEditPoints="1" noAdjustHandles="1" noChangeArrowheads="1" noChangeShapeType="1" noTextEdit="1"/>
              </p:cNvSpPr>
              <p:nvPr/>
            </p:nvSpPr>
            <p:spPr>
              <a:xfrm>
                <a:off x="395536" y="4052344"/>
                <a:ext cx="8565440" cy="539571"/>
              </a:xfrm>
              <a:prstGeom prst="rect">
                <a:avLst/>
              </a:prstGeom>
              <a:blipFill>
                <a:blip r:embed="rId2"/>
                <a:stretch>
                  <a:fillRect l="-783" t="-2273" b="-181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内容占位符 2">
                <a:extLst>
                  <a:ext uri="{FF2B5EF4-FFF2-40B4-BE49-F238E27FC236}">
                    <a16:creationId xmlns:a16="http://schemas.microsoft.com/office/drawing/2014/main" id="{8175A6DF-5800-40A9-B10B-BDFC493AA1C2}"/>
                  </a:ext>
                </a:extLst>
              </p:cNvPr>
              <p:cNvSpPr txBox="1">
                <a:spLocks/>
              </p:cNvSpPr>
              <p:nvPr/>
            </p:nvSpPr>
            <p:spPr bwMode="auto">
              <a:xfrm>
                <a:off x="395537" y="2931790"/>
                <a:ext cx="8425470" cy="539571"/>
              </a:xfrm>
              <a:prstGeom prst="rect">
                <a:avLst/>
              </a:prstGeom>
              <a:solidFill>
                <a:schemeClr val="bg1"/>
              </a:solidFill>
              <a:ln w="9525">
                <a:noFill/>
                <a:miter lim="800000"/>
              </a:ln>
            </p:spPr>
            <p:txBody>
              <a:bodyPr vert="horz" wrap="square" lIns="91440" tIns="45720" rIns="91440" bIns="45720" numCol="1" anchor="t" anchorCtr="0" compatLnSpc="1">
                <a:noAutofit/>
              </a:bodyPr>
              <a:lst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Arial" panose="020B060402020202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Arial" panose="020B060402020202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5pPr>
                <a:lvl6pPr marL="25146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6pPr>
                <a:lvl7pPr marL="29718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7pPr>
                <a:lvl8pPr marL="34290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8pPr>
                <a:lvl9pPr marL="38862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9pPr>
              </a:lstStyle>
              <a:p>
                <a:pPr marL="0" indent="0">
                  <a:buNone/>
                </a:pPr>
                <a:r>
                  <a:rPr lang="zh-CN" altLang="en-US" sz="2000" kern="0" dirty="0">
                    <a:solidFill>
                      <a:srgbClr val="0070C0"/>
                    </a:solidFill>
                    <a:latin typeface="微软雅黑" panose="020B0503020204020204" pitchFamily="34" charset="-122"/>
                    <a:ea typeface="微软雅黑" panose="020B0503020204020204" pitchFamily="34" charset="-122"/>
                  </a:rPr>
                  <a:t>每个镇到垃圾站的距离</a:t>
                </a:r>
                <a14:m>
                  <m:oMath xmlns:m="http://schemas.openxmlformats.org/officeDocument/2006/math">
                    <m:rad>
                      <m:radPr>
                        <m:degHide m:val="on"/>
                        <m:ctrlPr>
                          <a:rPr lang="en-US" altLang="zh-CN" sz="2000" i="1">
                            <a:solidFill>
                              <a:srgbClr val="FF0000"/>
                            </a:solidFill>
                            <a:latin typeface="Cambria Math" panose="02040503050406030204" pitchFamily="18" charset="0"/>
                          </a:rPr>
                        </m:ctrlPr>
                      </m:radPr>
                      <m:deg/>
                      <m:e>
                        <m:sSup>
                          <m:sSupPr>
                            <m:ctrlPr>
                              <a:rPr lang="en-US" altLang="zh-CN" sz="2000" i="1">
                                <a:solidFill>
                                  <a:srgbClr val="FF0000"/>
                                </a:solidFill>
                                <a:latin typeface="Cambria Math" panose="02040503050406030204" pitchFamily="18" charset="0"/>
                              </a:rPr>
                            </m:ctrlPr>
                          </m:sSupPr>
                          <m:e>
                            <m:r>
                              <a:rPr lang="en-US" altLang="zh-CN" sz="2000" i="1">
                                <a:solidFill>
                                  <a:srgbClr val="FF0000"/>
                                </a:solidFill>
                                <a:latin typeface="Cambria Math" panose="02040503050406030204" pitchFamily="18" charset="0"/>
                              </a:rPr>
                              <m:t>(</m:t>
                            </m:r>
                            <m:r>
                              <a:rPr lang="en-US" altLang="zh-CN" sz="2000" i="1">
                                <a:solidFill>
                                  <a:srgbClr val="FF0000"/>
                                </a:solidFill>
                                <a:latin typeface="Cambria Math" panose="02040503050406030204" pitchFamily="18" charset="0"/>
                              </a:rPr>
                              <m:t>𝑥𝑥</m:t>
                            </m:r>
                            <m:r>
                              <a:rPr lang="en-US" altLang="zh-CN" sz="2000" i="1">
                                <a:solidFill>
                                  <a:srgbClr val="FF0000"/>
                                </a:solidFill>
                                <a:latin typeface="Cambria Math" panose="02040503050406030204" pitchFamily="18" charset="0"/>
                              </a:rPr>
                              <m:t>−</m:t>
                            </m:r>
                            <m:sSub>
                              <m:sSubPr>
                                <m:ctrlPr>
                                  <a:rPr lang="en-US"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𝑥</m:t>
                                </m:r>
                              </m:e>
                              <m:sub>
                                <m:r>
                                  <a:rPr lang="en-US" altLang="zh-CN" sz="2000" i="1">
                                    <a:solidFill>
                                      <a:srgbClr val="FF0000"/>
                                    </a:solidFill>
                                    <a:latin typeface="Cambria Math" panose="02040503050406030204" pitchFamily="18" charset="0"/>
                                  </a:rPr>
                                  <m:t>𝑖</m:t>
                                </m:r>
                              </m:sub>
                            </m:sSub>
                            <m:r>
                              <a:rPr lang="en-US" altLang="zh-CN" sz="2000" i="1">
                                <a:solidFill>
                                  <a:srgbClr val="FF0000"/>
                                </a:solidFill>
                                <a:latin typeface="Cambria Math" panose="02040503050406030204" pitchFamily="18" charset="0"/>
                              </a:rPr>
                              <m:t>)</m:t>
                            </m:r>
                          </m:e>
                          <m:sup>
                            <m:r>
                              <a:rPr lang="en-US" altLang="zh-CN" sz="2000" i="1">
                                <a:solidFill>
                                  <a:srgbClr val="FF0000"/>
                                </a:solidFill>
                                <a:latin typeface="Cambria Math" panose="02040503050406030204" pitchFamily="18" charset="0"/>
                              </a:rPr>
                              <m:t>2</m:t>
                            </m:r>
                          </m:sup>
                        </m:sSup>
                        <m:r>
                          <a:rPr lang="en-US" altLang="zh-CN" sz="2000" i="1">
                            <a:solidFill>
                              <a:srgbClr val="FF0000"/>
                            </a:solidFill>
                            <a:latin typeface="Cambria Math" panose="02040503050406030204" pitchFamily="18" charset="0"/>
                          </a:rPr>
                          <m:t>+</m:t>
                        </m:r>
                        <m:sSup>
                          <m:sSupPr>
                            <m:ctrlPr>
                              <a:rPr lang="en-US" altLang="zh-CN" sz="2000" i="1">
                                <a:solidFill>
                                  <a:srgbClr val="FF0000"/>
                                </a:solidFill>
                                <a:latin typeface="Cambria Math" panose="02040503050406030204" pitchFamily="18" charset="0"/>
                              </a:rPr>
                            </m:ctrlPr>
                          </m:sSupPr>
                          <m:e>
                            <m:r>
                              <a:rPr lang="en-US" altLang="zh-CN" sz="2000" i="1">
                                <a:solidFill>
                                  <a:srgbClr val="FF0000"/>
                                </a:solidFill>
                                <a:latin typeface="Cambria Math" panose="02040503050406030204" pitchFamily="18" charset="0"/>
                              </a:rPr>
                              <m:t>(</m:t>
                            </m:r>
                            <m:r>
                              <a:rPr lang="en-US" altLang="zh-CN" sz="2000" i="1">
                                <a:solidFill>
                                  <a:srgbClr val="FF0000"/>
                                </a:solidFill>
                                <a:latin typeface="Cambria Math" panose="02040503050406030204" pitchFamily="18" charset="0"/>
                              </a:rPr>
                              <m:t>𝑦𝑦</m:t>
                            </m:r>
                            <m:r>
                              <a:rPr lang="en-US" altLang="zh-CN" sz="2000" i="1">
                                <a:solidFill>
                                  <a:srgbClr val="FF0000"/>
                                </a:solidFill>
                                <a:latin typeface="Cambria Math" panose="02040503050406030204" pitchFamily="18" charset="0"/>
                              </a:rPr>
                              <m:t>−</m:t>
                            </m:r>
                            <m:sSub>
                              <m:sSubPr>
                                <m:ctrlPr>
                                  <a:rPr lang="en-US"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𝑦</m:t>
                                </m:r>
                              </m:e>
                              <m:sub>
                                <m:r>
                                  <a:rPr lang="en-US" altLang="zh-CN" sz="2000" i="1">
                                    <a:solidFill>
                                      <a:srgbClr val="FF0000"/>
                                    </a:solidFill>
                                    <a:latin typeface="Cambria Math" panose="02040503050406030204" pitchFamily="18" charset="0"/>
                                  </a:rPr>
                                  <m:t>𝑖</m:t>
                                </m:r>
                              </m:sub>
                            </m:sSub>
                            <m:r>
                              <a:rPr lang="en-US" altLang="zh-CN" sz="2000" i="1">
                                <a:solidFill>
                                  <a:srgbClr val="FF0000"/>
                                </a:solidFill>
                                <a:latin typeface="Cambria Math" panose="02040503050406030204" pitchFamily="18" charset="0"/>
                              </a:rPr>
                              <m:t>)</m:t>
                            </m:r>
                          </m:e>
                          <m:sup>
                            <m:r>
                              <a:rPr lang="en-US" altLang="zh-CN" sz="2000" i="1">
                                <a:solidFill>
                                  <a:srgbClr val="FF0000"/>
                                </a:solidFill>
                                <a:latin typeface="Cambria Math" panose="02040503050406030204" pitchFamily="18" charset="0"/>
                              </a:rPr>
                              <m:t>2</m:t>
                            </m:r>
                          </m:sup>
                        </m:sSup>
                        <m:r>
                          <a:rPr lang="en-US" altLang="zh-CN" sz="2000" i="1">
                            <a:solidFill>
                              <a:srgbClr val="FF0000"/>
                            </a:solidFill>
                            <a:latin typeface="Cambria Math" panose="02040503050406030204" pitchFamily="18" charset="0"/>
                          </a:rPr>
                          <m:t>  </m:t>
                        </m:r>
                      </m:e>
                    </m:rad>
                  </m:oMath>
                </a14:m>
                <a:endParaRPr lang="en-US" altLang="zh-CN" sz="2000" kern="0" dirty="0">
                  <a:solidFill>
                    <a:srgbClr val="002060"/>
                  </a:solidFill>
                  <a:latin typeface="华文楷体" panose="02010600040101010101" pitchFamily="2" charset="-122"/>
                  <a:ea typeface="华文楷体" panose="02010600040101010101" pitchFamily="2" charset="-122"/>
                </a:endParaRPr>
              </a:p>
              <a:p>
                <a:pPr marL="0" indent="0" algn="dist">
                  <a:buFont typeface="Arial" panose="020B0604020202020204" pitchFamily="34" charset="0"/>
                  <a:buNone/>
                </a:pPr>
                <a:endParaRPr lang="zh-CN" altLang="en-US" sz="2000" kern="0" dirty="0">
                  <a:solidFill>
                    <a:srgbClr val="002060"/>
                  </a:solidFill>
                  <a:latin typeface="华文楷体" panose="02010600040101010101" pitchFamily="2" charset="-122"/>
                  <a:ea typeface="华文楷体" panose="02010600040101010101" pitchFamily="2" charset="-122"/>
                </a:endParaRPr>
              </a:p>
            </p:txBody>
          </p:sp>
        </mc:Choice>
        <mc:Fallback xmlns="">
          <p:sp>
            <p:nvSpPr>
              <p:cNvPr id="8" name="内容占位符 2">
                <a:extLst>
                  <a:ext uri="{FF2B5EF4-FFF2-40B4-BE49-F238E27FC236}">
                    <a16:creationId xmlns:a16="http://schemas.microsoft.com/office/drawing/2014/main" id="{8175A6DF-5800-40A9-B10B-BDFC493AA1C2}"/>
                  </a:ext>
                </a:extLst>
              </p:cNvPr>
              <p:cNvSpPr txBox="1">
                <a:spLocks noRot="1" noChangeAspect="1" noMove="1" noResize="1" noEditPoints="1" noAdjustHandles="1" noChangeArrowheads="1" noChangeShapeType="1" noTextEdit="1"/>
              </p:cNvSpPr>
              <p:nvPr/>
            </p:nvSpPr>
            <p:spPr bwMode="auto">
              <a:xfrm>
                <a:off x="395537" y="2931790"/>
                <a:ext cx="8425470" cy="539571"/>
              </a:xfrm>
              <a:prstGeom prst="rect">
                <a:avLst/>
              </a:prstGeom>
              <a:blipFill>
                <a:blip r:embed="rId3"/>
                <a:stretch>
                  <a:fillRect l="-796" b="-4545"/>
                </a:stretch>
              </a:blipFill>
              <a:ln w="9525">
                <a:noFill/>
                <a:miter lim="800000"/>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内容占位符 2">
                <a:extLst>
                  <a:ext uri="{FF2B5EF4-FFF2-40B4-BE49-F238E27FC236}">
                    <a16:creationId xmlns:a16="http://schemas.microsoft.com/office/drawing/2014/main" id="{258B7D38-27A5-4ED1-B63A-56E7E5567940}"/>
                  </a:ext>
                </a:extLst>
              </p:cNvPr>
              <p:cNvSpPr txBox="1">
                <a:spLocks/>
              </p:cNvSpPr>
              <p:nvPr/>
            </p:nvSpPr>
            <p:spPr bwMode="auto">
              <a:xfrm>
                <a:off x="414400" y="3512773"/>
                <a:ext cx="6618853" cy="539571"/>
              </a:xfrm>
              <a:prstGeom prst="rect">
                <a:avLst/>
              </a:prstGeom>
              <a:solidFill>
                <a:schemeClr val="bg1"/>
              </a:solidFill>
              <a:ln w="9525">
                <a:noFill/>
                <a:miter lim="800000"/>
              </a:ln>
            </p:spPr>
            <p:txBody>
              <a:bodyPr vert="horz" wrap="square" lIns="91440" tIns="45720" rIns="91440" bIns="45720" numCol="1" anchor="t" anchorCtr="0" compatLnSpc="1">
                <a:noAutofit/>
              </a:bodyPr>
              <a:lst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Arial" panose="020B060402020202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Arial" panose="020B060402020202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5pPr>
                <a:lvl6pPr marL="25146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6pPr>
                <a:lvl7pPr marL="29718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7pPr>
                <a:lvl8pPr marL="34290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8pPr>
                <a:lvl9pPr marL="38862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9pPr>
              </a:lstStyle>
              <a:p>
                <a:pPr marL="0" indent="0">
                  <a:buNone/>
                </a:pPr>
                <a:r>
                  <a:rPr lang="zh-CN" altLang="en-US" sz="2000" kern="0" dirty="0">
                    <a:solidFill>
                      <a:srgbClr val="0070C0"/>
                    </a:solidFill>
                    <a:latin typeface="微软雅黑" panose="020B0503020204020204" pitchFamily="34" charset="-122"/>
                    <a:ea typeface="微软雅黑" panose="020B0503020204020204" pitchFamily="34" charset="-122"/>
                  </a:rPr>
                  <a:t>每个镇运垃圾行驶路程</a:t>
                </a:r>
                <a14:m>
                  <m:oMath xmlns:m="http://schemas.openxmlformats.org/officeDocument/2006/math">
                    <m:r>
                      <m:rPr>
                        <m:sty m:val="p"/>
                      </m:rPr>
                      <a:rPr lang="en-US" altLang="zh-CN" sz="2000" b="0" i="0" smtClean="0">
                        <a:solidFill>
                          <a:srgbClr val="FF0000"/>
                        </a:solidFill>
                        <a:latin typeface="Cambria Math" panose="02040503050406030204" pitchFamily="18" charset="0"/>
                      </a:rPr>
                      <m:t>C</m:t>
                    </m:r>
                    <m:r>
                      <a:rPr lang="en-US" altLang="zh-CN" sz="2000" b="0" i="0" smtClean="0">
                        <a:solidFill>
                          <a:srgbClr val="FF0000"/>
                        </a:solidFill>
                        <a:latin typeface="Cambria Math" panose="02040503050406030204" pitchFamily="18" charset="0"/>
                      </a:rPr>
                      <m:t>∗</m:t>
                    </m:r>
                    <m:rad>
                      <m:radPr>
                        <m:degHide m:val="on"/>
                        <m:ctrlPr>
                          <a:rPr lang="en-US" altLang="zh-CN" sz="2000" i="1">
                            <a:solidFill>
                              <a:srgbClr val="FF0000"/>
                            </a:solidFill>
                            <a:latin typeface="Cambria Math" panose="02040503050406030204" pitchFamily="18" charset="0"/>
                          </a:rPr>
                        </m:ctrlPr>
                      </m:radPr>
                      <m:deg/>
                      <m:e>
                        <m:sSup>
                          <m:sSupPr>
                            <m:ctrlPr>
                              <a:rPr lang="en-US" altLang="zh-CN" sz="2000" i="1">
                                <a:solidFill>
                                  <a:srgbClr val="FF0000"/>
                                </a:solidFill>
                                <a:latin typeface="Cambria Math" panose="02040503050406030204" pitchFamily="18" charset="0"/>
                              </a:rPr>
                            </m:ctrlPr>
                          </m:sSupPr>
                          <m:e>
                            <m:r>
                              <a:rPr lang="en-US" altLang="zh-CN" sz="2000" i="1">
                                <a:solidFill>
                                  <a:srgbClr val="FF0000"/>
                                </a:solidFill>
                                <a:latin typeface="Cambria Math" panose="02040503050406030204" pitchFamily="18" charset="0"/>
                              </a:rPr>
                              <m:t>(</m:t>
                            </m:r>
                            <m:r>
                              <a:rPr lang="en-US" altLang="zh-CN" sz="2000" i="1">
                                <a:solidFill>
                                  <a:srgbClr val="FF0000"/>
                                </a:solidFill>
                                <a:latin typeface="Cambria Math" panose="02040503050406030204" pitchFamily="18" charset="0"/>
                              </a:rPr>
                              <m:t>𝑥𝑥</m:t>
                            </m:r>
                            <m:r>
                              <a:rPr lang="en-US" altLang="zh-CN" sz="2000" i="1">
                                <a:solidFill>
                                  <a:srgbClr val="FF0000"/>
                                </a:solidFill>
                                <a:latin typeface="Cambria Math" panose="02040503050406030204" pitchFamily="18" charset="0"/>
                              </a:rPr>
                              <m:t>−</m:t>
                            </m:r>
                            <m:sSub>
                              <m:sSubPr>
                                <m:ctrlPr>
                                  <a:rPr lang="en-US"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𝑥</m:t>
                                </m:r>
                              </m:e>
                              <m:sub>
                                <m:r>
                                  <a:rPr lang="en-US" altLang="zh-CN" sz="2000" i="1">
                                    <a:solidFill>
                                      <a:srgbClr val="FF0000"/>
                                    </a:solidFill>
                                    <a:latin typeface="Cambria Math" panose="02040503050406030204" pitchFamily="18" charset="0"/>
                                  </a:rPr>
                                  <m:t>𝑖</m:t>
                                </m:r>
                              </m:sub>
                            </m:sSub>
                            <m:r>
                              <a:rPr lang="en-US" altLang="zh-CN" sz="2000" i="1">
                                <a:solidFill>
                                  <a:srgbClr val="FF0000"/>
                                </a:solidFill>
                                <a:latin typeface="Cambria Math" panose="02040503050406030204" pitchFamily="18" charset="0"/>
                              </a:rPr>
                              <m:t>)</m:t>
                            </m:r>
                          </m:e>
                          <m:sup>
                            <m:r>
                              <a:rPr lang="en-US" altLang="zh-CN" sz="2000" i="1">
                                <a:solidFill>
                                  <a:srgbClr val="FF0000"/>
                                </a:solidFill>
                                <a:latin typeface="Cambria Math" panose="02040503050406030204" pitchFamily="18" charset="0"/>
                              </a:rPr>
                              <m:t>2</m:t>
                            </m:r>
                          </m:sup>
                        </m:sSup>
                        <m:r>
                          <a:rPr lang="en-US" altLang="zh-CN" sz="2000" i="1">
                            <a:solidFill>
                              <a:srgbClr val="FF0000"/>
                            </a:solidFill>
                            <a:latin typeface="Cambria Math" panose="02040503050406030204" pitchFamily="18" charset="0"/>
                          </a:rPr>
                          <m:t>+</m:t>
                        </m:r>
                        <m:sSup>
                          <m:sSupPr>
                            <m:ctrlPr>
                              <a:rPr lang="en-US" altLang="zh-CN" sz="2000" i="1">
                                <a:solidFill>
                                  <a:srgbClr val="FF0000"/>
                                </a:solidFill>
                                <a:latin typeface="Cambria Math" panose="02040503050406030204" pitchFamily="18" charset="0"/>
                              </a:rPr>
                            </m:ctrlPr>
                          </m:sSupPr>
                          <m:e>
                            <m:r>
                              <a:rPr lang="en-US" altLang="zh-CN" sz="2000" i="1">
                                <a:solidFill>
                                  <a:srgbClr val="FF0000"/>
                                </a:solidFill>
                                <a:latin typeface="Cambria Math" panose="02040503050406030204" pitchFamily="18" charset="0"/>
                              </a:rPr>
                              <m:t>(</m:t>
                            </m:r>
                            <m:r>
                              <a:rPr lang="en-US" altLang="zh-CN" sz="2000" i="1">
                                <a:solidFill>
                                  <a:srgbClr val="FF0000"/>
                                </a:solidFill>
                                <a:latin typeface="Cambria Math" panose="02040503050406030204" pitchFamily="18" charset="0"/>
                              </a:rPr>
                              <m:t>𝑦𝑦</m:t>
                            </m:r>
                            <m:r>
                              <a:rPr lang="en-US" altLang="zh-CN" sz="2000" i="1">
                                <a:solidFill>
                                  <a:srgbClr val="FF0000"/>
                                </a:solidFill>
                                <a:latin typeface="Cambria Math" panose="02040503050406030204" pitchFamily="18" charset="0"/>
                              </a:rPr>
                              <m:t>−</m:t>
                            </m:r>
                            <m:sSub>
                              <m:sSubPr>
                                <m:ctrlPr>
                                  <a:rPr lang="en-US" altLang="zh-CN" sz="2000" i="1">
                                    <a:solidFill>
                                      <a:srgbClr val="FF0000"/>
                                    </a:solidFill>
                                    <a:latin typeface="Cambria Math" panose="02040503050406030204" pitchFamily="18" charset="0"/>
                                  </a:rPr>
                                </m:ctrlPr>
                              </m:sSubPr>
                              <m:e>
                                <m:r>
                                  <a:rPr lang="en-US" altLang="zh-CN" sz="2000" i="1">
                                    <a:solidFill>
                                      <a:srgbClr val="FF0000"/>
                                    </a:solidFill>
                                    <a:latin typeface="Cambria Math" panose="02040503050406030204" pitchFamily="18" charset="0"/>
                                  </a:rPr>
                                  <m:t>𝑦</m:t>
                                </m:r>
                              </m:e>
                              <m:sub>
                                <m:r>
                                  <a:rPr lang="en-US" altLang="zh-CN" sz="2000" i="1">
                                    <a:solidFill>
                                      <a:srgbClr val="FF0000"/>
                                    </a:solidFill>
                                    <a:latin typeface="Cambria Math" panose="02040503050406030204" pitchFamily="18" charset="0"/>
                                  </a:rPr>
                                  <m:t>𝑖</m:t>
                                </m:r>
                              </m:sub>
                            </m:sSub>
                            <m:r>
                              <a:rPr lang="en-US" altLang="zh-CN" sz="2000" i="1">
                                <a:solidFill>
                                  <a:srgbClr val="FF0000"/>
                                </a:solidFill>
                                <a:latin typeface="Cambria Math" panose="02040503050406030204" pitchFamily="18" charset="0"/>
                              </a:rPr>
                              <m:t>)</m:t>
                            </m:r>
                          </m:e>
                          <m:sup>
                            <m:r>
                              <a:rPr lang="en-US" altLang="zh-CN" sz="2000" i="1">
                                <a:solidFill>
                                  <a:srgbClr val="FF0000"/>
                                </a:solidFill>
                                <a:latin typeface="Cambria Math" panose="02040503050406030204" pitchFamily="18" charset="0"/>
                              </a:rPr>
                              <m:t>2</m:t>
                            </m:r>
                          </m:sup>
                        </m:sSup>
                        <m:r>
                          <a:rPr lang="en-US" altLang="zh-CN" sz="2000" i="1">
                            <a:solidFill>
                              <a:srgbClr val="FF0000"/>
                            </a:solidFill>
                            <a:latin typeface="Cambria Math" panose="02040503050406030204" pitchFamily="18" charset="0"/>
                          </a:rPr>
                          <m:t>  </m:t>
                        </m:r>
                      </m:e>
                    </m:rad>
                  </m:oMath>
                </a14:m>
                <a:endParaRPr lang="en-US" altLang="zh-CN" sz="2000" kern="0" dirty="0">
                  <a:solidFill>
                    <a:srgbClr val="002060"/>
                  </a:solidFill>
                  <a:latin typeface="华文楷体" panose="02010600040101010101" pitchFamily="2" charset="-122"/>
                  <a:ea typeface="华文楷体" panose="02010600040101010101" pitchFamily="2" charset="-122"/>
                </a:endParaRPr>
              </a:p>
              <a:p>
                <a:pPr marL="0" indent="0" algn="dist">
                  <a:buFont typeface="Arial" panose="020B0604020202020204" pitchFamily="34" charset="0"/>
                  <a:buNone/>
                </a:pPr>
                <a:endParaRPr lang="zh-CN" altLang="en-US" sz="2000" kern="0" dirty="0">
                  <a:solidFill>
                    <a:srgbClr val="002060"/>
                  </a:solidFill>
                  <a:latin typeface="华文楷体" panose="02010600040101010101" pitchFamily="2" charset="-122"/>
                  <a:ea typeface="华文楷体" panose="02010600040101010101" pitchFamily="2" charset="-122"/>
                </a:endParaRPr>
              </a:p>
            </p:txBody>
          </p:sp>
        </mc:Choice>
        <mc:Fallback xmlns="">
          <p:sp>
            <p:nvSpPr>
              <p:cNvPr id="14" name="内容占位符 2">
                <a:extLst>
                  <a:ext uri="{FF2B5EF4-FFF2-40B4-BE49-F238E27FC236}">
                    <a16:creationId xmlns:a16="http://schemas.microsoft.com/office/drawing/2014/main" id="{258B7D38-27A5-4ED1-B63A-56E7E5567940}"/>
                  </a:ext>
                </a:extLst>
              </p:cNvPr>
              <p:cNvSpPr txBox="1">
                <a:spLocks noRot="1" noChangeAspect="1" noMove="1" noResize="1" noEditPoints="1" noAdjustHandles="1" noChangeArrowheads="1" noChangeShapeType="1" noTextEdit="1"/>
              </p:cNvSpPr>
              <p:nvPr/>
            </p:nvSpPr>
            <p:spPr bwMode="auto">
              <a:xfrm>
                <a:off x="414400" y="3512773"/>
                <a:ext cx="6618853" cy="539571"/>
              </a:xfrm>
              <a:prstGeom prst="rect">
                <a:avLst/>
              </a:prstGeom>
              <a:blipFill>
                <a:blip r:embed="rId4"/>
                <a:stretch>
                  <a:fillRect l="-1013" b="-3371"/>
                </a:stretch>
              </a:blipFill>
              <a:ln w="9525">
                <a:noFill/>
                <a:miter lim="800000"/>
              </a:ln>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05C2F0B1-1B1A-4849-8E3C-544D769B9137}"/>
              </a:ext>
            </a:extLst>
          </p:cNvPr>
          <p:cNvSpPr txBox="1"/>
          <p:nvPr/>
        </p:nvSpPr>
        <p:spPr>
          <a:xfrm>
            <a:off x="636002" y="77784"/>
            <a:ext cx="8324974" cy="461665"/>
          </a:xfrm>
          <a:prstGeom prst="rect">
            <a:avLst/>
          </a:prstGeom>
          <a:solidFill>
            <a:schemeClr val="bg1"/>
          </a:solidFill>
        </p:spPr>
        <p:txBody>
          <a:bodyPr wrap="square">
            <a:spAutoFit/>
          </a:bodyPr>
          <a:lstStyle>
            <a:defPPr>
              <a:defRPr lang="zh-CN"/>
            </a:defPPr>
            <a:lvl1pPr>
              <a:lnSpc>
                <a:spcPct val="150000"/>
              </a:lnSpc>
              <a:defRPr sz="3200">
                <a:solidFill>
                  <a:srgbClr val="002060"/>
                </a:solidFill>
                <a:latin typeface="华文楷体" panose="02010600040101010101" pitchFamily="2" charset="-122"/>
                <a:ea typeface="华文楷体" panose="02010600040101010101" pitchFamily="2" charset="-122"/>
              </a:defRPr>
            </a:lvl1pPr>
          </a:lstStyle>
          <a:p>
            <a:pPr>
              <a:lnSpc>
                <a:spcPct val="100000"/>
              </a:lnSpc>
            </a:pPr>
            <a:r>
              <a:rPr lang="en-US" altLang="zh-CN" sz="2400" b="0" dirty="0">
                <a:solidFill>
                  <a:srgbClr val="002060"/>
                </a:solidFill>
                <a:latin typeface="华文楷体" panose="02010600040101010101" pitchFamily="2" charset="-122"/>
                <a:ea typeface="华文楷体" panose="02010600040101010101" pitchFamily="2" charset="-122"/>
              </a:rPr>
              <a:t>§8.4.2 </a:t>
            </a:r>
            <a:r>
              <a:rPr lang="zh-CN" altLang="en-US" sz="2400" kern="0" dirty="0"/>
              <a:t>多元</a:t>
            </a:r>
            <a:r>
              <a:rPr lang="zh-CN" altLang="en-US" sz="2400" dirty="0"/>
              <a:t>函数无约束最</a:t>
            </a:r>
            <a:r>
              <a:rPr lang="en-US" altLang="ko-KR" sz="2400" dirty="0" err="1">
                <a:solidFill>
                  <a:srgbClr val="FF0000"/>
                </a:solidFill>
              </a:rPr>
              <a:t>小值</a:t>
            </a:r>
            <a:r>
              <a:rPr lang="en-US" altLang="zh-CN" sz="2400" kern="0" dirty="0">
                <a:solidFill>
                  <a:srgbClr val="FF0000"/>
                </a:solidFill>
              </a:rPr>
              <a:t> </a:t>
            </a:r>
            <a:r>
              <a:rPr lang="en-US" altLang="zh-CN" sz="2400" b="0" dirty="0" err="1">
                <a:solidFill>
                  <a:srgbClr val="FF0000"/>
                </a:solidFill>
                <a:latin typeface="华文楷体" panose="02010600040101010101" pitchFamily="2" charset="-122"/>
                <a:ea typeface="华文楷体" panose="02010600040101010101" pitchFamily="2" charset="-122"/>
              </a:rPr>
              <a:t>fminunc</a:t>
            </a:r>
            <a:r>
              <a:rPr lang="en-US" altLang="zh-CN" sz="2400" kern="0" dirty="0">
                <a:solidFill>
                  <a:srgbClr val="FF0000"/>
                </a:solidFill>
              </a:rPr>
              <a:t>——</a:t>
            </a:r>
            <a:r>
              <a:rPr lang="zh-CN" altLang="en-US" sz="2400" kern="0" dirty="0">
                <a:solidFill>
                  <a:srgbClr val="FF0000"/>
                </a:solidFill>
              </a:rPr>
              <a:t>城市垃圾站设计</a:t>
            </a:r>
            <a:endParaRPr lang="zh-CN" altLang="en-US" sz="2400" dirty="0"/>
          </a:p>
        </p:txBody>
      </p:sp>
      <p:sp>
        <p:nvSpPr>
          <p:cNvPr id="9" name="文本框 8">
            <a:extLst>
              <a:ext uri="{FF2B5EF4-FFF2-40B4-BE49-F238E27FC236}">
                <a16:creationId xmlns:a16="http://schemas.microsoft.com/office/drawing/2014/main" id="{F2A5722E-0CA3-4988-B006-AEE3B842FC5F}"/>
              </a:ext>
            </a:extLst>
          </p:cNvPr>
          <p:cNvSpPr txBox="1"/>
          <p:nvPr/>
        </p:nvSpPr>
        <p:spPr>
          <a:xfrm>
            <a:off x="437349" y="2509583"/>
            <a:ext cx="4662650" cy="400110"/>
          </a:xfrm>
          <a:prstGeom prst="rect">
            <a:avLst/>
          </a:prstGeom>
          <a:noFill/>
        </p:spPr>
        <p:txBody>
          <a:bodyPr wrap="square">
            <a:spAutoFit/>
          </a:bodyPr>
          <a:lstStyle/>
          <a:p>
            <a:r>
              <a:rPr lang="zh-CN" altLang="en-US" sz="2000" kern="0" dirty="0">
                <a:solidFill>
                  <a:srgbClr val="0070C0"/>
                </a:solidFill>
                <a:latin typeface="微软雅黑" panose="020B0503020204020204" pitchFamily="34" charset="-122"/>
                <a:ea typeface="微软雅黑" panose="020B0503020204020204" pitchFamily="34" charset="-122"/>
              </a:rPr>
              <a:t>决策变量为垃圾站建设的位置</a:t>
            </a:r>
            <a:r>
              <a:rPr lang="zh-CN" altLang="en-US" sz="2000" kern="0" dirty="0">
                <a:solidFill>
                  <a:srgbClr val="002060"/>
                </a:solidFill>
                <a:latin typeface="华文楷体" panose="02010600040101010101" pitchFamily="2" charset="-122"/>
                <a:ea typeface="华文楷体" panose="02010600040101010101" pitchFamily="2" charset="-122"/>
              </a:rPr>
              <a:t>（</a:t>
            </a:r>
            <a:r>
              <a:rPr lang="en-US" altLang="zh-CN" sz="2000" b="1" dirty="0">
                <a:solidFill>
                  <a:srgbClr val="FF0000"/>
                </a:solidFill>
              </a:rPr>
              <a:t> </a:t>
            </a:r>
            <a:r>
              <a:rPr lang="en-US" altLang="zh-CN" sz="2000" b="1" dirty="0" err="1">
                <a:solidFill>
                  <a:srgbClr val="FF0000"/>
                </a:solidFill>
              </a:rPr>
              <a:t>xx,yy</a:t>
            </a:r>
            <a:r>
              <a:rPr lang="en-US" altLang="zh-CN" sz="2000" b="1" dirty="0">
                <a:solidFill>
                  <a:srgbClr val="FF0000"/>
                </a:solidFill>
              </a:rPr>
              <a:t> </a:t>
            </a:r>
            <a:r>
              <a:rPr lang="zh-CN" altLang="en-US" sz="2000" kern="0" dirty="0">
                <a:solidFill>
                  <a:srgbClr val="002060"/>
                </a:solidFill>
                <a:latin typeface="华文楷体" panose="02010600040101010101" pitchFamily="2" charset="-122"/>
                <a:ea typeface="华文楷体" panose="02010600040101010101" pitchFamily="2" charset="-122"/>
              </a:rPr>
              <a:t>）</a:t>
            </a:r>
            <a:endParaRPr lang="zh-CN" altLang="en-US" sz="2000" dirty="0"/>
          </a:p>
        </p:txBody>
      </p:sp>
      <p:sp>
        <p:nvSpPr>
          <p:cNvPr id="13" name="波形 12">
            <a:extLst>
              <a:ext uri="{FF2B5EF4-FFF2-40B4-BE49-F238E27FC236}">
                <a16:creationId xmlns:a16="http://schemas.microsoft.com/office/drawing/2014/main" id="{A7D096EC-7FD2-4D12-A752-5A6E83169BC2}"/>
              </a:ext>
            </a:extLst>
          </p:cNvPr>
          <p:cNvSpPr/>
          <p:nvPr/>
        </p:nvSpPr>
        <p:spPr>
          <a:xfrm>
            <a:off x="28669" y="489322"/>
            <a:ext cx="817360" cy="33483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charset="-122"/>
                <a:ea typeface="微软雅黑" panose="020B0503020204020204" charset="-122"/>
              </a:rPr>
              <a:t>例84-5</a:t>
            </a:r>
            <a:endParaRPr lang="ko-KR" altLang="en-US" sz="1600" b="1" dirty="0">
              <a:solidFill>
                <a:srgbClr val="FFFF00"/>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13455389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91257BB-CA2B-5179-4AD3-4DE098817E5B}"/>
              </a:ext>
            </a:extLst>
          </p:cNvPr>
          <p:cNvSpPr>
            <a:spLocks noGrp="1"/>
          </p:cNvSpPr>
          <p:nvPr>
            <p:ph type="dt" sz="half" idx="10"/>
          </p:nvPr>
        </p:nvSpPr>
        <p:spPr bwMode="auto">
          <a:xfrm>
            <a:off x="457200" y="4683919"/>
            <a:ext cx="2133600" cy="357188"/>
          </a:xfrm>
          <a:prstGeom prst="rect">
            <a:avLst/>
          </a:prstGeom>
          <a:noFill/>
          <a:ln>
            <a:noFill/>
          </a:ln>
        </p:spPr>
        <p:txBody>
          <a:bodyPr vert="horz" wrap="square" lIns="91440" tIns="45720" rIns="91440" bIns="45720" numCol="1" anchor="t" anchorCtr="0" compatLnSpc="1"/>
          <a:lstStyle>
            <a:defPPr>
              <a:defRPr lang="zh-CN"/>
            </a:defPPr>
            <a:lvl1pPr algn="l"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fld id="{869D5C21-8453-4E8B-8FA6-9D282B0DEA91}" type="datetime1">
              <a:rPr lang="zh-CN" altLang="en-US" smtClean="0"/>
              <a:pPr>
                <a:defRPr/>
              </a:pPr>
              <a:t>2025/4/22</a:t>
            </a:fld>
            <a:endParaRPr lang="zh-CN" altLang="en-US" sz="1800"/>
          </a:p>
        </p:txBody>
      </p:sp>
      <p:sp>
        <p:nvSpPr>
          <p:cNvPr id="8" name="Rectangle 3">
            <a:extLst>
              <a:ext uri="{FF2B5EF4-FFF2-40B4-BE49-F238E27FC236}">
                <a16:creationId xmlns:a16="http://schemas.microsoft.com/office/drawing/2014/main" id="{BC8D7F14-5507-3799-FA9C-8DF4422C23E0}"/>
              </a:ext>
            </a:extLst>
          </p:cNvPr>
          <p:cNvSpPr>
            <a:spLocks noChangeArrowheads="1"/>
          </p:cNvSpPr>
          <p:nvPr/>
        </p:nvSpPr>
        <p:spPr bwMode="auto">
          <a:xfrm>
            <a:off x="1030338" y="801273"/>
            <a:ext cx="795054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dist" eaLnBrk="0" hangingPunct="0"/>
            <a:r>
              <a:rPr lang="en-US" altLang="zh-CN" sz="2000" b="1" dirty="0">
                <a:solidFill>
                  <a:srgbClr val="0070C0"/>
                </a:solidFill>
                <a:latin typeface="微软雅黑" panose="020B0503020204020204" pitchFamily="34" charset="-122"/>
                <a:ea typeface="微软雅黑" panose="020B0503020204020204" pitchFamily="34" charset="-122"/>
              </a:rPr>
              <a:t>(1)</a:t>
            </a:r>
            <a:r>
              <a:rPr lang="zh-CN" altLang="en-US" sz="2000" b="1" dirty="0">
                <a:solidFill>
                  <a:srgbClr val="0070C0"/>
                </a:solidFill>
                <a:latin typeface="微软雅黑" panose="020B0503020204020204" pitchFamily="34" charset="-122"/>
                <a:ea typeface="微软雅黑" panose="020B0503020204020204" pitchFamily="34" charset="-122"/>
              </a:rPr>
              <a:t>绘制</a:t>
            </a:r>
            <a:r>
              <a:rPr lang="en-US" altLang="zh-CN" sz="2000" b="1" dirty="0">
                <a:solidFill>
                  <a:srgbClr val="0070C0"/>
                </a:solidFill>
                <a:latin typeface="微软雅黑" panose="020B0503020204020204" pitchFamily="34" charset="-122"/>
                <a:ea typeface="微软雅黑" panose="020B0503020204020204" pitchFamily="34" charset="-122"/>
              </a:rPr>
              <a:t>7</a:t>
            </a:r>
            <a:r>
              <a:rPr lang="zh-CN" altLang="en-US" sz="2000" b="1" dirty="0">
                <a:solidFill>
                  <a:srgbClr val="0070C0"/>
                </a:solidFill>
                <a:latin typeface="微软雅黑" panose="020B0503020204020204" pitchFamily="34" charset="-122"/>
                <a:ea typeface="微软雅黑" panose="020B0503020204020204" pitchFamily="34" charset="-122"/>
              </a:rPr>
              <a:t>个乡镇的位置图和相应的垃圾车数量，确定初始猜测值</a:t>
            </a:r>
            <a:endParaRPr lang="zh-CN" altLang="zh-CN" sz="2000" b="1" dirty="0">
              <a:solidFill>
                <a:srgbClr val="0070C0"/>
              </a:solidFill>
              <a:latin typeface="微软雅黑" panose="020B0503020204020204" pitchFamily="34" charset="-122"/>
              <a:ea typeface="微软雅黑" panose="020B0503020204020204" pitchFamily="34" charset="-122"/>
            </a:endParaRPr>
          </a:p>
        </p:txBody>
      </p:sp>
      <p:pic>
        <p:nvPicPr>
          <p:cNvPr id="13" name="图片 12">
            <a:extLst>
              <a:ext uri="{FF2B5EF4-FFF2-40B4-BE49-F238E27FC236}">
                <a16:creationId xmlns:a16="http://schemas.microsoft.com/office/drawing/2014/main" id="{DD843700-BEAC-423E-B302-0B83D4AEFE7F}"/>
              </a:ext>
            </a:extLst>
          </p:cNvPr>
          <p:cNvPicPr>
            <a:picLocks noChangeAspect="1"/>
          </p:cNvPicPr>
          <p:nvPr/>
        </p:nvPicPr>
        <p:blipFill rotWithShape="1">
          <a:blip r:embed="rId3"/>
          <a:srcRect l="8263" t="12471" r="8243" b="6602"/>
          <a:stretch/>
        </p:blipFill>
        <p:spPr>
          <a:xfrm>
            <a:off x="5328592" y="1419622"/>
            <a:ext cx="3707904" cy="3041517"/>
          </a:xfrm>
          <a:prstGeom prst="rect">
            <a:avLst/>
          </a:prstGeom>
        </p:spPr>
      </p:pic>
      <p:sp>
        <p:nvSpPr>
          <p:cNvPr id="15" name="文本框 14">
            <a:extLst>
              <a:ext uri="{FF2B5EF4-FFF2-40B4-BE49-F238E27FC236}">
                <a16:creationId xmlns:a16="http://schemas.microsoft.com/office/drawing/2014/main" id="{451DD1C6-D297-43F7-A905-5B3E95B04B14}"/>
              </a:ext>
            </a:extLst>
          </p:cNvPr>
          <p:cNvSpPr txBox="1"/>
          <p:nvPr/>
        </p:nvSpPr>
        <p:spPr>
          <a:xfrm>
            <a:off x="19228" y="1163880"/>
            <a:ext cx="5634382" cy="3433889"/>
          </a:xfrm>
          <a:prstGeom prst="rect">
            <a:avLst/>
          </a:prstGeom>
          <a:noFill/>
        </p:spPr>
        <p:txBody>
          <a:bodyPr wrap="square">
            <a:spAutoFit/>
          </a:bodyPr>
          <a:lstStyle/>
          <a:p>
            <a:pPr>
              <a:lnSpc>
                <a:spcPts val="2000"/>
              </a:lnSpc>
            </a:pPr>
            <a:r>
              <a:rPr lang="en-US" altLang="zh-CN" sz="2000" b="0" dirty="0">
                <a:solidFill>
                  <a:srgbClr val="000000"/>
                </a:solidFill>
                <a:effectLst/>
                <a:latin typeface="华文楷体" panose="02010600040101010101" pitchFamily="2" charset="-122"/>
                <a:ea typeface="华文楷体" panose="02010600040101010101" pitchFamily="2" charset="-122"/>
              </a:rPr>
              <a:t>x=[</a:t>
            </a:r>
            <a:r>
              <a:rPr lang="en-US" altLang="zh-CN" sz="2000" b="0" dirty="0">
                <a:solidFill>
                  <a:srgbClr val="098658"/>
                </a:solidFill>
                <a:effectLst/>
                <a:latin typeface="华文楷体" panose="02010600040101010101" pitchFamily="2" charset="-122"/>
                <a:ea typeface="华文楷体" panose="02010600040101010101" pitchFamily="2" charset="-122"/>
              </a:rPr>
              <a:t>2.3</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4.6</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4.9</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6.1</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7.6</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8.9</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9.5</a:t>
            </a:r>
            <a:r>
              <a:rPr lang="en-US" altLang="zh-CN" sz="2000" b="0" dirty="0">
                <a:solidFill>
                  <a:srgbClr val="000000"/>
                </a:solidFill>
                <a:effectLst/>
                <a:latin typeface="华文楷体" panose="02010600040101010101" pitchFamily="2" charset="-122"/>
                <a:ea typeface="华文楷体" panose="02010600040101010101" pitchFamily="2" charset="-122"/>
              </a:rPr>
              <a:t>]; </a:t>
            </a:r>
            <a:r>
              <a:rPr lang="en-US" altLang="zh-CN" sz="2000" b="0" dirty="0">
                <a:solidFill>
                  <a:srgbClr val="008000"/>
                </a:solidFill>
                <a:effectLst/>
                <a:latin typeface="华文楷体" panose="02010600040101010101" pitchFamily="2" charset="-122"/>
                <a:ea typeface="华文楷体" panose="02010600040101010101" pitchFamily="2" charset="-122"/>
              </a:rPr>
              <a:t>#7</a:t>
            </a:r>
            <a:r>
              <a:rPr lang="zh-CN" altLang="en-US" sz="2000" b="0" dirty="0">
                <a:solidFill>
                  <a:srgbClr val="008000"/>
                </a:solidFill>
                <a:effectLst/>
                <a:latin typeface="华文楷体" panose="02010600040101010101" pitchFamily="2" charset="-122"/>
                <a:ea typeface="华文楷体" panose="02010600040101010101" pitchFamily="2" charset="-122"/>
              </a:rPr>
              <a:t>个镇</a:t>
            </a:r>
            <a:r>
              <a:rPr lang="en-US" altLang="zh-CN" sz="2000" b="0" dirty="0">
                <a:solidFill>
                  <a:srgbClr val="008000"/>
                </a:solidFill>
                <a:effectLst/>
                <a:latin typeface="华文楷体" panose="02010600040101010101" pitchFamily="2" charset="-122"/>
                <a:ea typeface="华文楷体" panose="02010600040101010101" pitchFamily="2" charset="-122"/>
              </a:rPr>
              <a:t>x</a:t>
            </a:r>
            <a:r>
              <a:rPr lang="zh-CN" altLang="en-US" sz="2000" b="0" dirty="0">
                <a:solidFill>
                  <a:srgbClr val="008000"/>
                </a:solidFill>
                <a:effectLst/>
                <a:latin typeface="华文楷体" panose="02010600040101010101" pitchFamily="2" charset="-122"/>
                <a:ea typeface="华文楷体" panose="02010600040101010101" pitchFamily="2" charset="-122"/>
              </a:rPr>
              <a:t>轴坐标</a:t>
            </a:r>
            <a:endParaRPr lang="zh-CN" altLang="en-US" sz="2000" b="0" dirty="0">
              <a:solidFill>
                <a:srgbClr val="000000"/>
              </a:solidFill>
              <a:effectLst/>
              <a:latin typeface="华文楷体" panose="02010600040101010101" pitchFamily="2" charset="-122"/>
              <a:ea typeface="华文楷体" panose="02010600040101010101" pitchFamily="2" charset="-122"/>
            </a:endParaRPr>
          </a:p>
          <a:p>
            <a:pPr>
              <a:lnSpc>
                <a:spcPts val="2000"/>
              </a:lnSpc>
            </a:pPr>
            <a:r>
              <a:rPr lang="en-US" altLang="zh-CN" sz="2000" b="0" dirty="0">
                <a:solidFill>
                  <a:srgbClr val="000000"/>
                </a:solidFill>
                <a:effectLst/>
                <a:latin typeface="华文楷体" panose="02010600040101010101" pitchFamily="2" charset="-122"/>
                <a:ea typeface="华文楷体" panose="02010600040101010101" pitchFamily="2" charset="-122"/>
              </a:rPr>
              <a:t>y=[</a:t>
            </a:r>
            <a:r>
              <a:rPr lang="en-US" altLang="zh-CN" sz="2000" b="0" dirty="0">
                <a:solidFill>
                  <a:srgbClr val="098658"/>
                </a:solidFill>
                <a:effectLst/>
                <a:latin typeface="华文楷体" panose="02010600040101010101" pitchFamily="2" charset="-122"/>
                <a:ea typeface="华文楷体" panose="02010600040101010101" pitchFamily="2" charset="-122"/>
              </a:rPr>
              <a:t>8.2</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7.4</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6.2</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4.4</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9.2</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7.9</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0.2</a:t>
            </a:r>
            <a:r>
              <a:rPr lang="en-US" altLang="zh-CN" sz="2000" b="0" dirty="0">
                <a:solidFill>
                  <a:srgbClr val="000000"/>
                </a:solidFill>
                <a:effectLst/>
                <a:latin typeface="华文楷体" panose="02010600040101010101" pitchFamily="2" charset="-122"/>
                <a:ea typeface="华文楷体" panose="02010600040101010101" pitchFamily="2" charset="-122"/>
              </a:rPr>
              <a:t>]; </a:t>
            </a:r>
            <a:r>
              <a:rPr lang="en-US" altLang="zh-CN" sz="2000" b="0" dirty="0">
                <a:solidFill>
                  <a:srgbClr val="008000"/>
                </a:solidFill>
                <a:effectLst/>
                <a:latin typeface="华文楷体" panose="02010600040101010101" pitchFamily="2" charset="-122"/>
                <a:ea typeface="华文楷体" panose="02010600040101010101" pitchFamily="2" charset="-122"/>
              </a:rPr>
              <a:t>#7</a:t>
            </a:r>
            <a:r>
              <a:rPr lang="zh-CN" altLang="en-US" sz="2000" b="0" dirty="0">
                <a:solidFill>
                  <a:srgbClr val="008000"/>
                </a:solidFill>
                <a:effectLst/>
                <a:latin typeface="华文楷体" panose="02010600040101010101" pitchFamily="2" charset="-122"/>
                <a:ea typeface="华文楷体" panose="02010600040101010101" pitchFamily="2" charset="-122"/>
              </a:rPr>
              <a:t>个镇</a:t>
            </a:r>
            <a:r>
              <a:rPr lang="en-US" altLang="zh-CN" sz="2000" b="0" dirty="0">
                <a:solidFill>
                  <a:srgbClr val="008000"/>
                </a:solidFill>
                <a:effectLst/>
                <a:latin typeface="华文楷体" panose="02010600040101010101" pitchFamily="2" charset="-122"/>
                <a:ea typeface="华文楷体" panose="02010600040101010101" pitchFamily="2" charset="-122"/>
              </a:rPr>
              <a:t>y</a:t>
            </a:r>
            <a:r>
              <a:rPr lang="zh-CN" altLang="en-US" sz="2000" b="0" dirty="0">
                <a:solidFill>
                  <a:srgbClr val="008000"/>
                </a:solidFill>
                <a:effectLst/>
                <a:latin typeface="华文楷体" panose="02010600040101010101" pitchFamily="2" charset="-122"/>
                <a:ea typeface="华文楷体" panose="02010600040101010101" pitchFamily="2" charset="-122"/>
              </a:rPr>
              <a:t>轴坐标</a:t>
            </a:r>
            <a:endParaRPr lang="zh-CN" altLang="en-US" sz="2000" b="0" dirty="0">
              <a:solidFill>
                <a:srgbClr val="000000"/>
              </a:solidFill>
              <a:effectLst/>
              <a:latin typeface="华文楷体" panose="02010600040101010101" pitchFamily="2" charset="-122"/>
              <a:ea typeface="华文楷体" panose="02010600040101010101" pitchFamily="2" charset="-122"/>
            </a:endParaRPr>
          </a:p>
          <a:p>
            <a:pPr>
              <a:lnSpc>
                <a:spcPts val="2000"/>
              </a:lnSpc>
            </a:pPr>
            <a:r>
              <a:rPr lang="en-US" altLang="zh-CN" sz="2000" b="0" dirty="0">
                <a:solidFill>
                  <a:srgbClr val="795E26"/>
                </a:solidFill>
                <a:effectLst/>
                <a:latin typeface="华文楷体" panose="02010600040101010101" pitchFamily="2" charset="-122"/>
                <a:ea typeface="华文楷体" panose="02010600040101010101" pitchFamily="2" charset="-122"/>
              </a:rPr>
              <a:t>plot</a:t>
            </a:r>
            <a:r>
              <a:rPr lang="en-US" altLang="zh-CN" sz="2000" b="0" dirty="0">
                <a:solidFill>
                  <a:srgbClr val="000000"/>
                </a:solidFill>
                <a:effectLst/>
                <a:latin typeface="华文楷体" panose="02010600040101010101" pitchFamily="2" charset="-122"/>
                <a:ea typeface="华文楷体" panose="02010600040101010101" pitchFamily="2" charset="-122"/>
              </a:rPr>
              <a:t>(x, </a:t>
            </a:r>
            <a:r>
              <a:rPr lang="en-US" altLang="zh-CN" sz="2000" b="0" dirty="0" err="1">
                <a:solidFill>
                  <a:srgbClr val="000000"/>
                </a:solidFill>
                <a:effectLst/>
                <a:latin typeface="华文楷体" panose="02010600040101010101" pitchFamily="2" charset="-122"/>
                <a:ea typeface="华文楷体" panose="02010600040101010101" pitchFamily="2" charset="-122"/>
              </a:rPr>
              <a:t>y,</a:t>
            </a:r>
            <a:r>
              <a:rPr lang="en-US" altLang="zh-CN" sz="2000" b="0" dirty="0" err="1">
                <a:solidFill>
                  <a:srgbClr val="A31515"/>
                </a:solidFill>
                <a:effectLst/>
                <a:latin typeface="华文楷体" panose="02010600040101010101" pitchFamily="2" charset="-122"/>
                <a:ea typeface="华文楷体" panose="02010600040101010101" pitchFamily="2" charset="-122"/>
              </a:rPr>
              <a:t>"r</a:t>
            </a:r>
            <a:r>
              <a:rPr lang="en-US" altLang="zh-CN" sz="2000" b="0" dirty="0">
                <a:solidFill>
                  <a:srgbClr val="A31515"/>
                </a:solidFill>
                <a:effectLst/>
                <a:latin typeface="华文楷体" panose="02010600040101010101" pitchFamily="2" charset="-122"/>
                <a:ea typeface="华文楷体" panose="02010600040101010101" pitchFamily="2" charset="-122"/>
              </a:rPr>
              <a:t>*"</a:t>
            </a:r>
            <a:r>
              <a:rPr lang="en-US" altLang="zh-CN" sz="2000" b="0" dirty="0">
                <a:solidFill>
                  <a:srgbClr val="000000"/>
                </a:solidFill>
                <a:effectLst/>
                <a:latin typeface="华文楷体" panose="02010600040101010101" pitchFamily="2" charset="-122"/>
                <a:ea typeface="华文楷体" panose="02010600040101010101" pitchFamily="2" charset="-122"/>
              </a:rPr>
              <a:t>, </a:t>
            </a:r>
            <a:r>
              <a:rPr lang="en-US" altLang="zh-CN" sz="2000" b="0" dirty="0" err="1">
                <a:solidFill>
                  <a:srgbClr val="000000"/>
                </a:solidFill>
                <a:effectLst/>
                <a:latin typeface="华文楷体" panose="02010600040101010101" pitchFamily="2" charset="-122"/>
                <a:ea typeface="华文楷体" panose="02010600040101010101" pitchFamily="2" charset="-122"/>
              </a:rPr>
              <a:t>markersize</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12</a:t>
            </a:r>
            <a:r>
              <a:rPr lang="en-US" altLang="zh-CN" sz="2000" b="0" dirty="0">
                <a:solidFill>
                  <a:srgbClr val="000000"/>
                </a:solidFill>
                <a:effectLst/>
                <a:latin typeface="华文楷体" panose="02010600040101010101" pitchFamily="2" charset="-122"/>
                <a:ea typeface="华文楷体" panose="02010600040101010101" pitchFamily="2" charset="-122"/>
              </a:rPr>
              <a:t>, </a:t>
            </a:r>
            <a:r>
              <a:rPr lang="en-US" altLang="zh-CN" sz="2000" b="0" dirty="0" err="1">
                <a:solidFill>
                  <a:srgbClr val="000000"/>
                </a:solidFill>
                <a:effectLst/>
                <a:latin typeface="华文楷体" panose="02010600040101010101" pitchFamily="2" charset="-122"/>
                <a:ea typeface="华文楷体" panose="02010600040101010101" pitchFamily="2" charset="-122"/>
              </a:rPr>
              <a:t>markerfacecolor</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A31515"/>
                </a:solidFill>
                <a:effectLst/>
                <a:latin typeface="华文楷体" panose="02010600040101010101" pitchFamily="2" charset="-122"/>
                <a:ea typeface="华文楷体" panose="02010600040101010101" pitchFamily="2" charset="-122"/>
              </a:rPr>
              <a:t>"r"</a:t>
            </a:r>
            <a:r>
              <a:rPr lang="en-US" altLang="zh-CN" sz="2000" b="0" dirty="0">
                <a:solidFill>
                  <a:srgbClr val="000000"/>
                </a:solidFill>
                <a:effectLst/>
                <a:latin typeface="华文楷体" panose="02010600040101010101" pitchFamily="2" charset="-122"/>
                <a:ea typeface="华文楷体" panose="02010600040101010101" pitchFamily="2" charset="-122"/>
              </a:rPr>
              <a:t>) </a:t>
            </a:r>
            <a:r>
              <a:rPr lang="en-US" altLang="zh-CN" sz="2000" b="0" dirty="0">
                <a:solidFill>
                  <a:srgbClr val="008000"/>
                </a:solidFill>
                <a:effectLst/>
                <a:latin typeface="华文楷体" panose="02010600040101010101" pitchFamily="2" charset="-122"/>
                <a:ea typeface="华文楷体" panose="02010600040101010101" pitchFamily="2" charset="-122"/>
              </a:rPr>
              <a:t>#7</a:t>
            </a:r>
            <a:r>
              <a:rPr lang="zh-CN" altLang="en-US" sz="2000" b="0" dirty="0">
                <a:solidFill>
                  <a:srgbClr val="008000"/>
                </a:solidFill>
                <a:effectLst/>
                <a:latin typeface="华文楷体" panose="02010600040101010101" pitchFamily="2" charset="-122"/>
                <a:ea typeface="华文楷体" panose="02010600040101010101" pitchFamily="2" charset="-122"/>
              </a:rPr>
              <a:t>个镇坐标散点图</a:t>
            </a:r>
            <a:endParaRPr lang="zh-CN" altLang="en-US" sz="2000" b="0" dirty="0">
              <a:solidFill>
                <a:srgbClr val="000000"/>
              </a:solidFill>
              <a:effectLst/>
              <a:latin typeface="华文楷体" panose="02010600040101010101" pitchFamily="2" charset="-122"/>
              <a:ea typeface="华文楷体" panose="02010600040101010101" pitchFamily="2" charset="-122"/>
            </a:endParaRPr>
          </a:p>
          <a:p>
            <a:pPr>
              <a:lnSpc>
                <a:spcPts val="2000"/>
              </a:lnSpc>
            </a:pPr>
            <a:r>
              <a:rPr lang="en-US" altLang="zh-CN" sz="2000" b="0" dirty="0">
                <a:solidFill>
                  <a:srgbClr val="000000"/>
                </a:solidFill>
                <a:effectLst/>
                <a:latin typeface="华文楷体" panose="02010600040101010101" pitchFamily="2" charset="-122"/>
                <a:ea typeface="华文楷体" panose="02010600040101010101" pitchFamily="2" charset="-122"/>
              </a:rPr>
              <a:t>c=[</a:t>
            </a:r>
            <a:r>
              <a:rPr lang="en-US" altLang="zh-CN" sz="2000" b="0" dirty="0">
                <a:solidFill>
                  <a:srgbClr val="098658"/>
                </a:solidFill>
                <a:effectLst/>
                <a:latin typeface="华文楷体" panose="02010600040101010101" pitchFamily="2" charset="-122"/>
                <a:ea typeface="华文楷体" panose="02010600040101010101" pitchFamily="2" charset="-122"/>
              </a:rPr>
              <a:t>5</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6</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3</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1</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3</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7</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2</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08000"/>
                </a:solidFill>
                <a:effectLst/>
                <a:latin typeface="华文楷体" panose="02010600040101010101" pitchFamily="2" charset="-122"/>
                <a:ea typeface="华文楷体" panose="02010600040101010101" pitchFamily="2" charset="-122"/>
              </a:rPr>
              <a:t>#7</a:t>
            </a:r>
            <a:r>
              <a:rPr lang="zh-CN" altLang="en-US" sz="2000" b="0" dirty="0">
                <a:solidFill>
                  <a:srgbClr val="008000"/>
                </a:solidFill>
                <a:effectLst/>
                <a:latin typeface="华文楷体" panose="02010600040101010101" pitchFamily="2" charset="-122"/>
                <a:ea typeface="华文楷体" panose="02010600040101010101" pitchFamily="2" charset="-122"/>
              </a:rPr>
              <a:t>个镇垃圾车次</a:t>
            </a:r>
            <a:endParaRPr lang="zh-CN" altLang="en-US" sz="2000" b="0" dirty="0">
              <a:solidFill>
                <a:srgbClr val="000000"/>
              </a:solidFill>
              <a:effectLst/>
              <a:latin typeface="华文楷体" panose="02010600040101010101" pitchFamily="2" charset="-122"/>
              <a:ea typeface="华文楷体" panose="02010600040101010101" pitchFamily="2" charset="-122"/>
            </a:endParaRPr>
          </a:p>
          <a:p>
            <a:pPr>
              <a:lnSpc>
                <a:spcPts val="2000"/>
              </a:lnSpc>
            </a:pPr>
            <a:r>
              <a:rPr lang="en-US" altLang="zh-CN" sz="2000" b="0" dirty="0">
                <a:solidFill>
                  <a:srgbClr val="000000"/>
                </a:solidFill>
                <a:effectLst/>
                <a:latin typeface="华文楷体" panose="02010600040101010101" pitchFamily="2" charset="-122"/>
                <a:ea typeface="华文楷体" panose="02010600040101010101" pitchFamily="2" charset="-122"/>
              </a:rPr>
              <a:t>L=[</a:t>
            </a:r>
            <a:r>
              <a:rPr lang="en-US" altLang="zh-CN" sz="2000" b="0" dirty="0">
                <a:solidFill>
                  <a:srgbClr val="A31515"/>
                </a:solidFill>
                <a:effectLst/>
                <a:latin typeface="华文楷体" panose="02010600040101010101" pitchFamily="2" charset="-122"/>
                <a:ea typeface="华文楷体" panose="02010600040101010101" pitchFamily="2" charset="-122"/>
              </a:rPr>
              <a:t>"5</a:t>
            </a:r>
            <a:r>
              <a:rPr lang="zh-CN" altLang="en-US" sz="2000" b="0" dirty="0">
                <a:solidFill>
                  <a:srgbClr val="A31515"/>
                </a:solidFill>
                <a:effectLst/>
                <a:latin typeface="华文楷体" panose="02010600040101010101" pitchFamily="2" charset="-122"/>
                <a:ea typeface="华文楷体" panose="02010600040101010101" pitchFamily="2" charset="-122"/>
              </a:rPr>
              <a:t>车</a:t>
            </a:r>
            <a:r>
              <a:rPr lang="en-US" altLang="zh-CN" sz="2000" b="0" dirty="0">
                <a:solidFill>
                  <a:srgbClr val="A31515"/>
                </a:solidFill>
                <a:effectLst/>
                <a:latin typeface="华文楷体" panose="02010600040101010101" pitchFamily="2" charset="-122"/>
                <a:ea typeface="华文楷体" panose="02010600040101010101" pitchFamily="2" charset="-122"/>
              </a:rPr>
              <a:t>"</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A31515"/>
                </a:solidFill>
                <a:effectLst/>
                <a:latin typeface="华文楷体" panose="02010600040101010101" pitchFamily="2" charset="-122"/>
                <a:ea typeface="华文楷体" panose="02010600040101010101" pitchFamily="2" charset="-122"/>
              </a:rPr>
              <a:t>"6</a:t>
            </a:r>
            <a:r>
              <a:rPr lang="zh-CN" altLang="en-US" sz="2000" b="0" dirty="0">
                <a:solidFill>
                  <a:srgbClr val="A31515"/>
                </a:solidFill>
                <a:effectLst/>
                <a:latin typeface="华文楷体" panose="02010600040101010101" pitchFamily="2" charset="-122"/>
                <a:ea typeface="华文楷体" panose="02010600040101010101" pitchFamily="2" charset="-122"/>
              </a:rPr>
              <a:t>车</a:t>
            </a:r>
            <a:r>
              <a:rPr lang="en-US" altLang="zh-CN" sz="2000" b="0" dirty="0">
                <a:solidFill>
                  <a:srgbClr val="A31515"/>
                </a:solidFill>
                <a:effectLst/>
                <a:latin typeface="华文楷体" panose="02010600040101010101" pitchFamily="2" charset="-122"/>
                <a:ea typeface="华文楷体" panose="02010600040101010101" pitchFamily="2" charset="-122"/>
              </a:rPr>
              <a:t>"</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A31515"/>
                </a:solidFill>
                <a:effectLst/>
                <a:latin typeface="华文楷体" panose="02010600040101010101" pitchFamily="2" charset="-122"/>
                <a:ea typeface="华文楷体" panose="02010600040101010101" pitchFamily="2" charset="-122"/>
              </a:rPr>
              <a:t>"3</a:t>
            </a:r>
            <a:r>
              <a:rPr lang="zh-CN" altLang="en-US" sz="2000" b="0" dirty="0">
                <a:solidFill>
                  <a:srgbClr val="A31515"/>
                </a:solidFill>
                <a:effectLst/>
                <a:latin typeface="华文楷体" panose="02010600040101010101" pitchFamily="2" charset="-122"/>
                <a:ea typeface="华文楷体" panose="02010600040101010101" pitchFamily="2" charset="-122"/>
              </a:rPr>
              <a:t>车</a:t>
            </a:r>
            <a:r>
              <a:rPr lang="en-US" altLang="zh-CN" sz="2000" b="0" dirty="0">
                <a:solidFill>
                  <a:srgbClr val="A31515"/>
                </a:solidFill>
                <a:effectLst/>
                <a:latin typeface="华文楷体" panose="02010600040101010101" pitchFamily="2" charset="-122"/>
                <a:ea typeface="华文楷体" panose="02010600040101010101" pitchFamily="2" charset="-122"/>
              </a:rPr>
              <a:t>"</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A31515"/>
                </a:solidFill>
                <a:effectLst/>
                <a:latin typeface="华文楷体" panose="02010600040101010101" pitchFamily="2" charset="-122"/>
                <a:ea typeface="华文楷体" panose="02010600040101010101" pitchFamily="2" charset="-122"/>
              </a:rPr>
              <a:t>"1</a:t>
            </a:r>
            <a:r>
              <a:rPr lang="zh-CN" altLang="en-US" sz="2000" b="0" dirty="0">
                <a:solidFill>
                  <a:srgbClr val="A31515"/>
                </a:solidFill>
                <a:effectLst/>
                <a:latin typeface="华文楷体" panose="02010600040101010101" pitchFamily="2" charset="-122"/>
                <a:ea typeface="华文楷体" panose="02010600040101010101" pitchFamily="2" charset="-122"/>
              </a:rPr>
              <a:t>车</a:t>
            </a:r>
            <a:r>
              <a:rPr lang="en-US" altLang="zh-CN" sz="2000" b="0" dirty="0">
                <a:solidFill>
                  <a:srgbClr val="A31515"/>
                </a:solidFill>
                <a:effectLst/>
                <a:latin typeface="华文楷体" panose="02010600040101010101" pitchFamily="2" charset="-122"/>
                <a:ea typeface="华文楷体" panose="02010600040101010101" pitchFamily="2" charset="-122"/>
              </a:rPr>
              <a:t>"</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A31515"/>
                </a:solidFill>
                <a:effectLst/>
                <a:latin typeface="华文楷体" panose="02010600040101010101" pitchFamily="2" charset="-122"/>
                <a:ea typeface="华文楷体" panose="02010600040101010101" pitchFamily="2" charset="-122"/>
              </a:rPr>
              <a:t>"3</a:t>
            </a:r>
            <a:r>
              <a:rPr lang="zh-CN" altLang="en-US" sz="2000" b="0" dirty="0">
                <a:solidFill>
                  <a:srgbClr val="A31515"/>
                </a:solidFill>
                <a:effectLst/>
                <a:latin typeface="华文楷体" panose="02010600040101010101" pitchFamily="2" charset="-122"/>
                <a:ea typeface="华文楷体" panose="02010600040101010101" pitchFamily="2" charset="-122"/>
              </a:rPr>
              <a:t>车</a:t>
            </a:r>
            <a:r>
              <a:rPr lang="en-US" altLang="zh-CN" sz="2000" b="0" dirty="0">
                <a:solidFill>
                  <a:srgbClr val="A31515"/>
                </a:solidFill>
                <a:effectLst/>
                <a:latin typeface="华文楷体" panose="02010600040101010101" pitchFamily="2" charset="-122"/>
                <a:ea typeface="华文楷体" panose="02010600040101010101" pitchFamily="2" charset="-122"/>
              </a:rPr>
              <a:t>"</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A31515"/>
                </a:solidFill>
                <a:effectLst/>
                <a:latin typeface="华文楷体" panose="02010600040101010101" pitchFamily="2" charset="-122"/>
                <a:ea typeface="华文楷体" panose="02010600040101010101" pitchFamily="2" charset="-122"/>
              </a:rPr>
              <a:t>"7</a:t>
            </a:r>
            <a:r>
              <a:rPr lang="zh-CN" altLang="en-US" sz="2000" b="0" dirty="0">
                <a:solidFill>
                  <a:srgbClr val="A31515"/>
                </a:solidFill>
                <a:effectLst/>
                <a:latin typeface="华文楷体" panose="02010600040101010101" pitchFamily="2" charset="-122"/>
                <a:ea typeface="华文楷体" panose="02010600040101010101" pitchFamily="2" charset="-122"/>
              </a:rPr>
              <a:t>车</a:t>
            </a:r>
            <a:r>
              <a:rPr lang="en-US" altLang="zh-CN" sz="2000" b="0" dirty="0">
                <a:solidFill>
                  <a:srgbClr val="A31515"/>
                </a:solidFill>
                <a:effectLst/>
                <a:latin typeface="华文楷体" panose="02010600040101010101" pitchFamily="2" charset="-122"/>
                <a:ea typeface="华文楷体" panose="02010600040101010101" pitchFamily="2" charset="-122"/>
              </a:rPr>
              <a:t>"</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A31515"/>
                </a:solidFill>
                <a:effectLst/>
                <a:latin typeface="华文楷体" panose="02010600040101010101" pitchFamily="2" charset="-122"/>
                <a:ea typeface="华文楷体" panose="02010600040101010101" pitchFamily="2" charset="-122"/>
              </a:rPr>
              <a:t>"2</a:t>
            </a:r>
            <a:r>
              <a:rPr lang="zh-CN" altLang="en-US" sz="2000" b="0" dirty="0">
                <a:solidFill>
                  <a:srgbClr val="A31515"/>
                </a:solidFill>
                <a:effectLst/>
                <a:latin typeface="华文楷体" panose="02010600040101010101" pitchFamily="2" charset="-122"/>
                <a:ea typeface="华文楷体" panose="02010600040101010101" pitchFamily="2" charset="-122"/>
              </a:rPr>
              <a:t>车</a:t>
            </a:r>
            <a:r>
              <a:rPr lang="en-US" altLang="zh-CN" sz="2000" b="0" dirty="0">
                <a:solidFill>
                  <a:srgbClr val="A31515"/>
                </a:solidFill>
                <a:effectLst/>
                <a:latin typeface="华文楷体" panose="02010600040101010101" pitchFamily="2" charset="-122"/>
                <a:ea typeface="华文楷体" panose="02010600040101010101" pitchFamily="2" charset="-122"/>
              </a:rPr>
              <a:t>"</a:t>
            </a:r>
            <a:r>
              <a:rPr lang="en-US" altLang="zh-CN" sz="2000" b="0" dirty="0">
                <a:solidFill>
                  <a:srgbClr val="000000"/>
                </a:solidFill>
                <a:effectLst/>
                <a:latin typeface="华文楷体" panose="02010600040101010101" pitchFamily="2" charset="-122"/>
                <a:ea typeface="华文楷体" panose="02010600040101010101" pitchFamily="2" charset="-122"/>
              </a:rPr>
              <a:t>];  </a:t>
            </a:r>
            <a:r>
              <a:rPr lang="en-US" altLang="zh-CN" sz="2000" b="0" dirty="0">
                <a:solidFill>
                  <a:srgbClr val="008000"/>
                </a:solidFill>
                <a:effectLst/>
                <a:latin typeface="华文楷体" panose="02010600040101010101" pitchFamily="2" charset="-122"/>
                <a:ea typeface="华文楷体" panose="02010600040101010101" pitchFamily="2" charset="-122"/>
              </a:rPr>
              <a:t>#7</a:t>
            </a:r>
            <a:r>
              <a:rPr lang="zh-CN" altLang="en-US" sz="2000" b="0" dirty="0">
                <a:solidFill>
                  <a:srgbClr val="008000"/>
                </a:solidFill>
                <a:effectLst/>
                <a:latin typeface="华文楷体" panose="02010600040101010101" pitchFamily="2" charset="-122"/>
                <a:ea typeface="华文楷体" panose="02010600040101010101" pitchFamily="2" charset="-122"/>
              </a:rPr>
              <a:t>垃圾量标注</a:t>
            </a:r>
            <a:endParaRPr lang="zh-CN" altLang="en-US" sz="2000" b="0" dirty="0">
              <a:solidFill>
                <a:srgbClr val="000000"/>
              </a:solidFill>
              <a:effectLst/>
              <a:latin typeface="华文楷体" panose="02010600040101010101" pitchFamily="2" charset="-122"/>
              <a:ea typeface="华文楷体" panose="02010600040101010101" pitchFamily="2" charset="-122"/>
            </a:endParaRPr>
          </a:p>
          <a:p>
            <a:pPr>
              <a:lnSpc>
                <a:spcPts val="2000"/>
              </a:lnSpc>
            </a:pPr>
            <a:r>
              <a:rPr lang="en-US" altLang="zh-CN" sz="2000" b="0" dirty="0">
                <a:solidFill>
                  <a:srgbClr val="AF00DB"/>
                </a:solidFill>
                <a:effectLst/>
                <a:latin typeface="华文楷体" panose="02010600040101010101" pitchFamily="2" charset="-122"/>
                <a:ea typeface="华文楷体" panose="02010600040101010101" pitchFamily="2" charset="-122"/>
              </a:rPr>
              <a:t>for</a:t>
            </a:r>
            <a:r>
              <a:rPr lang="zh-CN" altLang="en-US" sz="2000" b="0" dirty="0">
                <a:solidFill>
                  <a:srgbClr val="000000"/>
                </a:solidFill>
                <a:effectLst/>
                <a:latin typeface="华文楷体" panose="02010600040101010101" pitchFamily="2" charset="-122"/>
                <a:ea typeface="华文楷体" panose="02010600040101010101" pitchFamily="2" charset="-122"/>
              </a:rPr>
              <a:t> </a:t>
            </a:r>
            <a:r>
              <a:rPr lang="en-US" altLang="zh-CN" sz="2000" b="0" dirty="0">
                <a:solidFill>
                  <a:srgbClr val="000000"/>
                </a:solidFill>
                <a:effectLst/>
                <a:latin typeface="华文楷体" panose="02010600040101010101" pitchFamily="2" charset="-122"/>
                <a:ea typeface="华文楷体" panose="02010600040101010101" pitchFamily="2" charset="-122"/>
              </a:rPr>
              <a:t>ii=</a:t>
            </a:r>
            <a:r>
              <a:rPr lang="en-US" altLang="zh-CN" sz="2000" b="0" dirty="0">
                <a:solidFill>
                  <a:srgbClr val="098658"/>
                </a:solidFill>
                <a:effectLst/>
                <a:latin typeface="华文楷体" panose="02010600040101010101" pitchFamily="2" charset="-122"/>
                <a:ea typeface="华文楷体" panose="02010600040101010101" pitchFamily="2" charset="-122"/>
              </a:rPr>
              <a:t>1</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7</a:t>
            </a:r>
            <a:endParaRPr lang="zh-CN" altLang="en-US" sz="2000" b="0" dirty="0">
              <a:solidFill>
                <a:srgbClr val="000000"/>
              </a:solidFill>
              <a:effectLst/>
              <a:latin typeface="华文楷体" panose="02010600040101010101" pitchFamily="2" charset="-122"/>
              <a:ea typeface="华文楷体" panose="02010600040101010101" pitchFamily="2" charset="-122"/>
            </a:endParaRPr>
          </a:p>
          <a:p>
            <a:pPr>
              <a:lnSpc>
                <a:spcPts val="2000"/>
              </a:lnSpc>
            </a:pPr>
            <a:r>
              <a:rPr lang="en-US" altLang="zh-CN" sz="2000" b="0" dirty="0">
                <a:solidFill>
                  <a:srgbClr val="795E26"/>
                </a:solidFill>
                <a:effectLst/>
                <a:latin typeface="华文楷体" panose="02010600040101010101" pitchFamily="2" charset="-122"/>
                <a:ea typeface="华文楷体" panose="02010600040101010101" pitchFamily="2" charset="-122"/>
              </a:rPr>
              <a:t>text</a:t>
            </a:r>
            <a:r>
              <a:rPr lang="en-US" altLang="zh-CN" sz="2000" b="0" dirty="0">
                <a:solidFill>
                  <a:srgbClr val="000000"/>
                </a:solidFill>
                <a:effectLst/>
                <a:latin typeface="华文楷体" panose="02010600040101010101" pitchFamily="2" charset="-122"/>
                <a:ea typeface="华文楷体" panose="02010600040101010101" pitchFamily="2" charset="-122"/>
              </a:rPr>
              <a:t>(x[ii]+</a:t>
            </a:r>
            <a:r>
              <a:rPr lang="en-US" altLang="zh-CN" sz="2000" b="0" dirty="0">
                <a:solidFill>
                  <a:srgbClr val="098658"/>
                </a:solidFill>
                <a:effectLst/>
                <a:latin typeface="华文楷体" panose="02010600040101010101" pitchFamily="2" charset="-122"/>
                <a:ea typeface="华文楷体" panose="02010600040101010101" pitchFamily="2" charset="-122"/>
              </a:rPr>
              <a:t>0.1</a:t>
            </a:r>
            <a:r>
              <a:rPr lang="en-US" altLang="zh-CN" sz="2000" b="0" dirty="0">
                <a:solidFill>
                  <a:srgbClr val="000000"/>
                </a:solidFill>
                <a:effectLst/>
                <a:latin typeface="华文楷体" panose="02010600040101010101" pitchFamily="2" charset="-122"/>
                <a:ea typeface="华文楷体" panose="02010600040101010101" pitchFamily="2" charset="-122"/>
              </a:rPr>
              <a:t>,y[ii]+</a:t>
            </a:r>
            <a:r>
              <a:rPr lang="en-US" altLang="zh-CN" sz="2000" b="0" dirty="0">
                <a:solidFill>
                  <a:srgbClr val="098658"/>
                </a:solidFill>
                <a:effectLst/>
                <a:latin typeface="华文楷体" panose="02010600040101010101" pitchFamily="2" charset="-122"/>
                <a:ea typeface="华文楷体" panose="02010600040101010101" pitchFamily="2" charset="-122"/>
              </a:rPr>
              <a:t>0.1</a:t>
            </a:r>
            <a:r>
              <a:rPr lang="en-US" altLang="zh-CN" sz="2000" b="0" dirty="0">
                <a:solidFill>
                  <a:srgbClr val="000000"/>
                </a:solidFill>
                <a:effectLst/>
                <a:latin typeface="华文楷体" panose="02010600040101010101" pitchFamily="2" charset="-122"/>
                <a:ea typeface="华文楷体" panose="02010600040101010101" pitchFamily="2" charset="-122"/>
              </a:rPr>
              <a:t>,L[ii]); </a:t>
            </a:r>
            <a:r>
              <a:rPr lang="en-US" altLang="zh-CN" sz="2000" b="0" dirty="0">
                <a:solidFill>
                  <a:srgbClr val="008000"/>
                </a:solidFill>
                <a:effectLst/>
                <a:latin typeface="华文楷体" panose="02010600040101010101" pitchFamily="2" charset="-122"/>
                <a:ea typeface="华文楷体" panose="02010600040101010101" pitchFamily="2" charset="-122"/>
              </a:rPr>
              <a:t>#</a:t>
            </a:r>
            <a:r>
              <a:rPr lang="zh-CN" altLang="en-US" sz="2000" b="0" dirty="0">
                <a:solidFill>
                  <a:srgbClr val="008000"/>
                </a:solidFill>
                <a:effectLst/>
                <a:latin typeface="华文楷体" panose="02010600040101010101" pitchFamily="2" charset="-122"/>
                <a:ea typeface="华文楷体" panose="02010600040101010101" pitchFamily="2" charset="-122"/>
              </a:rPr>
              <a:t>利用</a:t>
            </a:r>
            <a:r>
              <a:rPr lang="en-US" altLang="zh-CN" sz="2000" b="0" dirty="0">
                <a:solidFill>
                  <a:srgbClr val="008000"/>
                </a:solidFill>
                <a:effectLst/>
                <a:latin typeface="华文楷体" panose="02010600040101010101" pitchFamily="2" charset="-122"/>
                <a:ea typeface="华文楷体" panose="02010600040101010101" pitchFamily="2" charset="-122"/>
              </a:rPr>
              <a:t>7</a:t>
            </a:r>
            <a:r>
              <a:rPr lang="zh-CN" altLang="en-US" sz="2000" b="0" dirty="0">
                <a:solidFill>
                  <a:srgbClr val="008000"/>
                </a:solidFill>
                <a:effectLst/>
                <a:latin typeface="华文楷体" panose="02010600040101010101" pitchFamily="2" charset="-122"/>
                <a:ea typeface="华文楷体" panose="02010600040101010101" pitchFamily="2" charset="-122"/>
              </a:rPr>
              <a:t>个点坐标添加对应标注</a:t>
            </a:r>
            <a:endParaRPr lang="zh-CN" altLang="en-US" sz="2000" b="0" dirty="0">
              <a:solidFill>
                <a:srgbClr val="000000"/>
              </a:solidFill>
              <a:effectLst/>
              <a:latin typeface="华文楷体" panose="02010600040101010101" pitchFamily="2" charset="-122"/>
              <a:ea typeface="华文楷体" panose="02010600040101010101" pitchFamily="2" charset="-122"/>
            </a:endParaRPr>
          </a:p>
          <a:p>
            <a:pPr>
              <a:lnSpc>
                <a:spcPts val="2000"/>
              </a:lnSpc>
            </a:pPr>
            <a:r>
              <a:rPr lang="en-US" altLang="zh-CN" sz="2000" b="0" dirty="0">
                <a:solidFill>
                  <a:srgbClr val="AF00DB"/>
                </a:solidFill>
                <a:effectLst/>
                <a:latin typeface="华文楷体" panose="02010600040101010101" pitchFamily="2" charset="-122"/>
                <a:ea typeface="华文楷体" panose="02010600040101010101" pitchFamily="2" charset="-122"/>
              </a:rPr>
              <a:t>end</a:t>
            </a:r>
            <a:endParaRPr lang="zh-CN" altLang="en-US" sz="2000" b="0" dirty="0">
              <a:solidFill>
                <a:srgbClr val="000000"/>
              </a:solidFill>
              <a:effectLst/>
              <a:latin typeface="华文楷体" panose="02010600040101010101" pitchFamily="2" charset="-122"/>
              <a:ea typeface="华文楷体" panose="02010600040101010101" pitchFamily="2" charset="-122"/>
            </a:endParaRPr>
          </a:p>
          <a:p>
            <a:pPr>
              <a:lnSpc>
                <a:spcPts val="2000"/>
              </a:lnSpc>
            </a:pPr>
            <a:r>
              <a:rPr lang="en-US" altLang="zh-CN" sz="2000" b="0" dirty="0" err="1">
                <a:solidFill>
                  <a:srgbClr val="795E26"/>
                </a:solidFill>
                <a:effectLst/>
                <a:latin typeface="华文楷体" panose="02010600040101010101" pitchFamily="2" charset="-122"/>
                <a:ea typeface="华文楷体" panose="02010600040101010101" pitchFamily="2" charset="-122"/>
              </a:rPr>
              <a:t>xlabel</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A31515"/>
                </a:solidFill>
                <a:effectLst/>
                <a:latin typeface="华文楷体" panose="02010600040101010101" pitchFamily="2" charset="-122"/>
                <a:ea typeface="华文楷体" panose="02010600040101010101" pitchFamily="2" charset="-122"/>
              </a:rPr>
              <a:t>"</a:t>
            </a:r>
            <a:r>
              <a:rPr lang="zh-CN" altLang="en-US" sz="2000" b="0" dirty="0">
                <a:solidFill>
                  <a:srgbClr val="A31515"/>
                </a:solidFill>
                <a:effectLst/>
                <a:latin typeface="华文楷体" panose="02010600040101010101" pitchFamily="2" charset="-122"/>
                <a:ea typeface="华文楷体" panose="02010600040101010101" pitchFamily="2" charset="-122"/>
              </a:rPr>
              <a:t>镇</a:t>
            </a:r>
            <a:r>
              <a:rPr lang="en-US" altLang="zh-CN" sz="2000" b="0" dirty="0">
                <a:solidFill>
                  <a:srgbClr val="A31515"/>
                </a:solidFill>
                <a:effectLst/>
                <a:latin typeface="华文楷体" panose="02010600040101010101" pitchFamily="2" charset="-122"/>
                <a:ea typeface="华文楷体" panose="02010600040101010101" pitchFamily="2" charset="-122"/>
              </a:rPr>
              <a:t>x</a:t>
            </a:r>
            <a:r>
              <a:rPr lang="zh-CN" altLang="en-US" sz="2000" b="0" dirty="0">
                <a:solidFill>
                  <a:srgbClr val="A31515"/>
                </a:solidFill>
                <a:effectLst/>
                <a:latin typeface="华文楷体" panose="02010600040101010101" pitchFamily="2" charset="-122"/>
                <a:ea typeface="华文楷体" panose="02010600040101010101" pitchFamily="2" charset="-122"/>
              </a:rPr>
              <a:t>轴坐标</a:t>
            </a:r>
            <a:r>
              <a:rPr lang="en-US" altLang="zh-CN" sz="2000" b="0" dirty="0">
                <a:solidFill>
                  <a:srgbClr val="A31515"/>
                </a:solidFill>
                <a:effectLst/>
                <a:latin typeface="华文楷体" panose="02010600040101010101" pitchFamily="2" charset="-122"/>
                <a:ea typeface="华文楷体" panose="02010600040101010101" pitchFamily="2" charset="-122"/>
              </a:rPr>
              <a:t>,km"</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err="1">
                <a:solidFill>
                  <a:srgbClr val="795E26"/>
                </a:solidFill>
                <a:effectLst/>
                <a:latin typeface="华文楷体" panose="02010600040101010101" pitchFamily="2" charset="-122"/>
                <a:ea typeface="华文楷体" panose="02010600040101010101" pitchFamily="2" charset="-122"/>
              </a:rPr>
              <a:t>ylabel</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A31515"/>
                </a:solidFill>
                <a:effectLst/>
                <a:latin typeface="华文楷体" panose="02010600040101010101" pitchFamily="2" charset="-122"/>
                <a:ea typeface="华文楷体" panose="02010600040101010101" pitchFamily="2" charset="-122"/>
              </a:rPr>
              <a:t>"</a:t>
            </a:r>
            <a:r>
              <a:rPr lang="zh-CN" altLang="en-US" sz="2000" b="0" dirty="0">
                <a:solidFill>
                  <a:srgbClr val="A31515"/>
                </a:solidFill>
                <a:effectLst/>
                <a:latin typeface="华文楷体" panose="02010600040101010101" pitchFamily="2" charset="-122"/>
                <a:ea typeface="华文楷体" panose="02010600040101010101" pitchFamily="2" charset="-122"/>
              </a:rPr>
              <a:t>镇</a:t>
            </a:r>
            <a:r>
              <a:rPr lang="en-US" altLang="zh-CN" sz="2000" b="0" dirty="0">
                <a:solidFill>
                  <a:srgbClr val="A31515"/>
                </a:solidFill>
                <a:effectLst/>
                <a:latin typeface="华文楷体" panose="02010600040101010101" pitchFamily="2" charset="-122"/>
                <a:ea typeface="华文楷体" panose="02010600040101010101" pitchFamily="2" charset="-122"/>
              </a:rPr>
              <a:t>y</a:t>
            </a:r>
            <a:r>
              <a:rPr lang="zh-CN" altLang="en-US" sz="2000" b="0" dirty="0">
                <a:solidFill>
                  <a:srgbClr val="A31515"/>
                </a:solidFill>
                <a:effectLst/>
                <a:latin typeface="华文楷体" panose="02010600040101010101" pitchFamily="2" charset="-122"/>
                <a:ea typeface="华文楷体" panose="02010600040101010101" pitchFamily="2" charset="-122"/>
              </a:rPr>
              <a:t>轴坐标</a:t>
            </a:r>
            <a:r>
              <a:rPr lang="en-US" altLang="zh-CN" sz="2000" b="0" dirty="0">
                <a:solidFill>
                  <a:srgbClr val="A31515"/>
                </a:solidFill>
                <a:effectLst/>
                <a:latin typeface="华文楷体" panose="02010600040101010101" pitchFamily="2" charset="-122"/>
                <a:ea typeface="华文楷体" panose="02010600040101010101" pitchFamily="2" charset="-122"/>
              </a:rPr>
              <a:t>,km"</a:t>
            </a:r>
            <a:r>
              <a:rPr lang="en-US" altLang="zh-CN" sz="2000" b="0" dirty="0">
                <a:solidFill>
                  <a:srgbClr val="000000"/>
                </a:solidFill>
                <a:effectLst/>
                <a:latin typeface="华文楷体" panose="02010600040101010101" pitchFamily="2" charset="-122"/>
                <a:ea typeface="华文楷体" panose="02010600040101010101" pitchFamily="2" charset="-122"/>
              </a:rPr>
              <a:t>);</a:t>
            </a:r>
          </a:p>
          <a:p>
            <a:pPr>
              <a:lnSpc>
                <a:spcPts val="2000"/>
              </a:lnSpc>
            </a:pPr>
            <a:r>
              <a:rPr lang="en-US" altLang="zh-CN" sz="2000" b="0" dirty="0" err="1">
                <a:solidFill>
                  <a:srgbClr val="795E26"/>
                </a:solidFill>
                <a:effectLst/>
                <a:latin typeface="华文楷体" panose="02010600040101010101" pitchFamily="2" charset="-122"/>
                <a:ea typeface="华文楷体" panose="02010600040101010101" pitchFamily="2" charset="-122"/>
              </a:rPr>
              <a:t>xlim</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1</a:t>
            </a:r>
            <a:r>
              <a:rPr lang="en-US" altLang="zh-CN" sz="2000" b="0" dirty="0">
                <a:solidFill>
                  <a:srgbClr val="000000"/>
                </a:solidFill>
                <a:effectLst/>
                <a:latin typeface="华文楷体" panose="02010600040101010101" pitchFamily="2" charset="-122"/>
                <a:ea typeface="华文楷体" panose="02010600040101010101" pitchFamily="2" charset="-122"/>
              </a:rPr>
              <a:t>,</a:t>
            </a:r>
            <a:r>
              <a:rPr lang="en-US" altLang="zh-CN" sz="2000" b="0" dirty="0">
                <a:solidFill>
                  <a:srgbClr val="098658"/>
                </a:solidFill>
                <a:effectLst/>
                <a:latin typeface="华文楷体" panose="02010600040101010101" pitchFamily="2" charset="-122"/>
                <a:ea typeface="华文楷体" panose="02010600040101010101" pitchFamily="2" charset="-122"/>
              </a:rPr>
              <a:t>12</a:t>
            </a:r>
            <a:r>
              <a:rPr lang="en-US" altLang="zh-CN" sz="2000" b="0" dirty="0">
                <a:solidFill>
                  <a:srgbClr val="000000"/>
                </a:solidFill>
                <a:effectLst/>
                <a:latin typeface="华文楷体" panose="02010600040101010101" pitchFamily="2" charset="-122"/>
                <a:ea typeface="华文楷体" panose="02010600040101010101" pitchFamily="2" charset="-122"/>
              </a:rPr>
              <a:t>]) </a:t>
            </a:r>
            <a:r>
              <a:rPr lang="en-US" altLang="zh-CN" sz="2000" b="0" dirty="0">
                <a:solidFill>
                  <a:srgbClr val="008000"/>
                </a:solidFill>
                <a:effectLst/>
                <a:latin typeface="华文楷体" panose="02010600040101010101" pitchFamily="2" charset="-122"/>
                <a:ea typeface="华文楷体" panose="02010600040101010101" pitchFamily="2" charset="-122"/>
              </a:rPr>
              <a:t>#</a:t>
            </a:r>
            <a:r>
              <a:rPr lang="zh-CN" altLang="en-US" sz="2000" b="0" dirty="0">
                <a:solidFill>
                  <a:srgbClr val="008000"/>
                </a:solidFill>
                <a:effectLst/>
                <a:latin typeface="华文楷体" panose="02010600040101010101" pitchFamily="2" charset="-122"/>
                <a:ea typeface="华文楷体" panose="02010600040101010101" pitchFamily="2" charset="-122"/>
              </a:rPr>
              <a:t>调整</a:t>
            </a:r>
            <a:r>
              <a:rPr lang="en-US" altLang="zh-CN" sz="2000" b="0" dirty="0">
                <a:solidFill>
                  <a:srgbClr val="008000"/>
                </a:solidFill>
                <a:effectLst/>
                <a:latin typeface="华文楷体" panose="02010600040101010101" pitchFamily="2" charset="-122"/>
                <a:ea typeface="华文楷体" panose="02010600040101010101" pitchFamily="2" charset="-122"/>
              </a:rPr>
              <a:t>x</a:t>
            </a:r>
            <a:r>
              <a:rPr lang="zh-CN" altLang="en-US" sz="2000" b="0" dirty="0">
                <a:solidFill>
                  <a:srgbClr val="008000"/>
                </a:solidFill>
                <a:effectLst/>
                <a:latin typeface="华文楷体" panose="02010600040101010101" pitchFamily="2" charset="-122"/>
                <a:ea typeface="华文楷体" panose="02010600040101010101" pitchFamily="2" charset="-122"/>
              </a:rPr>
              <a:t>轴范围</a:t>
            </a:r>
            <a:endParaRPr lang="zh-CN" altLang="en-US" sz="2000" b="0" dirty="0">
              <a:solidFill>
                <a:srgbClr val="000000"/>
              </a:solidFill>
              <a:effectLst/>
              <a:latin typeface="华文楷体" panose="02010600040101010101" pitchFamily="2" charset="-122"/>
              <a:ea typeface="华文楷体" panose="02010600040101010101" pitchFamily="2" charset="-122"/>
            </a:endParaRPr>
          </a:p>
        </p:txBody>
      </p:sp>
      <p:cxnSp>
        <p:nvCxnSpPr>
          <p:cNvPr id="11" name="直接连接符 10">
            <a:extLst>
              <a:ext uri="{FF2B5EF4-FFF2-40B4-BE49-F238E27FC236}">
                <a16:creationId xmlns:a16="http://schemas.microsoft.com/office/drawing/2014/main" id="{6B32BB5A-ED9C-4A4B-B945-71D79AB73A10}"/>
              </a:ext>
            </a:extLst>
          </p:cNvPr>
          <p:cNvCxnSpPr>
            <a:cxnSpLocks/>
          </p:cNvCxnSpPr>
          <p:nvPr/>
        </p:nvCxnSpPr>
        <p:spPr>
          <a:xfrm flipV="1">
            <a:off x="7416824" y="2283718"/>
            <a:ext cx="0" cy="1883976"/>
          </a:xfrm>
          <a:prstGeom prst="line">
            <a:avLst/>
          </a:prstGeom>
          <a:ln w="28575">
            <a:solidFill>
              <a:srgbClr val="FF0000"/>
            </a:solidFill>
            <a:prstDash val="dashDot"/>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89278BC0-807C-4571-8198-FE2835E3D73F}"/>
              </a:ext>
            </a:extLst>
          </p:cNvPr>
          <p:cNvCxnSpPr>
            <a:cxnSpLocks/>
          </p:cNvCxnSpPr>
          <p:nvPr/>
        </p:nvCxnSpPr>
        <p:spPr>
          <a:xfrm>
            <a:off x="5616624" y="2499742"/>
            <a:ext cx="1872208" cy="0"/>
          </a:xfrm>
          <a:prstGeom prst="line">
            <a:avLst/>
          </a:prstGeom>
          <a:ln w="28575">
            <a:solidFill>
              <a:srgbClr val="FF0000"/>
            </a:solidFill>
            <a:prstDash val="dashDot"/>
          </a:ln>
        </p:spPr>
        <p:style>
          <a:lnRef idx="1">
            <a:schemeClr val="accent1"/>
          </a:lnRef>
          <a:fillRef idx="0">
            <a:schemeClr val="accent1"/>
          </a:fillRef>
          <a:effectRef idx="0">
            <a:schemeClr val="accent1"/>
          </a:effectRef>
          <a:fontRef idx="minor">
            <a:schemeClr val="tx1"/>
          </a:fontRef>
        </p:style>
      </p:cxnSp>
      <p:sp>
        <p:nvSpPr>
          <p:cNvPr id="10" name="内容占位符 2">
            <a:extLst>
              <a:ext uri="{FF2B5EF4-FFF2-40B4-BE49-F238E27FC236}">
                <a16:creationId xmlns:a16="http://schemas.microsoft.com/office/drawing/2014/main" id="{B314B0A0-73D2-44D6-800F-BB90FA2E36B6}"/>
              </a:ext>
            </a:extLst>
          </p:cNvPr>
          <p:cNvSpPr txBox="1">
            <a:spLocks/>
          </p:cNvSpPr>
          <p:nvPr/>
        </p:nvSpPr>
        <p:spPr bwMode="auto">
          <a:xfrm>
            <a:off x="7128792" y="2007488"/>
            <a:ext cx="1401715" cy="539571"/>
          </a:xfrm>
          <a:prstGeom prst="rect">
            <a:avLst/>
          </a:prstGeom>
          <a:noFill/>
          <a:ln w="9525">
            <a:noFill/>
            <a:miter lim="800000"/>
          </a:ln>
        </p:spPr>
        <p:txBody>
          <a:bodyPr vert="horz" wrap="square" lIns="91440" tIns="45720" rIns="91440" bIns="45720" numCol="1" anchor="t" anchorCtr="0" compatLnSpc="1">
            <a:noAutofit/>
          </a:bodyPr>
          <a:lst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Arial" panose="020B060402020202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Arial" panose="020B060402020202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5pPr>
            <a:lvl6pPr marL="25146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6pPr>
            <a:lvl7pPr marL="29718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7pPr>
            <a:lvl8pPr marL="34290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8pPr>
            <a:lvl9pPr marL="38862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9pPr>
          </a:lstStyle>
          <a:p>
            <a:pPr marL="0" indent="0" algn="r">
              <a:buNone/>
            </a:pPr>
            <a:r>
              <a:rPr lang="zh-CN" altLang="en-US" sz="1600" dirty="0">
                <a:solidFill>
                  <a:srgbClr val="FF0000"/>
                </a:solidFill>
                <a:latin typeface="华文楷体" panose="02010600040101010101" pitchFamily="2" charset="-122"/>
                <a:ea typeface="华文楷体" panose="02010600040101010101" pitchFamily="2" charset="-122"/>
              </a:rPr>
              <a:t>垃圾站初始位置为</a:t>
            </a:r>
            <a:r>
              <a:rPr lang="en-US" altLang="zh-CN" sz="1600" dirty="0">
                <a:solidFill>
                  <a:srgbClr val="FF0000"/>
                </a:solidFill>
                <a:latin typeface="华文楷体" panose="02010600040101010101" pitchFamily="2" charset="-122"/>
                <a:ea typeface="华文楷体" panose="02010600040101010101" pitchFamily="2" charset="-122"/>
              </a:rPr>
              <a:t>[7,6]</a:t>
            </a:r>
            <a:endParaRPr lang="en-US" altLang="zh-CN" sz="1600" kern="0" dirty="0">
              <a:solidFill>
                <a:srgbClr val="FF0000"/>
              </a:solidFill>
              <a:latin typeface="华文楷体" panose="02010600040101010101" pitchFamily="2" charset="-122"/>
              <a:ea typeface="华文楷体" panose="02010600040101010101" pitchFamily="2" charset="-122"/>
            </a:endParaRPr>
          </a:p>
          <a:p>
            <a:pPr marL="0" indent="0" algn="r">
              <a:buFont typeface="Arial" panose="020B0604020202020204" pitchFamily="34" charset="0"/>
              <a:buNone/>
            </a:pPr>
            <a:endParaRPr lang="zh-CN" altLang="en-US" sz="1600" kern="0" dirty="0">
              <a:solidFill>
                <a:srgbClr val="FF0000"/>
              </a:solidFill>
              <a:latin typeface="华文楷体" panose="02010600040101010101" pitchFamily="2" charset="-122"/>
              <a:ea typeface="华文楷体" panose="02010600040101010101" pitchFamily="2" charset="-122"/>
            </a:endParaRPr>
          </a:p>
        </p:txBody>
      </p:sp>
      <p:sp>
        <p:nvSpPr>
          <p:cNvPr id="14" name="文本框 13">
            <a:extLst>
              <a:ext uri="{FF2B5EF4-FFF2-40B4-BE49-F238E27FC236}">
                <a16:creationId xmlns:a16="http://schemas.microsoft.com/office/drawing/2014/main" id="{1A604AA2-47A2-49BE-8225-E2432CADE157}"/>
              </a:ext>
            </a:extLst>
          </p:cNvPr>
          <p:cNvSpPr txBox="1"/>
          <p:nvPr/>
        </p:nvSpPr>
        <p:spPr>
          <a:xfrm>
            <a:off x="827584" y="102393"/>
            <a:ext cx="8324974" cy="461665"/>
          </a:xfrm>
          <a:prstGeom prst="rect">
            <a:avLst/>
          </a:prstGeom>
          <a:solidFill>
            <a:schemeClr val="bg1"/>
          </a:solidFill>
        </p:spPr>
        <p:txBody>
          <a:bodyPr wrap="square">
            <a:spAutoFit/>
          </a:bodyPr>
          <a:lstStyle>
            <a:defPPr>
              <a:defRPr lang="zh-CN"/>
            </a:defPPr>
            <a:lvl1pPr>
              <a:lnSpc>
                <a:spcPct val="150000"/>
              </a:lnSpc>
              <a:defRPr sz="3200">
                <a:solidFill>
                  <a:srgbClr val="002060"/>
                </a:solidFill>
                <a:latin typeface="华文楷体" panose="02010600040101010101" pitchFamily="2" charset="-122"/>
                <a:ea typeface="华文楷体" panose="02010600040101010101" pitchFamily="2" charset="-122"/>
              </a:defRPr>
            </a:lvl1pPr>
          </a:lstStyle>
          <a:p>
            <a:pPr>
              <a:lnSpc>
                <a:spcPct val="100000"/>
              </a:lnSpc>
            </a:pPr>
            <a:r>
              <a:rPr lang="en-US" altLang="zh-CN" sz="2400" b="0" dirty="0">
                <a:solidFill>
                  <a:srgbClr val="002060"/>
                </a:solidFill>
                <a:latin typeface="华文楷体" panose="02010600040101010101" pitchFamily="2" charset="-122"/>
                <a:ea typeface="华文楷体" panose="02010600040101010101" pitchFamily="2" charset="-122"/>
              </a:rPr>
              <a:t>§8.4.2 </a:t>
            </a:r>
            <a:r>
              <a:rPr lang="zh-CN" altLang="en-US" sz="2400" kern="0" dirty="0"/>
              <a:t>多元</a:t>
            </a:r>
            <a:r>
              <a:rPr lang="zh-CN" altLang="en-US" sz="2400" dirty="0"/>
              <a:t>函数无约束最</a:t>
            </a:r>
            <a:r>
              <a:rPr lang="en-US" altLang="ko-KR" sz="2400" dirty="0" err="1">
                <a:solidFill>
                  <a:srgbClr val="FF0000"/>
                </a:solidFill>
              </a:rPr>
              <a:t>小值</a:t>
            </a:r>
            <a:r>
              <a:rPr lang="en-US" altLang="zh-CN" sz="2400" kern="0" dirty="0">
                <a:solidFill>
                  <a:srgbClr val="FF0000"/>
                </a:solidFill>
              </a:rPr>
              <a:t> </a:t>
            </a:r>
            <a:r>
              <a:rPr lang="en-US" altLang="zh-CN" sz="2400" b="0" dirty="0" err="1">
                <a:solidFill>
                  <a:srgbClr val="FF0000"/>
                </a:solidFill>
                <a:latin typeface="华文楷体" panose="02010600040101010101" pitchFamily="2" charset="-122"/>
                <a:ea typeface="华文楷体" panose="02010600040101010101" pitchFamily="2" charset="-122"/>
              </a:rPr>
              <a:t>fminunc</a:t>
            </a:r>
            <a:r>
              <a:rPr lang="en-US" altLang="zh-CN" sz="2400" kern="0" dirty="0">
                <a:solidFill>
                  <a:srgbClr val="FF0000"/>
                </a:solidFill>
              </a:rPr>
              <a:t>——</a:t>
            </a:r>
            <a:r>
              <a:rPr lang="zh-CN" altLang="en-US" sz="2400" kern="0" dirty="0">
                <a:solidFill>
                  <a:srgbClr val="FF0000"/>
                </a:solidFill>
              </a:rPr>
              <a:t>城市垃圾站设计</a:t>
            </a:r>
            <a:endParaRPr lang="zh-CN" altLang="en-US" sz="2400" dirty="0"/>
          </a:p>
        </p:txBody>
      </p:sp>
      <p:sp>
        <p:nvSpPr>
          <p:cNvPr id="17" name="波形 16">
            <a:extLst>
              <a:ext uri="{FF2B5EF4-FFF2-40B4-BE49-F238E27FC236}">
                <a16:creationId xmlns:a16="http://schemas.microsoft.com/office/drawing/2014/main" id="{CD626015-293F-4EDF-8DB6-6D615073B72E}"/>
              </a:ext>
            </a:extLst>
          </p:cNvPr>
          <p:cNvSpPr/>
          <p:nvPr/>
        </p:nvSpPr>
        <p:spPr>
          <a:xfrm>
            <a:off x="48520" y="762213"/>
            <a:ext cx="817360" cy="33483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charset="-122"/>
                <a:ea typeface="微软雅黑" panose="020B0503020204020204" charset="-122"/>
              </a:rPr>
              <a:t>例84-5</a:t>
            </a:r>
            <a:endParaRPr lang="ko-KR" altLang="en-US" sz="1600" b="1" dirty="0">
              <a:solidFill>
                <a:srgbClr val="FFFF00"/>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23378578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0F178618-AC2D-4643-9EFA-F8257DC8FC8D}"/>
                  </a:ext>
                </a:extLst>
              </p:cNvPr>
              <p:cNvSpPr/>
              <p:nvPr/>
            </p:nvSpPr>
            <p:spPr>
              <a:xfrm>
                <a:off x="465415" y="933836"/>
                <a:ext cx="6298402" cy="427746"/>
              </a:xfrm>
              <a:prstGeom prst="rect">
                <a:avLst/>
              </a:prstGeom>
              <a:solidFill>
                <a:schemeClr val="bg1"/>
              </a:solidFill>
            </p:spPr>
            <p:txBody>
              <a:bodyPr wrap="square">
                <a:spAutoFit/>
              </a:bodyPr>
              <a:lstStyle/>
              <a:p>
                <a:pPr algn="dist"/>
                <a:r>
                  <a:rPr lang="zh-CN" altLang="en-US" dirty="0">
                    <a:solidFill>
                      <a:srgbClr val="00B0F0"/>
                    </a:solidFill>
                    <a:effectLst/>
                    <a:latin typeface="华文楷体" panose="02010600040101010101" pitchFamily="2" charset="-122"/>
                    <a:ea typeface="华文楷体" panose="02010600040101010101" pitchFamily="2" charset="-122"/>
                  </a:rPr>
                  <a:t>目标函数是</a:t>
                </a:r>
                <a:r>
                  <a:rPr lang="en-US" altLang="zh-CN" dirty="0" err="1">
                    <a:solidFill>
                      <a:srgbClr val="00B0F0"/>
                    </a:solidFill>
                    <a:effectLst/>
                    <a:latin typeface="华文楷体" panose="02010600040101010101" pitchFamily="2" charset="-122"/>
                    <a:ea typeface="华文楷体" panose="02010600040101010101" pitchFamily="2" charset="-122"/>
                  </a:rPr>
                  <a:t>Minw</a:t>
                </a:r>
                <a:r>
                  <a:rPr lang="en-US" altLang="zh-CN" dirty="0">
                    <a:solidFill>
                      <a:srgbClr val="00B0F0"/>
                    </a:solidFill>
                    <a:effectLst/>
                    <a:latin typeface="华文楷体" panose="02010600040101010101" pitchFamily="2" charset="-122"/>
                    <a:ea typeface="华文楷体" panose="02010600040101010101" pitchFamily="2" charset="-122"/>
                  </a:rPr>
                  <a:t>=</a:t>
                </a:r>
                <a14:m>
                  <m:oMath xmlns:m="http://schemas.openxmlformats.org/officeDocument/2006/math">
                    <m:r>
                      <a:rPr lang="en-US" altLang="zh-CN" b="0" i="1" smtClean="0">
                        <a:solidFill>
                          <a:srgbClr val="00B0F0"/>
                        </a:solidFill>
                        <a:effectLst/>
                        <a:latin typeface="Cambria Math" panose="02040503050406030204" pitchFamily="18" charset="0"/>
                      </a:rPr>
                      <m:t>𝑚𝑖𝑛</m:t>
                    </m:r>
                    <m:r>
                      <a:rPr lang="en-US" altLang="zh-CN" b="0" i="1" smtClean="0">
                        <a:solidFill>
                          <a:srgbClr val="00B0F0"/>
                        </a:solidFill>
                        <a:effectLst/>
                        <a:latin typeface="Cambria Math" panose="02040503050406030204" pitchFamily="18" charset="0"/>
                      </a:rPr>
                      <m:t>  </m:t>
                    </m:r>
                    <m:nary>
                      <m:naryPr>
                        <m:chr m:val="∑"/>
                        <m:ctrlPr>
                          <a:rPr lang="en-US" altLang="zh-CN" b="0" i="1" smtClean="0">
                            <a:solidFill>
                              <a:srgbClr val="00B0F0"/>
                            </a:solidFill>
                            <a:effectLst/>
                            <a:latin typeface="Cambria Math" panose="02040503050406030204" pitchFamily="18" charset="0"/>
                          </a:rPr>
                        </m:ctrlPr>
                      </m:naryPr>
                      <m:sub>
                        <m:r>
                          <m:rPr>
                            <m:brk m:alnAt="23"/>
                          </m:rPr>
                          <a:rPr lang="en-US" altLang="zh-CN" b="0" i="1" smtClean="0">
                            <a:solidFill>
                              <a:srgbClr val="00B0F0"/>
                            </a:solidFill>
                            <a:effectLst/>
                            <a:latin typeface="Cambria Math" panose="02040503050406030204" pitchFamily="18" charset="0"/>
                          </a:rPr>
                          <m:t>𝑖</m:t>
                        </m:r>
                        <m:r>
                          <a:rPr lang="en-US" altLang="zh-CN" b="0" i="1" smtClean="0">
                            <a:solidFill>
                              <a:srgbClr val="00B0F0"/>
                            </a:solidFill>
                            <a:effectLst/>
                            <a:latin typeface="Cambria Math" panose="02040503050406030204" pitchFamily="18" charset="0"/>
                          </a:rPr>
                          <m:t>=1</m:t>
                        </m:r>
                      </m:sub>
                      <m:sup>
                        <m:r>
                          <a:rPr lang="en-US" altLang="zh-CN" b="0" i="1" smtClean="0">
                            <a:solidFill>
                              <a:srgbClr val="00B0F0"/>
                            </a:solidFill>
                            <a:effectLst/>
                            <a:latin typeface="Cambria Math" panose="02040503050406030204" pitchFamily="18" charset="0"/>
                          </a:rPr>
                          <m:t>7</m:t>
                        </m:r>
                      </m:sup>
                      <m:e>
                        <m:r>
                          <a:rPr lang="en-US" altLang="zh-CN" b="0" i="1" smtClean="0">
                            <a:solidFill>
                              <a:srgbClr val="00B0F0"/>
                            </a:solidFill>
                            <a:effectLst/>
                            <a:latin typeface="Cambria Math" panose="02040503050406030204" pitchFamily="18" charset="0"/>
                          </a:rPr>
                          <m:t>𝑐</m:t>
                        </m:r>
                        <m:r>
                          <a:rPr lang="en-US" altLang="zh-CN" b="0" i="1" smtClean="0">
                            <a:solidFill>
                              <a:srgbClr val="00B0F0"/>
                            </a:solidFill>
                            <a:effectLst/>
                            <a:latin typeface="Cambria Math" panose="02040503050406030204" pitchFamily="18" charset="0"/>
                          </a:rPr>
                          <m:t>∗</m:t>
                        </m:r>
                        <m:rad>
                          <m:radPr>
                            <m:degHide m:val="on"/>
                            <m:ctrlPr>
                              <a:rPr lang="en-US" altLang="zh-CN" b="0" i="1" smtClean="0">
                                <a:solidFill>
                                  <a:srgbClr val="00B0F0"/>
                                </a:solidFill>
                                <a:effectLst/>
                                <a:latin typeface="Cambria Math" panose="02040503050406030204" pitchFamily="18" charset="0"/>
                              </a:rPr>
                            </m:ctrlPr>
                          </m:radPr>
                          <m:deg/>
                          <m:e>
                            <m:sSup>
                              <m:sSupPr>
                                <m:ctrlPr>
                                  <a:rPr lang="en-US" altLang="zh-CN" b="0" i="1" smtClean="0">
                                    <a:solidFill>
                                      <a:srgbClr val="00B0F0"/>
                                    </a:solidFill>
                                    <a:effectLst/>
                                    <a:latin typeface="Cambria Math" panose="02040503050406030204" pitchFamily="18" charset="0"/>
                                  </a:rPr>
                                </m:ctrlPr>
                              </m:sSupPr>
                              <m:e>
                                <m:r>
                                  <a:rPr lang="en-US" altLang="zh-CN" b="0" i="1" smtClean="0">
                                    <a:solidFill>
                                      <a:srgbClr val="00B0F0"/>
                                    </a:solidFill>
                                    <a:effectLst/>
                                    <a:latin typeface="Cambria Math" panose="02040503050406030204" pitchFamily="18" charset="0"/>
                                  </a:rPr>
                                  <m:t>(</m:t>
                                </m:r>
                                <m:r>
                                  <a:rPr lang="en-US" altLang="zh-CN" b="0" i="1" smtClean="0">
                                    <a:solidFill>
                                      <a:srgbClr val="00B0F0"/>
                                    </a:solidFill>
                                    <a:effectLst/>
                                    <a:latin typeface="Cambria Math" panose="02040503050406030204" pitchFamily="18" charset="0"/>
                                  </a:rPr>
                                  <m:t>𝑥𝑥</m:t>
                                </m:r>
                                <m:r>
                                  <a:rPr lang="en-US" altLang="zh-CN" b="0" i="1" smtClean="0">
                                    <a:solidFill>
                                      <a:srgbClr val="00B0F0"/>
                                    </a:solidFill>
                                    <a:effectLst/>
                                    <a:latin typeface="Cambria Math" panose="02040503050406030204" pitchFamily="18" charset="0"/>
                                  </a:rPr>
                                  <m:t>−</m:t>
                                </m:r>
                                <m:sSub>
                                  <m:sSubPr>
                                    <m:ctrlPr>
                                      <a:rPr lang="en-US" altLang="zh-CN" b="0" i="1" smtClean="0">
                                        <a:solidFill>
                                          <a:srgbClr val="00B0F0"/>
                                        </a:solidFill>
                                        <a:effectLst/>
                                        <a:latin typeface="Cambria Math" panose="02040503050406030204" pitchFamily="18" charset="0"/>
                                      </a:rPr>
                                    </m:ctrlPr>
                                  </m:sSubPr>
                                  <m:e>
                                    <m:r>
                                      <a:rPr lang="en-US" altLang="zh-CN" b="0" i="1" smtClean="0">
                                        <a:solidFill>
                                          <a:srgbClr val="00B0F0"/>
                                        </a:solidFill>
                                        <a:effectLst/>
                                        <a:latin typeface="Cambria Math" panose="02040503050406030204" pitchFamily="18" charset="0"/>
                                      </a:rPr>
                                      <m:t>𝑥</m:t>
                                    </m:r>
                                  </m:e>
                                  <m:sub>
                                    <m:r>
                                      <a:rPr lang="en-US" altLang="zh-CN" b="0" i="1" smtClean="0">
                                        <a:solidFill>
                                          <a:srgbClr val="00B0F0"/>
                                        </a:solidFill>
                                        <a:effectLst/>
                                        <a:latin typeface="Cambria Math" panose="02040503050406030204" pitchFamily="18" charset="0"/>
                                      </a:rPr>
                                      <m:t>𝑖</m:t>
                                    </m:r>
                                  </m:sub>
                                </m:sSub>
                                <m:r>
                                  <a:rPr lang="en-US" altLang="zh-CN" b="0" i="1" smtClean="0">
                                    <a:solidFill>
                                      <a:srgbClr val="00B0F0"/>
                                    </a:solidFill>
                                    <a:effectLst/>
                                    <a:latin typeface="Cambria Math" panose="02040503050406030204" pitchFamily="18" charset="0"/>
                                  </a:rPr>
                                  <m:t>)</m:t>
                                </m:r>
                              </m:e>
                              <m:sup>
                                <m:r>
                                  <a:rPr lang="en-US" altLang="zh-CN" b="0" i="1" smtClean="0">
                                    <a:solidFill>
                                      <a:srgbClr val="00B0F0"/>
                                    </a:solidFill>
                                    <a:effectLst/>
                                    <a:latin typeface="Cambria Math" panose="02040503050406030204" pitchFamily="18" charset="0"/>
                                  </a:rPr>
                                  <m:t>2</m:t>
                                </m:r>
                              </m:sup>
                            </m:sSup>
                            <m:r>
                              <a:rPr lang="en-US" altLang="zh-CN" b="0" i="1" smtClean="0">
                                <a:solidFill>
                                  <a:srgbClr val="00B0F0"/>
                                </a:solidFill>
                                <a:effectLst/>
                                <a:latin typeface="Cambria Math" panose="02040503050406030204" pitchFamily="18" charset="0"/>
                              </a:rPr>
                              <m:t>+</m:t>
                            </m:r>
                            <m:sSup>
                              <m:sSupPr>
                                <m:ctrlPr>
                                  <a:rPr lang="en-US" altLang="zh-CN" b="0" i="1" smtClean="0">
                                    <a:solidFill>
                                      <a:srgbClr val="00B0F0"/>
                                    </a:solidFill>
                                    <a:effectLst/>
                                    <a:latin typeface="Cambria Math" panose="02040503050406030204" pitchFamily="18" charset="0"/>
                                  </a:rPr>
                                </m:ctrlPr>
                              </m:sSupPr>
                              <m:e>
                                <m:r>
                                  <a:rPr lang="en-US" altLang="zh-CN" b="0" i="1" smtClean="0">
                                    <a:solidFill>
                                      <a:srgbClr val="00B0F0"/>
                                    </a:solidFill>
                                    <a:effectLst/>
                                    <a:latin typeface="Cambria Math" panose="02040503050406030204" pitchFamily="18" charset="0"/>
                                  </a:rPr>
                                  <m:t>(</m:t>
                                </m:r>
                                <m:r>
                                  <a:rPr lang="en-US" altLang="zh-CN" b="0" i="1" smtClean="0">
                                    <a:solidFill>
                                      <a:srgbClr val="00B0F0"/>
                                    </a:solidFill>
                                    <a:effectLst/>
                                    <a:latin typeface="Cambria Math" panose="02040503050406030204" pitchFamily="18" charset="0"/>
                                  </a:rPr>
                                  <m:t>𝑦𝑦</m:t>
                                </m:r>
                                <m:r>
                                  <a:rPr lang="en-US" altLang="zh-CN" b="0" i="1" smtClean="0">
                                    <a:solidFill>
                                      <a:srgbClr val="00B0F0"/>
                                    </a:solidFill>
                                    <a:effectLst/>
                                    <a:latin typeface="Cambria Math" panose="02040503050406030204" pitchFamily="18" charset="0"/>
                                  </a:rPr>
                                  <m:t>−</m:t>
                                </m:r>
                                <m:sSub>
                                  <m:sSubPr>
                                    <m:ctrlPr>
                                      <a:rPr lang="en-US" altLang="zh-CN" b="0" i="1" smtClean="0">
                                        <a:solidFill>
                                          <a:srgbClr val="00B0F0"/>
                                        </a:solidFill>
                                        <a:effectLst/>
                                        <a:latin typeface="Cambria Math" panose="02040503050406030204" pitchFamily="18" charset="0"/>
                                      </a:rPr>
                                    </m:ctrlPr>
                                  </m:sSubPr>
                                  <m:e>
                                    <m:r>
                                      <a:rPr lang="en-US" altLang="zh-CN" b="0" i="1" smtClean="0">
                                        <a:solidFill>
                                          <a:srgbClr val="00B0F0"/>
                                        </a:solidFill>
                                        <a:effectLst/>
                                        <a:latin typeface="Cambria Math" panose="02040503050406030204" pitchFamily="18" charset="0"/>
                                      </a:rPr>
                                      <m:t>𝑦</m:t>
                                    </m:r>
                                  </m:e>
                                  <m:sub>
                                    <m:r>
                                      <a:rPr lang="en-US" altLang="zh-CN" b="0" i="1" smtClean="0">
                                        <a:solidFill>
                                          <a:srgbClr val="00B0F0"/>
                                        </a:solidFill>
                                        <a:effectLst/>
                                        <a:latin typeface="Cambria Math" panose="02040503050406030204" pitchFamily="18" charset="0"/>
                                      </a:rPr>
                                      <m:t>𝑖</m:t>
                                    </m:r>
                                  </m:sub>
                                </m:sSub>
                                <m:r>
                                  <a:rPr lang="en-US" altLang="zh-CN" b="0" i="1" smtClean="0">
                                    <a:solidFill>
                                      <a:srgbClr val="00B0F0"/>
                                    </a:solidFill>
                                    <a:effectLst/>
                                    <a:latin typeface="Cambria Math" panose="02040503050406030204" pitchFamily="18" charset="0"/>
                                  </a:rPr>
                                  <m:t>)</m:t>
                                </m:r>
                              </m:e>
                              <m:sup>
                                <m:r>
                                  <a:rPr lang="en-US" altLang="zh-CN" b="0" i="1" smtClean="0">
                                    <a:solidFill>
                                      <a:srgbClr val="00B0F0"/>
                                    </a:solidFill>
                                    <a:effectLst/>
                                    <a:latin typeface="Cambria Math" panose="02040503050406030204" pitchFamily="18" charset="0"/>
                                  </a:rPr>
                                  <m:t>2</m:t>
                                </m:r>
                              </m:sup>
                            </m:sSup>
                            <m:r>
                              <a:rPr lang="en-US" altLang="zh-CN" b="0" i="1" smtClean="0">
                                <a:solidFill>
                                  <a:srgbClr val="00B0F0"/>
                                </a:solidFill>
                                <a:effectLst/>
                                <a:latin typeface="Cambria Math" panose="02040503050406030204" pitchFamily="18" charset="0"/>
                              </a:rPr>
                              <m:t>  </m:t>
                            </m:r>
                          </m:e>
                        </m:rad>
                      </m:e>
                    </m:nary>
                  </m:oMath>
                </a14:m>
                <a:endParaRPr lang="zh-CN" altLang="en-US" dirty="0">
                  <a:solidFill>
                    <a:srgbClr val="00B0F0"/>
                  </a:solidFill>
                  <a:effectLst/>
                  <a:latin typeface="华文楷体" panose="02010600040101010101" pitchFamily="2" charset="-122"/>
                  <a:ea typeface="华文楷体" panose="02010600040101010101" pitchFamily="2" charset="-122"/>
                </a:endParaRPr>
              </a:p>
            </p:txBody>
          </p:sp>
        </mc:Choice>
        <mc:Fallback xmlns="">
          <p:sp>
            <p:nvSpPr>
              <p:cNvPr id="12" name="矩形 11">
                <a:extLst>
                  <a:ext uri="{FF2B5EF4-FFF2-40B4-BE49-F238E27FC236}">
                    <a16:creationId xmlns:a16="http://schemas.microsoft.com/office/drawing/2014/main" id="{0F178618-AC2D-4643-9EFA-F8257DC8FC8D}"/>
                  </a:ext>
                </a:extLst>
              </p:cNvPr>
              <p:cNvSpPr>
                <a:spLocks noRot="1" noChangeAspect="1" noMove="1" noResize="1" noEditPoints="1" noAdjustHandles="1" noChangeArrowheads="1" noChangeShapeType="1" noTextEdit="1"/>
              </p:cNvSpPr>
              <p:nvPr/>
            </p:nvSpPr>
            <p:spPr>
              <a:xfrm>
                <a:off x="465415" y="933836"/>
                <a:ext cx="6298402" cy="427746"/>
              </a:xfrm>
              <a:prstGeom prst="rect">
                <a:avLst/>
              </a:prstGeom>
              <a:blipFill>
                <a:blip r:embed="rId3"/>
                <a:stretch>
                  <a:fillRect l="-774" t="-91429" b="-160000"/>
                </a:stretch>
              </a:blipFill>
            </p:spPr>
            <p:txBody>
              <a:bodyPr/>
              <a:lstStyle/>
              <a:p>
                <a:r>
                  <a:rPr lang="zh-CN" altLang="en-US">
                    <a:noFill/>
                  </a:rPr>
                  <a:t> </a:t>
                </a:r>
              </a:p>
            </p:txBody>
          </p:sp>
        </mc:Fallback>
      </mc:AlternateContent>
      <p:sp>
        <p:nvSpPr>
          <p:cNvPr id="4" name="内容占位符 2">
            <a:extLst>
              <a:ext uri="{FF2B5EF4-FFF2-40B4-BE49-F238E27FC236}">
                <a16:creationId xmlns:a16="http://schemas.microsoft.com/office/drawing/2014/main" id="{DE74FAFD-6D4F-4455-B006-4C11ADF1433C}"/>
              </a:ext>
            </a:extLst>
          </p:cNvPr>
          <p:cNvSpPr txBox="1">
            <a:spLocks/>
          </p:cNvSpPr>
          <p:nvPr/>
        </p:nvSpPr>
        <p:spPr>
          <a:xfrm>
            <a:off x="691320" y="2196169"/>
            <a:ext cx="7886700" cy="1487582"/>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2100" dirty="0"/>
          </a:p>
        </p:txBody>
      </p:sp>
      <p:sp>
        <p:nvSpPr>
          <p:cNvPr id="11" name="矩形 10">
            <a:extLst>
              <a:ext uri="{FF2B5EF4-FFF2-40B4-BE49-F238E27FC236}">
                <a16:creationId xmlns:a16="http://schemas.microsoft.com/office/drawing/2014/main" id="{B4984A49-620C-46A5-9D82-DBC385F2F2EE}"/>
              </a:ext>
            </a:extLst>
          </p:cNvPr>
          <p:cNvSpPr/>
          <p:nvPr/>
        </p:nvSpPr>
        <p:spPr>
          <a:xfrm>
            <a:off x="3635896" y="1275606"/>
            <a:ext cx="4832898" cy="315664"/>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r>
              <a:rPr lang="en-US" altLang="ko-KR" sz="1600" kern="0" dirty="0" err="1">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xy</a:t>
            </a:r>
            <a:r>
              <a:rPr lang="en-US" altLang="ko-KR" sz="1600" kern="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a:t>
            </a:r>
            <a:r>
              <a:rPr lang="en-US" altLang="ko-KR" sz="1600" kern="0" dirty="0" err="1">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xx,yy</a:t>
            </a:r>
            <a:r>
              <a:rPr lang="en-US" altLang="ko-KR" sz="1600" kern="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],xx=</a:t>
            </a:r>
            <a:r>
              <a:rPr lang="en-US" altLang="ko-KR" sz="1600" kern="0" dirty="0" err="1">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xy</a:t>
            </a:r>
            <a:r>
              <a:rPr lang="en-US" altLang="ko-KR" sz="1600" kern="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[1]</a:t>
            </a:r>
            <a:r>
              <a:rPr lang="zh-CN" altLang="en-US" sz="1600" kern="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a:t>
            </a:r>
            <a:r>
              <a:rPr lang="en-US" altLang="zh-CN" sz="1600" kern="0" dirty="0" err="1">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yy</a:t>
            </a:r>
            <a:r>
              <a:rPr lang="en-US" altLang="zh-CN" sz="1600" kern="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a:t>
            </a:r>
            <a:r>
              <a:rPr lang="en-US" altLang="ko-KR" sz="1600" kern="0" dirty="0" err="1">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xy</a:t>
            </a:r>
            <a:r>
              <a:rPr lang="en-US" altLang="ko-KR" sz="1600" kern="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[2]</a:t>
            </a:r>
            <a:endParaRPr lang="zh-CN" altLang="en-US" sz="1600" kern="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13" name="内容占位符 2">
            <a:extLst>
              <a:ext uri="{FF2B5EF4-FFF2-40B4-BE49-F238E27FC236}">
                <a16:creationId xmlns:a16="http://schemas.microsoft.com/office/drawing/2014/main" id="{4288E144-82DB-BA2F-6882-AF12E50E5046}"/>
              </a:ext>
            </a:extLst>
          </p:cNvPr>
          <p:cNvSpPr txBox="1">
            <a:spLocks/>
          </p:cNvSpPr>
          <p:nvPr/>
        </p:nvSpPr>
        <p:spPr>
          <a:xfrm>
            <a:off x="461890" y="1275606"/>
            <a:ext cx="4381946" cy="375724"/>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dirty="0">
                <a:solidFill>
                  <a:srgbClr val="0070C0"/>
                </a:solidFill>
                <a:latin typeface="华文楷体" panose="02010600040101010101" pitchFamily="2" charset="-122"/>
                <a:ea typeface="华文楷体" panose="02010600040101010101" pitchFamily="2" charset="-122"/>
              </a:rPr>
              <a:t>用单索引表示向量</a:t>
            </a:r>
            <a:r>
              <a:rPr lang="en-US" altLang="zh-CN" sz="2000" dirty="0" err="1">
                <a:solidFill>
                  <a:srgbClr val="0070C0"/>
                </a:solidFill>
                <a:latin typeface="华文楷体" panose="02010600040101010101" pitchFamily="2" charset="-122"/>
                <a:ea typeface="华文楷体" panose="02010600040101010101" pitchFamily="2" charset="-122"/>
              </a:rPr>
              <a:t>xy</a:t>
            </a:r>
            <a:r>
              <a:rPr lang="zh-CN" altLang="en-US" sz="2000" dirty="0">
                <a:solidFill>
                  <a:srgbClr val="0070C0"/>
                </a:solidFill>
                <a:latin typeface="华文楷体" panose="02010600040101010101" pitchFamily="2" charset="-122"/>
                <a:ea typeface="华文楷体" panose="02010600040101010101" pitchFamily="2" charset="-122"/>
              </a:rPr>
              <a:t>的元素</a:t>
            </a:r>
            <a:endParaRPr lang="en-US" altLang="zh-CN" sz="2000" dirty="0">
              <a:solidFill>
                <a:srgbClr val="0070C0"/>
              </a:solidFill>
              <a:latin typeface="华文楷体" panose="02010600040101010101" pitchFamily="2" charset="-122"/>
              <a:ea typeface="华文楷体" panose="02010600040101010101" pitchFamily="2" charset="-122"/>
            </a:endParaRPr>
          </a:p>
          <a:p>
            <a:pPr marL="0" indent="0">
              <a:buNone/>
            </a:pPr>
            <a:endParaRPr lang="zh-CN" altLang="en-US" sz="2000" dirty="0">
              <a:solidFill>
                <a:srgbClr val="0070C0"/>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DE0F5483-9CBD-AD02-3493-9FE8CEBED865}"/>
                  </a:ext>
                </a:extLst>
              </p:cNvPr>
              <p:cNvSpPr/>
              <p:nvPr/>
            </p:nvSpPr>
            <p:spPr>
              <a:xfrm>
                <a:off x="442082" y="1542916"/>
                <a:ext cx="7737552" cy="427746"/>
              </a:xfrm>
              <a:prstGeom prst="rect">
                <a:avLst/>
              </a:prstGeom>
            </p:spPr>
            <p:txBody>
              <a:bodyPr wrap="square">
                <a:spAutoFit/>
              </a:bodyPr>
              <a:lstStyle/>
              <a:p>
                <a:pPr algn="dist"/>
                <a:r>
                  <a:rPr lang="zh-CN" altLang="en-US" sz="2000" dirty="0">
                    <a:solidFill>
                      <a:srgbClr val="0070C0"/>
                    </a:solidFill>
                    <a:effectLst/>
                    <a:latin typeface="微软雅黑" panose="020B0503020204020204" pitchFamily="34" charset="-122"/>
                    <a:ea typeface="微软雅黑" panose="020B0503020204020204" pitchFamily="34" charset="-122"/>
                  </a:rPr>
                  <a:t>目标函数是</a:t>
                </a:r>
                <a:r>
                  <a:rPr lang="en-US" altLang="zh-CN" sz="2000" dirty="0">
                    <a:solidFill>
                      <a:srgbClr val="FF0000"/>
                    </a:solidFill>
                    <a:effectLst/>
                    <a:latin typeface="华文楷体" panose="02010600040101010101" pitchFamily="2" charset="-122"/>
                    <a:ea typeface="华文楷体" panose="02010600040101010101" pitchFamily="2" charset="-122"/>
                  </a:rPr>
                  <a:t>Min w=</a:t>
                </a:r>
                <a14:m>
                  <m:oMath xmlns:m="http://schemas.openxmlformats.org/officeDocument/2006/math">
                    <m:r>
                      <a:rPr lang="en-US" altLang="zh-CN" b="0" i="1" smtClean="0">
                        <a:solidFill>
                          <a:srgbClr val="FF0000"/>
                        </a:solidFill>
                        <a:effectLst/>
                        <a:latin typeface="Cambria Math" panose="02040503050406030204" pitchFamily="18" charset="0"/>
                      </a:rPr>
                      <m:t>𝑚𝑖𝑛</m:t>
                    </m:r>
                    <m:r>
                      <a:rPr lang="en-US" altLang="zh-CN" b="0" i="1" smtClean="0">
                        <a:solidFill>
                          <a:srgbClr val="FF0000"/>
                        </a:solidFill>
                        <a:effectLst/>
                        <a:latin typeface="Cambria Math" panose="02040503050406030204" pitchFamily="18" charset="0"/>
                      </a:rPr>
                      <m:t>  </m:t>
                    </m:r>
                    <m:nary>
                      <m:naryPr>
                        <m:chr m:val="∑"/>
                        <m:ctrlPr>
                          <a:rPr lang="en-US" altLang="zh-CN" b="0" i="1" smtClean="0">
                            <a:solidFill>
                              <a:srgbClr val="FF0000"/>
                            </a:solidFill>
                            <a:effectLst/>
                            <a:latin typeface="Cambria Math" panose="02040503050406030204" pitchFamily="18" charset="0"/>
                          </a:rPr>
                        </m:ctrlPr>
                      </m:naryPr>
                      <m:sub>
                        <m:r>
                          <m:rPr>
                            <m:brk m:alnAt="23"/>
                          </m:rPr>
                          <a:rPr lang="en-US" altLang="zh-CN" b="0" i="1" smtClean="0">
                            <a:solidFill>
                              <a:srgbClr val="FF0000"/>
                            </a:solidFill>
                            <a:effectLst/>
                            <a:latin typeface="Cambria Math" panose="02040503050406030204" pitchFamily="18" charset="0"/>
                          </a:rPr>
                          <m:t>𝑖</m:t>
                        </m:r>
                        <m:r>
                          <a:rPr lang="en-US" altLang="zh-CN" b="0" i="1" smtClean="0">
                            <a:solidFill>
                              <a:srgbClr val="FF0000"/>
                            </a:solidFill>
                            <a:effectLst/>
                            <a:latin typeface="Cambria Math" panose="02040503050406030204" pitchFamily="18" charset="0"/>
                          </a:rPr>
                          <m:t>=1</m:t>
                        </m:r>
                      </m:sub>
                      <m:sup>
                        <m:r>
                          <a:rPr lang="en-US" altLang="zh-CN" b="0" i="1" smtClean="0">
                            <a:solidFill>
                              <a:srgbClr val="FF0000"/>
                            </a:solidFill>
                            <a:effectLst/>
                            <a:latin typeface="Cambria Math" panose="02040503050406030204" pitchFamily="18" charset="0"/>
                          </a:rPr>
                          <m:t>7</m:t>
                        </m:r>
                      </m:sup>
                      <m:e>
                        <m:r>
                          <a:rPr lang="en-US" altLang="zh-CN" i="1">
                            <a:solidFill>
                              <a:srgbClr val="FF0000"/>
                            </a:solidFill>
                            <a:latin typeface="Cambria Math" panose="02040503050406030204" pitchFamily="18" charset="0"/>
                          </a:rPr>
                          <m:t>𝑐</m:t>
                        </m:r>
                        <m:r>
                          <a:rPr lang="en-US" altLang="zh-CN" i="1">
                            <a:solidFill>
                              <a:srgbClr val="FF0000"/>
                            </a:solidFill>
                            <a:latin typeface="Cambria Math" panose="02040503050406030204" pitchFamily="18" charset="0"/>
                          </a:rPr>
                          <m:t>∗</m:t>
                        </m:r>
                        <m:rad>
                          <m:radPr>
                            <m:degHide m:val="on"/>
                            <m:ctrlPr>
                              <a:rPr lang="en-US" altLang="zh-CN" b="0" i="1" smtClean="0">
                                <a:solidFill>
                                  <a:srgbClr val="FF0000"/>
                                </a:solidFill>
                                <a:effectLst/>
                                <a:latin typeface="Cambria Math" panose="02040503050406030204" pitchFamily="18" charset="0"/>
                              </a:rPr>
                            </m:ctrlPr>
                          </m:radPr>
                          <m:deg/>
                          <m:e>
                            <m:sSup>
                              <m:sSupPr>
                                <m:ctrlPr>
                                  <a:rPr lang="en-US" altLang="zh-CN" b="0" i="1" smtClean="0">
                                    <a:solidFill>
                                      <a:srgbClr val="FF0000"/>
                                    </a:solidFill>
                                    <a:effectLst/>
                                    <a:latin typeface="Cambria Math" panose="02040503050406030204" pitchFamily="18" charset="0"/>
                                  </a:rPr>
                                </m:ctrlPr>
                              </m:sSupPr>
                              <m:e>
                                <m:r>
                                  <a:rPr lang="en-US" altLang="zh-CN" b="0" i="1" smtClean="0">
                                    <a:solidFill>
                                      <a:srgbClr val="FF0000"/>
                                    </a:solidFill>
                                    <a:effectLst/>
                                    <a:latin typeface="Cambria Math" panose="02040503050406030204" pitchFamily="18" charset="0"/>
                                  </a:rPr>
                                  <m:t>(</m:t>
                                </m:r>
                                <m:r>
                                  <a:rPr lang="en-US" altLang="zh-CN" b="0" i="1" smtClean="0">
                                    <a:solidFill>
                                      <a:srgbClr val="FF0000"/>
                                    </a:solidFill>
                                    <a:effectLst/>
                                    <a:latin typeface="Cambria Math" panose="02040503050406030204" pitchFamily="18" charset="0"/>
                                  </a:rPr>
                                  <m:t>𝑥𝑦</m:t>
                                </m:r>
                                <m:r>
                                  <a:rPr lang="en-US" altLang="zh-CN" b="0" i="1" smtClean="0">
                                    <a:solidFill>
                                      <a:srgbClr val="FF0000"/>
                                    </a:solidFill>
                                    <a:latin typeface="Cambria Math" panose="02040503050406030204" pitchFamily="18" charset="0"/>
                                  </a:rPr>
                                  <m:t>[1]−</m:t>
                                </m:r>
                                <m:sSub>
                                  <m:sSubPr>
                                    <m:ctrlPr>
                                      <a:rPr lang="en-US" altLang="zh-CN" b="0" i="1" smtClean="0">
                                        <a:solidFill>
                                          <a:srgbClr val="FF0000"/>
                                        </a:solidFill>
                                        <a:effectLst/>
                                        <a:latin typeface="Cambria Math" panose="02040503050406030204" pitchFamily="18" charset="0"/>
                                      </a:rPr>
                                    </m:ctrlPr>
                                  </m:sSubPr>
                                  <m:e>
                                    <m:r>
                                      <a:rPr lang="en-US" altLang="zh-CN" b="0" i="1" smtClean="0">
                                        <a:solidFill>
                                          <a:srgbClr val="FF0000"/>
                                        </a:solidFill>
                                        <a:effectLst/>
                                        <a:latin typeface="Cambria Math" panose="02040503050406030204" pitchFamily="18" charset="0"/>
                                      </a:rPr>
                                      <m:t>𝑥</m:t>
                                    </m:r>
                                  </m:e>
                                  <m:sub>
                                    <m:r>
                                      <a:rPr lang="en-US" altLang="zh-CN" b="0" i="1" smtClean="0">
                                        <a:solidFill>
                                          <a:srgbClr val="FF0000"/>
                                        </a:solidFill>
                                        <a:effectLst/>
                                        <a:latin typeface="Cambria Math" panose="02040503050406030204" pitchFamily="18" charset="0"/>
                                      </a:rPr>
                                      <m:t>𝑖</m:t>
                                    </m:r>
                                  </m:sub>
                                </m:sSub>
                                <m:r>
                                  <a:rPr lang="en-US" altLang="zh-CN" b="0" i="1" smtClean="0">
                                    <a:solidFill>
                                      <a:srgbClr val="FF0000"/>
                                    </a:solidFill>
                                    <a:effectLst/>
                                    <a:latin typeface="Cambria Math" panose="02040503050406030204" pitchFamily="18" charset="0"/>
                                  </a:rPr>
                                  <m:t>)</m:t>
                                </m:r>
                              </m:e>
                              <m:sup>
                                <m:r>
                                  <a:rPr lang="en-US" altLang="zh-CN" b="0" i="1" smtClean="0">
                                    <a:solidFill>
                                      <a:srgbClr val="FF0000"/>
                                    </a:solidFill>
                                    <a:effectLst/>
                                    <a:latin typeface="Cambria Math" panose="02040503050406030204" pitchFamily="18" charset="0"/>
                                  </a:rPr>
                                  <m:t>2</m:t>
                                </m:r>
                              </m:sup>
                            </m:sSup>
                            <m:r>
                              <a:rPr lang="en-US" altLang="zh-CN" b="0" i="1" smtClean="0">
                                <a:solidFill>
                                  <a:srgbClr val="FF0000"/>
                                </a:solidFill>
                                <a:effectLst/>
                                <a:latin typeface="Cambria Math" panose="02040503050406030204" pitchFamily="18" charset="0"/>
                              </a:rPr>
                              <m:t>+</m:t>
                            </m:r>
                            <m:sSup>
                              <m:sSupPr>
                                <m:ctrlPr>
                                  <a:rPr lang="en-US" altLang="zh-CN" b="0" i="1" smtClean="0">
                                    <a:solidFill>
                                      <a:srgbClr val="FF0000"/>
                                    </a:solidFill>
                                    <a:effectLst/>
                                    <a:latin typeface="Cambria Math" panose="02040503050406030204" pitchFamily="18" charset="0"/>
                                  </a:rPr>
                                </m:ctrlPr>
                              </m:sSupPr>
                              <m:e>
                                <m:r>
                                  <a:rPr lang="en-US" altLang="zh-CN" b="0" i="1" smtClean="0">
                                    <a:solidFill>
                                      <a:srgbClr val="FF0000"/>
                                    </a:solidFill>
                                    <a:effectLst/>
                                    <a:latin typeface="Cambria Math" panose="02040503050406030204" pitchFamily="18" charset="0"/>
                                  </a:rPr>
                                  <m:t>(</m:t>
                                </m:r>
                                <m:r>
                                  <a:rPr lang="en-US" altLang="zh-CN" b="0" i="1" smtClean="0">
                                    <a:solidFill>
                                      <a:srgbClr val="FF0000"/>
                                    </a:solidFill>
                                    <a:latin typeface="Cambria Math" panose="02040503050406030204" pitchFamily="18" charset="0"/>
                                  </a:rPr>
                                  <m:t>𝑥𝑦</m:t>
                                </m:r>
                                <m:r>
                                  <a:rPr lang="en-US" altLang="zh-CN" b="0" i="1" smtClean="0">
                                    <a:solidFill>
                                      <a:srgbClr val="FF0000"/>
                                    </a:solidFill>
                                    <a:latin typeface="Cambria Math" panose="02040503050406030204" pitchFamily="18" charset="0"/>
                                  </a:rPr>
                                  <m:t>[1]−</m:t>
                                </m:r>
                                <m:sSub>
                                  <m:sSubPr>
                                    <m:ctrlPr>
                                      <a:rPr lang="en-US" altLang="zh-CN" b="0" i="1" smtClean="0">
                                        <a:solidFill>
                                          <a:srgbClr val="FF0000"/>
                                        </a:solidFill>
                                        <a:effectLst/>
                                        <a:latin typeface="Cambria Math" panose="02040503050406030204" pitchFamily="18" charset="0"/>
                                      </a:rPr>
                                    </m:ctrlPr>
                                  </m:sSubPr>
                                  <m:e>
                                    <m:r>
                                      <a:rPr lang="en-US" altLang="zh-CN" b="0" i="1" smtClean="0">
                                        <a:solidFill>
                                          <a:srgbClr val="FF0000"/>
                                        </a:solidFill>
                                        <a:effectLst/>
                                        <a:latin typeface="Cambria Math" panose="02040503050406030204" pitchFamily="18" charset="0"/>
                                      </a:rPr>
                                      <m:t>𝑦</m:t>
                                    </m:r>
                                  </m:e>
                                  <m:sub>
                                    <m:r>
                                      <a:rPr lang="en-US" altLang="zh-CN" b="0" i="1" smtClean="0">
                                        <a:solidFill>
                                          <a:srgbClr val="FF0000"/>
                                        </a:solidFill>
                                        <a:effectLst/>
                                        <a:latin typeface="Cambria Math" panose="02040503050406030204" pitchFamily="18" charset="0"/>
                                      </a:rPr>
                                      <m:t>𝑖</m:t>
                                    </m:r>
                                  </m:sub>
                                </m:sSub>
                                <m:r>
                                  <a:rPr lang="en-US" altLang="zh-CN" b="0" i="1" smtClean="0">
                                    <a:solidFill>
                                      <a:srgbClr val="FF0000"/>
                                    </a:solidFill>
                                    <a:effectLst/>
                                    <a:latin typeface="Cambria Math" panose="02040503050406030204" pitchFamily="18" charset="0"/>
                                  </a:rPr>
                                  <m:t>)</m:t>
                                </m:r>
                              </m:e>
                              <m:sup>
                                <m:r>
                                  <a:rPr lang="en-US" altLang="zh-CN" b="0" i="1" smtClean="0">
                                    <a:solidFill>
                                      <a:srgbClr val="FF0000"/>
                                    </a:solidFill>
                                    <a:effectLst/>
                                    <a:latin typeface="Cambria Math" panose="02040503050406030204" pitchFamily="18" charset="0"/>
                                  </a:rPr>
                                  <m:t>2</m:t>
                                </m:r>
                              </m:sup>
                            </m:sSup>
                          </m:e>
                        </m:rad>
                      </m:e>
                    </m:nary>
                  </m:oMath>
                </a14:m>
                <a:endParaRPr lang="zh-CN" altLang="en-US" dirty="0">
                  <a:solidFill>
                    <a:srgbClr val="FF0000"/>
                  </a:solidFill>
                  <a:effectLst/>
                  <a:latin typeface="华文楷体" panose="02010600040101010101" pitchFamily="2" charset="-122"/>
                  <a:ea typeface="华文楷体" panose="02010600040101010101" pitchFamily="2" charset="-122"/>
                </a:endParaRPr>
              </a:p>
            </p:txBody>
          </p:sp>
        </mc:Choice>
        <mc:Fallback xmlns="">
          <p:sp>
            <p:nvSpPr>
              <p:cNvPr id="14" name="矩形 13">
                <a:extLst>
                  <a:ext uri="{FF2B5EF4-FFF2-40B4-BE49-F238E27FC236}">
                    <a16:creationId xmlns:a16="http://schemas.microsoft.com/office/drawing/2014/main" id="{DE0F5483-9CBD-AD02-3493-9FE8CEBED865}"/>
                  </a:ext>
                </a:extLst>
              </p:cNvPr>
              <p:cNvSpPr>
                <a:spLocks noRot="1" noChangeAspect="1" noMove="1" noResize="1" noEditPoints="1" noAdjustHandles="1" noChangeArrowheads="1" noChangeShapeType="1" noTextEdit="1"/>
              </p:cNvSpPr>
              <p:nvPr/>
            </p:nvSpPr>
            <p:spPr>
              <a:xfrm>
                <a:off x="442082" y="1542916"/>
                <a:ext cx="7737552" cy="427746"/>
              </a:xfrm>
              <a:prstGeom prst="rect">
                <a:avLst/>
              </a:prstGeom>
              <a:blipFill>
                <a:blip r:embed="rId4"/>
                <a:stretch>
                  <a:fillRect l="-867" t="-92857" b="-158571"/>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A7E65CAB-F8B9-4AC3-A72F-9731A0798535}"/>
              </a:ext>
            </a:extLst>
          </p:cNvPr>
          <p:cNvSpPr txBox="1"/>
          <p:nvPr/>
        </p:nvSpPr>
        <p:spPr>
          <a:xfrm>
            <a:off x="636002" y="77784"/>
            <a:ext cx="8324974" cy="461665"/>
          </a:xfrm>
          <a:prstGeom prst="rect">
            <a:avLst/>
          </a:prstGeom>
          <a:solidFill>
            <a:schemeClr val="bg1"/>
          </a:solidFill>
        </p:spPr>
        <p:txBody>
          <a:bodyPr wrap="square">
            <a:spAutoFit/>
          </a:bodyPr>
          <a:lstStyle>
            <a:defPPr>
              <a:defRPr lang="zh-CN"/>
            </a:defPPr>
            <a:lvl1pPr>
              <a:lnSpc>
                <a:spcPct val="150000"/>
              </a:lnSpc>
              <a:defRPr sz="3200">
                <a:solidFill>
                  <a:srgbClr val="002060"/>
                </a:solidFill>
                <a:latin typeface="华文楷体" panose="02010600040101010101" pitchFamily="2" charset="-122"/>
                <a:ea typeface="华文楷体" panose="02010600040101010101" pitchFamily="2" charset="-122"/>
              </a:defRPr>
            </a:lvl1pPr>
          </a:lstStyle>
          <a:p>
            <a:pPr>
              <a:lnSpc>
                <a:spcPct val="100000"/>
              </a:lnSpc>
            </a:pPr>
            <a:r>
              <a:rPr lang="en-US" altLang="zh-CN" sz="2400" b="0" dirty="0">
                <a:solidFill>
                  <a:srgbClr val="002060"/>
                </a:solidFill>
                <a:latin typeface="华文楷体" panose="02010600040101010101" pitchFamily="2" charset="-122"/>
                <a:ea typeface="华文楷体" panose="02010600040101010101" pitchFamily="2" charset="-122"/>
              </a:rPr>
              <a:t>§8.4.2 </a:t>
            </a:r>
            <a:r>
              <a:rPr lang="zh-CN" altLang="en-US" sz="2400" kern="0" dirty="0"/>
              <a:t>多元</a:t>
            </a:r>
            <a:r>
              <a:rPr lang="zh-CN" altLang="en-US" sz="2400" dirty="0"/>
              <a:t>函数无约束最</a:t>
            </a:r>
            <a:r>
              <a:rPr lang="en-US" altLang="ko-KR" sz="2400" dirty="0" err="1"/>
              <a:t>小值</a:t>
            </a:r>
            <a:r>
              <a:rPr lang="en-US" altLang="zh-CN" sz="2400" kern="0" dirty="0">
                <a:solidFill>
                  <a:srgbClr val="FF0000"/>
                </a:solidFill>
              </a:rPr>
              <a:t> </a:t>
            </a:r>
            <a:r>
              <a:rPr lang="en-US" altLang="zh-CN" sz="2400" b="0" dirty="0" err="1">
                <a:solidFill>
                  <a:srgbClr val="FF0000"/>
                </a:solidFill>
                <a:latin typeface="华文楷体" panose="02010600040101010101" pitchFamily="2" charset="-122"/>
                <a:ea typeface="华文楷体" panose="02010600040101010101" pitchFamily="2" charset="-122"/>
              </a:rPr>
              <a:t>fminunc</a:t>
            </a:r>
            <a:r>
              <a:rPr lang="en-US" altLang="zh-CN" sz="2400" kern="0" dirty="0">
                <a:solidFill>
                  <a:srgbClr val="FF0000"/>
                </a:solidFill>
              </a:rPr>
              <a:t>——</a:t>
            </a:r>
            <a:r>
              <a:rPr lang="zh-CN" altLang="en-US" sz="2400" kern="0" dirty="0">
                <a:solidFill>
                  <a:srgbClr val="FF0000"/>
                </a:solidFill>
              </a:rPr>
              <a:t>城市垃圾站设计</a:t>
            </a:r>
            <a:endParaRPr lang="zh-CN" altLang="en-US" sz="2400" dirty="0"/>
          </a:p>
        </p:txBody>
      </p:sp>
      <p:sp>
        <p:nvSpPr>
          <p:cNvPr id="10" name="Rectangle 3">
            <a:extLst>
              <a:ext uri="{FF2B5EF4-FFF2-40B4-BE49-F238E27FC236}">
                <a16:creationId xmlns:a16="http://schemas.microsoft.com/office/drawing/2014/main" id="{0FCCE683-C48B-45FA-AC7D-5F38CF3B844D}"/>
              </a:ext>
            </a:extLst>
          </p:cNvPr>
          <p:cNvSpPr>
            <a:spLocks noChangeArrowheads="1"/>
          </p:cNvSpPr>
          <p:nvPr/>
        </p:nvSpPr>
        <p:spPr bwMode="auto">
          <a:xfrm>
            <a:off x="994547" y="715058"/>
            <a:ext cx="74020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dist" eaLnBrk="0" hangingPunct="0"/>
            <a:r>
              <a:rPr lang="en-US" altLang="zh-CN" b="1" dirty="0">
                <a:solidFill>
                  <a:srgbClr val="0070C0"/>
                </a:solidFill>
                <a:latin typeface="微软雅黑" panose="020B0503020204020204" pitchFamily="34" charset="-122"/>
                <a:ea typeface="微软雅黑" panose="020B0503020204020204" pitchFamily="34" charset="-122"/>
              </a:rPr>
              <a:t>(2)</a:t>
            </a:r>
            <a:r>
              <a:rPr lang="zh-CN" altLang="en-US" b="1" dirty="0">
                <a:solidFill>
                  <a:srgbClr val="0070C0"/>
                </a:solidFill>
                <a:latin typeface="微软雅黑" panose="020B0503020204020204" pitchFamily="34" charset="-122"/>
                <a:ea typeface="微软雅黑" panose="020B0503020204020204" pitchFamily="34" charset="-122"/>
              </a:rPr>
              <a:t>求</a:t>
            </a:r>
            <a:r>
              <a:rPr lang="en-US" altLang="zh-CN" b="1" dirty="0">
                <a:solidFill>
                  <a:srgbClr val="0070C0"/>
                </a:solidFill>
                <a:latin typeface="微软雅黑" panose="020B0503020204020204" pitchFamily="34" charset="-122"/>
                <a:ea typeface="微软雅黑" panose="020B0503020204020204" pitchFamily="34" charset="-122"/>
              </a:rPr>
              <a:t>7</a:t>
            </a:r>
            <a:r>
              <a:rPr lang="zh-CN" altLang="en-US" b="1" dirty="0">
                <a:solidFill>
                  <a:srgbClr val="0070C0"/>
                </a:solidFill>
                <a:latin typeface="微软雅黑" panose="020B0503020204020204" pitchFamily="34" charset="-122"/>
                <a:ea typeface="微软雅黑" panose="020B0503020204020204" pitchFamily="34" charset="-122"/>
              </a:rPr>
              <a:t>个乡镇到垃圾站总路程最短</a:t>
            </a:r>
            <a:r>
              <a:rPr lang="en-US" altLang="zh-CN" b="1" dirty="0">
                <a:solidFill>
                  <a:srgbClr val="0070C0"/>
                </a:solidFill>
                <a:latin typeface="微软雅黑" panose="020B0503020204020204" pitchFamily="34" charset="-122"/>
                <a:ea typeface="微软雅黑" panose="020B0503020204020204" pitchFamily="34" charset="-122"/>
              </a:rPr>
              <a:t>w</a:t>
            </a:r>
            <a:r>
              <a:rPr lang="zh-CN" altLang="en-US" b="1" dirty="0">
                <a:solidFill>
                  <a:srgbClr val="0070C0"/>
                </a:solidFill>
                <a:latin typeface="微软雅黑" panose="020B0503020204020204" pitchFamily="34" charset="-122"/>
                <a:ea typeface="微软雅黑" panose="020B0503020204020204" pitchFamily="34" charset="-122"/>
              </a:rPr>
              <a:t>时，垃圾站地址</a:t>
            </a:r>
            <a:r>
              <a:rPr lang="en-US" altLang="zh-CN" b="1" dirty="0">
                <a:solidFill>
                  <a:srgbClr val="0070C0"/>
                </a:solidFill>
                <a:latin typeface="微软雅黑" panose="020B0503020204020204" pitchFamily="34" charset="-122"/>
                <a:ea typeface="微软雅黑" panose="020B0503020204020204" pitchFamily="34" charset="-122"/>
              </a:rPr>
              <a:t>[</a:t>
            </a:r>
            <a:r>
              <a:rPr lang="en-US" altLang="zh-CN" b="1" dirty="0" err="1">
                <a:solidFill>
                  <a:srgbClr val="0070C0"/>
                </a:solidFill>
                <a:latin typeface="微软雅黑" panose="020B0503020204020204" pitchFamily="34" charset="-122"/>
                <a:ea typeface="微软雅黑" panose="020B0503020204020204" pitchFamily="34" charset="-122"/>
              </a:rPr>
              <a:t>xx,yy</a:t>
            </a:r>
            <a:r>
              <a:rPr lang="en-US" altLang="zh-CN" b="1" dirty="0">
                <a:solidFill>
                  <a:srgbClr val="0070C0"/>
                </a:solidFill>
                <a:latin typeface="微软雅黑" panose="020B0503020204020204" pitchFamily="34" charset="-122"/>
                <a:ea typeface="微软雅黑" panose="020B0503020204020204" pitchFamily="34" charset="-122"/>
              </a:rPr>
              <a:t>] </a:t>
            </a:r>
            <a:endParaRPr lang="zh-CN" altLang="zh-CN" b="1" dirty="0">
              <a:solidFill>
                <a:srgbClr val="0070C0"/>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08BF22A8-2B1A-42F3-B660-D3EB0A9212C8}"/>
              </a:ext>
            </a:extLst>
          </p:cNvPr>
          <p:cNvSpPr txBox="1"/>
          <p:nvPr/>
        </p:nvSpPr>
        <p:spPr>
          <a:xfrm>
            <a:off x="430163" y="1858580"/>
            <a:ext cx="8530813" cy="3139321"/>
          </a:xfrm>
          <a:prstGeom prst="rect">
            <a:avLst/>
          </a:prstGeom>
          <a:noFill/>
        </p:spPr>
        <p:txBody>
          <a:bodyPr wrap="square">
            <a:spAutoFit/>
          </a:bodyPr>
          <a:lstStyle/>
          <a:p>
            <a:r>
              <a:rPr lang="en-US" altLang="zh-CN" b="0" dirty="0">
                <a:solidFill>
                  <a:srgbClr val="002060"/>
                </a:solidFill>
                <a:effectLst/>
                <a:latin typeface="Consolas" panose="020B0609020204030204" pitchFamily="49" charset="0"/>
              </a:rPr>
              <a:t>x=[2.3, 4.6, 4.9, 6.1, 7.6, 8.9, 9.5]; #7</a:t>
            </a:r>
            <a:r>
              <a:rPr lang="zh-CN" altLang="en-US" b="0" dirty="0">
                <a:solidFill>
                  <a:srgbClr val="002060"/>
                </a:solidFill>
                <a:effectLst/>
                <a:latin typeface="Consolas" panose="020B0609020204030204" pitchFamily="49" charset="0"/>
              </a:rPr>
              <a:t>个镇</a:t>
            </a:r>
            <a:r>
              <a:rPr lang="en-US" altLang="zh-CN" b="0" dirty="0">
                <a:solidFill>
                  <a:srgbClr val="002060"/>
                </a:solidFill>
                <a:effectLst/>
                <a:latin typeface="Consolas" panose="020B0609020204030204" pitchFamily="49" charset="0"/>
              </a:rPr>
              <a:t>x</a:t>
            </a:r>
            <a:r>
              <a:rPr lang="zh-CN" altLang="en-US" b="0" dirty="0">
                <a:solidFill>
                  <a:srgbClr val="002060"/>
                </a:solidFill>
                <a:effectLst/>
                <a:latin typeface="Consolas" panose="020B0609020204030204" pitchFamily="49" charset="0"/>
              </a:rPr>
              <a:t>轴坐标</a:t>
            </a:r>
          </a:p>
          <a:p>
            <a:r>
              <a:rPr lang="en-US" altLang="zh-CN" b="0" dirty="0">
                <a:solidFill>
                  <a:srgbClr val="002060"/>
                </a:solidFill>
                <a:effectLst/>
                <a:latin typeface="Consolas" panose="020B0609020204030204" pitchFamily="49" charset="0"/>
              </a:rPr>
              <a:t>y=[8.2, 7.4, 6.2, 4.4, 9.2, 7.9, 0.2]; #7</a:t>
            </a:r>
            <a:r>
              <a:rPr lang="zh-CN" altLang="en-US" b="0" dirty="0">
                <a:solidFill>
                  <a:srgbClr val="002060"/>
                </a:solidFill>
                <a:effectLst/>
                <a:latin typeface="Consolas" panose="020B0609020204030204" pitchFamily="49" charset="0"/>
              </a:rPr>
              <a:t>个镇</a:t>
            </a:r>
            <a:r>
              <a:rPr lang="en-US" altLang="zh-CN" b="0" dirty="0">
                <a:solidFill>
                  <a:srgbClr val="002060"/>
                </a:solidFill>
                <a:effectLst/>
                <a:latin typeface="Consolas" panose="020B0609020204030204" pitchFamily="49" charset="0"/>
              </a:rPr>
              <a:t>y</a:t>
            </a:r>
            <a:r>
              <a:rPr lang="zh-CN" altLang="en-US" b="0" dirty="0">
                <a:solidFill>
                  <a:srgbClr val="002060"/>
                </a:solidFill>
                <a:effectLst/>
                <a:latin typeface="Consolas" panose="020B0609020204030204" pitchFamily="49" charset="0"/>
              </a:rPr>
              <a:t>轴坐标</a:t>
            </a:r>
          </a:p>
          <a:p>
            <a:r>
              <a:rPr lang="en-US" altLang="zh-CN" b="0" dirty="0" err="1">
                <a:solidFill>
                  <a:srgbClr val="002060"/>
                </a:solidFill>
                <a:effectLst/>
                <a:latin typeface="Consolas" panose="020B0609020204030204" pitchFamily="49" charset="0"/>
              </a:rPr>
              <a:t>xlabel</a:t>
            </a:r>
            <a:r>
              <a:rPr lang="en-US" altLang="zh-CN" b="0" dirty="0">
                <a:solidFill>
                  <a:srgbClr val="002060"/>
                </a:solidFill>
                <a:effectLst/>
                <a:latin typeface="Consolas" panose="020B0609020204030204" pitchFamily="49" charset="0"/>
              </a:rPr>
              <a:t>("</a:t>
            </a:r>
            <a:r>
              <a:rPr lang="zh-CN" altLang="en-US" b="0" dirty="0">
                <a:solidFill>
                  <a:srgbClr val="002060"/>
                </a:solidFill>
                <a:effectLst/>
                <a:latin typeface="Consolas" panose="020B0609020204030204" pitchFamily="49" charset="0"/>
              </a:rPr>
              <a:t>镇</a:t>
            </a:r>
            <a:r>
              <a:rPr lang="en-US" altLang="zh-CN" b="0" dirty="0">
                <a:solidFill>
                  <a:srgbClr val="002060"/>
                </a:solidFill>
                <a:effectLst/>
                <a:latin typeface="Consolas" panose="020B0609020204030204" pitchFamily="49" charset="0"/>
              </a:rPr>
              <a:t>x</a:t>
            </a:r>
            <a:r>
              <a:rPr lang="zh-CN" altLang="en-US" b="0" dirty="0">
                <a:solidFill>
                  <a:srgbClr val="002060"/>
                </a:solidFill>
                <a:effectLst/>
                <a:latin typeface="Consolas" panose="020B0609020204030204" pitchFamily="49" charset="0"/>
              </a:rPr>
              <a:t>轴坐标</a:t>
            </a:r>
            <a:r>
              <a:rPr lang="en-US" altLang="zh-CN" b="0" dirty="0">
                <a:solidFill>
                  <a:srgbClr val="002060"/>
                </a:solidFill>
                <a:effectLst/>
                <a:latin typeface="Consolas" panose="020B0609020204030204" pitchFamily="49" charset="0"/>
              </a:rPr>
              <a:t>,km");</a:t>
            </a:r>
            <a:r>
              <a:rPr lang="en-US" altLang="zh-CN" b="0" dirty="0" err="1">
                <a:solidFill>
                  <a:srgbClr val="002060"/>
                </a:solidFill>
                <a:effectLst/>
                <a:latin typeface="Consolas" panose="020B0609020204030204" pitchFamily="49" charset="0"/>
              </a:rPr>
              <a:t>ylabel</a:t>
            </a:r>
            <a:r>
              <a:rPr lang="en-US" altLang="zh-CN" b="0" dirty="0">
                <a:solidFill>
                  <a:srgbClr val="002060"/>
                </a:solidFill>
                <a:effectLst/>
                <a:latin typeface="Consolas" panose="020B0609020204030204" pitchFamily="49" charset="0"/>
              </a:rPr>
              <a:t>("</a:t>
            </a:r>
            <a:r>
              <a:rPr lang="zh-CN" altLang="en-US" b="0" dirty="0">
                <a:solidFill>
                  <a:srgbClr val="002060"/>
                </a:solidFill>
                <a:effectLst/>
                <a:latin typeface="Consolas" panose="020B0609020204030204" pitchFamily="49" charset="0"/>
              </a:rPr>
              <a:t>镇</a:t>
            </a:r>
            <a:r>
              <a:rPr lang="en-US" altLang="zh-CN" b="0" dirty="0">
                <a:solidFill>
                  <a:srgbClr val="002060"/>
                </a:solidFill>
                <a:effectLst/>
                <a:latin typeface="Consolas" panose="020B0609020204030204" pitchFamily="49" charset="0"/>
              </a:rPr>
              <a:t>y</a:t>
            </a:r>
            <a:r>
              <a:rPr lang="zh-CN" altLang="en-US" b="0" dirty="0">
                <a:solidFill>
                  <a:srgbClr val="002060"/>
                </a:solidFill>
                <a:effectLst/>
                <a:latin typeface="Consolas" panose="020B0609020204030204" pitchFamily="49" charset="0"/>
              </a:rPr>
              <a:t>轴坐标</a:t>
            </a:r>
            <a:r>
              <a:rPr lang="en-US" altLang="zh-CN" b="0" dirty="0">
                <a:solidFill>
                  <a:srgbClr val="002060"/>
                </a:solidFill>
                <a:effectLst/>
                <a:latin typeface="Consolas" panose="020B0609020204030204" pitchFamily="49" charset="0"/>
              </a:rPr>
              <a:t>,km");</a:t>
            </a:r>
          </a:p>
          <a:p>
            <a:r>
              <a:rPr lang="en-US" altLang="zh-CN" b="0" dirty="0" err="1">
                <a:solidFill>
                  <a:srgbClr val="002060"/>
                </a:solidFill>
                <a:effectLst/>
                <a:latin typeface="Consolas" panose="020B0609020204030204" pitchFamily="49" charset="0"/>
              </a:rPr>
              <a:t>xlim</a:t>
            </a:r>
            <a:r>
              <a:rPr lang="en-US" altLang="zh-CN" b="0" dirty="0">
                <a:solidFill>
                  <a:srgbClr val="002060"/>
                </a:solidFill>
                <a:effectLst/>
                <a:latin typeface="Consolas" panose="020B0609020204030204" pitchFamily="49" charset="0"/>
              </a:rPr>
              <a:t>([1, 12]) #</a:t>
            </a:r>
            <a:r>
              <a:rPr lang="zh-CN" altLang="en-US" b="0" dirty="0">
                <a:solidFill>
                  <a:srgbClr val="002060"/>
                </a:solidFill>
                <a:effectLst/>
                <a:latin typeface="Consolas" panose="020B0609020204030204" pitchFamily="49" charset="0"/>
              </a:rPr>
              <a:t>调整</a:t>
            </a:r>
            <a:r>
              <a:rPr lang="en-US" altLang="zh-CN" b="0" dirty="0">
                <a:solidFill>
                  <a:srgbClr val="002060"/>
                </a:solidFill>
                <a:effectLst/>
                <a:latin typeface="Consolas" panose="020B0609020204030204" pitchFamily="49" charset="0"/>
              </a:rPr>
              <a:t>x</a:t>
            </a:r>
            <a:r>
              <a:rPr lang="zh-CN" altLang="en-US" b="0" dirty="0">
                <a:solidFill>
                  <a:srgbClr val="002060"/>
                </a:solidFill>
                <a:effectLst/>
                <a:latin typeface="Consolas" panose="020B0609020204030204" pitchFamily="49" charset="0"/>
              </a:rPr>
              <a:t>轴范围</a:t>
            </a:r>
          </a:p>
          <a:p>
            <a:r>
              <a:rPr lang="en-US" altLang="zh-CN" b="0" dirty="0">
                <a:solidFill>
                  <a:srgbClr val="002060"/>
                </a:solidFill>
                <a:effectLst/>
                <a:latin typeface="Consolas" panose="020B0609020204030204" pitchFamily="49" charset="0"/>
              </a:rPr>
              <a:t>c=[5,6,3,1,3,7,2]; #7</a:t>
            </a:r>
            <a:r>
              <a:rPr lang="zh-CN" altLang="en-US" b="0" dirty="0">
                <a:solidFill>
                  <a:srgbClr val="002060"/>
                </a:solidFill>
                <a:effectLst/>
                <a:latin typeface="Consolas" panose="020B0609020204030204" pitchFamily="49" charset="0"/>
              </a:rPr>
              <a:t>个镇垃圾车数</a:t>
            </a:r>
          </a:p>
          <a:p>
            <a:r>
              <a:rPr lang="en-US" altLang="zh-CN" b="0" dirty="0">
                <a:solidFill>
                  <a:srgbClr val="002060"/>
                </a:solidFill>
                <a:effectLst/>
                <a:latin typeface="Consolas" panose="020B0609020204030204" pitchFamily="49" charset="0"/>
              </a:rPr>
              <a:t>w(</a:t>
            </a:r>
            <a:r>
              <a:rPr lang="en-US" altLang="zh-CN" b="0" dirty="0" err="1">
                <a:solidFill>
                  <a:srgbClr val="002060"/>
                </a:solidFill>
                <a:effectLst/>
                <a:latin typeface="Consolas" panose="020B0609020204030204" pitchFamily="49" charset="0"/>
              </a:rPr>
              <a:t>xy</a:t>
            </a:r>
            <a:r>
              <a:rPr lang="en-US" altLang="zh-CN" b="0" dirty="0">
                <a:solidFill>
                  <a:srgbClr val="002060"/>
                </a:solidFill>
                <a:effectLst/>
                <a:latin typeface="Consolas" panose="020B0609020204030204" pitchFamily="49" charset="0"/>
              </a:rPr>
              <a:t>)=sum(@.</a:t>
            </a:r>
            <a:r>
              <a:rPr lang="zh-CN" altLang="en-US" b="0" dirty="0">
                <a:solidFill>
                  <a:srgbClr val="002060"/>
                </a:solidFill>
                <a:effectLst/>
                <a:latin typeface="Consolas" panose="020B0609020204030204" pitchFamily="49" charset="0"/>
              </a:rPr>
              <a:t> </a:t>
            </a:r>
            <a:r>
              <a:rPr lang="en-US" altLang="zh-CN" b="0" dirty="0">
                <a:solidFill>
                  <a:srgbClr val="002060"/>
                </a:solidFill>
                <a:effectLst/>
                <a:latin typeface="Consolas" panose="020B0609020204030204" pitchFamily="49" charset="0"/>
              </a:rPr>
              <a:t>c*sqrt((</a:t>
            </a:r>
            <a:r>
              <a:rPr lang="en-US" altLang="zh-CN" b="0" dirty="0" err="1">
                <a:solidFill>
                  <a:srgbClr val="002060"/>
                </a:solidFill>
                <a:effectLst/>
                <a:latin typeface="Consolas" panose="020B0609020204030204" pitchFamily="49" charset="0"/>
              </a:rPr>
              <a:t>xy</a:t>
            </a:r>
            <a:r>
              <a:rPr lang="en-US" altLang="zh-CN" b="0" dirty="0">
                <a:solidFill>
                  <a:srgbClr val="002060"/>
                </a:solidFill>
                <a:effectLst/>
                <a:latin typeface="Consolas" panose="020B0609020204030204" pitchFamily="49" charset="0"/>
              </a:rPr>
              <a:t>[1]-x)^2+(</a:t>
            </a:r>
            <a:r>
              <a:rPr lang="en-US" altLang="zh-CN" b="0" dirty="0" err="1">
                <a:solidFill>
                  <a:srgbClr val="002060"/>
                </a:solidFill>
                <a:effectLst/>
                <a:latin typeface="Consolas" panose="020B0609020204030204" pitchFamily="49" charset="0"/>
              </a:rPr>
              <a:t>xy</a:t>
            </a:r>
            <a:r>
              <a:rPr lang="en-US" altLang="zh-CN" b="0" dirty="0">
                <a:solidFill>
                  <a:srgbClr val="002060"/>
                </a:solidFill>
                <a:effectLst/>
                <a:latin typeface="Consolas" panose="020B0609020204030204" pitchFamily="49" charset="0"/>
              </a:rPr>
              <a:t>[2]-y)^2)); #</a:t>
            </a:r>
            <a:r>
              <a:rPr lang="zh-CN" altLang="en-US" b="0" dirty="0">
                <a:solidFill>
                  <a:srgbClr val="002060"/>
                </a:solidFill>
                <a:effectLst/>
                <a:latin typeface="Consolas" panose="020B0609020204030204" pitchFamily="49" charset="0"/>
              </a:rPr>
              <a:t>总车程调用点运算</a:t>
            </a:r>
          </a:p>
          <a:p>
            <a:r>
              <a:rPr lang="en-US" altLang="zh-CN" b="0" dirty="0" err="1">
                <a:solidFill>
                  <a:srgbClr val="002060"/>
                </a:solidFill>
                <a:effectLst/>
                <a:latin typeface="Consolas" panose="020B0609020204030204" pitchFamily="49" charset="0"/>
              </a:rPr>
              <a:t>xy,wmin</a:t>
            </a:r>
            <a:r>
              <a:rPr lang="en-US" altLang="zh-CN" b="0" dirty="0">
                <a:solidFill>
                  <a:srgbClr val="002060"/>
                </a:solidFill>
                <a:effectLst/>
                <a:latin typeface="Consolas" panose="020B0609020204030204" pitchFamily="49" charset="0"/>
              </a:rPr>
              <a:t>=</a:t>
            </a:r>
            <a:r>
              <a:rPr lang="en-US" altLang="zh-CN" b="0" dirty="0" err="1">
                <a:solidFill>
                  <a:srgbClr val="002060"/>
                </a:solidFill>
                <a:effectLst/>
                <a:latin typeface="Consolas" panose="020B0609020204030204" pitchFamily="49" charset="0"/>
              </a:rPr>
              <a:t>fminunc</a:t>
            </a:r>
            <a:r>
              <a:rPr lang="en-US" altLang="zh-CN" b="0" dirty="0">
                <a:solidFill>
                  <a:srgbClr val="002060"/>
                </a:solidFill>
                <a:effectLst/>
                <a:latin typeface="Consolas" panose="020B0609020204030204" pitchFamily="49" charset="0"/>
              </a:rPr>
              <a:t>(w,[7,6]) #</a:t>
            </a:r>
            <a:r>
              <a:rPr lang="zh-CN" altLang="en-US" b="0" dirty="0">
                <a:solidFill>
                  <a:srgbClr val="002060"/>
                </a:solidFill>
                <a:effectLst/>
                <a:latin typeface="Consolas" panose="020B0609020204030204" pitchFamily="49" charset="0"/>
              </a:rPr>
              <a:t>求出</a:t>
            </a:r>
            <a:r>
              <a:rPr lang="en-US" altLang="zh-CN" b="0" dirty="0" err="1">
                <a:solidFill>
                  <a:srgbClr val="002060"/>
                </a:solidFill>
                <a:effectLst/>
                <a:latin typeface="Consolas" panose="020B0609020204030204" pitchFamily="49" charset="0"/>
              </a:rPr>
              <a:t>xy</a:t>
            </a:r>
            <a:r>
              <a:rPr lang="zh-CN" altLang="en-US" b="0" dirty="0">
                <a:solidFill>
                  <a:srgbClr val="002060"/>
                </a:solidFill>
                <a:effectLst/>
                <a:latin typeface="Consolas" panose="020B0609020204030204" pitchFamily="49" charset="0"/>
              </a:rPr>
              <a:t>坐标和最小车程</a:t>
            </a:r>
            <a:r>
              <a:rPr lang="en-US" altLang="zh-CN" b="0" dirty="0" err="1">
                <a:solidFill>
                  <a:srgbClr val="002060"/>
                </a:solidFill>
                <a:effectLst/>
                <a:latin typeface="Consolas" panose="020B0609020204030204" pitchFamily="49" charset="0"/>
              </a:rPr>
              <a:t>wmin</a:t>
            </a:r>
            <a:endParaRPr lang="zh-CN" altLang="en-US" b="0" dirty="0">
              <a:solidFill>
                <a:srgbClr val="002060"/>
              </a:solidFill>
              <a:effectLst/>
              <a:latin typeface="Consolas" panose="020B0609020204030204" pitchFamily="49" charset="0"/>
            </a:endParaRPr>
          </a:p>
          <a:p>
            <a:r>
              <a:rPr lang="en-US" altLang="zh-CN" b="0" dirty="0">
                <a:solidFill>
                  <a:srgbClr val="002060"/>
                </a:solidFill>
                <a:effectLst/>
                <a:latin typeface="Consolas" panose="020B0609020204030204" pitchFamily="49" charset="0"/>
              </a:rPr>
              <a:t>println("</a:t>
            </a:r>
            <a:r>
              <a:rPr lang="zh-CN" altLang="en-US" b="0" dirty="0">
                <a:solidFill>
                  <a:srgbClr val="002060"/>
                </a:solidFill>
                <a:effectLst/>
                <a:latin typeface="Consolas" panose="020B0609020204030204" pitchFamily="49" charset="0"/>
              </a:rPr>
              <a:t>垃圾站位置</a:t>
            </a:r>
            <a:r>
              <a:rPr lang="en-US" altLang="zh-CN" b="0" dirty="0" err="1">
                <a:solidFill>
                  <a:srgbClr val="002060"/>
                </a:solidFill>
                <a:effectLst/>
                <a:latin typeface="Consolas" panose="020B0609020204030204" pitchFamily="49" charset="0"/>
              </a:rPr>
              <a:t>xy</a:t>
            </a:r>
            <a:r>
              <a:rPr lang="en-US" altLang="zh-CN" b="0" dirty="0">
                <a:solidFill>
                  <a:srgbClr val="002060"/>
                </a:solidFill>
                <a:effectLst/>
                <a:latin typeface="Consolas" panose="020B0609020204030204" pitchFamily="49" charset="0"/>
              </a:rPr>
              <a:t>=$</a:t>
            </a:r>
            <a:r>
              <a:rPr lang="en-US" altLang="zh-CN" b="0" dirty="0" err="1">
                <a:solidFill>
                  <a:srgbClr val="002060"/>
                </a:solidFill>
                <a:effectLst/>
                <a:latin typeface="Consolas" panose="020B0609020204030204" pitchFamily="49" charset="0"/>
              </a:rPr>
              <a:t>xy</a:t>
            </a:r>
            <a:r>
              <a:rPr lang="en-US" altLang="zh-CN" b="0" dirty="0">
                <a:solidFill>
                  <a:srgbClr val="002060"/>
                </a:solidFill>
                <a:effectLst/>
                <a:latin typeface="Consolas" panose="020B0609020204030204" pitchFamily="49" charset="0"/>
              </a:rPr>
              <a:t>")  #</a:t>
            </a:r>
            <a:r>
              <a:rPr lang="zh-CN" altLang="en-US" b="0" dirty="0">
                <a:solidFill>
                  <a:srgbClr val="002060"/>
                </a:solidFill>
                <a:effectLst/>
                <a:latin typeface="Consolas" panose="020B0609020204030204" pitchFamily="49" charset="0"/>
              </a:rPr>
              <a:t>显示极值点</a:t>
            </a:r>
          </a:p>
          <a:p>
            <a:r>
              <a:rPr lang="en-US" altLang="zh-CN" b="0" dirty="0">
                <a:solidFill>
                  <a:srgbClr val="002060"/>
                </a:solidFill>
                <a:effectLst/>
                <a:latin typeface="Consolas" panose="020B0609020204030204" pitchFamily="49" charset="0"/>
              </a:rPr>
              <a:t>println("</a:t>
            </a:r>
            <a:r>
              <a:rPr lang="zh-CN" altLang="en-US" b="0" dirty="0">
                <a:solidFill>
                  <a:srgbClr val="002060"/>
                </a:solidFill>
                <a:effectLst/>
                <a:latin typeface="Consolas" panose="020B0609020204030204" pitchFamily="49" charset="0"/>
              </a:rPr>
              <a:t>最小路程</a:t>
            </a:r>
            <a:r>
              <a:rPr lang="en-US" altLang="zh-CN" b="0" dirty="0" err="1">
                <a:solidFill>
                  <a:srgbClr val="002060"/>
                </a:solidFill>
                <a:effectLst/>
                <a:latin typeface="Consolas" panose="020B0609020204030204" pitchFamily="49" charset="0"/>
              </a:rPr>
              <a:t>wmin</a:t>
            </a:r>
            <a:r>
              <a:rPr lang="en-US" altLang="zh-CN" b="0" dirty="0">
                <a:solidFill>
                  <a:srgbClr val="002060"/>
                </a:solidFill>
                <a:effectLst/>
                <a:latin typeface="Consolas" panose="020B0609020204030204" pitchFamily="49" charset="0"/>
              </a:rPr>
              <a:t>=$</a:t>
            </a:r>
            <a:r>
              <a:rPr lang="en-US" altLang="zh-CN" b="0" dirty="0" err="1">
                <a:solidFill>
                  <a:srgbClr val="002060"/>
                </a:solidFill>
                <a:effectLst/>
                <a:latin typeface="Consolas" panose="020B0609020204030204" pitchFamily="49" charset="0"/>
              </a:rPr>
              <a:t>wmin</a:t>
            </a:r>
            <a:r>
              <a:rPr lang="en-US" altLang="zh-CN" b="0" dirty="0">
                <a:solidFill>
                  <a:srgbClr val="002060"/>
                </a:solidFill>
                <a:effectLst/>
                <a:latin typeface="Consolas" panose="020B0609020204030204" pitchFamily="49" charset="0"/>
              </a:rPr>
              <a:t>")  #</a:t>
            </a:r>
            <a:r>
              <a:rPr lang="zh-CN" altLang="en-US" b="0" dirty="0">
                <a:solidFill>
                  <a:srgbClr val="002060"/>
                </a:solidFill>
                <a:effectLst/>
                <a:latin typeface="Consolas" panose="020B0609020204030204" pitchFamily="49" charset="0"/>
              </a:rPr>
              <a:t>显示最小值</a:t>
            </a:r>
            <a:endParaRPr lang="en-US" altLang="zh-CN" b="0" dirty="0">
              <a:solidFill>
                <a:srgbClr val="002060"/>
              </a:solidFill>
              <a:effectLst/>
              <a:latin typeface="Consolas" panose="020B0609020204030204" pitchFamily="49" charset="0"/>
            </a:endParaRPr>
          </a:p>
          <a:p>
            <a:r>
              <a:rPr lang="en-US" altLang="zh-CN" dirty="0" err="1">
                <a:solidFill>
                  <a:srgbClr val="002060"/>
                </a:solidFill>
                <a:latin typeface="Consolas" panose="020B0609020204030204" pitchFamily="49" charset="0"/>
              </a:rPr>
              <a:t>println</a:t>
            </a:r>
            <a:r>
              <a:rPr lang="en-US" altLang="zh-CN" dirty="0">
                <a:solidFill>
                  <a:srgbClr val="002060"/>
                </a:solidFill>
                <a:latin typeface="Consolas" panose="020B0609020204030204" pitchFamily="49" charset="0"/>
              </a:rPr>
              <a:t>("</a:t>
            </a:r>
            <a:r>
              <a:rPr lang="zh-CN" altLang="en-US" dirty="0">
                <a:solidFill>
                  <a:srgbClr val="002060"/>
                </a:solidFill>
                <a:latin typeface="Consolas" panose="020B0609020204030204" pitchFamily="49" charset="0"/>
              </a:rPr>
              <a:t>退出标志</a:t>
            </a:r>
            <a:r>
              <a:rPr lang="en-US" altLang="zh-CN" dirty="0">
                <a:solidFill>
                  <a:srgbClr val="002060"/>
                </a:solidFill>
                <a:latin typeface="Consolas" panose="020B0609020204030204" pitchFamily="49" charset="0"/>
              </a:rPr>
              <a:t>exist=$exist") </a:t>
            </a:r>
          </a:p>
          <a:p>
            <a:endParaRPr lang="zh-CN" altLang="en-US" b="0" dirty="0">
              <a:solidFill>
                <a:srgbClr val="000000"/>
              </a:solidFill>
              <a:effectLst/>
              <a:latin typeface="Consolas" panose="020B0609020204030204" pitchFamily="49" charset="0"/>
            </a:endParaRPr>
          </a:p>
        </p:txBody>
      </p:sp>
      <p:sp>
        <p:nvSpPr>
          <p:cNvPr id="17" name="文本框 16">
            <a:extLst>
              <a:ext uri="{FF2B5EF4-FFF2-40B4-BE49-F238E27FC236}">
                <a16:creationId xmlns:a16="http://schemas.microsoft.com/office/drawing/2014/main" id="{6AF8AEB4-AD9C-440B-B3DE-20C025238403}"/>
              </a:ext>
            </a:extLst>
          </p:cNvPr>
          <p:cNvSpPr txBox="1"/>
          <p:nvPr/>
        </p:nvSpPr>
        <p:spPr>
          <a:xfrm>
            <a:off x="5796136" y="4243776"/>
            <a:ext cx="2622453" cy="369332"/>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algn="dist"/>
            <a:r>
              <a:rPr lang="zh-CN" altLang="zh-CN" sz="2000" b="0" dirty="0">
                <a:effectLst/>
                <a:highlight>
                  <a:srgbClr val="FF0000"/>
                </a:highlight>
                <a:latin typeface="Times New Roman" panose="02020603050405020304" pitchFamily="18" charset="0"/>
                <a:ea typeface="source-code-pro"/>
                <a:cs typeface="Times New Roman" panose="02020603050405020304" pitchFamily="18" charset="0"/>
              </a:rPr>
              <a:t>x</a:t>
            </a:r>
            <a:r>
              <a:rPr lang="zh-CN" altLang="zh-CN" sz="2000" b="0" dirty="0">
                <a:effectLst/>
                <a:latin typeface="Times New Roman" panose="02020603050405020304" pitchFamily="18" charset="0"/>
                <a:ea typeface="source-code-pro"/>
                <a:cs typeface="Times New Roman" panose="02020603050405020304" pitchFamily="18" charset="0"/>
              </a:rPr>
              <a:t>,fval</a:t>
            </a:r>
            <a:r>
              <a:rPr lang="en-US" altLang="zh-CN" sz="2000" b="0" dirty="0">
                <a:latin typeface="Times New Roman" panose="02020603050405020304" pitchFamily="18" charset="0"/>
                <a:cs typeface="Times New Roman" panose="02020603050405020304" pitchFamily="18" charset="0"/>
              </a:rPr>
              <a:t>=</a:t>
            </a:r>
            <a:r>
              <a:rPr lang="en-US" altLang="zh-CN" sz="2000" b="0" dirty="0" err="1">
                <a:highlight>
                  <a:srgbClr val="FF0000"/>
                </a:highlight>
                <a:latin typeface="Times New Roman" panose="02020603050405020304" pitchFamily="18" charset="0"/>
                <a:cs typeface="Times New Roman" panose="02020603050405020304" pitchFamily="18" charset="0"/>
              </a:rPr>
              <a:t>fminunc</a:t>
            </a:r>
            <a:r>
              <a:rPr lang="en-US" altLang="zh-CN" sz="2000" b="0" dirty="0">
                <a:highlight>
                  <a:srgbClr val="FF0000"/>
                </a:highlight>
                <a:latin typeface="Times New Roman" panose="02020603050405020304" pitchFamily="18" charset="0"/>
                <a:cs typeface="Times New Roman" panose="02020603050405020304" pitchFamily="18" charset="0"/>
              </a:rPr>
              <a:t>(fun, x0)</a:t>
            </a:r>
            <a:endParaRPr lang="ko-KR" altLang="en-US" sz="2000" b="0" dirty="0">
              <a:highlight>
                <a:srgbClr val="FF0000"/>
              </a:highlight>
              <a:latin typeface="Times New Roman" panose="02020603050405020304" pitchFamily="18" charset="0"/>
              <a:cs typeface="Times New Roman" panose="02020603050405020304" pitchFamily="18" charset="0"/>
            </a:endParaRPr>
          </a:p>
        </p:txBody>
      </p:sp>
      <p:sp>
        <p:nvSpPr>
          <p:cNvPr id="18" name="波形 17">
            <a:extLst>
              <a:ext uri="{FF2B5EF4-FFF2-40B4-BE49-F238E27FC236}">
                <a16:creationId xmlns:a16="http://schemas.microsoft.com/office/drawing/2014/main" id="{35B8E181-363C-46B3-81E1-6A54ADC9C104}"/>
              </a:ext>
            </a:extLst>
          </p:cNvPr>
          <p:cNvSpPr/>
          <p:nvPr/>
        </p:nvSpPr>
        <p:spPr>
          <a:xfrm>
            <a:off x="107504" y="697394"/>
            <a:ext cx="817360" cy="33483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charset="-122"/>
                <a:ea typeface="微软雅黑" panose="020B0503020204020204" charset="-122"/>
              </a:rPr>
              <a:t>例84-5</a:t>
            </a:r>
            <a:endParaRPr lang="ko-KR" altLang="en-US" sz="1600" b="1" dirty="0">
              <a:solidFill>
                <a:srgbClr val="FFFF00"/>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24808395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1C50BD62-1B03-4608-A62F-276B65B076B7}"/>
              </a:ext>
            </a:extLst>
          </p:cNvPr>
          <p:cNvPicPr>
            <a:picLocks noChangeAspect="1"/>
          </p:cNvPicPr>
          <p:nvPr/>
        </p:nvPicPr>
        <p:blipFill>
          <a:blip r:embed="rId3"/>
          <a:stretch>
            <a:fillRect/>
          </a:stretch>
        </p:blipFill>
        <p:spPr>
          <a:xfrm>
            <a:off x="179512" y="972055"/>
            <a:ext cx="8277699" cy="3599937"/>
          </a:xfrm>
          <a:prstGeom prst="rect">
            <a:avLst/>
          </a:prstGeom>
          <a:solidFill>
            <a:schemeClr val="bg1"/>
          </a:solidFill>
        </p:spPr>
      </p:pic>
      <p:sp>
        <p:nvSpPr>
          <p:cNvPr id="5" name="流程图: 接点 4">
            <a:extLst>
              <a:ext uri="{FF2B5EF4-FFF2-40B4-BE49-F238E27FC236}">
                <a16:creationId xmlns:a16="http://schemas.microsoft.com/office/drawing/2014/main" id="{091C156C-2E50-4C5F-B7E3-922BE8096F2E}"/>
              </a:ext>
            </a:extLst>
          </p:cNvPr>
          <p:cNvSpPr/>
          <p:nvPr/>
        </p:nvSpPr>
        <p:spPr>
          <a:xfrm>
            <a:off x="3446576" y="1938613"/>
            <a:ext cx="576064" cy="201090"/>
          </a:xfrm>
          <a:prstGeom prst="flowChartConnector">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EA71B026-92B4-4CEF-ABDA-D283837F3E99}"/>
              </a:ext>
            </a:extLst>
          </p:cNvPr>
          <p:cNvSpPr txBox="1"/>
          <p:nvPr/>
        </p:nvSpPr>
        <p:spPr>
          <a:xfrm>
            <a:off x="1130761" y="726810"/>
            <a:ext cx="6426512" cy="400110"/>
          </a:xfrm>
          <a:prstGeom prst="rect">
            <a:avLst/>
          </a:prstGeom>
          <a:noFill/>
        </p:spPr>
        <p:txBody>
          <a:bodyPr wrap="square">
            <a:spAutoFit/>
          </a:bodyPr>
          <a:lstStyle/>
          <a:p>
            <a:pPr algn="dist"/>
            <a:r>
              <a:rPr lang="zh-CN" altLang="en-US" sz="2000" dirty="0">
                <a:solidFill>
                  <a:srgbClr val="0070C0"/>
                </a:solidFill>
              </a:rPr>
              <a:t>text(xy[1],xy[2],"o垃圾站",color="red",fontsize=12)</a:t>
            </a:r>
          </a:p>
        </p:txBody>
      </p:sp>
      <p:sp>
        <p:nvSpPr>
          <p:cNvPr id="7" name="文本框 6">
            <a:extLst>
              <a:ext uri="{FF2B5EF4-FFF2-40B4-BE49-F238E27FC236}">
                <a16:creationId xmlns:a16="http://schemas.microsoft.com/office/drawing/2014/main" id="{7A6D9E0E-6A81-455F-8FC2-DF3B09777779}"/>
              </a:ext>
            </a:extLst>
          </p:cNvPr>
          <p:cNvSpPr txBox="1"/>
          <p:nvPr/>
        </p:nvSpPr>
        <p:spPr>
          <a:xfrm>
            <a:off x="636002" y="77784"/>
            <a:ext cx="8324974" cy="461665"/>
          </a:xfrm>
          <a:prstGeom prst="rect">
            <a:avLst/>
          </a:prstGeom>
          <a:solidFill>
            <a:schemeClr val="bg1"/>
          </a:solidFill>
        </p:spPr>
        <p:txBody>
          <a:bodyPr wrap="square">
            <a:spAutoFit/>
          </a:bodyPr>
          <a:lstStyle>
            <a:defPPr>
              <a:defRPr lang="zh-CN"/>
            </a:defPPr>
            <a:lvl1pPr>
              <a:lnSpc>
                <a:spcPct val="150000"/>
              </a:lnSpc>
              <a:defRPr sz="3200">
                <a:solidFill>
                  <a:srgbClr val="002060"/>
                </a:solidFill>
                <a:latin typeface="华文楷体" panose="02010600040101010101" pitchFamily="2" charset="-122"/>
                <a:ea typeface="华文楷体" panose="02010600040101010101" pitchFamily="2" charset="-122"/>
              </a:defRPr>
            </a:lvl1pPr>
          </a:lstStyle>
          <a:p>
            <a:pPr>
              <a:lnSpc>
                <a:spcPct val="100000"/>
              </a:lnSpc>
            </a:pPr>
            <a:r>
              <a:rPr lang="en-US" altLang="zh-CN" sz="2400" b="0" dirty="0">
                <a:solidFill>
                  <a:srgbClr val="002060"/>
                </a:solidFill>
                <a:latin typeface="华文楷体" panose="02010600040101010101" pitchFamily="2" charset="-122"/>
                <a:ea typeface="华文楷体" panose="02010600040101010101" pitchFamily="2" charset="-122"/>
              </a:rPr>
              <a:t>§8.4.2 </a:t>
            </a:r>
            <a:r>
              <a:rPr lang="zh-CN" altLang="en-US" sz="2400" kern="0" dirty="0"/>
              <a:t>多元</a:t>
            </a:r>
            <a:r>
              <a:rPr lang="zh-CN" altLang="en-US" sz="2400" dirty="0"/>
              <a:t>函数无约束最</a:t>
            </a:r>
            <a:r>
              <a:rPr lang="en-US" altLang="ko-KR" sz="2400" dirty="0" err="1"/>
              <a:t>小值</a:t>
            </a:r>
            <a:r>
              <a:rPr lang="en-US" altLang="zh-CN" sz="2400" kern="0" dirty="0">
                <a:solidFill>
                  <a:srgbClr val="FF0000"/>
                </a:solidFill>
              </a:rPr>
              <a:t> </a:t>
            </a:r>
            <a:r>
              <a:rPr lang="en-US" altLang="zh-CN" sz="2400" b="0" dirty="0" err="1">
                <a:solidFill>
                  <a:srgbClr val="FF0000"/>
                </a:solidFill>
                <a:latin typeface="华文楷体" panose="02010600040101010101" pitchFamily="2" charset="-122"/>
                <a:ea typeface="华文楷体" panose="02010600040101010101" pitchFamily="2" charset="-122"/>
              </a:rPr>
              <a:t>fminunc</a:t>
            </a:r>
            <a:r>
              <a:rPr lang="en-US" altLang="zh-CN" sz="2400" kern="0" dirty="0">
                <a:solidFill>
                  <a:srgbClr val="FF0000"/>
                </a:solidFill>
              </a:rPr>
              <a:t>——</a:t>
            </a:r>
            <a:r>
              <a:rPr lang="zh-CN" altLang="en-US" sz="2400" kern="0" dirty="0">
                <a:solidFill>
                  <a:srgbClr val="FF0000"/>
                </a:solidFill>
              </a:rPr>
              <a:t>城市垃圾站设计</a:t>
            </a:r>
            <a:endParaRPr lang="zh-CN" altLang="en-US" sz="2400" dirty="0"/>
          </a:p>
        </p:txBody>
      </p:sp>
      <p:sp>
        <p:nvSpPr>
          <p:cNvPr id="11" name="文本框 10">
            <a:extLst>
              <a:ext uri="{FF2B5EF4-FFF2-40B4-BE49-F238E27FC236}">
                <a16:creationId xmlns:a16="http://schemas.microsoft.com/office/drawing/2014/main" id="{6688F85C-3D29-4957-97BA-AB4DC3A177F0}"/>
              </a:ext>
            </a:extLst>
          </p:cNvPr>
          <p:cNvSpPr txBox="1"/>
          <p:nvPr/>
        </p:nvSpPr>
        <p:spPr>
          <a:xfrm>
            <a:off x="1352104" y="3086682"/>
            <a:ext cx="6205168" cy="1200329"/>
          </a:xfrm>
          <a:prstGeom prst="rect">
            <a:avLst/>
          </a:prstGeom>
          <a:noFill/>
        </p:spPr>
        <p:txBody>
          <a:bodyPr wrap="square">
            <a:spAutoFit/>
          </a:bodyPr>
          <a:lstStyle/>
          <a:p>
            <a:r>
              <a:rPr lang="zh-CN" altLang="en-US" dirty="0">
                <a:solidFill>
                  <a:srgbClr val="FF0000"/>
                </a:solidFill>
              </a:rPr>
              <a:t>垃圾站位置xy=[4.970551284061955, 7.319154915280072]</a:t>
            </a:r>
          </a:p>
          <a:p>
            <a:r>
              <a:rPr lang="zh-CN" altLang="en-US" dirty="0">
                <a:solidFill>
                  <a:srgbClr val="FF0000"/>
                </a:solidFill>
              </a:rPr>
              <a:t>最小路程wmin=77.20962750867349</a:t>
            </a:r>
            <a:endParaRPr lang="en-US" altLang="zh-CN" dirty="0">
              <a:solidFill>
                <a:srgbClr val="FF0000"/>
              </a:solidFill>
            </a:endParaRPr>
          </a:p>
          <a:p>
            <a:r>
              <a:rPr lang="zh-CN" altLang="en-US" dirty="0">
                <a:solidFill>
                  <a:srgbClr val="FF0000"/>
                </a:solidFill>
              </a:rPr>
              <a:t>退出标志</a:t>
            </a:r>
            <a:r>
              <a:rPr lang="en-US" altLang="zh-CN" dirty="0">
                <a:solidFill>
                  <a:srgbClr val="FF0000"/>
                </a:solidFill>
              </a:rPr>
              <a:t>exist=1 </a:t>
            </a:r>
            <a:r>
              <a:rPr lang="zh-CN" altLang="en-US" dirty="0">
                <a:solidFill>
                  <a:srgbClr val="FF0000"/>
                </a:solidFill>
              </a:rPr>
              <a:t>表示收敛</a:t>
            </a:r>
          </a:p>
          <a:p>
            <a:endParaRPr lang="zh-CN" altLang="en-US" dirty="0">
              <a:solidFill>
                <a:srgbClr val="FF0000"/>
              </a:solidFill>
            </a:endParaRPr>
          </a:p>
        </p:txBody>
      </p:sp>
      <p:sp>
        <p:nvSpPr>
          <p:cNvPr id="10" name="文本框 9">
            <a:extLst>
              <a:ext uri="{FF2B5EF4-FFF2-40B4-BE49-F238E27FC236}">
                <a16:creationId xmlns:a16="http://schemas.microsoft.com/office/drawing/2014/main" id="{9F4F2F5A-5140-4948-9093-5E59F18ABBB8}"/>
              </a:ext>
            </a:extLst>
          </p:cNvPr>
          <p:cNvSpPr txBox="1"/>
          <p:nvPr/>
        </p:nvSpPr>
        <p:spPr>
          <a:xfrm>
            <a:off x="4651029" y="2037042"/>
            <a:ext cx="4320480" cy="830997"/>
          </a:xfrm>
          <a:prstGeom prst="rect">
            <a:avLst/>
          </a:prstGeom>
          <a:noFill/>
          <a:ln>
            <a:solidFill>
              <a:schemeClr val="bg1">
                <a:lumMod val="65000"/>
              </a:schemeClr>
            </a:solidFill>
          </a:ln>
        </p:spPr>
        <p:txBody>
          <a:bodyPr wrap="square">
            <a:spAutoFit/>
          </a:bodyPr>
          <a:lstStyle/>
          <a:p>
            <a:r>
              <a:rPr lang="zh-CN" altLang="en-US" sz="1200" dirty="0"/>
              <a:t>julia&gt; println("垃圾站位置xy=$xy")  #显示极值点</a:t>
            </a:r>
          </a:p>
          <a:p>
            <a:r>
              <a:rPr lang="zh-CN" altLang="en-US" sz="1200" dirty="0"/>
              <a:t>垃圾站位置xy=[4.970550991099072, 7.319155243095875]        </a:t>
            </a:r>
          </a:p>
          <a:p>
            <a:r>
              <a:rPr lang="zh-CN" altLang="en-US" sz="1200" dirty="0"/>
              <a:t>julia&gt; println("最小路程wmin=$wmin")  #显示最小值</a:t>
            </a:r>
          </a:p>
          <a:p>
            <a:r>
              <a:rPr lang="zh-CN" altLang="en-US" sz="1200" dirty="0"/>
              <a:t>最小路程wmin=77.20962750867228</a:t>
            </a:r>
          </a:p>
        </p:txBody>
      </p:sp>
      <p:sp>
        <p:nvSpPr>
          <p:cNvPr id="12" name="波形 11">
            <a:extLst>
              <a:ext uri="{FF2B5EF4-FFF2-40B4-BE49-F238E27FC236}">
                <a16:creationId xmlns:a16="http://schemas.microsoft.com/office/drawing/2014/main" id="{3F1B25A1-1B08-4E14-971A-A9B5DC68BE1D}"/>
              </a:ext>
            </a:extLst>
          </p:cNvPr>
          <p:cNvSpPr/>
          <p:nvPr/>
        </p:nvSpPr>
        <p:spPr>
          <a:xfrm>
            <a:off x="196253" y="777800"/>
            <a:ext cx="817360" cy="33483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charset="-122"/>
                <a:ea typeface="微软雅黑" panose="020B0503020204020204" charset="-122"/>
              </a:rPr>
              <a:t>例84-5</a:t>
            </a:r>
            <a:endParaRPr lang="ko-KR" altLang="en-US" sz="1600" b="1" dirty="0">
              <a:solidFill>
                <a:srgbClr val="FFFF00"/>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37993206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A67B8FF4-1AA7-4CEB-9D87-3AE41A80D29C}"/>
              </a:ext>
            </a:extLst>
          </p:cNvPr>
          <p:cNvSpPr txBox="1">
            <a:spLocks/>
          </p:cNvSpPr>
          <p:nvPr/>
        </p:nvSpPr>
        <p:spPr>
          <a:xfrm>
            <a:off x="468136" y="152271"/>
            <a:ext cx="8450848" cy="438150"/>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400" b="0" dirty="0">
                <a:solidFill>
                  <a:srgbClr val="002060"/>
                </a:solidFill>
                <a:latin typeface="华文楷体" panose="02010600040101010101" pitchFamily="2" charset="-122"/>
                <a:ea typeface="华文楷体" panose="02010600040101010101" pitchFamily="2" charset="-122"/>
              </a:rPr>
              <a:t>§8.4.3 </a:t>
            </a:r>
            <a:r>
              <a:rPr lang="zh-CN" altLang="en-US" sz="2400" b="0" dirty="0">
                <a:solidFill>
                  <a:srgbClr val="002060"/>
                </a:solidFill>
                <a:latin typeface="华文楷体" panose="02010600040101010101" pitchFamily="2" charset="-122"/>
                <a:ea typeface="华文楷体" panose="02010600040101010101" pitchFamily="2" charset="-122"/>
              </a:rPr>
              <a:t>多元函数</a:t>
            </a:r>
            <a:r>
              <a:rPr lang="zh-CN" altLang="en-US" sz="2400" b="0" kern="0" dirty="0">
                <a:solidFill>
                  <a:srgbClr val="002060"/>
                </a:solidFill>
                <a:latin typeface="华文楷体" panose="02010600040101010101" pitchFamily="2" charset="-122"/>
                <a:ea typeface="华文楷体" panose="02010600040101010101" pitchFamily="2" charset="-122"/>
              </a:rPr>
              <a:t>有约束的</a:t>
            </a:r>
            <a:r>
              <a:rPr lang="zh-CN" altLang="en-US" sz="2400" b="0" dirty="0">
                <a:solidFill>
                  <a:srgbClr val="002060"/>
                </a:solidFill>
                <a:latin typeface="华文楷体" panose="02010600040101010101" pitchFamily="2" charset="-122"/>
                <a:ea typeface="华文楷体" panose="02010600040101010101" pitchFamily="2" charset="-122"/>
              </a:rPr>
              <a:t>最</a:t>
            </a:r>
            <a:r>
              <a:rPr lang="en-US" altLang="ko-KR" sz="2400" b="0" dirty="0" err="1">
                <a:solidFill>
                  <a:srgbClr val="002060"/>
                </a:solidFill>
                <a:latin typeface="华文楷体" panose="02010600040101010101" pitchFamily="2" charset="-122"/>
                <a:ea typeface="华文楷体" panose="02010600040101010101" pitchFamily="2" charset="-122"/>
              </a:rPr>
              <a:t>小值</a:t>
            </a:r>
            <a:r>
              <a:rPr lang="en-US" altLang="zh-CN" sz="2400" b="0" dirty="0" err="1">
                <a:solidFill>
                  <a:srgbClr val="FF0000"/>
                </a:solidFill>
                <a:latin typeface="华文楷体" panose="02010600040101010101" pitchFamily="2" charset="-122"/>
                <a:ea typeface="华文楷体" panose="02010600040101010101" pitchFamily="2" charset="-122"/>
              </a:rPr>
              <a:t>fmincon</a:t>
            </a:r>
            <a:r>
              <a:rPr lang="en-US" altLang="zh-CN" sz="2600" b="0" kern="0" dirty="0">
                <a:solidFill>
                  <a:srgbClr val="FF0000"/>
                </a:solidFill>
                <a:latin typeface="华文楷体" panose="02010600040101010101" pitchFamily="2" charset="-122"/>
                <a:ea typeface="华文楷体" panose="02010600040101010101" pitchFamily="2" charset="-122"/>
              </a:rPr>
              <a:t>——</a:t>
            </a:r>
            <a:r>
              <a:rPr lang="zh-CN" altLang="en-US" sz="2600" b="0" kern="0" dirty="0">
                <a:solidFill>
                  <a:srgbClr val="FF0000"/>
                </a:solidFill>
                <a:latin typeface="华文楷体" panose="02010600040101010101" pitchFamily="2" charset="-122"/>
                <a:ea typeface="华文楷体" panose="02010600040101010101" pitchFamily="2" charset="-122"/>
              </a:rPr>
              <a:t>非线性问题描述</a:t>
            </a:r>
          </a:p>
        </p:txBody>
      </p:sp>
      <p:sp>
        <p:nvSpPr>
          <p:cNvPr id="2" name="Rectangle 1">
            <a:extLst>
              <a:ext uri="{FF2B5EF4-FFF2-40B4-BE49-F238E27FC236}">
                <a16:creationId xmlns:a16="http://schemas.microsoft.com/office/drawing/2014/main" id="{E43B1EF1-577F-4BB7-BD7A-715F47583D9C}"/>
              </a:ext>
            </a:extLst>
          </p:cNvPr>
          <p:cNvSpPr>
            <a:spLocks noChangeArrowheads="1"/>
          </p:cNvSpPr>
          <p:nvPr/>
        </p:nvSpPr>
        <p:spPr bwMode="auto">
          <a:xfrm>
            <a:off x="0" y="151656"/>
            <a:ext cx="64120"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0000"/>
                </a:solidFill>
                <a:effectLst/>
                <a:latin typeface="Arial Unicode MS"/>
                <a:ea typeface="source-code-pro"/>
              </a:rPr>
              <a:t>x</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8" name="矩形 1">
            <a:extLst>
              <a:ext uri="{FF2B5EF4-FFF2-40B4-BE49-F238E27FC236}">
                <a16:creationId xmlns:a16="http://schemas.microsoft.com/office/drawing/2014/main" id="{6A9FA785-515C-4A97-893A-ED027F70AB3F}"/>
              </a:ext>
            </a:extLst>
          </p:cNvPr>
          <p:cNvSpPr/>
          <p:nvPr/>
        </p:nvSpPr>
        <p:spPr bwMode="auto">
          <a:xfrm>
            <a:off x="107504" y="1122989"/>
            <a:ext cx="2997715" cy="369332"/>
          </a:xfrm>
          <a:prstGeom prst="rect">
            <a:avLst/>
          </a:prstGeom>
          <a:solidFill>
            <a:schemeClr val="bg1"/>
          </a:solidFill>
        </p:spPr>
        <p:txBody>
          <a:bodyPr vert="horz" wrap="square" lIns="91440" tIns="45720" rIns="91440" bIns="45720" numCol="1" anchor="t">
            <a:spAutoFit/>
          </a:bodyPr>
          <a:lstStyle/>
          <a:p>
            <a:pPr eaLnBrk="0">
              <a:spcBef>
                <a:spcPts val="800"/>
              </a:spcBef>
              <a:spcAft>
                <a:spcPts val="0"/>
              </a:spcAft>
              <a:buClr>
                <a:srgbClr val="002060"/>
              </a:buClr>
            </a:pPr>
            <a:r>
              <a:rPr lang="en-US" altLang="zh-CN" b="1" dirty="0">
                <a:solidFill>
                  <a:srgbClr val="0070C0"/>
                </a:solidFill>
                <a:latin typeface="微软雅黑" panose="020B0503020204020204" pitchFamily="34" charset="-122"/>
                <a:ea typeface="微软雅黑" panose="020B0503020204020204" pitchFamily="34" charset="-122"/>
              </a:rPr>
              <a:t>1</a:t>
            </a:r>
            <a:r>
              <a:rPr lang="zh-CN" altLang="en-US" b="1" dirty="0">
                <a:solidFill>
                  <a:srgbClr val="0070C0"/>
                </a:solidFill>
                <a:latin typeface="微软雅黑" panose="020B0503020204020204" pitchFamily="34" charset="-122"/>
                <a:ea typeface="微软雅黑" panose="020B0503020204020204" pitchFamily="34" charset="-122"/>
              </a:rPr>
              <a:t>、有约束最小值问题描述</a:t>
            </a:r>
            <a:r>
              <a:rPr lang="zh-CN" altLang="en-US"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en-US"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 name="矩形 19">
            <a:extLst>
              <a:ext uri="{FF2B5EF4-FFF2-40B4-BE49-F238E27FC236}">
                <a16:creationId xmlns:a16="http://schemas.microsoft.com/office/drawing/2014/main" id="{C37FE393-51FB-404C-BC14-91D1ADEDFDE1}"/>
              </a:ext>
            </a:extLst>
          </p:cNvPr>
          <p:cNvSpPr/>
          <p:nvPr/>
        </p:nvSpPr>
        <p:spPr>
          <a:xfrm>
            <a:off x="3531905" y="1106621"/>
            <a:ext cx="1875377" cy="338554"/>
          </a:xfrm>
          <a:prstGeom prst="rect">
            <a:avLst/>
          </a:prstGeom>
        </p:spPr>
        <p:txBody>
          <a:bodyPr wrap="square">
            <a:spAutoFit/>
          </a:bodyPr>
          <a:lstStyle/>
          <a:p>
            <a:r>
              <a:rPr lang="zh-CN" altLang="en-US" sz="1600" dirty="0">
                <a:solidFill>
                  <a:srgbClr val="00B0F0"/>
                </a:solidFill>
                <a:latin typeface="微软雅黑" panose="020B0503020204020204" pitchFamily="34" charset="-122"/>
                <a:ea typeface="微软雅黑" panose="020B0503020204020204" pitchFamily="34" charset="-122"/>
              </a:rPr>
              <a:t>约束条件细分</a:t>
            </a:r>
            <a:r>
              <a:rPr lang="zh-CN" altLang="en-US" sz="1600" dirty="0">
                <a:solidFill>
                  <a:srgbClr val="002060"/>
                </a:solidFill>
                <a:latin typeface="华文楷体" panose="02010600040101010101" pitchFamily="2" charset="-122"/>
                <a:ea typeface="华文楷体" panose="02010600040101010101" pitchFamily="2" charset="-122"/>
                <a:cs typeface="Times New Roman" panose="02020603050405020304" pitchFamily="18" charset="0"/>
              </a:rPr>
              <a:t>：</a:t>
            </a:r>
          </a:p>
        </p:txBody>
      </p:sp>
      <p:sp>
        <p:nvSpPr>
          <p:cNvPr id="23" name="文本框 22">
            <a:extLst>
              <a:ext uri="{FF2B5EF4-FFF2-40B4-BE49-F238E27FC236}">
                <a16:creationId xmlns:a16="http://schemas.microsoft.com/office/drawing/2014/main" id="{F13AAA70-8FFD-48FE-A9A9-58431171369D}"/>
              </a:ext>
            </a:extLst>
          </p:cNvPr>
          <p:cNvSpPr txBox="1"/>
          <p:nvPr/>
        </p:nvSpPr>
        <p:spPr>
          <a:xfrm>
            <a:off x="130142" y="2775508"/>
            <a:ext cx="8403459" cy="1169551"/>
          </a:xfrm>
          <a:prstGeom prst="rect">
            <a:avLst/>
          </a:prstGeom>
          <a:noFill/>
          <a:ln>
            <a:solidFill>
              <a:schemeClr val="bg1">
                <a:lumMod val="95000"/>
              </a:schemeClr>
            </a:solidFill>
          </a:ln>
        </p:spPr>
        <p:txBody>
          <a:bodyPr wrap="square">
            <a:spAutoFit/>
          </a:bodyPr>
          <a:lstStyle/>
          <a:p>
            <a:pPr marL="285750" indent="-285750">
              <a:buFont typeface="Wingdings" panose="05000000000000000000" pitchFamily="2" charset="2"/>
              <a:buChar char="Ø"/>
            </a:pPr>
            <a:r>
              <a:rPr lang="zh-CN" altLang="en-US" sz="1400" b="0" i="0" dirty="0">
                <a:solidFill>
                  <a:srgbClr val="002060"/>
                </a:solidFill>
                <a:effectLst/>
                <a:latin typeface="华文楷体" panose="02010600040101010101" pitchFamily="2" charset="-122"/>
                <a:ea typeface="华文楷体" panose="02010600040101010101" pitchFamily="2" charset="-122"/>
              </a:rPr>
              <a:t>线性不等式约束：</a:t>
            </a:r>
            <a:r>
              <a:rPr lang="en-US" altLang="zh-CN" sz="1400" b="0" i="0" dirty="0">
                <a:solidFill>
                  <a:srgbClr val="002060"/>
                </a:solidFill>
                <a:effectLst/>
                <a:latin typeface="华文楷体" panose="02010600040101010101" pitchFamily="2" charset="-122"/>
                <a:ea typeface="华文楷体" panose="02010600040101010101" pitchFamily="2" charset="-122"/>
              </a:rPr>
              <a:t>A*x &lt;= b</a:t>
            </a:r>
            <a:r>
              <a:rPr lang="zh-CN" altLang="en-US" sz="1400" b="0" i="0" dirty="0">
                <a:solidFill>
                  <a:srgbClr val="002060"/>
                </a:solidFill>
                <a:effectLst/>
                <a:latin typeface="华文楷体" panose="02010600040101010101" pitchFamily="2" charset="-122"/>
                <a:ea typeface="华文楷体" panose="02010600040101010101" pitchFamily="2" charset="-122"/>
              </a:rPr>
              <a:t>，</a:t>
            </a:r>
            <a:endParaRPr lang="en-US" altLang="zh-CN" sz="1400" b="0" i="0" dirty="0">
              <a:solidFill>
                <a:srgbClr val="002060"/>
              </a:solidFill>
              <a:effectLst/>
              <a:latin typeface="华文楷体" panose="02010600040101010101" pitchFamily="2" charset="-122"/>
              <a:ea typeface="华文楷体" panose="02010600040101010101" pitchFamily="2" charset="-122"/>
            </a:endParaRPr>
          </a:p>
          <a:p>
            <a:r>
              <a:rPr lang="zh-CN" altLang="en-US" sz="1400" dirty="0">
                <a:solidFill>
                  <a:srgbClr val="002060"/>
                </a:solidFill>
                <a:latin typeface="华文楷体" panose="02010600040101010101" pitchFamily="2" charset="-122"/>
                <a:ea typeface="华文楷体" panose="02010600040101010101" pitchFamily="2" charset="-122"/>
              </a:rPr>
              <a:t>     矩阵</a:t>
            </a:r>
            <a:r>
              <a:rPr lang="en-US" altLang="zh-CN" sz="1400" dirty="0">
                <a:solidFill>
                  <a:srgbClr val="002060"/>
                </a:solidFill>
                <a:latin typeface="华文楷体" panose="02010600040101010101" pitchFamily="2" charset="-122"/>
                <a:ea typeface="华文楷体" panose="02010600040101010101" pitchFamily="2" charset="-122"/>
              </a:rPr>
              <a:t>A </a:t>
            </a:r>
            <a:r>
              <a:rPr lang="zh-CN" altLang="en-US" sz="1400" dirty="0">
                <a:solidFill>
                  <a:srgbClr val="002060"/>
                </a:solidFill>
                <a:latin typeface="华文楷体" panose="02010600040101010101" pitchFamily="2" charset="-122"/>
                <a:ea typeface="华文楷体" panose="02010600040101010101" pitchFamily="2" charset="-122"/>
              </a:rPr>
              <a:t>，向量</a:t>
            </a:r>
            <a:r>
              <a:rPr lang="en-US" altLang="zh-CN" sz="1400" b="0" i="0" dirty="0">
                <a:solidFill>
                  <a:srgbClr val="002060"/>
                </a:solidFill>
                <a:effectLst/>
                <a:latin typeface="华文楷体" panose="02010600040101010101" pitchFamily="2" charset="-122"/>
                <a:ea typeface="华文楷体" panose="02010600040101010101" pitchFamily="2" charset="-122"/>
              </a:rPr>
              <a:t>b </a:t>
            </a:r>
            <a:r>
              <a:rPr lang="zh-CN" altLang="en-US" sz="1400" b="0" i="0" dirty="0">
                <a:solidFill>
                  <a:srgbClr val="002060"/>
                </a:solidFill>
                <a:effectLst/>
                <a:latin typeface="华文楷体" panose="02010600040101010101" pitchFamily="2" charset="-122"/>
                <a:ea typeface="华文楷体" panose="02010600040101010101" pitchFamily="2" charset="-122"/>
              </a:rPr>
              <a:t>，</a:t>
            </a:r>
            <a:endParaRPr lang="en-US" altLang="zh-CN" sz="1400" dirty="0">
              <a:solidFill>
                <a:srgbClr val="002060"/>
              </a:solidFill>
              <a:latin typeface="华文楷体" panose="02010600040101010101" pitchFamily="2" charset="-122"/>
              <a:ea typeface="华文楷体" panose="02010600040101010101" pitchFamily="2" charset="-122"/>
            </a:endParaRPr>
          </a:p>
          <a:p>
            <a:pPr marL="285750" indent="-285750">
              <a:buFont typeface="Wingdings" panose="05000000000000000000" pitchFamily="2" charset="2"/>
              <a:buChar char="Ø"/>
            </a:pPr>
            <a:r>
              <a:rPr lang="zh-CN" altLang="en-US" sz="1400" b="0" i="0" dirty="0">
                <a:solidFill>
                  <a:srgbClr val="002060"/>
                </a:solidFill>
                <a:effectLst/>
                <a:latin typeface="华文楷体" panose="02010600040101010101" pitchFamily="2" charset="-122"/>
                <a:ea typeface="华文楷体" panose="02010600040101010101" pitchFamily="2" charset="-122"/>
              </a:rPr>
              <a:t>线性等式约束 </a:t>
            </a:r>
            <a:r>
              <a:rPr lang="en-US" altLang="zh-CN" sz="1400" b="0" i="0" dirty="0" err="1">
                <a:solidFill>
                  <a:srgbClr val="002060"/>
                </a:solidFill>
                <a:effectLst/>
                <a:latin typeface="华文楷体" panose="02010600040101010101" pitchFamily="2" charset="-122"/>
                <a:ea typeface="华文楷体" panose="02010600040101010101" pitchFamily="2" charset="-122"/>
              </a:rPr>
              <a:t>Aeq</a:t>
            </a:r>
            <a:r>
              <a:rPr lang="en-US" altLang="zh-CN" sz="1400" b="0" i="0" dirty="0">
                <a:solidFill>
                  <a:srgbClr val="002060"/>
                </a:solidFill>
                <a:effectLst/>
                <a:latin typeface="华文楷体" panose="02010600040101010101" pitchFamily="2" charset="-122"/>
                <a:ea typeface="华文楷体" panose="02010600040101010101" pitchFamily="2" charset="-122"/>
              </a:rPr>
              <a:t>*x = </a:t>
            </a:r>
            <a:r>
              <a:rPr lang="en-US" altLang="zh-CN" sz="1400" b="0" i="0" u="none" strike="noStrike" dirty="0" err="1">
                <a:solidFill>
                  <a:srgbClr val="002060"/>
                </a:solidFill>
                <a:effectLst/>
                <a:latin typeface="华文楷体" panose="02010600040101010101" pitchFamily="2" charset="-122"/>
                <a:ea typeface="华文楷体" panose="02010600040101010101" pitchFamily="2" charset="-122"/>
                <a:hlinkClick r:id="rId3" action="ppaction://hlinkfile">
                  <a:extLst>
                    <a:ext uri="{A12FA001-AC4F-418D-AE19-62706E023703}">
                      <ahyp:hlinkClr xmlns:ahyp="http://schemas.microsoft.com/office/drawing/2018/hyperlinkcolor" val="tx"/>
                    </a:ext>
                  </a:extLst>
                </a:hlinkClick>
              </a:rPr>
              <a:t>beq</a:t>
            </a:r>
            <a:r>
              <a:rPr lang="zh-CN" altLang="en-US" sz="1400" b="0" i="0" u="none" strike="noStrike" dirty="0">
                <a:solidFill>
                  <a:srgbClr val="002060"/>
                </a:solidFill>
                <a:effectLst/>
                <a:latin typeface="华文楷体" panose="02010600040101010101" pitchFamily="2" charset="-122"/>
                <a:ea typeface="华文楷体" panose="02010600040101010101" pitchFamily="2" charset="-122"/>
              </a:rPr>
              <a:t>，</a:t>
            </a:r>
            <a:endParaRPr lang="en-US" altLang="zh-CN" sz="1400" b="0" i="0" u="none" strike="noStrike" dirty="0">
              <a:solidFill>
                <a:srgbClr val="002060"/>
              </a:solidFill>
              <a:effectLst/>
              <a:latin typeface="华文楷体" panose="02010600040101010101" pitchFamily="2" charset="-122"/>
              <a:ea typeface="华文楷体" panose="02010600040101010101" pitchFamily="2" charset="-122"/>
            </a:endParaRPr>
          </a:p>
          <a:p>
            <a:r>
              <a:rPr lang="en-US" altLang="zh-CN" sz="1400" dirty="0">
                <a:solidFill>
                  <a:srgbClr val="002060"/>
                </a:solidFill>
                <a:latin typeface="华文楷体" panose="02010600040101010101" pitchFamily="2" charset="-122"/>
                <a:ea typeface="华文楷体" panose="02010600040101010101" pitchFamily="2" charset="-122"/>
              </a:rPr>
              <a:t>    </a:t>
            </a:r>
            <a:r>
              <a:rPr lang="zh-CN" altLang="en-US" sz="1400" dirty="0">
                <a:solidFill>
                  <a:srgbClr val="002060"/>
                </a:solidFill>
                <a:latin typeface="华文楷体" panose="02010600040101010101" pitchFamily="2" charset="-122"/>
                <a:ea typeface="华文楷体" panose="02010600040101010101" pitchFamily="2" charset="-122"/>
              </a:rPr>
              <a:t>矩阵</a:t>
            </a:r>
            <a:r>
              <a:rPr lang="en-US" altLang="zh-CN" sz="1400" dirty="0" err="1">
                <a:solidFill>
                  <a:srgbClr val="002060"/>
                </a:solidFill>
                <a:latin typeface="华文楷体" panose="02010600040101010101" pitchFamily="2" charset="-122"/>
                <a:ea typeface="华文楷体" panose="02010600040101010101" pitchFamily="2" charset="-122"/>
              </a:rPr>
              <a:t>Aeq</a:t>
            </a:r>
            <a:r>
              <a:rPr lang="en-US" altLang="zh-CN" sz="1400" dirty="0">
                <a:solidFill>
                  <a:srgbClr val="002060"/>
                </a:solidFill>
                <a:latin typeface="华文楷体" panose="02010600040101010101" pitchFamily="2" charset="-122"/>
                <a:ea typeface="华文楷体" panose="02010600040101010101" pitchFamily="2" charset="-122"/>
              </a:rPr>
              <a:t> </a:t>
            </a:r>
            <a:r>
              <a:rPr lang="zh-CN" altLang="en-US" sz="1400" dirty="0">
                <a:solidFill>
                  <a:srgbClr val="002060"/>
                </a:solidFill>
                <a:latin typeface="华文楷体" panose="02010600040101010101" pitchFamily="2" charset="-122"/>
                <a:ea typeface="华文楷体" panose="02010600040101010101" pitchFamily="2" charset="-122"/>
              </a:rPr>
              <a:t>，</a:t>
            </a:r>
            <a:r>
              <a:rPr lang="en-US" altLang="zh-CN" sz="1400" b="0" i="0" dirty="0" err="1">
                <a:solidFill>
                  <a:srgbClr val="002060"/>
                </a:solidFill>
                <a:effectLst/>
                <a:latin typeface="华文楷体" panose="02010600040101010101" pitchFamily="2" charset="-122"/>
                <a:ea typeface="华文楷体" panose="02010600040101010101" pitchFamily="2" charset="-122"/>
              </a:rPr>
              <a:t>beq</a:t>
            </a:r>
            <a:r>
              <a:rPr lang="zh-CN" altLang="en-US" sz="1400" b="0" i="0" dirty="0">
                <a:solidFill>
                  <a:srgbClr val="002060"/>
                </a:solidFill>
                <a:effectLst/>
                <a:latin typeface="华文楷体" panose="02010600040101010101" pitchFamily="2" charset="-122"/>
                <a:ea typeface="华文楷体" panose="02010600040101010101" pitchFamily="2" charset="-122"/>
              </a:rPr>
              <a:t>向量</a:t>
            </a:r>
            <a:endParaRPr lang="en-US" altLang="zh-CN" sz="1400" b="0" i="0" dirty="0">
              <a:solidFill>
                <a:srgbClr val="002060"/>
              </a:solidFill>
              <a:effectLst/>
              <a:latin typeface="华文楷体" panose="02010600040101010101" pitchFamily="2" charset="-122"/>
              <a:ea typeface="华文楷体" panose="02010600040101010101" pitchFamily="2" charset="-122"/>
            </a:endParaRPr>
          </a:p>
          <a:p>
            <a:pPr marL="285750" indent="-285750">
              <a:buFont typeface="Wingdings" panose="05000000000000000000" pitchFamily="2" charset="2"/>
              <a:buChar char="Ø"/>
            </a:pPr>
            <a:r>
              <a:rPr lang="zh-CN" altLang="en-US" sz="1400" b="0" i="0" dirty="0">
                <a:solidFill>
                  <a:srgbClr val="002060"/>
                </a:solidFill>
                <a:effectLst/>
                <a:latin typeface="华文楷体" panose="02010600040101010101" pitchFamily="2" charset="-122"/>
                <a:ea typeface="华文楷体" panose="02010600040101010101" pitchFamily="2" charset="-122"/>
              </a:rPr>
              <a:t>边界约束</a:t>
            </a:r>
            <a:r>
              <a:rPr lang="en-US" altLang="zh-CN" sz="1400" b="0" i="0" u="none" strike="noStrike" dirty="0" err="1">
                <a:solidFill>
                  <a:srgbClr val="002060"/>
                </a:solidFill>
                <a:effectLst/>
                <a:latin typeface="华文楷体" panose="02010600040101010101" pitchFamily="2" charset="-122"/>
                <a:ea typeface="华文楷体" panose="02010600040101010101" pitchFamily="2" charset="-122"/>
                <a:hlinkClick r:id="rId4" action="ppaction://hlinkfile">
                  <a:extLst>
                    <a:ext uri="{A12FA001-AC4F-418D-AE19-62706E023703}">
                      <ahyp:hlinkClr xmlns:ahyp="http://schemas.microsoft.com/office/drawing/2018/hyperlinkcolor" val="tx"/>
                    </a:ext>
                  </a:extLst>
                </a:hlinkClick>
              </a:rPr>
              <a:t>lb</a:t>
            </a:r>
            <a:r>
              <a:rPr lang="en-US" altLang="zh-CN" sz="1400" b="0" i="0" dirty="0">
                <a:solidFill>
                  <a:srgbClr val="002060"/>
                </a:solidFill>
                <a:effectLst/>
                <a:latin typeface="华文楷体" panose="02010600040101010101" pitchFamily="2" charset="-122"/>
                <a:ea typeface="华文楷体" panose="02010600040101010101" pitchFamily="2" charset="-122"/>
              </a:rPr>
              <a:t> ≤ x ≤ </a:t>
            </a:r>
            <a:r>
              <a:rPr lang="en-US" altLang="zh-CN" sz="1400" b="0" i="0" u="none" strike="noStrike" dirty="0" err="1">
                <a:solidFill>
                  <a:srgbClr val="002060"/>
                </a:solidFill>
                <a:effectLst/>
                <a:latin typeface="华文楷体" panose="02010600040101010101" pitchFamily="2" charset="-122"/>
                <a:ea typeface="华文楷体" panose="02010600040101010101" pitchFamily="2" charset="-122"/>
                <a:hlinkClick r:id="rId5" action="ppaction://hlinkfile">
                  <a:extLst>
                    <a:ext uri="{A12FA001-AC4F-418D-AE19-62706E023703}">
                      <ahyp:hlinkClr xmlns:ahyp="http://schemas.microsoft.com/office/drawing/2018/hyperlinkcolor" val="tx"/>
                    </a:ext>
                  </a:extLst>
                </a:hlinkClick>
              </a:rPr>
              <a:t>ub</a:t>
            </a:r>
            <a:r>
              <a:rPr lang="en-US" altLang="zh-CN" sz="1400" b="0" i="0" dirty="0">
                <a:solidFill>
                  <a:srgbClr val="002060"/>
                </a:solidFill>
                <a:effectLst/>
                <a:latin typeface="华文楷体" panose="02010600040101010101" pitchFamily="2" charset="-122"/>
                <a:ea typeface="华文楷体" panose="02010600040101010101" pitchFamily="2" charset="-122"/>
              </a:rPr>
              <a:t> </a:t>
            </a:r>
            <a:r>
              <a:rPr lang="zh-CN" altLang="en-US" sz="1400" b="0" i="0" dirty="0">
                <a:solidFill>
                  <a:srgbClr val="002060"/>
                </a:solidFill>
                <a:effectLst/>
                <a:latin typeface="华文楷体" panose="02010600040101010101" pitchFamily="2" charset="-122"/>
                <a:ea typeface="华文楷体" panose="02010600040101010101" pitchFamily="2" charset="-122"/>
              </a:rPr>
              <a:t>，</a:t>
            </a:r>
            <a:r>
              <a:rPr lang="en-US" altLang="zh-CN" sz="1400" b="0" i="0" u="none" strike="noStrike" dirty="0" err="1">
                <a:solidFill>
                  <a:srgbClr val="002060"/>
                </a:solidFill>
                <a:effectLst/>
                <a:latin typeface="华文楷体" panose="02010600040101010101" pitchFamily="2" charset="-122"/>
                <a:ea typeface="华文楷体" panose="02010600040101010101" pitchFamily="2" charset="-122"/>
                <a:hlinkClick r:id="rId4" action="ppaction://hlinkfile">
                  <a:extLst>
                    <a:ext uri="{A12FA001-AC4F-418D-AE19-62706E023703}">
                      <ahyp:hlinkClr xmlns:ahyp="http://schemas.microsoft.com/office/drawing/2018/hyperlinkcolor" val="tx"/>
                    </a:ext>
                  </a:extLst>
                </a:hlinkClick>
              </a:rPr>
              <a:t>lb</a:t>
            </a:r>
            <a:r>
              <a:rPr lang="en-US" altLang="zh-CN" sz="1400" b="0" i="0" dirty="0">
                <a:solidFill>
                  <a:srgbClr val="002060"/>
                </a:solidFill>
                <a:effectLst/>
                <a:latin typeface="华文楷体" panose="02010600040101010101" pitchFamily="2" charset="-122"/>
                <a:ea typeface="华文楷体" panose="02010600040101010101" pitchFamily="2" charset="-122"/>
              </a:rPr>
              <a:t> </a:t>
            </a:r>
            <a:r>
              <a:rPr lang="zh-CN" altLang="en-US" sz="1400" b="0" i="0" dirty="0">
                <a:solidFill>
                  <a:srgbClr val="002060"/>
                </a:solidFill>
                <a:effectLst/>
                <a:latin typeface="华文楷体" panose="02010600040101010101" pitchFamily="2" charset="-122"/>
                <a:ea typeface="华文楷体" panose="02010600040101010101" pitchFamily="2" charset="-122"/>
              </a:rPr>
              <a:t>下界，</a:t>
            </a:r>
            <a:r>
              <a:rPr lang="en-US" altLang="zh-CN" sz="1400" b="0" i="0" dirty="0" err="1">
                <a:solidFill>
                  <a:srgbClr val="002060"/>
                </a:solidFill>
                <a:effectLst/>
                <a:latin typeface="华文楷体" panose="02010600040101010101" pitchFamily="2" charset="-122"/>
                <a:ea typeface="华文楷体" panose="02010600040101010101" pitchFamily="2" charset="-122"/>
              </a:rPr>
              <a:t>ub</a:t>
            </a:r>
            <a:r>
              <a:rPr lang="zh-CN" altLang="en-US" sz="1400" b="0" i="0" dirty="0">
                <a:solidFill>
                  <a:srgbClr val="002060"/>
                </a:solidFill>
                <a:effectLst/>
                <a:latin typeface="华文楷体" panose="02010600040101010101" pitchFamily="2" charset="-122"/>
                <a:ea typeface="华文楷体" panose="02010600040101010101" pitchFamily="2" charset="-122"/>
              </a:rPr>
              <a:t>上界，</a:t>
            </a:r>
            <a:endParaRPr lang="en-US" altLang="zh-CN" sz="1400" b="0" i="0" dirty="0">
              <a:solidFill>
                <a:srgbClr val="002060"/>
              </a:solidFill>
              <a:effectLst/>
              <a:latin typeface="华文楷体" panose="02010600040101010101" pitchFamily="2" charset="-122"/>
              <a:ea typeface="华文楷体" panose="02010600040101010101" pitchFamily="2" charset="-122"/>
            </a:endParaRPr>
          </a:p>
        </p:txBody>
      </p:sp>
      <p:sp>
        <p:nvSpPr>
          <p:cNvPr id="24" name="Rectangle 3">
            <a:extLst>
              <a:ext uri="{FF2B5EF4-FFF2-40B4-BE49-F238E27FC236}">
                <a16:creationId xmlns:a16="http://schemas.microsoft.com/office/drawing/2014/main" id="{BDC23073-3013-4FA2-8CA7-00D05A406152}"/>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8" name="Rectangle 5">
            <a:extLst>
              <a:ext uri="{FF2B5EF4-FFF2-40B4-BE49-F238E27FC236}">
                <a16:creationId xmlns:a16="http://schemas.microsoft.com/office/drawing/2014/main" id="{A4F04179-CB7E-4B8D-B97F-7A51BAA0C60C}"/>
              </a:ext>
            </a:extLst>
          </p:cNvPr>
          <p:cNvSpPr>
            <a:spLocks noChangeArrowheads="1"/>
          </p:cNvSpPr>
          <p:nvPr/>
        </p:nvSpPr>
        <p:spPr bwMode="auto">
          <a:xfrm>
            <a:off x="2945172" y="3210208"/>
            <a:ext cx="1641528" cy="430887"/>
          </a:xfrm>
          <a:prstGeom prst="rect">
            <a:avLst/>
          </a:prstGeom>
          <a:solidFill>
            <a:schemeClr val="bg1"/>
          </a:solidFill>
          <a:ln>
            <a:noFill/>
          </a:ln>
          <a:effectLst/>
        </p:spPr>
        <p:txBody>
          <a:bodyPr vert="horz" wrap="square" lIns="0" tIns="0" rIns="0" bIns="0" numCol="1" anchor="ctr" anchorCtr="0" compatLnSpc="1">
            <a:prstTxWarp prst="textNoShape">
              <a:avLst/>
            </a:prstTxWarp>
            <a:spAutoFit/>
          </a:bodyPr>
          <a:lstStyle/>
          <a:p>
            <a:pPr eaLnBrk="0" hangingPunct="0"/>
            <a:r>
              <a:rPr lang="en-US" altLang="zh-CN" sz="1400" b="1" dirty="0">
                <a:solidFill>
                  <a:srgbClr val="00B0F0"/>
                </a:solidFill>
                <a:latin typeface="华文楷体" panose="02010600040101010101" pitchFamily="2" charset="-122"/>
                <a:ea typeface="华文楷体" panose="02010600040101010101" pitchFamily="2" charset="-122"/>
              </a:rPr>
              <a:t> </a:t>
            </a:r>
            <a:r>
              <a:rPr lang="zh-CN" altLang="zh-CN" sz="1400" b="1" dirty="0">
                <a:solidFill>
                  <a:srgbClr val="00B0F0"/>
                </a:solidFill>
                <a:latin typeface="华文楷体" panose="02010600040101010101" pitchFamily="2" charset="-122"/>
                <a:ea typeface="华文楷体" panose="02010600040101010101" pitchFamily="2" charset="-122"/>
              </a:rPr>
              <a:t>x1 + 2x2  = 10</a:t>
            </a:r>
            <a:endParaRPr lang="en-US" altLang="zh-CN" sz="1400" b="1" dirty="0">
              <a:solidFill>
                <a:srgbClr val="00B0F0"/>
              </a:solidFill>
              <a:latin typeface="华文楷体" panose="02010600040101010101" pitchFamily="2" charset="-122"/>
              <a:ea typeface="华文楷体" panose="02010600040101010101" pitchFamily="2" charset="-122"/>
            </a:endParaRPr>
          </a:p>
          <a:p>
            <a:pPr eaLnBrk="0" hangingPunct="0"/>
            <a:r>
              <a:rPr lang="zh-CN" altLang="zh-CN" sz="1400" b="1" dirty="0">
                <a:solidFill>
                  <a:srgbClr val="00B0F0"/>
                </a:solidFill>
                <a:latin typeface="华文楷体" panose="02010600040101010101" pitchFamily="2" charset="-122"/>
                <a:ea typeface="华文楷体" panose="02010600040101010101" pitchFamily="2" charset="-122"/>
              </a:rPr>
              <a:t> 2x1+4x2  = 20 </a:t>
            </a:r>
          </a:p>
        </p:txBody>
      </p:sp>
      <p:sp>
        <p:nvSpPr>
          <p:cNvPr id="29" name="Rectangle 6">
            <a:extLst>
              <a:ext uri="{FF2B5EF4-FFF2-40B4-BE49-F238E27FC236}">
                <a16:creationId xmlns:a16="http://schemas.microsoft.com/office/drawing/2014/main" id="{443D8A3C-99F7-4840-8C31-B9E845A7E6F0}"/>
              </a:ext>
            </a:extLst>
          </p:cNvPr>
          <p:cNvSpPr>
            <a:spLocks noChangeArrowheads="1"/>
          </p:cNvSpPr>
          <p:nvPr/>
        </p:nvSpPr>
        <p:spPr bwMode="auto">
          <a:xfrm>
            <a:off x="4235570" y="3281631"/>
            <a:ext cx="3141696" cy="215444"/>
          </a:xfrm>
          <a:prstGeom prst="rect">
            <a:avLst/>
          </a:prstGeom>
          <a:solidFill>
            <a:schemeClr val="bg1"/>
          </a:solidFill>
          <a:ln>
            <a:noFill/>
          </a:ln>
          <a:effectLst/>
        </p:spPr>
        <p:txBody>
          <a:bodyPr vert="horz" wrap="square" lIns="0" tIns="0" rIns="0" bIns="0" numCol="1" anchor="ctr" anchorCtr="0" compatLnSpc="1">
            <a:prstTxWarp prst="textNoShape">
              <a:avLst/>
            </a:prstTxWarp>
            <a:spAutoFit/>
          </a:bodyPr>
          <a:lstStyle/>
          <a:p>
            <a:pPr eaLnBrk="0" hangingPunct="0"/>
            <a:r>
              <a:rPr lang="zh-CN" altLang="en-US" sz="1400" b="1" dirty="0">
                <a:solidFill>
                  <a:srgbClr val="00B0F0"/>
                </a:solidFill>
                <a:latin typeface="华文楷体" panose="02010600040101010101" pitchFamily="2" charset="-122"/>
                <a:ea typeface="华文楷体" panose="02010600040101010101" pitchFamily="2" charset="-122"/>
              </a:rPr>
              <a:t>则</a:t>
            </a:r>
            <a:r>
              <a:rPr lang="zh-CN" altLang="zh-CN" sz="1400" b="1" dirty="0">
                <a:solidFill>
                  <a:srgbClr val="00B0F0"/>
                </a:solidFill>
                <a:latin typeface="华文楷体" panose="02010600040101010101" pitchFamily="2" charset="-122"/>
                <a:ea typeface="华文楷体" panose="02010600040101010101" pitchFamily="2" charset="-122"/>
              </a:rPr>
              <a:t>Aeq = [1 23;2 4 1]</a:t>
            </a:r>
            <a:r>
              <a:rPr lang="zh-CN" altLang="en-US" sz="1400" b="1" dirty="0">
                <a:solidFill>
                  <a:srgbClr val="00B0F0"/>
                </a:solidFill>
                <a:latin typeface="华文楷体" panose="02010600040101010101" pitchFamily="2" charset="-122"/>
                <a:ea typeface="华文楷体" panose="02010600040101010101" pitchFamily="2" charset="-122"/>
              </a:rPr>
              <a:t>；</a:t>
            </a:r>
            <a:r>
              <a:rPr lang="zh-CN" altLang="zh-CN" sz="1400" b="1" dirty="0">
                <a:solidFill>
                  <a:srgbClr val="00B0F0"/>
                </a:solidFill>
                <a:latin typeface="华文楷体" panose="02010600040101010101" pitchFamily="2" charset="-122"/>
                <a:ea typeface="华文楷体" panose="02010600040101010101" pitchFamily="2" charset="-122"/>
              </a:rPr>
              <a:t> beq = [10,20] </a:t>
            </a:r>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1782BB24-C973-46F8-AF75-DD2C8A75A148}"/>
                  </a:ext>
                </a:extLst>
              </p:cNvPr>
              <p:cNvSpPr txBox="1"/>
              <p:nvPr/>
            </p:nvSpPr>
            <p:spPr>
              <a:xfrm>
                <a:off x="3205057" y="2218085"/>
                <a:ext cx="2916321" cy="256480"/>
              </a:xfrm>
              <a:prstGeom prst="rect">
                <a:avLst/>
              </a:prstGeom>
              <a:noFill/>
            </p:spPr>
            <p:txBody>
              <a:bodyPr wrap="square" lIns="0" tIns="0" rIns="0" bIns="0" rtlCol="0">
                <a:spAutoFit/>
              </a:bodyPr>
              <a:lstStyle/>
              <a:p>
                <a:pPr>
                  <a:lnSpc>
                    <a:spcPts val="2000"/>
                  </a:lnSpc>
                </a:pPr>
                <a14:m>
                  <m:oMathPara xmlns:m="http://schemas.openxmlformats.org/officeDocument/2006/math">
                    <m:oMathParaPr>
                      <m:jc m:val="left"/>
                    </m:oMathParaPr>
                    <m:oMath xmlns:m="http://schemas.openxmlformats.org/officeDocument/2006/math">
                      <m:d>
                        <m:dPr>
                          <m:begChr m:val="{"/>
                          <m:endChr m:val=""/>
                          <m:ctrlPr>
                            <a:rPr lang="en-US" altLang="zh-CN" sz="1600" i="1" smtClean="0">
                              <a:solidFill>
                                <a:srgbClr val="00B0F0"/>
                              </a:solidFill>
                              <a:latin typeface="Cambria Math" panose="02040503050406030204" pitchFamily="18" charset="0"/>
                            </a:rPr>
                          </m:ctrlPr>
                        </m:dPr>
                        <m:e>
                          <m:eqArr>
                            <m:eqArrPr>
                              <m:ctrlPr>
                                <a:rPr lang="en-US" altLang="zh-CN" sz="1600" b="1" i="1">
                                  <a:solidFill>
                                    <a:srgbClr val="FF0000"/>
                                  </a:solidFill>
                                  <a:latin typeface="Cambria Math" panose="02040503050406030204" pitchFamily="18" charset="0"/>
                                  <a:ea typeface="华文楷体" panose="02010600040101010101" pitchFamily="2" charset="-122"/>
                                </a:rPr>
                              </m:ctrlPr>
                            </m:eqArrPr>
                            <m:e>
                              <m:r>
                                <m:rPr>
                                  <m:nor/>
                                </m:rPr>
                                <a:rPr lang="zh-CN" altLang="en-US" sz="1600" b="1" dirty="0" smtClean="0">
                                  <a:solidFill>
                                    <a:srgbClr val="00B0F0"/>
                                  </a:solidFill>
                                  <a:latin typeface="华文楷体" panose="02010600040101010101" pitchFamily="2" charset="-122"/>
                                  <a:ea typeface="华文楷体" panose="02010600040101010101" pitchFamily="2" charset="-122"/>
                                </a:rPr>
                                <m:t>线性不等式约束</m:t>
                              </m:r>
                              <m:r>
                                <a:rPr lang="zh-CN" altLang="en-US" sz="1600" b="1" dirty="0">
                                  <a:solidFill>
                                    <a:srgbClr val="00B0F0"/>
                                  </a:solidFill>
                                  <a:latin typeface="Cambria Math" panose="02040503050406030204" pitchFamily="18" charset="0"/>
                                  <a:ea typeface="华文楷体" panose="02010600040101010101" pitchFamily="2" charset="-122"/>
                                </a:rPr>
                                <m:t>：</m:t>
                              </m:r>
                              <m:r>
                                <a:rPr lang="en-US" altLang="zh-CN" sz="1600" b="1">
                                  <a:solidFill>
                                    <a:srgbClr val="00B0F0"/>
                                  </a:solidFill>
                                  <a:latin typeface="Cambria Math" panose="02040503050406030204" pitchFamily="18" charset="0"/>
                                  <a:ea typeface="华文楷体" panose="02010600040101010101" pitchFamily="2" charset="-122"/>
                                </a:rPr>
                                <m:t>𝑨</m:t>
                              </m:r>
                              <m:r>
                                <a:rPr lang="en-US" altLang="zh-CN" sz="1600" b="1">
                                  <a:solidFill>
                                    <a:srgbClr val="00B0F0"/>
                                  </a:solidFill>
                                  <a:latin typeface="Cambria Math" panose="02040503050406030204" pitchFamily="18" charset="0"/>
                                  <a:ea typeface="华文楷体" panose="02010600040101010101" pitchFamily="2" charset="-122"/>
                                </a:rPr>
                                <m:t>∗</m:t>
                              </m:r>
                              <m:r>
                                <a:rPr lang="en-US" altLang="zh-CN" sz="1600" b="1">
                                  <a:solidFill>
                                    <a:srgbClr val="00B0F0"/>
                                  </a:solidFill>
                                  <a:latin typeface="Cambria Math" panose="02040503050406030204" pitchFamily="18" charset="0"/>
                                  <a:ea typeface="华文楷体" panose="02010600040101010101" pitchFamily="2" charset="-122"/>
                                </a:rPr>
                                <m:t>𝒙</m:t>
                              </m:r>
                              <m:r>
                                <a:rPr lang="en-US" altLang="zh-CN" sz="1600" b="1">
                                  <a:solidFill>
                                    <a:srgbClr val="00B0F0"/>
                                  </a:solidFill>
                                  <a:latin typeface="Cambria Math" panose="02040503050406030204" pitchFamily="18" charset="0"/>
                                  <a:ea typeface="华文楷体" panose="02010600040101010101" pitchFamily="2" charset="-122"/>
                                </a:rPr>
                                <m:t>≤</m:t>
                              </m:r>
                              <m:r>
                                <a:rPr lang="en-US" altLang="zh-CN" sz="1600" b="1">
                                  <a:solidFill>
                                    <a:srgbClr val="00B0F0"/>
                                  </a:solidFill>
                                  <a:latin typeface="Cambria Math" panose="02040503050406030204" pitchFamily="18" charset="0"/>
                                  <a:ea typeface="华文楷体" panose="02010600040101010101" pitchFamily="2" charset="-122"/>
                                </a:rPr>
                                <m:t>𝒃</m:t>
                              </m:r>
                              <m:r>
                                <a:rPr lang="en-US" altLang="zh-CN" sz="1600" b="1">
                                  <a:solidFill>
                                    <a:srgbClr val="00B0F0"/>
                                  </a:solidFill>
                                  <a:latin typeface="Cambria Math" panose="02040503050406030204" pitchFamily="18" charset="0"/>
                                  <a:ea typeface="华文楷体" panose="02010600040101010101" pitchFamily="2" charset="-122"/>
                                </a:rPr>
                                <m:t>       </m:t>
                              </m:r>
                            </m:e>
                            <m:e>
                              <m:r>
                                <m:rPr>
                                  <m:nor/>
                                </m:rPr>
                                <a:rPr lang="zh-CN" altLang="en-US" sz="1600" b="1" dirty="0" smtClean="0">
                                  <a:solidFill>
                                    <a:srgbClr val="00B0F0"/>
                                  </a:solidFill>
                                  <a:latin typeface="华文楷体" panose="02010600040101010101" pitchFamily="2" charset="-122"/>
                                  <a:ea typeface="华文楷体" panose="02010600040101010101" pitchFamily="2" charset="-122"/>
                                </a:rPr>
                                <m:t>线性等式约束</m:t>
                              </m:r>
                              <m:sSub>
                                <m:sSubPr>
                                  <m:ctrlPr>
                                    <a:rPr lang="en-US" altLang="zh-CN" sz="1600" b="1" i="1">
                                      <a:solidFill>
                                        <a:srgbClr val="00B0F0"/>
                                      </a:solidFill>
                                      <a:latin typeface="Cambria Math" panose="02040503050406030204" pitchFamily="18" charset="0"/>
                                      <a:ea typeface="华文楷体" panose="02010600040101010101" pitchFamily="2" charset="-122"/>
                                    </a:rPr>
                                  </m:ctrlPr>
                                </m:sSubPr>
                                <m:e>
                                  <m:r>
                                    <a:rPr lang="zh-CN" altLang="en-US" sz="1600" b="1">
                                      <a:solidFill>
                                        <a:srgbClr val="00B0F0"/>
                                      </a:solidFill>
                                      <a:latin typeface="Cambria Math" panose="02040503050406030204" pitchFamily="18" charset="0"/>
                                      <a:ea typeface="华文楷体" panose="02010600040101010101" pitchFamily="2" charset="-122"/>
                                    </a:rPr>
                                    <m:t>：</m:t>
                                  </m:r>
                                  <m:r>
                                    <a:rPr lang="en-US" altLang="zh-CN" sz="1600" b="1">
                                      <a:solidFill>
                                        <a:srgbClr val="00B0F0"/>
                                      </a:solidFill>
                                      <a:latin typeface="Cambria Math" panose="02040503050406030204" pitchFamily="18" charset="0"/>
                                      <a:ea typeface="华文楷体" panose="02010600040101010101" pitchFamily="2" charset="-122"/>
                                    </a:rPr>
                                    <m:t>𝑨</m:t>
                                  </m:r>
                                </m:e>
                                <m:sub>
                                  <m:r>
                                    <a:rPr lang="en-US" altLang="zh-CN" sz="1600" b="1">
                                      <a:solidFill>
                                        <a:srgbClr val="00B0F0"/>
                                      </a:solidFill>
                                      <a:latin typeface="Cambria Math" panose="02040503050406030204" pitchFamily="18" charset="0"/>
                                      <a:ea typeface="华文楷体" panose="02010600040101010101" pitchFamily="2" charset="-122"/>
                                    </a:rPr>
                                    <m:t>𝒆𝒒</m:t>
                                  </m:r>
                                </m:sub>
                              </m:sSub>
                              <m:r>
                                <a:rPr lang="en-US" altLang="zh-CN" sz="1600" b="1">
                                  <a:solidFill>
                                    <a:srgbClr val="00B0F0"/>
                                  </a:solidFill>
                                  <a:latin typeface="Cambria Math" panose="02040503050406030204" pitchFamily="18" charset="0"/>
                                  <a:ea typeface="华文楷体" panose="02010600040101010101" pitchFamily="2" charset="-122"/>
                                </a:rPr>
                                <m:t>∗</m:t>
                              </m:r>
                              <m:r>
                                <a:rPr lang="en-US" altLang="zh-CN" sz="1600" b="1">
                                  <a:solidFill>
                                    <a:srgbClr val="00B0F0"/>
                                  </a:solidFill>
                                  <a:latin typeface="Cambria Math" panose="02040503050406030204" pitchFamily="18" charset="0"/>
                                  <a:ea typeface="华文楷体" panose="02010600040101010101" pitchFamily="2" charset="-122"/>
                                </a:rPr>
                                <m:t>𝒙</m:t>
                              </m:r>
                              <m:r>
                                <a:rPr lang="en-US" altLang="zh-CN" sz="1600" b="1">
                                  <a:solidFill>
                                    <a:srgbClr val="00B0F0"/>
                                  </a:solidFill>
                                  <a:latin typeface="Cambria Math" panose="02040503050406030204" pitchFamily="18" charset="0"/>
                                  <a:ea typeface="华文楷体" panose="02010600040101010101" pitchFamily="2" charset="-122"/>
                                </a:rPr>
                                <m:t>=</m:t>
                              </m:r>
                              <m:sSub>
                                <m:sSubPr>
                                  <m:ctrlPr>
                                    <a:rPr lang="en-US" altLang="zh-CN" sz="1600" b="1" i="1">
                                      <a:solidFill>
                                        <a:srgbClr val="00B0F0"/>
                                      </a:solidFill>
                                      <a:latin typeface="Cambria Math" panose="02040503050406030204" pitchFamily="18" charset="0"/>
                                      <a:ea typeface="华文楷体" panose="02010600040101010101" pitchFamily="2" charset="-122"/>
                                    </a:rPr>
                                  </m:ctrlPr>
                                </m:sSubPr>
                                <m:e>
                                  <m:r>
                                    <a:rPr lang="en-US" altLang="zh-CN" sz="1600" b="1">
                                      <a:solidFill>
                                        <a:srgbClr val="00B0F0"/>
                                      </a:solidFill>
                                      <a:latin typeface="Cambria Math" panose="02040503050406030204" pitchFamily="18" charset="0"/>
                                      <a:ea typeface="华文楷体" panose="02010600040101010101" pitchFamily="2" charset="-122"/>
                                    </a:rPr>
                                    <m:t>𝒃</m:t>
                                  </m:r>
                                </m:e>
                                <m:sub>
                                  <m:r>
                                    <a:rPr lang="en-US" altLang="zh-CN" sz="1600" b="1">
                                      <a:solidFill>
                                        <a:srgbClr val="00B0F0"/>
                                      </a:solidFill>
                                      <a:latin typeface="Cambria Math" panose="02040503050406030204" pitchFamily="18" charset="0"/>
                                      <a:ea typeface="华文楷体" panose="02010600040101010101" pitchFamily="2" charset="-122"/>
                                    </a:rPr>
                                    <m:t>𝒆𝒒</m:t>
                                  </m:r>
                                </m:sub>
                              </m:sSub>
                            </m:e>
                            <m:e>
                              <m:r>
                                <m:rPr>
                                  <m:nor/>
                                </m:rPr>
                                <a:rPr lang="zh-CN" altLang="en-US" sz="1600" b="1" dirty="0" smtClean="0">
                                  <a:solidFill>
                                    <a:srgbClr val="00B0F0"/>
                                  </a:solidFill>
                                  <a:latin typeface="华文楷体" panose="02010600040101010101" pitchFamily="2" charset="-122"/>
                                  <a:ea typeface="华文楷体" panose="02010600040101010101" pitchFamily="2" charset="-122"/>
                                </a:rPr>
                                <m:t>边界约束</m:t>
                              </m:r>
                              <m:r>
                                <a:rPr lang="zh-CN" altLang="en-US" sz="1600" b="1" dirty="0">
                                  <a:solidFill>
                                    <a:srgbClr val="00B0F0"/>
                                  </a:solidFill>
                                  <a:latin typeface="Cambria Math" panose="02040503050406030204" pitchFamily="18" charset="0"/>
                                  <a:ea typeface="华文楷体" panose="02010600040101010101" pitchFamily="2" charset="-122"/>
                                </a:rPr>
                                <m:t>：</m:t>
                              </m:r>
                              <m:r>
                                <a:rPr lang="en-US" altLang="zh-CN" sz="1600" b="1" smtClean="0">
                                  <a:solidFill>
                                    <a:srgbClr val="00B0F0"/>
                                  </a:solidFill>
                                  <a:latin typeface="Cambria Math" panose="02040503050406030204" pitchFamily="18" charset="0"/>
                                  <a:ea typeface="华文楷体" panose="02010600040101010101" pitchFamily="2" charset="-122"/>
                                </a:rPr>
                                <m:t>𝒍𝒃</m:t>
                              </m:r>
                              <m:r>
                                <a:rPr lang="en-US" altLang="zh-CN" sz="1600" b="1" smtClean="0">
                                  <a:solidFill>
                                    <a:srgbClr val="00B0F0"/>
                                  </a:solidFill>
                                  <a:latin typeface="Cambria Math" panose="02040503050406030204" pitchFamily="18" charset="0"/>
                                  <a:ea typeface="华文楷体" panose="02010600040101010101" pitchFamily="2" charset="-122"/>
                                </a:rPr>
                                <m:t>≤</m:t>
                              </m:r>
                              <m:r>
                                <a:rPr lang="en-US" altLang="zh-CN" sz="1600" b="1" smtClean="0">
                                  <a:solidFill>
                                    <a:srgbClr val="00B0F0"/>
                                  </a:solidFill>
                                  <a:latin typeface="Cambria Math" panose="02040503050406030204" pitchFamily="18" charset="0"/>
                                  <a:ea typeface="华文楷体" panose="02010600040101010101" pitchFamily="2" charset="-122"/>
                                </a:rPr>
                                <m:t>𝒙</m:t>
                              </m:r>
                              <m:r>
                                <a:rPr lang="en-US" altLang="zh-CN" sz="1600" b="1" smtClean="0">
                                  <a:solidFill>
                                    <a:srgbClr val="00B0F0"/>
                                  </a:solidFill>
                                  <a:latin typeface="Cambria Math" panose="02040503050406030204" pitchFamily="18" charset="0"/>
                                  <a:ea typeface="华文楷体" panose="02010600040101010101" pitchFamily="2" charset="-122"/>
                                </a:rPr>
                                <m:t>≪</m:t>
                              </m:r>
                              <m:r>
                                <a:rPr lang="en-US" altLang="zh-CN" sz="1600" b="1" smtClean="0">
                                  <a:solidFill>
                                    <a:srgbClr val="00B0F0"/>
                                  </a:solidFill>
                                  <a:latin typeface="Cambria Math" panose="02040503050406030204" pitchFamily="18" charset="0"/>
                                  <a:ea typeface="华文楷体" panose="02010600040101010101" pitchFamily="2" charset="-122"/>
                                </a:rPr>
                                <m:t>𝒖𝒃</m:t>
                              </m:r>
                            </m:e>
                            <m:e>
                              <m:r>
                                <m:rPr>
                                  <m:nor/>
                                </m:rPr>
                                <a:rPr lang="zh-CN" altLang="en-US" sz="1600" b="1" dirty="0">
                                  <a:solidFill>
                                    <a:srgbClr val="FF0000"/>
                                  </a:solidFill>
                                  <a:latin typeface="华文楷体" panose="02010600040101010101" pitchFamily="2" charset="-122"/>
                                  <a:ea typeface="华文楷体" panose="02010600040101010101" pitchFamily="2" charset="-122"/>
                                </a:rPr>
                                <m:t>非线性不等式</m:t>
                              </m:r>
                              <m:r>
                                <a:rPr lang="zh-CN" altLang="en-US" sz="1600" b="1" dirty="0">
                                  <a:solidFill>
                                    <a:srgbClr val="FF0000"/>
                                  </a:solidFill>
                                  <a:latin typeface="Cambria Math" panose="02040503050406030204" pitchFamily="18" charset="0"/>
                                  <a:ea typeface="华文楷体" panose="02010600040101010101" pitchFamily="2" charset="-122"/>
                                </a:rPr>
                                <m:t>：</m:t>
                              </m:r>
                              <m:r>
                                <a:rPr lang="en-US" altLang="zh-CN" sz="1600" b="1">
                                  <a:solidFill>
                                    <a:srgbClr val="FF0000"/>
                                  </a:solidFill>
                                  <a:latin typeface="Cambria Math" panose="02040503050406030204" pitchFamily="18" charset="0"/>
                                  <a:ea typeface="华文楷体" panose="02010600040101010101" pitchFamily="2" charset="-122"/>
                                </a:rPr>
                                <m:t>𝒄</m:t>
                              </m:r>
                              <m:r>
                                <a:rPr lang="en-US" altLang="zh-CN" sz="1600" b="1">
                                  <a:solidFill>
                                    <a:srgbClr val="FF0000"/>
                                  </a:solidFill>
                                  <a:latin typeface="Cambria Math" panose="02040503050406030204" pitchFamily="18" charset="0"/>
                                  <a:ea typeface="华文楷体" panose="02010600040101010101" pitchFamily="2" charset="-122"/>
                                </a:rPr>
                                <m:t>(</m:t>
                              </m:r>
                              <m:r>
                                <a:rPr lang="en-US" altLang="zh-CN" sz="1600" b="1">
                                  <a:solidFill>
                                    <a:srgbClr val="FF0000"/>
                                  </a:solidFill>
                                  <a:latin typeface="Cambria Math" panose="02040503050406030204" pitchFamily="18" charset="0"/>
                                  <a:ea typeface="华文楷体" panose="02010600040101010101" pitchFamily="2" charset="-122"/>
                                </a:rPr>
                                <m:t>𝒙</m:t>
                              </m:r>
                              <m:r>
                                <a:rPr lang="en-US" altLang="zh-CN" sz="1600" b="1">
                                  <a:solidFill>
                                    <a:srgbClr val="FF0000"/>
                                  </a:solidFill>
                                  <a:latin typeface="Cambria Math" panose="02040503050406030204" pitchFamily="18" charset="0"/>
                                  <a:ea typeface="华文楷体" panose="02010600040101010101" pitchFamily="2" charset="-122"/>
                                </a:rPr>
                                <m:t>)≪</m:t>
                              </m:r>
                              <m:r>
                                <a:rPr lang="en-US" altLang="zh-CN" sz="1600" b="1">
                                  <a:solidFill>
                                    <a:srgbClr val="FF0000"/>
                                  </a:solidFill>
                                  <a:latin typeface="Cambria Math" panose="02040503050406030204" pitchFamily="18" charset="0"/>
                                  <a:ea typeface="华文楷体" panose="02010600040101010101" pitchFamily="2" charset="-122"/>
                                </a:rPr>
                                <m:t>𝟎</m:t>
                              </m:r>
                            </m:e>
                            <m:e>
                              <m:r>
                                <a:rPr lang="zh-CN" altLang="en-US" sz="1600" b="1">
                                  <a:solidFill>
                                    <a:srgbClr val="FF0000"/>
                                  </a:solidFill>
                                  <a:latin typeface="Cambria Math" panose="02040503050406030204" pitchFamily="18" charset="0"/>
                                  <a:ea typeface="华文楷体" panose="02010600040101010101" pitchFamily="2" charset="-122"/>
                                </a:rPr>
                                <m:t>非线性</m:t>
                              </m:r>
                              <m:r>
                                <m:rPr>
                                  <m:nor/>
                                </m:rPr>
                                <a:rPr lang="zh-CN" altLang="en-US" sz="1600" b="1" dirty="0">
                                  <a:solidFill>
                                    <a:srgbClr val="FF0000"/>
                                  </a:solidFill>
                                  <a:latin typeface="华文楷体" panose="02010600040101010101" pitchFamily="2" charset="-122"/>
                                  <a:ea typeface="华文楷体" panose="02010600040101010101" pitchFamily="2" charset="-122"/>
                                </a:rPr>
                                <m:t>等式</m:t>
                              </m:r>
                              <m:r>
                                <a:rPr lang="zh-CN" altLang="en-US" sz="1600" b="1" dirty="0">
                                  <a:solidFill>
                                    <a:srgbClr val="FF0000"/>
                                  </a:solidFill>
                                  <a:latin typeface="Cambria Math" panose="02040503050406030204" pitchFamily="18" charset="0"/>
                                  <a:ea typeface="华文楷体" panose="02010600040101010101" pitchFamily="2" charset="-122"/>
                                </a:rPr>
                                <m:t>：</m:t>
                              </m:r>
                              <m:r>
                                <a:rPr lang="en-US" altLang="zh-CN" sz="1600" b="1">
                                  <a:solidFill>
                                    <a:srgbClr val="FF0000"/>
                                  </a:solidFill>
                                  <a:latin typeface="Cambria Math" panose="02040503050406030204" pitchFamily="18" charset="0"/>
                                  <a:ea typeface="华文楷体" panose="02010600040101010101" pitchFamily="2" charset="-122"/>
                                </a:rPr>
                                <m:t>𝒄𝒆𝒒</m:t>
                              </m:r>
                              <m:d>
                                <m:dPr>
                                  <m:ctrlPr>
                                    <a:rPr lang="en-US" altLang="zh-CN" sz="1600" b="1" i="1">
                                      <a:solidFill>
                                        <a:srgbClr val="FF0000"/>
                                      </a:solidFill>
                                      <a:latin typeface="Cambria Math" panose="02040503050406030204" pitchFamily="18" charset="0"/>
                                      <a:ea typeface="华文楷体" panose="02010600040101010101" pitchFamily="2" charset="-122"/>
                                    </a:rPr>
                                  </m:ctrlPr>
                                </m:dPr>
                                <m:e>
                                  <m:r>
                                    <a:rPr lang="en-US" altLang="zh-CN" sz="1600" b="1">
                                      <a:solidFill>
                                        <a:srgbClr val="FF0000"/>
                                      </a:solidFill>
                                      <a:latin typeface="Cambria Math" panose="02040503050406030204" pitchFamily="18" charset="0"/>
                                      <a:ea typeface="华文楷体" panose="02010600040101010101" pitchFamily="2" charset="-122"/>
                                    </a:rPr>
                                    <m:t>𝒙</m:t>
                                  </m:r>
                                </m:e>
                              </m:d>
                              <m:r>
                                <a:rPr lang="en-US" altLang="zh-CN" sz="1600" b="1">
                                  <a:solidFill>
                                    <a:srgbClr val="FF0000"/>
                                  </a:solidFill>
                                  <a:latin typeface="Cambria Math" panose="02040503050406030204" pitchFamily="18" charset="0"/>
                                  <a:ea typeface="华文楷体" panose="02010600040101010101" pitchFamily="2" charset="-122"/>
                                </a:rPr>
                                <m:t>=</m:t>
                              </m:r>
                              <m:r>
                                <a:rPr lang="en-US" altLang="zh-CN" sz="1600" b="1">
                                  <a:solidFill>
                                    <a:srgbClr val="FF0000"/>
                                  </a:solidFill>
                                  <a:latin typeface="Cambria Math" panose="02040503050406030204" pitchFamily="18" charset="0"/>
                                  <a:ea typeface="华文楷体" panose="02010600040101010101" pitchFamily="2" charset="-122"/>
                                </a:rPr>
                                <m:t>𝟎</m:t>
                              </m:r>
                            </m:e>
                          </m:eqArr>
                        </m:e>
                      </m:d>
                    </m:oMath>
                  </m:oMathPara>
                </a14:m>
                <a:endParaRPr lang="zh-CN" altLang="en-US" sz="1600" dirty="0">
                  <a:solidFill>
                    <a:srgbClr val="00B0F0"/>
                  </a:solidFill>
                </a:endParaRPr>
              </a:p>
            </p:txBody>
          </p:sp>
        </mc:Choice>
        <mc:Fallback xmlns="">
          <p:sp>
            <p:nvSpPr>
              <p:cNvPr id="32" name="文本框 31">
                <a:extLst>
                  <a:ext uri="{FF2B5EF4-FFF2-40B4-BE49-F238E27FC236}">
                    <a16:creationId xmlns:a16="http://schemas.microsoft.com/office/drawing/2014/main" id="{1782BB24-C973-46F8-AF75-DD2C8A75A148}"/>
                  </a:ext>
                </a:extLst>
              </p:cNvPr>
              <p:cNvSpPr txBox="1">
                <a:spLocks noRot="1" noChangeAspect="1" noMove="1" noResize="1" noEditPoints="1" noAdjustHandles="1" noChangeArrowheads="1" noChangeShapeType="1" noTextEdit="1"/>
              </p:cNvSpPr>
              <p:nvPr/>
            </p:nvSpPr>
            <p:spPr>
              <a:xfrm>
                <a:off x="3205057" y="2218085"/>
                <a:ext cx="2916321" cy="256480"/>
              </a:xfrm>
              <a:prstGeom prst="rect">
                <a:avLst/>
              </a:prstGeom>
              <a:blipFill>
                <a:blip r:embed="rId6"/>
                <a:stretch>
                  <a:fillRect t="-311905" b="-126190"/>
                </a:stretch>
              </a:blipFill>
            </p:spPr>
            <p:txBody>
              <a:bodyPr/>
              <a:lstStyle/>
              <a:p>
                <a:r>
                  <a:rPr lang="zh-CN" altLang="en-US">
                    <a:noFill/>
                  </a:rPr>
                  <a:t> </a:t>
                </a:r>
              </a:p>
            </p:txBody>
          </p:sp>
        </mc:Fallback>
      </mc:AlternateContent>
      <p:sp>
        <p:nvSpPr>
          <p:cNvPr id="36" name="Rectangle 7">
            <a:extLst>
              <a:ext uri="{FF2B5EF4-FFF2-40B4-BE49-F238E27FC236}">
                <a16:creationId xmlns:a16="http://schemas.microsoft.com/office/drawing/2014/main" id="{9985963E-CD1B-4476-9A16-CAC3D0960251}"/>
              </a:ext>
            </a:extLst>
          </p:cNvPr>
          <p:cNvSpPr>
            <a:spLocks noChangeArrowheads="1"/>
          </p:cNvSpPr>
          <p:nvPr/>
        </p:nvSpPr>
        <p:spPr bwMode="auto">
          <a:xfrm>
            <a:off x="0" y="90100"/>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mc:Choice xmlns:a14="http://schemas.microsoft.com/office/drawing/2010/main" Requires="a14">
          <p:sp>
            <p:nvSpPr>
              <p:cNvPr id="40" name="文本框 39">
                <a:extLst>
                  <a:ext uri="{FF2B5EF4-FFF2-40B4-BE49-F238E27FC236}">
                    <a16:creationId xmlns:a16="http://schemas.microsoft.com/office/drawing/2014/main" id="{38FCC672-1B6C-4FBD-ACF2-6F89F3ABFF80}"/>
                  </a:ext>
                </a:extLst>
              </p:cNvPr>
              <p:cNvSpPr txBox="1"/>
              <p:nvPr/>
            </p:nvSpPr>
            <p:spPr>
              <a:xfrm>
                <a:off x="3832196" y="3648784"/>
                <a:ext cx="2916321" cy="307777"/>
              </a:xfrm>
              <a:prstGeom prst="rect">
                <a:avLst/>
              </a:prstGeom>
              <a:solidFill>
                <a:schemeClr val="bg1"/>
              </a:solidFill>
              <a:effectLst/>
            </p:spPr>
            <p:txBody>
              <a:bodyPr wrap="square">
                <a:spAutoFit/>
              </a:bodyPr>
              <a:lstStyle>
                <a:defPPr>
                  <a:defRPr lang="zh-CN"/>
                </a:defPPr>
                <a:lvl1pPr>
                  <a:defRPr sz="1600">
                    <a:solidFill>
                      <a:srgbClr val="00B0F0"/>
                    </a:solidFill>
                    <a:latin typeface="华文楷体" panose="02010600040101010101" pitchFamily="2" charset="-122"/>
                    <a:ea typeface="华文楷体" panose="02010600040101010101" pitchFamily="2" charset="-122"/>
                  </a:defRPr>
                </a:lvl1pPr>
              </a:lstStyle>
              <a:p>
                <a:r>
                  <a:rPr lang="zh-CN" altLang="en-US" sz="1400" b="1" dirty="0"/>
                  <a:t>如</a:t>
                </a:r>
                <a14:m>
                  <m:oMath xmlns:m="http://schemas.openxmlformats.org/officeDocument/2006/math">
                    <m:r>
                      <a:rPr lang="en-US" altLang="zh-CN" sz="1400" b="1" i="1">
                        <a:highlight>
                          <a:srgbClr val="FFFF00"/>
                        </a:highlight>
                        <a:latin typeface="Cambria Math" panose="02040503050406030204" pitchFamily="18" charset="0"/>
                      </a:rPr>
                      <m:t>𝟎</m:t>
                    </m:r>
                    <m:r>
                      <a:rPr lang="en-US" altLang="zh-CN" sz="1400" b="1">
                        <a:latin typeface="Cambria Math" panose="02040503050406030204" pitchFamily="18" charset="0"/>
                      </a:rPr>
                      <m:t>≤</m:t>
                    </m:r>
                    <m:r>
                      <a:rPr lang="en-US" altLang="zh-CN" sz="1400" b="1" i="1">
                        <a:latin typeface="Cambria Math" panose="02040503050406030204" pitchFamily="18" charset="0"/>
                      </a:rPr>
                      <m:t>𝐱</m:t>
                    </m:r>
                  </m:oMath>
                </a14:m>
                <a:r>
                  <a:rPr lang="en-US" altLang="zh-CN" sz="1400" b="1" dirty="0"/>
                  <a:t>[1] </a:t>
                </a:r>
                <a14:m>
                  <m:oMath xmlns:m="http://schemas.openxmlformats.org/officeDocument/2006/math">
                    <m:r>
                      <a:rPr lang="en-US" altLang="zh-CN" sz="1400" b="1">
                        <a:latin typeface="Cambria Math" panose="02040503050406030204" pitchFamily="18" charset="0"/>
                      </a:rPr>
                      <m:t>≤</m:t>
                    </m:r>
                  </m:oMath>
                </a14:m>
                <a:r>
                  <a:rPr lang="en-US" altLang="zh-CN" sz="1400" b="1" dirty="0"/>
                  <a:t>0.4; </a:t>
                </a:r>
                <a14:m>
                  <m:oMath xmlns:m="http://schemas.openxmlformats.org/officeDocument/2006/math">
                    <m:r>
                      <a:rPr lang="en-US" altLang="zh-CN" sz="1400" b="1" i="1">
                        <a:highlight>
                          <a:srgbClr val="FFFF00"/>
                        </a:highlight>
                        <a:latin typeface="Cambria Math" panose="02040503050406030204" pitchFamily="18" charset="0"/>
                      </a:rPr>
                      <m:t>𝟎</m:t>
                    </m:r>
                    <m:r>
                      <a:rPr lang="en-US" altLang="zh-CN" sz="1400" b="1">
                        <a:highlight>
                          <a:srgbClr val="FFFF00"/>
                        </a:highlight>
                        <a:latin typeface="Cambria Math" panose="02040503050406030204" pitchFamily="18" charset="0"/>
                      </a:rPr>
                      <m:t>.</m:t>
                    </m:r>
                    <m:r>
                      <a:rPr lang="en-US" altLang="zh-CN" sz="1400" b="1" i="1">
                        <a:highlight>
                          <a:srgbClr val="FFFF00"/>
                        </a:highlight>
                        <a:latin typeface="Cambria Math" panose="02040503050406030204" pitchFamily="18" charset="0"/>
                      </a:rPr>
                      <m:t>𝟔</m:t>
                    </m:r>
                    <m:r>
                      <a:rPr lang="en-US" altLang="zh-CN" sz="1400" b="1">
                        <a:latin typeface="Cambria Math" panose="02040503050406030204" pitchFamily="18" charset="0"/>
                      </a:rPr>
                      <m:t>≤</m:t>
                    </m:r>
                    <m:r>
                      <a:rPr lang="en-US" altLang="zh-CN" sz="1400" b="1" i="1">
                        <a:latin typeface="Cambria Math" panose="02040503050406030204" pitchFamily="18" charset="0"/>
                      </a:rPr>
                      <m:t>𝐱</m:t>
                    </m:r>
                  </m:oMath>
                </a14:m>
                <a:r>
                  <a:rPr lang="en-US" altLang="zh-CN" sz="1400" b="1" dirty="0"/>
                  <a:t>[2] </a:t>
                </a:r>
                <a14:m>
                  <m:oMath xmlns:m="http://schemas.openxmlformats.org/officeDocument/2006/math">
                    <m:r>
                      <a:rPr lang="en-US" altLang="zh-CN" sz="1400" b="1">
                        <a:latin typeface="Cambria Math" panose="02040503050406030204" pitchFamily="18" charset="0"/>
                      </a:rPr>
                      <m:t>≤</m:t>
                    </m:r>
                  </m:oMath>
                </a14:m>
                <a:r>
                  <a:rPr lang="en-US" altLang="zh-CN" sz="1400" b="1" dirty="0"/>
                  <a:t>1</a:t>
                </a:r>
              </a:p>
            </p:txBody>
          </p:sp>
        </mc:Choice>
        <mc:Fallback>
          <p:sp>
            <p:nvSpPr>
              <p:cNvPr id="40" name="文本框 39">
                <a:extLst>
                  <a:ext uri="{FF2B5EF4-FFF2-40B4-BE49-F238E27FC236}">
                    <a16:creationId xmlns:a16="http://schemas.microsoft.com/office/drawing/2014/main" id="{38FCC672-1B6C-4FBD-ACF2-6F89F3ABFF80}"/>
                  </a:ext>
                </a:extLst>
              </p:cNvPr>
              <p:cNvSpPr txBox="1">
                <a:spLocks noRot="1" noChangeAspect="1" noMove="1" noResize="1" noEditPoints="1" noAdjustHandles="1" noChangeArrowheads="1" noChangeShapeType="1" noTextEdit="1"/>
              </p:cNvSpPr>
              <p:nvPr/>
            </p:nvSpPr>
            <p:spPr>
              <a:xfrm>
                <a:off x="3832196" y="3648784"/>
                <a:ext cx="2916321" cy="307777"/>
              </a:xfrm>
              <a:prstGeom prst="rect">
                <a:avLst/>
              </a:prstGeom>
              <a:blipFill>
                <a:blip r:embed="rId7"/>
                <a:stretch>
                  <a:fillRect l="-628" t="-4000" b="-20000"/>
                </a:stretch>
              </a:blipFill>
              <a:effectLst/>
            </p:spPr>
            <p:txBody>
              <a:bodyPr/>
              <a:lstStyle/>
              <a:p>
                <a:r>
                  <a:rPr lang="zh-CN" altLang="en-US">
                    <a:noFill/>
                  </a:rPr>
                  <a:t> </a:t>
                </a:r>
              </a:p>
            </p:txBody>
          </p:sp>
        </mc:Fallback>
      </mc:AlternateContent>
      <p:sp>
        <p:nvSpPr>
          <p:cNvPr id="42" name="文本框 41">
            <a:extLst>
              <a:ext uri="{FF2B5EF4-FFF2-40B4-BE49-F238E27FC236}">
                <a16:creationId xmlns:a16="http://schemas.microsoft.com/office/drawing/2014/main" id="{12C45EA2-19B6-4EA3-B086-DCBB61C94002}"/>
              </a:ext>
            </a:extLst>
          </p:cNvPr>
          <p:cNvSpPr txBox="1"/>
          <p:nvPr/>
        </p:nvSpPr>
        <p:spPr>
          <a:xfrm>
            <a:off x="2267424" y="3963880"/>
            <a:ext cx="2916322" cy="307777"/>
          </a:xfrm>
          <a:prstGeom prst="rect">
            <a:avLst/>
          </a:prstGeom>
          <a:solidFill>
            <a:schemeClr val="bg1"/>
          </a:solidFill>
          <a:effectLst/>
        </p:spPr>
        <p:txBody>
          <a:bodyPr wrap="square">
            <a:spAutoFit/>
          </a:bodyPr>
          <a:lstStyle/>
          <a:p>
            <a:r>
              <a:rPr lang="zh-CN" altLang="en-US" sz="1400" b="1" dirty="0">
                <a:solidFill>
                  <a:srgbClr val="00B0F0"/>
                </a:solidFill>
                <a:latin typeface="华文楷体" panose="02010600040101010101" pitchFamily="2" charset="-122"/>
                <a:ea typeface="华文楷体" panose="02010600040101010101" pitchFamily="2" charset="-122"/>
              </a:rPr>
              <a:t>如单位圆盘</a:t>
            </a:r>
            <a:r>
              <a:rPr kumimoji="0" lang="zh-CN" altLang="zh-CN" sz="1400" b="1" i="0" u="none" strike="noStrike" cap="none" normalizeH="0" baseline="0" dirty="0">
                <a:ln>
                  <a:noFill/>
                </a:ln>
                <a:solidFill>
                  <a:srgbClr val="00B0F0"/>
                </a:solidFill>
                <a:effectLst/>
                <a:latin typeface="华文楷体" panose="02010600040101010101" pitchFamily="2" charset="-122"/>
                <a:ea typeface="华文楷体" panose="02010600040101010101" pitchFamily="2" charset="-122"/>
              </a:rPr>
              <a:t>c = [x[1]^2 + x[2]^2 - 1] </a:t>
            </a:r>
          </a:p>
        </p:txBody>
      </p:sp>
      <p:sp>
        <p:nvSpPr>
          <p:cNvPr id="25" name="Rectangle 4">
            <a:extLst>
              <a:ext uri="{FF2B5EF4-FFF2-40B4-BE49-F238E27FC236}">
                <a16:creationId xmlns:a16="http://schemas.microsoft.com/office/drawing/2014/main" id="{67572D53-86C9-4BD7-9D82-A9648D3966EA}"/>
              </a:ext>
            </a:extLst>
          </p:cNvPr>
          <p:cNvSpPr>
            <a:spLocks noChangeArrowheads="1"/>
          </p:cNvSpPr>
          <p:nvPr/>
        </p:nvSpPr>
        <p:spPr bwMode="auto">
          <a:xfrm>
            <a:off x="2962819" y="2783197"/>
            <a:ext cx="1559973" cy="430887"/>
          </a:xfrm>
          <a:prstGeom prst="rect">
            <a:avLst/>
          </a:prstGeom>
          <a:solidFill>
            <a:schemeClr val="bg1"/>
          </a:solidFill>
          <a:ln>
            <a:noFill/>
          </a:ln>
          <a:effec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00B0F0"/>
                </a:solidFill>
                <a:effectLst/>
                <a:latin typeface="华文楷体" panose="02010600040101010101" pitchFamily="2" charset="-122"/>
                <a:ea typeface="华文楷体" panose="02010600040101010101" pitchFamily="2" charset="-122"/>
              </a:rPr>
              <a:t>x1 +2x2 ≤10 </a:t>
            </a:r>
            <a:endParaRPr kumimoji="0" lang="en-US" altLang="zh-CN" sz="1400" b="1" i="0" u="none" strike="noStrike" cap="none" normalizeH="0" baseline="0" dirty="0">
              <a:ln>
                <a:noFill/>
              </a:ln>
              <a:solidFill>
                <a:srgbClr val="00B0F0"/>
              </a:solidFill>
              <a:effectLst/>
              <a:latin typeface="华文楷体" panose="02010600040101010101" pitchFamily="2" charset="-122"/>
              <a:ea typeface="华文楷体" panose="0201060004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00B0F0"/>
                </a:solidFill>
                <a:effectLst/>
                <a:latin typeface="华文楷体" panose="02010600040101010101" pitchFamily="2" charset="-122"/>
                <a:ea typeface="华文楷体" panose="02010600040101010101" pitchFamily="2" charset="-122"/>
              </a:rPr>
              <a:t>3x1 +4x2 ≤20 </a:t>
            </a:r>
            <a:endParaRPr kumimoji="0" lang="en-US" altLang="zh-CN" sz="1400" b="1" i="0" u="none" strike="noStrike" cap="none" normalizeH="0" baseline="0" dirty="0">
              <a:ln>
                <a:noFill/>
              </a:ln>
              <a:solidFill>
                <a:srgbClr val="00B0F0"/>
              </a:solidFill>
              <a:effectLst/>
              <a:latin typeface="华文楷体" panose="02010600040101010101" pitchFamily="2" charset="-122"/>
              <a:ea typeface="华文楷体" panose="02010600040101010101" pitchFamily="2" charset="-122"/>
            </a:endParaRPr>
          </a:p>
        </p:txBody>
      </p:sp>
      <p:sp>
        <p:nvSpPr>
          <p:cNvPr id="27" name="文本框 26">
            <a:extLst>
              <a:ext uri="{FF2B5EF4-FFF2-40B4-BE49-F238E27FC236}">
                <a16:creationId xmlns:a16="http://schemas.microsoft.com/office/drawing/2014/main" id="{ACF62C23-A453-4D26-8352-99E277C8D327}"/>
              </a:ext>
            </a:extLst>
          </p:cNvPr>
          <p:cNvSpPr txBox="1"/>
          <p:nvPr/>
        </p:nvSpPr>
        <p:spPr>
          <a:xfrm>
            <a:off x="4235570" y="2819433"/>
            <a:ext cx="2916320" cy="215444"/>
          </a:xfrm>
          <a:prstGeom prst="rect">
            <a:avLst/>
          </a:prstGeom>
          <a:solidFill>
            <a:schemeClr val="bg1"/>
          </a:solidFill>
          <a:ln>
            <a:noFill/>
          </a:ln>
          <a:effectLst/>
        </p:spPr>
        <p:txBody>
          <a:bodyPr vert="horz" wrap="square" lIns="0" tIns="0" rIns="0" bIns="0" numCol="1" anchor="ctr" anchorCtr="0" compatLnSpc="1">
            <a:prstTxWarp prst="textNoShape">
              <a:avLst/>
            </a:prstTxWarp>
            <a:spAutoFit/>
          </a:bodyPr>
          <a:lstStyle>
            <a:defPPr>
              <a:defRPr lang="zh-CN"/>
            </a:defPPr>
            <a:lvl1pPr marL="0" marR="0" lvl="0" indent="0" defTabSz="914400" eaLnBrk="0" latinLnBrk="0" hangingPunct="0">
              <a:lnSpc>
                <a:spcPct val="100000"/>
              </a:lnSpc>
              <a:buClrTx/>
              <a:buSzTx/>
              <a:buFontTx/>
              <a:buNone/>
              <a:tabLst/>
              <a:defRPr kumimoji="0" b="0" i="0" u="none" strike="noStrike" cap="none" normalizeH="0" baseline="0">
                <a:ln>
                  <a:noFill/>
                </a:ln>
                <a:solidFill>
                  <a:srgbClr val="00B0F0"/>
                </a:solidFill>
                <a:effectLst/>
                <a:latin typeface="华文楷体" panose="02010600040101010101" pitchFamily="2" charset="-122"/>
                <a:ea typeface="华文楷体" panose="02010600040101010101" pitchFamily="2" charset="-122"/>
              </a:defRPr>
            </a:lvl1pPr>
          </a:lstStyle>
          <a:p>
            <a:r>
              <a:rPr lang="zh-CN" altLang="en-US" sz="1400" b="1" dirty="0"/>
              <a:t>则</a:t>
            </a:r>
            <a:r>
              <a:rPr lang="zh-CN" altLang="zh-CN" sz="1400" b="1" dirty="0"/>
              <a:t>A = [1 2;3 4]</a:t>
            </a:r>
            <a:r>
              <a:rPr lang="en-US" altLang="zh-CN" sz="1400" b="1" dirty="0"/>
              <a:t>  </a:t>
            </a:r>
            <a:r>
              <a:rPr lang="zh-CN" altLang="en-US" sz="1400" b="1" dirty="0"/>
              <a:t>；</a:t>
            </a:r>
            <a:r>
              <a:rPr lang="zh-CN" altLang="zh-CN" sz="1400" b="1" dirty="0"/>
              <a:t> b = [10,20] </a:t>
            </a:r>
          </a:p>
        </p:txBody>
      </p:sp>
      <p:sp>
        <p:nvSpPr>
          <p:cNvPr id="21" name="文本框 20">
            <a:extLst>
              <a:ext uri="{FF2B5EF4-FFF2-40B4-BE49-F238E27FC236}">
                <a16:creationId xmlns:a16="http://schemas.microsoft.com/office/drawing/2014/main" id="{E06D67B9-5D4D-4CE2-B1ED-E7E7EB0ED87D}"/>
              </a:ext>
            </a:extLst>
          </p:cNvPr>
          <p:cNvSpPr txBox="1"/>
          <p:nvPr/>
        </p:nvSpPr>
        <p:spPr>
          <a:xfrm>
            <a:off x="6262519" y="3648364"/>
            <a:ext cx="1017272" cy="307777"/>
          </a:xfrm>
          <a:prstGeom prst="rect">
            <a:avLst/>
          </a:prstGeom>
          <a:solidFill>
            <a:schemeClr val="bg1"/>
          </a:solidFill>
          <a:effectLst/>
        </p:spPr>
        <p:txBody>
          <a:bodyPr wrap="square">
            <a:spAutoFit/>
          </a:bodyPr>
          <a:lstStyle>
            <a:defPPr>
              <a:defRPr lang="zh-CN"/>
            </a:defPPr>
            <a:lvl1pPr>
              <a:defRPr sz="1600">
                <a:solidFill>
                  <a:srgbClr val="00B0F0"/>
                </a:solidFill>
                <a:latin typeface="华文楷体" panose="02010600040101010101" pitchFamily="2" charset="-122"/>
                <a:ea typeface="华文楷体" panose="02010600040101010101" pitchFamily="2" charset="-122"/>
              </a:defRPr>
            </a:lvl1pPr>
          </a:lstStyle>
          <a:p>
            <a:r>
              <a:rPr lang="en-US" altLang="zh-CN" sz="1400" b="1" dirty="0" err="1"/>
              <a:t>lb</a:t>
            </a:r>
            <a:r>
              <a:rPr lang="en-US" altLang="zh-CN" sz="1400" b="1" dirty="0"/>
              <a:t>=[0,0.6]</a:t>
            </a:r>
          </a:p>
        </p:txBody>
      </p:sp>
      <p:sp>
        <p:nvSpPr>
          <p:cNvPr id="22" name="文本框 21">
            <a:extLst>
              <a:ext uri="{FF2B5EF4-FFF2-40B4-BE49-F238E27FC236}">
                <a16:creationId xmlns:a16="http://schemas.microsoft.com/office/drawing/2014/main" id="{7093F337-D1FA-4152-880D-BF11B03019F8}"/>
              </a:ext>
            </a:extLst>
          </p:cNvPr>
          <p:cNvSpPr txBox="1"/>
          <p:nvPr/>
        </p:nvSpPr>
        <p:spPr>
          <a:xfrm>
            <a:off x="107504" y="3860395"/>
            <a:ext cx="2160240" cy="740139"/>
          </a:xfrm>
          <a:prstGeom prst="rect">
            <a:avLst/>
          </a:prstGeom>
          <a:solidFill>
            <a:schemeClr val="bg1"/>
          </a:solidFill>
        </p:spPr>
        <p:txBody>
          <a:bodyPr wrap="square">
            <a:spAutoFit/>
          </a:bodyPr>
          <a:lstStyle/>
          <a:p>
            <a:pPr marL="285750" indent="-285750">
              <a:lnSpc>
                <a:spcPts val="2600"/>
              </a:lnSpc>
              <a:buFont typeface="Wingdings" panose="05000000000000000000" pitchFamily="2" charset="2"/>
              <a:buChar char="Ø"/>
            </a:pPr>
            <a:r>
              <a:rPr lang="zh-CN" altLang="en-US" sz="1400" b="0" i="0" dirty="0">
                <a:solidFill>
                  <a:srgbClr val="002060"/>
                </a:solidFill>
                <a:effectLst/>
                <a:latin typeface="华文楷体" panose="02010600040101010101" pitchFamily="2" charset="-122"/>
                <a:ea typeface="华文楷体" panose="02010600040101010101" pitchFamily="2" charset="-122"/>
              </a:rPr>
              <a:t>非线性不等式约束</a:t>
            </a:r>
            <a:r>
              <a:rPr lang="en-US" altLang="zh-CN" sz="1400" b="0" i="0" dirty="0">
                <a:solidFill>
                  <a:srgbClr val="002060"/>
                </a:solidFill>
                <a:effectLst/>
                <a:latin typeface="华文楷体" panose="02010600040101010101" pitchFamily="2" charset="-122"/>
                <a:ea typeface="华文楷体" panose="02010600040101010101" pitchFamily="2" charset="-122"/>
              </a:rPr>
              <a:t>c</a:t>
            </a:r>
            <a:r>
              <a:rPr lang="en-US" altLang="zh-CN" sz="1400" dirty="0">
                <a:solidFill>
                  <a:srgbClr val="002060"/>
                </a:solidFill>
                <a:latin typeface="华文楷体" panose="02010600040101010101" pitchFamily="2" charset="-122"/>
                <a:ea typeface="华文楷体" panose="02010600040101010101" pitchFamily="2" charset="-122"/>
              </a:rPr>
              <a:t>(x):</a:t>
            </a:r>
            <a:r>
              <a:rPr lang="en-US" altLang="zh-CN" sz="1400" b="0" dirty="0">
                <a:solidFill>
                  <a:srgbClr val="002060"/>
                </a:solidFill>
                <a:effectLst/>
                <a:ea typeface="华文楷体" panose="02010600040101010101" pitchFamily="2" charset="-122"/>
              </a:rPr>
              <a:t>   </a:t>
            </a:r>
          </a:p>
          <a:p>
            <a:pPr marL="285750" indent="-285750">
              <a:lnSpc>
                <a:spcPts val="2600"/>
              </a:lnSpc>
              <a:buFont typeface="Wingdings" panose="05000000000000000000" pitchFamily="2" charset="2"/>
              <a:buChar char="Ø"/>
            </a:pPr>
            <a:r>
              <a:rPr lang="zh-CN" altLang="en-US" sz="1400" b="0" i="0" dirty="0">
                <a:solidFill>
                  <a:srgbClr val="002060"/>
                </a:solidFill>
                <a:effectLst/>
                <a:latin typeface="华文楷体" panose="02010600040101010101" pitchFamily="2" charset="-122"/>
                <a:ea typeface="华文楷体" panose="02010600040101010101" pitchFamily="2" charset="-122"/>
              </a:rPr>
              <a:t>非线性等式 </a:t>
            </a:r>
            <a:r>
              <a:rPr lang="en-US" altLang="zh-CN" sz="1400" b="0" i="0" u="none" strike="noStrike" dirty="0" err="1">
                <a:solidFill>
                  <a:srgbClr val="002060"/>
                </a:solidFill>
                <a:effectLst/>
                <a:latin typeface="华文楷体" panose="02010600040101010101" pitchFamily="2" charset="-122"/>
                <a:ea typeface="华文楷体" panose="02010600040101010101" pitchFamily="2" charset="-122"/>
                <a:hlinkClick r:id="rId3" action="ppaction://hlinkfile">
                  <a:extLst>
                    <a:ext uri="{A12FA001-AC4F-418D-AE19-62706E023703}">
                      <ahyp:hlinkClr xmlns:ahyp="http://schemas.microsoft.com/office/drawing/2018/hyperlinkcolor" val="tx"/>
                    </a:ext>
                  </a:extLst>
                </a:hlinkClick>
              </a:rPr>
              <a:t>ceq</a:t>
            </a:r>
            <a:r>
              <a:rPr lang="en-US" altLang="zh-CN" sz="1400" b="0" i="0" u="none" strike="noStrike" dirty="0">
                <a:solidFill>
                  <a:srgbClr val="002060"/>
                </a:solidFill>
                <a:effectLst/>
                <a:latin typeface="华文楷体" panose="02010600040101010101" pitchFamily="2" charset="-122"/>
                <a:ea typeface="华文楷体" panose="02010600040101010101" pitchFamily="2" charset="-122"/>
              </a:rPr>
              <a:t>(</a:t>
            </a:r>
            <a:r>
              <a:rPr lang="en-US" altLang="zh-CN" sz="1400" b="0" i="0" dirty="0">
                <a:solidFill>
                  <a:srgbClr val="002060"/>
                </a:solidFill>
                <a:effectLst/>
                <a:latin typeface="华文楷体" panose="02010600040101010101" pitchFamily="2" charset="-122"/>
                <a:ea typeface="华文楷体" panose="02010600040101010101" pitchFamily="2" charset="-122"/>
              </a:rPr>
              <a:t>x</a:t>
            </a:r>
            <a:r>
              <a:rPr lang="zh-CN" altLang="en-US" sz="1400" b="0" i="0" dirty="0">
                <a:solidFill>
                  <a:srgbClr val="002060"/>
                </a:solidFill>
                <a:effectLst/>
                <a:latin typeface="华文楷体" panose="02010600040101010101" pitchFamily="2" charset="-122"/>
                <a:ea typeface="华文楷体" panose="02010600040101010101" pitchFamily="2" charset="-122"/>
              </a:rPr>
              <a:t>）：</a:t>
            </a:r>
            <a:endParaRPr lang="en-US" altLang="zh-CN" sz="1400" b="0" i="0" dirty="0">
              <a:solidFill>
                <a:srgbClr val="002060"/>
              </a:solidFill>
              <a:effectLst/>
              <a:latin typeface="华文楷体" panose="02010600040101010101" pitchFamily="2" charset="-122"/>
              <a:ea typeface="华文楷体" panose="02010600040101010101" pitchFamily="2" charset="-122"/>
            </a:endParaRPr>
          </a:p>
        </p:txBody>
      </p:sp>
      <p:sp>
        <p:nvSpPr>
          <p:cNvPr id="26" name="文本框 25">
            <a:extLst>
              <a:ext uri="{FF2B5EF4-FFF2-40B4-BE49-F238E27FC236}">
                <a16:creationId xmlns:a16="http://schemas.microsoft.com/office/drawing/2014/main" id="{3C02C945-42C9-4729-ADD3-2CE545655043}"/>
              </a:ext>
            </a:extLst>
          </p:cNvPr>
          <p:cNvSpPr txBox="1"/>
          <p:nvPr/>
        </p:nvSpPr>
        <p:spPr>
          <a:xfrm>
            <a:off x="6321054" y="2212955"/>
            <a:ext cx="2867896" cy="523220"/>
          </a:xfrm>
          <a:prstGeom prst="rect">
            <a:avLst/>
          </a:prstGeom>
          <a:noFill/>
        </p:spPr>
        <p:txBody>
          <a:bodyPr wrap="square">
            <a:spAutoFit/>
          </a:bodyPr>
          <a:lstStyle/>
          <a:p>
            <a:r>
              <a:rPr lang="zh-CN" altLang="en-US" sz="14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如</a:t>
            </a:r>
            <a:r>
              <a:rPr lang="en-US" altLang="zh-CN" sz="14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ci(x)</a:t>
            </a:r>
            <a:r>
              <a:rPr lang="zh-CN" altLang="zh-CN" sz="14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4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0</a:t>
            </a:r>
            <a:r>
              <a:rPr lang="zh-CN" altLang="en-US" sz="14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，则转化为</a:t>
            </a:r>
            <a:r>
              <a:rPr lang="zh-CN" altLang="zh-CN" sz="14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4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ci(x)</a:t>
            </a:r>
            <a:r>
              <a:rPr lang="zh-CN" altLang="zh-CN" sz="14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 </a:t>
            </a:r>
            <a:r>
              <a:rPr lang="en-US" altLang="zh-CN" sz="14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0</a:t>
            </a:r>
          </a:p>
          <a:p>
            <a:r>
              <a:rPr lang="zh-CN" altLang="en-US" sz="14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如</a:t>
            </a:r>
            <a:r>
              <a:rPr lang="en-US" altLang="zh-CN" sz="14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Ax</a:t>
            </a:r>
            <a:r>
              <a:rPr lang="zh-CN" altLang="zh-CN" sz="14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4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b</a:t>
            </a:r>
            <a:r>
              <a:rPr lang="zh-CN" altLang="en-US" sz="14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，则</a:t>
            </a:r>
            <a:r>
              <a:rPr lang="en-US" altLang="zh-CN" sz="14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 </a:t>
            </a:r>
            <a:r>
              <a:rPr lang="zh-CN" altLang="en-US" sz="14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转化为</a:t>
            </a:r>
            <a:r>
              <a:rPr lang="zh-CN" altLang="zh-CN" sz="14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4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Ax</a:t>
            </a:r>
            <a:r>
              <a:rPr lang="zh-CN" altLang="zh-CN" sz="14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400" b="1" dirty="0">
                <a:solidFill>
                  <a:srgbClr val="FF0000"/>
                </a:solidFill>
                <a:effectLst/>
                <a:latin typeface="微软雅黑" panose="020B0503020204020204" pitchFamily="34" charset="-122"/>
                <a:ea typeface="微软雅黑" panose="020B0503020204020204" pitchFamily="34" charset="-122"/>
                <a:cs typeface="宋体" panose="02010600030101010101" pitchFamily="2" charset="-122"/>
              </a:rPr>
              <a:t>b</a:t>
            </a:r>
            <a:endParaRPr lang="zh-CN" altLang="en-US" sz="14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BE2817DB-43B0-4D31-913A-15BF25F905C7}"/>
                  </a:ext>
                </a:extLst>
              </p:cNvPr>
              <p:cNvSpPr txBox="1"/>
              <p:nvPr/>
            </p:nvSpPr>
            <p:spPr>
              <a:xfrm>
                <a:off x="679068" y="1508697"/>
                <a:ext cx="2108444"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solidFill>
                                <a:srgbClr val="FF0000"/>
                              </a:solidFill>
                              <a:latin typeface="Cambria Math" panose="02040503050406030204" pitchFamily="18" charset="0"/>
                            </a:rPr>
                          </m:ctrlPr>
                        </m:sSubPr>
                        <m:e>
                          <m:r>
                            <a:rPr lang="en-US" altLang="zh-CN" sz="2000" b="1" i="1" smtClean="0">
                              <a:solidFill>
                                <a:srgbClr val="FF0000"/>
                              </a:solidFill>
                              <a:latin typeface="Cambria Math" panose="02040503050406030204" pitchFamily="18" charset="0"/>
                            </a:rPr>
                            <m:t>𝒎𝒊𝒏</m:t>
                          </m:r>
                        </m:e>
                        <m:sub>
                          <m:r>
                            <a:rPr lang="en-US" altLang="zh-CN" sz="2000" b="1" i="1" smtClean="0">
                              <a:solidFill>
                                <a:srgbClr val="FF0000"/>
                              </a:solidFill>
                              <a:latin typeface="Cambria Math" panose="02040503050406030204" pitchFamily="18" charset="0"/>
                            </a:rPr>
                            <m:t>𝒙</m:t>
                          </m:r>
                        </m:sub>
                      </m:sSub>
                      <m:r>
                        <a:rPr lang="en-US" altLang="zh-CN" sz="2000" b="1" i="1" smtClean="0">
                          <a:solidFill>
                            <a:srgbClr val="FF0000"/>
                          </a:solidFill>
                          <a:latin typeface="Cambria Math" panose="02040503050406030204" pitchFamily="18" charset="0"/>
                        </a:rPr>
                        <m:t>𝒇</m:t>
                      </m:r>
                      <m:d>
                        <m:dPr>
                          <m:ctrlPr>
                            <a:rPr lang="en-US" altLang="zh-CN" sz="2000" b="1" i="1" smtClean="0">
                              <a:solidFill>
                                <a:srgbClr val="FF0000"/>
                              </a:solidFill>
                              <a:latin typeface="Cambria Math" panose="02040503050406030204" pitchFamily="18" charset="0"/>
                            </a:rPr>
                          </m:ctrlPr>
                        </m:dPr>
                        <m:e>
                          <m:r>
                            <a:rPr lang="en-US" altLang="zh-CN" sz="2000" b="1" i="1" smtClean="0">
                              <a:solidFill>
                                <a:srgbClr val="FF0000"/>
                              </a:solidFill>
                              <a:latin typeface="Cambria Math" panose="02040503050406030204" pitchFamily="18" charset="0"/>
                            </a:rPr>
                            <m:t>𝒙</m:t>
                          </m:r>
                        </m:e>
                      </m:d>
                      <m:r>
                        <a:rPr lang="zh-CN" altLang="en-US" sz="2000" b="1" i="1">
                          <a:solidFill>
                            <a:srgbClr val="FF0000"/>
                          </a:solidFill>
                          <a:latin typeface="Cambria Math" panose="02040503050406030204" pitchFamily="18" charset="0"/>
                        </a:rPr>
                        <m:t>使得</m:t>
                      </m:r>
                    </m:oMath>
                  </m:oMathPara>
                </a14:m>
                <a:endParaRPr lang="zh-CN" altLang="en-US" sz="2000" b="1"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30" name="文本框 29">
                <a:extLst>
                  <a:ext uri="{FF2B5EF4-FFF2-40B4-BE49-F238E27FC236}">
                    <a16:creationId xmlns:a16="http://schemas.microsoft.com/office/drawing/2014/main" id="{BE2817DB-43B0-4D31-913A-15BF25F905C7}"/>
                  </a:ext>
                </a:extLst>
              </p:cNvPr>
              <p:cNvSpPr txBox="1">
                <a:spLocks noRot="1" noChangeAspect="1" noMove="1" noResize="1" noEditPoints="1" noAdjustHandles="1" noChangeArrowheads="1" noChangeShapeType="1" noTextEdit="1"/>
              </p:cNvSpPr>
              <p:nvPr/>
            </p:nvSpPr>
            <p:spPr>
              <a:xfrm>
                <a:off x="679068" y="1508697"/>
                <a:ext cx="2108444" cy="400110"/>
              </a:xfrm>
              <a:prstGeom prst="rect">
                <a:avLst/>
              </a:prstGeom>
              <a:blipFill>
                <a:blip r:embed="rId8"/>
                <a:stretch>
                  <a:fillRect b="-15152"/>
                </a:stretch>
              </a:blipFill>
            </p:spPr>
            <p:txBody>
              <a:bodyPr/>
              <a:lstStyle/>
              <a:p>
                <a:r>
                  <a:rPr lang="zh-CN" altLang="en-US">
                    <a:noFill/>
                  </a:rPr>
                  <a:t> </a:t>
                </a:r>
              </a:p>
            </p:txBody>
          </p:sp>
        </mc:Fallback>
      </mc:AlternateContent>
      <p:sp>
        <p:nvSpPr>
          <p:cNvPr id="31" name="文本框 30">
            <a:extLst>
              <a:ext uri="{FF2B5EF4-FFF2-40B4-BE49-F238E27FC236}">
                <a16:creationId xmlns:a16="http://schemas.microsoft.com/office/drawing/2014/main" id="{14984026-745F-43E6-9160-5CC9A0AF1C99}"/>
              </a:ext>
            </a:extLst>
          </p:cNvPr>
          <p:cNvSpPr txBox="1"/>
          <p:nvPr/>
        </p:nvSpPr>
        <p:spPr>
          <a:xfrm>
            <a:off x="6184821" y="1144767"/>
            <a:ext cx="2867896" cy="584775"/>
          </a:xfrm>
          <a:prstGeom prst="rect">
            <a:avLst/>
          </a:prstGeom>
          <a:solidFill>
            <a:schemeClr val="bg1"/>
          </a:solidFill>
          <a:effectLst>
            <a:outerShdw blurRad="63500" sx="102000" sy="102000" algn="ctr" rotWithShape="0">
              <a:prstClr val="black">
                <a:alpha val="40000"/>
              </a:prstClr>
            </a:outerShdw>
          </a:effectLst>
        </p:spPr>
        <p:txBody>
          <a:bodyPr wrap="square">
            <a:spAutoFit/>
          </a:bodyPr>
          <a:lstStyle/>
          <a:p>
            <a:r>
              <a:rPr lang="zh-CN" altLang="en-US" sz="1600" dirty="0">
                <a:solidFill>
                  <a:srgbClr val="2C3E50"/>
                </a:solidFill>
                <a:latin typeface="华文楷体" panose="02010600040101010101" pitchFamily="2" charset="-122"/>
                <a:ea typeface="华文楷体" panose="02010600040101010101" pitchFamily="2" charset="-122"/>
              </a:rPr>
              <a:t>目标函数</a:t>
            </a:r>
            <a:r>
              <a:rPr lang="en-US" altLang="zh-CN" sz="1600" i="0" dirty="0">
                <a:solidFill>
                  <a:srgbClr val="2C3E50"/>
                </a:solidFill>
                <a:effectLst/>
                <a:latin typeface="华文楷体" panose="02010600040101010101" pitchFamily="2" charset="-122"/>
                <a:ea typeface="华文楷体" panose="02010600040101010101" pitchFamily="2" charset="-122"/>
              </a:rPr>
              <a:t>f(x)</a:t>
            </a:r>
            <a:r>
              <a:rPr lang="zh-CN" altLang="en-US" sz="1600" i="0" dirty="0">
                <a:solidFill>
                  <a:srgbClr val="2C3E50"/>
                </a:solidFill>
                <a:effectLst/>
                <a:latin typeface="华文楷体" panose="02010600040101010101" pitchFamily="2" charset="-122"/>
                <a:ea typeface="华文楷体" panose="02010600040101010101" pitchFamily="2" charset="-122"/>
              </a:rPr>
              <a:t>和</a:t>
            </a:r>
            <a:r>
              <a:rPr lang="zh-CN" altLang="en-US" sz="1600" dirty="0">
                <a:solidFill>
                  <a:srgbClr val="2C3E50"/>
                </a:solidFill>
                <a:latin typeface="华文楷体" panose="02010600040101010101" pitchFamily="2" charset="-122"/>
                <a:ea typeface="华文楷体" panose="02010600040101010101" pitchFamily="2" charset="-122"/>
              </a:rPr>
              <a:t>约束条件</a:t>
            </a:r>
            <a:r>
              <a:rPr lang="en-US" altLang="zh-CN" sz="1600" dirty="0">
                <a:solidFill>
                  <a:srgbClr val="2C3E50"/>
                </a:solidFill>
                <a:latin typeface="华文楷体" panose="02010600040101010101" pitchFamily="2" charset="-122"/>
                <a:ea typeface="华文楷体" panose="02010600040101010101" pitchFamily="2" charset="-122"/>
              </a:rPr>
              <a:t>c(x)</a:t>
            </a:r>
            <a:r>
              <a:rPr lang="zh-CN" altLang="en-US" sz="1600" dirty="0">
                <a:solidFill>
                  <a:srgbClr val="2C3E50"/>
                </a:solidFill>
                <a:latin typeface="华文楷体" panose="02010600040101010101" pitchFamily="2" charset="-122"/>
                <a:ea typeface="华文楷体" panose="02010600040101010101" pitchFamily="2" charset="-122"/>
              </a:rPr>
              <a:t>都是多元</a:t>
            </a:r>
            <a:r>
              <a:rPr lang="en-US" altLang="zh-CN" sz="1600" i="0" dirty="0">
                <a:solidFill>
                  <a:srgbClr val="2C3E50"/>
                </a:solidFill>
                <a:effectLst/>
                <a:latin typeface="华文楷体" panose="02010600040101010101" pitchFamily="2" charset="-122"/>
                <a:ea typeface="华文楷体" panose="02010600040101010101" pitchFamily="2" charset="-122"/>
              </a:rPr>
              <a:t>x</a:t>
            </a:r>
            <a:r>
              <a:rPr lang="zh-CN" altLang="en-US" sz="1600" i="0" dirty="0">
                <a:solidFill>
                  <a:srgbClr val="2C3E50"/>
                </a:solidFill>
                <a:effectLst/>
                <a:latin typeface="华文楷体" panose="02010600040101010101" pitchFamily="2" charset="-122"/>
                <a:ea typeface="华文楷体" panose="02010600040101010101" pitchFamily="2" charset="-122"/>
              </a:rPr>
              <a:t>的函数 </a:t>
            </a:r>
            <a:r>
              <a:rPr lang="en-US" altLang="zh-CN" sz="1600" i="0" dirty="0">
                <a:solidFill>
                  <a:srgbClr val="2C3E50"/>
                </a:solidFill>
                <a:effectLst/>
                <a:latin typeface="华文楷体" panose="02010600040101010101" pitchFamily="2" charset="-122"/>
                <a:ea typeface="华文楷体" panose="02010600040101010101" pitchFamily="2" charset="-122"/>
              </a:rPr>
              <a:t>,</a:t>
            </a:r>
            <a:r>
              <a:rPr lang="zh-CN" altLang="en-US" sz="1600" i="0" dirty="0">
                <a:solidFill>
                  <a:srgbClr val="2C3E50"/>
                </a:solidFill>
                <a:effectLst/>
                <a:latin typeface="华文楷体" panose="02010600040101010101" pitchFamily="2" charset="-122"/>
                <a:ea typeface="华文楷体" panose="02010600040101010101" pitchFamily="2" charset="-122"/>
              </a:rPr>
              <a:t> 向量</a:t>
            </a:r>
            <a:r>
              <a:rPr lang="en-US" altLang="zh-CN" sz="1600" i="0" dirty="0">
                <a:solidFill>
                  <a:srgbClr val="2C3E50"/>
                </a:solidFill>
                <a:effectLst/>
                <a:latin typeface="华文楷体" panose="02010600040101010101" pitchFamily="2" charset="-122"/>
                <a:ea typeface="华文楷体" panose="02010600040101010101" pitchFamily="2" charset="-122"/>
              </a:rPr>
              <a:t>x=[x1,x2]</a:t>
            </a:r>
          </a:p>
        </p:txBody>
      </p:sp>
      <p:sp>
        <p:nvSpPr>
          <p:cNvPr id="33" name="文本框 32">
            <a:extLst>
              <a:ext uri="{FF2B5EF4-FFF2-40B4-BE49-F238E27FC236}">
                <a16:creationId xmlns:a16="http://schemas.microsoft.com/office/drawing/2014/main" id="{8A223D23-76C0-4FB2-A608-A7CB9DEB23C7}"/>
              </a:ext>
            </a:extLst>
          </p:cNvPr>
          <p:cNvSpPr txBox="1"/>
          <p:nvPr/>
        </p:nvSpPr>
        <p:spPr>
          <a:xfrm>
            <a:off x="-28997" y="715989"/>
            <a:ext cx="9071837" cy="341632"/>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algn="dist"/>
            <a:r>
              <a:rPr lang="en-US" altLang="zh-CN" sz="1800" b="0" dirty="0">
                <a:effectLst/>
                <a:highlight>
                  <a:srgbClr val="FF0000"/>
                </a:highlight>
                <a:latin typeface="华文楷体" panose="02010600040101010101" pitchFamily="2" charset="-122"/>
                <a:ea typeface="华文楷体" panose="02010600040101010101" pitchFamily="2" charset="-122"/>
              </a:rPr>
              <a:t>x</a:t>
            </a:r>
            <a:r>
              <a:rPr lang="zh-CN" altLang="zh-CN" sz="1800" b="0" dirty="0">
                <a:effectLst/>
                <a:highlight>
                  <a:srgbClr val="FF0000"/>
                </a:highlight>
                <a:latin typeface="华文楷体" panose="02010600040101010101" pitchFamily="2" charset="-122"/>
                <a:ea typeface="华文楷体" panose="02010600040101010101" pitchFamily="2" charset="-122"/>
              </a:rPr>
              <a:t>,</a:t>
            </a:r>
            <a:r>
              <a:rPr lang="zh-CN" altLang="zh-CN" sz="1800" b="0" dirty="0">
                <a:effectLst/>
                <a:latin typeface="华文楷体" panose="02010600040101010101" pitchFamily="2" charset="-122"/>
                <a:ea typeface="华文楷体" panose="02010600040101010101" pitchFamily="2" charset="-122"/>
              </a:rPr>
              <a:t>fval,exitflag,output,lambda,grad,hessian=</a:t>
            </a:r>
            <a:r>
              <a:rPr lang="zh-CN" altLang="zh-CN" sz="1800" b="0" dirty="0">
                <a:effectLst/>
                <a:highlight>
                  <a:srgbClr val="FF0000"/>
                </a:highlight>
                <a:latin typeface="华文楷体" panose="02010600040101010101" pitchFamily="2" charset="-122"/>
                <a:ea typeface="华文楷体" panose="02010600040101010101" pitchFamily="2" charset="-122"/>
              </a:rPr>
              <a:t>fmincon(fun,x0,</a:t>
            </a:r>
            <a:r>
              <a:rPr lang="zh-CN" altLang="zh-CN" sz="1800" b="0" dirty="0">
                <a:effectLst/>
                <a:latin typeface="Arial Unicode MS"/>
                <a:ea typeface="source-code-pro"/>
              </a:rPr>
              <a:t>A,b</a:t>
            </a:r>
            <a:r>
              <a:rPr lang="zh-CN" altLang="en-US" sz="1800" b="0" dirty="0">
                <a:effectLst/>
                <a:latin typeface="Arial Unicode MS"/>
                <a:ea typeface="source-code-pro"/>
              </a:rPr>
              <a:t>，</a:t>
            </a:r>
            <a:r>
              <a:rPr lang="zh-CN" altLang="zh-CN" sz="1800" b="0" dirty="0">
                <a:effectLst/>
                <a:latin typeface="Arial Unicode MS"/>
                <a:ea typeface="source-code-pro"/>
              </a:rPr>
              <a:t>Aeq,beq,lb,ub,</a:t>
            </a:r>
            <a:r>
              <a:rPr lang="zh-CN" altLang="zh-CN" sz="1800" dirty="0">
                <a:solidFill>
                  <a:srgbClr val="FFFF00"/>
                </a:solidFill>
                <a:effectLst/>
                <a:latin typeface="Arial Unicode MS"/>
                <a:ea typeface="source-code-pro"/>
              </a:rPr>
              <a:t>nonlcon</a:t>
            </a:r>
            <a:r>
              <a:rPr lang="zh-CN" altLang="zh-CN" sz="1800" dirty="0">
                <a:solidFill>
                  <a:srgbClr val="FFFF00"/>
                </a:solidFill>
                <a:effectLst/>
                <a:latin typeface="华文楷体" panose="02010600040101010101" pitchFamily="2" charset="-122"/>
                <a:ea typeface="华文楷体" panose="02010600040101010101" pitchFamily="2" charset="-122"/>
              </a:rPr>
              <a:t>)</a:t>
            </a:r>
            <a:endParaRPr lang="ko-KR" altLang="en-US" sz="1800" dirty="0">
              <a:solidFill>
                <a:srgbClr val="FFFF00"/>
              </a:solidFill>
              <a:latin typeface="华文楷体" panose="02010600040101010101" pitchFamily="2" charset="-122"/>
              <a:cs typeface="Times New Roman" panose="02020603050405020304" pitchFamily="18" charset="0"/>
            </a:endParaRPr>
          </a:p>
        </p:txBody>
      </p:sp>
      <p:sp>
        <p:nvSpPr>
          <p:cNvPr id="44" name="文本框 43">
            <a:extLst>
              <a:ext uri="{FF2B5EF4-FFF2-40B4-BE49-F238E27FC236}">
                <a16:creationId xmlns:a16="http://schemas.microsoft.com/office/drawing/2014/main" id="{AE166EE7-F061-4B58-B9E2-6D2AFE7B1E06}"/>
              </a:ext>
            </a:extLst>
          </p:cNvPr>
          <p:cNvSpPr txBox="1"/>
          <p:nvPr/>
        </p:nvSpPr>
        <p:spPr>
          <a:xfrm>
            <a:off x="2103972" y="4292757"/>
            <a:ext cx="6159547" cy="307777"/>
          </a:xfrm>
          <a:prstGeom prst="rect">
            <a:avLst/>
          </a:prstGeom>
          <a:solidFill>
            <a:schemeClr val="bg1"/>
          </a:solidFill>
          <a:effectLst/>
        </p:spPr>
        <p:txBody>
          <a:bodyPr wrap="square">
            <a:spAutoFit/>
          </a:bodyPr>
          <a:lstStyle/>
          <a:p>
            <a:r>
              <a:rPr lang="zh-CN" altLang="en-US" sz="1400" b="1" dirty="0">
                <a:solidFill>
                  <a:srgbClr val="00B0F0"/>
                </a:solidFill>
                <a:latin typeface="华文楷体" panose="02010600040101010101" pitchFamily="2" charset="-122"/>
                <a:ea typeface="华文楷体" panose="02010600040101010101" pitchFamily="2" charset="-122"/>
              </a:rPr>
              <a:t>如</a:t>
            </a:r>
            <a:r>
              <a:rPr lang="zh-CN" altLang="zh-CN" sz="1400" b="1" dirty="0">
                <a:solidFill>
                  <a:srgbClr val="00B0F0"/>
                </a:solidFill>
                <a:latin typeface="华文楷体" panose="02010600040101010101" pitchFamily="2" charset="-122"/>
                <a:ea typeface="华文楷体" panose="02010600040101010101" pitchFamily="2" charset="-122"/>
              </a:rPr>
              <a:t>ceq = Float64[] </a:t>
            </a:r>
            <a:endParaRPr lang="zh-CN" altLang="en-US" sz="1400" b="1" dirty="0">
              <a:solidFill>
                <a:srgbClr val="00B0F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3978247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DAFDC7C-764E-45C1-9DAE-D053FDD35456}"/>
              </a:ext>
            </a:extLst>
          </p:cNvPr>
          <p:cNvSpPr txBox="1"/>
          <p:nvPr/>
        </p:nvSpPr>
        <p:spPr>
          <a:xfrm>
            <a:off x="98531" y="1855800"/>
            <a:ext cx="8866295" cy="2847190"/>
          </a:xfrm>
          <a:prstGeom prst="rect">
            <a:avLst/>
          </a:prstGeom>
          <a:noFill/>
        </p:spPr>
        <p:txBody>
          <a:bodyPr wrap="square">
            <a:spAutoFit/>
          </a:bodyPr>
          <a:lstStyle/>
          <a:p>
            <a:pPr marL="285750" indent="-285750">
              <a:lnSpc>
                <a:spcPts val="2600"/>
              </a:lnSpc>
              <a:buFont typeface="Wingdings" panose="05000000000000000000" pitchFamily="2" charset="2"/>
              <a:buChar char="Ø"/>
            </a:pPr>
            <a:r>
              <a:rPr lang="en-US" altLang="zh-CN" sz="2000" dirty="0">
                <a:solidFill>
                  <a:srgbClr val="2C3E50"/>
                </a:solidFill>
                <a:latin typeface="华文楷体" panose="02010600040101010101" pitchFamily="2" charset="-122"/>
                <a:ea typeface="华文楷体" panose="02010600040101010101" pitchFamily="2" charset="-122"/>
              </a:rPr>
              <a:t>fun:</a:t>
            </a:r>
            <a:r>
              <a:rPr lang="zh-CN" altLang="en-US" sz="2000" dirty="0">
                <a:solidFill>
                  <a:srgbClr val="2C3E50"/>
                </a:solidFill>
                <a:latin typeface="华文楷体" panose="02010600040101010101" pitchFamily="2" charset="-122"/>
                <a:ea typeface="华文楷体" panose="02010600040101010101" pitchFamily="2" charset="-122"/>
              </a:rPr>
              <a:t>目标函数</a:t>
            </a:r>
            <a:r>
              <a:rPr lang="en-US" altLang="zh-CN" sz="2000" dirty="0">
                <a:solidFill>
                  <a:srgbClr val="2C3E50"/>
                </a:solidFill>
                <a:latin typeface="华文楷体" panose="02010600040101010101" pitchFamily="2" charset="-122"/>
                <a:ea typeface="华文楷体" panose="02010600040101010101" pitchFamily="2" charset="-122"/>
              </a:rPr>
              <a:t>f(x),</a:t>
            </a:r>
            <a:r>
              <a:rPr lang="zh-CN" altLang="en-US" sz="2000" dirty="0">
                <a:solidFill>
                  <a:srgbClr val="2C3E50"/>
                </a:solidFill>
                <a:latin typeface="华文楷体" panose="02010600040101010101" pitchFamily="2" charset="-122"/>
                <a:ea typeface="华文楷体" panose="02010600040101010101" pitchFamily="2" charset="-122"/>
              </a:rPr>
              <a:t>要计算最小值的函数</a:t>
            </a:r>
            <a:r>
              <a:rPr lang="en-US" altLang="zh-CN" sz="2000" dirty="0">
                <a:solidFill>
                  <a:srgbClr val="2C3E50"/>
                </a:solidFill>
                <a:latin typeface="华文楷体" panose="02010600040101010101" pitchFamily="2" charset="-122"/>
                <a:ea typeface="华文楷体" panose="02010600040101010101" pitchFamily="2" charset="-122"/>
              </a:rPr>
              <a:t>,</a:t>
            </a:r>
          </a:p>
          <a:p>
            <a:pPr marL="285750" indent="-285750">
              <a:lnSpc>
                <a:spcPts val="2600"/>
              </a:lnSpc>
              <a:buFont typeface="Wingdings" panose="05000000000000000000" pitchFamily="2" charset="2"/>
              <a:buChar char="Ø"/>
            </a:pPr>
            <a:r>
              <a:rPr lang="zh-CN" altLang="en-US" sz="2000" dirty="0">
                <a:solidFill>
                  <a:srgbClr val="2C3E50"/>
                </a:solidFill>
                <a:latin typeface="华文楷体" panose="02010600040101010101" pitchFamily="2" charset="-122"/>
                <a:ea typeface="华文楷体" panose="02010600040101010101" pitchFamily="2" charset="-122"/>
              </a:rPr>
              <a:t> </a:t>
            </a:r>
            <a:r>
              <a:rPr lang="en-US" altLang="zh-CN" sz="2000" dirty="0">
                <a:solidFill>
                  <a:srgbClr val="2C3E50"/>
                </a:solidFill>
                <a:latin typeface="华文楷体" panose="02010600040101010101" pitchFamily="2" charset="-122"/>
                <a:ea typeface="华文楷体" panose="02010600040101010101" pitchFamily="2" charset="-122"/>
              </a:rPr>
              <a:t>x0 </a:t>
            </a:r>
            <a:r>
              <a:rPr lang="zh-CN" altLang="en-US" sz="2000" dirty="0">
                <a:solidFill>
                  <a:srgbClr val="2C3E50"/>
                </a:solidFill>
                <a:latin typeface="华文楷体" panose="02010600040101010101" pitchFamily="2" charset="-122"/>
                <a:ea typeface="华文楷体" panose="02010600040101010101" pitchFamily="2" charset="-122"/>
              </a:rPr>
              <a:t>：初始点，定为实数向量，如</a:t>
            </a:r>
            <a:r>
              <a:rPr lang="en-US" altLang="zh-CN" sz="2000" dirty="0">
                <a:solidFill>
                  <a:srgbClr val="2C3E50"/>
                </a:solidFill>
                <a:latin typeface="华文楷体" panose="02010600040101010101" pitchFamily="2" charset="-122"/>
                <a:ea typeface="华文楷体" panose="02010600040101010101" pitchFamily="2" charset="-122"/>
              </a:rPr>
              <a:t>x0 = [1,2,3,4]</a:t>
            </a:r>
            <a:endParaRPr lang="en-US" altLang="zh-CN" sz="2000" i="0" dirty="0">
              <a:solidFill>
                <a:srgbClr val="002060"/>
              </a:solidFill>
              <a:effectLst/>
              <a:latin typeface="华文楷体" panose="02010600040101010101" pitchFamily="2" charset="-122"/>
              <a:ea typeface="华文楷体" panose="02010600040101010101" pitchFamily="2" charset="-122"/>
            </a:endParaRPr>
          </a:p>
          <a:p>
            <a:pPr marL="285750" indent="-285750">
              <a:lnSpc>
                <a:spcPts val="2600"/>
              </a:lnSpc>
              <a:buFont typeface="Wingdings" panose="05000000000000000000" pitchFamily="2" charset="2"/>
              <a:buChar char="Ø"/>
            </a:pPr>
            <a:r>
              <a:rPr lang="zh-CN" altLang="en-US" sz="2000" i="0" dirty="0">
                <a:solidFill>
                  <a:srgbClr val="002060"/>
                </a:solidFill>
                <a:effectLst/>
                <a:latin typeface="华文楷体" panose="02010600040101010101" pitchFamily="2" charset="-122"/>
                <a:ea typeface="华文楷体" panose="02010600040101010101" pitchFamily="2" charset="-122"/>
              </a:rPr>
              <a:t>线性不等式约束：</a:t>
            </a:r>
            <a:r>
              <a:rPr lang="en-US" altLang="zh-CN" sz="2000" i="0" dirty="0">
                <a:solidFill>
                  <a:srgbClr val="002060"/>
                </a:solidFill>
                <a:effectLst/>
                <a:latin typeface="华文楷体" panose="02010600040101010101" pitchFamily="2" charset="-122"/>
                <a:ea typeface="华文楷体" panose="02010600040101010101" pitchFamily="2" charset="-122"/>
              </a:rPr>
              <a:t>A*x &lt;= b</a:t>
            </a:r>
            <a:r>
              <a:rPr lang="zh-CN" altLang="en-US" sz="2000" i="0" dirty="0">
                <a:solidFill>
                  <a:srgbClr val="002060"/>
                </a:solidFill>
                <a:effectLst/>
                <a:latin typeface="华文楷体" panose="02010600040101010101" pitchFamily="2" charset="-122"/>
                <a:ea typeface="华文楷体" panose="02010600040101010101" pitchFamily="2" charset="-122"/>
              </a:rPr>
              <a:t>，</a:t>
            </a:r>
            <a:r>
              <a:rPr lang="en-US" altLang="zh-CN" sz="2000" dirty="0">
                <a:solidFill>
                  <a:srgbClr val="002060"/>
                </a:solidFill>
                <a:latin typeface="华文楷体" panose="02010600040101010101" pitchFamily="2" charset="-122"/>
                <a:ea typeface="华文楷体" panose="02010600040101010101" pitchFamily="2" charset="-122"/>
              </a:rPr>
              <a:t>A </a:t>
            </a:r>
            <a:r>
              <a:rPr lang="zh-CN" altLang="en-US" sz="2000" dirty="0">
                <a:solidFill>
                  <a:srgbClr val="002060"/>
                </a:solidFill>
                <a:latin typeface="华文楷体" panose="02010600040101010101" pitchFamily="2" charset="-122"/>
                <a:ea typeface="华文楷体" panose="02010600040101010101" pitchFamily="2" charset="-122"/>
              </a:rPr>
              <a:t>矩阵，</a:t>
            </a:r>
            <a:r>
              <a:rPr lang="en-US" altLang="zh-CN" sz="2000" i="0" dirty="0">
                <a:solidFill>
                  <a:srgbClr val="002060"/>
                </a:solidFill>
                <a:effectLst/>
                <a:latin typeface="华文楷体" panose="02010600040101010101" pitchFamily="2" charset="-122"/>
                <a:ea typeface="华文楷体" panose="02010600040101010101" pitchFamily="2" charset="-122"/>
              </a:rPr>
              <a:t>b</a:t>
            </a:r>
            <a:r>
              <a:rPr lang="zh-CN" altLang="en-US" sz="2000" i="0" dirty="0">
                <a:solidFill>
                  <a:srgbClr val="002060"/>
                </a:solidFill>
                <a:effectLst/>
                <a:latin typeface="华文楷体" panose="02010600040101010101" pitchFamily="2" charset="-122"/>
                <a:ea typeface="华文楷体" panose="02010600040101010101" pitchFamily="2" charset="-122"/>
              </a:rPr>
              <a:t>是向量，</a:t>
            </a:r>
            <a:endParaRPr lang="en-US" altLang="zh-CN" sz="2000" i="0" dirty="0">
              <a:solidFill>
                <a:srgbClr val="002060"/>
              </a:solidFill>
              <a:effectLst/>
              <a:latin typeface="华文楷体" panose="02010600040101010101" pitchFamily="2" charset="-122"/>
              <a:ea typeface="华文楷体" panose="02010600040101010101" pitchFamily="2" charset="-122"/>
            </a:endParaRPr>
          </a:p>
          <a:p>
            <a:pPr marL="285750" indent="-285750">
              <a:lnSpc>
                <a:spcPts val="2600"/>
              </a:lnSpc>
              <a:buFont typeface="Wingdings" panose="05000000000000000000" pitchFamily="2" charset="2"/>
              <a:buChar char="Ø"/>
            </a:pPr>
            <a:r>
              <a:rPr lang="zh-CN" altLang="en-US" sz="2000" i="0" dirty="0">
                <a:solidFill>
                  <a:srgbClr val="002060"/>
                </a:solidFill>
                <a:effectLst/>
                <a:latin typeface="华文楷体" panose="02010600040101010101" pitchFamily="2" charset="-122"/>
                <a:ea typeface="华文楷体" panose="02010600040101010101" pitchFamily="2" charset="-122"/>
              </a:rPr>
              <a:t>线性等式约束 </a:t>
            </a:r>
            <a:r>
              <a:rPr lang="en-US" altLang="zh-CN" sz="2000" i="0" dirty="0" err="1">
                <a:solidFill>
                  <a:srgbClr val="002060"/>
                </a:solidFill>
                <a:effectLst/>
                <a:latin typeface="华文楷体" panose="02010600040101010101" pitchFamily="2" charset="-122"/>
                <a:ea typeface="华文楷体" panose="02010600040101010101" pitchFamily="2" charset="-122"/>
              </a:rPr>
              <a:t>Aeq</a:t>
            </a:r>
            <a:r>
              <a:rPr lang="en-US" altLang="zh-CN" sz="2000" i="0" dirty="0">
                <a:solidFill>
                  <a:srgbClr val="002060"/>
                </a:solidFill>
                <a:effectLst/>
                <a:latin typeface="华文楷体" panose="02010600040101010101" pitchFamily="2" charset="-122"/>
                <a:ea typeface="华文楷体" panose="02010600040101010101" pitchFamily="2" charset="-122"/>
              </a:rPr>
              <a:t>*x = </a:t>
            </a:r>
            <a:r>
              <a:rPr lang="en-US" altLang="zh-CN" sz="2000" i="0" u="none" strike="noStrike" dirty="0" err="1">
                <a:solidFill>
                  <a:srgbClr val="002060"/>
                </a:solidFill>
                <a:effectLst/>
                <a:latin typeface="华文楷体" panose="02010600040101010101" pitchFamily="2" charset="-122"/>
                <a:ea typeface="华文楷体" panose="02010600040101010101" pitchFamily="2" charset="-122"/>
                <a:hlinkClick r:id="rId3" action="ppaction://hlinkfile">
                  <a:extLst>
                    <a:ext uri="{A12FA001-AC4F-418D-AE19-62706E023703}">
                      <ahyp:hlinkClr xmlns:ahyp="http://schemas.microsoft.com/office/drawing/2018/hyperlinkcolor" val="tx"/>
                    </a:ext>
                  </a:extLst>
                </a:hlinkClick>
              </a:rPr>
              <a:t>beq</a:t>
            </a:r>
            <a:r>
              <a:rPr lang="zh-CN" altLang="en-US" sz="2000" i="0" u="none" strike="noStrike" dirty="0">
                <a:solidFill>
                  <a:srgbClr val="002060"/>
                </a:solidFill>
                <a:effectLst/>
                <a:latin typeface="华文楷体" panose="02010600040101010101" pitchFamily="2" charset="-122"/>
                <a:ea typeface="华文楷体" panose="02010600040101010101" pitchFamily="2" charset="-122"/>
              </a:rPr>
              <a:t>，</a:t>
            </a:r>
            <a:r>
              <a:rPr lang="en-US" altLang="zh-CN" sz="2000" dirty="0">
                <a:solidFill>
                  <a:srgbClr val="002060"/>
                </a:solidFill>
                <a:latin typeface="华文楷体" panose="02010600040101010101" pitchFamily="2" charset="-122"/>
                <a:ea typeface="华文楷体" panose="02010600040101010101" pitchFamily="2" charset="-122"/>
              </a:rPr>
              <a:t> </a:t>
            </a:r>
            <a:r>
              <a:rPr lang="en-US" altLang="zh-CN" sz="2000" dirty="0" err="1">
                <a:solidFill>
                  <a:srgbClr val="002060"/>
                </a:solidFill>
                <a:latin typeface="华文楷体" panose="02010600040101010101" pitchFamily="2" charset="-122"/>
                <a:ea typeface="华文楷体" panose="02010600040101010101" pitchFamily="2" charset="-122"/>
              </a:rPr>
              <a:t>Aeq</a:t>
            </a:r>
            <a:r>
              <a:rPr lang="en-US" altLang="zh-CN" sz="2000" dirty="0">
                <a:solidFill>
                  <a:srgbClr val="002060"/>
                </a:solidFill>
                <a:latin typeface="华文楷体" panose="02010600040101010101" pitchFamily="2" charset="-122"/>
                <a:ea typeface="华文楷体" panose="02010600040101010101" pitchFamily="2" charset="-122"/>
              </a:rPr>
              <a:t> </a:t>
            </a:r>
            <a:r>
              <a:rPr lang="zh-CN" altLang="en-US" sz="2000" dirty="0">
                <a:solidFill>
                  <a:srgbClr val="002060"/>
                </a:solidFill>
                <a:latin typeface="华文楷体" panose="02010600040101010101" pitchFamily="2" charset="-122"/>
                <a:ea typeface="华文楷体" panose="02010600040101010101" pitchFamily="2" charset="-122"/>
              </a:rPr>
              <a:t>是矩阵，</a:t>
            </a:r>
            <a:r>
              <a:rPr lang="en-US" altLang="zh-CN" sz="2000" i="0" dirty="0" err="1">
                <a:solidFill>
                  <a:srgbClr val="002060"/>
                </a:solidFill>
                <a:effectLst/>
                <a:latin typeface="华文楷体" panose="02010600040101010101" pitchFamily="2" charset="-122"/>
                <a:ea typeface="华文楷体" panose="02010600040101010101" pitchFamily="2" charset="-122"/>
              </a:rPr>
              <a:t>beq</a:t>
            </a:r>
            <a:r>
              <a:rPr lang="en-US" altLang="zh-CN" sz="2000" i="0" dirty="0">
                <a:solidFill>
                  <a:srgbClr val="002060"/>
                </a:solidFill>
                <a:effectLst/>
                <a:latin typeface="华文楷体" panose="02010600040101010101" pitchFamily="2" charset="-122"/>
                <a:ea typeface="华文楷体" panose="02010600040101010101" pitchFamily="2" charset="-122"/>
              </a:rPr>
              <a:t> </a:t>
            </a:r>
            <a:r>
              <a:rPr lang="zh-CN" altLang="en-US" sz="2000" i="0" dirty="0">
                <a:solidFill>
                  <a:srgbClr val="002060"/>
                </a:solidFill>
                <a:effectLst/>
                <a:latin typeface="华文楷体" panose="02010600040101010101" pitchFamily="2" charset="-122"/>
                <a:ea typeface="华文楷体" panose="02010600040101010101" pitchFamily="2" charset="-122"/>
              </a:rPr>
              <a:t>是向量</a:t>
            </a:r>
            <a:endParaRPr lang="en-US" altLang="zh-CN" sz="2000" i="0" dirty="0">
              <a:solidFill>
                <a:srgbClr val="002060"/>
              </a:solidFill>
              <a:effectLst/>
              <a:latin typeface="华文楷体" panose="02010600040101010101" pitchFamily="2" charset="-122"/>
              <a:ea typeface="华文楷体" panose="02010600040101010101" pitchFamily="2" charset="-122"/>
            </a:endParaRPr>
          </a:p>
          <a:p>
            <a:pPr marL="285750" indent="-285750">
              <a:lnSpc>
                <a:spcPts val="2600"/>
              </a:lnSpc>
              <a:buFont typeface="Wingdings" panose="05000000000000000000" pitchFamily="2" charset="2"/>
              <a:buChar char="Ø"/>
            </a:pPr>
            <a:r>
              <a:rPr lang="en-US" altLang="zh-CN" sz="2000" i="0" dirty="0">
                <a:solidFill>
                  <a:srgbClr val="002060"/>
                </a:solidFill>
                <a:effectLst/>
                <a:latin typeface="华文楷体" panose="02010600040101010101" pitchFamily="2" charset="-122"/>
                <a:ea typeface="华文楷体" panose="02010600040101010101" pitchFamily="2" charset="-122"/>
              </a:rPr>
              <a:t> </a:t>
            </a:r>
            <a:r>
              <a:rPr lang="zh-CN" altLang="en-US" sz="2000" i="0" dirty="0">
                <a:solidFill>
                  <a:srgbClr val="002060"/>
                </a:solidFill>
                <a:effectLst/>
                <a:latin typeface="华文楷体" panose="02010600040101010101" pitchFamily="2" charset="-122"/>
                <a:ea typeface="华文楷体" panose="02010600040101010101" pitchFamily="2" charset="-122"/>
              </a:rPr>
              <a:t>边界约束</a:t>
            </a:r>
            <a:r>
              <a:rPr lang="en-US" altLang="zh-CN" sz="2000" i="0" u="none" strike="noStrike" dirty="0" err="1">
                <a:solidFill>
                  <a:srgbClr val="002060"/>
                </a:solidFill>
                <a:effectLst/>
                <a:latin typeface="华文楷体" panose="02010600040101010101" pitchFamily="2" charset="-122"/>
                <a:ea typeface="华文楷体" panose="02010600040101010101" pitchFamily="2" charset="-122"/>
                <a:hlinkClick r:id="rId4" action="ppaction://hlinkfile">
                  <a:extLst>
                    <a:ext uri="{A12FA001-AC4F-418D-AE19-62706E023703}">
                      <ahyp:hlinkClr xmlns:ahyp="http://schemas.microsoft.com/office/drawing/2018/hyperlinkcolor" val="tx"/>
                    </a:ext>
                  </a:extLst>
                </a:hlinkClick>
              </a:rPr>
              <a:t>lb</a:t>
            </a:r>
            <a:r>
              <a:rPr lang="en-US" altLang="zh-CN" sz="2000" i="0" dirty="0">
                <a:solidFill>
                  <a:srgbClr val="002060"/>
                </a:solidFill>
                <a:effectLst/>
                <a:latin typeface="华文楷体" panose="02010600040101010101" pitchFamily="2" charset="-122"/>
                <a:ea typeface="华文楷体" panose="02010600040101010101" pitchFamily="2" charset="-122"/>
              </a:rPr>
              <a:t> ≤ x ≤ </a:t>
            </a:r>
            <a:r>
              <a:rPr lang="en-US" altLang="zh-CN" sz="2000" i="0" u="none" strike="noStrike" dirty="0" err="1">
                <a:solidFill>
                  <a:srgbClr val="002060"/>
                </a:solidFill>
                <a:effectLst/>
                <a:latin typeface="华文楷体" panose="02010600040101010101" pitchFamily="2" charset="-122"/>
                <a:ea typeface="华文楷体" panose="02010600040101010101" pitchFamily="2" charset="-122"/>
                <a:hlinkClick r:id="rId5" action="ppaction://hlinkfile">
                  <a:extLst>
                    <a:ext uri="{A12FA001-AC4F-418D-AE19-62706E023703}">
                      <ahyp:hlinkClr xmlns:ahyp="http://schemas.microsoft.com/office/drawing/2018/hyperlinkcolor" val="tx"/>
                    </a:ext>
                  </a:extLst>
                </a:hlinkClick>
              </a:rPr>
              <a:t>ub</a:t>
            </a:r>
            <a:r>
              <a:rPr lang="en-US" altLang="zh-CN" sz="2000" i="0" dirty="0">
                <a:solidFill>
                  <a:srgbClr val="002060"/>
                </a:solidFill>
                <a:effectLst/>
                <a:latin typeface="华文楷体" panose="02010600040101010101" pitchFamily="2" charset="-122"/>
                <a:ea typeface="华文楷体" panose="02010600040101010101" pitchFamily="2" charset="-122"/>
              </a:rPr>
              <a:t> </a:t>
            </a:r>
            <a:r>
              <a:rPr lang="zh-CN" altLang="en-US" sz="2000" i="0" dirty="0">
                <a:solidFill>
                  <a:srgbClr val="002060"/>
                </a:solidFill>
                <a:effectLst/>
                <a:latin typeface="华文楷体" panose="02010600040101010101" pitchFamily="2" charset="-122"/>
                <a:ea typeface="华文楷体" panose="02010600040101010101" pitchFamily="2" charset="-122"/>
              </a:rPr>
              <a:t>，</a:t>
            </a:r>
            <a:r>
              <a:rPr lang="en-US" altLang="zh-CN" sz="2000" i="0" u="none" strike="noStrike" dirty="0" err="1">
                <a:solidFill>
                  <a:srgbClr val="002060"/>
                </a:solidFill>
                <a:effectLst/>
                <a:latin typeface="华文楷体" panose="02010600040101010101" pitchFamily="2" charset="-122"/>
                <a:ea typeface="华文楷体" panose="02010600040101010101" pitchFamily="2" charset="-122"/>
                <a:hlinkClick r:id="rId4" action="ppaction://hlinkfile">
                  <a:extLst>
                    <a:ext uri="{A12FA001-AC4F-418D-AE19-62706E023703}">
                      <ahyp:hlinkClr xmlns:ahyp="http://schemas.microsoft.com/office/drawing/2018/hyperlinkcolor" val="tx"/>
                    </a:ext>
                  </a:extLst>
                </a:hlinkClick>
              </a:rPr>
              <a:t>lb</a:t>
            </a:r>
            <a:r>
              <a:rPr lang="en-US" altLang="zh-CN" sz="2000" i="0" dirty="0">
                <a:solidFill>
                  <a:srgbClr val="002060"/>
                </a:solidFill>
                <a:effectLst/>
                <a:latin typeface="华文楷体" panose="02010600040101010101" pitchFamily="2" charset="-122"/>
                <a:ea typeface="华文楷体" panose="02010600040101010101" pitchFamily="2" charset="-122"/>
              </a:rPr>
              <a:t> </a:t>
            </a:r>
            <a:r>
              <a:rPr lang="zh-CN" altLang="en-US" sz="2000" i="0" dirty="0">
                <a:solidFill>
                  <a:srgbClr val="002060"/>
                </a:solidFill>
                <a:effectLst/>
                <a:latin typeface="华文楷体" panose="02010600040101010101" pitchFamily="2" charset="-122"/>
                <a:ea typeface="华文楷体" panose="02010600040101010101" pitchFamily="2" charset="-122"/>
              </a:rPr>
              <a:t>下界，</a:t>
            </a:r>
            <a:r>
              <a:rPr lang="en-US" altLang="zh-CN" sz="2000" i="0" dirty="0" err="1">
                <a:solidFill>
                  <a:srgbClr val="002060"/>
                </a:solidFill>
                <a:effectLst/>
                <a:latin typeface="华文楷体" panose="02010600040101010101" pitchFamily="2" charset="-122"/>
                <a:ea typeface="华文楷体" panose="02010600040101010101" pitchFamily="2" charset="-122"/>
              </a:rPr>
              <a:t>ub</a:t>
            </a:r>
            <a:r>
              <a:rPr lang="zh-CN" altLang="en-US" sz="2000" i="0" dirty="0">
                <a:solidFill>
                  <a:srgbClr val="002060"/>
                </a:solidFill>
                <a:effectLst/>
                <a:latin typeface="华文楷体" panose="02010600040101010101" pitchFamily="2" charset="-122"/>
                <a:ea typeface="华文楷体" panose="02010600040101010101" pitchFamily="2" charset="-122"/>
              </a:rPr>
              <a:t>上界，</a:t>
            </a:r>
            <a:endParaRPr lang="en-US" altLang="zh-CN" sz="2000" i="0" dirty="0">
              <a:solidFill>
                <a:srgbClr val="002060"/>
              </a:solidFill>
              <a:effectLst/>
              <a:latin typeface="华文楷体" panose="02010600040101010101" pitchFamily="2" charset="-122"/>
              <a:ea typeface="华文楷体" panose="02010600040101010101" pitchFamily="2" charset="-122"/>
            </a:endParaRPr>
          </a:p>
          <a:p>
            <a:pPr marL="285750" indent="-285750">
              <a:lnSpc>
                <a:spcPts val="2600"/>
              </a:lnSpc>
              <a:buFont typeface="Wingdings" panose="05000000000000000000" pitchFamily="2" charset="2"/>
              <a:buChar char="Ø"/>
            </a:pPr>
            <a:r>
              <a:rPr lang="en-US" altLang="zh-CN" sz="2000" dirty="0">
                <a:solidFill>
                  <a:srgbClr val="002060"/>
                </a:solidFill>
                <a:latin typeface="华文楷体" panose="02010600040101010101" pitchFamily="2" charset="-122"/>
                <a:ea typeface="华文楷体" panose="02010600040101010101" pitchFamily="2" charset="-122"/>
                <a:hlinkClick r:id="rId6" action="ppaction://hlinkfile">
                  <a:extLst>
                    <a:ext uri="{A12FA001-AC4F-418D-AE19-62706E023703}">
                      <ahyp:hlinkClr xmlns:ahyp="http://schemas.microsoft.com/office/drawing/2018/hyperlinkcolor" val="tx"/>
                    </a:ext>
                  </a:extLst>
                </a:hlinkClick>
              </a:rPr>
              <a:t>Nonlcon</a:t>
            </a:r>
            <a:r>
              <a:rPr lang="zh-CN" altLang="en-US" sz="2000" dirty="0">
                <a:solidFill>
                  <a:srgbClr val="002060"/>
                </a:solidFill>
                <a:latin typeface="华文楷体" panose="02010600040101010101" pitchFamily="2" charset="-122"/>
                <a:ea typeface="华文楷体" panose="02010600040101010101" pitchFamily="2" charset="-122"/>
              </a:rPr>
              <a:t>为</a:t>
            </a:r>
            <a:r>
              <a:rPr lang="zh-CN" altLang="en-US" sz="2000" dirty="0">
                <a:solidFill>
                  <a:srgbClr val="2C3E50"/>
                </a:solidFill>
                <a:latin typeface="华文楷体" panose="02010600040101010101" pitchFamily="2" charset="-122"/>
                <a:ea typeface="华文楷体" panose="02010600040101010101" pitchFamily="2" charset="-122"/>
              </a:rPr>
              <a:t>非线性约束</a:t>
            </a:r>
            <a:r>
              <a:rPr lang="en-US" altLang="zh-CN" sz="2000" dirty="0">
                <a:solidFill>
                  <a:srgbClr val="2C3E50"/>
                </a:solidFill>
                <a:latin typeface="华文楷体" panose="02010600040101010101" pitchFamily="2" charset="-122"/>
                <a:ea typeface="华文楷体" panose="02010600040101010101" pitchFamily="2" charset="-122"/>
              </a:rPr>
              <a:t>,</a:t>
            </a:r>
            <a:r>
              <a:rPr lang="en-US" altLang="zh-CN" sz="2000" i="0" dirty="0">
                <a:solidFill>
                  <a:srgbClr val="002060"/>
                </a:solidFill>
                <a:effectLst/>
                <a:latin typeface="华文楷体" panose="02010600040101010101" pitchFamily="2" charset="-122"/>
                <a:ea typeface="华文楷体" panose="02010600040101010101" pitchFamily="2" charset="-122"/>
              </a:rPr>
              <a:t>  </a:t>
            </a:r>
            <a:r>
              <a:rPr lang="zh-CN" altLang="en-US" sz="2000" i="0" dirty="0">
                <a:solidFill>
                  <a:srgbClr val="002060"/>
                </a:solidFill>
                <a:effectLst/>
                <a:latin typeface="华文楷体" panose="02010600040101010101" pitchFamily="2" charset="-122"/>
                <a:ea typeface="华文楷体" panose="02010600040101010101" pitchFamily="2" charset="-122"/>
              </a:rPr>
              <a:t>由非线性不等式 </a:t>
            </a:r>
            <a:r>
              <a:rPr lang="en-US" altLang="zh-CN" sz="2000" i="0" dirty="0">
                <a:solidFill>
                  <a:srgbClr val="002060"/>
                </a:solidFill>
                <a:effectLst/>
                <a:latin typeface="华文楷体" panose="02010600040101010101" pitchFamily="2" charset="-122"/>
                <a:ea typeface="华文楷体" panose="02010600040101010101" pitchFamily="2" charset="-122"/>
              </a:rPr>
              <a:t>c(x)</a:t>
            </a:r>
            <a:r>
              <a:rPr lang="zh-CN" altLang="en-US" sz="2000" i="0" dirty="0">
                <a:solidFill>
                  <a:srgbClr val="002060"/>
                </a:solidFill>
                <a:effectLst/>
                <a:latin typeface="华文楷体" panose="02010600040101010101" pitchFamily="2" charset="-122"/>
                <a:ea typeface="华文楷体" panose="02010600040101010101" pitchFamily="2" charset="-122"/>
              </a:rPr>
              <a:t>或等式 </a:t>
            </a:r>
            <a:r>
              <a:rPr lang="en-US" altLang="zh-CN" sz="2000" i="0" u="none" strike="noStrike" dirty="0" err="1">
                <a:solidFill>
                  <a:srgbClr val="002060"/>
                </a:solidFill>
                <a:effectLst/>
                <a:latin typeface="华文楷体" panose="02010600040101010101" pitchFamily="2" charset="-122"/>
                <a:ea typeface="华文楷体" panose="02010600040101010101" pitchFamily="2" charset="-122"/>
                <a:hlinkClick r:id="rId3" action="ppaction://hlinkfile">
                  <a:extLst>
                    <a:ext uri="{A12FA001-AC4F-418D-AE19-62706E023703}">
                      <ahyp:hlinkClr xmlns:ahyp="http://schemas.microsoft.com/office/drawing/2018/hyperlinkcolor" val="tx"/>
                    </a:ext>
                  </a:extLst>
                </a:hlinkClick>
              </a:rPr>
              <a:t>ceq</a:t>
            </a:r>
            <a:r>
              <a:rPr lang="en-US" altLang="zh-CN" sz="2000" i="0" dirty="0">
                <a:solidFill>
                  <a:srgbClr val="002060"/>
                </a:solidFill>
                <a:effectLst/>
                <a:latin typeface="华文楷体" panose="02010600040101010101" pitchFamily="2" charset="-122"/>
                <a:ea typeface="华文楷体" panose="02010600040101010101" pitchFamily="2" charset="-122"/>
              </a:rPr>
              <a:t>(x)</a:t>
            </a:r>
            <a:r>
              <a:rPr lang="zh-CN" altLang="en-US" sz="2000" i="0" dirty="0">
                <a:solidFill>
                  <a:srgbClr val="002060"/>
                </a:solidFill>
                <a:effectLst/>
                <a:latin typeface="华文楷体" panose="02010600040101010101" pitchFamily="2" charset="-122"/>
                <a:ea typeface="华文楷体" panose="02010600040101010101" pitchFamily="2" charset="-122"/>
              </a:rPr>
              <a:t>构成，</a:t>
            </a:r>
            <a:endParaRPr lang="en-US" altLang="zh-CN" sz="2000" i="0" dirty="0">
              <a:solidFill>
                <a:srgbClr val="002060"/>
              </a:solidFill>
              <a:effectLst/>
              <a:latin typeface="华文楷体" panose="02010600040101010101" pitchFamily="2" charset="-122"/>
              <a:ea typeface="华文楷体" panose="02010600040101010101" pitchFamily="2" charset="-122"/>
            </a:endParaRPr>
          </a:p>
          <a:p>
            <a:pPr>
              <a:lnSpc>
                <a:spcPts val="2600"/>
              </a:lnSpc>
            </a:pPr>
            <a:r>
              <a:rPr lang="zh-CN" altLang="en-US" sz="2000" dirty="0">
                <a:solidFill>
                  <a:srgbClr val="002060"/>
                </a:solidFill>
                <a:latin typeface="华文楷体" panose="02010600040101010101" pitchFamily="2" charset="-122"/>
                <a:ea typeface="华文楷体" panose="02010600040101010101" pitchFamily="2" charset="-122"/>
              </a:rPr>
              <a:t>  常用匿名复合表达式定义非线性约束</a:t>
            </a:r>
            <a:endParaRPr lang="en-US" altLang="zh-CN" sz="2000" i="0" dirty="0">
              <a:solidFill>
                <a:srgbClr val="002060"/>
              </a:solidFill>
              <a:effectLst/>
              <a:latin typeface="华文楷体" panose="02010600040101010101" pitchFamily="2" charset="-122"/>
              <a:ea typeface="华文楷体" panose="02010600040101010101" pitchFamily="2" charset="-122"/>
            </a:endParaRPr>
          </a:p>
          <a:p>
            <a:pPr marL="285750" indent="-285750">
              <a:lnSpc>
                <a:spcPts val="2600"/>
              </a:lnSpc>
              <a:buFont typeface="Wingdings" panose="05000000000000000000" pitchFamily="2" charset="2"/>
              <a:buChar char="Ø"/>
            </a:pPr>
            <a:r>
              <a:rPr lang="zh-CN" altLang="en-US" sz="2000" dirty="0">
                <a:solidFill>
                  <a:srgbClr val="002060"/>
                </a:solidFill>
                <a:latin typeface="华文楷体" panose="02010600040101010101" pitchFamily="2" charset="-122"/>
                <a:ea typeface="华文楷体" panose="02010600040101010101" pitchFamily="2" charset="-122"/>
              </a:rPr>
              <a:t>如不存在不等式，则 </a:t>
            </a:r>
            <a:r>
              <a:rPr lang="en-US" altLang="zh-CN" sz="2000" dirty="0">
                <a:solidFill>
                  <a:srgbClr val="002060"/>
                </a:solidFill>
                <a:latin typeface="华文楷体" panose="02010600040101010101" pitchFamily="2" charset="-122"/>
                <a:ea typeface="华文楷体" panose="02010600040101010101" pitchFamily="2" charset="-122"/>
              </a:rPr>
              <a:t>A = [] </a:t>
            </a:r>
            <a:r>
              <a:rPr lang="zh-CN" altLang="en-US" sz="2000" dirty="0">
                <a:solidFill>
                  <a:srgbClr val="002060"/>
                </a:solidFill>
                <a:latin typeface="华文楷体" panose="02010600040101010101" pitchFamily="2" charset="-122"/>
                <a:ea typeface="华文楷体" panose="02010600040101010101" pitchFamily="2" charset="-122"/>
              </a:rPr>
              <a:t>和 </a:t>
            </a:r>
            <a:r>
              <a:rPr lang="en-US" altLang="zh-CN" sz="2000" dirty="0">
                <a:solidFill>
                  <a:srgbClr val="002060"/>
                </a:solidFill>
                <a:latin typeface="华文楷体" panose="02010600040101010101" pitchFamily="2" charset="-122"/>
                <a:ea typeface="华文楷体" panose="02010600040101010101" pitchFamily="2" charset="-122"/>
              </a:rPr>
              <a:t>b = []</a:t>
            </a:r>
            <a:r>
              <a:rPr lang="zh-CN" altLang="en-US" sz="2000" dirty="0">
                <a:solidFill>
                  <a:srgbClr val="002060"/>
                </a:solidFill>
                <a:latin typeface="华文楷体" panose="02010600040101010101" pitchFamily="2" charset="-122"/>
                <a:ea typeface="华文楷体" panose="02010600040101010101" pitchFamily="2" charset="-122"/>
              </a:rPr>
              <a:t>。</a:t>
            </a:r>
            <a:r>
              <a:rPr lang="zh-CN" altLang="en-US" sz="2000" i="0" dirty="0">
                <a:solidFill>
                  <a:srgbClr val="002060"/>
                </a:solidFill>
                <a:effectLst/>
                <a:latin typeface="华文楷体" panose="02010600040101010101" pitchFamily="2" charset="-122"/>
                <a:ea typeface="华文楷体" panose="02010600040101010101" pitchFamily="2" charset="-122"/>
              </a:rPr>
              <a:t>如不存在边界则 </a:t>
            </a:r>
            <a:r>
              <a:rPr lang="en-US" altLang="zh-CN" sz="2000" i="0" dirty="0" err="1">
                <a:solidFill>
                  <a:srgbClr val="002060"/>
                </a:solidFill>
                <a:effectLst/>
                <a:latin typeface="华文楷体" panose="02010600040101010101" pitchFamily="2" charset="-122"/>
                <a:ea typeface="华文楷体" panose="02010600040101010101" pitchFamily="2" charset="-122"/>
              </a:rPr>
              <a:t>lb</a:t>
            </a:r>
            <a:r>
              <a:rPr lang="en-US" altLang="zh-CN" sz="2000" i="0" dirty="0">
                <a:solidFill>
                  <a:srgbClr val="002060"/>
                </a:solidFill>
                <a:effectLst/>
                <a:latin typeface="华文楷体" panose="02010600040101010101" pitchFamily="2" charset="-122"/>
                <a:ea typeface="华文楷体" panose="02010600040101010101" pitchFamily="2" charset="-122"/>
              </a:rPr>
              <a:t> = [] </a:t>
            </a:r>
            <a:r>
              <a:rPr lang="zh-CN" altLang="en-US" sz="2000" i="0" dirty="0">
                <a:solidFill>
                  <a:srgbClr val="002060"/>
                </a:solidFill>
                <a:effectLst/>
                <a:latin typeface="华文楷体" panose="02010600040101010101" pitchFamily="2" charset="-122"/>
                <a:ea typeface="华文楷体" panose="02010600040101010101" pitchFamily="2" charset="-122"/>
              </a:rPr>
              <a:t>和</a:t>
            </a:r>
            <a:r>
              <a:rPr lang="en-US" altLang="zh-CN" sz="2000" i="0" dirty="0">
                <a:solidFill>
                  <a:srgbClr val="002060"/>
                </a:solidFill>
                <a:effectLst/>
                <a:latin typeface="华文楷体" panose="02010600040101010101" pitchFamily="2" charset="-122"/>
                <a:ea typeface="华文楷体" panose="02010600040101010101" pitchFamily="2" charset="-122"/>
              </a:rPr>
              <a:t>/</a:t>
            </a:r>
            <a:r>
              <a:rPr lang="zh-CN" altLang="en-US" sz="2000" i="0" dirty="0">
                <a:solidFill>
                  <a:srgbClr val="002060"/>
                </a:solidFill>
                <a:effectLst/>
                <a:latin typeface="华文楷体" panose="02010600040101010101" pitchFamily="2" charset="-122"/>
                <a:ea typeface="华文楷体" panose="02010600040101010101" pitchFamily="2" charset="-122"/>
              </a:rPr>
              <a:t>或 </a:t>
            </a:r>
            <a:r>
              <a:rPr lang="en-US" altLang="zh-CN" sz="2000" i="0" dirty="0" err="1">
                <a:solidFill>
                  <a:srgbClr val="002060"/>
                </a:solidFill>
                <a:effectLst/>
                <a:latin typeface="华文楷体" panose="02010600040101010101" pitchFamily="2" charset="-122"/>
                <a:ea typeface="华文楷体" panose="02010600040101010101" pitchFamily="2" charset="-122"/>
              </a:rPr>
              <a:t>ub</a:t>
            </a:r>
            <a:r>
              <a:rPr lang="en-US" altLang="zh-CN" sz="2000" i="0" dirty="0">
                <a:solidFill>
                  <a:srgbClr val="002060"/>
                </a:solidFill>
                <a:effectLst/>
                <a:latin typeface="华文楷体" panose="02010600040101010101" pitchFamily="2" charset="-122"/>
                <a:ea typeface="华文楷体" panose="02010600040101010101" pitchFamily="2" charset="-122"/>
              </a:rPr>
              <a:t> = []</a:t>
            </a:r>
            <a:r>
              <a:rPr lang="zh-CN" altLang="en-US" sz="2000" i="0" dirty="0">
                <a:solidFill>
                  <a:srgbClr val="002060"/>
                </a:solidFill>
                <a:effectLst/>
                <a:latin typeface="华文楷体" panose="02010600040101010101" pitchFamily="2" charset="-122"/>
                <a:ea typeface="华文楷体" panose="02010600040101010101" pitchFamily="2" charset="-122"/>
              </a:rPr>
              <a:t>。</a:t>
            </a:r>
            <a:endParaRPr lang="zh-CN" altLang="en-US" sz="2000" dirty="0">
              <a:solidFill>
                <a:srgbClr val="002060"/>
              </a:solidFill>
              <a:latin typeface="华文楷体" panose="02010600040101010101" pitchFamily="2" charset="-122"/>
              <a:ea typeface="华文楷体" panose="02010600040101010101" pitchFamily="2" charset="-122"/>
            </a:endParaRPr>
          </a:p>
        </p:txBody>
      </p:sp>
      <p:sp>
        <p:nvSpPr>
          <p:cNvPr id="7" name="文本框 6">
            <a:extLst>
              <a:ext uri="{FF2B5EF4-FFF2-40B4-BE49-F238E27FC236}">
                <a16:creationId xmlns:a16="http://schemas.microsoft.com/office/drawing/2014/main" id="{B486888A-71F9-49B9-B397-18096AC0E448}"/>
              </a:ext>
            </a:extLst>
          </p:cNvPr>
          <p:cNvSpPr txBox="1"/>
          <p:nvPr/>
        </p:nvSpPr>
        <p:spPr>
          <a:xfrm>
            <a:off x="110505" y="1138626"/>
            <a:ext cx="9071837" cy="341632"/>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algn="dist"/>
            <a:r>
              <a:rPr lang="en-US" altLang="zh-CN" sz="1800" b="0" dirty="0">
                <a:effectLst/>
                <a:highlight>
                  <a:srgbClr val="FF0000"/>
                </a:highlight>
                <a:latin typeface="华文楷体" panose="02010600040101010101" pitchFamily="2" charset="-122"/>
                <a:ea typeface="华文楷体" panose="02010600040101010101" pitchFamily="2" charset="-122"/>
              </a:rPr>
              <a:t>x</a:t>
            </a:r>
            <a:r>
              <a:rPr lang="zh-CN" altLang="zh-CN" sz="1800" b="0" dirty="0">
                <a:effectLst/>
                <a:highlight>
                  <a:srgbClr val="FF0000"/>
                </a:highlight>
                <a:latin typeface="华文楷体" panose="02010600040101010101" pitchFamily="2" charset="-122"/>
                <a:ea typeface="华文楷体" panose="02010600040101010101" pitchFamily="2" charset="-122"/>
              </a:rPr>
              <a:t>,</a:t>
            </a:r>
            <a:r>
              <a:rPr lang="zh-CN" altLang="zh-CN" sz="1800" b="0" dirty="0">
                <a:effectLst/>
                <a:latin typeface="华文楷体" panose="02010600040101010101" pitchFamily="2" charset="-122"/>
                <a:ea typeface="华文楷体" panose="02010600040101010101" pitchFamily="2" charset="-122"/>
              </a:rPr>
              <a:t>fval,exitflag,output,lambda,grad,hessian=</a:t>
            </a:r>
            <a:r>
              <a:rPr lang="zh-CN" altLang="zh-CN" sz="1800" b="0" dirty="0">
                <a:effectLst/>
                <a:highlight>
                  <a:srgbClr val="FF0000"/>
                </a:highlight>
                <a:latin typeface="华文楷体" panose="02010600040101010101" pitchFamily="2" charset="-122"/>
                <a:ea typeface="华文楷体" panose="02010600040101010101" pitchFamily="2" charset="-122"/>
              </a:rPr>
              <a:t>fmincon(fun,x0,A,b</a:t>
            </a:r>
            <a:r>
              <a:rPr lang="zh-CN" altLang="en-US" sz="1800" b="0" dirty="0">
                <a:effectLst/>
                <a:latin typeface="华文楷体" panose="02010600040101010101" pitchFamily="2" charset="-122"/>
                <a:ea typeface="华文楷体" panose="02010600040101010101" pitchFamily="2" charset="-122"/>
              </a:rPr>
              <a:t>，</a:t>
            </a:r>
            <a:r>
              <a:rPr lang="zh-CN" altLang="zh-CN" sz="1800" b="0" dirty="0">
                <a:effectLst/>
                <a:latin typeface="Arial Unicode MS"/>
                <a:ea typeface="source-code-pro"/>
              </a:rPr>
              <a:t>Aeq,beq,lb,ub,</a:t>
            </a:r>
            <a:r>
              <a:rPr lang="zh-CN" altLang="zh-CN" sz="1800" dirty="0">
                <a:solidFill>
                  <a:srgbClr val="FFFF00"/>
                </a:solidFill>
                <a:effectLst/>
                <a:latin typeface="Arial Unicode MS"/>
                <a:ea typeface="source-code-pro"/>
              </a:rPr>
              <a:t>nonlcon</a:t>
            </a:r>
            <a:r>
              <a:rPr lang="zh-CN" altLang="zh-CN" sz="1800" dirty="0">
                <a:solidFill>
                  <a:srgbClr val="FFFF00"/>
                </a:solidFill>
                <a:effectLst/>
                <a:latin typeface="华文楷体" panose="02010600040101010101" pitchFamily="2" charset="-122"/>
                <a:ea typeface="华文楷体" panose="02010600040101010101" pitchFamily="2" charset="-122"/>
              </a:rPr>
              <a:t>)</a:t>
            </a:r>
            <a:endParaRPr lang="ko-KR" altLang="en-US" sz="1800" dirty="0">
              <a:solidFill>
                <a:srgbClr val="FFFF00"/>
              </a:solidFill>
              <a:latin typeface="华文楷体" panose="0201060004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28DC7310-8491-4464-AE74-A480159BEE6A}"/>
              </a:ext>
            </a:extLst>
          </p:cNvPr>
          <p:cNvSpPr txBox="1"/>
          <p:nvPr/>
        </p:nvSpPr>
        <p:spPr>
          <a:xfrm>
            <a:off x="49219" y="1510163"/>
            <a:ext cx="9071837" cy="353943"/>
          </a:xfrm>
          <a:prstGeom prst="rect">
            <a:avLst/>
          </a:prstGeom>
          <a:solidFill>
            <a:schemeClr val="bg1"/>
          </a:solidFill>
        </p:spPr>
        <p:txBody>
          <a:bodyPr wrap="square">
            <a:spAutoFit/>
          </a:bodyPr>
          <a:lstStyle/>
          <a:p>
            <a:r>
              <a:rPr lang="zh-CN" altLang="en-US" sz="1700" b="1" dirty="0">
                <a:solidFill>
                  <a:srgbClr val="00B0F0"/>
                </a:solidFill>
                <a:latin typeface="华文楷体" panose="02010600040101010101" pitchFamily="2" charset="-122"/>
                <a:ea typeface="华文楷体" panose="02010600040101010101" pitchFamily="2" charset="-122"/>
              </a:rPr>
              <a:t>只输入</a:t>
            </a:r>
            <a:r>
              <a:rPr lang="en-US" altLang="zh-CN" sz="1700" b="1" i="0" dirty="0">
                <a:solidFill>
                  <a:srgbClr val="00B0F0"/>
                </a:solidFill>
                <a:effectLst/>
                <a:latin typeface="华文楷体" panose="02010600040101010101" pitchFamily="2" charset="-122"/>
                <a:ea typeface="华文楷体" panose="02010600040101010101" pitchFamily="2" charset="-122"/>
              </a:rPr>
              <a:t>fun,x0,</a:t>
            </a:r>
            <a:r>
              <a:rPr lang="zh-CN" altLang="en-US" sz="1700" b="1" i="0" dirty="0">
                <a:solidFill>
                  <a:srgbClr val="00B0F0"/>
                </a:solidFill>
                <a:effectLst/>
                <a:latin typeface="华文楷体" panose="02010600040101010101" pitchFamily="2" charset="-122"/>
                <a:ea typeface="华文楷体" panose="02010600040101010101" pitchFamily="2" charset="-122"/>
              </a:rPr>
              <a:t>线性不等式 </a:t>
            </a:r>
            <a:r>
              <a:rPr lang="en-US" altLang="zh-CN" sz="1700" b="1" i="0" dirty="0">
                <a:solidFill>
                  <a:srgbClr val="00B0F0"/>
                </a:solidFill>
                <a:effectLst/>
                <a:latin typeface="华文楷体" panose="02010600040101010101" pitchFamily="2" charset="-122"/>
                <a:ea typeface="华文楷体" panose="02010600040101010101" pitchFamily="2" charset="-122"/>
              </a:rPr>
              <a:t>A</a:t>
            </a:r>
            <a:r>
              <a:rPr lang="zh-CN" altLang="en-US" sz="1700" b="1" i="0" dirty="0">
                <a:solidFill>
                  <a:srgbClr val="00B0F0"/>
                </a:solidFill>
                <a:effectLst/>
                <a:latin typeface="华文楷体" panose="02010600040101010101" pitchFamily="2" charset="-122"/>
                <a:ea typeface="华文楷体" panose="02010600040101010101" pitchFamily="2" charset="-122"/>
              </a:rPr>
              <a:t>和</a:t>
            </a:r>
            <a:r>
              <a:rPr lang="en-US" altLang="zh-CN" sz="1700" b="1" i="0" dirty="0">
                <a:solidFill>
                  <a:srgbClr val="00B0F0"/>
                </a:solidFill>
                <a:effectLst/>
                <a:latin typeface="华文楷体" panose="02010600040101010101" pitchFamily="2" charset="-122"/>
                <a:ea typeface="华文楷体" panose="02010600040101010101" pitchFamily="2" charset="-122"/>
              </a:rPr>
              <a:t>b</a:t>
            </a:r>
            <a:r>
              <a:rPr lang="zh-CN" altLang="en-US" sz="1700" b="1" i="0" dirty="0">
                <a:solidFill>
                  <a:srgbClr val="00B0F0"/>
                </a:solidFill>
                <a:effectLst/>
                <a:latin typeface="华文楷体" panose="02010600040101010101" pitchFamily="2" charset="-122"/>
                <a:ea typeface="华文楷体" panose="02010600040101010101" pitchFamily="2" charset="-122"/>
              </a:rPr>
              <a:t>，即从 </a:t>
            </a:r>
            <a:r>
              <a:rPr lang="en-US" altLang="zh-CN" sz="1700" b="1" i="0" u="none" strike="noStrike" dirty="0">
                <a:solidFill>
                  <a:srgbClr val="00B0F0"/>
                </a:solidFill>
                <a:effectLst/>
                <a:latin typeface="华文楷体" panose="02010600040101010101" pitchFamily="2" charset="-122"/>
                <a:ea typeface="华文楷体" panose="02010600040101010101" pitchFamily="2" charset="-122"/>
                <a:hlinkClick r:id="rId7" action="ppaction://hlinkfile">
                  <a:extLst>
                    <a:ext uri="{A12FA001-AC4F-418D-AE19-62706E023703}">
                      <ahyp:hlinkClr xmlns:ahyp="http://schemas.microsoft.com/office/drawing/2018/hyperlinkcolor" val="tx"/>
                    </a:ext>
                  </a:extLst>
                </a:hlinkClick>
              </a:rPr>
              <a:t>x0</a:t>
            </a:r>
            <a:r>
              <a:rPr lang="zh-CN" altLang="en-US" sz="1700" b="1" i="0" dirty="0">
                <a:solidFill>
                  <a:srgbClr val="00B0F0"/>
                </a:solidFill>
                <a:effectLst/>
                <a:latin typeface="华文楷体" panose="02010600040101010101" pitchFamily="2" charset="-122"/>
                <a:ea typeface="华文楷体" panose="02010600040101010101" pitchFamily="2" charset="-122"/>
              </a:rPr>
              <a:t>开始寻找满足线性 </a:t>
            </a:r>
            <a:r>
              <a:rPr lang="en-US" altLang="zh-CN" sz="1700" b="1" i="0" u="none" strike="noStrike" dirty="0">
                <a:solidFill>
                  <a:srgbClr val="00B0F0"/>
                </a:solidFill>
                <a:effectLst/>
                <a:latin typeface="华文楷体" panose="02010600040101010101" pitchFamily="2" charset="-122"/>
                <a:ea typeface="华文楷体" panose="02010600040101010101" pitchFamily="2" charset="-122"/>
                <a:hlinkClick r:id="rId8" action="ppaction://hlinkfile">
                  <a:extLst>
                    <a:ext uri="{A12FA001-AC4F-418D-AE19-62706E023703}">
                      <ahyp:hlinkClr xmlns:ahyp="http://schemas.microsoft.com/office/drawing/2018/hyperlinkcolor" val="tx"/>
                    </a:ext>
                  </a:extLst>
                </a:hlinkClick>
              </a:rPr>
              <a:t>A</a:t>
            </a:r>
            <a:r>
              <a:rPr lang="zh-CN" altLang="en-US" sz="1700" b="1" i="0" dirty="0">
                <a:solidFill>
                  <a:srgbClr val="00B0F0"/>
                </a:solidFill>
                <a:effectLst/>
                <a:latin typeface="华文楷体" panose="02010600040101010101" pitchFamily="2" charset="-122"/>
                <a:ea typeface="华文楷体" panose="02010600040101010101" pitchFamily="2" charset="-122"/>
              </a:rPr>
              <a:t>*</a:t>
            </a:r>
            <a:r>
              <a:rPr lang="en-US" altLang="zh-CN" sz="1700" b="1" i="0" dirty="0">
                <a:solidFill>
                  <a:srgbClr val="00B0F0"/>
                </a:solidFill>
                <a:effectLst/>
                <a:latin typeface="华文楷体" panose="02010600040101010101" pitchFamily="2" charset="-122"/>
                <a:ea typeface="华文楷体" panose="02010600040101010101" pitchFamily="2" charset="-122"/>
              </a:rPr>
              <a:t>x ≤ </a:t>
            </a:r>
            <a:r>
              <a:rPr lang="en-US" altLang="zh-CN" sz="1700" b="1" i="0" u="none" strike="noStrike" dirty="0">
                <a:solidFill>
                  <a:srgbClr val="00B0F0"/>
                </a:solidFill>
                <a:effectLst/>
                <a:latin typeface="华文楷体" panose="02010600040101010101" pitchFamily="2" charset="-122"/>
                <a:ea typeface="华文楷体" panose="02010600040101010101" pitchFamily="2" charset="-122"/>
                <a:hlinkClick r:id="rId9" action="ppaction://hlinkfile">
                  <a:extLst>
                    <a:ext uri="{A12FA001-AC4F-418D-AE19-62706E023703}">
                      <ahyp:hlinkClr xmlns:ahyp="http://schemas.microsoft.com/office/drawing/2018/hyperlinkcolor" val="tx"/>
                    </a:ext>
                  </a:extLst>
                </a:hlinkClick>
              </a:rPr>
              <a:t>b</a:t>
            </a:r>
            <a:r>
              <a:rPr lang="zh-CN" altLang="en-US" sz="1700" b="1" i="0" dirty="0">
                <a:solidFill>
                  <a:srgbClr val="00B0F0"/>
                </a:solidFill>
                <a:effectLst/>
                <a:latin typeface="华文楷体" panose="02010600040101010101" pitchFamily="2" charset="-122"/>
                <a:ea typeface="华文楷体" panose="02010600040101010101" pitchFamily="2" charset="-122"/>
              </a:rPr>
              <a:t> 函数</a:t>
            </a:r>
            <a:r>
              <a:rPr lang="en-US" altLang="zh-CN" sz="1700" b="1" dirty="0">
                <a:solidFill>
                  <a:srgbClr val="00B0F0"/>
                </a:solidFill>
                <a:latin typeface="华文楷体" panose="02010600040101010101" pitchFamily="2" charset="-122"/>
                <a:ea typeface="华文楷体" panose="02010600040101010101" pitchFamily="2" charset="-122"/>
                <a:hlinkClick r:id="rId10" action="ppaction://hlinkfile">
                  <a:extLst>
                    <a:ext uri="{A12FA001-AC4F-418D-AE19-62706E023703}">
                      <ahyp:hlinkClr xmlns:ahyp="http://schemas.microsoft.com/office/drawing/2018/hyperlinkcolor" val="tx"/>
                    </a:ext>
                  </a:extLst>
                </a:hlinkClick>
              </a:rPr>
              <a:t>fun</a:t>
            </a:r>
            <a:r>
              <a:rPr lang="zh-CN" altLang="en-US" sz="1700" b="1" i="0" dirty="0">
                <a:solidFill>
                  <a:srgbClr val="00B0F0"/>
                </a:solidFill>
                <a:effectLst/>
                <a:latin typeface="华文楷体" panose="02010600040101010101" pitchFamily="2" charset="-122"/>
                <a:ea typeface="华文楷体" panose="02010600040101010101" pitchFamily="2" charset="-122"/>
              </a:rPr>
              <a:t>最小值</a:t>
            </a:r>
            <a:r>
              <a:rPr lang="zh-CN" altLang="en-US" sz="1700" b="1" dirty="0">
                <a:solidFill>
                  <a:srgbClr val="00B0F0"/>
                </a:solidFill>
                <a:latin typeface="华文楷体" panose="02010600040101010101" pitchFamily="2" charset="-122"/>
                <a:ea typeface="华文楷体" panose="02010600040101010101" pitchFamily="2" charset="-122"/>
              </a:rPr>
              <a:t>时</a:t>
            </a:r>
            <a:r>
              <a:rPr lang="zh-CN" altLang="en-US" sz="1700" b="1" i="0" dirty="0">
                <a:solidFill>
                  <a:srgbClr val="00B0F0"/>
                </a:solidFill>
                <a:effectLst/>
                <a:latin typeface="华文楷体" panose="02010600040101010101" pitchFamily="2" charset="-122"/>
                <a:ea typeface="华文楷体" panose="02010600040101010101" pitchFamily="2" charset="-122"/>
              </a:rPr>
              <a:t> 极值点</a:t>
            </a:r>
            <a:r>
              <a:rPr lang="en-US" altLang="zh-CN" sz="1700" b="1" dirty="0">
                <a:solidFill>
                  <a:srgbClr val="00B0F0"/>
                </a:solidFill>
                <a:latin typeface="华文楷体" panose="02010600040101010101" pitchFamily="2" charset="-122"/>
                <a:ea typeface="华文楷体" panose="02010600040101010101" pitchFamily="2" charset="-122"/>
              </a:rPr>
              <a:t>x</a:t>
            </a:r>
            <a:endParaRPr lang="zh-CN" altLang="en-US" sz="1700" b="1" dirty="0">
              <a:solidFill>
                <a:srgbClr val="00B0F0"/>
              </a:solidFill>
              <a:latin typeface="华文楷体" panose="02010600040101010101" pitchFamily="2" charset="-122"/>
              <a:ea typeface="华文楷体" panose="02010600040101010101" pitchFamily="2" charset="-122"/>
            </a:endParaRPr>
          </a:p>
        </p:txBody>
      </p:sp>
      <p:sp>
        <p:nvSpPr>
          <p:cNvPr id="9" name="标题 1">
            <a:extLst>
              <a:ext uri="{FF2B5EF4-FFF2-40B4-BE49-F238E27FC236}">
                <a16:creationId xmlns:a16="http://schemas.microsoft.com/office/drawing/2014/main" id="{B7E8A425-9E86-442B-A14B-D09F36D35D0E}"/>
              </a:ext>
            </a:extLst>
          </p:cNvPr>
          <p:cNvSpPr txBox="1">
            <a:spLocks/>
          </p:cNvSpPr>
          <p:nvPr/>
        </p:nvSpPr>
        <p:spPr>
          <a:xfrm>
            <a:off x="772024" y="152271"/>
            <a:ext cx="8146959" cy="438150"/>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400" b="0" dirty="0">
                <a:solidFill>
                  <a:srgbClr val="002060"/>
                </a:solidFill>
                <a:latin typeface="华文楷体" panose="02010600040101010101" pitchFamily="2" charset="-122"/>
                <a:ea typeface="华文楷体" panose="02010600040101010101" pitchFamily="2" charset="-122"/>
              </a:rPr>
              <a:t>§8.4.3 </a:t>
            </a:r>
            <a:r>
              <a:rPr lang="zh-CN" altLang="en-US" sz="2400" b="0" kern="0" dirty="0">
                <a:solidFill>
                  <a:srgbClr val="002060"/>
                </a:solidFill>
                <a:latin typeface="华文楷体" panose="02010600040101010101" pitchFamily="2" charset="-122"/>
                <a:ea typeface="华文楷体" panose="02010600040101010101" pitchFamily="2" charset="-122"/>
              </a:rPr>
              <a:t>求有约束的</a:t>
            </a:r>
            <a:r>
              <a:rPr lang="zh-CN" altLang="en-US" sz="2400" b="0" dirty="0">
                <a:solidFill>
                  <a:srgbClr val="002060"/>
                </a:solidFill>
                <a:latin typeface="华文楷体" panose="02010600040101010101" pitchFamily="2" charset="-122"/>
                <a:ea typeface="华文楷体" panose="02010600040101010101" pitchFamily="2" charset="-122"/>
              </a:rPr>
              <a:t>多变量函数最</a:t>
            </a:r>
            <a:r>
              <a:rPr lang="en-US" altLang="ko-KR" sz="2400" b="0" dirty="0" err="1">
                <a:solidFill>
                  <a:srgbClr val="002060"/>
                </a:solidFill>
                <a:latin typeface="华文楷体" panose="02010600040101010101" pitchFamily="2" charset="-122"/>
                <a:ea typeface="华文楷体" panose="02010600040101010101" pitchFamily="2" charset="-122"/>
              </a:rPr>
              <a:t>小值</a:t>
            </a:r>
            <a:r>
              <a:rPr lang="en-US" altLang="zh-CN" sz="2400" b="0" dirty="0" err="1">
                <a:solidFill>
                  <a:srgbClr val="FF0000"/>
                </a:solidFill>
                <a:latin typeface="华文楷体" panose="02010600040101010101" pitchFamily="2" charset="-122"/>
                <a:ea typeface="华文楷体" panose="02010600040101010101" pitchFamily="2" charset="-122"/>
              </a:rPr>
              <a:t>fmincon</a:t>
            </a:r>
            <a:r>
              <a:rPr lang="en-US" altLang="zh-CN" sz="2600" b="0" kern="0" dirty="0">
                <a:solidFill>
                  <a:srgbClr val="FF0000"/>
                </a:solidFill>
                <a:latin typeface="华文楷体" panose="02010600040101010101" pitchFamily="2" charset="-122"/>
                <a:ea typeface="华文楷体" panose="02010600040101010101" pitchFamily="2" charset="-122"/>
              </a:rPr>
              <a:t>——</a:t>
            </a:r>
            <a:r>
              <a:rPr lang="zh-CN" altLang="en-US" sz="2600" b="0" kern="0" dirty="0">
                <a:solidFill>
                  <a:srgbClr val="FF0000"/>
                </a:solidFill>
                <a:latin typeface="华文楷体" panose="02010600040101010101" pitchFamily="2" charset="-122"/>
                <a:ea typeface="华文楷体" panose="02010600040101010101" pitchFamily="2" charset="-122"/>
              </a:rPr>
              <a:t>输入参数</a:t>
            </a:r>
          </a:p>
        </p:txBody>
      </p:sp>
      <p:sp>
        <p:nvSpPr>
          <p:cNvPr id="10" name="Rectangle 1">
            <a:extLst>
              <a:ext uri="{FF2B5EF4-FFF2-40B4-BE49-F238E27FC236}">
                <a16:creationId xmlns:a16="http://schemas.microsoft.com/office/drawing/2014/main" id="{5079869A-1F14-4166-8CFE-EAA2549AE426}"/>
              </a:ext>
            </a:extLst>
          </p:cNvPr>
          <p:cNvSpPr>
            <a:spLocks noChangeArrowheads="1"/>
          </p:cNvSpPr>
          <p:nvPr/>
        </p:nvSpPr>
        <p:spPr bwMode="auto">
          <a:xfrm>
            <a:off x="7558685" y="2762091"/>
            <a:ext cx="1513235" cy="1207382"/>
          </a:xfrm>
          <a:prstGeom prst="rect">
            <a:avLst/>
          </a:prstGeom>
          <a:solidFill>
            <a:schemeClr val="bg1"/>
          </a:solidFill>
          <a:ln>
            <a:noFill/>
          </a:ln>
          <a:effectLst>
            <a:outerShdw blurRad="63500" sx="102000" sy="102000" algn="ctr" rotWithShape="0">
              <a:prstClr val="black">
                <a:alpha val="40000"/>
              </a:prstClr>
            </a:outerShdw>
          </a:effectLst>
        </p:spPr>
        <p:txBody>
          <a:bodyPr vert="horz" wrap="none" lIns="0" tIns="0" rIns="0" bIns="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ts val="1900"/>
              </a:lnSpc>
              <a:spcBef>
                <a:spcPct val="0"/>
              </a:spcBef>
              <a:spcAft>
                <a:spcPct val="0"/>
              </a:spcAft>
              <a:buClrTx/>
              <a:buSzTx/>
              <a:buFontTx/>
              <a:buNone/>
              <a:tabLst/>
            </a:pPr>
            <a:r>
              <a:rPr kumimoji="0" lang="en-US" altLang="zh-CN" sz="1400"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rPr>
              <a:t>nonlcon</a:t>
            </a:r>
            <a:r>
              <a:rPr kumimoji="0" lang="zh-CN" altLang="zh-CN" sz="1400"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rPr>
              <a:t>= x-&gt; begin</a:t>
            </a:r>
            <a:endParaRPr kumimoji="0" lang="en-US" altLang="zh-CN" sz="1400"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endParaRPr>
          </a:p>
          <a:p>
            <a:pPr lvl="0">
              <a:lnSpc>
                <a:spcPts val="1900"/>
              </a:lnSpc>
            </a:pPr>
            <a:r>
              <a:rPr lang="en-US" altLang="zh-CN" sz="1400" dirty="0">
                <a:solidFill>
                  <a:srgbClr val="FF0000"/>
                </a:solidFill>
                <a:latin typeface="微软雅黑" panose="020B0503020204020204" pitchFamily="34" charset="-122"/>
                <a:ea typeface="微软雅黑" panose="020B0503020204020204" pitchFamily="34" charset="-122"/>
              </a:rPr>
              <a:t>c(x)</a:t>
            </a:r>
            <a:r>
              <a:rPr lang="zh-CN" altLang="en-US" sz="1400" dirty="0">
                <a:solidFill>
                  <a:srgbClr val="FF0000"/>
                </a:solidFill>
                <a:latin typeface="微软雅黑" panose="020B0503020204020204" pitchFamily="34" charset="-122"/>
                <a:ea typeface="微软雅黑" panose="020B0503020204020204" pitchFamily="34" charset="-122"/>
              </a:rPr>
              <a:t> </a:t>
            </a:r>
            <a:endParaRPr lang="en-US" altLang="zh-CN" sz="1400" dirty="0">
              <a:solidFill>
                <a:srgbClr val="FF0000"/>
              </a:solidFill>
              <a:latin typeface="微软雅黑" panose="020B0503020204020204" pitchFamily="34" charset="-122"/>
              <a:ea typeface="微软雅黑" panose="020B0503020204020204" pitchFamily="34" charset="-122"/>
            </a:endParaRPr>
          </a:p>
          <a:p>
            <a:pPr lvl="0">
              <a:lnSpc>
                <a:spcPts val="1900"/>
              </a:lnSpc>
            </a:pPr>
            <a:r>
              <a:rPr lang="en-US" altLang="zh-CN" sz="1400" dirty="0" err="1">
                <a:solidFill>
                  <a:srgbClr val="FF0000"/>
                </a:solidFill>
                <a:latin typeface="微软雅黑" panose="020B0503020204020204" pitchFamily="34" charset="-122"/>
                <a:ea typeface="微软雅黑" panose="020B0503020204020204" pitchFamily="34" charset="-122"/>
              </a:rPr>
              <a:t>ceq</a:t>
            </a:r>
            <a:r>
              <a:rPr lang="en-US" altLang="zh-CN" sz="1400" dirty="0">
                <a:solidFill>
                  <a:srgbClr val="FF0000"/>
                </a:solidFill>
                <a:latin typeface="微软雅黑" panose="020B0503020204020204" pitchFamily="34" charset="-122"/>
                <a:ea typeface="微软雅黑" panose="020B0503020204020204" pitchFamily="34" charset="-122"/>
              </a:rPr>
              <a:t>(x)</a:t>
            </a:r>
          </a:p>
          <a:p>
            <a:pPr>
              <a:lnSpc>
                <a:spcPts val="1900"/>
              </a:lnSpc>
            </a:pPr>
            <a:r>
              <a:rPr kumimoji="0" lang="zh-CN" altLang="zh-CN" sz="1400"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rPr>
              <a:t> return </a:t>
            </a:r>
            <a:r>
              <a:rPr lang="en-US" altLang="zh-CN" sz="1400" dirty="0">
                <a:solidFill>
                  <a:srgbClr val="FF0000"/>
                </a:solidFill>
                <a:latin typeface="微软雅黑" panose="020B0503020204020204" pitchFamily="34" charset="-122"/>
                <a:ea typeface="微软雅黑" panose="020B0503020204020204" pitchFamily="34" charset="-122"/>
              </a:rPr>
              <a:t>c(x)</a:t>
            </a:r>
            <a:r>
              <a:rPr lang="zh-CN" altLang="en-US" sz="1400" dirty="0">
                <a:solidFill>
                  <a:srgbClr val="FF0000"/>
                </a:solidFill>
                <a:latin typeface="微软雅黑" panose="020B0503020204020204" pitchFamily="34" charset="-122"/>
                <a:ea typeface="微软雅黑" panose="020B0503020204020204" pitchFamily="34" charset="-122"/>
              </a:rPr>
              <a:t>；</a:t>
            </a:r>
            <a:r>
              <a:rPr lang="en-US" altLang="zh-CN" sz="1400" dirty="0" err="1">
                <a:solidFill>
                  <a:srgbClr val="FF0000"/>
                </a:solidFill>
                <a:latin typeface="微软雅黑" panose="020B0503020204020204" pitchFamily="34" charset="-122"/>
                <a:ea typeface="微软雅黑" panose="020B0503020204020204" pitchFamily="34" charset="-122"/>
              </a:rPr>
              <a:t>ceq</a:t>
            </a:r>
            <a:r>
              <a:rPr lang="en-US" altLang="zh-CN" sz="1400" dirty="0">
                <a:solidFill>
                  <a:srgbClr val="FF0000"/>
                </a:solidFill>
                <a:latin typeface="微软雅黑" panose="020B0503020204020204" pitchFamily="34" charset="-122"/>
                <a:ea typeface="微软雅黑" panose="020B0503020204020204" pitchFamily="34" charset="-122"/>
              </a:rPr>
              <a:t>(x)</a:t>
            </a:r>
          </a:p>
          <a:p>
            <a:pPr marL="0" marR="0" lvl="0" indent="0" algn="l" defTabSz="914400" rtl="0" eaLnBrk="0" fontAlgn="base" latinLnBrk="0" hangingPunct="0">
              <a:lnSpc>
                <a:spcPts val="1900"/>
              </a:lnSpc>
              <a:spcBef>
                <a:spcPct val="0"/>
              </a:spcBef>
              <a:spcAft>
                <a:spcPct val="0"/>
              </a:spcAft>
              <a:buClrTx/>
              <a:buSzTx/>
              <a:buFontTx/>
              <a:buNone/>
              <a:tabLst/>
            </a:pPr>
            <a:r>
              <a:rPr kumimoji="0" lang="en-US" altLang="zh-CN" sz="1400"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rPr>
              <a:t> </a:t>
            </a:r>
            <a:r>
              <a:rPr kumimoji="0" lang="zh-CN" altLang="zh-CN" sz="1400"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rPr>
              <a:t>end</a:t>
            </a:r>
          </a:p>
        </p:txBody>
      </p:sp>
      <p:sp>
        <p:nvSpPr>
          <p:cNvPr id="13" name="文本框 12">
            <a:extLst>
              <a:ext uri="{FF2B5EF4-FFF2-40B4-BE49-F238E27FC236}">
                <a16:creationId xmlns:a16="http://schemas.microsoft.com/office/drawing/2014/main" id="{DEBEEABD-E00B-43FE-BC96-35DEEF51E4EF}"/>
              </a:ext>
            </a:extLst>
          </p:cNvPr>
          <p:cNvSpPr txBox="1"/>
          <p:nvPr/>
        </p:nvSpPr>
        <p:spPr>
          <a:xfrm>
            <a:off x="7488963" y="2400398"/>
            <a:ext cx="1582957" cy="307777"/>
          </a:xfrm>
          <a:prstGeom prst="rect">
            <a:avLst/>
          </a:prstGeom>
          <a:noFill/>
        </p:spPr>
        <p:txBody>
          <a:bodyPr wrap="square">
            <a:spAutoFit/>
          </a:bodyPr>
          <a:lstStyle/>
          <a:p>
            <a:pPr algn="dist"/>
            <a:r>
              <a:rPr lang="zh-CN" altLang="en-US" sz="1400" dirty="0">
                <a:solidFill>
                  <a:srgbClr val="FF0000"/>
                </a:solidFill>
                <a:latin typeface="微软雅黑" panose="020B0503020204020204" pitchFamily="34" charset="-122"/>
                <a:ea typeface="微软雅黑" panose="020B0503020204020204" pitchFamily="34" charset="-122"/>
              </a:rPr>
              <a:t>匿名复合表达式</a:t>
            </a:r>
          </a:p>
        </p:txBody>
      </p:sp>
      <p:sp>
        <p:nvSpPr>
          <p:cNvPr id="12" name="矩形 1">
            <a:extLst>
              <a:ext uri="{FF2B5EF4-FFF2-40B4-BE49-F238E27FC236}">
                <a16:creationId xmlns:a16="http://schemas.microsoft.com/office/drawing/2014/main" id="{AC714F53-1F97-4596-919E-00B0703AE24E}"/>
              </a:ext>
            </a:extLst>
          </p:cNvPr>
          <p:cNvSpPr/>
          <p:nvPr/>
        </p:nvSpPr>
        <p:spPr bwMode="auto">
          <a:xfrm>
            <a:off x="67150" y="698542"/>
            <a:ext cx="9027631" cy="369332"/>
          </a:xfrm>
          <a:prstGeom prst="rect">
            <a:avLst/>
          </a:prstGeom>
          <a:solidFill>
            <a:schemeClr val="bg1"/>
          </a:solidFill>
        </p:spPr>
        <p:txBody>
          <a:bodyPr vert="horz" wrap="square" lIns="91440" tIns="45720" rIns="91440" bIns="45720" numCol="1" anchor="t">
            <a:spAutoFit/>
          </a:bodyPr>
          <a:lstStyle/>
          <a:p>
            <a:pPr algn="dist" eaLnBrk="0">
              <a:spcBef>
                <a:spcPts val="800"/>
              </a:spcBef>
              <a:spcAft>
                <a:spcPts val="0"/>
              </a:spcAft>
              <a:buClr>
                <a:srgbClr val="002060"/>
              </a:buClr>
            </a:pPr>
            <a:r>
              <a:rPr lang="en-US" altLang="zh-CN" b="1" dirty="0">
                <a:solidFill>
                  <a:srgbClr val="0070C0"/>
                </a:solidFill>
                <a:latin typeface="微软雅黑" panose="020B0503020204020204" pitchFamily="34" charset="-122"/>
                <a:ea typeface="微软雅黑" panose="020B0503020204020204" pitchFamily="34" charset="-122"/>
              </a:rPr>
              <a:t>2</a:t>
            </a:r>
            <a:r>
              <a:rPr lang="zh-CN" altLang="en-US" b="1" dirty="0">
                <a:solidFill>
                  <a:srgbClr val="0070C0"/>
                </a:solidFill>
                <a:latin typeface="微软雅黑" panose="020B0503020204020204" pitchFamily="34" charset="-122"/>
                <a:ea typeface="微软雅黑" panose="020B0503020204020204" pitchFamily="34" charset="-122"/>
              </a:rPr>
              <a:t>、求有约束的多变量函数最</a:t>
            </a:r>
            <a:r>
              <a:rPr lang="en-US" altLang="ko-KR" b="1" dirty="0" err="1">
                <a:solidFill>
                  <a:srgbClr val="0070C0"/>
                </a:solidFill>
                <a:latin typeface="微软雅黑" panose="020B0503020204020204" pitchFamily="34" charset="-122"/>
                <a:ea typeface="微软雅黑" panose="020B0503020204020204" pitchFamily="34" charset="-122"/>
              </a:rPr>
              <a:t>小值</a:t>
            </a:r>
            <a:r>
              <a:rPr lang="en-US" altLang="zh-CN" b="1" dirty="0" err="1">
                <a:solidFill>
                  <a:srgbClr val="0070C0"/>
                </a:solidFill>
                <a:latin typeface="微软雅黑" panose="020B0503020204020204" pitchFamily="34" charset="-122"/>
                <a:ea typeface="微软雅黑" panose="020B0503020204020204" pitchFamily="34" charset="-122"/>
              </a:rPr>
              <a:t>fmincon</a:t>
            </a:r>
            <a:r>
              <a:rPr lang="zh-CN" altLang="en-US" b="1" dirty="0">
                <a:solidFill>
                  <a:srgbClr val="0070C0"/>
                </a:solidFill>
                <a:latin typeface="微软雅黑" panose="020B0503020204020204" pitchFamily="34" charset="-122"/>
                <a:ea typeface="微软雅黑" panose="020B0503020204020204" pitchFamily="34" charset="-122"/>
              </a:rPr>
              <a:t>的调用格式和输入参数</a:t>
            </a:r>
            <a:r>
              <a:rPr lang="en-US" altLang="zh-CN"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en-US"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id="{68B7A642-83CD-4C11-8877-55484A8F3EE8}"/>
              </a:ext>
            </a:extLst>
          </p:cNvPr>
          <p:cNvSpPr/>
          <p:nvPr/>
        </p:nvSpPr>
        <p:spPr>
          <a:xfrm>
            <a:off x="6787436" y="2036285"/>
            <a:ext cx="782222" cy="338554"/>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pPr eaLnBrk="0" hangingPunct="0"/>
            <a:r>
              <a:rPr lang="en-US" altLang="zh-CN" sz="1600" dirty="0">
                <a:solidFill>
                  <a:srgbClr val="FFFF00"/>
                </a:solidFill>
                <a:highlight>
                  <a:srgbClr val="003B76"/>
                </a:highlight>
                <a:latin typeface="微软雅黑" panose="020B0503020204020204" pitchFamily="34" charset="-122"/>
                <a:ea typeface="微软雅黑" panose="020B0503020204020204" pitchFamily="34" charset="-122"/>
              </a:rPr>
              <a:t>begin</a:t>
            </a:r>
          </a:p>
        </p:txBody>
      </p:sp>
      <p:sp>
        <p:nvSpPr>
          <p:cNvPr id="19" name="文本框 18">
            <a:extLst>
              <a:ext uri="{FF2B5EF4-FFF2-40B4-BE49-F238E27FC236}">
                <a16:creationId xmlns:a16="http://schemas.microsoft.com/office/drawing/2014/main" id="{D40D9B9B-53AE-4B8A-B09A-F11107C3E27B}"/>
              </a:ext>
            </a:extLst>
          </p:cNvPr>
          <p:cNvSpPr txBox="1"/>
          <p:nvPr/>
        </p:nvSpPr>
        <p:spPr>
          <a:xfrm>
            <a:off x="5553434" y="2024180"/>
            <a:ext cx="1432487" cy="369332"/>
          </a:xfrm>
          <a:prstGeom prst="rect">
            <a:avLst/>
          </a:prstGeom>
          <a:noFill/>
        </p:spPr>
        <p:txBody>
          <a:bodyPr wrap="square">
            <a:spAutoFit/>
          </a:bodyPr>
          <a:lstStyle/>
          <a:p>
            <a:r>
              <a:rPr lang="zh-CN" altLang="en-US" dirty="0">
                <a:solidFill>
                  <a:srgbClr val="0070C0"/>
                </a:solidFill>
                <a:latin typeface="微软雅黑" panose="020B0503020204020204" pitchFamily="34" charset="-122"/>
                <a:ea typeface="微软雅黑" panose="020B0503020204020204" pitchFamily="34" charset="-122"/>
              </a:rPr>
              <a:t>复合</a:t>
            </a:r>
            <a:r>
              <a:rPr lang="zh-CN" altLang="zh-CN" dirty="0">
                <a:solidFill>
                  <a:srgbClr val="0070C0"/>
                </a:solidFill>
                <a:latin typeface="微软雅黑" panose="020B0503020204020204" pitchFamily="34" charset="-122"/>
                <a:ea typeface="微软雅黑" panose="020B0503020204020204" pitchFamily="34" charset="-122"/>
              </a:rPr>
              <a:t>表达式</a:t>
            </a:r>
            <a:endParaRPr lang="zh-CN" altLang="en-US" dirty="0">
              <a:solidFill>
                <a:srgbClr val="0070C0"/>
              </a:solidFill>
              <a:latin typeface="微软雅黑" panose="020B0503020204020204" pitchFamily="34" charset="-122"/>
              <a:ea typeface="微软雅黑" panose="020B0503020204020204" pitchFamily="34" charset="-122"/>
            </a:endParaRPr>
          </a:p>
        </p:txBody>
      </p:sp>
      <p:sp>
        <p:nvSpPr>
          <p:cNvPr id="20" name="矩形 19">
            <a:extLst>
              <a:ext uri="{FF2B5EF4-FFF2-40B4-BE49-F238E27FC236}">
                <a16:creationId xmlns:a16="http://schemas.microsoft.com/office/drawing/2014/main" id="{3B894E2B-B5CB-4C46-ABAD-EC72B727AB6A}"/>
              </a:ext>
            </a:extLst>
          </p:cNvPr>
          <p:cNvSpPr/>
          <p:nvPr/>
        </p:nvSpPr>
        <p:spPr>
          <a:xfrm>
            <a:off x="7456682" y="2008704"/>
            <a:ext cx="1346978" cy="338554"/>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pPr lvl="0" eaLnBrk="0" hangingPunct="0"/>
            <a:r>
              <a:rPr lang="en-US" altLang="zh-CN" sz="1600" dirty="0">
                <a:solidFill>
                  <a:srgbClr val="FFFF00"/>
                </a:solidFill>
                <a:highlight>
                  <a:srgbClr val="003B76"/>
                </a:highlight>
                <a:latin typeface="微软雅黑" panose="020B0503020204020204" pitchFamily="34" charset="-122"/>
                <a:ea typeface="微软雅黑" panose="020B0503020204020204" pitchFamily="34" charset="-122"/>
              </a:rPr>
              <a:t>c(x)</a:t>
            </a:r>
            <a:r>
              <a:rPr lang="zh-CN" altLang="en-US" sz="1600" dirty="0">
                <a:solidFill>
                  <a:srgbClr val="FFFF00"/>
                </a:solidFill>
                <a:highlight>
                  <a:srgbClr val="003B76"/>
                </a:highlight>
                <a:latin typeface="微软雅黑" panose="020B0503020204020204" pitchFamily="34" charset="-122"/>
                <a:ea typeface="微软雅黑" panose="020B0503020204020204" pitchFamily="34" charset="-122"/>
              </a:rPr>
              <a:t>；</a:t>
            </a:r>
            <a:r>
              <a:rPr lang="en-US" altLang="zh-CN" sz="1600" dirty="0" err="1">
                <a:solidFill>
                  <a:srgbClr val="FFFF00"/>
                </a:solidFill>
                <a:highlight>
                  <a:srgbClr val="003B76"/>
                </a:highlight>
                <a:latin typeface="微软雅黑" panose="020B0503020204020204" pitchFamily="34" charset="-122"/>
                <a:ea typeface="微软雅黑" panose="020B0503020204020204" pitchFamily="34" charset="-122"/>
              </a:rPr>
              <a:t>ceq</a:t>
            </a:r>
            <a:r>
              <a:rPr lang="en-US" altLang="zh-CN" sz="1600" dirty="0">
                <a:solidFill>
                  <a:srgbClr val="FFFF00"/>
                </a:solidFill>
                <a:highlight>
                  <a:srgbClr val="003B76"/>
                </a:highlight>
                <a:latin typeface="微软雅黑" panose="020B0503020204020204" pitchFamily="34" charset="-122"/>
                <a:ea typeface="微软雅黑" panose="020B0503020204020204" pitchFamily="34" charset="-122"/>
              </a:rPr>
              <a:t>(x)</a:t>
            </a:r>
          </a:p>
        </p:txBody>
      </p:sp>
      <p:sp>
        <p:nvSpPr>
          <p:cNvPr id="21" name="矩形 20">
            <a:extLst>
              <a:ext uri="{FF2B5EF4-FFF2-40B4-BE49-F238E27FC236}">
                <a16:creationId xmlns:a16="http://schemas.microsoft.com/office/drawing/2014/main" id="{40F332EB-478E-4FC3-B255-CBB05C34EBA4}"/>
              </a:ext>
            </a:extLst>
          </p:cNvPr>
          <p:cNvSpPr/>
          <p:nvPr/>
        </p:nvSpPr>
        <p:spPr>
          <a:xfrm>
            <a:off x="8630389" y="1996486"/>
            <a:ext cx="668875" cy="338554"/>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pPr lvl="0" eaLnBrk="0" hangingPunct="0"/>
            <a:r>
              <a:rPr lang="en-US" altLang="zh-CN" sz="1600" dirty="0">
                <a:solidFill>
                  <a:srgbClr val="FFFF00"/>
                </a:solidFill>
                <a:highlight>
                  <a:srgbClr val="003B76"/>
                </a:highlight>
                <a:latin typeface="微软雅黑" panose="020B0503020204020204" pitchFamily="34" charset="-122"/>
                <a:ea typeface="微软雅黑" panose="020B0503020204020204" pitchFamily="34" charset="-122"/>
              </a:rPr>
              <a:t>end  </a:t>
            </a:r>
          </a:p>
        </p:txBody>
      </p:sp>
    </p:spTree>
    <p:extLst>
      <p:ext uri="{BB962C8B-B14F-4D97-AF65-F5344CB8AC3E}">
        <p14:creationId xmlns:p14="http://schemas.microsoft.com/office/powerpoint/2010/main" val="33844974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a:extLst>
              <a:ext uri="{FF2B5EF4-FFF2-40B4-BE49-F238E27FC236}">
                <a16:creationId xmlns:a16="http://schemas.microsoft.com/office/drawing/2014/main" id="{57544CCB-D2DB-450A-961A-0315716C54F0}"/>
              </a:ext>
            </a:extLst>
          </p:cNvPr>
          <p:cNvSpPr txBox="1">
            <a:spLocks/>
          </p:cNvSpPr>
          <p:nvPr/>
        </p:nvSpPr>
        <p:spPr>
          <a:xfrm>
            <a:off x="772024" y="152271"/>
            <a:ext cx="8146959" cy="438150"/>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400" b="0" dirty="0">
                <a:solidFill>
                  <a:srgbClr val="002060"/>
                </a:solidFill>
                <a:latin typeface="华文楷体" panose="02010600040101010101" pitchFamily="2" charset="-122"/>
                <a:ea typeface="华文楷体" panose="02010600040101010101" pitchFamily="2" charset="-122"/>
              </a:rPr>
              <a:t>§8.4.3</a:t>
            </a:r>
            <a:r>
              <a:rPr lang="zh-CN" altLang="en-US" sz="2400" b="0" kern="0" dirty="0">
                <a:solidFill>
                  <a:srgbClr val="002060"/>
                </a:solidFill>
                <a:latin typeface="华文楷体" panose="02010600040101010101" pitchFamily="2" charset="-122"/>
                <a:ea typeface="华文楷体" panose="02010600040101010101" pitchFamily="2" charset="-122"/>
              </a:rPr>
              <a:t>求有约束的</a:t>
            </a:r>
            <a:r>
              <a:rPr lang="zh-CN" altLang="en-US" sz="2400" b="0" dirty="0">
                <a:solidFill>
                  <a:srgbClr val="002060"/>
                </a:solidFill>
                <a:latin typeface="华文楷体" panose="02010600040101010101" pitchFamily="2" charset="-122"/>
                <a:ea typeface="华文楷体" panose="02010600040101010101" pitchFamily="2" charset="-122"/>
              </a:rPr>
              <a:t>多变量函数最</a:t>
            </a:r>
            <a:r>
              <a:rPr lang="en-US" altLang="ko-KR" sz="2400" b="0" dirty="0" err="1">
                <a:solidFill>
                  <a:srgbClr val="002060"/>
                </a:solidFill>
                <a:latin typeface="华文楷体" panose="02010600040101010101" pitchFamily="2" charset="-122"/>
                <a:ea typeface="华文楷体" panose="02010600040101010101" pitchFamily="2" charset="-122"/>
              </a:rPr>
              <a:t>小值</a:t>
            </a:r>
            <a:r>
              <a:rPr lang="en-US" altLang="zh-CN" sz="2400" b="0" dirty="0" err="1">
                <a:solidFill>
                  <a:srgbClr val="FF0000"/>
                </a:solidFill>
                <a:latin typeface="华文楷体" panose="02010600040101010101" pitchFamily="2" charset="-122"/>
                <a:ea typeface="华文楷体" panose="02010600040101010101" pitchFamily="2" charset="-122"/>
              </a:rPr>
              <a:t>fmincon</a:t>
            </a:r>
            <a:r>
              <a:rPr lang="en-US" altLang="zh-CN" sz="2600" b="0" kern="0" dirty="0">
                <a:solidFill>
                  <a:srgbClr val="FF0000"/>
                </a:solidFill>
                <a:latin typeface="华文楷体" panose="02010600040101010101" pitchFamily="2" charset="-122"/>
                <a:ea typeface="华文楷体" panose="02010600040101010101" pitchFamily="2" charset="-122"/>
              </a:rPr>
              <a:t>——</a:t>
            </a:r>
            <a:r>
              <a:rPr lang="zh-CN" altLang="en-US" sz="2600" b="0" kern="0" dirty="0">
                <a:solidFill>
                  <a:srgbClr val="FF0000"/>
                </a:solidFill>
                <a:latin typeface="华文楷体" panose="02010600040101010101" pitchFamily="2" charset="-122"/>
                <a:ea typeface="华文楷体" panose="02010600040101010101" pitchFamily="2" charset="-122"/>
              </a:rPr>
              <a:t>输出参数</a:t>
            </a:r>
          </a:p>
        </p:txBody>
      </p:sp>
      <p:sp>
        <p:nvSpPr>
          <p:cNvPr id="13" name="文本框 12">
            <a:extLst>
              <a:ext uri="{FF2B5EF4-FFF2-40B4-BE49-F238E27FC236}">
                <a16:creationId xmlns:a16="http://schemas.microsoft.com/office/drawing/2014/main" id="{41195EEB-1A12-4C14-B814-F8B015863547}"/>
              </a:ext>
            </a:extLst>
          </p:cNvPr>
          <p:cNvSpPr txBox="1"/>
          <p:nvPr/>
        </p:nvSpPr>
        <p:spPr>
          <a:xfrm>
            <a:off x="138851" y="1192139"/>
            <a:ext cx="8866295" cy="341632"/>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algn="dist"/>
            <a:r>
              <a:rPr lang="en-US" altLang="zh-CN" sz="1800" b="0" dirty="0">
                <a:effectLst/>
                <a:highlight>
                  <a:srgbClr val="FF0000"/>
                </a:highlight>
                <a:latin typeface="华文楷体" panose="02010600040101010101" pitchFamily="2" charset="-122"/>
                <a:ea typeface="华文楷体" panose="02010600040101010101" pitchFamily="2" charset="-122"/>
              </a:rPr>
              <a:t>x</a:t>
            </a:r>
            <a:r>
              <a:rPr lang="zh-CN" altLang="zh-CN" sz="1800" b="0" dirty="0">
                <a:effectLst/>
                <a:highlight>
                  <a:srgbClr val="FF0000"/>
                </a:highlight>
                <a:latin typeface="华文楷体" panose="02010600040101010101" pitchFamily="2" charset="-122"/>
                <a:ea typeface="华文楷体" panose="02010600040101010101" pitchFamily="2" charset="-122"/>
              </a:rPr>
              <a:t>,</a:t>
            </a:r>
            <a:r>
              <a:rPr lang="zh-CN" altLang="zh-CN" sz="1800" b="0" dirty="0">
                <a:effectLst/>
                <a:latin typeface="华文楷体" panose="02010600040101010101" pitchFamily="2" charset="-122"/>
                <a:ea typeface="华文楷体" panose="02010600040101010101" pitchFamily="2" charset="-122"/>
              </a:rPr>
              <a:t>fval,exitflag,output,lambda,grad,hessian=</a:t>
            </a:r>
            <a:r>
              <a:rPr lang="zh-CN" altLang="zh-CN" sz="1800" b="0" dirty="0">
                <a:effectLst/>
                <a:highlight>
                  <a:srgbClr val="FF0000"/>
                </a:highlight>
                <a:latin typeface="华文楷体" panose="02010600040101010101" pitchFamily="2" charset="-122"/>
                <a:ea typeface="华文楷体" panose="02010600040101010101" pitchFamily="2" charset="-122"/>
              </a:rPr>
              <a:t>fmincon(fun,x0,A,b</a:t>
            </a:r>
            <a:r>
              <a:rPr lang="zh-CN" altLang="en-US" sz="1800" b="0" dirty="0">
                <a:effectLst/>
                <a:latin typeface="华文楷体" panose="02010600040101010101" pitchFamily="2" charset="-122"/>
                <a:ea typeface="华文楷体" panose="02010600040101010101" pitchFamily="2" charset="-122"/>
              </a:rPr>
              <a:t>，</a:t>
            </a:r>
            <a:r>
              <a:rPr lang="zh-CN" altLang="zh-CN" sz="1800" b="0" dirty="0">
                <a:effectLst/>
                <a:latin typeface="Arial Unicode MS"/>
                <a:ea typeface="source-code-pro"/>
              </a:rPr>
              <a:t>Aeq,beq,lb,ub,nonlcon</a:t>
            </a:r>
            <a:r>
              <a:rPr lang="zh-CN" altLang="zh-CN" sz="1800" b="0" dirty="0">
                <a:effectLst/>
                <a:latin typeface="华文楷体" panose="02010600040101010101" pitchFamily="2" charset="-122"/>
                <a:ea typeface="华文楷体" panose="02010600040101010101" pitchFamily="2" charset="-122"/>
              </a:rPr>
              <a:t>)</a:t>
            </a:r>
            <a:endParaRPr lang="ko-KR" altLang="en-US" sz="1800" dirty="0">
              <a:latin typeface="华文楷体" panose="02010600040101010101" pitchFamily="2" charset="-122"/>
              <a:cs typeface="Times New Roman" panose="02020603050405020304" pitchFamily="18" charset="0"/>
            </a:endParaRPr>
          </a:p>
        </p:txBody>
      </p:sp>
      <p:sp>
        <p:nvSpPr>
          <p:cNvPr id="18" name="文本框 17">
            <a:extLst>
              <a:ext uri="{FF2B5EF4-FFF2-40B4-BE49-F238E27FC236}">
                <a16:creationId xmlns:a16="http://schemas.microsoft.com/office/drawing/2014/main" id="{B16C2DDD-4F24-4DF4-AF9E-8A266F143E61}"/>
              </a:ext>
            </a:extLst>
          </p:cNvPr>
          <p:cNvSpPr txBox="1"/>
          <p:nvPr/>
        </p:nvSpPr>
        <p:spPr>
          <a:xfrm>
            <a:off x="85099" y="1563638"/>
            <a:ext cx="8973800" cy="3207738"/>
          </a:xfrm>
          <a:prstGeom prst="rect">
            <a:avLst/>
          </a:prstGeom>
          <a:noFill/>
        </p:spPr>
        <p:txBody>
          <a:bodyPr wrap="square">
            <a:spAutoFit/>
          </a:bodyPr>
          <a:lstStyle/>
          <a:p>
            <a:pPr marL="285750" indent="-285750">
              <a:lnSpc>
                <a:spcPts val="3500"/>
              </a:lnSpc>
              <a:buFont typeface="Wingdings" panose="05000000000000000000" pitchFamily="2" charset="2"/>
              <a:buChar char="Ø"/>
            </a:pPr>
            <a:r>
              <a:rPr lang="en-US" altLang="zh-CN" sz="2400" dirty="0">
                <a:solidFill>
                  <a:srgbClr val="002060"/>
                </a:solidFill>
                <a:latin typeface="华文楷体" panose="02010600040101010101" pitchFamily="2" charset="-122"/>
                <a:ea typeface="华文楷体" panose="02010600040101010101" pitchFamily="2" charset="-122"/>
              </a:rPr>
              <a:t>x </a:t>
            </a:r>
            <a:r>
              <a:rPr lang="zh-CN" altLang="en-US" sz="2400" dirty="0">
                <a:solidFill>
                  <a:srgbClr val="002060"/>
                </a:solidFill>
                <a:latin typeface="华文楷体" panose="02010600040101010101" pitchFamily="2" charset="-122"/>
                <a:ea typeface="华文楷体" panose="02010600040101010101" pitchFamily="2" charset="-122"/>
              </a:rPr>
              <a:t>是最优化问题的局部解，即极值点</a:t>
            </a:r>
            <a:r>
              <a:rPr lang="en-US" altLang="zh-CN" sz="2400" dirty="0">
                <a:solidFill>
                  <a:srgbClr val="002060"/>
                </a:solidFill>
                <a:latin typeface="华文楷体" panose="02010600040101010101" pitchFamily="2" charset="-122"/>
                <a:ea typeface="华文楷体" panose="02010600040101010101" pitchFamily="2" charset="-122"/>
              </a:rPr>
              <a:t>,</a:t>
            </a:r>
            <a:r>
              <a:rPr lang="zh-CN" altLang="en-US" sz="2400" dirty="0">
                <a:solidFill>
                  <a:srgbClr val="002060"/>
                </a:solidFill>
                <a:latin typeface="华文楷体" panose="02010600040101010101" pitchFamily="2" charset="-122"/>
                <a:ea typeface="华文楷体" panose="02010600040101010101" pitchFamily="2" charset="-122"/>
              </a:rPr>
              <a:t>为向量</a:t>
            </a:r>
            <a:endParaRPr lang="en-US" altLang="zh-CN" sz="2400" dirty="0">
              <a:solidFill>
                <a:srgbClr val="002060"/>
              </a:solidFill>
              <a:latin typeface="华文楷体" panose="02010600040101010101" pitchFamily="2" charset="-122"/>
              <a:ea typeface="华文楷体" panose="02010600040101010101" pitchFamily="2" charset="-122"/>
            </a:endParaRPr>
          </a:p>
          <a:p>
            <a:pPr marL="285750" indent="-285750" algn="l">
              <a:lnSpc>
                <a:spcPts val="3500"/>
              </a:lnSpc>
              <a:buFont typeface="Wingdings" panose="05000000000000000000" pitchFamily="2" charset="2"/>
              <a:buChar char="Ø"/>
            </a:pPr>
            <a:r>
              <a:rPr lang="en-US" altLang="zh-CN" sz="2400" b="0" i="0" dirty="0" err="1">
                <a:solidFill>
                  <a:srgbClr val="002060"/>
                </a:solidFill>
                <a:effectLst/>
                <a:latin typeface="华文楷体" panose="02010600040101010101" pitchFamily="2" charset="-122"/>
                <a:ea typeface="华文楷体" panose="02010600040101010101" pitchFamily="2" charset="-122"/>
              </a:rPr>
              <a:t>fval</a:t>
            </a:r>
            <a:r>
              <a:rPr lang="en-US" altLang="zh-CN" sz="2400" b="0" i="0" dirty="0">
                <a:solidFill>
                  <a:srgbClr val="002060"/>
                </a:solidFill>
                <a:effectLst/>
                <a:latin typeface="华文楷体" panose="02010600040101010101" pitchFamily="2" charset="-122"/>
                <a:ea typeface="华文楷体" panose="02010600040101010101" pitchFamily="2" charset="-122"/>
              </a:rPr>
              <a:t> - </a:t>
            </a:r>
            <a:r>
              <a:rPr lang="zh-CN" altLang="en-US" sz="2400" b="0" i="0" dirty="0">
                <a:solidFill>
                  <a:srgbClr val="002060"/>
                </a:solidFill>
                <a:effectLst/>
                <a:latin typeface="华文楷体" panose="02010600040101010101" pitchFamily="2" charset="-122"/>
                <a:ea typeface="华文楷体" panose="02010600040101010101" pitchFamily="2" charset="-122"/>
              </a:rPr>
              <a:t>标量，目标函数 </a:t>
            </a:r>
            <a:r>
              <a:rPr lang="en-US" altLang="zh-CN" sz="2400" b="0" i="0" dirty="0">
                <a:solidFill>
                  <a:srgbClr val="002060"/>
                </a:solidFill>
                <a:effectLst/>
                <a:latin typeface="华文楷体" panose="02010600040101010101" pitchFamily="2" charset="-122"/>
                <a:ea typeface="华文楷体" panose="02010600040101010101" pitchFamily="2" charset="-122"/>
              </a:rPr>
              <a:t>fun </a:t>
            </a:r>
            <a:r>
              <a:rPr lang="zh-CN" altLang="en-US" sz="2400" b="0" i="0" dirty="0">
                <a:solidFill>
                  <a:srgbClr val="002060"/>
                </a:solidFill>
                <a:effectLst/>
                <a:latin typeface="华文楷体" panose="02010600040101010101" pitchFamily="2" charset="-122"/>
                <a:ea typeface="华文楷体" panose="02010600040101010101" pitchFamily="2" charset="-122"/>
              </a:rPr>
              <a:t>在解 </a:t>
            </a:r>
            <a:r>
              <a:rPr lang="en-US" altLang="zh-CN" sz="2400" b="0" i="0" dirty="0">
                <a:solidFill>
                  <a:srgbClr val="002060"/>
                </a:solidFill>
                <a:effectLst/>
                <a:latin typeface="华文楷体" panose="02010600040101010101" pitchFamily="2" charset="-122"/>
                <a:ea typeface="华文楷体" panose="02010600040101010101" pitchFamily="2" charset="-122"/>
              </a:rPr>
              <a:t>x </a:t>
            </a:r>
            <a:r>
              <a:rPr lang="zh-CN" altLang="en-US" sz="2400" b="0" i="0" dirty="0">
                <a:solidFill>
                  <a:srgbClr val="002060"/>
                </a:solidFill>
                <a:effectLst/>
                <a:latin typeface="华文楷体" panose="02010600040101010101" pitchFamily="2" charset="-122"/>
                <a:ea typeface="华文楷体" panose="02010600040101010101" pitchFamily="2" charset="-122"/>
              </a:rPr>
              <a:t>处的值，即极值。</a:t>
            </a:r>
          </a:p>
          <a:p>
            <a:pPr marL="285750" indent="-285750" algn="l">
              <a:lnSpc>
                <a:spcPts val="3500"/>
              </a:lnSpc>
              <a:buFont typeface="Wingdings" panose="05000000000000000000" pitchFamily="2" charset="2"/>
              <a:buChar char="Ø"/>
            </a:pPr>
            <a:r>
              <a:rPr lang="en-US" altLang="zh-CN" sz="2400" b="0" i="0" dirty="0" err="1">
                <a:solidFill>
                  <a:srgbClr val="002060"/>
                </a:solidFill>
                <a:effectLst/>
                <a:latin typeface="华文楷体" panose="02010600040101010101" pitchFamily="2" charset="-122"/>
                <a:ea typeface="华文楷体" panose="02010600040101010101" pitchFamily="2" charset="-122"/>
              </a:rPr>
              <a:t>exitflag</a:t>
            </a:r>
            <a:r>
              <a:rPr lang="en-US" altLang="zh-CN" sz="2400" b="0" i="0" dirty="0">
                <a:solidFill>
                  <a:srgbClr val="002060"/>
                </a:solidFill>
                <a:effectLst/>
                <a:latin typeface="华文楷体" panose="02010600040101010101" pitchFamily="2" charset="-122"/>
                <a:ea typeface="华文楷体" panose="02010600040101010101" pitchFamily="2" charset="-122"/>
              </a:rPr>
              <a:t> - </a:t>
            </a:r>
            <a:r>
              <a:rPr lang="zh-CN" altLang="en-US" sz="2400" b="0" i="0" dirty="0">
                <a:solidFill>
                  <a:srgbClr val="002060"/>
                </a:solidFill>
                <a:effectLst/>
                <a:latin typeface="华文楷体" panose="02010600040101010101" pitchFamily="2" charset="-122"/>
                <a:ea typeface="华文楷体" panose="02010600040101010101" pitchFamily="2" charset="-122"/>
              </a:rPr>
              <a:t>整数，描述 </a:t>
            </a:r>
            <a:r>
              <a:rPr lang="en-US" altLang="zh-CN" sz="2400" b="0" i="0" dirty="0" err="1">
                <a:solidFill>
                  <a:srgbClr val="002060"/>
                </a:solidFill>
                <a:effectLst/>
                <a:latin typeface="华文楷体" panose="02010600040101010101" pitchFamily="2" charset="-122"/>
                <a:ea typeface="华文楷体" panose="02010600040101010101" pitchFamily="2" charset="-122"/>
              </a:rPr>
              <a:t>fmincon</a:t>
            </a:r>
            <a:r>
              <a:rPr lang="en-US" altLang="zh-CN" sz="2400" b="0" i="0" dirty="0">
                <a:solidFill>
                  <a:srgbClr val="002060"/>
                </a:solidFill>
                <a:effectLst/>
                <a:latin typeface="华文楷体" panose="02010600040101010101" pitchFamily="2" charset="-122"/>
                <a:ea typeface="华文楷体" panose="02010600040101010101" pitchFamily="2" charset="-122"/>
              </a:rPr>
              <a:t> </a:t>
            </a:r>
            <a:r>
              <a:rPr lang="zh-CN" altLang="en-US" sz="2400" b="0" i="0" dirty="0">
                <a:solidFill>
                  <a:srgbClr val="002060"/>
                </a:solidFill>
                <a:effectLst/>
                <a:latin typeface="华文楷体" panose="02010600040101010101" pitchFamily="2" charset="-122"/>
                <a:ea typeface="华文楷体" panose="02010600040101010101" pitchFamily="2" charset="-122"/>
              </a:rPr>
              <a:t>的退出条件的值。</a:t>
            </a:r>
          </a:p>
          <a:p>
            <a:pPr marL="285750" indent="-285750" algn="l">
              <a:lnSpc>
                <a:spcPts val="3500"/>
              </a:lnSpc>
              <a:buFont typeface="Wingdings" panose="05000000000000000000" pitchFamily="2" charset="2"/>
              <a:buChar char="Ø"/>
            </a:pPr>
            <a:r>
              <a:rPr lang="en-US" altLang="zh-CN" sz="2400" b="0" i="0" dirty="0">
                <a:solidFill>
                  <a:srgbClr val="002060"/>
                </a:solidFill>
                <a:effectLst/>
                <a:latin typeface="华文楷体" panose="02010600040101010101" pitchFamily="2" charset="-122"/>
                <a:ea typeface="华文楷体" panose="02010600040101010101" pitchFamily="2" charset="-122"/>
              </a:rPr>
              <a:t>output - </a:t>
            </a:r>
            <a:r>
              <a:rPr lang="zh-CN" altLang="en-US" sz="2400" b="0" i="0" dirty="0">
                <a:solidFill>
                  <a:srgbClr val="002060"/>
                </a:solidFill>
                <a:effectLst/>
                <a:latin typeface="华文楷体" panose="02010600040101010101" pitchFamily="2" charset="-122"/>
                <a:ea typeface="华文楷体" panose="02010600040101010101" pitchFamily="2" charset="-122"/>
              </a:rPr>
              <a:t>结构体，提供优化过程信息。</a:t>
            </a:r>
          </a:p>
          <a:p>
            <a:pPr marL="285750" indent="-285750" algn="l">
              <a:lnSpc>
                <a:spcPts val="3500"/>
              </a:lnSpc>
              <a:buFont typeface="Wingdings" panose="05000000000000000000" pitchFamily="2" charset="2"/>
              <a:buChar char="Ø"/>
            </a:pPr>
            <a:r>
              <a:rPr lang="en-US" altLang="zh-CN" sz="2400" b="0" i="0" dirty="0">
                <a:solidFill>
                  <a:srgbClr val="002060"/>
                </a:solidFill>
                <a:effectLst/>
                <a:latin typeface="华文楷体" panose="02010600040101010101" pitchFamily="2" charset="-122"/>
                <a:ea typeface="华文楷体" panose="02010600040101010101" pitchFamily="2" charset="-122"/>
              </a:rPr>
              <a:t>lambda - </a:t>
            </a:r>
            <a:r>
              <a:rPr lang="zh-CN" altLang="en-US" sz="2400" b="0" i="0" dirty="0">
                <a:solidFill>
                  <a:srgbClr val="002060"/>
                </a:solidFill>
                <a:effectLst/>
                <a:latin typeface="华文楷体" panose="02010600040101010101" pitchFamily="2" charset="-122"/>
                <a:ea typeface="华文楷体" panose="02010600040101010101" pitchFamily="2" charset="-122"/>
              </a:rPr>
              <a:t>结构体，其字段包含解 </a:t>
            </a:r>
            <a:r>
              <a:rPr lang="en-US" altLang="zh-CN" sz="2400" b="0" i="0" dirty="0">
                <a:solidFill>
                  <a:srgbClr val="002060"/>
                </a:solidFill>
                <a:effectLst/>
                <a:latin typeface="华文楷体" panose="02010600040101010101" pitchFamily="2" charset="-122"/>
                <a:ea typeface="华文楷体" panose="02010600040101010101" pitchFamily="2" charset="-122"/>
              </a:rPr>
              <a:t>x </a:t>
            </a:r>
            <a:r>
              <a:rPr lang="zh-CN" altLang="en-US" sz="2400" b="0" i="0" dirty="0">
                <a:solidFill>
                  <a:srgbClr val="002060"/>
                </a:solidFill>
                <a:effectLst/>
                <a:latin typeface="华文楷体" panose="02010600040101010101" pitchFamily="2" charset="-122"/>
                <a:ea typeface="华文楷体" panose="02010600040101010101" pitchFamily="2" charset="-122"/>
              </a:rPr>
              <a:t>处的拉格朗日乘数</a:t>
            </a:r>
          </a:p>
          <a:p>
            <a:pPr marL="285750" indent="-285750" algn="l">
              <a:lnSpc>
                <a:spcPts val="3500"/>
              </a:lnSpc>
              <a:buFont typeface="Wingdings" panose="05000000000000000000" pitchFamily="2" charset="2"/>
              <a:buChar char="Ø"/>
            </a:pPr>
            <a:r>
              <a:rPr lang="en-US" altLang="zh-CN" sz="2400" b="0" i="0" dirty="0">
                <a:solidFill>
                  <a:srgbClr val="002060"/>
                </a:solidFill>
                <a:effectLst/>
                <a:latin typeface="华文楷体" panose="02010600040101010101" pitchFamily="2" charset="-122"/>
                <a:ea typeface="华文楷体" panose="02010600040101010101" pitchFamily="2" charset="-122"/>
              </a:rPr>
              <a:t>grad - fun </a:t>
            </a:r>
            <a:r>
              <a:rPr lang="zh-CN" altLang="en-US" sz="2400" b="0" i="0" dirty="0">
                <a:solidFill>
                  <a:srgbClr val="002060"/>
                </a:solidFill>
                <a:effectLst/>
                <a:latin typeface="华文楷体" panose="02010600040101010101" pitchFamily="2" charset="-122"/>
                <a:ea typeface="华文楷体" panose="02010600040101010101" pitchFamily="2" charset="-122"/>
              </a:rPr>
              <a:t>在解 </a:t>
            </a:r>
            <a:r>
              <a:rPr lang="en-US" altLang="zh-CN" sz="2400" b="0" i="0" dirty="0">
                <a:solidFill>
                  <a:srgbClr val="002060"/>
                </a:solidFill>
                <a:effectLst/>
                <a:latin typeface="华文楷体" panose="02010600040101010101" pitchFamily="2" charset="-122"/>
                <a:ea typeface="华文楷体" panose="02010600040101010101" pitchFamily="2" charset="-122"/>
              </a:rPr>
              <a:t>x </a:t>
            </a:r>
            <a:r>
              <a:rPr lang="zh-CN" altLang="en-US" sz="2400" b="0" i="0" dirty="0">
                <a:solidFill>
                  <a:srgbClr val="002060"/>
                </a:solidFill>
                <a:effectLst/>
                <a:latin typeface="华文楷体" panose="02010600040101010101" pitchFamily="2" charset="-122"/>
                <a:ea typeface="华文楷体" panose="02010600040101010101" pitchFamily="2" charset="-122"/>
              </a:rPr>
              <a:t>处的梯度。</a:t>
            </a:r>
          </a:p>
          <a:p>
            <a:pPr marL="285750" indent="-285750" algn="l">
              <a:lnSpc>
                <a:spcPts val="3500"/>
              </a:lnSpc>
              <a:buFont typeface="Wingdings" panose="05000000000000000000" pitchFamily="2" charset="2"/>
              <a:buChar char="Ø"/>
            </a:pPr>
            <a:r>
              <a:rPr lang="en-US" altLang="zh-CN" sz="2400" b="0" i="0" dirty="0">
                <a:solidFill>
                  <a:srgbClr val="002060"/>
                </a:solidFill>
                <a:effectLst/>
                <a:latin typeface="华文楷体" panose="02010600040101010101" pitchFamily="2" charset="-122"/>
                <a:ea typeface="华文楷体" panose="02010600040101010101" pitchFamily="2" charset="-122"/>
              </a:rPr>
              <a:t>Hessian - fun </a:t>
            </a:r>
            <a:r>
              <a:rPr lang="zh-CN" altLang="en-US" sz="2400" b="0" i="0" dirty="0">
                <a:solidFill>
                  <a:srgbClr val="002060"/>
                </a:solidFill>
                <a:effectLst/>
                <a:latin typeface="华文楷体" panose="02010600040101010101" pitchFamily="2" charset="-122"/>
                <a:ea typeface="华文楷体" panose="02010600040101010101" pitchFamily="2" charset="-122"/>
              </a:rPr>
              <a:t>在解 </a:t>
            </a:r>
            <a:r>
              <a:rPr lang="en-US" altLang="zh-CN" sz="2400" b="0" i="0" dirty="0">
                <a:solidFill>
                  <a:srgbClr val="002060"/>
                </a:solidFill>
                <a:effectLst/>
                <a:latin typeface="华文楷体" panose="02010600040101010101" pitchFamily="2" charset="-122"/>
                <a:ea typeface="华文楷体" panose="02010600040101010101" pitchFamily="2" charset="-122"/>
              </a:rPr>
              <a:t>x </a:t>
            </a:r>
            <a:r>
              <a:rPr lang="zh-CN" altLang="en-US" sz="2400" b="0" i="0" dirty="0">
                <a:solidFill>
                  <a:srgbClr val="002060"/>
                </a:solidFill>
                <a:effectLst/>
                <a:latin typeface="华文楷体" panose="02010600040101010101" pitchFamily="2" charset="-122"/>
                <a:ea typeface="华文楷体" panose="02010600040101010101" pitchFamily="2" charset="-122"/>
              </a:rPr>
              <a:t>处的黑塞矩阵</a:t>
            </a:r>
          </a:p>
        </p:txBody>
      </p:sp>
      <p:sp>
        <p:nvSpPr>
          <p:cNvPr id="5" name="矩形 1">
            <a:extLst>
              <a:ext uri="{FF2B5EF4-FFF2-40B4-BE49-F238E27FC236}">
                <a16:creationId xmlns:a16="http://schemas.microsoft.com/office/drawing/2014/main" id="{A1546157-DE95-412E-8F61-7024C2E0A5FE}"/>
              </a:ext>
            </a:extLst>
          </p:cNvPr>
          <p:cNvSpPr/>
          <p:nvPr/>
        </p:nvSpPr>
        <p:spPr bwMode="auto">
          <a:xfrm>
            <a:off x="67150" y="698542"/>
            <a:ext cx="8866295" cy="369332"/>
          </a:xfrm>
          <a:prstGeom prst="rect">
            <a:avLst/>
          </a:prstGeom>
          <a:solidFill>
            <a:schemeClr val="bg1"/>
          </a:solidFill>
        </p:spPr>
        <p:txBody>
          <a:bodyPr vert="horz" wrap="square" lIns="91440" tIns="45720" rIns="91440" bIns="45720" numCol="1" anchor="t">
            <a:spAutoFit/>
          </a:bodyPr>
          <a:lstStyle/>
          <a:p>
            <a:pPr algn="dist" eaLnBrk="0">
              <a:spcBef>
                <a:spcPts val="800"/>
              </a:spcBef>
              <a:spcAft>
                <a:spcPts val="0"/>
              </a:spcAft>
              <a:buClr>
                <a:srgbClr val="002060"/>
              </a:buClr>
            </a:pPr>
            <a:r>
              <a:rPr lang="en-US" altLang="zh-CN" b="1" dirty="0">
                <a:solidFill>
                  <a:srgbClr val="0070C0"/>
                </a:solidFill>
                <a:latin typeface="微软雅黑" panose="020B0503020204020204" pitchFamily="34" charset="-122"/>
                <a:ea typeface="微软雅黑" panose="020B0503020204020204" pitchFamily="34" charset="-122"/>
              </a:rPr>
              <a:t>3</a:t>
            </a:r>
            <a:r>
              <a:rPr lang="zh-CN" altLang="en-US" b="1" dirty="0">
                <a:solidFill>
                  <a:srgbClr val="0070C0"/>
                </a:solidFill>
                <a:latin typeface="微软雅黑" panose="020B0503020204020204" pitchFamily="34" charset="-122"/>
                <a:ea typeface="微软雅黑" panose="020B0503020204020204" pitchFamily="34" charset="-122"/>
              </a:rPr>
              <a:t>、求有约束的多变量函数最</a:t>
            </a:r>
            <a:r>
              <a:rPr lang="en-US" altLang="ko-KR" b="1" dirty="0" err="1">
                <a:solidFill>
                  <a:srgbClr val="0070C0"/>
                </a:solidFill>
                <a:latin typeface="微软雅黑" panose="020B0503020204020204" pitchFamily="34" charset="-122"/>
                <a:ea typeface="微软雅黑" panose="020B0503020204020204" pitchFamily="34" charset="-122"/>
              </a:rPr>
              <a:t>小值</a:t>
            </a:r>
            <a:r>
              <a:rPr lang="en-US" altLang="zh-CN" b="1" dirty="0" err="1">
                <a:solidFill>
                  <a:srgbClr val="0070C0"/>
                </a:solidFill>
                <a:latin typeface="微软雅黑" panose="020B0503020204020204" pitchFamily="34" charset="-122"/>
                <a:ea typeface="微软雅黑" panose="020B0503020204020204" pitchFamily="34" charset="-122"/>
              </a:rPr>
              <a:t>fmincon</a:t>
            </a:r>
            <a:r>
              <a:rPr lang="zh-CN" altLang="en-US" b="1" dirty="0">
                <a:solidFill>
                  <a:srgbClr val="0070C0"/>
                </a:solidFill>
                <a:latin typeface="微软雅黑" panose="020B0503020204020204" pitchFamily="34" charset="-122"/>
                <a:ea typeface="微软雅黑" panose="020B0503020204020204" pitchFamily="34" charset="-122"/>
              </a:rPr>
              <a:t>的调用格式和输出参数</a:t>
            </a:r>
            <a:r>
              <a:rPr lang="en-US" altLang="zh-CN"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en-US"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Rectangle 1">
            <a:extLst>
              <a:ext uri="{FF2B5EF4-FFF2-40B4-BE49-F238E27FC236}">
                <a16:creationId xmlns:a16="http://schemas.microsoft.com/office/drawing/2014/main" id="{4D090385-ADBA-405E-A360-0EF0E0B70559}"/>
              </a:ext>
            </a:extLst>
          </p:cNvPr>
          <p:cNvSpPr>
            <a:spLocks noChangeArrowheads="1"/>
          </p:cNvSpPr>
          <p:nvPr/>
        </p:nvSpPr>
        <p:spPr bwMode="auto">
          <a:xfrm>
            <a:off x="5665720" y="4022131"/>
            <a:ext cx="3610972" cy="369332"/>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lang="zh-CN" altLang="en-US" b="1" dirty="0">
                <a:solidFill>
                  <a:srgbClr val="0070C0"/>
                </a:solidFill>
                <a:latin typeface="华文楷体" panose="02010600040101010101" pitchFamily="2" charset="-122"/>
                <a:ea typeface="华文楷体" panose="02010600040101010101" pitchFamily="2" charset="-122"/>
              </a:rPr>
              <a:t>其中</a:t>
            </a:r>
            <a:r>
              <a:rPr lang="en-US" altLang="zh-CN" b="1" dirty="0">
                <a:solidFill>
                  <a:srgbClr val="0070C0"/>
                </a:solidFill>
                <a:latin typeface="华文楷体" panose="02010600040101010101" pitchFamily="2" charset="-122"/>
                <a:ea typeface="华文楷体" panose="02010600040101010101" pitchFamily="2" charset="-122"/>
              </a:rPr>
              <a:t>x</a:t>
            </a:r>
            <a:r>
              <a:rPr lang="zh-CN" altLang="en-US" b="1" dirty="0">
                <a:solidFill>
                  <a:srgbClr val="0070C0"/>
                </a:solidFill>
                <a:latin typeface="华文楷体" panose="02010600040101010101" pitchFamily="2" charset="-122"/>
                <a:ea typeface="华文楷体" panose="02010600040101010101" pitchFamily="2" charset="-122"/>
              </a:rPr>
              <a:t>、</a:t>
            </a:r>
            <a:r>
              <a:rPr lang="en-US" altLang="zh-CN" b="1" dirty="0">
                <a:solidFill>
                  <a:srgbClr val="0070C0"/>
                </a:solidFill>
                <a:latin typeface="华文楷体" panose="02010600040101010101" pitchFamily="2" charset="-122"/>
                <a:ea typeface="华文楷体" panose="02010600040101010101" pitchFamily="2" charset="-122"/>
              </a:rPr>
              <a:t>fun</a:t>
            </a:r>
            <a:r>
              <a:rPr lang="zh-CN" altLang="en-US" b="1" dirty="0">
                <a:solidFill>
                  <a:srgbClr val="0070C0"/>
                </a:solidFill>
                <a:latin typeface="华文楷体" panose="02010600040101010101" pitchFamily="2" charset="-122"/>
                <a:ea typeface="华文楷体" panose="02010600040101010101" pitchFamily="2" charset="-122"/>
              </a:rPr>
              <a:t>、</a:t>
            </a:r>
            <a:r>
              <a:rPr lang="en-US" altLang="zh-CN" b="1" dirty="0">
                <a:solidFill>
                  <a:srgbClr val="0070C0"/>
                </a:solidFill>
                <a:latin typeface="华文楷体" panose="02010600040101010101" pitchFamily="2" charset="-122"/>
                <a:ea typeface="华文楷体" panose="02010600040101010101" pitchFamily="2" charset="-122"/>
              </a:rPr>
              <a:t>x0</a:t>
            </a:r>
            <a:r>
              <a:rPr lang="zh-CN" altLang="en-US" b="1" dirty="0">
                <a:solidFill>
                  <a:srgbClr val="0070C0"/>
                </a:solidFill>
                <a:latin typeface="华文楷体" panose="02010600040101010101" pitchFamily="2" charset="-122"/>
                <a:ea typeface="华文楷体" panose="02010600040101010101" pitchFamily="2" charset="-122"/>
              </a:rPr>
              <a:t>、</a:t>
            </a:r>
            <a:r>
              <a:rPr lang="en-US" altLang="zh-CN" b="1" dirty="0">
                <a:solidFill>
                  <a:srgbClr val="0070C0"/>
                </a:solidFill>
                <a:latin typeface="华文楷体" panose="02010600040101010101" pitchFamily="2" charset="-122"/>
                <a:ea typeface="华文楷体" panose="02010600040101010101" pitchFamily="2" charset="-122"/>
              </a:rPr>
              <a:t>A</a:t>
            </a:r>
            <a:r>
              <a:rPr lang="zh-CN" altLang="en-US" b="1" dirty="0">
                <a:solidFill>
                  <a:srgbClr val="0070C0"/>
                </a:solidFill>
                <a:latin typeface="华文楷体" panose="02010600040101010101" pitchFamily="2" charset="-122"/>
                <a:ea typeface="华文楷体" panose="02010600040101010101" pitchFamily="2" charset="-122"/>
              </a:rPr>
              <a:t>和</a:t>
            </a:r>
            <a:r>
              <a:rPr lang="en-US" altLang="zh-CN" b="1" dirty="0">
                <a:solidFill>
                  <a:srgbClr val="0070C0"/>
                </a:solidFill>
                <a:latin typeface="华文楷体" panose="02010600040101010101" pitchFamily="2" charset="-122"/>
                <a:ea typeface="华文楷体" panose="02010600040101010101" pitchFamily="2" charset="-122"/>
              </a:rPr>
              <a:t>b</a:t>
            </a:r>
            <a:r>
              <a:rPr lang="zh-CN" altLang="en-US" b="1" dirty="0">
                <a:solidFill>
                  <a:srgbClr val="0070C0"/>
                </a:solidFill>
                <a:latin typeface="华文楷体" panose="02010600040101010101" pitchFamily="2" charset="-122"/>
                <a:ea typeface="华文楷体" panose="02010600040101010101" pitchFamily="2" charset="-122"/>
              </a:rPr>
              <a:t>必不可少</a:t>
            </a:r>
            <a:endParaRPr kumimoji="0" lang="zh-CN" altLang="zh-CN" b="1" i="0" u="none" strike="noStrike" cap="none" normalizeH="0" baseline="0" dirty="0">
              <a:ln>
                <a:noFill/>
              </a:ln>
              <a:solidFill>
                <a:srgbClr val="0070C0"/>
              </a:solidFill>
              <a:effectLst/>
              <a:latin typeface="华文楷体" panose="02010600040101010101" pitchFamily="2" charset="-122"/>
              <a:ea typeface="华文楷体" panose="02010600040101010101" pitchFamily="2" charset="-122"/>
            </a:endParaRPr>
          </a:p>
        </p:txBody>
      </p:sp>
      <p:sp>
        <p:nvSpPr>
          <p:cNvPr id="7" name="AutoShape 13">
            <a:extLst>
              <a:ext uri="{FF2B5EF4-FFF2-40B4-BE49-F238E27FC236}">
                <a16:creationId xmlns:a16="http://schemas.microsoft.com/office/drawing/2014/main" id="{9A25661E-5171-4D5D-838D-B1386E44402D}"/>
              </a:ext>
            </a:extLst>
          </p:cNvPr>
          <p:cNvSpPr/>
          <p:nvPr/>
        </p:nvSpPr>
        <p:spPr bwMode="auto">
          <a:xfrm>
            <a:off x="5004048" y="3897627"/>
            <a:ext cx="792088" cy="618339"/>
          </a:xfrm>
          <a:prstGeom prst="irregularSeal2">
            <a:avLst/>
          </a:prstGeom>
          <a:solidFill>
            <a:srgbClr val="FF0000"/>
          </a:soli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numCol="1" anchor="ctr">
            <a:noAutofit/>
          </a:bodyPr>
          <a:lstStyle/>
          <a:p>
            <a:pPr algn="l"/>
            <a:r>
              <a:rPr lang="zh-CN" altLang="en-US" sz="1400" b="1" dirty="0">
                <a:solidFill>
                  <a:srgbClr val="FFFF00"/>
                </a:solidFill>
                <a:latin typeface="微软雅黑" panose="020B0503020204020204" pitchFamily="34" charset="-122"/>
                <a:ea typeface="微软雅黑" panose="020B0503020204020204" pitchFamily="34" charset="-122"/>
              </a:rPr>
              <a:t>注意</a:t>
            </a:r>
            <a:endParaRPr lang="zh-CN" altLang="en-US" sz="1400" b="1" i="0" dirty="0">
              <a:solidFill>
                <a:srgbClr val="FFFF00"/>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677811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9072C81A-0C13-466A-926A-60975DF6CA7C}"/>
              </a:ext>
            </a:extLst>
          </p:cNvPr>
          <p:cNvSpPr/>
          <p:nvPr/>
        </p:nvSpPr>
        <p:spPr bwMode="auto">
          <a:xfrm>
            <a:off x="505965" y="699542"/>
            <a:ext cx="8352928" cy="375359"/>
          </a:xfrm>
          <a:prstGeom prst="rect">
            <a:avLst/>
          </a:prstGeom>
          <a:noFill/>
          <a:ln w="0">
            <a:noFill/>
          </a:ln>
        </p:spPr>
        <p:txBody>
          <a:bodyPr vert="horz" wrap="square" lIns="91440" tIns="45720" rIns="91440" bIns="45720" anchor="ctr">
            <a:spAutoFit/>
          </a:bodyPr>
          <a:lstStyle/>
          <a:p>
            <a:pPr eaLnBrk="0">
              <a:lnSpc>
                <a:spcPts val="2200"/>
              </a:lnSpc>
              <a:spcBef>
                <a:spcPts val="0"/>
              </a:spcBef>
              <a:spcAft>
                <a:spcPts val="0"/>
              </a:spcAft>
            </a:pPr>
            <a:r>
              <a:rPr lang="en-US" altLang="ko-KR" sz="2000" cap="none" dirty="0">
                <a:solidFill>
                  <a:srgbClr val="002060"/>
                </a:solidFill>
                <a:latin typeface="华文楷体" panose="02010600040101010101" pitchFamily="2" charset="-122"/>
                <a:ea typeface="华文楷体" panose="02010600040101010101" pitchFamily="2" charset="-122"/>
              </a:rPr>
              <a:t>   </a:t>
            </a:r>
            <a:r>
              <a:rPr lang="en-US" altLang="ko-KR" sz="2000" cap="none" dirty="0" err="1">
                <a:solidFill>
                  <a:srgbClr val="002060"/>
                </a:solidFill>
                <a:latin typeface="华文楷体" panose="02010600040101010101" pitchFamily="2" charset="-122"/>
                <a:ea typeface="华文楷体" panose="02010600040101010101" pitchFamily="2" charset="-122"/>
              </a:rPr>
              <a:t>著名Rosenbrock</a:t>
            </a:r>
            <a:r>
              <a:rPr lang="zh-CN" altLang="en-US" sz="2000" b="0" i="0" dirty="0">
                <a:solidFill>
                  <a:srgbClr val="2C3E50"/>
                </a:solidFill>
                <a:effectLst/>
                <a:latin typeface="华文楷体" panose="02010600040101010101" pitchFamily="2" charset="-122"/>
                <a:ea typeface="华文楷体" panose="02010600040101010101" pitchFamily="2" charset="-122"/>
              </a:rPr>
              <a:t>香蕉</a:t>
            </a:r>
            <a:r>
              <a:rPr lang="en-US" altLang="ko-KR" sz="2000" dirty="0" err="1">
                <a:solidFill>
                  <a:srgbClr val="002060"/>
                </a:solidFill>
                <a:latin typeface="华文楷体" panose="02010600040101010101" pitchFamily="2" charset="-122"/>
                <a:ea typeface="华文楷体" panose="02010600040101010101" pitchFamily="2" charset="-122"/>
              </a:rPr>
              <a:t>优化函数</a:t>
            </a:r>
            <a:endParaRPr lang="en-US" altLang="ko-KR" sz="2000" dirty="0">
              <a:solidFill>
                <a:srgbClr val="002060"/>
              </a:solidFill>
              <a:latin typeface="华文楷体" panose="02010600040101010101" pitchFamily="2" charset="-122"/>
              <a:ea typeface="华文楷体" panose="02010600040101010101" pitchFamily="2" charset="-122"/>
            </a:endParaRPr>
          </a:p>
        </p:txBody>
      </p:sp>
      <p:pic>
        <p:nvPicPr>
          <p:cNvPr id="6" name="图片 5">
            <a:extLst>
              <a:ext uri="{FF2B5EF4-FFF2-40B4-BE49-F238E27FC236}">
                <a16:creationId xmlns:a16="http://schemas.microsoft.com/office/drawing/2014/main" id="{FBB3FF95-E2AC-4C91-A094-89E9F6CD0C3C}"/>
              </a:ext>
            </a:extLst>
          </p:cNvPr>
          <p:cNvPicPr>
            <a:picLocks noChangeAspect="1"/>
          </p:cNvPicPr>
          <p:nvPr/>
        </p:nvPicPr>
        <p:blipFill rotWithShape="1">
          <a:blip r:embed="rId2">
            <a:extLst>
              <a:ext uri="{28A0092B-C50C-407E-A947-70E740481C1C}">
                <a14:useLocalDpi xmlns:a14="http://schemas.microsoft.com/office/drawing/2010/main" val="0"/>
              </a:ext>
            </a:extLst>
          </a:blip>
          <a:srcRect l="6215" r="3666" b="17827"/>
          <a:stretch/>
        </p:blipFill>
        <p:spPr>
          <a:xfrm>
            <a:off x="4104080" y="699542"/>
            <a:ext cx="3764379" cy="360040"/>
          </a:xfrm>
          <a:prstGeom prst="rect">
            <a:avLst/>
          </a:prstGeom>
          <a:solidFill>
            <a:schemeClr val="bg1"/>
          </a:solidFill>
          <a:ln>
            <a:noFill/>
          </a:ln>
          <a:effectLst/>
        </p:spPr>
      </p:pic>
      <p:sp>
        <p:nvSpPr>
          <p:cNvPr id="9" name="日期占位符 1">
            <a:extLst>
              <a:ext uri="{FF2B5EF4-FFF2-40B4-BE49-F238E27FC236}">
                <a16:creationId xmlns:a16="http://schemas.microsoft.com/office/drawing/2014/main" id="{DD071C85-EDF0-4D88-9B32-D1E973D8776C}"/>
              </a:ext>
            </a:extLst>
          </p:cNvPr>
          <p:cNvSpPr txBox="1">
            <a:spLocks/>
          </p:cNvSpPr>
          <p:nvPr/>
        </p:nvSpPr>
        <p:spPr>
          <a:xfrm>
            <a:off x="-161509" y="1602251"/>
            <a:ext cx="0" cy="0"/>
          </a:xfrm>
        </p:spPr>
        <p:txBody>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a:defRPr/>
            </a:pPr>
            <a:endParaRPr lang="zh-CN" altLang="en-US" dirty="0"/>
          </a:p>
        </p:txBody>
      </p:sp>
      <p:sp>
        <p:nvSpPr>
          <p:cNvPr id="11" name="Rectangle 1">
            <a:extLst>
              <a:ext uri="{FF2B5EF4-FFF2-40B4-BE49-F238E27FC236}">
                <a16:creationId xmlns:a16="http://schemas.microsoft.com/office/drawing/2014/main" id="{9F7BDDC1-DBE9-4CEB-B5A2-50370D076769}"/>
              </a:ext>
            </a:extLst>
          </p:cNvPr>
          <p:cNvSpPr/>
          <p:nvPr/>
        </p:nvSpPr>
        <p:spPr bwMode="auto">
          <a:xfrm>
            <a:off x="7690856" y="707201"/>
            <a:ext cx="1345640" cy="375359"/>
          </a:xfrm>
          <a:prstGeom prst="rect">
            <a:avLst/>
          </a:prstGeom>
          <a:noFill/>
          <a:ln w="0">
            <a:noFill/>
          </a:ln>
        </p:spPr>
        <p:txBody>
          <a:bodyPr vert="horz" wrap="square" lIns="91440" tIns="45720" rIns="91440" bIns="45720" anchor="ctr">
            <a:spAutoFit/>
          </a:bodyPr>
          <a:lstStyle/>
          <a:p>
            <a:pPr eaLnBrk="0">
              <a:lnSpc>
                <a:spcPts val="2200"/>
              </a:lnSpc>
              <a:spcBef>
                <a:spcPts val="0"/>
              </a:spcBef>
              <a:spcAft>
                <a:spcPts val="0"/>
              </a:spcAft>
            </a:pPr>
            <a:r>
              <a:rPr lang="en-US" altLang="ko-KR" sz="2000" cap="none" dirty="0">
                <a:solidFill>
                  <a:srgbClr val="002060"/>
                </a:solidFill>
                <a:latin typeface="华文楷体" panose="02010600040101010101" pitchFamily="2" charset="-122"/>
                <a:ea typeface="华文楷体" panose="02010600040101010101" pitchFamily="2" charset="-122"/>
              </a:rPr>
              <a:t>   </a:t>
            </a:r>
            <a:r>
              <a:rPr lang="zh-CN" altLang="en-US" sz="2000" b="0" i="0" dirty="0">
                <a:solidFill>
                  <a:srgbClr val="2C3E50"/>
                </a:solidFill>
                <a:effectLst/>
                <a:latin typeface="华文楷体" panose="02010600040101010101" pitchFamily="2" charset="-122"/>
                <a:ea typeface="华文楷体" panose="02010600040101010101" pitchFamily="2" charset="-122"/>
              </a:rPr>
              <a:t>参数</a:t>
            </a:r>
            <a:r>
              <a:rPr lang="en-US" altLang="zh-CN" sz="2000" b="0" i="0" dirty="0">
                <a:solidFill>
                  <a:srgbClr val="2C3E50"/>
                </a:solidFill>
                <a:effectLst/>
                <a:latin typeface="华文楷体" panose="02010600040101010101" pitchFamily="2" charset="-122"/>
                <a:ea typeface="华文楷体" panose="02010600040101010101" pitchFamily="2" charset="-122"/>
              </a:rPr>
              <a:t>a=1</a:t>
            </a:r>
            <a:endParaRPr lang="en-US" altLang="zh-CN" sz="2000" b="0" i="0" dirty="0">
              <a:solidFill>
                <a:schemeClr val="bg1"/>
              </a:solidFill>
              <a:effectLst/>
              <a:highlight>
                <a:srgbClr val="003B76"/>
              </a:highlight>
              <a:latin typeface="华文楷体" panose="02010600040101010101" pitchFamily="2" charset="-122"/>
              <a:ea typeface="华文楷体" panose="02010600040101010101" pitchFamily="2" charset="-122"/>
            </a:endParaRPr>
          </a:p>
        </p:txBody>
      </p:sp>
      <p:sp>
        <p:nvSpPr>
          <p:cNvPr id="14" name="文本框 13">
            <a:extLst>
              <a:ext uri="{FF2B5EF4-FFF2-40B4-BE49-F238E27FC236}">
                <a16:creationId xmlns:a16="http://schemas.microsoft.com/office/drawing/2014/main" id="{AA42DFA8-5D57-444F-ADA5-54F474F39663}"/>
              </a:ext>
            </a:extLst>
          </p:cNvPr>
          <p:cNvSpPr txBox="1"/>
          <p:nvPr/>
        </p:nvSpPr>
        <p:spPr>
          <a:xfrm>
            <a:off x="499060" y="1050946"/>
            <a:ext cx="8352928" cy="702244"/>
          </a:xfrm>
          <a:prstGeom prst="rect">
            <a:avLst/>
          </a:prstGeom>
          <a:noFill/>
          <a:ln>
            <a:solidFill>
              <a:schemeClr val="bg1"/>
            </a:solidFill>
          </a:ln>
        </p:spPr>
        <p:txBody>
          <a:bodyPr wrap="square" rtlCol="0" anchor="t">
            <a:spAutoFit/>
          </a:bodyPr>
          <a:lstStyle>
            <a:defPPr>
              <a:defRPr lang="zh-CN"/>
            </a:defPPr>
            <a:lvl1pPr>
              <a:buFont typeface="+mj-ea"/>
              <a:buAutoNum type="circleNumDbPlain"/>
              <a:defRPr sz="1600" b="0" i="0">
                <a:solidFill>
                  <a:schemeClr val="bg1"/>
                </a:solidFill>
                <a:effectLst/>
                <a:latin typeface="华文楷体" panose="02010600040101010101" pitchFamily="2" charset="-122"/>
                <a:ea typeface="华文楷体" panose="02010600040101010101" pitchFamily="2" charset="-122"/>
              </a:defRPr>
            </a:lvl1pPr>
          </a:lstStyle>
          <a:p>
            <a:pPr algn="dist">
              <a:lnSpc>
                <a:spcPts val="2500"/>
              </a:lnSpc>
              <a:buNone/>
            </a:pPr>
            <a:r>
              <a:rPr lang="zh-CN" altLang="en-US" dirty="0">
                <a:solidFill>
                  <a:srgbClr val="00B0F0"/>
                </a:solidFill>
                <a:latin typeface="微软雅黑" panose="020B0503020204020204" pitchFamily="34" charset="-122"/>
                <a:ea typeface="微软雅黑" panose="020B0503020204020204" pitchFamily="34" charset="-122"/>
              </a:rPr>
              <a:t>从点</a:t>
            </a:r>
            <a:r>
              <a:rPr lang="en-US" altLang="zh-CN" dirty="0">
                <a:solidFill>
                  <a:srgbClr val="00B0F0"/>
                </a:solidFill>
                <a:latin typeface="微软雅黑" panose="020B0503020204020204" pitchFamily="34" charset="-122"/>
                <a:ea typeface="微软雅黑" panose="020B0503020204020204" pitchFamily="34" charset="-122"/>
              </a:rPr>
              <a:t>x0[-1,2]</a:t>
            </a:r>
            <a:r>
              <a:rPr lang="zh-CN" altLang="en-US" dirty="0">
                <a:solidFill>
                  <a:srgbClr val="00B0F0"/>
                </a:solidFill>
                <a:latin typeface="微软雅黑" panose="020B0503020204020204" pitchFamily="34" charset="-122"/>
                <a:ea typeface="微软雅黑" panose="020B0503020204020204" pitchFamily="34" charset="-122"/>
              </a:rPr>
              <a:t>开始搜索，线性不等式约束</a:t>
            </a:r>
            <a:r>
              <a:rPr lang="en-US" altLang="zh-CN" dirty="0">
                <a:solidFill>
                  <a:srgbClr val="00B0F0"/>
                </a:solidFill>
                <a:latin typeface="微软雅黑" panose="020B0503020204020204" pitchFamily="34" charset="-122"/>
                <a:ea typeface="微软雅黑" panose="020B0503020204020204" pitchFamily="34" charset="-122"/>
              </a:rPr>
              <a:t>Ax &lt;= b</a:t>
            </a:r>
            <a:r>
              <a:rPr lang="zh-CN" altLang="en-US" dirty="0">
                <a:solidFill>
                  <a:srgbClr val="00B0F0"/>
                </a:solidFill>
                <a:latin typeface="微软雅黑" panose="020B0503020204020204" pitchFamily="34" charset="-122"/>
                <a:ea typeface="微软雅黑" panose="020B0503020204020204" pitchFamily="34" charset="-122"/>
              </a:rPr>
              <a:t>为</a:t>
            </a:r>
            <a:r>
              <a:rPr lang="en-US" altLang="zh-CN" dirty="0">
                <a:solidFill>
                  <a:srgbClr val="FF0000"/>
                </a:solidFill>
                <a:latin typeface="微软雅黑" panose="020B0503020204020204" pitchFamily="34" charset="-122"/>
                <a:ea typeface="微软雅黑" panose="020B0503020204020204" pitchFamily="34" charset="-122"/>
              </a:rPr>
              <a:t>x[1]+2x[2]&lt;=1,</a:t>
            </a:r>
            <a:r>
              <a:rPr lang="zh-CN" altLang="en-US" dirty="0">
                <a:solidFill>
                  <a:srgbClr val="00B0F0"/>
                </a:solidFill>
                <a:latin typeface="微软雅黑" panose="020B0503020204020204" pitchFamily="34" charset="-122"/>
                <a:ea typeface="微软雅黑" panose="020B0503020204020204" pitchFamily="34" charset="-122"/>
              </a:rPr>
              <a:t>即</a:t>
            </a:r>
            <a:r>
              <a:rPr lang="en-US" altLang="zh-CN" dirty="0">
                <a:solidFill>
                  <a:srgbClr val="00B0F0"/>
                </a:solidFill>
                <a:latin typeface="微软雅黑" panose="020B0503020204020204" pitchFamily="34" charset="-122"/>
                <a:ea typeface="微软雅黑" panose="020B0503020204020204" pitchFamily="34" charset="-122"/>
              </a:rPr>
              <a:t>A=[1,2],b=[1]</a:t>
            </a:r>
            <a:r>
              <a:rPr lang="zh-CN" altLang="en-US" dirty="0">
                <a:solidFill>
                  <a:srgbClr val="00B0F0"/>
                </a:solidFill>
                <a:latin typeface="微软雅黑" panose="020B0503020204020204" pitchFamily="34" charset="-122"/>
                <a:ea typeface="微软雅黑" panose="020B0503020204020204" pitchFamily="34" charset="-122"/>
              </a:rPr>
              <a:t> ，求 </a:t>
            </a:r>
            <a:r>
              <a:rPr lang="en-US" altLang="zh-CN" dirty="0" err="1">
                <a:solidFill>
                  <a:srgbClr val="00B0F0"/>
                </a:solidFill>
                <a:latin typeface="微软雅黑" panose="020B0503020204020204" pitchFamily="34" charset="-122"/>
                <a:ea typeface="微软雅黑" panose="020B0503020204020204" pitchFamily="34" charset="-122"/>
              </a:rPr>
              <a:t>Rosenbrock</a:t>
            </a:r>
            <a:r>
              <a:rPr lang="zh-CN" altLang="en-US" dirty="0">
                <a:solidFill>
                  <a:srgbClr val="00B0F0"/>
                </a:solidFill>
                <a:latin typeface="微软雅黑" panose="020B0503020204020204" pitchFamily="34" charset="-122"/>
                <a:ea typeface="微软雅黑" panose="020B0503020204020204" pitchFamily="34" charset="-122"/>
              </a:rPr>
              <a:t>在线性不等式约束下函数最小值</a:t>
            </a:r>
          </a:p>
        </p:txBody>
      </p:sp>
      <p:sp>
        <p:nvSpPr>
          <p:cNvPr id="13" name="标题 1">
            <a:extLst>
              <a:ext uri="{FF2B5EF4-FFF2-40B4-BE49-F238E27FC236}">
                <a16:creationId xmlns:a16="http://schemas.microsoft.com/office/drawing/2014/main" id="{F18A6284-F208-4D72-84B6-1D43B6D123C2}"/>
              </a:ext>
            </a:extLst>
          </p:cNvPr>
          <p:cNvSpPr txBox="1">
            <a:spLocks/>
          </p:cNvSpPr>
          <p:nvPr/>
        </p:nvSpPr>
        <p:spPr>
          <a:xfrm>
            <a:off x="788004" y="194197"/>
            <a:ext cx="8244527" cy="438150"/>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400" b="0" dirty="0">
                <a:solidFill>
                  <a:srgbClr val="002060"/>
                </a:solidFill>
                <a:latin typeface="华文楷体" panose="02010600040101010101" pitchFamily="2" charset="-122"/>
                <a:ea typeface="华文楷体" panose="02010600040101010101" pitchFamily="2" charset="-122"/>
              </a:rPr>
              <a:t>§8.4.3 </a:t>
            </a:r>
            <a:r>
              <a:rPr lang="zh-CN" altLang="en-US" sz="2400" b="0" kern="0" dirty="0">
                <a:solidFill>
                  <a:srgbClr val="002060"/>
                </a:solidFill>
                <a:latin typeface="华文楷体" panose="02010600040101010101" pitchFamily="2" charset="-122"/>
                <a:ea typeface="华文楷体" panose="02010600040101010101" pitchFamily="2" charset="-122"/>
              </a:rPr>
              <a:t>求有约束</a:t>
            </a:r>
            <a:r>
              <a:rPr lang="zh-CN" altLang="en-US" sz="2400" b="0" dirty="0">
                <a:solidFill>
                  <a:srgbClr val="002060"/>
                </a:solidFill>
                <a:latin typeface="华文楷体" panose="02010600040101010101" pitchFamily="2" charset="-122"/>
                <a:ea typeface="华文楷体" panose="02010600040101010101" pitchFamily="2" charset="-122"/>
              </a:rPr>
              <a:t>函数最</a:t>
            </a:r>
            <a:r>
              <a:rPr lang="en-US" altLang="ko-KR" sz="2400" b="0" dirty="0" err="1">
                <a:solidFill>
                  <a:srgbClr val="002060"/>
                </a:solidFill>
                <a:latin typeface="华文楷体" panose="02010600040101010101" pitchFamily="2" charset="-122"/>
                <a:ea typeface="华文楷体" panose="02010600040101010101" pitchFamily="2" charset="-122"/>
              </a:rPr>
              <a:t>小值</a:t>
            </a:r>
            <a:r>
              <a:rPr lang="en-US" altLang="zh-CN" sz="2400" b="0" dirty="0" err="1">
                <a:solidFill>
                  <a:srgbClr val="FF0000"/>
                </a:solidFill>
                <a:latin typeface="华文楷体" panose="02010600040101010101" pitchFamily="2" charset="-122"/>
                <a:ea typeface="华文楷体" panose="02010600040101010101" pitchFamily="2" charset="-122"/>
              </a:rPr>
              <a:t>fmincon</a:t>
            </a:r>
            <a:r>
              <a:rPr lang="en-US" altLang="zh-CN" sz="2400" b="0" kern="0" dirty="0">
                <a:solidFill>
                  <a:srgbClr val="FF0000"/>
                </a:solidFill>
                <a:latin typeface="华文楷体" panose="02010600040101010101" pitchFamily="2" charset="-122"/>
                <a:ea typeface="华文楷体" panose="02010600040101010101" pitchFamily="2" charset="-122"/>
              </a:rPr>
              <a:t>—</a:t>
            </a:r>
            <a:r>
              <a:rPr lang="zh-CN" altLang="en-US" sz="2400" b="0" dirty="0">
                <a:solidFill>
                  <a:srgbClr val="FF0000"/>
                </a:solidFill>
                <a:latin typeface="华文楷体" panose="02010600040101010101" pitchFamily="2" charset="-122"/>
                <a:ea typeface="华文楷体" panose="02010600040101010101" pitchFamily="2" charset="-122"/>
              </a:rPr>
              <a:t>线性不等式约束案例</a:t>
            </a:r>
          </a:p>
        </p:txBody>
      </p:sp>
      <p:sp>
        <p:nvSpPr>
          <p:cNvPr id="15" name="文本框 14">
            <a:extLst>
              <a:ext uri="{FF2B5EF4-FFF2-40B4-BE49-F238E27FC236}">
                <a16:creationId xmlns:a16="http://schemas.microsoft.com/office/drawing/2014/main" id="{42F96332-80BA-4192-A067-976A7841C52A}"/>
              </a:ext>
            </a:extLst>
          </p:cNvPr>
          <p:cNvSpPr txBox="1"/>
          <p:nvPr/>
        </p:nvSpPr>
        <p:spPr>
          <a:xfrm>
            <a:off x="548377" y="1742819"/>
            <a:ext cx="8242135" cy="343620"/>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algn="dist"/>
            <a:r>
              <a:rPr lang="en-US" altLang="zh-CN" sz="1800" b="0" dirty="0">
                <a:effectLst/>
                <a:highlight>
                  <a:srgbClr val="FF0000"/>
                </a:highlight>
                <a:latin typeface="华文楷体" panose="02010600040101010101" pitchFamily="2" charset="-122"/>
                <a:ea typeface="华文楷体" panose="02010600040101010101" pitchFamily="2" charset="-122"/>
              </a:rPr>
              <a:t>x</a:t>
            </a:r>
            <a:r>
              <a:rPr lang="zh-CN" altLang="zh-CN" sz="1800" b="0" dirty="0">
                <a:effectLst/>
                <a:highlight>
                  <a:srgbClr val="FF0000"/>
                </a:highlight>
                <a:latin typeface="华文楷体" panose="02010600040101010101" pitchFamily="2" charset="-122"/>
                <a:ea typeface="华文楷体" panose="02010600040101010101" pitchFamily="2" charset="-122"/>
              </a:rPr>
              <a:t>,</a:t>
            </a:r>
            <a:r>
              <a:rPr lang="zh-CN" altLang="zh-CN" sz="1800" b="0" dirty="0">
                <a:effectLst/>
                <a:latin typeface="华文楷体" panose="02010600040101010101" pitchFamily="2" charset="-122"/>
                <a:ea typeface="华文楷体" panose="02010600040101010101" pitchFamily="2" charset="-122"/>
              </a:rPr>
              <a:t>fval,exitflag,output,lambda,grad,hessian=</a:t>
            </a:r>
            <a:r>
              <a:rPr lang="zh-CN" altLang="zh-CN" sz="1800" b="0" dirty="0">
                <a:effectLst/>
                <a:highlight>
                  <a:srgbClr val="FF0000"/>
                </a:highlight>
                <a:latin typeface="华文楷体" panose="02010600040101010101" pitchFamily="2" charset="-122"/>
                <a:ea typeface="华文楷体" panose="02010600040101010101" pitchFamily="2" charset="-122"/>
              </a:rPr>
              <a:t>fmincon(fun,x0,A,b</a:t>
            </a:r>
            <a:endParaRPr lang="ko-KR" altLang="en-US" sz="1800" dirty="0">
              <a:latin typeface="华文楷体" panose="02010600040101010101" pitchFamily="2" charset="-122"/>
              <a:cs typeface="Times New Roman" panose="02020603050405020304" pitchFamily="18" charset="0"/>
            </a:endParaRPr>
          </a:p>
        </p:txBody>
      </p:sp>
      <p:sp>
        <p:nvSpPr>
          <p:cNvPr id="17" name="文本框 16">
            <a:extLst>
              <a:ext uri="{FF2B5EF4-FFF2-40B4-BE49-F238E27FC236}">
                <a16:creationId xmlns:a16="http://schemas.microsoft.com/office/drawing/2014/main" id="{8BCC0822-CC86-4D3D-A7A7-7E6BC967DD28}"/>
              </a:ext>
            </a:extLst>
          </p:cNvPr>
          <p:cNvSpPr txBox="1"/>
          <p:nvPr/>
        </p:nvSpPr>
        <p:spPr>
          <a:xfrm>
            <a:off x="3746403" y="2931790"/>
            <a:ext cx="5099537" cy="696794"/>
          </a:xfrm>
          <a:prstGeom prst="rect">
            <a:avLst/>
          </a:prstGeom>
          <a:solidFill>
            <a:schemeClr val="bg1"/>
          </a:solidFill>
          <a:effectLst/>
        </p:spPr>
        <p:txBody>
          <a:bodyPr wrap="square">
            <a:spAutoFit/>
          </a:bodyPr>
          <a:lstStyle/>
          <a:p>
            <a:pPr>
              <a:lnSpc>
                <a:spcPct val="150000"/>
              </a:lnSpc>
            </a:pPr>
            <a:r>
              <a:rPr lang="zh-CN" altLang="en-US" sz="1400" dirty="0">
                <a:solidFill>
                  <a:srgbClr val="FF0000"/>
                </a:solidFill>
              </a:rPr>
              <a:t>结果：极值点</a:t>
            </a:r>
            <a:r>
              <a:rPr lang="en-US" altLang="zh-CN" sz="1400" dirty="0">
                <a:solidFill>
                  <a:srgbClr val="FF0000"/>
                </a:solidFill>
              </a:rPr>
              <a:t>x=[-0.9975614486496212, 0.9951080687252396]</a:t>
            </a:r>
          </a:p>
          <a:p>
            <a:pPr>
              <a:lnSpc>
                <a:spcPct val="150000"/>
              </a:lnSpc>
            </a:pPr>
            <a:r>
              <a:rPr lang="zh-CN" altLang="en-US" sz="1400" dirty="0">
                <a:solidFill>
                  <a:srgbClr val="FF0000"/>
                </a:solidFill>
              </a:rPr>
              <a:t>最小值</a:t>
            </a:r>
            <a:r>
              <a:rPr lang="en-US" altLang="zh-CN" sz="1400" dirty="0" err="1">
                <a:solidFill>
                  <a:srgbClr val="FF0000"/>
                </a:solidFill>
              </a:rPr>
              <a:t>fmin</a:t>
            </a:r>
            <a:r>
              <a:rPr lang="en-US" altLang="zh-CN" sz="1400" dirty="0">
                <a:solidFill>
                  <a:srgbClr val="FF0000"/>
                </a:solidFill>
              </a:rPr>
              <a:t>=3.990251784291679</a:t>
            </a:r>
            <a:endParaRPr lang="zh-CN" altLang="en-US" sz="1400" dirty="0">
              <a:solidFill>
                <a:srgbClr val="FF0000"/>
              </a:solidFill>
            </a:endParaRPr>
          </a:p>
        </p:txBody>
      </p:sp>
      <p:sp>
        <p:nvSpPr>
          <p:cNvPr id="12" name="波形 11">
            <a:extLst>
              <a:ext uri="{FF2B5EF4-FFF2-40B4-BE49-F238E27FC236}">
                <a16:creationId xmlns:a16="http://schemas.microsoft.com/office/drawing/2014/main" id="{A382FAE3-EEEC-43AD-8557-D4F2F63FAC3C}"/>
              </a:ext>
            </a:extLst>
          </p:cNvPr>
          <p:cNvSpPr/>
          <p:nvPr/>
        </p:nvSpPr>
        <p:spPr>
          <a:xfrm>
            <a:off x="98447" y="636751"/>
            <a:ext cx="689294" cy="438150"/>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charset="-122"/>
                <a:ea typeface="微软雅黑" panose="020B0503020204020204" charset="-122"/>
              </a:rPr>
              <a:t>例84-6</a:t>
            </a:r>
            <a:endParaRPr lang="ko-KR" altLang="en-US" sz="1600" b="1" dirty="0">
              <a:solidFill>
                <a:srgbClr val="FFFF00"/>
              </a:solidFill>
              <a:latin typeface="微软雅黑" panose="020B0503020204020204" charset="-122"/>
              <a:ea typeface="微软雅黑" panose="020B0503020204020204" charset="-122"/>
            </a:endParaRPr>
          </a:p>
        </p:txBody>
      </p:sp>
      <p:sp>
        <p:nvSpPr>
          <p:cNvPr id="18" name="文本框 17">
            <a:extLst>
              <a:ext uri="{FF2B5EF4-FFF2-40B4-BE49-F238E27FC236}">
                <a16:creationId xmlns:a16="http://schemas.microsoft.com/office/drawing/2014/main" id="{39DAF5A5-4906-439C-9DBC-BE304697F76E}"/>
              </a:ext>
            </a:extLst>
          </p:cNvPr>
          <p:cNvSpPr txBox="1"/>
          <p:nvPr/>
        </p:nvSpPr>
        <p:spPr>
          <a:xfrm>
            <a:off x="505965" y="2072435"/>
            <a:ext cx="7489988" cy="2632259"/>
          </a:xfrm>
          <a:prstGeom prst="rect">
            <a:avLst/>
          </a:prstGeom>
          <a:noFill/>
        </p:spPr>
        <p:txBody>
          <a:bodyPr wrap="square">
            <a:spAutoFit/>
          </a:bodyPr>
          <a:lstStyle/>
          <a:p>
            <a:pPr>
              <a:lnSpc>
                <a:spcPts val="2500"/>
              </a:lnSpc>
            </a:pP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建立函数句柄</a:t>
            </a:r>
            <a:endParaRPr lang="zh-CN" altLang="en-US" b="0" dirty="0">
              <a:solidFill>
                <a:srgbClr val="000000"/>
              </a:solidFill>
              <a:effectLst/>
              <a:latin typeface="Consolas" panose="020B0609020204030204" pitchFamily="49" charset="0"/>
            </a:endParaRPr>
          </a:p>
          <a:p>
            <a:pPr>
              <a:lnSpc>
                <a:spcPts val="2500"/>
              </a:lnSpc>
            </a:pPr>
            <a:r>
              <a:rPr lang="en-US" altLang="zh-CN" b="0" dirty="0">
                <a:solidFill>
                  <a:srgbClr val="795E26"/>
                </a:solidFill>
                <a:effectLst/>
                <a:latin typeface="Consolas" panose="020B0609020204030204" pitchFamily="49" charset="0"/>
              </a:rPr>
              <a:t>fun0</a:t>
            </a:r>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100</a:t>
            </a:r>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pPr>
              <a:lnSpc>
                <a:spcPts val="2500"/>
              </a:lnSpc>
            </a:pPr>
            <a:r>
              <a:rPr lang="en-US" altLang="zh-CN" b="0" dirty="0">
                <a:solidFill>
                  <a:srgbClr val="000000"/>
                </a:solidFill>
                <a:effectLst/>
                <a:latin typeface="Consolas" panose="020B0609020204030204" pitchFamily="49" charset="0"/>
              </a:rPr>
              <a:t>x0=[-</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pPr>
              <a:lnSpc>
                <a:spcPts val="2500"/>
              </a:lnSpc>
            </a:pPr>
            <a:r>
              <a:rPr lang="en-US" altLang="zh-CN" b="0" dirty="0">
                <a:solidFill>
                  <a:srgbClr val="000000"/>
                </a:solidFill>
                <a:effectLst/>
                <a:latin typeface="Consolas" panose="020B0609020204030204" pitchFamily="49" charset="0"/>
              </a:rPr>
              <a:t>A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pPr>
              <a:lnSpc>
                <a:spcPts val="2500"/>
              </a:lnSpc>
            </a:pPr>
            <a:r>
              <a:rPr lang="en-US" altLang="zh-CN" b="0" dirty="0">
                <a:solidFill>
                  <a:srgbClr val="000000"/>
                </a:solidFill>
                <a:effectLst/>
                <a:latin typeface="Consolas" panose="020B0609020204030204" pitchFamily="49" charset="0"/>
              </a:rPr>
              <a:t>b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p>
          <a:p>
            <a:pPr>
              <a:lnSpc>
                <a:spcPts val="2500"/>
              </a:lnSpc>
            </a:pPr>
            <a:r>
              <a:rPr lang="en-US" altLang="zh-CN" b="0" dirty="0" err="1">
                <a:solidFill>
                  <a:srgbClr val="000000"/>
                </a:solidFill>
                <a:effectLst/>
                <a:latin typeface="Consolas" panose="020B0609020204030204" pitchFamily="49" charset="0"/>
              </a:rPr>
              <a:t>x,fmin</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fmincon</a:t>
            </a:r>
            <a:r>
              <a:rPr lang="en-US" altLang="zh-CN" b="0" dirty="0">
                <a:solidFill>
                  <a:srgbClr val="000000"/>
                </a:solidFill>
                <a:effectLst/>
                <a:latin typeface="Consolas" panose="020B0609020204030204" pitchFamily="49" charset="0"/>
              </a:rPr>
              <a:t>(fun0,x0,A,b) </a:t>
            </a:r>
          </a:p>
          <a:p>
            <a:pPr>
              <a:lnSpc>
                <a:spcPts val="2500"/>
              </a:lnSpc>
            </a:pPr>
            <a:r>
              <a:rPr lang="en-US" altLang="zh-CN" b="0" dirty="0">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极值点</a:t>
            </a:r>
            <a:r>
              <a:rPr lang="en-US" altLang="zh-CN" b="0" dirty="0">
                <a:solidFill>
                  <a:srgbClr val="A31515"/>
                </a:solidFill>
                <a:effectLst/>
                <a:latin typeface="Consolas" panose="020B0609020204030204" pitchFamily="49" charset="0"/>
              </a:rPr>
              <a:t>x=</a:t>
            </a:r>
            <a:r>
              <a:rPr lang="en-US" altLang="zh-CN" b="0" dirty="0">
                <a:solidFill>
                  <a:srgbClr val="001080"/>
                </a:solidFill>
                <a:effectLst/>
                <a:latin typeface="Consolas" panose="020B0609020204030204" pitchFamily="49" charset="0"/>
              </a:rPr>
              <a:t>$x</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pPr>
              <a:lnSpc>
                <a:spcPts val="2500"/>
              </a:lnSpc>
            </a:pPr>
            <a:r>
              <a:rPr lang="en-US" altLang="zh-CN" b="0" dirty="0">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最小值</a:t>
            </a:r>
            <a:r>
              <a:rPr lang="en-US" altLang="zh-CN" b="0" dirty="0" err="1">
                <a:solidFill>
                  <a:srgbClr val="A31515"/>
                </a:solidFill>
                <a:effectLst/>
                <a:latin typeface="Consolas" panose="020B0609020204030204" pitchFamily="49" charset="0"/>
              </a:rPr>
              <a:t>fmin</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fmin</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7083267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9072C81A-0C13-466A-926A-60975DF6CA7C}"/>
              </a:ext>
            </a:extLst>
          </p:cNvPr>
          <p:cNvSpPr/>
          <p:nvPr/>
        </p:nvSpPr>
        <p:spPr bwMode="auto">
          <a:xfrm>
            <a:off x="408657" y="677523"/>
            <a:ext cx="8352928" cy="375359"/>
          </a:xfrm>
          <a:prstGeom prst="rect">
            <a:avLst/>
          </a:prstGeom>
          <a:noFill/>
          <a:ln w="0">
            <a:noFill/>
          </a:ln>
        </p:spPr>
        <p:txBody>
          <a:bodyPr vert="horz" wrap="square" lIns="91440" tIns="45720" rIns="91440" bIns="45720" anchor="ctr">
            <a:spAutoFit/>
          </a:bodyPr>
          <a:lstStyle/>
          <a:p>
            <a:pPr eaLnBrk="0">
              <a:lnSpc>
                <a:spcPts val="2200"/>
              </a:lnSpc>
              <a:spcBef>
                <a:spcPts val="0"/>
              </a:spcBef>
              <a:spcAft>
                <a:spcPts val="0"/>
              </a:spcAft>
            </a:pPr>
            <a:r>
              <a:rPr lang="en-US" altLang="ko-KR" sz="2000" cap="none" dirty="0">
                <a:solidFill>
                  <a:srgbClr val="002060"/>
                </a:solidFill>
                <a:latin typeface="华文楷体" panose="02010600040101010101" pitchFamily="2" charset="-122"/>
                <a:ea typeface="华文楷体" panose="02010600040101010101" pitchFamily="2" charset="-122"/>
              </a:rPr>
              <a:t>      </a:t>
            </a:r>
            <a:r>
              <a:rPr lang="en-US" altLang="ko-KR" sz="2000" cap="none" dirty="0" err="1">
                <a:solidFill>
                  <a:srgbClr val="002060"/>
                </a:solidFill>
                <a:latin typeface="华文楷体" panose="02010600040101010101" pitchFamily="2" charset="-122"/>
                <a:ea typeface="华文楷体" panose="02010600040101010101" pitchFamily="2" charset="-122"/>
              </a:rPr>
              <a:t>著名Rosenbrock</a:t>
            </a:r>
            <a:r>
              <a:rPr lang="zh-CN" altLang="en-US" sz="2000" b="0" i="0" dirty="0">
                <a:solidFill>
                  <a:srgbClr val="2C3E50"/>
                </a:solidFill>
                <a:effectLst/>
                <a:latin typeface="华文楷体" panose="02010600040101010101" pitchFamily="2" charset="-122"/>
                <a:ea typeface="华文楷体" panose="02010600040101010101" pitchFamily="2" charset="-122"/>
              </a:rPr>
              <a:t>香蕉</a:t>
            </a:r>
            <a:r>
              <a:rPr lang="en-US" altLang="ko-KR" sz="2000" dirty="0" err="1">
                <a:solidFill>
                  <a:srgbClr val="002060"/>
                </a:solidFill>
                <a:latin typeface="华文楷体" panose="02010600040101010101" pitchFamily="2" charset="-122"/>
                <a:ea typeface="华文楷体" panose="02010600040101010101" pitchFamily="2" charset="-122"/>
              </a:rPr>
              <a:t>优化函数</a:t>
            </a:r>
            <a:endParaRPr lang="en-US" altLang="ko-KR" sz="2000" dirty="0">
              <a:solidFill>
                <a:srgbClr val="002060"/>
              </a:solidFill>
              <a:latin typeface="华文楷体" panose="02010600040101010101" pitchFamily="2" charset="-122"/>
              <a:ea typeface="华文楷体" panose="02010600040101010101" pitchFamily="2" charset="-122"/>
            </a:endParaRPr>
          </a:p>
        </p:txBody>
      </p:sp>
      <p:pic>
        <p:nvPicPr>
          <p:cNvPr id="6" name="图片 5">
            <a:extLst>
              <a:ext uri="{FF2B5EF4-FFF2-40B4-BE49-F238E27FC236}">
                <a16:creationId xmlns:a16="http://schemas.microsoft.com/office/drawing/2014/main" id="{FBB3FF95-E2AC-4C91-A094-89E9F6CD0C3C}"/>
              </a:ext>
            </a:extLst>
          </p:cNvPr>
          <p:cNvPicPr>
            <a:picLocks noChangeAspect="1"/>
          </p:cNvPicPr>
          <p:nvPr/>
        </p:nvPicPr>
        <p:blipFill rotWithShape="1">
          <a:blip r:embed="rId2">
            <a:extLst>
              <a:ext uri="{28A0092B-C50C-407E-A947-70E740481C1C}">
                <a14:useLocalDpi xmlns:a14="http://schemas.microsoft.com/office/drawing/2010/main" val="0"/>
              </a:ext>
            </a:extLst>
          </a:blip>
          <a:srcRect l="6215" r="3666" b="17827"/>
          <a:stretch/>
        </p:blipFill>
        <p:spPr>
          <a:xfrm>
            <a:off x="3995936" y="716891"/>
            <a:ext cx="3764379" cy="360040"/>
          </a:xfrm>
          <a:prstGeom prst="rect">
            <a:avLst/>
          </a:prstGeom>
          <a:ln>
            <a:noFill/>
          </a:ln>
          <a:effectLst/>
        </p:spPr>
      </p:pic>
      <p:sp>
        <p:nvSpPr>
          <p:cNvPr id="9" name="日期占位符 1">
            <a:extLst>
              <a:ext uri="{FF2B5EF4-FFF2-40B4-BE49-F238E27FC236}">
                <a16:creationId xmlns:a16="http://schemas.microsoft.com/office/drawing/2014/main" id="{DD071C85-EDF0-4D88-9B32-D1E973D8776C}"/>
              </a:ext>
            </a:extLst>
          </p:cNvPr>
          <p:cNvSpPr txBox="1">
            <a:spLocks/>
          </p:cNvSpPr>
          <p:nvPr/>
        </p:nvSpPr>
        <p:spPr>
          <a:xfrm>
            <a:off x="-324544" y="1602251"/>
            <a:ext cx="0" cy="0"/>
          </a:xfrm>
        </p:spPr>
        <p:txBody>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a:defRPr/>
            </a:pPr>
            <a:endParaRPr lang="zh-CN" altLang="en-US" dirty="0"/>
          </a:p>
        </p:txBody>
      </p:sp>
      <p:sp>
        <p:nvSpPr>
          <p:cNvPr id="11" name="Rectangle 1">
            <a:extLst>
              <a:ext uri="{FF2B5EF4-FFF2-40B4-BE49-F238E27FC236}">
                <a16:creationId xmlns:a16="http://schemas.microsoft.com/office/drawing/2014/main" id="{9F7BDDC1-DBE9-4CEB-B5A2-50370D076769}"/>
              </a:ext>
            </a:extLst>
          </p:cNvPr>
          <p:cNvSpPr/>
          <p:nvPr/>
        </p:nvSpPr>
        <p:spPr bwMode="auto">
          <a:xfrm>
            <a:off x="7588130" y="694579"/>
            <a:ext cx="1345640" cy="375359"/>
          </a:xfrm>
          <a:prstGeom prst="rect">
            <a:avLst/>
          </a:prstGeom>
          <a:noFill/>
          <a:ln w="0">
            <a:noFill/>
          </a:ln>
        </p:spPr>
        <p:txBody>
          <a:bodyPr vert="horz" wrap="square" lIns="91440" tIns="45720" rIns="91440" bIns="45720" anchor="ctr">
            <a:spAutoFit/>
          </a:bodyPr>
          <a:lstStyle/>
          <a:p>
            <a:pPr eaLnBrk="0">
              <a:lnSpc>
                <a:spcPts val="2200"/>
              </a:lnSpc>
              <a:spcBef>
                <a:spcPts val="0"/>
              </a:spcBef>
              <a:spcAft>
                <a:spcPts val="0"/>
              </a:spcAft>
            </a:pPr>
            <a:r>
              <a:rPr lang="en-US" altLang="ko-KR" sz="2000" cap="none" dirty="0">
                <a:solidFill>
                  <a:srgbClr val="002060"/>
                </a:solidFill>
                <a:latin typeface="华文楷体" panose="02010600040101010101" pitchFamily="2" charset="-122"/>
                <a:ea typeface="华文楷体" panose="02010600040101010101" pitchFamily="2" charset="-122"/>
              </a:rPr>
              <a:t>   </a:t>
            </a:r>
            <a:r>
              <a:rPr lang="zh-CN" altLang="en-US" sz="2000" b="0" i="0" dirty="0">
                <a:solidFill>
                  <a:srgbClr val="2C3E50"/>
                </a:solidFill>
                <a:effectLst/>
                <a:latin typeface="华文楷体" panose="02010600040101010101" pitchFamily="2" charset="-122"/>
                <a:ea typeface="华文楷体" panose="02010600040101010101" pitchFamily="2" charset="-122"/>
              </a:rPr>
              <a:t>参数</a:t>
            </a:r>
            <a:r>
              <a:rPr lang="en-US" altLang="zh-CN" sz="2000" b="0" i="0" dirty="0">
                <a:solidFill>
                  <a:srgbClr val="2C3E50"/>
                </a:solidFill>
                <a:effectLst/>
                <a:latin typeface="华文楷体" panose="02010600040101010101" pitchFamily="2" charset="-122"/>
                <a:ea typeface="华文楷体" panose="02010600040101010101" pitchFamily="2" charset="-122"/>
              </a:rPr>
              <a:t>a=1</a:t>
            </a:r>
            <a:endParaRPr lang="en-US" altLang="zh-CN" sz="2000" b="0" i="0" dirty="0">
              <a:solidFill>
                <a:schemeClr val="bg1"/>
              </a:solidFill>
              <a:effectLst/>
              <a:highlight>
                <a:srgbClr val="003B76"/>
              </a:highlight>
              <a:latin typeface="华文楷体" panose="02010600040101010101" pitchFamily="2" charset="-122"/>
              <a:ea typeface="华文楷体" panose="02010600040101010101" pitchFamily="2" charset="-122"/>
            </a:endParaRPr>
          </a:p>
        </p:txBody>
      </p:sp>
      <p:sp>
        <p:nvSpPr>
          <p:cNvPr id="14" name="文本框 13">
            <a:extLst>
              <a:ext uri="{FF2B5EF4-FFF2-40B4-BE49-F238E27FC236}">
                <a16:creationId xmlns:a16="http://schemas.microsoft.com/office/drawing/2014/main" id="{AA42DFA8-5D57-444F-ADA5-54F474F39663}"/>
              </a:ext>
            </a:extLst>
          </p:cNvPr>
          <p:cNvSpPr txBox="1"/>
          <p:nvPr/>
        </p:nvSpPr>
        <p:spPr>
          <a:xfrm>
            <a:off x="331103" y="1059582"/>
            <a:ext cx="8586084" cy="307777"/>
          </a:xfrm>
          <a:prstGeom prst="rect">
            <a:avLst/>
          </a:prstGeom>
          <a:noFill/>
          <a:ln>
            <a:solidFill>
              <a:schemeClr val="bg1"/>
            </a:solidFill>
          </a:ln>
        </p:spPr>
        <p:txBody>
          <a:bodyPr wrap="square" rtlCol="0" anchor="t">
            <a:spAutoFit/>
          </a:bodyPr>
          <a:lstStyle>
            <a:defPPr>
              <a:defRPr lang="zh-CN"/>
            </a:defPPr>
            <a:lvl1pPr algn="dist">
              <a:buFont typeface="+mj-ea"/>
              <a:buNone/>
              <a:defRPr sz="1600" b="1" i="0">
                <a:solidFill>
                  <a:srgbClr val="00B0F0"/>
                </a:solidFill>
                <a:effectLst/>
                <a:latin typeface="微软雅黑" panose="020B0503020204020204" pitchFamily="34" charset="-122"/>
                <a:ea typeface="微软雅黑" panose="020B0503020204020204" pitchFamily="34" charset="-122"/>
              </a:defRPr>
            </a:lvl1pPr>
          </a:lstStyle>
          <a:p>
            <a:r>
              <a:rPr lang="zh-CN" altLang="en-US" sz="1400" dirty="0"/>
              <a:t>既线性不等式约束</a:t>
            </a:r>
            <a:r>
              <a:rPr lang="en-US" altLang="zh-CN" sz="1400" dirty="0">
                <a:solidFill>
                  <a:srgbClr val="FF0000"/>
                </a:solidFill>
              </a:rPr>
              <a:t>x[1]+2x[2]&lt;=1</a:t>
            </a:r>
            <a:r>
              <a:rPr lang="zh-CN" altLang="en-US" sz="1400" dirty="0"/>
              <a:t>，又有线性等式约束下</a:t>
            </a:r>
            <a:r>
              <a:rPr lang="en-US" altLang="zh-CN" sz="1400" dirty="0">
                <a:solidFill>
                  <a:srgbClr val="FF0000"/>
                </a:solidFill>
              </a:rPr>
              <a:t>2x[1]+x[2]=1</a:t>
            </a:r>
            <a:r>
              <a:rPr lang="zh-CN" altLang="en-US" sz="1400" dirty="0"/>
              <a:t>。求 </a:t>
            </a:r>
            <a:r>
              <a:rPr lang="en-US" altLang="zh-CN" sz="1400" dirty="0" err="1"/>
              <a:t>Rosenbrock</a:t>
            </a:r>
            <a:r>
              <a:rPr lang="zh-CN" altLang="en-US" sz="1400" dirty="0"/>
              <a:t>函数最小值</a:t>
            </a:r>
          </a:p>
        </p:txBody>
      </p:sp>
      <p:sp>
        <p:nvSpPr>
          <p:cNvPr id="16" name="标题 1">
            <a:extLst>
              <a:ext uri="{FF2B5EF4-FFF2-40B4-BE49-F238E27FC236}">
                <a16:creationId xmlns:a16="http://schemas.microsoft.com/office/drawing/2014/main" id="{C3EAF937-0459-47AB-88B1-9CC592C4DD5B}"/>
              </a:ext>
            </a:extLst>
          </p:cNvPr>
          <p:cNvSpPr txBox="1">
            <a:spLocks/>
          </p:cNvSpPr>
          <p:nvPr/>
        </p:nvSpPr>
        <p:spPr>
          <a:xfrm>
            <a:off x="777504" y="186267"/>
            <a:ext cx="8352928" cy="438150"/>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400" b="0" dirty="0">
                <a:solidFill>
                  <a:srgbClr val="002060"/>
                </a:solidFill>
                <a:latin typeface="华文楷体" panose="02010600040101010101" pitchFamily="2" charset="-122"/>
                <a:ea typeface="华文楷体" panose="02010600040101010101" pitchFamily="2" charset="-122"/>
              </a:rPr>
              <a:t>§8.4.3 </a:t>
            </a:r>
            <a:r>
              <a:rPr lang="zh-CN" altLang="en-US" sz="2400" b="0" kern="0" dirty="0">
                <a:solidFill>
                  <a:srgbClr val="002060"/>
                </a:solidFill>
                <a:latin typeface="华文楷体" panose="02010600040101010101" pitchFamily="2" charset="-122"/>
                <a:ea typeface="华文楷体" panose="02010600040101010101" pitchFamily="2" charset="-122"/>
              </a:rPr>
              <a:t>求有约束</a:t>
            </a:r>
            <a:r>
              <a:rPr lang="zh-CN" altLang="en-US" sz="2400" b="0" dirty="0">
                <a:solidFill>
                  <a:srgbClr val="002060"/>
                </a:solidFill>
                <a:latin typeface="华文楷体" panose="02010600040101010101" pitchFamily="2" charset="-122"/>
                <a:ea typeface="华文楷体" panose="02010600040101010101" pitchFamily="2" charset="-122"/>
              </a:rPr>
              <a:t>最</a:t>
            </a:r>
            <a:r>
              <a:rPr lang="en-US" altLang="ko-KR" sz="2400" b="0" dirty="0" err="1">
                <a:solidFill>
                  <a:srgbClr val="002060"/>
                </a:solidFill>
                <a:latin typeface="华文楷体" panose="02010600040101010101" pitchFamily="2" charset="-122"/>
                <a:ea typeface="华文楷体" panose="02010600040101010101" pitchFamily="2" charset="-122"/>
              </a:rPr>
              <a:t>小值</a:t>
            </a:r>
            <a:r>
              <a:rPr lang="en-US" altLang="zh-CN" sz="2400" b="0" dirty="0" err="1">
                <a:solidFill>
                  <a:srgbClr val="FF0000"/>
                </a:solidFill>
                <a:latin typeface="华文楷体" panose="02010600040101010101" pitchFamily="2" charset="-122"/>
                <a:ea typeface="华文楷体" panose="02010600040101010101" pitchFamily="2" charset="-122"/>
              </a:rPr>
              <a:t>fmincon</a:t>
            </a:r>
            <a:r>
              <a:rPr lang="en-US" altLang="zh-CN" sz="2400" b="0" kern="0" dirty="0">
                <a:solidFill>
                  <a:srgbClr val="FF0000"/>
                </a:solidFill>
                <a:latin typeface="华文楷体" panose="02010600040101010101" pitchFamily="2" charset="-122"/>
                <a:ea typeface="华文楷体" panose="02010600040101010101" pitchFamily="2" charset="-122"/>
              </a:rPr>
              <a:t>——</a:t>
            </a:r>
            <a:r>
              <a:rPr lang="zh-CN" altLang="en-US" sz="2200" b="0" dirty="0">
                <a:solidFill>
                  <a:srgbClr val="FF0000"/>
                </a:solidFill>
                <a:latin typeface="华文楷体" panose="02010600040101010101" pitchFamily="2" charset="-122"/>
                <a:ea typeface="华文楷体" panose="02010600040101010101" pitchFamily="2" charset="-122"/>
              </a:rPr>
              <a:t>线性不等式和等式约束案例</a:t>
            </a:r>
          </a:p>
        </p:txBody>
      </p:sp>
      <p:sp>
        <p:nvSpPr>
          <p:cNvPr id="17" name="文本框 16">
            <a:extLst>
              <a:ext uri="{FF2B5EF4-FFF2-40B4-BE49-F238E27FC236}">
                <a16:creationId xmlns:a16="http://schemas.microsoft.com/office/drawing/2014/main" id="{AFF151DD-2203-4420-B3B9-136DF7C45724}"/>
              </a:ext>
            </a:extLst>
          </p:cNvPr>
          <p:cNvSpPr txBox="1"/>
          <p:nvPr/>
        </p:nvSpPr>
        <p:spPr>
          <a:xfrm>
            <a:off x="371310" y="1396283"/>
            <a:ext cx="8586084" cy="341632"/>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algn="dist"/>
            <a:r>
              <a:rPr lang="en-US" altLang="zh-CN" sz="1800" b="0" dirty="0">
                <a:effectLst/>
                <a:highlight>
                  <a:srgbClr val="FF0000"/>
                </a:highlight>
                <a:latin typeface="华文楷体" panose="02010600040101010101" pitchFamily="2" charset="-122"/>
                <a:ea typeface="华文楷体" panose="02010600040101010101" pitchFamily="2" charset="-122"/>
              </a:rPr>
              <a:t>x</a:t>
            </a:r>
            <a:r>
              <a:rPr lang="zh-CN" altLang="zh-CN" sz="1800" b="0" dirty="0">
                <a:effectLst/>
                <a:highlight>
                  <a:srgbClr val="FF0000"/>
                </a:highlight>
                <a:latin typeface="华文楷体" panose="02010600040101010101" pitchFamily="2" charset="-122"/>
                <a:ea typeface="华文楷体" panose="02010600040101010101" pitchFamily="2" charset="-122"/>
              </a:rPr>
              <a:t>,</a:t>
            </a:r>
            <a:r>
              <a:rPr lang="zh-CN" altLang="zh-CN" sz="1800" b="0" dirty="0">
                <a:effectLst/>
                <a:latin typeface="华文楷体" panose="02010600040101010101" pitchFamily="2" charset="-122"/>
                <a:ea typeface="华文楷体" panose="02010600040101010101" pitchFamily="2" charset="-122"/>
              </a:rPr>
              <a:t>fval,exitflag,output,lambda,grad,hessian=</a:t>
            </a:r>
            <a:r>
              <a:rPr lang="zh-CN" altLang="zh-CN" sz="1800" b="0" dirty="0">
                <a:effectLst/>
                <a:highlight>
                  <a:srgbClr val="FF0000"/>
                </a:highlight>
                <a:latin typeface="华文楷体" panose="02010600040101010101" pitchFamily="2" charset="-122"/>
                <a:ea typeface="华文楷体" panose="02010600040101010101" pitchFamily="2" charset="-122"/>
              </a:rPr>
              <a:t>fmincon(fun,x0,A,b</a:t>
            </a:r>
            <a:r>
              <a:rPr lang="zh-CN" altLang="en-US" sz="1800" b="0" dirty="0">
                <a:effectLst/>
                <a:latin typeface="华文楷体" panose="02010600040101010101" pitchFamily="2" charset="-122"/>
                <a:ea typeface="华文楷体" panose="02010600040101010101" pitchFamily="2" charset="-122"/>
              </a:rPr>
              <a:t>，</a:t>
            </a:r>
            <a:r>
              <a:rPr lang="zh-CN" altLang="zh-CN" sz="1800" b="0" dirty="0">
                <a:effectLst/>
                <a:latin typeface="Arial Unicode MS"/>
                <a:ea typeface="source-code-pro"/>
              </a:rPr>
              <a:t>Aeq,beq</a:t>
            </a:r>
            <a:endParaRPr lang="ko-KR" altLang="en-US" sz="1800" dirty="0">
              <a:latin typeface="华文楷体" panose="02010600040101010101" pitchFamily="2" charset="-122"/>
              <a:cs typeface="Times New Roman" panose="02020603050405020304" pitchFamily="18" charset="0"/>
            </a:endParaRPr>
          </a:p>
        </p:txBody>
      </p:sp>
      <p:sp>
        <p:nvSpPr>
          <p:cNvPr id="18" name="文本框 17">
            <a:extLst>
              <a:ext uri="{FF2B5EF4-FFF2-40B4-BE49-F238E27FC236}">
                <a16:creationId xmlns:a16="http://schemas.microsoft.com/office/drawing/2014/main" id="{AC6A757E-81A9-4DDE-AA03-C83CA167B3AB}"/>
              </a:ext>
            </a:extLst>
          </p:cNvPr>
          <p:cNvSpPr txBox="1"/>
          <p:nvPr/>
        </p:nvSpPr>
        <p:spPr>
          <a:xfrm>
            <a:off x="304127" y="1764974"/>
            <a:ext cx="8668677" cy="1003031"/>
          </a:xfrm>
          <a:prstGeom prst="rect">
            <a:avLst/>
          </a:prstGeom>
          <a:noFill/>
        </p:spPr>
        <p:txBody>
          <a:bodyPr wrap="square">
            <a:spAutoFit/>
          </a:bodyPr>
          <a:lstStyle/>
          <a:p>
            <a:pPr marL="285750" indent="-285750" algn="l">
              <a:lnSpc>
                <a:spcPts val="2400"/>
              </a:lnSpc>
              <a:buFont typeface="Wingdings" panose="05000000000000000000" pitchFamily="2" charset="2"/>
              <a:buChar char="Ø"/>
            </a:pPr>
            <a:r>
              <a:rPr lang="en-US" altLang="zh-CN" b="0" i="0" dirty="0">
                <a:solidFill>
                  <a:srgbClr val="2C3E50"/>
                </a:solidFill>
                <a:effectLst/>
                <a:latin typeface="华文楷体" panose="02010600040101010101" pitchFamily="2" charset="-122"/>
                <a:ea typeface="华文楷体" panose="02010600040101010101" pitchFamily="2" charset="-122"/>
              </a:rPr>
              <a:t>x0</a:t>
            </a:r>
            <a:r>
              <a:rPr lang="zh-CN" altLang="en-US" b="0" i="0" dirty="0">
                <a:solidFill>
                  <a:srgbClr val="2C3E50"/>
                </a:solidFill>
                <a:effectLst/>
                <a:latin typeface="华文楷体" panose="02010600040101010101" pitchFamily="2" charset="-122"/>
                <a:ea typeface="华文楷体" panose="02010600040101010101" pitchFamily="2" charset="-122"/>
              </a:rPr>
              <a:t>从点 </a:t>
            </a:r>
            <a:r>
              <a:rPr lang="en-US" altLang="zh-CN" b="0" i="0" dirty="0">
                <a:solidFill>
                  <a:srgbClr val="2C3E50"/>
                </a:solidFill>
                <a:effectLst/>
                <a:latin typeface="华文楷体" panose="02010600040101010101" pitchFamily="2" charset="-122"/>
                <a:ea typeface="华文楷体" panose="02010600040101010101" pitchFamily="2" charset="-122"/>
              </a:rPr>
              <a:t>[0.5,0] </a:t>
            </a:r>
            <a:r>
              <a:rPr lang="zh-CN" altLang="en-US" b="0" i="0" dirty="0">
                <a:solidFill>
                  <a:srgbClr val="2C3E50"/>
                </a:solidFill>
                <a:effectLst/>
                <a:latin typeface="华文楷体" panose="02010600040101010101" pitchFamily="2" charset="-122"/>
                <a:ea typeface="华文楷体" panose="02010600040101010101" pitchFamily="2" charset="-122"/>
              </a:rPr>
              <a:t>开始求最小值，不等式约束为 </a:t>
            </a:r>
            <a:r>
              <a:rPr lang="en-US" altLang="zh-CN" b="0" i="0" dirty="0">
                <a:solidFill>
                  <a:srgbClr val="2C3E50"/>
                </a:solidFill>
                <a:effectLst/>
                <a:latin typeface="华文楷体" panose="02010600040101010101" pitchFamily="2" charset="-122"/>
                <a:ea typeface="华文楷体" panose="02010600040101010101" pitchFamily="2" charset="-122"/>
              </a:rPr>
              <a:t>x[1]+2x[2]≤1 </a:t>
            </a:r>
            <a:r>
              <a:rPr lang="zh-CN" altLang="en-US" b="0" i="0" dirty="0">
                <a:solidFill>
                  <a:srgbClr val="2C3E50"/>
                </a:solidFill>
                <a:effectLst/>
                <a:latin typeface="华文楷体" panose="02010600040101010101" pitchFamily="2" charset="-122"/>
                <a:ea typeface="华文楷体" panose="02010600040101010101" pitchFamily="2" charset="-122"/>
              </a:rPr>
              <a:t>和 等式约束</a:t>
            </a:r>
            <a:r>
              <a:rPr lang="en-US" altLang="zh-CN" b="0" i="0" dirty="0">
                <a:solidFill>
                  <a:srgbClr val="2C3E50"/>
                </a:solidFill>
                <a:effectLst/>
                <a:latin typeface="华文楷体" panose="02010600040101010101" pitchFamily="2" charset="-122"/>
                <a:ea typeface="华文楷体" panose="02010600040101010101" pitchFamily="2" charset="-122"/>
              </a:rPr>
              <a:t>2x[1]+x[2]=1</a:t>
            </a:r>
            <a:endParaRPr lang="zh-CN" altLang="en-US" b="0" i="0" dirty="0">
              <a:solidFill>
                <a:srgbClr val="2C3E50"/>
              </a:solidFill>
              <a:effectLst/>
              <a:latin typeface="华文楷体" panose="02010600040101010101" pitchFamily="2" charset="-122"/>
              <a:ea typeface="华文楷体" panose="02010600040101010101" pitchFamily="2" charset="-122"/>
            </a:endParaRPr>
          </a:p>
          <a:p>
            <a:pPr marL="285750" indent="-285750" algn="l">
              <a:lnSpc>
                <a:spcPts val="2400"/>
              </a:lnSpc>
              <a:buFont typeface="Wingdings" panose="05000000000000000000" pitchFamily="2" charset="2"/>
              <a:buChar char="Ø"/>
            </a:pPr>
            <a:r>
              <a:rPr lang="zh-CN" altLang="en-US" b="0" i="0" dirty="0">
                <a:solidFill>
                  <a:srgbClr val="2C3E50"/>
                </a:solidFill>
                <a:effectLst/>
                <a:latin typeface="华文楷体" panose="02010600040101010101" pitchFamily="2" charset="-122"/>
                <a:ea typeface="华文楷体" panose="02010600040101010101" pitchFamily="2" charset="-122"/>
              </a:rPr>
              <a:t>以 </a:t>
            </a:r>
            <a:r>
              <a:rPr lang="en-US" altLang="zh-CN" b="0" i="0" dirty="0">
                <a:solidFill>
                  <a:srgbClr val="2C3E50"/>
                </a:solidFill>
                <a:effectLst/>
                <a:latin typeface="华文楷体" panose="02010600040101010101" pitchFamily="2" charset="-122"/>
                <a:ea typeface="华文楷体" panose="02010600040101010101" pitchFamily="2" charset="-122"/>
              </a:rPr>
              <a:t>A = [1 2] </a:t>
            </a:r>
            <a:r>
              <a:rPr lang="zh-CN" altLang="en-US" b="0" i="0" dirty="0">
                <a:solidFill>
                  <a:srgbClr val="2C3E50"/>
                </a:solidFill>
                <a:effectLst/>
                <a:latin typeface="华文楷体" panose="02010600040101010101" pitchFamily="2" charset="-122"/>
                <a:ea typeface="华文楷体" panose="02010600040101010101" pitchFamily="2" charset="-122"/>
              </a:rPr>
              <a:t>和 </a:t>
            </a:r>
            <a:r>
              <a:rPr lang="en-US" altLang="zh-CN" b="0" i="0" dirty="0">
                <a:solidFill>
                  <a:srgbClr val="2C3E50"/>
                </a:solidFill>
                <a:effectLst/>
                <a:latin typeface="华文楷体" panose="02010600040101010101" pitchFamily="2" charset="-122"/>
                <a:ea typeface="华文楷体" panose="02010600040101010101" pitchFamily="2" charset="-122"/>
              </a:rPr>
              <a:t>b = [1] </a:t>
            </a:r>
            <a:r>
              <a:rPr lang="zh-CN" altLang="en-US" b="0" i="0" dirty="0">
                <a:solidFill>
                  <a:srgbClr val="2C3E50"/>
                </a:solidFill>
                <a:effectLst/>
                <a:latin typeface="华文楷体" panose="02010600040101010101" pitchFamily="2" charset="-122"/>
                <a:ea typeface="华文楷体" panose="02010600040101010101" pitchFamily="2" charset="-122"/>
              </a:rPr>
              <a:t>为不等式约束条件，以 </a:t>
            </a:r>
            <a:r>
              <a:rPr lang="en-US" altLang="zh-CN" b="0" i="0" dirty="0">
                <a:solidFill>
                  <a:srgbClr val="2C3E50"/>
                </a:solidFill>
                <a:effectLst/>
                <a:latin typeface="华文楷体" panose="02010600040101010101" pitchFamily="2" charset="-122"/>
                <a:ea typeface="华文楷体" panose="02010600040101010101" pitchFamily="2" charset="-122"/>
              </a:rPr>
              <a:t>A*x &lt;= b </a:t>
            </a:r>
            <a:r>
              <a:rPr lang="zh-CN" altLang="en-US" b="0" i="0" dirty="0">
                <a:solidFill>
                  <a:srgbClr val="2C3E50"/>
                </a:solidFill>
                <a:effectLst/>
                <a:latin typeface="华文楷体" panose="02010600040101010101" pitchFamily="2" charset="-122"/>
                <a:ea typeface="华文楷体" panose="02010600040101010101" pitchFamily="2" charset="-122"/>
              </a:rPr>
              <a:t>形式表达线性不等式约束</a:t>
            </a:r>
          </a:p>
          <a:p>
            <a:pPr marL="285750" indent="-285750" algn="l">
              <a:lnSpc>
                <a:spcPts val="2400"/>
              </a:lnSpc>
              <a:buFont typeface="Wingdings" panose="05000000000000000000" pitchFamily="2" charset="2"/>
              <a:buChar char="Ø"/>
            </a:pPr>
            <a:r>
              <a:rPr lang="zh-CN" altLang="en-US" b="0" i="0" dirty="0">
                <a:solidFill>
                  <a:srgbClr val="2C3E50"/>
                </a:solidFill>
                <a:effectLst/>
                <a:latin typeface="华文楷体" panose="02010600040101010101" pitchFamily="2" charset="-122"/>
                <a:ea typeface="华文楷体" panose="02010600040101010101" pitchFamily="2" charset="-122"/>
              </a:rPr>
              <a:t>以 </a:t>
            </a:r>
            <a:r>
              <a:rPr lang="en-US" altLang="zh-CN" b="0" i="0" dirty="0" err="1">
                <a:solidFill>
                  <a:srgbClr val="2C3E50"/>
                </a:solidFill>
                <a:effectLst/>
                <a:latin typeface="华文楷体" panose="02010600040101010101" pitchFamily="2" charset="-122"/>
                <a:ea typeface="华文楷体" panose="02010600040101010101" pitchFamily="2" charset="-122"/>
              </a:rPr>
              <a:t>Aeq</a:t>
            </a:r>
            <a:r>
              <a:rPr lang="en-US" altLang="zh-CN" b="0" i="0" dirty="0">
                <a:solidFill>
                  <a:srgbClr val="2C3E50"/>
                </a:solidFill>
                <a:effectLst/>
                <a:latin typeface="华文楷体" panose="02010600040101010101" pitchFamily="2" charset="-122"/>
                <a:ea typeface="华文楷体" panose="02010600040101010101" pitchFamily="2" charset="-122"/>
              </a:rPr>
              <a:t> = [2 1] </a:t>
            </a:r>
            <a:r>
              <a:rPr lang="zh-CN" altLang="en-US" b="0" i="0" dirty="0">
                <a:solidFill>
                  <a:srgbClr val="2C3E50"/>
                </a:solidFill>
                <a:effectLst/>
                <a:latin typeface="华文楷体" panose="02010600040101010101" pitchFamily="2" charset="-122"/>
                <a:ea typeface="华文楷体" panose="02010600040101010101" pitchFamily="2" charset="-122"/>
              </a:rPr>
              <a:t>和 </a:t>
            </a:r>
            <a:r>
              <a:rPr lang="en-US" altLang="zh-CN" b="0" i="0" dirty="0" err="1">
                <a:solidFill>
                  <a:srgbClr val="2C3E50"/>
                </a:solidFill>
                <a:effectLst/>
                <a:latin typeface="华文楷体" panose="02010600040101010101" pitchFamily="2" charset="-122"/>
                <a:ea typeface="华文楷体" panose="02010600040101010101" pitchFamily="2" charset="-122"/>
              </a:rPr>
              <a:t>beq</a:t>
            </a:r>
            <a:r>
              <a:rPr lang="en-US" altLang="zh-CN" b="0" i="0" dirty="0">
                <a:solidFill>
                  <a:srgbClr val="2C3E50"/>
                </a:solidFill>
                <a:effectLst/>
                <a:latin typeface="华文楷体" panose="02010600040101010101" pitchFamily="2" charset="-122"/>
                <a:ea typeface="华文楷体" panose="02010600040101010101" pitchFamily="2" charset="-122"/>
              </a:rPr>
              <a:t> = [1] </a:t>
            </a:r>
            <a:r>
              <a:rPr lang="zh-CN" altLang="en-US" b="0" i="0" dirty="0">
                <a:solidFill>
                  <a:srgbClr val="2C3E50"/>
                </a:solidFill>
                <a:effectLst/>
                <a:latin typeface="华文楷体" panose="02010600040101010101" pitchFamily="2" charset="-122"/>
                <a:ea typeface="华文楷体" panose="02010600040101010101" pitchFamily="2" charset="-122"/>
              </a:rPr>
              <a:t>为等式约束条件，以 </a:t>
            </a:r>
            <a:r>
              <a:rPr lang="en-US" altLang="zh-CN" b="0" i="0" dirty="0" err="1">
                <a:solidFill>
                  <a:srgbClr val="2C3E50"/>
                </a:solidFill>
                <a:effectLst/>
                <a:latin typeface="华文楷体" panose="02010600040101010101" pitchFamily="2" charset="-122"/>
                <a:ea typeface="华文楷体" panose="02010600040101010101" pitchFamily="2" charset="-122"/>
              </a:rPr>
              <a:t>Aeq</a:t>
            </a:r>
            <a:r>
              <a:rPr lang="en-US" altLang="zh-CN" b="0" i="0" dirty="0">
                <a:solidFill>
                  <a:srgbClr val="2C3E50"/>
                </a:solidFill>
                <a:effectLst/>
                <a:latin typeface="华文楷体" panose="02010600040101010101" pitchFamily="2" charset="-122"/>
                <a:ea typeface="华文楷体" panose="02010600040101010101" pitchFamily="2" charset="-122"/>
              </a:rPr>
              <a:t>*x = </a:t>
            </a:r>
            <a:r>
              <a:rPr lang="en-US" altLang="zh-CN" b="0" i="0" dirty="0" err="1">
                <a:solidFill>
                  <a:srgbClr val="2C3E50"/>
                </a:solidFill>
                <a:effectLst/>
                <a:latin typeface="华文楷体" panose="02010600040101010101" pitchFamily="2" charset="-122"/>
                <a:ea typeface="华文楷体" panose="02010600040101010101" pitchFamily="2" charset="-122"/>
              </a:rPr>
              <a:t>beq</a:t>
            </a:r>
            <a:r>
              <a:rPr lang="en-US" altLang="zh-CN" b="0" i="0" dirty="0">
                <a:solidFill>
                  <a:srgbClr val="2C3E50"/>
                </a:solidFill>
                <a:effectLst/>
                <a:latin typeface="华文楷体" panose="02010600040101010101" pitchFamily="2" charset="-122"/>
                <a:ea typeface="华文楷体" panose="02010600040101010101" pitchFamily="2" charset="-122"/>
              </a:rPr>
              <a:t> </a:t>
            </a:r>
            <a:r>
              <a:rPr lang="zh-CN" altLang="en-US" b="0" i="0" dirty="0">
                <a:solidFill>
                  <a:srgbClr val="2C3E50"/>
                </a:solidFill>
                <a:effectLst/>
                <a:latin typeface="华文楷体" panose="02010600040101010101" pitchFamily="2" charset="-122"/>
                <a:ea typeface="华文楷体" panose="02010600040101010101" pitchFamily="2" charset="-122"/>
              </a:rPr>
              <a:t>形式表达线性等式约束</a:t>
            </a:r>
          </a:p>
        </p:txBody>
      </p:sp>
      <p:sp>
        <p:nvSpPr>
          <p:cNvPr id="15" name="文本框 14">
            <a:extLst>
              <a:ext uri="{FF2B5EF4-FFF2-40B4-BE49-F238E27FC236}">
                <a16:creationId xmlns:a16="http://schemas.microsoft.com/office/drawing/2014/main" id="{A0E63693-9D1C-472B-8D5F-FC7517418320}"/>
              </a:ext>
            </a:extLst>
          </p:cNvPr>
          <p:cNvSpPr txBox="1"/>
          <p:nvPr/>
        </p:nvSpPr>
        <p:spPr>
          <a:xfrm>
            <a:off x="304126" y="2746027"/>
            <a:ext cx="8839873" cy="1843582"/>
          </a:xfrm>
          <a:prstGeom prst="rect">
            <a:avLst/>
          </a:prstGeom>
          <a:noFill/>
          <a:ln>
            <a:noFill/>
          </a:ln>
        </p:spPr>
        <p:txBody>
          <a:bodyPr wrap="square">
            <a:spAutoFit/>
          </a:bodyPr>
          <a:lstStyle/>
          <a:p>
            <a:pPr>
              <a:lnSpc>
                <a:spcPts val="2300"/>
              </a:lnSpc>
            </a:pPr>
            <a:r>
              <a:rPr lang="en-US" altLang="zh-CN" b="0" dirty="0">
                <a:solidFill>
                  <a:srgbClr val="000000"/>
                </a:solidFill>
                <a:effectLst/>
                <a:latin typeface="Consolas" panose="020B0609020204030204" pitchFamily="49" charset="0"/>
              </a:rPr>
              <a:t>fun1= x -&gt; </a:t>
            </a:r>
            <a:r>
              <a:rPr lang="en-US" altLang="zh-CN" b="0" dirty="0">
                <a:solidFill>
                  <a:srgbClr val="098658"/>
                </a:solidFill>
                <a:effectLst/>
                <a:latin typeface="Consolas" panose="020B0609020204030204" pitchFamily="49" charset="0"/>
              </a:rPr>
              <a:t>100</a:t>
            </a:r>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endParaRPr lang="en-US" altLang="zh-CN" b="0" dirty="0">
              <a:solidFill>
                <a:srgbClr val="000000"/>
              </a:solidFill>
              <a:effectLst/>
              <a:latin typeface="Consolas" panose="020B0609020204030204" pitchFamily="49" charset="0"/>
            </a:endParaRPr>
          </a:p>
          <a:p>
            <a:pPr>
              <a:lnSpc>
                <a:spcPts val="2300"/>
              </a:lnSpc>
            </a:pPr>
            <a:r>
              <a:rPr lang="en-US" altLang="zh-CN" b="0" dirty="0">
                <a:solidFill>
                  <a:srgbClr val="000000"/>
                </a:solidFill>
                <a:effectLst/>
                <a:latin typeface="Consolas" panose="020B0609020204030204" pitchFamily="49" charset="0"/>
              </a:rPr>
              <a:t>x0=[</a:t>
            </a:r>
            <a:r>
              <a:rPr lang="en-US" altLang="zh-CN" b="0" dirty="0">
                <a:solidFill>
                  <a:srgbClr val="098658"/>
                </a:solidFill>
                <a:effectLst/>
                <a:latin typeface="Consolas" panose="020B0609020204030204" pitchFamily="49" charset="0"/>
              </a:rPr>
              <a:t>0.5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p>
          <a:p>
            <a:pPr>
              <a:lnSpc>
                <a:spcPts val="2300"/>
              </a:lnSpc>
            </a:pPr>
            <a:r>
              <a:rPr lang="en-US" altLang="zh-CN" b="0" dirty="0">
                <a:solidFill>
                  <a:srgbClr val="000000"/>
                </a:solidFill>
                <a:effectLst/>
                <a:latin typeface="Consolas" panose="020B0609020204030204" pitchFamily="49" charset="0"/>
              </a:rPr>
              <a:t>A=[</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];b=[</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p>
          <a:p>
            <a:pPr>
              <a:lnSpc>
                <a:spcPts val="2300"/>
              </a:lnSpc>
            </a:pPr>
            <a:r>
              <a:rPr lang="en-US" altLang="zh-CN" b="1" dirty="0" err="1">
                <a:solidFill>
                  <a:srgbClr val="FF0000"/>
                </a:solidFill>
                <a:effectLst/>
                <a:latin typeface="Consolas" panose="020B0609020204030204" pitchFamily="49" charset="0"/>
              </a:rPr>
              <a:t>Aeq</a:t>
            </a:r>
            <a:r>
              <a:rPr lang="en-US" altLang="zh-CN" b="1" dirty="0">
                <a:solidFill>
                  <a:srgbClr val="FF0000"/>
                </a:solidFill>
                <a:effectLst/>
                <a:latin typeface="Consolas" panose="020B0609020204030204" pitchFamily="49" charset="0"/>
              </a:rPr>
              <a:t>=[2 1];</a:t>
            </a:r>
            <a:r>
              <a:rPr lang="en-US" altLang="zh-CN" b="1" dirty="0" err="1">
                <a:solidFill>
                  <a:srgbClr val="FF0000"/>
                </a:solidFill>
                <a:effectLst/>
                <a:latin typeface="Consolas" panose="020B0609020204030204" pitchFamily="49" charset="0"/>
              </a:rPr>
              <a:t>beq</a:t>
            </a:r>
            <a:r>
              <a:rPr lang="en-US" altLang="zh-CN" b="1" dirty="0">
                <a:solidFill>
                  <a:srgbClr val="FF0000"/>
                </a:solidFill>
                <a:effectLst/>
                <a:latin typeface="Consolas" panose="020B0609020204030204" pitchFamily="49" charset="0"/>
              </a:rPr>
              <a:t> = [1] </a:t>
            </a:r>
          </a:p>
          <a:p>
            <a:pPr>
              <a:lnSpc>
                <a:spcPts val="2300"/>
              </a:lnSpc>
            </a:pPr>
            <a:r>
              <a:rPr lang="en-US" altLang="zh-CN" b="0" dirty="0" err="1">
                <a:solidFill>
                  <a:srgbClr val="000000"/>
                </a:solidFill>
                <a:effectLst/>
                <a:latin typeface="Consolas" panose="020B0609020204030204" pitchFamily="49" charset="0"/>
              </a:rPr>
              <a:t>x,fmin</a:t>
            </a:r>
            <a:r>
              <a:rPr lang="en-US" altLang="zh-CN" b="0" dirty="0">
                <a:solidFill>
                  <a:srgbClr val="000000"/>
                </a:solidFill>
                <a:effectLst/>
                <a:latin typeface="Consolas" panose="020B0609020204030204" pitchFamily="49" charset="0"/>
              </a:rPr>
              <a:t>= </a:t>
            </a:r>
            <a:r>
              <a:rPr lang="en-US" altLang="zh-CN" b="0" dirty="0" err="1">
                <a:solidFill>
                  <a:srgbClr val="795E26"/>
                </a:solidFill>
                <a:effectLst/>
                <a:latin typeface="Consolas" panose="020B0609020204030204" pitchFamily="49" charset="0"/>
              </a:rPr>
              <a:t>fmincon</a:t>
            </a:r>
            <a:r>
              <a:rPr lang="en-US" altLang="zh-CN" b="0" dirty="0">
                <a:solidFill>
                  <a:srgbClr val="000000"/>
                </a:solidFill>
                <a:effectLst/>
                <a:latin typeface="Consolas" panose="020B0609020204030204" pitchFamily="49" charset="0"/>
              </a:rPr>
              <a:t>(fun1,x0,A,b,Aeq,beq)</a:t>
            </a:r>
          </a:p>
          <a:p>
            <a:pPr>
              <a:lnSpc>
                <a:spcPts val="2300"/>
              </a:lnSpc>
            </a:pPr>
            <a:r>
              <a:rPr lang="en-US" altLang="zh-CN" b="0" dirty="0">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极值点</a:t>
            </a:r>
            <a:r>
              <a:rPr lang="en-US" altLang="zh-CN" b="0" dirty="0" err="1">
                <a:solidFill>
                  <a:srgbClr val="A31515"/>
                </a:solidFill>
                <a:effectLst/>
                <a:latin typeface="Consolas" panose="020B0609020204030204" pitchFamily="49" charset="0"/>
              </a:rPr>
              <a:t>xy</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xy</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最小值</a:t>
            </a:r>
            <a:r>
              <a:rPr lang="en-US" altLang="zh-CN" b="0" dirty="0" err="1">
                <a:solidFill>
                  <a:srgbClr val="A31515"/>
                </a:solidFill>
                <a:effectLst/>
                <a:latin typeface="Consolas" panose="020B0609020204030204" pitchFamily="49" charset="0"/>
              </a:rPr>
              <a:t>fmin</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fmin</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p:txBody>
      </p:sp>
      <p:sp>
        <p:nvSpPr>
          <p:cNvPr id="20" name="文本框 19">
            <a:extLst>
              <a:ext uri="{FF2B5EF4-FFF2-40B4-BE49-F238E27FC236}">
                <a16:creationId xmlns:a16="http://schemas.microsoft.com/office/drawing/2014/main" id="{88290857-61F1-4DB2-8FFB-CEDF216A1F5E}"/>
              </a:ext>
            </a:extLst>
          </p:cNvPr>
          <p:cNvSpPr txBox="1"/>
          <p:nvPr/>
        </p:nvSpPr>
        <p:spPr>
          <a:xfrm>
            <a:off x="3851920" y="3137423"/>
            <a:ext cx="5278512" cy="696794"/>
          </a:xfrm>
          <a:prstGeom prst="rect">
            <a:avLst/>
          </a:prstGeom>
          <a:solidFill>
            <a:schemeClr val="bg1"/>
          </a:solidFill>
          <a:effectLst/>
        </p:spPr>
        <p:txBody>
          <a:bodyPr wrap="square">
            <a:spAutoFit/>
          </a:bodyPr>
          <a:lstStyle>
            <a:defPPr>
              <a:defRPr lang="zh-CN"/>
            </a:defPPr>
            <a:lvl1pPr>
              <a:lnSpc>
                <a:spcPct val="150000"/>
              </a:lnSpc>
              <a:defRPr sz="1400">
                <a:solidFill>
                  <a:srgbClr val="FF0000"/>
                </a:solidFill>
              </a:defRPr>
            </a:lvl1pPr>
          </a:lstStyle>
          <a:p>
            <a:r>
              <a:rPr lang="zh-CN" altLang="en-US" dirty="0"/>
              <a:t>结果：极值点xy=[5.209313550232409, 6.160797282802048]；</a:t>
            </a:r>
            <a:endParaRPr lang="en-US" altLang="zh-CN" dirty="0"/>
          </a:p>
          <a:p>
            <a:r>
              <a:rPr lang="zh-CN" altLang="en-US" dirty="0"/>
              <a:t>最小值fmin=0.3427175973672473</a:t>
            </a:r>
          </a:p>
        </p:txBody>
      </p:sp>
      <p:sp>
        <p:nvSpPr>
          <p:cNvPr id="13" name="波形 12">
            <a:extLst>
              <a:ext uri="{FF2B5EF4-FFF2-40B4-BE49-F238E27FC236}">
                <a16:creationId xmlns:a16="http://schemas.microsoft.com/office/drawing/2014/main" id="{91E3578B-B874-4E0A-A252-E3D3E72FC370}"/>
              </a:ext>
            </a:extLst>
          </p:cNvPr>
          <p:cNvSpPr/>
          <p:nvPr/>
        </p:nvSpPr>
        <p:spPr>
          <a:xfrm>
            <a:off x="4203" y="679611"/>
            <a:ext cx="817360" cy="33483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charset="-122"/>
                <a:ea typeface="微软雅黑" panose="020B0503020204020204" charset="-122"/>
              </a:rPr>
              <a:t>例84-6</a:t>
            </a:r>
            <a:endParaRPr lang="ko-KR" altLang="en-US" sz="1600" b="1" dirty="0">
              <a:solidFill>
                <a:srgbClr val="FFFF00"/>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9724534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8A4543C2-5EB7-46E7-B7D4-69B895F04E80}"/>
              </a:ext>
            </a:extLst>
          </p:cNvPr>
          <p:cNvSpPr txBox="1">
            <a:spLocks/>
          </p:cNvSpPr>
          <p:nvPr/>
        </p:nvSpPr>
        <p:spPr>
          <a:xfrm>
            <a:off x="791072" y="206077"/>
            <a:ext cx="8352928" cy="438150"/>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400" b="0" dirty="0">
                <a:solidFill>
                  <a:srgbClr val="002060"/>
                </a:solidFill>
                <a:latin typeface="华文楷体" panose="02010600040101010101" pitchFamily="2" charset="-122"/>
                <a:ea typeface="华文楷体" panose="02010600040101010101" pitchFamily="2" charset="-122"/>
              </a:rPr>
              <a:t>§8.4.3 </a:t>
            </a:r>
            <a:r>
              <a:rPr lang="zh-CN" altLang="en-US" sz="2400" b="0" kern="0" dirty="0">
                <a:solidFill>
                  <a:srgbClr val="002060"/>
                </a:solidFill>
                <a:latin typeface="华文楷体" panose="02010600040101010101" pitchFamily="2" charset="-122"/>
                <a:ea typeface="华文楷体" panose="02010600040101010101" pitchFamily="2" charset="-122"/>
              </a:rPr>
              <a:t>求有约束</a:t>
            </a:r>
            <a:r>
              <a:rPr lang="zh-CN" altLang="en-US" sz="2400" b="0" dirty="0">
                <a:solidFill>
                  <a:srgbClr val="002060"/>
                </a:solidFill>
                <a:latin typeface="华文楷体" panose="02010600040101010101" pitchFamily="2" charset="-122"/>
                <a:ea typeface="华文楷体" panose="02010600040101010101" pitchFamily="2" charset="-122"/>
              </a:rPr>
              <a:t>最</a:t>
            </a:r>
            <a:r>
              <a:rPr lang="en-US" altLang="ko-KR" sz="2400" b="0" dirty="0" err="1">
                <a:solidFill>
                  <a:srgbClr val="002060"/>
                </a:solidFill>
                <a:latin typeface="华文楷体" panose="02010600040101010101" pitchFamily="2" charset="-122"/>
                <a:ea typeface="华文楷体" panose="02010600040101010101" pitchFamily="2" charset="-122"/>
              </a:rPr>
              <a:t>小值</a:t>
            </a:r>
            <a:r>
              <a:rPr lang="en-US" altLang="zh-CN" sz="2400" b="0" dirty="0" err="1">
                <a:solidFill>
                  <a:srgbClr val="FF0000"/>
                </a:solidFill>
                <a:latin typeface="华文楷体" panose="02010600040101010101" pitchFamily="2" charset="-122"/>
                <a:ea typeface="华文楷体" panose="02010600040101010101" pitchFamily="2" charset="-122"/>
              </a:rPr>
              <a:t>fmincon</a:t>
            </a:r>
            <a:r>
              <a:rPr lang="en-US" altLang="zh-CN" sz="2400" b="0" kern="0" dirty="0">
                <a:solidFill>
                  <a:srgbClr val="FF0000"/>
                </a:solidFill>
                <a:latin typeface="华文楷体" panose="02010600040101010101" pitchFamily="2" charset="-122"/>
                <a:ea typeface="华文楷体" panose="02010600040101010101" pitchFamily="2" charset="-122"/>
              </a:rPr>
              <a:t>——</a:t>
            </a:r>
            <a:r>
              <a:rPr lang="zh-CN" altLang="en-US" sz="2400" b="0" dirty="0">
                <a:solidFill>
                  <a:srgbClr val="FF0000"/>
                </a:solidFill>
                <a:latin typeface="华文楷体" panose="02010600040101010101" pitchFamily="2" charset="-122"/>
                <a:ea typeface="华文楷体" panose="02010600040101010101" pitchFamily="2" charset="-122"/>
              </a:rPr>
              <a:t>边界约束的最小化的案例</a:t>
            </a:r>
          </a:p>
        </p:txBody>
      </p:sp>
      <p:sp>
        <p:nvSpPr>
          <p:cNvPr id="5" name="文本框 4">
            <a:extLst>
              <a:ext uri="{FF2B5EF4-FFF2-40B4-BE49-F238E27FC236}">
                <a16:creationId xmlns:a16="http://schemas.microsoft.com/office/drawing/2014/main" id="{BA345395-AF83-4E06-AA2B-2F7B0A862D78}"/>
              </a:ext>
            </a:extLst>
          </p:cNvPr>
          <p:cNvSpPr txBox="1"/>
          <p:nvPr/>
        </p:nvSpPr>
        <p:spPr>
          <a:xfrm>
            <a:off x="357759" y="1450886"/>
            <a:ext cx="8586085" cy="341632"/>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algn="dist"/>
            <a:r>
              <a:rPr lang="en-US" altLang="zh-CN" sz="1800" b="0" dirty="0">
                <a:effectLst/>
                <a:highlight>
                  <a:srgbClr val="FF0000"/>
                </a:highlight>
                <a:latin typeface="华文楷体" panose="02010600040101010101" pitchFamily="2" charset="-122"/>
                <a:ea typeface="华文楷体" panose="02010600040101010101" pitchFamily="2" charset="-122"/>
              </a:rPr>
              <a:t>x</a:t>
            </a:r>
            <a:r>
              <a:rPr lang="zh-CN" altLang="zh-CN" sz="1800" b="0" dirty="0">
                <a:effectLst/>
                <a:highlight>
                  <a:srgbClr val="FF0000"/>
                </a:highlight>
                <a:latin typeface="华文楷体" panose="02010600040101010101" pitchFamily="2" charset="-122"/>
                <a:ea typeface="华文楷体" panose="02010600040101010101" pitchFamily="2" charset="-122"/>
              </a:rPr>
              <a:t>,</a:t>
            </a:r>
            <a:r>
              <a:rPr lang="zh-CN" altLang="zh-CN" sz="1800" b="0" dirty="0">
                <a:effectLst/>
                <a:latin typeface="华文楷体" panose="02010600040101010101" pitchFamily="2" charset="-122"/>
                <a:ea typeface="华文楷体" panose="02010600040101010101" pitchFamily="2" charset="-122"/>
              </a:rPr>
              <a:t>fval,exitflag,output,lambda,grad,hessian=</a:t>
            </a:r>
            <a:r>
              <a:rPr lang="zh-CN" altLang="zh-CN" sz="1800" b="0" dirty="0">
                <a:effectLst/>
                <a:highlight>
                  <a:srgbClr val="FF0000"/>
                </a:highlight>
                <a:latin typeface="华文楷体" panose="02010600040101010101" pitchFamily="2" charset="-122"/>
                <a:ea typeface="华文楷体" panose="02010600040101010101" pitchFamily="2" charset="-122"/>
              </a:rPr>
              <a:t>fmincon(fun,x0,A,b</a:t>
            </a:r>
            <a:r>
              <a:rPr lang="zh-CN" altLang="en-US" sz="1800" b="0" dirty="0">
                <a:effectLst/>
                <a:latin typeface="华文楷体" panose="02010600040101010101" pitchFamily="2" charset="-122"/>
                <a:ea typeface="华文楷体" panose="02010600040101010101" pitchFamily="2" charset="-122"/>
              </a:rPr>
              <a:t>，</a:t>
            </a:r>
            <a:r>
              <a:rPr lang="zh-CN" altLang="zh-CN" sz="1800" b="0" dirty="0">
                <a:effectLst/>
                <a:latin typeface="Arial Unicode MS"/>
                <a:ea typeface="source-code-pro"/>
              </a:rPr>
              <a:t>Aeq,beq,lb,ub</a:t>
            </a:r>
            <a:endParaRPr lang="ko-KR" altLang="en-US" sz="1800" dirty="0">
              <a:latin typeface="华文楷体" panose="02010600040101010101" pitchFamily="2" charset="-122"/>
              <a:cs typeface="Times New Roman" panose="02020603050405020304" pitchFamily="18" charset="0"/>
            </a:endParaRPr>
          </a:p>
        </p:txBody>
      </p:sp>
      <p:pic>
        <p:nvPicPr>
          <p:cNvPr id="6" name="图片 5">
            <a:extLst>
              <a:ext uri="{FF2B5EF4-FFF2-40B4-BE49-F238E27FC236}">
                <a16:creationId xmlns:a16="http://schemas.microsoft.com/office/drawing/2014/main" id="{9BCEC69E-B086-415F-BF59-E5C3F49F1FD2}"/>
              </a:ext>
            </a:extLst>
          </p:cNvPr>
          <p:cNvPicPr>
            <a:picLocks noChangeAspect="1"/>
          </p:cNvPicPr>
          <p:nvPr/>
        </p:nvPicPr>
        <p:blipFill rotWithShape="1">
          <a:blip r:embed="rId2">
            <a:extLst>
              <a:ext uri="{28A0092B-C50C-407E-A947-70E740481C1C}">
                <a14:useLocalDpi xmlns:a14="http://schemas.microsoft.com/office/drawing/2010/main" val="0"/>
              </a:ext>
            </a:extLst>
          </a:blip>
          <a:srcRect l="6215" r="3666" b="17827"/>
          <a:stretch/>
        </p:blipFill>
        <p:spPr>
          <a:xfrm>
            <a:off x="4572000" y="761658"/>
            <a:ext cx="3260323" cy="234438"/>
          </a:xfrm>
          <a:prstGeom prst="rect">
            <a:avLst/>
          </a:prstGeom>
          <a:ln>
            <a:noFill/>
          </a:ln>
          <a:effectLst>
            <a:outerShdw blurRad="63500" sx="102000" sy="102000" algn="ctr" rotWithShape="0">
              <a:prstClr val="black">
                <a:alpha val="40000"/>
              </a:prstClr>
            </a:outerShdw>
          </a:effectLst>
        </p:spPr>
      </p:pic>
      <p:sp>
        <p:nvSpPr>
          <p:cNvPr id="7" name="Rectangle 1">
            <a:extLst>
              <a:ext uri="{FF2B5EF4-FFF2-40B4-BE49-F238E27FC236}">
                <a16:creationId xmlns:a16="http://schemas.microsoft.com/office/drawing/2014/main" id="{3D7AD3C8-45BD-4503-A762-9E2C2FB45A0D}"/>
              </a:ext>
            </a:extLst>
          </p:cNvPr>
          <p:cNvSpPr/>
          <p:nvPr/>
        </p:nvSpPr>
        <p:spPr bwMode="auto">
          <a:xfrm>
            <a:off x="7598204" y="703337"/>
            <a:ext cx="1345640" cy="375359"/>
          </a:xfrm>
          <a:prstGeom prst="rect">
            <a:avLst/>
          </a:prstGeom>
          <a:noFill/>
          <a:ln w="0">
            <a:noFill/>
          </a:ln>
        </p:spPr>
        <p:txBody>
          <a:bodyPr vert="horz" wrap="square" lIns="91440" tIns="45720" rIns="91440" bIns="45720" anchor="ctr">
            <a:spAutoFit/>
          </a:bodyPr>
          <a:lstStyle/>
          <a:p>
            <a:pPr eaLnBrk="0">
              <a:lnSpc>
                <a:spcPts val="2200"/>
              </a:lnSpc>
              <a:spcBef>
                <a:spcPts val="0"/>
              </a:spcBef>
              <a:spcAft>
                <a:spcPts val="0"/>
              </a:spcAft>
            </a:pPr>
            <a:r>
              <a:rPr lang="en-US" altLang="ko-KR" sz="2000" cap="none" dirty="0">
                <a:solidFill>
                  <a:srgbClr val="002060"/>
                </a:solidFill>
                <a:latin typeface="华文楷体" panose="02010600040101010101" pitchFamily="2" charset="-122"/>
                <a:ea typeface="华文楷体" panose="02010600040101010101" pitchFamily="2" charset="-122"/>
              </a:rPr>
              <a:t>   </a:t>
            </a:r>
            <a:r>
              <a:rPr lang="zh-CN" altLang="en-US" sz="2000" b="0" i="0" dirty="0">
                <a:solidFill>
                  <a:srgbClr val="2C3E50"/>
                </a:solidFill>
                <a:effectLst/>
                <a:latin typeface="华文楷体" panose="02010600040101010101" pitchFamily="2" charset="-122"/>
                <a:ea typeface="华文楷体" panose="02010600040101010101" pitchFamily="2" charset="-122"/>
              </a:rPr>
              <a:t>参数</a:t>
            </a:r>
            <a:r>
              <a:rPr lang="en-US" altLang="zh-CN" sz="2000" b="0" i="0" dirty="0">
                <a:solidFill>
                  <a:srgbClr val="2C3E50"/>
                </a:solidFill>
                <a:effectLst/>
                <a:latin typeface="华文楷体" panose="02010600040101010101" pitchFamily="2" charset="-122"/>
                <a:ea typeface="华文楷体" panose="02010600040101010101" pitchFamily="2" charset="-122"/>
              </a:rPr>
              <a:t>a=1</a:t>
            </a:r>
            <a:endParaRPr lang="en-US" altLang="zh-CN" sz="2000" b="0" i="0" dirty="0">
              <a:solidFill>
                <a:schemeClr val="bg1"/>
              </a:solidFill>
              <a:effectLst/>
              <a:highlight>
                <a:srgbClr val="003B76"/>
              </a:highlight>
              <a:latin typeface="华文楷体" panose="02010600040101010101" pitchFamily="2" charset="-122"/>
              <a:ea typeface="华文楷体" panose="02010600040101010101" pitchFamily="2" charset="-122"/>
            </a:endParaRPr>
          </a:p>
        </p:txBody>
      </p:sp>
      <p:sp>
        <p:nvSpPr>
          <p:cNvPr id="8" name="文本框 7">
            <a:extLst>
              <a:ext uri="{FF2B5EF4-FFF2-40B4-BE49-F238E27FC236}">
                <a16:creationId xmlns:a16="http://schemas.microsoft.com/office/drawing/2014/main" id="{D542A8F2-FD1F-46C2-B27B-017DC5633545}"/>
              </a:ext>
            </a:extLst>
          </p:cNvPr>
          <p:cNvSpPr txBox="1"/>
          <p:nvPr/>
        </p:nvSpPr>
        <p:spPr>
          <a:xfrm>
            <a:off x="311682" y="1112332"/>
            <a:ext cx="8724814" cy="307777"/>
          </a:xfrm>
          <a:prstGeom prst="rect">
            <a:avLst/>
          </a:prstGeom>
          <a:noFill/>
          <a:ln>
            <a:solidFill>
              <a:schemeClr val="bg1"/>
            </a:solidFill>
          </a:ln>
        </p:spPr>
        <p:txBody>
          <a:bodyPr wrap="square" rtlCol="0" anchor="t">
            <a:spAutoFit/>
          </a:bodyPr>
          <a:lstStyle>
            <a:defPPr>
              <a:defRPr lang="zh-CN"/>
            </a:defPPr>
            <a:lvl1pPr algn="dist">
              <a:buFont typeface="+mj-ea"/>
              <a:buNone/>
              <a:defRPr sz="1400" b="1" i="0">
                <a:solidFill>
                  <a:srgbClr val="00B0F0"/>
                </a:solidFill>
                <a:effectLst/>
                <a:latin typeface="微软雅黑" panose="020B0503020204020204" pitchFamily="34" charset="-122"/>
                <a:ea typeface="微软雅黑" panose="020B0503020204020204" pitchFamily="34" charset="-122"/>
              </a:defRPr>
            </a:lvl1pPr>
          </a:lstStyle>
          <a:p>
            <a:r>
              <a:rPr lang="en-US" altLang="zh-CN" dirty="0"/>
              <a:t>x </a:t>
            </a:r>
            <a:r>
              <a:rPr lang="zh-CN" altLang="en-US" dirty="0"/>
              <a:t>为正值且</a:t>
            </a:r>
            <a:r>
              <a:rPr lang="zh-CN" altLang="en-US" dirty="0">
                <a:solidFill>
                  <a:srgbClr val="FF0000"/>
                </a:solidFill>
              </a:rPr>
              <a:t>满足 </a:t>
            </a:r>
            <a:r>
              <a:rPr lang="en-US" altLang="zh-CN" dirty="0">
                <a:solidFill>
                  <a:srgbClr val="FF0000"/>
                </a:solidFill>
              </a:rPr>
              <a:t>0≤ x[1]≤1 </a:t>
            </a:r>
            <a:r>
              <a:rPr lang="zh-CN" altLang="en-US" dirty="0">
                <a:solidFill>
                  <a:srgbClr val="FF0000"/>
                </a:solidFill>
              </a:rPr>
              <a:t>和 </a:t>
            </a:r>
            <a:r>
              <a:rPr lang="en-US" altLang="zh-CN" dirty="0">
                <a:solidFill>
                  <a:srgbClr val="FF0000"/>
                </a:solidFill>
              </a:rPr>
              <a:t>0≤ x[2]≤2 </a:t>
            </a:r>
            <a:r>
              <a:rPr lang="zh-CN" altLang="en-US" dirty="0"/>
              <a:t>的区域边界约束的情况下</a:t>
            </a:r>
            <a:r>
              <a:rPr lang="en-US" altLang="zh-CN" dirty="0"/>
              <a:t>,</a:t>
            </a:r>
            <a:r>
              <a:rPr lang="zh-CN" altLang="en-US" dirty="0"/>
              <a:t>求 </a:t>
            </a:r>
            <a:r>
              <a:rPr lang="en-US" altLang="zh-CN" dirty="0" err="1"/>
              <a:t>Rosenbrock</a:t>
            </a:r>
            <a:r>
              <a:rPr lang="zh-CN" altLang="en-US" dirty="0"/>
              <a:t>函数最小值</a:t>
            </a:r>
          </a:p>
        </p:txBody>
      </p:sp>
      <p:sp>
        <p:nvSpPr>
          <p:cNvPr id="9" name="Rectangle 1">
            <a:extLst>
              <a:ext uri="{FF2B5EF4-FFF2-40B4-BE49-F238E27FC236}">
                <a16:creationId xmlns:a16="http://schemas.microsoft.com/office/drawing/2014/main" id="{027888DC-E587-4409-AE8B-4C27103E8C4E}"/>
              </a:ext>
            </a:extLst>
          </p:cNvPr>
          <p:cNvSpPr/>
          <p:nvPr/>
        </p:nvSpPr>
        <p:spPr bwMode="auto">
          <a:xfrm>
            <a:off x="827584" y="712333"/>
            <a:ext cx="7970513" cy="375359"/>
          </a:xfrm>
          <a:prstGeom prst="rect">
            <a:avLst/>
          </a:prstGeom>
          <a:noFill/>
          <a:ln w="0">
            <a:noFill/>
          </a:ln>
          <a:effectLst/>
        </p:spPr>
        <p:txBody>
          <a:bodyPr vert="horz" wrap="square" lIns="91440" tIns="45720" rIns="91440" bIns="45720" anchor="ctr">
            <a:spAutoFit/>
          </a:bodyPr>
          <a:lstStyle/>
          <a:p>
            <a:pPr eaLnBrk="0">
              <a:lnSpc>
                <a:spcPts val="2200"/>
              </a:lnSpc>
              <a:spcBef>
                <a:spcPts val="0"/>
              </a:spcBef>
              <a:spcAft>
                <a:spcPts val="0"/>
              </a:spcAft>
            </a:pPr>
            <a:r>
              <a:rPr lang="en-US" altLang="ko-KR" sz="2000" cap="none" dirty="0">
                <a:solidFill>
                  <a:srgbClr val="002060"/>
                </a:solidFill>
                <a:latin typeface="华文楷体" panose="02010600040101010101" pitchFamily="2" charset="-122"/>
                <a:ea typeface="华文楷体" panose="02010600040101010101" pitchFamily="2" charset="-122"/>
              </a:rPr>
              <a:t>   </a:t>
            </a:r>
            <a:r>
              <a:rPr lang="en-US" altLang="ko-KR" sz="2000" cap="none" dirty="0" err="1">
                <a:solidFill>
                  <a:srgbClr val="002060"/>
                </a:solidFill>
                <a:latin typeface="华文楷体" panose="02010600040101010101" pitchFamily="2" charset="-122"/>
                <a:ea typeface="华文楷体" panose="02010600040101010101" pitchFamily="2" charset="-122"/>
              </a:rPr>
              <a:t>著名Rosenbrock</a:t>
            </a:r>
            <a:r>
              <a:rPr lang="zh-CN" altLang="en-US" sz="2000" b="0" i="0" dirty="0">
                <a:solidFill>
                  <a:srgbClr val="2C3E50"/>
                </a:solidFill>
                <a:effectLst/>
                <a:latin typeface="华文楷体" panose="02010600040101010101" pitchFamily="2" charset="-122"/>
                <a:ea typeface="华文楷体" panose="02010600040101010101" pitchFamily="2" charset="-122"/>
              </a:rPr>
              <a:t>香蕉</a:t>
            </a:r>
            <a:r>
              <a:rPr lang="en-US" altLang="ko-KR" sz="2000" dirty="0" err="1">
                <a:solidFill>
                  <a:srgbClr val="002060"/>
                </a:solidFill>
                <a:latin typeface="华文楷体" panose="02010600040101010101" pitchFamily="2" charset="-122"/>
                <a:ea typeface="华文楷体" panose="02010600040101010101" pitchFamily="2" charset="-122"/>
              </a:rPr>
              <a:t>优化函数</a:t>
            </a:r>
            <a:endParaRPr lang="en-US" altLang="ko-KR" sz="2000" dirty="0">
              <a:solidFill>
                <a:srgbClr val="002060"/>
              </a:solidFill>
              <a:latin typeface="华文楷体" panose="02010600040101010101" pitchFamily="2" charset="-122"/>
              <a:ea typeface="华文楷体" panose="02010600040101010101" pitchFamily="2" charset="-122"/>
            </a:endParaRPr>
          </a:p>
        </p:txBody>
      </p:sp>
      <p:sp>
        <p:nvSpPr>
          <p:cNvPr id="10" name="Rectangle 1">
            <a:extLst>
              <a:ext uri="{FF2B5EF4-FFF2-40B4-BE49-F238E27FC236}">
                <a16:creationId xmlns:a16="http://schemas.microsoft.com/office/drawing/2014/main" id="{E33DFBBE-46E1-4D36-B2DA-75FAB71C08A6}"/>
              </a:ext>
            </a:extLst>
          </p:cNvPr>
          <p:cNvSpPr>
            <a:spLocks noChangeArrowheads="1"/>
          </p:cNvSpPr>
          <p:nvPr/>
        </p:nvSpPr>
        <p:spPr bwMode="auto">
          <a:xfrm>
            <a:off x="408657" y="3062704"/>
            <a:ext cx="6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hangingPunct="0"/>
            <a:endParaRPr kumimoji="0" lang="zh-CN" altLang="zh-CN" sz="2000" b="0"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endParaRPr>
          </a:p>
        </p:txBody>
      </p:sp>
      <p:sp>
        <p:nvSpPr>
          <p:cNvPr id="16" name="文本框 15">
            <a:extLst>
              <a:ext uri="{FF2B5EF4-FFF2-40B4-BE49-F238E27FC236}">
                <a16:creationId xmlns:a16="http://schemas.microsoft.com/office/drawing/2014/main" id="{AC969BC5-C338-41C6-9250-21F5391F0E2A}"/>
              </a:ext>
            </a:extLst>
          </p:cNvPr>
          <p:cNvSpPr txBox="1"/>
          <p:nvPr/>
        </p:nvSpPr>
        <p:spPr>
          <a:xfrm>
            <a:off x="5867274" y="3723878"/>
            <a:ext cx="3369704" cy="783163"/>
          </a:xfrm>
          <a:prstGeom prst="rect">
            <a:avLst/>
          </a:prstGeom>
          <a:noFill/>
          <a:effectLst/>
        </p:spPr>
        <p:txBody>
          <a:bodyPr wrap="square">
            <a:spAutoFit/>
          </a:bodyPr>
          <a:lstStyle>
            <a:defPPr>
              <a:defRPr lang="zh-CN"/>
            </a:defPPr>
            <a:lvl1pPr>
              <a:lnSpc>
                <a:spcPct val="150000"/>
              </a:lnSpc>
              <a:defRPr sz="1600">
                <a:solidFill>
                  <a:srgbClr val="FF0000"/>
                </a:solidFill>
              </a:defRPr>
            </a:lvl1pPr>
          </a:lstStyle>
          <a:p>
            <a:r>
              <a:rPr lang="zh-CN" altLang="en-US" dirty="0"/>
              <a:t>结果：极值点</a:t>
            </a:r>
            <a:r>
              <a:rPr lang="en-US" altLang="zh-CN" dirty="0"/>
              <a:t>x=[1.0, 2.0]</a:t>
            </a:r>
          </a:p>
          <a:p>
            <a:r>
              <a:rPr lang="zh-CN" altLang="en-US" dirty="0"/>
              <a:t>最小值</a:t>
            </a:r>
            <a:r>
              <a:rPr lang="en-US" altLang="zh-CN" dirty="0" err="1"/>
              <a:t>fmin</a:t>
            </a:r>
            <a:r>
              <a:rPr lang="en-US" altLang="zh-CN" dirty="0"/>
              <a:t>=-0.666666666666667</a:t>
            </a:r>
            <a:endParaRPr lang="zh-CN" altLang="en-US" dirty="0"/>
          </a:p>
        </p:txBody>
      </p:sp>
      <p:sp>
        <p:nvSpPr>
          <p:cNvPr id="12" name="文本框 11">
            <a:extLst>
              <a:ext uri="{FF2B5EF4-FFF2-40B4-BE49-F238E27FC236}">
                <a16:creationId xmlns:a16="http://schemas.microsoft.com/office/drawing/2014/main" id="{965675C5-C826-41CD-A354-2A90417B6BF9}"/>
              </a:ext>
            </a:extLst>
          </p:cNvPr>
          <p:cNvSpPr txBox="1"/>
          <p:nvPr/>
        </p:nvSpPr>
        <p:spPr>
          <a:xfrm>
            <a:off x="251520" y="1808253"/>
            <a:ext cx="6369318" cy="2862322"/>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fun = x-&gt;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 x[</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lb</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ub</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x0 = (</a:t>
            </a:r>
            <a:r>
              <a:rPr lang="en-US" altLang="zh-CN" b="0" dirty="0" err="1">
                <a:solidFill>
                  <a:srgbClr val="000000"/>
                </a:solidFill>
                <a:effectLst/>
                <a:latin typeface="Consolas" panose="020B0609020204030204" pitchFamily="49" charset="0"/>
              </a:rPr>
              <a:t>lb</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ub</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尝试使用一个位于区域中部的初始点</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A=[];b=[];</a:t>
            </a:r>
          </a:p>
          <a:p>
            <a:r>
              <a:rPr lang="en-US" altLang="zh-CN" b="0" dirty="0" err="1">
                <a:solidFill>
                  <a:srgbClr val="000000"/>
                </a:solidFill>
                <a:effectLst/>
                <a:latin typeface="Consolas" panose="020B0609020204030204" pitchFamily="49" charset="0"/>
              </a:rPr>
              <a:t>Aeq</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beq</a:t>
            </a:r>
            <a:r>
              <a:rPr lang="en-US" altLang="zh-CN" b="0" dirty="0">
                <a:solidFill>
                  <a:srgbClr val="000000"/>
                </a:solidFill>
                <a:effectLst/>
                <a:latin typeface="Consolas" panose="020B0609020204030204" pitchFamily="49" charset="0"/>
              </a:rPr>
              <a:t>=[]; </a:t>
            </a:r>
          </a:p>
          <a:p>
            <a:r>
              <a:rPr lang="en-US" altLang="zh-CN" b="0" dirty="0" err="1">
                <a:solidFill>
                  <a:srgbClr val="000000"/>
                </a:solidFill>
                <a:effectLst/>
                <a:latin typeface="Consolas" panose="020B0609020204030204" pitchFamily="49" charset="0"/>
              </a:rPr>
              <a:t>x,fmin</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fmincon</a:t>
            </a:r>
            <a:r>
              <a:rPr lang="en-US" altLang="zh-CN" b="0" dirty="0">
                <a:solidFill>
                  <a:srgbClr val="000000"/>
                </a:solidFill>
                <a:effectLst/>
                <a:latin typeface="Consolas" panose="020B0609020204030204" pitchFamily="49" charset="0"/>
              </a:rPr>
              <a:t>(fun,x0,A,b,Aeq,beq,lb,ub) </a:t>
            </a:r>
          </a:p>
          <a:p>
            <a:r>
              <a:rPr lang="en-US" altLang="zh-CN" b="0" dirty="0">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极值点</a:t>
            </a:r>
            <a:r>
              <a:rPr lang="en-US" altLang="zh-CN" b="0" dirty="0">
                <a:solidFill>
                  <a:srgbClr val="A31515"/>
                </a:solidFill>
                <a:effectLst/>
                <a:latin typeface="Consolas" panose="020B0609020204030204" pitchFamily="49" charset="0"/>
              </a:rPr>
              <a:t>x=</a:t>
            </a:r>
            <a:r>
              <a:rPr lang="en-US" altLang="zh-CN" b="0" dirty="0">
                <a:solidFill>
                  <a:srgbClr val="001080"/>
                </a:solidFill>
                <a:effectLst/>
                <a:latin typeface="Consolas" panose="020B0609020204030204" pitchFamily="49" charset="0"/>
              </a:rPr>
              <a:t>$x</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最小值</a:t>
            </a:r>
            <a:r>
              <a:rPr lang="en-US" altLang="zh-CN" b="0" dirty="0" err="1">
                <a:solidFill>
                  <a:srgbClr val="A31515"/>
                </a:solidFill>
                <a:effectLst/>
                <a:latin typeface="Consolas" panose="020B0609020204030204" pitchFamily="49" charset="0"/>
              </a:rPr>
              <a:t>fmin</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fmin</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p:txBody>
      </p:sp>
      <p:sp>
        <p:nvSpPr>
          <p:cNvPr id="13" name="波形 12">
            <a:extLst>
              <a:ext uri="{FF2B5EF4-FFF2-40B4-BE49-F238E27FC236}">
                <a16:creationId xmlns:a16="http://schemas.microsoft.com/office/drawing/2014/main" id="{C077AB4E-244A-4C4A-8314-9D6DAB348630}"/>
              </a:ext>
            </a:extLst>
          </p:cNvPr>
          <p:cNvSpPr/>
          <p:nvPr/>
        </p:nvSpPr>
        <p:spPr>
          <a:xfrm>
            <a:off x="200156" y="718389"/>
            <a:ext cx="817360" cy="33483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charset="-122"/>
                <a:ea typeface="微软雅黑" panose="020B0503020204020204" charset="-122"/>
              </a:rPr>
              <a:t>例84-6</a:t>
            </a:r>
            <a:endParaRPr lang="ko-KR" altLang="en-US" sz="1600" b="1" dirty="0">
              <a:solidFill>
                <a:srgbClr val="FFFF00"/>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31045927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C609A4C4-6373-45C8-8502-4EF4CB0AB355}"/>
              </a:ext>
            </a:extLst>
          </p:cNvPr>
          <p:cNvSpPr txBox="1">
            <a:spLocks/>
          </p:cNvSpPr>
          <p:nvPr/>
        </p:nvSpPr>
        <p:spPr>
          <a:xfrm>
            <a:off x="944804" y="204418"/>
            <a:ext cx="8064896" cy="438150"/>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400" b="0" dirty="0">
                <a:solidFill>
                  <a:srgbClr val="002060"/>
                </a:solidFill>
                <a:latin typeface="华文楷体" panose="02010600040101010101" pitchFamily="2" charset="-122"/>
                <a:ea typeface="华文楷体" panose="02010600040101010101" pitchFamily="2" charset="-122"/>
              </a:rPr>
              <a:t>§8.4.3 </a:t>
            </a:r>
            <a:r>
              <a:rPr lang="zh-CN" altLang="en-US" sz="2400" b="0" kern="0" dirty="0">
                <a:solidFill>
                  <a:srgbClr val="002060"/>
                </a:solidFill>
                <a:latin typeface="华文楷体" panose="02010600040101010101" pitchFamily="2" charset="-122"/>
                <a:ea typeface="华文楷体" panose="02010600040101010101" pitchFamily="2" charset="-122"/>
              </a:rPr>
              <a:t>求有约束</a:t>
            </a:r>
            <a:r>
              <a:rPr lang="zh-CN" altLang="en-US" sz="2400" b="0" dirty="0">
                <a:solidFill>
                  <a:srgbClr val="002060"/>
                </a:solidFill>
                <a:latin typeface="华文楷体" panose="02010600040101010101" pitchFamily="2" charset="-122"/>
                <a:ea typeface="华文楷体" panose="02010600040101010101" pitchFamily="2" charset="-122"/>
              </a:rPr>
              <a:t>最</a:t>
            </a:r>
            <a:r>
              <a:rPr lang="en-US" altLang="ko-KR" sz="2400" b="0" dirty="0" err="1">
                <a:solidFill>
                  <a:srgbClr val="002060"/>
                </a:solidFill>
                <a:latin typeface="华文楷体" panose="02010600040101010101" pitchFamily="2" charset="-122"/>
                <a:ea typeface="华文楷体" panose="02010600040101010101" pitchFamily="2" charset="-122"/>
              </a:rPr>
              <a:t>小值</a:t>
            </a:r>
            <a:r>
              <a:rPr lang="en-US" altLang="zh-CN" sz="2400" b="0" dirty="0" err="1">
                <a:solidFill>
                  <a:srgbClr val="FF0000"/>
                </a:solidFill>
                <a:latin typeface="华文楷体" panose="02010600040101010101" pitchFamily="2" charset="-122"/>
                <a:ea typeface="华文楷体" panose="02010600040101010101" pitchFamily="2" charset="-122"/>
              </a:rPr>
              <a:t>fmincon</a:t>
            </a:r>
            <a:r>
              <a:rPr lang="en-US" altLang="zh-CN" sz="2400" b="0" kern="0" dirty="0">
                <a:solidFill>
                  <a:srgbClr val="FF0000"/>
                </a:solidFill>
                <a:latin typeface="华文楷体" panose="02010600040101010101" pitchFamily="2" charset="-122"/>
                <a:ea typeface="华文楷体" panose="02010600040101010101" pitchFamily="2" charset="-122"/>
              </a:rPr>
              <a:t>——</a:t>
            </a:r>
            <a:r>
              <a:rPr lang="zh-CN" altLang="en-US" sz="2400" b="0" dirty="0">
                <a:solidFill>
                  <a:srgbClr val="FF0000"/>
                </a:solidFill>
                <a:latin typeface="华文楷体" panose="02010600040101010101" pitchFamily="2" charset="-122"/>
                <a:ea typeface="华文楷体" panose="02010600040101010101" pitchFamily="2" charset="-122"/>
              </a:rPr>
              <a:t>非线性约束最小值案例</a:t>
            </a:r>
          </a:p>
        </p:txBody>
      </p:sp>
      <p:pic>
        <p:nvPicPr>
          <p:cNvPr id="7" name="图片 6">
            <a:extLst>
              <a:ext uri="{FF2B5EF4-FFF2-40B4-BE49-F238E27FC236}">
                <a16:creationId xmlns:a16="http://schemas.microsoft.com/office/drawing/2014/main" id="{4B4E7760-6883-422E-8467-E20E0CEF268A}"/>
              </a:ext>
            </a:extLst>
          </p:cNvPr>
          <p:cNvPicPr>
            <a:picLocks noChangeAspect="1"/>
          </p:cNvPicPr>
          <p:nvPr/>
        </p:nvPicPr>
        <p:blipFill rotWithShape="1">
          <a:blip r:embed="rId2">
            <a:extLst>
              <a:ext uri="{28A0092B-C50C-407E-A947-70E740481C1C}">
                <a14:useLocalDpi xmlns:a14="http://schemas.microsoft.com/office/drawing/2010/main" val="0"/>
              </a:ext>
            </a:extLst>
          </a:blip>
          <a:srcRect l="6215" r="3666" b="17827"/>
          <a:stretch/>
        </p:blipFill>
        <p:spPr>
          <a:xfrm>
            <a:off x="4480424" y="701911"/>
            <a:ext cx="3260323" cy="360040"/>
          </a:xfrm>
          <a:prstGeom prst="rect">
            <a:avLst/>
          </a:prstGeom>
          <a:ln>
            <a:noFill/>
          </a:ln>
          <a:effectLst/>
        </p:spPr>
      </p:pic>
      <p:sp>
        <p:nvSpPr>
          <p:cNvPr id="8" name="Rectangle 1">
            <a:extLst>
              <a:ext uri="{FF2B5EF4-FFF2-40B4-BE49-F238E27FC236}">
                <a16:creationId xmlns:a16="http://schemas.microsoft.com/office/drawing/2014/main" id="{BA56B09D-884D-42EE-9DD1-08B631BF9B53}"/>
              </a:ext>
            </a:extLst>
          </p:cNvPr>
          <p:cNvSpPr/>
          <p:nvPr/>
        </p:nvSpPr>
        <p:spPr bwMode="auto">
          <a:xfrm>
            <a:off x="7588130" y="694579"/>
            <a:ext cx="1345640" cy="375359"/>
          </a:xfrm>
          <a:prstGeom prst="rect">
            <a:avLst/>
          </a:prstGeom>
          <a:noFill/>
          <a:ln w="0">
            <a:noFill/>
          </a:ln>
        </p:spPr>
        <p:txBody>
          <a:bodyPr vert="horz" wrap="square" lIns="91440" tIns="45720" rIns="91440" bIns="45720" anchor="ctr">
            <a:spAutoFit/>
          </a:bodyPr>
          <a:lstStyle/>
          <a:p>
            <a:pPr eaLnBrk="0">
              <a:lnSpc>
                <a:spcPts val="2200"/>
              </a:lnSpc>
              <a:spcBef>
                <a:spcPts val="0"/>
              </a:spcBef>
              <a:spcAft>
                <a:spcPts val="0"/>
              </a:spcAft>
            </a:pPr>
            <a:r>
              <a:rPr lang="en-US" altLang="ko-KR" sz="2000" cap="none" dirty="0">
                <a:solidFill>
                  <a:srgbClr val="002060"/>
                </a:solidFill>
                <a:latin typeface="华文楷体" panose="02010600040101010101" pitchFamily="2" charset="-122"/>
                <a:ea typeface="华文楷体" panose="02010600040101010101" pitchFamily="2" charset="-122"/>
              </a:rPr>
              <a:t>   </a:t>
            </a:r>
            <a:r>
              <a:rPr lang="zh-CN" altLang="en-US" sz="2000" b="0" i="0" dirty="0">
                <a:solidFill>
                  <a:srgbClr val="2C3E50"/>
                </a:solidFill>
                <a:effectLst/>
                <a:latin typeface="华文楷体" panose="02010600040101010101" pitchFamily="2" charset="-122"/>
                <a:ea typeface="华文楷体" panose="02010600040101010101" pitchFamily="2" charset="-122"/>
              </a:rPr>
              <a:t>参数</a:t>
            </a:r>
            <a:r>
              <a:rPr lang="en-US" altLang="zh-CN" sz="2000" b="0" i="0" dirty="0">
                <a:solidFill>
                  <a:srgbClr val="2C3E50"/>
                </a:solidFill>
                <a:effectLst/>
                <a:latin typeface="华文楷体" panose="02010600040101010101" pitchFamily="2" charset="-122"/>
                <a:ea typeface="华文楷体" panose="02010600040101010101" pitchFamily="2" charset="-122"/>
              </a:rPr>
              <a:t>a=1</a:t>
            </a:r>
            <a:endParaRPr lang="en-US" altLang="zh-CN" sz="2000" b="0" i="0" dirty="0">
              <a:solidFill>
                <a:schemeClr val="bg1"/>
              </a:solidFill>
              <a:effectLst/>
              <a:highlight>
                <a:srgbClr val="003B76"/>
              </a:highlight>
              <a:latin typeface="华文楷体" panose="02010600040101010101" pitchFamily="2" charset="-122"/>
              <a:ea typeface="华文楷体" panose="02010600040101010101" pitchFamily="2" charset="-122"/>
            </a:endParaRPr>
          </a:p>
        </p:txBody>
      </p:sp>
      <p:sp>
        <p:nvSpPr>
          <p:cNvPr id="9" name="文本框 8">
            <a:extLst>
              <a:ext uri="{FF2B5EF4-FFF2-40B4-BE49-F238E27FC236}">
                <a16:creationId xmlns:a16="http://schemas.microsoft.com/office/drawing/2014/main" id="{ADFE0D2E-D867-4F67-B422-F9A2A8BD00AD}"/>
              </a:ext>
            </a:extLst>
          </p:cNvPr>
          <p:cNvSpPr txBox="1"/>
          <p:nvPr/>
        </p:nvSpPr>
        <p:spPr>
          <a:xfrm>
            <a:off x="183964" y="1023831"/>
            <a:ext cx="8776071" cy="307777"/>
          </a:xfrm>
          <a:prstGeom prst="rect">
            <a:avLst/>
          </a:prstGeom>
          <a:noFill/>
          <a:ln>
            <a:solidFill>
              <a:schemeClr val="bg1"/>
            </a:solidFill>
          </a:ln>
        </p:spPr>
        <p:txBody>
          <a:bodyPr wrap="square" rtlCol="0" anchor="t">
            <a:spAutoFit/>
          </a:bodyPr>
          <a:lstStyle>
            <a:defPPr>
              <a:defRPr lang="zh-CN"/>
            </a:defPPr>
            <a:lvl1pPr algn="dist">
              <a:buFont typeface="+mj-ea"/>
              <a:buNone/>
              <a:defRPr sz="1400" b="1" i="0">
                <a:solidFill>
                  <a:srgbClr val="00B0F0"/>
                </a:solidFill>
                <a:effectLst/>
                <a:latin typeface="微软雅黑" panose="020B0503020204020204" pitchFamily="34" charset="-122"/>
                <a:ea typeface="微软雅黑" panose="020B0503020204020204" pitchFamily="34" charset="-122"/>
              </a:defRPr>
            </a:lvl1pPr>
          </a:lstStyle>
          <a:p>
            <a:r>
              <a:rPr lang="zh-CN" altLang="en-US" dirty="0"/>
              <a:t>在</a:t>
            </a:r>
            <a:r>
              <a:rPr lang="en-US" altLang="zh-CN" dirty="0"/>
              <a:t>0≤ x[1]≤0.5 </a:t>
            </a:r>
            <a:r>
              <a:rPr lang="zh-CN" altLang="en-US" dirty="0"/>
              <a:t>和 </a:t>
            </a:r>
            <a:r>
              <a:rPr lang="en-US" altLang="zh-CN" dirty="0"/>
              <a:t>0.2≤ x[2]≤0.8 </a:t>
            </a:r>
            <a:r>
              <a:rPr lang="zh-CN" altLang="en-US" dirty="0"/>
              <a:t>边界约束下求 </a:t>
            </a:r>
            <a:r>
              <a:rPr lang="en-US" altLang="zh-CN" dirty="0" err="1"/>
              <a:t>Rosenbrock</a:t>
            </a:r>
            <a:r>
              <a:rPr lang="en-US" altLang="zh-CN" dirty="0"/>
              <a:t> </a:t>
            </a:r>
            <a:r>
              <a:rPr lang="zh-CN" altLang="en-US" dirty="0"/>
              <a:t>函数在</a:t>
            </a:r>
            <a:r>
              <a:rPr lang="zh-CN" altLang="en-US" dirty="0">
                <a:solidFill>
                  <a:srgbClr val="FF0000"/>
                </a:solidFill>
              </a:rPr>
              <a:t>圆内最小的点</a:t>
            </a:r>
          </a:p>
        </p:txBody>
      </p:sp>
      <p:sp>
        <p:nvSpPr>
          <p:cNvPr id="10" name="Rectangle 1">
            <a:extLst>
              <a:ext uri="{FF2B5EF4-FFF2-40B4-BE49-F238E27FC236}">
                <a16:creationId xmlns:a16="http://schemas.microsoft.com/office/drawing/2014/main" id="{11CAFD94-3386-498E-A0F7-CEA16AFEEFA8}"/>
              </a:ext>
            </a:extLst>
          </p:cNvPr>
          <p:cNvSpPr/>
          <p:nvPr/>
        </p:nvSpPr>
        <p:spPr bwMode="auto">
          <a:xfrm>
            <a:off x="827583" y="677523"/>
            <a:ext cx="7934001" cy="375359"/>
          </a:xfrm>
          <a:prstGeom prst="rect">
            <a:avLst/>
          </a:prstGeom>
          <a:noFill/>
          <a:ln w="0">
            <a:noFill/>
          </a:ln>
        </p:spPr>
        <p:txBody>
          <a:bodyPr vert="horz" wrap="square" lIns="91440" tIns="45720" rIns="91440" bIns="45720" anchor="ctr">
            <a:spAutoFit/>
          </a:bodyPr>
          <a:lstStyle/>
          <a:p>
            <a:pPr eaLnBrk="0">
              <a:lnSpc>
                <a:spcPts val="2200"/>
              </a:lnSpc>
              <a:spcBef>
                <a:spcPts val="0"/>
              </a:spcBef>
              <a:spcAft>
                <a:spcPts val="0"/>
              </a:spcAft>
            </a:pPr>
            <a:r>
              <a:rPr lang="en-US" altLang="ko-KR" sz="2000" cap="none" dirty="0">
                <a:solidFill>
                  <a:srgbClr val="002060"/>
                </a:solidFill>
                <a:latin typeface="华文楷体" panose="02010600040101010101" pitchFamily="2" charset="-122"/>
                <a:ea typeface="华文楷体" panose="02010600040101010101" pitchFamily="2" charset="-122"/>
              </a:rPr>
              <a:t>   </a:t>
            </a:r>
            <a:r>
              <a:rPr lang="en-US" altLang="ko-KR" sz="2000" cap="none" dirty="0" err="1">
                <a:solidFill>
                  <a:srgbClr val="002060"/>
                </a:solidFill>
                <a:latin typeface="华文楷体" panose="02010600040101010101" pitchFamily="2" charset="-122"/>
                <a:ea typeface="华文楷体" panose="02010600040101010101" pitchFamily="2" charset="-122"/>
              </a:rPr>
              <a:t>著名Rosenbrock</a:t>
            </a:r>
            <a:r>
              <a:rPr lang="zh-CN" altLang="en-US" sz="2000" b="0" i="0" dirty="0">
                <a:solidFill>
                  <a:srgbClr val="2C3E50"/>
                </a:solidFill>
                <a:effectLst/>
                <a:latin typeface="华文楷体" panose="02010600040101010101" pitchFamily="2" charset="-122"/>
                <a:ea typeface="华文楷体" panose="02010600040101010101" pitchFamily="2" charset="-122"/>
              </a:rPr>
              <a:t>香蕉</a:t>
            </a:r>
            <a:r>
              <a:rPr lang="en-US" altLang="ko-KR" sz="2000" dirty="0" err="1">
                <a:solidFill>
                  <a:srgbClr val="002060"/>
                </a:solidFill>
                <a:latin typeface="华文楷体" panose="02010600040101010101" pitchFamily="2" charset="-122"/>
                <a:ea typeface="华文楷体" panose="02010600040101010101" pitchFamily="2" charset="-122"/>
              </a:rPr>
              <a:t>优化函数</a:t>
            </a:r>
            <a:endParaRPr lang="en-US" altLang="ko-KR" sz="2000" dirty="0">
              <a:solidFill>
                <a:srgbClr val="002060"/>
              </a:solidFill>
              <a:latin typeface="华文楷体" panose="02010600040101010101" pitchFamily="2" charset="-122"/>
              <a:ea typeface="华文楷体" panose="02010600040101010101" pitchFamily="2" charset="-122"/>
            </a:endParaRPr>
          </a:p>
        </p:txBody>
      </p:sp>
      <p:sp>
        <p:nvSpPr>
          <p:cNvPr id="11" name="文本框 10">
            <a:extLst>
              <a:ext uri="{FF2B5EF4-FFF2-40B4-BE49-F238E27FC236}">
                <a16:creationId xmlns:a16="http://schemas.microsoft.com/office/drawing/2014/main" id="{AD172A46-5306-4AF3-B391-18FCFD60BA06}"/>
              </a:ext>
            </a:extLst>
          </p:cNvPr>
          <p:cNvSpPr txBox="1"/>
          <p:nvPr/>
        </p:nvSpPr>
        <p:spPr>
          <a:xfrm>
            <a:off x="252405" y="1366240"/>
            <a:ext cx="8613279" cy="341632"/>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algn="dist"/>
            <a:r>
              <a:rPr lang="en-US" altLang="zh-CN" sz="1800" b="0" dirty="0">
                <a:effectLst/>
                <a:highlight>
                  <a:srgbClr val="FF0000"/>
                </a:highlight>
                <a:latin typeface="华文楷体" panose="02010600040101010101" pitchFamily="2" charset="-122"/>
                <a:ea typeface="华文楷体" panose="02010600040101010101" pitchFamily="2" charset="-122"/>
              </a:rPr>
              <a:t>x</a:t>
            </a:r>
            <a:r>
              <a:rPr lang="zh-CN" altLang="zh-CN" sz="1800" b="0" dirty="0">
                <a:effectLst/>
                <a:highlight>
                  <a:srgbClr val="FF0000"/>
                </a:highlight>
                <a:latin typeface="华文楷体" panose="02010600040101010101" pitchFamily="2" charset="-122"/>
                <a:ea typeface="华文楷体" panose="02010600040101010101" pitchFamily="2" charset="-122"/>
              </a:rPr>
              <a:t>,</a:t>
            </a:r>
            <a:r>
              <a:rPr lang="zh-CN" altLang="zh-CN" sz="1800" b="0" dirty="0">
                <a:effectLst/>
                <a:latin typeface="华文楷体" panose="02010600040101010101" pitchFamily="2" charset="-122"/>
                <a:ea typeface="华文楷体" panose="02010600040101010101" pitchFamily="2" charset="-122"/>
              </a:rPr>
              <a:t>fval,exitflag,output,lambda,grad,hessian=</a:t>
            </a:r>
            <a:r>
              <a:rPr lang="zh-CN" altLang="zh-CN" sz="1800" b="0" dirty="0">
                <a:effectLst/>
                <a:highlight>
                  <a:srgbClr val="FF0000"/>
                </a:highlight>
                <a:latin typeface="华文楷体" panose="02010600040101010101" pitchFamily="2" charset="-122"/>
                <a:ea typeface="华文楷体" panose="02010600040101010101" pitchFamily="2" charset="-122"/>
              </a:rPr>
              <a:t>fmincon(fun,x0,A,b</a:t>
            </a:r>
            <a:r>
              <a:rPr lang="zh-CN" altLang="en-US" sz="1800" b="0" dirty="0">
                <a:effectLst/>
                <a:latin typeface="华文楷体" panose="02010600040101010101" pitchFamily="2" charset="-122"/>
                <a:ea typeface="华文楷体" panose="02010600040101010101" pitchFamily="2" charset="-122"/>
              </a:rPr>
              <a:t>，</a:t>
            </a:r>
            <a:r>
              <a:rPr lang="zh-CN" altLang="zh-CN" sz="1800" b="0" dirty="0">
                <a:effectLst/>
                <a:latin typeface="Arial Unicode MS"/>
                <a:ea typeface="source-code-pro"/>
              </a:rPr>
              <a:t>Aeq,beq,lb,ub,nonlcon</a:t>
            </a:r>
            <a:r>
              <a:rPr lang="zh-CN" altLang="zh-CN" sz="1800" b="0" dirty="0">
                <a:effectLst/>
                <a:latin typeface="华文楷体" panose="02010600040101010101" pitchFamily="2" charset="-122"/>
                <a:ea typeface="华文楷体" panose="02010600040101010101" pitchFamily="2" charset="-122"/>
              </a:rPr>
              <a:t>)</a:t>
            </a:r>
            <a:endParaRPr lang="ko-KR" altLang="en-US" sz="1800" dirty="0">
              <a:latin typeface="华文楷体" panose="02010600040101010101" pitchFamily="2" charset="-122"/>
              <a:cs typeface="Times New Roman" panose="02020603050405020304" pitchFamily="18" charset="0"/>
            </a:endParaRPr>
          </a:p>
        </p:txBody>
      </p:sp>
      <p:sp>
        <p:nvSpPr>
          <p:cNvPr id="12" name="Rectangle 1">
            <a:extLst>
              <a:ext uri="{FF2B5EF4-FFF2-40B4-BE49-F238E27FC236}">
                <a16:creationId xmlns:a16="http://schemas.microsoft.com/office/drawing/2014/main" id="{0C2BB2F8-19EE-4BCF-A8E5-D26028BF13FF}"/>
              </a:ext>
            </a:extLst>
          </p:cNvPr>
          <p:cNvSpPr>
            <a:spLocks noChangeArrowheads="1"/>
          </p:cNvSpPr>
          <p:nvPr/>
        </p:nvSpPr>
        <p:spPr bwMode="auto">
          <a:xfrm>
            <a:off x="346826" y="1782891"/>
            <a:ext cx="8689670" cy="2799934"/>
          </a:xfrm>
          <a:prstGeom prst="rect">
            <a:avLst/>
          </a:prstGeom>
          <a:solidFill>
            <a:schemeClr val="bg1"/>
          </a:solidFill>
          <a:ln>
            <a:noFill/>
          </a:ln>
          <a:effectLst/>
        </p:spPr>
        <p:txBody>
          <a:bodyPr vert="horz" wrap="square" lIns="0" tIns="0" rIns="0" bIns="0" numCol="1" anchor="ctr" anchorCtr="0" compatLnSpc="1">
            <a:prstTxWarp prst="textNoShape">
              <a:avLst/>
            </a:prstTxWarp>
            <a:spAutoFit/>
          </a:bodyPr>
          <a:lstStyle/>
          <a:p>
            <a:pPr>
              <a:lnSpc>
                <a:spcPts val="2200"/>
              </a:lnSpc>
            </a:pPr>
            <a:r>
              <a:rPr lang="en-US" altLang="zh-CN" sz="1600" dirty="0">
                <a:solidFill>
                  <a:srgbClr val="000000"/>
                </a:solidFill>
                <a:latin typeface="Consolas" panose="020B0609020204030204" pitchFamily="49" charset="0"/>
              </a:rPr>
              <a:t>fun2= x-&gt;</a:t>
            </a:r>
            <a:r>
              <a:rPr lang="en-US" altLang="zh-CN" sz="1600" dirty="0">
                <a:solidFill>
                  <a:srgbClr val="098658"/>
                </a:solidFill>
                <a:latin typeface="Consolas" panose="020B0609020204030204" pitchFamily="49" charset="0"/>
              </a:rPr>
              <a:t>100</a:t>
            </a:r>
            <a:r>
              <a:rPr lang="en-US" altLang="zh-CN" sz="1600" dirty="0">
                <a:solidFill>
                  <a:srgbClr val="000000"/>
                </a:solidFill>
                <a:latin typeface="Consolas" panose="020B0609020204030204" pitchFamily="49" charset="0"/>
              </a:rPr>
              <a:t>*(x[</a:t>
            </a:r>
            <a:r>
              <a:rPr lang="en-US" altLang="zh-CN" sz="1600" dirty="0">
                <a:solidFill>
                  <a:srgbClr val="098658"/>
                </a:solidFill>
                <a:latin typeface="Consolas" panose="020B0609020204030204" pitchFamily="49" charset="0"/>
              </a:rPr>
              <a:t>2</a:t>
            </a:r>
            <a:r>
              <a:rPr lang="en-US" altLang="zh-CN" sz="1600" dirty="0">
                <a:solidFill>
                  <a:srgbClr val="000000"/>
                </a:solidFill>
                <a:latin typeface="Consolas" panose="020B0609020204030204" pitchFamily="49" charset="0"/>
              </a:rPr>
              <a:t>]-x[</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2</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2</a:t>
            </a:r>
            <a:r>
              <a:rPr lang="en-US" altLang="zh-CN" sz="1600" dirty="0">
                <a:solidFill>
                  <a:srgbClr val="000000"/>
                </a:solidFill>
                <a:latin typeface="Consolas" panose="020B0609020204030204" pitchFamily="49" charset="0"/>
              </a:rPr>
              <a:t> + (</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-x[</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2</a:t>
            </a:r>
            <a:endParaRPr lang="en-US" altLang="zh-CN" sz="1600" dirty="0">
              <a:solidFill>
                <a:srgbClr val="000000"/>
              </a:solidFill>
              <a:latin typeface="Consolas" panose="020B0609020204030204" pitchFamily="49" charset="0"/>
            </a:endParaRPr>
          </a:p>
          <a:p>
            <a:pPr>
              <a:lnSpc>
                <a:spcPts val="2200"/>
              </a:lnSpc>
            </a:pPr>
            <a:r>
              <a:rPr lang="en-US" altLang="zh-CN" sz="1600" dirty="0">
                <a:solidFill>
                  <a:srgbClr val="000000"/>
                </a:solidFill>
                <a:latin typeface="Consolas" panose="020B0609020204030204" pitchFamily="49" charset="0"/>
              </a:rPr>
              <a:t>x0 = [</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4</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4</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lb</a:t>
            </a:r>
            <a:r>
              <a:rPr lang="en-US" altLang="zh-CN" sz="1600" dirty="0">
                <a:solidFill>
                  <a:srgbClr val="000000"/>
                </a:solidFill>
                <a:latin typeface="Consolas" panose="020B0609020204030204" pitchFamily="49" charset="0"/>
              </a:rPr>
              <a:t> = [</a:t>
            </a:r>
            <a:r>
              <a:rPr lang="en-US" altLang="zh-CN" sz="1600" dirty="0">
                <a:solidFill>
                  <a:srgbClr val="098658"/>
                </a:solidFill>
                <a:latin typeface="Consolas" panose="020B0609020204030204" pitchFamily="49" charset="0"/>
              </a:rPr>
              <a:t>0</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0.2</a:t>
            </a:r>
            <a:r>
              <a:rPr lang="en-US" altLang="zh-CN" sz="1600" dirty="0">
                <a:solidFill>
                  <a:srgbClr val="000000"/>
                </a:solidFill>
                <a:latin typeface="Consolas" panose="020B0609020204030204" pitchFamily="49" charset="0"/>
              </a:rPr>
              <a:t>];</a:t>
            </a:r>
            <a:r>
              <a:rPr lang="en-US" altLang="zh-CN" sz="1600" dirty="0" err="1">
                <a:solidFill>
                  <a:srgbClr val="000000"/>
                </a:solidFill>
                <a:latin typeface="Consolas" panose="020B0609020204030204" pitchFamily="49" charset="0"/>
              </a:rPr>
              <a:t>ub</a:t>
            </a:r>
            <a:r>
              <a:rPr lang="en-US" altLang="zh-CN" sz="1600" dirty="0">
                <a:solidFill>
                  <a:srgbClr val="000000"/>
                </a:solidFill>
                <a:latin typeface="Consolas" panose="020B0609020204030204" pitchFamily="49" charset="0"/>
              </a:rPr>
              <a:t> = [</a:t>
            </a:r>
            <a:r>
              <a:rPr lang="en-US" altLang="zh-CN" sz="1600" dirty="0">
                <a:solidFill>
                  <a:srgbClr val="098658"/>
                </a:solidFill>
                <a:latin typeface="Consolas" panose="020B0609020204030204" pitchFamily="49" charset="0"/>
              </a:rPr>
              <a:t>0.5</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0.8</a:t>
            </a:r>
            <a:r>
              <a:rPr lang="en-US" altLang="zh-CN" sz="1600" dirty="0">
                <a:solidFill>
                  <a:srgbClr val="000000"/>
                </a:solidFill>
                <a:latin typeface="Consolas" panose="020B0609020204030204" pitchFamily="49" charset="0"/>
              </a:rPr>
              <a:t>]; </a:t>
            </a:r>
          </a:p>
          <a:p>
            <a:pPr>
              <a:lnSpc>
                <a:spcPts val="2200"/>
              </a:lnSpc>
            </a:pPr>
            <a:r>
              <a:rPr lang="en-US" altLang="zh-CN" sz="1600" dirty="0">
                <a:solidFill>
                  <a:srgbClr val="008000"/>
                </a:solidFill>
                <a:latin typeface="Consolas" panose="020B0609020204030204" pitchFamily="49" charset="0"/>
              </a:rPr>
              <a:t>#</a:t>
            </a:r>
            <a:r>
              <a:rPr lang="zh-CN" altLang="en-US" sz="1600" dirty="0">
                <a:solidFill>
                  <a:srgbClr val="008000"/>
                </a:solidFill>
                <a:latin typeface="Consolas" panose="020B0609020204030204" pitchFamily="49" charset="0"/>
              </a:rPr>
              <a:t>在以</a:t>
            </a:r>
            <a:r>
              <a:rPr lang="en-US" altLang="zh-CN" sz="1600" dirty="0">
                <a:solidFill>
                  <a:srgbClr val="008000"/>
                </a:solidFill>
                <a:latin typeface="Consolas" panose="020B0609020204030204" pitchFamily="49" charset="0"/>
              </a:rPr>
              <a:t>[1/3,1/3]</a:t>
            </a:r>
            <a:r>
              <a:rPr lang="zh-CN" altLang="en-US" sz="1600" dirty="0">
                <a:solidFill>
                  <a:srgbClr val="008000"/>
                </a:solidFill>
                <a:latin typeface="Consolas" panose="020B0609020204030204" pitchFamily="49" charset="0"/>
              </a:rPr>
              <a:t>为圆心、半径为</a:t>
            </a:r>
            <a:r>
              <a:rPr lang="en-US" altLang="zh-CN" sz="1600" dirty="0">
                <a:solidFill>
                  <a:srgbClr val="008000"/>
                </a:solidFill>
                <a:latin typeface="Consolas" panose="020B0609020204030204" pitchFamily="49" charset="0"/>
              </a:rPr>
              <a:t>1/3</a:t>
            </a:r>
            <a:r>
              <a:rPr lang="zh-CN" altLang="en-US" sz="1600" dirty="0">
                <a:solidFill>
                  <a:srgbClr val="008000"/>
                </a:solidFill>
                <a:latin typeface="Consolas" panose="020B0609020204030204" pitchFamily="49" charset="0"/>
              </a:rPr>
              <a:t>的圆内非线性约束</a:t>
            </a:r>
            <a:endParaRPr lang="zh-CN" altLang="en-US" sz="1600" dirty="0">
              <a:solidFill>
                <a:srgbClr val="000000"/>
              </a:solidFill>
              <a:latin typeface="Consolas" panose="020B0609020204030204" pitchFamily="49" charset="0"/>
            </a:endParaRPr>
          </a:p>
          <a:p>
            <a:pPr>
              <a:lnSpc>
                <a:spcPts val="2200"/>
              </a:lnSpc>
            </a:pPr>
            <a:r>
              <a:rPr lang="en-US" altLang="zh-CN" sz="1600" b="1" dirty="0" err="1">
                <a:solidFill>
                  <a:srgbClr val="FF0000"/>
                </a:solidFill>
                <a:latin typeface="Consolas" panose="020B0609020204030204" pitchFamily="49" charset="0"/>
              </a:rPr>
              <a:t>cir</a:t>
            </a:r>
            <a:r>
              <a:rPr lang="en-US" altLang="zh-CN" sz="1600" dirty="0">
                <a:solidFill>
                  <a:srgbClr val="000000"/>
                </a:solidFill>
                <a:latin typeface="Consolas" panose="020B0609020204030204" pitchFamily="49" charset="0"/>
              </a:rPr>
              <a:t>=x -&gt;</a:t>
            </a:r>
            <a:r>
              <a:rPr lang="en-US" altLang="zh-CN" sz="1600" dirty="0">
                <a:solidFill>
                  <a:srgbClr val="AF00DB"/>
                </a:solidFill>
                <a:latin typeface="Consolas" panose="020B0609020204030204" pitchFamily="49" charset="0"/>
              </a:rPr>
              <a:t>begin</a:t>
            </a:r>
            <a:endParaRPr lang="en-US" altLang="zh-CN" sz="1600" dirty="0">
              <a:solidFill>
                <a:srgbClr val="000000"/>
              </a:solidFill>
              <a:latin typeface="Consolas" panose="020B0609020204030204" pitchFamily="49" charset="0"/>
            </a:endParaRPr>
          </a:p>
          <a:p>
            <a:pPr>
              <a:lnSpc>
                <a:spcPts val="2200"/>
              </a:lnSpc>
            </a:pPr>
            <a:r>
              <a:rPr lang="en-US" altLang="zh-CN" sz="1600" dirty="0">
                <a:solidFill>
                  <a:srgbClr val="000000"/>
                </a:solidFill>
                <a:latin typeface="Consolas" panose="020B0609020204030204" pitchFamily="49" charset="0"/>
              </a:rPr>
              <a:t>c=[(x[</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3</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2</a:t>
            </a:r>
            <a:r>
              <a:rPr lang="en-US" altLang="zh-CN" sz="1600" dirty="0">
                <a:solidFill>
                  <a:srgbClr val="000000"/>
                </a:solidFill>
                <a:latin typeface="Consolas" panose="020B0609020204030204" pitchFamily="49" charset="0"/>
              </a:rPr>
              <a:t> + (x[</a:t>
            </a:r>
            <a:r>
              <a:rPr lang="en-US" altLang="zh-CN" sz="1600" dirty="0">
                <a:solidFill>
                  <a:srgbClr val="098658"/>
                </a:solidFill>
                <a:latin typeface="Consolas" panose="020B0609020204030204" pitchFamily="49" charset="0"/>
              </a:rPr>
              <a:t>2</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3</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2</a:t>
            </a:r>
            <a:r>
              <a:rPr lang="en-US" altLang="zh-CN" sz="1600" dirty="0">
                <a:solidFill>
                  <a:srgbClr val="000000"/>
                </a:solidFill>
                <a:latin typeface="Consolas" panose="020B0609020204030204" pitchFamily="49" charset="0"/>
              </a:rPr>
              <a:t> - (</a:t>
            </a:r>
            <a:r>
              <a:rPr lang="en-US" altLang="zh-CN" sz="1600" dirty="0">
                <a:solidFill>
                  <a:srgbClr val="098658"/>
                </a:solidFill>
                <a:latin typeface="Consolas" panose="020B0609020204030204" pitchFamily="49" charset="0"/>
              </a:rPr>
              <a:t>1</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3</a:t>
            </a:r>
            <a:r>
              <a:rPr lang="en-US" altLang="zh-CN" sz="1600" dirty="0">
                <a:solidFill>
                  <a:srgbClr val="000000"/>
                </a:solidFill>
                <a:latin typeface="Consolas" panose="020B0609020204030204" pitchFamily="49" charset="0"/>
              </a:rPr>
              <a:t>)^</a:t>
            </a:r>
            <a:r>
              <a:rPr lang="en-US" altLang="zh-CN" sz="1600" dirty="0">
                <a:solidFill>
                  <a:srgbClr val="098658"/>
                </a:solidFill>
                <a:latin typeface="Consolas" panose="020B0609020204030204" pitchFamily="49" charset="0"/>
              </a:rPr>
              <a:t>2</a:t>
            </a:r>
            <a:r>
              <a:rPr lang="en-US" altLang="zh-CN" sz="1600" dirty="0">
                <a:solidFill>
                  <a:srgbClr val="000000"/>
                </a:solidFill>
                <a:latin typeface="Consolas" panose="020B0609020204030204" pitchFamily="49" charset="0"/>
              </a:rPr>
              <a:t>]</a:t>
            </a:r>
          </a:p>
          <a:p>
            <a:pPr>
              <a:lnSpc>
                <a:spcPts val="2200"/>
              </a:lnSpc>
            </a:pPr>
            <a:r>
              <a:rPr lang="en-US" altLang="zh-CN" sz="1600" dirty="0" err="1">
                <a:solidFill>
                  <a:srgbClr val="000000"/>
                </a:solidFill>
                <a:latin typeface="Consolas" panose="020B0609020204030204" pitchFamily="49" charset="0"/>
              </a:rPr>
              <a:t>ceq</a:t>
            </a:r>
            <a:r>
              <a:rPr lang="en-US" altLang="zh-CN" sz="1600" dirty="0">
                <a:solidFill>
                  <a:srgbClr val="000000"/>
                </a:solidFill>
                <a:latin typeface="Consolas" panose="020B0609020204030204" pitchFamily="49" charset="0"/>
              </a:rPr>
              <a:t> = Float64[] </a:t>
            </a:r>
          </a:p>
          <a:p>
            <a:pPr>
              <a:lnSpc>
                <a:spcPts val="2200"/>
              </a:lnSpc>
            </a:pPr>
            <a:r>
              <a:rPr lang="en-US" altLang="zh-CN" sz="1600" dirty="0">
                <a:solidFill>
                  <a:srgbClr val="AF00DB"/>
                </a:solidFill>
                <a:latin typeface="Consolas" panose="020B0609020204030204" pitchFamily="49" charset="0"/>
              </a:rPr>
              <a:t>return</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c,ceq</a:t>
            </a:r>
            <a:r>
              <a:rPr lang="en-US" altLang="zh-CN" sz="1600" dirty="0">
                <a:solidFill>
                  <a:srgbClr val="000000"/>
                </a:solidFill>
                <a:latin typeface="Consolas" panose="020B0609020204030204" pitchFamily="49" charset="0"/>
              </a:rPr>
              <a:t> </a:t>
            </a:r>
          </a:p>
          <a:p>
            <a:pPr>
              <a:lnSpc>
                <a:spcPts val="2200"/>
              </a:lnSpc>
            </a:pPr>
            <a:r>
              <a:rPr lang="en-US" altLang="zh-CN" sz="1600" dirty="0">
                <a:solidFill>
                  <a:srgbClr val="AF00DB"/>
                </a:solidFill>
                <a:latin typeface="Consolas" panose="020B0609020204030204" pitchFamily="49" charset="0"/>
              </a:rPr>
              <a:t>end</a:t>
            </a:r>
            <a:r>
              <a:rPr lang="en-US" altLang="zh-CN" sz="1600" dirty="0">
                <a:solidFill>
                  <a:srgbClr val="000000"/>
                </a:solidFill>
                <a:latin typeface="Consolas" panose="020B0609020204030204" pitchFamily="49" charset="0"/>
              </a:rPr>
              <a:t> </a:t>
            </a:r>
          </a:p>
          <a:p>
            <a:pPr>
              <a:lnSpc>
                <a:spcPts val="2200"/>
              </a:lnSpc>
            </a:pPr>
            <a:r>
              <a:rPr lang="en-US" altLang="zh-CN" sz="1600" dirty="0" err="1">
                <a:solidFill>
                  <a:srgbClr val="000000"/>
                </a:solidFill>
                <a:latin typeface="Consolas" panose="020B0609020204030204" pitchFamily="49" charset="0"/>
              </a:rPr>
              <a:t>x,fv</a:t>
            </a:r>
            <a:r>
              <a:rPr lang="en-US" altLang="zh-CN" sz="1600" dirty="0">
                <a:solidFill>
                  <a:srgbClr val="000000"/>
                </a:solidFill>
                <a:latin typeface="Consolas" panose="020B0609020204030204" pitchFamily="49" charset="0"/>
              </a:rPr>
              <a:t>= </a:t>
            </a:r>
            <a:r>
              <a:rPr lang="en-US" altLang="zh-CN" sz="1600" dirty="0" err="1">
                <a:solidFill>
                  <a:srgbClr val="795E26"/>
                </a:solidFill>
                <a:latin typeface="Consolas" panose="020B0609020204030204" pitchFamily="49" charset="0"/>
              </a:rPr>
              <a:t>fmincon</a:t>
            </a:r>
            <a:r>
              <a:rPr lang="en-US" altLang="zh-CN" sz="1600" dirty="0">
                <a:solidFill>
                  <a:srgbClr val="000000"/>
                </a:solidFill>
                <a:latin typeface="Consolas" panose="020B0609020204030204" pitchFamily="49" charset="0"/>
              </a:rPr>
              <a:t>(fun2,x0,[],[],[],[],</a:t>
            </a:r>
            <a:r>
              <a:rPr lang="en-US" altLang="zh-CN" sz="1600" dirty="0" err="1">
                <a:solidFill>
                  <a:srgbClr val="000000"/>
                </a:solidFill>
                <a:latin typeface="Consolas" panose="020B0609020204030204" pitchFamily="49" charset="0"/>
              </a:rPr>
              <a:t>lb</a:t>
            </a:r>
            <a:r>
              <a:rPr lang="en-US" altLang="zh-CN" sz="1600" dirty="0">
                <a:solidFill>
                  <a:srgbClr val="000000"/>
                </a:solidFill>
                <a:latin typeface="Consolas" panose="020B0609020204030204" pitchFamily="49" charset="0"/>
              </a:rPr>
              <a:t>,[],</a:t>
            </a:r>
            <a:r>
              <a:rPr lang="en-US" altLang="zh-CN" sz="1600" b="1" dirty="0" err="1">
                <a:solidFill>
                  <a:srgbClr val="FF0000"/>
                </a:solidFill>
                <a:latin typeface="Consolas" panose="020B0609020204030204" pitchFamily="49" charset="0"/>
              </a:rPr>
              <a:t>cir</a:t>
            </a:r>
            <a:r>
              <a:rPr lang="en-US" altLang="zh-CN" sz="1600" dirty="0">
                <a:solidFill>
                  <a:srgbClr val="000000"/>
                </a:solidFill>
                <a:latin typeface="Consolas" panose="020B0609020204030204" pitchFamily="49" charset="0"/>
              </a:rPr>
              <a:t>) </a:t>
            </a:r>
          </a:p>
          <a:p>
            <a:pPr>
              <a:lnSpc>
                <a:spcPts val="2200"/>
              </a:lnSpc>
            </a:pPr>
            <a:r>
              <a:rPr lang="en-US" altLang="zh-CN" sz="1600" dirty="0">
                <a:solidFill>
                  <a:srgbClr val="795E26"/>
                </a:solidFill>
                <a:latin typeface="Consolas" panose="020B0609020204030204" pitchFamily="49" charset="0"/>
              </a:rPr>
              <a:t>println</a:t>
            </a:r>
            <a:r>
              <a:rPr lang="en-US" altLang="zh-CN" sz="1600" dirty="0">
                <a:solidFill>
                  <a:srgbClr val="000000"/>
                </a:solidFill>
                <a:latin typeface="Consolas" panose="020B0609020204030204" pitchFamily="49" charset="0"/>
              </a:rPr>
              <a:t>(</a:t>
            </a:r>
            <a:r>
              <a:rPr lang="en-US" altLang="zh-CN" sz="1600" dirty="0">
                <a:solidFill>
                  <a:srgbClr val="A31515"/>
                </a:solidFill>
                <a:latin typeface="Consolas" panose="020B0609020204030204" pitchFamily="49" charset="0"/>
              </a:rPr>
              <a:t>"</a:t>
            </a:r>
            <a:r>
              <a:rPr lang="zh-CN" altLang="en-US" sz="1600" dirty="0">
                <a:solidFill>
                  <a:srgbClr val="A31515"/>
                </a:solidFill>
                <a:latin typeface="Consolas" panose="020B0609020204030204" pitchFamily="49" charset="0"/>
              </a:rPr>
              <a:t>极值点</a:t>
            </a:r>
            <a:r>
              <a:rPr lang="en-US" altLang="zh-CN" sz="1600" dirty="0">
                <a:solidFill>
                  <a:srgbClr val="A31515"/>
                </a:solidFill>
                <a:latin typeface="Consolas" panose="020B0609020204030204" pitchFamily="49" charset="0"/>
              </a:rPr>
              <a:t>x=</a:t>
            </a:r>
            <a:r>
              <a:rPr lang="en-US" altLang="zh-CN" sz="1600" dirty="0">
                <a:solidFill>
                  <a:srgbClr val="001080"/>
                </a:solidFill>
                <a:latin typeface="Consolas" panose="020B0609020204030204" pitchFamily="49" charset="0"/>
              </a:rPr>
              <a:t>$x</a:t>
            </a:r>
            <a:r>
              <a:rPr lang="en-US" altLang="zh-CN" sz="1600" dirty="0">
                <a:solidFill>
                  <a:srgbClr val="A31515"/>
                </a:solidFill>
                <a:latin typeface="Consolas" panose="020B0609020204030204" pitchFamily="49" charset="0"/>
              </a:rPr>
              <a:t>"</a:t>
            </a:r>
            <a:r>
              <a:rPr lang="en-US" altLang="zh-CN" sz="1600" dirty="0">
                <a:solidFill>
                  <a:srgbClr val="000000"/>
                </a:solidFill>
                <a:latin typeface="Consolas" panose="020B0609020204030204" pitchFamily="49" charset="0"/>
              </a:rPr>
              <a:t>) ; </a:t>
            </a:r>
            <a:r>
              <a:rPr lang="en-US" altLang="zh-CN" sz="1600" dirty="0" err="1">
                <a:solidFill>
                  <a:srgbClr val="795E26"/>
                </a:solidFill>
                <a:latin typeface="Consolas" panose="020B0609020204030204" pitchFamily="49" charset="0"/>
              </a:rPr>
              <a:t>println</a:t>
            </a:r>
            <a:r>
              <a:rPr lang="en-US" altLang="zh-CN" sz="1600" dirty="0">
                <a:solidFill>
                  <a:srgbClr val="000000"/>
                </a:solidFill>
                <a:latin typeface="Consolas" panose="020B0609020204030204" pitchFamily="49" charset="0"/>
              </a:rPr>
              <a:t>(</a:t>
            </a:r>
            <a:r>
              <a:rPr lang="en-US" altLang="zh-CN" sz="1600" dirty="0">
                <a:solidFill>
                  <a:srgbClr val="A31515"/>
                </a:solidFill>
                <a:latin typeface="Consolas" panose="020B0609020204030204" pitchFamily="49" charset="0"/>
              </a:rPr>
              <a:t>"</a:t>
            </a:r>
            <a:r>
              <a:rPr lang="zh-CN" altLang="en-US" sz="1600" dirty="0">
                <a:solidFill>
                  <a:srgbClr val="A31515"/>
                </a:solidFill>
                <a:latin typeface="Consolas" panose="020B0609020204030204" pitchFamily="49" charset="0"/>
              </a:rPr>
              <a:t>最小值</a:t>
            </a:r>
            <a:r>
              <a:rPr lang="en-US" altLang="zh-CN" sz="1600" dirty="0" err="1">
                <a:solidFill>
                  <a:srgbClr val="A31515"/>
                </a:solidFill>
                <a:latin typeface="Consolas" panose="020B0609020204030204" pitchFamily="49" charset="0"/>
              </a:rPr>
              <a:t>fv</a:t>
            </a:r>
            <a:r>
              <a:rPr lang="en-US" altLang="zh-CN" sz="1600" dirty="0">
                <a:solidFill>
                  <a:srgbClr val="A31515"/>
                </a:solidFill>
                <a:latin typeface="Consolas" panose="020B0609020204030204" pitchFamily="49" charset="0"/>
              </a:rPr>
              <a:t>=</a:t>
            </a:r>
            <a:r>
              <a:rPr lang="en-US" altLang="zh-CN" sz="1600" dirty="0">
                <a:solidFill>
                  <a:srgbClr val="001080"/>
                </a:solidFill>
                <a:latin typeface="Consolas" panose="020B0609020204030204" pitchFamily="49" charset="0"/>
              </a:rPr>
              <a:t>$</a:t>
            </a:r>
            <a:r>
              <a:rPr lang="en-US" altLang="zh-CN" sz="1600" dirty="0" err="1">
                <a:solidFill>
                  <a:srgbClr val="001080"/>
                </a:solidFill>
                <a:latin typeface="Consolas" panose="020B0609020204030204" pitchFamily="49" charset="0"/>
              </a:rPr>
              <a:t>fv</a:t>
            </a:r>
            <a:r>
              <a:rPr lang="en-US" altLang="zh-CN" sz="1600" dirty="0">
                <a:solidFill>
                  <a:srgbClr val="A31515"/>
                </a:solidFill>
                <a:latin typeface="Consolas" panose="020B0609020204030204" pitchFamily="49" charset="0"/>
              </a:rPr>
              <a:t>"</a:t>
            </a:r>
            <a:r>
              <a:rPr lang="en-US" altLang="zh-CN" sz="1600" dirty="0">
                <a:solidFill>
                  <a:srgbClr val="000000"/>
                </a:solidFill>
                <a:latin typeface="Consolas" panose="020B0609020204030204" pitchFamily="49" charset="0"/>
              </a:rPr>
              <a:t>)</a:t>
            </a:r>
          </a:p>
        </p:txBody>
      </p:sp>
      <p:sp>
        <p:nvSpPr>
          <p:cNvPr id="19" name="文本框 18">
            <a:extLst>
              <a:ext uri="{FF2B5EF4-FFF2-40B4-BE49-F238E27FC236}">
                <a16:creationId xmlns:a16="http://schemas.microsoft.com/office/drawing/2014/main" id="{E73D68B7-AADB-456A-96B2-66F6A89A218B}"/>
              </a:ext>
            </a:extLst>
          </p:cNvPr>
          <p:cNvSpPr txBox="1"/>
          <p:nvPr/>
        </p:nvSpPr>
        <p:spPr>
          <a:xfrm>
            <a:off x="3707904" y="3266258"/>
            <a:ext cx="5301796" cy="630557"/>
          </a:xfrm>
          <a:prstGeom prst="rect">
            <a:avLst/>
          </a:prstGeom>
          <a:noFill/>
          <a:ln>
            <a:solidFill>
              <a:schemeClr val="bg1">
                <a:lumMod val="85000"/>
              </a:schemeClr>
            </a:solidFill>
          </a:ln>
          <a:effectLst/>
        </p:spPr>
        <p:txBody>
          <a:bodyPr wrap="square">
            <a:spAutoFit/>
          </a:bodyPr>
          <a:lstStyle>
            <a:defPPr>
              <a:defRPr lang="zh-CN"/>
            </a:defPPr>
            <a:lvl1pPr>
              <a:lnSpc>
                <a:spcPct val="150000"/>
              </a:lnSpc>
              <a:defRPr sz="1600">
                <a:solidFill>
                  <a:srgbClr val="FF0000"/>
                </a:solidFill>
              </a:defRPr>
            </a:lvl1pPr>
          </a:lstStyle>
          <a:p>
            <a:pPr>
              <a:lnSpc>
                <a:spcPts val="2200"/>
              </a:lnSpc>
            </a:pPr>
            <a:r>
              <a:rPr lang="zh-CN" altLang="en-US" sz="1400" dirty="0"/>
              <a:t>结果：极值点</a:t>
            </a:r>
            <a:r>
              <a:rPr lang="en-US" altLang="zh-CN" sz="1400" dirty="0"/>
              <a:t>x=[0.6534505689294187, 0.42626690884652424]</a:t>
            </a:r>
          </a:p>
          <a:p>
            <a:pPr>
              <a:lnSpc>
                <a:spcPts val="2200"/>
              </a:lnSpc>
            </a:pPr>
            <a:r>
              <a:rPr lang="zh-CN" altLang="en-US" sz="1400" dirty="0"/>
              <a:t>最小值</a:t>
            </a:r>
            <a:r>
              <a:rPr lang="en-US" altLang="zh-CN" sz="1400" dirty="0" err="1"/>
              <a:t>fv</a:t>
            </a:r>
            <a:r>
              <a:rPr lang="en-US" altLang="zh-CN" sz="1400" dirty="0"/>
              <a:t>=0.12014990585908605</a:t>
            </a:r>
            <a:endParaRPr lang="zh-CN" altLang="en-US" sz="1400" dirty="0"/>
          </a:p>
        </p:txBody>
      </p:sp>
      <p:sp>
        <p:nvSpPr>
          <p:cNvPr id="22" name="矩形 21">
            <a:extLst>
              <a:ext uri="{FF2B5EF4-FFF2-40B4-BE49-F238E27FC236}">
                <a16:creationId xmlns:a16="http://schemas.microsoft.com/office/drawing/2014/main" id="{1DFE7BEE-3D94-41DA-8B02-43CDD6C73088}"/>
              </a:ext>
            </a:extLst>
          </p:cNvPr>
          <p:cNvSpPr/>
          <p:nvPr/>
        </p:nvSpPr>
        <p:spPr>
          <a:xfrm>
            <a:off x="5364088" y="2591487"/>
            <a:ext cx="782222" cy="338554"/>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pPr eaLnBrk="0" hangingPunct="0"/>
            <a:r>
              <a:rPr lang="en-US" altLang="zh-CN" sz="1600" dirty="0">
                <a:solidFill>
                  <a:srgbClr val="FFFF00"/>
                </a:solidFill>
                <a:highlight>
                  <a:srgbClr val="003B76"/>
                </a:highlight>
                <a:latin typeface="微软雅黑" panose="020B0503020204020204" pitchFamily="34" charset="-122"/>
                <a:ea typeface="微软雅黑" panose="020B0503020204020204" pitchFamily="34" charset="-122"/>
              </a:rPr>
              <a:t>begin</a:t>
            </a:r>
          </a:p>
        </p:txBody>
      </p:sp>
      <p:sp>
        <p:nvSpPr>
          <p:cNvPr id="25" name="文本框 24">
            <a:extLst>
              <a:ext uri="{FF2B5EF4-FFF2-40B4-BE49-F238E27FC236}">
                <a16:creationId xmlns:a16="http://schemas.microsoft.com/office/drawing/2014/main" id="{1D46131C-D00C-4E9E-9F5A-DFFACFA77997}"/>
              </a:ext>
            </a:extLst>
          </p:cNvPr>
          <p:cNvSpPr txBox="1"/>
          <p:nvPr/>
        </p:nvSpPr>
        <p:spPr>
          <a:xfrm>
            <a:off x="4145841" y="2585483"/>
            <a:ext cx="1432487" cy="338554"/>
          </a:xfrm>
          <a:prstGeom prst="rect">
            <a:avLst/>
          </a:prstGeom>
          <a:noFill/>
          <a:ln>
            <a:noFill/>
          </a:ln>
        </p:spPr>
        <p:txBody>
          <a:bodyPr wrap="square">
            <a:spAutoFit/>
          </a:bodyPr>
          <a:lstStyle/>
          <a:p>
            <a:r>
              <a:rPr lang="zh-CN" altLang="en-US" sz="1600" dirty="0">
                <a:solidFill>
                  <a:srgbClr val="0070C0"/>
                </a:solidFill>
                <a:latin typeface="微软雅黑" panose="020B0503020204020204" pitchFamily="34" charset="-122"/>
                <a:ea typeface="微软雅黑" panose="020B0503020204020204" pitchFamily="34" charset="-122"/>
              </a:rPr>
              <a:t>复合</a:t>
            </a:r>
            <a:r>
              <a:rPr lang="zh-CN" altLang="zh-CN" sz="1600" dirty="0">
                <a:solidFill>
                  <a:srgbClr val="0070C0"/>
                </a:solidFill>
                <a:latin typeface="微软雅黑" panose="020B0503020204020204" pitchFamily="34" charset="-122"/>
                <a:ea typeface="微软雅黑" panose="020B0503020204020204" pitchFamily="34" charset="-122"/>
              </a:rPr>
              <a:t>表达式</a:t>
            </a:r>
            <a:endParaRPr lang="zh-CN" altLang="en-US" sz="1600" dirty="0">
              <a:solidFill>
                <a:srgbClr val="0070C0"/>
              </a:solidFill>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id="{B4A8EE53-B752-4C2B-954D-85A4D0C709C8}"/>
              </a:ext>
            </a:extLst>
          </p:cNvPr>
          <p:cNvSpPr/>
          <p:nvPr/>
        </p:nvSpPr>
        <p:spPr>
          <a:xfrm>
            <a:off x="5975683" y="2589491"/>
            <a:ext cx="3106025" cy="338554"/>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pPr lvl="0" eaLnBrk="0" hangingPunct="0"/>
            <a:r>
              <a:rPr lang="zh-CN" altLang="en-US" sz="1600" dirty="0">
                <a:solidFill>
                  <a:srgbClr val="FFFF00"/>
                </a:solidFill>
                <a:highlight>
                  <a:srgbClr val="003B76"/>
                </a:highlight>
                <a:latin typeface="微软雅黑" panose="020B0503020204020204" pitchFamily="34" charset="-122"/>
                <a:ea typeface="微软雅黑" panose="020B0503020204020204" pitchFamily="34" charset="-122"/>
              </a:rPr>
              <a:t>子表达式；子表达式；</a:t>
            </a:r>
            <a:r>
              <a:rPr lang="en-US" altLang="zh-CN" sz="1600" dirty="0">
                <a:solidFill>
                  <a:srgbClr val="FFFF00"/>
                </a:solidFill>
                <a:highlight>
                  <a:srgbClr val="003B76"/>
                </a:highlight>
                <a:latin typeface="微软雅黑" panose="020B0503020204020204" pitchFamily="34" charset="-122"/>
                <a:ea typeface="微软雅黑" panose="020B0503020204020204" pitchFamily="34" charset="-122"/>
              </a:rPr>
              <a:t>……</a:t>
            </a:r>
          </a:p>
        </p:txBody>
      </p:sp>
      <p:sp>
        <p:nvSpPr>
          <p:cNvPr id="23" name="矩形 22">
            <a:extLst>
              <a:ext uri="{FF2B5EF4-FFF2-40B4-BE49-F238E27FC236}">
                <a16:creationId xmlns:a16="http://schemas.microsoft.com/office/drawing/2014/main" id="{2AB992D1-3D9B-4FD3-8DB3-722B82E9B956}"/>
              </a:ext>
            </a:extLst>
          </p:cNvPr>
          <p:cNvSpPr/>
          <p:nvPr/>
        </p:nvSpPr>
        <p:spPr>
          <a:xfrm>
            <a:off x="8412833" y="2607053"/>
            <a:ext cx="668875" cy="338554"/>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pPr lvl="0" eaLnBrk="0" hangingPunct="0"/>
            <a:r>
              <a:rPr lang="en-US" altLang="zh-CN" sz="1600" dirty="0">
                <a:solidFill>
                  <a:srgbClr val="FFFF00"/>
                </a:solidFill>
                <a:highlight>
                  <a:srgbClr val="003B76"/>
                </a:highlight>
                <a:latin typeface="微软雅黑" panose="020B0503020204020204" pitchFamily="34" charset="-122"/>
                <a:ea typeface="微软雅黑" panose="020B0503020204020204" pitchFamily="34" charset="-122"/>
              </a:rPr>
              <a:t>end  </a:t>
            </a:r>
          </a:p>
        </p:txBody>
      </p:sp>
      <p:sp>
        <p:nvSpPr>
          <p:cNvPr id="15" name="波形 14">
            <a:extLst>
              <a:ext uri="{FF2B5EF4-FFF2-40B4-BE49-F238E27FC236}">
                <a16:creationId xmlns:a16="http://schemas.microsoft.com/office/drawing/2014/main" id="{3B760732-DA22-46BD-9BF8-51782B46CA93}"/>
              </a:ext>
            </a:extLst>
          </p:cNvPr>
          <p:cNvSpPr/>
          <p:nvPr/>
        </p:nvSpPr>
        <p:spPr>
          <a:xfrm>
            <a:off x="205025" y="701911"/>
            <a:ext cx="817360" cy="33483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charset="-122"/>
                <a:ea typeface="微软雅黑" panose="020B0503020204020204" charset="-122"/>
              </a:rPr>
              <a:t>例84-6</a:t>
            </a:r>
            <a:endParaRPr lang="ko-KR" altLang="en-US" sz="1600" b="1" dirty="0">
              <a:solidFill>
                <a:srgbClr val="FFFF00"/>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24105812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波形 4">
            <a:extLst>
              <a:ext uri="{FF2B5EF4-FFF2-40B4-BE49-F238E27FC236}">
                <a16:creationId xmlns:a16="http://schemas.microsoft.com/office/drawing/2014/main" id="{94102674-2243-4ABD-8959-0C502427FDC6}"/>
              </a:ext>
            </a:extLst>
          </p:cNvPr>
          <p:cNvSpPr/>
          <p:nvPr/>
        </p:nvSpPr>
        <p:spPr>
          <a:xfrm>
            <a:off x="183817" y="1152910"/>
            <a:ext cx="817360" cy="33483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charset="-122"/>
                <a:ea typeface="微软雅黑" panose="020B0503020204020204" charset="-122"/>
              </a:rPr>
              <a:t>例84-7</a:t>
            </a:r>
            <a:endParaRPr lang="ko-KR" altLang="en-US" sz="1600" b="1" dirty="0">
              <a:solidFill>
                <a:srgbClr val="FFFF00"/>
              </a:solidFill>
              <a:latin typeface="微软雅黑" panose="020B0503020204020204" charset="-122"/>
              <a:ea typeface="微软雅黑" panose="020B0503020204020204" charset="-122"/>
            </a:endParaRPr>
          </a:p>
        </p:txBody>
      </p:sp>
      <mc:AlternateContent xmlns:mc="http://schemas.openxmlformats.org/markup-compatibility/2006" xmlns:a14="http://schemas.microsoft.com/office/drawing/2010/main">
        <mc:Choice Requires="a14">
          <p:sp>
            <p:nvSpPr>
              <p:cNvPr id="6" name="Rectangle 3">
                <a:extLst>
                  <a:ext uri="{FF2B5EF4-FFF2-40B4-BE49-F238E27FC236}">
                    <a16:creationId xmlns:a16="http://schemas.microsoft.com/office/drawing/2014/main" id="{AF9CA41A-C7E4-46D3-8AFA-25888859B924}"/>
                  </a:ext>
                </a:extLst>
              </p:cNvPr>
              <p:cNvSpPr>
                <a:spLocks noChangeArrowheads="1"/>
              </p:cNvSpPr>
              <p:nvPr/>
            </p:nvSpPr>
            <p:spPr bwMode="auto">
              <a:xfrm>
                <a:off x="1001178" y="1195046"/>
                <a:ext cx="7959006" cy="283219"/>
              </a:xfrm>
              <a:prstGeom prst="rect">
                <a:avLst/>
              </a:prstGeom>
              <a:solidFill>
                <a:schemeClr val="bg1"/>
              </a:solidFill>
              <a:ln>
                <a:noFill/>
              </a:ln>
              <a:effectLst/>
            </p:spPr>
            <p:txBody>
              <a:bodyPr vert="horz" wrap="square" lIns="0" tIns="0" rIns="0" bIns="0" numCol="1" anchor="ctr" anchorCtr="0" compatLnSpc="1">
                <a:prstTxWarp prst="textNoShape">
                  <a:avLst/>
                </a:prstTxWarp>
                <a:spAutoFit/>
              </a:bodyPr>
              <a:lstStyle/>
              <a:p>
                <a:pPr lvl="0" eaLnBrk="0" hangingPunct="0"/>
                <a:r>
                  <a:rPr kumimoji="0" lang="en-US" altLang="zh-CN" b="1" i="0" u="none" strike="noStrike" cap="none" normalizeH="0" baseline="0" dirty="0">
                    <a:ln>
                      <a:noFill/>
                    </a:ln>
                    <a:solidFill>
                      <a:srgbClr val="0070C0"/>
                    </a:solidFill>
                    <a:effectLst/>
                    <a:latin typeface="Arial Unicode MS"/>
                    <a:ea typeface="Menlo"/>
                  </a:rPr>
                  <a:t> </a:t>
                </a:r>
                <a:r>
                  <a:rPr lang="en-US" altLang="zh-CN" b="1" kern="0" dirty="0" err="1">
                    <a:solidFill>
                      <a:srgbClr val="0070C0"/>
                    </a:solidFill>
                  </a:rPr>
                  <a:t>fmincon</a:t>
                </a:r>
                <a:r>
                  <a:rPr kumimoji="0" lang="zh-CN" altLang="en-US" b="1" i="0" u="none" strike="noStrike" cap="none" normalizeH="0" baseline="0" dirty="0">
                    <a:ln>
                      <a:noFill/>
                    </a:ln>
                    <a:solidFill>
                      <a:srgbClr val="0070C0"/>
                    </a:solidFill>
                    <a:effectLst/>
                    <a:latin typeface="Arial Unicode MS"/>
                    <a:ea typeface="Menlo"/>
                  </a:rPr>
                  <a:t>求</a:t>
                </a:r>
                <a14:m>
                  <m:oMath xmlns:m="http://schemas.openxmlformats.org/officeDocument/2006/math">
                    <m:r>
                      <a:rPr lang="en-US" altLang="zh-CN" b="1" i="1">
                        <a:solidFill>
                          <a:srgbClr val="0070C0"/>
                        </a:solidFill>
                        <a:latin typeface="Cambria Math" panose="02040503050406030204" pitchFamily="18" charset="0"/>
                        <a:ea typeface="Menlo"/>
                      </a:rPr>
                      <m:t>𝒇</m:t>
                    </m:r>
                    <m:r>
                      <a:rPr lang="en-US" altLang="zh-CN" b="1" i="1" smtClean="0">
                        <a:solidFill>
                          <a:srgbClr val="0070C0"/>
                        </a:solidFill>
                        <a:latin typeface="Cambria Math" panose="02040503050406030204" pitchFamily="18" charset="0"/>
                        <a:ea typeface="Menlo"/>
                      </a:rPr>
                      <m:t>(</m:t>
                    </m:r>
                    <m:r>
                      <a:rPr lang="en-US" altLang="zh-CN" b="1" i="1" smtClean="0">
                        <a:solidFill>
                          <a:srgbClr val="0070C0"/>
                        </a:solidFill>
                        <a:latin typeface="Cambria Math" panose="02040503050406030204" pitchFamily="18" charset="0"/>
                        <a:ea typeface="Menlo"/>
                      </a:rPr>
                      <m:t>𝒙</m:t>
                    </m:r>
                    <m:r>
                      <a:rPr lang="en-US" altLang="zh-CN" b="1" i="1" smtClean="0">
                        <a:solidFill>
                          <a:srgbClr val="0070C0"/>
                        </a:solidFill>
                        <a:latin typeface="Cambria Math" panose="02040503050406030204" pitchFamily="18" charset="0"/>
                        <a:ea typeface="Menlo"/>
                      </a:rPr>
                      <m:t>,</m:t>
                    </m:r>
                    <m:r>
                      <a:rPr lang="en-US" altLang="zh-CN" b="1" i="1" smtClean="0">
                        <a:solidFill>
                          <a:srgbClr val="0070C0"/>
                        </a:solidFill>
                        <a:latin typeface="Cambria Math" panose="02040503050406030204" pitchFamily="18" charset="0"/>
                        <a:ea typeface="Menlo"/>
                      </a:rPr>
                      <m:t>𝒚</m:t>
                    </m:r>
                    <m:r>
                      <a:rPr lang="en-US" altLang="zh-CN" b="1" i="1" smtClean="0">
                        <a:solidFill>
                          <a:srgbClr val="0070C0"/>
                        </a:solidFill>
                        <a:latin typeface="Cambria Math" panose="02040503050406030204" pitchFamily="18" charset="0"/>
                        <a:ea typeface="Menlo"/>
                      </a:rPr>
                      <m:t>)=</m:t>
                    </m:r>
                    <m:sSup>
                      <m:sSupPr>
                        <m:ctrlPr>
                          <a:rPr lang="en-US" altLang="zh-CN" b="1" i="1">
                            <a:solidFill>
                              <a:srgbClr val="0070C0"/>
                            </a:solidFill>
                            <a:latin typeface="Cambria Math" panose="02040503050406030204" pitchFamily="18" charset="0"/>
                          </a:rPr>
                        </m:ctrlPr>
                      </m:sSupPr>
                      <m:e>
                        <m:r>
                          <a:rPr lang="en-US" altLang="zh-CN" b="1" i="1">
                            <a:solidFill>
                              <a:srgbClr val="0070C0"/>
                            </a:solidFill>
                            <a:latin typeface="Cambria Math" panose="02040503050406030204" pitchFamily="18" charset="0"/>
                          </a:rPr>
                          <m:t>𝒙</m:t>
                        </m:r>
                      </m:e>
                      <m:sup>
                        <m:r>
                          <a:rPr lang="en-US" altLang="zh-CN" b="1" i="1">
                            <a:solidFill>
                              <a:srgbClr val="0070C0"/>
                            </a:solidFill>
                            <a:latin typeface="Cambria Math" panose="02040503050406030204" pitchFamily="18" charset="0"/>
                          </a:rPr>
                          <m:t>𝟐</m:t>
                        </m:r>
                      </m:sup>
                    </m:sSup>
                    <m:r>
                      <a:rPr lang="en-US" altLang="zh-CN" b="1" i="1">
                        <a:solidFill>
                          <a:srgbClr val="0070C0"/>
                        </a:solidFill>
                        <a:latin typeface="Cambria Math" panose="02040503050406030204" pitchFamily="18" charset="0"/>
                      </a:rPr>
                      <m:t>+</m:t>
                    </m:r>
                    <m:sSup>
                      <m:sSupPr>
                        <m:ctrlPr>
                          <a:rPr lang="en-US" altLang="zh-CN" b="1" i="1" smtClean="0">
                            <a:solidFill>
                              <a:srgbClr val="0070C0"/>
                            </a:solidFill>
                            <a:latin typeface="Cambria Math" panose="02040503050406030204" pitchFamily="18" charset="0"/>
                          </a:rPr>
                        </m:ctrlPr>
                      </m:sSupPr>
                      <m:e>
                        <m:r>
                          <a:rPr lang="en-US" altLang="zh-CN" b="1" i="1">
                            <a:solidFill>
                              <a:srgbClr val="0070C0"/>
                            </a:solidFill>
                            <a:latin typeface="Cambria Math" panose="02040503050406030204" pitchFamily="18" charset="0"/>
                          </a:rPr>
                          <m:t>𝒚</m:t>
                        </m:r>
                      </m:e>
                      <m:sup>
                        <m:r>
                          <a:rPr lang="en-US" altLang="zh-CN" b="1" i="1">
                            <a:solidFill>
                              <a:srgbClr val="0070C0"/>
                            </a:solidFill>
                            <a:latin typeface="Cambria Math" panose="02040503050406030204" pitchFamily="18" charset="0"/>
                          </a:rPr>
                          <m:t>𝟐</m:t>
                        </m:r>
                      </m:sup>
                    </m:sSup>
                  </m:oMath>
                </a14:m>
                <a:r>
                  <a:rPr kumimoji="0" lang="en-US" altLang="zh-CN" b="1" i="0" u="none" strike="noStrike" cap="none" normalizeH="0" baseline="0" dirty="0">
                    <a:ln>
                      <a:noFill/>
                    </a:ln>
                    <a:solidFill>
                      <a:srgbClr val="0070C0"/>
                    </a:solidFill>
                    <a:effectLst/>
                    <a:latin typeface="华文楷体" panose="02010600040101010101" pitchFamily="2" charset="-122"/>
                    <a:ea typeface="华文楷体" panose="02010600040101010101" pitchFamily="2" charset="-122"/>
                  </a:rPr>
                  <a:t>+3</a:t>
                </a:r>
                <a14:m>
                  <m:oMath xmlns:m="http://schemas.openxmlformats.org/officeDocument/2006/math">
                    <m:func>
                      <m:funcPr>
                        <m:ctrlPr>
                          <a:rPr lang="en-US" altLang="zh-CN" b="1" i="1" smtClean="0">
                            <a:solidFill>
                              <a:srgbClr val="0070C0"/>
                            </a:solidFill>
                            <a:latin typeface="Cambria Math" panose="02040503050406030204" pitchFamily="18" charset="0"/>
                          </a:rPr>
                        </m:ctrlPr>
                      </m:funcPr>
                      <m:fName>
                        <m:r>
                          <a:rPr lang="en-US" altLang="zh-CN" b="1" i="0">
                            <a:solidFill>
                              <a:srgbClr val="0070C0"/>
                            </a:solidFill>
                            <a:latin typeface="Cambria Math" panose="02040503050406030204" pitchFamily="18" charset="0"/>
                          </a:rPr>
                          <m:t>𝐬𝐢𝐧</m:t>
                        </m:r>
                      </m:fName>
                      <m:e>
                        <m:d>
                          <m:dPr>
                            <m:ctrlPr>
                              <a:rPr lang="en-US" altLang="zh-CN" b="1" i="1" smtClean="0">
                                <a:solidFill>
                                  <a:srgbClr val="0070C0"/>
                                </a:solidFill>
                                <a:latin typeface="Cambria Math" panose="02040503050406030204" pitchFamily="18" charset="0"/>
                              </a:rPr>
                            </m:ctrlPr>
                          </m:dPr>
                          <m:e>
                            <m:r>
                              <a:rPr lang="en-US" altLang="zh-CN" b="1" i="1" smtClean="0">
                                <a:solidFill>
                                  <a:srgbClr val="0070C0"/>
                                </a:solidFill>
                                <a:latin typeface="Cambria Math" panose="02040503050406030204" pitchFamily="18" charset="0"/>
                              </a:rPr>
                              <m:t>𝟐</m:t>
                            </m:r>
                            <m:r>
                              <a:rPr lang="en-US" altLang="zh-CN" b="1" i="1" smtClean="0">
                                <a:solidFill>
                                  <a:srgbClr val="0070C0"/>
                                </a:solidFill>
                                <a:latin typeface="Cambria Math" panose="02040503050406030204" pitchFamily="18" charset="0"/>
                              </a:rPr>
                              <m:t>𝒙</m:t>
                            </m:r>
                          </m:e>
                        </m:d>
                      </m:e>
                    </m:func>
                    <m:r>
                      <a:rPr lang="en-US" altLang="zh-CN" b="1" i="1" smtClean="0">
                        <a:solidFill>
                          <a:srgbClr val="0070C0"/>
                        </a:solidFill>
                        <a:latin typeface="Cambria Math" panose="02040503050406030204" pitchFamily="18" charset="0"/>
                      </a:rPr>
                      <m:t>+</m:t>
                    </m:r>
                    <m:r>
                      <m:rPr>
                        <m:nor/>
                      </m:rPr>
                      <a:rPr lang="en-US" altLang="zh-CN" b="1" dirty="0">
                        <a:solidFill>
                          <a:srgbClr val="0070C0"/>
                        </a:solidFill>
                        <a:latin typeface="华文楷体" panose="02010600040101010101" pitchFamily="2" charset="-122"/>
                        <a:ea typeface="华文楷体" panose="02010600040101010101" pitchFamily="2" charset="-122"/>
                      </a:rPr>
                      <m:t>3</m:t>
                    </m:r>
                    <m:func>
                      <m:funcPr>
                        <m:ctrlPr>
                          <a:rPr lang="en-US" altLang="zh-CN" b="1" i="1">
                            <a:solidFill>
                              <a:srgbClr val="0070C0"/>
                            </a:solidFill>
                            <a:latin typeface="Cambria Math" panose="02040503050406030204" pitchFamily="18" charset="0"/>
                          </a:rPr>
                        </m:ctrlPr>
                      </m:funcPr>
                      <m:fName>
                        <m:r>
                          <a:rPr lang="en-US" altLang="zh-CN" b="1" i="1">
                            <a:solidFill>
                              <a:srgbClr val="0070C0"/>
                            </a:solidFill>
                            <a:latin typeface="Cambria Math" panose="02040503050406030204" pitchFamily="18" charset="0"/>
                          </a:rPr>
                          <m:t>𝒔𝒊𝒏</m:t>
                        </m:r>
                      </m:fName>
                      <m:e>
                        <m:d>
                          <m:dPr>
                            <m:ctrlPr>
                              <a:rPr lang="en-US" altLang="zh-CN" b="1" i="1">
                                <a:solidFill>
                                  <a:srgbClr val="0070C0"/>
                                </a:solidFill>
                                <a:latin typeface="Cambria Math" panose="02040503050406030204" pitchFamily="18" charset="0"/>
                              </a:rPr>
                            </m:ctrlPr>
                          </m:dPr>
                          <m:e>
                            <m:r>
                              <a:rPr lang="en-US" altLang="zh-CN" b="1" i="1" smtClean="0">
                                <a:solidFill>
                                  <a:srgbClr val="0070C0"/>
                                </a:solidFill>
                                <a:latin typeface="Cambria Math" panose="02040503050406030204" pitchFamily="18" charset="0"/>
                              </a:rPr>
                              <m:t>𝟐</m:t>
                            </m:r>
                            <m:r>
                              <a:rPr lang="en-US" altLang="zh-CN" b="1" i="1" smtClean="0">
                                <a:solidFill>
                                  <a:srgbClr val="0070C0"/>
                                </a:solidFill>
                                <a:latin typeface="Cambria Math" panose="02040503050406030204" pitchFamily="18" charset="0"/>
                              </a:rPr>
                              <m:t>𝒚</m:t>
                            </m:r>
                          </m:e>
                        </m:d>
                        <m:r>
                          <a:rPr lang="zh-CN" altLang="en-US" b="1" i="1">
                            <a:solidFill>
                              <a:srgbClr val="0070C0"/>
                            </a:solidFill>
                            <a:latin typeface="Cambria Math" panose="02040503050406030204" pitchFamily="18" charset="0"/>
                          </a:rPr>
                          <m:t>在</m:t>
                        </m:r>
                        <m:r>
                          <a:rPr lang="en-US" altLang="zh-CN" b="1" i="1" smtClean="0">
                            <a:solidFill>
                              <a:srgbClr val="0070C0"/>
                            </a:solidFill>
                            <a:latin typeface="Cambria Math" panose="02040503050406030204" pitchFamily="18" charset="0"/>
                          </a:rPr>
                          <m:t>【</m:t>
                        </m:r>
                        <m:r>
                          <a:rPr lang="en-US" altLang="zh-CN" b="1" i="1" smtClean="0">
                            <a:solidFill>
                              <a:srgbClr val="0070C0"/>
                            </a:solidFill>
                            <a:latin typeface="Cambria Math" panose="02040503050406030204" pitchFamily="18" charset="0"/>
                          </a:rPr>
                          <m:t>−</m:t>
                        </m:r>
                        <m:r>
                          <a:rPr lang="en-US" altLang="zh-CN" b="1" i="1" smtClean="0">
                            <a:solidFill>
                              <a:srgbClr val="0070C0"/>
                            </a:solidFill>
                            <a:latin typeface="Cambria Math" panose="02040503050406030204" pitchFamily="18" charset="0"/>
                          </a:rPr>
                          <m:t>𝟏𝟎𝟎</m:t>
                        </m:r>
                        <m:r>
                          <a:rPr lang="en-US" altLang="zh-CN" b="1" i="1" smtClean="0">
                            <a:solidFill>
                              <a:srgbClr val="0070C0"/>
                            </a:solidFill>
                            <a:latin typeface="Cambria Math" panose="02040503050406030204" pitchFamily="18" charset="0"/>
                          </a:rPr>
                          <m:t>,</m:t>
                        </m:r>
                        <m:r>
                          <a:rPr lang="en-US" altLang="zh-CN" b="1" i="1" smtClean="0">
                            <a:solidFill>
                              <a:srgbClr val="0070C0"/>
                            </a:solidFill>
                            <a:latin typeface="Cambria Math" panose="02040503050406030204" pitchFamily="18" charset="0"/>
                          </a:rPr>
                          <m:t>𝟏𝟎𝟎</m:t>
                        </m:r>
                        <m:r>
                          <a:rPr lang="en-US" altLang="zh-CN" b="1" i="1" smtClean="0">
                            <a:solidFill>
                              <a:srgbClr val="0070C0"/>
                            </a:solidFill>
                            <a:latin typeface="Cambria Math" panose="02040503050406030204" pitchFamily="18" charset="0"/>
                          </a:rPr>
                          <m:t>】</m:t>
                        </m:r>
                        <m:r>
                          <a:rPr lang="en-US" altLang="zh-CN" b="1" i="1" smtClean="0">
                            <a:solidFill>
                              <a:srgbClr val="0070C0"/>
                            </a:solidFill>
                            <a:latin typeface="Cambria Math" panose="02040503050406030204" pitchFamily="18" charset="0"/>
                          </a:rPr>
                          <m:t> </m:t>
                        </m:r>
                        <m:r>
                          <m:rPr>
                            <m:nor/>
                          </m:rPr>
                          <a:rPr lang="zh-CN" altLang="en-US" b="1" dirty="0">
                            <a:solidFill>
                              <a:srgbClr val="0070C0"/>
                            </a:solidFill>
                            <a:latin typeface="Arial Unicode MS"/>
                            <a:ea typeface="Menlo"/>
                          </a:rPr>
                          <m:t>最小值</m:t>
                        </m:r>
                      </m:e>
                    </m:func>
                  </m:oMath>
                </a14:m>
                <a:endParaRPr kumimoji="0" lang="zh-CN" altLang="en-US" b="1" i="0" u="none" strike="noStrike" cap="none" normalizeH="0" baseline="0" dirty="0">
                  <a:ln>
                    <a:noFill/>
                  </a:ln>
                  <a:solidFill>
                    <a:srgbClr val="0070C0"/>
                  </a:solidFill>
                  <a:effectLst/>
                  <a:latin typeface="华文楷体" panose="02010600040101010101" pitchFamily="2" charset="-122"/>
                  <a:ea typeface="华文楷体" panose="02010600040101010101" pitchFamily="2" charset="-122"/>
                </a:endParaRPr>
              </a:p>
            </p:txBody>
          </p:sp>
        </mc:Choice>
        <mc:Fallback xmlns="">
          <p:sp>
            <p:nvSpPr>
              <p:cNvPr id="6" name="Rectangle 3">
                <a:extLst>
                  <a:ext uri="{FF2B5EF4-FFF2-40B4-BE49-F238E27FC236}">
                    <a16:creationId xmlns:a16="http://schemas.microsoft.com/office/drawing/2014/main" id="{AF9CA41A-C7E4-46D3-8AFA-25888859B924}"/>
                  </a:ext>
                </a:extLst>
              </p:cNvPr>
              <p:cNvSpPr>
                <a:spLocks noRot="1" noChangeAspect="1" noMove="1" noResize="1" noEditPoints="1" noAdjustHandles="1" noChangeArrowheads="1" noChangeShapeType="1" noTextEdit="1"/>
              </p:cNvSpPr>
              <p:nvPr/>
            </p:nvSpPr>
            <p:spPr bwMode="auto">
              <a:xfrm>
                <a:off x="1001178" y="1195046"/>
                <a:ext cx="7959006" cy="283219"/>
              </a:xfrm>
              <a:prstGeom prst="rect">
                <a:avLst/>
              </a:prstGeom>
              <a:blipFill>
                <a:blip r:embed="rId2"/>
                <a:stretch>
                  <a:fillRect l="-995" t="-28261" b="-54348"/>
                </a:stretch>
              </a:blipFill>
              <a:ln>
                <a:noFill/>
              </a:ln>
              <a:effectLst/>
            </p:spPr>
            <p:txBody>
              <a:bodyPr/>
              <a:lstStyle/>
              <a:p>
                <a:r>
                  <a:rPr lang="zh-CN" altLang="en-US">
                    <a:noFill/>
                  </a:rPr>
                  <a:t> </a:t>
                </a:r>
              </a:p>
            </p:txBody>
          </p:sp>
        </mc:Fallback>
      </mc:AlternateContent>
      <p:sp>
        <p:nvSpPr>
          <p:cNvPr id="7" name="标题 1">
            <a:extLst>
              <a:ext uri="{FF2B5EF4-FFF2-40B4-BE49-F238E27FC236}">
                <a16:creationId xmlns:a16="http://schemas.microsoft.com/office/drawing/2014/main" id="{F5D80C11-83D3-4D2B-8225-E3072DDF4A8D}"/>
              </a:ext>
            </a:extLst>
          </p:cNvPr>
          <p:cNvSpPr txBox="1">
            <a:spLocks/>
          </p:cNvSpPr>
          <p:nvPr/>
        </p:nvSpPr>
        <p:spPr>
          <a:xfrm>
            <a:off x="772024" y="152271"/>
            <a:ext cx="8146959" cy="438150"/>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400" b="0" dirty="0">
                <a:solidFill>
                  <a:srgbClr val="002060"/>
                </a:solidFill>
                <a:latin typeface="华文楷体" panose="02010600040101010101" pitchFamily="2" charset="-122"/>
                <a:ea typeface="华文楷体" panose="02010600040101010101" pitchFamily="2" charset="-122"/>
              </a:rPr>
              <a:t>§8.4.3</a:t>
            </a:r>
            <a:r>
              <a:rPr lang="zh-CN" altLang="en-US" sz="2400" b="0" kern="0" dirty="0">
                <a:solidFill>
                  <a:srgbClr val="002060"/>
                </a:solidFill>
                <a:latin typeface="华文楷体" panose="02010600040101010101" pitchFamily="2" charset="-122"/>
                <a:ea typeface="华文楷体" panose="02010600040101010101" pitchFamily="2" charset="-122"/>
              </a:rPr>
              <a:t>求有约束的</a:t>
            </a:r>
            <a:r>
              <a:rPr lang="zh-CN" altLang="en-US" sz="2400" b="0" dirty="0">
                <a:solidFill>
                  <a:srgbClr val="002060"/>
                </a:solidFill>
                <a:latin typeface="华文楷体" panose="02010600040101010101" pitchFamily="2" charset="-122"/>
                <a:ea typeface="华文楷体" panose="02010600040101010101" pitchFamily="2" charset="-122"/>
              </a:rPr>
              <a:t>多变量函数最</a:t>
            </a:r>
            <a:r>
              <a:rPr lang="en-US" altLang="ko-KR" sz="2400" b="0" dirty="0" err="1">
                <a:solidFill>
                  <a:srgbClr val="002060"/>
                </a:solidFill>
                <a:latin typeface="华文楷体" panose="02010600040101010101" pitchFamily="2" charset="-122"/>
                <a:ea typeface="华文楷体" panose="02010600040101010101" pitchFamily="2" charset="-122"/>
              </a:rPr>
              <a:t>小值</a:t>
            </a:r>
            <a:r>
              <a:rPr lang="en-US" altLang="zh-CN" sz="2400" b="0" dirty="0" err="1">
                <a:solidFill>
                  <a:srgbClr val="FF0000"/>
                </a:solidFill>
                <a:latin typeface="华文楷体" panose="02010600040101010101" pitchFamily="2" charset="-122"/>
                <a:ea typeface="华文楷体" panose="02010600040101010101" pitchFamily="2" charset="-122"/>
              </a:rPr>
              <a:t>fmincon</a:t>
            </a:r>
            <a:r>
              <a:rPr lang="en-US" altLang="zh-CN" sz="2600" b="0" kern="0" dirty="0">
                <a:solidFill>
                  <a:srgbClr val="FF0000"/>
                </a:solidFill>
                <a:latin typeface="华文楷体" panose="02010600040101010101" pitchFamily="2" charset="-122"/>
                <a:ea typeface="华文楷体" panose="02010600040101010101" pitchFamily="2" charset="-122"/>
              </a:rPr>
              <a:t>——</a:t>
            </a:r>
            <a:r>
              <a:rPr lang="zh-CN" altLang="en-US" sz="2600" b="0" kern="0" dirty="0">
                <a:solidFill>
                  <a:srgbClr val="FF0000"/>
                </a:solidFill>
                <a:latin typeface="华文楷体" panose="02010600040101010101" pitchFamily="2" charset="-122"/>
                <a:ea typeface="华文楷体" panose="02010600040101010101" pitchFamily="2" charset="-122"/>
              </a:rPr>
              <a:t>案例</a:t>
            </a:r>
          </a:p>
        </p:txBody>
      </p:sp>
      <p:sp>
        <p:nvSpPr>
          <p:cNvPr id="9" name="文本框 8">
            <a:extLst>
              <a:ext uri="{FF2B5EF4-FFF2-40B4-BE49-F238E27FC236}">
                <a16:creationId xmlns:a16="http://schemas.microsoft.com/office/drawing/2014/main" id="{5A50FCDB-AD12-492F-8CB4-2CBE54A5E890}"/>
              </a:ext>
            </a:extLst>
          </p:cNvPr>
          <p:cNvSpPr txBox="1"/>
          <p:nvPr/>
        </p:nvSpPr>
        <p:spPr>
          <a:xfrm>
            <a:off x="215096" y="1517818"/>
            <a:ext cx="7879275" cy="2031325"/>
          </a:xfrm>
          <a:prstGeom prst="rect">
            <a:avLst/>
          </a:prstGeom>
          <a:noFill/>
        </p:spPr>
        <p:txBody>
          <a:bodyPr wrap="square">
            <a:spAutoFit/>
          </a:bodyPr>
          <a:lstStyle/>
          <a:p>
            <a:r>
              <a:rPr lang="en-US" altLang="zh-CN" b="0" dirty="0" err="1">
                <a:solidFill>
                  <a:srgbClr val="795E26"/>
                </a:solidFill>
                <a:effectLst/>
                <a:latin typeface="Consolas" panose="020B0609020204030204" pitchFamily="49" charset="0"/>
              </a:rPr>
              <a:t>fxy</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+xy[</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xy[</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795E26"/>
                </a:solidFill>
                <a:effectLst/>
                <a:latin typeface="Consolas" panose="020B0609020204030204" pitchFamily="49" charset="0"/>
              </a:rPr>
              <a:t>sin</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xy[</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p>
          <a:p>
            <a:r>
              <a:rPr lang="pl-PL" altLang="zh-CN" b="0" dirty="0">
                <a:solidFill>
                  <a:srgbClr val="000000"/>
                </a:solidFill>
                <a:effectLst/>
                <a:latin typeface="Consolas" panose="020B0609020204030204" pitchFamily="49" charset="0"/>
              </a:rPr>
              <a:t>lb = [-</a:t>
            </a:r>
            <a:r>
              <a:rPr lang="pl-PL" altLang="zh-CN" b="0" dirty="0">
                <a:solidFill>
                  <a:srgbClr val="098658"/>
                </a:solidFill>
                <a:effectLst/>
                <a:latin typeface="Consolas" panose="020B0609020204030204" pitchFamily="49" charset="0"/>
              </a:rPr>
              <a:t>100</a:t>
            </a:r>
            <a:r>
              <a:rPr lang="pl-PL" altLang="zh-CN" b="0" dirty="0">
                <a:solidFill>
                  <a:srgbClr val="000000"/>
                </a:solidFill>
                <a:effectLst/>
                <a:latin typeface="Consolas" panose="020B0609020204030204" pitchFamily="49" charset="0"/>
              </a:rPr>
              <a:t>, -</a:t>
            </a:r>
            <a:r>
              <a:rPr lang="pl-PL" altLang="zh-CN" b="0" dirty="0">
                <a:solidFill>
                  <a:srgbClr val="098658"/>
                </a:solidFill>
                <a:effectLst/>
                <a:latin typeface="Consolas" panose="020B0609020204030204" pitchFamily="49" charset="0"/>
              </a:rPr>
              <a:t>100</a:t>
            </a:r>
            <a:r>
              <a:rPr lang="pl-PL" altLang="zh-CN" b="0" dirty="0">
                <a:solidFill>
                  <a:srgbClr val="000000"/>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pl-PL" altLang="zh-CN" b="0" dirty="0">
                <a:solidFill>
                  <a:srgbClr val="000000"/>
                </a:solidFill>
                <a:effectLst/>
                <a:latin typeface="Consolas" panose="020B0609020204030204" pitchFamily="49" charset="0"/>
              </a:rPr>
              <a:t>ub = [</a:t>
            </a:r>
            <a:r>
              <a:rPr lang="pl-PL" altLang="zh-CN" b="0" dirty="0">
                <a:solidFill>
                  <a:srgbClr val="098658"/>
                </a:solidFill>
                <a:effectLst/>
                <a:latin typeface="Consolas" panose="020B0609020204030204" pitchFamily="49" charset="0"/>
              </a:rPr>
              <a:t>100</a:t>
            </a:r>
            <a:r>
              <a:rPr lang="pl-PL" altLang="zh-CN" b="0" dirty="0">
                <a:solidFill>
                  <a:srgbClr val="000000"/>
                </a:solidFill>
                <a:effectLst/>
                <a:latin typeface="Consolas" panose="020B0609020204030204" pitchFamily="49" charset="0"/>
              </a:rPr>
              <a:t>, </a:t>
            </a:r>
            <a:r>
              <a:rPr lang="pl-PL" altLang="zh-CN" b="0" dirty="0">
                <a:solidFill>
                  <a:srgbClr val="098658"/>
                </a:solidFill>
                <a:effectLst/>
                <a:latin typeface="Consolas" panose="020B0609020204030204" pitchFamily="49" charset="0"/>
              </a:rPr>
              <a:t>100</a:t>
            </a:r>
            <a:r>
              <a:rPr lang="pl-PL" altLang="zh-CN" b="0" dirty="0">
                <a:solidFill>
                  <a:srgbClr val="000000"/>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it-IT" altLang="zh-CN" b="0" dirty="0">
                <a:solidFill>
                  <a:srgbClr val="000000"/>
                </a:solidFill>
                <a:effectLst/>
                <a:latin typeface="Consolas" panose="020B0609020204030204" pitchFamily="49" charset="0"/>
              </a:rPr>
              <a:t>x</a:t>
            </a:r>
            <a:r>
              <a:rPr lang="en-US" altLang="zh-CN" b="0" dirty="0">
                <a:solidFill>
                  <a:srgbClr val="000000"/>
                </a:solidFill>
                <a:effectLst/>
                <a:latin typeface="Consolas" panose="020B0609020204030204" pitchFamily="49" charset="0"/>
              </a:rPr>
              <a:t>y</a:t>
            </a:r>
            <a:r>
              <a:rPr lang="it-IT" altLang="zh-CN" b="0" dirty="0">
                <a:solidFill>
                  <a:srgbClr val="000000"/>
                </a:solidFill>
                <a:effectLst/>
                <a:latin typeface="Consolas" panose="020B0609020204030204" pitchFamily="49" charset="0"/>
              </a:rPr>
              <a:t>,fv</a:t>
            </a:r>
            <a:r>
              <a:rPr lang="en-US" altLang="zh-CN" b="0" dirty="0">
                <a:solidFill>
                  <a:srgbClr val="000000"/>
                </a:solidFill>
                <a:effectLst/>
                <a:latin typeface="Consolas" panose="020B0609020204030204" pitchFamily="49" charset="0"/>
              </a:rPr>
              <a:t>al</a:t>
            </a:r>
            <a:r>
              <a:rPr lang="it-IT" altLang="zh-CN" b="0" dirty="0">
                <a:solidFill>
                  <a:srgbClr val="000000"/>
                </a:solidFill>
                <a:effectLst/>
                <a:latin typeface="Consolas" panose="020B0609020204030204" pitchFamily="49" charset="0"/>
              </a:rPr>
              <a:t>,e</a:t>
            </a:r>
            <a:r>
              <a:rPr lang="en-US" altLang="zh-CN" b="0" dirty="0">
                <a:solidFill>
                  <a:srgbClr val="000000"/>
                </a:solidFill>
                <a:effectLst/>
                <a:latin typeface="Consolas" panose="020B0609020204030204" pitchFamily="49" charset="0"/>
              </a:rPr>
              <a:t>x</a:t>
            </a:r>
            <a:r>
              <a:rPr lang="it-IT" altLang="zh-CN" b="0" dirty="0">
                <a:solidFill>
                  <a:srgbClr val="000000"/>
                </a:solidFill>
                <a:effectLst/>
                <a:latin typeface="Consolas" panose="020B0609020204030204" pitchFamily="49" charset="0"/>
              </a:rPr>
              <a:t>,o</a:t>
            </a:r>
            <a:r>
              <a:rPr lang="en-US" altLang="zh-CN" b="0" dirty="0">
                <a:solidFill>
                  <a:srgbClr val="000000"/>
                </a:solidFill>
                <a:effectLst/>
                <a:latin typeface="Consolas" panose="020B0609020204030204" pitchFamily="49" charset="0"/>
              </a:rPr>
              <a:t>u</a:t>
            </a:r>
            <a:r>
              <a:rPr lang="it-IT" altLang="zh-CN" b="0" dirty="0">
                <a:solidFill>
                  <a:srgbClr val="000000"/>
                </a:solidFill>
                <a:effectLst/>
                <a:latin typeface="Consolas" panose="020B0609020204030204" pitchFamily="49" charset="0"/>
              </a:rPr>
              <a:t>= </a:t>
            </a:r>
            <a:r>
              <a:rPr lang="it-IT" altLang="zh-CN" b="0" dirty="0">
                <a:solidFill>
                  <a:srgbClr val="795E26"/>
                </a:solidFill>
                <a:effectLst/>
                <a:latin typeface="Consolas" panose="020B0609020204030204" pitchFamily="49" charset="0"/>
              </a:rPr>
              <a:t>fmincon</a:t>
            </a:r>
            <a:r>
              <a:rPr lang="it-IT" altLang="zh-CN" b="0" dirty="0">
                <a:solidFill>
                  <a:srgbClr val="000000"/>
                </a:solidFill>
                <a:effectLst/>
                <a:latin typeface="Consolas" panose="020B0609020204030204" pitchFamily="49" charset="0"/>
              </a:rPr>
              <a:t>(fxy,[-88,</a:t>
            </a:r>
            <a:r>
              <a:rPr lang="it-IT" altLang="zh-CN" b="0" dirty="0">
                <a:solidFill>
                  <a:srgbClr val="098658"/>
                </a:solidFill>
                <a:effectLst/>
                <a:latin typeface="Consolas" panose="020B0609020204030204" pitchFamily="49" charset="0"/>
              </a:rPr>
              <a:t>66</a:t>
            </a:r>
            <a:r>
              <a:rPr lang="it-IT" altLang="zh-CN" b="0" dirty="0">
                <a:solidFill>
                  <a:srgbClr val="000000"/>
                </a:solidFill>
                <a:effectLst/>
                <a:latin typeface="Consolas" panose="020B0609020204030204" pitchFamily="49" charset="0"/>
              </a:rPr>
              <a:t>],[],[],[],[],lb,ub) </a:t>
            </a:r>
          </a:p>
          <a:p>
            <a:r>
              <a:rPr lang="en-US" altLang="zh-CN" b="0" dirty="0" err="1">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xy</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xy</a:t>
            </a:r>
            <a:r>
              <a:rPr lang="en-US" altLang="zh-CN" b="0" dirty="0">
                <a:solidFill>
                  <a:srgbClr val="A31515"/>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en-US" altLang="zh-CN" b="0" dirty="0" err="1">
                <a:solidFill>
                  <a:srgbClr val="A31515"/>
                </a:solidFill>
                <a:effectLst/>
                <a:latin typeface="Consolas" panose="020B0609020204030204" pitchFamily="49" charset="0"/>
              </a:rPr>
              <a:t>fval</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fval</a:t>
            </a:r>
            <a:r>
              <a:rPr lang="en-US" altLang="zh-CN" b="0" dirty="0">
                <a:solidFill>
                  <a:srgbClr val="A31515"/>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en-US" altLang="zh-CN" b="0" dirty="0">
                <a:solidFill>
                  <a:srgbClr val="A31515"/>
                </a:solidFill>
                <a:effectLst/>
                <a:latin typeface="Consolas" panose="020B0609020204030204" pitchFamily="49" charset="0"/>
              </a:rPr>
              <a:t>ex=</a:t>
            </a:r>
            <a:r>
              <a:rPr lang="en-US" altLang="zh-CN" b="0" dirty="0">
                <a:solidFill>
                  <a:srgbClr val="001080"/>
                </a:solidFill>
                <a:effectLst/>
                <a:latin typeface="Consolas" panose="020B0609020204030204" pitchFamily="49" charset="0"/>
              </a:rPr>
              <a:t>$ex</a:t>
            </a:r>
            <a:r>
              <a:rPr lang="en-US" altLang="zh-CN" b="0" dirty="0">
                <a:solidFill>
                  <a:srgbClr val="A31515"/>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en-US" altLang="zh-CN" b="0" dirty="0" err="1">
                <a:solidFill>
                  <a:srgbClr val="A31515"/>
                </a:solidFill>
                <a:effectLst/>
                <a:latin typeface="Consolas" panose="020B0609020204030204" pitchFamily="49" charset="0"/>
              </a:rPr>
              <a:t>ou</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ou</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p:txBody>
      </p:sp>
      <p:sp>
        <p:nvSpPr>
          <p:cNvPr id="11" name="文本框 10">
            <a:extLst>
              <a:ext uri="{FF2B5EF4-FFF2-40B4-BE49-F238E27FC236}">
                <a16:creationId xmlns:a16="http://schemas.microsoft.com/office/drawing/2014/main" id="{A98ABE1E-F9A8-45ED-B4A6-3C4D9EEFD840}"/>
              </a:ext>
            </a:extLst>
          </p:cNvPr>
          <p:cNvSpPr txBox="1"/>
          <p:nvPr/>
        </p:nvSpPr>
        <p:spPr>
          <a:xfrm>
            <a:off x="198750" y="3510756"/>
            <a:ext cx="8960183" cy="1077218"/>
          </a:xfrm>
          <a:prstGeom prst="rect">
            <a:avLst/>
          </a:prstGeom>
          <a:solidFill>
            <a:schemeClr val="accent5">
              <a:lumMod val="20000"/>
              <a:lumOff val="80000"/>
            </a:schemeClr>
          </a:solidFill>
        </p:spPr>
        <p:txBody>
          <a:bodyPr wrap="square">
            <a:spAutoFit/>
          </a:bodyPr>
          <a:lstStyle/>
          <a:p>
            <a:r>
              <a:rPr lang="en-US" altLang="zh-CN" sz="1600" dirty="0"/>
              <a:t>#</a:t>
            </a:r>
            <a:r>
              <a:rPr lang="zh-CN" altLang="en-US" sz="1600" dirty="0"/>
              <a:t>结果xy=[-0.672614452608671, 1.992872636298948],</a:t>
            </a:r>
          </a:p>
          <a:p>
            <a:r>
              <a:rPr lang="zh-CN" altLang="en-US" sz="1600" dirty="0"/>
              <a:t>fval=-0.7422757492738596,</a:t>
            </a:r>
          </a:p>
          <a:p>
            <a:r>
              <a:rPr lang="zh-CN" altLang="en-US" sz="1600" dirty="0"/>
              <a:t>ex=5,</a:t>
            </a:r>
          </a:p>
          <a:p>
            <a:r>
              <a:rPr lang="zh-CN" altLang="en-US" sz="1600" dirty="0"/>
              <a:t>ou=(iterations = 12, funcCount = 51, lssteplenght = 1.0, stepsize = 0.0002473498380337681, </a:t>
            </a:r>
          </a:p>
        </p:txBody>
      </p:sp>
      <p:pic>
        <p:nvPicPr>
          <p:cNvPr id="4" name="图片 3">
            <a:extLst>
              <a:ext uri="{FF2B5EF4-FFF2-40B4-BE49-F238E27FC236}">
                <a16:creationId xmlns:a16="http://schemas.microsoft.com/office/drawing/2014/main" id="{70C312EA-2E50-4F3A-9FB5-07F90DD8A917}"/>
              </a:ext>
            </a:extLst>
          </p:cNvPr>
          <p:cNvPicPr>
            <a:picLocks noChangeAspect="1"/>
          </p:cNvPicPr>
          <p:nvPr/>
        </p:nvPicPr>
        <p:blipFill>
          <a:blip r:embed="rId3"/>
          <a:stretch>
            <a:fillRect/>
          </a:stretch>
        </p:blipFill>
        <p:spPr>
          <a:xfrm>
            <a:off x="6697851" y="2401831"/>
            <a:ext cx="2423937" cy="1825663"/>
          </a:xfrm>
          <a:prstGeom prst="rect">
            <a:avLst/>
          </a:prstGeom>
        </p:spPr>
      </p:pic>
      <p:sp>
        <p:nvSpPr>
          <p:cNvPr id="8" name="文本框 7">
            <a:extLst>
              <a:ext uri="{FF2B5EF4-FFF2-40B4-BE49-F238E27FC236}">
                <a16:creationId xmlns:a16="http://schemas.microsoft.com/office/drawing/2014/main" id="{545E064E-E3AA-4204-A729-7FA754014FCE}"/>
              </a:ext>
            </a:extLst>
          </p:cNvPr>
          <p:cNvSpPr txBox="1"/>
          <p:nvPr/>
        </p:nvSpPr>
        <p:spPr>
          <a:xfrm>
            <a:off x="91908" y="758780"/>
            <a:ext cx="8960183" cy="341632"/>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algn="dist"/>
            <a:r>
              <a:rPr lang="en-US" altLang="zh-CN" sz="1800" b="0" dirty="0">
                <a:effectLst/>
                <a:highlight>
                  <a:srgbClr val="FF0000"/>
                </a:highlight>
                <a:latin typeface="华文楷体" panose="02010600040101010101" pitchFamily="2" charset="-122"/>
                <a:ea typeface="华文楷体" panose="02010600040101010101" pitchFamily="2" charset="-122"/>
              </a:rPr>
              <a:t>x</a:t>
            </a:r>
            <a:r>
              <a:rPr lang="zh-CN" altLang="zh-CN" sz="1800" b="0" dirty="0">
                <a:effectLst/>
                <a:highlight>
                  <a:srgbClr val="FF0000"/>
                </a:highlight>
                <a:latin typeface="华文楷体" panose="02010600040101010101" pitchFamily="2" charset="-122"/>
                <a:ea typeface="华文楷体" panose="02010600040101010101" pitchFamily="2" charset="-122"/>
              </a:rPr>
              <a:t>,</a:t>
            </a:r>
            <a:r>
              <a:rPr lang="zh-CN" altLang="zh-CN" sz="1800" b="0" dirty="0">
                <a:effectLst/>
                <a:latin typeface="华文楷体" panose="02010600040101010101" pitchFamily="2" charset="-122"/>
                <a:ea typeface="华文楷体" panose="02010600040101010101" pitchFamily="2" charset="-122"/>
              </a:rPr>
              <a:t>fval,exitflag,output,lambda,grad,hessian=</a:t>
            </a:r>
            <a:r>
              <a:rPr lang="zh-CN" altLang="zh-CN" sz="1800" b="0" dirty="0">
                <a:effectLst/>
                <a:highlight>
                  <a:srgbClr val="FF0000"/>
                </a:highlight>
                <a:latin typeface="华文楷体" panose="02010600040101010101" pitchFamily="2" charset="-122"/>
                <a:ea typeface="华文楷体" panose="02010600040101010101" pitchFamily="2" charset="-122"/>
              </a:rPr>
              <a:t>fmincon(fun,x0,</a:t>
            </a:r>
            <a:r>
              <a:rPr lang="zh-CN" altLang="zh-CN" sz="1800" b="0" dirty="0">
                <a:effectLst/>
                <a:latin typeface="Arial Unicode MS"/>
                <a:ea typeface="source-code-pro"/>
              </a:rPr>
              <a:t>A,b</a:t>
            </a:r>
            <a:r>
              <a:rPr lang="zh-CN" altLang="en-US" sz="1800" b="0" dirty="0">
                <a:effectLst/>
                <a:latin typeface="Arial Unicode MS"/>
                <a:ea typeface="source-code-pro"/>
              </a:rPr>
              <a:t>，</a:t>
            </a:r>
            <a:r>
              <a:rPr lang="zh-CN" altLang="zh-CN" sz="1800" b="0" dirty="0">
                <a:effectLst/>
                <a:latin typeface="Arial Unicode MS"/>
                <a:ea typeface="source-code-pro"/>
              </a:rPr>
              <a:t>Aeq,beq,lb,ub,</a:t>
            </a:r>
            <a:r>
              <a:rPr lang="zh-CN" altLang="zh-CN" sz="1800" dirty="0">
                <a:solidFill>
                  <a:srgbClr val="FFFF00"/>
                </a:solidFill>
                <a:effectLst/>
                <a:latin typeface="Arial Unicode MS"/>
                <a:ea typeface="source-code-pro"/>
              </a:rPr>
              <a:t>nonlcon</a:t>
            </a:r>
            <a:r>
              <a:rPr lang="zh-CN" altLang="zh-CN" sz="1800" dirty="0">
                <a:solidFill>
                  <a:srgbClr val="FFFF00"/>
                </a:solidFill>
                <a:effectLst/>
                <a:latin typeface="华文楷体" panose="02010600040101010101" pitchFamily="2" charset="-122"/>
                <a:ea typeface="华文楷体" panose="02010600040101010101" pitchFamily="2" charset="-122"/>
              </a:rPr>
              <a:t>)</a:t>
            </a:r>
            <a:endParaRPr lang="ko-KR" altLang="en-US" sz="1800" dirty="0">
              <a:solidFill>
                <a:srgbClr val="FFFF00"/>
              </a:solidFill>
              <a:latin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245575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CF13CED-53CE-4D36-8E10-362A05524C45}"/>
              </a:ext>
            </a:extLst>
          </p:cNvPr>
          <p:cNvSpPr txBox="1">
            <a:spLocks/>
          </p:cNvSpPr>
          <p:nvPr/>
        </p:nvSpPr>
        <p:spPr>
          <a:xfrm>
            <a:off x="1115616" y="126016"/>
            <a:ext cx="7713721" cy="438150"/>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800" b="0" dirty="0">
                <a:solidFill>
                  <a:srgbClr val="002060"/>
                </a:solidFill>
                <a:latin typeface="华文楷体" panose="02010600040101010101" pitchFamily="2" charset="-122"/>
                <a:ea typeface="华文楷体" panose="02010600040101010101" pitchFamily="2" charset="-122"/>
              </a:rPr>
              <a:t>§8.4.4</a:t>
            </a:r>
            <a:r>
              <a:rPr lang="zh-CN" altLang="en-US" sz="2800" dirty="0">
                <a:solidFill>
                  <a:srgbClr val="002060"/>
                </a:solidFill>
                <a:latin typeface="华文楷体" panose="02010600040101010101" pitchFamily="2" charset="-122"/>
                <a:ea typeface="华文楷体" panose="02010600040101010101" pitchFamily="2" charset="-122"/>
              </a:rPr>
              <a:t>用遗传算法</a:t>
            </a:r>
            <a:r>
              <a:rPr lang="en-US" altLang="zh-CN" sz="2800" dirty="0">
                <a:solidFill>
                  <a:srgbClr val="002060"/>
                </a:solidFill>
                <a:latin typeface="华文楷体" panose="02010600040101010101" pitchFamily="2" charset="-122"/>
                <a:ea typeface="华文楷体" panose="02010600040101010101" pitchFamily="2" charset="-122"/>
              </a:rPr>
              <a:t>ga</a:t>
            </a:r>
            <a:r>
              <a:rPr lang="zh-CN" altLang="en-US" sz="2800" dirty="0">
                <a:solidFill>
                  <a:srgbClr val="002060"/>
                </a:solidFill>
                <a:latin typeface="华文楷体" panose="02010600040101010101" pitchFamily="2" charset="-122"/>
                <a:ea typeface="华文楷体" panose="02010600040101010101" pitchFamily="2" charset="-122"/>
              </a:rPr>
              <a:t>寻找函数最小值</a:t>
            </a:r>
            <a:r>
              <a:rPr lang="en-US" altLang="zh-CN" sz="2400" b="0" dirty="0">
                <a:solidFill>
                  <a:srgbClr val="FF0000"/>
                </a:solidFill>
                <a:latin typeface="华文楷体" panose="02010600040101010101" pitchFamily="2" charset="-122"/>
                <a:ea typeface="华文楷体" panose="02010600040101010101" pitchFamily="2" charset="-122"/>
              </a:rPr>
              <a:t>——ga</a:t>
            </a:r>
            <a:r>
              <a:rPr lang="zh-CN" altLang="en-US" sz="2400" b="0" dirty="0">
                <a:solidFill>
                  <a:srgbClr val="FF0000"/>
                </a:solidFill>
                <a:latin typeface="华文楷体" panose="02010600040101010101" pitchFamily="2" charset="-122"/>
                <a:ea typeface="华文楷体" panose="02010600040101010101" pitchFamily="2" charset="-122"/>
              </a:rPr>
              <a:t>语法</a:t>
            </a:r>
            <a:endParaRPr lang="zh-CN" altLang="zh-CN" sz="2400" b="0" dirty="0">
              <a:solidFill>
                <a:srgbClr val="FF0000"/>
              </a:solidFill>
              <a:latin typeface="华文楷体" panose="02010600040101010101" pitchFamily="2" charset="-122"/>
              <a:ea typeface="华文楷体" panose="02010600040101010101" pitchFamily="2" charset="-122"/>
            </a:endParaRPr>
          </a:p>
          <a:p>
            <a:endParaRPr lang="zh-CN" altLang="en-US" sz="2800" b="0" kern="0" dirty="0">
              <a:solidFill>
                <a:srgbClr val="FF0000"/>
              </a:solidFill>
              <a:latin typeface="华文楷体" panose="02010600040101010101" pitchFamily="2" charset="-122"/>
              <a:ea typeface="华文楷体" panose="02010600040101010101" pitchFamily="2" charset="-122"/>
            </a:endParaRPr>
          </a:p>
        </p:txBody>
      </p:sp>
      <p:sp>
        <p:nvSpPr>
          <p:cNvPr id="6" name="文本框 5">
            <a:extLst>
              <a:ext uri="{FF2B5EF4-FFF2-40B4-BE49-F238E27FC236}">
                <a16:creationId xmlns:a16="http://schemas.microsoft.com/office/drawing/2014/main" id="{79953C34-A011-4C21-B1A9-C6D591D1CCF5}"/>
              </a:ext>
            </a:extLst>
          </p:cNvPr>
          <p:cNvSpPr txBox="1"/>
          <p:nvPr/>
        </p:nvSpPr>
        <p:spPr>
          <a:xfrm>
            <a:off x="402758" y="814620"/>
            <a:ext cx="3752628" cy="369332"/>
          </a:xfrm>
          <a:prstGeom prst="rect">
            <a:avLst/>
          </a:prstGeom>
          <a:noFill/>
        </p:spPr>
        <p:txBody>
          <a:bodyPr wrap="square">
            <a:spAutoFit/>
          </a:bodyPr>
          <a:lstStyle/>
          <a:p>
            <a:pPr algn="l"/>
            <a:r>
              <a:rPr lang="zh-CN" altLang="en-US" b="1" i="0" dirty="0">
                <a:solidFill>
                  <a:srgbClr val="0070C0"/>
                </a:solidFill>
                <a:effectLst/>
                <a:latin typeface="Microsoft YaHei" panose="020B0503020204020204" pitchFamily="34" charset="-122"/>
                <a:ea typeface="Microsoft YaHei" panose="020B0503020204020204" pitchFamily="34" charset="-122"/>
              </a:rPr>
              <a:t>函数库： </a:t>
            </a:r>
            <a:r>
              <a:rPr lang="en-US" altLang="zh-CN" b="1" i="0" dirty="0" err="1">
                <a:solidFill>
                  <a:srgbClr val="0070C0"/>
                </a:solidFill>
                <a:effectLst/>
                <a:latin typeface="Microsoft YaHei" panose="020B0503020204020204" pitchFamily="34" charset="-122"/>
                <a:ea typeface="Microsoft YaHei" panose="020B0503020204020204" pitchFamily="34" charset="-122"/>
              </a:rPr>
              <a:t>TyGlobalOptimization</a:t>
            </a:r>
            <a:endParaRPr lang="en-US" altLang="zh-CN" b="1" i="0" dirty="0">
              <a:solidFill>
                <a:srgbClr val="0070C0"/>
              </a:solidFill>
              <a:effectLst/>
              <a:latin typeface="Microsoft YaHei" panose="020B0503020204020204" pitchFamily="34" charset="-122"/>
              <a:ea typeface="Microsoft YaHei" panose="020B0503020204020204" pitchFamily="34" charset="-122"/>
            </a:endParaRPr>
          </a:p>
        </p:txBody>
      </p:sp>
      <p:sp>
        <p:nvSpPr>
          <p:cNvPr id="7" name="Rectangle 1">
            <a:extLst>
              <a:ext uri="{FF2B5EF4-FFF2-40B4-BE49-F238E27FC236}">
                <a16:creationId xmlns:a16="http://schemas.microsoft.com/office/drawing/2014/main" id="{9ADE7CDD-0936-4E09-B431-A6EFC507DA9F}"/>
              </a:ext>
            </a:extLst>
          </p:cNvPr>
          <p:cNvSpPr>
            <a:spLocks noChangeArrowheads="1"/>
          </p:cNvSpPr>
          <p:nvPr/>
        </p:nvSpPr>
        <p:spPr bwMode="auto">
          <a:xfrm>
            <a:off x="4898282" y="1687942"/>
            <a:ext cx="4072884" cy="37151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r>
              <a:rPr lang="zh-CN" altLang="zh-CN" sz="2000" b="1" kern="0" dirty="0">
                <a:solidFill>
                  <a:schemeClr val="bg1"/>
                </a:solidFill>
                <a:highlight>
                  <a:srgbClr val="3399FF"/>
                </a:highlight>
                <a:latin typeface="华文楷体" panose="02010600040101010101" pitchFamily="2" charset="-122"/>
                <a:ea typeface="华文楷体" panose="02010600040101010101" pitchFamily="2" charset="-122"/>
              </a:rPr>
              <a:t>x, fval, output = ga(func, lb, ub</a:t>
            </a:r>
            <a:r>
              <a:rPr lang="en-US" altLang="zh-CN" sz="2000" b="1" kern="0" dirty="0">
                <a:solidFill>
                  <a:schemeClr val="bg1"/>
                </a:solidFill>
                <a:highlight>
                  <a:srgbClr val="3399FF"/>
                </a:highlight>
                <a:latin typeface="华文楷体" panose="02010600040101010101" pitchFamily="2" charset="-122"/>
                <a:ea typeface="华文楷体" panose="02010600040101010101" pitchFamily="2" charset="-122"/>
              </a:rPr>
              <a:t>)</a:t>
            </a:r>
            <a:r>
              <a:rPr lang="zh-CN" altLang="zh-CN" sz="2000" b="1" kern="0" dirty="0">
                <a:solidFill>
                  <a:schemeClr val="bg1"/>
                </a:solidFill>
                <a:highlight>
                  <a:srgbClr val="3399FF"/>
                </a:highlight>
                <a:latin typeface="华文楷体" panose="02010600040101010101" pitchFamily="2" charset="-122"/>
                <a:ea typeface="华文楷体" panose="02010600040101010101" pitchFamily="2" charset="-122"/>
              </a:rPr>
              <a:t> </a:t>
            </a:r>
          </a:p>
        </p:txBody>
      </p:sp>
      <p:sp>
        <p:nvSpPr>
          <p:cNvPr id="9" name="文本框 8">
            <a:extLst>
              <a:ext uri="{FF2B5EF4-FFF2-40B4-BE49-F238E27FC236}">
                <a16:creationId xmlns:a16="http://schemas.microsoft.com/office/drawing/2014/main" id="{8345E0E5-3D97-4714-8A74-5311F2A447D6}"/>
              </a:ext>
            </a:extLst>
          </p:cNvPr>
          <p:cNvSpPr txBox="1"/>
          <p:nvPr/>
        </p:nvSpPr>
        <p:spPr>
          <a:xfrm>
            <a:off x="6064381" y="788572"/>
            <a:ext cx="3296494" cy="369332"/>
          </a:xfrm>
          <a:prstGeom prst="rect">
            <a:avLst/>
          </a:prstGeom>
          <a:noFill/>
        </p:spPr>
        <p:txBody>
          <a:bodyPr wrap="square">
            <a:spAutoFit/>
          </a:bodyPr>
          <a:lstStyle/>
          <a:p>
            <a:r>
              <a:rPr lang="zh-CN" altLang="en-US" sz="1800" dirty="0">
                <a:solidFill>
                  <a:srgbClr val="FF0000"/>
                </a:solidFill>
                <a:effectLst/>
                <a:latin typeface="微软雅黑" panose="020B0503020204020204" pitchFamily="34" charset="-122"/>
                <a:ea typeface="微软雅黑" panose="020B0503020204020204" pitchFamily="34" charset="-122"/>
              </a:rPr>
              <a:t>整个可行域内的绝对最优解</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A2E9A03D-8D44-4E7D-9D9D-18C5ED70F2E2}"/>
              </a:ext>
            </a:extLst>
          </p:cNvPr>
          <p:cNvSpPr txBox="1"/>
          <p:nvPr/>
        </p:nvSpPr>
        <p:spPr>
          <a:xfrm>
            <a:off x="4155386" y="792183"/>
            <a:ext cx="1973315" cy="380049"/>
          </a:xfrm>
          <a:prstGeom prst="rect">
            <a:avLst/>
          </a:prstGeom>
          <a:noFill/>
        </p:spPr>
        <p:txBody>
          <a:bodyPr wrap="square">
            <a:spAutoFit/>
          </a:bodyPr>
          <a:lstStyle/>
          <a:p>
            <a:pPr algn="l" latinLnBrk="1"/>
            <a:r>
              <a:rPr lang="zh-CN" altLang="en-US" b="1" i="0" dirty="0">
                <a:solidFill>
                  <a:srgbClr val="D57747"/>
                </a:solidFill>
                <a:effectLst/>
                <a:latin typeface="Microsoft YaHei" panose="020B0503020204020204" pitchFamily="34" charset="-122"/>
                <a:ea typeface="Microsoft YaHei" panose="020B0503020204020204" pitchFamily="34" charset="-122"/>
              </a:rPr>
              <a:t>全局优化工具箱</a:t>
            </a:r>
          </a:p>
        </p:txBody>
      </p:sp>
      <p:sp>
        <p:nvSpPr>
          <p:cNvPr id="11" name="文本框 10">
            <a:extLst>
              <a:ext uri="{FF2B5EF4-FFF2-40B4-BE49-F238E27FC236}">
                <a16:creationId xmlns:a16="http://schemas.microsoft.com/office/drawing/2014/main" id="{CFBFADB3-475E-4EF7-880E-23EBA6BAD060}"/>
              </a:ext>
            </a:extLst>
          </p:cNvPr>
          <p:cNvSpPr txBox="1"/>
          <p:nvPr/>
        </p:nvSpPr>
        <p:spPr>
          <a:xfrm>
            <a:off x="474222" y="1239412"/>
            <a:ext cx="8496944" cy="369332"/>
          </a:xfrm>
          <a:prstGeom prst="rect">
            <a:avLst/>
          </a:prstGeom>
          <a:noFill/>
        </p:spPr>
        <p:txBody>
          <a:bodyPr wrap="square">
            <a:spAutoFit/>
          </a:bodyPr>
          <a:lstStyle/>
          <a:p>
            <a:pPr algn="dist"/>
            <a:r>
              <a:rPr lang="zh-CN" altLang="en-US" b="0" i="0" dirty="0">
                <a:solidFill>
                  <a:srgbClr val="0070C0"/>
                </a:solidFill>
                <a:effectLst/>
                <a:latin typeface="Microsoft YaHei" panose="020B0503020204020204" pitchFamily="34" charset="-122"/>
                <a:ea typeface="Microsoft YaHei" panose="020B0503020204020204" pitchFamily="34" charset="-122"/>
              </a:rPr>
              <a:t>全局优化工具箱包含遗传算法、粒子群优化、模拟退火、模式搜索、多起点搜索</a:t>
            </a:r>
            <a:endParaRPr lang="zh-CN" altLang="en-US" dirty="0">
              <a:solidFill>
                <a:srgbClr val="0070C0"/>
              </a:solidFill>
            </a:endParaRPr>
          </a:p>
        </p:txBody>
      </p:sp>
      <p:sp>
        <p:nvSpPr>
          <p:cNvPr id="12" name="文本框 11">
            <a:extLst>
              <a:ext uri="{FF2B5EF4-FFF2-40B4-BE49-F238E27FC236}">
                <a16:creationId xmlns:a16="http://schemas.microsoft.com/office/drawing/2014/main" id="{108A45FE-B902-4633-B86B-3EB8CE173B4B}"/>
              </a:ext>
            </a:extLst>
          </p:cNvPr>
          <p:cNvSpPr txBox="1"/>
          <p:nvPr/>
        </p:nvSpPr>
        <p:spPr>
          <a:xfrm>
            <a:off x="402758" y="1698362"/>
            <a:ext cx="8520064" cy="369332"/>
          </a:xfrm>
          <a:prstGeom prst="rect">
            <a:avLst/>
          </a:prstGeom>
          <a:noFill/>
        </p:spPr>
        <p:txBody>
          <a:bodyPr wrap="square">
            <a:spAutoFit/>
          </a:bodyPr>
          <a:lstStyle/>
          <a:p>
            <a:r>
              <a:rPr lang="zh-CN" altLang="en-US" b="1" dirty="0">
                <a:solidFill>
                  <a:srgbClr val="0070C0"/>
                </a:solidFill>
                <a:latin typeface="Microsoft YaHei" panose="020B0503020204020204" pitchFamily="34" charset="-122"/>
                <a:ea typeface="Microsoft YaHei" panose="020B0503020204020204" pitchFamily="34" charset="-122"/>
              </a:rPr>
              <a:t>用遗传算法</a:t>
            </a:r>
            <a:r>
              <a:rPr lang="zh-CN" altLang="en-US" b="1" i="0" dirty="0">
                <a:solidFill>
                  <a:srgbClr val="0070C0"/>
                </a:solidFill>
                <a:effectLst/>
                <a:latin typeface="Microsoft YaHei" panose="020B0503020204020204" pitchFamily="34" charset="-122"/>
                <a:ea typeface="Microsoft YaHei" panose="020B0503020204020204" pitchFamily="34" charset="-122"/>
              </a:rPr>
              <a:t>求解带有边界约束的优化问题</a:t>
            </a:r>
            <a:endParaRPr lang="zh-CN" altLang="en-US" b="1" dirty="0">
              <a:solidFill>
                <a:srgbClr val="0070C0"/>
              </a:solidFill>
            </a:endParaRPr>
          </a:p>
        </p:txBody>
      </p:sp>
      <p:sp>
        <p:nvSpPr>
          <p:cNvPr id="14" name="文本框 13">
            <a:extLst>
              <a:ext uri="{FF2B5EF4-FFF2-40B4-BE49-F238E27FC236}">
                <a16:creationId xmlns:a16="http://schemas.microsoft.com/office/drawing/2014/main" id="{DB71A882-62BC-452E-ACB6-AEF1074F1C7E}"/>
              </a:ext>
            </a:extLst>
          </p:cNvPr>
          <p:cNvSpPr txBox="1"/>
          <p:nvPr/>
        </p:nvSpPr>
        <p:spPr>
          <a:xfrm>
            <a:off x="424208" y="2149202"/>
            <a:ext cx="6011206" cy="2427075"/>
          </a:xfrm>
          <a:prstGeom prst="rect">
            <a:avLst/>
          </a:prstGeom>
          <a:noFill/>
        </p:spPr>
        <p:txBody>
          <a:bodyPr wrap="square">
            <a:spAutoFit/>
          </a:bodyPr>
          <a:lstStyle/>
          <a:p>
            <a:pPr marL="457200" indent="-457200">
              <a:lnSpc>
                <a:spcPts val="3100"/>
              </a:lnSpc>
              <a:buFont typeface="+mj-ea"/>
              <a:buAutoNum type="circleNumDbPlain"/>
            </a:pPr>
            <a:r>
              <a:rPr lang="en-US" altLang="zh-CN" sz="1600" dirty="0">
                <a:solidFill>
                  <a:srgbClr val="0070C0"/>
                </a:solidFill>
                <a:latin typeface="Microsoft YaHei" panose="020B0503020204020204" pitchFamily="34" charset="-122"/>
                <a:ea typeface="Microsoft YaHei" panose="020B0503020204020204" pitchFamily="34" charset="-122"/>
              </a:rPr>
              <a:t>x</a:t>
            </a:r>
            <a:r>
              <a:rPr lang="zh-CN" altLang="en-US" sz="1600" dirty="0">
                <a:solidFill>
                  <a:srgbClr val="0070C0"/>
                </a:solidFill>
                <a:latin typeface="Microsoft YaHei" panose="020B0503020204020204" pitchFamily="34" charset="-122"/>
                <a:ea typeface="Microsoft YaHei" panose="020B0503020204020204" pitchFamily="34" charset="-122"/>
              </a:rPr>
              <a:t>：最优解</a:t>
            </a:r>
            <a:r>
              <a:rPr lang="en-US" altLang="zh-CN" sz="1600" dirty="0">
                <a:solidFill>
                  <a:srgbClr val="0070C0"/>
                </a:solidFill>
                <a:latin typeface="Microsoft YaHei" panose="020B0503020204020204" pitchFamily="34" charset="-122"/>
                <a:ea typeface="Microsoft YaHei" panose="020B0503020204020204" pitchFamily="34" charset="-122"/>
              </a:rPr>
              <a:t>,</a:t>
            </a:r>
            <a:r>
              <a:rPr lang="zh-CN" altLang="en-US" sz="1600" dirty="0">
                <a:solidFill>
                  <a:srgbClr val="0070C0"/>
                </a:solidFill>
                <a:latin typeface="Microsoft YaHei" panose="020B0503020204020204" pitchFamily="34" charset="-122"/>
                <a:ea typeface="Microsoft YaHei" panose="020B0503020204020204" pitchFamily="34" charset="-122"/>
              </a:rPr>
              <a:t>即极值点，为实数向量</a:t>
            </a:r>
            <a:r>
              <a:rPr lang="en-US" altLang="zh-CN" sz="1600" dirty="0">
                <a:solidFill>
                  <a:srgbClr val="0070C0"/>
                </a:solidFill>
                <a:latin typeface="Microsoft YaHei" panose="020B0503020204020204" pitchFamily="34" charset="-122"/>
                <a:ea typeface="Microsoft YaHei" panose="020B0503020204020204" pitchFamily="34" charset="-122"/>
              </a:rPr>
              <a:t>x=[x1,x2】</a:t>
            </a:r>
          </a:p>
          <a:p>
            <a:pPr marL="457200" indent="-457200">
              <a:lnSpc>
                <a:spcPts val="3100"/>
              </a:lnSpc>
              <a:buFont typeface="+mj-ea"/>
              <a:buAutoNum type="circleNumDbPlain"/>
            </a:pPr>
            <a:r>
              <a:rPr lang="en-US" altLang="zh-CN" sz="1600" dirty="0" err="1">
                <a:solidFill>
                  <a:srgbClr val="0070C0"/>
                </a:solidFill>
                <a:latin typeface="Microsoft YaHei" panose="020B0503020204020204" pitchFamily="34" charset="-122"/>
                <a:ea typeface="Microsoft YaHei" panose="020B0503020204020204" pitchFamily="34" charset="-122"/>
              </a:rPr>
              <a:t>fval</a:t>
            </a:r>
            <a:r>
              <a:rPr lang="en-US" altLang="zh-CN" sz="1600" dirty="0">
                <a:solidFill>
                  <a:srgbClr val="0070C0"/>
                </a:solidFill>
                <a:latin typeface="Microsoft YaHei" panose="020B0503020204020204" pitchFamily="34" charset="-122"/>
                <a:ea typeface="Microsoft YaHei" panose="020B0503020204020204" pitchFamily="34" charset="-122"/>
              </a:rPr>
              <a:t>:</a:t>
            </a:r>
            <a:r>
              <a:rPr lang="zh-CN" altLang="en-US" sz="1600" dirty="0">
                <a:solidFill>
                  <a:srgbClr val="0070C0"/>
                </a:solidFill>
                <a:latin typeface="Microsoft YaHei" panose="020B0503020204020204" pitchFamily="34" charset="-122"/>
                <a:ea typeface="Microsoft YaHei" panose="020B0503020204020204" pitchFamily="34" charset="-122"/>
              </a:rPr>
              <a:t>极小值，即解</a:t>
            </a:r>
            <a:r>
              <a:rPr lang="en-US" altLang="zh-CN" sz="1600" dirty="0">
                <a:solidFill>
                  <a:srgbClr val="0070C0"/>
                </a:solidFill>
                <a:latin typeface="Microsoft YaHei" panose="020B0503020204020204" pitchFamily="34" charset="-122"/>
                <a:ea typeface="Microsoft YaHei" panose="020B0503020204020204" pitchFamily="34" charset="-122"/>
              </a:rPr>
              <a:t>x</a:t>
            </a:r>
            <a:r>
              <a:rPr lang="zh-CN" altLang="en-US" sz="1600" dirty="0">
                <a:solidFill>
                  <a:srgbClr val="0070C0"/>
                </a:solidFill>
                <a:latin typeface="Microsoft YaHei" panose="020B0503020204020204" pitchFamily="34" charset="-122"/>
                <a:ea typeface="Microsoft YaHei" panose="020B0503020204020204" pitchFamily="34" charset="-122"/>
              </a:rPr>
              <a:t>处的目标函数值，结果</a:t>
            </a:r>
            <a:r>
              <a:rPr lang="en-US" altLang="zh-CN" sz="1600" dirty="0">
                <a:solidFill>
                  <a:srgbClr val="0070C0"/>
                </a:solidFill>
                <a:latin typeface="Microsoft YaHei" panose="020B0503020204020204" pitchFamily="34" charset="-122"/>
                <a:ea typeface="Microsoft YaHei" panose="020B0503020204020204" pitchFamily="34" charset="-122"/>
              </a:rPr>
              <a:t> </a:t>
            </a:r>
            <a:r>
              <a:rPr lang="en-US" altLang="zh-CN" sz="1600" dirty="0" err="1">
                <a:solidFill>
                  <a:srgbClr val="0070C0"/>
                </a:solidFill>
                <a:latin typeface="Microsoft YaHei" panose="020B0503020204020204" pitchFamily="34" charset="-122"/>
                <a:ea typeface="Microsoft YaHei" panose="020B0503020204020204" pitchFamily="34" charset="-122"/>
              </a:rPr>
              <a:t>fval</a:t>
            </a:r>
            <a:r>
              <a:rPr lang="en-US" altLang="zh-CN" sz="1600" dirty="0">
                <a:solidFill>
                  <a:srgbClr val="0070C0"/>
                </a:solidFill>
                <a:latin typeface="Microsoft YaHei" panose="020B0503020204020204" pitchFamily="34" charset="-122"/>
                <a:ea typeface="Microsoft YaHei" panose="020B0503020204020204" pitchFamily="34" charset="-122"/>
              </a:rPr>
              <a:t> =fun</a:t>
            </a:r>
            <a:r>
              <a:rPr lang="zh-CN" altLang="en-US" sz="1600" dirty="0">
                <a:solidFill>
                  <a:srgbClr val="0070C0"/>
                </a:solidFill>
                <a:latin typeface="Microsoft YaHei" panose="020B0503020204020204" pitchFamily="34" charset="-122"/>
                <a:ea typeface="Microsoft YaHei" panose="020B0503020204020204" pitchFamily="34" charset="-122"/>
              </a:rPr>
              <a:t>（</a:t>
            </a:r>
            <a:r>
              <a:rPr lang="en-US" altLang="zh-CN" sz="1600" dirty="0">
                <a:solidFill>
                  <a:srgbClr val="0070C0"/>
                </a:solidFill>
                <a:latin typeface="Microsoft YaHei" panose="020B0503020204020204" pitchFamily="34" charset="-122"/>
                <a:ea typeface="Microsoft YaHei" panose="020B0503020204020204" pitchFamily="34" charset="-122"/>
              </a:rPr>
              <a:t>x</a:t>
            </a:r>
            <a:r>
              <a:rPr lang="zh-CN" altLang="en-US" sz="1600" dirty="0">
                <a:solidFill>
                  <a:srgbClr val="0070C0"/>
                </a:solidFill>
                <a:latin typeface="Microsoft YaHei" panose="020B0503020204020204" pitchFamily="34" charset="-122"/>
                <a:ea typeface="Microsoft YaHei" panose="020B0503020204020204" pitchFamily="34" charset="-122"/>
              </a:rPr>
              <a:t>）</a:t>
            </a:r>
            <a:endParaRPr lang="en-US" altLang="zh-CN" sz="1600" dirty="0">
              <a:solidFill>
                <a:srgbClr val="0070C0"/>
              </a:solidFill>
              <a:latin typeface="Microsoft YaHei" panose="020B0503020204020204" pitchFamily="34" charset="-122"/>
              <a:ea typeface="Microsoft YaHei" panose="020B0503020204020204" pitchFamily="34" charset="-122"/>
            </a:endParaRPr>
          </a:p>
          <a:p>
            <a:pPr marL="457200" indent="-457200">
              <a:lnSpc>
                <a:spcPts val="3100"/>
              </a:lnSpc>
              <a:buFont typeface="+mj-ea"/>
              <a:buAutoNum type="circleNumDbPlain"/>
            </a:pPr>
            <a:r>
              <a:rPr lang="en-US" altLang="zh-CN" sz="1600" dirty="0">
                <a:solidFill>
                  <a:srgbClr val="0070C0"/>
                </a:solidFill>
                <a:latin typeface="Microsoft YaHei" panose="020B0503020204020204" pitchFamily="34" charset="-122"/>
                <a:ea typeface="Microsoft YaHei" panose="020B0503020204020204" pitchFamily="34" charset="-122"/>
              </a:rPr>
              <a:t>Output:</a:t>
            </a:r>
            <a:r>
              <a:rPr lang="zh-CN" altLang="en-US" sz="1600" dirty="0">
                <a:solidFill>
                  <a:srgbClr val="0070C0"/>
                </a:solidFill>
                <a:latin typeface="Microsoft YaHei" panose="020B0503020204020204" pitchFamily="34" charset="-122"/>
                <a:ea typeface="Microsoft YaHei" panose="020B0503020204020204" pitchFamily="34" charset="-122"/>
              </a:rPr>
              <a:t>其他输出信息</a:t>
            </a:r>
            <a:r>
              <a:rPr lang="en-US" altLang="zh-CN" sz="1600" dirty="0">
                <a:solidFill>
                  <a:srgbClr val="0070C0"/>
                </a:solidFill>
                <a:latin typeface="Microsoft YaHei" panose="020B0503020204020204" pitchFamily="34" charset="-122"/>
                <a:ea typeface="Microsoft YaHei" panose="020B0503020204020204" pitchFamily="34" charset="-122"/>
              </a:rPr>
              <a:t>,</a:t>
            </a:r>
            <a:r>
              <a:rPr lang="zh-CN" altLang="en-US" sz="1600" dirty="0">
                <a:solidFill>
                  <a:srgbClr val="0070C0"/>
                </a:solidFill>
                <a:latin typeface="Microsoft YaHei" panose="020B0503020204020204" pitchFamily="34" charset="-122"/>
                <a:ea typeface="Microsoft YaHei" panose="020B0503020204020204" pitchFamily="34" charset="-122"/>
              </a:rPr>
              <a:t>包括 “迭代次数”，“函数评估次数”，“运行时间”，“停止状态”元素</a:t>
            </a:r>
            <a:endParaRPr lang="en-US" altLang="zh-CN" sz="1600" dirty="0">
              <a:solidFill>
                <a:srgbClr val="0070C0"/>
              </a:solidFill>
              <a:latin typeface="Microsoft YaHei" panose="020B0503020204020204" pitchFamily="34" charset="-122"/>
              <a:ea typeface="Microsoft YaHei" panose="020B0503020204020204" pitchFamily="34" charset="-122"/>
            </a:endParaRPr>
          </a:p>
          <a:p>
            <a:pPr marL="457200" indent="-457200">
              <a:lnSpc>
                <a:spcPts val="3100"/>
              </a:lnSpc>
              <a:buFont typeface="+mj-ea"/>
              <a:buAutoNum type="circleNumDbPlain"/>
            </a:pPr>
            <a:r>
              <a:rPr lang="en-US" altLang="zh-CN" sz="1600" dirty="0" err="1">
                <a:solidFill>
                  <a:srgbClr val="0070C0"/>
                </a:solidFill>
                <a:latin typeface="Microsoft YaHei" panose="020B0503020204020204" pitchFamily="34" charset="-122"/>
                <a:ea typeface="Microsoft YaHei" panose="020B0503020204020204" pitchFamily="34" charset="-122"/>
              </a:rPr>
              <a:t>func</a:t>
            </a:r>
            <a:r>
              <a:rPr lang="en-US" altLang="zh-CN" sz="1600" dirty="0">
                <a:solidFill>
                  <a:srgbClr val="0070C0"/>
                </a:solidFill>
                <a:latin typeface="Microsoft YaHei" panose="020B0503020204020204" pitchFamily="34" charset="-122"/>
                <a:ea typeface="Microsoft YaHei" panose="020B0503020204020204" pitchFamily="34" charset="-122"/>
              </a:rPr>
              <a:t> </a:t>
            </a:r>
            <a:r>
              <a:rPr lang="zh-CN" altLang="en-US" sz="1600" dirty="0">
                <a:solidFill>
                  <a:srgbClr val="0070C0"/>
                </a:solidFill>
                <a:latin typeface="Microsoft YaHei" panose="020B0503020204020204" pitchFamily="34" charset="-122"/>
                <a:ea typeface="Microsoft YaHei" panose="020B0503020204020204" pitchFamily="34" charset="-122"/>
              </a:rPr>
              <a:t>：目标函数，</a:t>
            </a:r>
            <a:endParaRPr lang="en-US" altLang="zh-CN" sz="1600" dirty="0">
              <a:solidFill>
                <a:srgbClr val="0070C0"/>
              </a:solidFill>
              <a:latin typeface="Microsoft YaHei" panose="020B0503020204020204" pitchFamily="34" charset="-122"/>
              <a:ea typeface="Microsoft YaHei" panose="020B0503020204020204" pitchFamily="34" charset="-122"/>
            </a:endParaRPr>
          </a:p>
          <a:p>
            <a:pPr marL="457200" indent="-457200">
              <a:lnSpc>
                <a:spcPts val="3100"/>
              </a:lnSpc>
              <a:buFont typeface="+mj-ea"/>
              <a:buAutoNum type="circleNumDbPlain"/>
            </a:pPr>
            <a:r>
              <a:rPr lang="en-US" altLang="zh-CN" sz="1600" dirty="0" err="1">
                <a:solidFill>
                  <a:srgbClr val="0070C0"/>
                </a:solidFill>
                <a:latin typeface="Microsoft YaHei" panose="020B0503020204020204" pitchFamily="34" charset="-122"/>
                <a:ea typeface="Microsoft YaHei" panose="020B0503020204020204" pitchFamily="34" charset="-122"/>
              </a:rPr>
              <a:t>lb</a:t>
            </a:r>
            <a:r>
              <a:rPr lang="en-US" altLang="zh-CN" sz="1600" dirty="0">
                <a:solidFill>
                  <a:srgbClr val="0070C0"/>
                </a:solidFill>
                <a:latin typeface="Microsoft YaHei" panose="020B0503020204020204" pitchFamily="34" charset="-122"/>
                <a:ea typeface="Microsoft YaHei" panose="020B0503020204020204" pitchFamily="34" charset="-122"/>
              </a:rPr>
              <a:t> </a:t>
            </a:r>
            <a:r>
              <a:rPr lang="zh-CN" altLang="en-US" sz="1600" dirty="0">
                <a:solidFill>
                  <a:srgbClr val="0070C0"/>
                </a:solidFill>
                <a:latin typeface="Microsoft YaHei" panose="020B0503020204020204" pitchFamily="34" charset="-122"/>
                <a:ea typeface="Microsoft YaHei" panose="020B0503020204020204" pitchFamily="34" charset="-122"/>
              </a:rPr>
              <a:t>，</a:t>
            </a:r>
            <a:r>
              <a:rPr lang="en-US" altLang="zh-CN" sz="1600" dirty="0" err="1">
                <a:solidFill>
                  <a:srgbClr val="0070C0"/>
                </a:solidFill>
                <a:latin typeface="Microsoft YaHei" panose="020B0503020204020204" pitchFamily="34" charset="-122"/>
                <a:ea typeface="Microsoft YaHei" panose="020B0503020204020204" pitchFamily="34" charset="-122"/>
              </a:rPr>
              <a:t>ub</a:t>
            </a:r>
            <a:r>
              <a:rPr lang="en-US" altLang="zh-CN" sz="1600" dirty="0">
                <a:solidFill>
                  <a:srgbClr val="0070C0"/>
                </a:solidFill>
                <a:latin typeface="Microsoft YaHei" panose="020B0503020204020204" pitchFamily="34" charset="-122"/>
                <a:ea typeface="Microsoft YaHei" panose="020B0503020204020204" pitchFamily="34" charset="-122"/>
              </a:rPr>
              <a:t> </a:t>
            </a:r>
            <a:r>
              <a:rPr lang="zh-CN" altLang="en-US" sz="1600" dirty="0">
                <a:solidFill>
                  <a:srgbClr val="0070C0"/>
                </a:solidFill>
                <a:latin typeface="Microsoft YaHei" panose="020B0503020204020204" pitchFamily="34" charset="-122"/>
                <a:ea typeface="Microsoft YaHei" panose="020B0503020204020204" pitchFamily="34" charset="-122"/>
              </a:rPr>
              <a:t>：为决策变量 </a:t>
            </a:r>
            <a:r>
              <a:rPr lang="en-US" altLang="zh-CN" sz="1600" dirty="0">
                <a:solidFill>
                  <a:srgbClr val="0070C0"/>
                </a:solidFill>
                <a:latin typeface="Microsoft YaHei" panose="020B0503020204020204" pitchFamily="34" charset="-122"/>
                <a:ea typeface="Microsoft YaHei" panose="020B0503020204020204" pitchFamily="34" charset="-122"/>
              </a:rPr>
              <a:t>x </a:t>
            </a:r>
            <a:r>
              <a:rPr lang="zh-CN" altLang="en-US" sz="1600" dirty="0">
                <a:solidFill>
                  <a:srgbClr val="0070C0"/>
                </a:solidFill>
                <a:latin typeface="Microsoft YaHei" panose="020B0503020204020204" pitchFamily="34" charset="-122"/>
                <a:ea typeface="Microsoft YaHei" panose="020B0503020204020204" pitchFamily="34" charset="-122"/>
              </a:rPr>
              <a:t>的上下界</a:t>
            </a:r>
            <a:endParaRPr lang="en-US" altLang="zh-CN" sz="1600" dirty="0">
              <a:solidFill>
                <a:srgbClr val="0070C0"/>
              </a:solidFill>
              <a:latin typeface="Microsoft YaHei" panose="020B0503020204020204" pitchFamily="34" charset="-122"/>
              <a:ea typeface="Microsoft YaHei" panose="020B0503020204020204" pitchFamily="34" charset="-122"/>
            </a:endParaRPr>
          </a:p>
        </p:txBody>
      </p:sp>
      <p:pic>
        <p:nvPicPr>
          <p:cNvPr id="15" name="图片 14">
            <a:extLst>
              <a:ext uri="{FF2B5EF4-FFF2-40B4-BE49-F238E27FC236}">
                <a16:creationId xmlns:a16="http://schemas.microsoft.com/office/drawing/2014/main" id="{9196132F-0821-43C4-A6D3-555BD5D67EB5}"/>
              </a:ext>
            </a:extLst>
          </p:cNvPr>
          <p:cNvPicPr>
            <a:picLocks noChangeAspect="1"/>
          </p:cNvPicPr>
          <p:nvPr/>
        </p:nvPicPr>
        <p:blipFill rotWithShape="1">
          <a:blip r:embed="rId3"/>
          <a:srcRect l="22501" t="24793" r="19522" b="35953"/>
          <a:stretch/>
        </p:blipFill>
        <p:spPr>
          <a:xfrm>
            <a:off x="6202731" y="2355726"/>
            <a:ext cx="2708586" cy="1973154"/>
          </a:xfrm>
          <a:prstGeom prst="rect">
            <a:avLst/>
          </a:prstGeom>
        </p:spPr>
      </p:pic>
      <p:sp>
        <p:nvSpPr>
          <p:cNvPr id="13" name="文本框 12">
            <a:extLst>
              <a:ext uri="{FF2B5EF4-FFF2-40B4-BE49-F238E27FC236}">
                <a16:creationId xmlns:a16="http://schemas.microsoft.com/office/drawing/2014/main" id="{BA045D21-3515-4D62-9BD3-1E6829590889}"/>
              </a:ext>
            </a:extLst>
          </p:cNvPr>
          <p:cNvSpPr txBox="1"/>
          <p:nvPr/>
        </p:nvSpPr>
        <p:spPr>
          <a:xfrm>
            <a:off x="5364088" y="4235443"/>
            <a:ext cx="3672408" cy="307777"/>
          </a:xfrm>
          <a:prstGeom prst="rect">
            <a:avLst/>
          </a:prstGeom>
          <a:noFill/>
        </p:spPr>
        <p:txBody>
          <a:bodyPr wrap="square">
            <a:spAutoFit/>
          </a:bodyPr>
          <a:lstStyle/>
          <a:p>
            <a:r>
              <a:rPr lang="en-US" altLang="zh-CN" sz="1400" dirty="0" err="1">
                <a:solidFill>
                  <a:srgbClr val="FF0000"/>
                </a:solidFill>
              </a:rPr>
              <a:t>fminunc</a:t>
            </a:r>
            <a:r>
              <a:rPr lang="zh-CN" altLang="en-US" sz="1400" dirty="0">
                <a:solidFill>
                  <a:srgbClr val="FF0000"/>
                </a:solidFill>
              </a:rPr>
              <a:t>、</a:t>
            </a:r>
            <a:r>
              <a:rPr lang="en-US" altLang="zh-CN" sz="1400" dirty="0">
                <a:solidFill>
                  <a:srgbClr val="FF0000"/>
                </a:solidFill>
              </a:rPr>
              <a:t>fminsearch</a:t>
            </a:r>
            <a:r>
              <a:rPr lang="zh-CN" altLang="en-US" sz="1400" dirty="0">
                <a:solidFill>
                  <a:srgbClr val="FF0000"/>
                </a:solidFill>
              </a:rPr>
              <a:t>、</a:t>
            </a:r>
            <a:r>
              <a:rPr lang="en-US" altLang="zh-CN" sz="1400" dirty="0" err="1">
                <a:solidFill>
                  <a:srgbClr val="FF0000"/>
                </a:solidFill>
              </a:rPr>
              <a:t>fmincon</a:t>
            </a:r>
            <a:r>
              <a:rPr lang="zh-CN" altLang="en-US" sz="1400" dirty="0">
                <a:solidFill>
                  <a:srgbClr val="FF0000"/>
                </a:solidFill>
              </a:rPr>
              <a:t>相对最优解</a:t>
            </a:r>
            <a:endParaRPr lang="zh-CN" altLang="en-US" sz="1400" dirty="0"/>
          </a:p>
        </p:txBody>
      </p:sp>
      <p:sp>
        <p:nvSpPr>
          <p:cNvPr id="3" name="对话气泡: 圆角矩形 2">
            <a:extLst>
              <a:ext uri="{FF2B5EF4-FFF2-40B4-BE49-F238E27FC236}">
                <a16:creationId xmlns:a16="http://schemas.microsoft.com/office/drawing/2014/main" id="{FE7C8D13-FE25-4D3F-9E10-1388B8833AFF}"/>
              </a:ext>
            </a:extLst>
          </p:cNvPr>
          <p:cNvSpPr/>
          <p:nvPr/>
        </p:nvSpPr>
        <p:spPr bwMode="auto">
          <a:xfrm>
            <a:off x="5364088" y="4235443"/>
            <a:ext cx="3624064" cy="299961"/>
          </a:xfrm>
          <a:prstGeom prst="wedgeRoundRectCallout">
            <a:avLst>
              <a:gd name="adj1" fmla="val 23848"/>
              <a:gd name="adj2" fmla="val -125963"/>
              <a:gd name="adj3" fmla="val 16667"/>
            </a:avLst>
          </a:prstGeom>
          <a:noFill/>
          <a:ln w="127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ndParaRPr>
          </a:p>
        </p:txBody>
      </p:sp>
      <p:sp>
        <p:nvSpPr>
          <p:cNvPr id="16" name="文本框 15">
            <a:extLst>
              <a:ext uri="{FF2B5EF4-FFF2-40B4-BE49-F238E27FC236}">
                <a16:creationId xmlns:a16="http://schemas.microsoft.com/office/drawing/2014/main" id="{1860D69A-D977-4FE9-9D02-0894CC56EF96}"/>
              </a:ext>
            </a:extLst>
          </p:cNvPr>
          <p:cNvSpPr txBox="1"/>
          <p:nvPr/>
        </p:nvSpPr>
        <p:spPr>
          <a:xfrm>
            <a:off x="6732240" y="2197505"/>
            <a:ext cx="1584176" cy="307777"/>
          </a:xfrm>
          <a:prstGeom prst="rect">
            <a:avLst/>
          </a:prstGeom>
          <a:noFill/>
        </p:spPr>
        <p:txBody>
          <a:bodyPr wrap="square">
            <a:spAutoFit/>
          </a:bodyPr>
          <a:lstStyle/>
          <a:p>
            <a:r>
              <a:rPr lang="en-US" altLang="zh-CN" sz="1400" dirty="0">
                <a:solidFill>
                  <a:srgbClr val="FF0000"/>
                </a:solidFill>
              </a:rPr>
              <a:t>Ga</a:t>
            </a:r>
            <a:r>
              <a:rPr lang="zh-CN" altLang="en-US" sz="1400" dirty="0">
                <a:solidFill>
                  <a:srgbClr val="FF0000"/>
                </a:solidFill>
              </a:rPr>
              <a:t>绝对最优解</a:t>
            </a:r>
            <a:endParaRPr lang="zh-CN" altLang="en-US" sz="1400" dirty="0"/>
          </a:p>
        </p:txBody>
      </p:sp>
      <p:sp>
        <p:nvSpPr>
          <p:cNvPr id="17" name="对话气泡: 圆角矩形 16">
            <a:extLst>
              <a:ext uri="{FF2B5EF4-FFF2-40B4-BE49-F238E27FC236}">
                <a16:creationId xmlns:a16="http://schemas.microsoft.com/office/drawing/2014/main" id="{9D7FABBD-C2E4-475A-BF8A-C800FA7EC46F}"/>
              </a:ext>
            </a:extLst>
          </p:cNvPr>
          <p:cNvSpPr/>
          <p:nvPr/>
        </p:nvSpPr>
        <p:spPr bwMode="auto">
          <a:xfrm>
            <a:off x="6750086" y="2214528"/>
            <a:ext cx="1206290" cy="229356"/>
          </a:xfrm>
          <a:prstGeom prst="wedgeRoundRectCallout">
            <a:avLst>
              <a:gd name="adj1" fmla="val -15552"/>
              <a:gd name="adj2" fmla="val 109621"/>
              <a:gd name="adj3" fmla="val 16667"/>
            </a:avLst>
          </a:prstGeom>
          <a:noFill/>
          <a:ln w="127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3927757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p:bldP spid="12" grpId="0"/>
      <p:bldP spid="13" grpId="0"/>
      <p:bldP spid="3" grpId="0" animBg="1"/>
      <p:bldP spid="16" grpId="0"/>
      <p:bldP spid="1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A6A4D8C2-3C5A-4293-BC42-F344D141086C}"/>
              </a:ext>
            </a:extLst>
          </p:cNvPr>
          <p:cNvSpPr txBox="1"/>
          <p:nvPr/>
        </p:nvSpPr>
        <p:spPr>
          <a:xfrm>
            <a:off x="558740" y="1046519"/>
            <a:ext cx="7434551" cy="3604769"/>
          </a:xfrm>
          <a:prstGeom prst="rect">
            <a:avLst/>
          </a:prstGeom>
          <a:noFill/>
        </p:spPr>
        <p:txBody>
          <a:bodyPr wrap="square">
            <a:spAutoFit/>
          </a:bodyPr>
          <a:lstStyle/>
          <a:p>
            <a:pPr>
              <a:lnSpc>
                <a:spcPts val="2500"/>
              </a:lnSpc>
            </a:pPr>
            <a:r>
              <a:rPr lang="en-US" altLang="zh-CN" sz="2000" b="0" dirty="0">
                <a:solidFill>
                  <a:srgbClr val="795E26"/>
                </a:solidFill>
                <a:effectLst/>
                <a:latin typeface="Consolas" panose="020B0609020204030204" pitchFamily="49" charset="0"/>
              </a:rPr>
              <a:t>figure</a:t>
            </a:r>
            <a:r>
              <a:rPr lang="en-US" altLang="zh-CN" sz="2000" b="0" dirty="0">
                <a:solidFill>
                  <a:srgbClr val="000000"/>
                </a:solidFill>
                <a:effectLst/>
                <a:latin typeface="Consolas" panose="020B0609020204030204" pitchFamily="49" charset="0"/>
              </a:rPr>
              <a:t>()</a:t>
            </a:r>
          </a:p>
          <a:p>
            <a:pPr>
              <a:lnSpc>
                <a:spcPts val="2500"/>
              </a:lnSpc>
            </a:pPr>
            <a:r>
              <a:rPr lang="en-US" altLang="zh-CN" sz="2000" b="0" dirty="0" err="1">
                <a:solidFill>
                  <a:srgbClr val="000000"/>
                </a:solidFill>
                <a:effectLst/>
                <a:latin typeface="Consolas" panose="020B0609020204030204" pitchFamily="49" charset="0"/>
              </a:rPr>
              <a:t>x,y</a:t>
            </a:r>
            <a:r>
              <a:rPr lang="en-US" altLang="zh-CN" sz="2000" b="0" dirty="0">
                <a:solidFill>
                  <a:srgbClr val="000000"/>
                </a:solidFill>
                <a:effectLst/>
                <a:latin typeface="Consolas" panose="020B0609020204030204" pitchFamily="49" charset="0"/>
              </a:rPr>
              <a:t>=</a:t>
            </a:r>
            <a:r>
              <a:rPr lang="en-US" altLang="zh-CN" sz="2000" b="0" dirty="0">
                <a:solidFill>
                  <a:srgbClr val="795E26"/>
                </a:solidFill>
                <a:effectLst/>
                <a:latin typeface="Consolas" panose="020B0609020204030204" pitchFamily="49" charset="0"/>
              </a:rPr>
              <a:t>meshgrid2</a:t>
            </a:r>
            <a:r>
              <a:rPr lang="en-US" altLang="zh-CN" sz="2000" b="0" dirty="0">
                <a:solidFill>
                  <a:srgbClr val="000000"/>
                </a:solidFill>
                <a:effectLst/>
                <a:latin typeface="Consolas" panose="020B0609020204030204" pitchFamily="49" charset="0"/>
              </a:rPr>
              <a:t>(-</a:t>
            </a:r>
            <a:r>
              <a:rPr lang="en-US" altLang="zh-CN" sz="2000" b="0" dirty="0">
                <a:solidFill>
                  <a:srgbClr val="098658"/>
                </a:solidFill>
                <a:effectLst/>
                <a:latin typeface="Consolas" panose="020B0609020204030204" pitchFamily="49" charset="0"/>
              </a:rPr>
              <a:t>5</a:t>
            </a:r>
            <a:r>
              <a:rPr lang="en-US" altLang="zh-CN" sz="2000" b="0" dirty="0">
                <a:solidFill>
                  <a:srgbClr val="000000"/>
                </a:solidFill>
                <a:effectLst/>
                <a:latin typeface="Consolas" panose="020B0609020204030204" pitchFamily="49" charset="0"/>
              </a:rPr>
              <a:t>:</a:t>
            </a:r>
            <a:r>
              <a:rPr lang="en-US" altLang="zh-CN" sz="2000" b="0" dirty="0">
                <a:solidFill>
                  <a:srgbClr val="098658"/>
                </a:solidFill>
                <a:effectLst/>
                <a:latin typeface="Consolas" panose="020B0609020204030204" pitchFamily="49" charset="0"/>
              </a:rPr>
              <a:t>0.1</a:t>
            </a:r>
            <a:r>
              <a:rPr lang="en-US" altLang="zh-CN" sz="2000" b="0" dirty="0">
                <a:solidFill>
                  <a:srgbClr val="000000"/>
                </a:solidFill>
                <a:effectLst/>
                <a:latin typeface="Consolas" panose="020B0609020204030204" pitchFamily="49" charset="0"/>
              </a:rPr>
              <a:t>:</a:t>
            </a:r>
            <a:r>
              <a:rPr lang="en-US" altLang="zh-CN" sz="2000" b="0" dirty="0">
                <a:solidFill>
                  <a:srgbClr val="098658"/>
                </a:solidFill>
                <a:effectLst/>
                <a:latin typeface="Consolas" panose="020B0609020204030204" pitchFamily="49" charset="0"/>
              </a:rPr>
              <a:t>5</a:t>
            </a:r>
            <a:r>
              <a:rPr lang="en-US" altLang="zh-CN" sz="2000" b="0" dirty="0">
                <a:solidFill>
                  <a:srgbClr val="000000"/>
                </a:solidFill>
                <a:effectLst/>
                <a:latin typeface="Consolas" panose="020B0609020204030204" pitchFamily="49" charset="0"/>
              </a:rPr>
              <a:t>) </a:t>
            </a:r>
            <a:r>
              <a:rPr lang="en-US" altLang="zh-CN" sz="2000" b="0" dirty="0">
                <a:solidFill>
                  <a:srgbClr val="008000"/>
                </a:solidFill>
                <a:effectLst/>
                <a:latin typeface="Consolas" panose="020B0609020204030204" pitchFamily="49" charset="0"/>
              </a:rPr>
              <a:t>#x</a:t>
            </a:r>
            <a:r>
              <a:rPr lang="zh-CN" altLang="en-US" sz="2000" b="0" dirty="0">
                <a:solidFill>
                  <a:srgbClr val="008000"/>
                </a:solidFill>
                <a:effectLst/>
                <a:latin typeface="Consolas" panose="020B0609020204030204" pitchFamily="49" charset="0"/>
              </a:rPr>
              <a:t>和</a:t>
            </a:r>
            <a:r>
              <a:rPr lang="en-US" altLang="zh-CN" sz="2000" b="0" dirty="0">
                <a:solidFill>
                  <a:srgbClr val="008000"/>
                </a:solidFill>
                <a:effectLst/>
                <a:latin typeface="Consolas" panose="020B0609020204030204" pitchFamily="49" charset="0"/>
              </a:rPr>
              <a:t>y</a:t>
            </a:r>
            <a:r>
              <a:rPr lang="zh-CN" altLang="en-US" sz="2000" b="0" dirty="0">
                <a:solidFill>
                  <a:srgbClr val="008000"/>
                </a:solidFill>
                <a:effectLst/>
                <a:latin typeface="Consolas" panose="020B0609020204030204" pitchFamily="49" charset="0"/>
              </a:rPr>
              <a:t>的网格矩阵</a:t>
            </a:r>
            <a:endParaRPr lang="zh-CN" altLang="en-US" sz="2000" b="0" dirty="0">
              <a:solidFill>
                <a:srgbClr val="000000"/>
              </a:solidFill>
              <a:effectLst/>
              <a:latin typeface="Consolas" panose="020B0609020204030204" pitchFamily="49" charset="0"/>
            </a:endParaRPr>
          </a:p>
          <a:p>
            <a:pPr>
              <a:lnSpc>
                <a:spcPts val="2500"/>
              </a:lnSpc>
            </a:pPr>
            <a:r>
              <a:rPr lang="en-US" altLang="zh-CN" sz="2000" b="0" dirty="0">
                <a:solidFill>
                  <a:srgbClr val="000000"/>
                </a:solidFill>
                <a:effectLst/>
                <a:latin typeface="Consolas" panose="020B0609020204030204" pitchFamily="49" charset="0"/>
              </a:rPr>
              <a:t>z=</a:t>
            </a:r>
            <a:r>
              <a:rPr lang="en-US" altLang="zh-CN" sz="2000" b="0" dirty="0">
                <a:solidFill>
                  <a:srgbClr val="795E26"/>
                </a:solidFill>
                <a:effectLst/>
                <a:latin typeface="Consolas" panose="020B0609020204030204" pitchFamily="49" charset="0"/>
              </a:rPr>
              <a:t>@.</a:t>
            </a:r>
            <a:r>
              <a:rPr lang="en-US" altLang="zh-CN" sz="2000" b="0" dirty="0">
                <a:solidFill>
                  <a:srgbClr val="000000"/>
                </a:solidFill>
                <a:effectLst/>
                <a:latin typeface="Consolas" panose="020B0609020204030204" pitchFamily="49" charset="0"/>
              </a:rPr>
              <a:t> x^</a:t>
            </a:r>
            <a:r>
              <a:rPr lang="en-US" altLang="zh-CN" sz="2000" b="0" dirty="0">
                <a:solidFill>
                  <a:srgbClr val="098658"/>
                </a:solidFill>
                <a:effectLst/>
                <a:latin typeface="Consolas" panose="020B0609020204030204" pitchFamily="49" charset="0"/>
              </a:rPr>
              <a:t>2</a:t>
            </a:r>
            <a:r>
              <a:rPr lang="en-US" altLang="zh-CN" sz="2000" b="0" dirty="0">
                <a:solidFill>
                  <a:srgbClr val="000000"/>
                </a:solidFill>
                <a:effectLst/>
                <a:latin typeface="Consolas" panose="020B0609020204030204" pitchFamily="49" charset="0"/>
              </a:rPr>
              <a:t>+y^</a:t>
            </a:r>
            <a:r>
              <a:rPr lang="en-US" altLang="zh-CN" sz="2000" b="0" dirty="0">
                <a:solidFill>
                  <a:srgbClr val="098658"/>
                </a:solidFill>
                <a:effectLst/>
                <a:latin typeface="Consolas" panose="020B0609020204030204" pitchFamily="49" charset="0"/>
              </a:rPr>
              <a:t>2</a:t>
            </a:r>
            <a:r>
              <a:rPr lang="en-US" altLang="zh-CN" sz="2000" b="0" dirty="0">
                <a:solidFill>
                  <a:srgbClr val="000000"/>
                </a:solidFill>
                <a:effectLst/>
                <a:latin typeface="Consolas" panose="020B0609020204030204" pitchFamily="49" charset="0"/>
              </a:rPr>
              <a:t>+</a:t>
            </a:r>
            <a:r>
              <a:rPr lang="en-US" altLang="zh-CN" sz="2000" b="0" dirty="0">
                <a:solidFill>
                  <a:srgbClr val="098658"/>
                </a:solidFill>
                <a:effectLst/>
                <a:latin typeface="Consolas" panose="020B0609020204030204" pitchFamily="49" charset="0"/>
              </a:rPr>
              <a:t>3</a:t>
            </a:r>
            <a:r>
              <a:rPr lang="en-US" altLang="zh-CN" sz="2000" b="0" dirty="0">
                <a:solidFill>
                  <a:srgbClr val="795E26"/>
                </a:solidFill>
                <a:effectLst/>
                <a:latin typeface="Consolas" panose="020B0609020204030204" pitchFamily="49" charset="0"/>
              </a:rPr>
              <a:t>sin</a:t>
            </a:r>
            <a:r>
              <a:rPr lang="en-US" altLang="zh-CN" sz="2000" b="0" dirty="0">
                <a:solidFill>
                  <a:srgbClr val="000000"/>
                </a:solidFill>
                <a:effectLst/>
                <a:latin typeface="Consolas" panose="020B0609020204030204" pitchFamily="49" charset="0"/>
              </a:rPr>
              <a:t>(</a:t>
            </a:r>
            <a:r>
              <a:rPr lang="en-US" altLang="zh-CN" sz="2000" b="0" dirty="0">
                <a:solidFill>
                  <a:srgbClr val="098658"/>
                </a:solidFill>
                <a:effectLst/>
                <a:latin typeface="Consolas" panose="020B0609020204030204" pitchFamily="49" charset="0"/>
              </a:rPr>
              <a:t>2</a:t>
            </a:r>
            <a:r>
              <a:rPr lang="en-US" altLang="zh-CN" sz="2000" b="0" dirty="0">
                <a:solidFill>
                  <a:srgbClr val="000000"/>
                </a:solidFill>
                <a:effectLst/>
                <a:latin typeface="Consolas" panose="020B0609020204030204" pitchFamily="49" charset="0"/>
              </a:rPr>
              <a:t>x)+</a:t>
            </a:r>
            <a:r>
              <a:rPr lang="en-US" altLang="zh-CN" sz="2000" b="0" dirty="0">
                <a:solidFill>
                  <a:srgbClr val="098658"/>
                </a:solidFill>
                <a:effectLst/>
                <a:latin typeface="Consolas" panose="020B0609020204030204" pitchFamily="49" charset="0"/>
              </a:rPr>
              <a:t>3</a:t>
            </a:r>
            <a:r>
              <a:rPr lang="en-US" altLang="zh-CN" sz="2000" b="0" dirty="0">
                <a:solidFill>
                  <a:srgbClr val="795E26"/>
                </a:solidFill>
                <a:effectLst/>
                <a:latin typeface="Consolas" panose="020B0609020204030204" pitchFamily="49" charset="0"/>
              </a:rPr>
              <a:t>sin</a:t>
            </a:r>
            <a:r>
              <a:rPr lang="en-US" altLang="zh-CN" sz="2000" b="0" dirty="0">
                <a:solidFill>
                  <a:srgbClr val="000000"/>
                </a:solidFill>
                <a:effectLst/>
                <a:latin typeface="Consolas" panose="020B0609020204030204" pitchFamily="49" charset="0"/>
              </a:rPr>
              <a:t>(</a:t>
            </a:r>
            <a:r>
              <a:rPr lang="en-US" altLang="zh-CN" sz="2000" b="0" dirty="0">
                <a:solidFill>
                  <a:srgbClr val="098658"/>
                </a:solidFill>
                <a:effectLst/>
                <a:latin typeface="Consolas" panose="020B0609020204030204" pitchFamily="49" charset="0"/>
              </a:rPr>
              <a:t>2</a:t>
            </a:r>
            <a:r>
              <a:rPr lang="en-US" altLang="zh-CN" sz="2000" b="0" dirty="0">
                <a:solidFill>
                  <a:srgbClr val="000000"/>
                </a:solidFill>
                <a:effectLst/>
                <a:latin typeface="Consolas" panose="020B0609020204030204" pitchFamily="49" charset="0"/>
              </a:rPr>
              <a:t>y) </a:t>
            </a:r>
            <a:r>
              <a:rPr lang="en-US" altLang="zh-CN" sz="2000" b="0" dirty="0">
                <a:solidFill>
                  <a:srgbClr val="008000"/>
                </a:solidFill>
                <a:effectLst/>
                <a:latin typeface="Consolas" panose="020B0609020204030204" pitchFamily="49" charset="0"/>
              </a:rPr>
              <a:t>#</a:t>
            </a:r>
            <a:r>
              <a:rPr lang="zh-CN" altLang="en-US" sz="2000" b="0" dirty="0">
                <a:solidFill>
                  <a:srgbClr val="008000"/>
                </a:solidFill>
                <a:effectLst/>
                <a:latin typeface="Consolas" panose="020B0609020204030204" pitchFamily="49" charset="0"/>
              </a:rPr>
              <a:t>高度网格矩阵</a:t>
            </a:r>
            <a:endParaRPr lang="zh-CN" altLang="en-US" sz="2000" b="0" dirty="0">
              <a:solidFill>
                <a:srgbClr val="000000"/>
              </a:solidFill>
              <a:effectLst/>
              <a:latin typeface="Consolas" panose="020B0609020204030204" pitchFamily="49" charset="0"/>
            </a:endParaRPr>
          </a:p>
          <a:p>
            <a:pPr>
              <a:lnSpc>
                <a:spcPts val="2500"/>
              </a:lnSpc>
            </a:pPr>
            <a:r>
              <a:rPr lang="en-US" altLang="zh-CN" sz="2000" b="0" dirty="0" err="1">
                <a:solidFill>
                  <a:srgbClr val="795E26"/>
                </a:solidFill>
                <a:effectLst/>
                <a:latin typeface="Consolas" panose="020B0609020204030204" pitchFamily="49" charset="0"/>
              </a:rPr>
              <a:t>surfc</a:t>
            </a:r>
            <a:r>
              <a:rPr lang="en-US" altLang="zh-CN" sz="2000" b="0" dirty="0">
                <a:solidFill>
                  <a:srgbClr val="000000"/>
                </a:solidFill>
                <a:effectLst/>
                <a:latin typeface="Consolas" panose="020B0609020204030204" pitchFamily="49" charset="0"/>
              </a:rPr>
              <a:t>(</a:t>
            </a:r>
            <a:r>
              <a:rPr lang="en-US" altLang="zh-CN" sz="2000" b="0" dirty="0" err="1">
                <a:solidFill>
                  <a:srgbClr val="000000"/>
                </a:solidFill>
                <a:effectLst/>
                <a:latin typeface="Consolas" panose="020B0609020204030204" pitchFamily="49" charset="0"/>
              </a:rPr>
              <a:t>x,y,z</a:t>
            </a:r>
            <a:r>
              <a:rPr lang="en-US" altLang="zh-CN" sz="2000" b="0" dirty="0">
                <a:solidFill>
                  <a:srgbClr val="000000"/>
                </a:solidFill>
                <a:effectLst/>
                <a:latin typeface="Consolas" panose="020B0609020204030204" pitchFamily="49" charset="0"/>
              </a:rPr>
              <a:t>) </a:t>
            </a:r>
            <a:r>
              <a:rPr lang="en-US" altLang="zh-CN" sz="2000" b="0" dirty="0">
                <a:solidFill>
                  <a:srgbClr val="008000"/>
                </a:solidFill>
                <a:effectLst/>
                <a:latin typeface="Consolas" panose="020B0609020204030204" pitchFamily="49" charset="0"/>
              </a:rPr>
              <a:t>##</a:t>
            </a:r>
            <a:r>
              <a:rPr lang="zh-CN" altLang="en-US" sz="2000" b="0" dirty="0">
                <a:solidFill>
                  <a:srgbClr val="008000"/>
                </a:solidFill>
                <a:effectLst/>
                <a:latin typeface="Consolas" panose="020B0609020204030204" pitchFamily="49" charset="0"/>
              </a:rPr>
              <a:t>带等高线曲面面</a:t>
            </a:r>
            <a:endParaRPr lang="zh-CN" altLang="en-US" sz="2000" b="0" dirty="0">
              <a:solidFill>
                <a:srgbClr val="000000"/>
              </a:solidFill>
              <a:effectLst/>
              <a:latin typeface="Consolas" panose="020B0609020204030204" pitchFamily="49" charset="0"/>
            </a:endParaRPr>
          </a:p>
          <a:p>
            <a:pPr>
              <a:lnSpc>
                <a:spcPts val="2500"/>
              </a:lnSpc>
            </a:pPr>
            <a:r>
              <a:rPr lang="en-US" altLang="zh-CN" sz="2000" b="0" dirty="0" err="1">
                <a:solidFill>
                  <a:srgbClr val="795E26"/>
                </a:solidFill>
                <a:effectLst/>
                <a:latin typeface="Consolas" panose="020B0609020204030204" pitchFamily="49" charset="0"/>
              </a:rPr>
              <a:t>xlabel</a:t>
            </a:r>
            <a:r>
              <a:rPr lang="en-US" altLang="zh-CN" sz="2000" b="0" dirty="0">
                <a:solidFill>
                  <a:srgbClr val="000000"/>
                </a:solidFill>
                <a:effectLst/>
                <a:latin typeface="Consolas" panose="020B0609020204030204" pitchFamily="49" charset="0"/>
              </a:rPr>
              <a:t>(</a:t>
            </a:r>
            <a:r>
              <a:rPr lang="en-US" altLang="zh-CN" sz="2000" b="0" dirty="0">
                <a:solidFill>
                  <a:srgbClr val="A31515"/>
                </a:solidFill>
                <a:effectLst/>
                <a:latin typeface="Consolas" panose="020B0609020204030204" pitchFamily="49" charset="0"/>
              </a:rPr>
              <a:t>"x"</a:t>
            </a:r>
            <a:r>
              <a:rPr lang="en-US" altLang="zh-CN" sz="2000" b="0" dirty="0">
                <a:solidFill>
                  <a:srgbClr val="000000"/>
                </a:solidFill>
                <a:effectLst/>
                <a:latin typeface="Consolas" panose="020B0609020204030204" pitchFamily="49" charset="0"/>
              </a:rPr>
              <a:t>);</a:t>
            </a:r>
            <a:r>
              <a:rPr lang="en-US" altLang="zh-CN" sz="2000" b="0" dirty="0" err="1">
                <a:solidFill>
                  <a:srgbClr val="795E26"/>
                </a:solidFill>
                <a:effectLst/>
                <a:latin typeface="Consolas" panose="020B0609020204030204" pitchFamily="49" charset="0"/>
              </a:rPr>
              <a:t>ylabel</a:t>
            </a:r>
            <a:r>
              <a:rPr lang="en-US" altLang="zh-CN" sz="2000" b="0" dirty="0">
                <a:solidFill>
                  <a:srgbClr val="000000"/>
                </a:solidFill>
                <a:effectLst/>
                <a:latin typeface="Consolas" panose="020B0609020204030204" pitchFamily="49" charset="0"/>
              </a:rPr>
              <a:t>(</a:t>
            </a:r>
            <a:r>
              <a:rPr lang="en-US" altLang="zh-CN" sz="2000" b="0" dirty="0">
                <a:solidFill>
                  <a:srgbClr val="A31515"/>
                </a:solidFill>
                <a:effectLst/>
                <a:latin typeface="Consolas" panose="020B0609020204030204" pitchFamily="49" charset="0"/>
              </a:rPr>
              <a:t>"y"</a:t>
            </a:r>
            <a:r>
              <a:rPr lang="en-US" altLang="zh-CN" sz="2000" b="0" dirty="0">
                <a:solidFill>
                  <a:srgbClr val="000000"/>
                </a:solidFill>
                <a:effectLst/>
                <a:latin typeface="Consolas" panose="020B0609020204030204" pitchFamily="49" charset="0"/>
              </a:rPr>
              <a:t>);</a:t>
            </a:r>
            <a:r>
              <a:rPr lang="en-US" altLang="zh-CN" sz="2000" b="0" dirty="0" err="1">
                <a:solidFill>
                  <a:srgbClr val="795E26"/>
                </a:solidFill>
                <a:effectLst/>
                <a:latin typeface="Consolas" panose="020B0609020204030204" pitchFamily="49" charset="0"/>
              </a:rPr>
              <a:t>zlabel</a:t>
            </a:r>
            <a:r>
              <a:rPr lang="en-US" altLang="zh-CN" sz="2000" b="0" dirty="0">
                <a:solidFill>
                  <a:srgbClr val="000000"/>
                </a:solidFill>
                <a:effectLst/>
                <a:latin typeface="Consolas" panose="020B0609020204030204" pitchFamily="49" charset="0"/>
              </a:rPr>
              <a:t>(</a:t>
            </a:r>
            <a:r>
              <a:rPr lang="en-US" altLang="zh-CN" sz="2000" b="0" dirty="0">
                <a:solidFill>
                  <a:srgbClr val="A31515"/>
                </a:solidFill>
                <a:effectLst/>
                <a:latin typeface="Consolas" panose="020B0609020204030204" pitchFamily="49" charset="0"/>
              </a:rPr>
              <a:t>"z"</a:t>
            </a:r>
            <a:r>
              <a:rPr lang="en-US" altLang="zh-CN" sz="2000" b="0" dirty="0">
                <a:solidFill>
                  <a:srgbClr val="000000"/>
                </a:solidFill>
                <a:effectLst/>
                <a:latin typeface="Consolas" panose="020B0609020204030204" pitchFamily="49" charset="0"/>
              </a:rPr>
              <a:t>)</a:t>
            </a:r>
          </a:p>
          <a:p>
            <a:pPr>
              <a:lnSpc>
                <a:spcPts val="2500"/>
              </a:lnSpc>
            </a:pPr>
            <a:r>
              <a:rPr lang="en-US" altLang="zh-CN" sz="2000" b="0" dirty="0">
                <a:solidFill>
                  <a:srgbClr val="795E26"/>
                </a:solidFill>
                <a:effectLst/>
                <a:latin typeface="Consolas" panose="020B0609020204030204" pitchFamily="49" charset="0"/>
              </a:rPr>
              <a:t>figure</a:t>
            </a:r>
            <a:r>
              <a:rPr lang="en-US" altLang="zh-CN" sz="2000" b="0" dirty="0">
                <a:solidFill>
                  <a:srgbClr val="000000"/>
                </a:solidFill>
                <a:effectLst/>
                <a:latin typeface="Consolas" panose="020B0609020204030204" pitchFamily="49" charset="0"/>
              </a:rPr>
              <a:t>()</a:t>
            </a:r>
          </a:p>
          <a:p>
            <a:pPr>
              <a:lnSpc>
                <a:spcPts val="2500"/>
              </a:lnSpc>
            </a:pPr>
            <a:r>
              <a:rPr lang="en-US" altLang="zh-CN" sz="2000" b="0" dirty="0">
                <a:solidFill>
                  <a:srgbClr val="008000"/>
                </a:solidFill>
                <a:effectLst/>
                <a:latin typeface="Consolas" panose="020B0609020204030204" pitchFamily="49" charset="0"/>
              </a:rPr>
              <a:t>#</a:t>
            </a:r>
            <a:r>
              <a:rPr lang="zh-CN" altLang="en-US" sz="2000" b="0" dirty="0">
                <a:solidFill>
                  <a:srgbClr val="008000"/>
                </a:solidFill>
                <a:effectLst/>
                <a:latin typeface="Consolas" panose="020B0609020204030204" pitchFamily="49" charset="0"/>
              </a:rPr>
              <a:t>在</a:t>
            </a:r>
            <a:r>
              <a:rPr lang="en-US" altLang="zh-CN" sz="2000" b="0" dirty="0" err="1">
                <a:solidFill>
                  <a:srgbClr val="008000"/>
                </a:solidFill>
                <a:effectLst/>
                <a:latin typeface="Consolas" panose="020B0609020204030204" pitchFamily="49" charset="0"/>
              </a:rPr>
              <a:t>xy</a:t>
            </a:r>
            <a:r>
              <a:rPr lang="zh-CN" altLang="en-US" sz="2000" b="0" dirty="0">
                <a:solidFill>
                  <a:srgbClr val="008000"/>
                </a:solidFill>
                <a:effectLst/>
                <a:latin typeface="Consolas" panose="020B0609020204030204" pitchFamily="49" charset="0"/>
              </a:rPr>
              <a:t>水平面上显示投影的闭合曲线</a:t>
            </a:r>
            <a:endParaRPr lang="zh-CN" altLang="en-US" sz="2000" b="0" dirty="0">
              <a:solidFill>
                <a:srgbClr val="000000"/>
              </a:solidFill>
              <a:effectLst/>
              <a:latin typeface="Consolas" panose="020B0609020204030204" pitchFamily="49" charset="0"/>
            </a:endParaRPr>
          </a:p>
          <a:p>
            <a:pPr>
              <a:lnSpc>
                <a:spcPts val="2500"/>
              </a:lnSpc>
            </a:pPr>
            <a:r>
              <a:rPr lang="en-US" altLang="zh-CN" sz="2000" b="0" dirty="0">
                <a:solidFill>
                  <a:srgbClr val="000000"/>
                </a:solidFill>
                <a:effectLst/>
                <a:latin typeface="Consolas" panose="020B0609020204030204" pitchFamily="49" charset="0"/>
              </a:rPr>
              <a:t>c=</a:t>
            </a:r>
            <a:r>
              <a:rPr lang="en-US" altLang="zh-CN" sz="2000" b="0" dirty="0">
                <a:solidFill>
                  <a:srgbClr val="795E26"/>
                </a:solidFill>
                <a:effectLst/>
                <a:latin typeface="Consolas" panose="020B0609020204030204" pitchFamily="49" charset="0"/>
              </a:rPr>
              <a:t>contour</a:t>
            </a:r>
            <a:r>
              <a:rPr lang="en-US" altLang="zh-CN" sz="2000" b="0" dirty="0">
                <a:solidFill>
                  <a:srgbClr val="000000"/>
                </a:solidFill>
                <a:effectLst/>
                <a:latin typeface="Consolas" panose="020B0609020204030204" pitchFamily="49" charset="0"/>
              </a:rPr>
              <a:t>(x,y,z,</a:t>
            </a:r>
            <a:r>
              <a:rPr lang="en-US" altLang="zh-CN" sz="2000" b="0" dirty="0">
                <a:solidFill>
                  <a:srgbClr val="098658"/>
                </a:solidFill>
                <a:effectLst/>
                <a:latin typeface="Consolas" panose="020B0609020204030204" pitchFamily="49" charset="0"/>
              </a:rPr>
              <a:t>40</a:t>
            </a:r>
            <a:r>
              <a:rPr lang="en-US" altLang="zh-CN" sz="2000" b="0" dirty="0">
                <a:solidFill>
                  <a:srgbClr val="000000"/>
                </a:solidFill>
                <a:effectLst/>
                <a:latin typeface="Consolas" panose="020B0609020204030204" pitchFamily="49" charset="0"/>
              </a:rPr>
              <a:t>)</a:t>
            </a:r>
          </a:p>
          <a:p>
            <a:pPr>
              <a:lnSpc>
                <a:spcPts val="2500"/>
              </a:lnSpc>
            </a:pPr>
            <a:r>
              <a:rPr lang="en-US" altLang="zh-CN" sz="2000" b="0" dirty="0">
                <a:solidFill>
                  <a:srgbClr val="008000"/>
                </a:solidFill>
                <a:effectLst/>
                <a:latin typeface="Consolas" panose="020B0609020204030204" pitchFamily="49" charset="0"/>
              </a:rPr>
              <a:t>#</a:t>
            </a:r>
            <a:r>
              <a:rPr lang="zh-CN" altLang="en-US" sz="2000" b="0" dirty="0">
                <a:solidFill>
                  <a:srgbClr val="008000"/>
                </a:solidFill>
                <a:effectLst/>
                <a:latin typeface="Consolas" panose="020B0609020204030204" pitchFamily="49" charset="0"/>
              </a:rPr>
              <a:t>等高线标识不同闭合曲线对应不同高度</a:t>
            </a:r>
            <a:r>
              <a:rPr lang="en-US" altLang="zh-CN" sz="2000" b="0" dirty="0">
                <a:solidFill>
                  <a:srgbClr val="008000"/>
                </a:solidFill>
                <a:effectLst/>
                <a:latin typeface="Consolas" panose="020B0609020204030204" pitchFamily="49" charset="0"/>
              </a:rPr>
              <a:t>z</a:t>
            </a:r>
            <a:r>
              <a:rPr lang="zh-CN" altLang="en-US" sz="2000" b="0" dirty="0">
                <a:solidFill>
                  <a:srgbClr val="008000"/>
                </a:solidFill>
                <a:effectLst/>
                <a:latin typeface="Consolas" panose="020B0609020204030204" pitchFamily="49" charset="0"/>
              </a:rPr>
              <a:t>值 </a:t>
            </a:r>
            <a:endParaRPr lang="zh-CN" altLang="en-US" sz="2000" b="0" dirty="0">
              <a:solidFill>
                <a:srgbClr val="000000"/>
              </a:solidFill>
              <a:effectLst/>
              <a:latin typeface="Consolas" panose="020B0609020204030204" pitchFamily="49" charset="0"/>
            </a:endParaRPr>
          </a:p>
          <a:p>
            <a:pPr>
              <a:lnSpc>
                <a:spcPts val="2500"/>
              </a:lnSpc>
            </a:pPr>
            <a:r>
              <a:rPr lang="en-US" altLang="zh-CN" sz="2000" b="0" dirty="0" err="1">
                <a:solidFill>
                  <a:srgbClr val="795E26"/>
                </a:solidFill>
                <a:effectLst/>
                <a:latin typeface="Consolas" panose="020B0609020204030204" pitchFamily="49" charset="0"/>
              </a:rPr>
              <a:t>clabel</a:t>
            </a:r>
            <a:r>
              <a:rPr lang="en-US" altLang="zh-CN" sz="2000" b="0" dirty="0">
                <a:solidFill>
                  <a:srgbClr val="000000"/>
                </a:solidFill>
                <a:effectLst/>
                <a:latin typeface="Consolas" panose="020B0609020204030204" pitchFamily="49" charset="0"/>
              </a:rPr>
              <a:t>(c)</a:t>
            </a:r>
          </a:p>
          <a:p>
            <a:pPr>
              <a:lnSpc>
                <a:spcPts val="2500"/>
              </a:lnSpc>
            </a:pPr>
            <a:r>
              <a:rPr lang="en-US" altLang="zh-CN" sz="2000" b="0" dirty="0" err="1">
                <a:solidFill>
                  <a:srgbClr val="795E26"/>
                </a:solidFill>
                <a:effectLst/>
                <a:latin typeface="Consolas" panose="020B0609020204030204" pitchFamily="49" charset="0"/>
              </a:rPr>
              <a:t>xlabel</a:t>
            </a:r>
            <a:r>
              <a:rPr lang="en-US" altLang="zh-CN" sz="2000" b="0" dirty="0">
                <a:solidFill>
                  <a:srgbClr val="000000"/>
                </a:solidFill>
                <a:effectLst/>
                <a:latin typeface="Consolas" panose="020B0609020204030204" pitchFamily="49" charset="0"/>
              </a:rPr>
              <a:t>(</a:t>
            </a:r>
            <a:r>
              <a:rPr lang="en-US" altLang="zh-CN" sz="2000" b="0" dirty="0">
                <a:solidFill>
                  <a:srgbClr val="A31515"/>
                </a:solidFill>
                <a:effectLst/>
                <a:latin typeface="Consolas" panose="020B0609020204030204" pitchFamily="49" charset="0"/>
              </a:rPr>
              <a:t>"x"</a:t>
            </a:r>
            <a:r>
              <a:rPr lang="en-US" altLang="zh-CN" sz="2000" b="0" dirty="0">
                <a:solidFill>
                  <a:srgbClr val="000000"/>
                </a:solidFill>
                <a:effectLst/>
                <a:latin typeface="Consolas" panose="020B0609020204030204" pitchFamily="49" charset="0"/>
              </a:rPr>
              <a:t>);</a:t>
            </a:r>
            <a:r>
              <a:rPr lang="en-US" altLang="zh-CN" sz="2000" b="0" dirty="0" err="1">
                <a:solidFill>
                  <a:srgbClr val="795E26"/>
                </a:solidFill>
                <a:effectLst/>
                <a:latin typeface="Consolas" panose="020B0609020204030204" pitchFamily="49" charset="0"/>
              </a:rPr>
              <a:t>ylabel</a:t>
            </a:r>
            <a:r>
              <a:rPr lang="en-US" altLang="zh-CN" sz="2000" b="0" dirty="0">
                <a:solidFill>
                  <a:srgbClr val="000000"/>
                </a:solidFill>
                <a:effectLst/>
                <a:latin typeface="Consolas" panose="020B0609020204030204" pitchFamily="49" charset="0"/>
              </a:rPr>
              <a:t>(</a:t>
            </a:r>
            <a:r>
              <a:rPr lang="en-US" altLang="zh-CN" sz="2000" b="0" dirty="0">
                <a:solidFill>
                  <a:srgbClr val="A31515"/>
                </a:solidFill>
                <a:effectLst/>
                <a:latin typeface="Consolas" panose="020B0609020204030204" pitchFamily="49" charset="0"/>
              </a:rPr>
              <a:t>"y"</a:t>
            </a:r>
            <a:r>
              <a:rPr lang="en-US" altLang="zh-CN" sz="2000" b="0" dirty="0">
                <a:solidFill>
                  <a:srgbClr val="000000"/>
                </a:solidFill>
                <a:effectLst/>
                <a:latin typeface="Consolas" panose="020B0609020204030204" pitchFamily="49" charset="0"/>
              </a:rPr>
              <a:t>);</a:t>
            </a:r>
          </a:p>
        </p:txBody>
      </p:sp>
      <p:pic>
        <p:nvPicPr>
          <p:cNvPr id="7" name="图片 6">
            <a:extLst>
              <a:ext uri="{FF2B5EF4-FFF2-40B4-BE49-F238E27FC236}">
                <a16:creationId xmlns:a16="http://schemas.microsoft.com/office/drawing/2014/main" id="{8635021D-4E05-4465-9C27-6B035561430E}"/>
              </a:ext>
            </a:extLst>
          </p:cNvPr>
          <p:cNvPicPr>
            <a:picLocks noChangeAspect="1"/>
          </p:cNvPicPr>
          <p:nvPr/>
        </p:nvPicPr>
        <p:blipFill>
          <a:blip r:embed="rId2"/>
          <a:stretch>
            <a:fillRect/>
          </a:stretch>
        </p:blipFill>
        <p:spPr>
          <a:xfrm>
            <a:off x="6172242" y="742243"/>
            <a:ext cx="2746556" cy="1975656"/>
          </a:xfrm>
          <a:prstGeom prst="rect">
            <a:avLst/>
          </a:prstGeom>
        </p:spPr>
      </p:pic>
      <p:pic>
        <p:nvPicPr>
          <p:cNvPr id="9" name="图片 8">
            <a:extLst>
              <a:ext uri="{FF2B5EF4-FFF2-40B4-BE49-F238E27FC236}">
                <a16:creationId xmlns:a16="http://schemas.microsoft.com/office/drawing/2014/main" id="{A6243A57-6766-4A00-8193-94C4AA4D3CBC}"/>
              </a:ext>
            </a:extLst>
          </p:cNvPr>
          <p:cNvPicPr>
            <a:picLocks noChangeAspect="1"/>
          </p:cNvPicPr>
          <p:nvPr/>
        </p:nvPicPr>
        <p:blipFill>
          <a:blip r:embed="rId3"/>
          <a:stretch>
            <a:fillRect/>
          </a:stretch>
        </p:blipFill>
        <p:spPr>
          <a:xfrm>
            <a:off x="6300192" y="2684701"/>
            <a:ext cx="2618606" cy="1944216"/>
          </a:xfrm>
          <a:prstGeom prst="rect">
            <a:avLst/>
          </a:prstGeom>
        </p:spPr>
      </p:pic>
      <p:sp>
        <p:nvSpPr>
          <p:cNvPr id="6" name="标题 1">
            <a:extLst>
              <a:ext uri="{FF2B5EF4-FFF2-40B4-BE49-F238E27FC236}">
                <a16:creationId xmlns:a16="http://schemas.microsoft.com/office/drawing/2014/main" id="{188B8723-8B39-401D-B4FB-3E3377B0F817}"/>
              </a:ext>
            </a:extLst>
          </p:cNvPr>
          <p:cNvSpPr txBox="1">
            <a:spLocks/>
          </p:cNvSpPr>
          <p:nvPr/>
        </p:nvSpPr>
        <p:spPr>
          <a:xfrm>
            <a:off x="827584" y="149344"/>
            <a:ext cx="7713721" cy="438150"/>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800" b="0" dirty="0">
                <a:solidFill>
                  <a:srgbClr val="002060"/>
                </a:solidFill>
                <a:latin typeface="华文楷体" panose="02010600040101010101" pitchFamily="2" charset="-122"/>
                <a:ea typeface="华文楷体" panose="02010600040101010101" pitchFamily="2" charset="-122"/>
              </a:rPr>
              <a:t>§8.4.4</a:t>
            </a:r>
            <a:r>
              <a:rPr lang="zh-CN" altLang="en-US" sz="2800" dirty="0">
                <a:solidFill>
                  <a:srgbClr val="002060"/>
                </a:solidFill>
                <a:latin typeface="华文楷体" panose="02010600040101010101" pitchFamily="2" charset="-122"/>
                <a:ea typeface="华文楷体" panose="02010600040101010101" pitchFamily="2" charset="-122"/>
              </a:rPr>
              <a:t>用遗传算法</a:t>
            </a:r>
            <a:r>
              <a:rPr lang="en-US" altLang="zh-CN" sz="2800" dirty="0">
                <a:solidFill>
                  <a:srgbClr val="002060"/>
                </a:solidFill>
                <a:latin typeface="华文楷体" panose="02010600040101010101" pitchFamily="2" charset="-122"/>
                <a:ea typeface="华文楷体" panose="02010600040101010101" pitchFamily="2" charset="-122"/>
              </a:rPr>
              <a:t>ga</a:t>
            </a:r>
            <a:r>
              <a:rPr lang="zh-CN" altLang="en-US" sz="2800" dirty="0">
                <a:solidFill>
                  <a:srgbClr val="002060"/>
                </a:solidFill>
                <a:latin typeface="华文楷体" panose="02010600040101010101" pitchFamily="2" charset="-122"/>
                <a:ea typeface="华文楷体" panose="02010600040101010101" pitchFamily="2" charset="-122"/>
              </a:rPr>
              <a:t>寻找函数最小值</a:t>
            </a:r>
            <a:r>
              <a:rPr lang="en-US" altLang="zh-CN" sz="2400" b="0" dirty="0">
                <a:solidFill>
                  <a:srgbClr val="FF0000"/>
                </a:solidFill>
                <a:latin typeface="华文楷体" panose="02010600040101010101" pitchFamily="2" charset="-122"/>
                <a:ea typeface="华文楷体" panose="02010600040101010101" pitchFamily="2" charset="-122"/>
              </a:rPr>
              <a:t>——ga</a:t>
            </a:r>
            <a:r>
              <a:rPr lang="zh-CN" altLang="en-US" sz="2400" b="0" dirty="0">
                <a:solidFill>
                  <a:srgbClr val="FF0000"/>
                </a:solidFill>
                <a:latin typeface="华文楷体" panose="02010600040101010101" pitchFamily="2" charset="-122"/>
                <a:ea typeface="华文楷体" panose="02010600040101010101" pitchFamily="2" charset="-122"/>
              </a:rPr>
              <a:t>案例</a:t>
            </a:r>
            <a:endParaRPr lang="zh-CN" altLang="zh-CN" sz="2400" b="0" dirty="0">
              <a:solidFill>
                <a:srgbClr val="FF0000"/>
              </a:solidFill>
              <a:latin typeface="华文楷体" panose="02010600040101010101" pitchFamily="2" charset="-122"/>
              <a:ea typeface="华文楷体" panose="02010600040101010101" pitchFamily="2" charset="-122"/>
            </a:endParaRPr>
          </a:p>
          <a:p>
            <a:endParaRPr lang="zh-CN" altLang="en-US" sz="2800" b="0" kern="0" dirty="0">
              <a:solidFill>
                <a:srgbClr val="FF0000"/>
              </a:solidFill>
              <a:latin typeface="华文楷体" panose="02010600040101010101" pitchFamily="2" charset="-122"/>
              <a:ea typeface="华文楷体" panose="02010600040101010101" pitchFamily="2" charset="-122"/>
            </a:endParaRPr>
          </a:p>
        </p:txBody>
      </p:sp>
      <p:sp>
        <p:nvSpPr>
          <p:cNvPr id="8" name="波形 7">
            <a:extLst>
              <a:ext uri="{FF2B5EF4-FFF2-40B4-BE49-F238E27FC236}">
                <a16:creationId xmlns:a16="http://schemas.microsoft.com/office/drawing/2014/main" id="{ECBE4BF7-FBA5-40F0-9BE3-3048B5893CF5}"/>
              </a:ext>
            </a:extLst>
          </p:cNvPr>
          <p:cNvSpPr/>
          <p:nvPr/>
        </p:nvSpPr>
        <p:spPr>
          <a:xfrm>
            <a:off x="742029" y="715121"/>
            <a:ext cx="817360" cy="33483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charset="-122"/>
                <a:ea typeface="微软雅黑" panose="020B0503020204020204" charset="-122"/>
              </a:rPr>
              <a:t>例84-7</a:t>
            </a:r>
            <a:endParaRPr lang="ko-KR" altLang="en-US" sz="1600" b="1" dirty="0">
              <a:solidFill>
                <a:srgbClr val="FFFF00"/>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10" name="Rectangle 3">
                <a:extLst>
                  <a:ext uri="{FF2B5EF4-FFF2-40B4-BE49-F238E27FC236}">
                    <a16:creationId xmlns:a16="http://schemas.microsoft.com/office/drawing/2014/main" id="{4DD20B33-78ED-4C7B-87A6-236D901F419B}"/>
                  </a:ext>
                </a:extLst>
              </p:cNvPr>
              <p:cNvSpPr>
                <a:spLocks noChangeArrowheads="1"/>
              </p:cNvSpPr>
              <p:nvPr/>
            </p:nvSpPr>
            <p:spPr bwMode="auto">
              <a:xfrm>
                <a:off x="1684171" y="719834"/>
                <a:ext cx="7352325" cy="283219"/>
              </a:xfrm>
              <a:prstGeom prst="rect">
                <a:avLst/>
              </a:prstGeom>
              <a:solidFill>
                <a:schemeClr val="bg1"/>
              </a:solidFill>
              <a:ln>
                <a:noFill/>
              </a:ln>
              <a:effectLst/>
            </p:spPr>
            <p:txBody>
              <a:bodyPr vert="horz" wrap="square" lIns="0" tIns="0" rIns="0" bIns="0" numCol="1" anchor="ctr" anchorCtr="0" compatLnSpc="1">
                <a:prstTxWarp prst="textNoShape">
                  <a:avLst/>
                </a:prstTxWarp>
                <a:spAutoFit/>
              </a:bodyPr>
              <a:lstStyle/>
              <a:p>
                <a:pPr lvl="0" eaLnBrk="0" hangingPunct="0"/>
                <a:r>
                  <a:rPr kumimoji="0" lang="en-US" altLang="zh-CN" b="1" i="0" u="none" strike="noStrike" cap="none" normalizeH="0" baseline="0" dirty="0">
                    <a:ln>
                      <a:noFill/>
                    </a:ln>
                    <a:solidFill>
                      <a:srgbClr val="0070C0"/>
                    </a:solidFill>
                    <a:effectLst/>
                    <a:latin typeface="Arial Unicode MS"/>
                    <a:ea typeface="Menlo"/>
                  </a:rPr>
                  <a:t>ga</a:t>
                </a:r>
                <a:r>
                  <a:rPr kumimoji="0" lang="zh-CN" altLang="en-US" b="1" i="0" u="none" strike="noStrike" cap="none" normalizeH="0" baseline="0" dirty="0">
                    <a:ln>
                      <a:noFill/>
                    </a:ln>
                    <a:solidFill>
                      <a:srgbClr val="0070C0"/>
                    </a:solidFill>
                    <a:effectLst/>
                    <a:latin typeface="Arial Unicode MS"/>
                    <a:ea typeface="Menlo"/>
                  </a:rPr>
                  <a:t>求</a:t>
                </a:r>
                <a14:m>
                  <m:oMath xmlns:m="http://schemas.openxmlformats.org/officeDocument/2006/math">
                    <m:r>
                      <a:rPr lang="en-US" altLang="zh-CN" b="1" i="1">
                        <a:solidFill>
                          <a:srgbClr val="0070C0"/>
                        </a:solidFill>
                        <a:latin typeface="Cambria Math" panose="02040503050406030204" pitchFamily="18" charset="0"/>
                        <a:ea typeface="Menlo"/>
                      </a:rPr>
                      <m:t>𝒇</m:t>
                    </m:r>
                    <m:r>
                      <a:rPr lang="en-US" altLang="zh-CN" b="1" i="1" smtClean="0">
                        <a:solidFill>
                          <a:srgbClr val="0070C0"/>
                        </a:solidFill>
                        <a:latin typeface="Cambria Math" panose="02040503050406030204" pitchFamily="18" charset="0"/>
                        <a:ea typeface="Menlo"/>
                      </a:rPr>
                      <m:t>(</m:t>
                    </m:r>
                    <m:r>
                      <a:rPr lang="en-US" altLang="zh-CN" b="1" i="1" smtClean="0">
                        <a:solidFill>
                          <a:srgbClr val="0070C0"/>
                        </a:solidFill>
                        <a:latin typeface="Cambria Math" panose="02040503050406030204" pitchFamily="18" charset="0"/>
                        <a:ea typeface="Menlo"/>
                      </a:rPr>
                      <m:t>𝒙</m:t>
                    </m:r>
                    <m:r>
                      <a:rPr lang="en-US" altLang="zh-CN" b="1" i="1" smtClean="0">
                        <a:solidFill>
                          <a:srgbClr val="0070C0"/>
                        </a:solidFill>
                        <a:latin typeface="Cambria Math" panose="02040503050406030204" pitchFamily="18" charset="0"/>
                        <a:ea typeface="Menlo"/>
                      </a:rPr>
                      <m:t>,</m:t>
                    </m:r>
                    <m:r>
                      <a:rPr lang="en-US" altLang="zh-CN" b="1" i="1" smtClean="0">
                        <a:solidFill>
                          <a:srgbClr val="0070C0"/>
                        </a:solidFill>
                        <a:latin typeface="Cambria Math" panose="02040503050406030204" pitchFamily="18" charset="0"/>
                        <a:ea typeface="Menlo"/>
                      </a:rPr>
                      <m:t>𝒚</m:t>
                    </m:r>
                    <m:r>
                      <a:rPr lang="en-US" altLang="zh-CN" b="1" i="1" smtClean="0">
                        <a:solidFill>
                          <a:srgbClr val="0070C0"/>
                        </a:solidFill>
                        <a:latin typeface="Cambria Math" panose="02040503050406030204" pitchFamily="18" charset="0"/>
                        <a:ea typeface="Menlo"/>
                      </a:rPr>
                      <m:t>)=</m:t>
                    </m:r>
                    <m:sSup>
                      <m:sSupPr>
                        <m:ctrlPr>
                          <a:rPr lang="en-US" altLang="zh-CN" b="1" i="1">
                            <a:solidFill>
                              <a:srgbClr val="0070C0"/>
                            </a:solidFill>
                            <a:latin typeface="Cambria Math" panose="02040503050406030204" pitchFamily="18" charset="0"/>
                          </a:rPr>
                        </m:ctrlPr>
                      </m:sSupPr>
                      <m:e>
                        <m:r>
                          <a:rPr lang="en-US" altLang="zh-CN" b="1" i="1">
                            <a:solidFill>
                              <a:srgbClr val="0070C0"/>
                            </a:solidFill>
                            <a:latin typeface="Cambria Math" panose="02040503050406030204" pitchFamily="18" charset="0"/>
                          </a:rPr>
                          <m:t>𝒙</m:t>
                        </m:r>
                      </m:e>
                      <m:sup>
                        <m:r>
                          <a:rPr lang="en-US" altLang="zh-CN" b="1" i="1">
                            <a:solidFill>
                              <a:srgbClr val="0070C0"/>
                            </a:solidFill>
                            <a:latin typeface="Cambria Math" panose="02040503050406030204" pitchFamily="18" charset="0"/>
                          </a:rPr>
                          <m:t>𝟐</m:t>
                        </m:r>
                      </m:sup>
                    </m:sSup>
                    <m:r>
                      <a:rPr lang="en-US" altLang="zh-CN" b="1" i="1">
                        <a:solidFill>
                          <a:srgbClr val="0070C0"/>
                        </a:solidFill>
                        <a:latin typeface="Cambria Math" panose="02040503050406030204" pitchFamily="18" charset="0"/>
                      </a:rPr>
                      <m:t>+</m:t>
                    </m:r>
                    <m:sSup>
                      <m:sSupPr>
                        <m:ctrlPr>
                          <a:rPr lang="en-US" altLang="zh-CN" b="1" i="1" smtClean="0">
                            <a:solidFill>
                              <a:srgbClr val="0070C0"/>
                            </a:solidFill>
                            <a:latin typeface="Cambria Math" panose="02040503050406030204" pitchFamily="18" charset="0"/>
                          </a:rPr>
                        </m:ctrlPr>
                      </m:sSupPr>
                      <m:e>
                        <m:r>
                          <a:rPr lang="en-US" altLang="zh-CN" b="1" i="1">
                            <a:solidFill>
                              <a:srgbClr val="0070C0"/>
                            </a:solidFill>
                            <a:latin typeface="Cambria Math" panose="02040503050406030204" pitchFamily="18" charset="0"/>
                          </a:rPr>
                          <m:t>𝒚</m:t>
                        </m:r>
                      </m:e>
                      <m:sup>
                        <m:r>
                          <a:rPr lang="en-US" altLang="zh-CN" b="1" i="1">
                            <a:solidFill>
                              <a:srgbClr val="0070C0"/>
                            </a:solidFill>
                            <a:latin typeface="Cambria Math" panose="02040503050406030204" pitchFamily="18" charset="0"/>
                          </a:rPr>
                          <m:t>𝟐</m:t>
                        </m:r>
                      </m:sup>
                    </m:sSup>
                  </m:oMath>
                </a14:m>
                <a:r>
                  <a:rPr kumimoji="0" lang="en-US" altLang="zh-CN" b="1" i="0" u="none" strike="noStrike" cap="none" normalizeH="0" baseline="0" dirty="0">
                    <a:ln>
                      <a:noFill/>
                    </a:ln>
                    <a:solidFill>
                      <a:srgbClr val="0070C0"/>
                    </a:solidFill>
                    <a:effectLst/>
                    <a:latin typeface="华文楷体" panose="02010600040101010101" pitchFamily="2" charset="-122"/>
                    <a:ea typeface="华文楷体" panose="02010600040101010101" pitchFamily="2" charset="-122"/>
                  </a:rPr>
                  <a:t>+3</a:t>
                </a:r>
                <a14:m>
                  <m:oMath xmlns:m="http://schemas.openxmlformats.org/officeDocument/2006/math">
                    <m:func>
                      <m:funcPr>
                        <m:ctrlPr>
                          <a:rPr lang="en-US" altLang="zh-CN" b="1" i="1" smtClean="0">
                            <a:solidFill>
                              <a:srgbClr val="0070C0"/>
                            </a:solidFill>
                            <a:latin typeface="Cambria Math" panose="02040503050406030204" pitchFamily="18" charset="0"/>
                          </a:rPr>
                        </m:ctrlPr>
                      </m:funcPr>
                      <m:fName>
                        <m:r>
                          <a:rPr lang="en-US" altLang="zh-CN" b="1" i="0">
                            <a:solidFill>
                              <a:srgbClr val="0070C0"/>
                            </a:solidFill>
                            <a:latin typeface="Cambria Math" panose="02040503050406030204" pitchFamily="18" charset="0"/>
                          </a:rPr>
                          <m:t>𝐬𝐢𝐧</m:t>
                        </m:r>
                      </m:fName>
                      <m:e>
                        <m:d>
                          <m:dPr>
                            <m:ctrlPr>
                              <a:rPr lang="en-US" altLang="zh-CN" b="1" i="1" smtClean="0">
                                <a:solidFill>
                                  <a:srgbClr val="0070C0"/>
                                </a:solidFill>
                                <a:latin typeface="Cambria Math" panose="02040503050406030204" pitchFamily="18" charset="0"/>
                              </a:rPr>
                            </m:ctrlPr>
                          </m:dPr>
                          <m:e>
                            <m:r>
                              <a:rPr lang="en-US" altLang="zh-CN" b="1" i="1" smtClean="0">
                                <a:solidFill>
                                  <a:srgbClr val="0070C0"/>
                                </a:solidFill>
                                <a:latin typeface="Cambria Math" panose="02040503050406030204" pitchFamily="18" charset="0"/>
                              </a:rPr>
                              <m:t>𝟐</m:t>
                            </m:r>
                            <m:r>
                              <a:rPr lang="en-US" altLang="zh-CN" b="1" i="1" smtClean="0">
                                <a:solidFill>
                                  <a:srgbClr val="0070C0"/>
                                </a:solidFill>
                                <a:latin typeface="Cambria Math" panose="02040503050406030204" pitchFamily="18" charset="0"/>
                              </a:rPr>
                              <m:t>𝒙</m:t>
                            </m:r>
                          </m:e>
                        </m:d>
                      </m:e>
                    </m:func>
                    <m:r>
                      <a:rPr lang="en-US" altLang="zh-CN" b="1" i="1" smtClean="0">
                        <a:solidFill>
                          <a:srgbClr val="0070C0"/>
                        </a:solidFill>
                        <a:latin typeface="Cambria Math" panose="02040503050406030204" pitchFamily="18" charset="0"/>
                      </a:rPr>
                      <m:t>+</m:t>
                    </m:r>
                    <m:r>
                      <m:rPr>
                        <m:nor/>
                      </m:rPr>
                      <a:rPr lang="en-US" altLang="zh-CN" b="1" dirty="0">
                        <a:solidFill>
                          <a:srgbClr val="0070C0"/>
                        </a:solidFill>
                        <a:latin typeface="华文楷体" panose="02010600040101010101" pitchFamily="2" charset="-122"/>
                        <a:ea typeface="华文楷体" panose="02010600040101010101" pitchFamily="2" charset="-122"/>
                      </a:rPr>
                      <m:t>3</m:t>
                    </m:r>
                    <m:func>
                      <m:funcPr>
                        <m:ctrlPr>
                          <a:rPr lang="en-US" altLang="zh-CN" b="1" i="1">
                            <a:solidFill>
                              <a:srgbClr val="0070C0"/>
                            </a:solidFill>
                            <a:latin typeface="Cambria Math" panose="02040503050406030204" pitchFamily="18" charset="0"/>
                          </a:rPr>
                        </m:ctrlPr>
                      </m:funcPr>
                      <m:fName>
                        <m:r>
                          <a:rPr lang="en-US" altLang="zh-CN" b="1" i="1">
                            <a:solidFill>
                              <a:srgbClr val="0070C0"/>
                            </a:solidFill>
                            <a:latin typeface="Cambria Math" panose="02040503050406030204" pitchFamily="18" charset="0"/>
                          </a:rPr>
                          <m:t>𝒔𝒊𝒏</m:t>
                        </m:r>
                      </m:fName>
                      <m:e>
                        <m:d>
                          <m:dPr>
                            <m:ctrlPr>
                              <a:rPr lang="en-US" altLang="zh-CN" b="1" i="1">
                                <a:solidFill>
                                  <a:srgbClr val="0070C0"/>
                                </a:solidFill>
                                <a:latin typeface="Cambria Math" panose="02040503050406030204" pitchFamily="18" charset="0"/>
                              </a:rPr>
                            </m:ctrlPr>
                          </m:dPr>
                          <m:e>
                            <m:r>
                              <a:rPr lang="en-US" altLang="zh-CN" b="1" i="1" smtClean="0">
                                <a:solidFill>
                                  <a:srgbClr val="0070C0"/>
                                </a:solidFill>
                                <a:latin typeface="Cambria Math" panose="02040503050406030204" pitchFamily="18" charset="0"/>
                              </a:rPr>
                              <m:t>𝟐</m:t>
                            </m:r>
                            <m:r>
                              <a:rPr lang="en-US" altLang="zh-CN" b="1" i="1" smtClean="0">
                                <a:solidFill>
                                  <a:srgbClr val="0070C0"/>
                                </a:solidFill>
                                <a:latin typeface="Cambria Math" panose="02040503050406030204" pitchFamily="18" charset="0"/>
                              </a:rPr>
                              <m:t>𝒚</m:t>
                            </m:r>
                          </m:e>
                        </m:d>
                        <m:r>
                          <a:rPr lang="zh-CN" altLang="en-US" b="1" i="1">
                            <a:solidFill>
                              <a:srgbClr val="0070C0"/>
                            </a:solidFill>
                            <a:latin typeface="Cambria Math" panose="02040503050406030204" pitchFamily="18" charset="0"/>
                          </a:rPr>
                          <m:t>在</m:t>
                        </m:r>
                        <m:r>
                          <a:rPr lang="en-US" altLang="zh-CN" b="1" i="1" smtClean="0">
                            <a:solidFill>
                              <a:srgbClr val="0070C0"/>
                            </a:solidFill>
                            <a:latin typeface="Cambria Math" panose="02040503050406030204" pitchFamily="18" charset="0"/>
                          </a:rPr>
                          <m:t>【</m:t>
                        </m:r>
                        <m:r>
                          <a:rPr lang="en-US" altLang="zh-CN" b="1" i="1" smtClean="0">
                            <a:solidFill>
                              <a:srgbClr val="0070C0"/>
                            </a:solidFill>
                            <a:latin typeface="Cambria Math" panose="02040503050406030204" pitchFamily="18" charset="0"/>
                          </a:rPr>
                          <m:t>−</m:t>
                        </m:r>
                        <m:r>
                          <a:rPr lang="en-US" altLang="zh-CN" b="1" i="1" smtClean="0">
                            <a:solidFill>
                              <a:srgbClr val="0070C0"/>
                            </a:solidFill>
                            <a:latin typeface="Cambria Math" panose="02040503050406030204" pitchFamily="18" charset="0"/>
                          </a:rPr>
                          <m:t>𝟏𝟎𝟎</m:t>
                        </m:r>
                        <m:r>
                          <a:rPr lang="en-US" altLang="zh-CN" b="1" i="1" smtClean="0">
                            <a:solidFill>
                              <a:srgbClr val="0070C0"/>
                            </a:solidFill>
                            <a:latin typeface="Cambria Math" panose="02040503050406030204" pitchFamily="18" charset="0"/>
                          </a:rPr>
                          <m:t>,</m:t>
                        </m:r>
                        <m:r>
                          <a:rPr lang="en-US" altLang="zh-CN" b="1" i="1" smtClean="0">
                            <a:solidFill>
                              <a:srgbClr val="0070C0"/>
                            </a:solidFill>
                            <a:latin typeface="Cambria Math" panose="02040503050406030204" pitchFamily="18" charset="0"/>
                          </a:rPr>
                          <m:t>𝟏𝟎𝟎</m:t>
                        </m:r>
                        <m:r>
                          <a:rPr lang="en-US" altLang="zh-CN" b="1" i="1" smtClean="0">
                            <a:solidFill>
                              <a:srgbClr val="0070C0"/>
                            </a:solidFill>
                            <a:latin typeface="Cambria Math" panose="02040503050406030204" pitchFamily="18" charset="0"/>
                          </a:rPr>
                          <m:t>】</m:t>
                        </m:r>
                        <m:r>
                          <a:rPr lang="en-US" altLang="zh-CN" b="1" i="1" smtClean="0">
                            <a:solidFill>
                              <a:srgbClr val="0070C0"/>
                            </a:solidFill>
                            <a:latin typeface="Cambria Math" panose="02040503050406030204" pitchFamily="18" charset="0"/>
                          </a:rPr>
                          <m:t> </m:t>
                        </m:r>
                        <m:r>
                          <m:rPr>
                            <m:nor/>
                          </m:rPr>
                          <a:rPr lang="zh-CN" altLang="en-US" b="1" dirty="0">
                            <a:solidFill>
                              <a:srgbClr val="0070C0"/>
                            </a:solidFill>
                            <a:latin typeface="Arial Unicode MS"/>
                            <a:ea typeface="Menlo"/>
                          </a:rPr>
                          <m:t>最小值</m:t>
                        </m:r>
                      </m:e>
                    </m:func>
                  </m:oMath>
                </a14:m>
                <a:endParaRPr kumimoji="0" lang="zh-CN" altLang="en-US" b="1" i="0" u="none" strike="noStrike" cap="none" normalizeH="0" baseline="0" dirty="0">
                  <a:ln>
                    <a:noFill/>
                  </a:ln>
                  <a:solidFill>
                    <a:srgbClr val="0070C0"/>
                  </a:solidFill>
                  <a:effectLst/>
                  <a:latin typeface="华文楷体" panose="02010600040101010101" pitchFamily="2" charset="-122"/>
                  <a:ea typeface="华文楷体" panose="02010600040101010101" pitchFamily="2" charset="-122"/>
                </a:endParaRPr>
              </a:p>
            </p:txBody>
          </p:sp>
        </mc:Choice>
        <mc:Fallback>
          <p:sp>
            <p:nvSpPr>
              <p:cNvPr id="10" name="Rectangle 3">
                <a:extLst>
                  <a:ext uri="{FF2B5EF4-FFF2-40B4-BE49-F238E27FC236}">
                    <a16:creationId xmlns:a16="http://schemas.microsoft.com/office/drawing/2014/main" id="{4DD20B33-78ED-4C7B-87A6-236D901F419B}"/>
                  </a:ext>
                </a:extLst>
              </p:cNvPr>
              <p:cNvSpPr>
                <a:spLocks noRot="1" noChangeAspect="1" noMove="1" noResize="1" noEditPoints="1" noAdjustHandles="1" noChangeArrowheads="1" noChangeShapeType="1" noTextEdit="1"/>
              </p:cNvSpPr>
              <p:nvPr/>
            </p:nvSpPr>
            <p:spPr bwMode="auto">
              <a:xfrm>
                <a:off x="1684171" y="719834"/>
                <a:ext cx="7352325" cy="283219"/>
              </a:xfrm>
              <a:prstGeom prst="rect">
                <a:avLst/>
              </a:prstGeom>
              <a:blipFill>
                <a:blip r:embed="rId4"/>
                <a:stretch>
                  <a:fillRect l="-1907" t="-27660" b="-51064"/>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10878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DA433DE2-7CCA-4C61-BC39-12B033D4F1A1}"/>
              </a:ext>
            </a:extLst>
          </p:cNvPr>
          <p:cNvSpPr txBox="1">
            <a:spLocks/>
          </p:cNvSpPr>
          <p:nvPr/>
        </p:nvSpPr>
        <p:spPr>
          <a:xfrm>
            <a:off x="827584" y="149344"/>
            <a:ext cx="7713721" cy="438150"/>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800" b="0" dirty="0">
                <a:solidFill>
                  <a:srgbClr val="002060"/>
                </a:solidFill>
                <a:latin typeface="华文楷体" panose="02010600040101010101" pitchFamily="2" charset="-122"/>
                <a:ea typeface="华文楷体" panose="02010600040101010101" pitchFamily="2" charset="-122"/>
              </a:rPr>
              <a:t>§8.4.4</a:t>
            </a:r>
            <a:r>
              <a:rPr lang="zh-CN" altLang="en-US" sz="2800" dirty="0">
                <a:solidFill>
                  <a:srgbClr val="002060"/>
                </a:solidFill>
                <a:latin typeface="华文楷体" panose="02010600040101010101" pitchFamily="2" charset="-122"/>
                <a:ea typeface="华文楷体" panose="02010600040101010101" pitchFamily="2" charset="-122"/>
              </a:rPr>
              <a:t>用遗传算法</a:t>
            </a:r>
            <a:r>
              <a:rPr lang="en-US" altLang="zh-CN" sz="2800" dirty="0">
                <a:solidFill>
                  <a:srgbClr val="002060"/>
                </a:solidFill>
                <a:latin typeface="华文楷体" panose="02010600040101010101" pitchFamily="2" charset="-122"/>
                <a:ea typeface="华文楷体" panose="02010600040101010101" pitchFamily="2" charset="-122"/>
              </a:rPr>
              <a:t>ga</a:t>
            </a:r>
            <a:r>
              <a:rPr lang="zh-CN" altLang="en-US" sz="2800" dirty="0">
                <a:solidFill>
                  <a:srgbClr val="002060"/>
                </a:solidFill>
                <a:latin typeface="华文楷体" panose="02010600040101010101" pitchFamily="2" charset="-122"/>
                <a:ea typeface="华文楷体" panose="02010600040101010101" pitchFamily="2" charset="-122"/>
              </a:rPr>
              <a:t>寻找函数最小值</a:t>
            </a:r>
            <a:r>
              <a:rPr lang="en-US" altLang="zh-CN" sz="2400" b="0" dirty="0">
                <a:solidFill>
                  <a:srgbClr val="FF0000"/>
                </a:solidFill>
                <a:latin typeface="华文楷体" panose="02010600040101010101" pitchFamily="2" charset="-122"/>
                <a:ea typeface="华文楷体" panose="02010600040101010101" pitchFamily="2" charset="-122"/>
              </a:rPr>
              <a:t>——ga</a:t>
            </a:r>
            <a:r>
              <a:rPr lang="zh-CN" altLang="en-US" sz="2400" b="0" dirty="0">
                <a:solidFill>
                  <a:srgbClr val="FF0000"/>
                </a:solidFill>
                <a:latin typeface="华文楷体" panose="02010600040101010101" pitchFamily="2" charset="-122"/>
                <a:ea typeface="华文楷体" panose="02010600040101010101" pitchFamily="2" charset="-122"/>
              </a:rPr>
              <a:t>案例</a:t>
            </a:r>
            <a:endParaRPr lang="zh-CN" altLang="zh-CN" sz="2400" b="0" dirty="0">
              <a:solidFill>
                <a:srgbClr val="FF0000"/>
              </a:solidFill>
              <a:latin typeface="华文楷体" panose="02010600040101010101" pitchFamily="2" charset="-122"/>
              <a:ea typeface="华文楷体" panose="02010600040101010101" pitchFamily="2" charset="-122"/>
            </a:endParaRPr>
          </a:p>
          <a:p>
            <a:endParaRPr lang="zh-CN" altLang="en-US" sz="2800" b="0" kern="0" dirty="0">
              <a:solidFill>
                <a:srgbClr val="FF0000"/>
              </a:solidFill>
              <a:latin typeface="华文楷体" panose="02010600040101010101" pitchFamily="2" charset="-122"/>
              <a:ea typeface="华文楷体" panose="02010600040101010101" pitchFamily="2" charset="-122"/>
            </a:endParaRPr>
          </a:p>
        </p:txBody>
      </p:sp>
      <p:sp>
        <p:nvSpPr>
          <p:cNvPr id="8" name="文本框 7">
            <a:extLst>
              <a:ext uri="{FF2B5EF4-FFF2-40B4-BE49-F238E27FC236}">
                <a16:creationId xmlns:a16="http://schemas.microsoft.com/office/drawing/2014/main" id="{CD69A897-BCBB-42E0-9975-E6CA45A18949}"/>
              </a:ext>
            </a:extLst>
          </p:cNvPr>
          <p:cNvSpPr txBox="1"/>
          <p:nvPr/>
        </p:nvSpPr>
        <p:spPr>
          <a:xfrm>
            <a:off x="676016" y="1024148"/>
            <a:ext cx="7305754" cy="3537443"/>
          </a:xfrm>
          <a:prstGeom prst="rect">
            <a:avLst/>
          </a:prstGeom>
          <a:noFill/>
        </p:spPr>
        <p:txBody>
          <a:bodyPr wrap="square">
            <a:spAutoFit/>
          </a:bodyPr>
          <a:lstStyle/>
          <a:p>
            <a:pPr>
              <a:lnSpc>
                <a:spcPts val="3400"/>
              </a:lnSpc>
            </a:pPr>
            <a:r>
              <a:rPr lang="en-US" altLang="zh-CN" sz="2000" b="0" dirty="0">
                <a:solidFill>
                  <a:srgbClr val="AF00DB"/>
                </a:solidFill>
                <a:effectLst/>
                <a:latin typeface="Consolas" panose="020B0609020204030204" pitchFamily="49" charset="0"/>
              </a:rPr>
              <a:t>using</a:t>
            </a:r>
            <a:r>
              <a:rPr lang="en-US" altLang="zh-CN" sz="2000" b="0" dirty="0">
                <a:solidFill>
                  <a:srgbClr val="000000"/>
                </a:solidFill>
                <a:effectLst/>
                <a:latin typeface="Consolas" panose="020B0609020204030204" pitchFamily="49" charset="0"/>
              </a:rPr>
              <a:t> </a:t>
            </a:r>
            <a:r>
              <a:rPr lang="en-US" altLang="zh-CN" sz="2000" b="0" dirty="0" err="1">
                <a:solidFill>
                  <a:srgbClr val="000000"/>
                </a:solidFill>
                <a:effectLst/>
                <a:latin typeface="Consolas" panose="020B0609020204030204" pitchFamily="49" charset="0"/>
              </a:rPr>
              <a:t>TyGlobalOptimization</a:t>
            </a:r>
            <a:endParaRPr lang="en-US" altLang="zh-CN" sz="2000" b="0" dirty="0">
              <a:solidFill>
                <a:srgbClr val="000000"/>
              </a:solidFill>
              <a:effectLst/>
              <a:latin typeface="Consolas" panose="020B0609020204030204" pitchFamily="49" charset="0"/>
            </a:endParaRPr>
          </a:p>
          <a:p>
            <a:pPr>
              <a:lnSpc>
                <a:spcPts val="3400"/>
              </a:lnSpc>
            </a:pPr>
            <a:r>
              <a:rPr lang="en-US" altLang="zh-CN" sz="2000" b="0" dirty="0" err="1">
                <a:solidFill>
                  <a:srgbClr val="795E26"/>
                </a:solidFill>
                <a:effectLst/>
                <a:latin typeface="Consolas" panose="020B0609020204030204" pitchFamily="49" charset="0"/>
              </a:rPr>
              <a:t>fxy</a:t>
            </a:r>
            <a:r>
              <a:rPr lang="en-US" altLang="zh-CN" sz="2000" b="0" dirty="0">
                <a:solidFill>
                  <a:srgbClr val="000000"/>
                </a:solidFill>
                <a:effectLst/>
                <a:latin typeface="Consolas" panose="020B0609020204030204" pitchFamily="49" charset="0"/>
              </a:rPr>
              <a:t>(</a:t>
            </a:r>
            <a:r>
              <a:rPr lang="en-US" altLang="zh-CN" sz="2000" b="0" dirty="0" err="1">
                <a:solidFill>
                  <a:srgbClr val="000000"/>
                </a:solidFill>
                <a:effectLst/>
                <a:latin typeface="Consolas" panose="020B0609020204030204" pitchFamily="49" charset="0"/>
              </a:rPr>
              <a:t>xy</a:t>
            </a:r>
            <a:r>
              <a:rPr lang="en-US" altLang="zh-CN" sz="2000" b="0" dirty="0">
                <a:solidFill>
                  <a:srgbClr val="000000"/>
                </a:solidFill>
                <a:effectLst/>
                <a:latin typeface="Consolas" panose="020B0609020204030204" pitchFamily="49" charset="0"/>
              </a:rPr>
              <a:t>)=</a:t>
            </a:r>
            <a:r>
              <a:rPr lang="en-US" altLang="zh-CN" sz="2000" b="0" dirty="0" err="1">
                <a:solidFill>
                  <a:srgbClr val="000000"/>
                </a:solidFill>
                <a:effectLst/>
                <a:latin typeface="Consolas" panose="020B0609020204030204" pitchFamily="49" charset="0"/>
              </a:rPr>
              <a:t>xy</a:t>
            </a:r>
            <a:r>
              <a:rPr lang="en-US" altLang="zh-CN" sz="2000" b="0" dirty="0">
                <a:solidFill>
                  <a:srgbClr val="000000"/>
                </a:solidFill>
                <a:effectLst/>
                <a:latin typeface="Consolas" panose="020B0609020204030204" pitchFamily="49" charset="0"/>
              </a:rPr>
              <a:t>[</a:t>
            </a:r>
            <a:r>
              <a:rPr lang="en-US" altLang="zh-CN" sz="2000" b="0" dirty="0">
                <a:solidFill>
                  <a:srgbClr val="098658"/>
                </a:solidFill>
                <a:effectLst/>
                <a:latin typeface="Consolas" panose="020B0609020204030204" pitchFamily="49" charset="0"/>
              </a:rPr>
              <a:t>1</a:t>
            </a:r>
            <a:r>
              <a:rPr lang="en-US" altLang="zh-CN" sz="2000" b="0" dirty="0">
                <a:solidFill>
                  <a:srgbClr val="000000"/>
                </a:solidFill>
                <a:effectLst/>
                <a:latin typeface="Consolas" panose="020B0609020204030204" pitchFamily="49" charset="0"/>
              </a:rPr>
              <a:t>]^</a:t>
            </a:r>
            <a:r>
              <a:rPr lang="en-US" altLang="zh-CN" sz="2000" b="0" dirty="0">
                <a:solidFill>
                  <a:srgbClr val="098658"/>
                </a:solidFill>
                <a:effectLst/>
                <a:latin typeface="Consolas" panose="020B0609020204030204" pitchFamily="49" charset="0"/>
              </a:rPr>
              <a:t>2</a:t>
            </a:r>
            <a:r>
              <a:rPr lang="en-US" altLang="zh-CN" sz="2000" b="0" dirty="0">
                <a:solidFill>
                  <a:srgbClr val="000000"/>
                </a:solidFill>
                <a:effectLst/>
                <a:latin typeface="Consolas" panose="020B0609020204030204" pitchFamily="49" charset="0"/>
              </a:rPr>
              <a:t>+xy[</a:t>
            </a:r>
            <a:r>
              <a:rPr lang="en-US" altLang="zh-CN" sz="2000" b="0" dirty="0">
                <a:solidFill>
                  <a:srgbClr val="098658"/>
                </a:solidFill>
                <a:effectLst/>
                <a:latin typeface="Consolas" panose="020B0609020204030204" pitchFamily="49" charset="0"/>
              </a:rPr>
              <a:t>2</a:t>
            </a:r>
            <a:r>
              <a:rPr lang="en-US" altLang="zh-CN" sz="2000" b="0" dirty="0">
                <a:solidFill>
                  <a:srgbClr val="000000"/>
                </a:solidFill>
                <a:effectLst/>
                <a:latin typeface="Consolas" panose="020B0609020204030204" pitchFamily="49" charset="0"/>
              </a:rPr>
              <a:t>]^</a:t>
            </a:r>
            <a:r>
              <a:rPr lang="en-US" altLang="zh-CN" sz="2000" b="0" dirty="0">
                <a:solidFill>
                  <a:srgbClr val="098658"/>
                </a:solidFill>
                <a:effectLst/>
                <a:latin typeface="Consolas" panose="020B0609020204030204" pitchFamily="49" charset="0"/>
              </a:rPr>
              <a:t>2</a:t>
            </a:r>
            <a:r>
              <a:rPr lang="en-US" altLang="zh-CN" sz="2000" b="0" dirty="0">
                <a:solidFill>
                  <a:srgbClr val="000000"/>
                </a:solidFill>
                <a:effectLst/>
                <a:latin typeface="Consolas" panose="020B0609020204030204" pitchFamily="49" charset="0"/>
              </a:rPr>
              <a:t>+</a:t>
            </a:r>
            <a:r>
              <a:rPr lang="en-US" altLang="zh-CN" sz="2000" b="0" dirty="0">
                <a:solidFill>
                  <a:srgbClr val="098658"/>
                </a:solidFill>
                <a:effectLst/>
                <a:latin typeface="Consolas" panose="020B0609020204030204" pitchFamily="49" charset="0"/>
              </a:rPr>
              <a:t>3</a:t>
            </a:r>
            <a:r>
              <a:rPr lang="en-US" altLang="zh-CN" sz="2000" b="0" dirty="0">
                <a:solidFill>
                  <a:srgbClr val="795E26"/>
                </a:solidFill>
                <a:effectLst/>
                <a:latin typeface="Consolas" panose="020B0609020204030204" pitchFamily="49" charset="0"/>
              </a:rPr>
              <a:t>sin</a:t>
            </a:r>
            <a:r>
              <a:rPr lang="en-US" altLang="zh-CN" sz="2000" b="0" dirty="0">
                <a:solidFill>
                  <a:srgbClr val="000000"/>
                </a:solidFill>
                <a:effectLst/>
                <a:latin typeface="Consolas" panose="020B0609020204030204" pitchFamily="49" charset="0"/>
              </a:rPr>
              <a:t>(</a:t>
            </a:r>
            <a:r>
              <a:rPr lang="en-US" altLang="zh-CN" sz="2000" b="0" dirty="0">
                <a:solidFill>
                  <a:srgbClr val="098658"/>
                </a:solidFill>
                <a:effectLst/>
                <a:latin typeface="Consolas" panose="020B0609020204030204" pitchFamily="49" charset="0"/>
              </a:rPr>
              <a:t>2</a:t>
            </a:r>
            <a:r>
              <a:rPr lang="en-US" altLang="zh-CN" sz="2000" b="0" dirty="0">
                <a:solidFill>
                  <a:srgbClr val="000000"/>
                </a:solidFill>
                <a:effectLst/>
                <a:latin typeface="Consolas" panose="020B0609020204030204" pitchFamily="49" charset="0"/>
              </a:rPr>
              <a:t>xy[</a:t>
            </a:r>
            <a:r>
              <a:rPr lang="en-US" altLang="zh-CN" sz="2000" b="0" dirty="0">
                <a:solidFill>
                  <a:srgbClr val="098658"/>
                </a:solidFill>
                <a:effectLst/>
                <a:latin typeface="Consolas" panose="020B0609020204030204" pitchFamily="49" charset="0"/>
              </a:rPr>
              <a:t>1</a:t>
            </a:r>
            <a:r>
              <a:rPr lang="en-US" altLang="zh-CN" sz="2000" b="0" dirty="0">
                <a:solidFill>
                  <a:srgbClr val="000000"/>
                </a:solidFill>
                <a:effectLst/>
                <a:latin typeface="Consolas" panose="020B0609020204030204" pitchFamily="49" charset="0"/>
              </a:rPr>
              <a:t>])+</a:t>
            </a:r>
            <a:r>
              <a:rPr lang="en-US" altLang="zh-CN" sz="2000" b="0" dirty="0">
                <a:solidFill>
                  <a:srgbClr val="098658"/>
                </a:solidFill>
                <a:effectLst/>
                <a:latin typeface="Consolas" panose="020B0609020204030204" pitchFamily="49" charset="0"/>
              </a:rPr>
              <a:t>3</a:t>
            </a:r>
            <a:r>
              <a:rPr lang="en-US" altLang="zh-CN" sz="2000" b="0" dirty="0">
                <a:solidFill>
                  <a:srgbClr val="795E26"/>
                </a:solidFill>
                <a:effectLst/>
                <a:latin typeface="Consolas" panose="020B0609020204030204" pitchFamily="49" charset="0"/>
              </a:rPr>
              <a:t>sin</a:t>
            </a:r>
            <a:r>
              <a:rPr lang="en-US" altLang="zh-CN" sz="2000" b="0" dirty="0">
                <a:solidFill>
                  <a:srgbClr val="000000"/>
                </a:solidFill>
                <a:effectLst/>
                <a:latin typeface="Consolas" panose="020B0609020204030204" pitchFamily="49" charset="0"/>
              </a:rPr>
              <a:t>(</a:t>
            </a:r>
            <a:r>
              <a:rPr lang="en-US" altLang="zh-CN" sz="2000" b="0" dirty="0">
                <a:solidFill>
                  <a:srgbClr val="098658"/>
                </a:solidFill>
                <a:effectLst/>
                <a:latin typeface="Consolas" panose="020B0609020204030204" pitchFamily="49" charset="0"/>
              </a:rPr>
              <a:t>2</a:t>
            </a:r>
            <a:r>
              <a:rPr lang="en-US" altLang="zh-CN" sz="2000" b="0" dirty="0">
                <a:solidFill>
                  <a:srgbClr val="000000"/>
                </a:solidFill>
                <a:effectLst/>
                <a:latin typeface="Consolas" panose="020B0609020204030204" pitchFamily="49" charset="0"/>
              </a:rPr>
              <a:t>xy[</a:t>
            </a:r>
            <a:r>
              <a:rPr lang="en-US" altLang="zh-CN" sz="2000" b="0" dirty="0">
                <a:solidFill>
                  <a:srgbClr val="098658"/>
                </a:solidFill>
                <a:effectLst/>
                <a:latin typeface="Consolas" panose="020B0609020204030204" pitchFamily="49" charset="0"/>
              </a:rPr>
              <a:t>2</a:t>
            </a:r>
            <a:r>
              <a:rPr lang="en-US" altLang="zh-CN" sz="2000" b="0" dirty="0">
                <a:solidFill>
                  <a:srgbClr val="000000"/>
                </a:solidFill>
                <a:effectLst/>
                <a:latin typeface="Consolas" panose="020B0609020204030204" pitchFamily="49" charset="0"/>
              </a:rPr>
              <a:t>]) </a:t>
            </a:r>
          </a:p>
          <a:p>
            <a:pPr>
              <a:lnSpc>
                <a:spcPts val="3400"/>
              </a:lnSpc>
            </a:pPr>
            <a:r>
              <a:rPr lang="en-US" altLang="zh-CN" sz="2000" b="0" dirty="0" err="1">
                <a:solidFill>
                  <a:srgbClr val="000000"/>
                </a:solidFill>
                <a:effectLst/>
                <a:latin typeface="Consolas" panose="020B0609020204030204" pitchFamily="49" charset="0"/>
              </a:rPr>
              <a:t>lb</a:t>
            </a:r>
            <a:r>
              <a:rPr lang="en-US" altLang="zh-CN" sz="2000" b="0" dirty="0">
                <a:solidFill>
                  <a:srgbClr val="000000"/>
                </a:solidFill>
                <a:effectLst/>
                <a:latin typeface="Consolas" panose="020B0609020204030204" pitchFamily="49" charset="0"/>
              </a:rPr>
              <a:t>=[-</a:t>
            </a:r>
            <a:r>
              <a:rPr lang="en-US" altLang="zh-CN" sz="2000" b="0" dirty="0">
                <a:solidFill>
                  <a:srgbClr val="098658"/>
                </a:solidFill>
                <a:effectLst/>
                <a:latin typeface="Consolas" panose="020B0609020204030204" pitchFamily="49" charset="0"/>
              </a:rPr>
              <a:t>100</a:t>
            </a:r>
            <a:r>
              <a:rPr lang="en-US" altLang="zh-CN" sz="2000" b="0" dirty="0">
                <a:solidFill>
                  <a:srgbClr val="000000"/>
                </a:solidFill>
                <a:effectLst/>
                <a:latin typeface="Consolas" panose="020B0609020204030204" pitchFamily="49" charset="0"/>
              </a:rPr>
              <a:t>, -</a:t>
            </a:r>
            <a:r>
              <a:rPr lang="en-US" altLang="zh-CN" sz="2000" b="0" dirty="0">
                <a:solidFill>
                  <a:srgbClr val="098658"/>
                </a:solidFill>
                <a:effectLst/>
                <a:latin typeface="Consolas" panose="020B0609020204030204" pitchFamily="49" charset="0"/>
              </a:rPr>
              <a:t>100</a:t>
            </a:r>
            <a:r>
              <a:rPr lang="en-US" altLang="zh-CN" sz="2000" b="0" dirty="0">
                <a:solidFill>
                  <a:srgbClr val="000000"/>
                </a:solidFill>
                <a:effectLst/>
                <a:latin typeface="Consolas" panose="020B0609020204030204" pitchFamily="49" charset="0"/>
              </a:rPr>
              <a:t>]</a:t>
            </a:r>
          </a:p>
          <a:p>
            <a:pPr>
              <a:lnSpc>
                <a:spcPts val="3400"/>
              </a:lnSpc>
            </a:pPr>
            <a:r>
              <a:rPr lang="en-US" altLang="zh-CN" sz="2000" b="0" dirty="0" err="1">
                <a:solidFill>
                  <a:srgbClr val="000000"/>
                </a:solidFill>
                <a:effectLst/>
                <a:latin typeface="Consolas" panose="020B0609020204030204" pitchFamily="49" charset="0"/>
              </a:rPr>
              <a:t>ub</a:t>
            </a:r>
            <a:r>
              <a:rPr lang="en-US" altLang="zh-CN" sz="2000" b="0" dirty="0">
                <a:solidFill>
                  <a:srgbClr val="000000"/>
                </a:solidFill>
                <a:effectLst/>
                <a:latin typeface="Consolas" panose="020B0609020204030204" pitchFamily="49" charset="0"/>
              </a:rPr>
              <a:t>=[</a:t>
            </a:r>
            <a:r>
              <a:rPr lang="en-US" altLang="zh-CN" sz="2000" b="0" dirty="0">
                <a:solidFill>
                  <a:srgbClr val="098658"/>
                </a:solidFill>
                <a:effectLst/>
                <a:latin typeface="Consolas" panose="020B0609020204030204" pitchFamily="49" charset="0"/>
              </a:rPr>
              <a:t>100</a:t>
            </a:r>
            <a:r>
              <a:rPr lang="en-US" altLang="zh-CN" sz="2000" b="0" dirty="0">
                <a:solidFill>
                  <a:srgbClr val="000000"/>
                </a:solidFill>
                <a:effectLst/>
                <a:latin typeface="Consolas" panose="020B0609020204030204" pitchFamily="49" charset="0"/>
              </a:rPr>
              <a:t>, </a:t>
            </a:r>
            <a:r>
              <a:rPr lang="en-US" altLang="zh-CN" sz="2000" b="0" dirty="0">
                <a:solidFill>
                  <a:srgbClr val="098658"/>
                </a:solidFill>
                <a:effectLst/>
                <a:latin typeface="Consolas" panose="020B0609020204030204" pitchFamily="49" charset="0"/>
              </a:rPr>
              <a:t>100</a:t>
            </a:r>
            <a:r>
              <a:rPr lang="en-US" altLang="zh-CN" sz="2000" b="0" dirty="0">
                <a:solidFill>
                  <a:srgbClr val="000000"/>
                </a:solidFill>
                <a:effectLst/>
                <a:latin typeface="Consolas" panose="020B0609020204030204" pitchFamily="49" charset="0"/>
              </a:rPr>
              <a:t>]</a:t>
            </a:r>
          </a:p>
          <a:p>
            <a:pPr>
              <a:lnSpc>
                <a:spcPts val="3400"/>
              </a:lnSpc>
            </a:pPr>
            <a:r>
              <a:rPr lang="en-US" altLang="zh-CN" sz="2000" b="0" dirty="0" err="1">
                <a:solidFill>
                  <a:srgbClr val="000000"/>
                </a:solidFill>
                <a:effectLst/>
                <a:latin typeface="Consolas" panose="020B0609020204030204" pitchFamily="49" charset="0"/>
              </a:rPr>
              <a:t>x,fval,output</a:t>
            </a:r>
            <a:r>
              <a:rPr lang="en-US" altLang="zh-CN" sz="2000" b="0" dirty="0">
                <a:solidFill>
                  <a:srgbClr val="000000"/>
                </a:solidFill>
                <a:effectLst/>
                <a:latin typeface="Consolas" panose="020B0609020204030204" pitchFamily="49" charset="0"/>
              </a:rPr>
              <a:t>=</a:t>
            </a:r>
            <a:r>
              <a:rPr lang="en-US" altLang="zh-CN" sz="2000" b="0" dirty="0">
                <a:solidFill>
                  <a:srgbClr val="795E26"/>
                </a:solidFill>
                <a:effectLst/>
                <a:latin typeface="Consolas" panose="020B0609020204030204" pitchFamily="49" charset="0"/>
              </a:rPr>
              <a:t>ga</a:t>
            </a:r>
            <a:r>
              <a:rPr lang="en-US" altLang="zh-CN" sz="2000" b="0" dirty="0">
                <a:solidFill>
                  <a:srgbClr val="000000"/>
                </a:solidFill>
                <a:effectLst/>
                <a:latin typeface="Consolas" panose="020B0609020204030204" pitchFamily="49" charset="0"/>
              </a:rPr>
              <a:t>(</a:t>
            </a:r>
            <a:r>
              <a:rPr lang="en-US" altLang="zh-CN" sz="2000" b="0" dirty="0" err="1">
                <a:solidFill>
                  <a:srgbClr val="000000"/>
                </a:solidFill>
                <a:effectLst/>
                <a:latin typeface="Consolas" panose="020B0609020204030204" pitchFamily="49" charset="0"/>
              </a:rPr>
              <a:t>fxy,lb,ub</a:t>
            </a:r>
            <a:r>
              <a:rPr lang="en-US" altLang="zh-CN" sz="2000" b="0" dirty="0">
                <a:solidFill>
                  <a:srgbClr val="000000"/>
                </a:solidFill>
                <a:effectLst/>
                <a:latin typeface="Consolas" panose="020B0609020204030204" pitchFamily="49" charset="0"/>
              </a:rPr>
              <a:t>)</a:t>
            </a:r>
          </a:p>
          <a:p>
            <a:pPr>
              <a:lnSpc>
                <a:spcPts val="3400"/>
              </a:lnSpc>
            </a:pPr>
            <a:r>
              <a:rPr lang="en-US" altLang="zh-CN" sz="2000" b="0" dirty="0" err="1">
                <a:solidFill>
                  <a:srgbClr val="795E26"/>
                </a:solidFill>
                <a:effectLst/>
                <a:latin typeface="Consolas" panose="020B0609020204030204" pitchFamily="49" charset="0"/>
              </a:rPr>
              <a:t>println</a:t>
            </a:r>
            <a:r>
              <a:rPr lang="en-US" altLang="zh-CN" sz="2000" b="0" dirty="0">
                <a:solidFill>
                  <a:srgbClr val="000000"/>
                </a:solidFill>
                <a:effectLst/>
                <a:latin typeface="Consolas" panose="020B0609020204030204" pitchFamily="49" charset="0"/>
              </a:rPr>
              <a:t>(</a:t>
            </a:r>
            <a:r>
              <a:rPr lang="en-US" altLang="zh-CN" sz="2000" b="0" dirty="0">
                <a:solidFill>
                  <a:srgbClr val="A31515"/>
                </a:solidFill>
                <a:effectLst/>
                <a:latin typeface="Consolas" panose="020B0609020204030204" pitchFamily="49" charset="0"/>
              </a:rPr>
              <a:t>"x=</a:t>
            </a:r>
            <a:r>
              <a:rPr lang="en-US" altLang="zh-CN" sz="2000" b="0" dirty="0">
                <a:solidFill>
                  <a:srgbClr val="001080"/>
                </a:solidFill>
                <a:effectLst/>
                <a:latin typeface="Consolas" panose="020B0609020204030204" pitchFamily="49" charset="0"/>
              </a:rPr>
              <a:t>$x</a:t>
            </a:r>
            <a:r>
              <a:rPr lang="en-US" altLang="zh-CN" sz="2000" b="0" dirty="0">
                <a:solidFill>
                  <a:srgbClr val="A31515"/>
                </a:solidFill>
                <a:effectLst/>
                <a:latin typeface="Consolas" panose="020B0609020204030204" pitchFamily="49" charset="0"/>
              </a:rPr>
              <a:t>,</a:t>
            </a:r>
            <a:endParaRPr lang="en-US" altLang="zh-CN" sz="2000" b="0" dirty="0">
              <a:solidFill>
                <a:srgbClr val="000000"/>
              </a:solidFill>
              <a:effectLst/>
              <a:latin typeface="Consolas" panose="020B0609020204030204" pitchFamily="49" charset="0"/>
            </a:endParaRPr>
          </a:p>
          <a:p>
            <a:pPr>
              <a:lnSpc>
                <a:spcPts val="3400"/>
              </a:lnSpc>
            </a:pPr>
            <a:r>
              <a:rPr lang="en-US" altLang="zh-CN" sz="2000" b="0" dirty="0" err="1">
                <a:solidFill>
                  <a:srgbClr val="A31515"/>
                </a:solidFill>
                <a:effectLst/>
                <a:latin typeface="Consolas" panose="020B0609020204030204" pitchFamily="49" charset="0"/>
              </a:rPr>
              <a:t>fval</a:t>
            </a:r>
            <a:r>
              <a:rPr lang="en-US" altLang="zh-CN" sz="2000" b="0" dirty="0">
                <a:solidFill>
                  <a:srgbClr val="A31515"/>
                </a:solidFill>
                <a:effectLst/>
                <a:latin typeface="Consolas" panose="020B0609020204030204" pitchFamily="49" charset="0"/>
              </a:rPr>
              <a:t>=</a:t>
            </a:r>
            <a:r>
              <a:rPr lang="en-US" altLang="zh-CN" sz="2000" b="0" dirty="0">
                <a:solidFill>
                  <a:srgbClr val="001080"/>
                </a:solidFill>
                <a:effectLst/>
                <a:latin typeface="Consolas" panose="020B0609020204030204" pitchFamily="49" charset="0"/>
              </a:rPr>
              <a:t>$</a:t>
            </a:r>
            <a:r>
              <a:rPr lang="en-US" altLang="zh-CN" sz="2000" b="0" dirty="0" err="1">
                <a:solidFill>
                  <a:srgbClr val="001080"/>
                </a:solidFill>
                <a:effectLst/>
                <a:latin typeface="Consolas" panose="020B0609020204030204" pitchFamily="49" charset="0"/>
              </a:rPr>
              <a:t>fval</a:t>
            </a:r>
            <a:r>
              <a:rPr lang="en-US" altLang="zh-CN" sz="2000" b="0" dirty="0">
                <a:solidFill>
                  <a:srgbClr val="A31515"/>
                </a:solidFill>
                <a:effectLst/>
                <a:latin typeface="Consolas" panose="020B0609020204030204" pitchFamily="49" charset="0"/>
              </a:rPr>
              <a:t>,</a:t>
            </a:r>
            <a:endParaRPr lang="en-US" altLang="zh-CN" sz="2000" b="0" dirty="0">
              <a:solidFill>
                <a:srgbClr val="000000"/>
              </a:solidFill>
              <a:effectLst/>
              <a:latin typeface="Consolas" panose="020B0609020204030204" pitchFamily="49" charset="0"/>
            </a:endParaRPr>
          </a:p>
          <a:p>
            <a:pPr>
              <a:lnSpc>
                <a:spcPts val="3400"/>
              </a:lnSpc>
            </a:pPr>
            <a:r>
              <a:rPr lang="en-US" altLang="zh-CN" sz="2000" b="0" dirty="0" err="1">
                <a:solidFill>
                  <a:srgbClr val="A31515"/>
                </a:solidFill>
                <a:effectLst/>
                <a:latin typeface="Consolas" panose="020B0609020204030204" pitchFamily="49" charset="0"/>
              </a:rPr>
              <a:t>ou</a:t>
            </a:r>
            <a:r>
              <a:rPr lang="en-US" altLang="zh-CN" sz="2000" b="0" dirty="0">
                <a:solidFill>
                  <a:srgbClr val="A31515"/>
                </a:solidFill>
                <a:effectLst/>
                <a:latin typeface="Consolas" panose="020B0609020204030204" pitchFamily="49" charset="0"/>
              </a:rPr>
              <a:t>=</a:t>
            </a:r>
            <a:r>
              <a:rPr lang="en-US" altLang="zh-CN" sz="2000" b="0" dirty="0">
                <a:solidFill>
                  <a:srgbClr val="001080"/>
                </a:solidFill>
                <a:effectLst/>
                <a:latin typeface="Consolas" panose="020B0609020204030204" pitchFamily="49" charset="0"/>
              </a:rPr>
              <a:t>$</a:t>
            </a:r>
            <a:r>
              <a:rPr lang="en-US" altLang="zh-CN" sz="2000" b="0" dirty="0" err="1">
                <a:solidFill>
                  <a:srgbClr val="001080"/>
                </a:solidFill>
                <a:effectLst/>
                <a:latin typeface="Consolas" panose="020B0609020204030204" pitchFamily="49" charset="0"/>
              </a:rPr>
              <a:t>ou</a:t>
            </a:r>
            <a:r>
              <a:rPr lang="en-US" altLang="zh-CN" sz="2000" b="0" dirty="0">
                <a:solidFill>
                  <a:srgbClr val="A31515"/>
                </a:solidFill>
                <a:effectLst/>
                <a:latin typeface="Consolas" panose="020B0609020204030204" pitchFamily="49" charset="0"/>
              </a:rPr>
              <a:t>"</a:t>
            </a:r>
            <a:r>
              <a:rPr lang="en-US" altLang="zh-CN" sz="2000" b="0" dirty="0">
                <a:solidFill>
                  <a:srgbClr val="000000"/>
                </a:solidFill>
                <a:effectLst/>
                <a:latin typeface="Consolas" panose="020B0609020204030204" pitchFamily="49" charset="0"/>
              </a:rPr>
              <a:t>)</a:t>
            </a:r>
          </a:p>
        </p:txBody>
      </p:sp>
      <p:sp>
        <p:nvSpPr>
          <p:cNvPr id="10" name="文本框 9">
            <a:extLst>
              <a:ext uri="{FF2B5EF4-FFF2-40B4-BE49-F238E27FC236}">
                <a16:creationId xmlns:a16="http://schemas.microsoft.com/office/drawing/2014/main" id="{2244FFBE-4F69-4916-9025-64440387D834}"/>
              </a:ext>
            </a:extLst>
          </p:cNvPr>
          <p:cNvSpPr txBox="1"/>
          <p:nvPr/>
        </p:nvSpPr>
        <p:spPr>
          <a:xfrm>
            <a:off x="4572000" y="3082333"/>
            <a:ext cx="4459556" cy="1341265"/>
          </a:xfrm>
          <a:prstGeom prst="rect">
            <a:avLst/>
          </a:prstGeom>
          <a:solidFill>
            <a:schemeClr val="accent5">
              <a:lumMod val="20000"/>
              <a:lumOff val="80000"/>
            </a:schemeClr>
          </a:solidFill>
        </p:spPr>
        <p:txBody>
          <a:bodyPr wrap="square">
            <a:spAutoFit/>
          </a:bodyPr>
          <a:lstStyle>
            <a:defPPr>
              <a:defRPr lang="zh-CN"/>
            </a:defPPr>
            <a:lvl1pPr>
              <a:defRPr sz="1600"/>
            </a:lvl1pPr>
          </a:lstStyle>
          <a:p>
            <a:pPr>
              <a:lnSpc>
                <a:spcPts val="2500"/>
              </a:lnSpc>
            </a:pPr>
            <a:r>
              <a:rPr lang="en-US" altLang="zh-CN" sz="1200" dirty="0"/>
              <a:t>#</a:t>
            </a:r>
            <a:r>
              <a:rPr lang="zh-CN" altLang="en-US" sz="1200" dirty="0"/>
              <a:t>结果x=[-0.7284358515692944, -0.6937816499389626],</a:t>
            </a:r>
          </a:p>
          <a:p>
            <a:pPr>
              <a:lnSpc>
                <a:spcPts val="2500"/>
              </a:lnSpc>
            </a:pPr>
            <a:r>
              <a:rPr lang="zh-CN" altLang="en-US" sz="1200" dirty="0"/>
              <a:t>fval=-4.918380283385483,</a:t>
            </a:r>
          </a:p>
          <a:p>
            <a:pPr>
              <a:lnSpc>
                <a:spcPts val="2500"/>
              </a:lnSpc>
            </a:pPr>
            <a:r>
              <a:rPr lang="zh-CN" altLang="en-US" sz="1200" dirty="0"/>
              <a:t>ou=ga_output(500, 50000, 0.21000003814697266, "Maximum number of iterations exceeded.")</a:t>
            </a:r>
          </a:p>
        </p:txBody>
      </p:sp>
      <p:sp>
        <p:nvSpPr>
          <p:cNvPr id="5" name="波形 4">
            <a:extLst>
              <a:ext uri="{FF2B5EF4-FFF2-40B4-BE49-F238E27FC236}">
                <a16:creationId xmlns:a16="http://schemas.microsoft.com/office/drawing/2014/main" id="{8C1B0DA7-8B62-47CE-A8DD-65C6496D7C77}"/>
              </a:ext>
            </a:extLst>
          </p:cNvPr>
          <p:cNvSpPr/>
          <p:nvPr/>
        </p:nvSpPr>
        <p:spPr>
          <a:xfrm>
            <a:off x="759995" y="689315"/>
            <a:ext cx="817360" cy="334833"/>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charset="-122"/>
                <a:ea typeface="微软雅黑" panose="020B0503020204020204" charset="-122"/>
              </a:rPr>
              <a:t>例84-7</a:t>
            </a:r>
            <a:endParaRPr lang="ko-KR" altLang="en-US" sz="1600" b="1" dirty="0">
              <a:solidFill>
                <a:srgbClr val="FFFF00"/>
              </a:solidFill>
              <a:latin typeface="微软雅黑" panose="020B0503020204020204" charset="-122"/>
              <a:ea typeface="微软雅黑" panose="020B0503020204020204" charset="-122"/>
            </a:endParaRPr>
          </a:p>
        </p:txBody>
      </p:sp>
      <mc:AlternateContent xmlns:mc="http://schemas.openxmlformats.org/markup-compatibility/2006" xmlns:a14="http://schemas.microsoft.com/office/drawing/2010/main">
        <mc:Choice Requires="a14">
          <p:sp>
            <p:nvSpPr>
              <p:cNvPr id="7" name="Rectangle 3">
                <a:extLst>
                  <a:ext uri="{FF2B5EF4-FFF2-40B4-BE49-F238E27FC236}">
                    <a16:creationId xmlns:a16="http://schemas.microsoft.com/office/drawing/2014/main" id="{259641DF-6FE4-4B73-9238-C802A74AEFD8}"/>
                  </a:ext>
                </a:extLst>
              </p:cNvPr>
              <p:cNvSpPr>
                <a:spLocks noChangeArrowheads="1"/>
              </p:cNvSpPr>
              <p:nvPr/>
            </p:nvSpPr>
            <p:spPr bwMode="auto">
              <a:xfrm>
                <a:off x="1667779" y="699542"/>
                <a:ext cx="7352325" cy="283219"/>
              </a:xfrm>
              <a:prstGeom prst="rect">
                <a:avLst/>
              </a:prstGeom>
              <a:solidFill>
                <a:schemeClr val="bg1"/>
              </a:solidFill>
              <a:ln>
                <a:noFill/>
              </a:ln>
              <a:effectLst/>
            </p:spPr>
            <p:txBody>
              <a:bodyPr vert="horz" wrap="square" lIns="0" tIns="0" rIns="0" bIns="0" numCol="1" anchor="ctr" anchorCtr="0" compatLnSpc="1">
                <a:prstTxWarp prst="textNoShape">
                  <a:avLst/>
                </a:prstTxWarp>
                <a:spAutoFit/>
              </a:bodyPr>
              <a:lstStyle/>
              <a:p>
                <a:pPr lvl="0" eaLnBrk="0" hangingPunct="0"/>
                <a:r>
                  <a:rPr kumimoji="0" lang="en-US" altLang="zh-CN" b="1" i="0" u="none" strike="noStrike" cap="none" normalizeH="0" baseline="0" dirty="0">
                    <a:ln>
                      <a:noFill/>
                    </a:ln>
                    <a:solidFill>
                      <a:srgbClr val="0070C0"/>
                    </a:solidFill>
                    <a:effectLst/>
                    <a:latin typeface="Arial Unicode MS"/>
                    <a:ea typeface="Menlo"/>
                  </a:rPr>
                  <a:t>ga</a:t>
                </a:r>
                <a:r>
                  <a:rPr kumimoji="0" lang="zh-CN" altLang="en-US" b="1" i="0" u="none" strike="noStrike" cap="none" normalizeH="0" baseline="0" dirty="0">
                    <a:ln>
                      <a:noFill/>
                    </a:ln>
                    <a:solidFill>
                      <a:srgbClr val="0070C0"/>
                    </a:solidFill>
                    <a:effectLst/>
                    <a:latin typeface="Arial Unicode MS"/>
                    <a:ea typeface="Menlo"/>
                  </a:rPr>
                  <a:t>求</a:t>
                </a:r>
                <a14:m>
                  <m:oMath xmlns:m="http://schemas.openxmlformats.org/officeDocument/2006/math">
                    <m:r>
                      <a:rPr lang="en-US" altLang="zh-CN" b="1" i="1">
                        <a:solidFill>
                          <a:srgbClr val="0070C0"/>
                        </a:solidFill>
                        <a:latin typeface="Cambria Math" panose="02040503050406030204" pitchFamily="18" charset="0"/>
                        <a:ea typeface="Menlo"/>
                      </a:rPr>
                      <m:t>𝒇</m:t>
                    </m:r>
                    <m:r>
                      <a:rPr lang="en-US" altLang="zh-CN" b="1" i="1" smtClean="0">
                        <a:solidFill>
                          <a:srgbClr val="0070C0"/>
                        </a:solidFill>
                        <a:latin typeface="Cambria Math" panose="02040503050406030204" pitchFamily="18" charset="0"/>
                        <a:ea typeface="Menlo"/>
                      </a:rPr>
                      <m:t>(</m:t>
                    </m:r>
                    <m:r>
                      <a:rPr lang="en-US" altLang="zh-CN" b="1" i="1" smtClean="0">
                        <a:solidFill>
                          <a:srgbClr val="0070C0"/>
                        </a:solidFill>
                        <a:latin typeface="Cambria Math" panose="02040503050406030204" pitchFamily="18" charset="0"/>
                        <a:ea typeface="Menlo"/>
                      </a:rPr>
                      <m:t>𝒙</m:t>
                    </m:r>
                    <m:r>
                      <a:rPr lang="en-US" altLang="zh-CN" b="1" i="1" smtClean="0">
                        <a:solidFill>
                          <a:srgbClr val="0070C0"/>
                        </a:solidFill>
                        <a:latin typeface="Cambria Math" panose="02040503050406030204" pitchFamily="18" charset="0"/>
                        <a:ea typeface="Menlo"/>
                      </a:rPr>
                      <m:t>,</m:t>
                    </m:r>
                    <m:r>
                      <a:rPr lang="en-US" altLang="zh-CN" b="1" i="1" smtClean="0">
                        <a:solidFill>
                          <a:srgbClr val="0070C0"/>
                        </a:solidFill>
                        <a:latin typeface="Cambria Math" panose="02040503050406030204" pitchFamily="18" charset="0"/>
                        <a:ea typeface="Menlo"/>
                      </a:rPr>
                      <m:t>𝒚</m:t>
                    </m:r>
                    <m:r>
                      <a:rPr lang="en-US" altLang="zh-CN" b="1" i="1" smtClean="0">
                        <a:solidFill>
                          <a:srgbClr val="0070C0"/>
                        </a:solidFill>
                        <a:latin typeface="Cambria Math" panose="02040503050406030204" pitchFamily="18" charset="0"/>
                        <a:ea typeface="Menlo"/>
                      </a:rPr>
                      <m:t>)=</m:t>
                    </m:r>
                    <m:sSup>
                      <m:sSupPr>
                        <m:ctrlPr>
                          <a:rPr lang="en-US" altLang="zh-CN" b="1" i="1">
                            <a:solidFill>
                              <a:srgbClr val="0070C0"/>
                            </a:solidFill>
                            <a:latin typeface="Cambria Math" panose="02040503050406030204" pitchFamily="18" charset="0"/>
                          </a:rPr>
                        </m:ctrlPr>
                      </m:sSupPr>
                      <m:e>
                        <m:r>
                          <a:rPr lang="en-US" altLang="zh-CN" b="1" i="1">
                            <a:solidFill>
                              <a:srgbClr val="0070C0"/>
                            </a:solidFill>
                            <a:latin typeface="Cambria Math" panose="02040503050406030204" pitchFamily="18" charset="0"/>
                          </a:rPr>
                          <m:t>𝒙</m:t>
                        </m:r>
                      </m:e>
                      <m:sup>
                        <m:r>
                          <a:rPr lang="en-US" altLang="zh-CN" b="1" i="1">
                            <a:solidFill>
                              <a:srgbClr val="0070C0"/>
                            </a:solidFill>
                            <a:latin typeface="Cambria Math" panose="02040503050406030204" pitchFamily="18" charset="0"/>
                          </a:rPr>
                          <m:t>𝟐</m:t>
                        </m:r>
                      </m:sup>
                    </m:sSup>
                    <m:r>
                      <a:rPr lang="en-US" altLang="zh-CN" b="1" i="1">
                        <a:solidFill>
                          <a:srgbClr val="0070C0"/>
                        </a:solidFill>
                        <a:latin typeface="Cambria Math" panose="02040503050406030204" pitchFamily="18" charset="0"/>
                      </a:rPr>
                      <m:t>+</m:t>
                    </m:r>
                    <m:sSup>
                      <m:sSupPr>
                        <m:ctrlPr>
                          <a:rPr lang="en-US" altLang="zh-CN" b="1" i="1" smtClean="0">
                            <a:solidFill>
                              <a:srgbClr val="0070C0"/>
                            </a:solidFill>
                            <a:latin typeface="Cambria Math" panose="02040503050406030204" pitchFamily="18" charset="0"/>
                          </a:rPr>
                        </m:ctrlPr>
                      </m:sSupPr>
                      <m:e>
                        <m:r>
                          <a:rPr lang="en-US" altLang="zh-CN" b="1" i="1">
                            <a:solidFill>
                              <a:srgbClr val="0070C0"/>
                            </a:solidFill>
                            <a:latin typeface="Cambria Math" panose="02040503050406030204" pitchFamily="18" charset="0"/>
                          </a:rPr>
                          <m:t>𝒚</m:t>
                        </m:r>
                      </m:e>
                      <m:sup>
                        <m:r>
                          <a:rPr lang="en-US" altLang="zh-CN" b="1" i="1">
                            <a:solidFill>
                              <a:srgbClr val="0070C0"/>
                            </a:solidFill>
                            <a:latin typeface="Cambria Math" panose="02040503050406030204" pitchFamily="18" charset="0"/>
                          </a:rPr>
                          <m:t>𝟐</m:t>
                        </m:r>
                      </m:sup>
                    </m:sSup>
                  </m:oMath>
                </a14:m>
                <a:r>
                  <a:rPr kumimoji="0" lang="en-US" altLang="zh-CN" b="1" i="0" u="none" strike="noStrike" cap="none" normalizeH="0" baseline="0" dirty="0">
                    <a:ln>
                      <a:noFill/>
                    </a:ln>
                    <a:solidFill>
                      <a:srgbClr val="0070C0"/>
                    </a:solidFill>
                    <a:effectLst/>
                    <a:latin typeface="华文楷体" panose="02010600040101010101" pitchFamily="2" charset="-122"/>
                    <a:ea typeface="华文楷体" panose="02010600040101010101" pitchFamily="2" charset="-122"/>
                  </a:rPr>
                  <a:t>+3</a:t>
                </a:r>
                <a14:m>
                  <m:oMath xmlns:m="http://schemas.openxmlformats.org/officeDocument/2006/math">
                    <m:func>
                      <m:funcPr>
                        <m:ctrlPr>
                          <a:rPr lang="en-US" altLang="zh-CN" b="1" i="1" smtClean="0">
                            <a:solidFill>
                              <a:srgbClr val="0070C0"/>
                            </a:solidFill>
                            <a:latin typeface="Cambria Math" panose="02040503050406030204" pitchFamily="18" charset="0"/>
                          </a:rPr>
                        </m:ctrlPr>
                      </m:funcPr>
                      <m:fName>
                        <m:r>
                          <a:rPr lang="en-US" altLang="zh-CN" b="1" i="0">
                            <a:solidFill>
                              <a:srgbClr val="0070C0"/>
                            </a:solidFill>
                            <a:latin typeface="Cambria Math" panose="02040503050406030204" pitchFamily="18" charset="0"/>
                          </a:rPr>
                          <m:t>𝐬𝐢𝐧</m:t>
                        </m:r>
                      </m:fName>
                      <m:e>
                        <m:d>
                          <m:dPr>
                            <m:ctrlPr>
                              <a:rPr lang="en-US" altLang="zh-CN" b="1" i="1" smtClean="0">
                                <a:solidFill>
                                  <a:srgbClr val="0070C0"/>
                                </a:solidFill>
                                <a:latin typeface="Cambria Math" panose="02040503050406030204" pitchFamily="18" charset="0"/>
                              </a:rPr>
                            </m:ctrlPr>
                          </m:dPr>
                          <m:e>
                            <m:r>
                              <a:rPr lang="en-US" altLang="zh-CN" b="1" i="1" smtClean="0">
                                <a:solidFill>
                                  <a:srgbClr val="0070C0"/>
                                </a:solidFill>
                                <a:latin typeface="Cambria Math" panose="02040503050406030204" pitchFamily="18" charset="0"/>
                              </a:rPr>
                              <m:t>𝟐</m:t>
                            </m:r>
                            <m:r>
                              <a:rPr lang="en-US" altLang="zh-CN" b="1" i="1" smtClean="0">
                                <a:solidFill>
                                  <a:srgbClr val="0070C0"/>
                                </a:solidFill>
                                <a:latin typeface="Cambria Math" panose="02040503050406030204" pitchFamily="18" charset="0"/>
                              </a:rPr>
                              <m:t>𝒙</m:t>
                            </m:r>
                          </m:e>
                        </m:d>
                      </m:e>
                    </m:func>
                    <m:r>
                      <a:rPr lang="en-US" altLang="zh-CN" b="1" i="1" smtClean="0">
                        <a:solidFill>
                          <a:srgbClr val="0070C0"/>
                        </a:solidFill>
                        <a:latin typeface="Cambria Math" panose="02040503050406030204" pitchFamily="18" charset="0"/>
                      </a:rPr>
                      <m:t>+</m:t>
                    </m:r>
                    <m:r>
                      <m:rPr>
                        <m:nor/>
                      </m:rPr>
                      <a:rPr lang="en-US" altLang="zh-CN" b="1" dirty="0">
                        <a:solidFill>
                          <a:srgbClr val="0070C0"/>
                        </a:solidFill>
                        <a:latin typeface="华文楷体" panose="02010600040101010101" pitchFamily="2" charset="-122"/>
                        <a:ea typeface="华文楷体" panose="02010600040101010101" pitchFamily="2" charset="-122"/>
                      </a:rPr>
                      <m:t>3</m:t>
                    </m:r>
                    <m:func>
                      <m:funcPr>
                        <m:ctrlPr>
                          <a:rPr lang="en-US" altLang="zh-CN" b="1" i="1">
                            <a:solidFill>
                              <a:srgbClr val="0070C0"/>
                            </a:solidFill>
                            <a:latin typeface="Cambria Math" panose="02040503050406030204" pitchFamily="18" charset="0"/>
                          </a:rPr>
                        </m:ctrlPr>
                      </m:funcPr>
                      <m:fName>
                        <m:r>
                          <a:rPr lang="en-US" altLang="zh-CN" b="1" i="1">
                            <a:solidFill>
                              <a:srgbClr val="0070C0"/>
                            </a:solidFill>
                            <a:latin typeface="Cambria Math" panose="02040503050406030204" pitchFamily="18" charset="0"/>
                          </a:rPr>
                          <m:t>𝒔𝒊𝒏</m:t>
                        </m:r>
                      </m:fName>
                      <m:e>
                        <m:d>
                          <m:dPr>
                            <m:ctrlPr>
                              <a:rPr lang="en-US" altLang="zh-CN" b="1" i="1">
                                <a:solidFill>
                                  <a:srgbClr val="0070C0"/>
                                </a:solidFill>
                                <a:latin typeface="Cambria Math" panose="02040503050406030204" pitchFamily="18" charset="0"/>
                              </a:rPr>
                            </m:ctrlPr>
                          </m:dPr>
                          <m:e>
                            <m:r>
                              <a:rPr lang="en-US" altLang="zh-CN" b="1" i="1" smtClean="0">
                                <a:solidFill>
                                  <a:srgbClr val="0070C0"/>
                                </a:solidFill>
                                <a:latin typeface="Cambria Math" panose="02040503050406030204" pitchFamily="18" charset="0"/>
                              </a:rPr>
                              <m:t>𝟐</m:t>
                            </m:r>
                            <m:r>
                              <a:rPr lang="en-US" altLang="zh-CN" b="1" i="1" smtClean="0">
                                <a:solidFill>
                                  <a:srgbClr val="0070C0"/>
                                </a:solidFill>
                                <a:latin typeface="Cambria Math" panose="02040503050406030204" pitchFamily="18" charset="0"/>
                              </a:rPr>
                              <m:t>𝒚</m:t>
                            </m:r>
                          </m:e>
                        </m:d>
                        <m:r>
                          <a:rPr lang="zh-CN" altLang="en-US" b="1" i="1">
                            <a:solidFill>
                              <a:srgbClr val="0070C0"/>
                            </a:solidFill>
                            <a:latin typeface="Cambria Math" panose="02040503050406030204" pitchFamily="18" charset="0"/>
                          </a:rPr>
                          <m:t>在</m:t>
                        </m:r>
                        <m:r>
                          <a:rPr lang="en-US" altLang="zh-CN" b="1" i="1" smtClean="0">
                            <a:solidFill>
                              <a:srgbClr val="0070C0"/>
                            </a:solidFill>
                            <a:latin typeface="Cambria Math" panose="02040503050406030204" pitchFamily="18" charset="0"/>
                          </a:rPr>
                          <m:t>【</m:t>
                        </m:r>
                        <m:r>
                          <a:rPr lang="en-US" altLang="zh-CN" b="1" i="1" smtClean="0">
                            <a:solidFill>
                              <a:srgbClr val="0070C0"/>
                            </a:solidFill>
                            <a:latin typeface="Cambria Math" panose="02040503050406030204" pitchFamily="18" charset="0"/>
                          </a:rPr>
                          <m:t>−</m:t>
                        </m:r>
                        <m:r>
                          <a:rPr lang="en-US" altLang="zh-CN" b="1" i="1" smtClean="0">
                            <a:solidFill>
                              <a:srgbClr val="0070C0"/>
                            </a:solidFill>
                            <a:latin typeface="Cambria Math" panose="02040503050406030204" pitchFamily="18" charset="0"/>
                          </a:rPr>
                          <m:t>𝟏𝟎𝟎</m:t>
                        </m:r>
                        <m:r>
                          <a:rPr lang="en-US" altLang="zh-CN" b="1" i="1" smtClean="0">
                            <a:solidFill>
                              <a:srgbClr val="0070C0"/>
                            </a:solidFill>
                            <a:latin typeface="Cambria Math" panose="02040503050406030204" pitchFamily="18" charset="0"/>
                          </a:rPr>
                          <m:t>,</m:t>
                        </m:r>
                        <m:r>
                          <a:rPr lang="en-US" altLang="zh-CN" b="1" i="1" smtClean="0">
                            <a:solidFill>
                              <a:srgbClr val="0070C0"/>
                            </a:solidFill>
                            <a:latin typeface="Cambria Math" panose="02040503050406030204" pitchFamily="18" charset="0"/>
                          </a:rPr>
                          <m:t>𝟏𝟎𝟎</m:t>
                        </m:r>
                        <m:r>
                          <a:rPr lang="en-US" altLang="zh-CN" b="1" i="1" smtClean="0">
                            <a:solidFill>
                              <a:srgbClr val="0070C0"/>
                            </a:solidFill>
                            <a:latin typeface="Cambria Math" panose="02040503050406030204" pitchFamily="18" charset="0"/>
                          </a:rPr>
                          <m:t>】</m:t>
                        </m:r>
                        <m:r>
                          <a:rPr lang="en-US" altLang="zh-CN" b="1" i="1" smtClean="0">
                            <a:solidFill>
                              <a:srgbClr val="0070C0"/>
                            </a:solidFill>
                            <a:latin typeface="Cambria Math" panose="02040503050406030204" pitchFamily="18" charset="0"/>
                          </a:rPr>
                          <m:t> </m:t>
                        </m:r>
                        <m:r>
                          <m:rPr>
                            <m:nor/>
                          </m:rPr>
                          <a:rPr lang="zh-CN" altLang="en-US" b="1" dirty="0">
                            <a:solidFill>
                              <a:srgbClr val="0070C0"/>
                            </a:solidFill>
                            <a:latin typeface="Arial Unicode MS"/>
                            <a:ea typeface="Menlo"/>
                          </a:rPr>
                          <m:t>最小值</m:t>
                        </m:r>
                      </m:e>
                    </m:func>
                  </m:oMath>
                </a14:m>
                <a:endParaRPr kumimoji="0" lang="zh-CN" altLang="en-US" b="1" i="0" u="none" strike="noStrike" cap="none" normalizeH="0" baseline="0" dirty="0">
                  <a:ln>
                    <a:noFill/>
                  </a:ln>
                  <a:solidFill>
                    <a:srgbClr val="0070C0"/>
                  </a:solidFill>
                  <a:effectLst/>
                  <a:latin typeface="华文楷体" panose="02010600040101010101" pitchFamily="2" charset="-122"/>
                  <a:ea typeface="华文楷体" panose="02010600040101010101" pitchFamily="2" charset="-122"/>
                </a:endParaRPr>
              </a:p>
            </p:txBody>
          </p:sp>
        </mc:Choice>
        <mc:Fallback xmlns="">
          <p:sp>
            <p:nvSpPr>
              <p:cNvPr id="7" name="Rectangle 3">
                <a:extLst>
                  <a:ext uri="{FF2B5EF4-FFF2-40B4-BE49-F238E27FC236}">
                    <a16:creationId xmlns:a16="http://schemas.microsoft.com/office/drawing/2014/main" id="{259641DF-6FE4-4B73-9238-C802A74AEFD8}"/>
                  </a:ext>
                </a:extLst>
              </p:cNvPr>
              <p:cNvSpPr>
                <a:spLocks noRot="1" noChangeAspect="1" noMove="1" noResize="1" noEditPoints="1" noAdjustHandles="1" noChangeArrowheads="1" noChangeShapeType="1" noTextEdit="1"/>
              </p:cNvSpPr>
              <p:nvPr/>
            </p:nvSpPr>
            <p:spPr bwMode="auto">
              <a:xfrm>
                <a:off x="1667779" y="699542"/>
                <a:ext cx="7352325" cy="283219"/>
              </a:xfrm>
              <a:prstGeom prst="rect">
                <a:avLst/>
              </a:prstGeom>
              <a:blipFill>
                <a:blip r:embed="rId3"/>
                <a:stretch>
                  <a:fillRect l="-1990" t="-28261" b="-52174"/>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27789253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
            <a:extLst>
              <a:ext uri="{FF2B5EF4-FFF2-40B4-BE49-F238E27FC236}">
                <a16:creationId xmlns:a16="http://schemas.microsoft.com/office/drawing/2014/main" id="{9D7ED7DC-1FB8-4E9E-86E6-9737656F58D4}"/>
              </a:ext>
            </a:extLst>
          </p:cNvPr>
          <p:cNvSpPr>
            <a:spLocks noChangeArrowheads="1"/>
          </p:cNvSpPr>
          <p:nvPr/>
        </p:nvSpPr>
        <p:spPr bwMode="auto">
          <a:xfrm>
            <a:off x="554328" y="2446142"/>
            <a:ext cx="8341003" cy="313932"/>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r>
              <a:rPr kumimoji="0" lang="en-US" altLang="zh-CN" sz="1600" b="0" i="0" u="none" strike="noStrike" cap="none" normalizeH="0" baseline="0" dirty="0">
                <a:ln>
                  <a:noFill/>
                </a:ln>
                <a:solidFill>
                  <a:schemeClr val="bg1"/>
                </a:solidFill>
                <a:effectLst/>
                <a:highlight>
                  <a:srgbClr val="FF0000"/>
                </a:highlight>
                <a:latin typeface="Arial Unicode MS"/>
                <a:ea typeface="source-code-pro"/>
              </a:rPr>
              <a:t>x</a:t>
            </a:r>
            <a:r>
              <a:rPr kumimoji="0" lang="zh-CN" altLang="zh-CN" sz="1600" b="0" i="0" u="none" strike="noStrike" cap="none" normalizeH="0" baseline="0" dirty="0">
                <a:ln>
                  <a:noFill/>
                </a:ln>
                <a:solidFill>
                  <a:schemeClr val="bg1"/>
                </a:solidFill>
                <a:effectLst/>
                <a:latin typeface="Arial Unicode MS"/>
                <a:ea typeface="source-code-pro"/>
              </a:rPr>
              <a:t>,fval,maxfval,exitflag,output,lambda = </a:t>
            </a:r>
            <a:r>
              <a:rPr lang="zh-CN" altLang="zh-CN" sz="1600" dirty="0">
                <a:solidFill>
                  <a:schemeClr val="bg1"/>
                </a:solidFill>
                <a:highlight>
                  <a:srgbClr val="FF0000"/>
                </a:highlight>
                <a:latin typeface="Arial Unicode MS"/>
              </a:rPr>
              <a:t>fminimax(fun,x0</a:t>
            </a:r>
            <a:r>
              <a:rPr kumimoji="0" lang="zh-CN" altLang="zh-CN" sz="1600" b="0" i="0" u="none" strike="noStrike" cap="none" normalizeH="0" baseline="0" dirty="0">
                <a:ln>
                  <a:noFill/>
                </a:ln>
                <a:solidFill>
                  <a:schemeClr val="bg1"/>
                </a:solidFill>
                <a:effectLst/>
                <a:latin typeface="Arial Unicode MS"/>
                <a:ea typeface="source-code-pro"/>
              </a:rPr>
              <a:t>,A,b,Aeq,beq,lb,ub,nonlcon)</a:t>
            </a:r>
            <a:endParaRPr lang="zh-CN" altLang="zh-CN" sz="1600" b="1" kern="0" dirty="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endParaRPr>
          </a:p>
        </p:txBody>
      </p:sp>
      <p:sp>
        <p:nvSpPr>
          <p:cNvPr id="7" name="标题 1">
            <a:extLst>
              <a:ext uri="{FF2B5EF4-FFF2-40B4-BE49-F238E27FC236}">
                <a16:creationId xmlns:a16="http://schemas.microsoft.com/office/drawing/2014/main" id="{D2277F98-FF51-4828-8D7C-AA3323CE0577}"/>
              </a:ext>
            </a:extLst>
          </p:cNvPr>
          <p:cNvSpPr txBox="1">
            <a:spLocks/>
          </p:cNvSpPr>
          <p:nvPr/>
        </p:nvSpPr>
        <p:spPr>
          <a:xfrm>
            <a:off x="1115616" y="133209"/>
            <a:ext cx="7669360" cy="438150"/>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400" b="0" dirty="0">
                <a:solidFill>
                  <a:srgbClr val="002060"/>
                </a:solidFill>
                <a:latin typeface="华文楷体" panose="02010600040101010101" pitchFamily="2" charset="-122"/>
                <a:ea typeface="华文楷体" panose="02010600040101010101" pitchFamily="2" charset="-122"/>
              </a:rPr>
              <a:t>§8.4.5 </a:t>
            </a:r>
            <a:r>
              <a:rPr lang="zh-CN" altLang="zh-CN" sz="2400" dirty="0">
                <a:solidFill>
                  <a:srgbClr val="002060"/>
                </a:solidFill>
                <a:latin typeface="华文楷体" panose="02010600040101010101" pitchFamily="2" charset="-122"/>
                <a:ea typeface="华文楷体" panose="02010600040101010101" pitchFamily="2" charset="-122"/>
              </a:rPr>
              <a:t>fminimax</a:t>
            </a:r>
            <a:r>
              <a:rPr lang="zh-CN" altLang="en-US" sz="2400" b="0" i="0" dirty="0">
                <a:solidFill>
                  <a:srgbClr val="002060"/>
                </a:solidFill>
                <a:effectLst/>
                <a:latin typeface="华文楷体" panose="02010600040101010101" pitchFamily="2" charset="-122"/>
                <a:ea typeface="华文楷体" panose="02010600040101010101" pitchFamily="2" charset="-122"/>
              </a:rPr>
              <a:t>求解</a:t>
            </a:r>
            <a:r>
              <a:rPr lang="en-US" altLang="zh-CN" sz="2400" b="0" i="0" dirty="0">
                <a:solidFill>
                  <a:srgbClr val="002060"/>
                </a:solidFill>
                <a:effectLst/>
                <a:latin typeface="华文楷体" panose="02010600040101010101" pitchFamily="2" charset="-122"/>
                <a:ea typeface="华文楷体" panose="02010600040101010101" pitchFamily="2" charset="-122"/>
              </a:rPr>
              <a:t>minmax</a:t>
            </a:r>
            <a:r>
              <a:rPr lang="zh-CN" altLang="en-US" sz="2400" b="0" i="0" dirty="0">
                <a:solidFill>
                  <a:srgbClr val="002060"/>
                </a:solidFill>
                <a:effectLst/>
                <a:latin typeface="华文楷体" panose="02010600040101010101" pitchFamily="2" charset="-122"/>
                <a:ea typeface="华文楷体" panose="02010600040101010101" pitchFamily="2" charset="-122"/>
              </a:rPr>
              <a:t>约束问题</a:t>
            </a:r>
            <a:r>
              <a:rPr lang="en-US" altLang="zh-CN" sz="2400" b="0" kern="0" dirty="0">
                <a:solidFill>
                  <a:srgbClr val="FF0000"/>
                </a:solidFill>
                <a:latin typeface="华文楷体" panose="02010600040101010101" pitchFamily="2" charset="-122"/>
                <a:ea typeface="华文楷体" panose="02010600040101010101" pitchFamily="2" charset="-122"/>
              </a:rPr>
              <a:t>——</a:t>
            </a:r>
            <a:r>
              <a:rPr lang="zh-CN" altLang="en-US" sz="2400" b="0" kern="0" dirty="0">
                <a:solidFill>
                  <a:srgbClr val="FF0000"/>
                </a:solidFill>
                <a:latin typeface="华文楷体" panose="02010600040101010101" pitchFamily="2" charset="-122"/>
                <a:ea typeface="华文楷体" panose="02010600040101010101" pitchFamily="2" charset="-122"/>
              </a:rPr>
              <a:t>调用语法</a:t>
            </a:r>
            <a:endParaRPr lang="zh-CN" altLang="en-US" sz="2400" b="0" dirty="0">
              <a:solidFill>
                <a:srgbClr val="FF0000"/>
              </a:solidFill>
              <a:latin typeface="华文楷体" panose="02010600040101010101" pitchFamily="2" charset="-122"/>
              <a:ea typeface="华文楷体" panose="02010600040101010101" pitchFamily="2" charset="-122"/>
            </a:endParaRPr>
          </a:p>
        </p:txBody>
      </p:sp>
      <p:sp>
        <p:nvSpPr>
          <p:cNvPr id="13" name="矩形 1">
            <a:extLst>
              <a:ext uri="{FF2B5EF4-FFF2-40B4-BE49-F238E27FC236}">
                <a16:creationId xmlns:a16="http://schemas.microsoft.com/office/drawing/2014/main" id="{C752659C-466F-46DB-A883-DBAD89D31284}"/>
              </a:ext>
            </a:extLst>
          </p:cNvPr>
          <p:cNvSpPr/>
          <p:nvPr/>
        </p:nvSpPr>
        <p:spPr bwMode="auto">
          <a:xfrm>
            <a:off x="514833" y="773551"/>
            <a:ext cx="1939956" cy="707886"/>
          </a:xfrm>
          <a:prstGeom prst="rect">
            <a:avLst/>
          </a:prstGeom>
          <a:solidFill>
            <a:schemeClr val="bg1"/>
          </a:solidFill>
        </p:spPr>
        <p:txBody>
          <a:bodyPr vert="horz" wrap="square" lIns="91440" tIns="45720" rIns="91440" bIns="45720" numCol="1" anchor="t">
            <a:spAutoFit/>
          </a:bodyPr>
          <a:lstStyle/>
          <a:p>
            <a:pPr eaLnBrk="0">
              <a:spcBef>
                <a:spcPts val="800"/>
              </a:spcBef>
              <a:spcAft>
                <a:spcPts val="0"/>
              </a:spcAft>
              <a:buClr>
                <a:srgbClr val="002060"/>
              </a:buClr>
            </a:pPr>
            <a:r>
              <a:rPr lang="zh-CN" altLang="en-US" sz="2000" b="1" dirty="0">
                <a:solidFill>
                  <a:srgbClr val="0070C0"/>
                </a:solidFill>
                <a:latin typeface="微软雅黑" panose="020B0503020204020204" pitchFamily="34" charset="-122"/>
                <a:ea typeface="微软雅黑" panose="020B0503020204020204" pitchFamily="34" charset="-122"/>
              </a:rPr>
              <a:t>有约束最小值问题描述</a:t>
            </a:r>
            <a:r>
              <a:rPr lang="zh-CN" altLang="en-US" sz="20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en-US" sz="20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文本框 17">
            <a:extLst>
              <a:ext uri="{FF2B5EF4-FFF2-40B4-BE49-F238E27FC236}">
                <a16:creationId xmlns:a16="http://schemas.microsoft.com/office/drawing/2014/main" id="{960D6DB7-5FF3-4CE7-849F-682C152A61CF}"/>
              </a:ext>
            </a:extLst>
          </p:cNvPr>
          <p:cNvSpPr txBox="1"/>
          <p:nvPr/>
        </p:nvSpPr>
        <p:spPr>
          <a:xfrm>
            <a:off x="425526" y="2796874"/>
            <a:ext cx="8837347" cy="1887889"/>
          </a:xfrm>
          <a:prstGeom prst="rect">
            <a:avLst/>
          </a:prstGeom>
          <a:noFill/>
        </p:spPr>
        <p:txBody>
          <a:bodyPr wrap="square">
            <a:spAutoFit/>
          </a:bodyPr>
          <a:lstStyle/>
          <a:p>
            <a:pPr marL="285750" indent="-285750" algn="l">
              <a:lnSpc>
                <a:spcPts val="2000"/>
              </a:lnSpc>
              <a:buFont typeface="Wingdings" panose="05000000000000000000" pitchFamily="2" charset="2"/>
              <a:buChar char="Ø"/>
            </a:pPr>
            <a:r>
              <a:rPr lang="en-US" altLang="zh-CN" b="0" i="0" dirty="0">
                <a:solidFill>
                  <a:srgbClr val="2C3E50"/>
                </a:solidFill>
                <a:effectLst/>
                <a:latin typeface="华文楷体" panose="02010600040101010101" pitchFamily="2" charset="-122"/>
                <a:ea typeface="华文楷体" panose="02010600040101010101" pitchFamily="2" charset="-122"/>
              </a:rPr>
              <a:t>x</a:t>
            </a:r>
            <a:r>
              <a:rPr lang="zh-CN" altLang="en-US" b="0" i="0" dirty="0">
                <a:solidFill>
                  <a:srgbClr val="2C3E50"/>
                </a:solidFill>
                <a:effectLst/>
                <a:latin typeface="华文楷体" panose="02010600040101010101" pitchFamily="2" charset="-122"/>
                <a:ea typeface="华文楷体" panose="02010600040101010101" pitchFamily="2" charset="-122"/>
              </a:rPr>
              <a:t>解变量</a:t>
            </a:r>
            <a:endParaRPr lang="en-US" altLang="zh-CN" b="0" i="0" dirty="0">
              <a:solidFill>
                <a:srgbClr val="2C3E50"/>
              </a:solidFill>
              <a:effectLst/>
              <a:latin typeface="华文楷体" panose="02010600040101010101" pitchFamily="2" charset="-122"/>
              <a:ea typeface="华文楷体" panose="02010600040101010101" pitchFamily="2" charset="-122"/>
            </a:endParaRPr>
          </a:p>
          <a:p>
            <a:pPr marL="285750" indent="-285750" algn="l">
              <a:lnSpc>
                <a:spcPts val="2000"/>
              </a:lnSpc>
              <a:buFont typeface="Wingdings" panose="05000000000000000000" pitchFamily="2" charset="2"/>
              <a:buChar char="Ø"/>
            </a:pPr>
            <a:r>
              <a:rPr lang="en-US" altLang="zh-CN" b="0" i="0" dirty="0" err="1">
                <a:solidFill>
                  <a:srgbClr val="2C3E50"/>
                </a:solidFill>
                <a:effectLst/>
                <a:latin typeface="华文楷体" panose="02010600040101010101" pitchFamily="2" charset="-122"/>
                <a:ea typeface="华文楷体" panose="02010600040101010101" pitchFamily="2" charset="-122"/>
              </a:rPr>
              <a:t>fval</a:t>
            </a:r>
            <a:r>
              <a:rPr lang="en-US" altLang="zh-CN" b="0" i="0" dirty="0">
                <a:solidFill>
                  <a:srgbClr val="2C3E50"/>
                </a:solidFill>
                <a:effectLst/>
                <a:latin typeface="华文楷体" panose="02010600040101010101" pitchFamily="2" charset="-122"/>
                <a:ea typeface="华文楷体" panose="02010600040101010101" pitchFamily="2" charset="-122"/>
              </a:rPr>
              <a:t> - </a:t>
            </a:r>
            <a:r>
              <a:rPr lang="zh-CN" altLang="en-US" b="0" i="0" dirty="0">
                <a:solidFill>
                  <a:srgbClr val="2C3E50"/>
                </a:solidFill>
                <a:effectLst/>
                <a:latin typeface="华文楷体" panose="02010600040101010101" pitchFamily="2" charset="-122"/>
                <a:ea typeface="华文楷体" panose="02010600040101010101" pitchFamily="2" charset="-122"/>
              </a:rPr>
              <a:t>标量，目标函数 </a:t>
            </a:r>
            <a:r>
              <a:rPr lang="en-US" altLang="zh-CN" b="0" i="0" dirty="0">
                <a:solidFill>
                  <a:srgbClr val="2C3E50"/>
                </a:solidFill>
                <a:effectLst/>
                <a:latin typeface="华文楷体" panose="02010600040101010101" pitchFamily="2" charset="-122"/>
                <a:ea typeface="华文楷体" panose="02010600040101010101" pitchFamily="2" charset="-122"/>
              </a:rPr>
              <a:t>fun </a:t>
            </a:r>
            <a:r>
              <a:rPr lang="zh-CN" altLang="en-US" b="0" i="0" dirty="0">
                <a:solidFill>
                  <a:srgbClr val="2C3E50"/>
                </a:solidFill>
                <a:effectLst/>
                <a:latin typeface="华文楷体" panose="02010600040101010101" pitchFamily="2" charset="-122"/>
                <a:ea typeface="华文楷体" panose="02010600040101010101" pitchFamily="2" charset="-122"/>
              </a:rPr>
              <a:t>在解 </a:t>
            </a:r>
            <a:r>
              <a:rPr lang="en-US" altLang="zh-CN" b="0" i="0" dirty="0">
                <a:solidFill>
                  <a:srgbClr val="2C3E50"/>
                </a:solidFill>
                <a:effectLst/>
                <a:latin typeface="华文楷体" panose="02010600040101010101" pitchFamily="2" charset="-122"/>
                <a:ea typeface="华文楷体" panose="02010600040101010101" pitchFamily="2" charset="-122"/>
              </a:rPr>
              <a:t>x </a:t>
            </a:r>
            <a:r>
              <a:rPr lang="zh-CN" altLang="en-US" b="0" i="0" dirty="0">
                <a:solidFill>
                  <a:srgbClr val="2C3E50"/>
                </a:solidFill>
                <a:effectLst/>
                <a:latin typeface="华文楷体" panose="02010600040101010101" pitchFamily="2" charset="-122"/>
                <a:ea typeface="华文楷体" panose="02010600040101010101" pitchFamily="2" charset="-122"/>
              </a:rPr>
              <a:t>处的值。</a:t>
            </a:r>
          </a:p>
          <a:p>
            <a:pPr marL="285750" indent="-285750" algn="l">
              <a:lnSpc>
                <a:spcPts val="2000"/>
              </a:lnSpc>
              <a:buFont typeface="Wingdings" panose="05000000000000000000" pitchFamily="2" charset="2"/>
              <a:buChar char="Ø"/>
            </a:pPr>
            <a:r>
              <a:rPr lang="en-US" altLang="zh-CN" b="0" i="0" dirty="0" err="1">
                <a:solidFill>
                  <a:srgbClr val="2C3E50"/>
                </a:solidFill>
                <a:effectLst/>
                <a:latin typeface="华文楷体" panose="02010600040101010101" pitchFamily="2" charset="-122"/>
                <a:ea typeface="华文楷体" panose="02010600040101010101" pitchFamily="2" charset="-122"/>
              </a:rPr>
              <a:t>exitflag</a:t>
            </a:r>
            <a:r>
              <a:rPr lang="en-US" altLang="zh-CN" b="0" i="0" dirty="0">
                <a:solidFill>
                  <a:srgbClr val="2C3E50"/>
                </a:solidFill>
                <a:effectLst/>
                <a:latin typeface="华文楷体" panose="02010600040101010101" pitchFamily="2" charset="-122"/>
                <a:ea typeface="华文楷体" panose="02010600040101010101" pitchFamily="2" charset="-122"/>
              </a:rPr>
              <a:t> - </a:t>
            </a:r>
            <a:r>
              <a:rPr lang="zh-CN" altLang="en-US" b="0" i="0" dirty="0">
                <a:solidFill>
                  <a:srgbClr val="2C3E50"/>
                </a:solidFill>
                <a:effectLst/>
                <a:latin typeface="华文楷体" panose="02010600040101010101" pitchFamily="2" charset="-122"/>
                <a:ea typeface="华文楷体" panose="02010600040101010101" pitchFamily="2" charset="-122"/>
              </a:rPr>
              <a:t>整数，描述 </a:t>
            </a:r>
            <a:r>
              <a:rPr lang="en-US" altLang="zh-CN" b="0" i="0" dirty="0" err="1">
                <a:solidFill>
                  <a:srgbClr val="2C3E50"/>
                </a:solidFill>
                <a:effectLst/>
                <a:latin typeface="华文楷体" panose="02010600040101010101" pitchFamily="2" charset="-122"/>
                <a:ea typeface="华文楷体" panose="02010600040101010101" pitchFamily="2" charset="-122"/>
              </a:rPr>
              <a:t>fmincon</a:t>
            </a:r>
            <a:r>
              <a:rPr lang="en-US" altLang="zh-CN" b="0" i="0" dirty="0">
                <a:solidFill>
                  <a:srgbClr val="2C3E50"/>
                </a:solidFill>
                <a:effectLst/>
                <a:latin typeface="华文楷体" panose="02010600040101010101" pitchFamily="2" charset="-122"/>
                <a:ea typeface="华文楷体" panose="02010600040101010101" pitchFamily="2" charset="-122"/>
              </a:rPr>
              <a:t> </a:t>
            </a:r>
            <a:r>
              <a:rPr lang="zh-CN" altLang="en-US" b="0" i="0" dirty="0">
                <a:solidFill>
                  <a:srgbClr val="2C3E50"/>
                </a:solidFill>
                <a:effectLst/>
                <a:latin typeface="华文楷体" panose="02010600040101010101" pitchFamily="2" charset="-122"/>
                <a:ea typeface="华文楷体" panose="02010600040101010101" pitchFamily="2" charset="-122"/>
              </a:rPr>
              <a:t>的退出条件的值。</a:t>
            </a:r>
          </a:p>
          <a:p>
            <a:pPr marL="285750" indent="-285750" algn="l">
              <a:lnSpc>
                <a:spcPts val="2000"/>
              </a:lnSpc>
              <a:buFont typeface="Wingdings" panose="05000000000000000000" pitchFamily="2" charset="2"/>
              <a:buChar char="Ø"/>
            </a:pPr>
            <a:r>
              <a:rPr lang="en-US" altLang="zh-CN" b="0" i="0" dirty="0">
                <a:solidFill>
                  <a:srgbClr val="2C3E50"/>
                </a:solidFill>
                <a:effectLst/>
                <a:latin typeface="华文楷体" panose="02010600040101010101" pitchFamily="2" charset="-122"/>
                <a:ea typeface="华文楷体" panose="02010600040101010101" pitchFamily="2" charset="-122"/>
              </a:rPr>
              <a:t>output - </a:t>
            </a:r>
            <a:r>
              <a:rPr lang="zh-CN" altLang="en-US" b="0" i="0" dirty="0">
                <a:solidFill>
                  <a:srgbClr val="2C3E50"/>
                </a:solidFill>
                <a:effectLst/>
                <a:latin typeface="华文楷体" panose="02010600040101010101" pitchFamily="2" charset="-122"/>
                <a:ea typeface="华文楷体" panose="02010600040101010101" pitchFamily="2" charset="-122"/>
              </a:rPr>
              <a:t>结构体，提供优化过程信息。</a:t>
            </a:r>
          </a:p>
          <a:p>
            <a:pPr marL="285750" indent="-285750" algn="l">
              <a:lnSpc>
                <a:spcPts val="2000"/>
              </a:lnSpc>
              <a:buFont typeface="Wingdings" panose="05000000000000000000" pitchFamily="2" charset="2"/>
              <a:buChar char="Ø"/>
            </a:pPr>
            <a:r>
              <a:rPr lang="en-US" altLang="zh-CN" b="0" i="0" dirty="0">
                <a:solidFill>
                  <a:srgbClr val="2C3E50"/>
                </a:solidFill>
                <a:effectLst/>
                <a:latin typeface="华文楷体" panose="02010600040101010101" pitchFamily="2" charset="-122"/>
                <a:ea typeface="华文楷体" panose="02010600040101010101" pitchFamily="2" charset="-122"/>
              </a:rPr>
              <a:t>lambda - </a:t>
            </a:r>
            <a:r>
              <a:rPr lang="zh-CN" altLang="en-US" b="0" i="0" dirty="0">
                <a:solidFill>
                  <a:srgbClr val="2C3E50"/>
                </a:solidFill>
                <a:effectLst/>
                <a:latin typeface="华文楷体" panose="02010600040101010101" pitchFamily="2" charset="-122"/>
                <a:ea typeface="华文楷体" panose="02010600040101010101" pitchFamily="2" charset="-122"/>
              </a:rPr>
              <a:t>结构体，其字段包含解 </a:t>
            </a:r>
            <a:r>
              <a:rPr lang="en-US" altLang="zh-CN" b="0" i="0" dirty="0">
                <a:solidFill>
                  <a:srgbClr val="2C3E50"/>
                </a:solidFill>
                <a:effectLst/>
                <a:latin typeface="华文楷体" panose="02010600040101010101" pitchFamily="2" charset="-122"/>
                <a:ea typeface="华文楷体" panose="02010600040101010101" pitchFamily="2" charset="-122"/>
              </a:rPr>
              <a:t>x </a:t>
            </a:r>
            <a:r>
              <a:rPr lang="zh-CN" altLang="en-US" b="0" i="0" dirty="0">
                <a:solidFill>
                  <a:srgbClr val="2C3E50"/>
                </a:solidFill>
                <a:effectLst/>
                <a:latin typeface="华文楷体" panose="02010600040101010101" pitchFamily="2" charset="-122"/>
                <a:ea typeface="华文楷体" panose="02010600040101010101" pitchFamily="2" charset="-122"/>
              </a:rPr>
              <a:t>处的拉格朗日乘数。</a:t>
            </a:r>
          </a:p>
          <a:p>
            <a:pPr marL="285750" indent="-285750" algn="l">
              <a:lnSpc>
                <a:spcPts val="2000"/>
              </a:lnSpc>
              <a:buFont typeface="Wingdings" panose="05000000000000000000" pitchFamily="2" charset="2"/>
              <a:buChar char="Ø"/>
            </a:pPr>
            <a:r>
              <a:rPr lang="en-US" altLang="zh-CN" b="0" i="0" dirty="0">
                <a:solidFill>
                  <a:srgbClr val="2C3E50"/>
                </a:solidFill>
                <a:effectLst/>
                <a:latin typeface="华文楷体" panose="02010600040101010101" pitchFamily="2" charset="-122"/>
                <a:ea typeface="华文楷体" panose="02010600040101010101" pitchFamily="2" charset="-122"/>
              </a:rPr>
              <a:t>grad - fun </a:t>
            </a:r>
            <a:r>
              <a:rPr lang="zh-CN" altLang="en-US" b="0" i="0" dirty="0">
                <a:solidFill>
                  <a:srgbClr val="2C3E50"/>
                </a:solidFill>
                <a:effectLst/>
                <a:latin typeface="华文楷体" panose="02010600040101010101" pitchFamily="2" charset="-122"/>
                <a:ea typeface="华文楷体" panose="02010600040101010101" pitchFamily="2" charset="-122"/>
              </a:rPr>
              <a:t>在解 </a:t>
            </a:r>
            <a:r>
              <a:rPr lang="en-US" altLang="zh-CN" b="0" i="0" dirty="0">
                <a:solidFill>
                  <a:srgbClr val="2C3E50"/>
                </a:solidFill>
                <a:effectLst/>
                <a:latin typeface="华文楷体" panose="02010600040101010101" pitchFamily="2" charset="-122"/>
                <a:ea typeface="华文楷体" panose="02010600040101010101" pitchFamily="2" charset="-122"/>
              </a:rPr>
              <a:t>x </a:t>
            </a:r>
            <a:r>
              <a:rPr lang="zh-CN" altLang="en-US" b="0" i="0" dirty="0">
                <a:solidFill>
                  <a:srgbClr val="2C3E50"/>
                </a:solidFill>
                <a:effectLst/>
                <a:latin typeface="华文楷体" panose="02010600040101010101" pitchFamily="2" charset="-122"/>
                <a:ea typeface="华文楷体" panose="02010600040101010101" pitchFamily="2" charset="-122"/>
              </a:rPr>
              <a:t>处的梯度。</a:t>
            </a:r>
          </a:p>
          <a:p>
            <a:pPr marL="285750" indent="-285750" algn="l">
              <a:lnSpc>
                <a:spcPts val="2000"/>
              </a:lnSpc>
              <a:buFont typeface="Wingdings" panose="05000000000000000000" pitchFamily="2" charset="2"/>
              <a:buChar char="Ø"/>
            </a:pPr>
            <a:r>
              <a:rPr lang="en-US" altLang="zh-CN" b="0" i="0" dirty="0">
                <a:solidFill>
                  <a:srgbClr val="2C3E50"/>
                </a:solidFill>
                <a:effectLst/>
                <a:latin typeface="华文楷体" panose="02010600040101010101" pitchFamily="2" charset="-122"/>
                <a:ea typeface="华文楷体" panose="02010600040101010101" pitchFamily="2" charset="-122"/>
              </a:rPr>
              <a:t>Hessian - fun </a:t>
            </a:r>
            <a:r>
              <a:rPr lang="zh-CN" altLang="en-US" b="0" i="0" dirty="0">
                <a:solidFill>
                  <a:srgbClr val="2C3E50"/>
                </a:solidFill>
                <a:effectLst/>
                <a:latin typeface="华文楷体" panose="02010600040101010101" pitchFamily="2" charset="-122"/>
                <a:ea typeface="华文楷体" panose="02010600040101010101" pitchFamily="2" charset="-122"/>
              </a:rPr>
              <a:t>在解 </a:t>
            </a:r>
            <a:r>
              <a:rPr lang="en-US" altLang="zh-CN" b="0" i="0" dirty="0">
                <a:solidFill>
                  <a:srgbClr val="2C3E50"/>
                </a:solidFill>
                <a:effectLst/>
                <a:latin typeface="华文楷体" panose="02010600040101010101" pitchFamily="2" charset="-122"/>
                <a:ea typeface="华文楷体" panose="02010600040101010101" pitchFamily="2" charset="-122"/>
              </a:rPr>
              <a:t>x </a:t>
            </a:r>
            <a:r>
              <a:rPr lang="zh-CN" altLang="en-US" b="0" i="0" dirty="0">
                <a:solidFill>
                  <a:srgbClr val="2C3E50"/>
                </a:solidFill>
                <a:effectLst/>
                <a:latin typeface="华文楷体" panose="02010600040101010101" pitchFamily="2" charset="-122"/>
                <a:ea typeface="华文楷体" panose="02010600040101010101" pitchFamily="2" charset="-122"/>
              </a:rPr>
              <a:t>处的黑塞矩阵</a:t>
            </a:r>
            <a:r>
              <a:rPr lang="en-US" altLang="zh-CN" b="0" i="0" dirty="0">
                <a:solidFill>
                  <a:srgbClr val="2C3E50"/>
                </a:solidFill>
                <a:effectLst/>
                <a:latin typeface="华文楷体" panose="02010600040101010101" pitchFamily="2" charset="-122"/>
                <a:ea typeface="华文楷体" panose="02010600040101010101" pitchFamily="2" charset="-122"/>
              </a:rPr>
              <a:t> </a:t>
            </a:r>
            <a:endParaRPr lang="zh-CN" altLang="en-US" b="0" i="0" dirty="0">
              <a:solidFill>
                <a:srgbClr val="2C3E50"/>
              </a:solidFill>
              <a:effectLst/>
              <a:latin typeface="华文楷体" panose="02010600040101010101" pitchFamily="2" charset="-122"/>
              <a:ea typeface="华文楷体" panose="02010600040101010101" pitchFamily="2" charset="-122"/>
            </a:endParaRPr>
          </a:p>
        </p:txBody>
      </p:sp>
      <p:sp>
        <p:nvSpPr>
          <p:cNvPr id="9" name="内容占位符 2">
            <a:extLst>
              <a:ext uri="{FF2B5EF4-FFF2-40B4-BE49-F238E27FC236}">
                <a16:creationId xmlns:a16="http://schemas.microsoft.com/office/drawing/2014/main" id="{160A86CA-F07C-40AB-82C8-EE0D91B7958E}"/>
              </a:ext>
            </a:extLst>
          </p:cNvPr>
          <p:cNvSpPr txBox="1">
            <a:spLocks/>
          </p:cNvSpPr>
          <p:nvPr/>
        </p:nvSpPr>
        <p:spPr>
          <a:xfrm>
            <a:off x="5627832" y="2912251"/>
            <a:ext cx="3267499" cy="386669"/>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600" dirty="0">
                <a:solidFill>
                  <a:srgbClr val="0070C0"/>
                </a:solidFill>
                <a:ea typeface="隶书" panose="02010509060101010101" pitchFamily="49" charset="-122"/>
              </a:rPr>
              <a:t>要求垃圾站位置（</a:t>
            </a:r>
            <a:r>
              <a:rPr lang="en-US" altLang="zh-CN" sz="1600" dirty="0" err="1">
                <a:solidFill>
                  <a:srgbClr val="0070C0"/>
                </a:solidFill>
                <a:ea typeface="隶书" panose="02010509060101010101" pitchFamily="49" charset="-122"/>
              </a:rPr>
              <a:t>xx,yy</a:t>
            </a:r>
            <a:r>
              <a:rPr lang="zh-CN" altLang="en-US" sz="1600" dirty="0">
                <a:solidFill>
                  <a:srgbClr val="0070C0"/>
                </a:solidFill>
                <a:ea typeface="隶书" panose="02010509060101010101" pitchFamily="49" charset="-122"/>
              </a:rPr>
              <a:t>）到任一城市</a:t>
            </a:r>
            <a:r>
              <a:rPr lang="en-US" altLang="zh-CN" sz="1600" dirty="0">
                <a:solidFill>
                  <a:srgbClr val="0070C0"/>
                </a:solidFill>
                <a:ea typeface="隶书" panose="02010509060101010101" pitchFamily="49" charset="-122"/>
              </a:rPr>
              <a:t>(</a:t>
            </a:r>
            <a:r>
              <a:rPr lang="en-US" altLang="zh-CN" sz="1600" dirty="0" err="1">
                <a:solidFill>
                  <a:srgbClr val="0070C0"/>
                </a:solidFill>
                <a:ea typeface="隶书" panose="02010509060101010101" pitchFamily="49" charset="-122"/>
              </a:rPr>
              <a:t>xi,yi</a:t>
            </a:r>
            <a:r>
              <a:rPr lang="en-US" altLang="zh-CN" sz="1600" dirty="0">
                <a:solidFill>
                  <a:srgbClr val="0070C0"/>
                </a:solidFill>
                <a:ea typeface="隶书" panose="02010509060101010101" pitchFamily="49" charset="-122"/>
              </a:rPr>
              <a:t>)</a:t>
            </a:r>
            <a:r>
              <a:rPr lang="zh-CN" altLang="en-US" sz="1600" dirty="0">
                <a:solidFill>
                  <a:srgbClr val="0070C0"/>
                </a:solidFill>
                <a:ea typeface="隶书" panose="02010509060101010101" pitchFamily="49" charset="-122"/>
              </a:rPr>
              <a:t>最远距离尽可能最小</a:t>
            </a:r>
            <a:endParaRPr lang="en-US" altLang="zh-CN" sz="1600" dirty="0">
              <a:solidFill>
                <a:srgbClr val="0070C0"/>
              </a:solidFill>
              <a:ea typeface="隶书" panose="02010509060101010101" pitchFamily="49" charset="-122"/>
            </a:endParaRPr>
          </a:p>
          <a:p>
            <a:pPr marL="0" indent="0">
              <a:buNone/>
            </a:pPr>
            <a:endParaRPr lang="zh-CN" altLang="en-US" sz="1600" dirty="0">
              <a:solidFill>
                <a:srgbClr val="0070C0"/>
              </a:solidFill>
              <a:ea typeface="隶书" panose="02010509060101010101" pitchFamily="49" charset="-122"/>
            </a:endParaRPr>
          </a:p>
        </p:txBody>
      </p:sp>
      <p:pic>
        <p:nvPicPr>
          <p:cNvPr id="4" name="图片 3">
            <a:extLst>
              <a:ext uri="{FF2B5EF4-FFF2-40B4-BE49-F238E27FC236}">
                <a16:creationId xmlns:a16="http://schemas.microsoft.com/office/drawing/2014/main" id="{709387E9-8517-4F0B-ACC1-26A5C803161A}"/>
              </a:ext>
            </a:extLst>
          </p:cNvPr>
          <p:cNvPicPr>
            <a:picLocks noChangeAspect="1"/>
          </p:cNvPicPr>
          <p:nvPr/>
        </p:nvPicPr>
        <p:blipFill>
          <a:blip r:embed="rId3"/>
          <a:stretch>
            <a:fillRect/>
          </a:stretch>
        </p:blipFill>
        <p:spPr>
          <a:xfrm>
            <a:off x="2916643" y="1065876"/>
            <a:ext cx="4112713" cy="1391604"/>
          </a:xfrm>
          <a:prstGeom prst="rect">
            <a:avLst/>
          </a:prstGeom>
        </p:spPr>
      </p:pic>
      <p:sp>
        <p:nvSpPr>
          <p:cNvPr id="17" name="文本框 16">
            <a:extLst>
              <a:ext uri="{FF2B5EF4-FFF2-40B4-BE49-F238E27FC236}">
                <a16:creationId xmlns:a16="http://schemas.microsoft.com/office/drawing/2014/main" id="{7B7281D0-CD1B-4937-B416-F67B1A41C3B4}"/>
              </a:ext>
            </a:extLst>
          </p:cNvPr>
          <p:cNvSpPr txBox="1"/>
          <p:nvPr/>
        </p:nvSpPr>
        <p:spPr>
          <a:xfrm>
            <a:off x="2286224" y="682917"/>
            <a:ext cx="5909910" cy="369332"/>
          </a:xfrm>
          <a:prstGeom prst="rect">
            <a:avLst/>
          </a:prstGeom>
          <a:noFill/>
        </p:spPr>
        <p:txBody>
          <a:bodyPr wrap="square">
            <a:spAutoFit/>
          </a:bodyPr>
          <a:lstStyle/>
          <a:p>
            <a:r>
              <a:rPr lang="en-US" altLang="zh-CN" dirty="0" err="1"/>
              <a:t>fminimax</a:t>
            </a:r>
            <a:r>
              <a:rPr lang="zh-CN" altLang="en-US" b="0" i="0" dirty="0">
                <a:solidFill>
                  <a:srgbClr val="212121"/>
                </a:solidFill>
                <a:effectLst/>
                <a:latin typeface="Microsoft YaHei" panose="020B0503020204020204" pitchFamily="34" charset="-122"/>
                <a:ea typeface="Microsoft YaHei" panose="020B0503020204020204" pitchFamily="34" charset="-122"/>
              </a:rPr>
              <a:t> 寻找能够最小化一组目标函数最大值的点</a:t>
            </a:r>
            <a:endParaRPr lang="zh-CN" altLang="en-US" dirty="0"/>
          </a:p>
        </p:txBody>
      </p:sp>
      <p:sp>
        <p:nvSpPr>
          <p:cNvPr id="19" name="矩形 18">
            <a:extLst>
              <a:ext uri="{FF2B5EF4-FFF2-40B4-BE49-F238E27FC236}">
                <a16:creationId xmlns:a16="http://schemas.microsoft.com/office/drawing/2014/main" id="{F07BDCB7-67DF-482A-B179-6E800A7E29EA}"/>
              </a:ext>
            </a:extLst>
          </p:cNvPr>
          <p:cNvSpPr/>
          <p:nvPr/>
        </p:nvSpPr>
        <p:spPr>
          <a:xfrm>
            <a:off x="6897398" y="1551119"/>
            <a:ext cx="2178461" cy="584775"/>
          </a:xfrm>
          <a:prstGeom prst="rect">
            <a:avLst/>
          </a:prstGeom>
          <a:solidFill>
            <a:schemeClr val="bg1"/>
          </a:solidFill>
        </p:spPr>
        <p:txBody>
          <a:bodyPr wrap="square">
            <a:spAutoFit/>
          </a:bodyPr>
          <a:lstStyle/>
          <a:p>
            <a:pPr marL="285750" indent="-285750">
              <a:buFont typeface="Wingdings" panose="05000000000000000000" pitchFamily="2" charset="2"/>
              <a:buChar char="p"/>
            </a:pPr>
            <a:r>
              <a:rPr lang="zh-CN" altLang="en-US" sz="1600" dirty="0">
                <a:solidFill>
                  <a:srgbClr val="00B0F0"/>
                </a:solidFill>
                <a:latin typeface="华文楷体" panose="02010600040101010101" pitchFamily="2" charset="-122"/>
                <a:ea typeface="华文楷体" panose="02010600040101010101" pitchFamily="2" charset="-122"/>
                <a:cs typeface="Times New Roman" panose="02020603050405020304" pitchFamily="18" charset="0"/>
              </a:rPr>
              <a:t>线性不等式约束</a:t>
            </a:r>
            <a:endParaRPr lang="en-US" altLang="zh-CN" sz="1600" dirty="0">
              <a:solidFill>
                <a:srgbClr val="00B0F0"/>
              </a:solidFill>
              <a:latin typeface="华文楷体" panose="02010600040101010101" pitchFamily="2" charset="-122"/>
              <a:ea typeface="华文楷体" panose="02010600040101010101" pitchFamily="2" charset="-122"/>
              <a:cs typeface="Times New Roman" panose="02020603050405020304" pitchFamily="18" charset="0"/>
            </a:endParaRPr>
          </a:p>
          <a:p>
            <a:pPr marL="285750" indent="-285750">
              <a:buFont typeface="Wingdings" panose="05000000000000000000" pitchFamily="2" charset="2"/>
              <a:buChar char="p"/>
            </a:pPr>
            <a:r>
              <a:rPr lang="zh-CN" altLang="en-US" sz="1600" dirty="0">
                <a:solidFill>
                  <a:srgbClr val="00B0F0"/>
                </a:solidFill>
                <a:latin typeface="华文楷体" panose="02010600040101010101" pitchFamily="2" charset="-122"/>
                <a:ea typeface="华文楷体" panose="02010600040101010101" pitchFamily="2" charset="-122"/>
                <a:cs typeface="Times New Roman" panose="02020603050405020304" pitchFamily="18" charset="0"/>
              </a:rPr>
              <a:t>线性等式约束</a:t>
            </a:r>
            <a:endParaRPr lang="zh-CN" altLang="en-US" sz="1600" dirty="0">
              <a:solidFill>
                <a:srgbClr val="00B0F0"/>
              </a:solidFill>
              <a:latin typeface="华文楷体" panose="02010600040101010101" pitchFamily="2" charset="-122"/>
              <a:ea typeface="华文楷体" panose="02010600040101010101" pitchFamily="2" charset="-122"/>
            </a:endParaRPr>
          </a:p>
        </p:txBody>
      </p:sp>
      <p:sp>
        <p:nvSpPr>
          <p:cNvPr id="20" name="矩形 19">
            <a:extLst>
              <a:ext uri="{FF2B5EF4-FFF2-40B4-BE49-F238E27FC236}">
                <a16:creationId xmlns:a16="http://schemas.microsoft.com/office/drawing/2014/main" id="{40FC7422-5CE8-4C50-8C99-F84F2C89E940}"/>
              </a:ext>
            </a:extLst>
          </p:cNvPr>
          <p:cNvSpPr/>
          <p:nvPr/>
        </p:nvSpPr>
        <p:spPr>
          <a:xfrm>
            <a:off x="6897398" y="1125687"/>
            <a:ext cx="2178461" cy="523220"/>
          </a:xfrm>
          <a:prstGeom prst="rect">
            <a:avLst/>
          </a:prstGeom>
          <a:solidFill>
            <a:schemeClr val="bg1"/>
          </a:solidFill>
        </p:spPr>
        <p:txBody>
          <a:bodyPr wrap="square">
            <a:spAutoFit/>
          </a:bodyPr>
          <a:lstStyle/>
          <a:p>
            <a:pPr marL="285750" indent="-285750">
              <a:buFont typeface="Wingdings" panose="05000000000000000000" pitchFamily="2" charset="2"/>
              <a:buChar char="p"/>
            </a:pPr>
            <a:r>
              <a:rPr lang="zh-CN" altLang="en-US" sz="14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非线性不等式约束</a:t>
            </a:r>
            <a:endParaRPr lang="en-US" altLang="zh-CN" sz="14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endParaRPr>
          </a:p>
          <a:p>
            <a:pPr marL="285750" indent="-285750">
              <a:buFont typeface="Wingdings" panose="05000000000000000000" pitchFamily="2" charset="2"/>
              <a:buChar char="p"/>
            </a:pPr>
            <a:r>
              <a:rPr lang="zh-CN" altLang="en-US" sz="14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非线性等式约束</a:t>
            </a:r>
            <a:endParaRPr lang="zh-CN" altLang="en-US" sz="1400" dirty="0">
              <a:solidFill>
                <a:srgbClr val="FF0000"/>
              </a:solidFill>
              <a:latin typeface="华文楷体" panose="02010600040101010101" pitchFamily="2" charset="-122"/>
              <a:ea typeface="华文楷体" panose="02010600040101010101" pitchFamily="2" charset="-122"/>
            </a:endParaRPr>
          </a:p>
        </p:txBody>
      </p:sp>
      <p:sp>
        <p:nvSpPr>
          <p:cNvPr id="21" name="矩形 20">
            <a:extLst>
              <a:ext uri="{FF2B5EF4-FFF2-40B4-BE49-F238E27FC236}">
                <a16:creationId xmlns:a16="http://schemas.microsoft.com/office/drawing/2014/main" id="{57ECBD49-BDD6-4519-A188-37FCF7E5269F}"/>
              </a:ext>
            </a:extLst>
          </p:cNvPr>
          <p:cNvSpPr/>
          <p:nvPr/>
        </p:nvSpPr>
        <p:spPr>
          <a:xfrm>
            <a:off x="6897398" y="2089180"/>
            <a:ext cx="1846980" cy="338554"/>
          </a:xfrm>
          <a:prstGeom prst="rect">
            <a:avLst/>
          </a:prstGeom>
        </p:spPr>
        <p:txBody>
          <a:bodyPr wrap="none">
            <a:spAutoFit/>
          </a:bodyPr>
          <a:lstStyle/>
          <a:p>
            <a:pPr marL="285750" indent="-285750">
              <a:buFont typeface="Wingdings" panose="05000000000000000000" pitchFamily="2" charset="2"/>
              <a:buChar char="p"/>
            </a:pPr>
            <a:r>
              <a:rPr lang="en-US" altLang="zh-CN" sz="1600" dirty="0">
                <a:solidFill>
                  <a:srgbClr val="00B0F0"/>
                </a:solidFill>
                <a:latin typeface="华文楷体" panose="02010600040101010101" pitchFamily="2" charset="-122"/>
                <a:ea typeface="华文楷体" panose="02010600040101010101" pitchFamily="2" charset="-122"/>
                <a:cs typeface="Times New Roman" panose="02020603050405020304" pitchFamily="18" charset="0"/>
              </a:rPr>
              <a:t>X</a:t>
            </a:r>
            <a:r>
              <a:rPr lang="zh-CN" altLang="en-US" sz="1600" dirty="0">
                <a:solidFill>
                  <a:srgbClr val="00B0F0"/>
                </a:solidFill>
                <a:latin typeface="华文楷体" panose="02010600040101010101" pitchFamily="2" charset="-122"/>
                <a:ea typeface="华文楷体" panose="02010600040101010101" pitchFamily="2" charset="-122"/>
                <a:cs typeface="Times New Roman" panose="02020603050405020304" pitchFamily="18" charset="0"/>
              </a:rPr>
              <a:t>的上界和下界</a:t>
            </a:r>
            <a:endParaRPr lang="zh-CN" altLang="en-US" sz="1600" dirty="0">
              <a:solidFill>
                <a:srgbClr val="00B0F0"/>
              </a:solidFill>
              <a:latin typeface="华文楷体" panose="02010600040101010101" pitchFamily="2" charset="-122"/>
              <a:ea typeface="华文楷体" panose="02010600040101010101" pitchFamily="2" charset="-122"/>
            </a:endParaRPr>
          </a:p>
        </p:txBody>
      </p:sp>
      <p:sp>
        <p:nvSpPr>
          <p:cNvPr id="23" name="文本框 22">
            <a:extLst>
              <a:ext uri="{FF2B5EF4-FFF2-40B4-BE49-F238E27FC236}">
                <a16:creationId xmlns:a16="http://schemas.microsoft.com/office/drawing/2014/main" id="{0A467215-5C27-4500-864E-8BE77CB9A43D}"/>
              </a:ext>
            </a:extLst>
          </p:cNvPr>
          <p:cNvSpPr txBox="1"/>
          <p:nvPr/>
        </p:nvSpPr>
        <p:spPr>
          <a:xfrm>
            <a:off x="514833" y="1400634"/>
            <a:ext cx="2259818" cy="923330"/>
          </a:xfrm>
          <a:prstGeom prst="rect">
            <a:avLst/>
          </a:prstGeom>
          <a:noFill/>
        </p:spPr>
        <p:txBody>
          <a:bodyPr wrap="square">
            <a:spAutoFit/>
          </a:bodyPr>
          <a:lstStyle/>
          <a:p>
            <a:r>
              <a:rPr lang="en-US" altLang="zh-CN" dirty="0" err="1">
                <a:solidFill>
                  <a:srgbClr val="FF0000"/>
                </a:solidFill>
              </a:rPr>
              <a:t>fminimax</a:t>
            </a:r>
            <a:r>
              <a:rPr lang="en-US" altLang="zh-CN" b="0" i="0" dirty="0">
                <a:solidFill>
                  <a:srgbClr val="FF0000"/>
                </a:solidFill>
                <a:effectLst/>
                <a:latin typeface="Microsoft YaHei" panose="020B0503020204020204" pitchFamily="34" charset="-122"/>
                <a:ea typeface="Microsoft YaHei" panose="020B0503020204020204" pitchFamily="34" charset="-122"/>
              </a:rPr>
              <a:t> </a:t>
            </a:r>
            <a:r>
              <a:rPr lang="zh-CN" altLang="en-US" b="0" i="0" dirty="0">
                <a:solidFill>
                  <a:srgbClr val="FF0000"/>
                </a:solidFill>
                <a:effectLst/>
                <a:latin typeface="Microsoft YaHei" panose="020B0503020204020204" pitchFamily="34" charset="-122"/>
                <a:ea typeface="Microsoft YaHei" panose="020B0503020204020204" pitchFamily="34" charset="-122"/>
              </a:rPr>
              <a:t>寻找</a:t>
            </a:r>
            <a:endParaRPr lang="en-US" altLang="zh-CN" b="0" i="0" dirty="0">
              <a:solidFill>
                <a:srgbClr val="FF0000"/>
              </a:solidFill>
              <a:effectLst/>
              <a:latin typeface="Microsoft YaHei" panose="020B0503020204020204" pitchFamily="34" charset="-122"/>
              <a:ea typeface="Microsoft YaHei" panose="020B0503020204020204" pitchFamily="34" charset="-122"/>
            </a:endParaRPr>
          </a:p>
          <a:p>
            <a:r>
              <a:rPr lang="zh-CN" altLang="en-US" b="0" i="0" dirty="0">
                <a:solidFill>
                  <a:srgbClr val="FF0000"/>
                </a:solidFill>
                <a:effectLst/>
                <a:latin typeface="Microsoft YaHei" panose="020B0503020204020204" pitchFamily="34" charset="-122"/>
                <a:ea typeface="Microsoft YaHei" panose="020B0503020204020204" pitchFamily="34" charset="-122"/>
              </a:rPr>
              <a:t>由下式指定的问题</a:t>
            </a:r>
            <a:endParaRPr lang="en-US" altLang="zh-CN" b="0" i="0" dirty="0">
              <a:solidFill>
                <a:srgbClr val="FF0000"/>
              </a:solidFill>
              <a:effectLst/>
              <a:latin typeface="Microsoft YaHei" panose="020B0503020204020204" pitchFamily="34" charset="-122"/>
              <a:ea typeface="Microsoft YaHei" panose="020B0503020204020204" pitchFamily="34" charset="-122"/>
            </a:endParaRPr>
          </a:p>
          <a:p>
            <a:r>
              <a:rPr lang="zh-CN" altLang="en-US" b="0" i="0" dirty="0">
                <a:solidFill>
                  <a:srgbClr val="FF0000"/>
                </a:solidFill>
                <a:effectLst/>
                <a:latin typeface="Microsoft YaHei" panose="020B0503020204020204" pitchFamily="34" charset="-122"/>
                <a:ea typeface="Microsoft YaHei" panose="020B0503020204020204" pitchFamily="34" charset="-122"/>
              </a:rPr>
              <a:t>的最小值</a:t>
            </a:r>
            <a:endParaRPr lang="zh-CN" altLang="en-US" dirty="0">
              <a:solidFill>
                <a:srgbClr val="FF0000"/>
              </a:solidFill>
            </a:endParaRPr>
          </a:p>
        </p:txBody>
      </p:sp>
    </p:spTree>
    <p:extLst>
      <p:ext uri="{BB962C8B-B14F-4D97-AF65-F5344CB8AC3E}">
        <p14:creationId xmlns:p14="http://schemas.microsoft.com/office/powerpoint/2010/main" val="39945794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DE74FAFD-6D4F-4455-B006-4C11ADF1433C}"/>
              </a:ext>
            </a:extLst>
          </p:cNvPr>
          <p:cNvSpPr txBox="1">
            <a:spLocks/>
          </p:cNvSpPr>
          <p:nvPr/>
        </p:nvSpPr>
        <p:spPr>
          <a:xfrm>
            <a:off x="982018" y="2304210"/>
            <a:ext cx="7886700" cy="1487582"/>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2100" dirty="0"/>
          </a:p>
        </p:txBody>
      </p:sp>
      <p:sp>
        <p:nvSpPr>
          <p:cNvPr id="13" name="内容占位符 2">
            <a:extLst>
              <a:ext uri="{FF2B5EF4-FFF2-40B4-BE49-F238E27FC236}">
                <a16:creationId xmlns:a16="http://schemas.microsoft.com/office/drawing/2014/main" id="{4288E144-82DB-BA2F-6882-AF12E50E5046}"/>
              </a:ext>
            </a:extLst>
          </p:cNvPr>
          <p:cNvSpPr txBox="1">
            <a:spLocks/>
          </p:cNvSpPr>
          <p:nvPr/>
        </p:nvSpPr>
        <p:spPr>
          <a:xfrm>
            <a:off x="1046995" y="757301"/>
            <a:ext cx="7949407" cy="302281"/>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dirty="0">
                <a:solidFill>
                  <a:srgbClr val="0070C0"/>
                </a:solidFill>
                <a:ea typeface="隶书" panose="02010509060101010101" pitchFamily="49" charset="-122"/>
              </a:rPr>
              <a:t>要求垃圾站位置（</a:t>
            </a:r>
            <a:r>
              <a:rPr lang="en-US" altLang="zh-CN" sz="2000" dirty="0" err="1">
                <a:solidFill>
                  <a:srgbClr val="0070C0"/>
                </a:solidFill>
                <a:ea typeface="隶书" panose="02010509060101010101" pitchFamily="49" charset="-122"/>
              </a:rPr>
              <a:t>xx,yy</a:t>
            </a:r>
            <a:r>
              <a:rPr lang="zh-CN" altLang="en-US" sz="2000" dirty="0">
                <a:solidFill>
                  <a:srgbClr val="0070C0"/>
                </a:solidFill>
                <a:ea typeface="隶书" panose="02010509060101010101" pitchFamily="49" charset="-122"/>
              </a:rPr>
              <a:t>）到任一城市</a:t>
            </a:r>
            <a:r>
              <a:rPr lang="en-US" altLang="zh-CN" sz="2000" dirty="0">
                <a:solidFill>
                  <a:srgbClr val="0070C0"/>
                </a:solidFill>
                <a:ea typeface="隶书" panose="02010509060101010101" pitchFamily="49" charset="-122"/>
              </a:rPr>
              <a:t>(</a:t>
            </a:r>
            <a:r>
              <a:rPr lang="en-US" altLang="zh-CN" sz="2000" dirty="0" err="1">
                <a:solidFill>
                  <a:srgbClr val="0070C0"/>
                </a:solidFill>
                <a:ea typeface="隶书" panose="02010509060101010101" pitchFamily="49" charset="-122"/>
              </a:rPr>
              <a:t>xi,yi</a:t>
            </a:r>
            <a:r>
              <a:rPr lang="en-US" altLang="zh-CN" sz="2000" dirty="0">
                <a:solidFill>
                  <a:srgbClr val="0070C0"/>
                </a:solidFill>
                <a:ea typeface="隶书" panose="02010509060101010101" pitchFamily="49" charset="-122"/>
              </a:rPr>
              <a:t>)</a:t>
            </a:r>
            <a:r>
              <a:rPr lang="zh-CN" altLang="en-US" sz="2000" dirty="0">
                <a:solidFill>
                  <a:srgbClr val="0070C0"/>
                </a:solidFill>
                <a:ea typeface="隶书" panose="02010509060101010101" pitchFamily="49" charset="-122"/>
              </a:rPr>
              <a:t>最远距离尽可能最小</a:t>
            </a:r>
            <a:endParaRPr lang="en-US" altLang="zh-CN" sz="2000" dirty="0">
              <a:solidFill>
                <a:srgbClr val="0070C0"/>
              </a:solidFill>
              <a:ea typeface="隶书" panose="02010509060101010101" pitchFamily="49" charset="-122"/>
            </a:endParaRPr>
          </a:p>
          <a:p>
            <a:pPr marL="0" indent="0">
              <a:buNone/>
            </a:pPr>
            <a:endParaRPr lang="zh-CN" altLang="en-US" sz="2000" dirty="0">
              <a:solidFill>
                <a:srgbClr val="0070C0"/>
              </a:solidFill>
              <a:ea typeface="隶书" panose="02010509060101010101" pitchFamily="49" charset="-122"/>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895CE921-90E8-112A-FA52-DAD0DB7CDED1}"/>
                  </a:ext>
                </a:extLst>
              </p:cNvPr>
              <p:cNvSpPr/>
              <p:nvPr/>
            </p:nvSpPr>
            <p:spPr>
              <a:xfrm>
                <a:off x="982018" y="1146019"/>
                <a:ext cx="7236804" cy="465064"/>
              </a:xfrm>
              <a:prstGeom prst="rect">
                <a:avLst/>
              </a:prstGeom>
            </p:spPr>
            <p:txBody>
              <a:bodyPr wrap="square">
                <a:spAutoFit/>
              </a:bodyPr>
              <a:lstStyle/>
              <a:p>
                <a:r>
                  <a:rPr lang="zh-CN" altLang="en-US" sz="2000" dirty="0">
                    <a:solidFill>
                      <a:srgbClr val="0070C0"/>
                    </a:solidFill>
                    <a:effectLst/>
                    <a:latin typeface="隶书" panose="02010509060101010101" pitchFamily="49" charset="-122"/>
                    <a:ea typeface="隶书" panose="02010509060101010101" pitchFamily="49" charset="-122"/>
                  </a:rPr>
                  <a:t>目标函数</a:t>
                </a:r>
                <a:r>
                  <a:rPr lang="en-US" altLang="zh-CN" sz="2000" dirty="0">
                    <a:solidFill>
                      <a:srgbClr val="0070C0"/>
                    </a:solidFill>
                    <a:effectLst/>
                    <a:latin typeface="隶书" panose="02010509060101010101" pitchFamily="49" charset="-122"/>
                    <a:ea typeface="隶书" panose="02010509060101010101" pitchFamily="49" charset="-122"/>
                  </a:rPr>
                  <a:t>f</a:t>
                </a:r>
                <a:r>
                  <a:rPr lang="zh-CN" altLang="en-US" sz="2000" dirty="0">
                    <a:solidFill>
                      <a:srgbClr val="0070C0"/>
                    </a:solidFill>
                    <a:effectLst/>
                    <a:latin typeface="隶书" panose="02010509060101010101" pitchFamily="49" charset="-122"/>
                    <a:ea typeface="隶书" panose="02010509060101010101" pitchFamily="49" charset="-122"/>
                  </a:rPr>
                  <a:t>是</a:t>
                </a:r>
                <a14:m>
                  <m:oMath xmlns:m="http://schemas.openxmlformats.org/officeDocument/2006/math">
                    <m:r>
                      <a:rPr lang="en-US" altLang="zh-CN" sz="2000" b="0" i="1" smtClean="0">
                        <a:solidFill>
                          <a:srgbClr val="0070C0"/>
                        </a:solidFill>
                        <a:effectLst/>
                        <a:latin typeface="Cambria Math" panose="02040503050406030204" pitchFamily="18" charset="0"/>
                      </a:rPr>
                      <m:t>𝑚𝑖𝑛</m:t>
                    </m:r>
                    <m:r>
                      <a:rPr lang="en-US" altLang="zh-CN" sz="2000" b="0" i="1" smtClean="0">
                        <a:solidFill>
                          <a:srgbClr val="0070C0"/>
                        </a:solidFill>
                        <a:effectLst/>
                        <a:latin typeface="Cambria Math" panose="02040503050406030204" pitchFamily="18" charset="0"/>
                      </a:rPr>
                      <m:t> (</m:t>
                    </m:r>
                    <m:r>
                      <a:rPr lang="en-US" altLang="zh-CN" sz="2000" b="0" i="1" smtClean="0">
                        <a:solidFill>
                          <a:srgbClr val="0070C0"/>
                        </a:solidFill>
                        <a:effectLst/>
                        <a:latin typeface="Cambria Math" panose="02040503050406030204" pitchFamily="18" charset="0"/>
                      </a:rPr>
                      <m:t>𝑚𝑎𝑥</m:t>
                    </m:r>
                    <m:rad>
                      <m:radPr>
                        <m:degHide m:val="on"/>
                        <m:ctrlPr>
                          <a:rPr lang="en-US" altLang="zh-CN" sz="2000" i="1">
                            <a:solidFill>
                              <a:srgbClr val="0070C0"/>
                            </a:solidFill>
                            <a:latin typeface="Cambria Math" panose="02040503050406030204" pitchFamily="18" charset="0"/>
                          </a:rPr>
                        </m:ctrlPr>
                      </m:radPr>
                      <m:deg/>
                      <m:e>
                        <m:sSup>
                          <m:sSupPr>
                            <m:ctrlPr>
                              <a:rPr lang="en-US" altLang="zh-CN" sz="2000" i="1">
                                <a:solidFill>
                                  <a:srgbClr val="0070C0"/>
                                </a:solidFill>
                                <a:latin typeface="Cambria Math" panose="02040503050406030204" pitchFamily="18" charset="0"/>
                              </a:rPr>
                            </m:ctrlPr>
                          </m:sSupPr>
                          <m:e>
                            <m:d>
                              <m:dPr>
                                <m:ctrlPr>
                                  <a:rPr lang="en-US" altLang="zh-CN" sz="2000" i="1">
                                    <a:solidFill>
                                      <a:srgbClr val="0070C0"/>
                                    </a:solidFill>
                                    <a:latin typeface="Cambria Math" panose="02040503050406030204" pitchFamily="18" charset="0"/>
                                  </a:rPr>
                                </m:ctrlPr>
                              </m:dPr>
                              <m:e>
                                <m:r>
                                  <a:rPr lang="en-US" altLang="zh-CN" sz="2000" i="1">
                                    <a:solidFill>
                                      <a:srgbClr val="0070C0"/>
                                    </a:solidFill>
                                    <a:latin typeface="Cambria Math" panose="02040503050406030204" pitchFamily="18" charset="0"/>
                                  </a:rPr>
                                  <m:t>𝑥𝑥</m:t>
                                </m:r>
                                <m:r>
                                  <a:rPr lang="en-US" altLang="zh-CN" sz="2000" i="1">
                                    <a:solidFill>
                                      <a:srgbClr val="0070C0"/>
                                    </a:solidFill>
                                    <a:latin typeface="Cambria Math" panose="02040503050406030204" pitchFamily="18" charset="0"/>
                                  </a:rPr>
                                  <m:t>−</m:t>
                                </m:r>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panose="02040503050406030204" pitchFamily="18" charset="0"/>
                                      </a:rPr>
                                      <m:t>𝑥</m:t>
                                    </m:r>
                                  </m:e>
                                  <m:sub>
                                    <m:r>
                                      <a:rPr lang="en-US" altLang="zh-CN" sz="2000" i="1">
                                        <a:solidFill>
                                          <a:srgbClr val="0070C0"/>
                                        </a:solidFill>
                                        <a:latin typeface="Cambria Math" panose="02040503050406030204" pitchFamily="18" charset="0"/>
                                      </a:rPr>
                                      <m:t>𝑖</m:t>
                                    </m:r>
                                  </m:sub>
                                </m:sSub>
                              </m:e>
                            </m:d>
                          </m:e>
                          <m:sup>
                            <m:r>
                              <a:rPr lang="en-US" altLang="zh-CN" sz="2000" i="1">
                                <a:solidFill>
                                  <a:srgbClr val="0070C0"/>
                                </a:solidFill>
                                <a:latin typeface="Cambria Math" panose="02040503050406030204" pitchFamily="18" charset="0"/>
                              </a:rPr>
                              <m:t>2</m:t>
                            </m:r>
                          </m:sup>
                        </m:sSup>
                        <m:r>
                          <a:rPr lang="en-US" altLang="zh-CN" sz="2000" i="1">
                            <a:solidFill>
                              <a:srgbClr val="0070C0"/>
                            </a:solidFill>
                            <a:latin typeface="Cambria Math" panose="02040503050406030204" pitchFamily="18" charset="0"/>
                          </a:rPr>
                          <m:t>+</m:t>
                        </m:r>
                        <m:sSup>
                          <m:sSupPr>
                            <m:ctrlPr>
                              <a:rPr lang="en-US" altLang="zh-CN" sz="2000" i="1">
                                <a:solidFill>
                                  <a:srgbClr val="0070C0"/>
                                </a:solidFill>
                                <a:latin typeface="Cambria Math" panose="02040503050406030204" pitchFamily="18" charset="0"/>
                              </a:rPr>
                            </m:ctrlPr>
                          </m:sSupPr>
                          <m:e>
                            <m:d>
                              <m:dPr>
                                <m:ctrlPr>
                                  <a:rPr lang="en-US" altLang="zh-CN" sz="2000" i="1">
                                    <a:solidFill>
                                      <a:srgbClr val="0070C0"/>
                                    </a:solidFill>
                                    <a:latin typeface="Cambria Math" panose="02040503050406030204" pitchFamily="18" charset="0"/>
                                  </a:rPr>
                                </m:ctrlPr>
                              </m:dPr>
                              <m:e>
                                <m:r>
                                  <a:rPr lang="en-US" altLang="zh-CN" sz="2000" i="1">
                                    <a:solidFill>
                                      <a:srgbClr val="0070C0"/>
                                    </a:solidFill>
                                    <a:latin typeface="Cambria Math" panose="02040503050406030204" pitchFamily="18" charset="0"/>
                                  </a:rPr>
                                  <m:t>𝑦𝑦</m:t>
                                </m:r>
                                <m:r>
                                  <a:rPr lang="en-US" altLang="zh-CN" sz="2000" i="1">
                                    <a:solidFill>
                                      <a:srgbClr val="0070C0"/>
                                    </a:solidFill>
                                    <a:latin typeface="Cambria Math" panose="02040503050406030204" pitchFamily="18" charset="0"/>
                                  </a:rPr>
                                  <m:t>−</m:t>
                                </m:r>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panose="02040503050406030204" pitchFamily="18" charset="0"/>
                                      </a:rPr>
                                      <m:t>𝑦</m:t>
                                    </m:r>
                                  </m:e>
                                  <m:sub>
                                    <m:r>
                                      <a:rPr lang="en-US" altLang="zh-CN" sz="2000" i="1">
                                        <a:solidFill>
                                          <a:srgbClr val="0070C0"/>
                                        </a:solidFill>
                                        <a:latin typeface="Cambria Math" panose="02040503050406030204" pitchFamily="18" charset="0"/>
                                      </a:rPr>
                                      <m:t>𝑖</m:t>
                                    </m:r>
                                  </m:sub>
                                </m:sSub>
                              </m:e>
                            </m:d>
                          </m:e>
                          <m:sup>
                            <m:r>
                              <a:rPr lang="en-US" altLang="zh-CN" sz="2000" i="1">
                                <a:solidFill>
                                  <a:srgbClr val="0070C0"/>
                                </a:solidFill>
                                <a:latin typeface="Cambria Math" panose="02040503050406030204" pitchFamily="18" charset="0"/>
                              </a:rPr>
                              <m:t>2</m:t>
                            </m:r>
                          </m:sup>
                        </m:sSup>
                        <m:r>
                          <a:rPr lang="en-US" altLang="zh-CN" sz="2000" i="1">
                            <a:solidFill>
                              <a:srgbClr val="0070C0"/>
                            </a:solidFill>
                            <a:latin typeface="Cambria Math" panose="02040503050406030204" pitchFamily="18" charset="0"/>
                          </a:rPr>
                          <m:t>  </m:t>
                        </m:r>
                      </m:e>
                    </m:rad>
                  </m:oMath>
                </a14:m>
                <a:r>
                  <a:rPr lang="zh-CN" altLang="en-US" sz="2000" dirty="0">
                    <a:solidFill>
                      <a:srgbClr val="0070C0"/>
                    </a:solidFill>
                    <a:effectLst/>
                  </a:rPr>
                  <a:t>  </a:t>
                </a:r>
                <a:r>
                  <a:rPr lang="en-US" altLang="zh-CN" sz="2000" dirty="0">
                    <a:solidFill>
                      <a:srgbClr val="0070C0"/>
                    </a:solidFill>
                    <a:effectLst/>
                  </a:rPr>
                  <a:t>)</a:t>
                </a:r>
                <a:endParaRPr lang="zh-CN" altLang="en-US" sz="2000" dirty="0">
                  <a:solidFill>
                    <a:srgbClr val="0070C0"/>
                  </a:solidFill>
                  <a:effectLst/>
                </a:endParaRPr>
              </a:p>
            </p:txBody>
          </p:sp>
        </mc:Choice>
        <mc:Fallback xmlns="">
          <p:sp>
            <p:nvSpPr>
              <p:cNvPr id="2" name="矩形 1">
                <a:extLst>
                  <a:ext uri="{FF2B5EF4-FFF2-40B4-BE49-F238E27FC236}">
                    <a16:creationId xmlns:a16="http://schemas.microsoft.com/office/drawing/2014/main" id="{895CE921-90E8-112A-FA52-DAD0DB7CDED1}"/>
                  </a:ext>
                </a:extLst>
              </p:cNvPr>
              <p:cNvSpPr>
                <a:spLocks noRot="1" noChangeAspect="1" noMove="1" noResize="1" noEditPoints="1" noAdjustHandles="1" noChangeArrowheads="1" noChangeShapeType="1" noTextEdit="1"/>
              </p:cNvSpPr>
              <p:nvPr/>
            </p:nvSpPr>
            <p:spPr>
              <a:xfrm>
                <a:off x="982018" y="1146019"/>
                <a:ext cx="7236804" cy="465064"/>
              </a:xfrm>
              <a:prstGeom prst="rect">
                <a:avLst/>
              </a:prstGeom>
              <a:blipFill>
                <a:blip r:embed="rId3"/>
                <a:stretch>
                  <a:fillRect l="-842" b="-21053"/>
                </a:stretch>
              </a:blipFill>
            </p:spPr>
            <p:txBody>
              <a:bodyPr/>
              <a:lstStyle/>
              <a:p>
                <a:r>
                  <a:rPr lang="zh-CN" altLang="en-US">
                    <a:noFill/>
                  </a:rPr>
                  <a:t> </a:t>
                </a:r>
              </a:p>
            </p:txBody>
          </p:sp>
        </mc:Fallback>
      </mc:AlternateContent>
      <p:sp>
        <p:nvSpPr>
          <p:cNvPr id="11" name="Rectangle 4">
            <a:extLst>
              <a:ext uri="{FF2B5EF4-FFF2-40B4-BE49-F238E27FC236}">
                <a16:creationId xmlns:a16="http://schemas.microsoft.com/office/drawing/2014/main" id="{92B538BF-F9FB-44CB-B4F5-2E88449E644F}"/>
              </a:ext>
            </a:extLst>
          </p:cNvPr>
          <p:cNvSpPr>
            <a:spLocks noChangeArrowheads="1"/>
          </p:cNvSpPr>
          <p:nvPr/>
        </p:nvSpPr>
        <p:spPr bwMode="auto">
          <a:xfrm>
            <a:off x="0" y="90100"/>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6" name="图片 5">
            <a:extLst>
              <a:ext uri="{FF2B5EF4-FFF2-40B4-BE49-F238E27FC236}">
                <a16:creationId xmlns:a16="http://schemas.microsoft.com/office/drawing/2014/main" id="{2BC232F4-733D-441C-8942-847CE4655DA0}"/>
              </a:ext>
            </a:extLst>
          </p:cNvPr>
          <p:cNvPicPr>
            <a:picLocks noChangeAspect="1"/>
          </p:cNvPicPr>
          <p:nvPr/>
        </p:nvPicPr>
        <p:blipFill rotWithShape="1">
          <a:blip r:embed="rId4"/>
          <a:srcRect l="4050" t="65686" r="43703" b="8701"/>
          <a:stretch/>
        </p:blipFill>
        <p:spPr>
          <a:xfrm>
            <a:off x="1046995" y="1621565"/>
            <a:ext cx="4777404" cy="1550846"/>
          </a:xfrm>
          <a:prstGeom prst="rect">
            <a:avLst/>
          </a:prstGeom>
        </p:spPr>
      </p:pic>
      <p:pic>
        <p:nvPicPr>
          <p:cNvPr id="14" name="图片 13">
            <a:extLst>
              <a:ext uri="{FF2B5EF4-FFF2-40B4-BE49-F238E27FC236}">
                <a16:creationId xmlns:a16="http://schemas.microsoft.com/office/drawing/2014/main" id="{31139036-442B-49B5-BC65-993807485E2D}"/>
              </a:ext>
            </a:extLst>
          </p:cNvPr>
          <p:cNvPicPr>
            <a:picLocks noChangeAspect="1"/>
          </p:cNvPicPr>
          <p:nvPr/>
        </p:nvPicPr>
        <p:blipFill rotWithShape="1">
          <a:blip r:embed="rId4"/>
          <a:srcRect l="13306" t="21724" r="49464" b="37401"/>
          <a:stretch/>
        </p:blipFill>
        <p:spPr>
          <a:xfrm>
            <a:off x="6026356" y="2372055"/>
            <a:ext cx="3044319" cy="2102382"/>
          </a:xfrm>
          <a:prstGeom prst="rect">
            <a:avLst/>
          </a:prstGeom>
        </p:spPr>
      </p:pic>
      <p:pic>
        <p:nvPicPr>
          <p:cNvPr id="15" name="图片 14">
            <a:extLst>
              <a:ext uri="{FF2B5EF4-FFF2-40B4-BE49-F238E27FC236}">
                <a16:creationId xmlns:a16="http://schemas.microsoft.com/office/drawing/2014/main" id="{E168B266-6965-4016-B9E5-8B77AE3785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2306" y="3465452"/>
            <a:ext cx="4034156" cy="1120736"/>
          </a:xfrm>
          <a:prstGeom prst="rect">
            <a:avLst/>
          </a:prstGeom>
        </p:spPr>
      </p:pic>
      <p:sp>
        <p:nvSpPr>
          <p:cNvPr id="12" name="标题 1">
            <a:extLst>
              <a:ext uri="{FF2B5EF4-FFF2-40B4-BE49-F238E27FC236}">
                <a16:creationId xmlns:a16="http://schemas.microsoft.com/office/drawing/2014/main" id="{061DC4DF-71C6-4CD9-B888-BEACE02D8A8D}"/>
              </a:ext>
            </a:extLst>
          </p:cNvPr>
          <p:cNvSpPr txBox="1">
            <a:spLocks/>
          </p:cNvSpPr>
          <p:nvPr/>
        </p:nvSpPr>
        <p:spPr>
          <a:xfrm>
            <a:off x="1115616" y="149344"/>
            <a:ext cx="7425689" cy="438150"/>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800" b="0" dirty="0">
                <a:solidFill>
                  <a:srgbClr val="002060"/>
                </a:solidFill>
                <a:latin typeface="华文楷体" panose="02010600040101010101" pitchFamily="2" charset="-122"/>
                <a:ea typeface="华文楷体" panose="02010600040101010101" pitchFamily="2" charset="-122"/>
              </a:rPr>
              <a:t>§8.4.5</a:t>
            </a:r>
            <a:r>
              <a:rPr lang="zh-CN" altLang="en-US" sz="2800" b="0" kern="0" dirty="0">
                <a:solidFill>
                  <a:srgbClr val="002060"/>
                </a:solidFill>
                <a:latin typeface="华文楷体" panose="02010600040101010101" pitchFamily="2" charset="-122"/>
                <a:ea typeface="华文楷体" panose="02010600040101010101" pitchFamily="2" charset="-122"/>
              </a:rPr>
              <a:t> </a:t>
            </a:r>
            <a:r>
              <a:rPr lang="zh-CN" altLang="zh-CN" sz="2800" dirty="0">
                <a:solidFill>
                  <a:srgbClr val="002060"/>
                </a:solidFill>
                <a:latin typeface="华文楷体" panose="02010600040101010101" pitchFamily="2" charset="-122"/>
                <a:ea typeface="华文楷体" panose="02010600040101010101" pitchFamily="2" charset="-122"/>
              </a:rPr>
              <a:t>fminimax</a:t>
            </a:r>
            <a:r>
              <a:rPr lang="zh-CN" altLang="en-US" sz="2800" b="0" i="0" dirty="0">
                <a:solidFill>
                  <a:srgbClr val="002060"/>
                </a:solidFill>
                <a:effectLst/>
                <a:latin typeface="华文楷体" panose="02010600040101010101" pitchFamily="2" charset="-122"/>
                <a:ea typeface="华文楷体" panose="02010600040101010101" pitchFamily="2" charset="-122"/>
              </a:rPr>
              <a:t>求解</a:t>
            </a:r>
            <a:r>
              <a:rPr lang="en-US" altLang="zh-CN" sz="2800" b="0" i="0" dirty="0">
                <a:solidFill>
                  <a:srgbClr val="002060"/>
                </a:solidFill>
                <a:effectLst/>
                <a:latin typeface="华文楷体" panose="02010600040101010101" pitchFamily="2" charset="-122"/>
                <a:ea typeface="华文楷体" panose="02010600040101010101" pitchFamily="2" charset="-122"/>
              </a:rPr>
              <a:t>minmax</a:t>
            </a:r>
            <a:r>
              <a:rPr lang="zh-CN" altLang="en-US" sz="2800" b="0" i="0" dirty="0">
                <a:solidFill>
                  <a:srgbClr val="002060"/>
                </a:solidFill>
                <a:effectLst/>
                <a:latin typeface="华文楷体" panose="02010600040101010101" pitchFamily="2" charset="-122"/>
                <a:ea typeface="华文楷体" panose="02010600040101010101" pitchFamily="2" charset="-122"/>
              </a:rPr>
              <a:t>约束问题</a:t>
            </a:r>
            <a:r>
              <a:rPr lang="en-US" altLang="zh-CN" sz="2800" b="0" kern="0" dirty="0">
                <a:solidFill>
                  <a:srgbClr val="FF0000"/>
                </a:solidFill>
                <a:latin typeface="华文楷体" panose="02010600040101010101" pitchFamily="2" charset="-122"/>
                <a:ea typeface="华文楷体" panose="02010600040101010101" pitchFamily="2" charset="-122"/>
              </a:rPr>
              <a:t>——</a:t>
            </a:r>
            <a:r>
              <a:rPr lang="zh-CN" altLang="en-US" sz="2800" b="0" kern="0" dirty="0">
                <a:solidFill>
                  <a:srgbClr val="FF0000"/>
                </a:solidFill>
                <a:latin typeface="华文楷体" panose="02010600040101010101" pitchFamily="2" charset="-122"/>
                <a:ea typeface="华文楷体" panose="02010600040101010101" pitchFamily="2" charset="-122"/>
              </a:rPr>
              <a:t>案例</a:t>
            </a:r>
            <a:endParaRPr kumimoji="0" lang="zh-CN" altLang="zh-CN" sz="2800" b="1"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endParaRPr>
          </a:p>
          <a:p>
            <a:endParaRPr lang="zh-CN" altLang="en-US" sz="2800" b="0" kern="0" dirty="0">
              <a:solidFill>
                <a:srgbClr val="FF0000"/>
              </a:solidFill>
              <a:latin typeface="华文楷体" panose="02010600040101010101" pitchFamily="2" charset="-122"/>
              <a:ea typeface="华文楷体" panose="02010600040101010101" pitchFamily="2" charset="-122"/>
            </a:endParaRPr>
          </a:p>
        </p:txBody>
      </p:sp>
      <p:sp>
        <p:nvSpPr>
          <p:cNvPr id="16" name="波形 15">
            <a:extLst>
              <a:ext uri="{FF2B5EF4-FFF2-40B4-BE49-F238E27FC236}">
                <a16:creationId xmlns:a16="http://schemas.microsoft.com/office/drawing/2014/main" id="{8A2C7115-01BE-47B8-A2BB-FDA7050B6A49}"/>
              </a:ext>
            </a:extLst>
          </p:cNvPr>
          <p:cNvSpPr/>
          <p:nvPr/>
        </p:nvSpPr>
        <p:spPr>
          <a:xfrm>
            <a:off x="147598" y="736431"/>
            <a:ext cx="899397" cy="426998"/>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charset="-122"/>
                <a:ea typeface="微软雅黑" panose="020B0503020204020204" charset="-122"/>
              </a:rPr>
              <a:t>例84-8</a:t>
            </a:r>
            <a:endParaRPr lang="ko-KR" altLang="en-US" sz="1600" b="1" dirty="0">
              <a:solidFill>
                <a:srgbClr val="FFFF00"/>
              </a:solidFill>
              <a:latin typeface="微软雅黑" panose="020B0503020204020204" charset="-122"/>
              <a:ea typeface="微软雅黑" panose="020B0503020204020204" charset="-122"/>
            </a:endParaRPr>
          </a:p>
        </p:txBody>
      </p:sp>
      <p:sp>
        <p:nvSpPr>
          <p:cNvPr id="17" name="文本框 16">
            <a:extLst>
              <a:ext uri="{FF2B5EF4-FFF2-40B4-BE49-F238E27FC236}">
                <a16:creationId xmlns:a16="http://schemas.microsoft.com/office/drawing/2014/main" id="{C4DAEB9D-95C1-455A-AFEB-EB2D00D3A541}"/>
              </a:ext>
            </a:extLst>
          </p:cNvPr>
          <p:cNvSpPr txBox="1"/>
          <p:nvPr/>
        </p:nvSpPr>
        <p:spPr>
          <a:xfrm>
            <a:off x="982018" y="3096120"/>
            <a:ext cx="2019306" cy="369332"/>
          </a:xfrm>
          <a:prstGeom prst="rect">
            <a:avLst/>
          </a:prstGeom>
          <a:noFill/>
        </p:spPr>
        <p:txBody>
          <a:bodyPr wrap="square">
            <a:spAutoFit/>
          </a:bodyPr>
          <a:lstStyle/>
          <a:p>
            <a:r>
              <a:rPr lang="en-US" altLang="zh-CN" sz="1800" dirty="0">
                <a:solidFill>
                  <a:srgbClr val="0070C0"/>
                </a:solidFill>
                <a:ea typeface="隶书" panose="02010509060101010101" pitchFamily="49" charset="-122"/>
              </a:rPr>
              <a:t>5</a:t>
            </a:r>
            <a:r>
              <a:rPr lang="zh-CN" altLang="en-US" sz="1800" dirty="0">
                <a:solidFill>
                  <a:srgbClr val="0070C0"/>
                </a:solidFill>
                <a:ea typeface="隶书" panose="02010509060101010101" pitchFamily="49" charset="-122"/>
              </a:rPr>
              <a:t>个城市各自距离</a:t>
            </a:r>
            <a:endParaRPr lang="zh-CN" altLang="en-US" dirty="0"/>
          </a:p>
        </p:txBody>
      </p:sp>
    </p:spTree>
    <p:extLst>
      <p:ext uri="{BB962C8B-B14F-4D97-AF65-F5344CB8AC3E}">
        <p14:creationId xmlns:p14="http://schemas.microsoft.com/office/powerpoint/2010/main" val="24855305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6D1DF6FF-B7DA-4EEF-A388-391D47D19A20}"/>
              </a:ext>
            </a:extLst>
          </p:cNvPr>
          <p:cNvSpPr>
            <a:spLocks noGrp="1"/>
          </p:cNvSpPr>
          <p:nvPr>
            <p:ph type="dt" sz="half" idx="10"/>
          </p:nvPr>
        </p:nvSpPr>
        <p:spPr bwMode="auto">
          <a:xfrm>
            <a:off x="457200" y="4683919"/>
            <a:ext cx="2133600" cy="357188"/>
          </a:xfrm>
          <a:prstGeom prst="rect">
            <a:avLst/>
          </a:prstGeom>
          <a:noFill/>
          <a:ln>
            <a:noFill/>
          </a:ln>
        </p:spPr>
        <p:txBody>
          <a:bodyPr vert="horz" wrap="square" lIns="91440" tIns="45720" rIns="91440" bIns="45720" numCol="1" anchor="t" anchorCtr="0" compatLnSpc="1"/>
          <a:lstStyle>
            <a:defPPr>
              <a:defRPr lang="zh-CN"/>
            </a:defPPr>
            <a:lvl1pPr algn="l"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fld id="{869D5C21-8453-4E8B-8FA6-9D282B0DEA91}" type="datetime1">
              <a:rPr lang="zh-CN" altLang="en-US" smtClean="0"/>
              <a:pPr>
                <a:defRPr/>
              </a:pPr>
              <a:t>2025/4/22</a:t>
            </a:fld>
            <a:endParaRPr lang="zh-CN" altLang="en-US" sz="1800"/>
          </a:p>
        </p:txBody>
      </p:sp>
      <p:sp>
        <p:nvSpPr>
          <p:cNvPr id="9" name="文本框 8">
            <a:extLst>
              <a:ext uri="{FF2B5EF4-FFF2-40B4-BE49-F238E27FC236}">
                <a16:creationId xmlns:a16="http://schemas.microsoft.com/office/drawing/2014/main" id="{4BF0683F-85F2-4F1F-8011-7F180789CD90}"/>
              </a:ext>
            </a:extLst>
          </p:cNvPr>
          <p:cNvSpPr txBox="1"/>
          <p:nvPr/>
        </p:nvSpPr>
        <p:spPr>
          <a:xfrm>
            <a:off x="1202476" y="968731"/>
            <a:ext cx="738434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defPPr>
              <a:defRPr lang="zh-CN"/>
            </a:defPPr>
            <a:lvl1pPr eaLnBrk="0" hangingPunct="0">
              <a:defRPr sz="2000">
                <a:solidFill>
                  <a:srgbClr val="00B0F0"/>
                </a:solidFill>
                <a:latin typeface="华文楷体" panose="02010600040101010101" pitchFamily="2" charset="-122"/>
                <a:ea typeface="华文楷体" panose="02010600040101010101" pitchFamily="2" charset="-122"/>
              </a:defRPr>
            </a:lvl1pPr>
          </a:lstStyle>
          <a:p>
            <a:pPr algn="dist"/>
            <a:r>
              <a:rPr lang="zh-CN" altLang="en-US" sz="1800" dirty="0">
                <a:solidFill>
                  <a:srgbClr val="0070C0"/>
                </a:solidFill>
                <a:latin typeface="微软雅黑" panose="020B0503020204020204" pitchFamily="34" charset="-122"/>
                <a:ea typeface="微软雅黑" panose="020B0503020204020204" pitchFamily="34" charset="-122"/>
              </a:rPr>
              <a:t>建立城市</a:t>
            </a:r>
            <a:r>
              <a:rPr lang="en-US" altLang="zh-CN" sz="1800" dirty="0">
                <a:solidFill>
                  <a:srgbClr val="0070C0"/>
                </a:solidFill>
                <a:latin typeface="微软雅黑" panose="020B0503020204020204" pitchFamily="34" charset="-122"/>
                <a:ea typeface="微软雅黑" panose="020B0503020204020204" pitchFamily="34" charset="-122"/>
              </a:rPr>
              <a:t>7</a:t>
            </a:r>
            <a:r>
              <a:rPr lang="zh-CN" altLang="en-US" sz="1800" dirty="0">
                <a:solidFill>
                  <a:srgbClr val="0070C0"/>
                </a:solidFill>
                <a:latin typeface="微软雅黑" panose="020B0503020204020204" pitchFamily="34" charset="-122"/>
                <a:ea typeface="微软雅黑" panose="020B0503020204020204" pitchFamily="34" charset="-122"/>
              </a:rPr>
              <a:t>个位置到垃圾站最远距离的最小值</a:t>
            </a:r>
          </a:p>
        </p:txBody>
      </p:sp>
      <p:sp>
        <p:nvSpPr>
          <p:cNvPr id="10" name="标题 1">
            <a:extLst>
              <a:ext uri="{FF2B5EF4-FFF2-40B4-BE49-F238E27FC236}">
                <a16:creationId xmlns:a16="http://schemas.microsoft.com/office/drawing/2014/main" id="{9E59F7BE-4392-479A-8A6E-BC735CA057EB}"/>
              </a:ext>
            </a:extLst>
          </p:cNvPr>
          <p:cNvSpPr txBox="1">
            <a:spLocks/>
          </p:cNvSpPr>
          <p:nvPr/>
        </p:nvSpPr>
        <p:spPr>
          <a:xfrm>
            <a:off x="1324411" y="111081"/>
            <a:ext cx="7726815" cy="438150"/>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800" b="0" dirty="0">
                <a:solidFill>
                  <a:srgbClr val="002060"/>
                </a:solidFill>
                <a:latin typeface="华文楷体" panose="02010600040101010101" pitchFamily="2" charset="-122"/>
                <a:ea typeface="华文楷体" panose="02010600040101010101" pitchFamily="2" charset="-122"/>
              </a:rPr>
              <a:t>§8.4.5</a:t>
            </a:r>
            <a:r>
              <a:rPr lang="zh-CN" altLang="en-US" sz="2800" b="0" kern="0" dirty="0">
                <a:solidFill>
                  <a:srgbClr val="002060"/>
                </a:solidFill>
                <a:latin typeface="华文楷体" panose="02010600040101010101" pitchFamily="2" charset="-122"/>
                <a:ea typeface="华文楷体" panose="02010600040101010101" pitchFamily="2" charset="-122"/>
              </a:rPr>
              <a:t> </a:t>
            </a:r>
            <a:r>
              <a:rPr lang="zh-CN" altLang="zh-CN" sz="2800" dirty="0">
                <a:solidFill>
                  <a:srgbClr val="002060"/>
                </a:solidFill>
                <a:latin typeface="华文楷体" panose="02010600040101010101" pitchFamily="2" charset="-122"/>
                <a:ea typeface="华文楷体" panose="02010600040101010101" pitchFamily="2" charset="-122"/>
              </a:rPr>
              <a:t>fminimax</a:t>
            </a:r>
            <a:r>
              <a:rPr lang="zh-CN" altLang="en-US" sz="2800" b="0" i="0" dirty="0">
                <a:solidFill>
                  <a:srgbClr val="002060"/>
                </a:solidFill>
                <a:effectLst/>
                <a:latin typeface="华文楷体" panose="02010600040101010101" pitchFamily="2" charset="-122"/>
                <a:ea typeface="华文楷体" panose="02010600040101010101" pitchFamily="2" charset="-122"/>
              </a:rPr>
              <a:t>求解</a:t>
            </a:r>
            <a:r>
              <a:rPr lang="en-US" altLang="zh-CN" sz="2800" b="0" i="0" dirty="0">
                <a:solidFill>
                  <a:srgbClr val="002060"/>
                </a:solidFill>
                <a:effectLst/>
                <a:latin typeface="华文楷体" panose="02010600040101010101" pitchFamily="2" charset="-122"/>
                <a:ea typeface="华文楷体" panose="02010600040101010101" pitchFamily="2" charset="-122"/>
              </a:rPr>
              <a:t>minmax</a:t>
            </a:r>
            <a:r>
              <a:rPr lang="zh-CN" altLang="en-US" sz="2800" b="0" i="0" dirty="0">
                <a:solidFill>
                  <a:srgbClr val="002060"/>
                </a:solidFill>
                <a:effectLst/>
                <a:latin typeface="华文楷体" panose="02010600040101010101" pitchFamily="2" charset="-122"/>
                <a:ea typeface="华文楷体" panose="02010600040101010101" pitchFamily="2" charset="-122"/>
              </a:rPr>
              <a:t>约束问题</a:t>
            </a:r>
            <a:r>
              <a:rPr lang="en-US" altLang="zh-CN" sz="2800" b="0" kern="0" dirty="0">
                <a:solidFill>
                  <a:srgbClr val="FF0000"/>
                </a:solidFill>
                <a:latin typeface="华文楷体" panose="02010600040101010101" pitchFamily="2" charset="-122"/>
                <a:ea typeface="华文楷体" panose="02010600040101010101" pitchFamily="2" charset="-122"/>
              </a:rPr>
              <a:t>——</a:t>
            </a:r>
            <a:r>
              <a:rPr lang="zh-CN" altLang="en-US" sz="2800" b="0" kern="0" dirty="0">
                <a:solidFill>
                  <a:srgbClr val="FF0000"/>
                </a:solidFill>
                <a:latin typeface="华文楷体" panose="02010600040101010101" pitchFamily="2" charset="-122"/>
                <a:ea typeface="华文楷体" panose="02010600040101010101" pitchFamily="2" charset="-122"/>
              </a:rPr>
              <a:t>案例</a:t>
            </a:r>
            <a:endParaRPr kumimoji="0" lang="zh-CN" altLang="zh-CN" sz="2800" b="1"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endParaRPr>
          </a:p>
        </p:txBody>
      </p:sp>
      <p:sp>
        <p:nvSpPr>
          <p:cNvPr id="12" name="波形 11">
            <a:extLst>
              <a:ext uri="{FF2B5EF4-FFF2-40B4-BE49-F238E27FC236}">
                <a16:creationId xmlns:a16="http://schemas.microsoft.com/office/drawing/2014/main" id="{69E15033-4556-40C8-8F9F-98F19D77FD56}"/>
              </a:ext>
            </a:extLst>
          </p:cNvPr>
          <p:cNvSpPr/>
          <p:nvPr/>
        </p:nvSpPr>
        <p:spPr>
          <a:xfrm>
            <a:off x="139123" y="477416"/>
            <a:ext cx="1026542" cy="438150"/>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charset="-122"/>
                <a:ea typeface="微软雅黑" panose="020B0503020204020204" charset="-122"/>
              </a:rPr>
              <a:t>例84-8</a:t>
            </a:r>
            <a:endParaRPr lang="ko-KR" altLang="en-US" b="1" dirty="0">
              <a:solidFill>
                <a:srgbClr val="FFFF00"/>
              </a:solidFill>
              <a:latin typeface="微软雅黑" panose="020B0503020204020204" charset="-122"/>
              <a:ea typeface="微软雅黑" panose="020B0503020204020204" charset="-122"/>
            </a:endParaRPr>
          </a:p>
        </p:txBody>
      </p:sp>
      <p:sp>
        <p:nvSpPr>
          <p:cNvPr id="13" name="文本框 12">
            <a:extLst>
              <a:ext uri="{FF2B5EF4-FFF2-40B4-BE49-F238E27FC236}">
                <a16:creationId xmlns:a16="http://schemas.microsoft.com/office/drawing/2014/main" id="{9DE24289-E8E1-4ED7-A8C1-D3D33A564174}"/>
              </a:ext>
            </a:extLst>
          </p:cNvPr>
          <p:cNvSpPr txBox="1"/>
          <p:nvPr/>
        </p:nvSpPr>
        <p:spPr>
          <a:xfrm>
            <a:off x="1130916" y="1192355"/>
            <a:ext cx="7428917" cy="2722348"/>
          </a:xfrm>
          <a:prstGeom prst="rect">
            <a:avLst/>
          </a:prstGeom>
          <a:noFill/>
          <a:ln>
            <a:noFill/>
          </a:ln>
        </p:spPr>
        <p:txBody>
          <a:bodyPr wrap="square">
            <a:spAutoFit/>
          </a:bodyPr>
          <a:lstStyle/>
          <a:p>
            <a:pPr>
              <a:lnSpc>
                <a:spcPts val="2300"/>
              </a:lnSpc>
            </a:pPr>
            <a:r>
              <a:rPr lang="en-US" altLang="zh-CN" sz="1600" b="0" dirty="0">
                <a:solidFill>
                  <a:srgbClr val="795E26"/>
                </a:solidFill>
                <a:effectLst/>
                <a:latin typeface="Consolas" panose="020B0609020204030204" pitchFamily="49" charset="0"/>
              </a:rPr>
              <a:t>fmm</a:t>
            </a:r>
            <a:r>
              <a:rPr lang="en-US" altLang="zh-CN" sz="1600" b="0" dirty="0">
                <a:solidFill>
                  <a:srgbClr val="000000"/>
                </a:solidFill>
                <a:effectLst/>
                <a:latin typeface="Consolas" panose="020B0609020204030204" pitchFamily="49" charset="0"/>
              </a:rPr>
              <a:t>(x)=[</a:t>
            </a:r>
            <a:r>
              <a:rPr lang="en-US" altLang="zh-CN" sz="1600" b="0" dirty="0">
                <a:solidFill>
                  <a:srgbClr val="795E26"/>
                </a:solidFill>
                <a:effectLst/>
                <a:latin typeface="Consolas" panose="020B0609020204030204" pitchFamily="49" charset="0"/>
              </a:rPr>
              <a:t>sqrt</a:t>
            </a:r>
            <a:r>
              <a:rPr lang="en-US" altLang="zh-CN" sz="1600" b="0" dirty="0">
                <a:solidFill>
                  <a:srgbClr val="000000"/>
                </a:solidFill>
                <a:effectLst/>
                <a:latin typeface="Consolas" panose="020B0609020204030204" pitchFamily="49" charset="0"/>
              </a:rPr>
              <a:t>((x[</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 - </a:t>
            </a:r>
            <a:r>
              <a:rPr lang="en-US" altLang="zh-CN" sz="1600" b="0" dirty="0">
                <a:solidFill>
                  <a:srgbClr val="098658"/>
                </a:solidFill>
                <a:effectLst/>
                <a:latin typeface="Consolas" panose="020B0609020204030204" pitchFamily="49" charset="0"/>
              </a:rPr>
              <a:t>1.5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 + (x[</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 - </a:t>
            </a:r>
            <a:r>
              <a:rPr lang="en-US" altLang="zh-CN" sz="1600" b="0" dirty="0">
                <a:solidFill>
                  <a:srgbClr val="098658"/>
                </a:solidFill>
                <a:effectLst/>
                <a:latin typeface="Consolas" panose="020B0609020204030204" pitchFamily="49" charset="0"/>
              </a:rPr>
              <a:t>6.8</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a:t>
            </a:r>
          </a:p>
          <a:p>
            <a:pPr>
              <a:lnSpc>
                <a:spcPts val="2300"/>
              </a:lnSpc>
            </a:pPr>
            <a:r>
              <a:rPr lang="en-US" altLang="zh-CN" sz="1600" b="0" dirty="0">
                <a:solidFill>
                  <a:srgbClr val="000000"/>
                </a:solidFill>
                <a:effectLst/>
                <a:latin typeface="Consolas" panose="020B0609020204030204" pitchFamily="49" charset="0"/>
              </a:rPr>
              <a:t>         </a:t>
            </a:r>
            <a:r>
              <a:rPr lang="en-US" altLang="zh-CN" sz="1600" b="0" dirty="0">
                <a:solidFill>
                  <a:srgbClr val="795E26"/>
                </a:solidFill>
                <a:effectLst/>
                <a:latin typeface="Consolas" panose="020B0609020204030204" pitchFamily="49" charset="0"/>
              </a:rPr>
              <a:t>sqrt</a:t>
            </a:r>
            <a:r>
              <a:rPr lang="en-US" altLang="zh-CN" sz="1600" b="0" dirty="0">
                <a:solidFill>
                  <a:srgbClr val="000000"/>
                </a:solidFill>
                <a:effectLst/>
                <a:latin typeface="Consolas" panose="020B0609020204030204" pitchFamily="49" charset="0"/>
              </a:rPr>
              <a:t>((x[</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 - </a:t>
            </a:r>
            <a:r>
              <a:rPr lang="en-US" altLang="zh-CN" sz="1600" b="0" dirty="0">
                <a:solidFill>
                  <a:srgbClr val="098658"/>
                </a:solidFill>
                <a:effectLst/>
                <a:latin typeface="Consolas" panose="020B0609020204030204" pitchFamily="49" charset="0"/>
              </a:rPr>
              <a:t>6</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 + (x[</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 - </a:t>
            </a:r>
            <a:r>
              <a:rPr lang="en-US" altLang="zh-CN" sz="1600" b="0" dirty="0">
                <a:solidFill>
                  <a:srgbClr val="098658"/>
                </a:solidFill>
                <a:effectLst/>
                <a:latin typeface="Consolas" panose="020B0609020204030204" pitchFamily="49" charset="0"/>
              </a:rPr>
              <a:t>7</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a:t>
            </a:r>
          </a:p>
          <a:p>
            <a:pPr>
              <a:lnSpc>
                <a:spcPts val="2300"/>
              </a:lnSpc>
            </a:pPr>
            <a:r>
              <a:rPr lang="en-US" altLang="zh-CN" sz="1600" b="0" dirty="0">
                <a:solidFill>
                  <a:srgbClr val="000000"/>
                </a:solidFill>
                <a:effectLst/>
                <a:latin typeface="Consolas" panose="020B0609020204030204" pitchFamily="49" charset="0"/>
              </a:rPr>
              <a:t>          </a:t>
            </a:r>
            <a:r>
              <a:rPr lang="en-US" altLang="zh-CN" sz="1600" b="0" dirty="0">
                <a:solidFill>
                  <a:srgbClr val="795E26"/>
                </a:solidFill>
                <a:effectLst/>
                <a:latin typeface="Consolas" panose="020B0609020204030204" pitchFamily="49" charset="0"/>
              </a:rPr>
              <a:t>sqrt</a:t>
            </a:r>
            <a:r>
              <a:rPr lang="en-US" altLang="zh-CN" sz="1600" b="0" dirty="0">
                <a:solidFill>
                  <a:srgbClr val="000000"/>
                </a:solidFill>
                <a:effectLst/>
                <a:latin typeface="Consolas" panose="020B0609020204030204" pitchFamily="49" charset="0"/>
              </a:rPr>
              <a:t>((x[</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 - </a:t>
            </a:r>
            <a:r>
              <a:rPr lang="en-US" altLang="zh-CN" sz="1600" b="0" dirty="0">
                <a:solidFill>
                  <a:srgbClr val="098658"/>
                </a:solidFill>
                <a:effectLst/>
                <a:latin typeface="Consolas" panose="020B0609020204030204" pitchFamily="49" charset="0"/>
              </a:rPr>
              <a:t>8.9</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 + (x[</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 - </a:t>
            </a:r>
            <a:r>
              <a:rPr lang="en-US" altLang="zh-CN" sz="1600" b="0" dirty="0">
                <a:solidFill>
                  <a:srgbClr val="098658"/>
                </a:solidFill>
                <a:effectLst/>
                <a:latin typeface="Consolas" panose="020B0609020204030204" pitchFamily="49" charset="0"/>
              </a:rPr>
              <a:t>6.9</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a:t>
            </a:r>
          </a:p>
          <a:p>
            <a:pPr>
              <a:lnSpc>
                <a:spcPts val="2300"/>
              </a:lnSpc>
            </a:pPr>
            <a:r>
              <a:rPr lang="en-US" altLang="zh-CN" sz="1600" b="0" dirty="0">
                <a:solidFill>
                  <a:srgbClr val="000000"/>
                </a:solidFill>
                <a:effectLst/>
                <a:latin typeface="Consolas" panose="020B0609020204030204" pitchFamily="49" charset="0"/>
              </a:rPr>
              <a:t>          </a:t>
            </a:r>
            <a:r>
              <a:rPr lang="en-US" altLang="zh-CN" sz="1600" b="0" dirty="0">
                <a:solidFill>
                  <a:srgbClr val="795E26"/>
                </a:solidFill>
                <a:effectLst/>
                <a:latin typeface="Consolas" panose="020B0609020204030204" pitchFamily="49" charset="0"/>
              </a:rPr>
              <a:t>sqrt</a:t>
            </a:r>
            <a:r>
              <a:rPr lang="en-US" altLang="zh-CN" sz="1600" b="0" dirty="0">
                <a:solidFill>
                  <a:srgbClr val="000000"/>
                </a:solidFill>
                <a:effectLst/>
                <a:latin typeface="Consolas" panose="020B0609020204030204" pitchFamily="49" charset="0"/>
              </a:rPr>
              <a:t>((x[</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 - </a:t>
            </a:r>
            <a:r>
              <a:rPr lang="en-US" altLang="zh-CN" sz="1600" b="0" dirty="0">
                <a:solidFill>
                  <a:srgbClr val="098658"/>
                </a:solidFill>
                <a:effectLst/>
                <a:latin typeface="Consolas" panose="020B0609020204030204" pitchFamily="49" charset="0"/>
              </a:rPr>
              <a:t>3.5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 + (x[</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 - </a:t>
            </a:r>
            <a:r>
              <a:rPr lang="en-US" altLang="zh-CN" sz="1600" b="0" dirty="0">
                <a:solidFill>
                  <a:srgbClr val="098658"/>
                </a:solidFill>
                <a:effectLst/>
                <a:latin typeface="Consolas" panose="020B0609020204030204" pitchFamily="49" charset="0"/>
              </a:rPr>
              <a:t>4</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a:t>
            </a:r>
          </a:p>
          <a:p>
            <a:pPr>
              <a:lnSpc>
                <a:spcPts val="2300"/>
              </a:lnSpc>
            </a:pPr>
            <a:r>
              <a:rPr lang="en-US" altLang="zh-CN" sz="1600" b="0" dirty="0">
                <a:solidFill>
                  <a:srgbClr val="000000"/>
                </a:solidFill>
                <a:effectLst/>
                <a:latin typeface="Consolas" panose="020B0609020204030204" pitchFamily="49" charset="0"/>
              </a:rPr>
              <a:t>           </a:t>
            </a:r>
            <a:r>
              <a:rPr lang="en-US" altLang="zh-CN" sz="1600" b="0" dirty="0">
                <a:solidFill>
                  <a:srgbClr val="795E26"/>
                </a:solidFill>
                <a:effectLst/>
                <a:latin typeface="Consolas" panose="020B0609020204030204" pitchFamily="49" charset="0"/>
              </a:rPr>
              <a:t>sqrt</a:t>
            </a:r>
            <a:r>
              <a:rPr lang="en-US" altLang="zh-CN" sz="1600" b="0" dirty="0">
                <a:solidFill>
                  <a:srgbClr val="000000"/>
                </a:solidFill>
                <a:effectLst/>
                <a:latin typeface="Consolas" panose="020B0609020204030204" pitchFamily="49" charset="0"/>
              </a:rPr>
              <a:t>((x[</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 - </a:t>
            </a:r>
            <a:r>
              <a:rPr lang="en-US" altLang="zh-CN" sz="1600" b="0" dirty="0">
                <a:solidFill>
                  <a:srgbClr val="098658"/>
                </a:solidFill>
                <a:effectLst/>
                <a:latin typeface="Consolas" panose="020B0609020204030204" pitchFamily="49" charset="0"/>
              </a:rPr>
              <a:t>7.4</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 + (x[</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 - </a:t>
            </a:r>
            <a:r>
              <a:rPr lang="en-US" altLang="zh-CN" sz="1600" b="0" dirty="0">
                <a:solidFill>
                  <a:srgbClr val="098658"/>
                </a:solidFill>
                <a:effectLst/>
                <a:latin typeface="Consolas" panose="020B0609020204030204" pitchFamily="49" charset="0"/>
              </a:rPr>
              <a:t>3.1</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a:t>
            </a:r>
          </a:p>
          <a:p>
            <a:pPr>
              <a:lnSpc>
                <a:spcPts val="2300"/>
              </a:lnSpc>
            </a:pPr>
            <a:r>
              <a:rPr lang="en-US" altLang="zh-CN" sz="1600" b="0" dirty="0">
                <a:solidFill>
                  <a:srgbClr val="000000"/>
                </a:solidFill>
                <a:effectLst/>
                <a:latin typeface="Consolas" panose="020B0609020204030204" pitchFamily="49" charset="0"/>
              </a:rPr>
              <a:t>x0 = [</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 #</a:t>
            </a:r>
            <a:r>
              <a:rPr lang="zh-CN" altLang="en-US" sz="1600" b="0" dirty="0">
                <a:solidFill>
                  <a:srgbClr val="000000"/>
                </a:solidFill>
                <a:effectLst/>
                <a:latin typeface="Consolas" panose="020B0609020204030204" pitchFamily="49" charset="0"/>
              </a:rPr>
              <a:t>初始值</a:t>
            </a:r>
            <a:endParaRPr lang="en-US" altLang="zh-CN" sz="1600" b="0" dirty="0">
              <a:solidFill>
                <a:srgbClr val="000000"/>
              </a:solidFill>
              <a:effectLst/>
              <a:latin typeface="Consolas" panose="020B0609020204030204" pitchFamily="49" charset="0"/>
            </a:endParaRPr>
          </a:p>
          <a:p>
            <a:pPr>
              <a:lnSpc>
                <a:spcPts val="2300"/>
              </a:lnSpc>
            </a:pPr>
            <a:r>
              <a:rPr lang="en-US" altLang="zh-CN" sz="1600" b="0" dirty="0" err="1">
                <a:solidFill>
                  <a:srgbClr val="000000"/>
                </a:solidFill>
                <a:effectLst/>
                <a:latin typeface="Consolas" panose="020B0609020204030204" pitchFamily="49" charset="0"/>
              </a:rPr>
              <a:t>xy,fmin</a:t>
            </a:r>
            <a:r>
              <a:rPr lang="en-US" altLang="zh-CN" sz="1600" b="0" dirty="0">
                <a:solidFill>
                  <a:srgbClr val="000000"/>
                </a:solidFill>
                <a:effectLst/>
                <a:latin typeface="Consolas" panose="020B0609020204030204" pitchFamily="49" charset="0"/>
              </a:rPr>
              <a:t>=</a:t>
            </a:r>
            <a:r>
              <a:rPr lang="en-US" altLang="zh-CN" sz="1600" b="0" dirty="0" err="1">
                <a:solidFill>
                  <a:srgbClr val="795E26"/>
                </a:solidFill>
                <a:effectLst/>
                <a:latin typeface="Consolas" panose="020B0609020204030204" pitchFamily="49" charset="0"/>
              </a:rPr>
              <a:t>fminimax</a:t>
            </a:r>
            <a:r>
              <a:rPr lang="en-US" altLang="zh-CN" sz="1600" b="0" dirty="0">
                <a:solidFill>
                  <a:srgbClr val="000000"/>
                </a:solidFill>
                <a:effectLst/>
                <a:latin typeface="Consolas" panose="020B0609020204030204" pitchFamily="49" charset="0"/>
              </a:rPr>
              <a:t>(fmm, x0)  </a:t>
            </a:r>
          </a:p>
          <a:p>
            <a:pPr>
              <a:lnSpc>
                <a:spcPts val="2300"/>
              </a:lnSpc>
            </a:pPr>
            <a:r>
              <a:rPr lang="en-US" altLang="zh-CN" sz="1600" b="0" dirty="0">
                <a:solidFill>
                  <a:srgbClr val="795E26"/>
                </a:solidFill>
                <a:effectLst/>
                <a:latin typeface="Consolas" panose="020B0609020204030204" pitchFamily="49" charset="0"/>
              </a:rPr>
              <a:t>println("</a:t>
            </a:r>
            <a:r>
              <a:rPr lang="zh-CN" altLang="en-US" sz="1600" b="0" dirty="0">
                <a:solidFill>
                  <a:srgbClr val="795E26"/>
                </a:solidFill>
                <a:effectLst/>
                <a:latin typeface="Consolas" panose="020B0609020204030204" pitchFamily="49" charset="0"/>
              </a:rPr>
              <a:t>垃圾站位置坐标</a:t>
            </a:r>
            <a:r>
              <a:rPr lang="en-US" altLang="zh-CN" sz="1600" b="0" dirty="0" err="1">
                <a:solidFill>
                  <a:srgbClr val="795E26"/>
                </a:solidFill>
                <a:effectLst/>
                <a:latin typeface="Consolas" panose="020B0609020204030204" pitchFamily="49" charset="0"/>
              </a:rPr>
              <a:t>xy</a:t>
            </a:r>
            <a:r>
              <a:rPr lang="en-US" altLang="zh-CN" sz="1600" b="0" dirty="0">
                <a:solidFill>
                  <a:srgbClr val="795E26"/>
                </a:solidFill>
                <a:effectLst/>
                <a:latin typeface="Consolas" panose="020B0609020204030204" pitchFamily="49" charset="0"/>
              </a:rPr>
              <a:t>=$</a:t>
            </a:r>
            <a:r>
              <a:rPr lang="en-US" altLang="zh-CN" sz="1600" b="0" dirty="0" err="1">
                <a:solidFill>
                  <a:srgbClr val="795E26"/>
                </a:solidFill>
                <a:effectLst/>
                <a:latin typeface="Consolas" panose="020B0609020204030204" pitchFamily="49" charset="0"/>
              </a:rPr>
              <a:t>xy</a:t>
            </a:r>
            <a:r>
              <a:rPr lang="en-US" altLang="zh-CN" sz="1600" b="0" dirty="0">
                <a:solidFill>
                  <a:srgbClr val="795E26"/>
                </a:solidFill>
                <a:effectLst/>
                <a:latin typeface="Consolas" panose="020B0609020204030204" pitchFamily="49" charset="0"/>
              </a:rPr>
              <a:t>")</a:t>
            </a:r>
          </a:p>
          <a:p>
            <a:pPr>
              <a:lnSpc>
                <a:spcPts val="2300"/>
              </a:lnSpc>
            </a:pPr>
            <a:r>
              <a:rPr lang="en-US" altLang="zh-CN" sz="1600" b="0" dirty="0">
                <a:solidFill>
                  <a:srgbClr val="795E26"/>
                </a:solidFill>
                <a:effectLst/>
                <a:latin typeface="Consolas" panose="020B0609020204030204" pitchFamily="49" charset="0"/>
              </a:rPr>
              <a:t>println</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最小值</a:t>
            </a:r>
            <a:r>
              <a:rPr lang="en-US" altLang="zh-CN" sz="1600" b="0" dirty="0" err="1">
                <a:solidFill>
                  <a:srgbClr val="A31515"/>
                </a:solidFill>
                <a:effectLst/>
                <a:latin typeface="Consolas" panose="020B0609020204030204" pitchFamily="49" charset="0"/>
              </a:rPr>
              <a:t>fmin</a:t>
            </a:r>
            <a:r>
              <a:rPr lang="en-US" altLang="zh-CN" sz="1600" b="0" dirty="0">
                <a:solidFill>
                  <a:srgbClr val="A31515"/>
                </a:solidFill>
                <a:effectLst/>
                <a:latin typeface="Consolas" panose="020B0609020204030204" pitchFamily="49" charset="0"/>
              </a:rPr>
              <a:t>=</a:t>
            </a:r>
            <a:r>
              <a:rPr lang="en-US" altLang="zh-CN" sz="1600" b="0" dirty="0">
                <a:solidFill>
                  <a:srgbClr val="001080"/>
                </a:solidFill>
                <a:effectLst/>
                <a:latin typeface="Consolas" panose="020B0609020204030204" pitchFamily="49" charset="0"/>
              </a:rPr>
              <a:t>$</a:t>
            </a:r>
            <a:r>
              <a:rPr lang="en-US" altLang="zh-CN" sz="1600" b="0" dirty="0" err="1">
                <a:solidFill>
                  <a:srgbClr val="001080"/>
                </a:solidFill>
                <a:effectLst/>
                <a:latin typeface="Consolas" panose="020B0609020204030204" pitchFamily="49" charset="0"/>
              </a:rPr>
              <a:t>fmin</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t>
            </a:r>
          </a:p>
        </p:txBody>
      </p:sp>
      <p:sp>
        <p:nvSpPr>
          <p:cNvPr id="17" name="文本框 16">
            <a:extLst>
              <a:ext uri="{FF2B5EF4-FFF2-40B4-BE49-F238E27FC236}">
                <a16:creationId xmlns:a16="http://schemas.microsoft.com/office/drawing/2014/main" id="{BC2F3767-7AF5-4708-8C3D-E1087F628241}"/>
              </a:ext>
            </a:extLst>
          </p:cNvPr>
          <p:cNvSpPr txBox="1"/>
          <p:nvPr/>
        </p:nvSpPr>
        <p:spPr>
          <a:xfrm>
            <a:off x="1163250" y="3821927"/>
            <a:ext cx="7726815" cy="338554"/>
          </a:xfrm>
          <a:prstGeom prst="rect">
            <a:avLst/>
          </a:prstGeom>
          <a:noFill/>
        </p:spPr>
        <p:txBody>
          <a:bodyPr wrap="square">
            <a:spAutoFit/>
          </a:bodyPr>
          <a:lstStyle/>
          <a:p>
            <a:r>
              <a:rPr lang="zh-CN" altLang="en-US" sz="1600" dirty="0">
                <a:solidFill>
                  <a:srgbClr val="00B0F0"/>
                </a:solidFill>
                <a:effectLst/>
                <a:latin typeface="微软雅黑" panose="020B0503020204020204" pitchFamily="34" charset="-122"/>
                <a:ea typeface="微软雅黑" panose="020B0503020204020204" pitchFamily="34" charset="-122"/>
              </a:rPr>
              <a:t>结果：垃圾站位置坐标</a:t>
            </a:r>
            <a:r>
              <a:rPr lang="en-US" altLang="zh-CN" sz="1600" dirty="0" err="1">
                <a:solidFill>
                  <a:srgbClr val="00B0F0"/>
                </a:solidFill>
                <a:effectLst/>
                <a:latin typeface="微软雅黑" panose="020B0503020204020204" pitchFamily="34" charset="-122"/>
                <a:ea typeface="微软雅黑" panose="020B0503020204020204" pitchFamily="34" charset="-122"/>
              </a:rPr>
              <a:t>xy</a:t>
            </a:r>
            <a:r>
              <a:rPr lang="en-US" altLang="zh-CN" sz="1600" dirty="0">
                <a:solidFill>
                  <a:srgbClr val="00B0F0"/>
                </a:solidFill>
                <a:effectLst/>
                <a:latin typeface="微软雅黑" panose="020B0503020204020204" pitchFamily="34" charset="-122"/>
                <a:ea typeface="微软雅黑" panose="020B0503020204020204" pitchFamily="34" charset="-122"/>
              </a:rPr>
              <a:t>=[5.209313550232409, 6.160797282802048]</a:t>
            </a:r>
            <a:endParaRPr lang="zh-CN" altLang="en-US" sz="1600" dirty="0">
              <a:solidFill>
                <a:srgbClr val="00B0F0"/>
              </a:solidFill>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7D3ED2B0-4E0A-4592-B169-D9568CF5EB65}"/>
              </a:ext>
            </a:extLst>
          </p:cNvPr>
          <p:cNvSpPr txBox="1"/>
          <p:nvPr/>
        </p:nvSpPr>
        <p:spPr>
          <a:xfrm>
            <a:off x="1136958" y="4075207"/>
            <a:ext cx="7905744" cy="584775"/>
          </a:xfrm>
          <a:prstGeom prst="rect">
            <a:avLst/>
          </a:prstGeom>
          <a:noFill/>
        </p:spPr>
        <p:txBody>
          <a:bodyPr wrap="square">
            <a:spAutoFit/>
          </a:bodyPr>
          <a:lstStyle/>
          <a:p>
            <a:r>
              <a:rPr lang="zh-CN" altLang="en-US" sz="1600" dirty="0">
                <a:solidFill>
                  <a:srgbClr val="00B0F0"/>
                </a:solidFill>
              </a:rPr>
              <a:t>最小值fmin=[3.7639855376463656, 1.1530161587759744, 3.7639855376463585, 2.7551402342481293, 3.7639855376454006]</a:t>
            </a:r>
          </a:p>
        </p:txBody>
      </p:sp>
      <p:sp>
        <p:nvSpPr>
          <p:cNvPr id="19" name="Rectangle 1">
            <a:extLst>
              <a:ext uri="{FF2B5EF4-FFF2-40B4-BE49-F238E27FC236}">
                <a16:creationId xmlns:a16="http://schemas.microsoft.com/office/drawing/2014/main" id="{B5C3B9B0-7B1E-4F26-83AE-129756E8BB6E}"/>
              </a:ext>
            </a:extLst>
          </p:cNvPr>
          <p:cNvSpPr>
            <a:spLocks noChangeArrowheads="1"/>
          </p:cNvSpPr>
          <p:nvPr/>
        </p:nvSpPr>
        <p:spPr bwMode="auto">
          <a:xfrm>
            <a:off x="1165665" y="560201"/>
            <a:ext cx="7726815" cy="313932"/>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kumimoji="0" lang="en-US" altLang="zh-CN" sz="1600" b="0" i="0" u="none" strike="noStrike" cap="none" normalizeH="0" baseline="0" dirty="0">
                <a:ln>
                  <a:noFill/>
                </a:ln>
                <a:solidFill>
                  <a:schemeClr val="bg1"/>
                </a:solidFill>
                <a:effectLst/>
                <a:highlight>
                  <a:srgbClr val="FF0000"/>
                </a:highlight>
                <a:latin typeface="Arial Unicode MS"/>
                <a:ea typeface="source-code-pro"/>
              </a:rPr>
              <a:t>x</a:t>
            </a:r>
            <a:r>
              <a:rPr kumimoji="0" lang="zh-CN" altLang="zh-CN" sz="1600" b="0" i="0" u="none" strike="noStrike" cap="none" normalizeH="0" baseline="0" dirty="0">
                <a:ln>
                  <a:noFill/>
                </a:ln>
                <a:solidFill>
                  <a:schemeClr val="bg1"/>
                </a:solidFill>
                <a:effectLst/>
                <a:latin typeface="Arial Unicode MS"/>
                <a:ea typeface="source-code-pro"/>
              </a:rPr>
              <a:t>,fval,maxfval,exitflag,output,lambda = </a:t>
            </a:r>
            <a:r>
              <a:rPr lang="zh-CN" altLang="zh-CN" sz="1600" dirty="0">
                <a:solidFill>
                  <a:schemeClr val="bg1"/>
                </a:solidFill>
                <a:highlight>
                  <a:srgbClr val="FF0000"/>
                </a:highlight>
                <a:latin typeface="Arial Unicode MS"/>
              </a:rPr>
              <a:t>fminimax(fun,x0</a:t>
            </a:r>
            <a:r>
              <a:rPr kumimoji="0" lang="zh-CN" altLang="zh-CN" sz="1600" b="0" i="0" u="none" strike="noStrike" cap="none" normalizeH="0" baseline="0" dirty="0">
                <a:ln>
                  <a:noFill/>
                </a:ln>
                <a:solidFill>
                  <a:schemeClr val="bg1"/>
                </a:solidFill>
                <a:effectLst/>
                <a:latin typeface="Arial Unicode MS"/>
                <a:ea typeface="source-code-pro"/>
              </a:rPr>
              <a:t>,A,b,Aeq,beq,lb,ub,nonlcon)</a:t>
            </a:r>
            <a:endParaRPr lang="zh-CN" altLang="zh-CN" sz="1600" b="1" kern="0" dirty="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endParaRPr>
          </a:p>
        </p:txBody>
      </p:sp>
    </p:spTree>
    <p:extLst>
      <p:ext uri="{BB962C8B-B14F-4D97-AF65-F5344CB8AC3E}">
        <p14:creationId xmlns:p14="http://schemas.microsoft.com/office/powerpoint/2010/main" val="32895102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175DBFA-6906-491E-BCA3-E31788AD0E58}"/>
              </a:ext>
            </a:extLst>
          </p:cNvPr>
          <p:cNvSpPr txBox="1"/>
          <p:nvPr/>
        </p:nvSpPr>
        <p:spPr>
          <a:xfrm>
            <a:off x="845361" y="1397535"/>
            <a:ext cx="7913749" cy="1323439"/>
          </a:xfrm>
          <a:prstGeom prst="rect">
            <a:avLst/>
          </a:prstGeom>
          <a:noFill/>
          <a:ln>
            <a:solidFill>
              <a:schemeClr val="bg1">
                <a:lumMod val="50000"/>
              </a:schemeClr>
            </a:solidFill>
          </a:ln>
        </p:spPr>
        <p:txBody>
          <a:bodyPr wrap="square">
            <a:spAutoFit/>
          </a:bodyPr>
          <a:lstStyle/>
          <a:p>
            <a:pPr>
              <a:lnSpc>
                <a:spcPct val="150000"/>
              </a:lnSpc>
            </a:pPr>
            <a:r>
              <a:rPr lang="en-US" altLang="zh-CN" sz="2800" b="0" dirty="0">
                <a:solidFill>
                  <a:srgbClr val="002060"/>
                </a:solidFill>
                <a:latin typeface="华文楷体" panose="02010600040101010101" pitchFamily="2" charset="-122"/>
                <a:ea typeface="华文楷体" panose="02010600040101010101" pitchFamily="2" charset="-122"/>
              </a:rPr>
              <a:t>§ 8.5 </a:t>
            </a:r>
            <a:r>
              <a:rPr lang="en-US" altLang="zh-CN" sz="2800" dirty="0">
                <a:solidFill>
                  <a:srgbClr val="002060"/>
                </a:solidFill>
                <a:latin typeface="华文楷体" panose="02010600040101010101" pitchFamily="2" charset="-122"/>
                <a:ea typeface="华文楷体" panose="02010600040101010101" pitchFamily="2" charset="-122"/>
              </a:rPr>
              <a:t>.1</a:t>
            </a:r>
            <a:r>
              <a:rPr lang="zh-CN" altLang="en-US" sz="2800" dirty="0">
                <a:solidFill>
                  <a:srgbClr val="002060"/>
                </a:solidFill>
                <a:latin typeface="华文楷体" panose="02010600040101010101" pitchFamily="2" charset="-122"/>
                <a:ea typeface="华文楷体" panose="02010600040101010101" pitchFamily="2" charset="-122"/>
              </a:rPr>
              <a:t>求解非线性方程 </a:t>
            </a:r>
            <a:r>
              <a:rPr lang="en-US" altLang="zh-CN" sz="2800" dirty="0">
                <a:solidFill>
                  <a:srgbClr val="FF0000"/>
                </a:solidFill>
                <a:latin typeface="华文楷体" panose="02010600040101010101" pitchFamily="2" charset="-122"/>
                <a:ea typeface="华文楷体" panose="02010600040101010101" pitchFamily="2" charset="-122"/>
                <a:sym typeface="Arial" panose="020B0604020202020204" pitchFamily="34" charset="0"/>
              </a:rPr>
              <a:t>fzero</a:t>
            </a:r>
          </a:p>
          <a:p>
            <a:pPr>
              <a:lnSpc>
                <a:spcPct val="150000"/>
              </a:lnSpc>
            </a:pPr>
            <a:r>
              <a:rPr lang="en-US" altLang="zh-CN" sz="2800" b="0" dirty="0">
                <a:solidFill>
                  <a:srgbClr val="002060"/>
                </a:solidFill>
                <a:latin typeface="华文楷体" panose="02010600040101010101" pitchFamily="2" charset="-122"/>
                <a:ea typeface="华文楷体" panose="02010600040101010101" pitchFamily="2" charset="-122"/>
              </a:rPr>
              <a:t>§ 8.5</a:t>
            </a:r>
            <a:r>
              <a:rPr lang="en-US" altLang="zh-CN" sz="2800" dirty="0">
                <a:solidFill>
                  <a:srgbClr val="002060"/>
                </a:solidFill>
                <a:latin typeface="华文楷体" panose="02010600040101010101" pitchFamily="2" charset="-122"/>
                <a:ea typeface="华文楷体" panose="02010600040101010101" pitchFamily="2" charset="-122"/>
              </a:rPr>
              <a:t>.2 </a:t>
            </a:r>
            <a:r>
              <a:rPr lang="zh-CN" altLang="en-US" sz="2800" dirty="0">
                <a:solidFill>
                  <a:srgbClr val="002060"/>
                </a:solidFill>
                <a:latin typeface="华文楷体" panose="02010600040101010101" pitchFamily="2" charset="-122"/>
                <a:ea typeface="华文楷体" panose="02010600040101010101" pitchFamily="2" charset="-122"/>
              </a:rPr>
              <a:t>求解非线性方程组</a:t>
            </a:r>
            <a:r>
              <a:rPr lang="en-US" altLang="zh-CN" sz="2800" dirty="0" err="1">
                <a:solidFill>
                  <a:srgbClr val="FF0000"/>
                </a:solidFill>
                <a:latin typeface="华文楷体" panose="02010600040101010101" pitchFamily="2" charset="-122"/>
                <a:ea typeface="华文楷体" panose="02010600040101010101" pitchFamily="2" charset="-122"/>
                <a:sym typeface="Arial" panose="020B0604020202020204" pitchFamily="34" charset="0"/>
              </a:rPr>
              <a:t>fsolve</a:t>
            </a:r>
            <a:r>
              <a:rPr lang="en-US" altLang="zh-CN" sz="2800" dirty="0">
                <a:solidFill>
                  <a:srgbClr val="FF0000"/>
                </a:solidFill>
                <a:latin typeface="华文楷体" panose="02010600040101010101" pitchFamily="2" charset="-122"/>
                <a:ea typeface="华文楷体" panose="02010600040101010101" pitchFamily="2" charset="-122"/>
                <a:sym typeface="Arial" panose="020B0604020202020204" pitchFamily="34" charset="0"/>
              </a:rPr>
              <a:t> </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5" name="标题 1">
            <a:extLst>
              <a:ext uri="{FF2B5EF4-FFF2-40B4-BE49-F238E27FC236}">
                <a16:creationId xmlns:a16="http://schemas.microsoft.com/office/drawing/2014/main" id="{18B6B6B7-FEF8-41CD-B753-3D508DD3BC11}"/>
              </a:ext>
            </a:extLst>
          </p:cNvPr>
          <p:cNvSpPr txBox="1">
            <a:spLocks/>
          </p:cNvSpPr>
          <p:nvPr/>
        </p:nvSpPr>
        <p:spPr>
          <a:xfrm>
            <a:off x="1342286" y="771550"/>
            <a:ext cx="7416824" cy="438150"/>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3600" b="0" dirty="0">
                <a:solidFill>
                  <a:srgbClr val="002060"/>
                </a:solidFill>
                <a:latin typeface="华文楷体" panose="02010600040101010101" pitchFamily="2" charset="-122"/>
                <a:ea typeface="华文楷体" panose="02010600040101010101" pitchFamily="2" charset="-122"/>
              </a:rPr>
              <a:t>§ 8.5</a:t>
            </a:r>
            <a:r>
              <a:rPr lang="zh-CN" altLang="en-US" sz="3600" b="0" dirty="0">
                <a:solidFill>
                  <a:srgbClr val="002060"/>
                </a:solidFill>
                <a:latin typeface="华文楷体" panose="02010600040101010101" pitchFamily="2" charset="-122"/>
                <a:ea typeface="华文楷体" panose="02010600040101010101" pitchFamily="2" charset="-122"/>
              </a:rPr>
              <a:t>求解非线性方程及其方程组</a:t>
            </a:r>
            <a:endParaRPr lang="zh-CN" altLang="en-US" sz="3600" b="0" kern="0" dirty="0">
              <a:solidFill>
                <a:srgbClr val="FF0000"/>
              </a:solidFill>
              <a:latin typeface="华文楷体" panose="02010600040101010101" pitchFamily="2" charset="-122"/>
              <a:ea typeface="华文楷体" panose="02010600040101010101" pitchFamily="2" charset="-122"/>
            </a:endParaRPr>
          </a:p>
        </p:txBody>
      </p:sp>
      <p:graphicFrame>
        <p:nvGraphicFramePr>
          <p:cNvPr id="2" name="表格 1">
            <a:extLst>
              <a:ext uri="{FF2B5EF4-FFF2-40B4-BE49-F238E27FC236}">
                <a16:creationId xmlns:a16="http://schemas.microsoft.com/office/drawing/2014/main" id="{3AF78DBA-FF61-4CBD-A4B8-BCD2DAEE0BF9}"/>
              </a:ext>
            </a:extLst>
          </p:cNvPr>
          <p:cNvGraphicFramePr>
            <a:graphicFrameLocks noGrp="1"/>
          </p:cNvGraphicFramePr>
          <p:nvPr>
            <p:extLst>
              <p:ext uri="{D42A27DB-BD31-4B8C-83A1-F6EECF244321}">
                <p14:modId xmlns:p14="http://schemas.microsoft.com/office/powerpoint/2010/main" val="2960096277"/>
              </p:ext>
            </p:extLst>
          </p:nvPr>
        </p:nvGraphicFramePr>
        <p:xfrm>
          <a:off x="818517" y="2837839"/>
          <a:ext cx="7975111" cy="1706880"/>
        </p:xfrm>
        <a:graphic>
          <a:graphicData uri="http://schemas.openxmlformats.org/drawingml/2006/table">
            <a:tbl>
              <a:tblPr firstRow="1" firstCol="1" bandRow="1">
                <a:tableStyleId>{5C22544A-7EE6-4342-B048-85BDC9FD1C3A}</a:tableStyleId>
              </a:tblPr>
              <a:tblGrid>
                <a:gridCol w="1851040">
                  <a:extLst>
                    <a:ext uri="{9D8B030D-6E8A-4147-A177-3AD203B41FA5}">
                      <a16:colId xmlns:a16="http://schemas.microsoft.com/office/drawing/2014/main" val="940861795"/>
                    </a:ext>
                  </a:extLst>
                </a:gridCol>
                <a:gridCol w="3465701">
                  <a:extLst>
                    <a:ext uri="{9D8B030D-6E8A-4147-A177-3AD203B41FA5}">
                      <a16:colId xmlns:a16="http://schemas.microsoft.com/office/drawing/2014/main" val="2965286357"/>
                    </a:ext>
                  </a:extLst>
                </a:gridCol>
                <a:gridCol w="2658370">
                  <a:extLst>
                    <a:ext uri="{9D8B030D-6E8A-4147-A177-3AD203B41FA5}">
                      <a16:colId xmlns:a16="http://schemas.microsoft.com/office/drawing/2014/main" val="844991945"/>
                    </a:ext>
                  </a:extLst>
                </a:gridCol>
              </a:tblGrid>
              <a:tr h="0">
                <a:tc>
                  <a:txBody>
                    <a:bodyPr/>
                    <a:lstStyle/>
                    <a:p>
                      <a:pPr algn="l"/>
                      <a:r>
                        <a:rPr lang="zh-CN" sz="1600" kern="0">
                          <a:solidFill>
                            <a:schemeClr val="bg1"/>
                          </a:solidFill>
                          <a:effectLst/>
                          <a:latin typeface="微软雅黑" panose="020B0503020204020204" pitchFamily="34" charset="-122"/>
                          <a:ea typeface="微软雅黑" panose="020B0503020204020204" pitchFamily="34" charset="-122"/>
                        </a:rPr>
                        <a:t>类型</a:t>
                      </a:r>
                      <a:endParaRPr lang="zh-CN" sz="1600"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52400" marR="152400" marT="91440" marB="91440" anchor="ctr">
                    <a:solidFill>
                      <a:srgbClr val="0070C0"/>
                    </a:solidFill>
                  </a:tcPr>
                </a:tc>
                <a:tc>
                  <a:txBody>
                    <a:bodyPr/>
                    <a:lstStyle/>
                    <a:p>
                      <a:pPr algn="l"/>
                      <a:r>
                        <a:rPr lang="zh-CN" sz="1600" kern="0">
                          <a:solidFill>
                            <a:schemeClr val="bg1"/>
                          </a:solidFill>
                          <a:effectLst/>
                          <a:latin typeface="微软雅黑" panose="020B0503020204020204" pitchFamily="34" charset="-122"/>
                          <a:ea typeface="微软雅黑" panose="020B0503020204020204" pitchFamily="34" charset="-122"/>
                        </a:rPr>
                        <a:t>问题表示</a:t>
                      </a:r>
                      <a:endParaRPr lang="zh-CN" sz="1600"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52400" marR="152400" marT="91440" marB="91440" anchor="ctr">
                    <a:solidFill>
                      <a:srgbClr val="0070C0"/>
                    </a:solidFill>
                  </a:tcPr>
                </a:tc>
                <a:tc>
                  <a:txBody>
                    <a:bodyPr/>
                    <a:lstStyle/>
                    <a:p>
                      <a:pPr algn="l"/>
                      <a:r>
                        <a:rPr lang="zh-CN" sz="1600" kern="0" dirty="0">
                          <a:solidFill>
                            <a:schemeClr val="bg1"/>
                          </a:solidFill>
                          <a:effectLst/>
                          <a:latin typeface="微软雅黑" panose="020B0503020204020204" pitchFamily="34" charset="-122"/>
                          <a:ea typeface="微软雅黑" panose="020B0503020204020204" pitchFamily="34" charset="-122"/>
                        </a:rPr>
                        <a:t>求解器</a:t>
                      </a:r>
                      <a:endParaRPr lang="zh-CN" sz="16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52400" marR="152400" marT="91440" marB="91440" anchor="ctr">
                    <a:solidFill>
                      <a:srgbClr val="0070C0"/>
                    </a:solidFill>
                  </a:tcPr>
                </a:tc>
                <a:extLst>
                  <a:ext uri="{0D108BD9-81ED-4DB2-BD59-A6C34878D82A}">
                    <a16:rowId xmlns:a16="http://schemas.microsoft.com/office/drawing/2014/main" val="2571301004"/>
                  </a:ext>
                </a:extLst>
              </a:tr>
              <a:tr h="0">
                <a:tc>
                  <a:txBody>
                    <a:bodyPr/>
                    <a:lstStyle/>
                    <a:p>
                      <a:pPr algn="l"/>
                      <a:r>
                        <a:rPr lang="zh-CN" sz="1600" kern="0">
                          <a:solidFill>
                            <a:schemeClr val="bg1"/>
                          </a:solidFill>
                          <a:effectLst/>
                          <a:latin typeface="微软雅黑" panose="020B0503020204020204" pitchFamily="34" charset="-122"/>
                          <a:ea typeface="微软雅黑" panose="020B0503020204020204" pitchFamily="34" charset="-122"/>
                        </a:rPr>
                        <a:t>线性方程</a:t>
                      </a:r>
                      <a:endParaRPr lang="zh-CN" sz="1600"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52400" marR="152400" marT="91440" marB="91440" anchor="ctr">
                    <a:solidFill>
                      <a:srgbClr val="0070C0"/>
                    </a:solidFill>
                  </a:tcPr>
                </a:tc>
                <a:tc>
                  <a:txBody>
                    <a:bodyPr/>
                    <a:lstStyle/>
                    <a:p>
                      <a:pPr algn="l"/>
                      <a:r>
                        <a:rPr lang="en-US" sz="1600" kern="0">
                          <a:solidFill>
                            <a:schemeClr val="bg1"/>
                          </a:solidFill>
                          <a:effectLst/>
                          <a:latin typeface="微软雅黑" panose="020B0503020204020204" pitchFamily="34" charset="-122"/>
                          <a:ea typeface="微软雅黑" panose="020B0503020204020204" pitchFamily="34" charset="-122"/>
                        </a:rPr>
                        <a:t>C⋅x=d</a:t>
                      </a:r>
                      <a:r>
                        <a:rPr lang="zh-CN" sz="1600" kern="0">
                          <a:solidFill>
                            <a:schemeClr val="bg1"/>
                          </a:solidFill>
                          <a:effectLst/>
                          <a:latin typeface="微软雅黑" panose="020B0503020204020204" pitchFamily="34" charset="-122"/>
                          <a:ea typeface="微软雅黑" panose="020B0503020204020204" pitchFamily="34" charset="-122"/>
                        </a:rPr>
                        <a:t>，</a:t>
                      </a:r>
                      <a:r>
                        <a:rPr lang="en-US" sz="1600" kern="0">
                          <a:solidFill>
                            <a:schemeClr val="bg1"/>
                          </a:solidFill>
                          <a:effectLst/>
                          <a:latin typeface="微软雅黑" panose="020B0503020204020204" pitchFamily="34" charset="-122"/>
                          <a:ea typeface="微软雅黑" panose="020B0503020204020204" pitchFamily="34" charset="-122"/>
                        </a:rPr>
                        <a:t>n </a:t>
                      </a:r>
                      <a:r>
                        <a:rPr lang="zh-CN" sz="1600" kern="0">
                          <a:solidFill>
                            <a:schemeClr val="bg1"/>
                          </a:solidFill>
                          <a:effectLst/>
                          <a:latin typeface="微软雅黑" panose="020B0503020204020204" pitchFamily="34" charset="-122"/>
                          <a:ea typeface="微软雅黑" panose="020B0503020204020204" pitchFamily="34" charset="-122"/>
                        </a:rPr>
                        <a:t>个方程，</a:t>
                      </a:r>
                      <a:r>
                        <a:rPr lang="en-US" sz="1600" kern="0">
                          <a:solidFill>
                            <a:schemeClr val="bg1"/>
                          </a:solidFill>
                          <a:effectLst/>
                          <a:latin typeface="微软雅黑" panose="020B0503020204020204" pitchFamily="34" charset="-122"/>
                          <a:ea typeface="微软雅黑" panose="020B0503020204020204" pitchFamily="34" charset="-122"/>
                        </a:rPr>
                        <a:t>n </a:t>
                      </a:r>
                      <a:r>
                        <a:rPr lang="zh-CN" sz="1600" kern="0">
                          <a:solidFill>
                            <a:schemeClr val="bg1"/>
                          </a:solidFill>
                          <a:effectLst/>
                          <a:latin typeface="微软雅黑" panose="020B0503020204020204" pitchFamily="34" charset="-122"/>
                          <a:ea typeface="微软雅黑" panose="020B0503020204020204" pitchFamily="34" charset="-122"/>
                        </a:rPr>
                        <a:t>个变量</a:t>
                      </a:r>
                      <a:endParaRPr lang="zh-CN" sz="1600"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52400" marR="152400" marT="91440" marB="91440" anchor="ctr">
                    <a:solidFill>
                      <a:srgbClr val="0070C0"/>
                    </a:solidFill>
                  </a:tcPr>
                </a:tc>
                <a:tc>
                  <a:txBody>
                    <a:bodyPr/>
                    <a:lstStyle/>
                    <a:p>
                      <a:pPr algn="l"/>
                      <a:r>
                        <a:rPr lang="en-US" sz="1600" kern="0" dirty="0" err="1">
                          <a:solidFill>
                            <a:schemeClr val="bg1"/>
                          </a:solidFill>
                          <a:effectLst/>
                          <a:latin typeface="微软雅黑" panose="020B0503020204020204" pitchFamily="34" charset="-122"/>
                          <a:ea typeface="微软雅黑" panose="020B0503020204020204" pitchFamily="34" charset="-122"/>
                        </a:rPr>
                        <a:t>mldivide</a:t>
                      </a:r>
                      <a:r>
                        <a:rPr lang="zh-CN" sz="1600" kern="0" dirty="0">
                          <a:solidFill>
                            <a:schemeClr val="bg1"/>
                          </a:solidFill>
                          <a:effectLst/>
                          <a:latin typeface="微软雅黑" panose="020B0503020204020204" pitchFamily="34" charset="-122"/>
                          <a:ea typeface="微软雅黑" panose="020B0503020204020204" pitchFamily="34" charset="-122"/>
                        </a:rPr>
                        <a:t>（矩阵左除）</a:t>
                      </a:r>
                      <a:endParaRPr lang="zh-CN" sz="16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52400" marR="152400" marT="91440" marB="91440" anchor="ctr">
                    <a:solidFill>
                      <a:srgbClr val="0070C0"/>
                    </a:solidFill>
                  </a:tcPr>
                </a:tc>
                <a:extLst>
                  <a:ext uri="{0D108BD9-81ED-4DB2-BD59-A6C34878D82A}">
                    <a16:rowId xmlns:a16="http://schemas.microsoft.com/office/drawing/2014/main" val="2920232286"/>
                  </a:ext>
                </a:extLst>
              </a:tr>
              <a:tr h="0">
                <a:tc>
                  <a:txBody>
                    <a:bodyPr/>
                    <a:lstStyle/>
                    <a:p>
                      <a:pPr algn="l"/>
                      <a:r>
                        <a:rPr lang="zh-CN" sz="1600" kern="0">
                          <a:solidFill>
                            <a:schemeClr val="bg1"/>
                          </a:solidFill>
                          <a:effectLst/>
                          <a:latin typeface="微软雅黑" panose="020B0503020204020204" pitchFamily="34" charset="-122"/>
                          <a:ea typeface="微软雅黑" panose="020B0503020204020204" pitchFamily="34" charset="-122"/>
                        </a:rPr>
                        <a:t>一元非线性方程</a:t>
                      </a:r>
                      <a:endParaRPr lang="zh-CN" sz="1600"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52400" marR="152400" marT="91440" marB="91440" anchor="ctr">
                    <a:solidFill>
                      <a:srgbClr val="0070C0"/>
                    </a:solidFill>
                  </a:tcPr>
                </a:tc>
                <a:tc>
                  <a:txBody>
                    <a:bodyPr/>
                    <a:lstStyle/>
                    <a:p>
                      <a:pPr algn="l"/>
                      <a:r>
                        <a:rPr lang="en-US" sz="1600" kern="0">
                          <a:solidFill>
                            <a:schemeClr val="bg1"/>
                          </a:solidFill>
                          <a:effectLst/>
                          <a:latin typeface="微软雅黑" panose="020B0503020204020204" pitchFamily="34" charset="-122"/>
                          <a:ea typeface="微软雅黑" panose="020B0503020204020204" pitchFamily="34" charset="-122"/>
                        </a:rPr>
                        <a:t>f(x)=0</a:t>
                      </a:r>
                      <a:endParaRPr lang="zh-CN" sz="1600"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52400" marR="152400" marT="91440" marB="91440" anchor="ctr">
                    <a:solidFill>
                      <a:srgbClr val="0070C0"/>
                    </a:solidFill>
                  </a:tcPr>
                </a:tc>
                <a:tc>
                  <a:txBody>
                    <a:bodyPr/>
                    <a:lstStyle/>
                    <a:p>
                      <a:pPr algn="l"/>
                      <a:r>
                        <a:rPr lang="en-US" sz="1600" u="sng" kern="0" dirty="0">
                          <a:solidFill>
                            <a:schemeClr val="bg1"/>
                          </a:solidFill>
                          <a:effectLst/>
                          <a:latin typeface="微软雅黑" panose="020B0503020204020204" pitchFamily="34" charset="-122"/>
                          <a:ea typeface="微软雅黑" panose="020B0503020204020204" pitchFamily="34" charset="-122"/>
                          <a:hlinkClick r:id="rId2">
                            <a:extLst>
                              <a:ext uri="{A12FA001-AC4F-418D-AE19-62706E023703}">
                                <ahyp:hlinkClr xmlns:ahyp="http://schemas.microsoft.com/office/drawing/2018/hyperlinkcolor" val="tx"/>
                              </a:ext>
                            </a:extLst>
                          </a:hlinkClick>
                        </a:rPr>
                        <a:t>fzero</a:t>
                      </a:r>
                      <a:endParaRPr lang="zh-CN" sz="16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52400" marR="152400" marT="91440" marB="91440" anchor="ctr">
                    <a:solidFill>
                      <a:srgbClr val="0070C0"/>
                    </a:solidFill>
                  </a:tcPr>
                </a:tc>
                <a:extLst>
                  <a:ext uri="{0D108BD9-81ED-4DB2-BD59-A6C34878D82A}">
                    <a16:rowId xmlns:a16="http://schemas.microsoft.com/office/drawing/2014/main" val="3932122299"/>
                  </a:ext>
                </a:extLst>
              </a:tr>
              <a:tr h="0">
                <a:tc>
                  <a:txBody>
                    <a:bodyPr/>
                    <a:lstStyle/>
                    <a:p>
                      <a:pPr algn="l"/>
                      <a:r>
                        <a:rPr lang="zh-CN" sz="1600" kern="0">
                          <a:solidFill>
                            <a:schemeClr val="bg1"/>
                          </a:solidFill>
                          <a:effectLst/>
                          <a:latin typeface="微软雅黑" panose="020B0503020204020204" pitchFamily="34" charset="-122"/>
                          <a:ea typeface="微软雅黑" panose="020B0503020204020204" pitchFamily="34" charset="-122"/>
                        </a:rPr>
                        <a:t>非线性方程</a:t>
                      </a:r>
                      <a:endParaRPr lang="zh-CN" sz="1600"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52400" marR="152400" marT="91440" marB="91440" anchor="ctr">
                    <a:solidFill>
                      <a:srgbClr val="0070C0"/>
                    </a:solidFill>
                  </a:tcPr>
                </a:tc>
                <a:tc>
                  <a:txBody>
                    <a:bodyPr/>
                    <a:lstStyle/>
                    <a:p>
                      <a:pPr algn="l"/>
                      <a:r>
                        <a:rPr lang="en-US" sz="1600" kern="0">
                          <a:solidFill>
                            <a:schemeClr val="bg1"/>
                          </a:solidFill>
                          <a:effectLst/>
                          <a:latin typeface="微软雅黑" panose="020B0503020204020204" pitchFamily="34" charset="-122"/>
                          <a:ea typeface="微软雅黑" panose="020B0503020204020204" pitchFamily="34" charset="-122"/>
                        </a:rPr>
                        <a:t>F(x)=0</a:t>
                      </a:r>
                      <a:r>
                        <a:rPr lang="zh-CN" sz="1600" kern="0">
                          <a:solidFill>
                            <a:schemeClr val="bg1"/>
                          </a:solidFill>
                          <a:effectLst/>
                          <a:latin typeface="微软雅黑" panose="020B0503020204020204" pitchFamily="34" charset="-122"/>
                          <a:ea typeface="微软雅黑" panose="020B0503020204020204" pitchFamily="34" charset="-122"/>
                        </a:rPr>
                        <a:t>，</a:t>
                      </a:r>
                      <a:r>
                        <a:rPr lang="en-US" sz="1600" kern="0">
                          <a:solidFill>
                            <a:schemeClr val="bg1"/>
                          </a:solidFill>
                          <a:effectLst/>
                          <a:latin typeface="微软雅黑" panose="020B0503020204020204" pitchFamily="34" charset="-122"/>
                          <a:ea typeface="微软雅黑" panose="020B0503020204020204" pitchFamily="34" charset="-122"/>
                        </a:rPr>
                        <a:t>n </a:t>
                      </a:r>
                      <a:r>
                        <a:rPr lang="zh-CN" sz="1600" kern="0">
                          <a:solidFill>
                            <a:schemeClr val="bg1"/>
                          </a:solidFill>
                          <a:effectLst/>
                          <a:latin typeface="微软雅黑" panose="020B0503020204020204" pitchFamily="34" charset="-122"/>
                          <a:ea typeface="微软雅黑" panose="020B0503020204020204" pitchFamily="34" charset="-122"/>
                        </a:rPr>
                        <a:t>个方程，</a:t>
                      </a:r>
                      <a:r>
                        <a:rPr lang="en-US" sz="1600" kern="0">
                          <a:solidFill>
                            <a:schemeClr val="bg1"/>
                          </a:solidFill>
                          <a:effectLst/>
                          <a:latin typeface="微软雅黑" panose="020B0503020204020204" pitchFamily="34" charset="-122"/>
                          <a:ea typeface="微软雅黑" panose="020B0503020204020204" pitchFamily="34" charset="-122"/>
                        </a:rPr>
                        <a:t>n </a:t>
                      </a:r>
                      <a:r>
                        <a:rPr lang="zh-CN" sz="1600" kern="0">
                          <a:solidFill>
                            <a:schemeClr val="bg1"/>
                          </a:solidFill>
                          <a:effectLst/>
                          <a:latin typeface="微软雅黑" panose="020B0503020204020204" pitchFamily="34" charset="-122"/>
                          <a:ea typeface="微软雅黑" panose="020B0503020204020204" pitchFamily="34" charset="-122"/>
                        </a:rPr>
                        <a:t>个变量</a:t>
                      </a:r>
                      <a:endParaRPr lang="zh-CN" sz="1600"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52400" marR="152400" marT="91440" marB="91440" anchor="ctr">
                    <a:solidFill>
                      <a:srgbClr val="0070C0"/>
                    </a:solidFill>
                  </a:tcPr>
                </a:tc>
                <a:tc>
                  <a:txBody>
                    <a:bodyPr/>
                    <a:lstStyle/>
                    <a:p>
                      <a:pPr algn="l"/>
                      <a:r>
                        <a:rPr lang="en-US" sz="1600" u="sng" kern="0" dirty="0" err="1">
                          <a:solidFill>
                            <a:schemeClr val="bg1"/>
                          </a:solidFill>
                          <a:effectLst/>
                          <a:latin typeface="微软雅黑" panose="020B0503020204020204" pitchFamily="34" charset="-122"/>
                          <a:ea typeface="微软雅黑" panose="020B0503020204020204" pitchFamily="34" charset="-122"/>
                          <a:hlinkClick r:id="rId3">
                            <a:extLst>
                              <a:ext uri="{A12FA001-AC4F-418D-AE19-62706E023703}">
                                <ahyp:hlinkClr xmlns:ahyp="http://schemas.microsoft.com/office/drawing/2018/hyperlinkcolor" val="tx"/>
                              </a:ext>
                            </a:extLst>
                          </a:hlinkClick>
                        </a:rPr>
                        <a:t>fsolve</a:t>
                      </a:r>
                      <a:endParaRPr lang="zh-CN" sz="16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52400" marR="152400" marT="91440" marB="91440" anchor="ctr">
                    <a:solidFill>
                      <a:srgbClr val="0070C0"/>
                    </a:solidFill>
                  </a:tcPr>
                </a:tc>
                <a:extLst>
                  <a:ext uri="{0D108BD9-81ED-4DB2-BD59-A6C34878D82A}">
                    <a16:rowId xmlns:a16="http://schemas.microsoft.com/office/drawing/2014/main" val="1877312780"/>
                  </a:ext>
                </a:extLst>
              </a:tr>
            </a:tbl>
          </a:graphicData>
        </a:graphic>
      </p:graphicFrame>
    </p:spTree>
    <p:extLst>
      <p:ext uri="{BB962C8B-B14F-4D97-AF65-F5344CB8AC3E}">
        <p14:creationId xmlns:p14="http://schemas.microsoft.com/office/powerpoint/2010/main" val="33730492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E9880CB-A802-45DC-867B-A452F952A2F2}"/>
              </a:ext>
            </a:extLst>
          </p:cNvPr>
          <p:cNvSpPr txBox="1"/>
          <p:nvPr/>
        </p:nvSpPr>
        <p:spPr>
          <a:xfrm>
            <a:off x="1115616" y="0"/>
            <a:ext cx="7200800" cy="677108"/>
          </a:xfrm>
          <a:prstGeom prst="rect">
            <a:avLst/>
          </a:prstGeom>
          <a:noFill/>
        </p:spPr>
        <p:txBody>
          <a:bodyPr wrap="square">
            <a:spAutoFit/>
          </a:bodyPr>
          <a:lstStyle/>
          <a:p>
            <a:pPr algn="dist">
              <a:lnSpc>
                <a:spcPct val="150000"/>
              </a:lnSpc>
            </a:pPr>
            <a:r>
              <a:rPr lang="en-US" altLang="zh-CN" sz="2800" b="0" dirty="0">
                <a:solidFill>
                  <a:srgbClr val="002060"/>
                </a:solidFill>
                <a:latin typeface="华文楷体" panose="02010600040101010101" pitchFamily="2" charset="-122"/>
                <a:ea typeface="华文楷体" panose="02010600040101010101" pitchFamily="2" charset="-122"/>
              </a:rPr>
              <a:t>§ 8.5</a:t>
            </a:r>
            <a:r>
              <a:rPr lang="en-US" altLang="zh-CN" sz="2800" dirty="0">
                <a:solidFill>
                  <a:srgbClr val="002060"/>
                </a:solidFill>
                <a:latin typeface="华文楷体" panose="02010600040101010101" pitchFamily="2" charset="-122"/>
                <a:ea typeface="华文楷体" panose="02010600040101010101" pitchFamily="2" charset="-122"/>
              </a:rPr>
              <a:t>.1</a:t>
            </a:r>
            <a:r>
              <a:rPr lang="zh-CN" altLang="en-US" sz="2800" dirty="0">
                <a:solidFill>
                  <a:srgbClr val="002060"/>
                </a:solidFill>
                <a:latin typeface="华文楷体" panose="02010600040101010101" pitchFamily="2" charset="-122"/>
                <a:ea typeface="华文楷体" panose="02010600040101010101" pitchFamily="2" charset="-122"/>
              </a:rPr>
              <a:t>求解非线性方程 </a:t>
            </a:r>
            <a:r>
              <a:rPr lang="en-US" altLang="zh-CN" sz="2800" dirty="0">
                <a:solidFill>
                  <a:srgbClr val="FF0000"/>
                </a:solidFill>
                <a:latin typeface="华文楷体" panose="02010600040101010101" pitchFamily="2" charset="-122"/>
                <a:ea typeface="华文楷体" panose="02010600040101010101" pitchFamily="2" charset="-122"/>
                <a:sym typeface="Arial" panose="020B0604020202020204" pitchFamily="34" charset="0"/>
              </a:rPr>
              <a:t>fzero</a:t>
            </a:r>
            <a:r>
              <a:rPr lang="en-US" altLang="zh-CN" sz="2800" b="0" kern="0" dirty="0">
                <a:solidFill>
                  <a:srgbClr val="FF0000"/>
                </a:solidFill>
                <a:latin typeface="华文楷体" panose="02010600040101010101" pitchFamily="2" charset="-122"/>
                <a:ea typeface="华文楷体" panose="02010600040101010101" pitchFamily="2" charset="-122"/>
              </a:rPr>
              <a:t> ——</a:t>
            </a:r>
            <a:r>
              <a:rPr lang="zh-CN" altLang="en-US" sz="2800" b="0" kern="0" dirty="0">
                <a:solidFill>
                  <a:srgbClr val="FF0000"/>
                </a:solidFill>
                <a:latin typeface="华文楷体" panose="02010600040101010101" pitchFamily="2" charset="-122"/>
                <a:ea typeface="华文楷体" panose="02010600040101010101" pitchFamily="2" charset="-122"/>
              </a:rPr>
              <a:t>调用语法</a:t>
            </a:r>
            <a:endParaRPr lang="en-US" altLang="zh-CN" sz="2800" dirty="0">
              <a:solidFill>
                <a:srgbClr val="FF0000"/>
              </a:solidFill>
              <a:latin typeface="华文楷体" panose="02010600040101010101" pitchFamily="2" charset="-122"/>
              <a:ea typeface="华文楷体" panose="02010600040101010101" pitchFamily="2" charset="-122"/>
              <a:sym typeface="Arial" panose="020B0604020202020204" pitchFamily="34" charset="0"/>
            </a:endParaRPr>
          </a:p>
        </p:txBody>
      </p:sp>
      <p:sp>
        <p:nvSpPr>
          <p:cNvPr id="8" name="文本框 7">
            <a:extLst>
              <a:ext uri="{FF2B5EF4-FFF2-40B4-BE49-F238E27FC236}">
                <a16:creationId xmlns:a16="http://schemas.microsoft.com/office/drawing/2014/main" id="{17F02869-FCD9-43B4-94F8-347F0EA9B562}"/>
              </a:ext>
            </a:extLst>
          </p:cNvPr>
          <p:cNvSpPr txBox="1"/>
          <p:nvPr/>
        </p:nvSpPr>
        <p:spPr>
          <a:xfrm>
            <a:off x="2335503" y="762011"/>
            <a:ext cx="6763336" cy="338554"/>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marL="0" lvl="0" indent="0" algn="dist" eaLnBrk="0" hangingPunct="0">
              <a:lnSpc>
                <a:spcPct val="100000"/>
              </a:lnSpc>
            </a:pPr>
            <a:r>
              <a:rPr lang="zh-CN" altLang="zh-CN" sz="1600" b="0" dirty="0">
                <a:effectLst/>
                <a:highlight>
                  <a:srgbClr val="FF0000"/>
                </a:highlight>
                <a:latin typeface="Arial Unicode MS"/>
                <a:ea typeface="source-code-pro"/>
              </a:rPr>
              <a:t>x,</a:t>
            </a:r>
            <a:r>
              <a:rPr lang="zh-CN" altLang="zh-CN" sz="1600" b="0" dirty="0">
                <a:effectLst/>
                <a:latin typeface="Arial Unicode MS"/>
                <a:ea typeface="source-code-pro"/>
              </a:rPr>
              <a:t>fval,exitflag,output </a:t>
            </a:r>
            <a:r>
              <a:rPr lang="zh-CN" altLang="zh-CN" sz="1600" b="0" dirty="0">
                <a:effectLst/>
                <a:highlight>
                  <a:srgbClr val="FF0000"/>
                </a:highlight>
                <a:latin typeface="Arial Unicode MS"/>
                <a:ea typeface="source-code-pro"/>
              </a:rPr>
              <a:t>= fzero(fun,x0)</a:t>
            </a:r>
            <a:r>
              <a:rPr lang="zh-CN" altLang="zh-CN" sz="800" b="0" dirty="0">
                <a:effectLst/>
                <a:highlight>
                  <a:srgbClr val="FF0000"/>
                </a:highlight>
              </a:rPr>
              <a:t> </a:t>
            </a:r>
            <a:endParaRPr lang="zh-CN" altLang="zh-CN" sz="3600" b="0" dirty="0">
              <a:effectLst/>
              <a:highlight>
                <a:srgbClr val="FF0000"/>
              </a:highlight>
              <a:latin typeface="Arial" panose="020B0604020202020204" pitchFamily="34" charset="0"/>
            </a:endParaRPr>
          </a:p>
        </p:txBody>
      </p:sp>
      <p:sp>
        <p:nvSpPr>
          <p:cNvPr id="10" name="Rectangle 20">
            <a:extLst>
              <a:ext uri="{FF2B5EF4-FFF2-40B4-BE49-F238E27FC236}">
                <a16:creationId xmlns:a16="http://schemas.microsoft.com/office/drawing/2014/main" id="{E569BECF-3D72-46D7-8938-CE89AE96860D}"/>
              </a:ext>
            </a:extLst>
          </p:cNvPr>
          <p:cNvSpPr/>
          <p:nvPr/>
        </p:nvSpPr>
        <p:spPr bwMode="auto">
          <a:xfrm>
            <a:off x="152052" y="1897694"/>
            <a:ext cx="4340751" cy="1342932"/>
          </a:xfrm>
          <a:prstGeom prst="rect">
            <a:avLst/>
          </a:prstGeom>
          <a:solidFill>
            <a:srgbClr val="FFFFFF"/>
          </a:solidFill>
          <a:ln w="28575" cap="flat" cmpd="sng">
            <a:noFill/>
            <a:prstDash val="solid"/>
            <a:miter lim="800000"/>
          </a:ln>
        </p:spPr>
        <p:txBody>
          <a:bodyPr vert="horz" wrap="square" lIns="68580" tIns="34290" rIns="68580" bIns="34290" numCol="1" anchor="t">
            <a:spAutoFit/>
          </a:bodyPr>
          <a:lstStyle/>
          <a:p>
            <a:pPr marL="285750" indent="-285750" eaLnBrk="0">
              <a:lnSpc>
                <a:spcPts val="2475"/>
              </a:lnSpc>
              <a:spcBef>
                <a:spcPts val="0"/>
              </a:spcBef>
              <a:spcAft>
                <a:spcPts val="0"/>
              </a:spcAft>
              <a:buFont typeface="Wingdings" panose="05000000000000000000" pitchFamily="2" charset="2"/>
              <a:buChar char="Ø"/>
            </a:pPr>
            <a:r>
              <a:rPr lang="en-US" altLang="zh-CN" sz="2000" dirty="0">
                <a:solidFill>
                  <a:srgbClr val="0070C0"/>
                </a:solidFill>
                <a:latin typeface="华文楷体" panose="02010600040101010101" pitchFamily="2" charset="-122"/>
                <a:ea typeface="华文楷体" panose="02010600040101010101" pitchFamily="2" charset="-122"/>
              </a:rPr>
              <a:t>x:</a:t>
            </a:r>
            <a:r>
              <a:rPr lang="zh-CN" altLang="en-US" sz="2000" dirty="0">
                <a:solidFill>
                  <a:srgbClr val="0070C0"/>
                </a:solidFill>
                <a:latin typeface="华文楷体" panose="02010600040101010101" pitchFamily="2" charset="-122"/>
                <a:ea typeface="华文楷体" panose="02010600040101010101" pitchFamily="2" charset="-122"/>
              </a:rPr>
              <a:t>非线性方程的根</a:t>
            </a:r>
            <a:r>
              <a:rPr lang="en-US" altLang="zh-CN" sz="2000" cap="none" dirty="0">
                <a:solidFill>
                  <a:srgbClr val="0070C0"/>
                </a:solidFill>
                <a:latin typeface="华文楷体" panose="02010600040101010101" pitchFamily="2" charset="-122"/>
                <a:ea typeface="华文楷体" panose="02010600040101010101" pitchFamily="2" charset="-122"/>
              </a:rPr>
              <a:t> </a:t>
            </a:r>
            <a:endParaRPr lang="en-US" altLang="ko-KR" sz="2000" cap="none" dirty="0">
              <a:solidFill>
                <a:srgbClr val="0070C0"/>
              </a:solidFill>
              <a:latin typeface="华文楷体" panose="02010600040101010101" pitchFamily="2" charset="-122"/>
              <a:ea typeface="华文楷体" panose="02010600040101010101" pitchFamily="2" charset="-122"/>
            </a:endParaRPr>
          </a:p>
          <a:p>
            <a:pPr marL="285750" indent="-285750" eaLnBrk="0">
              <a:lnSpc>
                <a:spcPts val="2475"/>
              </a:lnSpc>
              <a:spcBef>
                <a:spcPts val="0"/>
              </a:spcBef>
              <a:spcAft>
                <a:spcPts val="0"/>
              </a:spcAft>
              <a:buFont typeface="Wingdings" panose="05000000000000000000" pitchFamily="2" charset="2"/>
              <a:buChar char="Ø"/>
            </a:pPr>
            <a:r>
              <a:rPr lang="en-US" altLang="zh-CN" sz="2000" dirty="0" err="1">
                <a:solidFill>
                  <a:srgbClr val="0070C0"/>
                </a:solidFill>
                <a:latin typeface="华文楷体" panose="02010600040101010101" pitchFamily="2" charset="-122"/>
                <a:ea typeface="华文楷体" panose="02010600040101010101" pitchFamily="2" charset="-122"/>
              </a:rPr>
              <a:t>f</a:t>
            </a:r>
            <a:r>
              <a:rPr lang="en-US" altLang="ko-KR" sz="2000" dirty="0" err="1">
                <a:solidFill>
                  <a:srgbClr val="0070C0"/>
                </a:solidFill>
                <a:latin typeface="华文楷体" panose="02010600040101010101" pitchFamily="2" charset="-122"/>
                <a:ea typeface="华文楷体" panose="02010600040101010101" pitchFamily="2" charset="-122"/>
              </a:rPr>
              <a:t>val:x</a:t>
            </a:r>
            <a:r>
              <a:rPr lang="zh-CN" altLang="en-US" sz="2000" dirty="0">
                <a:solidFill>
                  <a:srgbClr val="0070C0"/>
                </a:solidFill>
                <a:latin typeface="华文楷体" panose="02010600040101010101" pitchFamily="2" charset="-122"/>
                <a:ea typeface="华文楷体" panose="02010600040101010101" pitchFamily="2" charset="-122"/>
              </a:rPr>
              <a:t>带入到</a:t>
            </a:r>
            <a:r>
              <a:rPr lang="en-US" altLang="ko-KR" sz="2000" dirty="0">
                <a:solidFill>
                  <a:srgbClr val="0070C0"/>
                </a:solidFill>
                <a:latin typeface="华文楷体" panose="02010600040101010101" pitchFamily="2" charset="-122"/>
                <a:ea typeface="华文楷体" panose="02010600040101010101" pitchFamily="2" charset="-122"/>
              </a:rPr>
              <a:t>f(x)</a:t>
            </a:r>
            <a:r>
              <a:rPr lang="zh-CN" altLang="en-US" sz="2000" dirty="0">
                <a:solidFill>
                  <a:srgbClr val="0070C0"/>
                </a:solidFill>
                <a:latin typeface="华文楷体" panose="02010600040101010101" pitchFamily="2" charset="-122"/>
                <a:ea typeface="华文楷体" panose="02010600040101010101" pitchFamily="2" charset="-122"/>
              </a:rPr>
              <a:t>的值，即函数</a:t>
            </a:r>
            <a:r>
              <a:rPr lang="en-US" altLang="ko-KR" sz="2000" cap="none" dirty="0" err="1">
                <a:solidFill>
                  <a:srgbClr val="0070C0"/>
                </a:solidFill>
                <a:latin typeface="华文楷体" panose="02010600040101010101" pitchFamily="2" charset="-122"/>
                <a:ea typeface="华文楷体" panose="02010600040101010101" pitchFamily="2" charset="-122"/>
              </a:rPr>
              <a:t>零点</a:t>
            </a:r>
            <a:r>
              <a:rPr lang="en-US" altLang="zh-CN" sz="2000" cap="none" dirty="0">
                <a:solidFill>
                  <a:srgbClr val="0070C0"/>
                </a:solidFill>
                <a:latin typeface="华文楷体" panose="02010600040101010101" pitchFamily="2" charset="-122"/>
                <a:ea typeface="华文楷体" panose="02010600040101010101" pitchFamily="2" charset="-122"/>
              </a:rPr>
              <a:t> </a:t>
            </a:r>
            <a:endParaRPr lang="en-US" altLang="ko-KR" sz="2000" cap="none" dirty="0">
              <a:solidFill>
                <a:srgbClr val="0070C0"/>
              </a:solidFill>
              <a:latin typeface="华文楷体" panose="02010600040101010101" pitchFamily="2" charset="-122"/>
              <a:ea typeface="华文楷体" panose="02010600040101010101" pitchFamily="2" charset="-122"/>
            </a:endParaRPr>
          </a:p>
          <a:p>
            <a:pPr marL="285750" indent="-285750" eaLnBrk="0">
              <a:lnSpc>
                <a:spcPts val="2475"/>
              </a:lnSpc>
              <a:spcBef>
                <a:spcPts val="0"/>
              </a:spcBef>
              <a:spcAft>
                <a:spcPts val="0"/>
              </a:spcAft>
              <a:buFont typeface="Wingdings" panose="05000000000000000000" pitchFamily="2" charset="2"/>
              <a:buChar char="Ø"/>
            </a:pPr>
            <a:r>
              <a:rPr lang="en-US" altLang="ko-KR" sz="2000" dirty="0" err="1">
                <a:solidFill>
                  <a:srgbClr val="0070C0"/>
                </a:solidFill>
                <a:latin typeface="华文楷体" panose="02010600040101010101" pitchFamily="2" charset="-122"/>
                <a:ea typeface="华文楷体" panose="02010600040101010101" pitchFamily="2" charset="-122"/>
              </a:rPr>
              <a:t>exitflag:</a:t>
            </a:r>
            <a:r>
              <a:rPr lang="en-US" altLang="ko-KR" sz="2000" cap="none" dirty="0" err="1">
                <a:solidFill>
                  <a:srgbClr val="0070C0"/>
                </a:solidFill>
                <a:latin typeface="华文楷体" panose="02010600040101010101" pitchFamily="2" charset="-122"/>
                <a:ea typeface="华文楷体" panose="02010600040101010101" pitchFamily="2" charset="-122"/>
              </a:rPr>
              <a:t>程序退出标志</a:t>
            </a:r>
            <a:r>
              <a:rPr lang="zh-CN" altLang="en-US" sz="2000" cap="none" dirty="0">
                <a:solidFill>
                  <a:srgbClr val="0070C0"/>
                </a:solidFill>
                <a:latin typeface="华文楷体" panose="02010600040101010101" pitchFamily="2" charset="-122"/>
                <a:ea typeface="华文楷体" panose="02010600040101010101" pitchFamily="2" charset="-122"/>
              </a:rPr>
              <a:t>，</a:t>
            </a:r>
            <a:r>
              <a:rPr lang="en-US" altLang="ko-KR" sz="2000" dirty="0">
                <a:solidFill>
                  <a:srgbClr val="0070C0"/>
                </a:solidFill>
                <a:latin typeface="华文楷体" panose="02010600040101010101" pitchFamily="2" charset="-122"/>
                <a:ea typeface="华文楷体" panose="02010600040101010101" pitchFamily="2" charset="-122"/>
              </a:rPr>
              <a:t>1</a:t>
            </a:r>
            <a:r>
              <a:rPr lang="zh-CN" altLang="en-US" sz="2000" dirty="0">
                <a:solidFill>
                  <a:srgbClr val="0070C0"/>
                </a:solidFill>
                <a:latin typeface="华文楷体" panose="02010600040101010101" pitchFamily="2" charset="-122"/>
                <a:ea typeface="华文楷体" panose="02010600040101010101" pitchFamily="2" charset="-122"/>
              </a:rPr>
              <a:t>为</a:t>
            </a:r>
            <a:r>
              <a:rPr lang="en-US" altLang="ko-KR" sz="2000" dirty="0" err="1">
                <a:solidFill>
                  <a:srgbClr val="0070C0"/>
                </a:solidFill>
                <a:latin typeface="华文楷体" panose="02010600040101010101" pitchFamily="2" charset="-122"/>
                <a:ea typeface="华文楷体" panose="02010600040101010101" pitchFamily="2" charset="-122"/>
              </a:rPr>
              <a:t>收敛</a:t>
            </a:r>
            <a:endParaRPr lang="en-US" altLang="ko-KR" sz="2000" cap="none" dirty="0">
              <a:solidFill>
                <a:srgbClr val="0070C0"/>
              </a:solidFill>
              <a:latin typeface="华文楷体" panose="02010600040101010101" pitchFamily="2" charset="-122"/>
              <a:ea typeface="华文楷体" panose="02010600040101010101" pitchFamily="2" charset="-122"/>
            </a:endParaRPr>
          </a:p>
          <a:p>
            <a:pPr marL="285750" indent="-285750" defTabSz="685800" eaLnBrk="0">
              <a:lnSpc>
                <a:spcPts val="2475"/>
              </a:lnSpc>
              <a:spcBef>
                <a:spcPts val="0"/>
              </a:spcBef>
              <a:spcAft>
                <a:spcPts val="0"/>
              </a:spcAft>
              <a:buFont typeface="Wingdings" panose="05000000000000000000" pitchFamily="2" charset="2"/>
              <a:buChar char="Ø"/>
            </a:pPr>
            <a:r>
              <a:rPr lang="en-US" altLang="ko-KR" sz="2000" dirty="0" err="1">
                <a:solidFill>
                  <a:srgbClr val="0070C0"/>
                </a:solidFill>
                <a:latin typeface="华文楷体" panose="02010600040101010101" pitchFamily="2" charset="-122"/>
                <a:ea typeface="华文楷体" panose="02010600040101010101" pitchFamily="2" charset="-122"/>
              </a:rPr>
              <a:t>output:</a:t>
            </a:r>
            <a:r>
              <a:rPr lang="en-US" altLang="ko-KR" sz="2000" cap="none" dirty="0" err="1">
                <a:solidFill>
                  <a:srgbClr val="0070C0"/>
                </a:solidFill>
                <a:latin typeface="华文楷体" panose="02010600040101010101" pitchFamily="2" charset="-122"/>
                <a:ea typeface="华文楷体" panose="02010600040101010101" pitchFamily="2" charset="-122"/>
              </a:rPr>
              <a:t>输出信息结果</a:t>
            </a:r>
            <a:endParaRPr lang="en-US" altLang="ko-KR" sz="2000" cap="none" dirty="0">
              <a:solidFill>
                <a:srgbClr val="0070C0"/>
              </a:solidFill>
              <a:latin typeface="华文楷体" panose="02010600040101010101" pitchFamily="2" charset="-122"/>
              <a:ea typeface="华文楷体" panose="02010600040101010101" pitchFamily="2" charset="-122"/>
            </a:endParaRPr>
          </a:p>
        </p:txBody>
      </p:sp>
      <p:sp>
        <p:nvSpPr>
          <p:cNvPr id="11" name="矩形 10">
            <a:extLst>
              <a:ext uri="{FF2B5EF4-FFF2-40B4-BE49-F238E27FC236}">
                <a16:creationId xmlns:a16="http://schemas.microsoft.com/office/drawing/2014/main" id="{6A5C59CD-5895-4E82-A1DE-F17DD6816AFF}"/>
              </a:ext>
            </a:extLst>
          </p:cNvPr>
          <p:cNvSpPr/>
          <p:nvPr/>
        </p:nvSpPr>
        <p:spPr>
          <a:xfrm>
            <a:off x="119845" y="3590424"/>
            <a:ext cx="8978994" cy="1045414"/>
          </a:xfrm>
          <a:prstGeom prst="rect">
            <a:avLst/>
          </a:prstGeom>
          <a:solidFill>
            <a:schemeClr val="bg1"/>
          </a:solidFill>
          <a:ln>
            <a:noFill/>
          </a:ln>
        </p:spPr>
        <p:txBody>
          <a:bodyPr wrap="square">
            <a:spAutoFit/>
          </a:bodyPr>
          <a:lstStyle/>
          <a:p>
            <a:pPr marL="285750" indent="-285750" eaLnBrk="0">
              <a:lnSpc>
                <a:spcPts val="2475"/>
              </a:lnSpc>
              <a:spcBef>
                <a:spcPts val="0"/>
              </a:spcBef>
              <a:spcAft>
                <a:spcPts val="0"/>
              </a:spcAft>
              <a:buFont typeface="Wingdings" panose="05000000000000000000" pitchFamily="2" charset="2"/>
              <a:buChar char="Ø"/>
            </a:pPr>
            <a:r>
              <a:rPr lang="en-US" altLang="ko-KR" sz="2000" dirty="0" err="1">
                <a:solidFill>
                  <a:srgbClr val="0070C0"/>
                </a:solidFill>
                <a:latin typeface="华文楷体" panose="02010600040101010101" pitchFamily="2" charset="-122"/>
                <a:ea typeface="华文楷体" panose="02010600040101010101" pitchFamily="2" charset="-122"/>
              </a:rPr>
              <a:t>fun:待</a:t>
            </a:r>
            <a:r>
              <a:rPr lang="zh-CN" altLang="en-US" sz="2000" dirty="0">
                <a:solidFill>
                  <a:srgbClr val="0070C0"/>
                </a:solidFill>
                <a:latin typeface="华文楷体" panose="02010600040101010101" pitchFamily="2" charset="-122"/>
                <a:ea typeface="华文楷体" panose="02010600040101010101" pitchFamily="2" charset="-122"/>
              </a:rPr>
              <a:t>求根的方程表达式，</a:t>
            </a:r>
            <a:r>
              <a:rPr lang="zh-CN" altLang="en-US" sz="2000" dirty="0">
                <a:solidFill>
                  <a:schemeClr val="bg1"/>
                </a:solidFill>
                <a:highlight>
                  <a:srgbClr val="FF0000"/>
                </a:highlight>
                <a:latin typeface="华文楷体" panose="02010600040101010101" pitchFamily="2" charset="-122"/>
                <a:ea typeface="华文楷体" panose="02010600040101010101" pitchFamily="2" charset="-122"/>
              </a:rPr>
              <a:t>即</a:t>
            </a:r>
            <a:r>
              <a:rPr lang="en-US" altLang="zh-CN" sz="2000" dirty="0">
                <a:solidFill>
                  <a:schemeClr val="bg1"/>
                </a:solidFill>
                <a:highlight>
                  <a:srgbClr val="FF0000"/>
                </a:highlight>
                <a:latin typeface="华文楷体" panose="02010600040101010101" pitchFamily="2" charset="-122"/>
                <a:ea typeface="华文楷体" panose="02010600040101010101" pitchFamily="2" charset="-122"/>
              </a:rPr>
              <a:t>fun(x)=0</a:t>
            </a:r>
            <a:r>
              <a:rPr lang="zh-CN" altLang="en-US" sz="2000" dirty="0">
                <a:solidFill>
                  <a:srgbClr val="0070C0"/>
                </a:solidFill>
                <a:latin typeface="华文楷体" panose="02010600040101010101" pitchFamily="2" charset="-122"/>
                <a:ea typeface="华文楷体" panose="02010600040101010101" pitchFamily="2" charset="-122"/>
              </a:rPr>
              <a:t>；</a:t>
            </a:r>
            <a:endParaRPr lang="en-US" altLang="zh-CN" sz="2000" dirty="0">
              <a:solidFill>
                <a:srgbClr val="0070C0"/>
              </a:solidFill>
              <a:latin typeface="华文楷体" panose="02010600040101010101" pitchFamily="2" charset="-122"/>
              <a:ea typeface="华文楷体" panose="02010600040101010101" pitchFamily="2" charset="-122"/>
            </a:endParaRPr>
          </a:p>
          <a:p>
            <a:pPr marL="285750" indent="-285750" eaLnBrk="0">
              <a:lnSpc>
                <a:spcPts val="2475"/>
              </a:lnSpc>
              <a:spcBef>
                <a:spcPts val="0"/>
              </a:spcBef>
              <a:spcAft>
                <a:spcPts val="0"/>
              </a:spcAft>
              <a:buFont typeface="Wingdings" panose="05000000000000000000" pitchFamily="2" charset="2"/>
              <a:buChar char="Ø"/>
            </a:pPr>
            <a:r>
              <a:rPr lang="en-US" altLang="ko-KR" sz="2000" dirty="0">
                <a:solidFill>
                  <a:srgbClr val="0070C0"/>
                </a:solidFill>
                <a:latin typeface="华文楷体" panose="02010600040101010101" pitchFamily="2" charset="-122"/>
                <a:ea typeface="华文楷体" panose="02010600040101010101" pitchFamily="2" charset="-122"/>
              </a:rPr>
              <a:t>x0:初始值</a:t>
            </a:r>
            <a:r>
              <a:rPr lang="zh-CN" altLang="en-US" sz="2000" dirty="0">
                <a:solidFill>
                  <a:srgbClr val="0070C0"/>
                </a:solidFill>
                <a:latin typeface="华文楷体" panose="02010600040101010101" pitchFamily="2" charset="-122"/>
                <a:ea typeface="华文楷体" panose="02010600040101010101" pitchFamily="2" charset="-122"/>
              </a:rPr>
              <a:t>，搜索起始点，指定为实数标量或二元素实数向量</a:t>
            </a:r>
            <a:endParaRPr lang="en-US" altLang="zh-CN" sz="2000" dirty="0">
              <a:solidFill>
                <a:srgbClr val="0070C0"/>
              </a:solidFill>
              <a:latin typeface="华文楷体" panose="02010600040101010101" pitchFamily="2" charset="-122"/>
              <a:ea typeface="华文楷体" panose="02010600040101010101" pitchFamily="2" charset="-122"/>
            </a:endParaRPr>
          </a:p>
          <a:p>
            <a:pPr marL="285750" indent="-285750" eaLnBrk="0">
              <a:lnSpc>
                <a:spcPts val="2475"/>
              </a:lnSpc>
              <a:spcBef>
                <a:spcPts val="0"/>
              </a:spcBef>
              <a:spcAft>
                <a:spcPts val="0"/>
              </a:spcAft>
              <a:buFont typeface="Wingdings" panose="05000000000000000000" pitchFamily="2" charset="2"/>
              <a:buChar char="Ø"/>
            </a:pPr>
            <a:r>
              <a:rPr lang="en-US" altLang="zh-CN" sz="2000" dirty="0">
                <a:solidFill>
                  <a:srgbClr val="0070C0"/>
                </a:solidFill>
                <a:latin typeface="华文楷体" panose="02010600040101010101" pitchFamily="2" charset="-122"/>
                <a:ea typeface="华文楷体" panose="02010600040101010101" pitchFamily="2" charset="-122"/>
              </a:rPr>
              <a:t>x0</a:t>
            </a:r>
            <a:r>
              <a:rPr lang="zh-CN" altLang="en-US" sz="2000" dirty="0">
                <a:solidFill>
                  <a:srgbClr val="0070C0"/>
                </a:solidFill>
                <a:latin typeface="华文楷体" panose="02010600040101010101" pitchFamily="2" charset="-122"/>
                <a:ea typeface="华文楷体" panose="02010600040101010101" pitchFamily="2" charset="-122"/>
              </a:rPr>
              <a:t>也可以为</a:t>
            </a:r>
            <a:r>
              <a:rPr lang="en-US" altLang="ko-KR" sz="2000" dirty="0">
                <a:solidFill>
                  <a:srgbClr val="0070C0"/>
                </a:solidFill>
                <a:latin typeface="华文楷体" panose="02010600040101010101" pitchFamily="2" charset="-122"/>
                <a:ea typeface="华文楷体" panose="02010600040101010101" pitchFamily="2" charset="-122"/>
              </a:rPr>
              <a:t>[x1,x2]</a:t>
            </a:r>
            <a:r>
              <a:rPr lang="zh-CN" altLang="en-US" sz="2000" dirty="0">
                <a:solidFill>
                  <a:srgbClr val="0070C0"/>
                </a:solidFill>
                <a:latin typeface="华文楷体" panose="02010600040101010101" pitchFamily="2" charset="-122"/>
                <a:ea typeface="华文楷体" panose="02010600040101010101" pitchFamily="2" charset="-122"/>
              </a:rPr>
              <a:t>初始值范围，选择</a:t>
            </a:r>
            <a:r>
              <a:rPr lang="en-US" altLang="zh-CN" sz="2000" dirty="0">
                <a:solidFill>
                  <a:srgbClr val="0070C0"/>
                </a:solidFill>
                <a:latin typeface="华文楷体" panose="02010600040101010101" pitchFamily="2" charset="-122"/>
                <a:ea typeface="华文楷体" panose="02010600040101010101" pitchFamily="2" charset="-122"/>
              </a:rPr>
              <a:t>x1</a:t>
            </a:r>
            <a:r>
              <a:rPr lang="zh-CN" altLang="en-US" sz="2000" dirty="0">
                <a:solidFill>
                  <a:srgbClr val="0070C0"/>
                </a:solidFill>
                <a:latin typeface="华文楷体" panose="02010600040101010101" pitchFamily="2" charset="-122"/>
                <a:ea typeface="华文楷体" panose="02010600040101010101" pitchFamily="2" charset="-122"/>
              </a:rPr>
              <a:t>和</a:t>
            </a:r>
            <a:r>
              <a:rPr lang="en-US" altLang="zh-CN" sz="2000" dirty="0">
                <a:solidFill>
                  <a:srgbClr val="0070C0"/>
                </a:solidFill>
                <a:latin typeface="华文楷体" panose="02010600040101010101" pitchFamily="2" charset="-122"/>
                <a:ea typeface="华文楷体" panose="02010600040101010101" pitchFamily="2" charset="-122"/>
              </a:rPr>
              <a:t>x2</a:t>
            </a:r>
            <a:r>
              <a:rPr lang="zh-CN" altLang="en-US" sz="2000" dirty="0">
                <a:solidFill>
                  <a:srgbClr val="0070C0"/>
                </a:solidFill>
                <a:latin typeface="华文楷体" panose="02010600040101010101" pitchFamily="2" charset="-122"/>
                <a:ea typeface="华文楷体" panose="02010600040101010101" pitchFamily="2" charset="-122"/>
              </a:rPr>
              <a:t>范围必须</a:t>
            </a:r>
            <a:r>
              <a:rPr lang="zh-CN" altLang="en-US" sz="2000" b="1" dirty="0">
                <a:solidFill>
                  <a:srgbClr val="FF0000"/>
                </a:solidFill>
                <a:latin typeface="华文楷体" panose="02010600040101010101" pitchFamily="2" charset="-122"/>
                <a:ea typeface="华文楷体" panose="02010600040101010101" pitchFamily="2" charset="-122"/>
              </a:rPr>
              <a:t>要求</a:t>
            </a:r>
            <a:r>
              <a:rPr lang="en-US" altLang="zh-CN" sz="2000" b="1" dirty="0">
                <a:solidFill>
                  <a:srgbClr val="FF0000"/>
                </a:solidFill>
                <a:latin typeface="华文楷体" panose="02010600040101010101" pitchFamily="2" charset="-122"/>
                <a:ea typeface="华文楷体" panose="02010600040101010101" pitchFamily="2" charset="-122"/>
              </a:rPr>
              <a:t>f(x1)</a:t>
            </a:r>
            <a:r>
              <a:rPr lang="zh-CN" altLang="en-US" sz="2000" b="1" dirty="0">
                <a:solidFill>
                  <a:srgbClr val="FF0000"/>
                </a:solidFill>
                <a:latin typeface="华文楷体" panose="02010600040101010101" pitchFamily="2" charset="-122"/>
                <a:ea typeface="华文楷体" panose="02010600040101010101" pitchFamily="2" charset="-122"/>
              </a:rPr>
              <a:t>和</a:t>
            </a:r>
            <a:r>
              <a:rPr lang="en-US" altLang="zh-CN" sz="2000" b="1" dirty="0">
                <a:solidFill>
                  <a:srgbClr val="FF0000"/>
                </a:solidFill>
                <a:latin typeface="华文楷体" panose="02010600040101010101" pitchFamily="2" charset="-122"/>
                <a:ea typeface="华文楷体" panose="02010600040101010101" pitchFamily="2" charset="-122"/>
              </a:rPr>
              <a:t>f(x2)</a:t>
            </a:r>
            <a:r>
              <a:rPr lang="zh-CN" altLang="en-US" sz="2000" b="1" dirty="0">
                <a:solidFill>
                  <a:srgbClr val="FF0000"/>
                </a:solidFill>
                <a:latin typeface="华文楷体" panose="02010600040101010101" pitchFamily="2" charset="-122"/>
                <a:ea typeface="华文楷体" panose="02010600040101010101" pitchFamily="2" charset="-122"/>
              </a:rPr>
              <a:t>的值异号</a:t>
            </a:r>
            <a:endParaRPr lang="en-US" altLang="ko-KR" sz="2000" b="1" dirty="0">
              <a:solidFill>
                <a:srgbClr val="FF0000"/>
              </a:solidFill>
              <a:latin typeface="华文楷体" panose="02010600040101010101" pitchFamily="2" charset="-122"/>
              <a:ea typeface="华文楷体" panose="02010600040101010101" pitchFamily="2" charset="-122"/>
            </a:endParaRPr>
          </a:p>
        </p:txBody>
      </p:sp>
      <p:sp>
        <p:nvSpPr>
          <p:cNvPr id="12" name="Text Box 17">
            <a:extLst>
              <a:ext uri="{FF2B5EF4-FFF2-40B4-BE49-F238E27FC236}">
                <a16:creationId xmlns:a16="http://schemas.microsoft.com/office/drawing/2014/main" id="{E4661A9B-EC9B-48B3-AC76-216B83F2F149}"/>
              </a:ext>
            </a:extLst>
          </p:cNvPr>
          <p:cNvSpPr txBox="1"/>
          <p:nvPr/>
        </p:nvSpPr>
        <p:spPr bwMode="auto">
          <a:xfrm>
            <a:off x="143659" y="1553847"/>
            <a:ext cx="1692188" cy="369332"/>
          </a:xfrm>
          <a:prstGeom prst="rect">
            <a:avLst/>
          </a:prstGeom>
          <a:solidFill>
            <a:schemeClr val="bg1"/>
          </a:solidFill>
          <a:ln w="0">
            <a:noFill/>
          </a:ln>
        </p:spPr>
        <p:txBody>
          <a:bodyPr vert="horz" wrap="square" lIns="91440" tIns="45720" rIns="91440" bIns="45720" numCol="1" anchor="t">
            <a:spAutoFit/>
          </a:bodyPr>
          <a:lstStyle/>
          <a:p>
            <a:pPr marL="0" indent="0" algn="l" defTabSz="914400" eaLnBrk="0" fontAlgn="base" latinLnBrk="0">
              <a:lnSpc>
                <a:spcPct val="100000"/>
              </a:lnSpc>
              <a:spcBef>
                <a:spcPts val="0"/>
              </a:spcBef>
              <a:spcAft>
                <a:spcPts val="0"/>
              </a:spcAft>
              <a:buFontTx/>
              <a:buNone/>
            </a:pPr>
            <a:r>
              <a:rPr lang="zh-CN" altLang="en-US" b="1" cap="none" dirty="0">
                <a:solidFill>
                  <a:srgbClr val="0070C0"/>
                </a:solidFill>
                <a:latin typeface="微软雅黑" panose="020B0503020204020204" pitchFamily="34" charset="-122"/>
                <a:ea typeface="微软雅黑" panose="020B0503020204020204" pitchFamily="34" charset="-122"/>
              </a:rPr>
              <a:t>输出参数：</a:t>
            </a:r>
            <a:r>
              <a:rPr lang="en-US" altLang="ko-KR" b="1" cap="none" dirty="0">
                <a:solidFill>
                  <a:srgbClr val="0070C0"/>
                </a:solidFill>
                <a:latin typeface="微软雅黑" panose="020B0503020204020204" pitchFamily="34" charset="-122"/>
                <a:ea typeface="微软雅黑" panose="020B0503020204020204" pitchFamily="34" charset="-122"/>
              </a:rPr>
              <a:t> </a:t>
            </a:r>
            <a:endParaRPr lang="ko-KR" altLang="en-US" b="1" cap="none" dirty="0">
              <a:solidFill>
                <a:srgbClr val="0070C0"/>
              </a:solidFill>
              <a:latin typeface="微软雅黑" panose="020B0503020204020204" pitchFamily="34" charset="-122"/>
              <a:ea typeface="微软雅黑" panose="020B0503020204020204" charset="-122"/>
            </a:endParaRPr>
          </a:p>
        </p:txBody>
      </p:sp>
      <p:sp>
        <p:nvSpPr>
          <p:cNvPr id="13" name="Text Box 17">
            <a:extLst>
              <a:ext uri="{FF2B5EF4-FFF2-40B4-BE49-F238E27FC236}">
                <a16:creationId xmlns:a16="http://schemas.microsoft.com/office/drawing/2014/main" id="{36FAA16F-5C6B-4112-91BC-7363FFA5ED24}"/>
              </a:ext>
            </a:extLst>
          </p:cNvPr>
          <p:cNvSpPr txBox="1"/>
          <p:nvPr/>
        </p:nvSpPr>
        <p:spPr bwMode="auto">
          <a:xfrm>
            <a:off x="143659" y="3215141"/>
            <a:ext cx="1692188" cy="369332"/>
          </a:xfrm>
          <a:prstGeom prst="rect">
            <a:avLst/>
          </a:prstGeom>
          <a:solidFill>
            <a:schemeClr val="bg1"/>
          </a:solidFill>
          <a:ln w="0">
            <a:noFill/>
          </a:ln>
        </p:spPr>
        <p:txBody>
          <a:bodyPr vert="horz" wrap="square" lIns="91440" tIns="45720" rIns="91440" bIns="45720" numCol="1" anchor="t">
            <a:spAutoFit/>
          </a:bodyPr>
          <a:lstStyle>
            <a:defPPr>
              <a:defRPr lang="zh-CN"/>
            </a:defPPr>
            <a:lvl1pPr marL="0" indent="0" defTabSz="914400" eaLnBrk="0" latinLnBrk="0">
              <a:lnSpc>
                <a:spcPct val="100000"/>
              </a:lnSpc>
              <a:spcBef>
                <a:spcPts val="0"/>
              </a:spcBef>
              <a:spcAft>
                <a:spcPts val="0"/>
              </a:spcAft>
              <a:buFontTx/>
              <a:buNone/>
              <a:defRPr sz="2000" b="1" cap="none">
                <a:solidFill>
                  <a:srgbClr val="0070C0"/>
                </a:solidFill>
                <a:latin typeface="微软雅黑" panose="020B0503020204020204" pitchFamily="34" charset="-122"/>
                <a:ea typeface="微软雅黑" panose="020B0503020204020204" pitchFamily="34" charset="-122"/>
              </a:defRPr>
            </a:lvl1pPr>
          </a:lstStyle>
          <a:p>
            <a:r>
              <a:rPr lang="zh-CN" altLang="en-US" sz="1800" dirty="0"/>
              <a:t>输入参数：</a:t>
            </a:r>
            <a:r>
              <a:rPr lang="en-US" altLang="ko-KR" sz="1800" dirty="0"/>
              <a:t> </a:t>
            </a:r>
            <a:endParaRPr lang="ko-KR" altLang="en-US" sz="1800" dirty="0"/>
          </a:p>
        </p:txBody>
      </p:sp>
      <p:sp>
        <p:nvSpPr>
          <p:cNvPr id="15" name="矩形 14">
            <a:extLst>
              <a:ext uri="{FF2B5EF4-FFF2-40B4-BE49-F238E27FC236}">
                <a16:creationId xmlns:a16="http://schemas.microsoft.com/office/drawing/2014/main" id="{3C19CCDE-64C4-486F-9CD3-CE8B93E646CF}"/>
              </a:ext>
            </a:extLst>
          </p:cNvPr>
          <p:cNvSpPr/>
          <p:nvPr/>
        </p:nvSpPr>
        <p:spPr>
          <a:xfrm>
            <a:off x="4021403" y="1185338"/>
            <a:ext cx="4864654" cy="338554"/>
          </a:xfrm>
          <a:prstGeom prst="rect">
            <a:avLst/>
          </a:prstGeom>
          <a:noFill/>
        </p:spPr>
        <p:txBody>
          <a:bodyPr vert="horz" wrap="square" lIns="91440" tIns="45720" rIns="91440" bIns="45720" numCol="1" anchor="t">
            <a:spAutoFit/>
          </a:bodyPr>
          <a:lstStyle/>
          <a:p>
            <a:pPr marL="0" indent="0" defTabSz="914400" latinLnBrk="0">
              <a:buFontTx/>
              <a:buNone/>
            </a:pPr>
            <a:r>
              <a:rPr lang="en-US" altLang="ko-KR" sz="1600" dirty="0" err="1">
                <a:solidFill>
                  <a:srgbClr val="FF0000"/>
                </a:solidFill>
                <a:latin typeface="+mj-lt"/>
                <a:ea typeface="隶书" panose="02010509060101010101" pitchFamily="49" charset="-122"/>
              </a:rPr>
              <a:t>fval,exitflag,output</a:t>
            </a:r>
            <a:r>
              <a:rPr lang="zh-CN" altLang="en-US" sz="1600" dirty="0">
                <a:solidFill>
                  <a:srgbClr val="FF0000"/>
                </a:solidFill>
                <a:latin typeface="+mj-lt"/>
                <a:ea typeface="隶书" panose="02010509060101010101" pitchFamily="49" charset="-122"/>
              </a:rPr>
              <a:t>可</a:t>
            </a:r>
            <a:r>
              <a:rPr lang="en-US" altLang="ko-KR" sz="1600" dirty="0" err="1">
                <a:solidFill>
                  <a:srgbClr val="FF0000"/>
                </a:solidFill>
                <a:latin typeface="+mj-lt"/>
                <a:ea typeface="隶书" panose="02010509060101010101" pitchFamily="49" charset="-122"/>
              </a:rPr>
              <a:t>省略</a:t>
            </a:r>
            <a:r>
              <a:rPr lang="en-US" altLang="ko-KR" sz="1600" dirty="0">
                <a:solidFill>
                  <a:srgbClr val="FF0000"/>
                </a:solidFill>
                <a:latin typeface="+mj-lt"/>
                <a:ea typeface="隶书" panose="02010509060101010101" pitchFamily="49" charset="-122"/>
              </a:rPr>
              <a:t>,</a:t>
            </a:r>
            <a:r>
              <a:rPr lang="zh-CN" altLang="en-US" sz="1600" dirty="0">
                <a:solidFill>
                  <a:srgbClr val="FF0000"/>
                </a:solidFill>
                <a:latin typeface="+mj-lt"/>
                <a:ea typeface="隶书" panose="02010509060101010101" pitchFamily="49" charset="-122"/>
              </a:rPr>
              <a:t>如只显示根</a:t>
            </a:r>
            <a:r>
              <a:rPr lang="en-US" altLang="zh-CN" sz="1600" dirty="0">
                <a:solidFill>
                  <a:srgbClr val="FF0000"/>
                </a:solidFill>
                <a:latin typeface="+mj-lt"/>
                <a:ea typeface="隶书" panose="02010509060101010101" pitchFamily="49" charset="-122"/>
              </a:rPr>
              <a:t>x,</a:t>
            </a:r>
            <a:r>
              <a:rPr lang="zh-CN" altLang="en-US" sz="1600" dirty="0">
                <a:solidFill>
                  <a:srgbClr val="FF0000"/>
                </a:solidFill>
                <a:latin typeface="+mj-lt"/>
                <a:ea typeface="隶书" panose="02010509060101010101" pitchFamily="49" charset="-122"/>
              </a:rPr>
              <a:t>必须加逗号</a:t>
            </a:r>
            <a:endParaRPr lang="ko-KR" altLang="en-US" sz="1600" dirty="0">
              <a:solidFill>
                <a:srgbClr val="FF0000"/>
              </a:solidFill>
              <a:latin typeface="+mj-lt"/>
              <a:ea typeface="隶书" panose="02010509060101010101" pitchFamily="49" charset="-122"/>
            </a:endParaRPr>
          </a:p>
        </p:txBody>
      </p:sp>
      <p:sp>
        <p:nvSpPr>
          <p:cNvPr id="18" name="Rectangle 1">
            <a:extLst>
              <a:ext uri="{FF2B5EF4-FFF2-40B4-BE49-F238E27FC236}">
                <a16:creationId xmlns:a16="http://schemas.microsoft.com/office/drawing/2014/main" id="{F5DBBC49-FA25-47D3-A60A-6198F29399A0}"/>
              </a:ext>
            </a:extLst>
          </p:cNvPr>
          <p:cNvSpPr>
            <a:spLocks noChangeArrowheads="1"/>
          </p:cNvSpPr>
          <p:nvPr/>
        </p:nvSpPr>
        <p:spPr bwMode="auto">
          <a:xfrm>
            <a:off x="126405" y="741573"/>
            <a:ext cx="2069092" cy="400110"/>
          </a:xfrm>
          <a:prstGeom prst="rect">
            <a:avLst/>
          </a:prstGeom>
          <a:solidFill>
            <a:schemeClr val="bg1"/>
          </a:solidFill>
          <a:ln>
            <a:solidFill>
              <a:schemeClr val="bg1"/>
            </a:solidFill>
          </a:ln>
        </p:spPr>
        <p:txBody>
          <a:bodyPr wrap="square" rtlCol="0" anchor="t">
            <a:spAutoFit/>
          </a:bodyPr>
          <a:lstStyle/>
          <a:p>
            <a:pPr algn="dist"/>
            <a:r>
              <a:rPr lang="en-US" altLang="zh-CN" sz="2000" b="1" dirty="0">
                <a:solidFill>
                  <a:srgbClr val="0070C0"/>
                </a:solidFill>
                <a:latin typeface="微软雅黑" panose="020B0503020204020204" pitchFamily="34" charset="-122"/>
                <a:ea typeface="微软雅黑" panose="020B0503020204020204" pitchFamily="34" charset="-122"/>
              </a:rPr>
              <a:t>fzero</a:t>
            </a:r>
            <a:r>
              <a:rPr lang="zh-CN" altLang="en-US" sz="2000" b="1" dirty="0">
                <a:solidFill>
                  <a:srgbClr val="0070C0"/>
                </a:solidFill>
                <a:latin typeface="微软雅黑" panose="020B0503020204020204" pitchFamily="34" charset="-122"/>
                <a:ea typeface="微软雅黑" panose="020B0503020204020204" pitchFamily="34" charset="-122"/>
              </a:rPr>
              <a:t>求根格式</a:t>
            </a:r>
            <a:endParaRPr lang="zh-CN" altLang="zh-CN" sz="2000" b="1" dirty="0">
              <a:solidFill>
                <a:srgbClr val="0070C0"/>
              </a:solidFill>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E5A7F969-9F58-4E0D-B9C8-C29787E1AF68}"/>
              </a:ext>
            </a:extLst>
          </p:cNvPr>
          <p:cNvSpPr txBox="1"/>
          <p:nvPr/>
        </p:nvSpPr>
        <p:spPr>
          <a:xfrm>
            <a:off x="2215388" y="1185468"/>
            <a:ext cx="1824646"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marL="0" lvl="0" indent="0" eaLnBrk="0" hangingPunct="0">
              <a:lnSpc>
                <a:spcPct val="100000"/>
              </a:lnSpc>
            </a:pPr>
            <a:r>
              <a:rPr lang="zh-CN" altLang="zh-CN" sz="1600" b="0" dirty="0">
                <a:effectLst/>
                <a:highlight>
                  <a:srgbClr val="3399FF"/>
                </a:highlight>
                <a:latin typeface="Arial Unicode MS"/>
                <a:ea typeface="source-code-pro"/>
              </a:rPr>
              <a:t>x, = fzero(fun,x0)</a:t>
            </a:r>
            <a:r>
              <a:rPr lang="zh-CN" altLang="zh-CN" sz="800" b="0" dirty="0">
                <a:effectLst/>
                <a:highlight>
                  <a:srgbClr val="3399FF"/>
                </a:highlight>
              </a:rPr>
              <a:t> </a:t>
            </a:r>
            <a:endParaRPr lang="zh-CN" altLang="zh-CN" sz="3600" b="0" dirty="0">
              <a:effectLst/>
              <a:highlight>
                <a:srgbClr val="3399FF"/>
              </a:highlight>
              <a:latin typeface="Arial" panose="020B0604020202020204" pitchFamily="34" charset="0"/>
            </a:endParaRPr>
          </a:p>
        </p:txBody>
      </p:sp>
      <p:sp>
        <p:nvSpPr>
          <p:cNvPr id="20" name="Rectangle 1">
            <a:extLst>
              <a:ext uri="{FF2B5EF4-FFF2-40B4-BE49-F238E27FC236}">
                <a16:creationId xmlns:a16="http://schemas.microsoft.com/office/drawing/2014/main" id="{315FE3F2-9642-47FD-B433-8D691D52E3B4}"/>
              </a:ext>
            </a:extLst>
          </p:cNvPr>
          <p:cNvSpPr>
            <a:spLocks noChangeArrowheads="1"/>
          </p:cNvSpPr>
          <p:nvPr/>
        </p:nvSpPr>
        <p:spPr bwMode="auto">
          <a:xfrm>
            <a:off x="107504" y="1122621"/>
            <a:ext cx="2069092" cy="400110"/>
          </a:xfrm>
          <a:prstGeom prst="rect">
            <a:avLst/>
          </a:prstGeom>
          <a:solidFill>
            <a:schemeClr val="bg1"/>
          </a:solidFill>
          <a:ln>
            <a:solidFill>
              <a:schemeClr val="bg1"/>
            </a:solidFill>
          </a:ln>
        </p:spPr>
        <p:txBody>
          <a:bodyPr wrap="square" rtlCol="0" anchor="t">
            <a:spAutoFit/>
          </a:bodyPr>
          <a:lstStyle/>
          <a:p>
            <a:pPr algn="dist"/>
            <a:r>
              <a:rPr lang="en-US" altLang="zh-CN" sz="2000" b="1" dirty="0" err="1">
                <a:solidFill>
                  <a:srgbClr val="0070C0"/>
                </a:solidFill>
                <a:latin typeface="微软雅黑" panose="020B0503020204020204" pitchFamily="34" charset="-122"/>
                <a:ea typeface="微软雅黑" panose="020B0503020204020204" pitchFamily="34" charset="-122"/>
              </a:rPr>
              <a:t>fzero</a:t>
            </a:r>
            <a:r>
              <a:rPr lang="zh-CN" altLang="en-US" sz="2000" b="1" dirty="0">
                <a:solidFill>
                  <a:srgbClr val="0070C0"/>
                </a:solidFill>
                <a:latin typeface="微软雅黑" panose="020B0503020204020204" pitchFamily="34" charset="-122"/>
                <a:ea typeface="微软雅黑" panose="020B0503020204020204" pitchFamily="34" charset="-122"/>
              </a:rPr>
              <a:t>简化形式</a:t>
            </a:r>
            <a:endParaRPr lang="zh-CN" altLang="zh-CN" sz="2000" b="1" dirty="0">
              <a:solidFill>
                <a:srgbClr val="0070C0"/>
              </a:solidFill>
              <a:latin typeface="微软雅黑" panose="020B0503020204020204" pitchFamily="34" charset="-122"/>
              <a:ea typeface="微软雅黑" panose="020B0503020204020204" pitchFamily="34" charset="-122"/>
            </a:endParaRPr>
          </a:p>
        </p:txBody>
      </p:sp>
      <p:pic>
        <p:nvPicPr>
          <p:cNvPr id="17" name="图片 16">
            <a:extLst>
              <a:ext uri="{FF2B5EF4-FFF2-40B4-BE49-F238E27FC236}">
                <a16:creationId xmlns:a16="http://schemas.microsoft.com/office/drawing/2014/main" id="{F8DB3DC8-634C-4116-A8CC-4E426F21A375}"/>
              </a:ext>
            </a:extLst>
          </p:cNvPr>
          <p:cNvPicPr>
            <a:picLocks noChangeAspect="1"/>
          </p:cNvPicPr>
          <p:nvPr/>
        </p:nvPicPr>
        <p:blipFill rotWithShape="1">
          <a:blip r:embed="rId2">
            <a:lum contrast="20000"/>
          </a:blip>
          <a:srcRect l="-1117" t="56454" r="7746"/>
          <a:stretch/>
        </p:blipFill>
        <p:spPr>
          <a:xfrm rot="10800000">
            <a:off x="5223464" y="1835726"/>
            <a:ext cx="3573749" cy="1888152"/>
          </a:xfrm>
          <a:prstGeom prst="rect">
            <a:avLst/>
          </a:prstGeom>
        </p:spPr>
      </p:pic>
      <p:sp>
        <p:nvSpPr>
          <p:cNvPr id="21" name="文本框 20">
            <a:extLst>
              <a:ext uri="{FF2B5EF4-FFF2-40B4-BE49-F238E27FC236}">
                <a16:creationId xmlns:a16="http://schemas.microsoft.com/office/drawing/2014/main" id="{16D45C1A-67CC-43E4-B4E5-40316A1A61A3}"/>
              </a:ext>
            </a:extLst>
          </p:cNvPr>
          <p:cNvSpPr txBox="1"/>
          <p:nvPr/>
        </p:nvSpPr>
        <p:spPr>
          <a:xfrm>
            <a:off x="4251547" y="2960726"/>
            <a:ext cx="45719" cy="338554"/>
          </a:xfrm>
          <a:prstGeom prst="rect">
            <a:avLst/>
          </a:prstGeom>
          <a:blipFill rotWithShape="1">
            <a:blip r:embed="rId3" cstate="print"/>
            <a:stretch>
              <a:fillRect l="-3467" t="-758" b="-6061"/>
            </a:stretch>
          </a:blipFill>
        </p:spPr>
        <p:txBody>
          <a:bodyPr wrap="square" lIns="0" tIns="0" rIns="0" bIns="0" rtlCol="0">
            <a:spAutoFit/>
          </a:bodyPr>
          <a:lstStyle/>
          <a:p>
            <a:pPr algn="l"/>
            <a:endParaRPr lang="zh-CN" altLang="en-US" sz="2200" dirty="0">
              <a:noFill/>
            </a:endParaRPr>
          </a:p>
        </p:txBody>
      </p:sp>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33E3F39D-851B-477C-993C-F180799E31A5}"/>
                  </a:ext>
                </a:extLst>
              </p:cNvPr>
              <p:cNvSpPr/>
              <p:nvPr/>
            </p:nvSpPr>
            <p:spPr>
              <a:xfrm>
                <a:off x="6453730" y="3085223"/>
                <a:ext cx="2178993"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b="0" i="1" dirty="0" smtClean="0">
                          <a:solidFill>
                            <a:srgbClr val="FF0000"/>
                          </a:solidFill>
                          <a:latin typeface="Cambria Math" panose="02040503050406030204" pitchFamily="18" charset="0"/>
                          <a:ea typeface="隶书" panose="02010509060101010101" pitchFamily="49" charset="-122"/>
                        </a:rPr>
                        <m:t>𝑓</m:t>
                      </m:r>
                      <m:d>
                        <m:dPr>
                          <m:ctrlPr>
                            <a:rPr lang="en-US" altLang="zh-CN" sz="2000" b="0" i="1" dirty="0" smtClean="0">
                              <a:solidFill>
                                <a:srgbClr val="FF0000"/>
                              </a:solidFill>
                              <a:latin typeface="Cambria Math" panose="02040503050406030204" pitchFamily="18" charset="0"/>
                              <a:ea typeface="隶书" panose="02010509060101010101" pitchFamily="49" charset="-122"/>
                            </a:rPr>
                          </m:ctrlPr>
                        </m:dPr>
                        <m:e>
                          <m:sSub>
                            <m:sSubPr>
                              <m:ctrlPr>
                                <a:rPr lang="en-US" altLang="zh-CN" sz="2000" i="1" dirty="0">
                                  <a:solidFill>
                                    <a:srgbClr val="FF0000"/>
                                  </a:solidFill>
                                  <a:latin typeface="Cambria Math" panose="02040503050406030204" pitchFamily="18" charset="0"/>
                                  <a:ea typeface="隶书" panose="02010509060101010101" pitchFamily="49" charset="-122"/>
                                </a:rPr>
                              </m:ctrlPr>
                            </m:sSubPr>
                            <m:e>
                              <m:r>
                                <a:rPr lang="en-US" altLang="zh-CN" sz="2000" b="0" i="1" dirty="0" smtClean="0">
                                  <a:solidFill>
                                    <a:srgbClr val="FF0000"/>
                                  </a:solidFill>
                                  <a:latin typeface="Cambria Math" panose="02040503050406030204" pitchFamily="18" charset="0"/>
                                  <a:ea typeface="隶书" panose="02010509060101010101" pitchFamily="49" charset="-122"/>
                                </a:rPr>
                                <m:t>𝑥</m:t>
                              </m:r>
                            </m:e>
                            <m:sub>
                              <m:r>
                                <a:rPr lang="en-US" altLang="zh-CN" sz="2000" b="0" i="1" dirty="0" smtClean="0">
                                  <a:solidFill>
                                    <a:srgbClr val="FF0000"/>
                                  </a:solidFill>
                                  <a:latin typeface="Cambria Math" panose="02040503050406030204" pitchFamily="18" charset="0"/>
                                  <a:ea typeface="隶书" panose="02010509060101010101" pitchFamily="49" charset="-122"/>
                                </a:rPr>
                                <m:t>𝑙</m:t>
                              </m:r>
                            </m:sub>
                          </m:sSub>
                        </m:e>
                      </m:d>
                      <m:r>
                        <a:rPr lang="en-US" altLang="zh-CN" sz="2000" b="0" i="1" dirty="0" smtClean="0">
                          <a:solidFill>
                            <a:srgbClr val="FF0000"/>
                          </a:solidFill>
                          <a:latin typeface="Cambria Math" panose="02040503050406030204" pitchFamily="18" charset="0"/>
                          <a:ea typeface="隶书" panose="02010509060101010101" pitchFamily="49" charset="-122"/>
                        </a:rPr>
                        <m:t>∗</m:t>
                      </m:r>
                      <m:r>
                        <a:rPr lang="en-US" altLang="zh-CN" sz="2000" i="1" dirty="0">
                          <a:solidFill>
                            <a:srgbClr val="FF0000"/>
                          </a:solidFill>
                          <a:latin typeface="Cambria Math" panose="02040503050406030204" pitchFamily="18" charset="0"/>
                          <a:ea typeface="隶书" panose="02010509060101010101" pitchFamily="49" charset="-122"/>
                        </a:rPr>
                        <m:t>𝑓</m:t>
                      </m:r>
                      <m:d>
                        <m:dPr>
                          <m:ctrlPr>
                            <a:rPr lang="en-US" altLang="zh-CN" sz="2000" i="1" dirty="0">
                              <a:solidFill>
                                <a:srgbClr val="FF0000"/>
                              </a:solidFill>
                              <a:latin typeface="Cambria Math" panose="02040503050406030204" pitchFamily="18" charset="0"/>
                              <a:ea typeface="隶书" panose="02010509060101010101" pitchFamily="49" charset="-122"/>
                            </a:rPr>
                          </m:ctrlPr>
                        </m:dPr>
                        <m:e>
                          <m:sSub>
                            <m:sSubPr>
                              <m:ctrlPr>
                                <a:rPr lang="en-US" altLang="zh-CN" sz="2000" i="1" dirty="0">
                                  <a:solidFill>
                                    <a:srgbClr val="FF0000"/>
                                  </a:solidFill>
                                  <a:latin typeface="Cambria Math" panose="02040503050406030204" pitchFamily="18" charset="0"/>
                                  <a:ea typeface="隶书" panose="02010509060101010101" pitchFamily="49" charset="-122"/>
                                </a:rPr>
                              </m:ctrlPr>
                            </m:sSubPr>
                            <m:e>
                              <m:r>
                                <a:rPr lang="en-US" altLang="zh-CN" sz="2000" i="1" dirty="0">
                                  <a:solidFill>
                                    <a:srgbClr val="FF0000"/>
                                  </a:solidFill>
                                  <a:latin typeface="Cambria Math" panose="02040503050406030204" pitchFamily="18" charset="0"/>
                                  <a:ea typeface="隶书" panose="02010509060101010101" pitchFamily="49" charset="-122"/>
                                </a:rPr>
                                <m:t>𝑥</m:t>
                              </m:r>
                            </m:e>
                            <m:sub>
                              <m:r>
                                <a:rPr lang="en-US" altLang="zh-CN" sz="2000" b="0" i="1" dirty="0" smtClean="0">
                                  <a:solidFill>
                                    <a:srgbClr val="FF0000"/>
                                  </a:solidFill>
                                  <a:latin typeface="Cambria Math" panose="02040503050406030204" pitchFamily="18" charset="0"/>
                                  <a:ea typeface="隶书" panose="02010509060101010101" pitchFamily="49" charset="-122"/>
                                </a:rPr>
                                <m:t>𝑢</m:t>
                              </m:r>
                            </m:sub>
                          </m:sSub>
                        </m:e>
                      </m:d>
                      <m:r>
                        <a:rPr lang="en-US" altLang="zh-CN" sz="2000" i="1" dirty="0" smtClean="0">
                          <a:solidFill>
                            <a:srgbClr val="FF0000"/>
                          </a:solidFill>
                          <a:latin typeface="Cambria Math" panose="02040503050406030204" pitchFamily="18" charset="0"/>
                          <a:ea typeface="Cambria Math" panose="02040503050406030204" pitchFamily="18" charset="0"/>
                        </a:rPr>
                        <m:t>&lt;</m:t>
                      </m:r>
                      <m:r>
                        <a:rPr lang="en-US" altLang="zh-CN" sz="2000" b="0" i="1" dirty="0" smtClean="0">
                          <a:solidFill>
                            <a:srgbClr val="FF0000"/>
                          </a:solidFill>
                          <a:latin typeface="Cambria Math" panose="02040503050406030204" pitchFamily="18" charset="0"/>
                          <a:ea typeface="Cambria Math" panose="02040503050406030204" pitchFamily="18" charset="0"/>
                        </a:rPr>
                        <m:t>0</m:t>
                      </m:r>
                    </m:oMath>
                  </m:oMathPara>
                </a14:m>
                <a:endParaRPr lang="zh-CN" altLang="en-US" sz="2000" dirty="0">
                  <a:solidFill>
                    <a:srgbClr val="FF0000"/>
                  </a:solidFill>
                </a:endParaRPr>
              </a:p>
            </p:txBody>
          </p:sp>
        </mc:Choice>
        <mc:Fallback xmlns="">
          <p:sp>
            <p:nvSpPr>
              <p:cNvPr id="22" name="矩形 21">
                <a:extLst>
                  <a:ext uri="{FF2B5EF4-FFF2-40B4-BE49-F238E27FC236}">
                    <a16:creationId xmlns:a16="http://schemas.microsoft.com/office/drawing/2014/main" id="{33E3F39D-851B-477C-993C-F180799E31A5}"/>
                  </a:ext>
                </a:extLst>
              </p:cNvPr>
              <p:cNvSpPr>
                <a:spLocks noRot="1" noChangeAspect="1" noMove="1" noResize="1" noEditPoints="1" noAdjustHandles="1" noChangeArrowheads="1" noChangeShapeType="1" noTextEdit="1"/>
              </p:cNvSpPr>
              <p:nvPr/>
            </p:nvSpPr>
            <p:spPr>
              <a:xfrm>
                <a:off x="6453730" y="3085223"/>
                <a:ext cx="2178993" cy="400110"/>
              </a:xfrm>
              <a:prstGeom prst="rect">
                <a:avLst/>
              </a:prstGeom>
              <a:blipFill>
                <a:blip r:embed="rId4"/>
                <a:stretch>
                  <a:fillRect b="-16667"/>
                </a:stretch>
              </a:blipFill>
            </p:spPr>
            <p:txBody>
              <a:bodyPr/>
              <a:lstStyle/>
              <a:p>
                <a:r>
                  <a:rPr lang="zh-CN" altLang="en-US">
                    <a:noFill/>
                  </a:rPr>
                  <a:t> </a:t>
                </a:r>
              </a:p>
            </p:txBody>
          </p:sp>
        </mc:Fallback>
      </mc:AlternateContent>
      <p:sp>
        <p:nvSpPr>
          <p:cNvPr id="23" name="椭圆 22">
            <a:extLst>
              <a:ext uri="{FF2B5EF4-FFF2-40B4-BE49-F238E27FC236}">
                <a16:creationId xmlns:a16="http://schemas.microsoft.com/office/drawing/2014/main" id="{EE34C94C-C987-400D-A7A4-967F12D497C9}"/>
              </a:ext>
            </a:extLst>
          </p:cNvPr>
          <p:cNvSpPr/>
          <p:nvPr/>
        </p:nvSpPr>
        <p:spPr>
          <a:xfrm>
            <a:off x="7542321" y="2715019"/>
            <a:ext cx="342830" cy="3372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B3F4A807-5512-4E92-AF8D-09DE5E1E55B8}"/>
                  </a:ext>
                </a:extLst>
              </p:cNvPr>
              <p:cNvSpPr/>
              <p:nvPr/>
            </p:nvSpPr>
            <p:spPr>
              <a:xfrm>
                <a:off x="5223465" y="3122520"/>
                <a:ext cx="663714" cy="369332"/>
              </a:xfrm>
              <a:prstGeom prst="rect">
                <a:avLst/>
              </a:prstGeom>
              <a:noFill/>
              <a:ln>
                <a:noFill/>
              </a:ln>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eaLnBrk="0">
                  <a:spcBef>
                    <a:spcPts val="0"/>
                  </a:spcBef>
                  <a:spcAft>
                    <a:spcPts val="0"/>
                  </a:spcAft>
                </a:pPr>
                <a14:m>
                  <m:oMathPara xmlns:m="http://schemas.openxmlformats.org/officeDocument/2006/math">
                    <m:oMathParaPr>
                      <m:jc m:val="centerGroup"/>
                    </m:oMathParaPr>
                    <m:oMath xmlns:m="http://schemas.openxmlformats.org/officeDocument/2006/math">
                      <m:r>
                        <a:rPr lang="en-US" altLang="zh-CN" dirty="0" smtClean="0">
                          <a:solidFill>
                            <a:srgbClr val="FF0000"/>
                          </a:solidFill>
                          <a:latin typeface="Cambria Math" panose="02040503050406030204" pitchFamily="18" charset="0"/>
                        </a:rPr>
                        <m:t>𝑓</m:t>
                      </m:r>
                      <m:d>
                        <m:dPr>
                          <m:ctrlPr>
                            <a:rPr lang="en-US" altLang="zh-CN" i="1" dirty="0">
                              <a:solidFill>
                                <a:srgbClr val="FF0000"/>
                              </a:solidFill>
                              <a:latin typeface="Cambria Math" panose="02040503050406030204" pitchFamily="18" charset="0"/>
                            </a:rPr>
                          </m:ctrlPr>
                        </m:dPr>
                        <m:e>
                          <m:sSub>
                            <m:sSubPr>
                              <m:ctrlPr>
                                <a:rPr lang="en-US" altLang="zh-CN" i="1" dirty="0">
                                  <a:solidFill>
                                    <a:srgbClr val="FF0000"/>
                                  </a:solidFill>
                                  <a:latin typeface="Cambria Math" panose="02040503050406030204" pitchFamily="18" charset="0"/>
                                </a:rPr>
                              </m:ctrlPr>
                            </m:sSubPr>
                            <m:e>
                              <m:r>
                                <a:rPr lang="en-US" altLang="zh-CN" dirty="0">
                                  <a:solidFill>
                                    <a:srgbClr val="FF0000"/>
                                  </a:solidFill>
                                  <a:latin typeface="Cambria Math" panose="02040503050406030204" pitchFamily="18" charset="0"/>
                                </a:rPr>
                                <m:t>𝑥</m:t>
                              </m:r>
                            </m:e>
                            <m:sub>
                              <m:r>
                                <a:rPr lang="en-US" altLang="zh-CN" dirty="0">
                                  <a:solidFill>
                                    <a:srgbClr val="FF0000"/>
                                  </a:solidFill>
                                  <a:latin typeface="Cambria Math" panose="02040503050406030204" pitchFamily="18" charset="0"/>
                                </a:rPr>
                                <m:t>𝑙</m:t>
                              </m:r>
                            </m:sub>
                          </m:sSub>
                        </m:e>
                      </m:d>
                    </m:oMath>
                  </m:oMathPara>
                </a14:m>
                <a:endParaRPr lang="zh-CN" altLang="en-US" dirty="0">
                  <a:solidFill>
                    <a:srgbClr val="FF0000"/>
                  </a:solidFill>
                  <a:latin typeface="Times New Roman" panose="02020603050405020304" pitchFamily="18" charset="0"/>
                  <a:ea typeface="微软雅黑" panose="020B0503020204020204" charset="-122"/>
                  <a:cs typeface="Times New Roman" panose="02020603050405020304" pitchFamily="18" charset="0"/>
                </a:endParaRPr>
              </a:p>
            </p:txBody>
          </p:sp>
        </mc:Choice>
        <mc:Fallback xmlns="">
          <p:sp>
            <p:nvSpPr>
              <p:cNvPr id="24" name="矩形 23">
                <a:extLst>
                  <a:ext uri="{FF2B5EF4-FFF2-40B4-BE49-F238E27FC236}">
                    <a16:creationId xmlns:a16="http://schemas.microsoft.com/office/drawing/2014/main" id="{B3F4A807-5512-4E92-AF8D-09DE5E1E55B8}"/>
                  </a:ext>
                </a:extLst>
              </p:cNvPr>
              <p:cNvSpPr>
                <a:spLocks noRot="1" noChangeAspect="1" noMove="1" noResize="1" noEditPoints="1" noAdjustHandles="1" noChangeArrowheads="1" noChangeShapeType="1" noTextEdit="1"/>
              </p:cNvSpPr>
              <p:nvPr/>
            </p:nvSpPr>
            <p:spPr>
              <a:xfrm>
                <a:off x="5223465" y="3122520"/>
                <a:ext cx="663714" cy="369332"/>
              </a:xfrm>
              <a:prstGeom prst="rect">
                <a:avLst/>
              </a:prstGeom>
              <a:blipFill>
                <a:blip r:embed="rId5"/>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D5C118C1-85E1-41A4-811A-EF14AC8677C6}"/>
                  </a:ext>
                </a:extLst>
              </p:cNvPr>
              <p:cNvSpPr/>
              <p:nvPr/>
            </p:nvSpPr>
            <p:spPr>
              <a:xfrm>
                <a:off x="8101175" y="1854294"/>
                <a:ext cx="679917" cy="369332"/>
              </a:xfrm>
              <a:prstGeom prst="rect">
                <a:avLst/>
              </a:prstGeom>
              <a:noFill/>
              <a:ln>
                <a:noFill/>
              </a:ln>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eaLnBrk="0">
                  <a:spcBef>
                    <a:spcPts val="0"/>
                  </a:spcBef>
                  <a:spcAft>
                    <a:spcPts val="0"/>
                  </a:spcAft>
                </a:pPr>
                <a14:m>
                  <m:oMathPara xmlns:m="http://schemas.openxmlformats.org/officeDocument/2006/math">
                    <m:oMathParaPr>
                      <m:jc m:val="centerGroup"/>
                    </m:oMathParaPr>
                    <m:oMath xmlns:m="http://schemas.openxmlformats.org/officeDocument/2006/math">
                      <m:r>
                        <a:rPr lang="en-US" altLang="zh-CN" dirty="0" smtClean="0">
                          <a:solidFill>
                            <a:srgbClr val="FF0000"/>
                          </a:solidFill>
                          <a:latin typeface="Cambria Math" panose="02040503050406030204" pitchFamily="18" charset="0"/>
                          <a:ea typeface="+mn-ea"/>
                        </a:rPr>
                        <m:t>𝑓</m:t>
                      </m:r>
                      <m:d>
                        <m:dPr>
                          <m:ctrlPr>
                            <a:rPr lang="en-US" altLang="zh-CN" i="1" dirty="0">
                              <a:solidFill>
                                <a:srgbClr val="FF0000"/>
                              </a:solidFill>
                              <a:latin typeface="Cambria Math" panose="02040503050406030204" pitchFamily="18" charset="0"/>
                              <a:ea typeface="+mn-ea"/>
                            </a:rPr>
                          </m:ctrlPr>
                        </m:dPr>
                        <m:e>
                          <m:sSub>
                            <m:sSubPr>
                              <m:ctrlPr>
                                <a:rPr lang="en-US" altLang="zh-CN" i="1" dirty="0">
                                  <a:solidFill>
                                    <a:srgbClr val="FF0000"/>
                                  </a:solidFill>
                                  <a:latin typeface="Cambria Math" panose="02040503050406030204" pitchFamily="18" charset="0"/>
                                  <a:ea typeface="+mn-ea"/>
                                </a:rPr>
                              </m:ctrlPr>
                            </m:sSubPr>
                            <m:e>
                              <m:r>
                                <a:rPr lang="en-US" altLang="zh-CN" dirty="0">
                                  <a:solidFill>
                                    <a:srgbClr val="FF0000"/>
                                  </a:solidFill>
                                  <a:latin typeface="Cambria Math" panose="02040503050406030204" pitchFamily="18" charset="0"/>
                                  <a:ea typeface="+mn-ea"/>
                                </a:rPr>
                                <m:t>𝑥</m:t>
                              </m:r>
                            </m:e>
                            <m:sub>
                              <m:r>
                                <a:rPr lang="en-US" altLang="zh-CN" dirty="0">
                                  <a:solidFill>
                                    <a:srgbClr val="FF0000"/>
                                  </a:solidFill>
                                  <a:latin typeface="Cambria Math" panose="02040503050406030204" pitchFamily="18" charset="0"/>
                                  <a:ea typeface="+mn-ea"/>
                                </a:rPr>
                                <m:t>𝑢</m:t>
                              </m:r>
                            </m:sub>
                          </m:sSub>
                        </m:e>
                      </m:d>
                    </m:oMath>
                  </m:oMathPara>
                </a14:m>
                <a:endParaRPr lang="zh-CN" altLang="en-US" dirty="0">
                  <a:solidFill>
                    <a:srgbClr val="FF0000"/>
                  </a:solidFill>
                  <a:latin typeface="+mn-lt"/>
                  <a:ea typeface="+mn-ea"/>
                </a:endParaRPr>
              </a:p>
            </p:txBody>
          </p:sp>
        </mc:Choice>
        <mc:Fallback xmlns="">
          <p:sp>
            <p:nvSpPr>
              <p:cNvPr id="25" name="矩形 24">
                <a:extLst>
                  <a:ext uri="{FF2B5EF4-FFF2-40B4-BE49-F238E27FC236}">
                    <a16:creationId xmlns:a16="http://schemas.microsoft.com/office/drawing/2014/main" id="{D5C118C1-85E1-41A4-811A-EF14AC8677C6}"/>
                  </a:ext>
                </a:extLst>
              </p:cNvPr>
              <p:cNvSpPr>
                <a:spLocks noRot="1" noChangeAspect="1" noMove="1" noResize="1" noEditPoints="1" noAdjustHandles="1" noChangeArrowheads="1" noChangeShapeType="1" noTextEdit="1"/>
              </p:cNvSpPr>
              <p:nvPr/>
            </p:nvSpPr>
            <p:spPr>
              <a:xfrm>
                <a:off x="8101175" y="1854294"/>
                <a:ext cx="679917" cy="369332"/>
              </a:xfrm>
              <a:prstGeom prst="rect">
                <a:avLst/>
              </a:prstGeom>
              <a:blipFill>
                <a:blip r:embed="rId6"/>
                <a:stretch>
                  <a:fillRect/>
                </a:stretch>
              </a:blipFill>
              <a:ln>
                <a:noFill/>
              </a:ln>
            </p:spPr>
            <p:txBody>
              <a:bodyPr/>
              <a:lstStyle/>
              <a:p>
                <a:r>
                  <a:rPr lang="zh-CN" altLang="en-US">
                    <a:noFill/>
                  </a:rPr>
                  <a:t> </a:t>
                </a:r>
              </a:p>
            </p:txBody>
          </p:sp>
        </mc:Fallback>
      </mc:AlternateContent>
      <p:sp>
        <p:nvSpPr>
          <p:cNvPr id="28" name="椭圆 27">
            <a:extLst>
              <a:ext uri="{FF2B5EF4-FFF2-40B4-BE49-F238E27FC236}">
                <a16:creationId xmlns:a16="http://schemas.microsoft.com/office/drawing/2014/main" id="{077FD651-5E2B-4F07-88C6-CAF242066B78}"/>
              </a:ext>
            </a:extLst>
          </p:cNvPr>
          <p:cNvSpPr/>
          <p:nvPr/>
        </p:nvSpPr>
        <p:spPr>
          <a:xfrm>
            <a:off x="7633304" y="2519100"/>
            <a:ext cx="59705" cy="87160"/>
          </a:xfrm>
          <a:prstGeom prst="ellipse">
            <a:avLst/>
          </a:prstGeom>
          <a:solidFill>
            <a:srgbClr val="FF0000"/>
          </a:solidFill>
          <a:ln>
            <a:solidFill>
              <a:srgbClr val="C00000"/>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a:extLst>
              <a:ext uri="{FF2B5EF4-FFF2-40B4-BE49-F238E27FC236}">
                <a16:creationId xmlns:a16="http://schemas.microsoft.com/office/drawing/2014/main" id="{EBEA0177-471E-4ECC-9D06-32D6FB0BC4A8}"/>
              </a:ext>
            </a:extLst>
          </p:cNvPr>
          <p:cNvSpPr/>
          <p:nvPr/>
        </p:nvSpPr>
        <p:spPr>
          <a:xfrm>
            <a:off x="5110477" y="2108329"/>
            <a:ext cx="542426" cy="523220"/>
          </a:xfrm>
          <a:prstGeom prst="rect">
            <a:avLst/>
          </a:prstGeom>
          <a:noFill/>
          <a:ln>
            <a:noFill/>
          </a:ln>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eaLnBrk="0">
              <a:spcBef>
                <a:spcPts val="0"/>
              </a:spcBef>
              <a:spcAft>
                <a:spcPts val="0"/>
              </a:spcAft>
            </a:pPr>
            <a:r>
              <a:rPr lang="en-US" altLang="zh-CN" sz="2800" dirty="0">
                <a:solidFill>
                  <a:srgbClr val="FF0000"/>
                </a:solidFill>
                <a:latin typeface="Times New Roman" panose="02020603050405020304" pitchFamily="18" charset="0"/>
                <a:ea typeface="微软雅黑" panose="020B0503020204020204" charset="-122"/>
                <a:cs typeface="Times New Roman" panose="02020603050405020304" pitchFamily="18" charset="0"/>
              </a:rPr>
              <a:t>x</a:t>
            </a:r>
            <a:r>
              <a:rPr lang="en-US" altLang="zh-CN" sz="2800" b="1" i="1" baseline="-25000" dirty="0">
                <a:solidFill>
                  <a:srgbClr val="FF0000"/>
                </a:solidFill>
                <a:effectLst>
                  <a:outerShdw blurRad="38100" dist="38100" dir="2700000" algn="tl">
                    <a:srgbClr val="000000">
                      <a:alpha val="42745"/>
                    </a:srgbClr>
                  </a:outerShdw>
                </a:effectLst>
                <a:latin typeface="Times New Roman" panose="02020603050405020304" pitchFamily="18" charset="0"/>
                <a:ea typeface="微软雅黑" panose="020B0503020204020204" charset="-122"/>
                <a:cs typeface="Times New Roman" panose="02020603050405020304" pitchFamily="18" charset="0"/>
              </a:rPr>
              <a:t>l</a:t>
            </a:r>
            <a:endParaRPr lang="ko-KR" altLang="en-US" sz="2800" b="1" i="1" baseline="-25000" dirty="0">
              <a:solidFill>
                <a:srgbClr val="FF0000"/>
              </a:solidFill>
              <a:effectLst>
                <a:outerShdw blurRad="38100" dist="38100" dir="2700000" algn="tl">
                  <a:srgbClr val="000000">
                    <a:alpha val="42745"/>
                  </a:srgbClr>
                </a:outerShdw>
              </a:effectLst>
              <a:latin typeface="Times New Roman" panose="02020603050405020304" pitchFamily="18" charset="0"/>
              <a:ea typeface="微软雅黑" panose="020B0503020204020204" charset="-122"/>
              <a:cs typeface="Times New Roman" panose="02020603050405020304" pitchFamily="18" charset="0"/>
            </a:endParaRPr>
          </a:p>
        </p:txBody>
      </p:sp>
      <p:sp>
        <p:nvSpPr>
          <p:cNvPr id="30" name="矩形 29">
            <a:extLst>
              <a:ext uri="{FF2B5EF4-FFF2-40B4-BE49-F238E27FC236}">
                <a16:creationId xmlns:a16="http://schemas.microsoft.com/office/drawing/2014/main" id="{0C9E13B2-0580-4DD6-9860-7E76B73E4B1E}"/>
              </a:ext>
            </a:extLst>
          </p:cNvPr>
          <p:cNvSpPr/>
          <p:nvPr/>
        </p:nvSpPr>
        <p:spPr>
          <a:xfrm>
            <a:off x="8495589" y="2041596"/>
            <a:ext cx="603250" cy="523220"/>
          </a:xfrm>
          <a:prstGeom prst="rect">
            <a:avLst/>
          </a:prstGeom>
          <a:noFill/>
          <a:ln>
            <a:noFill/>
          </a:ln>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eaLnBrk="0">
              <a:spcBef>
                <a:spcPts val="0"/>
              </a:spcBef>
              <a:spcAft>
                <a:spcPts val="0"/>
              </a:spcAft>
            </a:pPr>
            <a:r>
              <a:rPr lang="en-US" altLang="zh-CN" sz="2800" dirty="0">
                <a:solidFill>
                  <a:srgbClr val="FF0000"/>
                </a:solidFill>
                <a:latin typeface="Times New Roman" panose="02020603050405020304" pitchFamily="18" charset="0"/>
                <a:ea typeface="微软雅黑" panose="020B0503020204020204" charset="-122"/>
                <a:cs typeface="Times New Roman" panose="02020603050405020304" pitchFamily="18" charset="0"/>
              </a:rPr>
              <a:t>x</a:t>
            </a:r>
            <a:r>
              <a:rPr lang="en-US" altLang="zh-CN" sz="2800" baseline="-25000" dirty="0">
                <a:solidFill>
                  <a:srgbClr val="FF0000"/>
                </a:solidFill>
                <a:latin typeface="Times New Roman" panose="02020603050405020304" pitchFamily="18" charset="0"/>
                <a:ea typeface="微软雅黑" panose="020B0503020204020204" charset="-122"/>
                <a:cs typeface="Times New Roman" panose="02020603050405020304" pitchFamily="18" charset="0"/>
              </a:rPr>
              <a:t>u</a:t>
            </a:r>
            <a:endParaRPr lang="ko-KR" altLang="en-US" sz="2800" baseline="-25000" dirty="0">
              <a:solidFill>
                <a:srgbClr val="FF0000"/>
              </a:solidFill>
              <a:latin typeface="Times New Roman" panose="02020603050405020304" pitchFamily="18" charset="0"/>
              <a:cs typeface="Times New Roman" panose="02020603050405020304" pitchFamily="18" charset="0"/>
            </a:endParaRPr>
          </a:p>
        </p:txBody>
      </p:sp>
      <p:cxnSp>
        <p:nvCxnSpPr>
          <p:cNvPr id="31" name="直接箭头连接符 30">
            <a:extLst>
              <a:ext uri="{FF2B5EF4-FFF2-40B4-BE49-F238E27FC236}">
                <a16:creationId xmlns:a16="http://schemas.microsoft.com/office/drawing/2014/main" id="{85703D29-539F-4367-81A6-4305209CD885}"/>
              </a:ext>
            </a:extLst>
          </p:cNvPr>
          <p:cNvCxnSpPr>
            <a:cxnSpLocks/>
          </p:cNvCxnSpPr>
          <p:nvPr/>
        </p:nvCxnSpPr>
        <p:spPr>
          <a:xfrm flipV="1">
            <a:off x="5009597" y="2539814"/>
            <a:ext cx="3890679" cy="2500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74D9A95B-9B92-4A31-9CC5-26A742D2D625}"/>
                  </a:ext>
                </a:extLst>
              </p:cNvPr>
              <p:cNvSpPr txBox="1"/>
              <p:nvPr/>
            </p:nvSpPr>
            <p:spPr>
              <a:xfrm>
                <a:off x="5216000" y="1641871"/>
                <a:ext cx="3988362" cy="637995"/>
              </a:xfrm>
              <a:prstGeom prst="rect">
                <a:avLst/>
              </a:prstGeom>
              <a:noFill/>
            </p:spPr>
            <p:txBody>
              <a:bodyPr wrap="square">
                <a:spAutoFit/>
              </a:bodyPr>
              <a:lstStyle/>
              <a:p>
                <a:pPr>
                  <a:lnSpc>
                    <a:spcPts val="2200"/>
                  </a:lnSpc>
                </a:pPr>
                <a:r>
                  <a:rPr lang="zh-CN" altLang="en-US" sz="1000" b="1" dirty="0">
                    <a:solidFill>
                      <a:srgbClr val="00B0F0"/>
                    </a:solidFill>
                    <a:latin typeface="微软雅黑" panose="020B0503020204020204" pitchFamily="34" charset="-122"/>
                    <a:ea typeface="微软雅黑" panose="020B0503020204020204" pitchFamily="34" charset="-122"/>
                  </a:rPr>
                  <a:t>求根原理：在</a:t>
                </a:r>
                <a14:m>
                  <m:oMath xmlns:m="http://schemas.openxmlformats.org/officeDocument/2006/math">
                    <m:r>
                      <a:rPr lang="en-US" altLang="zh-CN" sz="1000" b="1" dirty="0">
                        <a:solidFill>
                          <a:srgbClr val="00B0F0"/>
                        </a:solidFill>
                        <a:latin typeface="Cambria Math" panose="02040503050406030204" pitchFamily="18" charset="0"/>
                        <a:ea typeface="微软雅黑" panose="020B0503020204020204" pitchFamily="34" charset="-122"/>
                        <a:cs typeface="Times New Roman" panose="02020603050405020304" pitchFamily="18" charset="0"/>
                      </a:rPr>
                      <m:t>𝒙</m:t>
                    </m:r>
                    <m:r>
                      <a:rPr lang="zh-CN" altLang="en-US" sz="1000" b="1" dirty="0">
                        <a:solidFill>
                          <a:srgbClr val="00B0F0"/>
                        </a:solidFill>
                        <a:latin typeface="Cambria Math" panose="02040503050406030204" pitchFamily="18" charset="0"/>
                        <a:ea typeface="微软雅黑" panose="020B0503020204020204" pitchFamily="34" charset="-122"/>
                        <a:cs typeface="Times New Roman" panose="02020603050405020304" pitchFamily="18" charset="0"/>
                      </a:rPr>
                      <m:t>区间</m:t>
                    </m:r>
                    <m:sSub>
                      <m:sSubPr>
                        <m:ctrlPr>
                          <a:rPr lang="en-US" altLang="zh-CN" sz="1000" b="1" i="1" dirty="0">
                            <a:solidFill>
                              <a:srgbClr val="00B0F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000" b="1" dirty="0">
                            <a:solidFill>
                              <a:srgbClr val="00B0F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000" b="1" dirty="0">
                            <a:solidFill>
                              <a:srgbClr val="00B0F0"/>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sz="1000" b="1" dirty="0">
                            <a:solidFill>
                              <a:srgbClr val="00B0F0"/>
                            </a:solidFill>
                            <a:latin typeface="Cambria Math" panose="02040503050406030204" pitchFamily="18" charset="0"/>
                            <a:ea typeface="微软雅黑" panose="020B0503020204020204" pitchFamily="34" charset="-122"/>
                            <a:cs typeface="Times New Roman" panose="02020603050405020304" pitchFamily="18" charset="0"/>
                          </a:rPr>
                          <m:t>𝒍</m:t>
                        </m:r>
                      </m:sub>
                    </m:sSub>
                    <m:sSub>
                      <m:sSubPr>
                        <m:ctrlPr>
                          <a:rPr lang="en-US" altLang="zh-CN" sz="1000" b="1" i="1" dirty="0">
                            <a:solidFill>
                              <a:srgbClr val="00B0F0"/>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000" b="1" dirty="0">
                            <a:solidFill>
                              <a:srgbClr val="00B0F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000" b="1" dirty="0">
                            <a:solidFill>
                              <a:srgbClr val="00B0F0"/>
                            </a:solidFill>
                            <a:latin typeface="Cambria Math" panose="02040503050406030204" pitchFamily="18" charset="0"/>
                            <a:ea typeface="微软雅黑" panose="020B0503020204020204" pitchFamily="34" charset="-122"/>
                            <a:cs typeface="Times New Roman" panose="02020603050405020304" pitchFamily="18" charset="0"/>
                          </a:rPr>
                          <m:t>𝒙</m:t>
                        </m:r>
                      </m:e>
                      <m:sub>
                        <m:r>
                          <a:rPr lang="en-US" altLang="zh-CN" sz="1000" b="1" dirty="0">
                            <a:solidFill>
                              <a:srgbClr val="00B0F0"/>
                            </a:solidFill>
                            <a:latin typeface="Cambria Math" panose="02040503050406030204" pitchFamily="18" charset="0"/>
                            <a:ea typeface="微软雅黑" panose="020B0503020204020204" pitchFamily="34" charset="-122"/>
                            <a:cs typeface="Times New Roman" panose="02020603050405020304" pitchFamily="18" charset="0"/>
                          </a:rPr>
                          <m:t>𝒖</m:t>
                        </m:r>
                      </m:sub>
                    </m:sSub>
                  </m:oMath>
                </a14:m>
                <a:r>
                  <a:rPr lang="en-US" altLang="zh-CN" sz="1000" b="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000" b="1" dirty="0">
                    <a:solidFill>
                      <a:srgbClr val="00B0F0"/>
                    </a:solidFill>
                    <a:latin typeface="微软雅黑" panose="020B0503020204020204" pitchFamily="34" charset="-122"/>
                    <a:ea typeface="微软雅黑" panose="020B0503020204020204" pitchFamily="34" charset="-122"/>
                  </a:rPr>
                  <a:t>，</a:t>
                </a:r>
                <a:r>
                  <a:rPr lang="zh-CN" altLang="en-US" sz="1000" b="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当</a:t>
                </a:r>
                <a:r>
                  <a:rPr lang="en-US" altLang="zh-CN" sz="1000" b="1" i="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f</a:t>
                </a:r>
                <a:r>
                  <a:rPr lang="en-US" altLang="zh-CN" sz="1000" b="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1000" b="1" i="1" baseline="-25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l</a:t>
                </a:r>
                <a:r>
                  <a:rPr lang="en-US" altLang="zh-CN" sz="1000" b="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000" b="1" i="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与</a:t>
                </a:r>
                <a:r>
                  <a:rPr lang="en-US" altLang="zh-CN" sz="1000" b="1" i="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f</a:t>
                </a:r>
                <a:r>
                  <a:rPr lang="en-US" altLang="zh-CN" sz="1000" b="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1000" b="1" i="1" baseline="-25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u</a:t>
                </a:r>
                <a:r>
                  <a:rPr lang="en-US" altLang="zh-CN" sz="1000" b="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000" b="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符号相反，那么在</a:t>
                </a:r>
                <a:r>
                  <a:rPr lang="en-US" altLang="zh-CN" sz="1000" b="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1000" b="1" i="1" baseline="-25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l</a:t>
                </a:r>
                <a:r>
                  <a:rPr lang="zh-CN" altLang="en-US" sz="1000" b="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000" b="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1000" b="1" i="1" baseline="-25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u</a:t>
                </a:r>
                <a:r>
                  <a:rPr lang="zh-CN" altLang="en-US" sz="1000" b="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之间一定存在根</a:t>
                </a:r>
                <a:r>
                  <a:rPr lang="en-US" altLang="zh-CN" sz="1000" b="1" dirty="0">
                    <a:solidFill>
                      <a:srgbClr val="00B0F0"/>
                    </a:solidFill>
                    <a:latin typeface="隶书" panose="02010509060101010101" pitchFamily="49" charset="-122"/>
                    <a:ea typeface="隶书" panose="02010509060101010101" pitchFamily="49" charset="-122"/>
                    <a:cs typeface="Times New Roman" panose="02020603050405020304" pitchFamily="18" charset="0"/>
                  </a:rPr>
                  <a:t>.</a:t>
                </a:r>
                <a:endParaRPr lang="zh-CN" altLang="en-US" sz="1000" b="1" dirty="0">
                  <a:solidFill>
                    <a:srgbClr val="00B0F0"/>
                  </a:solidFill>
                  <a:latin typeface="隶书" panose="02010509060101010101" pitchFamily="49" charset="-122"/>
                  <a:ea typeface="隶书" panose="02010509060101010101" pitchFamily="49" charset="-122"/>
                  <a:cs typeface="Times New Roman" panose="02020603050405020304" pitchFamily="18" charset="0"/>
                </a:endParaRPr>
              </a:p>
            </p:txBody>
          </p:sp>
        </mc:Choice>
        <mc:Fallback xmlns="">
          <p:sp>
            <p:nvSpPr>
              <p:cNvPr id="32" name="文本框 31">
                <a:extLst>
                  <a:ext uri="{FF2B5EF4-FFF2-40B4-BE49-F238E27FC236}">
                    <a16:creationId xmlns:a16="http://schemas.microsoft.com/office/drawing/2014/main" id="{74D9A95B-9B92-4A31-9CC5-26A742D2D625}"/>
                  </a:ext>
                </a:extLst>
              </p:cNvPr>
              <p:cNvSpPr txBox="1">
                <a:spLocks noRot="1" noChangeAspect="1" noMove="1" noResize="1" noEditPoints="1" noAdjustHandles="1" noChangeArrowheads="1" noChangeShapeType="1" noTextEdit="1"/>
              </p:cNvSpPr>
              <p:nvPr/>
            </p:nvSpPr>
            <p:spPr>
              <a:xfrm>
                <a:off x="5216000" y="1641871"/>
                <a:ext cx="3988362" cy="637995"/>
              </a:xfrm>
              <a:prstGeom prst="rect">
                <a:avLst/>
              </a:prstGeom>
              <a:blipFill>
                <a:blip r:embed="rId7"/>
                <a:stretch>
                  <a:fillRect b="-952"/>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37DA72BC-EF2B-4CD2-8396-D620DA36DDF7}"/>
              </a:ext>
            </a:extLst>
          </p:cNvPr>
          <p:cNvSpPr txBox="1"/>
          <p:nvPr/>
        </p:nvSpPr>
        <p:spPr>
          <a:xfrm>
            <a:off x="5464245" y="3565160"/>
            <a:ext cx="3536096" cy="338554"/>
          </a:xfrm>
          <a:prstGeom prst="rect">
            <a:avLst/>
          </a:prstGeom>
          <a:noFill/>
        </p:spPr>
        <p:txBody>
          <a:bodyPr wrap="square">
            <a:spAutoFit/>
          </a:bodyPr>
          <a:lstStyle/>
          <a:p>
            <a:r>
              <a:rPr lang="zh-CN" altLang="en-US" sz="1600" b="1" dirty="0">
                <a:solidFill>
                  <a:srgbClr val="0070C0"/>
                </a:solidFill>
                <a:latin typeface="微软雅黑" panose="020B0503020204020204" pitchFamily="34" charset="-122"/>
                <a:ea typeface="微软雅黑" panose="020B0503020204020204" pitchFamily="34" charset="-122"/>
              </a:rPr>
              <a:t>求根就是先</a:t>
            </a:r>
            <a:r>
              <a:rPr lang="zh-CN" altLang="en-US" sz="1600" b="1" dirty="0">
                <a:solidFill>
                  <a:srgbClr val="0070C0"/>
                </a:solidFill>
                <a:effectLst/>
                <a:latin typeface="微软雅黑" panose="020B0503020204020204" pitchFamily="34" charset="-122"/>
                <a:ea typeface="微软雅黑" panose="020B0503020204020204" pitchFamily="34" charset="-122"/>
              </a:rPr>
              <a:t>搜索含有</a:t>
            </a:r>
            <a:r>
              <a:rPr lang="zh-CN" altLang="en-US" sz="1600" b="1" dirty="0">
                <a:solidFill>
                  <a:srgbClr val="0070C0"/>
                </a:solidFill>
                <a:latin typeface="微软雅黑" panose="020B0503020204020204" pitchFamily="34" charset="-122"/>
                <a:ea typeface="微软雅黑" panose="020B0503020204020204" pitchFamily="34" charset="-122"/>
              </a:rPr>
              <a:t>函数</a:t>
            </a:r>
            <a:r>
              <a:rPr lang="zh-CN" altLang="en-US" sz="1600" b="1" dirty="0">
                <a:solidFill>
                  <a:srgbClr val="0070C0"/>
                </a:solidFill>
                <a:effectLst/>
                <a:latin typeface="微软雅黑" panose="020B0503020204020204" pitchFamily="34" charset="-122"/>
                <a:ea typeface="微软雅黑" panose="020B0503020204020204" pitchFamily="34" charset="-122"/>
              </a:rPr>
              <a:t>变号的区间</a:t>
            </a: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
        <p:nvSpPr>
          <p:cNvPr id="26" name="矩形 25">
            <a:extLst>
              <a:ext uri="{FF2B5EF4-FFF2-40B4-BE49-F238E27FC236}">
                <a16:creationId xmlns:a16="http://schemas.microsoft.com/office/drawing/2014/main" id="{79681587-8D32-4493-A100-112F7EA1A2A7}"/>
              </a:ext>
            </a:extLst>
          </p:cNvPr>
          <p:cNvSpPr/>
          <p:nvPr/>
        </p:nvSpPr>
        <p:spPr>
          <a:xfrm>
            <a:off x="1267131" y="1478967"/>
            <a:ext cx="5148379" cy="338554"/>
          </a:xfrm>
          <a:prstGeom prst="rect">
            <a:avLst/>
          </a:prstGeom>
          <a:noFill/>
        </p:spPr>
        <p:txBody>
          <a:bodyPr vert="horz" wrap="square" lIns="91440" tIns="45720" rIns="91440" bIns="45720" numCol="1" anchor="t">
            <a:spAutoFit/>
          </a:bodyPr>
          <a:lstStyle/>
          <a:p>
            <a:pPr marL="0" indent="0" defTabSz="914400" latinLnBrk="0">
              <a:buFontTx/>
              <a:buNone/>
            </a:pPr>
            <a:r>
              <a:rPr lang="zh-CN" altLang="en-US" sz="1600" dirty="0">
                <a:solidFill>
                  <a:srgbClr val="FF0000"/>
                </a:solidFill>
                <a:latin typeface="+mj-lt"/>
                <a:ea typeface="隶书" panose="02010509060101010101" pitchFamily="49" charset="-122"/>
              </a:rPr>
              <a:t>如只有第一项输出项</a:t>
            </a:r>
            <a:r>
              <a:rPr lang="en-US" altLang="zh-CN" sz="1600" dirty="0">
                <a:solidFill>
                  <a:srgbClr val="FF0000"/>
                </a:solidFill>
                <a:latin typeface="+mj-lt"/>
                <a:ea typeface="隶书" panose="02010509060101010101" pitchFamily="49" charset="-122"/>
              </a:rPr>
              <a:t>x</a:t>
            </a:r>
            <a:r>
              <a:rPr lang="zh-CN" altLang="en-US" sz="1600" dirty="0">
                <a:solidFill>
                  <a:srgbClr val="FF0000"/>
                </a:solidFill>
                <a:latin typeface="+mj-lt"/>
                <a:ea typeface="隶书" panose="02010509060101010101" pitchFamily="49" charset="-122"/>
              </a:rPr>
              <a:t>不加逗号，</a:t>
            </a:r>
            <a:r>
              <a:rPr lang="en-US" altLang="zh-CN" sz="1600" dirty="0">
                <a:solidFill>
                  <a:srgbClr val="FF0000"/>
                </a:solidFill>
                <a:latin typeface="+mj-lt"/>
                <a:ea typeface="隶书" panose="02010509060101010101" pitchFamily="49" charset="-122"/>
              </a:rPr>
              <a:t>x</a:t>
            </a:r>
            <a:r>
              <a:rPr lang="zh-CN" altLang="en-US" sz="1600" dirty="0">
                <a:solidFill>
                  <a:srgbClr val="FF0000"/>
                </a:solidFill>
                <a:latin typeface="+mj-lt"/>
                <a:ea typeface="隶书" panose="02010509060101010101" pitchFamily="49" charset="-122"/>
              </a:rPr>
              <a:t>将代表所有输出结果</a:t>
            </a:r>
            <a:endParaRPr lang="ko-KR" altLang="en-US" sz="1600" dirty="0">
              <a:solidFill>
                <a:srgbClr val="FF0000"/>
              </a:solidFill>
              <a:latin typeface="+mj-lt"/>
              <a:ea typeface="隶书" panose="02010509060101010101" pitchFamily="49" charset="-122"/>
            </a:endParaRPr>
          </a:p>
        </p:txBody>
      </p:sp>
    </p:spTree>
    <p:extLst>
      <p:ext uri="{BB962C8B-B14F-4D97-AF65-F5344CB8AC3E}">
        <p14:creationId xmlns:p14="http://schemas.microsoft.com/office/powerpoint/2010/main" val="1946834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xEl>
                                              <p:pRg st="3" end="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p:bldP spid="19" grpId="0" animBg="1"/>
      <p:bldP spid="20" grpId="0" animBg="1"/>
      <p:bldP spid="22" grpId="0"/>
      <p:bldP spid="23" grpId="0" animBg="1"/>
      <p:bldP spid="24" grpId="0"/>
      <p:bldP spid="25" grpId="0"/>
      <p:bldP spid="28" grpId="0" animBg="1"/>
      <p:bldP spid="29" grpId="0"/>
      <p:bldP spid="30" grpId="0"/>
      <p:bldP spid="32" grpId="0"/>
      <p:bldP spid="16" grpId="0"/>
      <p:bldP spid="2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06556EC-0381-40D3-862B-4DDE3CA68156}"/>
              </a:ext>
            </a:extLst>
          </p:cNvPr>
          <p:cNvSpPr txBox="1"/>
          <p:nvPr/>
        </p:nvSpPr>
        <p:spPr>
          <a:xfrm>
            <a:off x="35496" y="811500"/>
            <a:ext cx="5040560" cy="338554"/>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defRPr>
            </a:lvl1pPr>
          </a:lstStyle>
          <a:p>
            <a:pPr marL="0" lvl="0" indent="0" eaLnBrk="0" hangingPunct="0">
              <a:lnSpc>
                <a:spcPct val="100000"/>
              </a:lnSpc>
            </a:pPr>
            <a:r>
              <a:rPr lang="zh-CN" altLang="zh-CN" sz="1600" b="0" dirty="0">
                <a:effectLst/>
                <a:highlight>
                  <a:srgbClr val="FF0000"/>
                </a:highlight>
                <a:latin typeface="Arial Unicode MS"/>
                <a:ea typeface="source-code-pro"/>
              </a:rPr>
              <a:t>x,fval,</a:t>
            </a:r>
            <a:r>
              <a:rPr lang="en-US" altLang="ko-KR" sz="1600" dirty="0">
                <a:highlight>
                  <a:srgbClr val="FF0000"/>
                </a:highlight>
                <a:latin typeface="微软雅黑" panose="020B0503020204020204" pitchFamily="34" charset="-122"/>
                <a:ea typeface="微软雅黑" panose="020B0503020204020204" pitchFamily="34" charset="-122"/>
              </a:rPr>
              <a:t> </a:t>
            </a:r>
            <a:r>
              <a:rPr lang="en-US" altLang="ko-KR" sz="1600" dirty="0" err="1">
                <a:highlight>
                  <a:srgbClr val="FF0000"/>
                </a:highlight>
                <a:latin typeface="微软雅黑" panose="020B0503020204020204" pitchFamily="34" charset="-122"/>
                <a:ea typeface="微软雅黑" panose="020B0503020204020204" pitchFamily="34" charset="-122"/>
              </a:rPr>
              <a:t>exitflag</a:t>
            </a:r>
            <a:r>
              <a:rPr lang="en-US" altLang="ko-KR" sz="1600" dirty="0">
                <a:highlight>
                  <a:srgbClr val="FF0000"/>
                </a:highlight>
                <a:latin typeface="微软雅黑" panose="020B0503020204020204" pitchFamily="34" charset="-122"/>
                <a:ea typeface="微软雅黑" panose="020B0503020204020204" pitchFamily="34" charset="-122"/>
              </a:rPr>
              <a:t> </a:t>
            </a:r>
            <a:r>
              <a:rPr lang="zh-CN" altLang="zh-CN" sz="1600" b="0" dirty="0">
                <a:effectLst/>
                <a:highlight>
                  <a:srgbClr val="FF0000"/>
                </a:highlight>
                <a:latin typeface="Arial Unicode MS"/>
                <a:ea typeface="source-code-pro"/>
              </a:rPr>
              <a:t>= fzero(fun,x0</a:t>
            </a:r>
            <a:r>
              <a:rPr lang="en-US" altLang="zh-CN" sz="1600" b="0" dirty="0">
                <a:effectLst/>
                <a:highlight>
                  <a:srgbClr val="FF0000"/>
                </a:highlight>
                <a:latin typeface="Arial Unicode MS"/>
                <a:ea typeface="source-code-pro"/>
              </a:rPr>
              <a:t>,</a:t>
            </a:r>
            <a:r>
              <a:rPr lang="zh-CN" altLang="zh-CN" sz="1600" dirty="0">
                <a:effectLst/>
                <a:highlight>
                  <a:srgbClr val="FF0000"/>
                </a:highlight>
                <a:latin typeface="华文楷体" panose="02010600040101010101" pitchFamily="2" charset="-122"/>
                <a:ea typeface="华文楷体" panose="02010600040101010101" pitchFamily="2" charset="-122"/>
              </a:rPr>
              <a:t>optimset(Display="iter")</a:t>
            </a:r>
            <a:r>
              <a:rPr lang="en-US" altLang="ko-KR" sz="1600" dirty="0">
                <a:highlight>
                  <a:srgbClr val="FF0000"/>
                </a:highlight>
                <a:latin typeface="华文楷体" panose="02010600040101010101" pitchFamily="2" charset="-122"/>
                <a:ea typeface="华文楷体" panose="02010600040101010101" pitchFamily="2" charset="-122"/>
                <a:cs typeface="Times New Roman" panose="02020603050405020304" pitchFamily="18" charset="0"/>
              </a:rPr>
              <a:t>)</a:t>
            </a:r>
            <a:r>
              <a:rPr lang="zh-CN" altLang="zh-CN" sz="1600" b="0" dirty="0">
                <a:effectLst/>
                <a:highlight>
                  <a:srgbClr val="FF0000"/>
                </a:highlight>
                <a:latin typeface="Arial Unicode MS"/>
                <a:ea typeface="source-code-pro"/>
              </a:rPr>
              <a:t>)</a:t>
            </a:r>
            <a:r>
              <a:rPr lang="zh-CN" altLang="zh-CN" sz="800" b="0" dirty="0">
                <a:effectLst/>
                <a:highlight>
                  <a:srgbClr val="FF0000"/>
                </a:highlight>
              </a:rPr>
              <a:t> </a:t>
            </a:r>
            <a:endParaRPr lang="zh-CN" altLang="zh-CN" sz="3600" b="0" dirty="0">
              <a:effectLst/>
              <a:highlight>
                <a:srgbClr val="FF0000"/>
              </a:highlight>
              <a:latin typeface="Arial" panose="020B0604020202020204" pitchFamily="34" charset="0"/>
            </a:endParaRPr>
          </a:p>
        </p:txBody>
      </p:sp>
      <p:sp>
        <p:nvSpPr>
          <p:cNvPr id="7" name="文本框 6">
            <a:extLst>
              <a:ext uri="{FF2B5EF4-FFF2-40B4-BE49-F238E27FC236}">
                <a16:creationId xmlns:a16="http://schemas.microsoft.com/office/drawing/2014/main" id="{1F24B30D-7BD4-45C9-97ED-AC8A9857084C}"/>
              </a:ext>
            </a:extLst>
          </p:cNvPr>
          <p:cNvSpPr txBox="1"/>
          <p:nvPr/>
        </p:nvSpPr>
        <p:spPr>
          <a:xfrm>
            <a:off x="23003" y="1191916"/>
            <a:ext cx="4939208" cy="1843262"/>
          </a:xfrm>
          <a:prstGeom prst="rect">
            <a:avLst/>
          </a:prstGeom>
          <a:noFill/>
        </p:spPr>
        <p:txBody>
          <a:bodyPr wrap="square">
            <a:spAutoFit/>
          </a:bodyPr>
          <a:lstStyle/>
          <a:p>
            <a:pPr eaLnBrk="0">
              <a:lnSpc>
                <a:spcPts val="2300"/>
              </a:lnSpc>
              <a:spcBef>
                <a:spcPts val="0"/>
              </a:spcBef>
              <a:spcAft>
                <a:spcPts val="0"/>
              </a:spcAft>
              <a:buFont typeface="Wingdings" panose="05000000000000000000" pitchFamily="2" charset="2"/>
              <a:buChar char="Ø"/>
            </a:pPr>
            <a:r>
              <a:rPr lang="en-US" altLang="zh-CN" sz="1600" dirty="0">
                <a:solidFill>
                  <a:srgbClr val="00B0F0"/>
                </a:solidFill>
                <a:latin typeface="微软雅黑" panose="020B0503020204020204" pitchFamily="34" charset="-122"/>
                <a:ea typeface="微软雅黑" panose="020B0503020204020204" pitchFamily="34" charset="-122"/>
              </a:rPr>
              <a:t>x:</a:t>
            </a:r>
            <a:r>
              <a:rPr lang="zh-CN" altLang="en-US" sz="1600" dirty="0">
                <a:solidFill>
                  <a:srgbClr val="00B0F0"/>
                </a:solidFill>
                <a:latin typeface="微软雅黑" panose="020B0503020204020204" pitchFamily="34" charset="-122"/>
                <a:ea typeface="微软雅黑" panose="020B0503020204020204" pitchFamily="34" charset="-122"/>
              </a:rPr>
              <a:t>非线性方程的根</a:t>
            </a:r>
            <a:endParaRPr lang="en-US" altLang="zh-CN" sz="1600" dirty="0">
              <a:solidFill>
                <a:srgbClr val="00B0F0"/>
              </a:solidFill>
              <a:latin typeface="微软雅黑" panose="020B0503020204020204" pitchFamily="34" charset="-122"/>
              <a:ea typeface="微软雅黑" panose="020B0503020204020204" pitchFamily="34" charset="-122"/>
            </a:endParaRPr>
          </a:p>
          <a:p>
            <a:pPr eaLnBrk="0">
              <a:lnSpc>
                <a:spcPts val="2300"/>
              </a:lnSpc>
              <a:spcBef>
                <a:spcPts val="0"/>
              </a:spcBef>
              <a:spcAft>
                <a:spcPts val="0"/>
              </a:spcAft>
              <a:buFont typeface="Wingdings" panose="05000000000000000000" pitchFamily="2" charset="2"/>
              <a:buChar char="Ø"/>
            </a:pPr>
            <a:r>
              <a:rPr lang="en-US" altLang="zh-CN" sz="1600" dirty="0" err="1">
                <a:solidFill>
                  <a:srgbClr val="00B0F0"/>
                </a:solidFill>
                <a:latin typeface="微软雅黑" panose="020B0503020204020204" pitchFamily="34" charset="-122"/>
                <a:ea typeface="微软雅黑" panose="020B0503020204020204" pitchFamily="34" charset="-122"/>
              </a:rPr>
              <a:t>fval</a:t>
            </a:r>
            <a:r>
              <a:rPr lang="en-US" altLang="zh-CN" sz="1600" dirty="0">
                <a:solidFill>
                  <a:srgbClr val="00B0F0"/>
                </a:solidFill>
                <a:latin typeface="微软雅黑" panose="020B0503020204020204" pitchFamily="34" charset="-122"/>
                <a:ea typeface="微软雅黑" panose="020B0503020204020204" pitchFamily="34" charset="-122"/>
              </a:rPr>
              <a:t>: x</a:t>
            </a:r>
            <a:r>
              <a:rPr lang="zh-CN" altLang="en-US" sz="1600" dirty="0">
                <a:solidFill>
                  <a:srgbClr val="00B0F0"/>
                </a:solidFill>
                <a:latin typeface="微软雅黑" panose="020B0503020204020204" pitchFamily="34" charset="-122"/>
                <a:ea typeface="微软雅黑" panose="020B0503020204020204" pitchFamily="34" charset="-122"/>
              </a:rPr>
              <a:t>带入到</a:t>
            </a:r>
            <a:r>
              <a:rPr lang="en-US" altLang="ko-KR" sz="1600" dirty="0">
                <a:solidFill>
                  <a:srgbClr val="00B0F0"/>
                </a:solidFill>
                <a:latin typeface="微软雅黑" panose="020B0503020204020204" pitchFamily="34" charset="-122"/>
                <a:ea typeface="微软雅黑" panose="020B0503020204020204" pitchFamily="34" charset="-122"/>
              </a:rPr>
              <a:t>f(x)</a:t>
            </a:r>
            <a:r>
              <a:rPr lang="zh-CN" altLang="en-US" sz="1600" dirty="0">
                <a:solidFill>
                  <a:srgbClr val="00B0F0"/>
                </a:solidFill>
                <a:latin typeface="微软雅黑" panose="020B0503020204020204" pitchFamily="34" charset="-122"/>
                <a:ea typeface="微软雅黑" panose="020B0503020204020204" pitchFamily="34" charset="-122"/>
              </a:rPr>
              <a:t>算出的函数值，即函数</a:t>
            </a:r>
            <a:r>
              <a:rPr lang="en-US" altLang="ko-KR" sz="1600" dirty="0" err="1">
                <a:solidFill>
                  <a:srgbClr val="00B0F0"/>
                </a:solidFill>
                <a:latin typeface="微软雅黑" panose="020B0503020204020204" pitchFamily="34" charset="-122"/>
                <a:ea typeface="微软雅黑" panose="020B0503020204020204" pitchFamily="34" charset="-122"/>
              </a:rPr>
              <a:t>零点</a:t>
            </a:r>
            <a:r>
              <a:rPr lang="en-US" altLang="zh-CN" sz="1600" dirty="0">
                <a:solidFill>
                  <a:srgbClr val="00B0F0"/>
                </a:solidFill>
                <a:latin typeface="微软雅黑" panose="020B0503020204020204" pitchFamily="34" charset="-122"/>
                <a:ea typeface="微软雅黑" panose="020B0503020204020204" pitchFamily="34" charset="-122"/>
              </a:rPr>
              <a:t> </a:t>
            </a:r>
          </a:p>
          <a:p>
            <a:pPr defTabSz="685800" eaLnBrk="0">
              <a:lnSpc>
                <a:spcPts val="2300"/>
              </a:lnSpc>
              <a:spcBef>
                <a:spcPts val="0"/>
              </a:spcBef>
              <a:spcAft>
                <a:spcPts val="0"/>
              </a:spcAft>
              <a:buFont typeface="Wingdings" panose="05000000000000000000" pitchFamily="2" charset="2"/>
              <a:buChar char="Ø"/>
            </a:pPr>
            <a:r>
              <a:rPr lang="en-US" altLang="zh-CN" sz="1600" dirty="0">
                <a:solidFill>
                  <a:srgbClr val="00B0F0"/>
                </a:solidFill>
                <a:latin typeface="微软雅黑" panose="020B0503020204020204" pitchFamily="34" charset="-122"/>
                <a:ea typeface="微软雅黑" panose="020B0503020204020204" pitchFamily="34" charset="-122"/>
              </a:rPr>
              <a:t>fun</a:t>
            </a:r>
            <a:r>
              <a:rPr lang="zh-CN" altLang="en-US" sz="1600" dirty="0">
                <a:solidFill>
                  <a:srgbClr val="00B0F0"/>
                </a:solidFill>
                <a:latin typeface="微软雅黑" panose="020B0503020204020204" pitchFamily="34" charset="-122"/>
                <a:ea typeface="微软雅黑" panose="020B0503020204020204" pitchFamily="34" charset="-122"/>
              </a:rPr>
              <a:t>：非线性方程组函数</a:t>
            </a:r>
            <a:endParaRPr lang="en-US" altLang="ko-KR" sz="1600" dirty="0">
              <a:solidFill>
                <a:srgbClr val="00B0F0"/>
              </a:solidFill>
              <a:latin typeface="微软雅黑" panose="020B0503020204020204" pitchFamily="34" charset="-122"/>
              <a:ea typeface="微软雅黑" panose="020B0503020204020204" pitchFamily="34" charset="-122"/>
            </a:endParaRPr>
          </a:p>
          <a:p>
            <a:pPr defTabSz="685800" eaLnBrk="0">
              <a:lnSpc>
                <a:spcPts val="2300"/>
              </a:lnSpc>
              <a:spcBef>
                <a:spcPts val="0"/>
              </a:spcBef>
              <a:spcAft>
                <a:spcPts val="0"/>
              </a:spcAft>
              <a:buFont typeface="Wingdings" panose="05000000000000000000" pitchFamily="2" charset="2"/>
              <a:buChar char="Ø"/>
            </a:pPr>
            <a:r>
              <a:rPr lang="en-US" altLang="ko-KR" sz="1600" dirty="0">
                <a:solidFill>
                  <a:srgbClr val="00B0F0"/>
                </a:solidFill>
                <a:latin typeface="微软雅黑" panose="020B0503020204020204" pitchFamily="34" charset="-122"/>
                <a:ea typeface="微软雅黑" panose="020B0503020204020204" pitchFamily="34" charset="-122"/>
              </a:rPr>
              <a:t>x0:</a:t>
            </a:r>
            <a:r>
              <a:rPr lang="zh-CN" altLang="en-US" sz="1600" dirty="0">
                <a:solidFill>
                  <a:srgbClr val="00B0F0"/>
                </a:solidFill>
                <a:latin typeface="微软雅黑" panose="020B0503020204020204" pitchFamily="34" charset="-122"/>
                <a:ea typeface="微软雅黑" panose="020B0503020204020204" pitchFamily="34" charset="-122"/>
              </a:rPr>
              <a:t>迭代的</a:t>
            </a:r>
            <a:r>
              <a:rPr lang="en-US" altLang="ko-KR" sz="1600" dirty="0" err="1">
                <a:solidFill>
                  <a:srgbClr val="00B0F0"/>
                </a:solidFill>
                <a:latin typeface="微软雅黑" panose="020B0503020204020204" pitchFamily="34" charset="-122"/>
                <a:ea typeface="微软雅黑" panose="020B0503020204020204" pitchFamily="34" charset="-122"/>
              </a:rPr>
              <a:t>初始值</a:t>
            </a:r>
            <a:r>
              <a:rPr lang="en-US" altLang="ko-KR" sz="1600" dirty="0">
                <a:solidFill>
                  <a:srgbClr val="00B0F0"/>
                </a:solidFill>
                <a:latin typeface="微软雅黑" panose="020B0503020204020204" pitchFamily="34" charset="-122"/>
                <a:ea typeface="微软雅黑" panose="020B0503020204020204" pitchFamily="34" charset="-122"/>
              </a:rPr>
              <a:t> </a:t>
            </a:r>
            <a:endParaRPr lang="en-US" altLang="zh-CN" sz="1600" dirty="0">
              <a:solidFill>
                <a:srgbClr val="00B0F0"/>
              </a:solidFill>
              <a:latin typeface="微软雅黑" panose="020B0503020204020204" pitchFamily="34" charset="-122"/>
              <a:ea typeface="微软雅黑" panose="020B0503020204020204" pitchFamily="34" charset="-122"/>
            </a:endParaRPr>
          </a:p>
          <a:p>
            <a:pPr eaLnBrk="0">
              <a:lnSpc>
                <a:spcPts val="2300"/>
              </a:lnSpc>
              <a:spcBef>
                <a:spcPts val="0"/>
              </a:spcBef>
              <a:spcAft>
                <a:spcPts val="0"/>
              </a:spcAft>
              <a:buFont typeface="Wingdings" panose="05000000000000000000" pitchFamily="2" charset="2"/>
              <a:buChar char="Ø"/>
            </a:pPr>
            <a:r>
              <a:rPr lang="en-US" altLang="ko-KR" sz="1600" dirty="0" err="1">
                <a:solidFill>
                  <a:srgbClr val="00B0F0"/>
                </a:solidFill>
                <a:latin typeface="微软雅黑" panose="020B0503020204020204" pitchFamily="34" charset="-122"/>
                <a:ea typeface="微软雅黑" panose="020B0503020204020204" pitchFamily="34" charset="-122"/>
              </a:rPr>
              <a:t>exitflag:</a:t>
            </a:r>
            <a:r>
              <a:rPr lang="en-US" altLang="ko-KR" sz="1600" cap="none" dirty="0" err="1">
                <a:solidFill>
                  <a:srgbClr val="00B0F0"/>
                </a:solidFill>
                <a:latin typeface="微软雅黑" panose="020B0503020204020204" pitchFamily="34" charset="-122"/>
                <a:ea typeface="微软雅黑" panose="020B0503020204020204" pitchFamily="34" charset="-122"/>
              </a:rPr>
              <a:t>程序退出标志</a:t>
            </a:r>
            <a:r>
              <a:rPr lang="en-US" altLang="ko-KR" sz="1600" u="sng" cap="none" dirty="0">
                <a:solidFill>
                  <a:srgbClr val="00B0F0"/>
                </a:solidFill>
                <a:latin typeface="微软雅黑" panose="020B0503020204020204" pitchFamily="34" charset="-122"/>
                <a:ea typeface="微软雅黑" panose="020B0503020204020204" pitchFamily="34" charset="-122"/>
              </a:rPr>
              <a:t> </a:t>
            </a:r>
            <a:r>
              <a:rPr lang="zh-CN" altLang="en-US" sz="1600" dirty="0">
                <a:solidFill>
                  <a:srgbClr val="00B0F0"/>
                </a:solidFill>
                <a:latin typeface="微软雅黑" panose="020B0503020204020204" pitchFamily="34" charset="-122"/>
                <a:ea typeface="微软雅黑" panose="020B0503020204020204" pitchFamily="34" charset="-122"/>
              </a:rPr>
              <a:t>，</a:t>
            </a:r>
            <a:r>
              <a:rPr lang="en-US" altLang="zh-CN" sz="1600" dirty="0">
                <a:solidFill>
                  <a:srgbClr val="00B0F0"/>
                </a:solidFill>
                <a:latin typeface="微软雅黑" panose="020B0503020204020204" pitchFamily="34" charset="-122"/>
                <a:ea typeface="微软雅黑" panose="020B0503020204020204" pitchFamily="34" charset="-122"/>
              </a:rPr>
              <a:t>1</a:t>
            </a:r>
            <a:r>
              <a:rPr lang="zh-CN" altLang="en-US" sz="1600" dirty="0">
                <a:solidFill>
                  <a:srgbClr val="00B0F0"/>
                </a:solidFill>
                <a:latin typeface="微软雅黑" panose="020B0503020204020204" pitchFamily="34" charset="-122"/>
                <a:ea typeface="微软雅黑" panose="020B0503020204020204" pitchFamily="34" charset="-122"/>
              </a:rPr>
              <a:t>为</a:t>
            </a:r>
            <a:r>
              <a:rPr lang="en-US" altLang="ko-KR" sz="1600" dirty="0" err="1">
                <a:solidFill>
                  <a:srgbClr val="00B0F0"/>
                </a:solidFill>
                <a:latin typeface="微软雅黑" panose="020B0503020204020204" pitchFamily="34" charset="-122"/>
                <a:ea typeface="微软雅黑" panose="020B0503020204020204" pitchFamily="34" charset="-122"/>
              </a:rPr>
              <a:t>收敛</a:t>
            </a:r>
            <a:endParaRPr lang="en-US" altLang="ko-KR" sz="1600" dirty="0">
              <a:solidFill>
                <a:srgbClr val="00B0F0"/>
              </a:solidFill>
              <a:latin typeface="微软雅黑" panose="020B0503020204020204" pitchFamily="34" charset="-122"/>
              <a:ea typeface="微软雅黑" panose="020B0503020204020204" pitchFamily="34" charset="-122"/>
            </a:endParaRPr>
          </a:p>
          <a:p>
            <a:pPr defTabSz="685800" eaLnBrk="0">
              <a:lnSpc>
                <a:spcPts val="2300"/>
              </a:lnSpc>
              <a:spcBef>
                <a:spcPts val="0"/>
              </a:spcBef>
              <a:spcAft>
                <a:spcPts val="0"/>
              </a:spcAft>
              <a:buFont typeface="Wingdings" panose="05000000000000000000" pitchFamily="2" charset="2"/>
              <a:buChar char="Ø"/>
            </a:pPr>
            <a:r>
              <a:rPr lang="en-US" altLang="ko-KR" sz="1600" dirty="0" err="1">
                <a:solidFill>
                  <a:srgbClr val="00B0F0"/>
                </a:solidFill>
                <a:latin typeface="微软雅黑" panose="020B0503020204020204" pitchFamily="34" charset="-122"/>
                <a:ea typeface="微软雅黑" panose="020B0503020204020204" pitchFamily="34" charset="-122"/>
              </a:rPr>
              <a:t>output:</a:t>
            </a:r>
            <a:r>
              <a:rPr lang="en-US" altLang="ko-KR" sz="1600" cap="none" dirty="0" err="1">
                <a:solidFill>
                  <a:srgbClr val="00B0F0"/>
                </a:solidFill>
                <a:latin typeface="微软雅黑" panose="020B0503020204020204" pitchFamily="34" charset="-122"/>
                <a:ea typeface="微软雅黑" panose="020B0503020204020204" pitchFamily="34" charset="-122"/>
              </a:rPr>
              <a:t>输出信息</a:t>
            </a:r>
            <a:r>
              <a:rPr lang="en-US" altLang="zh-CN" sz="1600" dirty="0">
                <a:solidFill>
                  <a:srgbClr val="00B0F0"/>
                </a:solidFill>
                <a:latin typeface="微软雅黑" panose="020B0503020204020204" pitchFamily="34" charset="-122"/>
                <a:ea typeface="微软雅黑" panose="020B0503020204020204" pitchFamily="34" charset="-122"/>
              </a:rPr>
              <a:t>,</a:t>
            </a:r>
            <a:r>
              <a:rPr lang="zh-CN" altLang="en-US" sz="1600" dirty="0">
                <a:solidFill>
                  <a:srgbClr val="00B0F0"/>
                </a:solidFill>
                <a:latin typeface="微软雅黑" panose="020B0503020204020204" pitchFamily="34" charset="-122"/>
                <a:ea typeface="微软雅黑" panose="020B0503020204020204" pitchFamily="34" charset="-122"/>
              </a:rPr>
              <a:t>如迭代次数、算法消息</a:t>
            </a:r>
            <a:endParaRPr lang="en-US" altLang="zh-CN" sz="1600" dirty="0">
              <a:solidFill>
                <a:srgbClr val="00B0F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70BA6E61-239B-4ABD-AC5B-FD94607FE481}"/>
              </a:ext>
            </a:extLst>
          </p:cNvPr>
          <p:cNvSpPr txBox="1"/>
          <p:nvPr/>
        </p:nvSpPr>
        <p:spPr>
          <a:xfrm>
            <a:off x="723727" y="-100401"/>
            <a:ext cx="8136904" cy="677108"/>
          </a:xfrm>
          <a:prstGeom prst="rect">
            <a:avLst/>
          </a:prstGeom>
          <a:noFill/>
        </p:spPr>
        <p:txBody>
          <a:bodyPr wrap="square">
            <a:spAutoFit/>
          </a:bodyPr>
          <a:lstStyle/>
          <a:p>
            <a:pPr algn="dist">
              <a:lnSpc>
                <a:spcPct val="150000"/>
              </a:lnSpc>
            </a:pPr>
            <a:r>
              <a:rPr lang="en-US" altLang="zh-CN" sz="2800" b="0" dirty="0">
                <a:solidFill>
                  <a:srgbClr val="002060"/>
                </a:solidFill>
                <a:latin typeface="华文楷体" panose="02010600040101010101" pitchFamily="2" charset="-122"/>
                <a:ea typeface="华文楷体" panose="02010600040101010101" pitchFamily="2" charset="-122"/>
              </a:rPr>
              <a:t>§ 8.5</a:t>
            </a:r>
            <a:r>
              <a:rPr lang="en-US" altLang="zh-CN" sz="2800" dirty="0">
                <a:solidFill>
                  <a:srgbClr val="002060"/>
                </a:solidFill>
                <a:latin typeface="华文楷体" panose="02010600040101010101" pitchFamily="2" charset="-122"/>
                <a:ea typeface="华文楷体" panose="02010600040101010101" pitchFamily="2" charset="-122"/>
              </a:rPr>
              <a:t>.1</a:t>
            </a:r>
            <a:r>
              <a:rPr lang="zh-CN" altLang="en-US" sz="2800" dirty="0">
                <a:solidFill>
                  <a:srgbClr val="002060"/>
                </a:solidFill>
                <a:latin typeface="华文楷体" panose="02010600040101010101" pitchFamily="2" charset="-122"/>
                <a:ea typeface="华文楷体" panose="02010600040101010101" pitchFamily="2" charset="-122"/>
              </a:rPr>
              <a:t>求解非线性方程 </a:t>
            </a:r>
            <a:r>
              <a:rPr lang="en-US" altLang="zh-CN" sz="2800" dirty="0" err="1">
                <a:solidFill>
                  <a:srgbClr val="FF0000"/>
                </a:solidFill>
                <a:latin typeface="华文楷体" panose="02010600040101010101" pitchFamily="2" charset="-122"/>
                <a:ea typeface="华文楷体" panose="02010600040101010101" pitchFamily="2" charset="-122"/>
                <a:sym typeface="Arial" panose="020B0604020202020204" pitchFamily="34" charset="0"/>
              </a:rPr>
              <a:t>fzero</a:t>
            </a:r>
            <a:r>
              <a:rPr lang="en-US" altLang="zh-CN" sz="2800" b="0" kern="0" dirty="0">
                <a:solidFill>
                  <a:srgbClr val="FF0000"/>
                </a:solidFill>
                <a:latin typeface="华文楷体" panose="02010600040101010101" pitchFamily="2" charset="-122"/>
                <a:ea typeface="华文楷体" panose="02010600040101010101" pitchFamily="2" charset="-122"/>
              </a:rPr>
              <a:t> ——</a:t>
            </a:r>
            <a:r>
              <a:rPr lang="zh-CN" altLang="zh-CN" sz="2000" dirty="0">
                <a:solidFill>
                  <a:srgbClr val="333333"/>
                </a:solidFill>
                <a:effectLst/>
                <a:latin typeface="Helvetica" panose="020B0604020202020204" pitchFamily="34" charset="0"/>
                <a:ea typeface="等线" panose="02010600030101010101" pitchFamily="2" charset="-122"/>
                <a:cs typeface="Helvetica" panose="020B0604020202020204" pitchFamily="34" charset="0"/>
              </a:rPr>
              <a:t>范德瓦尔斯方程</a:t>
            </a:r>
            <a:r>
              <a:rPr lang="zh-CN" altLang="en-US" sz="2000" dirty="0">
                <a:solidFill>
                  <a:srgbClr val="333333"/>
                </a:solidFill>
                <a:effectLst/>
                <a:latin typeface="Helvetica" panose="020B0604020202020204" pitchFamily="34" charset="0"/>
                <a:ea typeface="等线" panose="02010600030101010101" pitchFamily="2" charset="-122"/>
                <a:cs typeface="Helvetica" panose="020B0604020202020204" pitchFamily="34" charset="0"/>
              </a:rPr>
              <a:t>求体积</a:t>
            </a:r>
            <a:endParaRPr lang="en-US" altLang="zh-CN" sz="2800" dirty="0">
              <a:solidFill>
                <a:srgbClr val="FF0000"/>
              </a:solidFill>
              <a:latin typeface="华文楷体" panose="02010600040101010101" pitchFamily="2" charset="-122"/>
              <a:ea typeface="华文楷体" panose="02010600040101010101" pitchFamily="2" charset="-122"/>
              <a:sym typeface="Arial" panose="020B0604020202020204" pitchFamily="34" charset="0"/>
            </a:endParaRPr>
          </a:p>
        </p:txBody>
      </p:sp>
      <p:graphicFrame>
        <p:nvGraphicFramePr>
          <p:cNvPr id="11" name="表格 10">
            <a:extLst>
              <a:ext uri="{FF2B5EF4-FFF2-40B4-BE49-F238E27FC236}">
                <a16:creationId xmlns:a16="http://schemas.microsoft.com/office/drawing/2014/main" id="{A09F0CBD-2356-4040-B516-3A45DA70BCA7}"/>
              </a:ext>
            </a:extLst>
          </p:cNvPr>
          <p:cNvGraphicFramePr>
            <a:graphicFrameLocks noGrp="1"/>
          </p:cNvGraphicFramePr>
          <p:nvPr>
            <p:extLst>
              <p:ext uri="{D42A27DB-BD31-4B8C-83A1-F6EECF244321}">
                <p14:modId xmlns:p14="http://schemas.microsoft.com/office/powerpoint/2010/main" val="3628584769"/>
              </p:ext>
            </p:extLst>
          </p:nvPr>
        </p:nvGraphicFramePr>
        <p:xfrm>
          <a:off x="4780420" y="1247376"/>
          <a:ext cx="4470010" cy="1691640"/>
        </p:xfrm>
        <a:graphic>
          <a:graphicData uri="http://schemas.openxmlformats.org/drawingml/2006/table">
            <a:tbl>
              <a:tblPr/>
              <a:tblGrid>
                <a:gridCol w="418152">
                  <a:extLst>
                    <a:ext uri="{9D8B030D-6E8A-4147-A177-3AD203B41FA5}">
                      <a16:colId xmlns:a16="http://schemas.microsoft.com/office/drawing/2014/main" val="1504009317"/>
                    </a:ext>
                  </a:extLst>
                </a:gridCol>
                <a:gridCol w="4051858">
                  <a:extLst>
                    <a:ext uri="{9D8B030D-6E8A-4147-A177-3AD203B41FA5}">
                      <a16:colId xmlns:a16="http://schemas.microsoft.com/office/drawing/2014/main" val="1841848489"/>
                    </a:ext>
                  </a:extLst>
                </a:gridCol>
              </a:tblGrid>
              <a:tr h="261193">
                <a:tc>
                  <a:txBody>
                    <a:bodyPr/>
                    <a:lstStyle/>
                    <a:p>
                      <a:pPr algn="l"/>
                      <a:r>
                        <a:rPr lang="en-US" altLang="zh-CN" sz="1400">
                          <a:solidFill>
                            <a:srgbClr val="0070C0"/>
                          </a:solidFill>
                          <a:effectLst/>
                        </a:rPr>
                        <a:t>1</a:t>
                      </a:r>
                    </a:p>
                  </a:txBody>
                  <a:tcPr marL="68580" marR="68580" marT="34290" marB="34290"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tcPr>
                </a:tc>
                <a:tc>
                  <a:txBody>
                    <a:bodyPr/>
                    <a:lstStyle/>
                    <a:p>
                      <a:pPr algn="l"/>
                      <a:r>
                        <a:rPr lang="zh-CN" altLang="en-US" sz="1400" dirty="0">
                          <a:solidFill>
                            <a:srgbClr val="0070C0"/>
                          </a:solidFill>
                          <a:effectLst/>
                        </a:rPr>
                        <a:t>函数收敛于解 </a:t>
                      </a:r>
                      <a:r>
                        <a:rPr lang="en-US" altLang="zh-CN" sz="1400" dirty="0">
                          <a:solidFill>
                            <a:srgbClr val="0070C0"/>
                          </a:solidFill>
                          <a:effectLst/>
                        </a:rPr>
                        <a:t>x</a:t>
                      </a:r>
                      <a:r>
                        <a:rPr lang="zh-CN" altLang="en-US" sz="1400" dirty="0">
                          <a:solidFill>
                            <a:srgbClr val="0070C0"/>
                          </a:solidFill>
                          <a:effectLst/>
                        </a:rPr>
                        <a:t>。</a:t>
                      </a:r>
                    </a:p>
                  </a:txBody>
                  <a:tcPr marL="68580" marR="68580" marT="34290" marB="34290"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3047217516"/>
                  </a:ext>
                </a:extLst>
              </a:tr>
              <a:tr h="261193">
                <a:tc>
                  <a:txBody>
                    <a:bodyPr/>
                    <a:lstStyle/>
                    <a:p>
                      <a:pPr algn="l"/>
                      <a:r>
                        <a:rPr lang="en-US" altLang="zh-CN" sz="1400">
                          <a:solidFill>
                            <a:srgbClr val="0070C0"/>
                          </a:solidFill>
                          <a:effectLst/>
                        </a:rPr>
                        <a:t>-1</a:t>
                      </a:r>
                    </a:p>
                  </a:txBody>
                  <a:tcPr marL="68580" marR="68580" marT="34290" marB="34290"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tcPr>
                </a:tc>
                <a:tc>
                  <a:txBody>
                    <a:bodyPr/>
                    <a:lstStyle/>
                    <a:p>
                      <a:pPr algn="l"/>
                      <a:r>
                        <a:rPr lang="zh-CN" altLang="en-US" sz="1400" dirty="0">
                          <a:solidFill>
                            <a:srgbClr val="0070C0"/>
                          </a:solidFill>
                          <a:effectLst/>
                        </a:rPr>
                        <a:t>算法由输出函数或绘图函数终止。</a:t>
                      </a:r>
                    </a:p>
                  </a:txBody>
                  <a:tcPr marL="68580" marR="68580" marT="34290" marB="34290"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3567768576"/>
                  </a:ext>
                </a:extLst>
              </a:tr>
              <a:tr h="277046">
                <a:tc>
                  <a:txBody>
                    <a:bodyPr/>
                    <a:lstStyle/>
                    <a:p>
                      <a:pPr algn="l"/>
                      <a:r>
                        <a:rPr lang="en-US" altLang="zh-CN" sz="1400">
                          <a:solidFill>
                            <a:srgbClr val="0070C0"/>
                          </a:solidFill>
                          <a:effectLst/>
                        </a:rPr>
                        <a:t>-3</a:t>
                      </a:r>
                    </a:p>
                  </a:txBody>
                  <a:tcPr marL="68580" marR="68580" marT="34290" marB="34290"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tcPr>
                </a:tc>
                <a:tc>
                  <a:txBody>
                    <a:bodyPr/>
                    <a:lstStyle/>
                    <a:p>
                      <a:pPr algn="l"/>
                      <a:r>
                        <a:rPr lang="zh-CN" altLang="en-US" sz="1400" dirty="0">
                          <a:solidFill>
                            <a:srgbClr val="0070C0"/>
                          </a:solidFill>
                          <a:effectLst/>
                        </a:rPr>
                        <a:t>在搜索含有变号的区间时遇到 </a:t>
                      </a:r>
                      <a:r>
                        <a:rPr lang="en-US" altLang="zh-CN" sz="1400" dirty="0" err="1">
                          <a:solidFill>
                            <a:srgbClr val="0070C0"/>
                          </a:solidFill>
                          <a:effectLst/>
                        </a:rPr>
                        <a:t>NaN</a:t>
                      </a:r>
                      <a:r>
                        <a:rPr lang="en-US" altLang="zh-CN" sz="1400" dirty="0">
                          <a:solidFill>
                            <a:srgbClr val="0070C0"/>
                          </a:solidFill>
                          <a:effectLst/>
                        </a:rPr>
                        <a:t> </a:t>
                      </a:r>
                      <a:r>
                        <a:rPr lang="zh-CN" altLang="en-US" sz="1400" dirty="0">
                          <a:solidFill>
                            <a:srgbClr val="0070C0"/>
                          </a:solidFill>
                          <a:effectLst/>
                        </a:rPr>
                        <a:t>或 </a:t>
                      </a:r>
                      <a:r>
                        <a:rPr lang="en-US" altLang="zh-CN" sz="1400" dirty="0">
                          <a:solidFill>
                            <a:srgbClr val="0070C0"/>
                          </a:solidFill>
                          <a:effectLst/>
                        </a:rPr>
                        <a:t>Inf </a:t>
                      </a:r>
                      <a:r>
                        <a:rPr lang="zh-CN" altLang="en-US" sz="1400" dirty="0">
                          <a:solidFill>
                            <a:srgbClr val="0070C0"/>
                          </a:solidFill>
                          <a:effectLst/>
                        </a:rPr>
                        <a:t>函数值。</a:t>
                      </a:r>
                    </a:p>
                  </a:txBody>
                  <a:tcPr marL="68580" marR="68580" marT="34290" marB="34290"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3912956144"/>
                  </a:ext>
                </a:extLst>
              </a:tr>
              <a:tr h="261193">
                <a:tc>
                  <a:txBody>
                    <a:bodyPr/>
                    <a:lstStyle/>
                    <a:p>
                      <a:pPr algn="l"/>
                      <a:r>
                        <a:rPr lang="en-US" altLang="zh-CN" sz="1400">
                          <a:solidFill>
                            <a:srgbClr val="0070C0"/>
                          </a:solidFill>
                          <a:effectLst/>
                        </a:rPr>
                        <a:t>-4</a:t>
                      </a:r>
                    </a:p>
                  </a:txBody>
                  <a:tcPr marL="68580" marR="68580" marT="34290" marB="34290"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tcPr>
                </a:tc>
                <a:tc>
                  <a:txBody>
                    <a:bodyPr/>
                    <a:lstStyle/>
                    <a:p>
                      <a:pPr algn="l"/>
                      <a:r>
                        <a:rPr lang="zh-CN" altLang="en-US" sz="1400" dirty="0">
                          <a:solidFill>
                            <a:srgbClr val="0070C0"/>
                          </a:solidFill>
                          <a:effectLst/>
                        </a:rPr>
                        <a:t>在搜索含有变号的区间时遇到复数函数值。</a:t>
                      </a:r>
                    </a:p>
                  </a:txBody>
                  <a:tcPr marL="68580" marR="68580" marT="34290" marB="34290"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1887166701"/>
                  </a:ext>
                </a:extLst>
              </a:tr>
              <a:tr h="261193">
                <a:tc>
                  <a:txBody>
                    <a:bodyPr/>
                    <a:lstStyle/>
                    <a:p>
                      <a:pPr algn="l"/>
                      <a:r>
                        <a:rPr lang="en-US" altLang="zh-CN" sz="1400">
                          <a:solidFill>
                            <a:srgbClr val="0070C0"/>
                          </a:solidFill>
                          <a:effectLst/>
                        </a:rPr>
                        <a:t>-5</a:t>
                      </a:r>
                    </a:p>
                  </a:txBody>
                  <a:tcPr marL="68580" marR="68580" marT="34290" marB="34290"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tcPr>
                </a:tc>
                <a:tc>
                  <a:txBody>
                    <a:bodyPr/>
                    <a:lstStyle/>
                    <a:p>
                      <a:pPr algn="l"/>
                      <a:r>
                        <a:rPr lang="zh-CN" altLang="en-US" sz="1400" dirty="0">
                          <a:solidFill>
                            <a:srgbClr val="0070C0"/>
                          </a:solidFill>
                          <a:effectLst/>
                        </a:rPr>
                        <a:t>算法可能收敛于一个奇异点。</a:t>
                      </a:r>
                    </a:p>
                  </a:txBody>
                  <a:tcPr marL="68580" marR="68580" marT="34290" marB="34290"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4216494428"/>
                  </a:ext>
                </a:extLst>
              </a:tr>
              <a:tr h="261193">
                <a:tc>
                  <a:txBody>
                    <a:bodyPr/>
                    <a:lstStyle/>
                    <a:p>
                      <a:pPr algn="l"/>
                      <a:r>
                        <a:rPr lang="en-US" altLang="zh-CN" sz="1400">
                          <a:solidFill>
                            <a:srgbClr val="0070C0"/>
                          </a:solidFill>
                          <a:effectLst/>
                        </a:rPr>
                        <a:t>-6</a:t>
                      </a:r>
                    </a:p>
                  </a:txBody>
                  <a:tcPr marL="68580" marR="68580" marT="34290" marB="34290"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tcPr>
                </a:tc>
                <a:tc>
                  <a:txBody>
                    <a:bodyPr/>
                    <a:lstStyle/>
                    <a:p>
                      <a:pPr algn="l"/>
                      <a:r>
                        <a:rPr lang="en-US" altLang="zh-CN" sz="1400" dirty="0" err="1">
                          <a:solidFill>
                            <a:srgbClr val="0070C0"/>
                          </a:solidFill>
                          <a:effectLst/>
                        </a:rPr>
                        <a:t>fzero</a:t>
                      </a:r>
                      <a:r>
                        <a:rPr lang="en-US" altLang="zh-CN" sz="1400" dirty="0">
                          <a:solidFill>
                            <a:srgbClr val="0070C0"/>
                          </a:solidFill>
                          <a:effectLst/>
                        </a:rPr>
                        <a:t> </a:t>
                      </a:r>
                      <a:r>
                        <a:rPr lang="zh-CN" altLang="en-US" sz="1400" dirty="0">
                          <a:solidFill>
                            <a:srgbClr val="0070C0"/>
                          </a:solidFill>
                          <a:effectLst/>
                        </a:rPr>
                        <a:t>未检测到变号。</a:t>
                      </a:r>
                    </a:p>
                  </a:txBody>
                  <a:tcPr marL="68580" marR="68580" marT="34290" marB="34290"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3763131179"/>
                  </a:ext>
                </a:extLst>
              </a:tr>
            </a:tbl>
          </a:graphicData>
        </a:graphic>
      </p:graphicFrame>
      <p:sp>
        <p:nvSpPr>
          <p:cNvPr id="12" name="Rectangle 1">
            <a:extLst>
              <a:ext uri="{FF2B5EF4-FFF2-40B4-BE49-F238E27FC236}">
                <a16:creationId xmlns:a16="http://schemas.microsoft.com/office/drawing/2014/main" id="{6E429909-649E-47DC-B77C-E500AFD5B259}"/>
              </a:ext>
            </a:extLst>
          </p:cNvPr>
          <p:cNvSpPr>
            <a:spLocks noChangeArrowheads="1"/>
          </p:cNvSpPr>
          <p:nvPr/>
        </p:nvSpPr>
        <p:spPr bwMode="auto">
          <a:xfrm>
            <a:off x="5068523" y="767795"/>
            <a:ext cx="39679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dist" defTabSz="914400" rtl="0" eaLnBrk="0" fontAlgn="base" latinLnBrk="0" hangingPunct="0">
              <a:lnSpc>
                <a:spcPct val="100000"/>
              </a:lnSpc>
              <a:spcBef>
                <a:spcPct val="0"/>
              </a:spcBef>
              <a:spcAft>
                <a:spcPct val="0"/>
              </a:spcAft>
              <a:buClrTx/>
              <a:buSzTx/>
              <a:buFontTx/>
              <a:buNone/>
              <a:tabLst/>
            </a:pPr>
            <a:r>
              <a:rPr lang="zh-CN" altLang="zh-CN" b="1" dirty="0">
                <a:solidFill>
                  <a:srgbClr val="00B0F0"/>
                </a:solidFill>
                <a:latin typeface="微软雅黑" panose="020B0503020204020204" pitchFamily="34" charset="-122"/>
                <a:ea typeface="微软雅黑" panose="020B0503020204020204" pitchFamily="34" charset="-122"/>
              </a:rPr>
              <a:t>exitflag — 对退出条件编码的整数</a:t>
            </a:r>
          </a:p>
        </p:txBody>
      </p:sp>
      <p:sp>
        <p:nvSpPr>
          <p:cNvPr id="13" name="文本框 12">
            <a:extLst>
              <a:ext uri="{FF2B5EF4-FFF2-40B4-BE49-F238E27FC236}">
                <a16:creationId xmlns:a16="http://schemas.microsoft.com/office/drawing/2014/main" id="{85B35D94-BD86-4424-AB68-C621CB74166C}"/>
              </a:ext>
            </a:extLst>
          </p:cNvPr>
          <p:cNvSpPr txBox="1"/>
          <p:nvPr/>
        </p:nvSpPr>
        <p:spPr>
          <a:xfrm>
            <a:off x="1001517" y="3066822"/>
            <a:ext cx="1800200" cy="369332"/>
          </a:xfrm>
          <a:prstGeom prst="rect">
            <a:avLst/>
          </a:prstGeom>
          <a:solidFill>
            <a:schemeClr val="bg1"/>
          </a:solidFill>
        </p:spPr>
        <p:txBody>
          <a:bodyPr wrap="square">
            <a:spAutoFit/>
          </a:bodyPr>
          <a:lstStyle/>
          <a:p>
            <a:r>
              <a:rPr lang="zh-CN" altLang="zh-CN" sz="1800" b="1" dirty="0">
                <a:solidFill>
                  <a:srgbClr val="0070C0"/>
                </a:solidFill>
                <a:effectLst/>
                <a:latin typeface="Helvetica" panose="020B0604020202020204" pitchFamily="34" charset="0"/>
                <a:ea typeface="等线" panose="02010600030101010101" pitchFamily="2" charset="-122"/>
                <a:cs typeface="Helvetica" panose="020B0604020202020204" pitchFamily="34" charset="0"/>
              </a:rPr>
              <a:t>范德瓦尔斯方程</a:t>
            </a:r>
            <a:endParaRPr lang="zh-CN" altLang="en-US" b="1" dirty="0">
              <a:solidFill>
                <a:srgbClr val="0070C0"/>
              </a:solidFill>
            </a:endParaRPr>
          </a:p>
        </p:txBody>
      </p:sp>
      <p:pic>
        <p:nvPicPr>
          <p:cNvPr id="15" name="图片 14">
            <a:extLst>
              <a:ext uri="{FF2B5EF4-FFF2-40B4-BE49-F238E27FC236}">
                <a16:creationId xmlns:a16="http://schemas.microsoft.com/office/drawing/2014/main" id="{25B12B84-EB54-4489-8217-4A642BAA6916}"/>
              </a:ext>
            </a:extLst>
          </p:cNvPr>
          <p:cNvPicPr/>
          <p:nvPr/>
        </p:nvPicPr>
        <p:blipFill rotWithShape="1">
          <a:blip r:embed="rId3"/>
          <a:srcRect l="9564" t="26780" r="424" b="14058"/>
          <a:stretch/>
        </p:blipFill>
        <p:spPr bwMode="auto">
          <a:xfrm>
            <a:off x="2757876" y="2966236"/>
            <a:ext cx="2376264" cy="504364"/>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094BB57-5E83-48FF-A3FA-C537B1C941CE}"/>
                  </a:ext>
                </a:extLst>
              </p:cNvPr>
              <p:cNvSpPr txBox="1"/>
              <p:nvPr/>
            </p:nvSpPr>
            <p:spPr>
              <a:xfrm>
                <a:off x="60746" y="3497820"/>
                <a:ext cx="9083253" cy="1092607"/>
              </a:xfrm>
              <a:prstGeom prst="rect">
                <a:avLst/>
              </a:prstGeom>
              <a:noFill/>
            </p:spPr>
            <p:txBody>
              <a:bodyPr wrap="square">
                <a:spAutoFit/>
              </a:bodyPr>
              <a:lstStyle/>
              <a:p>
                <a:pPr>
                  <a:lnSpc>
                    <a:spcPts val="2700"/>
                  </a:lnSpc>
                </a:pPr>
                <a14:m>
                  <m:oMath xmlns:m="http://schemas.openxmlformats.org/officeDocument/2006/math">
                    <m:r>
                      <m:rPr>
                        <m:nor/>
                      </m:rPr>
                      <a:rPr lang="en-US" altLang="zh-CN" sz="2000" dirty="0" smtClean="0">
                        <a:solidFill>
                          <a:srgbClr val="0070C0"/>
                        </a:solidFill>
                        <a:latin typeface="Consolas" panose="020B0609020204030204" pitchFamily="49" charset="0"/>
                      </a:rPr>
                      <m:t>p</m:t>
                    </m:r>
                    <m:r>
                      <m:rPr>
                        <m:nor/>
                      </m:rPr>
                      <a:rPr lang="en-US" altLang="zh-CN" sz="2000" dirty="0" smtClean="0">
                        <a:solidFill>
                          <a:srgbClr val="0070C0"/>
                        </a:solidFill>
                        <a:latin typeface="Consolas" panose="020B0609020204030204" pitchFamily="49" charset="0"/>
                      </a:rPr>
                      <m:t>(</m:t>
                    </m:r>
                    <m:r>
                      <m:rPr>
                        <m:nor/>
                      </m:rPr>
                      <a:rPr lang="en-US" altLang="zh-CN" sz="2000" dirty="0" smtClean="0">
                        <a:solidFill>
                          <a:srgbClr val="0070C0"/>
                        </a:solidFill>
                        <a:latin typeface="Consolas" panose="020B0609020204030204" pitchFamily="49" charset="0"/>
                      </a:rPr>
                      <m:t>v</m:t>
                    </m:r>
                    <m:r>
                      <m:rPr>
                        <m:nor/>
                      </m:rPr>
                      <a:rPr lang="en-US" altLang="zh-CN" sz="2000" dirty="0" smtClean="0">
                        <a:solidFill>
                          <a:srgbClr val="0070C0"/>
                        </a:solidFill>
                        <a:latin typeface="Consolas" panose="020B0609020204030204" pitchFamily="49" charset="0"/>
                      </a:rPr>
                      <m:t>)=8.314</m:t>
                    </m:r>
                    <m:r>
                      <m:rPr>
                        <m:nor/>
                      </m:rPr>
                      <a:rPr lang="en-US" altLang="zh-CN" sz="2000" dirty="0" smtClean="0">
                        <a:solidFill>
                          <a:srgbClr val="0070C0"/>
                        </a:solidFill>
                        <a:latin typeface="Consolas" panose="020B0609020204030204" pitchFamily="49" charset="0"/>
                      </a:rPr>
                      <m:t>T</m:t>
                    </m:r>
                    <m:r>
                      <m:rPr>
                        <m:nor/>
                      </m:rPr>
                      <a:rPr lang="en-US" altLang="zh-CN" sz="2000" dirty="0" smtClean="0">
                        <a:solidFill>
                          <a:srgbClr val="0070C0"/>
                        </a:solidFill>
                        <a:latin typeface="Consolas" panose="020B0609020204030204" pitchFamily="49" charset="0"/>
                      </a:rPr>
                      <m:t>/(</m:t>
                    </m:r>
                    <m:r>
                      <m:rPr>
                        <m:nor/>
                      </m:rPr>
                      <a:rPr lang="en-US" altLang="zh-CN" sz="2000" dirty="0" smtClean="0">
                        <a:solidFill>
                          <a:srgbClr val="0070C0"/>
                        </a:solidFill>
                        <a:latin typeface="Consolas" panose="020B0609020204030204" pitchFamily="49" charset="0"/>
                      </a:rPr>
                      <m:t>v</m:t>
                    </m:r>
                    <m:r>
                      <m:rPr>
                        <m:nor/>
                      </m:rPr>
                      <a:rPr lang="en-US" altLang="zh-CN" sz="2000" dirty="0" smtClean="0">
                        <a:solidFill>
                          <a:srgbClr val="0070C0"/>
                        </a:solidFill>
                        <a:latin typeface="Consolas" panose="020B0609020204030204" pitchFamily="49" charset="0"/>
                      </a:rPr>
                      <m:t>−10^(−3)∗</m:t>
                    </m:r>
                    <m:r>
                      <m:rPr>
                        <m:nor/>
                      </m:rPr>
                      <a:rPr lang="en-US" altLang="zh-CN" sz="2000" dirty="0" smtClean="0">
                        <a:solidFill>
                          <a:srgbClr val="0070C0"/>
                        </a:solidFill>
                        <a:latin typeface="Consolas" panose="020B0609020204030204" pitchFamily="49" charset="0"/>
                      </a:rPr>
                      <m:t>b</m:t>
                    </m:r>
                    <m:r>
                      <m:rPr>
                        <m:nor/>
                      </m:rPr>
                      <a:rPr lang="en-US" altLang="zh-CN" sz="2000" dirty="0" smtClean="0">
                        <a:solidFill>
                          <a:srgbClr val="0070C0"/>
                        </a:solidFill>
                        <a:latin typeface="Consolas" panose="020B0609020204030204" pitchFamily="49" charset="0"/>
                      </a:rPr>
                      <m:t>)−0.1013</m:t>
                    </m:r>
                    <m:r>
                      <m:rPr>
                        <m:nor/>
                      </m:rPr>
                      <a:rPr lang="en-US" altLang="zh-CN" sz="2000" dirty="0" smtClean="0">
                        <a:solidFill>
                          <a:srgbClr val="0070C0"/>
                        </a:solidFill>
                        <a:latin typeface="Consolas" panose="020B0609020204030204" pitchFamily="49" charset="0"/>
                      </a:rPr>
                      <m:t>a</m:t>
                    </m:r>
                    <m:r>
                      <m:rPr>
                        <m:nor/>
                      </m:rPr>
                      <a:rPr lang="en-US" altLang="zh-CN" sz="2000" dirty="0" smtClean="0">
                        <a:solidFill>
                          <a:srgbClr val="0070C0"/>
                        </a:solidFill>
                        <a:latin typeface="Consolas" panose="020B0609020204030204" pitchFamily="49" charset="0"/>
                      </a:rPr>
                      <m:t>/(</m:t>
                    </m:r>
                    <m:r>
                      <m:rPr>
                        <m:nor/>
                      </m:rPr>
                      <a:rPr lang="en-US" altLang="zh-CN" sz="2000" dirty="0" smtClean="0">
                        <a:solidFill>
                          <a:srgbClr val="0070C0"/>
                        </a:solidFill>
                        <a:latin typeface="Consolas" panose="020B0609020204030204" pitchFamily="49" charset="0"/>
                      </a:rPr>
                      <m:t>v</m:t>
                    </m:r>
                    <m:r>
                      <m:rPr>
                        <m:nor/>
                      </m:rPr>
                      <a:rPr lang="en-US" altLang="zh-CN" sz="2000" dirty="0" smtClean="0">
                        <a:solidFill>
                          <a:srgbClr val="0070C0"/>
                        </a:solidFill>
                        <a:latin typeface="Consolas" panose="020B0609020204030204" pitchFamily="49" charset="0"/>
                      </a:rPr>
                      <m:t>^2)</m:t>
                    </m:r>
                    <m:r>
                      <a:rPr lang="zh-CN" altLang="en-US" sz="2000" i="1" dirty="0">
                        <a:solidFill>
                          <a:srgbClr val="0070C0"/>
                        </a:solidFill>
                        <a:latin typeface="Cambria Math" panose="02040503050406030204" pitchFamily="18" charset="0"/>
                      </a:rPr>
                      <m:t>，</m:t>
                    </m:r>
                  </m:oMath>
                </a14:m>
                <a:r>
                  <a:rPr lang="zh-CN" altLang="en-US" sz="2000" dirty="0">
                    <a:solidFill>
                      <a:srgbClr val="0070C0"/>
                    </a:solidFill>
                    <a:latin typeface="Helvetica" panose="020B0604020202020204" pitchFamily="34" charset="0"/>
                    <a:ea typeface="等线" panose="02010600030101010101" pitchFamily="2" charset="-122"/>
                    <a:cs typeface="Helvetica" panose="020B0604020202020204" pitchFamily="34" charset="0"/>
                  </a:rPr>
                  <a:t>其中常数</a:t>
                </a:r>
                <a:r>
                  <a:rPr lang="en-US" altLang="zh-CN" sz="2000" dirty="0">
                    <a:solidFill>
                      <a:srgbClr val="0070C0"/>
                    </a:solidFill>
                    <a:latin typeface="Consolas" panose="020B0609020204030204" pitchFamily="49" charset="0"/>
                  </a:rPr>
                  <a:t>a=3.96; b=0.043; </a:t>
                </a:r>
                <a:r>
                  <a:rPr lang="zh-CN" altLang="en-US" sz="2000" dirty="0">
                    <a:solidFill>
                      <a:srgbClr val="0070C0"/>
                    </a:solidFill>
                    <a:latin typeface="Consolas" panose="020B0609020204030204" pitchFamily="49" charset="0"/>
                  </a:rPr>
                  <a:t>温度</a:t>
                </a:r>
                <a:r>
                  <a:rPr lang="en-US" altLang="zh-CN" sz="2000" dirty="0">
                    <a:solidFill>
                      <a:srgbClr val="0070C0"/>
                    </a:solidFill>
                    <a:latin typeface="Consolas" panose="020B0609020204030204" pitchFamily="49" charset="0"/>
                  </a:rPr>
                  <a:t>T=300K,</a:t>
                </a:r>
                <a:r>
                  <a:rPr lang="zh-CN" altLang="en-US" sz="2000" dirty="0">
                    <a:solidFill>
                      <a:srgbClr val="0070C0"/>
                    </a:solidFill>
                    <a:latin typeface="Consolas" panose="020B0609020204030204" pitchFamily="49" charset="0"/>
                  </a:rPr>
                  <a:t>求压强</a:t>
                </a:r>
                <a:r>
                  <a:rPr lang="en-US" altLang="zh-CN" sz="2000" dirty="0">
                    <a:solidFill>
                      <a:srgbClr val="0070C0"/>
                    </a:solidFill>
                    <a:latin typeface="Consolas" panose="020B0609020204030204" pitchFamily="49" charset="0"/>
                  </a:rPr>
                  <a:t>p=5*10^6</a:t>
                </a:r>
                <a:r>
                  <a:rPr lang="zh-CN" altLang="en-US" sz="2000" dirty="0">
                    <a:solidFill>
                      <a:srgbClr val="0070C0"/>
                    </a:solidFill>
                    <a:latin typeface="Consolas" panose="020B0609020204030204" pitchFamily="49" charset="0"/>
                  </a:rPr>
                  <a:t>时的体积</a:t>
                </a:r>
                <a:r>
                  <a:rPr lang="en-US" altLang="zh-CN" sz="2000" dirty="0">
                    <a:solidFill>
                      <a:srgbClr val="0070C0"/>
                    </a:solidFill>
                    <a:latin typeface="Consolas" panose="020B0609020204030204" pitchFamily="49" charset="0"/>
                  </a:rPr>
                  <a:t>v </a:t>
                </a:r>
                <a:r>
                  <a:rPr lang="zh-CN" altLang="en-US" sz="2000" dirty="0">
                    <a:solidFill>
                      <a:srgbClr val="0070C0"/>
                    </a:solidFill>
                    <a:latin typeface="Consolas" panose="020B0609020204030204" pitchFamily="49" charset="0"/>
                  </a:rPr>
                  <a:t>，体积初始值设为</a:t>
                </a:r>
                <a:r>
                  <a:rPr lang="zh-CN" altLang="en-US" sz="2000" dirty="0">
                    <a:solidFill>
                      <a:srgbClr val="0070C0"/>
                    </a:solidFill>
                  </a:rPr>
                  <a:t>3.3e-4</a:t>
                </a:r>
              </a:p>
              <a:p>
                <a:endParaRPr lang="zh-CN" altLang="en-US" sz="2000" dirty="0">
                  <a:solidFill>
                    <a:schemeClr val="tx1">
                      <a:lumMod val="50000"/>
                      <a:lumOff val="50000"/>
                    </a:schemeClr>
                  </a:solidFill>
                </a:endParaRPr>
              </a:p>
            </p:txBody>
          </p:sp>
        </mc:Choice>
        <mc:Fallback xmlns="">
          <p:sp>
            <p:nvSpPr>
              <p:cNvPr id="16" name="文本框 15">
                <a:extLst>
                  <a:ext uri="{FF2B5EF4-FFF2-40B4-BE49-F238E27FC236}">
                    <a16:creationId xmlns:a16="http://schemas.microsoft.com/office/drawing/2014/main" id="{D094BB57-5E83-48FF-A3FA-C537B1C941CE}"/>
                  </a:ext>
                </a:extLst>
              </p:cNvPr>
              <p:cNvSpPr txBox="1">
                <a:spLocks noRot="1" noChangeAspect="1" noMove="1" noResize="1" noEditPoints="1" noAdjustHandles="1" noChangeArrowheads="1" noChangeShapeType="1" noTextEdit="1"/>
              </p:cNvSpPr>
              <p:nvPr/>
            </p:nvSpPr>
            <p:spPr>
              <a:xfrm>
                <a:off x="60746" y="3497820"/>
                <a:ext cx="9083253" cy="1092607"/>
              </a:xfrm>
              <a:prstGeom prst="rect">
                <a:avLst/>
              </a:prstGeom>
              <a:blipFill>
                <a:blip r:embed="rId4"/>
                <a:stretch>
                  <a:fillRect l="-738" t="-1676" r="-3691"/>
                </a:stretch>
              </a:blipFill>
            </p:spPr>
            <p:txBody>
              <a:bodyPr/>
              <a:lstStyle/>
              <a:p>
                <a:r>
                  <a:rPr lang="zh-CN" altLang="en-US">
                    <a:noFill/>
                  </a:rPr>
                  <a:t> </a:t>
                </a:r>
              </a:p>
            </p:txBody>
          </p:sp>
        </mc:Fallback>
      </mc:AlternateContent>
      <p:sp>
        <p:nvSpPr>
          <p:cNvPr id="17" name="文本框 16">
            <a:extLst>
              <a:ext uri="{FF2B5EF4-FFF2-40B4-BE49-F238E27FC236}">
                <a16:creationId xmlns:a16="http://schemas.microsoft.com/office/drawing/2014/main" id="{FF73F54B-4A52-4390-8B03-E341D537AAE1}"/>
              </a:ext>
            </a:extLst>
          </p:cNvPr>
          <p:cNvSpPr txBox="1"/>
          <p:nvPr/>
        </p:nvSpPr>
        <p:spPr>
          <a:xfrm>
            <a:off x="4969868" y="2998631"/>
            <a:ext cx="4199796" cy="369332"/>
          </a:xfrm>
          <a:prstGeom prst="rect">
            <a:avLst/>
          </a:prstGeom>
          <a:noFill/>
        </p:spPr>
        <p:txBody>
          <a:bodyPr wrap="square">
            <a:spAutoFit/>
          </a:bodyPr>
          <a:lstStyle/>
          <a:p>
            <a:r>
              <a:rPr lang="zh-CN" altLang="en-US" sz="1800" b="1" dirty="0">
                <a:solidFill>
                  <a:srgbClr val="0070C0"/>
                </a:solidFill>
                <a:effectLst/>
                <a:latin typeface="Helvetica" panose="020B0604020202020204" pitchFamily="34" charset="0"/>
                <a:ea typeface="等线" panose="02010600030101010101" pitchFamily="2" charset="-122"/>
                <a:cs typeface="Helvetica" panose="020B0604020202020204" pitchFamily="34" charset="0"/>
              </a:rPr>
              <a:t>压力</a:t>
            </a:r>
            <a:r>
              <a:rPr lang="en-US" altLang="zh-CN" sz="1800" b="1" dirty="0">
                <a:solidFill>
                  <a:srgbClr val="0070C0"/>
                </a:solidFill>
                <a:effectLst/>
                <a:latin typeface="Helvetica" panose="020B0604020202020204" pitchFamily="34" charset="0"/>
                <a:ea typeface="等线" panose="02010600030101010101" pitchFamily="2" charset="-122"/>
                <a:cs typeface="Helvetica" panose="020B0604020202020204" pitchFamily="34" charset="0"/>
              </a:rPr>
              <a:t>p</a:t>
            </a:r>
            <a:r>
              <a:rPr lang="zh-CN" altLang="en-US" sz="1800" b="1" dirty="0">
                <a:solidFill>
                  <a:srgbClr val="0070C0"/>
                </a:solidFill>
                <a:effectLst/>
                <a:latin typeface="Helvetica" panose="020B0604020202020204" pitchFamily="34" charset="0"/>
                <a:ea typeface="等线" panose="02010600030101010101" pitchFamily="2" charset="-122"/>
                <a:cs typeface="Helvetica" panose="020B0604020202020204" pitchFamily="34" charset="0"/>
              </a:rPr>
              <a:t>，体积</a:t>
            </a:r>
            <a:r>
              <a:rPr lang="en-US" altLang="zh-CN" sz="1800" b="1" dirty="0">
                <a:solidFill>
                  <a:srgbClr val="0070C0"/>
                </a:solidFill>
                <a:effectLst/>
                <a:latin typeface="Helvetica" panose="020B0604020202020204" pitchFamily="34" charset="0"/>
                <a:ea typeface="等线" panose="02010600030101010101" pitchFamily="2" charset="-122"/>
                <a:cs typeface="Helvetica" panose="020B0604020202020204" pitchFamily="34" charset="0"/>
              </a:rPr>
              <a:t>v</a:t>
            </a:r>
            <a:r>
              <a:rPr lang="en-US" altLang="zh-CN" b="1" dirty="0">
                <a:solidFill>
                  <a:srgbClr val="0070C0"/>
                </a:solidFill>
                <a:latin typeface="Helvetica" panose="020B0604020202020204" pitchFamily="34" charset="0"/>
                <a:ea typeface="等线" panose="02010600030101010101" pitchFamily="2" charset="-122"/>
                <a:cs typeface="Helvetica" panose="020B0604020202020204" pitchFamily="34" charset="0"/>
              </a:rPr>
              <a:t>,</a:t>
            </a:r>
            <a:r>
              <a:rPr lang="zh-CN" altLang="en-US" sz="1800" b="1" dirty="0">
                <a:solidFill>
                  <a:srgbClr val="0070C0"/>
                </a:solidFill>
                <a:effectLst/>
                <a:latin typeface="Helvetica" panose="020B0604020202020204" pitchFamily="34" charset="0"/>
                <a:ea typeface="等线" panose="02010600030101010101" pitchFamily="2" charset="-122"/>
                <a:cs typeface="Helvetica" panose="020B0604020202020204" pitchFamily="34" charset="0"/>
              </a:rPr>
              <a:t>温度</a:t>
            </a:r>
            <a:r>
              <a:rPr lang="en-US" altLang="zh-CN" sz="1800" b="1" dirty="0">
                <a:solidFill>
                  <a:srgbClr val="0070C0"/>
                </a:solidFill>
                <a:effectLst/>
                <a:latin typeface="Helvetica" panose="020B0604020202020204" pitchFamily="34" charset="0"/>
                <a:ea typeface="等线" panose="02010600030101010101" pitchFamily="2" charset="-122"/>
                <a:cs typeface="Helvetica" panose="020B0604020202020204" pitchFamily="34" charset="0"/>
              </a:rPr>
              <a:t>T,</a:t>
            </a:r>
            <a:r>
              <a:rPr lang="zh-CN" altLang="en-US" sz="1800" b="1" dirty="0">
                <a:solidFill>
                  <a:srgbClr val="0070C0"/>
                </a:solidFill>
                <a:effectLst/>
                <a:latin typeface="Helvetica" panose="020B0604020202020204" pitchFamily="34" charset="0"/>
                <a:ea typeface="等线" panose="02010600030101010101" pitchFamily="2" charset="-122"/>
                <a:cs typeface="Helvetica" panose="020B0604020202020204" pitchFamily="34" charset="0"/>
              </a:rPr>
              <a:t> 摩尔数</a:t>
            </a:r>
            <a:r>
              <a:rPr lang="en-US" altLang="zh-CN" sz="1800" b="1" dirty="0">
                <a:solidFill>
                  <a:srgbClr val="0070C0"/>
                </a:solidFill>
                <a:effectLst/>
                <a:latin typeface="Helvetica" panose="020B0604020202020204" pitchFamily="34" charset="0"/>
                <a:ea typeface="等线" panose="02010600030101010101" pitchFamily="2" charset="-122"/>
                <a:cs typeface="Helvetica" panose="020B0604020202020204" pitchFamily="34" charset="0"/>
              </a:rPr>
              <a:t>n,</a:t>
            </a:r>
            <a:r>
              <a:rPr lang="zh-CN" altLang="en-US" sz="1800" b="1" dirty="0">
                <a:solidFill>
                  <a:srgbClr val="0070C0"/>
                </a:solidFill>
                <a:effectLst/>
                <a:latin typeface="Helvetica" panose="020B0604020202020204" pitchFamily="34" charset="0"/>
                <a:ea typeface="等线" panose="02010600030101010101" pitchFamily="2" charset="-122"/>
                <a:cs typeface="Helvetica" panose="020B0604020202020204" pitchFamily="34" charset="0"/>
              </a:rPr>
              <a:t>常数</a:t>
            </a:r>
            <a:r>
              <a:rPr lang="en-US" altLang="zh-CN" sz="1800" b="1" dirty="0">
                <a:solidFill>
                  <a:srgbClr val="0070C0"/>
                </a:solidFill>
                <a:effectLst/>
                <a:latin typeface="Helvetica" panose="020B0604020202020204" pitchFamily="34" charset="0"/>
                <a:ea typeface="等线" panose="02010600030101010101" pitchFamily="2" charset="-122"/>
                <a:cs typeface="Helvetica" panose="020B0604020202020204" pitchFamily="34" charset="0"/>
              </a:rPr>
              <a:t>a</a:t>
            </a:r>
            <a:r>
              <a:rPr lang="zh-CN" altLang="en-US" sz="1800" b="1" dirty="0">
                <a:solidFill>
                  <a:srgbClr val="0070C0"/>
                </a:solidFill>
                <a:effectLst/>
                <a:latin typeface="Helvetica" panose="020B0604020202020204" pitchFamily="34" charset="0"/>
                <a:ea typeface="等线" panose="02010600030101010101" pitchFamily="2" charset="-122"/>
                <a:cs typeface="Helvetica" panose="020B0604020202020204" pitchFamily="34" charset="0"/>
              </a:rPr>
              <a:t>和</a:t>
            </a:r>
            <a:r>
              <a:rPr lang="en-US" altLang="zh-CN" sz="1800" b="1" dirty="0">
                <a:solidFill>
                  <a:srgbClr val="0070C0"/>
                </a:solidFill>
                <a:effectLst/>
                <a:latin typeface="Helvetica" panose="020B0604020202020204" pitchFamily="34" charset="0"/>
                <a:ea typeface="等线" panose="02010600030101010101" pitchFamily="2" charset="-122"/>
                <a:cs typeface="Helvetica" panose="020B0604020202020204" pitchFamily="34" charset="0"/>
              </a:rPr>
              <a:t>b</a:t>
            </a:r>
            <a:endParaRPr lang="zh-CN" altLang="en-US" b="1" dirty="0">
              <a:solidFill>
                <a:srgbClr val="0070C0"/>
              </a:solidFill>
            </a:endParaRPr>
          </a:p>
        </p:txBody>
      </p:sp>
      <p:sp>
        <p:nvSpPr>
          <p:cNvPr id="18" name="波形 17">
            <a:extLst>
              <a:ext uri="{FF2B5EF4-FFF2-40B4-BE49-F238E27FC236}">
                <a16:creationId xmlns:a16="http://schemas.microsoft.com/office/drawing/2014/main" id="{A5DCBDE3-CB2B-418B-83A8-990FE0A3719C}"/>
              </a:ext>
            </a:extLst>
          </p:cNvPr>
          <p:cNvSpPr/>
          <p:nvPr/>
        </p:nvSpPr>
        <p:spPr>
          <a:xfrm>
            <a:off x="134298" y="3026269"/>
            <a:ext cx="910853" cy="438150"/>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charset="-122"/>
                <a:ea typeface="微软雅黑" panose="020B0503020204020204" charset="-122"/>
              </a:rPr>
              <a:t>例85-1</a:t>
            </a:r>
            <a:endParaRPr lang="ko-KR" altLang="en-US" b="1" dirty="0">
              <a:solidFill>
                <a:srgbClr val="FFFF00"/>
              </a:solidFill>
              <a:latin typeface="微软雅黑" panose="020B0503020204020204" charset="-122"/>
              <a:ea typeface="微软雅黑" panose="020B0503020204020204" charset="-122"/>
            </a:endParaRPr>
          </a:p>
        </p:txBody>
      </p:sp>
      <p:sp>
        <p:nvSpPr>
          <p:cNvPr id="19" name="波形 18">
            <a:extLst>
              <a:ext uri="{FF2B5EF4-FFF2-40B4-BE49-F238E27FC236}">
                <a16:creationId xmlns:a16="http://schemas.microsoft.com/office/drawing/2014/main" id="{78062DD6-5FB8-4058-BFB3-CA07B4B0DABA}"/>
              </a:ext>
            </a:extLst>
          </p:cNvPr>
          <p:cNvSpPr/>
          <p:nvPr/>
        </p:nvSpPr>
        <p:spPr>
          <a:xfrm>
            <a:off x="107504" y="4243022"/>
            <a:ext cx="1026542" cy="438150"/>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zh-CN" altLang="en-US" sz="1400" b="1" dirty="0">
                <a:solidFill>
                  <a:srgbClr val="FFFF00"/>
                </a:solidFill>
                <a:latin typeface="微软雅黑" panose="020B0503020204020204" charset="-122"/>
                <a:ea typeface="微软雅黑" panose="020B0503020204020204" charset="-122"/>
              </a:rPr>
              <a:t>课堂练习</a:t>
            </a:r>
            <a:endParaRPr lang="ko-KR" altLang="en-US" sz="1400" b="1" dirty="0">
              <a:solidFill>
                <a:srgbClr val="FFFF00"/>
              </a:solidFill>
              <a:latin typeface="微软雅黑" panose="020B0503020204020204" charset="-122"/>
              <a:ea typeface="微软雅黑" panose="020B0503020204020204" charset="-122"/>
            </a:endParaRPr>
          </a:p>
        </p:txBody>
      </p:sp>
      <p:sp>
        <p:nvSpPr>
          <p:cNvPr id="21" name="文本框 20">
            <a:extLst>
              <a:ext uri="{FF2B5EF4-FFF2-40B4-BE49-F238E27FC236}">
                <a16:creationId xmlns:a16="http://schemas.microsoft.com/office/drawing/2014/main" id="{10CF5197-F03A-487B-9E31-2813732861A3}"/>
              </a:ext>
            </a:extLst>
          </p:cNvPr>
          <p:cNvSpPr txBox="1"/>
          <p:nvPr/>
        </p:nvSpPr>
        <p:spPr>
          <a:xfrm>
            <a:off x="1103977" y="4271662"/>
            <a:ext cx="8146453" cy="369332"/>
          </a:xfrm>
          <a:prstGeom prst="rect">
            <a:avLst/>
          </a:prstGeom>
          <a:noFill/>
        </p:spPr>
        <p:txBody>
          <a:bodyPr wrap="square">
            <a:spAutoFit/>
          </a:bodyPr>
          <a:lstStyle/>
          <a:p>
            <a:pPr algn="dist"/>
            <a:r>
              <a:rPr lang="zh-CN" altLang="en-US" b="1" dirty="0">
                <a:solidFill>
                  <a:srgbClr val="0070C0"/>
                </a:solidFill>
                <a:effectLst/>
                <a:latin typeface="微软雅黑" panose="020B0503020204020204" pitchFamily="34" charset="-122"/>
                <a:ea typeface="微软雅黑" panose="020B0503020204020204" pitchFamily="34" charset="-122"/>
              </a:rPr>
              <a:t>请练习体积初始值</a:t>
            </a:r>
            <a:r>
              <a:rPr lang="zh-CN" altLang="en-US" b="1" dirty="0">
                <a:solidFill>
                  <a:srgbClr val="0070C0"/>
                </a:solidFill>
                <a:latin typeface="微软雅黑" panose="020B0503020204020204" pitchFamily="34" charset="-122"/>
                <a:ea typeface="微软雅黑" panose="020B0503020204020204" pitchFamily="34" charset="-122"/>
              </a:rPr>
              <a:t>分别</a:t>
            </a:r>
            <a:r>
              <a:rPr lang="zh-CN" altLang="en-US" b="1" dirty="0">
                <a:solidFill>
                  <a:srgbClr val="0070C0"/>
                </a:solidFill>
                <a:effectLst/>
                <a:latin typeface="微软雅黑" panose="020B0503020204020204" pitchFamily="34" charset="-122"/>
                <a:ea typeface="微软雅黑" panose="020B0503020204020204" pitchFamily="34" charset="-122"/>
              </a:rPr>
              <a:t>设为</a:t>
            </a:r>
            <a:r>
              <a:rPr lang="en-US" altLang="zh-CN" b="1" dirty="0">
                <a:solidFill>
                  <a:srgbClr val="0070C0"/>
                </a:solidFill>
                <a:effectLst/>
                <a:latin typeface="微软雅黑" panose="020B0503020204020204" pitchFamily="34" charset="-122"/>
                <a:ea typeface="微软雅黑" panose="020B0503020204020204" pitchFamily="34" charset="-122"/>
              </a:rPr>
              <a:t>v0=</a:t>
            </a:r>
            <a:r>
              <a:rPr lang="zh-CN" altLang="en-US" dirty="0">
                <a:solidFill>
                  <a:srgbClr val="0070C0"/>
                </a:solidFill>
              </a:rPr>
              <a:t> 3.3 </a:t>
            </a:r>
            <a:r>
              <a:rPr lang="en-US" altLang="zh-CN" b="1" dirty="0">
                <a:solidFill>
                  <a:srgbClr val="0070C0"/>
                </a:solidFill>
                <a:effectLst/>
                <a:latin typeface="微软雅黑" panose="020B0503020204020204" pitchFamily="34" charset="-122"/>
                <a:ea typeface="微软雅黑" panose="020B0503020204020204" pitchFamily="34" charset="-122"/>
              </a:rPr>
              <a:t>e-5</a:t>
            </a:r>
            <a:r>
              <a:rPr lang="zh-CN" altLang="en-US" b="1" dirty="0">
                <a:solidFill>
                  <a:srgbClr val="0070C0"/>
                </a:solidFill>
                <a:effectLst/>
                <a:latin typeface="微软雅黑" panose="020B0503020204020204" pitchFamily="34" charset="-122"/>
                <a:ea typeface="微软雅黑" panose="020B0503020204020204" pitchFamily="34" charset="-122"/>
              </a:rPr>
              <a:t>和</a:t>
            </a:r>
            <a:r>
              <a:rPr lang="zh-CN" altLang="en-US" dirty="0">
                <a:solidFill>
                  <a:srgbClr val="0070C0"/>
                </a:solidFill>
              </a:rPr>
              <a:t>3.3 </a:t>
            </a:r>
            <a:r>
              <a:rPr lang="en-US" altLang="zh-CN" b="1" dirty="0">
                <a:solidFill>
                  <a:srgbClr val="0070C0"/>
                </a:solidFill>
                <a:effectLst/>
                <a:latin typeface="微软雅黑" panose="020B0503020204020204" pitchFamily="34" charset="-122"/>
                <a:ea typeface="微软雅黑" panose="020B0503020204020204" pitchFamily="34" charset="-122"/>
              </a:rPr>
              <a:t>e-2</a:t>
            </a:r>
            <a:r>
              <a:rPr lang="zh-CN" altLang="en-US" b="1" dirty="0">
                <a:solidFill>
                  <a:srgbClr val="0070C0"/>
                </a:solidFill>
                <a:effectLst/>
                <a:latin typeface="微软雅黑" panose="020B0503020204020204" pitchFamily="34" charset="-122"/>
                <a:ea typeface="微软雅黑" panose="020B0503020204020204" pitchFamily="34" charset="-122"/>
              </a:rPr>
              <a:t>时，</a:t>
            </a:r>
            <a:r>
              <a:rPr lang="zh-CN" altLang="en-US" b="1" dirty="0">
                <a:solidFill>
                  <a:srgbClr val="0070C0"/>
                </a:solidFill>
                <a:latin typeface="微软雅黑" panose="020B0503020204020204" pitchFamily="34" charset="-122"/>
                <a:ea typeface="微软雅黑" panose="020B0503020204020204" pitchFamily="34" charset="-122"/>
              </a:rPr>
              <a:t>求压强</a:t>
            </a:r>
            <a:r>
              <a:rPr lang="en-US" altLang="zh-CN" b="1" dirty="0">
                <a:solidFill>
                  <a:srgbClr val="0070C0"/>
                </a:solidFill>
                <a:latin typeface="微软雅黑" panose="020B0503020204020204" pitchFamily="34" charset="-122"/>
                <a:ea typeface="微软雅黑" panose="020B0503020204020204" pitchFamily="34" charset="-122"/>
              </a:rPr>
              <a:t>p=5e6</a:t>
            </a:r>
            <a:r>
              <a:rPr lang="zh-CN" altLang="en-US" b="1" dirty="0">
                <a:solidFill>
                  <a:srgbClr val="0070C0"/>
                </a:solidFill>
                <a:latin typeface="微软雅黑" panose="020B0503020204020204" pitchFamily="34" charset="-122"/>
                <a:ea typeface="微软雅黑" panose="020B0503020204020204" pitchFamily="34" charset="-122"/>
              </a:rPr>
              <a:t>时的体积</a:t>
            </a:r>
            <a:r>
              <a:rPr lang="en-US" altLang="zh-CN" b="1" dirty="0">
                <a:solidFill>
                  <a:srgbClr val="0070C0"/>
                </a:solidFill>
                <a:latin typeface="微软雅黑" panose="020B0503020204020204" pitchFamily="34" charset="-122"/>
                <a:ea typeface="微软雅黑" panose="020B0503020204020204" pitchFamily="34" charset="-122"/>
              </a:rPr>
              <a:t>v </a:t>
            </a:r>
            <a:endParaRPr lang="zh-CN" altLang="en-US"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33897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7" grpId="0"/>
      <p:bldP spid="18" grpId="0" animBg="1"/>
      <p:bldP spid="19" grpId="0" animBg="1"/>
      <p:bldP spid="2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9E7635A9-BB95-4463-B99B-B417162E4646}"/>
              </a:ext>
            </a:extLst>
          </p:cNvPr>
          <p:cNvSpPr txBox="1"/>
          <p:nvPr/>
        </p:nvSpPr>
        <p:spPr>
          <a:xfrm>
            <a:off x="208031" y="679592"/>
            <a:ext cx="8842967" cy="1769843"/>
          </a:xfrm>
          <a:prstGeom prst="rect">
            <a:avLst/>
          </a:prstGeom>
          <a:solidFill>
            <a:schemeClr val="bg1"/>
          </a:solidFill>
        </p:spPr>
        <p:txBody>
          <a:bodyPr wrap="square">
            <a:spAutoFit/>
          </a:bodyPr>
          <a:lstStyle/>
          <a:p>
            <a:pPr>
              <a:lnSpc>
                <a:spcPts val="2200"/>
              </a:lnSpc>
            </a:pPr>
            <a:r>
              <a:rPr lang="en-US" altLang="zh-CN" dirty="0">
                <a:solidFill>
                  <a:srgbClr val="795E26"/>
                </a:solidFill>
                <a:latin typeface="Consolas" panose="020B0609020204030204" pitchFamily="49" charset="0"/>
              </a:rPr>
              <a:t>p</a:t>
            </a:r>
            <a:r>
              <a:rPr lang="en-US" altLang="zh-CN" dirty="0">
                <a:solidFill>
                  <a:srgbClr val="000000"/>
                </a:solidFill>
                <a:latin typeface="Consolas" panose="020B0609020204030204" pitchFamily="49" charset="0"/>
              </a:rPr>
              <a:t>(v)=</a:t>
            </a:r>
            <a:r>
              <a:rPr lang="en-US" altLang="zh-CN" dirty="0">
                <a:solidFill>
                  <a:srgbClr val="098658"/>
                </a:solidFill>
                <a:latin typeface="Consolas" panose="020B0609020204030204" pitchFamily="49" charset="0"/>
              </a:rPr>
              <a:t>8.314</a:t>
            </a:r>
            <a:r>
              <a:rPr lang="en-US" altLang="zh-CN" dirty="0">
                <a:solidFill>
                  <a:srgbClr val="000000"/>
                </a:solidFill>
                <a:latin typeface="Consolas" panose="020B0609020204030204" pitchFamily="49" charset="0"/>
              </a:rPr>
              <a:t>T/(v-</a:t>
            </a:r>
            <a:r>
              <a:rPr lang="en-US" altLang="zh-CN" dirty="0">
                <a:solidFill>
                  <a:srgbClr val="098658"/>
                </a:solidFill>
                <a:latin typeface="Consolas" panose="020B0609020204030204" pitchFamily="49" charset="0"/>
              </a:rPr>
              <a:t>10</a:t>
            </a:r>
            <a:r>
              <a:rPr lang="en-US" altLang="zh-CN" dirty="0">
                <a:solidFill>
                  <a:srgbClr val="000000"/>
                </a:solidFill>
                <a:latin typeface="Consolas" panose="020B0609020204030204" pitchFamily="49" charset="0"/>
              </a:rPr>
              <a:t>^(-</a:t>
            </a:r>
            <a:r>
              <a:rPr lang="en-US" altLang="zh-CN" dirty="0">
                <a:solidFill>
                  <a:srgbClr val="098658"/>
                </a:solidFill>
                <a:latin typeface="Consolas" panose="020B0609020204030204" pitchFamily="49" charset="0"/>
              </a:rPr>
              <a:t>3</a:t>
            </a:r>
            <a:r>
              <a:rPr lang="en-US" altLang="zh-CN" dirty="0">
                <a:solidFill>
                  <a:srgbClr val="000000"/>
                </a:solidFill>
                <a:latin typeface="Consolas" panose="020B0609020204030204" pitchFamily="49" charset="0"/>
              </a:rPr>
              <a:t>)*b)-</a:t>
            </a:r>
            <a:r>
              <a:rPr lang="en-US" altLang="zh-CN" dirty="0">
                <a:solidFill>
                  <a:srgbClr val="098658"/>
                </a:solidFill>
                <a:latin typeface="Consolas" panose="020B0609020204030204" pitchFamily="49" charset="0"/>
              </a:rPr>
              <a:t>0.1013</a:t>
            </a:r>
            <a:r>
              <a:rPr lang="en-US" altLang="zh-CN" dirty="0">
                <a:solidFill>
                  <a:srgbClr val="000000"/>
                </a:solidFill>
                <a:latin typeface="Consolas" panose="020B0609020204030204" pitchFamily="49" charset="0"/>
              </a:rPr>
              <a:t>a/(v^</a:t>
            </a:r>
            <a:r>
              <a:rPr lang="en-US" altLang="zh-CN" dirty="0">
                <a:solidFill>
                  <a:srgbClr val="098658"/>
                </a:solidFill>
                <a:latin typeface="Consolas" panose="020B0609020204030204" pitchFamily="49" charset="0"/>
              </a:rPr>
              <a:t>2</a:t>
            </a:r>
            <a:r>
              <a:rPr lang="en-US" altLang="zh-CN"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非线性方程</a:t>
            </a:r>
            <a:endParaRPr lang="zh-CN" altLang="en-US" dirty="0">
              <a:solidFill>
                <a:srgbClr val="000000"/>
              </a:solidFill>
              <a:latin typeface="Consolas" panose="020B0609020204030204" pitchFamily="49" charset="0"/>
            </a:endParaRPr>
          </a:p>
          <a:p>
            <a:pPr>
              <a:lnSpc>
                <a:spcPts val="2200"/>
              </a:lnSpc>
            </a:pPr>
            <a:r>
              <a:rPr lang="en-US" altLang="zh-CN" dirty="0">
                <a:solidFill>
                  <a:srgbClr val="000000"/>
                </a:solidFill>
                <a:latin typeface="Consolas" panose="020B0609020204030204" pitchFamily="49" charset="0"/>
              </a:rPr>
              <a:t>a=</a:t>
            </a:r>
            <a:r>
              <a:rPr lang="en-US" altLang="zh-CN" dirty="0">
                <a:solidFill>
                  <a:srgbClr val="098658"/>
                </a:solidFill>
                <a:latin typeface="Consolas" panose="020B0609020204030204" pitchFamily="49" charset="0"/>
              </a:rPr>
              <a:t>3.96</a:t>
            </a:r>
            <a:r>
              <a:rPr lang="en-US" altLang="zh-CN" dirty="0">
                <a:solidFill>
                  <a:srgbClr val="000000"/>
                </a:solidFill>
                <a:latin typeface="Consolas" panose="020B0609020204030204" pitchFamily="49" charset="0"/>
              </a:rPr>
              <a:t>;b=</a:t>
            </a:r>
            <a:r>
              <a:rPr lang="en-US" altLang="zh-CN" dirty="0">
                <a:solidFill>
                  <a:srgbClr val="098658"/>
                </a:solidFill>
                <a:latin typeface="Consolas" panose="020B0609020204030204" pitchFamily="49" charset="0"/>
              </a:rPr>
              <a:t>0.043</a:t>
            </a:r>
            <a:r>
              <a:rPr lang="en-US" altLang="zh-CN" dirty="0">
                <a:solidFill>
                  <a:srgbClr val="000000"/>
                </a:solidFill>
                <a:latin typeface="Consolas" panose="020B0609020204030204" pitchFamily="49" charset="0"/>
              </a:rPr>
              <a:t>;</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气体的一些常数</a:t>
            </a:r>
            <a:endParaRPr lang="zh-CN" altLang="en-US" dirty="0">
              <a:solidFill>
                <a:srgbClr val="000000"/>
              </a:solidFill>
              <a:latin typeface="Consolas" panose="020B0609020204030204" pitchFamily="49" charset="0"/>
            </a:endParaRPr>
          </a:p>
          <a:p>
            <a:pPr>
              <a:lnSpc>
                <a:spcPts val="2200"/>
              </a:lnSpc>
            </a:pPr>
            <a:r>
              <a:rPr lang="en-US" altLang="zh-CN" dirty="0">
                <a:solidFill>
                  <a:srgbClr val="000000"/>
                </a:solidFill>
                <a:latin typeface="Consolas" panose="020B0609020204030204" pitchFamily="49" charset="0"/>
              </a:rPr>
              <a:t>T=</a:t>
            </a:r>
            <a:r>
              <a:rPr lang="en-US" altLang="zh-CN" dirty="0">
                <a:solidFill>
                  <a:srgbClr val="098658"/>
                </a:solidFill>
                <a:latin typeface="Consolas" panose="020B0609020204030204" pitchFamily="49" charset="0"/>
              </a:rPr>
              <a:t>300</a:t>
            </a:r>
            <a:r>
              <a:rPr lang="en-US" altLang="zh-CN" dirty="0">
                <a:solidFill>
                  <a:srgbClr val="000000"/>
                </a:solidFill>
                <a:latin typeface="Consolas" panose="020B0609020204030204" pitchFamily="49" charset="0"/>
              </a:rPr>
              <a:t>;</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温度</a:t>
            </a:r>
            <a:endParaRPr lang="zh-CN" altLang="en-US" dirty="0">
              <a:solidFill>
                <a:srgbClr val="000000"/>
              </a:solidFill>
              <a:latin typeface="Consolas" panose="020B0609020204030204" pitchFamily="49" charset="0"/>
            </a:endParaRPr>
          </a:p>
          <a:p>
            <a:pPr>
              <a:lnSpc>
                <a:spcPts val="2200"/>
              </a:lnSpc>
            </a:pPr>
            <a:r>
              <a:rPr lang="en-US" altLang="zh-CN" b="1" dirty="0">
                <a:solidFill>
                  <a:srgbClr val="FF0000"/>
                </a:solidFill>
                <a:latin typeface="Consolas" panose="020B0609020204030204" pitchFamily="49" charset="0"/>
              </a:rPr>
              <a:t>ff(v)=p(v)-5e6 #</a:t>
            </a:r>
            <a:r>
              <a:rPr lang="zh-CN" altLang="en-US" b="1" dirty="0">
                <a:solidFill>
                  <a:srgbClr val="FF0000"/>
                </a:solidFill>
                <a:latin typeface="Consolas" panose="020B0609020204030204" pitchFamily="49" charset="0"/>
              </a:rPr>
              <a:t>建立求根的非线性方程</a:t>
            </a:r>
            <a:r>
              <a:rPr lang="en-US" altLang="zh-CN" b="1" dirty="0">
                <a:solidFill>
                  <a:srgbClr val="FF0000"/>
                </a:solidFill>
                <a:latin typeface="Consolas" panose="020B0609020204030204" pitchFamily="49" charset="0"/>
              </a:rPr>
              <a:t>ff(v)=0</a:t>
            </a:r>
          </a:p>
          <a:p>
            <a:pPr>
              <a:lnSpc>
                <a:spcPts val="2200"/>
              </a:lnSpc>
            </a:pPr>
            <a:r>
              <a:rPr lang="zh-CN" altLang="en-US" b="1" dirty="0">
                <a:solidFill>
                  <a:srgbClr val="0070C0"/>
                </a:solidFill>
                <a:latin typeface="Consolas" panose="020B0609020204030204" pitchFamily="49" charset="0"/>
              </a:rPr>
              <a:t>vv,fvv,ex=fzero(ff,3.3e-4,optimset(Display="iter"))    </a:t>
            </a:r>
            <a:endParaRPr lang="en-US" altLang="zh-CN" b="1" dirty="0">
              <a:solidFill>
                <a:srgbClr val="0070C0"/>
              </a:solidFill>
              <a:latin typeface="Consolas" panose="020B0609020204030204" pitchFamily="49" charset="0"/>
            </a:endParaRPr>
          </a:p>
          <a:p>
            <a:pPr>
              <a:lnSpc>
                <a:spcPts val="2200"/>
              </a:lnSpc>
            </a:pPr>
            <a:r>
              <a:rPr lang="en-US" altLang="zh-CN" b="0" dirty="0" err="1">
                <a:solidFill>
                  <a:srgbClr val="00B0F0"/>
                </a:solidFill>
                <a:effectLst/>
                <a:latin typeface="Consolas" panose="020B0609020204030204" pitchFamily="49" charset="0"/>
              </a:rPr>
              <a:t>println</a:t>
            </a:r>
            <a:r>
              <a:rPr lang="en-US" altLang="zh-CN" b="0" dirty="0">
                <a:solidFill>
                  <a:srgbClr val="00B0F0"/>
                </a:solidFill>
                <a:effectLst/>
                <a:latin typeface="Consolas" panose="020B0609020204030204" pitchFamily="49" charset="0"/>
              </a:rPr>
              <a:t>("</a:t>
            </a:r>
            <a:r>
              <a:rPr lang="zh-CN" altLang="en-US" b="0" dirty="0">
                <a:solidFill>
                  <a:srgbClr val="00B0F0"/>
                </a:solidFill>
                <a:effectLst/>
                <a:latin typeface="Consolas" panose="020B0609020204030204" pitchFamily="49" charset="0"/>
              </a:rPr>
              <a:t>根</a:t>
            </a:r>
            <a:r>
              <a:rPr lang="en-US" altLang="zh-CN" b="0" dirty="0" err="1">
                <a:solidFill>
                  <a:srgbClr val="00B0F0"/>
                </a:solidFill>
                <a:effectLst/>
                <a:latin typeface="Consolas" panose="020B0609020204030204" pitchFamily="49" charset="0"/>
              </a:rPr>
              <a:t>vv</a:t>
            </a:r>
            <a:r>
              <a:rPr lang="en-US" altLang="zh-CN" b="0" dirty="0">
                <a:solidFill>
                  <a:srgbClr val="00B0F0"/>
                </a:solidFill>
                <a:effectLst/>
                <a:latin typeface="Consolas" panose="020B0609020204030204" pitchFamily="49" charset="0"/>
              </a:rPr>
              <a:t>=$</a:t>
            </a:r>
            <a:r>
              <a:rPr lang="en-US" altLang="zh-CN" b="0" dirty="0" err="1">
                <a:solidFill>
                  <a:srgbClr val="00B0F0"/>
                </a:solidFill>
                <a:effectLst/>
                <a:latin typeface="Consolas" panose="020B0609020204030204" pitchFamily="49" charset="0"/>
              </a:rPr>
              <a:t>vv</a:t>
            </a:r>
            <a:r>
              <a:rPr lang="en-US" altLang="zh-CN" b="0" dirty="0">
                <a:solidFill>
                  <a:srgbClr val="00B0F0"/>
                </a:solidFill>
                <a:effectLst/>
                <a:latin typeface="Consolas" panose="020B0609020204030204" pitchFamily="49" charset="0"/>
              </a:rPr>
              <a:t>,</a:t>
            </a:r>
            <a:r>
              <a:rPr lang="zh-CN" altLang="en-US" b="0" dirty="0">
                <a:solidFill>
                  <a:srgbClr val="00B0F0"/>
                </a:solidFill>
                <a:effectLst/>
                <a:latin typeface="Consolas" panose="020B0609020204030204" pitchFamily="49" charset="0"/>
              </a:rPr>
              <a:t>函数零点</a:t>
            </a:r>
            <a:r>
              <a:rPr lang="en-US" altLang="zh-CN" b="0" dirty="0" err="1">
                <a:solidFill>
                  <a:srgbClr val="00B0F0"/>
                </a:solidFill>
                <a:effectLst/>
                <a:latin typeface="Consolas" panose="020B0609020204030204" pitchFamily="49" charset="0"/>
              </a:rPr>
              <a:t>fvv</a:t>
            </a:r>
            <a:r>
              <a:rPr lang="en-US" altLang="zh-CN" b="0" dirty="0">
                <a:solidFill>
                  <a:srgbClr val="00B0F0"/>
                </a:solidFill>
                <a:effectLst/>
                <a:latin typeface="Consolas" panose="020B0609020204030204" pitchFamily="49" charset="0"/>
              </a:rPr>
              <a:t>=$</a:t>
            </a:r>
            <a:r>
              <a:rPr lang="en-US" altLang="zh-CN" b="0" dirty="0" err="1">
                <a:solidFill>
                  <a:srgbClr val="00B0F0"/>
                </a:solidFill>
                <a:effectLst/>
                <a:latin typeface="Consolas" panose="020B0609020204030204" pitchFamily="49" charset="0"/>
              </a:rPr>
              <a:t>fvv</a:t>
            </a:r>
            <a:r>
              <a:rPr lang="en-US" altLang="zh-CN" b="0" dirty="0">
                <a:solidFill>
                  <a:srgbClr val="00B0F0"/>
                </a:solidFill>
                <a:effectLst/>
                <a:latin typeface="Consolas" panose="020B0609020204030204" pitchFamily="49" charset="0"/>
              </a:rPr>
              <a:t>,</a:t>
            </a:r>
            <a:r>
              <a:rPr lang="zh-CN" altLang="en-US" b="0" dirty="0">
                <a:solidFill>
                  <a:srgbClr val="00B0F0"/>
                </a:solidFill>
                <a:effectLst/>
                <a:latin typeface="Consolas" panose="020B0609020204030204" pitchFamily="49" charset="0"/>
              </a:rPr>
              <a:t>退出信息</a:t>
            </a:r>
            <a:r>
              <a:rPr lang="en-US" altLang="zh-CN" b="0" dirty="0">
                <a:solidFill>
                  <a:srgbClr val="00B0F0"/>
                </a:solidFill>
                <a:effectLst/>
                <a:latin typeface="Consolas" panose="020B0609020204030204" pitchFamily="49" charset="0"/>
              </a:rPr>
              <a:t>ex=$ex") </a:t>
            </a:r>
          </a:p>
        </p:txBody>
      </p:sp>
      <p:sp>
        <p:nvSpPr>
          <p:cNvPr id="12" name="文本框 11">
            <a:extLst>
              <a:ext uri="{FF2B5EF4-FFF2-40B4-BE49-F238E27FC236}">
                <a16:creationId xmlns:a16="http://schemas.microsoft.com/office/drawing/2014/main" id="{26AD5096-88C5-424F-9F06-E51A13508952}"/>
              </a:ext>
            </a:extLst>
          </p:cNvPr>
          <p:cNvSpPr txBox="1"/>
          <p:nvPr/>
        </p:nvSpPr>
        <p:spPr>
          <a:xfrm>
            <a:off x="740544" y="-69470"/>
            <a:ext cx="8136904" cy="677108"/>
          </a:xfrm>
          <a:prstGeom prst="rect">
            <a:avLst/>
          </a:prstGeom>
          <a:noFill/>
        </p:spPr>
        <p:txBody>
          <a:bodyPr wrap="square">
            <a:spAutoFit/>
          </a:bodyPr>
          <a:lstStyle/>
          <a:p>
            <a:pPr algn="dist">
              <a:lnSpc>
                <a:spcPct val="150000"/>
              </a:lnSpc>
            </a:pPr>
            <a:r>
              <a:rPr lang="en-US" altLang="zh-CN" sz="2800" b="0" dirty="0">
                <a:solidFill>
                  <a:srgbClr val="002060"/>
                </a:solidFill>
                <a:latin typeface="华文楷体" panose="02010600040101010101" pitchFamily="2" charset="-122"/>
                <a:ea typeface="华文楷体" panose="02010600040101010101" pitchFamily="2" charset="-122"/>
              </a:rPr>
              <a:t>§ 8.5</a:t>
            </a:r>
            <a:r>
              <a:rPr lang="en-US" altLang="zh-CN" sz="2800" dirty="0">
                <a:solidFill>
                  <a:srgbClr val="002060"/>
                </a:solidFill>
                <a:latin typeface="华文楷体" panose="02010600040101010101" pitchFamily="2" charset="-122"/>
                <a:ea typeface="华文楷体" panose="02010600040101010101" pitchFamily="2" charset="-122"/>
              </a:rPr>
              <a:t>.1</a:t>
            </a:r>
            <a:r>
              <a:rPr lang="zh-CN" altLang="en-US" sz="2800" dirty="0">
                <a:solidFill>
                  <a:srgbClr val="002060"/>
                </a:solidFill>
                <a:latin typeface="华文楷体" panose="02010600040101010101" pitchFamily="2" charset="-122"/>
                <a:ea typeface="华文楷体" panose="02010600040101010101" pitchFamily="2" charset="-122"/>
              </a:rPr>
              <a:t>求解非线性方程 </a:t>
            </a:r>
            <a:r>
              <a:rPr lang="en-US" altLang="zh-CN" sz="2800" dirty="0" err="1">
                <a:solidFill>
                  <a:srgbClr val="FF0000"/>
                </a:solidFill>
                <a:latin typeface="华文楷体" panose="02010600040101010101" pitchFamily="2" charset="-122"/>
                <a:ea typeface="华文楷体" panose="02010600040101010101" pitchFamily="2" charset="-122"/>
                <a:sym typeface="Arial" panose="020B0604020202020204" pitchFamily="34" charset="0"/>
              </a:rPr>
              <a:t>fzero</a:t>
            </a:r>
            <a:r>
              <a:rPr lang="en-US" altLang="zh-CN" sz="2800" b="0" kern="0" dirty="0">
                <a:solidFill>
                  <a:srgbClr val="FF0000"/>
                </a:solidFill>
                <a:latin typeface="华文楷体" panose="02010600040101010101" pitchFamily="2" charset="-122"/>
                <a:ea typeface="华文楷体" panose="02010600040101010101" pitchFamily="2" charset="-122"/>
              </a:rPr>
              <a:t> ——</a:t>
            </a:r>
            <a:r>
              <a:rPr lang="zh-CN" altLang="zh-CN" sz="2000" dirty="0">
                <a:solidFill>
                  <a:srgbClr val="333333"/>
                </a:solidFill>
                <a:effectLst/>
                <a:latin typeface="Helvetica" panose="020B0604020202020204" pitchFamily="34" charset="0"/>
                <a:ea typeface="等线" panose="02010600030101010101" pitchFamily="2" charset="-122"/>
                <a:cs typeface="Helvetica" panose="020B0604020202020204" pitchFamily="34" charset="0"/>
              </a:rPr>
              <a:t>范德瓦尔斯方程</a:t>
            </a:r>
            <a:r>
              <a:rPr lang="zh-CN" altLang="en-US" sz="2000" dirty="0">
                <a:solidFill>
                  <a:srgbClr val="333333"/>
                </a:solidFill>
                <a:effectLst/>
                <a:latin typeface="Helvetica" panose="020B0604020202020204" pitchFamily="34" charset="0"/>
                <a:ea typeface="等线" panose="02010600030101010101" pitchFamily="2" charset="-122"/>
                <a:cs typeface="Helvetica" panose="020B0604020202020204" pitchFamily="34" charset="0"/>
              </a:rPr>
              <a:t>求体积</a:t>
            </a:r>
            <a:endParaRPr lang="en-US" altLang="zh-CN" sz="2800" dirty="0">
              <a:solidFill>
                <a:srgbClr val="FF0000"/>
              </a:solidFill>
              <a:latin typeface="华文楷体" panose="02010600040101010101" pitchFamily="2" charset="-122"/>
              <a:ea typeface="华文楷体" panose="02010600040101010101" pitchFamily="2" charset="-122"/>
              <a:sym typeface="Arial" panose="020B0604020202020204" pitchFamily="34" charset="0"/>
            </a:endParaRPr>
          </a:p>
        </p:txBody>
      </p:sp>
      <p:sp>
        <p:nvSpPr>
          <p:cNvPr id="7" name="波形 6">
            <a:extLst>
              <a:ext uri="{FF2B5EF4-FFF2-40B4-BE49-F238E27FC236}">
                <a16:creationId xmlns:a16="http://schemas.microsoft.com/office/drawing/2014/main" id="{D6476145-1926-4EAA-AF82-AC413EA0F117}"/>
              </a:ext>
            </a:extLst>
          </p:cNvPr>
          <p:cNvSpPr/>
          <p:nvPr/>
        </p:nvSpPr>
        <p:spPr>
          <a:xfrm>
            <a:off x="8044397" y="1092818"/>
            <a:ext cx="891571" cy="307777"/>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charset="-122"/>
                <a:ea typeface="微软雅黑" panose="020B0503020204020204" charset="-122"/>
              </a:rPr>
              <a:t>例85-1</a:t>
            </a:r>
            <a:endParaRPr lang="ko-KR" altLang="en-US" b="1" dirty="0">
              <a:solidFill>
                <a:srgbClr val="FFFF00"/>
              </a:solidFill>
              <a:latin typeface="微软雅黑" panose="020B0503020204020204" charset="-122"/>
              <a:ea typeface="微软雅黑" panose="020B0503020204020204" charset="-122"/>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1E9C681A-0F18-4DE2-AA1D-EAC266C8D83C}"/>
                  </a:ext>
                </a:extLst>
              </p:cNvPr>
              <p:cNvSpPr txBox="1"/>
              <p:nvPr/>
            </p:nvSpPr>
            <p:spPr>
              <a:xfrm>
                <a:off x="6358600" y="624895"/>
                <a:ext cx="2692399" cy="387735"/>
              </a:xfrm>
              <a:prstGeom prst="rect">
                <a:avLst/>
              </a:prstGeom>
              <a:noFill/>
            </p:spPr>
            <p:txBody>
              <a:bodyPr wrap="square">
                <a:spAutoFit/>
              </a:bodyPr>
              <a:lstStyle/>
              <a:p>
                <a:pPr marL="342900" indent="-342900" eaLnBrk="0">
                  <a:lnSpc>
                    <a:spcPts val="2475"/>
                  </a:lnSpc>
                  <a:spcBef>
                    <a:spcPts val="0"/>
                  </a:spcBef>
                  <a:spcAft>
                    <a:spcPts val="0"/>
                  </a:spcAft>
                  <a:buFont typeface="+mj-lt"/>
                  <a:buAutoNum type="arabicPeriod"/>
                </a:pPr>
                <a:r>
                  <a:rPr lang="en-US" altLang="zh-CN" sz="1400" b="1" dirty="0">
                    <a:solidFill>
                      <a:schemeClr val="bg1"/>
                    </a:solidFill>
                    <a:highlight>
                      <a:srgbClr val="000080"/>
                    </a:highlight>
                    <a:latin typeface="微软雅黑" panose="020B0503020204020204" pitchFamily="34" charset="-122"/>
                    <a:ea typeface="微软雅黑" panose="020B0503020204020204" pitchFamily="34" charset="-122"/>
                  </a:rPr>
                  <a:t>fun(x)=p(v) -</a:t>
                </a:r>
                <a14:m>
                  <m:oMath xmlns:m="http://schemas.openxmlformats.org/officeDocument/2006/math">
                    <m:r>
                      <m:rPr>
                        <m:nor/>
                      </m:rPr>
                      <a:rPr lang="en-US" altLang="zh-CN" sz="1400" b="1" dirty="0">
                        <a:solidFill>
                          <a:schemeClr val="bg1"/>
                        </a:solidFill>
                        <a:highlight>
                          <a:srgbClr val="000080"/>
                        </a:highlight>
                        <a:latin typeface="微软雅黑" panose="020B0503020204020204" pitchFamily="34" charset="-122"/>
                        <a:ea typeface="微软雅黑" panose="020B0503020204020204" pitchFamily="34" charset="-122"/>
                      </a:rPr>
                      <m:t>5∗10^6</m:t>
                    </m:r>
                    <m:r>
                      <a:rPr lang="en-US" altLang="zh-CN" sz="1400" b="1" dirty="0">
                        <a:solidFill>
                          <a:schemeClr val="bg1"/>
                        </a:solidFill>
                        <a:highlight>
                          <a:srgbClr val="000080"/>
                        </a:highlight>
                        <a:latin typeface="Cambria Math" panose="02040503050406030204" pitchFamily="18" charset="0"/>
                        <a:ea typeface="华文楷体" panose="02010600040101010101" pitchFamily="2" charset="-122"/>
                      </a:rPr>
                      <m:t> </m:t>
                    </m:r>
                  </m:oMath>
                </a14:m>
                <a:r>
                  <a:rPr lang="en-US" altLang="zh-CN" sz="1400" b="1" dirty="0">
                    <a:solidFill>
                      <a:schemeClr val="bg1"/>
                    </a:solidFill>
                    <a:highlight>
                      <a:srgbClr val="000080"/>
                    </a:highlight>
                    <a:latin typeface="微软雅黑" panose="020B0503020204020204" pitchFamily="34" charset="-122"/>
                    <a:ea typeface="微软雅黑" panose="020B0503020204020204" pitchFamily="34" charset="-122"/>
                  </a:rPr>
                  <a:t>=0</a:t>
                </a:r>
              </a:p>
            </p:txBody>
          </p:sp>
        </mc:Choice>
        <mc:Fallback xmlns="">
          <p:sp>
            <p:nvSpPr>
              <p:cNvPr id="8" name="文本框 7">
                <a:extLst>
                  <a:ext uri="{FF2B5EF4-FFF2-40B4-BE49-F238E27FC236}">
                    <a16:creationId xmlns:a16="http://schemas.microsoft.com/office/drawing/2014/main" id="{1E9C681A-0F18-4DE2-AA1D-EAC266C8D83C}"/>
                  </a:ext>
                </a:extLst>
              </p:cNvPr>
              <p:cNvSpPr txBox="1">
                <a:spLocks noRot="1" noChangeAspect="1" noMove="1" noResize="1" noEditPoints="1" noAdjustHandles="1" noChangeArrowheads="1" noChangeShapeType="1" noTextEdit="1"/>
              </p:cNvSpPr>
              <p:nvPr/>
            </p:nvSpPr>
            <p:spPr>
              <a:xfrm>
                <a:off x="6358600" y="624895"/>
                <a:ext cx="2692399" cy="387735"/>
              </a:xfrm>
              <a:prstGeom prst="rect">
                <a:avLst/>
              </a:prstGeom>
              <a:blipFill>
                <a:blip r:embed="rId2"/>
                <a:stretch>
                  <a:fillRect l="-1131" b="-17460"/>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BE31F821-8CE7-46C9-A074-6D3A0CE07918}"/>
              </a:ext>
            </a:extLst>
          </p:cNvPr>
          <p:cNvSpPr txBox="1"/>
          <p:nvPr/>
        </p:nvSpPr>
        <p:spPr>
          <a:xfrm>
            <a:off x="290000" y="2503329"/>
            <a:ext cx="8679027" cy="2092881"/>
          </a:xfrm>
          <a:prstGeom prst="rect">
            <a:avLst/>
          </a:prstGeom>
          <a:solidFill>
            <a:schemeClr val="accent5">
              <a:lumMod val="20000"/>
              <a:lumOff val="80000"/>
            </a:schemeClr>
          </a:solidFill>
        </p:spPr>
        <p:txBody>
          <a:bodyPr wrap="square">
            <a:spAutoFit/>
          </a:bodyPr>
          <a:lstStyle/>
          <a:p>
            <a:r>
              <a:rPr lang="en-US" altLang="zh-CN" sz="1000" b="1" dirty="0">
                <a:solidFill>
                  <a:srgbClr val="00B0F0"/>
                </a:solidFill>
                <a:latin typeface="微软雅黑" panose="020B0503020204020204" pitchFamily="34" charset="-122"/>
                <a:ea typeface="微软雅黑" panose="020B0503020204020204" pitchFamily="34" charset="-122"/>
              </a:rPr>
              <a:t>#</a:t>
            </a:r>
            <a:r>
              <a:rPr lang="zh-CN" altLang="en-US" sz="1000" b="1" dirty="0">
                <a:solidFill>
                  <a:srgbClr val="00B0F0"/>
                </a:solidFill>
                <a:latin typeface="微软雅黑" panose="020B0503020204020204" pitchFamily="34" charset="-122"/>
                <a:ea typeface="微软雅黑" panose="020B0503020204020204" pitchFamily="34" charset="-122"/>
              </a:rPr>
              <a:t>结果Search for an interval around 0.00033 containing a sign change:   </a:t>
            </a:r>
          </a:p>
          <a:p>
            <a:r>
              <a:rPr lang="zh-CN" altLang="en-US" sz="1000" dirty="0"/>
              <a:t>Func-count      a       f(a)    b       f(b)    Procedure</a:t>
            </a:r>
          </a:p>
          <a:p>
            <a:r>
              <a:rPr lang="zh-CN" altLang="en-US" sz="1000" dirty="0"/>
              <a:t>1       0.00033  6955.970858410001    0.00033   6955.970858410001initial interval</a:t>
            </a:r>
          </a:p>
          <a:p>
            <a:r>
              <a:rPr lang="zh-CN" altLang="en-US" sz="1000" dirty="0"/>
              <a:t>3       0.00032066619  </a:t>
            </a:r>
            <a:r>
              <a:rPr lang="zh-CN" altLang="en-US" sz="1000" b="1" dirty="0">
                <a:solidFill>
                  <a:srgbClr val="FF0000"/>
                </a:solidFill>
              </a:rPr>
              <a:t>81527.852815      </a:t>
            </a:r>
            <a:r>
              <a:rPr lang="zh-CN" altLang="en-US" sz="1000" dirty="0"/>
              <a:t>0.000339333809511   </a:t>
            </a:r>
            <a:r>
              <a:rPr lang="zh-CN" altLang="en-US" sz="1000" b="1" dirty="0">
                <a:solidFill>
                  <a:srgbClr val="FF0000"/>
                </a:solidFill>
              </a:rPr>
              <a:t>-66917.780542   </a:t>
            </a:r>
            <a:r>
              <a:rPr lang="zh-CN" altLang="en-US" sz="1000" b="1" dirty="0">
                <a:solidFill>
                  <a:srgbClr val="00B0F0"/>
                </a:solidFill>
                <a:latin typeface="微软雅黑" panose="020B0503020204020204" pitchFamily="34" charset="-122"/>
                <a:ea typeface="微软雅黑" panose="020B0503020204020204" pitchFamily="34" charset="-122"/>
              </a:rPr>
              <a:t>search</a:t>
            </a:r>
            <a:r>
              <a:rPr lang="en-US" altLang="zh-CN" sz="1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a:t>
            </a:r>
            <a:r>
              <a:rPr lang="zh-CN" altLang="zh-CN" sz="1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增量搜索</a:t>
            </a:r>
            <a:r>
              <a:rPr lang="en-US" altLang="zh-CN" sz="1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a:t>
            </a:r>
            <a:endParaRPr lang="zh-CN" altLang="en-US" sz="1000" b="1" dirty="0">
              <a:solidFill>
                <a:srgbClr val="00B0F0"/>
              </a:solidFill>
              <a:latin typeface="微软雅黑" panose="020B0503020204020204" pitchFamily="34" charset="-122"/>
              <a:ea typeface="微软雅黑" panose="020B0503020204020204" pitchFamily="34" charset="-122"/>
            </a:endParaRPr>
          </a:p>
          <a:p>
            <a:r>
              <a:rPr lang="zh-CN" altLang="en-US" sz="1000" b="1" dirty="0">
                <a:solidFill>
                  <a:srgbClr val="00B0F0"/>
                </a:solidFill>
                <a:latin typeface="微软雅黑" panose="020B0503020204020204" pitchFamily="34" charset="-122"/>
                <a:ea typeface="微软雅黑" panose="020B0503020204020204" pitchFamily="34" charset="-122"/>
              </a:rPr>
              <a:t>Search for a zero in the interval [0.00032066619048833756, 0.00033933380951166244]:</a:t>
            </a:r>
          </a:p>
          <a:p>
            <a:r>
              <a:rPr lang="zh-CN" altLang="en-US" sz="1000" dirty="0"/>
              <a:t>Func-count      x       f(x)    Procedure</a:t>
            </a:r>
          </a:p>
          <a:p>
            <a:r>
              <a:rPr lang="zh-CN" altLang="en-US" sz="1000" dirty="0"/>
              <a:t>3       0.00033933380951166244  -66917.78054296132      initial   </a:t>
            </a:r>
          </a:p>
          <a:p>
            <a:r>
              <a:rPr lang="zh-CN" altLang="en-US" sz="1000" dirty="0"/>
              <a:t>4       0.00033091863686698415  -349.0318662635982      interpolation</a:t>
            </a:r>
            <a:r>
              <a:rPr lang="zh-CN" altLang="zh-CN" sz="1000" b="1"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（开方法的插值）</a:t>
            </a:r>
            <a:endParaRPr lang="zh-CN" altLang="en-US" sz="1000" dirty="0"/>
          </a:p>
          <a:p>
            <a:r>
              <a:rPr lang="zh-CN" altLang="en-US" sz="1000" dirty="0"/>
              <a:t>5       0.0003308747026985195   0.17497015744447708     interpolation</a:t>
            </a:r>
          </a:p>
          <a:p>
            <a:r>
              <a:rPr lang="zh-CN" altLang="en-US" sz="1000" dirty="0"/>
              <a:t>6       0.0003308747247117437   -4.004687070846558e-6   interpolation</a:t>
            </a:r>
          </a:p>
          <a:p>
            <a:r>
              <a:rPr lang="zh-CN" altLang="en-US" sz="1000" dirty="0"/>
              <a:t>7       0.00033087472471123985  9.313225746154785e-10   interpolation</a:t>
            </a:r>
          </a:p>
          <a:p>
            <a:r>
              <a:rPr lang="zh-CN" altLang="en-US" sz="1000" dirty="0"/>
              <a:t>Zero found in the interval [0.00032066619048833756, 0.00033933380951166244]</a:t>
            </a:r>
          </a:p>
          <a:p>
            <a:r>
              <a:rPr lang="zh-CN" altLang="en-US" sz="1000" dirty="0"/>
              <a:t>(0.00033087472471123985, 9.313225746154785e-10, 1, intervaliterations: 1</a:t>
            </a:r>
            <a:r>
              <a:rPr lang="en-US" altLang="zh-CN" sz="1000" dirty="0"/>
              <a:t>,</a:t>
            </a:r>
            <a:r>
              <a:rPr lang="zh-CN" altLang="en-US" sz="1000" dirty="0"/>
              <a:t>iterations: 4</a:t>
            </a:r>
          </a:p>
        </p:txBody>
      </p:sp>
      <p:sp>
        <p:nvSpPr>
          <p:cNvPr id="13" name="文本框 12">
            <a:extLst>
              <a:ext uri="{FF2B5EF4-FFF2-40B4-BE49-F238E27FC236}">
                <a16:creationId xmlns:a16="http://schemas.microsoft.com/office/drawing/2014/main" id="{CF334BBB-0983-4E87-A156-BE47C2C2E3F3}"/>
              </a:ext>
            </a:extLst>
          </p:cNvPr>
          <p:cNvSpPr txBox="1"/>
          <p:nvPr/>
        </p:nvSpPr>
        <p:spPr>
          <a:xfrm>
            <a:off x="6444208" y="1114477"/>
            <a:ext cx="1728192" cy="523220"/>
          </a:xfrm>
          <a:prstGeom prst="rect">
            <a:avLst/>
          </a:prstGeom>
          <a:noFill/>
        </p:spPr>
        <p:txBody>
          <a:bodyPr wrap="square">
            <a:spAutoFit/>
          </a:bodyPr>
          <a:lstStyle/>
          <a:p>
            <a:pPr algn="ctr" eaLnBrk="0" fontAlgn="auto">
              <a:spcBef>
                <a:spcPts val="0"/>
              </a:spcBef>
              <a:spcAft>
                <a:spcPts val="0"/>
              </a:spcAft>
            </a:pPr>
            <a:r>
              <a:rPr lang="zh-CN" altLang="en-US" sz="1400" b="1" dirty="0">
                <a:solidFill>
                  <a:srgbClr val="0070C0"/>
                </a:solidFill>
                <a:latin typeface="微软雅黑" panose="020B0503020204020204" pitchFamily="34" charset="-122"/>
                <a:ea typeface="微软雅黑" panose="020B0503020204020204" pitchFamily="34" charset="-122"/>
              </a:rPr>
              <a:t>体积初始值</a:t>
            </a:r>
            <a:endParaRPr lang="en-US" altLang="zh-CN" sz="1400" b="1" dirty="0">
              <a:solidFill>
                <a:srgbClr val="0070C0"/>
              </a:solidFill>
              <a:latin typeface="微软雅黑" panose="020B0503020204020204" pitchFamily="34" charset="-122"/>
              <a:ea typeface="微软雅黑" panose="020B0503020204020204" pitchFamily="34" charset="-122"/>
            </a:endParaRPr>
          </a:p>
          <a:p>
            <a:pPr algn="ctr" eaLnBrk="0" fontAlgn="auto">
              <a:spcBef>
                <a:spcPts val="0"/>
              </a:spcBef>
              <a:spcAft>
                <a:spcPts val="0"/>
              </a:spcAft>
            </a:pPr>
            <a:r>
              <a:rPr lang="zh-CN" altLang="en-US" sz="1400" b="1" dirty="0">
                <a:solidFill>
                  <a:srgbClr val="0070C0"/>
                </a:solidFill>
                <a:latin typeface="微软雅黑" panose="020B0503020204020204" pitchFamily="34" charset="-122"/>
                <a:ea typeface="微软雅黑" panose="020B0503020204020204" pitchFamily="34" charset="-122"/>
              </a:rPr>
              <a:t>设为3.3e-4</a:t>
            </a:r>
          </a:p>
        </p:txBody>
      </p:sp>
      <p:sp>
        <p:nvSpPr>
          <p:cNvPr id="15" name="文本框 14">
            <a:extLst>
              <a:ext uri="{FF2B5EF4-FFF2-40B4-BE49-F238E27FC236}">
                <a16:creationId xmlns:a16="http://schemas.microsoft.com/office/drawing/2014/main" id="{6E7CD04E-EDFE-4227-B8C2-4114B36E7716}"/>
              </a:ext>
            </a:extLst>
          </p:cNvPr>
          <p:cNvSpPr txBox="1"/>
          <p:nvPr/>
        </p:nvSpPr>
        <p:spPr>
          <a:xfrm>
            <a:off x="6174883" y="3291830"/>
            <a:ext cx="2761085" cy="861774"/>
          </a:xfrm>
          <a:prstGeom prst="rect">
            <a:avLst/>
          </a:prstGeom>
          <a:noFill/>
        </p:spPr>
        <p:txBody>
          <a:bodyPr wrap="square">
            <a:spAutoFit/>
          </a:bodyPr>
          <a:lstStyle/>
          <a:p>
            <a:pPr>
              <a:lnSpc>
                <a:spcPts val="2000"/>
              </a:lnSpc>
            </a:pPr>
            <a:r>
              <a:rPr lang="en-US" altLang="zh-CN" sz="1600" b="1" dirty="0">
                <a:solidFill>
                  <a:srgbClr val="FF0000"/>
                </a:solidFill>
                <a:effectLst/>
                <a:latin typeface="Consolas" panose="020B0609020204030204" pitchFamily="49" charset="0"/>
              </a:rPr>
              <a:t>#</a:t>
            </a:r>
            <a:r>
              <a:rPr lang="zh-CN" altLang="en-US" sz="1600" b="1" dirty="0">
                <a:solidFill>
                  <a:srgbClr val="FF0000"/>
                </a:solidFill>
                <a:effectLst/>
                <a:latin typeface="Consolas" panose="020B0609020204030204" pitchFamily="49" charset="0"/>
              </a:rPr>
              <a:t>根</a:t>
            </a:r>
            <a:r>
              <a:rPr lang="en-US" altLang="zh-CN" sz="1600" b="1" dirty="0" err="1">
                <a:solidFill>
                  <a:srgbClr val="FF0000"/>
                </a:solidFill>
                <a:effectLst/>
                <a:latin typeface="Consolas" panose="020B0609020204030204" pitchFamily="49" charset="0"/>
              </a:rPr>
              <a:t>vv</a:t>
            </a:r>
            <a:r>
              <a:rPr lang="en-US" altLang="zh-CN" sz="1600" b="1" dirty="0">
                <a:solidFill>
                  <a:srgbClr val="FF0000"/>
                </a:solidFill>
                <a:effectLst/>
                <a:latin typeface="Consolas" panose="020B0609020204030204" pitchFamily="49" charset="0"/>
              </a:rPr>
              <a:t>=0.000330,</a:t>
            </a:r>
          </a:p>
          <a:p>
            <a:pPr>
              <a:lnSpc>
                <a:spcPts val="2000"/>
              </a:lnSpc>
            </a:pPr>
            <a:r>
              <a:rPr lang="zh-CN" altLang="en-US" sz="1600" b="1" dirty="0">
                <a:solidFill>
                  <a:srgbClr val="FF0000"/>
                </a:solidFill>
                <a:effectLst/>
                <a:latin typeface="Consolas" panose="020B0609020204030204" pitchFamily="49" charset="0"/>
              </a:rPr>
              <a:t>函数零点</a:t>
            </a:r>
            <a:r>
              <a:rPr lang="en-US" altLang="zh-CN" sz="1600" b="1" dirty="0" err="1">
                <a:solidFill>
                  <a:srgbClr val="FF0000"/>
                </a:solidFill>
                <a:effectLst/>
                <a:latin typeface="Consolas" panose="020B0609020204030204" pitchFamily="49" charset="0"/>
              </a:rPr>
              <a:t>fvv</a:t>
            </a:r>
            <a:r>
              <a:rPr lang="en-US" altLang="zh-CN" sz="1600" b="1" dirty="0">
                <a:solidFill>
                  <a:srgbClr val="FF0000"/>
                </a:solidFill>
                <a:effectLst/>
                <a:latin typeface="Consolas" panose="020B0609020204030204" pitchFamily="49" charset="0"/>
              </a:rPr>
              <a:t>=9.3132e-10</a:t>
            </a:r>
            <a:r>
              <a:rPr lang="zh-CN" altLang="en-US" sz="1600" b="1" dirty="0">
                <a:solidFill>
                  <a:srgbClr val="FF0000"/>
                </a:solidFill>
                <a:effectLst/>
                <a:latin typeface="Consolas" panose="020B0609020204030204" pitchFamily="49" charset="0"/>
              </a:rPr>
              <a:t>，</a:t>
            </a:r>
            <a:endParaRPr lang="en-US" altLang="zh-CN" sz="1600" b="1" dirty="0">
              <a:solidFill>
                <a:srgbClr val="FF0000"/>
              </a:solidFill>
              <a:effectLst/>
              <a:latin typeface="Consolas" panose="020B0609020204030204" pitchFamily="49" charset="0"/>
            </a:endParaRPr>
          </a:p>
          <a:p>
            <a:pPr>
              <a:lnSpc>
                <a:spcPts val="2000"/>
              </a:lnSpc>
            </a:pPr>
            <a:r>
              <a:rPr lang="zh-CN" altLang="en-US" sz="1600" b="1" dirty="0">
                <a:solidFill>
                  <a:srgbClr val="FF0000"/>
                </a:solidFill>
                <a:effectLst/>
                <a:latin typeface="Consolas" panose="020B0609020204030204" pitchFamily="49" charset="0"/>
              </a:rPr>
              <a:t>退出信息</a:t>
            </a:r>
            <a:r>
              <a:rPr lang="en-US" altLang="zh-CN" sz="1600" b="1" dirty="0">
                <a:solidFill>
                  <a:srgbClr val="FF0000"/>
                </a:solidFill>
                <a:effectLst/>
                <a:latin typeface="Consolas" panose="020B0609020204030204" pitchFamily="49" charset="0"/>
              </a:rPr>
              <a:t>ex=1</a:t>
            </a:r>
          </a:p>
        </p:txBody>
      </p:sp>
    </p:spTree>
    <p:extLst>
      <p:ext uri="{BB962C8B-B14F-4D97-AF65-F5344CB8AC3E}">
        <p14:creationId xmlns:p14="http://schemas.microsoft.com/office/powerpoint/2010/main" val="15348024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F0C41E2F-A72F-43D9-9A2B-78DB94B440AE}"/>
              </a:ext>
            </a:extLst>
          </p:cNvPr>
          <p:cNvSpPr txBox="1"/>
          <p:nvPr/>
        </p:nvSpPr>
        <p:spPr>
          <a:xfrm>
            <a:off x="58631" y="771550"/>
            <a:ext cx="9144000" cy="3754874"/>
          </a:xfrm>
          <a:prstGeom prst="rect">
            <a:avLst/>
          </a:prstGeom>
          <a:solidFill>
            <a:schemeClr val="bg1"/>
          </a:solidFill>
        </p:spPr>
        <p:txBody>
          <a:bodyPr wrap="square">
            <a:spAutoFit/>
          </a:bodyPr>
          <a:lstStyle/>
          <a:p>
            <a:pPr marL="342900" indent="-342900">
              <a:buFont typeface="+mj-ea"/>
              <a:buAutoNum type="circleNumDbPlain"/>
            </a:pPr>
            <a:r>
              <a:rPr lang="zh-CN" altLang="en-US" sz="1400" b="1" dirty="0">
                <a:solidFill>
                  <a:srgbClr val="00B0F0"/>
                </a:solidFill>
              </a:rPr>
              <a:t>只有一输出且不加逗号，这输出代表</a:t>
            </a:r>
            <a:r>
              <a:rPr lang="en-US" altLang="zh-CN" sz="1400" b="1" dirty="0">
                <a:solidFill>
                  <a:srgbClr val="00B0F0"/>
                </a:solidFill>
              </a:rPr>
              <a:t>x</a:t>
            </a:r>
            <a:r>
              <a:rPr lang="zh-CN" altLang="en-US" sz="1400" b="1" dirty="0">
                <a:solidFill>
                  <a:srgbClr val="00B0F0"/>
                </a:solidFill>
              </a:rPr>
              <a:t>、</a:t>
            </a:r>
            <a:r>
              <a:rPr lang="en-US" altLang="zh-CN" sz="1400" b="1" dirty="0" err="1">
                <a:solidFill>
                  <a:srgbClr val="00B0F0"/>
                </a:solidFill>
              </a:rPr>
              <a:t>fval</a:t>
            </a:r>
            <a:r>
              <a:rPr lang="zh-CN" altLang="en-US" sz="1400" b="1" dirty="0">
                <a:solidFill>
                  <a:srgbClr val="00B0F0"/>
                </a:solidFill>
              </a:rPr>
              <a:t>、</a:t>
            </a:r>
            <a:r>
              <a:rPr lang="en-US" altLang="zh-CN" sz="1400" b="1" dirty="0" err="1">
                <a:solidFill>
                  <a:srgbClr val="00B0F0"/>
                </a:solidFill>
              </a:rPr>
              <a:t>exitflag</a:t>
            </a:r>
            <a:r>
              <a:rPr lang="zh-CN" altLang="en-US" sz="1400" b="1" dirty="0">
                <a:solidFill>
                  <a:srgbClr val="00B0F0"/>
                </a:solidFill>
              </a:rPr>
              <a:t>等所有输出内容</a:t>
            </a:r>
            <a:endParaRPr lang="en-US" altLang="zh-CN" sz="1400" dirty="0"/>
          </a:p>
          <a:p>
            <a:r>
              <a:rPr lang="en-US" altLang="zh-CN" sz="1400" dirty="0" err="1"/>
              <a:t>julia</a:t>
            </a:r>
            <a:r>
              <a:rPr lang="en-US" altLang="zh-CN" sz="1400" dirty="0"/>
              <a:t>&gt; </a:t>
            </a:r>
            <a:r>
              <a:rPr lang="en-US" altLang="zh-CN" sz="1400" dirty="0" err="1"/>
              <a:t>vpp</a:t>
            </a:r>
            <a:r>
              <a:rPr lang="en-US" altLang="zh-CN" sz="1400" dirty="0"/>
              <a:t>=</a:t>
            </a:r>
            <a:r>
              <a:rPr lang="en-US" altLang="zh-CN" sz="1400" dirty="0" err="1"/>
              <a:t>fzero</a:t>
            </a:r>
            <a:r>
              <a:rPr lang="en-US" altLang="zh-CN" sz="1400" dirty="0"/>
              <a:t>(pf,3.3e-4)</a:t>
            </a:r>
            <a:endParaRPr lang="en-US" altLang="zh-CN" sz="1400" b="1" dirty="0">
              <a:solidFill>
                <a:srgbClr val="00B0F0"/>
              </a:solidFill>
            </a:endParaRPr>
          </a:p>
          <a:p>
            <a:r>
              <a:rPr lang="en-US" altLang="zh-CN" sz="1400" dirty="0" err="1"/>
              <a:t>julia</a:t>
            </a:r>
            <a:r>
              <a:rPr lang="en-US" altLang="zh-CN" sz="1400" dirty="0"/>
              <a:t>&gt; </a:t>
            </a:r>
            <a:r>
              <a:rPr lang="en-US" altLang="zh-CN" sz="1400" dirty="0" err="1"/>
              <a:t>vpp</a:t>
            </a:r>
            <a:r>
              <a:rPr lang="en-US" altLang="zh-CN" sz="1400" dirty="0"/>
              <a:t> </a:t>
            </a:r>
            <a:r>
              <a:rPr lang="en-US" altLang="zh-CN" sz="1400" b="1" dirty="0">
                <a:solidFill>
                  <a:srgbClr val="00B0F0"/>
                </a:solidFill>
              </a:rPr>
              <a:t>#</a:t>
            </a:r>
            <a:r>
              <a:rPr lang="zh-CN" altLang="en-US" sz="1400" b="1" dirty="0">
                <a:solidFill>
                  <a:srgbClr val="00B0F0"/>
                </a:solidFill>
              </a:rPr>
              <a:t>只有一输出且不加逗号，这输出代表</a:t>
            </a:r>
            <a:r>
              <a:rPr lang="en-US" altLang="zh-CN" sz="1400" b="1" dirty="0">
                <a:solidFill>
                  <a:srgbClr val="00B0F0"/>
                </a:solidFill>
              </a:rPr>
              <a:t>x</a:t>
            </a:r>
            <a:r>
              <a:rPr lang="zh-CN" altLang="en-US" sz="1400" b="1" dirty="0">
                <a:solidFill>
                  <a:srgbClr val="00B0F0"/>
                </a:solidFill>
              </a:rPr>
              <a:t>、</a:t>
            </a:r>
            <a:r>
              <a:rPr lang="en-US" altLang="zh-CN" sz="1400" b="1" dirty="0" err="1">
                <a:solidFill>
                  <a:srgbClr val="00B0F0"/>
                </a:solidFill>
              </a:rPr>
              <a:t>fval</a:t>
            </a:r>
            <a:r>
              <a:rPr lang="zh-CN" altLang="en-US" sz="1400" b="1" dirty="0">
                <a:solidFill>
                  <a:srgbClr val="00B0F0"/>
                </a:solidFill>
              </a:rPr>
              <a:t>、</a:t>
            </a:r>
            <a:r>
              <a:rPr lang="en-US" altLang="zh-CN" sz="1400" b="1" dirty="0" err="1">
                <a:solidFill>
                  <a:srgbClr val="00B0F0"/>
                </a:solidFill>
              </a:rPr>
              <a:t>exitflag</a:t>
            </a:r>
            <a:r>
              <a:rPr lang="zh-CN" altLang="en-US" sz="1400" b="1" dirty="0">
                <a:solidFill>
                  <a:srgbClr val="00B0F0"/>
                </a:solidFill>
              </a:rPr>
              <a:t>等所有输出内容</a:t>
            </a:r>
            <a:endParaRPr lang="en-US" altLang="zh-CN" sz="1400" b="1" dirty="0">
              <a:solidFill>
                <a:srgbClr val="00B0F0"/>
              </a:solidFill>
            </a:endParaRPr>
          </a:p>
          <a:p>
            <a:r>
              <a:rPr lang="en-US" altLang="zh-CN" sz="1400" dirty="0"/>
              <a:t>(0.00033087472471123985, 9.313225746154785e-10, 1, </a:t>
            </a:r>
            <a:r>
              <a:rPr lang="en-US" altLang="zh-CN" sz="1400" dirty="0" err="1"/>
              <a:t>intervaliterations</a:t>
            </a:r>
            <a:r>
              <a:rPr lang="en-US" altLang="zh-CN" sz="1400" dirty="0"/>
              <a:t>: 1</a:t>
            </a:r>
          </a:p>
          <a:p>
            <a:r>
              <a:rPr lang="en-US" altLang="zh-CN" sz="1400" dirty="0"/>
              <a:t>iterations: 4   </a:t>
            </a:r>
            <a:r>
              <a:rPr lang="en-US" altLang="zh-CN" sz="1400" dirty="0" err="1"/>
              <a:t>funcCount</a:t>
            </a:r>
            <a:r>
              <a:rPr lang="en-US" altLang="zh-CN" sz="1400" dirty="0"/>
              <a:t>: 7</a:t>
            </a:r>
          </a:p>
          <a:p>
            <a:r>
              <a:rPr lang="en-US" altLang="zh-CN" sz="1400" dirty="0"/>
              <a:t>algorithm: bisection, interpolation</a:t>
            </a:r>
          </a:p>
          <a:p>
            <a:r>
              <a:rPr lang="en-US" altLang="zh-CN" sz="1400" dirty="0"/>
              <a:t>message: Zero found in the interval [0.00032066619048833756, 0.00033933380951166244])</a:t>
            </a:r>
          </a:p>
          <a:p>
            <a:pPr marL="342900" indent="-342900">
              <a:buFont typeface="+mj-ea"/>
              <a:buAutoNum type="circleNumDbPlain" startAt="2"/>
            </a:pPr>
            <a:r>
              <a:rPr lang="zh-CN" altLang="en-US" sz="1400" b="1" dirty="0">
                <a:solidFill>
                  <a:srgbClr val="00B0F0"/>
                </a:solidFill>
              </a:rPr>
              <a:t>只有一输出且不加逗号，表示第一个输出根</a:t>
            </a:r>
            <a:endParaRPr lang="en-US" altLang="zh-CN" sz="1400" dirty="0"/>
          </a:p>
          <a:p>
            <a:r>
              <a:rPr lang="en-US" altLang="zh-CN" sz="1400" dirty="0" err="1"/>
              <a:t>julia</a:t>
            </a:r>
            <a:r>
              <a:rPr lang="en-US" altLang="zh-CN" sz="1400" dirty="0"/>
              <a:t>&gt; </a:t>
            </a:r>
            <a:r>
              <a:rPr lang="en-US" altLang="zh-CN" sz="1400" dirty="0" err="1"/>
              <a:t>vp</a:t>
            </a:r>
            <a:r>
              <a:rPr lang="en-US" altLang="zh-CN" sz="1400" dirty="0"/>
              <a:t>,=</a:t>
            </a:r>
            <a:r>
              <a:rPr lang="en-US" altLang="zh-CN" sz="1400" dirty="0" err="1"/>
              <a:t>fzero</a:t>
            </a:r>
            <a:r>
              <a:rPr lang="en-US" altLang="zh-CN" sz="1400" dirty="0"/>
              <a:t>(pf,3.3e-4) (0.00033087472471123985, 9.313225746154785e-10, 1, </a:t>
            </a:r>
            <a:r>
              <a:rPr lang="en-US" altLang="zh-CN" sz="1400" dirty="0" err="1"/>
              <a:t>intervaliterations</a:t>
            </a:r>
            <a:r>
              <a:rPr lang="en-US" altLang="zh-CN" sz="1400" dirty="0"/>
              <a:t>: 1</a:t>
            </a:r>
          </a:p>
          <a:p>
            <a:r>
              <a:rPr lang="en-US" altLang="zh-CN" sz="1400" dirty="0"/>
              <a:t>message: Zero found in the interval [0.00032066619048833756, 0.00033933380951166244])</a:t>
            </a:r>
          </a:p>
          <a:p>
            <a:r>
              <a:rPr lang="en-US" altLang="zh-CN" sz="1400" dirty="0" err="1"/>
              <a:t>julia</a:t>
            </a:r>
            <a:r>
              <a:rPr lang="en-US" altLang="zh-CN" sz="1400" dirty="0"/>
              <a:t>&gt; </a:t>
            </a:r>
            <a:r>
              <a:rPr lang="en-US" altLang="zh-CN" sz="1400" dirty="0" err="1"/>
              <a:t>vp</a:t>
            </a:r>
            <a:r>
              <a:rPr lang="en-US" altLang="zh-CN" sz="1400" dirty="0"/>
              <a:t>   </a:t>
            </a:r>
            <a:r>
              <a:rPr lang="zh-CN" altLang="en-US" sz="1400" dirty="0"/>
              <a:t>结果体积根</a:t>
            </a:r>
            <a:r>
              <a:rPr lang="en-US" altLang="zh-CN" sz="1400" dirty="0"/>
              <a:t>0.00033087472471123985</a:t>
            </a:r>
          </a:p>
          <a:p>
            <a:pPr marL="342900" indent="-342900">
              <a:buFont typeface="+mj-ea"/>
              <a:buAutoNum type="circleNumDbPlain" startAt="3"/>
            </a:pPr>
            <a:r>
              <a:rPr lang="zh-CN" altLang="en-US" sz="1400" b="1" dirty="0">
                <a:solidFill>
                  <a:srgbClr val="00B0F0"/>
                </a:solidFill>
              </a:rPr>
              <a:t>多个输出时，不显示全部输出</a:t>
            </a:r>
            <a:endParaRPr lang="en-US" altLang="zh-CN" sz="1400" b="1" dirty="0">
              <a:solidFill>
                <a:srgbClr val="00B0F0"/>
              </a:solidFill>
            </a:endParaRPr>
          </a:p>
          <a:p>
            <a:r>
              <a:rPr lang="en-US" altLang="zh-CN" sz="1400" dirty="0" err="1"/>
              <a:t>julia</a:t>
            </a:r>
            <a:r>
              <a:rPr lang="en-US" altLang="zh-CN" sz="1400" dirty="0"/>
              <a:t>&gt; </a:t>
            </a:r>
            <a:r>
              <a:rPr lang="en-US" altLang="zh-CN" sz="1400" dirty="0" err="1"/>
              <a:t>vp</a:t>
            </a:r>
            <a:r>
              <a:rPr lang="en-US" altLang="zh-CN" sz="1400" dirty="0"/>
              <a:t>,_,ex=</a:t>
            </a:r>
            <a:r>
              <a:rPr lang="en-US" altLang="zh-CN" sz="1400" dirty="0" err="1"/>
              <a:t>fzero</a:t>
            </a:r>
            <a:r>
              <a:rPr lang="en-US" altLang="zh-CN" sz="1400" dirty="0"/>
              <a:t>(pf,3.3e-4) </a:t>
            </a:r>
          </a:p>
          <a:p>
            <a:r>
              <a:rPr lang="en-US" altLang="zh-CN" sz="1400" dirty="0"/>
              <a:t>(0.00033087472471123985, 9.313225746154785e-10, 1, </a:t>
            </a:r>
            <a:r>
              <a:rPr lang="en-US" altLang="zh-CN" sz="1400" dirty="0" err="1"/>
              <a:t>intervaliterations</a:t>
            </a:r>
            <a:r>
              <a:rPr lang="en-US" altLang="zh-CN" sz="1400" dirty="0"/>
              <a:t>: 1</a:t>
            </a:r>
          </a:p>
          <a:p>
            <a:r>
              <a:rPr lang="en-US" altLang="zh-CN" sz="1400" dirty="0"/>
              <a:t>iterations: 4     </a:t>
            </a:r>
            <a:r>
              <a:rPr lang="en-US" altLang="zh-CN" sz="1400" dirty="0" err="1"/>
              <a:t>funcCount</a:t>
            </a:r>
            <a:r>
              <a:rPr lang="en-US" altLang="zh-CN" sz="1400" dirty="0"/>
              <a:t>: 7</a:t>
            </a:r>
          </a:p>
          <a:p>
            <a:r>
              <a:rPr lang="en-US" altLang="zh-CN" sz="1400" dirty="0"/>
              <a:t>algorithm: bisection, interpolation</a:t>
            </a:r>
          </a:p>
          <a:p>
            <a:r>
              <a:rPr lang="en-US" altLang="zh-CN" sz="1400" dirty="0"/>
              <a:t>message: Zero found in the interval [0.00032066619048833756, 0.00033933380951166244])</a:t>
            </a:r>
            <a:endParaRPr lang="zh-CN" altLang="en-US" sz="1400" dirty="0"/>
          </a:p>
        </p:txBody>
      </p:sp>
      <p:sp>
        <p:nvSpPr>
          <p:cNvPr id="6" name="文本框 5">
            <a:extLst>
              <a:ext uri="{FF2B5EF4-FFF2-40B4-BE49-F238E27FC236}">
                <a16:creationId xmlns:a16="http://schemas.microsoft.com/office/drawing/2014/main" id="{3E61BFB8-767D-454C-943D-37B59CD1B1BA}"/>
              </a:ext>
            </a:extLst>
          </p:cNvPr>
          <p:cNvSpPr txBox="1"/>
          <p:nvPr/>
        </p:nvSpPr>
        <p:spPr>
          <a:xfrm>
            <a:off x="740544" y="-69470"/>
            <a:ext cx="8136904" cy="677108"/>
          </a:xfrm>
          <a:prstGeom prst="rect">
            <a:avLst/>
          </a:prstGeom>
          <a:noFill/>
        </p:spPr>
        <p:txBody>
          <a:bodyPr wrap="square">
            <a:spAutoFit/>
          </a:bodyPr>
          <a:lstStyle/>
          <a:p>
            <a:pPr algn="dist">
              <a:lnSpc>
                <a:spcPct val="150000"/>
              </a:lnSpc>
            </a:pPr>
            <a:r>
              <a:rPr lang="en-US" altLang="zh-CN" sz="2800" b="0" dirty="0">
                <a:solidFill>
                  <a:srgbClr val="002060"/>
                </a:solidFill>
                <a:latin typeface="华文楷体" panose="02010600040101010101" pitchFamily="2" charset="-122"/>
                <a:ea typeface="华文楷体" panose="02010600040101010101" pitchFamily="2" charset="-122"/>
              </a:rPr>
              <a:t>§ 8.5</a:t>
            </a:r>
            <a:r>
              <a:rPr lang="en-US" altLang="zh-CN" sz="2800" dirty="0">
                <a:solidFill>
                  <a:srgbClr val="002060"/>
                </a:solidFill>
                <a:latin typeface="华文楷体" panose="02010600040101010101" pitchFamily="2" charset="-122"/>
                <a:ea typeface="华文楷体" panose="02010600040101010101" pitchFamily="2" charset="-122"/>
              </a:rPr>
              <a:t>.1</a:t>
            </a:r>
            <a:r>
              <a:rPr lang="zh-CN" altLang="en-US" sz="2800" dirty="0">
                <a:solidFill>
                  <a:srgbClr val="002060"/>
                </a:solidFill>
                <a:latin typeface="华文楷体" panose="02010600040101010101" pitchFamily="2" charset="-122"/>
                <a:ea typeface="华文楷体" panose="02010600040101010101" pitchFamily="2" charset="-122"/>
              </a:rPr>
              <a:t>求解非线性方程 </a:t>
            </a:r>
            <a:r>
              <a:rPr lang="en-US" altLang="zh-CN" sz="2800" dirty="0" err="1">
                <a:solidFill>
                  <a:srgbClr val="FF0000"/>
                </a:solidFill>
                <a:latin typeface="华文楷体" panose="02010600040101010101" pitchFamily="2" charset="-122"/>
                <a:ea typeface="华文楷体" panose="02010600040101010101" pitchFamily="2" charset="-122"/>
                <a:sym typeface="Arial" panose="020B0604020202020204" pitchFamily="34" charset="0"/>
              </a:rPr>
              <a:t>fzero</a:t>
            </a:r>
            <a:r>
              <a:rPr lang="en-US" altLang="zh-CN" sz="2800" b="0" kern="0" dirty="0">
                <a:solidFill>
                  <a:srgbClr val="FF0000"/>
                </a:solidFill>
                <a:latin typeface="华文楷体" panose="02010600040101010101" pitchFamily="2" charset="-122"/>
                <a:ea typeface="华文楷体" panose="02010600040101010101" pitchFamily="2" charset="-122"/>
              </a:rPr>
              <a:t> ——</a:t>
            </a:r>
            <a:r>
              <a:rPr lang="zh-CN" altLang="zh-CN" sz="2000" dirty="0">
                <a:solidFill>
                  <a:srgbClr val="333333"/>
                </a:solidFill>
                <a:effectLst/>
                <a:latin typeface="Helvetica" panose="020B0604020202020204" pitchFamily="34" charset="0"/>
                <a:ea typeface="等线" panose="02010600030101010101" pitchFamily="2" charset="-122"/>
                <a:cs typeface="Helvetica" panose="020B0604020202020204" pitchFamily="34" charset="0"/>
              </a:rPr>
              <a:t>范德瓦尔斯方程</a:t>
            </a:r>
            <a:r>
              <a:rPr lang="zh-CN" altLang="en-US" sz="2000" dirty="0">
                <a:solidFill>
                  <a:srgbClr val="333333"/>
                </a:solidFill>
                <a:effectLst/>
                <a:latin typeface="Helvetica" panose="020B0604020202020204" pitchFamily="34" charset="0"/>
                <a:ea typeface="等线" panose="02010600030101010101" pitchFamily="2" charset="-122"/>
                <a:cs typeface="Helvetica" panose="020B0604020202020204" pitchFamily="34" charset="0"/>
              </a:rPr>
              <a:t>求体积</a:t>
            </a:r>
            <a:endParaRPr lang="en-US" altLang="zh-CN" sz="2800" dirty="0">
              <a:solidFill>
                <a:srgbClr val="FF0000"/>
              </a:solidFill>
              <a:latin typeface="华文楷体" panose="02010600040101010101" pitchFamily="2" charset="-122"/>
              <a:ea typeface="华文楷体" panose="02010600040101010101" pitchFamily="2" charset="-122"/>
              <a:sym typeface="Arial" panose="020B0604020202020204" pitchFamily="34" charset="0"/>
            </a:endParaRPr>
          </a:p>
        </p:txBody>
      </p:sp>
      <p:sp>
        <p:nvSpPr>
          <p:cNvPr id="7" name="形状 18">
            <a:extLst>
              <a:ext uri="{FF2B5EF4-FFF2-40B4-BE49-F238E27FC236}">
                <a16:creationId xmlns:a16="http://schemas.microsoft.com/office/drawing/2014/main" id="{4F8657A0-18FF-46FE-9F3B-446054F5C49B}"/>
              </a:ext>
            </a:extLst>
          </p:cNvPr>
          <p:cNvSpPr/>
          <p:nvPr/>
        </p:nvSpPr>
        <p:spPr>
          <a:xfrm>
            <a:off x="6732240" y="668862"/>
            <a:ext cx="2815705" cy="923330"/>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endParaRPr lang="en-US" altLang="zh-CN" sz="1600" dirty="0">
              <a:solidFill>
                <a:schemeClr val="tx1">
                  <a:lumMod val="50000"/>
                  <a:lumOff val="50000"/>
                </a:schemeClr>
              </a:solidFill>
              <a:latin typeface="Consolas" panose="020B0609020204030204" pitchFamily="49" charset="0"/>
            </a:endParaRPr>
          </a:p>
          <a:p>
            <a:pPr algn="ctr" eaLnBrk="0" fontAlgn="auto">
              <a:spcBef>
                <a:spcPts val="0"/>
              </a:spcBef>
              <a:spcAft>
                <a:spcPts val="0"/>
              </a:spcAft>
            </a:pPr>
            <a:r>
              <a:rPr lang="zh-CN" altLang="en-US" sz="1600" b="1" dirty="0">
                <a:solidFill>
                  <a:srgbClr val="FFFF00"/>
                </a:solidFill>
                <a:latin typeface="微软雅黑" panose="020B0503020204020204" pitchFamily="34" charset="-122"/>
                <a:ea typeface="微软雅黑" panose="020B0503020204020204" pitchFamily="34" charset="-122"/>
              </a:rPr>
              <a:t>体积初始值</a:t>
            </a:r>
            <a:endParaRPr lang="en-US" altLang="zh-CN" sz="1600" b="1" dirty="0">
              <a:solidFill>
                <a:srgbClr val="FFFF00"/>
              </a:solidFill>
              <a:latin typeface="微软雅黑" panose="020B0503020204020204" pitchFamily="34" charset="-122"/>
              <a:ea typeface="微软雅黑" panose="020B0503020204020204" pitchFamily="34" charset="-122"/>
            </a:endParaRPr>
          </a:p>
          <a:p>
            <a:pPr algn="ctr" eaLnBrk="0" fontAlgn="auto">
              <a:spcBef>
                <a:spcPts val="0"/>
              </a:spcBef>
              <a:spcAft>
                <a:spcPts val="0"/>
              </a:spcAft>
            </a:pPr>
            <a:r>
              <a:rPr lang="zh-CN" altLang="en-US" sz="1600" b="1" dirty="0">
                <a:solidFill>
                  <a:srgbClr val="FFFF00"/>
                </a:solidFill>
                <a:latin typeface="微软雅黑" panose="020B0503020204020204" pitchFamily="34" charset="-122"/>
                <a:ea typeface="微软雅黑" panose="020B0503020204020204" pitchFamily="34" charset="-122"/>
              </a:rPr>
              <a:t>设为3.3e-4</a:t>
            </a:r>
          </a:p>
          <a:p>
            <a:pPr marL="0" indent="0" algn="ctr" defTabSz="914400" eaLnBrk="0" fontAlgn="auto" latinLnBrk="0">
              <a:lnSpc>
                <a:spcPct val="100000"/>
              </a:lnSpc>
              <a:spcBef>
                <a:spcPts val="0"/>
              </a:spcBef>
              <a:spcAft>
                <a:spcPts val="0"/>
              </a:spcAft>
              <a:buFontTx/>
              <a:buNone/>
            </a:pPr>
            <a:endParaRPr lang="ko-KR" altLang="en-US" sz="1600" b="1" cap="none" dirty="0">
              <a:solidFill>
                <a:srgbClr val="FFFF00"/>
              </a:solidFill>
              <a:latin typeface="楷体_GB2312" charset="0"/>
              <a:ea typeface="楷体_GB2312" charset="0"/>
            </a:endParaRPr>
          </a:p>
        </p:txBody>
      </p:sp>
      <p:sp>
        <p:nvSpPr>
          <p:cNvPr id="8" name="波形 7">
            <a:extLst>
              <a:ext uri="{FF2B5EF4-FFF2-40B4-BE49-F238E27FC236}">
                <a16:creationId xmlns:a16="http://schemas.microsoft.com/office/drawing/2014/main" id="{CB1FA634-738C-451B-A358-9CE708FD5999}"/>
              </a:ext>
            </a:extLst>
          </p:cNvPr>
          <p:cNvSpPr/>
          <p:nvPr/>
        </p:nvSpPr>
        <p:spPr>
          <a:xfrm>
            <a:off x="8157631" y="1532892"/>
            <a:ext cx="910853" cy="438150"/>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charset="-122"/>
                <a:ea typeface="微软雅黑" panose="020B0503020204020204" charset="-122"/>
              </a:rPr>
              <a:t>例85-1</a:t>
            </a:r>
            <a:endParaRPr lang="ko-KR" altLang="en-US" b="1" dirty="0">
              <a:solidFill>
                <a:srgbClr val="FFFF00"/>
              </a:solidFill>
              <a:latin typeface="微软雅黑" panose="020B0503020204020204" charset="-122"/>
              <a:ea typeface="微软雅黑" panose="020B0503020204020204" charset="-122"/>
            </a:endParaRPr>
          </a:p>
        </p:txBody>
      </p:sp>
      <p:sp>
        <p:nvSpPr>
          <p:cNvPr id="10" name="文本框 9">
            <a:extLst>
              <a:ext uri="{FF2B5EF4-FFF2-40B4-BE49-F238E27FC236}">
                <a16:creationId xmlns:a16="http://schemas.microsoft.com/office/drawing/2014/main" id="{4FEA618A-042F-41B6-A999-99EB2A23EE5E}"/>
              </a:ext>
            </a:extLst>
          </p:cNvPr>
          <p:cNvSpPr txBox="1"/>
          <p:nvPr/>
        </p:nvSpPr>
        <p:spPr>
          <a:xfrm>
            <a:off x="5760088" y="2987123"/>
            <a:ext cx="3377467" cy="523220"/>
          </a:xfrm>
          <a:prstGeom prst="rect">
            <a:avLst/>
          </a:prstGeom>
          <a:noFill/>
        </p:spPr>
        <p:txBody>
          <a:bodyPr wrap="square">
            <a:spAutoFit/>
          </a:bodyPr>
          <a:lstStyle/>
          <a:p>
            <a:r>
              <a:rPr lang="zh-CN" altLang="zh-CN" sz="1400" b="1" dirty="0">
                <a:solidFill>
                  <a:srgbClr val="FF0000"/>
                </a:solidFill>
              </a:rPr>
              <a:t>当函数有多个输出</a:t>
            </a:r>
            <a:r>
              <a:rPr lang="en-US" altLang="zh-CN" sz="1400" b="1" dirty="0">
                <a:solidFill>
                  <a:srgbClr val="FF0000"/>
                </a:solidFill>
              </a:rPr>
              <a:t>,</a:t>
            </a:r>
            <a:r>
              <a:rPr lang="zh-CN" altLang="en-US" sz="1400" b="1" dirty="0">
                <a:solidFill>
                  <a:srgbClr val="FF0000"/>
                </a:solidFill>
              </a:rPr>
              <a:t>忽略</a:t>
            </a:r>
            <a:r>
              <a:rPr lang="zh-CN" altLang="zh-CN" sz="1400" b="1" dirty="0">
                <a:solidFill>
                  <a:srgbClr val="FF0000"/>
                </a:solidFill>
              </a:rPr>
              <a:t>某个输出值</a:t>
            </a:r>
            <a:r>
              <a:rPr lang="zh-CN" altLang="en-US" sz="1400" b="1" dirty="0">
                <a:solidFill>
                  <a:srgbClr val="FF0000"/>
                </a:solidFill>
              </a:rPr>
              <a:t>时</a:t>
            </a:r>
            <a:r>
              <a:rPr lang="zh-CN" altLang="zh-CN" sz="1400" b="1" dirty="0">
                <a:solidFill>
                  <a:srgbClr val="FF0000"/>
                </a:solidFill>
              </a:rPr>
              <a:t>，</a:t>
            </a:r>
            <a:endParaRPr lang="en-US" altLang="zh-CN" sz="1400" b="1" dirty="0">
              <a:solidFill>
                <a:srgbClr val="FF0000"/>
              </a:solidFill>
            </a:endParaRPr>
          </a:p>
          <a:p>
            <a:r>
              <a:rPr lang="zh-CN" altLang="en-US" sz="1400" b="1" dirty="0">
                <a:solidFill>
                  <a:srgbClr val="FF0000"/>
                </a:solidFill>
              </a:rPr>
              <a:t>用</a:t>
            </a:r>
            <a:r>
              <a:rPr lang="zh-CN" altLang="en-US" sz="1400" b="1" dirty="0">
                <a:solidFill>
                  <a:srgbClr val="FFFF00"/>
                </a:solidFill>
                <a:highlight>
                  <a:srgbClr val="FF0000"/>
                </a:highlight>
              </a:rPr>
              <a:t>下划线</a:t>
            </a:r>
            <a:r>
              <a:rPr lang="en-US" altLang="zh-CN" sz="1400" b="1" dirty="0">
                <a:solidFill>
                  <a:srgbClr val="FFFF00"/>
                </a:solidFill>
                <a:highlight>
                  <a:srgbClr val="FF0000"/>
                </a:highlight>
              </a:rPr>
              <a:t>_ </a:t>
            </a:r>
            <a:r>
              <a:rPr lang="zh-CN" altLang="en-US" sz="1400" b="1" dirty="0">
                <a:solidFill>
                  <a:srgbClr val="FF0000"/>
                </a:solidFill>
              </a:rPr>
              <a:t>作为函数输出参数占位符</a:t>
            </a:r>
          </a:p>
        </p:txBody>
      </p:sp>
    </p:spTree>
    <p:extLst>
      <p:ext uri="{BB962C8B-B14F-4D97-AF65-F5344CB8AC3E}">
        <p14:creationId xmlns:p14="http://schemas.microsoft.com/office/powerpoint/2010/main" val="29044275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BEA09167-0E65-4678-9F84-68EB8BB137FA}"/>
              </a:ext>
            </a:extLst>
          </p:cNvPr>
          <p:cNvSpPr txBox="1"/>
          <p:nvPr/>
        </p:nvSpPr>
        <p:spPr>
          <a:xfrm>
            <a:off x="107504" y="1665169"/>
            <a:ext cx="9036496" cy="2123658"/>
          </a:xfrm>
          <a:prstGeom prst="rect">
            <a:avLst/>
          </a:prstGeom>
          <a:solidFill>
            <a:schemeClr val="bg1"/>
          </a:solidFill>
        </p:spPr>
        <p:txBody>
          <a:bodyPr wrap="square">
            <a:spAutoFit/>
          </a:bodyPr>
          <a:lstStyle/>
          <a:p>
            <a:pPr algn="just"/>
            <a:r>
              <a:rPr lang="en-US" altLang="zh-CN" sz="1200" b="1"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a:t>
            </a:r>
            <a:r>
              <a:rPr lang="zh-CN" altLang="en-US" sz="1200" b="1"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迭代结果</a:t>
            </a:r>
            <a:r>
              <a:rPr lang="en-US" altLang="zh-CN" sz="1200" b="1"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Search for an interval around 0.0001 containing a sign change:</a:t>
            </a:r>
            <a:endParaRPr lang="zh-CN" altLang="zh-CN" sz="1200" b="1"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Func</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-count      a       f(a)    b       f(b)    Procedure</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1       0.0001  -1.3569052631579041e6   0.0001  -1.3569052631579041e6   initial interval</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3  9.71715381e-5 </a:t>
            </a:r>
            <a:r>
              <a:rPr lang="en-US" altLang="zh-CN" sz="12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-1.441476069539e6   </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0.0001028284271247 -</a:t>
            </a:r>
            <a:r>
              <a:rPr lang="en-US" altLang="zh-CN" sz="12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1.24912082366e6 </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search</a:t>
            </a:r>
            <a:r>
              <a:rPr lang="en-US" altLang="zh-CN" sz="1200" kern="120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 </a:t>
            </a:r>
            <a:r>
              <a:rPr lang="en-US" alt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增量搜索</a:t>
            </a:r>
            <a:r>
              <a:rPr lang="en-US" alt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200" b="1"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rPr>
              <a:t>Search for a zero in the interval [9.717157287525381e-5, 0.0001028284271247462]:</a:t>
            </a:r>
            <a:endParaRPr lang="zh-CN" altLang="zh-CN" sz="1200" b="1"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5  9.6e-5  -1.466966391509e6    0.00010400000000000001  -1.1998629838005e6  search</a:t>
            </a:r>
            <a:r>
              <a:rPr lang="en-US" altLang="zh-CN" sz="12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增量搜索</a:t>
            </a:r>
            <a:r>
              <a:rPr lang="en-US" altLang="zh-CN" sz="12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14  7.73725830020e-5  </a:t>
            </a:r>
            <a:r>
              <a:rPr lang="en-US" altLang="zh-CN" sz="12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555063.6793</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 0.00011600000000000001 </a:t>
            </a:r>
            <a:r>
              <a:rPr lang="en-US" altLang="zh-CN" sz="1200" b="1"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-644707.865715 </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search </a:t>
            </a:r>
            <a:r>
              <a:rPr lang="en-US" altLang="zh-CN" sz="12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增量搜索</a:t>
            </a:r>
            <a:r>
              <a:rPr lang="en-US" altLang="zh-CN" sz="12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200" kern="100" dirty="0" err="1">
                <a:effectLst/>
                <a:latin typeface="等线" panose="02010600030101010101" pitchFamily="2" charset="-122"/>
                <a:ea typeface="等线" panose="02010600030101010101" pitchFamily="2" charset="-122"/>
                <a:cs typeface="Times New Roman" panose="02020603050405020304" pitchFamily="18" charset="0"/>
              </a:rPr>
              <a:t>Func</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-count      x       f(x)    Procedure</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14      7.737258300203047e-5    555063.6793560833       initial   </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15      7.737258300203047e-5    555063.6793560833       interpolation</a:t>
            </a:r>
            <a:r>
              <a:rPr lang="zh-CN" altLang="zh-CN" sz="1200" b="1"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（开方法的插值）</a:t>
            </a:r>
          </a:p>
          <a:p>
            <a:pPr algn="just"/>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22      7.902391074352825e-5    -6.586313247680664e-6   interpolation</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828A9BF9-3ED9-45E3-B0A2-5E327B3E3ADA}"/>
              </a:ext>
            </a:extLst>
          </p:cNvPr>
          <p:cNvSpPr txBox="1"/>
          <p:nvPr/>
        </p:nvSpPr>
        <p:spPr>
          <a:xfrm>
            <a:off x="74882" y="3696306"/>
            <a:ext cx="8961614" cy="954107"/>
          </a:xfrm>
          <a:prstGeom prst="rect">
            <a:avLst/>
          </a:prstGeom>
          <a:solidFill>
            <a:schemeClr val="bg1"/>
          </a:solidFill>
        </p:spPr>
        <p:txBody>
          <a:bodyPr wrap="square">
            <a:spAutoFit/>
          </a:bodyPr>
          <a:lstStyle/>
          <a:p>
            <a:pPr algn="just"/>
            <a:r>
              <a:rPr lang="en-US" altLang="zh-CN" sz="1400" kern="100" dirty="0">
                <a:solidFill>
                  <a:srgbClr val="00B0F0"/>
                </a:solidFill>
                <a:effectLst/>
                <a:latin typeface="微软雅黑" panose="020B0503020204020204" pitchFamily="34" charset="-122"/>
                <a:ea typeface="微软雅黑" panose="020B0503020204020204" pitchFamily="34" charset="-122"/>
                <a:cs typeface="Times New Roman" panose="02020603050405020304" pitchFamily="18" charset="0"/>
              </a:rPr>
              <a:t>Zero found in the interval [7.737258300203047e-5, 0.00011600000000000001]</a:t>
            </a:r>
            <a:endParaRPr lang="zh-CN" altLang="zh-CN" sz="1400" kern="100" dirty="0">
              <a:solidFill>
                <a:srgbClr val="00B0F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r>
              <a:rPr lang="en-US" altLang="zh-CN" sz="1400" kern="100" dirty="0">
                <a:solidFill>
                  <a:srgbClr val="00B0F0"/>
                </a:solidFill>
                <a:effectLst/>
                <a:latin typeface="微软雅黑" panose="020B0503020204020204" pitchFamily="34" charset="-122"/>
                <a:ea typeface="微软雅黑" panose="020B0503020204020204" pitchFamily="34" charset="-122"/>
                <a:cs typeface="Times New Roman" panose="02020603050405020304" pitchFamily="18" charset="0"/>
              </a:rPr>
              <a:t>(7.902391074352825e-5, -6.586313247680664e-6, 1, </a:t>
            </a:r>
            <a:r>
              <a:rPr lang="en-US" altLang="zh-CN" sz="1400" kern="100" dirty="0" err="1">
                <a:solidFill>
                  <a:srgbClr val="00B0F0"/>
                </a:solidFill>
                <a:effectLst/>
                <a:latin typeface="微软雅黑" panose="020B0503020204020204" pitchFamily="34" charset="-122"/>
                <a:ea typeface="微软雅黑" panose="020B0503020204020204" pitchFamily="34" charset="-122"/>
                <a:cs typeface="Times New Roman" panose="02020603050405020304" pitchFamily="18" charset="0"/>
              </a:rPr>
              <a:t>intervaliterations</a:t>
            </a:r>
            <a:r>
              <a:rPr lang="en-US" altLang="zh-CN" sz="1400" kern="100" dirty="0">
                <a:solidFill>
                  <a:srgbClr val="00B0F0"/>
                </a:solidFill>
                <a:effectLst/>
                <a:latin typeface="微软雅黑" panose="020B0503020204020204" pitchFamily="34" charset="-122"/>
                <a:ea typeface="微软雅黑" panose="020B0503020204020204" pitchFamily="34" charset="-122"/>
                <a:cs typeface="Times New Roman" panose="02020603050405020304" pitchFamily="18" charset="0"/>
              </a:rPr>
              <a:t>: 7</a:t>
            </a:r>
            <a:endParaRPr lang="zh-CN" altLang="zh-CN" sz="1400" kern="100" dirty="0">
              <a:solidFill>
                <a:srgbClr val="00B0F0"/>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algn="just"/>
            <a:r>
              <a:rPr lang="en-US" altLang="zh-CN" sz="1400" kern="100" dirty="0">
                <a:solidFill>
                  <a:schemeClr val="bg1"/>
                </a:solidFill>
                <a:effectLst/>
                <a:highlight>
                  <a:srgbClr val="66CCFF"/>
                </a:highlight>
                <a:latin typeface="微软雅黑" panose="020B0503020204020204" pitchFamily="34" charset="-122"/>
                <a:ea typeface="微软雅黑" panose="020B0503020204020204" pitchFamily="34" charset="-122"/>
                <a:cs typeface="Times New Roman" panose="02020603050405020304" pitchFamily="18" charset="0"/>
              </a:rPr>
              <a:t>iterations: 8, </a:t>
            </a:r>
            <a:r>
              <a:rPr lang="en-US" altLang="zh-CN" sz="1400" kern="100" dirty="0" err="1">
                <a:solidFill>
                  <a:schemeClr val="bg1"/>
                </a:solidFill>
                <a:effectLst/>
                <a:highlight>
                  <a:srgbClr val="66CCFF"/>
                </a:highlight>
                <a:latin typeface="微软雅黑" panose="020B0503020204020204" pitchFamily="34" charset="-122"/>
                <a:ea typeface="微软雅黑" panose="020B0503020204020204" pitchFamily="34" charset="-122"/>
                <a:cs typeface="Times New Roman" panose="02020603050405020304" pitchFamily="18" charset="0"/>
              </a:rPr>
              <a:t>funcCount</a:t>
            </a:r>
            <a:r>
              <a:rPr lang="en-US" altLang="zh-CN" sz="1400" kern="100" dirty="0">
                <a:solidFill>
                  <a:schemeClr val="bg1"/>
                </a:solidFill>
                <a:effectLst/>
                <a:highlight>
                  <a:srgbClr val="66CCFF"/>
                </a:highlight>
                <a:latin typeface="微软雅黑" panose="020B0503020204020204" pitchFamily="34" charset="-122"/>
                <a:ea typeface="微软雅黑" panose="020B0503020204020204" pitchFamily="34" charset="-122"/>
                <a:cs typeface="Times New Roman" panose="02020603050405020304" pitchFamily="18" charset="0"/>
              </a:rPr>
              <a:t>: 22;algorithm: bisection, interpolation</a:t>
            </a:r>
            <a:endParaRPr lang="zh-CN" altLang="zh-CN" sz="1400" kern="100" dirty="0">
              <a:solidFill>
                <a:schemeClr val="bg1"/>
              </a:solidFill>
              <a:effectLst/>
              <a:highlight>
                <a:srgbClr val="66CCFF"/>
              </a:highlight>
              <a:latin typeface="微软雅黑" panose="020B0503020204020204" pitchFamily="34" charset="-122"/>
              <a:ea typeface="微软雅黑" panose="020B0503020204020204" pitchFamily="34" charset="-122"/>
              <a:cs typeface="Times New Roman" panose="02020603050405020304" pitchFamily="18" charset="0"/>
            </a:endParaRPr>
          </a:p>
          <a:p>
            <a:pPr algn="just"/>
            <a:r>
              <a:rPr lang="en-US" altLang="zh-CN" sz="1400" kern="100" dirty="0">
                <a:solidFill>
                  <a:srgbClr val="00B0F0"/>
                </a:solidFill>
                <a:effectLst/>
                <a:latin typeface="微软雅黑" panose="020B0503020204020204" pitchFamily="34" charset="-122"/>
                <a:ea typeface="微软雅黑" panose="020B0503020204020204" pitchFamily="34" charset="-122"/>
                <a:cs typeface="Times New Roman" panose="02020603050405020304" pitchFamily="18" charset="0"/>
              </a:rPr>
              <a:t>message: Zero found in the interval [7.737258300203047e-5, 0.00011600000000000001])</a:t>
            </a:r>
            <a:endParaRPr lang="zh-CN" altLang="zh-CN" sz="1400" kern="100" dirty="0">
              <a:solidFill>
                <a:srgbClr val="00B0F0"/>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976BCFC5-8DA7-452C-B83A-8280DF4DDC0E}"/>
              </a:ext>
            </a:extLst>
          </p:cNvPr>
          <p:cNvSpPr txBox="1"/>
          <p:nvPr/>
        </p:nvSpPr>
        <p:spPr>
          <a:xfrm>
            <a:off x="683568" y="-19033"/>
            <a:ext cx="8136904" cy="677108"/>
          </a:xfrm>
          <a:prstGeom prst="rect">
            <a:avLst/>
          </a:prstGeom>
          <a:noFill/>
        </p:spPr>
        <p:txBody>
          <a:bodyPr wrap="square">
            <a:spAutoFit/>
          </a:bodyPr>
          <a:lstStyle/>
          <a:p>
            <a:pPr algn="dist">
              <a:lnSpc>
                <a:spcPct val="150000"/>
              </a:lnSpc>
            </a:pPr>
            <a:r>
              <a:rPr lang="en-US" altLang="zh-CN" sz="2800" b="0" dirty="0">
                <a:solidFill>
                  <a:srgbClr val="002060"/>
                </a:solidFill>
                <a:latin typeface="华文楷体" panose="02010600040101010101" pitchFamily="2" charset="-122"/>
                <a:ea typeface="华文楷体" panose="02010600040101010101" pitchFamily="2" charset="-122"/>
              </a:rPr>
              <a:t>§ 8.5</a:t>
            </a:r>
            <a:r>
              <a:rPr lang="en-US" altLang="zh-CN" sz="2800" dirty="0">
                <a:solidFill>
                  <a:srgbClr val="002060"/>
                </a:solidFill>
                <a:latin typeface="华文楷体" panose="02010600040101010101" pitchFamily="2" charset="-122"/>
                <a:ea typeface="华文楷体" panose="02010600040101010101" pitchFamily="2" charset="-122"/>
              </a:rPr>
              <a:t>.1</a:t>
            </a:r>
            <a:r>
              <a:rPr lang="zh-CN" altLang="en-US" sz="2800" dirty="0">
                <a:solidFill>
                  <a:srgbClr val="002060"/>
                </a:solidFill>
                <a:latin typeface="华文楷体" panose="02010600040101010101" pitchFamily="2" charset="-122"/>
                <a:ea typeface="华文楷体" panose="02010600040101010101" pitchFamily="2" charset="-122"/>
              </a:rPr>
              <a:t>求解非线性方程 </a:t>
            </a:r>
            <a:r>
              <a:rPr lang="en-US" altLang="zh-CN" sz="2800" dirty="0" err="1">
                <a:solidFill>
                  <a:srgbClr val="FF0000"/>
                </a:solidFill>
                <a:latin typeface="华文楷体" panose="02010600040101010101" pitchFamily="2" charset="-122"/>
                <a:ea typeface="华文楷体" panose="02010600040101010101" pitchFamily="2" charset="-122"/>
                <a:sym typeface="Arial" panose="020B0604020202020204" pitchFamily="34" charset="0"/>
              </a:rPr>
              <a:t>fzero</a:t>
            </a:r>
            <a:r>
              <a:rPr lang="en-US" altLang="zh-CN" sz="2800" b="0" kern="0" dirty="0">
                <a:solidFill>
                  <a:srgbClr val="FF0000"/>
                </a:solidFill>
                <a:latin typeface="华文楷体" panose="02010600040101010101" pitchFamily="2" charset="-122"/>
                <a:ea typeface="华文楷体" panose="02010600040101010101" pitchFamily="2" charset="-122"/>
              </a:rPr>
              <a:t> ——</a:t>
            </a:r>
            <a:r>
              <a:rPr lang="zh-CN" altLang="zh-CN" sz="2000" dirty="0">
                <a:solidFill>
                  <a:srgbClr val="333333"/>
                </a:solidFill>
                <a:effectLst/>
                <a:latin typeface="Helvetica" panose="020B0604020202020204" pitchFamily="34" charset="0"/>
                <a:ea typeface="等线" panose="02010600030101010101" pitchFamily="2" charset="-122"/>
                <a:cs typeface="Helvetica" panose="020B0604020202020204" pitchFamily="34" charset="0"/>
              </a:rPr>
              <a:t>范德瓦尔斯方程</a:t>
            </a:r>
            <a:r>
              <a:rPr lang="zh-CN" altLang="en-US" sz="2000" dirty="0">
                <a:solidFill>
                  <a:srgbClr val="333333"/>
                </a:solidFill>
                <a:effectLst/>
                <a:latin typeface="Helvetica" panose="020B0604020202020204" pitchFamily="34" charset="0"/>
                <a:ea typeface="等线" panose="02010600030101010101" pitchFamily="2" charset="-122"/>
                <a:cs typeface="Helvetica" panose="020B0604020202020204" pitchFamily="34" charset="0"/>
              </a:rPr>
              <a:t>求体积</a:t>
            </a:r>
            <a:endParaRPr lang="en-US" altLang="zh-CN" sz="2800" dirty="0">
              <a:solidFill>
                <a:srgbClr val="FF0000"/>
              </a:solidFill>
              <a:latin typeface="华文楷体" panose="02010600040101010101" pitchFamily="2" charset="-122"/>
              <a:ea typeface="华文楷体" panose="02010600040101010101" pitchFamily="2" charset="-122"/>
              <a:sym typeface="Arial" panose="020B0604020202020204" pitchFamily="34" charset="0"/>
            </a:endParaRPr>
          </a:p>
        </p:txBody>
      </p:sp>
      <p:sp>
        <p:nvSpPr>
          <p:cNvPr id="10" name="文本框 9">
            <a:extLst>
              <a:ext uri="{FF2B5EF4-FFF2-40B4-BE49-F238E27FC236}">
                <a16:creationId xmlns:a16="http://schemas.microsoft.com/office/drawing/2014/main" id="{82A0994A-9642-4839-9105-C5A8C019DDDA}"/>
              </a:ext>
            </a:extLst>
          </p:cNvPr>
          <p:cNvSpPr txBox="1"/>
          <p:nvPr/>
        </p:nvSpPr>
        <p:spPr>
          <a:xfrm>
            <a:off x="74882" y="758639"/>
            <a:ext cx="8925910" cy="338554"/>
          </a:xfrm>
          <a:prstGeom prst="rect">
            <a:avLst/>
          </a:prstGeom>
          <a:solidFill>
            <a:schemeClr val="bg1"/>
          </a:solidFill>
        </p:spPr>
        <p:txBody>
          <a:bodyPr wrap="square">
            <a:spAutoFit/>
          </a:bodyPr>
          <a:lstStyle/>
          <a:p>
            <a:r>
              <a:rPr lang="en-US" altLang="zh-CN" sz="16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ff(v)=p(v)-5*10^6 #</a:t>
            </a:r>
            <a:r>
              <a:rPr lang="zh-CN" altLang="en-US" sz="16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建立求根的非线性方程</a:t>
            </a:r>
            <a:r>
              <a:rPr lang="en-US" altLang="zh-CN" sz="16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ff(v)=0</a:t>
            </a:r>
          </a:p>
        </p:txBody>
      </p:sp>
      <p:sp>
        <p:nvSpPr>
          <p:cNvPr id="12" name="文本框 11">
            <a:extLst>
              <a:ext uri="{FF2B5EF4-FFF2-40B4-BE49-F238E27FC236}">
                <a16:creationId xmlns:a16="http://schemas.microsoft.com/office/drawing/2014/main" id="{B441DAE1-BA8F-41EB-B8B6-F781B6820535}"/>
              </a:ext>
            </a:extLst>
          </p:cNvPr>
          <p:cNvSpPr txBox="1"/>
          <p:nvPr/>
        </p:nvSpPr>
        <p:spPr>
          <a:xfrm>
            <a:off x="4860032" y="1347614"/>
            <a:ext cx="4283968" cy="338554"/>
          </a:xfrm>
          <a:prstGeom prst="rect">
            <a:avLst/>
          </a:prstGeom>
          <a:solidFill>
            <a:schemeClr val="bg1"/>
          </a:solidFill>
        </p:spPr>
        <p:txBody>
          <a:bodyPr wrap="square">
            <a:spAutoFit/>
          </a:bodyPr>
          <a:lstStyle/>
          <a:p>
            <a:r>
              <a:rPr lang="en-US" altLang="zh-CN" sz="1600" dirty="0">
                <a:solidFill>
                  <a:srgbClr val="FF0000"/>
                </a:solidFill>
              </a:rPr>
              <a:t>#</a:t>
            </a:r>
            <a:r>
              <a:rPr lang="zh-CN" altLang="en-US" sz="1600" dirty="0">
                <a:solidFill>
                  <a:srgbClr val="FF0000"/>
                </a:solidFill>
              </a:rPr>
              <a:t>结果vv=7.90239e-5,fvv=-6.5863e-6,ex=1</a:t>
            </a:r>
          </a:p>
        </p:txBody>
      </p:sp>
      <p:sp>
        <p:nvSpPr>
          <p:cNvPr id="11" name="形状 18">
            <a:extLst>
              <a:ext uri="{FF2B5EF4-FFF2-40B4-BE49-F238E27FC236}">
                <a16:creationId xmlns:a16="http://schemas.microsoft.com/office/drawing/2014/main" id="{7DCA8F01-D2E4-491B-8873-540515540F1E}"/>
              </a:ext>
            </a:extLst>
          </p:cNvPr>
          <p:cNvSpPr/>
          <p:nvPr/>
        </p:nvSpPr>
        <p:spPr>
          <a:xfrm>
            <a:off x="5685261" y="688616"/>
            <a:ext cx="3168352" cy="369333"/>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endParaRPr lang="en-US" altLang="zh-CN" sz="1400" dirty="0">
              <a:solidFill>
                <a:schemeClr val="tx1">
                  <a:lumMod val="50000"/>
                  <a:lumOff val="50000"/>
                </a:schemeClr>
              </a:solidFill>
              <a:latin typeface="Consolas" panose="020B0609020204030204" pitchFamily="49" charset="0"/>
            </a:endParaRPr>
          </a:p>
          <a:p>
            <a:pPr algn="ctr" eaLnBrk="0" fontAlgn="auto">
              <a:spcBef>
                <a:spcPts val="0"/>
              </a:spcBef>
              <a:spcAft>
                <a:spcPts val="0"/>
              </a:spcAft>
            </a:pPr>
            <a:r>
              <a:rPr lang="zh-CN" altLang="en-US" sz="1400" b="1" dirty="0">
                <a:solidFill>
                  <a:srgbClr val="FFFF00"/>
                </a:solidFill>
                <a:latin typeface="微软雅黑" panose="020B0503020204020204" pitchFamily="34" charset="-122"/>
                <a:ea typeface="微软雅黑" panose="020B0503020204020204" pitchFamily="34" charset="-122"/>
              </a:rPr>
              <a:t>体积初始值设为</a:t>
            </a:r>
            <a:r>
              <a:rPr lang="en-US" altLang="zh-CN" sz="1400" b="1" dirty="0">
                <a:solidFill>
                  <a:srgbClr val="FFFF00"/>
                </a:solidFill>
                <a:latin typeface="微软雅黑" panose="020B0503020204020204" pitchFamily="34" charset="-122"/>
                <a:ea typeface="微软雅黑" panose="020B0503020204020204" pitchFamily="34" charset="-122"/>
              </a:rPr>
              <a:t>1</a:t>
            </a:r>
            <a:r>
              <a:rPr lang="zh-CN" altLang="en-US" sz="1400" b="1" dirty="0">
                <a:solidFill>
                  <a:srgbClr val="FFFF00"/>
                </a:solidFill>
                <a:latin typeface="微软雅黑" panose="020B0503020204020204" pitchFamily="34" charset="-122"/>
                <a:ea typeface="微软雅黑" panose="020B0503020204020204" pitchFamily="34" charset="-122"/>
              </a:rPr>
              <a:t>e-4</a:t>
            </a:r>
          </a:p>
          <a:p>
            <a:pPr marL="0" indent="0" algn="ctr" defTabSz="914400" eaLnBrk="0" fontAlgn="auto" latinLnBrk="0">
              <a:lnSpc>
                <a:spcPct val="100000"/>
              </a:lnSpc>
              <a:spcBef>
                <a:spcPts val="0"/>
              </a:spcBef>
              <a:spcAft>
                <a:spcPts val="0"/>
              </a:spcAft>
              <a:buFontTx/>
              <a:buNone/>
            </a:pPr>
            <a:endParaRPr lang="ko-KR" altLang="en-US" sz="1400" b="1" cap="none" dirty="0">
              <a:solidFill>
                <a:srgbClr val="FFFF00"/>
              </a:solidFill>
              <a:latin typeface="楷体_GB2312" charset="0"/>
              <a:ea typeface="楷体_GB2312" charset="0"/>
            </a:endParaRPr>
          </a:p>
        </p:txBody>
      </p:sp>
      <p:sp>
        <p:nvSpPr>
          <p:cNvPr id="13" name="波形 12">
            <a:extLst>
              <a:ext uri="{FF2B5EF4-FFF2-40B4-BE49-F238E27FC236}">
                <a16:creationId xmlns:a16="http://schemas.microsoft.com/office/drawing/2014/main" id="{A2C699FD-AFFB-4098-A0B6-ABA9961B13D8}"/>
              </a:ext>
            </a:extLst>
          </p:cNvPr>
          <p:cNvSpPr/>
          <p:nvPr/>
        </p:nvSpPr>
        <p:spPr>
          <a:xfrm>
            <a:off x="8188413" y="712726"/>
            <a:ext cx="776075" cy="262101"/>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200" b="1" dirty="0">
                <a:solidFill>
                  <a:srgbClr val="FFFF00"/>
                </a:solidFill>
                <a:latin typeface="微软雅黑" panose="020B0503020204020204" charset="-122"/>
                <a:ea typeface="微软雅黑" panose="020B0503020204020204" charset="-122"/>
              </a:rPr>
              <a:t>例85-1</a:t>
            </a:r>
            <a:endParaRPr lang="ko-KR" altLang="en-US" sz="1200" b="1" dirty="0">
              <a:solidFill>
                <a:srgbClr val="FFFF00"/>
              </a:solidFill>
              <a:latin typeface="微软雅黑" panose="020B0503020204020204" charset="-122"/>
              <a:ea typeface="微软雅黑" panose="020B0503020204020204" charset="-122"/>
            </a:endParaRPr>
          </a:p>
        </p:txBody>
      </p:sp>
      <p:sp>
        <p:nvSpPr>
          <p:cNvPr id="14" name="文本框 13">
            <a:extLst>
              <a:ext uri="{FF2B5EF4-FFF2-40B4-BE49-F238E27FC236}">
                <a16:creationId xmlns:a16="http://schemas.microsoft.com/office/drawing/2014/main" id="{562C2B82-E683-48B8-96E8-380FBA241E42}"/>
              </a:ext>
            </a:extLst>
          </p:cNvPr>
          <p:cNvSpPr txBox="1"/>
          <p:nvPr/>
        </p:nvSpPr>
        <p:spPr>
          <a:xfrm>
            <a:off x="107504" y="1018772"/>
            <a:ext cx="8961614" cy="666464"/>
          </a:xfrm>
          <a:prstGeom prst="rect">
            <a:avLst/>
          </a:prstGeom>
          <a:noFill/>
        </p:spPr>
        <p:txBody>
          <a:bodyPr wrap="square">
            <a:spAutoFit/>
          </a:bodyPr>
          <a:lstStyle/>
          <a:p>
            <a:pPr>
              <a:lnSpc>
                <a:spcPts val="2300"/>
              </a:lnSpc>
            </a:pPr>
            <a:r>
              <a:rPr lang="en-US" altLang="zh-CN" sz="1800" b="0" dirty="0">
                <a:solidFill>
                  <a:srgbClr val="000000"/>
                </a:solidFill>
                <a:effectLst/>
                <a:latin typeface="Consolas" panose="020B0609020204030204" pitchFamily="49" charset="0"/>
              </a:rPr>
              <a:t>vv,fvv,ex=</a:t>
            </a:r>
            <a:r>
              <a:rPr lang="en-US" altLang="zh-CN" sz="1800" b="0" dirty="0" err="1">
                <a:solidFill>
                  <a:srgbClr val="795E26"/>
                </a:solidFill>
                <a:effectLst/>
                <a:latin typeface="Consolas" panose="020B0609020204030204" pitchFamily="49" charset="0"/>
              </a:rPr>
              <a:t>fzero</a:t>
            </a:r>
            <a:r>
              <a:rPr lang="en-US" altLang="zh-CN" sz="1800" b="0" dirty="0">
                <a:solidFill>
                  <a:srgbClr val="000000"/>
                </a:solidFill>
                <a:effectLst/>
                <a:latin typeface="Consolas" panose="020B0609020204030204" pitchFamily="49" charset="0"/>
              </a:rPr>
              <a:t>(ff,</a:t>
            </a:r>
            <a:r>
              <a:rPr lang="en-US" altLang="zh-CN" sz="1800" b="0" dirty="0">
                <a:solidFill>
                  <a:srgbClr val="098658"/>
                </a:solidFill>
                <a:effectLst/>
                <a:latin typeface="Consolas" panose="020B0609020204030204" pitchFamily="49" charset="0"/>
              </a:rPr>
              <a:t>1e-4</a:t>
            </a:r>
            <a:r>
              <a:rPr lang="en-US" altLang="zh-CN" sz="1800" b="0" dirty="0">
                <a:solidFill>
                  <a:srgbClr val="000000"/>
                </a:solidFill>
                <a:effectLst/>
                <a:latin typeface="Consolas" panose="020B0609020204030204" pitchFamily="49" charset="0"/>
              </a:rPr>
              <a:t>,</a:t>
            </a:r>
            <a:r>
              <a:rPr lang="en-US" altLang="zh-CN" sz="1800" b="0" dirty="0">
                <a:solidFill>
                  <a:srgbClr val="795E26"/>
                </a:solidFill>
                <a:effectLst/>
                <a:latin typeface="Consolas" panose="020B0609020204030204" pitchFamily="49" charset="0"/>
              </a:rPr>
              <a:t>optimset</a:t>
            </a:r>
            <a:r>
              <a:rPr lang="en-US" altLang="zh-CN" sz="1800" b="0" dirty="0">
                <a:solidFill>
                  <a:srgbClr val="000000"/>
                </a:solidFill>
                <a:effectLst/>
                <a:latin typeface="Consolas" panose="020B0609020204030204" pitchFamily="49" charset="0"/>
              </a:rPr>
              <a:t>(Display=</a:t>
            </a:r>
            <a:r>
              <a:rPr lang="en-US" altLang="zh-CN" sz="1800" b="0" dirty="0">
                <a:solidFill>
                  <a:srgbClr val="A31515"/>
                </a:solidFill>
                <a:effectLst/>
                <a:latin typeface="Consolas" panose="020B0609020204030204" pitchFamily="49" charset="0"/>
              </a:rPr>
              <a:t>"</a:t>
            </a:r>
            <a:r>
              <a:rPr lang="en-US" altLang="zh-CN" sz="1800" b="0" dirty="0" err="1">
                <a:solidFill>
                  <a:srgbClr val="A31515"/>
                </a:solidFill>
                <a:effectLst/>
                <a:latin typeface="Consolas" panose="020B0609020204030204" pitchFamily="49" charset="0"/>
              </a:rPr>
              <a:t>iter</a:t>
            </a:r>
            <a:r>
              <a:rPr lang="en-US" altLang="zh-CN" sz="1800" b="0" dirty="0">
                <a:solidFill>
                  <a:srgbClr val="A31515"/>
                </a:solidFill>
                <a:effectLst/>
                <a:latin typeface="Consolas" panose="020B0609020204030204" pitchFamily="49" charset="0"/>
              </a:rPr>
              <a:t>"</a:t>
            </a:r>
            <a:r>
              <a:rPr lang="en-US" altLang="zh-CN" sz="1800" b="0" dirty="0">
                <a:solidFill>
                  <a:srgbClr val="000000"/>
                </a:solidFill>
                <a:effectLst/>
                <a:latin typeface="Consolas" panose="020B0609020204030204" pitchFamily="49" charset="0"/>
              </a:rPr>
              <a:t>)) </a:t>
            </a:r>
            <a:r>
              <a:rPr lang="en-US" altLang="zh-CN" sz="1800" b="0" dirty="0">
                <a:solidFill>
                  <a:srgbClr val="008000"/>
                </a:solidFill>
                <a:effectLst/>
                <a:latin typeface="Consolas" panose="020B0609020204030204" pitchFamily="49" charset="0"/>
              </a:rPr>
              <a:t>#</a:t>
            </a:r>
            <a:r>
              <a:rPr lang="zh-CN" altLang="en-US" sz="1800" b="0" dirty="0">
                <a:solidFill>
                  <a:srgbClr val="008000"/>
                </a:solidFill>
                <a:effectLst/>
                <a:latin typeface="Consolas" panose="020B0609020204030204" pitchFamily="49" charset="0"/>
              </a:rPr>
              <a:t>查看每次迭代求解结果</a:t>
            </a:r>
            <a:endParaRPr lang="en-US" altLang="zh-CN" sz="1800" b="0" dirty="0">
              <a:solidFill>
                <a:srgbClr val="008000"/>
              </a:solidFill>
              <a:effectLst/>
              <a:latin typeface="Consolas" panose="020B0609020204030204" pitchFamily="49" charset="0"/>
            </a:endParaRPr>
          </a:p>
          <a:p>
            <a:pPr>
              <a:lnSpc>
                <a:spcPts val="2300"/>
              </a:lnSpc>
            </a:pPr>
            <a:r>
              <a:rPr lang="zh-CN" altLang="en-US" sz="1800" dirty="0"/>
              <a:t>println("vv=$vv,fvv=$fvv,ex=$ex")</a:t>
            </a:r>
            <a:endParaRPr lang="zh-CN" altLang="en-US" sz="18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7567376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4DDA369-5799-4637-AE8A-38156515D9E6}"/>
              </a:ext>
            </a:extLst>
          </p:cNvPr>
          <p:cNvSpPr txBox="1"/>
          <p:nvPr/>
        </p:nvSpPr>
        <p:spPr>
          <a:xfrm>
            <a:off x="179513" y="672092"/>
            <a:ext cx="8964487" cy="3970318"/>
          </a:xfrm>
          <a:prstGeom prst="rect">
            <a:avLst/>
          </a:prstGeom>
          <a:solidFill>
            <a:schemeClr val="bg1"/>
          </a:solidFill>
          <a:ln>
            <a:solidFill>
              <a:schemeClr val="bg1">
                <a:lumMod val="95000"/>
              </a:schemeClr>
            </a:solidFill>
          </a:ln>
        </p:spPr>
        <p:txBody>
          <a:bodyPr wrap="square">
            <a:spAutoFit/>
          </a:bodyPr>
          <a:lstStyle/>
          <a:p>
            <a:r>
              <a:rPr lang="en-US" altLang="zh-CN" b="0" dirty="0">
                <a:solidFill>
                  <a:srgbClr val="008000"/>
                </a:solidFill>
                <a:effectLst/>
                <a:latin typeface="Consolas" panose="020B0609020204030204" pitchFamily="49" charset="0"/>
              </a:rPr>
              <a:t>#</a:t>
            </a:r>
            <a:r>
              <a:rPr lang="zh-CN" altLang="zh-CN" dirty="0">
                <a:solidFill>
                  <a:schemeClr val="tx1">
                    <a:lumMod val="50000"/>
                    <a:lumOff val="50000"/>
                  </a:schemeClr>
                </a:solidFill>
                <a:effectLst/>
                <a:latin typeface="Helvetica" panose="020B0604020202020204" pitchFamily="34" charset="0"/>
                <a:ea typeface="等线" panose="02010600030101010101" pitchFamily="2" charset="-122"/>
                <a:cs typeface="Helvetica" panose="020B0604020202020204" pitchFamily="34" charset="0"/>
              </a:rPr>
              <a:t>范德瓦尔斯</a:t>
            </a:r>
            <a:r>
              <a:rPr lang="zh-CN" altLang="en-US" b="0" dirty="0">
                <a:solidFill>
                  <a:srgbClr val="008000"/>
                </a:solidFill>
                <a:effectLst/>
                <a:latin typeface="Consolas" panose="020B0609020204030204" pitchFamily="49" charset="0"/>
              </a:rPr>
              <a:t>非线性方程</a:t>
            </a:r>
            <a:endParaRPr lang="en-US" altLang="zh-CN" b="0" dirty="0">
              <a:solidFill>
                <a:srgbClr val="795E26"/>
              </a:solidFill>
              <a:effectLst/>
              <a:latin typeface="Consolas" panose="020B0609020204030204" pitchFamily="49" charset="0"/>
            </a:endParaRPr>
          </a:p>
          <a:p>
            <a:r>
              <a:rPr lang="en-US" altLang="zh-CN" b="0" dirty="0">
                <a:solidFill>
                  <a:srgbClr val="795E26"/>
                </a:solidFill>
                <a:effectLst/>
                <a:latin typeface="Consolas" panose="020B0609020204030204" pitchFamily="49" charset="0"/>
              </a:rPr>
              <a:t>p</a:t>
            </a:r>
            <a:r>
              <a:rPr lang="en-US" altLang="zh-CN" b="0" dirty="0">
                <a:solidFill>
                  <a:srgbClr val="000000"/>
                </a:solidFill>
                <a:effectLst/>
                <a:latin typeface="Consolas" panose="020B0609020204030204" pitchFamily="49" charset="0"/>
              </a:rPr>
              <a:t>(v)=</a:t>
            </a:r>
            <a:r>
              <a:rPr lang="en-US" altLang="zh-CN" b="0" dirty="0">
                <a:solidFill>
                  <a:srgbClr val="098658"/>
                </a:solidFill>
                <a:effectLst/>
                <a:latin typeface="Consolas" panose="020B0609020204030204" pitchFamily="49" charset="0"/>
              </a:rPr>
              <a:t>8.314</a:t>
            </a:r>
            <a:r>
              <a:rPr lang="en-US" altLang="zh-CN" b="0" dirty="0">
                <a:solidFill>
                  <a:srgbClr val="000000"/>
                </a:solidFill>
                <a:effectLst/>
                <a:latin typeface="Consolas" panose="020B0609020204030204" pitchFamily="49" charset="0"/>
              </a:rPr>
              <a:t>T/(v-</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)*b)-</a:t>
            </a:r>
            <a:r>
              <a:rPr lang="en-US" altLang="zh-CN" b="0" dirty="0">
                <a:solidFill>
                  <a:srgbClr val="098658"/>
                </a:solidFill>
                <a:effectLst/>
                <a:latin typeface="Consolas" panose="020B0609020204030204" pitchFamily="49" charset="0"/>
              </a:rPr>
              <a:t>0.1013</a:t>
            </a:r>
            <a:r>
              <a:rPr lang="en-US" altLang="zh-CN" b="0" dirty="0">
                <a:solidFill>
                  <a:srgbClr val="000000"/>
                </a:solidFill>
                <a:effectLst/>
                <a:latin typeface="Consolas" panose="020B0609020204030204" pitchFamily="49" charset="0"/>
              </a:rPr>
              <a:t>a/(v^</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endParaRPr lang="zh-CN" altLang="en-US" b="0" dirty="0">
              <a:solidFill>
                <a:srgbClr val="000000"/>
              </a:solidFill>
              <a:effectLst/>
              <a:latin typeface="Consolas" panose="020B0609020204030204" pitchFamily="49" charset="0"/>
            </a:endParaRPr>
          </a:p>
          <a:p>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气体的一些常数</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a=</a:t>
            </a:r>
            <a:r>
              <a:rPr lang="en-US" altLang="zh-CN" b="0" dirty="0">
                <a:solidFill>
                  <a:srgbClr val="098658"/>
                </a:solidFill>
                <a:effectLst/>
                <a:latin typeface="Consolas" panose="020B0609020204030204" pitchFamily="49" charset="0"/>
              </a:rPr>
              <a:t>3.96</a:t>
            </a:r>
            <a:r>
              <a:rPr lang="en-US" altLang="zh-CN" b="0" dirty="0">
                <a:solidFill>
                  <a:srgbClr val="000000"/>
                </a:solidFill>
                <a:effectLst/>
                <a:latin typeface="Consolas" panose="020B0609020204030204" pitchFamily="49" charset="0"/>
              </a:rPr>
              <a:t>;b=</a:t>
            </a:r>
            <a:r>
              <a:rPr lang="en-US" altLang="zh-CN" b="0" dirty="0">
                <a:solidFill>
                  <a:srgbClr val="098658"/>
                </a:solidFill>
                <a:effectLst/>
                <a:latin typeface="Consolas" panose="020B0609020204030204" pitchFamily="49" charset="0"/>
              </a:rPr>
              <a:t>0.043</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T=</a:t>
            </a:r>
            <a:r>
              <a:rPr lang="en-US" altLang="zh-CN" b="0" dirty="0">
                <a:solidFill>
                  <a:srgbClr val="098658"/>
                </a:solidFill>
                <a:effectLst/>
                <a:latin typeface="Consolas" panose="020B0609020204030204" pitchFamily="49" charset="0"/>
              </a:rPr>
              <a:t>300</a:t>
            </a:r>
            <a:r>
              <a:rPr lang="en-US" altLang="zh-CN" b="0" dirty="0">
                <a:solidFill>
                  <a:srgbClr val="000000"/>
                </a:solidFill>
                <a:effectLst/>
                <a:latin typeface="Consolas" panose="020B0609020204030204" pitchFamily="49" charset="0"/>
              </a:rPr>
              <a:t>;</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温度</a:t>
            </a:r>
            <a:endParaRPr lang="en-US" altLang="zh-CN" b="0" dirty="0">
              <a:solidFill>
                <a:srgbClr val="008000"/>
              </a:solidFill>
              <a:effectLst/>
              <a:latin typeface="Consolas" panose="020B0609020204030204" pitchFamily="49" charset="0"/>
            </a:endParaRPr>
          </a:p>
          <a:p>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体积</a:t>
            </a:r>
            <a:r>
              <a:rPr lang="en-US" altLang="zh-CN" dirty="0">
                <a:solidFill>
                  <a:srgbClr val="008000"/>
                </a:solidFill>
                <a:latin typeface="Consolas" panose="020B0609020204030204" pitchFamily="49" charset="0"/>
              </a:rPr>
              <a:t>v</a:t>
            </a:r>
            <a:r>
              <a:rPr lang="zh-CN" altLang="en-US" dirty="0">
                <a:solidFill>
                  <a:srgbClr val="008000"/>
                </a:solidFill>
                <a:latin typeface="Consolas" panose="020B0609020204030204" pitchFamily="49" charset="0"/>
              </a:rPr>
              <a:t>线性</a:t>
            </a:r>
            <a:r>
              <a:rPr lang="en-US" altLang="zh-CN" dirty="0">
                <a:solidFill>
                  <a:srgbClr val="008000"/>
                </a:solidFill>
                <a:latin typeface="Consolas" panose="020B0609020204030204" pitchFamily="49" charset="0"/>
              </a:rPr>
              <a:t>100</a:t>
            </a:r>
            <a:r>
              <a:rPr lang="zh-CN" altLang="en-US" dirty="0">
                <a:solidFill>
                  <a:srgbClr val="008000"/>
                </a:solidFill>
                <a:latin typeface="Consolas" panose="020B0609020204030204" pitchFamily="49" charset="0"/>
              </a:rPr>
              <a:t>个点</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v=</a:t>
            </a:r>
            <a:r>
              <a:rPr lang="en-US" altLang="zh-CN" b="0" dirty="0" err="1">
                <a:solidFill>
                  <a:srgbClr val="795E26"/>
                </a:solidFill>
                <a:effectLst/>
                <a:latin typeface="Consolas" panose="020B0609020204030204" pitchFamily="49" charset="0"/>
              </a:rPr>
              <a:t>LinRange</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100</a:t>
            </a:r>
            <a:r>
              <a:rPr lang="en-US" altLang="zh-CN" b="0" dirty="0">
                <a:solidFill>
                  <a:srgbClr val="000000"/>
                </a:solidFill>
                <a:effectLst/>
                <a:latin typeface="Consolas" panose="020B0609020204030204" pitchFamily="49" charset="0"/>
              </a:rPr>
              <a:t>) </a:t>
            </a:r>
          </a:p>
          <a:p>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压强</a:t>
            </a:r>
            <a:r>
              <a:rPr lang="en-US" altLang="zh-CN" dirty="0">
                <a:solidFill>
                  <a:srgbClr val="008000"/>
                </a:solidFill>
                <a:latin typeface="Consolas" panose="020B0609020204030204" pitchFamily="49" charset="0"/>
              </a:rPr>
              <a:t>p</a:t>
            </a:r>
            <a:r>
              <a:rPr lang="zh-CN" altLang="en-US" dirty="0">
                <a:solidFill>
                  <a:srgbClr val="008000"/>
                </a:solidFill>
                <a:latin typeface="Consolas" panose="020B0609020204030204" pitchFamily="49" charset="0"/>
              </a:rPr>
              <a:t>点运算</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pp=</a:t>
            </a:r>
            <a:r>
              <a:rPr lang="en-US" altLang="zh-CN" b="0" dirty="0">
                <a:solidFill>
                  <a:srgbClr val="795E26"/>
                </a:solidFill>
                <a:effectLst/>
                <a:latin typeface="Consolas" panose="020B0609020204030204" pitchFamily="49" charset="0"/>
              </a:rPr>
              <a:t>p</a:t>
            </a:r>
            <a:r>
              <a:rPr lang="en-US" altLang="zh-CN" b="0" dirty="0">
                <a:solidFill>
                  <a:srgbClr val="000000"/>
                </a:solidFill>
                <a:effectLst/>
                <a:latin typeface="Consolas" panose="020B0609020204030204" pitchFamily="49" charset="0"/>
              </a:rPr>
              <a:t>.(v)</a:t>
            </a:r>
            <a:endParaRPr lang="zh-CN" altLang="en-US" b="0" dirty="0">
              <a:solidFill>
                <a:srgbClr val="000000"/>
              </a:solidFill>
              <a:effectLst/>
              <a:latin typeface="Consolas" panose="020B0609020204030204" pitchFamily="49" charset="0"/>
            </a:endParaRPr>
          </a:p>
          <a:p>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压强</a:t>
            </a:r>
            <a:r>
              <a:rPr lang="en-US" altLang="zh-CN" dirty="0">
                <a:solidFill>
                  <a:srgbClr val="008000"/>
                </a:solidFill>
                <a:latin typeface="Consolas" panose="020B0609020204030204" pitchFamily="49" charset="0"/>
              </a:rPr>
              <a:t>p-</a:t>
            </a:r>
            <a:r>
              <a:rPr lang="zh-CN" altLang="en-US" dirty="0">
                <a:solidFill>
                  <a:srgbClr val="008000"/>
                </a:solidFill>
                <a:latin typeface="Consolas" panose="020B0609020204030204" pitchFamily="49" charset="0"/>
              </a:rPr>
              <a:t>体积</a:t>
            </a:r>
            <a:r>
              <a:rPr lang="en-US" altLang="zh-CN" dirty="0">
                <a:solidFill>
                  <a:srgbClr val="008000"/>
                </a:solidFill>
                <a:latin typeface="Consolas" panose="020B0609020204030204" pitchFamily="49" charset="0"/>
              </a:rPr>
              <a:t>v</a:t>
            </a:r>
            <a:r>
              <a:rPr lang="zh-CN" altLang="en-US" dirty="0">
                <a:solidFill>
                  <a:srgbClr val="008000"/>
                </a:solidFill>
                <a:latin typeface="Consolas" panose="020B0609020204030204" pitchFamily="49" charset="0"/>
              </a:rPr>
              <a:t>图</a:t>
            </a:r>
            <a:endParaRPr lang="zh-CN" altLang="en-US" dirty="0">
              <a:solidFill>
                <a:srgbClr val="000000"/>
              </a:solidFill>
              <a:latin typeface="Consolas" panose="020B0609020204030204" pitchFamily="49" charset="0"/>
            </a:endParaRPr>
          </a:p>
          <a:p>
            <a:r>
              <a:rPr lang="en-US" altLang="zh-CN" b="0" dirty="0">
                <a:solidFill>
                  <a:srgbClr val="795E26"/>
                </a:solidFill>
                <a:effectLst/>
                <a:latin typeface="Consolas" panose="020B0609020204030204" pitchFamily="49" charset="0"/>
              </a:rPr>
              <a:t>plot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v,pp</a:t>
            </a:r>
            <a:r>
              <a:rPr lang="en-US" altLang="zh-CN" b="0" dirty="0">
                <a:solidFill>
                  <a:srgbClr val="000000"/>
                </a:solidFill>
                <a:effectLst/>
                <a:latin typeface="Consolas" panose="020B0609020204030204" pitchFamily="49" charset="0"/>
              </a:rPr>
              <a:t>) </a:t>
            </a:r>
          </a:p>
          <a:p>
            <a:r>
              <a:rPr lang="en-US" altLang="zh-CN" b="0" dirty="0" err="1">
                <a:solidFill>
                  <a:srgbClr val="795E26"/>
                </a:solidFill>
                <a:effectLst/>
                <a:latin typeface="Consolas" panose="020B0609020204030204" pitchFamily="49" charset="0"/>
              </a:rPr>
              <a:t>xlabel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体积</a:t>
            </a:r>
            <a:r>
              <a:rPr lang="en-US" altLang="zh-CN" b="0" dirty="0">
                <a:solidFill>
                  <a:srgbClr val="A31515"/>
                </a:solidFill>
                <a:effectLst/>
                <a:latin typeface="Consolas" panose="020B0609020204030204" pitchFamily="49" charset="0"/>
              </a:rPr>
              <a:t>v"</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ylabel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压强</a:t>
            </a:r>
            <a:r>
              <a:rPr lang="en-US" altLang="zh-CN" b="0" dirty="0">
                <a:solidFill>
                  <a:srgbClr val="A31515"/>
                </a:solidFill>
                <a:effectLst/>
                <a:latin typeface="Consolas" panose="020B0609020204030204" pitchFamily="49" charset="0"/>
              </a:rPr>
              <a:t>p"</a:t>
            </a:r>
            <a:r>
              <a:rPr lang="en-US" altLang="zh-CN" b="0" dirty="0">
                <a:solidFill>
                  <a:srgbClr val="000000"/>
                </a:solidFill>
                <a:effectLst/>
                <a:latin typeface="Consolas" panose="020B0609020204030204" pitchFamily="49" charset="0"/>
              </a:rPr>
              <a:t>)</a:t>
            </a:r>
          </a:p>
          <a:p>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调整</a:t>
            </a:r>
            <a:r>
              <a:rPr lang="en-US" altLang="zh-CN" dirty="0">
                <a:solidFill>
                  <a:srgbClr val="008000"/>
                </a:solidFill>
                <a:latin typeface="Consolas" panose="020B0609020204030204" pitchFamily="49" charset="0"/>
              </a:rPr>
              <a:t>y</a:t>
            </a:r>
            <a:r>
              <a:rPr lang="zh-CN" altLang="en-US" dirty="0">
                <a:solidFill>
                  <a:srgbClr val="008000"/>
                </a:solidFill>
                <a:latin typeface="Consolas" panose="020B0609020204030204" pitchFamily="49" charset="0"/>
              </a:rPr>
              <a:t>坐标轴来缩小</a:t>
            </a:r>
            <a:r>
              <a:rPr lang="en-US" altLang="zh-CN" dirty="0">
                <a:solidFill>
                  <a:srgbClr val="008000"/>
                </a:solidFill>
                <a:latin typeface="Consolas" panose="020B0609020204030204" pitchFamily="49" charset="0"/>
              </a:rPr>
              <a:t>y</a:t>
            </a:r>
            <a:r>
              <a:rPr lang="zh-CN" altLang="en-US" dirty="0">
                <a:solidFill>
                  <a:srgbClr val="008000"/>
                </a:solidFill>
                <a:latin typeface="Consolas" panose="020B0609020204030204" pitchFamily="49" charset="0"/>
              </a:rPr>
              <a:t>范围</a:t>
            </a:r>
            <a:endParaRPr lang="en-US" altLang="zh-CN" b="0" dirty="0">
              <a:solidFill>
                <a:srgbClr val="795E26"/>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ylim</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a:t>
            </a:r>
            <a:r>
              <a:rPr lang="en-US" altLang="zh-CN" b="0" dirty="0">
                <a:solidFill>
                  <a:srgbClr val="000000"/>
                </a:solidFill>
                <a:effectLst/>
                <a:latin typeface="Consolas" panose="020B0609020204030204" pitchFamily="49" charset="0"/>
              </a:rPr>
              <a:t>])</a:t>
            </a:r>
            <a:endParaRPr lang="zh-CN" altLang="en-US" b="0" dirty="0">
              <a:solidFill>
                <a:srgbClr val="000000"/>
              </a:solidFill>
              <a:effectLst/>
              <a:latin typeface="Consolas" panose="020B0609020204030204" pitchFamily="49" charset="0"/>
            </a:endParaRPr>
          </a:p>
        </p:txBody>
      </p:sp>
      <p:sp>
        <p:nvSpPr>
          <p:cNvPr id="8" name="文本框 7">
            <a:extLst>
              <a:ext uri="{FF2B5EF4-FFF2-40B4-BE49-F238E27FC236}">
                <a16:creationId xmlns:a16="http://schemas.microsoft.com/office/drawing/2014/main" id="{5DEEAA82-A493-49F9-A492-655C0447F79A}"/>
              </a:ext>
            </a:extLst>
          </p:cNvPr>
          <p:cNvSpPr txBox="1"/>
          <p:nvPr/>
        </p:nvSpPr>
        <p:spPr>
          <a:xfrm>
            <a:off x="723727" y="-100401"/>
            <a:ext cx="8136904" cy="677108"/>
          </a:xfrm>
          <a:prstGeom prst="rect">
            <a:avLst/>
          </a:prstGeom>
          <a:noFill/>
        </p:spPr>
        <p:txBody>
          <a:bodyPr wrap="square">
            <a:spAutoFit/>
          </a:bodyPr>
          <a:lstStyle/>
          <a:p>
            <a:pPr algn="dist">
              <a:lnSpc>
                <a:spcPct val="150000"/>
              </a:lnSpc>
            </a:pPr>
            <a:r>
              <a:rPr lang="en-US" altLang="zh-CN" sz="2800" b="0" dirty="0">
                <a:solidFill>
                  <a:srgbClr val="002060"/>
                </a:solidFill>
                <a:latin typeface="华文楷体" panose="02010600040101010101" pitchFamily="2" charset="-122"/>
                <a:ea typeface="华文楷体" panose="02010600040101010101" pitchFamily="2" charset="-122"/>
              </a:rPr>
              <a:t>§ 8.5</a:t>
            </a:r>
            <a:r>
              <a:rPr lang="en-US" altLang="zh-CN" sz="2800" dirty="0">
                <a:solidFill>
                  <a:srgbClr val="002060"/>
                </a:solidFill>
                <a:latin typeface="华文楷体" panose="02010600040101010101" pitchFamily="2" charset="-122"/>
                <a:ea typeface="华文楷体" panose="02010600040101010101" pitchFamily="2" charset="-122"/>
              </a:rPr>
              <a:t>.1</a:t>
            </a:r>
            <a:r>
              <a:rPr lang="zh-CN" altLang="en-US" sz="2800" dirty="0">
                <a:solidFill>
                  <a:srgbClr val="002060"/>
                </a:solidFill>
                <a:latin typeface="华文楷体" panose="02010600040101010101" pitchFamily="2" charset="-122"/>
                <a:ea typeface="华文楷体" panose="02010600040101010101" pitchFamily="2" charset="-122"/>
              </a:rPr>
              <a:t>求解非线性方程 </a:t>
            </a:r>
            <a:r>
              <a:rPr lang="en-US" altLang="zh-CN" sz="2800" dirty="0" err="1">
                <a:solidFill>
                  <a:srgbClr val="FF0000"/>
                </a:solidFill>
                <a:latin typeface="华文楷体" panose="02010600040101010101" pitchFamily="2" charset="-122"/>
                <a:ea typeface="华文楷体" panose="02010600040101010101" pitchFamily="2" charset="-122"/>
                <a:sym typeface="Arial" panose="020B0604020202020204" pitchFamily="34" charset="0"/>
              </a:rPr>
              <a:t>fzero</a:t>
            </a:r>
            <a:r>
              <a:rPr lang="en-US" altLang="zh-CN" sz="2800" b="0" kern="0" dirty="0">
                <a:solidFill>
                  <a:srgbClr val="FF0000"/>
                </a:solidFill>
                <a:latin typeface="华文楷体" panose="02010600040101010101" pitchFamily="2" charset="-122"/>
                <a:ea typeface="华文楷体" panose="02010600040101010101" pitchFamily="2" charset="-122"/>
              </a:rPr>
              <a:t> ——</a:t>
            </a:r>
            <a:r>
              <a:rPr lang="zh-CN" altLang="zh-CN" sz="2000" dirty="0">
                <a:solidFill>
                  <a:srgbClr val="333333"/>
                </a:solidFill>
                <a:effectLst/>
                <a:latin typeface="Helvetica" panose="020B0604020202020204" pitchFamily="34" charset="0"/>
                <a:ea typeface="等线" panose="02010600030101010101" pitchFamily="2" charset="-122"/>
                <a:cs typeface="Helvetica" panose="020B0604020202020204" pitchFamily="34" charset="0"/>
              </a:rPr>
              <a:t>范德瓦尔斯方程</a:t>
            </a:r>
            <a:r>
              <a:rPr lang="zh-CN" altLang="en-US" sz="2000" dirty="0">
                <a:solidFill>
                  <a:srgbClr val="333333"/>
                </a:solidFill>
                <a:effectLst/>
                <a:latin typeface="Helvetica" panose="020B0604020202020204" pitchFamily="34" charset="0"/>
                <a:ea typeface="等线" panose="02010600030101010101" pitchFamily="2" charset="-122"/>
                <a:cs typeface="Helvetica" panose="020B0604020202020204" pitchFamily="34" charset="0"/>
              </a:rPr>
              <a:t>求体积</a:t>
            </a:r>
            <a:endParaRPr lang="en-US" altLang="zh-CN" sz="2800" dirty="0">
              <a:solidFill>
                <a:srgbClr val="FF0000"/>
              </a:solidFill>
              <a:latin typeface="华文楷体" panose="02010600040101010101" pitchFamily="2" charset="-122"/>
              <a:ea typeface="华文楷体" panose="02010600040101010101" pitchFamily="2" charset="-122"/>
              <a:sym typeface="Arial" panose="020B0604020202020204" pitchFamily="34" charset="0"/>
            </a:endParaRPr>
          </a:p>
        </p:txBody>
      </p:sp>
      <p:pic>
        <p:nvPicPr>
          <p:cNvPr id="22" name="图片 21">
            <a:extLst>
              <a:ext uri="{FF2B5EF4-FFF2-40B4-BE49-F238E27FC236}">
                <a16:creationId xmlns:a16="http://schemas.microsoft.com/office/drawing/2014/main" id="{4599FDBC-5B4F-45BD-9526-47D3280E2626}"/>
              </a:ext>
            </a:extLst>
          </p:cNvPr>
          <p:cNvPicPr>
            <a:picLocks noChangeAspect="1"/>
          </p:cNvPicPr>
          <p:nvPr/>
        </p:nvPicPr>
        <p:blipFill>
          <a:blip r:embed="rId3"/>
          <a:stretch>
            <a:fillRect/>
          </a:stretch>
        </p:blipFill>
        <p:spPr>
          <a:xfrm>
            <a:off x="4139953" y="1324586"/>
            <a:ext cx="4968551" cy="3146350"/>
          </a:xfrm>
          <a:prstGeom prst="rect">
            <a:avLst/>
          </a:prstGeom>
        </p:spPr>
      </p:pic>
      <p:cxnSp>
        <p:nvCxnSpPr>
          <p:cNvPr id="24" name="直接连接符 23">
            <a:extLst>
              <a:ext uri="{FF2B5EF4-FFF2-40B4-BE49-F238E27FC236}">
                <a16:creationId xmlns:a16="http://schemas.microsoft.com/office/drawing/2014/main" id="{E5E9D1AB-A451-4EF8-983D-2AA0805F1E3A}"/>
              </a:ext>
            </a:extLst>
          </p:cNvPr>
          <p:cNvCxnSpPr>
            <a:cxnSpLocks/>
            <a:endCxn id="22" idx="3"/>
          </p:cNvCxnSpPr>
          <p:nvPr/>
        </p:nvCxnSpPr>
        <p:spPr bwMode="auto">
          <a:xfrm>
            <a:off x="4499993" y="2835210"/>
            <a:ext cx="4608511" cy="62551"/>
          </a:xfrm>
          <a:prstGeom prst="line">
            <a:avLst/>
          </a:prstGeom>
          <a:ln>
            <a:solidFill>
              <a:srgbClr val="FF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星形: 四角 25">
            <a:extLst>
              <a:ext uri="{FF2B5EF4-FFF2-40B4-BE49-F238E27FC236}">
                <a16:creationId xmlns:a16="http://schemas.microsoft.com/office/drawing/2014/main" id="{50FEE9A3-1A28-4058-9EF2-907695C411F5}"/>
              </a:ext>
            </a:extLst>
          </p:cNvPr>
          <p:cNvSpPr/>
          <p:nvPr/>
        </p:nvSpPr>
        <p:spPr bwMode="auto">
          <a:xfrm>
            <a:off x="4789603" y="2759111"/>
            <a:ext cx="149014" cy="138650"/>
          </a:xfrm>
          <a:prstGeom prst="star4">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rgbClr val="FF0000"/>
              </a:solidFill>
              <a:effectLst/>
              <a:latin typeface="Times New Roman" pitchFamily="18" charset="0"/>
            </a:endParaRP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2CB96FA0-BDC8-4DDF-9181-33EDC4743446}"/>
                  </a:ext>
                </a:extLst>
              </p:cNvPr>
              <p:cNvSpPr txBox="1"/>
              <p:nvPr/>
            </p:nvSpPr>
            <p:spPr>
              <a:xfrm>
                <a:off x="4872494" y="718728"/>
                <a:ext cx="3242959" cy="387735"/>
              </a:xfrm>
              <a:prstGeom prst="rect">
                <a:avLst/>
              </a:prstGeom>
              <a:noFill/>
            </p:spPr>
            <p:txBody>
              <a:bodyPr wrap="square">
                <a:spAutoFit/>
              </a:bodyPr>
              <a:lstStyle/>
              <a:p>
                <a:pPr marL="285750" indent="-285750" eaLnBrk="0">
                  <a:lnSpc>
                    <a:spcPts val="2475"/>
                  </a:lnSpc>
                  <a:spcBef>
                    <a:spcPts val="0"/>
                  </a:spcBef>
                  <a:spcAft>
                    <a:spcPts val="0"/>
                  </a:spcAft>
                  <a:buFont typeface="Wingdings" panose="05000000000000000000" pitchFamily="2" charset="2"/>
                  <a:buChar char="Ø"/>
                </a:pPr>
                <a:r>
                  <a:rPr lang="en-US" altLang="zh-CN" sz="1800" b="1" dirty="0">
                    <a:solidFill>
                      <a:srgbClr val="0070C0"/>
                    </a:solidFill>
                    <a:latin typeface="微软雅黑" panose="020B0503020204020204" pitchFamily="34" charset="-122"/>
                    <a:ea typeface="微软雅黑" panose="020B0503020204020204" pitchFamily="34" charset="-122"/>
                  </a:rPr>
                  <a:t>fun(x)=p(v</a:t>
                </a:r>
                <a:r>
                  <a:rPr lang="en-US" altLang="zh-CN" b="1" dirty="0">
                    <a:solidFill>
                      <a:srgbClr val="0070C0"/>
                    </a:solidFill>
                    <a:latin typeface="微软雅黑" panose="020B0503020204020204" pitchFamily="34" charset="-122"/>
                    <a:ea typeface="微软雅黑" panose="020B0503020204020204" pitchFamily="34" charset="-122"/>
                  </a:rPr>
                  <a:t>) -</a:t>
                </a:r>
                <a14:m>
                  <m:oMath xmlns:m="http://schemas.openxmlformats.org/officeDocument/2006/math">
                    <m:r>
                      <m:rPr>
                        <m:nor/>
                      </m:rPr>
                      <a:rPr lang="en-US" altLang="zh-CN" b="1" dirty="0">
                        <a:solidFill>
                          <a:srgbClr val="0070C0"/>
                        </a:solidFill>
                        <a:latin typeface="微软雅黑" panose="020B0503020204020204" pitchFamily="34" charset="-122"/>
                        <a:ea typeface="微软雅黑" panose="020B0503020204020204" pitchFamily="34" charset="-122"/>
                      </a:rPr>
                      <m:t>5∗10^6</m:t>
                    </m:r>
                    <m:r>
                      <a:rPr lang="en-US" altLang="zh-CN" b="1" dirty="0">
                        <a:solidFill>
                          <a:srgbClr val="0070C0"/>
                        </a:solidFill>
                        <a:latin typeface="Cambria Math" panose="02040503050406030204" pitchFamily="18" charset="0"/>
                        <a:ea typeface="华文楷体" panose="02010600040101010101" pitchFamily="2" charset="-122"/>
                      </a:rPr>
                      <m:t> </m:t>
                    </m:r>
                  </m:oMath>
                </a14:m>
                <a:r>
                  <a:rPr lang="en-US" altLang="zh-CN" b="1" dirty="0">
                    <a:solidFill>
                      <a:srgbClr val="0070C0"/>
                    </a:solidFill>
                    <a:latin typeface="微软雅黑" panose="020B0503020204020204" pitchFamily="34" charset="-122"/>
                    <a:ea typeface="微软雅黑" panose="020B0503020204020204" pitchFamily="34" charset="-122"/>
                  </a:rPr>
                  <a:t>=0</a:t>
                </a:r>
              </a:p>
            </p:txBody>
          </p:sp>
        </mc:Choice>
        <mc:Fallback xmlns="">
          <p:sp>
            <p:nvSpPr>
              <p:cNvPr id="18" name="文本框 17">
                <a:extLst>
                  <a:ext uri="{FF2B5EF4-FFF2-40B4-BE49-F238E27FC236}">
                    <a16:creationId xmlns:a16="http://schemas.microsoft.com/office/drawing/2014/main" id="{2CB96FA0-BDC8-4DDF-9181-33EDC4743446}"/>
                  </a:ext>
                </a:extLst>
              </p:cNvPr>
              <p:cNvSpPr txBox="1">
                <a:spLocks noRot="1" noChangeAspect="1" noMove="1" noResize="1" noEditPoints="1" noAdjustHandles="1" noChangeArrowheads="1" noChangeShapeType="1" noTextEdit="1"/>
              </p:cNvSpPr>
              <p:nvPr/>
            </p:nvSpPr>
            <p:spPr>
              <a:xfrm>
                <a:off x="4872494" y="718728"/>
                <a:ext cx="3242959" cy="387735"/>
              </a:xfrm>
              <a:prstGeom prst="rect">
                <a:avLst/>
              </a:prstGeom>
              <a:blipFill>
                <a:blip r:embed="rId4"/>
                <a:stretch>
                  <a:fillRect l="-1128" t="-4688" r="-376" b="-23438"/>
                </a:stretch>
              </a:blipFill>
            </p:spPr>
            <p:txBody>
              <a:bodyPr/>
              <a:lstStyle/>
              <a:p>
                <a:r>
                  <a:rPr lang="zh-CN" altLang="en-US">
                    <a:noFill/>
                  </a:rPr>
                  <a:t> </a:t>
                </a:r>
              </a:p>
            </p:txBody>
          </p:sp>
        </mc:Fallback>
      </mc:AlternateContent>
      <p:sp>
        <p:nvSpPr>
          <p:cNvPr id="30" name="波形 29">
            <a:extLst>
              <a:ext uri="{FF2B5EF4-FFF2-40B4-BE49-F238E27FC236}">
                <a16:creationId xmlns:a16="http://schemas.microsoft.com/office/drawing/2014/main" id="{37AAF09E-AF71-4F67-B7D8-BED563AFCAF9}"/>
              </a:ext>
            </a:extLst>
          </p:cNvPr>
          <p:cNvSpPr/>
          <p:nvPr/>
        </p:nvSpPr>
        <p:spPr>
          <a:xfrm>
            <a:off x="8049947" y="721236"/>
            <a:ext cx="914541" cy="362419"/>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charset="-122"/>
                <a:ea typeface="微软雅黑" panose="020B0503020204020204" charset="-122"/>
              </a:rPr>
              <a:t>例85-1</a:t>
            </a:r>
            <a:endParaRPr lang="ko-KR" altLang="en-US" b="1" dirty="0">
              <a:solidFill>
                <a:srgbClr val="FFFF00"/>
              </a:solidFill>
              <a:latin typeface="微软雅黑" panose="020B0503020204020204" charset="-122"/>
              <a:ea typeface="微软雅黑" panose="020B0503020204020204" charset="-122"/>
            </a:endParaRPr>
          </a:p>
        </p:txBody>
      </p:sp>
      <p:sp>
        <p:nvSpPr>
          <p:cNvPr id="36" name="对话气泡: 圆角矩形 35">
            <a:extLst>
              <a:ext uri="{FF2B5EF4-FFF2-40B4-BE49-F238E27FC236}">
                <a16:creationId xmlns:a16="http://schemas.microsoft.com/office/drawing/2014/main" id="{FB048C7E-0704-4FCA-A5E0-DB2F5A294502}"/>
              </a:ext>
            </a:extLst>
          </p:cNvPr>
          <p:cNvSpPr/>
          <p:nvPr/>
        </p:nvSpPr>
        <p:spPr bwMode="auto">
          <a:xfrm>
            <a:off x="6423108" y="2136884"/>
            <a:ext cx="1251813" cy="578882"/>
          </a:xfrm>
          <a:prstGeom prst="wedgeRoundRectCallout">
            <a:avLst>
              <a:gd name="adj1" fmla="val -74200"/>
              <a:gd name="adj2" fmla="val 67735"/>
              <a:gd name="adj3" fmla="val 16667"/>
            </a:avLst>
          </a:prstGeom>
          <a:noFill/>
          <a:ln>
            <a:solidFill>
              <a:srgbClr val="FF000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r>
              <a:rPr lang="en-US" altLang="zh-CN" sz="1400" b="1" dirty="0">
                <a:solidFill>
                  <a:srgbClr val="FF0000"/>
                </a:solidFill>
                <a:effectLst/>
                <a:latin typeface="Consolas" panose="020B0609020204030204" pitchFamily="49" charset="0"/>
              </a:rPr>
              <a:t>v=0.00033</a:t>
            </a:r>
          </a:p>
          <a:p>
            <a:r>
              <a:rPr lang="en-US" altLang="zh-CN" sz="1400" b="1" dirty="0">
                <a:solidFill>
                  <a:srgbClr val="FF0000"/>
                </a:solidFill>
                <a:effectLst/>
                <a:latin typeface="Consolas" panose="020B0609020204030204" pitchFamily="49" charset="0"/>
              </a:rPr>
              <a:t>P=5.00e6</a:t>
            </a:r>
            <a:endParaRPr kumimoji="0" lang="zh-CN" altLang="en-US" sz="1400" b="1" i="0" u="none" strike="noStrike" cap="none" normalizeH="0" baseline="0" dirty="0">
              <a:ln>
                <a:noFill/>
              </a:ln>
              <a:solidFill>
                <a:schemeClr val="tx1"/>
              </a:solidFill>
              <a:effectLst/>
              <a:latin typeface="Times New Roman" pitchFamily="18" charset="0"/>
            </a:endParaRPr>
          </a:p>
        </p:txBody>
      </p:sp>
      <p:sp>
        <p:nvSpPr>
          <p:cNvPr id="37" name="对话气泡: 圆角矩形 36">
            <a:extLst>
              <a:ext uri="{FF2B5EF4-FFF2-40B4-BE49-F238E27FC236}">
                <a16:creationId xmlns:a16="http://schemas.microsoft.com/office/drawing/2014/main" id="{2354E9F3-73BD-4972-9A04-380AF1D0F985}"/>
              </a:ext>
            </a:extLst>
          </p:cNvPr>
          <p:cNvSpPr/>
          <p:nvPr/>
        </p:nvSpPr>
        <p:spPr bwMode="auto">
          <a:xfrm>
            <a:off x="3063047" y="2856964"/>
            <a:ext cx="1406243" cy="578882"/>
          </a:xfrm>
          <a:prstGeom prst="wedgeRoundRectCallout">
            <a:avLst>
              <a:gd name="adj1" fmla="val 77140"/>
              <a:gd name="adj2" fmla="val -44193"/>
              <a:gd name="adj3" fmla="val 16667"/>
            </a:avLst>
          </a:prstGeom>
          <a:noFill/>
          <a:ln>
            <a:solidFill>
              <a:srgbClr val="FF000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r>
              <a:rPr lang="en-US" altLang="zh-CN" sz="1400" b="1" dirty="0">
                <a:solidFill>
                  <a:srgbClr val="FF0000"/>
                </a:solidFill>
              </a:rPr>
              <a:t>v=</a:t>
            </a:r>
            <a:r>
              <a:rPr lang="zh-CN" altLang="en-US" sz="1400" b="1" dirty="0">
                <a:solidFill>
                  <a:srgbClr val="FF0000"/>
                </a:solidFill>
              </a:rPr>
              <a:t>7.9023e-5</a:t>
            </a:r>
            <a:endParaRPr lang="en-US" altLang="zh-CN" sz="1400" b="1" dirty="0">
              <a:solidFill>
                <a:srgbClr val="FF0000"/>
              </a:solidFill>
            </a:endParaRPr>
          </a:p>
          <a:p>
            <a:r>
              <a:rPr lang="en-US" altLang="zh-CN" sz="1400" b="1" dirty="0">
                <a:solidFill>
                  <a:srgbClr val="FF0000"/>
                </a:solidFill>
              </a:rPr>
              <a:t>p=5.0e6</a:t>
            </a:r>
            <a:endParaRPr lang="zh-CN" altLang="en-US" sz="1400" dirty="0"/>
          </a:p>
        </p:txBody>
      </p:sp>
      <p:grpSp>
        <p:nvGrpSpPr>
          <p:cNvPr id="38" name="组合 37">
            <a:extLst>
              <a:ext uri="{FF2B5EF4-FFF2-40B4-BE49-F238E27FC236}">
                <a16:creationId xmlns:a16="http://schemas.microsoft.com/office/drawing/2014/main" id="{56CF940E-6FC4-43E1-AFB5-94987BE0D686}"/>
              </a:ext>
            </a:extLst>
          </p:cNvPr>
          <p:cNvGrpSpPr/>
          <p:nvPr/>
        </p:nvGrpSpPr>
        <p:grpSpPr>
          <a:xfrm rot="433042">
            <a:off x="4279812" y="3641963"/>
            <a:ext cx="1312765" cy="587320"/>
            <a:chOff x="2039486" y="930851"/>
            <a:chExt cx="4108450" cy="2235137"/>
          </a:xfrm>
        </p:grpSpPr>
        <p:sp>
          <p:nvSpPr>
            <p:cNvPr id="39" name="形状 18">
              <a:extLst>
                <a:ext uri="{FF2B5EF4-FFF2-40B4-BE49-F238E27FC236}">
                  <a16:creationId xmlns:a16="http://schemas.microsoft.com/office/drawing/2014/main" id="{02E5EA83-4057-40D8-8321-EB0B8F862AD7}"/>
                </a:ext>
              </a:extLst>
            </p:cNvPr>
            <p:cNvSpPr/>
            <p:nvPr/>
          </p:nvSpPr>
          <p:spPr>
            <a:xfrm rot="21266074">
              <a:off x="2039486" y="930851"/>
              <a:ext cx="4108450" cy="2235137"/>
            </a:xfrm>
            <a:prstGeom prst="irregularSeal2">
              <a:avLst/>
            </a:prstGeom>
            <a:solidFill>
              <a:srgbClr val="FF0000"/>
            </a:soli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marL="0" indent="0" algn="ctr" defTabSz="914400" eaLnBrk="0" fontAlgn="auto" latinLnBrk="0">
                <a:lnSpc>
                  <a:spcPct val="100000"/>
                </a:lnSpc>
                <a:spcBef>
                  <a:spcPts val="0"/>
                </a:spcBef>
                <a:spcAft>
                  <a:spcPts val="0"/>
                </a:spcAft>
                <a:buFontTx/>
                <a:buNone/>
              </a:pPr>
              <a:r>
                <a:rPr lang="zh-CN" altLang="en-US" sz="1600" b="1" cap="none" dirty="0">
                  <a:solidFill>
                    <a:srgbClr val="FFFF00"/>
                  </a:solidFill>
                  <a:latin typeface="楷体_GB2312" charset="0"/>
                  <a:ea typeface="楷体_GB2312" charset="0"/>
                </a:rPr>
                <a:t>注意</a:t>
              </a:r>
              <a:endParaRPr lang="ko-KR" altLang="en-US" sz="1600" b="1" cap="none" dirty="0">
                <a:solidFill>
                  <a:srgbClr val="FFFF00"/>
                </a:solidFill>
                <a:latin typeface="楷体_GB2312" charset="0"/>
                <a:ea typeface="楷体_GB2312" charset="0"/>
              </a:endParaRPr>
            </a:p>
          </p:txBody>
        </p:sp>
        <p:sp>
          <p:nvSpPr>
            <p:cNvPr id="40" name="形状 19">
              <a:extLst>
                <a:ext uri="{FF2B5EF4-FFF2-40B4-BE49-F238E27FC236}">
                  <a16:creationId xmlns:a16="http://schemas.microsoft.com/office/drawing/2014/main" id="{14E61166-9784-479F-AA0C-FA3D7390EB8B}"/>
                </a:ext>
              </a:extLst>
            </p:cNvPr>
            <p:cNvSpPr/>
            <p:nvPr/>
          </p:nvSpPr>
          <p:spPr>
            <a:xfrm rot="20510803">
              <a:off x="2946317" y="1509386"/>
              <a:ext cx="2033269" cy="934382"/>
            </a:xfrm>
            <a:prstGeom prst="rect">
              <a:avLst/>
            </a:prstGeom>
          </p:spPr>
          <p:txBody>
            <a:bodyPr vert="horz" wrap="square" lIns="91440" tIns="45720" rIns="91440" bIns="45720" anchor="t">
              <a:spAutoFit/>
            </a:bodyPr>
            <a:lstStyle/>
            <a:p>
              <a:pPr marL="0" indent="0" algn="ctr" defTabSz="914400" eaLnBrk="0" fontAlgn="auto" latinLnBrk="0">
                <a:lnSpc>
                  <a:spcPct val="100000"/>
                </a:lnSpc>
                <a:spcBef>
                  <a:spcPts val="0"/>
                </a:spcBef>
                <a:spcAft>
                  <a:spcPts val="0"/>
                </a:spcAft>
                <a:buFontTx/>
                <a:buNone/>
              </a:pPr>
              <a:endParaRPr lang="ko-KR" altLang="en-US" sz="1600" b="1" cap="none" dirty="0">
                <a:solidFill>
                  <a:srgbClr val="FFFF00"/>
                </a:solidFill>
                <a:latin typeface="微软雅黑" panose="020B0503020204020204" charset="-122"/>
                <a:ea typeface="微软雅黑" panose="020B0503020204020204" charset="-122"/>
              </a:endParaRPr>
            </a:p>
          </p:txBody>
        </p:sp>
      </p:grpSp>
      <p:sp>
        <p:nvSpPr>
          <p:cNvPr id="41" name="矩形 40">
            <a:extLst>
              <a:ext uri="{FF2B5EF4-FFF2-40B4-BE49-F238E27FC236}">
                <a16:creationId xmlns:a16="http://schemas.microsoft.com/office/drawing/2014/main" id="{194E6706-46D8-4680-A063-4F5FCE35B1FF}"/>
              </a:ext>
            </a:extLst>
          </p:cNvPr>
          <p:cNvSpPr/>
          <p:nvPr/>
        </p:nvSpPr>
        <p:spPr>
          <a:xfrm>
            <a:off x="5496871" y="3770435"/>
            <a:ext cx="3608680" cy="338554"/>
          </a:xfrm>
          <a:prstGeom prst="rect">
            <a:avLst/>
          </a:prstGeom>
        </p:spPr>
        <p:txBody>
          <a:bodyPr wrap="none">
            <a:spAutoFit/>
          </a:bodyPr>
          <a:lstStyle/>
          <a:p>
            <a:pPr marL="0" indent="0" algn="ctr" defTabSz="914400" eaLnBrk="0" fontAlgn="auto" latinLnBrk="0">
              <a:lnSpc>
                <a:spcPct val="100000"/>
              </a:lnSpc>
              <a:spcBef>
                <a:spcPts val="0"/>
              </a:spcBef>
              <a:spcAft>
                <a:spcPts val="0"/>
              </a:spcAft>
              <a:buFontTx/>
              <a:buNone/>
            </a:pPr>
            <a:r>
              <a:rPr lang="zh-CN" altLang="en-US" sz="1600" b="1" dirty="0">
                <a:solidFill>
                  <a:srgbClr val="FF0000"/>
                </a:solidFill>
                <a:latin typeface="微软雅黑" panose="020B0503020204020204" charset="-122"/>
                <a:ea typeface="微软雅黑" panose="020B0503020204020204" charset="-122"/>
              </a:rPr>
              <a:t>存在</a:t>
            </a:r>
            <a:r>
              <a:rPr lang="en-US" altLang="ko-KR" sz="1600" b="1" dirty="0" err="1">
                <a:solidFill>
                  <a:srgbClr val="FF0000"/>
                </a:solidFill>
                <a:latin typeface="微软雅黑" panose="020B0503020204020204" charset="-122"/>
                <a:ea typeface="微软雅黑" panose="020B0503020204020204" charset="-122"/>
              </a:rPr>
              <a:t>多个根</a:t>
            </a:r>
            <a:r>
              <a:rPr lang="zh-CN" altLang="en-US" sz="1600" b="1" dirty="0">
                <a:solidFill>
                  <a:srgbClr val="FF0000"/>
                </a:solidFill>
                <a:latin typeface="微软雅黑" panose="020B0503020204020204" charset="-122"/>
                <a:ea typeface="微软雅黑" panose="020B0503020204020204" charset="-122"/>
              </a:rPr>
              <a:t>，</a:t>
            </a:r>
            <a:r>
              <a:rPr lang="en-US" altLang="ko-KR" sz="1600" b="1" dirty="0" err="1">
                <a:solidFill>
                  <a:srgbClr val="FF0000"/>
                </a:solidFill>
                <a:latin typeface="微软雅黑" panose="020B0503020204020204" charset="-122"/>
                <a:ea typeface="微软雅黑" panose="020B0503020204020204" charset="-122"/>
              </a:rPr>
              <a:t>只求</a:t>
            </a:r>
            <a:r>
              <a:rPr lang="zh-CN" altLang="en-US" sz="1600" b="1" dirty="0">
                <a:solidFill>
                  <a:srgbClr val="FF0000"/>
                </a:solidFill>
                <a:latin typeface="微软雅黑" panose="020B0503020204020204" charset="-122"/>
                <a:ea typeface="微软雅黑" panose="020B0503020204020204" charset="-122"/>
              </a:rPr>
              <a:t>初始值</a:t>
            </a:r>
            <a:r>
              <a:rPr lang="en-US" altLang="ko-KR" sz="1600" b="1" dirty="0">
                <a:solidFill>
                  <a:srgbClr val="FF0000"/>
                </a:solidFill>
                <a:latin typeface="微软雅黑" panose="020B0503020204020204" charset="-122"/>
                <a:ea typeface="微软雅黑" panose="020B0503020204020204" charset="-122"/>
              </a:rPr>
              <a:t>x0最近的根  </a:t>
            </a:r>
            <a:endParaRPr lang="ko-KR" altLang="en-US" sz="1600" b="1" dirty="0">
              <a:solidFill>
                <a:srgbClr val="FF0000"/>
              </a:solidFill>
              <a:latin typeface="微软雅黑" panose="020B0503020204020204" charset="-122"/>
              <a:ea typeface="微软雅黑" panose="020B0503020204020204" charset="-122"/>
            </a:endParaRPr>
          </a:p>
        </p:txBody>
      </p:sp>
      <p:sp>
        <p:nvSpPr>
          <p:cNvPr id="20" name="星形: 四角 19">
            <a:extLst>
              <a:ext uri="{FF2B5EF4-FFF2-40B4-BE49-F238E27FC236}">
                <a16:creationId xmlns:a16="http://schemas.microsoft.com/office/drawing/2014/main" id="{1D730B0C-1076-4847-B392-8FBADBB6786D}"/>
              </a:ext>
            </a:extLst>
          </p:cNvPr>
          <p:cNvSpPr/>
          <p:nvPr/>
        </p:nvSpPr>
        <p:spPr bwMode="auto">
          <a:xfrm>
            <a:off x="4942003" y="2793140"/>
            <a:ext cx="149014" cy="138650"/>
          </a:xfrm>
          <a:prstGeom prst="star4">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rgbClr val="FF0000"/>
              </a:solidFill>
              <a:effectLst/>
              <a:latin typeface="Times New Roman" pitchFamily="18" charset="0"/>
            </a:endParaRPr>
          </a:p>
        </p:txBody>
      </p:sp>
      <p:sp>
        <p:nvSpPr>
          <p:cNvPr id="21" name="星形: 四角 20">
            <a:extLst>
              <a:ext uri="{FF2B5EF4-FFF2-40B4-BE49-F238E27FC236}">
                <a16:creationId xmlns:a16="http://schemas.microsoft.com/office/drawing/2014/main" id="{6EB572D1-7FA0-455C-A9AC-9E2DD1926CB2}"/>
              </a:ext>
            </a:extLst>
          </p:cNvPr>
          <p:cNvSpPr/>
          <p:nvPr/>
        </p:nvSpPr>
        <p:spPr bwMode="auto">
          <a:xfrm>
            <a:off x="5149643" y="2787774"/>
            <a:ext cx="149014" cy="138650"/>
          </a:xfrm>
          <a:prstGeom prst="star4">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rgbClr val="FF0000"/>
              </a:solidFill>
              <a:effectLst/>
              <a:latin typeface="Times New Roman" pitchFamily="18" charset="0"/>
            </a:endParaRPr>
          </a:p>
        </p:txBody>
      </p:sp>
      <p:sp>
        <p:nvSpPr>
          <p:cNvPr id="23" name="星形: 四角 22">
            <a:extLst>
              <a:ext uri="{FF2B5EF4-FFF2-40B4-BE49-F238E27FC236}">
                <a16:creationId xmlns:a16="http://schemas.microsoft.com/office/drawing/2014/main" id="{0DF02B20-4D19-468C-BAC5-7DFD5E422F80}"/>
              </a:ext>
            </a:extLst>
          </p:cNvPr>
          <p:cNvSpPr/>
          <p:nvPr/>
        </p:nvSpPr>
        <p:spPr bwMode="auto">
          <a:xfrm>
            <a:off x="6018737" y="2787774"/>
            <a:ext cx="149014" cy="138650"/>
          </a:xfrm>
          <a:prstGeom prst="star4">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rgbClr val="FF0000"/>
              </a:solidFill>
              <a:effectLst/>
              <a:latin typeface="Times New Roman" pitchFamily="18" charset="0"/>
            </a:endParaRPr>
          </a:p>
        </p:txBody>
      </p:sp>
      <p:sp>
        <p:nvSpPr>
          <p:cNvPr id="31" name="文本框 30">
            <a:extLst>
              <a:ext uri="{FF2B5EF4-FFF2-40B4-BE49-F238E27FC236}">
                <a16:creationId xmlns:a16="http://schemas.microsoft.com/office/drawing/2014/main" id="{C917A861-B2BF-40A4-A30B-9FD13A66B7C7}"/>
              </a:ext>
            </a:extLst>
          </p:cNvPr>
          <p:cNvSpPr txBox="1"/>
          <p:nvPr/>
        </p:nvSpPr>
        <p:spPr>
          <a:xfrm>
            <a:off x="6069413" y="1760831"/>
            <a:ext cx="2085733" cy="307777"/>
          </a:xfrm>
          <a:prstGeom prst="rect">
            <a:avLst/>
          </a:prstGeom>
          <a:noFill/>
        </p:spPr>
        <p:txBody>
          <a:bodyPr wrap="square">
            <a:spAutoFit/>
          </a:bodyPr>
          <a:lstStyle/>
          <a:p>
            <a:pPr algn="ctr" eaLnBrk="0" fontAlgn="auto">
              <a:spcBef>
                <a:spcPts val="0"/>
              </a:spcBef>
              <a:spcAft>
                <a:spcPts val="0"/>
              </a:spcAft>
            </a:pPr>
            <a:r>
              <a:rPr lang="zh-CN" altLang="en-US" sz="1400" b="1" dirty="0">
                <a:solidFill>
                  <a:srgbClr val="FF0000"/>
                </a:solidFill>
                <a:latin typeface="微软雅黑" panose="020B0503020204020204" pitchFamily="34" charset="-122"/>
                <a:ea typeface="微软雅黑" panose="020B0503020204020204" pitchFamily="34" charset="-122"/>
              </a:rPr>
              <a:t>体积初始值设为3.3e-4</a:t>
            </a:r>
          </a:p>
        </p:txBody>
      </p:sp>
      <p:sp>
        <p:nvSpPr>
          <p:cNvPr id="32" name="文本框 31">
            <a:extLst>
              <a:ext uri="{FF2B5EF4-FFF2-40B4-BE49-F238E27FC236}">
                <a16:creationId xmlns:a16="http://schemas.microsoft.com/office/drawing/2014/main" id="{BC51C31E-78EC-4390-8CD8-D2667A214820}"/>
              </a:ext>
            </a:extLst>
          </p:cNvPr>
          <p:cNvSpPr txBox="1"/>
          <p:nvPr/>
        </p:nvSpPr>
        <p:spPr>
          <a:xfrm>
            <a:off x="3086183" y="2527520"/>
            <a:ext cx="1831150" cy="307777"/>
          </a:xfrm>
          <a:prstGeom prst="rect">
            <a:avLst/>
          </a:prstGeom>
          <a:noFill/>
        </p:spPr>
        <p:txBody>
          <a:bodyPr wrap="square">
            <a:spAutoFit/>
          </a:bodyPr>
          <a:lstStyle>
            <a:defPPr>
              <a:defRPr lang="zh-CN"/>
            </a:defPPr>
            <a:lvl1pPr algn="ctr" eaLnBrk="0" fontAlgn="auto">
              <a:spcBef>
                <a:spcPts val="0"/>
              </a:spcBef>
              <a:spcAft>
                <a:spcPts val="0"/>
              </a:spcAft>
              <a:defRPr sz="1400" b="1">
                <a:solidFill>
                  <a:srgbClr val="FF0000"/>
                </a:solidFill>
                <a:latin typeface="微软雅黑" panose="020B0503020204020204" pitchFamily="34" charset="-122"/>
                <a:ea typeface="微软雅黑" panose="020B0503020204020204" pitchFamily="34" charset="-122"/>
              </a:defRPr>
            </a:lvl1pPr>
          </a:lstStyle>
          <a:p>
            <a:r>
              <a:rPr lang="zh-CN" altLang="en-US" dirty="0"/>
              <a:t>体积初始值设为</a:t>
            </a:r>
            <a:r>
              <a:rPr lang="en-US" altLang="zh-CN" dirty="0"/>
              <a:t>8</a:t>
            </a:r>
            <a:r>
              <a:rPr lang="zh-CN" altLang="en-US" dirty="0"/>
              <a:t>e-</a:t>
            </a:r>
            <a:r>
              <a:rPr lang="en-US" altLang="zh-CN" dirty="0"/>
              <a:t>5</a:t>
            </a:r>
            <a:endParaRPr lang="zh-CN" altLang="en-US" dirty="0"/>
          </a:p>
        </p:txBody>
      </p:sp>
    </p:spTree>
    <p:extLst>
      <p:ext uri="{BB962C8B-B14F-4D97-AF65-F5344CB8AC3E}">
        <p14:creationId xmlns:p14="http://schemas.microsoft.com/office/powerpoint/2010/main" val="1321218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6" grpId="0" animBg="1"/>
      <p:bldP spid="37" grpId="0" animBg="1"/>
      <p:bldP spid="41" grpId="0"/>
      <p:bldP spid="20" grpId="0" animBg="1"/>
      <p:bldP spid="21" grpId="0" animBg="1"/>
      <p:bldP spid="23" grpId="0" animBg="1"/>
      <p:bldP spid="31" grpId="0"/>
      <p:bldP spid="3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09D96BB8-6BC8-43E7-88DB-968C28C3B606}"/>
              </a:ext>
            </a:extLst>
          </p:cNvPr>
          <p:cNvSpPr txBox="1"/>
          <p:nvPr/>
        </p:nvSpPr>
        <p:spPr>
          <a:xfrm>
            <a:off x="186101" y="700840"/>
            <a:ext cx="8352928" cy="1099788"/>
          </a:xfrm>
          <a:prstGeom prst="rect">
            <a:avLst/>
          </a:prstGeom>
          <a:solidFill>
            <a:schemeClr val="bg1"/>
          </a:solidFill>
        </p:spPr>
        <p:txBody>
          <a:bodyPr wrap="square">
            <a:spAutoFit/>
          </a:bodyPr>
          <a:lstStyle/>
          <a:p>
            <a:pPr>
              <a:lnSpc>
                <a:spcPts val="2700"/>
              </a:lnSpc>
            </a:pPr>
            <a:r>
              <a:rPr lang="en-US" altLang="zh-CN" sz="2000" b="0" dirty="0">
                <a:solidFill>
                  <a:srgbClr val="000000"/>
                </a:solidFill>
                <a:effectLst/>
                <a:latin typeface="Consolas" panose="020B0609020204030204" pitchFamily="49" charset="0"/>
              </a:rPr>
              <a:t>vv,fvv,ex=</a:t>
            </a:r>
            <a:r>
              <a:rPr lang="en-US" altLang="zh-CN" sz="2000" b="0" dirty="0" err="1">
                <a:solidFill>
                  <a:srgbClr val="795E26"/>
                </a:solidFill>
                <a:effectLst/>
                <a:latin typeface="Consolas" panose="020B0609020204030204" pitchFamily="49" charset="0"/>
              </a:rPr>
              <a:t>fzero</a:t>
            </a:r>
            <a:r>
              <a:rPr lang="en-US" altLang="zh-CN" sz="2000" b="0" dirty="0">
                <a:solidFill>
                  <a:srgbClr val="000000"/>
                </a:solidFill>
                <a:effectLst/>
                <a:latin typeface="Consolas" panose="020B0609020204030204" pitchFamily="49" charset="0"/>
              </a:rPr>
              <a:t>(ff,</a:t>
            </a:r>
            <a:r>
              <a:rPr lang="en-US" altLang="zh-CN" sz="2000" b="0" dirty="0">
                <a:solidFill>
                  <a:srgbClr val="098658"/>
                </a:solidFill>
                <a:effectLst/>
                <a:latin typeface="Consolas" panose="020B0609020204030204" pitchFamily="49" charset="0"/>
              </a:rPr>
              <a:t>8e-5</a:t>
            </a:r>
            <a:r>
              <a:rPr lang="en-US" altLang="zh-CN" sz="2000" b="0" dirty="0">
                <a:solidFill>
                  <a:srgbClr val="000000"/>
                </a:solidFill>
                <a:effectLst/>
                <a:latin typeface="Consolas" panose="020B0609020204030204" pitchFamily="49" charset="0"/>
              </a:rPr>
              <a:t>,</a:t>
            </a:r>
            <a:r>
              <a:rPr lang="en-US" altLang="zh-CN" sz="2000" b="0" dirty="0">
                <a:solidFill>
                  <a:srgbClr val="795E26"/>
                </a:solidFill>
                <a:effectLst/>
                <a:latin typeface="Consolas" panose="020B0609020204030204" pitchFamily="49" charset="0"/>
              </a:rPr>
              <a:t>optimset</a:t>
            </a:r>
            <a:r>
              <a:rPr lang="en-US" altLang="zh-CN" sz="2000" b="0" dirty="0">
                <a:solidFill>
                  <a:srgbClr val="000000"/>
                </a:solidFill>
                <a:effectLst/>
                <a:latin typeface="Consolas" panose="020B0609020204030204" pitchFamily="49" charset="0"/>
              </a:rPr>
              <a:t>(Display=</a:t>
            </a:r>
            <a:r>
              <a:rPr lang="en-US" altLang="zh-CN" sz="2000" b="0" dirty="0">
                <a:solidFill>
                  <a:srgbClr val="A31515"/>
                </a:solidFill>
                <a:effectLst/>
                <a:latin typeface="Consolas" panose="020B0609020204030204" pitchFamily="49" charset="0"/>
              </a:rPr>
              <a:t>"</a:t>
            </a:r>
            <a:r>
              <a:rPr lang="en-US" altLang="zh-CN" sz="2000" b="0" dirty="0" err="1">
                <a:solidFill>
                  <a:srgbClr val="A31515"/>
                </a:solidFill>
                <a:effectLst/>
                <a:latin typeface="Consolas" panose="020B0609020204030204" pitchFamily="49" charset="0"/>
              </a:rPr>
              <a:t>iter</a:t>
            </a:r>
            <a:r>
              <a:rPr lang="en-US" altLang="zh-CN" sz="2000" b="0" dirty="0">
                <a:solidFill>
                  <a:srgbClr val="A31515"/>
                </a:solidFill>
                <a:effectLst/>
                <a:latin typeface="Consolas" panose="020B0609020204030204" pitchFamily="49" charset="0"/>
              </a:rPr>
              <a:t>"</a:t>
            </a:r>
            <a:r>
              <a:rPr lang="en-US" altLang="zh-CN" sz="2000" b="0" dirty="0">
                <a:solidFill>
                  <a:srgbClr val="000000"/>
                </a:solidFill>
                <a:effectLst/>
                <a:latin typeface="Consolas" panose="020B0609020204030204" pitchFamily="49" charset="0"/>
              </a:rPr>
              <a:t>))</a:t>
            </a:r>
          </a:p>
          <a:p>
            <a:pPr>
              <a:lnSpc>
                <a:spcPts val="2700"/>
              </a:lnSpc>
            </a:pPr>
            <a:r>
              <a:rPr lang="en-US" altLang="zh-CN" b="0" dirty="0">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vv</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vv</a:t>
            </a:r>
            <a:r>
              <a:rPr lang="en-US" altLang="zh-CN" b="0" dirty="0" err="1">
                <a:solidFill>
                  <a:srgbClr val="A31515"/>
                </a:solidFill>
                <a:effectLst/>
                <a:latin typeface="Consolas" panose="020B0609020204030204" pitchFamily="49" charset="0"/>
              </a:rPr>
              <a:t>,fvv</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a:t>
            </a:r>
            <a:r>
              <a:rPr lang="en-US" altLang="zh-CN" b="0" dirty="0" err="1">
                <a:solidFill>
                  <a:srgbClr val="001080"/>
                </a:solidFill>
                <a:effectLst/>
                <a:latin typeface="Consolas" panose="020B0609020204030204" pitchFamily="49" charset="0"/>
              </a:rPr>
              <a:t>fvv</a:t>
            </a:r>
            <a:r>
              <a:rPr lang="en-US" altLang="zh-CN" b="0" dirty="0" err="1">
                <a:solidFill>
                  <a:srgbClr val="A31515"/>
                </a:solidFill>
                <a:effectLst/>
                <a:latin typeface="Consolas" panose="020B0609020204030204" pitchFamily="49" charset="0"/>
              </a:rPr>
              <a:t>,ex</a:t>
            </a:r>
            <a:r>
              <a:rPr lang="en-US" altLang="zh-CN" b="0" dirty="0">
                <a:solidFill>
                  <a:srgbClr val="A31515"/>
                </a:solidFill>
                <a:effectLst/>
                <a:latin typeface="Consolas" panose="020B0609020204030204" pitchFamily="49" charset="0"/>
              </a:rPr>
              <a:t>=</a:t>
            </a:r>
            <a:r>
              <a:rPr lang="en-US" altLang="zh-CN" b="0" dirty="0">
                <a:solidFill>
                  <a:srgbClr val="001080"/>
                </a:solidFill>
                <a:effectLst/>
                <a:latin typeface="Consolas" panose="020B0609020204030204" pitchFamily="49" charset="0"/>
              </a:rPr>
              <a:t>$ex</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pPr>
              <a:lnSpc>
                <a:spcPts val="2700"/>
              </a:lnSpc>
            </a:pPr>
            <a:r>
              <a:rPr lang="zh-CN" altLang="en-US" sz="1800" b="1" dirty="0">
                <a:solidFill>
                  <a:srgbClr val="FF0000"/>
                </a:solidFill>
              </a:rPr>
              <a:t>结果vv=7.902391074350601e-5,fvv=0.0,ex=1（收敛）</a:t>
            </a:r>
            <a:endParaRPr lang="en-US" altLang="zh-CN" b="1" dirty="0">
              <a:solidFill>
                <a:srgbClr val="000000"/>
              </a:solidFill>
              <a:effectLst/>
              <a:latin typeface="Consolas" panose="020B0609020204030204" pitchFamily="49" charset="0"/>
            </a:endParaRPr>
          </a:p>
        </p:txBody>
      </p:sp>
      <p:sp>
        <p:nvSpPr>
          <p:cNvPr id="7" name="文本框 6">
            <a:extLst>
              <a:ext uri="{FF2B5EF4-FFF2-40B4-BE49-F238E27FC236}">
                <a16:creationId xmlns:a16="http://schemas.microsoft.com/office/drawing/2014/main" id="{A4E34CFB-3840-4011-8788-D0097EDBB482}"/>
              </a:ext>
            </a:extLst>
          </p:cNvPr>
          <p:cNvSpPr txBox="1"/>
          <p:nvPr/>
        </p:nvSpPr>
        <p:spPr>
          <a:xfrm>
            <a:off x="187622" y="1840864"/>
            <a:ext cx="8850395" cy="2800767"/>
          </a:xfrm>
          <a:prstGeom prst="rect">
            <a:avLst/>
          </a:prstGeom>
          <a:noFill/>
          <a:ln>
            <a:solidFill>
              <a:schemeClr val="bg1">
                <a:lumMod val="75000"/>
              </a:schemeClr>
            </a:solidFill>
          </a:ln>
        </p:spPr>
        <p:txBody>
          <a:bodyPr wrap="square">
            <a:spAutoFit/>
          </a:bodyPr>
          <a:lstStyle/>
          <a:p>
            <a:r>
              <a:rPr lang="zh-CN" altLang="en-US" sz="1600" dirty="0"/>
              <a:t>Search for an interval around 8.0e-5 containing a sign change:</a:t>
            </a:r>
          </a:p>
          <a:p>
            <a:r>
              <a:rPr lang="zh-CN" altLang="en-US" sz="1600" dirty="0"/>
              <a:t>Func-count      a       f(a)    b       f(b)    Procedure</a:t>
            </a:r>
          </a:p>
          <a:p>
            <a:r>
              <a:rPr lang="zh-CN" altLang="en-US" sz="1600" dirty="0"/>
              <a:t>1       8.0e-5  -268564.1891892031      8.0e-5  -268564.1891892031initial interval</a:t>
            </a:r>
          </a:p>
          <a:p>
            <a:r>
              <a:rPr lang="zh-CN" altLang="en-US" sz="1600" dirty="0"/>
              <a:t>2       7.773725830020305e-5    </a:t>
            </a:r>
            <a:r>
              <a:rPr lang="zh-CN" altLang="en-US" sz="1600" dirty="0">
                <a:solidFill>
                  <a:srgbClr val="FF0000"/>
                </a:solidFill>
              </a:rPr>
              <a:t>420499.89651513845      </a:t>
            </a:r>
            <a:r>
              <a:rPr lang="zh-CN" altLang="en-US" sz="1600" dirty="0"/>
              <a:t>8.0e-5  </a:t>
            </a:r>
            <a:r>
              <a:rPr lang="zh-CN" altLang="en-US" sz="1600" dirty="0">
                <a:solidFill>
                  <a:srgbClr val="FF0000"/>
                </a:solidFill>
              </a:rPr>
              <a:t>-268564.1891892031</a:t>
            </a:r>
            <a:r>
              <a:rPr lang="zh-CN" altLang="en-US" sz="1600" dirty="0"/>
              <a:t>search</a:t>
            </a:r>
          </a:p>
          <a:p>
            <a:r>
              <a:rPr lang="zh-CN" altLang="en-US" sz="1600" dirty="0"/>
              <a:t>Func-count      x       f(x)    Procedure</a:t>
            </a:r>
          </a:p>
          <a:p>
            <a:r>
              <a:rPr lang="zh-CN" altLang="en-US" sz="1600" dirty="0"/>
              <a:t>2       8.0e-5  -268564.1891892031      initial</a:t>
            </a:r>
          </a:p>
          <a:p>
            <a:r>
              <a:rPr lang="zh-CN" altLang="en-US" sz="1600" dirty="0"/>
              <a:t>3       7.911809162230622e-5    -27698.9029956311       interpolation</a:t>
            </a:r>
          </a:p>
          <a:p>
            <a:r>
              <a:rPr lang="zh-CN" altLang="en-US" sz="1600" dirty="0"/>
              <a:t>4       7.902294200883041e-5    286.9731079041958       interpolation</a:t>
            </a:r>
          </a:p>
          <a:p>
            <a:r>
              <a:rPr lang="zh-CN" altLang="en-US" sz="1600" dirty="0"/>
              <a:t>5       7.902391769314324e-5    -2.058573193848133      interpolation</a:t>
            </a:r>
          </a:p>
          <a:p>
            <a:r>
              <a:rPr lang="zh-CN" altLang="en-US" sz="1600" dirty="0"/>
              <a:t>6       7.902391074401724e-5    -0.0001514330506324768  interpolation</a:t>
            </a:r>
          </a:p>
          <a:p>
            <a:r>
              <a:rPr lang="zh-CN" altLang="en-US" sz="1600" dirty="0"/>
              <a:t>7       7.902391074350601e-5    0.0     interpolation</a:t>
            </a:r>
          </a:p>
        </p:txBody>
      </p:sp>
      <p:sp>
        <p:nvSpPr>
          <p:cNvPr id="8" name="文本框 7">
            <a:extLst>
              <a:ext uri="{FF2B5EF4-FFF2-40B4-BE49-F238E27FC236}">
                <a16:creationId xmlns:a16="http://schemas.microsoft.com/office/drawing/2014/main" id="{15D3C05D-4402-4070-B0C0-FE52C21AC9FB}"/>
              </a:ext>
            </a:extLst>
          </p:cNvPr>
          <p:cNvSpPr txBox="1"/>
          <p:nvPr/>
        </p:nvSpPr>
        <p:spPr>
          <a:xfrm>
            <a:off x="740544" y="-69470"/>
            <a:ext cx="8136904" cy="677108"/>
          </a:xfrm>
          <a:prstGeom prst="rect">
            <a:avLst/>
          </a:prstGeom>
          <a:noFill/>
        </p:spPr>
        <p:txBody>
          <a:bodyPr wrap="square">
            <a:spAutoFit/>
          </a:bodyPr>
          <a:lstStyle/>
          <a:p>
            <a:pPr algn="dist">
              <a:lnSpc>
                <a:spcPct val="150000"/>
              </a:lnSpc>
            </a:pPr>
            <a:r>
              <a:rPr lang="en-US" altLang="zh-CN" sz="2800" b="0" dirty="0">
                <a:solidFill>
                  <a:srgbClr val="002060"/>
                </a:solidFill>
                <a:latin typeface="华文楷体" panose="02010600040101010101" pitchFamily="2" charset="-122"/>
                <a:ea typeface="华文楷体" panose="02010600040101010101" pitchFamily="2" charset="-122"/>
              </a:rPr>
              <a:t>§ 8.5</a:t>
            </a:r>
            <a:r>
              <a:rPr lang="en-US" altLang="zh-CN" sz="2800" dirty="0">
                <a:solidFill>
                  <a:srgbClr val="002060"/>
                </a:solidFill>
                <a:latin typeface="华文楷体" panose="02010600040101010101" pitchFamily="2" charset="-122"/>
                <a:ea typeface="华文楷体" panose="02010600040101010101" pitchFamily="2" charset="-122"/>
              </a:rPr>
              <a:t>.1</a:t>
            </a:r>
            <a:r>
              <a:rPr lang="zh-CN" altLang="en-US" sz="2800" dirty="0">
                <a:solidFill>
                  <a:srgbClr val="002060"/>
                </a:solidFill>
                <a:latin typeface="华文楷体" panose="02010600040101010101" pitchFamily="2" charset="-122"/>
                <a:ea typeface="华文楷体" panose="02010600040101010101" pitchFamily="2" charset="-122"/>
              </a:rPr>
              <a:t>求解非线性方程 </a:t>
            </a:r>
            <a:r>
              <a:rPr lang="en-US" altLang="zh-CN" sz="2800" dirty="0" err="1">
                <a:solidFill>
                  <a:srgbClr val="FF0000"/>
                </a:solidFill>
                <a:latin typeface="华文楷体" panose="02010600040101010101" pitchFamily="2" charset="-122"/>
                <a:ea typeface="华文楷体" panose="02010600040101010101" pitchFamily="2" charset="-122"/>
                <a:sym typeface="Arial" panose="020B0604020202020204" pitchFamily="34" charset="0"/>
              </a:rPr>
              <a:t>fzero</a:t>
            </a:r>
            <a:r>
              <a:rPr lang="en-US" altLang="zh-CN" sz="2800" b="0" kern="0" dirty="0">
                <a:solidFill>
                  <a:srgbClr val="FF0000"/>
                </a:solidFill>
                <a:latin typeface="华文楷体" panose="02010600040101010101" pitchFamily="2" charset="-122"/>
                <a:ea typeface="华文楷体" panose="02010600040101010101" pitchFamily="2" charset="-122"/>
              </a:rPr>
              <a:t> ——</a:t>
            </a:r>
            <a:r>
              <a:rPr lang="zh-CN" altLang="zh-CN" sz="2000" dirty="0">
                <a:solidFill>
                  <a:srgbClr val="333333"/>
                </a:solidFill>
                <a:effectLst/>
                <a:latin typeface="Helvetica" panose="020B0604020202020204" pitchFamily="34" charset="0"/>
                <a:ea typeface="等线" panose="02010600030101010101" pitchFamily="2" charset="-122"/>
                <a:cs typeface="Helvetica" panose="020B0604020202020204" pitchFamily="34" charset="0"/>
              </a:rPr>
              <a:t>范德瓦尔斯方程</a:t>
            </a:r>
            <a:r>
              <a:rPr lang="zh-CN" altLang="en-US" sz="2000" dirty="0">
                <a:solidFill>
                  <a:srgbClr val="333333"/>
                </a:solidFill>
                <a:effectLst/>
                <a:latin typeface="Helvetica" panose="020B0604020202020204" pitchFamily="34" charset="0"/>
                <a:ea typeface="等线" panose="02010600030101010101" pitchFamily="2" charset="-122"/>
                <a:cs typeface="Helvetica" panose="020B0604020202020204" pitchFamily="34" charset="0"/>
              </a:rPr>
              <a:t>求体积</a:t>
            </a:r>
            <a:endParaRPr lang="en-US" altLang="zh-CN" sz="2800" dirty="0">
              <a:solidFill>
                <a:srgbClr val="FF0000"/>
              </a:solidFill>
              <a:latin typeface="华文楷体" panose="02010600040101010101" pitchFamily="2" charset="-122"/>
              <a:ea typeface="华文楷体" panose="02010600040101010101" pitchFamily="2" charset="-122"/>
              <a:sym typeface="Arial" panose="020B0604020202020204" pitchFamily="34" charset="0"/>
            </a:endParaRPr>
          </a:p>
        </p:txBody>
      </p:sp>
      <p:sp>
        <p:nvSpPr>
          <p:cNvPr id="9" name="形状 18">
            <a:extLst>
              <a:ext uri="{FF2B5EF4-FFF2-40B4-BE49-F238E27FC236}">
                <a16:creationId xmlns:a16="http://schemas.microsoft.com/office/drawing/2014/main" id="{7CE2986F-FBDA-4AAC-A1EE-CBEEF9B971DB}"/>
              </a:ext>
            </a:extLst>
          </p:cNvPr>
          <p:cNvSpPr/>
          <p:nvPr/>
        </p:nvSpPr>
        <p:spPr>
          <a:xfrm>
            <a:off x="6583374" y="986903"/>
            <a:ext cx="2023617" cy="699178"/>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endParaRPr lang="en-US" altLang="zh-CN" sz="1200" dirty="0">
              <a:solidFill>
                <a:schemeClr val="tx1">
                  <a:lumMod val="50000"/>
                  <a:lumOff val="50000"/>
                </a:schemeClr>
              </a:solidFill>
              <a:latin typeface="Consolas" panose="020B0609020204030204" pitchFamily="49" charset="0"/>
            </a:endParaRPr>
          </a:p>
          <a:p>
            <a:pPr algn="ctr" eaLnBrk="0" fontAlgn="auto">
              <a:spcBef>
                <a:spcPts val="0"/>
              </a:spcBef>
              <a:spcAft>
                <a:spcPts val="0"/>
              </a:spcAft>
            </a:pPr>
            <a:r>
              <a:rPr lang="zh-CN" altLang="en-US" sz="1200" b="1" dirty="0">
                <a:solidFill>
                  <a:srgbClr val="FFFF00"/>
                </a:solidFill>
                <a:latin typeface="微软雅黑" panose="020B0503020204020204" pitchFamily="34" charset="-122"/>
                <a:ea typeface="微软雅黑" panose="020B0503020204020204" pitchFamily="34" charset="-122"/>
              </a:rPr>
              <a:t>体积初始值</a:t>
            </a:r>
            <a:endParaRPr lang="en-US" altLang="zh-CN" sz="1200" b="1" dirty="0">
              <a:solidFill>
                <a:srgbClr val="FFFF00"/>
              </a:solidFill>
              <a:latin typeface="微软雅黑" panose="020B0503020204020204" pitchFamily="34" charset="-122"/>
              <a:ea typeface="微软雅黑" panose="020B0503020204020204" pitchFamily="34" charset="-122"/>
            </a:endParaRPr>
          </a:p>
          <a:p>
            <a:pPr algn="ctr" eaLnBrk="0" fontAlgn="auto">
              <a:spcBef>
                <a:spcPts val="0"/>
              </a:spcBef>
              <a:spcAft>
                <a:spcPts val="0"/>
              </a:spcAft>
            </a:pPr>
            <a:r>
              <a:rPr lang="zh-CN" altLang="en-US" sz="1200" b="1" dirty="0">
                <a:solidFill>
                  <a:srgbClr val="FFFF00"/>
                </a:solidFill>
                <a:latin typeface="微软雅黑" panose="020B0503020204020204" pitchFamily="34" charset="-122"/>
                <a:ea typeface="微软雅黑" panose="020B0503020204020204" pitchFamily="34" charset="-122"/>
              </a:rPr>
              <a:t>设为</a:t>
            </a:r>
            <a:r>
              <a:rPr lang="en-US" altLang="zh-CN" sz="1200" b="1" dirty="0">
                <a:solidFill>
                  <a:srgbClr val="FFFF00"/>
                </a:solidFill>
                <a:latin typeface="微软雅黑" panose="020B0503020204020204" pitchFamily="34" charset="-122"/>
                <a:ea typeface="微软雅黑" panose="020B0503020204020204" pitchFamily="34" charset="-122"/>
              </a:rPr>
              <a:t>8</a:t>
            </a:r>
            <a:r>
              <a:rPr lang="zh-CN" altLang="en-US" sz="1200" b="1" dirty="0">
                <a:solidFill>
                  <a:srgbClr val="FFFF00"/>
                </a:solidFill>
                <a:latin typeface="微软雅黑" panose="020B0503020204020204" pitchFamily="34" charset="-122"/>
                <a:ea typeface="微软雅黑" panose="020B0503020204020204" pitchFamily="34" charset="-122"/>
              </a:rPr>
              <a:t>e-</a:t>
            </a:r>
            <a:r>
              <a:rPr lang="en-US" altLang="zh-CN" sz="1200" b="1" dirty="0">
                <a:solidFill>
                  <a:srgbClr val="FFFF00"/>
                </a:solidFill>
                <a:latin typeface="微软雅黑" panose="020B0503020204020204" pitchFamily="34" charset="-122"/>
                <a:ea typeface="微软雅黑" panose="020B0503020204020204" pitchFamily="34" charset="-122"/>
              </a:rPr>
              <a:t>5</a:t>
            </a:r>
            <a:endParaRPr lang="zh-CN" altLang="en-US" sz="1200" b="1" dirty="0">
              <a:solidFill>
                <a:srgbClr val="FFFF00"/>
              </a:solidFill>
              <a:latin typeface="微软雅黑" panose="020B0503020204020204" pitchFamily="34" charset="-122"/>
              <a:ea typeface="微软雅黑" panose="020B0503020204020204" pitchFamily="34" charset="-122"/>
            </a:endParaRPr>
          </a:p>
          <a:p>
            <a:pPr marL="0" indent="0" algn="ctr" defTabSz="914400" eaLnBrk="0" fontAlgn="auto" latinLnBrk="0">
              <a:lnSpc>
                <a:spcPct val="100000"/>
              </a:lnSpc>
              <a:spcBef>
                <a:spcPts val="0"/>
              </a:spcBef>
              <a:spcAft>
                <a:spcPts val="0"/>
              </a:spcAft>
              <a:buFontTx/>
              <a:buNone/>
            </a:pPr>
            <a:endParaRPr lang="ko-KR" altLang="en-US" sz="1200" b="1" cap="none" dirty="0">
              <a:solidFill>
                <a:srgbClr val="FFFF00"/>
              </a:solidFill>
              <a:latin typeface="楷体_GB2312" charset="0"/>
              <a:ea typeface="楷体_GB2312" charset="0"/>
            </a:endParaRPr>
          </a:p>
        </p:txBody>
      </p:sp>
      <p:sp>
        <p:nvSpPr>
          <p:cNvPr id="6" name="波形 5">
            <a:extLst>
              <a:ext uri="{FF2B5EF4-FFF2-40B4-BE49-F238E27FC236}">
                <a16:creationId xmlns:a16="http://schemas.microsoft.com/office/drawing/2014/main" id="{6CF60136-DCF6-4949-BF04-290CB2D0C9AA}"/>
              </a:ext>
            </a:extLst>
          </p:cNvPr>
          <p:cNvSpPr/>
          <p:nvPr/>
        </p:nvSpPr>
        <p:spPr>
          <a:xfrm>
            <a:off x="8047047" y="677332"/>
            <a:ext cx="830402" cy="31024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charset="-122"/>
                <a:ea typeface="微软雅黑" panose="020B0503020204020204" charset="-122"/>
              </a:rPr>
              <a:t>例85-1</a:t>
            </a:r>
            <a:endParaRPr lang="ko-KR" altLang="en-US" sz="1600" b="1" dirty="0">
              <a:solidFill>
                <a:srgbClr val="FFFF00"/>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35391264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133DC62-69DC-4D88-AA3B-DAE2FB63724C}"/>
              </a:ext>
            </a:extLst>
          </p:cNvPr>
          <p:cNvSpPr txBox="1"/>
          <p:nvPr/>
        </p:nvSpPr>
        <p:spPr>
          <a:xfrm>
            <a:off x="199442" y="695864"/>
            <a:ext cx="8588413" cy="1347164"/>
          </a:xfrm>
          <a:prstGeom prst="rect">
            <a:avLst/>
          </a:prstGeom>
          <a:solidFill>
            <a:schemeClr val="bg1"/>
          </a:solidFill>
        </p:spPr>
        <p:txBody>
          <a:bodyPr wrap="square">
            <a:spAutoFit/>
          </a:bodyPr>
          <a:lstStyle/>
          <a:p>
            <a:pPr>
              <a:lnSpc>
                <a:spcPts val="2500"/>
              </a:lnSpc>
            </a:pPr>
            <a:r>
              <a:rPr lang="zh-CN" altLang="en-US" dirty="0"/>
              <a:t> vv,fvv,ex=fzero(ff,1e-2)</a:t>
            </a:r>
          </a:p>
          <a:p>
            <a:pPr>
              <a:lnSpc>
                <a:spcPts val="2500"/>
              </a:lnSpc>
            </a:pPr>
            <a:r>
              <a:rPr lang="zh-CN" altLang="en-US" dirty="0"/>
              <a:t>结果：Exiting fzero: aborting search for an interval containing a sign change because no sign change is detected during search.Function may not have a root.</a:t>
            </a:r>
          </a:p>
          <a:p>
            <a:pPr>
              <a:lnSpc>
                <a:spcPts val="2500"/>
              </a:lnSpc>
            </a:pPr>
            <a:r>
              <a:rPr lang="zh-CN" altLang="en-US" dirty="0"/>
              <a:t>nction may not have a root.)</a:t>
            </a:r>
          </a:p>
        </p:txBody>
      </p:sp>
      <p:sp>
        <p:nvSpPr>
          <p:cNvPr id="7" name="文本框 6">
            <a:extLst>
              <a:ext uri="{FF2B5EF4-FFF2-40B4-BE49-F238E27FC236}">
                <a16:creationId xmlns:a16="http://schemas.microsoft.com/office/drawing/2014/main" id="{2C4CE975-4D75-423B-BB44-E937FDFC7EB0}"/>
              </a:ext>
            </a:extLst>
          </p:cNvPr>
          <p:cNvSpPr txBox="1"/>
          <p:nvPr/>
        </p:nvSpPr>
        <p:spPr>
          <a:xfrm>
            <a:off x="179512" y="3193583"/>
            <a:ext cx="6699945" cy="793230"/>
          </a:xfrm>
          <a:prstGeom prst="rect">
            <a:avLst/>
          </a:prstGeom>
          <a:noFill/>
        </p:spPr>
        <p:txBody>
          <a:bodyPr wrap="square">
            <a:spAutoFit/>
          </a:bodyPr>
          <a:lstStyle/>
          <a:p>
            <a:pPr>
              <a:lnSpc>
                <a:spcPts val="2900"/>
              </a:lnSpc>
            </a:pPr>
            <a:r>
              <a:rPr lang="zh-CN" altLang="en-US" dirty="0"/>
              <a:t>julia&gt; println("vv=$vv,fvv=$fvv,ex=$ex")</a:t>
            </a:r>
          </a:p>
          <a:p>
            <a:pPr>
              <a:lnSpc>
                <a:spcPts val="2900"/>
              </a:lnSpc>
            </a:pPr>
            <a:r>
              <a:rPr lang="zh-CN" altLang="en-US" dirty="0"/>
              <a:t>vv=NaN,fvv=NaN,ex=-6 （ ex=-6 表示</a:t>
            </a:r>
            <a:r>
              <a:rPr lang="en-US" altLang="zh-CN" sz="1800" b="1" dirty="0" err="1">
                <a:solidFill>
                  <a:srgbClr val="FF0000"/>
                </a:solidFill>
                <a:effectLst/>
              </a:rPr>
              <a:t>fzero</a:t>
            </a:r>
            <a:r>
              <a:rPr lang="en-US" altLang="zh-CN" sz="1800" b="1" dirty="0">
                <a:solidFill>
                  <a:srgbClr val="FF0000"/>
                </a:solidFill>
                <a:effectLst/>
              </a:rPr>
              <a:t> </a:t>
            </a:r>
            <a:r>
              <a:rPr lang="zh-CN" altLang="en-US" sz="1800" b="1" dirty="0">
                <a:solidFill>
                  <a:srgbClr val="FF0000"/>
                </a:solidFill>
                <a:effectLst/>
              </a:rPr>
              <a:t>未检测到变号</a:t>
            </a:r>
            <a:r>
              <a:rPr lang="zh-CN" altLang="en-US" dirty="0"/>
              <a:t>）</a:t>
            </a:r>
          </a:p>
        </p:txBody>
      </p:sp>
      <p:sp>
        <p:nvSpPr>
          <p:cNvPr id="8" name="形状 18">
            <a:extLst>
              <a:ext uri="{FF2B5EF4-FFF2-40B4-BE49-F238E27FC236}">
                <a16:creationId xmlns:a16="http://schemas.microsoft.com/office/drawing/2014/main" id="{05FBB49B-13B4-4C7A-A6F8-606424E50EB6}"/>
              </a:ext>
            </a:extLst>
          </p:cNvPr>
          <p:cNvSpPr/>
          <p:nvPr/>
        </p:nvSpPr>
        <p:spPr>
          <a:xfrm>
            <a:off x="5887605" y="605251"/>
            <a:ext cx="2880320" cy="477049"/>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endParaRPr lang="en-US" altLang="zh-CN" sz="1200" dirty="0">
              <a:solidFill>
                <a:schemeClr val="tx1">
                  <a:lumMod val="50000"/>
                  <a:lumOff val="50000"/>
                </a:schemeClr>
              </a:solidFill>
              <a:latin typeface="Consolas" panose="020B0609020204030204" pitchFamily="49" charset="0"/>
            </a:endParaRPr>
          </a:p>
          <a:p>
            <a:pPr algn="ctr" eaLnBrk="0" fontAlgn="auto">
              <a:spcBef>
                <a:spcPts val="0"/>
              </a:spcBef>
              <a:spcAft>
                <a:spcPts val="0"/>
              </a:spcAft>
            </a:pPr>
            <a:r>
              <a:rPr lang="zh-CN" altLang="en-US" sz="1200" b="1" dirty="0">
                <a:solidFill>
                  <a:srgbClr val="FFFF00"/>
                </a:solidFill>
                <a:latin typeface="微软雅黑" panose="020B0503020204020204" pitchFamily="34" charset="-122"/>
                <a:ea typeface="微软雅黑" panose="020B0503020204020204" pitchFamily="34" charset="-122"/>
              </a:rPr>
              <a:t>体积初始值设为1e-2</a:t>
            </a:r>
          </a:p>
          <a:p>
            <a:pPr marL="0" indent="0" algn="ctr" defTabSz="914400" eaLnBrk="0" fontAlgn="auto" latinLnBrk="0">
              <a:lnSpc>
                <a:spcPct val="100000"/>
              </a:lnSpc>
              <a:spcBef>
                <a:spcPts val="0"/>
              </a:spcBef>
              <a:spcAft>
                <a:spcPts val="0"/>
              </a:spcAft>
              <a:buFontTx/>
              <a:buNone/>
            </a:pPr>
            <a:endParaRPr lang="ko-KR" altLang="en-US" sz="1200" b="1" cap="none" dirty="0">
              <a:solidFill>
                <a:srgbClr val="FFFF00"/>
              </a:solidFill>
              <a:latin typeface="楷体_GB2312" charset="0"/>
              <a:ea typeface="楷体_GB2312" charset="0"/>
            </a:endParaRPr>
          </a:p>
        </p:txBody>
      </p:sp>
      <p:sp>
        <p:nvSpPr>
          <p:cNvPr id="12" name="文本框 11">
            <a:extLst>
              <a:ext uri="{FF2B5EF4-FFF2-40B4-BE49-F238E27FC236}">
                <a16:creationId xmlns:a16="http://schemas.microsoft.com/office/drawing/2014/main" id="{029F8452-7A99-4477-A02F-5C2EE9E0BE63}"/>
              </a:ext>
            </a:extLst>
          </p:cNvPr>
          <p:cNvSpPr txBox="1"/>
          <p:nvPr/>
        </p:nvSpPr>
        <p:spPr>
          <a:xfrm>
            <a:off x="179512" y="2032392"/>
            <a:ext cx="9126265" cy="1094595"/>
          </a:xfrm>
          <a:prstGeom prst="rect">
            <a:avLst/>
          </a:prstGeom>
          <a:noFill/>
        </p:spPr>
        <p:txBody>
          <a:bodyPr wrap="square">
            <a:spAutoFit/>
          </a:bodyPr>
          <a:lstStyle/>
          <a:p>
            <a:pPr>
              <a:lnSpc>
                <a:spcPts val="2700"/>
              </a:lnSpc>
            </a:pPr>
            <a:r>
              <a:rPr lang="zh-CN" altLang="en-US" dirty="0"/>
              <a:t>Search for a zero in the interval [-1.041335096241067e308, 1.041335096241067e308]:</a:t>
            </a:r>
          </a:p>
          <a:p>
            <a:pPr marL="342900" indent="-342900">
              <a:lnSpc>
                <a:spcPts val="2700"/>
              </a:lnSpc>
              <a:buAutoNum type="arabicPlain" startAt="4145"/>
            </a:pPr>
            <a:r>
              <a:rPr lang="zh-CN" altLang="en-US" b="1" dirty="0">
                <a:solidFill>
                  <a:srgbClr val="FF0000"/>
                </a:solidFill>
              </a:rPr>
              <a:t>-1.4726702160792093e30</a:t>
            </a:r>
            <a:r>
              <a:rPr lang="zh-CN" altLang="en-US" dirty="0"/>
              <a:t>8 -5.0e6  </a:t>
            </a:r>
            <a:r>
              <a:rPr lang="zh-CN" altLang="en-US" b="1" dirty="0">
                <a:solidFill>
                  <a:srgbClr val="FF0000"/>
                </a:solidFill>
              </a:rPr>
              <a:t>1.4726702160792093e308  </a:t>
            </a:r>
            <a:r>
              <a:rPr lang="zh-CN" altLang="en-US" dirty="0"/>
              <a:t>-5.0e6search</a:t>
            </a:r>
            <a:endParaRPr lang="en-US" altLang="zh-CN" dirty="0"/>
          </a:p>
          <a:p>
            <a:pPr>
              <a:lnSpc>
                <a:spcPts val="2700"/>
              </a:lnSpc>
            </a:pPr>
            <a:r>
              <a:rPr lang="zh-CN" altLang="en-US" dirty="0"/>
              <a:t>搜索到</a:t>
            </a:r>
            <a:r>
              <a:rPr lang="en-US" altLang="zh-CN" dirty="0"/>
              <a:t>4145</a:t>
            </a:r>
            <a:r>
              <a:rPr lang="zh-CN" altLang="en-US" dirty="0"/>
              <a:t>步时，函数值还是同号</a:t>
            </a:r>
          </a:p>
        </p:txBody>
      </p:sp>
      <p:sp>
        <p:nvSpPr>
          <p:cNvPr id="13" name="文本框 12">
            <a:extLst>
              <a:ext uri="{FF2B5EF4-FFF2-40B4-BE49-F238E27FC236}">
                <a16:creationId xmlns:a16="http://schemas.microsoft.com/office/drawing/2014/main" id="{A2C4284B-9293-4E73-843C-11CED3CAE97B}"/>
              </a:ext>
            </a:extLst>
          </p:cNvPr>
          <p:cNvSpPr txBox="1"/>
          <p:nvPr/>
        </p:nvSpPr>
        <p:spPr>
          <a:xfrm>
            <a:off x="723727" y="-100401"/>
            <a:ext cx="8136904" cy="677108"/>
          </a:xfrm>
          <a:prstGeom prst="rect">
            <a:avLst/>
          </a:prstGeom>
          <a:noFill/>
        </p:spPr>
        <p:txBody>
          <a:bodyPr wrap="square">
            <a:spAutoFit/>
          </a:bodyPr>
          <a:lstStyle/>
          <a:p>
            <a:pPr algn="dist">
              <a:lnSpc>
                <a:spcPct val="150000"/>
              </a:lnSpc>
            </a:pPr>
            <a:r>
              <a:rPr lang="en-US" altLang="zh-CN" sz="2800" b="0" dirty="0">
                <a:solidFill>
                  <a:srgbClr val="002060"/>
                </a:solidFill>
                <a:latin typeface="华文楷体" panose="02010600040101010101" pitchFamily="2" charset="-122"/>
                <a:ea typeface="华文楷体" panose="02010600040101010101" pitchFamily="2" charset="-122"/>
              </a:rPr>
              <a:t>§ 8.5</a:t>
            </a:r>
            <a:r>
              <a:rPr lang="en-US" altLang="zh-CN" sz="2800" dirty="0">
                <a:solidFill>
                  <a:srgbClr val="002060"/>
                </a:solidFill>
                <a:latin typeface="华文楷体" panose="02010600040101010101" pitchFamily="2" charset="-122"/>
                <a:ea typeface="华文楷体" panose="02010600040101010101" pitchFamily="2" charset="-122"/>
              </a:rPr>
              <a:t>.1</a:t>
            </a:r>
            <a:r>
              <a:rPr lang="zh-CN" altLang="en-US" sz="2800" dirty="0">
                <a:solidFill>
                  <a:srgbClr val="002060"/>
                </a:solidFill>
                <a:latin typeface="华文楷体" panose="02010600040101010101" pitchFamily="2" charset="-122"/>
                <a:ea typeface="华文楷体" panose="02010600040101010101" pitchFamily="2" charset="-122"/>
              </a:rPr>
              <a:t>求解非线性方程 </a:t>
            </a:r>
            <a:r>
              <a:rPr lang="en-US" altLang="zh-CN" sz="2800" dirty="0" err="1">
                <a:solidFill>
                  <a:srgbClr val="FF0000"/>
                </a:solidFill>
                <a:latin typeface="华文楷体" panose="02010600040101010101" pitchFamily="2" charset="-122"/>
                <a:ea typeface="华文楷体" panose="02010600040101010101" pitchFamily="2" charset="-122"/>
                <a:sym typeface="Arial" panose="020B0604020202020204" pitchFamily="34" charset="0"/>
              </a:rPr>
              <a:t>fzero</a:t>
            </a:r>
            <a:r>
              <a:rPr lang="en-US" altLang="zh-CN" sz="2800" b="0" kern="0" dirty="0">
                <a:solidFill>
                  <a:srgbClr val="FF0000"/>
                </a:solidFill>
                <a:latin typeface="华文楷体" panose="02010600040101010101" pitchFamily="2" charset="-122"/>
                <a:ea typeface="华文楷体" panose="02010600040101010101" pitchFamily="2" charset="-122"/>
              </a:rPr>
              <a:t> ——</a:t>
            </a:r>
            <a:r>
              <a:rPr lang="zh-CN" altLang="zh-CN" sz="2000" dirty="0">
                <a:solidFill>
                  <a:srgbClr val="333333"/>
                </a:solidFill>
                <a:effectLst/>
                <a:latin typeface="Helvetica" panose="020B0604020202020204" pitchFamily="34" charset="0"/>
                <a:ea typeface="等线" panose="02010600030101010101" pitchFamily="2" charset="-122"/>
                <a:cs typeface="Helvetica" panose="020B0604020202020204" pitchFamily="34" charset="0"/>
              </a:rPr>
              <a:t>范德瓦尔斯方程</a:t>
            </a:r>
            <a:r>
              <a:rPr lang="zh-CN" altLang="en-US" sz="2000" dirty="0">
                <a:solidFill>
                  <a:srgbClr val="333333"/>
                </a:solidFill>
                <a:effectLst/>
                <a:latin typeface="Helvetica" panose="020B0604020202020204" pitchFamily="34" charset="0"/>
                <a:ea typeface="等线" panose="02010600030101010101" pitchFamily="2" charset="-122"/>
                <a:cs typeface="Helvetica" panose="020B0604020202020204" pitchFamily="34" charset="0"/>
              </a:rPr>
              <a:t>求体积</a:t>
            </a:r>
            <a:endParaRPr lang="en-US" altLang="zh-CN" sz="2800" dirty="0">
              <a:solidFill>
                <a:srgbClr val="FF0000"/>
              </a:solidFill>
              <a:latin typeface="华文楷体" panose="02010600040101010101" pitchFamily="2" charset="-122"/>
              <a:ea typeface="华文楷体" panose="02010600040101010101" pitchFamily="2" charset="-122"/>
              <a:sym typeface="Arial" panose="020B0604020202020204" pitchFamily="34" charset="0"/>
            </a:endParaRPr>
          </a:p>
        </p:txBody>
      </p:sp>
      <p:sp>
        <p:nvSpPr>
          <p:cNvPr id="14" name="形状 24">
            <a:extLst>
              <a:ext uri="{FF2B5EF4-FFF2-40B4-BE49-F238E27FC236}">
                <a16:creationId xmlns:a16="http://schemas.microsoft.com/office/drawing/2014/main" id="{F17F0CBA-FE04-439D-9248-D26AEC7086B2}"/>
              </a:ext>
            </a:extLst>
          </p:cNvPr>
          <p:cNvSpPr/>
          <p:nvPr/>
        </p:nvSpPr>
        <p:spPr>
          <a:xfrm>
            <a:off x="4493649" y="3976407"/>
            <a:ext cx="4475031" cy="596153"/>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marL="0" indent="0" algn="ctr" defTabSz="914400" eaLnBrk="0" fontAlgn="auto" latinLnBrk="0">
              <a:lnSpc>
                <a:spcPct val="100000"/>
              </a:lnSpc>
              <a:spcBef>
                <a:spcPts val="0"/>
              </a:spcBef>
              <a:spcAft>
                <a:spcPts val="0"/>
              </a:spcAft>
              <a:buFontTx/>
              <a:buNone/>
            </a:pPr>
            <a:endParaRPr lang="ko-KR" altLang="en-US" sz="2600" b="1" cap="none" dirty="0">
              <a:solidFill>
                <a:srgbClr val="FFFF00"/>
              </a:solidFill>
              <a:latin typeface="华文楷体" panose="02010600040101010101" pitchFamily="2" charset="-122"/>
              <a:ea typeface="楷体_GB2312" charset="0"/>
            </a:endParaRPr>
          </a:p>
        </p:txBody>
      </p:sp>
      <p:sp>
        <p:nvSpPr>
          <p:cNvPr id="15" name="形状 25">
            <a:extLst>
              <a:ext uri="{FF2B5EF4-FFF2-40B4-BE49-F238E27FC236}">
                <a16:creationId xmlns:a16="http://schemas.microsoft.com/office/drawing/2014/main" id="{FFC7CE15-808F-48D6-9B94-7EF999146AE5}"/>
              </a:ext>
            </a:extLst>
          </p:cNvPr>
          <p:cNvSpPr/>
          <p:nvPr/>
        </p:nvSpPr>
        <p:spPr>
          <a:xfrm>
            <a:off x="5220072" y="4112902"/>
            <a:ext cx="3157430" cy="323165"/>
          </a:xfrm>
          <a:prstGeom prst="rect">
            <a:avLst/>
          </a:prstGeom>
        </p:spPr>
        <p:txBody>
          <a:bodyPr vert="horz" wrap="square" lIns="91440" tIns="45720" rIns="91440" bIns="45720" anchor="t">
            <a:spAutoFit/>
          </a:bodyPr>
          <a:lstStyle/>
          <a:p>
            <a:pPr marL="0" indent="0" defTabSz="914400" eaLnBrk="0" fontAlgn="auto" latinLnBrk="0">
              <a:lnSpc>
                <a:spcPts val="1800"/>
              </a:lnSpc>
              <a:spcBef>
                <a:spcPts val="0"/>
              </a:spcBef>
              <a:spcAft>
                <a:spcPts val="0"/>
              </a:spcAft>
              <a:buFontTx/>
              <a:buNone/>
            </a:pPr>
            <a:r>
              <a:rPr lang="en-US" altLang="ko-KR" sz="1600" b="1" cap="none" dirty="0">
                <a:solidFill>
                  <a:srgbClr val="FFFF00"/>
                </a:solidFill>
                <a:latin typeface="华文楷体" panose="02010600040101010101" pitchFamily="2" charset="-122"/>
                <a:ea typeface="华文楷体" panose="02010600040101010101" pitchFamily="2" charset="-122"/>
              </a:rPr>
              <a:t> 初值x0</a:t>
            </a:r>
            <a:r>
              <a:rPr lang="zh-CN" altLang="en-US" sz="1600" b="1" cap="none" dirty="0">
                <a:solidFill>
                  <a:srgbClr val="FFFF00"/>
                </a:solidFill>
                <a:latin typeface="华文楷体" panose="02010600040101010101" pitchFamily="2" charset="-122"/>
                <a:ea typeface="华文楷体" panose="02010600040101010101" pitchFamily="2" charset="-122"/>
              </a:rPr>
              <a:t>选择重要，猜测不当无解</a:t>
            </a:r>
            <a:endParaRPr lang="ko-KR" altLang="en-US" sz="1600" b="1" cap="none" dirty="0">
              <a:solidFill>
                <a:srgbClr val="FFFF00"/>
              </a:solidFill>
              <a:latin typeface="华文楷体" panose="02010600040101010101" pitchFamily="2" charset="-122"/>
              <a:ea typeface="微软雅黑" panose="020B0503020204020204" charset="-122"/>
            </a:endParaRPr>
          </a:p>
        </p:txBody>
      </p:sp>
      <p:sp>
        <p:nvSpPr>
          <p:cNvPr id="16" name="矩形 15">
            <a:extLst>
              <a:ext uri="{FF2B5EF4-FFF2-40B4-BE49-F238E27FC236}">
                <a16:creationId xmlns:a16="http://schemas.microsoft.com/office/drawing/2014/main" id="{B7CB2611-3FC5-4440-B1C2-A454573B3A7D}"/>
              </a:ext>
            </a:extLst>
          </p:cNvPr>
          <p:cNvSpPr/>
          <p:nvPr/>
        </p:nvSpPr>
        <p:spPr>
          <a:xfrm>
            <a:off x="88751" y="3976407"/>
            <a:ext cx="3240360" cy="584775"/>
          </a:xfrm>
          <a:prstGeom prst="rect">
            <a:avLst/>
          </a:prstGeom>
          <a:noFill/>
          <a:ln>
            <a:noFill/>
          </a:ln>
          <a:effectLst/>
          <a:scene3d>
            <a:camera prst="orthographicFront"/>
            <a:lightRig rig="threePt" dir="t"/>
          </a:scene3d>
          <a:sp3d>
            <a:bevelT w="139700" h="139700" prst="divot"/>
          </a:sp3d>
        </p:spPr>
        <p:style>
          <a:lnRef idx="3">
            <a:schemeClr val="lt1"/>
          </a:lnRef>
          <a:fillRef idx="1">
            <a:schemeClr val="accent1"/>
          </a:fillRef>
          <a:effectRef idx="1">
            <a:schemeClr val="accent1"/>
          </a:effectRef>
          <a:fontRef idx="minor">
            <a:schemeClr val="lt1"/>
          </a:fontRef>
        </p:style>
        <p:txBody>
          <a:bodyPr wrap="square">
            <a:spAutoFit/>
          </a:bodyPr>
          <a:lstStyle/>
          <a:p>
            <a:pPr algn="just" defTabSz="685800">
              <a:spcBef>
                <a:spcPts val="0"/>
              </a:spcBef>
              <a:spcAft>
                <a:spcPts val="0"/>
              </a:spcAft>
            </a:pPr>
            <a:r>
              <a:rPr lang="zh-CN" altLang="en-US" sz="1600" b="1" dirty="0">
                <a:solidFill>
                  <a:srgbClr val="FF0000"/>
                </a:solidFill>
                <a:latin typeface="微软雅黑" panose="020B0503020204020204" pitchFamily="34" charset="-122"/>
                <a:ea typeface="微软雅黑" panose="020B0503020204020204" pitchFamily="34" charset="-122"/>
              </a:rPr>
              <a:t>建议数值求根和求极小值时，最好配合目标函数</a:t>
            </a:r>
            <a:r>
              <a:rPr lang="en-US" altLang="ko-KR" sz="1600" b="1" dirty="0">
                <a:solidFill>
                  <a:srgbClr val="FF0000"/>
                </a:solidFill>
                <a:latin typeface="微软雅黑" panose="020B0503020204020204" pitchFamily="34" charset="-122"/>
                <a:ea typeface="微软雅黑" panose="020B0503020204020204" pitchFamily="34" charset="-122"/>
              </a:rPr>
              <a:t>图</a:t>
            </a:r>
            <a:r>
              <a:rPr lang="zh-CN" altLang="en-US" sz="1600" b="1" dirty="0">
                <a:solidFill>
                  <a:srgbClr val="FF0000"/>
                </a:solidFill>
                <a:latin typeface="微软雅黑" panose="020B0503020204020204" pitchFamily="34" charset="-122"/>
                <a:ea typeface="微软雅黑" panose="020B0503020204020204" pitchFamily="34" charset="-122"/>
              </a:rPr>
              <a:t>，确认初始值</a:t>
            </a:r>
            <a:r>
              <a:rPr lang="en-US" altLang="zh-CN" sz="1600" b="1" dirty="0">
                <a:solidFill>
                  <a:srgbClr val="FF0000"/>
                </a:solidFill>
                <a:latin typeface="微软雅黑" panose="020B0503020204020204" pitchFamily="34" charset="-122"/>
                <a:ea typeface="微软雅黑" panose="020B0503020204020204" pitchFamily="34" charset="-122"/>
              </a:rPr>
              <a:t>x0</a:t>
            </a:r>
            <a:endParaRPr lang="ko-KR" altLang="en-US" sz="1600" b="1" dirty="0">
              <a:solidFill>
                <a:srgbClr val="FF0000"/>
              </a:solidFill>
              <a:latin typeface="微软雅黑" panose="020B0503020204020204" pitchFamily="34" charset="-122"/>
            </a:endParaRPr>
          </a:p>
        </p:txBody>
      </p:sp>
      <p:sp>
        <p:nvSpPr>
          <p:cNvPr id="10" name="波形 9">
            <a:extLst>
              <a:ext uri="{FF2B5EF4-FFF2-40B4-BE49-F238E27FC236}">
                <a16:creationId xmlns:a16="http://schemas.microsoft.com/office/drawing/2014/main" id="{200C6D85-B276-4775-92BF-DA7AFE1F3040}"/>
              </a:ext>
            </a:extLst>
          </p:cNvPr>
          <p:cNvSpPr/>
          <p:nvPr/>
        </p:nvSpPr>
        <p:spPr>
          <a:xfrm>
            <a:off x="8188413" y="712726"/>
            <a:ext cx="776075" cy="262101"/>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200" b="1" dirty="0">
                <a:solidFill>
                  <a:srgbClr val="FFFF00"/>
                </a:solidFill>
                <a:latin typeface="微软雅黑" panose="020B0503020204020204" charset="-122"/>
                <a:ea typeface="微软雅黑" panose="020B0503020204020204" charset="-122"/>
              </a:rPr>
              <a:t>例85-1</a:t>
            </a:r>
            <a:endParaRPr lang="ko-KR" altLang="en-US" sz="1200" b="1" dirty="0">
              <a:solidFill>
                <a:srgbClr val="FFFF00"/>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1982431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1C5D8F88-1732-4AA5-8081-9BABF5B7B8AE}"/>
              </a:ext>
            </a:extLst>
          </p:cNvPr>
          <p:cNvSpPr/>
          <p:nvPr/>
        </p:nvSpPr>
        <p:spPr bwMode="auto">
          <a:xfrm>
            <a:off x="319131" y="2211710"/>
            <a:ext cx="8667750" cy="2188228"/>
          </a:xfrm>
          <a:prstGeom prst="rect">
            <a:avLst/>
          </a:prstGeom>
          <a:solidFill>
            <a:schemeClr val="bg1"/>
          </a:solidFill>
          <a:ln w="9525" cap="flat" cmpd="sng">
            <a:solidFill>
              <a:schemeClr val="tx1"/>
            </a:solidFill>
            <a:prstDash val="sysDot"/>
            <a:miter lim="800000"/>
          </a:ln>
        </p:spPr>
        <p:txBody>
          <a:bodyPr vert="horz" wrap="square" lIns="91440" tIns="45720" rIns="91440" bIns="45720" numCol="1" anchor="ctr">
            <a:spAutoFit/>
          </a:bodyPr>
          <a:lstStyle/>
          <a:p>
            <a:pPr marL="342900" indent="-342900" eaLnBrk="0">
              <a:lnSpc>
                <a:spcPts val="3300"/>
              </a:lnSpc>
              <a:spcBef>
                <a:spcPts val="0"/>
              </a:spcBef>
              <a:spcAft>
                <a:spcPts val="0"/>
              </a:spcAft>
              <a:buFont typeface="Wingdings" panose="05000000000000000000"/>
              <a:buChar char="p"/>
            </a:pPr>
            <a:r>
              <a:rPr lang="en-US" altLang="ko-KR" sz="2400" dirty="0">
                <a:solidFill>
                  <a:srgbClr val="FF0000"/>
                </a:solidFill>
                <a:latin typeface="华文楷体" panose="02010600040101010101" pitchFamily="2" charset="-122"/>
                <a:ea typeface="华文楷体" panose="02010600040101010101" pitchFamily="2" charset="-122"/>
              </a:rPr>
              <a:t>fun：</a:t>
            </a:r>
            <a:r>
              <a:rPr lang="zh-CN" altLang="en-US" sz="2400" dirty="0">
                <a:solidFill>
                  <a:srgbClr val="002060"/>
                </a:solidFill>
                <a:latin typeface="华文楷体" panose="02010600040101010101" pitchFamily="2" charset="-122"/>
                <a:ea typeface="华文楷体" panose="02010600040101010101" pitchFamily="2" charset="-122"/>
              </a:rPr>
              <a:t>待求方程组，</a:t>
            </a:r>
            <a:r>
              <a:rPr lang="zh-CN" altLang="en-US" sz="2400" dirty="0">
                <a:solidFill>
                  <a:srgbClr val="0070C0"/>
                </a:solidFill>
                <a:latin typeface="华文楷体" panose="02010600040101010101" pitchFamily="2" charset="-122"/>
                <a:ea typeface="华文楷体" panose="02010600040101010101" pitchFamily="2" charset="-122"/>
              </a:rPr>
              <a:t>即</a:t>
            </a:r>
            <a:r>
              <a:rPr lang="en-US" altLang="zh-CN" sz="2400" dirty="0">
                <a:solidFill>
                  <a:srgbClr val="FFFF00"/>
                </a:solidFill>
                <a:highlight>
                  <a:srgbClr val="FF0000"/>
                </a:highlight>
                <a:latin typeface="华文楷体" panose="02010600040101010101" pitchFamily="2" charset="-122"/>
                <a:ea typeface="华文楷体" panose="02010600040101010101" pitchFamily="2" charset="-122"/>
              </a:rPr>
              <a:t>fun(x)=0</a:t>
            </a:r>
            <a:r>
              <a:rPr lang="en-US" altLang="zh-CN" sz="2400" dirty="0">
                <a:solidFill>
                  <a:srgbClr val="002060"/>
                </a:solidFill>
                <a:latin typeface="华文楷体" panose="02010600040101010101" pitchFamily="2" charset="-122"/>
                <a:ea typeface="华文楷体" panose="02010600040101010101" pitchFamily="2" charset="-122"/>
              </a:rPr>
              <a:t> </a:t>
            </a:r>
            <a:endParaRPr lang="en-US" altLang="ko-KR" sz="2400" dirty="0">
              <a:solidFill>
                <a:srgbClr val="002060"/>
              </a:solidFill>
              <a:latin typeface="华文楷体" panose="02010600040101010101" pitchFamily="2" charset="-122"/>
              <a:ea typeface="华文楷体" panose="02010600040101010101" pitchFamily="2" charset="-122"/>
            </a:endParaRPr>
          </a:p>
          <a:p>
            <a:pPr marL="342900" indent="-342900" eaLnBrk="0">
              <a:lnSpc>
                <a:spcPts val="3300"/>
              </a:lnSpc>
              <a:spcBef>
                <a:spcPts val="0"/>
              </a:spcBef>
              <a:spcAft>
                <a:spcPts val="0"/>
              </a:spcAft>
              <a:buClr>
                <a:srgbClr val="FF0000"/>
              </a:buClr>
              <a:buFont typeface="Wingdings" panose="05000000000000000000"/>
              <a:buChar char="p"/>
            </a:pPr>
            <a:r>
              <a:rPr lang="en-US" altLang="ko-KR" sz="2400" dirty="0">
                <a:solidFill>
                  <a:srgbClr val="FF0000"/>
                </a:solidFill>
                <a:latin typeface="华文楷体" panose="02010600040101010101" pitchFamily="2" charset="-122"/>
                <a:ea typeface="华文楷体" panose="02010600040101010101" pitchFamily="2" charset="-122"/>
              </a:rPr>
              <a:t>x0：</a:t>
            </a:r>
            <a:r>
              <a:rPr lang="en-US" altLang="ko-KR" sz="2400" dirty="0">
                <a:solidFill>
                  <a:srgbClr val="002060"/>
                </a:solidFill>
                <a:latin typeface="华文楷体" panose="02010600040101010101" pitchFamily="2" charset="-122"/>
                <a:ea typeface="华文楷体" panose="02010600040101010101" pitchFamily="2" charset="-122"/>
              </a:rPr>
              <a:t>初始</a:t>
            </a:r>
            <a:r>
              <a:rPr lang="zh-CN" altLang="en-US" sz="2400" dirty="0">
                <a:solidFill>
                  <a:srgbClr val="002060"/>
                </a:solidFill>
                <a:latin typeface="华文楷体" panose="02010600040101010101" pitchFamily="2" charset="-122"/>
                <a:ea typeface="华文楷体" panose="02010600040101010101" pitchFamily="2" charset="-122"/>
              </a:rPr>
              <a:t>猜测</a:t>
            </a:r>
            <a:r>
              <a:rPr lang="en-US" altLang="ko-KR" sz="2400" dirty="0" err="1">
                <a:solidFill>
                  <a:srgbClr val="002060"/>
                </a:solidFill>
                <a:latin typeface="华文楷体" panose="02010600040101010101" pitchFamily="2" charset="-122"/>
                <a:ea typeface="华文楷体" panose="02010600040101010101" pitchFamily="2" charset="-122"/>
              </a:rPr>
              <a:t>值，</a:t>
            </a:r>
            <a:r>
              <a:rPr lang="en-US" altLang="ko-KR" sz="2400" kern="0" dirty="0" err="1">
                <a:solidFill>
                  <a:srgbClr val="002060"/>
                </a:solidFill>
                <a:latin typeface="华文楷体" panose="02010600040101010101" pitchFamily="2" charset="-122"/>
                <a:ea typeface="华文楷体" panose="02010600040101010101" pitchFamily="2" charset="-122"/>
                <a:cs typeface="Times New Roman" panose="02020603050405020304" pitchFamily="18" charset="0"/>
              </a:rPr>
              <a:t>列向量</a:t>
            </a:r>
            <a:r>
              <a:rPr lang="en-US" altLang="ko-KR" sz="2400" dirty="0">
                <a:solidFill>
                  <a:srgbClr val="002060"/>
                </a:solidFill>
                <a:latin typeface="华文楷体" panose="02010600040101010101" pitchFamily="2" charset="-122"/>
                <a:ea typeface="华文楷体" panose="02010600040101010101" pitchFamily="2" charset="-122"/>
              </a:rPr>
              <a:t> </a:t>
            </a:r>
            <a:endParaRPr lang="en-US" altLang="ko-KR" sz="2400" dirty="0">
              <a:solidFill>
                <a:srgbClr val="FF0000"/>
              </a:solidFill>
              <a:latin typeface="华文楷体" panose="02010600040101010101" pitchFamily="2" charset="-122"/>
              <a:ea typeface="华文楷体" panose="02010600040101010101" pitchFamily="2" charset="-122"/>
            </a:endParaRPr>
          </a:p>
          <a:p>
            <a:pPr marL="342900" indent="-342900" eaLnBrk="0">
              <a:lnSpc>
                <a:spcPts val="3300"/>
              </a:lnSpc>
              <a:spcBef>
                <a:spcPts val="0"/>
              </a:spcBef>
              <a:spcAft>
                <a:spcPts val="0"/>
              </a:spcAft>
              <a:buClr>
                <a:srgbClr val="FF0000"/>
              </a:buClr>
              <a:buFont typeface="Wingdings" panose="05000000000000000000"/>
              <a:buChar char="p"/>
            </a:pPr>
            <a:r>
              <a:rPr lang="en-US" altLang="ko-KR" sz="2400" dirty="0">
                <a:solidFill>
                  <a:srgbClr val="FF0000"/>
                </a:solidFill>
                <a:latin typeface="华文楷体" panose="02010600040101010101" pitchFamily="2" charset="-122"/>
                <a:ea typeface="华文楷体" panose="02010600040101010101" pitchFamily="2" charset="-122"/>
              </a:rPr>
              <a:t>x：</a:t>
            </a:r>
            <a:r>
              <a:rPr lang="zh-CN" altLang="en-US" sz="2400" dirty="0">
                <a:solidFill>
                  <a:srgbClr val="002060"/>
                </a:solidFill>
                <a:latin typeface="华文楷体" panose="02010600040101010101" pitchFamily="2" charset="-122"/>
                <a:ea typeface="华文楷体" panose="02010600040101010101" pitchFamily="2" charset="-122"/>
              </a:rPr>
              <a:t>方程组根</a:t>
            </a:r>
            <a:r>
              <a:rPr lang="en-US" altLang="ko-KR" sz="2400" cap="none" dirty="0">
                <a:solidFill>
                  <a:srgbClr val="002060"/>
                </a:solidFill>
                <a:latin typeface="华文楷体" panose="02010600040101010101" pitchFamily="2" charset="-122"/>
                <a:ea typeface="华文楷体" panose="02010600040101010101" pitchFamily="2" charset="-122"/>
              </a:rPr>
              <a:t>，</a:t>
            </a:r>
            <a:r>
              <a:rPr lang="zh-CN" altLang="en-US" sz="2400" cap="none" dirty="0">
                <a:solidFill>
                  <a:srgbClr val="002060"/>
                </a:solidFill>
                <a:latin typeface="华文楷体" panose="02010600040101010101" pitchFamily="2" charset="-122"/>
                <a:ea typeface="华文楷体" panose="02010600040101010101" pitchFamily="2" charset="-122"/>
              </a:rPr>
              <a:t>为向量，</a:t>
            </a:r>
            <a:r>
              <a:rPr lang="zh-CN" altLang="en-US" sz="2400" dirty="0">
                <a:solidFill>
                  <a:srgbClr val="002060"/>
                </a:solidFill>
                <a:latin typeface="华文楷体" panose="02010600040101010101" pitchFamily="2" charset="-122"/>
                <a:ea typeface="华文楷体" panose="02010600040101010101" pitchFamily="2" charset="-122"/>
              </a:rPr>
              <a:t>多少个方程就多少个元素</a:t>
            </a:r>
            <a:r>
              <a:rPr lang="en-US" altLang="ko-KR" sz="2400" cap="none" dirty="0" err="1">
                <a:solidFill>
                  <a:srgbClr val="002060"/>
                </a:solidFill>
                <a:latin typeface="华文楷体" panose="02010600040101010101" pitchFamily="2" charset="-122"/>
                <a:ea typeface="华文楷体" panose="02010600040101010101" pitchFamily="2" charset="-122"/>
              </a:rPr>
              <a:t>构成</a:t>
            </a:r>
            <a:r>
              <a:rPr lang="en-US" altLang="ko-KR" sz="2400" kern="0" dirty="0" err="1">
                <a:solidFill>
                  <a:srgbClr val="002060"/>
                </a:solidFill>
                <a:latin typeface="华文楷体" panose="02010600040101010101" pitchFamily="2" charset="-122"/>
                <a:ea typeface="华文楷体" panose="02010600040101010101" pitchFamily="2" charset="-122"/>
                <a:cs typeface="Times New Roman" panose="02020603050405020304" pitchFamily="18" charset="0"/>
              </a:rPr>
              <a:t>向量</a:t>
            </a:r>
            <a:r>
              <a:rPr lang="en-US" altLang="ko-KR" sz="2400" cap="none" dirty="0">
                <a:solidFill>
                  <a:srgbClr val="002060"/>
                </a:solidFill>
                <a:latin typeface="华文楷体" panose="02010600040101010101" pitchFamily="2" charset="-122"/>
                <a:ea typeface="华文楷体" panose="02010600040101010101" pitchFamily="2" charset="-122"/>
              </a:rPr>
              <a:t> </a:t>
            </a:r>
            <a:endParaRPr lang="ko-KR" altLang="en-US" sz="2400" cap="none" dirty="0">
              <a:solidFill>
                <a:srgbClr val="002060"/>
              </a:solidFill>
              <a:latin typeface="华文楷体" panose="02010600040101010101" pitchFamily="2" charset="-122"/>
              <a:ea typeface="+mn-ea"/>
            </a:endParaRPr>
          </a:p>
          <a:p>
            <a:pPr marL="342900" indent="-342900" algn="l" defTabSz="914400" eaLnBrk="0" latinLnBrk="0" hangingPunct="1">
              <a:lnSpc>
                <a:spcPts val="3300"/>
              </a:lnSpc>
              <a:spcBef>
                <a:spcPts val="0"/>
              </a:spcBef>
              <a:spcAft>
                <a:spcPts val="0"/>
              </a:spcAft>
              <a:buFont typeface="Wingdings" panose="05000000000000000000"/>
              <a:buChar char="p"/>
            </a:pPr>
            <a:r>
              <a:rPr lang="en-US" altLang="ko-KR" sz="2400" dirty="0" err="1">
                <a:solidFill>
                  <a:srgbClr val="FF0000"/>
                </a:solidFill>
                <a:latin typeface="华文楷体" panose="02010600040101010101" pitchFamily="2" charset="-122"/>
                <a:ea typeface="华文楷体" panose="02010600040101010101" pitchFamily="2" charset="-122"/>
              </a:rPr>
              <a:t>fval</a:t>
            </a:r>
            <a:r>
              <a:rPr lang="en-US" altLang="ko-KR" sz="2400" dirty="0">
                <a:solidFill>
                  <a:srgbClr val="FF0000"/>
                </a:solidFill>
                <a:latin typeface="华文楷体" panose="02010600040101010101" pitchFamily="2" charset="-122"/>
                <a:ea typeface="华文楷体" panose="02010600040101010101" pitchFamily="2" charset="-122"/>
              </a:rPr>
              <a:t>=</a:t>
            </a:r>
            <a:r>
              <a:rPr lang="en-US" altLang="zh-CN" sz="2400" dirty="0">
                <a:solidFill>
                  <a:srgbClr val="FF0000"/>
                </a:solidFill>
                <a:latin typeface="华文楷体" panose="02010600040101010101" pitchFamily="2" charset="-122"/>
                <a:ea typeface="华文楷体" panose="02010600040101010101" pitchFamily="2" charset="-122"/>
              </a:rPr>
              <a:t>f</a:t>
            </a:r>
            <a:r>
              <a:rPr lang="en-US" altLang="ko-KR" sz="2400" dirty="0">
                <a:solidFill>
                  <a:srgbClr val="FF0000"/>
                </a:solidFill>
                <a:latin typeface="华文楷体" panose="02010600040101010101" pitchFamily="2" charset="-122"/>
                <a:ea typeface="华文楷体" panose="02010600040101010101" pitchFamily="2" charset="-122"/>
              </a:rPr>
              <a:t>(x)：</a:t>
            </a:r>
            <a:r>
              <a:rPr lang="en-US" altLang="ko-KR" sz="2400" cap="none" dirty="0" err="1">
                <a:solidFill>
                  <a:srgbClr val="002060"/>
                </a:solidFill>
                <a:latin typeface="华文楷体" panose="02010600040101010101" pitchFamily="2" charset="-122"/>
                <a:ea typeface="华文楷体" panose="02010600040101010101" pitchFamily="2" charset="-122"/>
              </a:rPr>
              <a:t>对应</a:t>
            </a:r>
            <a:r>
              <a:rPr lang="zh-CN" altLang="en-US" sz="2400" cap="none" dirty="0">
                <a:solidFill>
                  <a:srgbClr val="002060"/>
                </a:solidFill>
                <a:latin typeface="华文楷体" panose="02010600040101010101" pitchFamily="2" charset="-122"/>
                <a:ea typeface="华文楷体" panose="02010600040101010101" pitchFamily="2" charset="-122"/>
              </a:rPr>
              <a:t>方程</a:t>
            </a:r>
            <a:r>
              <a:rPr lang="zh-CN" altLang="en-US" sz="2400" dirty="0">
                <a:solidFill>
                  <a:srgbClr val="002060"/>
                </a:solidFill>
                <a:latin typeface="华文楷体" panose="02010600040101010101" pitchFamily="2" charset="-122"/>
                <a:ea typeface="华文楷体" panose="02010600040101010101" pitchFamily="2" charset="-122"/>
              </a:rPr>
              <a:t>组</a:t>
            </a:r>
            <a:r>
              <a:rPr lang="zh-CN" altLang="en-US" sz="2400" cap="none" dirty="0">
                <a:solidFill>
                  <a:srgbClr val="002060"/>
                </a:solidFill>
                <a:latin typeface="华文楷体" panose="02010600040101010101" pitchFamily="2" charset="-122"/>
                <a:ea typeface="华文楷体" panose="02010600040101010101" pitchFamily="2" charset="-122"/>
              </a:rPr>
              <a:t>根</a:t>
            </a:r>
            <a:r>
              <a:rPr lang="en-US" altLang="ko-KR" sz="2400" cap="none" dirty="0" err="1">
                <a:solidFill>
                  <a:srgbClr val="002060"/>
                </a:solidFill>
                <a:latin typeface="华文楷体" panose="02010600040101010101" pitchFamily="2" charset="-122"/>
                <a:ea typeface="华文楷体" panose="02010600040101010101" pitchFamily="2" charset="-122"/>
              </a:rPr>
              <a:t>的函数值，向量</a:t>
            </a:r>
            <a:r>
              <a:rPr lang="en-US" altLang="ko-KR" sz="2400" cap="none" dirty="0">
                <a:solidFill>
                  <a:srgbClr val="002060"/>
                </a:solidFill>
                <a:latin typeface="华文楷体" panose="02010600040101010101" pitchFamily="2" charset="-122"/>
                <a:ea typeface="华文楷体" panose="02010600040101010101" pitchFamily="2" charset="-122"/>
              </a:rPr>
              <a:t> </a:t>
            </a:r>
            <a:endParaRPr lang="ko-KR" altLang="en-US" sz="2400" cap="none" dirty="0">
              <a:solidFill>
                <a:srgbClr val="002060"/>
              </a:solidFill>
              <a:latin typeface="华文楷体" panose="02010600040101010101" pitchFamily="2" charset="-122"/>
              <a:ea typeface="+mn-ea"/>
            </a:endParaRPr>
          </a:p>
          <a:p>
            <a:pPr marL="342900" indent="-342900" algn="l" defTabSz="914400" eaLnBrk="0" latinLnBrk="0" hangingPunct="1">
              <a:lnSpc>
                <a:spcPts val="3300"/>
              </a:lnSpc>
              <a:spcBef>
                <a:spcPts val="0"/>
              </a:spcBef>
              <a:spcAft>
                <a:spcPts val="0"/>
              </a:spcAft>
              <a:buFont typeface="Wingdings" panose="05000000000000000000"/>
              <a:buChar char="p"/>
            </a:pPr>
            <a:r>
              <a:rPr lang="en-US" altLang="ko-KR" sz="2400" dirty="0" err="1">
                <a:solidFill>
                  <a:srgbClr val="FF0000"/>
                </a:solidFill>
                <a:latin typeface="华文楷体" panose="02010600040101010101" pitchFamily="2" charset="-122"/>
                <a:ea typeface="华文楷体" panose="02010600040101010101" pitchFamily="2" charset="-122"/>
              </a:rPr>
              <a:t>Jacobian：</a:t>
            </a:r>
            <a:r>
              <a:rPr lang="en-US" altLang="ko-KR" sz="2400" cap="none" dirty="0" err="1">
                <a:solidFill>
                  <a:srgbClr val="002060"/>
                </a:solidFill>
                <a:latin typeface="华文楷体" panose="02010600040101010101" pitchFamily="2" charset="-122"/>
                <a:ea typeface="华文楷体" panose="02010600040101010101" pitchFamily="2" charset="-122"/>
              </a:rPr>
              <a:t>解x处的Jacobian阵</a:t>
            </a:r>
            <a:r>
              <a:rPr lang="en-US" altLang="ko-KR" sz="2400" cap="none" dirty="0">
                <a:solidFill>
                  <a:srgbClr val="002060"/>
                </a:solidFill>
                <a:latin typeface="华文楷体" panose="02010600040101010101" pitchFamily="2" charset="-122"/>
                <a:ea typeface="华文楷体" panose="02010600040101010101" pitchFamily="2" charset="-122"/>
              </a:rPr>
              <a:t>,</a:t>
            </a:r>
            <a:r>
              <a:rPr lang="zh-CN" altLang="en-US" sz="2400" cap="none" dirty="0">
                <a:solidFill>
                  <a:srgbClr val="002060"/>
                </a:solidFill>
                <a:latin typeface="华文楷体" panose="02010600040101010101" pitchFamily="2" charset="-122"/>
                <a:ea typeface="华文楷体" panose="02010600040101010101" pitchFamily="2" charset="-122"/>
              </a:rPr>
              <a:t>可缺省</a:t>
            </a:r>
            <a:r>
              <a:rPr lang="en-US" altLang="ko-KR" sz="2400" cap="none" dirty="0">
                <a:solidFill>
                  <a:srgbClr val="002060"/>
                </a:solidFill>
                <a:latin typeface="华文楷体" panose="02010600040101010101" pitchFamily="2" charset="-122"/>
                <a:ea typeface="华文楷体" panose="02010600040101010101" pitchFamily="2" charset="-122"/>
              </a:rPr>
              <a:t> </a:t>
            </a:r>
            <a:endParaRPr lang="ko-KR" altLang="en-US" sz="2400" cap="none" dirty="0">
              <a:solidFill>
                <a:srgbClr val="002060"/>
              </a:solidFill>
              <a:latin typeface="华文楷体" panose="02010600040101010101" pitchFamily="2" charset="-122"/>
              <a:ea typeface="+mn-ea"/>
            </a:endParaRPr>
          </a:p>
        </p:txBody>
      </p:sp>
      <p:sp>
        <p:nvSpPr>
          <p:cNvPr id="5" name="矩形 4">
            <a:extLst>
              <a:ext uri="{FF2B5EF4-FFF2-40B4-BE49-F238E27FC236}">
                <a16:creationId xmlns:a16="http://schemas.microsoft.com/office/drawing/2014/main" id="{18A81632-4336-4CAE-8DF9-9314E9EB2EA1}"/>
              </a:ext>
            </a:extLst>
          </p:cNvPr>
          <p:cNvSpPr/>
          <p:nvPr/>
        </p:nvSpPr>
        <p:spPr>
          <a:xfrm>
            <a:off x="2339752" y="1295867"/>
            <a:ext cx="6587919" cy="338554"/>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lvl="0" algn="dist" eaLnBrk="0" hangingPunct="0"/>
            <a:r>
              <a:rPr lang="zh-CN" altLang="zh-CN" sz="1600" dirty="0">
                <a:solidFill>
                  <a:schemeClr val="bg1"/>
                </a:solidFill>
                <a:highlight>
                  <a:srgbClr val="FF0000"/>
                </a:highlight>
                <a:latin typeface="Arial Unicode MS"/>
                <a:ea typeface="source-code-pro"/>
              </a:rPr>
              <a:t>x</a:t>
            </a:r>
            <a:r>
              <a:rPr lang="zh-CN" altLang="zh-CN" sz="1600" dirty="0">
                <a:solidFill>
                  <a:schemeClr val="bg1"/>
                </a:solidFill>
                <a:latin typeface="Arial Unicode MS"/>
                <a:ea typeface="source-code-pro"/>
              </a:rPr>
              <a:t>,fval,exitflag,output,jacobian </a:t>
            </a:r>
            <a:r>
              <a:rPr lang="zh-CN" altLang="zh-CN" sz="1600" dirty="0">
                <a:solidFill>
                  <a:schemeClr val="bg1"/>
                </a:solidFill>
                <a:highlight>
                  <a:srgbClr val="FF0000"/>
                </a:highlight>
                <a:latin typeface="Arial Unicode MS"/>
                <a:ea typeface="source-code-pro"/>
              </a:rPr>
              <a:t>= fsolve(fun,x0)</a:t>
            </a:r>
            <a:r>
              <a:rPr lang="zh-CN" altLang="zh-CN" sz="1600" dirty="0">
                <a:solidFill>
                  <a:schemeClr val="bg1"/>
                </a:solidFill>
                <a:highlight>
                  <a:srgbClr val="FF0000"/>
                </a:highlight>
              </a:rPr>
              <a:t> </a:t>
            </a:r>
            <a:endParaRPr lang="zh-CN" altLang="zh-CN" sz="1600" dirty="0">
              <a:solidFill>
                <a:schemeClr val="bg1"/>
              </a:solidFill>
              <a:highlight>
                <a:srgbClr val="FF0000"/>
              </a:highlight>
              <a:latin typeface="Arial" panose="020B0604020202020204" pitchFamily="34" charset="0"/>
            </a:endParaRPr>
          </a:p>
        </p:txBody>
      </p:sp>
      <p:sp>
        <p:nvSpPr>
          <p:cNvPr id="6" name="文本框 5">
            <a:extLst>
              <a:ext uri="{FF2B5EF4-FFF2-40B4-BE49-F238E27FC236}">
                <a16:creationId xmlns:a16="http://schemas.microsoft.com/office/drawing/2014/main" id="{37601906-EA0A-4CE9-B328-20693F8C83DD}"/>
              </a:ext>
            </a:extLst>
          </p:cNvPr>
          <p:cNvSpPr txBox="1"/>
          <p:nvPr/>
        </p:nvSpPr>
        <p:spPr>
          <a:xfrm>
            <a:off x="279375" y="1705595"/>
            <a:ext cx="8707506" cy="430887"/>
          </a:xfrm>
          <a:prstGeom prst="rect">
            <a:avLst/>
          </a:prstGeom>
          <a:noFill/>
        </p:spPr>
        <p:txBody>
          <a:bodyPr wrap="square">
            <a:spAutoFit/>
          </a:bodyPr>
          <a:lstStyle/>
          <a:p>
            <a:r>
              <a:rPr lang="zh-CN" altLang="en-US" sz="2200" b="0" i="0" dirty="0">
                <a:solidFill>
                  <a:srgbClr val="2C3E50"/>
                </a:solidFill>
                <a:effectLst/>
                <a:latin typeface="华文楷体" panose="02010600040101010101" pitchFamily="2" charset="-122"/>
                <a:ea typeface="华文楷体" panose="02010600040101010101" pitchFamily="2" charset="-122"/>
              </a:rPr>
              <a:t>在</a:t>
            </a:r>
            <a:r>
              <a:rPr lang="zh-CN" altLang="en-US" sz="2200" dirty="0">
                <a:solidFill>
                  <a:srgbClr val="2C3E50"/>
                </a:solidFill>
                <a:latin typeface="华文楷体" panose="02010600040101010101" pitchFamily="2" charset="-122"/>
                <a:ea typeface="华文楷体" panose="02010600040101010101" pitchFamily="2" charset="-122"/>
              </a:rPr>
              <a:t>初始</a:t>
            </a:r>
            <a:r>
              <a:rPr lang="zh-CN" altLang="en-US" sz="2200" b="0" i="0" dirty="0">
                <a:solidFill>
                  <a:srgbClr val="2C3E50"/>
                </a:solidFill>
                <a:effectLst/>
                <a:latin typeface="华文楷体" panose="02010600040101010101" pitchFamily="2" charset="-122"/>
                <a:ea typeface="华文楷体" panose="02010600040101010101" pitchFamily="2" charset="-122"/>
              </a:rPr>
              <a:t>点 </a:t>
            </a:r>
            <a:r>
              <a:rPr lang="en-US" altLang="zh-CN" sz="2200" b="0" i="0" dirty="0">
                <a:solidFill>
                  <a:srgbClr val="2C3E50"/>
                </a:solidFill>
                <a:effectLst/>
                <a:latin typeface="华文楷体" panose="02010600040101010101" pitchFamily="2" charset="-122"/>
                <a:ea typeface="华文楷体" panose="02010600040101010101" pitchFamily="2" charset="-122"/>
              </a:rPr>
              <a:t>x0 </a:t>
            </a:r>
            <a:r>
              <a:rPr lang="zh-CN" altLang="en-US" sz="2200" b="0" i="0" dirty="0">
                <a:solidFill>
                  <a:srgbClr val="2C3E50"/>
                </a:solidFill>
                <a:effectLst/>
                <a:latin typeface="华文楷体" panose="02010600040101010101" pitchFamily="2" charset="-122"/>
                <a:ea typeface="华文楷体" panose="02010600040101010101" pitchFamily="2" charset="-122"/>
              </a:rPr>
              <a:t>处开始并尝试求解方程 </a:t>
            </a:r>
            <a:r>
              <a:rPr lang="en-US" altLang="zh-CN" sz="2200" b="0" i="0" dirty="0">
                <a:solidFill>
                  <a:srgbClr val="2C3E50"/>
                </a:solidFill>
                <a:effectLst/>
                <a:latin typeface="华文楷体" panose="02010600040101010101" pitchFamily="2" charset="-122"/>
                <a:ea typeface="华文楷体" panose="02010600040101010101" pitchFamily="2" charset="-122"/>
              </a:rPr>
              <a:t>fun(x) = 0</a:t>
            </a:r>
            <a:r>
              <a:rPr lang="zh-CN" altLang="en-US" sz="2200" b="0" i="0" dirty="0">
                <a:solidFill>
                  <a:srgbClr val="2C3E50"/>
                </a:solidFill>
                <a:effectLst/>
                <a:latin typeface="华文楷体" panose="02010600040101010101" pitchFamily="2" charset="-122"/>
                <a:ea typeface="华文楷体" panose="02010600040101010101" pitchFamily="2" charset="-122"/>
              </a:rPr>
              <a:t>（全零数组）</a:t>
            </a:r>
            <a:r>
              <a:rPr lang="zh-CN" altLang="en-US" sz="2200" dirty="0">
                <a:solidFill>
                  <a:srgbClr val="2C3E50"/>
                </a:solidFill>
                <a:latin typeface="华文楷体" panose="02010600040101010101" pitchFamily="2" charset="-122"/>
                <a:ea typeface="华文楷体" panose="02010600040101010101" pitchFamily="2" charset="-122"/>
              </a:rPr>
              <a:t>的向量根</a:t>
            </a:r>
            <a:r>
              <a:rPr lang="en-US" altLang="zh-CN" sz="2200" dirty="0">
                <a:solidFill>
                  <a:srgbClr val="2C3E50"/>
                </a:solidFill>
                <a:latin typeface="华文楷体" panose="02010600040101010101" pitchFamily="2" charset="-122"/>
                <a:ea typeface="华文楷体" panose="02010600040101010101" pitchFamily="2" charset="-122"/>
              </a:rPr>
              <a:t>x</a:t>
            </a:r>
            <a:endParaRPr lang="zh-CN" altLang="en-US" sz="2200" dirty="0">
              <a:latin typeface="华文楷体" panose="02010600040101010101" pitchFamily="2" charset="-122"/>
              <a:ea typeface="华文楷体" panose="02010600040101010101" pitchFamily="2" charset="-122"/>
            </a:endParaRPr>
          </a:p>
        </p:txBody>
      </p:sp>
      <p:sp>
        <p:nvSpPr>
          <p:cNvPr id="7" name="矩形 6">
            <a:extLst>
              <a:ext uri="{FF2B5EF4-FFF2-40B4-BE49-F238E27FC236}">
                <a16:creationId xmlns:a16="http://schemas.microsoft.com/office/drawing/2014/main" id="{6D3AA0DF-5A3C-47BD-B480-AED912D41F49}"/>
              </a:ext>
            </a:extLst>
          </p:cNvPr>
          <p:cNvSpPr/>
          <p:nvPr/>
        </p:nvSpPr>
        <p:spPr>
          <a:xfrm>
            <a:off x="376609" y="804795"/>
            <a:ext cx="8667749" cy="400110"/>
          </a:xfrm>
          <a:prstGeom prst="rect">
            <a:avLst/>
          </a:prstGeom>
          <a:solidFill>
            <a:schemeClr val="bg1"/>
          </a:solidFill>
          <a:ln>
            <a:solidFill>
              <a:schemeClr val="bg1"/>
            </a:solidFill>
          </a:ln>
        </p:spPr>
        <p:txBody>
          <a:bodyPr wrap="square" rtlCol="0" anchor="t">
            <a:spAutoFit/>
          </a:bodyPr>
          <a:lstStyle/>
          <a:p>
            <a:pPr algn="dist"/>
            <a:r>
              <a:rPr lang="en-US" altLang="zh-CN" sz="2000" i="0" dirty="0" err="1">
                <a:solidFill>
                  <a:srgbClr val="0070C0"/>
                </a:solidFill>
                <a:effectLst/>
                <a:latin typeface="微软雅黑" panose="020B0503020204020204" pitchFamily="34" charset="-122"/>
                <a:ea typeface="微软雅黑" panose="020B0503020204020204" pitchFamily="34" charset="-122"/>
              </a:rPr>
              <a:t>fsolve</a:t>
            </a:r>
            <a:r>
              <a:rPr lang="zh-CN" altLang="en-US" sz="2000" i="0" dirty="0">
                <a:solidFill>
                  <a:srgbClr val="0070C0"/>
                </a:solidFill>
                <a:effectLst/>
                <a:latin typeface="微软雅黑" panose="020B0503020204020204" pitchFamily="34" charset="-122"/>
                <a:ea typeface="微软雅黑" panose="020B0503020204020204" pitchFamily="34" charset="-122"/>
              </a:rPr>
              <a:t>用于非线性方程组</a:t>
            </a:r>
            <a:r>
              <a:rPr lang="en-US" altLang="zh-CN" sz="2000" dirty="0">
                <a:solidFill>
                  <a:srgbClr val="0070C0"/>
                </a:solidFill>
                <a:latin typeface="微软雅黑" panose="020B0503020204020204" pitchFamily="34" charset="-122"/>
                <a:ea typeface="微软雅黑" panose="020B0503020204020204" pitchFamily="34" charset="-122"/>
              </a:rPr>
              <a:t>F(x)=0</a:t>
            </a:r>
            <a:r>
              <a:rPr lang="zh-CN" altLang="en-US" sz="2000" i="0" dirty="0">
                <a:solidFill>
                  <a:srgbClr val="0070C0"/>
                </a:solidFill>
                <a:effectLst/>
                <a:latin typeface="微软雅黑" panose="020B0503020204020204" pitchFamily="34" charset="-122"/>
                <a:ea typeface="微软雅黑" panose="020B0503020204020204" pitchFamily="34" charset="-122"/>
              </a:rPr>
              <a:t>的求根计算</a:t>
            </a:r>
            <a:r>
              <a:rPr lang="en-US" altLang="zh-CN" sz="2000" i="0" dirty="0">
                <a:solidFill>
                  <a:srgbClr val="0070C0"/>
                </a:solidFill>
                <a:effectLst/>
                <a:latin typeface="微软雅黑" panose="020B0503020204020204" pitchFamily="34" charset="-122"/>
                <a:ea typeface="微软雅黑" panose="020B0503020204020204" pitchFamily="34" charset="-122"/>
              </a:rPr>
              <a:t>,</a:t>
            </a:r>
            <a:r>
              <a:rPr lang="zh-CN" altLang="en-US" sz="2000" i="0" dirty="0">
                <a:solidFill>
                  <a:srgbClr val="0070C0"/>
                </a:solidFill>
                <a:effectLst/>
                <a:latin typeface="微软雅黑" panose="020B0503020204020204" pitchFamily="34" charset="-122"/>
                <a:ea typeface="微软雅黑" panose="020B0503020204020204" pitchFamily="34" charset="-122"/>
              </a:rPr>
              <a:t>求解值为</a:t>
            </a:r>
            <a:r>
              <a:rPr lang="zh-CN" altLang="en-US" sz="2000" dirty="0">
                <a:solidFill>
                  <a:srgbClr val="0070C0"/>
                </a:solidFill>
                <a:latin typeface="微软雅黑" panose="020B0503020204020204" pitchFamily="34" charset="-122"/>
                <a:ea typeface="微软雅黑" panose="020B0503020204020204" pitchFamily="34" charset="-122"/>
              </a:rPr>
              <a:t>向量</a:t>
            </a:r>
            <a:endParaRPr lang="zh-CN" altLang="en-US" sz="2000" i="0" dirty="0">
              <a:solidFill>
                <a:srgbClr val="0070C0"/>
              </a:solidFill>
              <a:effectLst/>
              <a:latin typeface="微软雅黑" panose="020B0503020204020204" pitchFamily="34" charset="-122"/>
              <a:ea typeface="微软雅黑" panose="020B0503020204020204" pitchFamily="34" charset="-122"/>
            </a:endParaRPr>
          </a:p>
        </p:txBody>
      </p:sp>
      <p:sp>
        <p:nvSpPr>
          <p:cNvPr id="8" name="Rectangle 1">
            <a:extLst>
              <a:ext uri="{FF2B5EF4-FFF2-40B4-BE49-F238E27FC236}">
                <a16:creationId xmlns:a16="http://schemas.microsoft.com/office/drawing/2014/main" id="{271C7E1A-A1DE-4FCF-BD62-1B9E4315B771}"/>
              </a:ext>
            </a:extLst>
          </p:cNvPr>
          <p:cNvSpPr>
            <a:spLocks noChangeArrowheads="1"/>
          </p:cNvSpPr>
          <p:nvPr/>
        </p:nvSpPr>
        <p:spPr bwMode="auto">
          <a:xfrm>
            <a:off x="270660" y="1295186"/>
            <a:ext cx="2069092" cy="400110"/>
          </a:xfrm>
          <a:prstGeom prst="rect">
            <a:avLst/>
          </a:prstGeom>
          <a:noFill/>
          <a:ln>
            <a:solidFill>
              <a:schemeClr val="bg1"/>
            </a:solidFill>
          </a:ln>
        </p:spPr>
        <p:txBody>
          <a:bodyPr wrap="square" rtlCol="0" anchor="t">
            <a:spAutoFit/>
          </a:bodyPr>
          <a:lstStyle/>
          <a:p>
            <a:pPr algn="dist"/>
            <a:r>
              <a:rPr lang="en-US" altLang="zh-CN" sz="2000" b="1" dirty="0" err="1">
                <a:solidFill>
                  <a:srgbClr val="0070C0"/>
                </a:solidFill>
                <a:latin typeface="微软雅黑" panose="020B0503020204020204" pitchFamily="34" charset="-122"/>
                <a:ea typeface="微软雅黑" panose="020B0503020204020204" pitchFamily="34" charset="-122"/>
              </a:rPr>
              <a:t>fsolve</a:t>
            </a:r>
            <a:r>
              <a:rPr lang="zh-CN" altLang="en-US" sz="2000" b="1" dirty="0">
                <a:solidFill>
                  <a:srgbClr val="0070C0"/>
                </a:solidFill>
                <a:latin typeface="微软雅黑" panose="020B0503020204020204" pitchFamily="34" charset="-122"/>
                <a:ea typeface="微软雅黑" panose="020B0503020204020204" pitchFamily="34" charset="-122"/>
              </a:rPr>
              <a:t>调用格式</a:t>
            </a:r>
            <a:endParaRPr lang="zh-CN" altLang="zh-CN" sz="2000" b="1" dirty="0">
              <a:solidFill>
                <a:srgbClr val="0070C0"/>
              </a:solidFill>
              <a:latin typeface="微软雅黑" panose="020B0503020204020204" pitchFamily="34" charset="-122"/>
              <a:ea typeface="微软雅黑" panose="020B0503020204020204" pitchFamily="34" charset="-122"/>
            </a:endParaRPr>
          </a:p>
        </p:txBody>
      </p:sp>
      <p:sp>
        <p:nvSpPr>
          <p:cNvPr id="9" name="标题 1">
            <a:extLst>
              <a:ext uri="{FF2B5EF4-FFF2-40B4-BE49-F238E27FC236}">
                <a16:creationId xmlns:a16="http://schemas.microsoft.com/office/drawing/2014/main" id="{ADE5CA94-13EE-4746-A780-A3F6C19B4B24}"/>
              </a:ext>
            </a:extLst>
          </p:cNvPr>
          <p:cNvSpPr txBox="1">
            <a:spLocks/>
          </p:cNvSpPr>
          <p:nvPr/>
        </p:nvSpPr>
        <p:spPr>
          <a:xfrm>
            <a:off x="870148" y="161785"/>
            <a:ext cx="8047544" cy="438150"/>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600" b="0" dirty="0">
                <a:solidFill>
                  <a:srgbClr val="002060"/>
                </a:solidFill>
                <a:latin typeface="华文楷体" panose="02010600040101010101" pitchFamily="2" charset="-122"/>
                <a:ea typeface="华文楷体" panose="02010600040101010101" pitchFamily="2" charset="-122"/>
              </a:rPr>
              <a:t>§ 8.5.2</a:t>
            </a:r>
            <a:r>
              <a:rPr lang="zh-CN" altLang="en-US" sz="2600" b="0" dirty="0">
                <a:solidFill>
                  <a:srgbClr val="002060"/>
                </a:solidFill>
                <a:latin typeface="华文楷体" panose="02010600040101010101" pitchFamily="2" charset="-122"/>
                <a:ea typeface="华文楷体" panose="02010600040101010101" pitchFamily="2" charset="-122"/>
              </a:rPr>
              <a:t>求解非线性方程组 </a:t>
            </a:r>
            <a:r>
              <a:rPr lang="en-US" altLang="zh-CN" sz="2600" b="0" dirty="0" err="1">
                <a:solidFill>
                  <a:srgbClr val="FF0000"/>
                </a:solidFill>
                <a:latin typeface="华文楷体" panose="02010600040101010101" pitchFamily="2" charset="-122"/>
                <a:ea typeface="华文楷体" panose="02010600040101010101" pitchFamily="2" charset="-122"/>
              </a:rPr>
              <a:t>fsolve</a:t>
            </a:r>
            <a:r>
              <a:rPr lang="en-US" altLang="zh-CN" sz="2600" b="0" kern="0" dirty="0">
                <a:solidFill>
                  <a:srgbClr val="FF0000"/>
                </a:solidFill>
                <a:latin typeface="华文楷体" panose="02010600040101010101" pitchFamily="2" charset="-122"/>
                <a:ea typeface="华文楷体" panose="02010600040101010101" pitchFamily="2" charset="-122"/>
              </a:rPr>
              <a:t>——</a:t>
            </a:r>
            <a:r>
              <a:rPr lang="zh-CN" altLang="en-US" sz="2600" b="0" kern="0" dirty="0">
                <a:solidFill>
                  <a:srgbClr val="FF0000"/>
                </a:solidFill>
                <a:latin typeface="华文楷体" panose="02010600040101010101" pitchFamily="2" charset="-122"/>
                <a:ea typeface="华文楷体" panose="02010600040101010101" pitchFamily="2" charset="-122"/>
              </a:rPr>
              <a:t>调用语法</a:t>
            </a:r>
          </a:p>
        </p:txBody>
      </p:sp>
    </p:spTree>
    <p:extLst>
      <p:ext uri="{BB962C8B-B14F-4D97-AF65-F5344CB8AC3E}">
        <p14:creationId xmlns:p14="http://schemas.microsoft.com/office/powerpoint/2010/main" val="2906845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1">
            <a:extLst>
              <a:ext uri="{FF2B5EF4-FFF2-40B4-BE49-F238E27FC236}">
                <a16:creationId xmlns:a16="http://schemas.microsoft.com/office/drawing/2014/main" id="{7774F575-4A5E-EEA2-D43E-F09130EF6F1F}"/>
              </a:ext>
            </a:extLst>
          </p:cNvPr>
          <p:cNvSpPr txBox="1">
            <a:spLocks/>
          </p:cNvSpPr>
          <p:nvPr/>
        </p:nvSpPr>
        <p:spPr>
          <a:xfrm>
            <a:off x="0" y="0"/>
            <a:ext cx="0" cy="0"/>
          </a:xfrm>
        </p:spPr>
        <p:txBody>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a:defRPr/>
            </a:pPr>
            <a:fld id="{25E81C68-AD67-4B59-A707-20F6CB98CF04}" type="datetime1">
              <a:rPr lang="zh-CN" altLang="en-US" smtClean="0"/>
              <a:pPr>
                <a:defRPr/>
              </a:pPr>
              <a:t>2025/4/22</a:t>
            </a:fld>
            <a:endParaRPr lang="zh-CN" altLang="en-US" dirty="0"/>
          </a:p>
        </p:txBody>
      </p:sp>
      <p:sp>
        <p:nvSpPr>
          <p:cNvPr id="5" name="流程图: 延期 4">
            <a:extLst>
              <a:ext uri="{FF2B5EF4-FFF2-40B4-BE49-F238E27FC236}">
                <a16:creationId xmlns:a16="http://schemas.microsoft.com/office/drawing/2014/main" id="{AD31DF29-7E2D-BC4B-205F-E75F84EA5973}"/>
              </a:ext>
            </a:extLst>
          </p:cNvPr>
          <p:cNvSpPr/>
          <p:nvPr/>
        </p:nvSpPr>
        <p:spPr bwMode="auto">
          <a:xfrm rot="16200000">
            <a:off x="4036154" y="437809"/>
            <a:ext cx="1134126" cy="6156682"/>
          </a:xfrm>
          <a:prstGeom prst="flowChartDelay">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rtlCol="0" anchor="t" anchorCtr="0" compatLnSpc="1">
            <a:prstTxWarp prst="textNoShape">
              <a:avLst/>
            </a:prstTxWarp>
          </a:bodyPr>
          <a:lstStyle/>
          <a:p>
            <a:pPr defTabSz="685800" eaLnBrk="0" hangingPunct="0"/>
            <a:endParaRPr lang="zh-CN" altLang="en-US" sz="2100"/>
          </a:p>
        </p:txBody>
      </p:sp>
      <p:cxnSp>
        <p:nvCxnSpPr>
          <p:cNvPr id="6" name="直接箭头连接符 5">
            <a:extLst>
              <a:ext uri="{FF2B5EF4-FFF2-40B4-BE49-F238E27FC236}">
                <a16:creationId xmlns:a16="http://schemas.microsoft.com/office/drawing/2014/main" id="{CC7228C3-617E-AF2F-6040-3B9B3D18154A}"/>
              </a:ext>
            </a:extLst>
          </p:cNvPr>
          <p:cNvCxnSpPr>
            <a:cxnSpLocks/>
          </p:cNvCxnSpPr>
          <p:nvPr/>
        </p:nvCxnSpPr>
        <p:spPr bwMode="auto">
          <a:xfrm flipV="1">
            <a:off x="2951820" y="3004133"/>
            <a:ext cx="0" cy="1102536"/>
          </a:xfrm>
          <a:prstGeom prst="straightConnector1">
            <a:avLst/>
          </a:prstGeom>
          <a:ln>
            <a:headEnd type="none" w="med" len="med"/>
            <a:tailEnd type="arrow"/>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2"/>
          </a:lnRef>
          <a:fillRef idx="0">
            <a:schemeClr val="accent2"/>
          </a:fillRef>
          <a:effectRef idx="2">
            <a:schemeClr val="accent2"/>
          </a:effectRef>
          <a:fontRef idx="minor">
            <a:schemeClr val="tx1"/>
          </a:fontRef>
        </p:style>
      </p:cxnSp>
      <p:sp>
        <p:nvSpPr>
          <p:cNvPr id="7" name="矩形 6">
            <a:extLst>
              <a:ext uri="{FF2B5EF4-FFF2-40B4-BE49-F238E27FC236}">
                <a16:creationId xmlns:a16="http://schemas.microsoft.com/office/drawing/2014/main" id="{336EEA18-7910-E228-4C4F-9A67A4D5938D}"/>
              </a:ext>
            </a:extLst>
          </p:cNvPr>
          <p:cNvSpPr/>
          <p:nvPr/>
        </p:nvSpPr>
        <p:spPr>
          <a:xfrm>
            <a:off x="2034965" y="4203172"/>
            <a:ext cx="3397084" cy="369332"/>
          </a:xfrm>
          <a:prstGeom prst="rect">
            <a:avLst/>
          </a:prstGeom>
        </p:spPr>
        <p:txBody>
          <a:bodyPr wrap="none">
            <a:spAutoFit/>
          </a:bodyPr>
          <a:lstStyle/>
          <a:p>
            <a:r>
              <a:rPr lang="zh-CN" altLang="en-US" dirty="0">
                <a:solidFill>
                  <a:srgbClr val="002060"/>
                </a:solidFill>
                <a:latin typeface="隶书" panose="02010509060101010101" pitchFamily="49" charset="-122"/>
                <a:ea typeface="+mn-ea"/>
              </a:rPr>
              <a:t>炮弹</a:t>
            </a:r>
            <a:r>
              <a:rPr lang="zh-CN" altLang="en-US" b="1" dirty="0"/>
              <a:t>水平飞行</a:t>
            </a:r>
            <a:r>
              <a:rPr lang="zh-CN" altLang="en-US" sz="1800" dirty="0">
                <a:solidFill>
                  <a:srgbClr val="002060"/>
                </a:solidFill>
                <a:latin typeface="隶书" panose="02010509060101010101" pitchFamily="49" charset="-122"/>
                <a:ea typeface="+mn-ea"/>
              </a:rPr>
              <a:t>位移</a:t>
            </a:r>
            <a:r>
              <a:rPr lang="en-US" altLang="zh-CN" b="1" dirty="0"/>
              <a:t>x </a:t>
            </a:r>
            <a:r>
              <a:rPr lang="en-US" altLang="zh-CN" sz="1800" dirty="0">
                <a:solidFill>
                  <a:srgbClr val="002060"/>
                </a:solidFill>
                <a:latin typeface="隶书" panose="02010509060101010101" pitchFamily="49" charset="-122"/>
                <a:ea typeface="+mn-ea"/>
              </a:rPr>
              <a:t>(</a:t>
            </a:r>
            <a:r>
              <a:rPr lang="en-US" altLang="zh-CN" sz="1800" dirty="0"/>
              <a:t>a</a:t>
            </a:r>
            <a:r>
              <a:rPr lang="en-US" altLang="zh-CN" b="1" dirty="0"/>
              <a:t>, t</a:t>
            </a:r>
            <a:r>
              <a:rPr lang="en-US" altLang="zh-CN" sz="1800" dirty="0">
                <a:solidFill>
                  <a:srgbClr val="002060"/>
                </a:solidFill>
                <a:latin typeface="隶书" panose="02010509060101010101" pitchFamily="49" charset="-122"/>
                <a:ea typeface="+mn-ea"/>
              </a:rPr>
              <a:t>)=360</a:t>
            </a:r>
            <a:r>
              <a:rPr lang="en-US" altLang="zh-CN" b="1" dirty="0"/>
              <a:t> :</a:t>
            </a:r>
            <a:endParaRPr lang="zh-CN" altLang="en-US" b="1" dirty="0"/>
          </a:p>
        </p:txBody>
      </p:sp>
      <p:sp>
        <p:nvSpPr>
          <p:cNvPr id="8" name="矩形 7">
            <a:extLst>
              <a:ext uri="{FF2B5EF4-FFF2-40B4-BE49-F238E27FC236}">
                <a16:creationId xmlns:a16="http://schemas.microsoft.com/office/drawing/2014/main" id="{F46C95B1-BC1B-9F12-FE66-F7231400773D}"/>
              </a:ext>
            </a:extLst>
          </p:cNvPr>
          <p:cNvSpPr/>
          <p:nvPr/>
        </p:nvSpPr>
        <p:spPr>
          <a:xfrm>
            <a:off x="2951820" y="3076718"/>
            <a:ext cx="4011114" cy="369332"/>
          </a:xfrm>
          <a:prstGeom prst="rect">
            <a:avLst/>
          </a:prstGeom>
        </p:spPr>
        <p:txBody>
          <a:bodyPr wrap="square">
            <a:spAutoFit/>
          </a:bodyPr>
          <a:lstStyle/>
          <a:p>
            <a:r>
              <a:rPr lang="zh-CN" altLang="en-US" dirty="0">
                <a:solidFill>
                  <a:srgbClr val="002060"/>
                </a:solidFill>
                <a:latin typeface="隶书" panose="02010509060101010101" pitchFamily="49" charset="-122"/>
                <a:ea typeface="+mn-ea"/>
              </a:rPr>
              <a:t>炮弹</a:t>
            </a:r>
            <a:r>
              <a:rPr lang="zh-CN" altLang="en-US" b="1" dirty="0"/>
              <a:t>垂直飞行</a:t>
            </a:r>
            <a:r>
              <a:rPr lang="zh-CN" altLang="en-US" dirty="0">
                <a:solidFill>
                  <a:srgbClr val="002060"/>
                </a:solidFill>
                <a:latin typeface="隶书" panose="02010509060101010101" pitchFamily="49" charset="-122"/>
                <a:ea typeface="+mn-ea"/>
              </a:rPr>
              <a:t>位移</a:t>
            </a:r>
            <a:r>
              <a:rPr lang="en-US" altLang="zh-CN" b="1" dirty="0"/>
              <a:t>y(</a:t>
            </a:r>
            <a:r>
              <a:rPr lang="en-US" altLang="zh-CN" sz="1800" dirty="0" err="1"/>
              <a:t>a</a:t>
            </a:r>
            <a:r>
              <a:rPr lang="en-US" altLang="zh-CN" b="1" dirty="0" err="1"/>
              <a:t>,t</a:t>
            </a:r>
            <a:r>
              <a:rPr lang="en-US" altLang="zh-CN" b="1" dirty="0"/>
              <a:t>)=160</a:t>
            </a:r>
            <a:r>
              <a:rPr lang="zh-CN" altLang="en-US" dirty="0"/>
              <a:t>：</a:t>
            </a:r>
            <a:endParaRPr lang="zh-CN" altLang="en-US" baseline="30000" dirty="0"/>
          </a:p>
        </p:txBody>
      </p:sp>
      <p:cxnSp>
        <p:nvCxnSpPr>
          <p:cNvPr id="9" name="直接箭头连接符 8">
            <a:extLst>
              <a:ext uri="{FF2B5EF4-FFF2-40B4-BE49-F238E27FC236}">
                <a16:creationId xmlns:a16="http://schemas.microsoft.com/office/drawing/2014/main" id="{5BDF3DDB-184D-B540-A97F-D055DA3AD704}"/>
              </a:ext>
            </a:extLst>
          </p:cNvPr>
          <p:cNvCxnSpPr>
            <a:cxnSpLocks/>
            <a:stCxn id="5" idx="0"/>
            <a:endCxn id="10" idx="2"/>
          </p:cNvCxnSpPr>
          <p:nvPr/>
        </p:nvCxnSpPr>
        <p:spPr bwMode="auto">
          <a:xfrm flipV="1">
            <a:off x="1524876" y="2944296"/>
            <a:ext cx="179154" cy="571854"/>
          </a:xfrm>
          <a:prstGeom prst="straightConnector1">
            <a:avLst/>
          </a:prstGeom>
          <a:ln>
            <a:headEnd type="none" w="med" len="med"/>
            <a:tailEnd type="arrow"/>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dk1"/>
          </a:lnRef>
          <a:fillRef idx="0">
            <a:schemeClr val="dk1"/>
          </a:fillRef>
          <a:effectRef idx="2">
            <a:schemeClr val="dk1"/>
          </a:effectRef>
          <a:fontRef idx="minor">
            <a:schemeClr val="tx1"/>
          </a:fontRef>
        </p:style>
      </p:cxnSp>
      <p:sp>
        <p:nvSpPr>
          <p:cNvPr id="10" name="矩形 9">
            <a:extLst>
              <a:ext uri="{FF2B5EF4-FFF2-40B4-BE49-F238E27FC236}">
                <a16:creationId xmlns:a16="http://schemas.microsoft.com/office/drawing/2014/main" id="{AECF5544-559B-6404-E7D2-E600D1BD0840}"/>
              </a:ext>
            </a:extLst>
          </p:cNvPr>
          <p:cNvSpPr/>
          <p:nvPr/>
        </p:nvSpPr>
        <p:spPr>
          <a:xfrm>
            <a:off x="332500" y="2574964"/>
            <a:ext cx="2743059" cy="369332"/>
          </a:xfrm>
          <a:prstGeom prst="rect">
            <a:avLst/>
          </a:prstGeom>
        </p:spPr>
        <p:txBody>
          <a:bodyPr wrap="none">
            <a:spAutoFit/>
          </a:bodyPr>
          <a:lstStyle/>
          <a:p>
            <a:r>
              <a:rPr lang="zh-CN" altLang="en-US" dirty="0"/>
              <a:t>发射初始速度</a:t>
            </a:r>
            <a:r>
              <a:rPr lang="en-US" altLang="zh-CN" dirty="0"/>
              <a:t>V0=200m/s</a:t>
            </a:r>
            <a:endParaRPr lang="zh-CN" altLang="en-US" dirty="0"/>
          </a:p>
        </p:txBody>
      </p:sp>
      <p:cxnSp>
        <p:nvCxnSpPr>
          <p:cNvPr id="11" name="直接连接符 10">
            <a:extLst>
              <a:ext uri="{FF2B5EF4-FFF2-40B4-BE49-F238E27FC236}">
                <a16:creationId xmlns:a16="http://schemas.microsoft.com/office/drawing/2014/main" id="{872C34F6-AEBD-55D3-29D0-CA5526B8084F}"/>
              </a:ext>
            </a:extLst>
          </p:cNvPr>
          <p:cNvCxnSpPr/>
          <p:nvPr/>
        </p:nvCxnSpPr>
        <p:spPr bwMode="auto">
          <a:xfrm>
            <a:off x="1524000" y="3513223"/>
            <a:ext cx="567227"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矩形 11">
            <a:extLst>
              <a:ext uri="{FF2B5EF4-FFF2-40B4-BE49-F238E27FC236}">
                <a16:creationId xmlns:a16="http://schemas.microsoft.com/office/drawing/2014/main" id="{CE1DC7FB-E77C-18E8-D17E-3B09E30AE249}"/>
              </a:ext>
            </a:extLst>
          </p:cNvPr>
          <p:cNvSpPr/>
          <p:nvPr/>
        </p:nvSpPr>
        <p:spPr>
          <a:xfrm>
            <a:off x="1585532" y="3126373"/>
            <a:ext cx="327334" cy="400110"/>
          </a:xfrm>
          <a:prstGeom prst="rect">
            <a:avLst/>
          </a:prstGeom>
        </p:spPr>
        <p:txBody>
          <a:bodyPr wrap="none">
            <a:spAutoFit/>
          </a:bodyPr>
          <a:lstStyle/>
          <a:p>
            <a:r>
              <a:rPr lang="en-US" altLang="zh-CN" sz="2000" dirty="0">
                <a:solidFill>
                  <a:srgbClr val="FFFF00"/>
                </a:solidFill>
                <a:highlight>
                  <a:srgbClr val="FF0000"/>
                </a:highlight>
              </a:rPr>
              <a:t>a</a:t>
            </a:r>
            <a:endParaRPr lang="zh-CN" altLang="en-US" sz="2000" dirty="0">
              <a:solidFill>
                <a:srgbClr val="FFFF00"/>
              </a:solidFill>
              <a:highlight>
                <a:srgbClr val="FF0000"/>
              </a:highlight>
            </a:endParaRPr>
          </a:p>
        </p:txBody>
      </p:sp>
      <p:sp>
        <p:nvSpPr>
          <p:cNvPr id="13" name="矩形 12">
            <a:extLst>
              <a:ext uri="{FF2B5EF4-FFF2-40B4-BE49-F238E27FC236}">
                <a16:creationId xmlns:a16="http://schemas.microsoft.com/office/drawing/2014/main" id="{3B2FB989-82F8-A00B-9945-E4551C4AE254}"/>
              </a:ext>
            </a:extLst>
          </p:cNvPr>
          <p:cNvSpPr/>
          <p:nvPr/>
        </p:nvSpPr>
        <p:spPr>
          <a:xfrm>
            <a:off x="5959312" y="2680341"/>
            <a:ext cx="3198311" cy="748923"/>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p:spPr>
        <p:txBody>
          <a:bodyPr wrap="none">
            <a:spAutoFit/>
          </a:bodyPr>
          <a:lstStyle/>
          <a:p>
            <a:pPr lvl="0"/>
            <a:r>
              <a:rPr lang="en-US" altLang="zh-CN" sz="1600" dirty="0">
                <a:solidFill>
                  <a:schemeClr val="bg1"/>
                </a:solidFill>
                <a:highlight>
                  <a:srgbClr val="21A4FF"/>
                </a:highlight>
              </a:rPr>
              <a:t>y=V</a:t>
            </a:r>
            <a:r>
              <a:rPr lang="en-US" altLang="zh-CN" sz="1600" baseline="-25000" dirty="0">
                <a:solidFill>
                  <a:schemeClr val="bg1"/>
                </a:solidFill>
                <a:highlight>
                  <a:srgbClr val="21A4FF"/>
                </a:highlight>
              </a:rPr>
              <a:t>0</a:t>
            </a:r>
            <a:r>
              <a:rPr lang="en-US" altLang="zh-CN" sz="1600" dirty="0">
                <a:solidFill>
                  <a:schemeClr val="bg1"/>
                </a:solidFill>
                <a:highlight>
                  <a:srgbClr val="21A4FF"/>
                </a:highlight>
              </a:rPr>
              <a:t>*sin(a)*t-1/2gt</a:t>
            </a:r>
            <a:r>
              <a:rPr lang="en-US" altLang="zh-CN" sz="1600" baseline="30000" dirty="0">
                <a:solidFill>
                  <a:schemeClr val="bg1"/>
                </a:solidFill>
                <a:highlight>
                  <a:srgbClr val="21A4FF"/>
                </a:highlight>
              </a:rPr>
              <a:t>2</a:t>
            </a:r>
          </a:p>
          <a:p>
            <a:pPr lvl="0"/>
            <a:endParaRPr lang="en-US" altLang="zh-CN" sz="1600" baseline="30000" dirty="0">
              <a:solidFill>
                <a:schemeClr val="bg1"/>
              </a:solidFill>
              <a:highlight>
                <a:srgbClr val="21A4FF"/>
              </a:highlight>
            </a:endParaRPr>
          </a:p>
          <a:p>
            <a:pPr lvl="0"/>
            <a:r>
              <a:rPr lang="zh-CN" altLang="en-US" sz="1600" dirty="0">
                <a:solidFill>
                  <a:schemeClr val="bg1"/>
                </a:solidFill>
                <a:highlight>
                  <a:srgbClr val="21A4FF"/>
                </a:highlight>
              </a:rPr>
              <a:t>简化</a:t>
            </a:r>
            <a:r>
              <a:rPr lang="en-US" altLang="zh-CN" sz="1600" dirty="0">
                <a:solidFill>
                  <a:schemeClr val="bg1"/>
                </a:solidFill>
                <a:highlight>
                  <a:srgbClr val="21A4FF"/>
                </a:highlight>
              </a:rPr>
              <a:t>y = 200sin(a)*t-4.905t</a:t>
            </a:r>
            <a:r>
              <a:rPr lang="en-US" altLang="zh-CN" sz="1600" baseline="30000" dirty="0">
                <a:solidFill>
                  <a:schemeClr val="bg1"/>
                </a:solidFill>
                <a:highlight>
                  <a:srgbClr val="21A4FF"/>
                </a:highlight>
              </a:rPr>
              <a:t>2 </a:t>
            </a:r>
            <a:r>
              <a:rPr lang="en-US" altLang="zh-CN" sz="1600" dirty="0">
                <a:solidFill>
                  <a:schemeClr val="bg1"/>
                </a:solidFill>
                <a:highlight>
                  <a:srgbClr val="21A4FF"/>
                </a:highlight>
              </a:rPr>
              <a:t>= 160</a:t>
            </a:r>
            <a:endParaRPr lang="zh-CN" altLang="en-US" sz="1600" dirty="0">
              <a:solidFill>
                <a:schemeClr val="bg1"/>
              </a:solidFill>
              <a:highlight>
                <a:srgbClr val="21A4FF"/>
              </a:highlight>
            </a:endParaRPr>
          </a:p>
        </p:txBody>
      </p:sp>
      <p:sp>
        <p:nvSpPr>
          <p:cNvPr id="14" name="矩形 13">
            <a:extLst>
              <a:ext uri="{FF2B5EF4-FFF2-40B4-BE49-F238E27FC236}">
                <a16:creationId xmlns:a16="http://schemas.microsoft.com/office/drawing/2014/main" id="{1BCF67AC-7767-8E05-AA65-DEB1C6897AAB}"/>
              </a:ext>
            </a:extLst>
          </p:cNvPr>
          <p:cNvSpPr/>
          <p:nvPr/>
        </p:nvSpPr>
        <p:spPr>
          <a:xfrm>
            <a:off x="5344180" y="3664644"/>
            <a:ext cx="2826415" cy="923330"/>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p:spPr>
        <p:txBody>
          <a:bodyPr wrap="none">
            <a:spAutoFit/>
          </a:bodyPr>
          <a:lstStyle/>
          <a:p>
            <a:r>
              <a:rPr lang="en-US" altLang="zh-CN" dirty="0">
                <a:solidFill>
                  <a:schemeClr val="bg1"/>
                </a:solidFill>
                <a:highlight>
                  <a:srgbClr val="21A4FF"/>
                </a:highlight>
              </a:rPr>
              <a:t>x=V0*cos(a)*t</a:t>
            </a:r>
          </a:p>
          <a:p>
            <a:endParaRPr lang="en-US" altLang="zh-CN" dirty="0">
              <a:solidFill>
                <a:schemeClr val="bg1"/>
              </a:solidFill>
              <a:highlight>
                <a:srgbClr val="21A4FF"/>
              </a:highlight>
            </a:endParaRPr>
          </a:p>
          <a:p>
            <a:r>
              <a:rPr lang="zh-CN" altLang="en-US" dirty="0">
                <a:solidFill>
                  <a:schemeClr val="bg1"/>
                </a:solidFill>
                <a:highlight>
                  <a:srgbClr val="21A4FF"/>
                </a:highlight>
              </a:rPr>
              <a:t>简化为</a:t>
            </a:r>
            <a:r>
              <a:rPr lang="en-US" altLang="zh-CN" dirty="0">
                <a:solidFill>
                  <a:schemeClr val="bg1"/>
                </a:solidFill>
                <a:highlight>
                  <a:srgbClr val="21A4FF"/>
                </a:highlight>
              </a:rPr>
              <a:t>x=200cos(a)*t=360</a:t>
            </a:r>
            <a:endParaRPr lang="zh-CN" altLang="en-US" dirty="0">
              <a:solidFill>
                <a:schemeClr val="bg1"/>
              </a:solidFill>
              <a:highlight>
                <a:srgbClr val="21A4FF"/>
              </a:highlight>
            </a:endParaRPr>
          </a:p>
        </p:txBody>
      </p:sp>
      <p:sp>
        <p:nvSpPr>
          <p:cNvPr id="15" name="矩形 14">
            <a:extLst>
              <a:ext uri="{FF2B5EF4-FFF2-40B4-BE49-F238E27FC236}">
                <a16:creationId xmlns:a16="http://schemas.microsoft.com/office/drawing/2014/main" id="{2C61293C-A4D7-8B89-E6A0-5C5EEA61E1B0}"/>
              </a:ext>
            </a:extLst>
          </p:cNvPr>
          <p:cNvSpPr/>
          <p:nvPr/>
        </p:nvSpPr>
        <p:spPr>
          <a:xfrm>
            <a:off x="1583781" y="3609849"/>
            <a:ext cx="877163" cy="369332"/>
          </a:xfrm>
          <a:prstGeom prst="rect">
            <a:avLst/>
          </a:prstGeom>
        </p:spPr>
        <p:txBody>
          <a:bodyPr wrap="none">
            <a:spAutoFit/>
          </a:bodyPr>
          <a:lstStyle/>
          <a:p>
            <a:pPr lvl="0"/>
            <a:r>
              <a:rPr lang="zh-CN" altLang="en-US" sz="1800" dirty="0">
                <a:solidFill>
                  <a:srgbClr val="002060"/>
                </a:solidFill>
                <a:latin typeface="微软雅黑" panose="020B0503020204020204" pitchFamily="34" charset="-122"/>
                <a:ea typeface="微软雅黑" panose="020B0503020204020204" pitchFamily="34" charset="-122"/>
              </a:rPr>
              <a:t>发</a:t>
            </a:r>
            <a:r>
              <a:rPr lang="zh-CN" altLang="en-US" dirty="0">
                <a:solidFill>
                  <a:srgbClr val="000000"/>
                </a:solidFill>
              </a:rPr>
              <a:t>射角</a:t>
            </a:r>
          </a:p>
        </p:txBody>
      </p:sp>
      <p:sp>
        <p:nvSpPr>
          <p:cNvPr id="16" name="流程图: 联系 4">
            <a:extLst>
              <a:ext uri="{FF2B5EF4-FFF2-40B4-BE49-F238E27FC236}">
                <a16:creationId xmlns:a16="http://schemas.microsoft.com/office/drawing/2014/main" id="{103E2920-D2CA-6747-9B78-43C25E0FFFB8}"/>
              </a:ext>
            </a:extLst>
          </p:cNvPr>
          <p:cNvSpPr/>
          <p:nvPr/>
        </p:nvSpPr>
        <p:spPr bwMode="auto">
          <a:xfrm>
            <a:off x="2877061" y="2932301"/>
            <a:ext cx="162000" cy="162000"/>
          </a:xfrm>
          <a:prstGeom prst="flowChartConnector">
            <a:avLst/>
          </a:prstGeom>
          <a:solidFill>
            <a:srgbClr val="990000"/>
          </a:solidFill>
          <a:ln w="9525" cap="flat" cmpd="sng" algn="ctr">
            <a:noFill/>
            <a:prstDash val="solid"/>
            <a:round/>
            <a:headEnd type="none" w="med" len="med"/>
            <a:tailEnd type="none" w="med" len="me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wrap="square" lIns="68580" tIns="34290" rIns="68580" bIns="34290" numCol="1" rtlCol="0" anchor="t" anchorCtr="0" compatLnSpc="1">
            <a:prstTxWarp prst="textNoShape">
              <a:avLst/>
            </a:prstTxWarp>
          </a:bodyPr>
          <a:lstStyle/>
          <a:p>
            <a:pPr defTabSz="685800" eaLnBrk="0" hangingPunct="0"/>
            <a:endParaRPr lang="zh-CN" altLang="en-US" sz="1500"/>
          </a:p>
        </p:txBody>
      </p:sp>
      <p:sp>
        <p:nvSpPr>
          <p:cNvPr id="17" name="TextBox 5">
            <a:extLst>
              <a:ext uri="{FF2B5EF4-FFF2-40B4-BE49-F238E27FC236}">
                <a16:creationId xmlns:a16="http://schemas.microsoft.com/office/drawing/2014/main" id="{659D5328-59DE-4220-3B17-AA1DB578A026}"/>
              </a:ext>
            </a:extLst>
          </p:cNvPr>
          <p:cNvSpPr txBox="1"/>
          <p:nvPr/>
        </p:nvSpPr>
        <p:spPr>
          <a:xfrm>
            <a:off x="43408" y="3341479"/>
            <a:ext cx="1569660" cy="646331"/>
          </a:xfrm>
          <a:prstGeom prst="rect">
            <a:avLst/>
          </a:prstGeom>
          <a:noFill/>
        </p:spPr>
        <p:txBody>
          <a:bodyPr wrap="none" rtlCol="0">
            <a:spAutoFit/>
          </a:bodyPr>
          <a:lstStyle/>
          <a:p>
            <a:r>
              <a:rPr lang="zh-CN" altLang="en-US" dirty="0"/>
              <a:t>炮弹发射位置</a:t>
            </a:r>
            <a:endParaRPr lang="en-US" altLang="zh-CN" dirty="0"/>
          </a:p>
          <a:p>
            <a:r>
              <a:rPr lang="en-US" altLang="zh-CN" dirty="0"/>
              <a:t>[X0,y0]=[0,0]</a:t>
            </a:r>
            <a:endParaRPr lang="zh-CN" altLang="en-US" dirty="0"/>
          </a:p>
        </p:txBody>
      </p:sp>
      <p:sp>
        <p:nvSpPr>
          <p:cNvPr id="18" name="TextBox 2">
            <a:extLst>
              <a:ext uri="{FF2B5EF4-FFF2-40B4-BE49-F238E27FC236}">
                <a16:creationId xmlns:a16="http://schemas.microsoft.com/office/drawing/2014/main" id="{532907BA-8371-3AE8-1B07-6FDA348826C1}"/>
              </a:ext>
            </a:extLst>
          </p:cNvPr>
          <p:cNvSpPr txBox="1"/>
          <p:nvPr/>
        </p:nvSpPr>
        <p:spPr>
          <a:xfrm>
            <a:off x="687409" y="763489"/>
            <a:ext cx="8399431" cy="461665"/>
          </a:xfrm>
          <a:prstGeom prst="rect">
            <a:avLst/>
          </a:prstGeom>
          <a:noFill/>
        </p:spPr>
        <p:txBody>
          <a:bodyPr wrap="square">
            <a:spAutoFit/>
          </a:bodyPr>
          <a:lstStyle>
            <a:defPPr>
              <a:defRPr lang="zh-CN"/>
            </a:defPPr>
            <a:lvl1pPr eaLnBrk="0">
              <a:spcBef>
                <a:spcPts val="0"/>
              </a:spcBef>
              <a:spcAft>
                <a:spcPts val="0"/>
              </a:spcAft>
              <a:defRPr sz="2400">
                <a:solidFill>
                  <a:srgbClr val="002060"/>
                </a:solidFill>
                <a:latin typeface="隶书" panose="02010509060101010101" pitchFamily="49" charset="-122"/>
                <a:ea typeface="隶书" panose="02010509060101010101" pitchFamily="49" charset="-122"/>
              </a:defRPr>
            </a:lvl1pPr>
          </a:lstStyle>
          <a:p>
            <a:pPr algn="dist"/>
            <a:r>
              <a:rPr lang="zh-CN" altLang="en-US" dirty="0">
                <a:latin typeface="华文楷体" panose="02010600040101010101" pitchFamily="2" charset="-122"/>
                <a:ea typeface="华文楷体" panose="02010600040101010101" pitchFamily="2" charset="-122"/>
              </a:rPr>
              <a:t>求解无动力炮弹击中目标的发射角</a:t>
            </a:r>
            <a:r>
              <a:rPr lang="en-US" altLang="zh-CN" dirty="0">
                <a:latin typeface="华文楷体" panose="02010600040101010101" pitchFamily="2" charset="-122"/>
                <a:ea typeface="华文楷体" panose="02010600040101010101" pitchFamily="2" charset="-122"/>
              </a:rPr>
              <a:t>a</a:t>
            </a:r>
            <a:r>
              <a:rPr lang="zh-CN" altLang="en-US" dirty="0">
                <a:latin typeface="华文楷体" panose="02010600040101010101" pitchFamily="2" charset="-122"/>
                <a:ea typeface="华文楷体" panose="02010600040101010101" pitchFamily="2" charset="-122"/>
              </a:rPr>
              <a:t>及时间</a:t>
            </a:r>
            <a:r>
              <a:rPr lang="en-US" altLang="zh-CN" dirty="0">
                <a:latin typeface="华文楷体" panose="02010600040101010101" pitchFamily="2" charset="-122"/>
                <a:ea typeface="华文楷体" panose="02010600040101010101" pitchFamily="2" charset="-122"/>
              </a:rPr>
              <a:t>t</a:t>
            </a:r>
            <a:r>
              <a:rPr lang="zh-CN" altLang="en-US" dirty="0">
                <a:latin typeface="华文楷体" panose="02010600040101010101" pitchFamily="2" charset="-122"/>
                <a:ea typeface="华文楷体" panose="02010600040101010101" pitchFamily="2" charset="-122"/>
              </a:rPr>
              <a:t>，并模拟运动轨迹</a:t>
            </a:r>
          </a:p>
        </p:txBody>
      </p:sp>
      <p:sp>
        <p:nvSpPr>
          <p:cNvPr id="19" name="TextBox 5">
            <a:extLst>
              <a:ext uri="{FF2B5EF4-FFF2-40B4-BE49-F238E27FC236}">
                <a16:creationId xmlns:a16="http://schemas.microsoft.com/office/drawing/2014/main" id="{8D7B9D43-B867-E2C0-881B-297DB06F3181}"/>
              </a:ext>
            </a:extLst>
          </p:cNvPr>
          <p:cNvSpPr txBox="1"/>
          <p:nvPr/>
        </p:nvSpPr>
        <p:spPr>
          <a:xfrm>
            <a:off x="3148820" y="2464400"/>
            <a:ext cx="2627327" cy="369332"/>
          </a:xfrm>
          <a:prstGeom prst="rect">
            <a:avLst/>
          </a:prstGeom>
          <a:noFill/>
        </p:spPr>
        <p:txBody>
          <a:bodyPr wrap="square" rtlCol="0">
            <a:spAutoFit/>
          </a:bodyPr>
          <a:lstStyle/>
          <a:p>
            <a:r>
              <a:rPr lang="zh-CN" altLang="en-US" dirty="0"/>
              <a:t>击中目标</a:t>
            </a:r>
            <a:r>
              <a:rPr lang="en-US" altLang="zh-CN" dirty="0"/>
              <a:t>[</a:t>
            </a:r>
            <a:r>
              <a:rPr lang="en-US" altLang="zh-CN" dirty="0" err="1"/>
              <a:t>x,y</a:t>
            </a:r>
            <a:r>
              <a:rPr lang="en-US" altLang="zh-CN" dirty="0"/>
              <a:t>]=[360,160]</a:t>
            </a:r>
            <a:endParaRPr lang="zh-CN" altLang="en-US" dirty="0"/>
          </a:p>
        </p:txBody>
      </p:sp>
      <p:sp>
        <p:nvSpPr>
          <p:cNvPr id="20" name="Rectangle 9">
            <a:extLst>
              <a:ext uri="{FF2B5EF4-FFF2-40B4-BE49-F238E27FC236}">
                <a16:creationId xmlns:a16="http://schemas.microsoft.com/office/drawing/2014/main" id="{702AA8C1-4EC0-FB18-3D85-92AD84588AE6}"/>
              </a:ext>
            </a:extLst>
          </p:cNvPr>
          <p:cNvSpPr/>
          <p:nvPr/>
        </p:nvSpPr>
        <p:spPr bwMode="auto">
          <a:xfrm>
            <a:off x="43409" y="1276389"/>
            <a:ext cx="9043432" cy="1092607"/>
          </a:xfrm>
          <a:prstGeom prst="rect">
            <a:avLst/>
          </a:prstGeom>
          <a:solidFill>
            <a:schemeClr val="bg1"/>
          </a:solidFill>
          <a:ln w="9525" cap="flat" cmpd="sng">
            <a:solidFill>
              <a:schemeClr val="tx1"/>
            </a:solidFill>
            <a:prstDash val="sysDot"/>
            <a:miter lim="800000"/>
          </a:ln>
        </p:spPr>
        <p:txBody>
          <a:bodyPr vert="horz" wrap="square" lIns="91440" tIns="45720" rIns="91440" bIns="45720" numCol="1" anchor="ctr">
            <a:spAutoFit/>
          </a:bodyPr>
          <a:lstStyle/>
          <a:p>
            <a:pPr eaLnBrk="0">
              <a:lnSpc>
                <a:spcPts val="2600"/>
              </a:lnSpc>
              <a:spcBef>
                <a:spcPts val="0"/>
              </a:spcBef>
              <a:spcAft>
                <a:spcPts val="0"/>
              </a:spcAft>
              <a:buClr>
                <a:srgbClr val="FF0000"/>
              </a:buClr>
            </a:pPr>
            <a:r>
              <a:rPr lang="zh-CN" altLang="en-US" sz="2000" dirty="0">
                <a:solidFill>
                  <a:srgbClr val="002060"/>
                </a:solidFill>
                <a:latin typeface="华文楷体" panose="02010600040101010101" pitchFamily="2" charset="-122"/>
                <a:ea typeface="华文楷体" panose="02010600040101010101" pitchFamily="2" charset="-122"/>
              </a:rPr>
              <a:t>炮弹发射为斜抛运动，已知初速度为</a:t>
            </a:r>
            <a:r>
              <a:rPr lang="en-US" altLang="zh-CN" sz="2000" dirty="0">
                <a:solidFill>
                  <a:srgbClr val="002060"/>
                </a:solidFill>
                <a:latin typeface="华文楷体" panose="02010600040101010101" pitchFamily="2" charset="-122"/>
                <a:ea typeface="华文楷体" panose="02010600040101010101" pitchFamily="2" charset="-122"/>
              </a:rPr>
              <a:t>200</a:t>
            </a:r>
            <a:r>
              <a:rPr lang="zh-CN" altLang="en-US" sz="2000" dirty="0">
                <a:solidFill>
                  <a:srgbClr val="002060"/>
                </a:solidFill>
                <a:latin typeface="华文楷体" panose="02010600040101010101" pitchFamily="2" charset="-122"/>
                <a:ea typeface="华文楷体" panose="02010600040101010101" pitchFamily="2" charset="-122"/>
              </a:rPr>
              <a:t>米每秒，问击中水平距离</a:t>
            </a:r>
            <a:r>
              <a:rPr lang="en-US" altLang="zh-CN" sz="2000" dirty="0">
                <a:solidFill>
                  <a:srgbClr val="002060"/>
                </a:solidFill>
                <a:latin typeface="华文楷体" panose="02010600040101010101" pitchFamily="2" charset="-122"/>
                <a:ea typeface="华文楷体" panose="02010600040101010101" pitchFamily="2" charset="-122"/>
              </a:rPr>
              <a:t>360</a:t>
            </a:r>
            <a:r>
              <a:rPr lang="zh-CN" altLang="en-US" sz="2000" dirty="0">
                <a:solidFill>
                  <a:srgbClr val="002060"/>
                </a:solidFill>
                <a:latin typeface="华文楷体" panose="02010600040101010101" pitchFamily="2" charset="-122"/>
                <a:ea typeface="华文楷体" panose="02010600040101010101" pitchFamily="2" charset="-122"/>
              </a:rPr>
              <a:t>米时，垂直距离</a:t>
            </a:r>
            <a:r>
              <a:rPr lang="en-US" altLang="zh-CN" sz="2000" dirty="0">
                <a:solidFill>
                  <a:srgbClr val="002060"/>
                </a:solidFill>
                <a:latin typeface="华文楷体" panose="02010600040101010101" pitchFamily="2" charset="-122"/>
                <a:ea typeface="华文楷体" panose="02010600040101010101" pitchFamily="2" charset="-122"/>
              </a:rPr>
              <a:t>160m</a:t>
            </a:r>
            <a:r>
              <a:rPr lang="zh-CN" altLang="en-US" sz="2000" dirty="0">
                <a:solidFill>
                  <a:srgbClr val="002060"/>
                </a:solidFill>
                <a:latin typeface="华文楷体" panose="02010600040101010101" pitchFamily="2" charset="-122"/>
                <a:ea typeface="华文楷体" panose="02010600040101010101" pitchFamily="2" charset="-122"/>
              </a:rPr>
              <a:t>的目标，问当忽略空气阻力时，发射角</a:t>
            </a:r>
            <a:r>
              <a:rPr lang="en-US" altLang="zh-CN" sz="2000" dirty="0">
                <a:latin typeface="华文楷体" panose="02010600040101010101" pitchFamily="2" charset="-122"/>
                <a:ea typeface="华文楷体" panose="02010600040101010101" pitchFamily="2" charset="-122"/>
              </a:rPr>
              <a:t>a</a:t>
            </a:r>
            <a:r>
              <a:rPr lang="zh-CN" altLang="en-US" sz="2000" dirty="0">
                <a:solidFill>
                  <a:srgbClr val="002060"/>
                </a:solidFill>
                <a:latin typeface="华文楷体" panose="02010600040101010101" pitchFamily="2" charset="-122"/>
                <a:ea typeface="华文楷体" panose="02010600040101010101" pitchFamily="2" charset="-122"/>
              </a:rPr>
              <a:t>多大</a:t>
            </a:r>
            <a:r>
              <a:rPr lang="en-US" altLang="zh-CN" sz="2000" dirty="0">
                <a:solidFill>
                  <a:srgbClr val="002060"/>
                </a:solidFill>
                <a:latin typeface="华文楷体" panose="02010600040101010101" pitchFamily="2" charset="-122"/>
                <a:ea typeface="华文楷体" panose="02010600040101010101" pitchFamily="2" charset="-122"/>
              </a:rPr>
              <a:t>,</a:t>
            </a:r>
            <a:r>
              <a:rPr lang="zh-CN" altLang="en-US" sz="2000" dirty="0">
                <a:solidFill>
                  <a:srgbClr val="002060"/>
                </a:solidFill>
                <a:latin typeface="华文楷体" panose="02010600040101010101" pitchFamily="2" charset="-122"/>
                <a:ea typeface="华文楷体" panose="02010600040101010101" pitchFamily="2" charset="-122"/>
              </a:rPr>
              <a:t>时间</a:t>
            </a:r>
            <a:r>
              <a:rPr lang="en-US" altLang="zh-CN" sz="2000" dirty="0">
                <a:solidFill>
                  <a:srgbClr val="002060"/>
                </a:solidFill>
                <a:latin typeface="华文楷体" panose="02010600040101010101" pitchFamily="2" charset="-122"/>
                <a:ea typeface="华文楷体" panose="02010600040101010101" pitchFamily="2" charset="-122"/>
              </a:rPr>
              <a:t>t</a:t>
            </a:r>
            <a:r>
              <a:rPr lang="zh-CN" altLang="en-US" sz="2000" dirty="0">
                <a:solidFill>
                  <a:srgbClr val="002060"/>
                </a:solidFill>
                <a:latin typeface="华文楷体" panose="02010600040101010101" pitchFamily="2" charset="-122"/>
                <a:ea typeface="华文楷体" panose="02010600040101010101" pitchFamily="2" charset="-122"/>
              </a:rPr>
              <a:t>多长</a:t>
            </a:r>
            <a:r>
              <a:rPr lang="zh-CN" altLang="en-US" sz="2000" dirty="0">
                <a:latin typeface="华文楷体" panose="02010600040101010101" pitchFamily="2" charset="-122"/>
                <a:ea typeface="华文楷体" panose="02010600040101010101" pitchFamily="2" charset="-122"/>
              </a:rPr>
              <a:t>？</a:t>
            </a:r>
            <a:r>
              <a:rPr lang="en-US" altLang="zh-CN" sz="2000" dirty="0">
                <a:latin typeface="华文楷体" panose="02010600040101010101" pitchFamily="2" charset="-122"/>
                <a:ea typeface="华文楷体" panose="02010600040101010101" pitchFamily="2" charset="-122"/>
              </a:rPr>
              <a:t> </a:t>
            </a:r>
            <a:r>
              <a:rPr lang="zh-CN" altLang="en-US" sz="2000" dirty="0">
                <a:solidFill>
                  <a:srgbClr val="002060"/>
                </a:solidFill>
                <a:latin typeface="华文楷体" panose="02010600040101010101" pitchFamily="2" charset="-122"/>
                <a:ea typeface="华文楷体" panose="02010600040101010101" pitchFamily="2" charset="-122"/>
              </a:rPr>
              <a:t>炮弹发射出去只受到重力</a:t>
            </a:r>
            <a:r>
              <a:rPr lang="en-US" altLang="zh-CN" sz="2000" dirty="0">
                <a:solidFill>
                  <a:srgbClr val="002060"/>
                </a:solidFill>
                <a:latin typeface="华文楷体" panose="02010600040101010101" pitchFamily="2" charset="-122"/>
                <a:ea typeface="华文楷体" panose="02010600040101010101" pitchFamily="2" charset="-122"/>
              </a:rPr>
              <a:t>,</a:t>
            </a:r>
            <a:r>
              <a:rPr lang="zh-CN" altLang="en-US" sz="2000" dirty="0">
                <a:solidFill>
                  <a:srgbClr val="002060"/>
                </a:solidFill>
                <a:latin typeface="华文楷体" panose="02010600040101010101" pitchFamily="2" charset="-122"/>
                <a:ea typeface="华文楷体" panose="02010600040101010101" pitchFamily="2" charset="-122"/>
              </a:rPr>
              <a:t>其</a:t>
            </a:r>
            <a:r>
              <a:rPr lang="en-US" altLang="zh-CN" sz="2000" dirty="0">
                <a:solidFill>
                  <a:srgbClr val="002060"/>
                </a:solidFill>
                <a:latin typeface="华文楷体" panose="02010600040101010101" pitchFamily="2" charset="-122"/>
                <a:ea typeface="华文楷体" panose="02010600040101010101" pitchFamily="2" charset="-122"/>
              </a:rPr>
              <a:t>g=9.81</a:t>
            </a:r>
            <a:endParaRPr lang="ko-KR" altLang="en-US" sz="2000" cap="none" dirty="0">
              <a:solidFill>
                <a:srgbClr val="002060"/>
              </a:solidFill>
              <a:latin typeface="华文楷体" panose="02010600040101010101" pitchFamily="2" charset="-122"/>
              <a:ea typeface="+mn-ea"/>
            </a:endParaRPr>
          </a:p>
        </p:txBody>
      </p:sp>
      <p:sp>
        <p:nvSpPr>
          <p:cNvPr id="23" name="标题 1">
            <a:extLst>
              <a:ext uri="{FF2B5EF4-FFF2-40B4-BE49-F238E27FC236}">
                <a16:creationId xmlns:a16="http://schemas.microsoft.com/office/drawing/2014/main" id="{A86FF76E-D8E5-49F0-8B80-3732EB6D5B63}"/>
              </a:ext>
            </a:extLst>
          </p:cNvPr>
          <p:cNvSpPr txBox="1">
            <a:spLocks/>
          </p:cNvSpPr>
          <p:nvPr/>
        </p:nvSpPr>
        <p:spPr>
          <a:xfrm>
            <a:off x="870148" y="161785"/>
            <a:ext cx="8047544" cy="438150"/>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600" b="0" dirty="0">
                <a:solidFill>
                  <a:srgbClr val="002060"/>
                </a:solidFill>
                <a:latin typeface="华文楷体" panose="02010600040101010101" pitchFamily="2" charset="-122"/>
                <a:ea typeface="华文楷体" panose="02010600040101010101" pitchFamily="2" charset="-122"/>
              </a:rPr>
              <a:t>§ 8.5.2</a:t>
            </a:r>
            <a:r>
              <a:rPr lang="zh-CN" altLang="en-US" sz="2600" b="0" dirty="0">
                <a:solidFill>
                  <a:srgbClr val="002060"/>
                </a:solidFill>
                <a:latin typeface="华文楷体" panose="02010600040101010101" pitchFamily="2" charset="-122"/>
                <a:ea typeface="华文楷体" panose="02010600040101010101" pitchFamily="2" charset="-122"/>
              </a:rPr>
              <a:t>求解非线性方程组 </a:t>
            </a:r>
            <a:r>
              <a:rPr lang="en-US" altLang="zh-CN" sz="2600" b="0" dirty="0" err="1">
                <a:solidFill>
                  <a:srgbClr val="FF0000"/>
                </a:solidFill>
                <a:latin typeface="华文楷体" panose="02010600040101010101" pitchFamily="2" charset="-122"/>
                <a:ea typeface="华文楷体" panose="02010600040101010101" pitchFamily="2" charset="-122"/>
              </a:rPr>
              <a:t>fsolve</a:t>
            </a:r>
            <a:r>
              <a:rPr lang="en-US" altLang="zh-CN" sz="2600" b="0" kern="0" dirty="0">
                <a:solidFill>
                  <a:srgbClr val="FF0000"/>
                </a:solidFill>
                <a:latin typeface="华文楷体" panose="02010600040101010101" pitchFamily="2" charset="-122"/>
                <a:ea typeface="华文楷体" panose="02010600040101010101" pitchFamily="2" charset="-122"/>
              </a:rPr>
              <a:t>——</a:t>
            </a:r>
            <a:r>
              <a:rPr lang="zh-CN" altLang="en-US" sz="2600" b="0" kern="0" dirty="0">
                <a:solidFill>
                  <a:srgbClr val="FF0000"/>
                </a:solidFill>
                <a:latin typeface="华文楷体" panose="02010600040101010101" pitchFamily="2" charset="-122"/>
                <a:ea typeface="华文楷体" panose="02010600040101010101" pitchFamily="2" charset="-122"/>
              </a:rPr>
              <a:t>多元</a:t>
            </a:r>
            <a:r>
              <a:rPr lang="zh-CN" altLang="en-US" sz="2600" b="0" cap="none" dirty="0">
                <a:solidFill>
                  <a:srgbClr val="FF0000"/>
                </a:solidFill>
                <a:latin typeface="华文楷体" panose="02010600040101010101" pitchFamily="2" charset="-122"/>
                <a:ea typeface="华文楷体" panose="02010600040101010101" pitchFamily="2" charset="-122"/>
              </a:rPr>
              <a:t>方程求根案例</a:t>
            </a:r>
            <a:r>
              <a:rPr lang="en-US" altLang="ko-KR" sz="2600" b="0" cap="none" dirty="0">
                <a:solidFill>
                  <a:srgbClr val="FF0000"/>
                </a:solidFill>
                <a:latin typeface="华文楷体" panose="02010600040101010101" pitchFamily="2" charset="-122"/>
                <a:ea typeface="华文楷体" panose="02010600040101010101" pitchFamily="2" charset="-122"/>
              </a:rPr>
              <a:t> </a:t>
            </a:r>
            <a:r>
              <a:rPr lang="zh-CN" altLang="en-US" sz="2600" b="0" kern="0" dirty="0">
                <a:solidFill>
                  <a:srgbClr val="FF0000"/>
                </a:solidFill>
                <a:latin typeface="华文楷体" panose="02010600040101010101" pitchFamily="2" charset="-122"/>
                <a:ea typeface="华文楷体" panose="02010600040101010101" pitchFamily="2" charset="-122"/>
              </a:rPr>
              <a:t> </a:t>
            </a:r>
          </a:p>
        </p:txBody>
      </p:sp>
      <p:sp>
        <p:nvSpPr>
          <p:cNvPr id="21" name="波形 20">
            <a:extLst>
              <a:ext uri="{FF2B5EF4-FFF2-40B4-BE49-F238E27FC236}">
                <a16:creationId xmlns:a16="http://schemas.microsoft.com/office/drawing/2014/main" id="{F6EF218D-60AD-400C-A1A7-B3DFEC195E00}"/>
              </a:ext>
            </a:extLst>
          </p:cNvPr>
          <p:cNvSpPr/>
          <p:nvPr/>
        </p:nvSpPr>
        <p:spPr>
          <a:xfrm>
            <a:off x="-14149" y="728006"/>
            <a:ext cx="809342" cy="474076"/>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2000" b="1" dirty="0">
                <a:solidFill>
                  <a:srgbClr val="FFFF00"/>
                </a:solidFill>
                <a:latin typeface="微软雅黑" panose="020B0503020204020204" charset="-122"/>
                <a:ea typeface="微软雅黑" panose="020B0503020204020204" charset="-122"/>
              </a:rPr>
              <a:t>例85-2</a:t>
            </a:r>
            <a:endParaRPr lang="ko-KR" altLang="en-US" sz="2000" b="1" dirty="0">
              <a:solidFill>
                <a:srgbClr val="FFFF00"/>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174275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2" grpId="0"/>
      <p:bldP spid="13" grpId="0"/>
      <p:bldP spid="14" grpId="0"/>
      <p:bldP spid="1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337805" y="3431394"/>
            <a:ext cx="5746561" cy="400110"/>
          </a:xfrm>
          <a:prstGeom prst="rect">
            <a:avLst/>
          </a:prstGeom>
          <a:noFill/>
          <a:scene3d>
            <a:camera prst="orthographicFront"/>
            <a:lightRig rig="threePt" dir="t"/>
          </a:scene3d>
          <a:sp3d>
            <a:bevelT prst="angle"/>
          </a:sp3d>
        </p:spPr>
        <p:txBody>
          <a:bodyPr vert="horz" wrap="square" lIns="91440" tIns="45720" rIns="91440" bIns="45720" numCol="1" anchor="t">
            <a:spAutoFit/>
          </a:bodyPr>
          <a:lstStyle/>
          <a:p>
            <a:pPr marL="457200" indent="-457200" eaLnBrk="0">
              <a:spcBef>
                <a:spcPts val="0"/>
              </a:spcBef>
              <a:spcAft>
                <a:spcPts val="0"/>
              </a:spcAft>
              <a:buFont typeface="+mj-ea"/>
              <a:buAutoNum type="circleNumDbPlain" startAt="2"/>
            </a:pPr>
            <a:r>
              <a:rPr lang="zh-CN" altLang="en-US" sz="2000" dirty="0">
                <a:solidFill>
                  <a:srgbClr val="00B0F0"/>
                </a:solidFill>
                <a:latin typeface="微软雅黑" panose="020B0503020204020204" charset="-122"/>
                <a:ea typeface="微软雅黑" panose="020B0503020204020204" charset="-122"/>
              </a:rPr>
              <a:t>用单下标带入方程，建立单下标表示的方程</a:t>
            </a:r>
            <a:endParaRPr lang="ko-KR" altLang="en-US" sz="2000" cap="none" dirty="0">
              <a:solidFill>
                <a:srgbClr val="00B0F0"/>
              </a:solidFill>
              <a:latin typeface="微软雅黑" panose="020B0503020204020204" charset="-122"/>
              <a:ea typeface="微软雅黑" panose="020B0503020204020204" charset="-122"/>
            </a:endParaRPr>
          </a:p>
        </p:txBody>
      </p:sp>
      <mc:AlternateContent xmlns:mc="http://schemas.openxmlformats.org/markup-compatibility/2006" xmlns:a14="http://schemas.microsoft.com/office/drawing/2010/main">
        <mc:Choice Requires="a14">
          <p:sp>
            <p:nvSpPr>
              <p:cNvPr id="22" name="矩形 21"/>
              <p:cNvSpPr/>
              <p:nvPr/>
            </p:nvSpPr>
            <p:spPr>
              <a:xfrm>
                <a:off x="3965331" y="2935217"/>
                <a:ext cx="3154282" cy="400110"/>
              </a:xfrm>
              <a:prstGeom prst="rect">
                <a:avLst/>
              </a:prstGeom>
              <a:noFill/>
              <a:scene3d>
                <a:camera prst="orthographicFront"/>
                <a:lightRig rig="threePt" dir="t"/>
              </a:scene3d>
              <a:sp3d>
                <a:bevelT prst="angle"/>
              </a:sp3d>
            </p:spPr>
            <p:txBody>
              <a:bodyPr vert="horz" wrap="square" lIns="91440" tIns="45720" rIns="91440" bIns="45720" numCol="1" anchor="t">
                <a:spAutoFit/>
              </a:bodyPr>
              <a:lstStyle/>
              <a:p>
                <a:pPr eaLnBrk="0">
                  <a:spcBef>
                    <a:spcPts val="0"/>
                  </a:spcBef>
                  <a:spcAft>
                    <a:spcPts val="0"/>
                  </a:spcAft>
                </a:pPr>
                <a14:m>
                  <m:oMath xmlns:m="http://schemas.openxmlformats.org/officeDocument/2006/math">
                    <m:r>
                      <a:rPr lang="zh-CN" altLang="en-US" sz="2000" b="1" dirty="0" smtClean="0">
                        <a:solidFill>
                          <a:srgbClr val="FF0000"/>
                        </a:solidFill>
                        <a:latin typeface="Cambria Math" panose="02040503050406030204" pitchFamily="18" charset="0"/>
                      </a:rPr>
                      <m:t>则</m:t>
                    </m:r>
                    <m:r>
                      <m:rPr>
                        <m:nor/>
                      </m:rPr>
                      <a:rPr lang="en-US" altLang="zh-CN" sz="2000" b="1" dirty="0">
                        <a:solidFill>
                          <a:srgbClr val="FF0000"/>
                        </a:solidFill>
                        <a:latin typeface="微软雅黑 Light" panose="020B0502040204020203" pitchFamily="34" charset="-122"/>
                        <a:ea typeface="微软雅黑 Light" panose="020B0502040204020203" pitchFamily="34" charset="-122"/>
                      </a:rPr>
                      <m:t>a</m:t>
                    </m:r>
                    <m:r>
                      <m:rPr>
                        <m:nor/>
                      </m:rPr>
                      <a:rPr lang="en-US" altLang="zh-CN" sz="2000" b="1" dirty="0">
                        <a:solidFill>
                          <a:srgbClr val="FF0000"/>
                        </a:solidFill>
                        <a:latin typeface="微软雅黑 Light" panose="020B0502040204020203" pitchFamily="34" charset="-122"/>
                        <a:ea typeface="微软雅黑 Light" panose="020B0502040204020203" pitchFamily="34" charset="-122"/>
                      </a:rPr>
                      <m:t>=</m:t>
                    </m:r>
                    <m:r>
                      <m:rPr>
                        <m:nor/>
                      </m:rPr>
                      <a:rPr lang="en-US" altLang="zh-CN" sz="2000" b="1">
                        <a:solidFill>
                          <a:srgbClr val="FF0000"/>
                        </a:solidFill>
                        <a:latin typeface="微软雅黑 Light" panose="020B0502040204020203" pitchFamily="34" charset="-122"/>
                        <a:ea typeface="微软雅黑 Light" panose="020B0502040204020203" pitchFamily="34" charset="-122"/>
                      </a:rPr>
                      <m:t>at</m:t>
                    </m:r>
                    <m:r>
                      <a:rPr lang="en-US" altLang="zh-CN" sz="2000" b="1">
                        <a:solidFill>
                          <a:srgbClr val="FF0000"/>
                        </a:solidFill>
                        <a:latin typeface="Cambria Math" panose="02040503050406030204" pitchFamily="18" charset="0"/>
                      </a:rPr>
                      <m:t>[</m:t>
                    </m:r>
                    <m:r>
                      <m:rPr>
                        <m:nor/>
                      </m:rPr>
                      <a:rPr lang="en-US" altLang="zh-CN" sz="2000" b="1" dirty="0">
                        <a:solidFill>
                          <a:srgbClr val="FF0000"/>
                        </a:solidFill>
                        <a:latin typeface="微软雅黑 Light" panose="020B0502040204020203" pitchFamily="34" charset="-122"/>
                        <a:ea typeface="微软雅黑 Light" panose="020B0502040204020203" pitchFamily="34" charset="-122"/>
                      </a:rPr>
                      <m:t>1], </m:t>
                    </m:r>
                  </m:oMath>
                </a14:m>
                <a:r>
                  <a:rPr lang="en-US" altLang="ko-KR" sz="2000" b="1" dirty="0">
                    <a:solidFill>
                      <a:srgbClr val="FF0000"/>
                    </a:solidFill>
                    <a:latin typeface="微软雅黑 Light" panose="020B0502040204020203" pitchFamily="34" charset="-122"/>
                    <a:ea typeface="微软雅黑 Light" panose="020B0502040204020203" pitchFamily="34" charset="-122"/>
                  </a:rPr>
                  <a:t>t=</a:t>
                </a:r>
                <a:r>
                  <a:rPr lang="en-US" altLang="zh-CN" sz="2000" b="1" dirty="0">
                    <a:solidFill>
                      <a:srgbClr val="FF0000"/>
                    </a:solidFill>
                    <a:latin typeface="微软雅黑 Light" panose="020B0502040204020203" pitchFamily="34" charset="-122"/>
                    <a:ea typeface="微软雅黑 Light" panose="020B0502040204020203" pitchFamily="34" charset="-122"/>
                  </a:rPr>
                  <a:t>at[2]</a:t>
                </a:r>
                <a:endParaRPr lang="zh-CN" altLang="en-US" sz="2000" b="1" dirty="0">
                  <a:solidFill>
                    <a:srgbClr val="FF0000"/>
                  </a:solidFill>
                  <a:latin typeface="微软雅黑 Light" panose="020B0502040204020203" pitchFamily="34" charset="-122"/>
                  <a:ea typeface="微软雅黑 Light" panose="020B0502040204020203" pitchFamily="34" charset="-122"/>
                </a:endParaRPr>
              </a:p>
            </p:txBody>
          </p:sp>
        </mc:Choice>
        <mc:Fallback xmlns="">
          <p:sp>
            <p:nvSpPr>
              <p:cNvPr id="22" name="矩形 21"/>
              <p:cNvSpPr>
                <a:spLocks noRot="1" noChangeAspect="1" noMove="1" noResize="1" noEditPoints="1" noAdjustHandles="1" noChangeArrowheads="1" noChangeShapeType="1" noTextEdit="1"/>
              </p:cNvSpPr>
              <p:nvPr/>
            </p:nvSpPr>
            <p:spPr>
              <a:xfrm>
                <a:off x="3965331" y="2935217"/>
                <a:ext cx="3154282" cy="400110"/>
              </a:xfrm>
              <a:prstGeom prst="rect">
                <a:avLst/>
              </a:prstGeom>
              <a:blipFill>
                <a:blip r:embed="rId3"/>
                <a:stretch>
                  <a:fillRect l="-383" t="-4225" b="-197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418571" y="2947912"/>
                <a:ext cx="3433349" cy="400110"/>
              </a:xfrm>
              <a:prstGeom prst="rect">
                <a:avLst/>
              </a:prstGeom>
              <a:noFill/>
              <a:scene3d>
                <a:camera prst="orthographicFront"/>
                <a:lightRig rig="threePt" dir="t"/>
              </a:scene3d>
              <a:sp3d>
                <a:bevelT prst="angle"/>
              </a:sp3d>
            </p:spPr>
            <p:txBody>
              <a:bodyPr vert="horz" wrap="square" lIns="91440" tIns="45720" rIns="91440" bIns="45720" numCol="1" anchor="t">
                <a:spAutoFit/>
              </a:bodyPr>
              <a:lstStyle/>
              <a:p>
                <a:pPr eaLnBrk="0">
                  <a:spcBef>
                    <a:spcPts val="0"/>
                  </a:spcBef>
                  <a:spcAft>
                    <a:spcPts val="0"/>
                  </a:spcAft>
                </a:pPr>
                <a:r>
                  <a:rPr lang="zh-CN" altLang="en-US" sz="2000" b="1" dirty="0">
                    <a:solidFill>
                      <a:srgbClr val="FF0000"/>
                    </a:solidFill>
                    <a:latin typeface="微软雅黑 Light" panose="020B0502040204020203" pitchFamily="34" charset="-122"/>
                    <a:ea typeface="微软雅黑 Light" panose="020B0502040204020203" pitchFamily="34" charset="-122"/>
                  </a:rPr>
                  <a:t>令自变量</a:t>
                </a:r>
                <a14:m>
                  <m:oMath xmlns:m="http://schemas.openxmlformats.org/officeDocument/2006/math">
                    <m:r>
                      <m:rPr>
                        <m:nor/>
                      </m:rPr>
                      <a:rPr lang="en-US" altLang="zh-CN" sz="2000" b="1" dirty="0">
                        <a:solidFill>
                          <a:srgbClr val="FF0000"/>
                        </a:solidFill>
                        <a:latin typeface="微软雅黑 Light" panose="020B0502040204020203" pitchFamily="34" charset="-122"/>
                        <a:ea typeface="微软雅黑 Light" panose="020B0502040204020203" pitchFamily="34" charset="-122"/>
                      </a:rPr>
                      <m:t>a</m:t>
                    </m:r>
                    <m:r>
                      <a:rPr lang="zh-CN" altLang="en-US" sz="2000" b="1" dirty="0">
                        <a:solidFill>
                          <a:srgbClr val="FF0000"/>
                        </a:solidFill>
                        <a:latin typeface="Cambria Math" panose="02040503050406030204" pitchFamily="18" charset="0"/>
                      </a:rPr>
                      <m:t>和时间</m:t>
                    </m:r>
                    <m:r>
                      <a:rPr lang="en-US" altLang="zh-CN" sz="2000" b="1">
                        <a:solidFill>
                          <a:srgbClr val="FF0000"/>
                        </a:solidFill>
                        <a:latin typeface="Cambria Math" panose="02040503050406030204" pitchFamily="18" charset="0"/>
                      </a:rPr>
                      <m:t>𝐭</m:t>
                    </m:r>
                    <m:r>
                      <a:rPr lang="zh-CN" altLang="en-US" sz="2000" b="1">
                        <a:solidFill>
                          <a:srgbClr val="FF0000"/>
                        </a:solidFill>
                        <a:latin typeface="Cambria Math" panose="02040503050406030204" pitchFamily="18" charset="0"/>
                      </a:rPr>
                      <m:t>构成</m:t>
                    </m:r>
                  </m:oMath>
                </a14:m>
                <a:r>
                  <a:rPr lang="zh-CN" altLang="en-US" sz="2000" b="1" dirty="0">
                    <a:solidFill>
                      <a:srgbClr val="FF0000"/>
                    </a:solidFill>
                    <a:latin typeface="微软雅黑 Light" panose="020B0502040204020203" pitchFamily="34" charset="-122"/>
                    <a:ea typeface="微软雅黑 Light" panose="020B0502040204020203" pitchFamily="34" charset="-122"/>
                  </a:rPr>
                  <a:t>向量</a:t>
                </a:r>
                <a:r>
                  <a:rPr lang="en-US" altLang="zh-CN" sz="2000" b="1" dirty="0">
                    <a:solidFill>
                      <a:srgbClr val="FF0000"/>
                    </a:solidFill>
                    <a:latin typeface="微软雅黑 Light" panose="020B0502040204020203" pitchFamily="34" charset="-122"/>
                    <a:ea typeface="微软雅黑 Light" panose="020B0502040204020203" pitchFamily="34" charset="-122"/>
                  </a:rPr>
                  <a:t>at</a:t>
                </a:r>
                <a:endParaRPr lang="en-US" altLang="ko-KR" sz="2000" b="1" dirty="0">
                  <a:solidFill>
                    <a:srgbClr val="FF0000"/>
                  </a:solidFill>
                  <a:latin typeface="微软雅黑 Light" panose="020B0502040204020203" pitchFamily="34" charset="-122"/>
                  <a:ea typeface="微软雅黑 Light" panose="020B0502040204020203" pitchFamily="34" charset="-122"/>
                </a:endParaRPr>
              </a:p>
            </p:txBody>
          </p:sp>
        </mc:Choice>
        <mc:Fallback xmlns="">
          <p:sp>
            <p:nvSpPr>
              <p:cNvPr id="23" name="矩形 22"/>
              <p:cNvSpPr>
                <a:spLocks noRot="1" noChangeAspect="1" noMove="1" noResize="1" noEditPoints="1" noAdjustHandles="1" noChangeArrowheads="1" noChangeShapeType="1" noTextEdit="1"/>
              </p:cNvSpPr>
              <p:nvPr/>
            </p:nvSpPr>
            <p:spPr>
              <a:xfrm>
                <a:off x="418571" y="2947912"/>
                <a:ext cx="3433349" cy="400110"/>
              </a:xfrm>
              <a:prstGeom prst="rect">
                <a:avLst/>
              </a:prstGeom>
              <a:blipFill>
                <a:blip r:embed="rId4"/>
                <a:stretch>
                  <a:fillRect l="-1408" t="-4225" r="-1408" b="-211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539551" y="728659"/>
                <a:ext cx="8604449" cy="402931"/>
              </a:xfrm>
              <a:prstGeom prst="rect">
                <a:avLst/>
              </a:prstGeom>
              <a:noFill/>
            </p:spPr>
            <p:txBody>
              <a:bodyPr wrap="square">
                <a:spAutoFit/>
              </a:bodyPr>
              <a:lstStyle/>
              <a:p>
                <a:pPr eaLnBrk="0">
                  <a:spcBef>
                    <a:spcPts val="0"/>
                  </a:spcBef>
                  <a:spcAft>
                    <a:spcPts val="0"/>
                  </a:spcAft>
                </a:pPr>
                <a:r>
                  <a:rPr lang="zh-CN" altLang="en-US" sz="2000" dirty="0">
                    <a:solidFill>
                      <a:srgbClr val="0070C0"/>
                    </a:solidFill>
                    <a:latin typeface="微软雅黑" panose="020B0503020204020204" pitchFamily="34" charset="-122"/>
                    <a:ea typeface="微软雅黑" panose="020B0503020204020204" pitchFamily="34" charset="-122"/>
                  </a:rPr>
                  <a:t>非线性</a:t>
                </a:r>
                <a:r>
                  <a:rPr lang="en-US" altLang="ko-KR" sz="2000" dirty="0" err="1">
                    <a:solidFill>
                      <a:srgbClr val="0070C0"/>
                    </a:solidFill>
                    <a:latin typeface="微软雅黑" panose="020B0503020204020204" pitchFamily="34" charset="-122"/>
                    <a:ea typeface="微软雅黑" panose="020B0503020204020204" pitchFamily="34" charset="-122"/>
                  </a:rPr>
                  <a:t>方程组</a:t>
                </a:r>
                <a:r>
                  <a:rPr lang="zh-CN" altLang="zh-CN" sz="2000" dirty="0">
                    <a:solidFill>
                      <a:srgbClr val="0070C0"/>
                    </a:solidFill>
                    <a:latin typeface="微软雅黑" panose="020B0503020204020204" pitchFamily="34" charset="-122"/>
                    <a:ea typeface="微软雅黑" panose="020B0503020204020204" pitchFamily="34" charset="-122"/>
                  </a:rPr>
                  <a:t>转换为</a:t>
                </a:r>
                <a:r>
                  <a:rPr lang="en-US" altLang="ko-KR" sz="2000" b="1" dirty="0">
                    <a:solidFill>
                      <a:srgbClr val="FF0000"/>
                    </a:solidFill>
                    <a:latin typeface="微软雅黑" panose="020B0503020204020204" pitchFamily="34" charset="-122"/>
                    <a:ea typeface="微软雅黑" panose="020B0503020204020204" pitchFamily="34" charset="-122"/>
                  </a:rPr>
                  <a:t>fun(</a:t>
                </a:r>
                <a14:m>
                  <m:oMath xmlns:m="http://schemas.openxmlformats.org/officeDocument/2006/math">
                    <m:r>
                      <a:rPr lang="zh-CN" altLang="en-US" sz="2000" b="1" i="1" dirty="0">
                        <a:solidFill>
                          <a:srgbClr val="FF0000"/>
                        </a:solidFill>
                        <a:latin typeface="Cambria Math" panose="02040503050406030204" pitchFamily="18" charset="0"/>
                        <a:ea typeface="微软雅黑" panose="020B0503020204020204" charset="-122"/>
                      </a:rPr>
                      <m:t>角度</m:t>
                    </m:r>
                    <m:r>
                      <m:rPr>
                        <m:nor/>
                      </m:rPr>
                      <a:rPr lang="en-US" altLang="zh-CN" sz="2000" b="1" dirty="0">
                        <a:solidFill>
                          <a:srgbClr val="FF0000"/>
                        </a:solidFill>
                        <a:latin typeface="微软雅黑" panose="020B0503020204020204" pitchFamily="34" charset="-122"/>
                        <a:ea typeface="微软雅黑" panose="020B0503020204020204" pitchFamily="34" charset="-122"/>
                      </a:rPr>
                      <m:t>a</m:t>
                    </m:r>
                    <m:r>
                      <m:rPr>
                        <m:nor/>
                      </m:rPr>
                      <a:rPr lang="en-US" altLang="zh-CN" sz="2000" b="1" dirty="0">
                        <a:solidFill>
                          <a:srgbClr val="FF0000"/>
                        </a:solidFill>
                        <a:latin typeface="微软雅黑" panose="020B0503020204020204" pitchFamily="34" charset="-122"/>
                        <a:ea typeface="微软雅黑" panose="020B0503020204020204" pitchFamily="34" charset="-122"/>
                      </a:rPr>
                      <m:t>,</m:t>
                    </m:r>
                    <m:r>
                      <a:rPr lang="zh-CN" altLang="en-US" sz="2000" b="1" i="1" dirty="0">
                        <a:solidFill>
                          <a:srgbClr val="FF0000"/>
                        </a:solidFill>
                        <a:latin typeface="Cambria Math" panose="02040503050406030204" pitchFamily="18" charset="0"/>
                        <a:ea typeface="微软雅黑" panose="020B0503020204020204" charset="-122"/>
                      </a:rPr>
                      <m:t>时间</m:t>
                    </m:r>
                    <m:r>
                      <m:rPr>
                        <m:nor/>
                      </m:rPr>
                      <a:rPr lang="en-US" altLang="zh-CN" sz="2000" b="1" dirty="0">
                        <a:solidFill>
                          <a:srgbClr val="FF0000"/>
                        </a:solidFill>
                        <a:latin typeface="微软雅黑" panose="020B0503020204020204" pitchFamily="34" charset="-122"/>
                        <a:ea typeface="微软雅黑" panose="020B0503020204020204" pitchFamily="34" charset="-122"/>
                      </a:rPr>
                      <m:t>t</m:t>
                    </m:r>
                  </m:oMath>
                </a14:m>
                <a:r>
                  <a:rPr lang="en-US" altLang="ko-KR" sz="2000" b="1" dirty="0">
                    <a:solidFill>
                      <a:srgbClr val="FF0000"/>
                    </a:solidFill>
                    <a:latin typeface="微软雅黑" panose="020B0503020204020204" pitchFamily="34" charset="-122"/>
                    <a:ea typeface="微软雅黑" panose="020B0503020204020204" pitchFamily="34" charset="-122"/>
                  </a:rPr>
                  <a:t>)=0</a:t>
                </a:r>
                <a:r>
                  <a:rPr lang="zh-CN" altLang="zh-CN" sz="2000" dirty="0">
                    <a:solidFill>
                      <a:srgbClr val="0070C0"/>
                    </a:solidFill>
                    <a:latin typeface="微软雅黑" panose="020B0503020204020204" pitchFamily="34" charset="-122"/>
                    <a:ea typeface="微软雅黑" panose="020B0503020204020204" pitchFamily="34" charset="-122"/>
                  </a:rPr>
                  <a:t>形式</a:t>
                </a:r>
                <a:r>
                  <a:rPr lang="en-US" altLang="zh-CN" sz="2000" dirty="0">
                    <a:solidFill>
                      <a:srgbClr val="0070C0"/>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再转化为向量下标表示形式</a:t>
                </a:r>
                <a:endParaRPr lang="ko-KR" altLang="en-US" sz="2000" dirty="0">
                  <a:solidFill>
                    <a:srgbClr val="0070C0"/>
                  </a:solidFill>
                  <a:latin typeface="微软雅黑" panose="020B0503020204020204" pitchFamily="34" charset="-122"/>
                  <a:ea typeface="微软雅黑" panose="020B0503020204020204" charset="-122"/>
                </a:endParaRPr>
              </a:p>
            </p:txBody>
          </p:sp>
        </mc:Choice>
        <mc:Fallback xmlns="">
          <p:sp>
            <p:nvSpPr>
              <p:cNvPr id="9" name="矩形 8"/>
              <p:cNvSpPr>
                <a:spLocks noRot="1" noChangeAspect="1" noMove="1" noResize="1" noEditPoints="1" noAdjustHandles="1" noChangeArrowheads="1" noChangeShapeType="1" noTextEdit="1"/>
              </p:cNvSpPr>
              <p:nvPr/>
            </p:nvSpPr>
            <p:spPr>
              <a:xfrm>
                <a:off x="539551" y="728659"/>
                <a:ext cx="8604449" cy="402931"/>
              </a:xfrm>
              <a:prstGeom prst="rect">
                <a:avLst/>
              </a:prstGeom>
              <a:blipFill>
                <a:blip r:embed="rId5"/>
                <a:stretch>
                  <a:fillRect l="-780" t="-7576" b="-27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90AF139B-24A3-4A18-AE2D-6B28FB86E66E}"/>
                  </a:ext>
                </a:extLst>
              </p:cNvPr>
              <p:cNvSpPr/>
              <p:nvPr/>
            </p:nvSpPr>
            <p:spPr>
              <a:xfrm>
                <a:off x="1278417" y="1105083"/>
                <a:ext cx="6428426" cy="891719"/>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d>
                        <m:dPr>
                          <m:begChr m:val="{"/>
                          <m:endChr m:val=""/>
                          <m:ctrlPr>
                            <a:rPr lang="es-ES" altLang="zh-CN" sz="2000" i="1" smtClean="0">
                              <a:solidFill>
                                <a:srgbClr val="000000"/>
                              </a:solidFill>
                              <a:latin typeface="Cambria Math" panose="02040503050406030204" pitchFamily="18" charset="0"/>
                            </a:rPr>
                          </m:ctrlPr>
                        </m:dPr>
                        <m:e>
                          <m:eqArr>
                            <m:eqArrPr>
                              <m:ctrlPr>
                                <a:rPr lang="es-ES" altLang="zh-CN" sz="2000" i="1" smtClean="0">
                                  <a:solidFill>
                                    <a:srgbClr val="000000"/>
                                  </a:solidFill>
                                  <a:latin typeface="Cambria Math" panose="02040503050406030204" pitchFamily="18" charset="0"/>
                                </a:rPr>
                              </m:ctrlPr>
                            </m:eqArrPr>
                            <m:e>
                              <m:r>
                                <a:rPr lang="en-US" altLang="zh-CN" sz="2000" b="0" i="1" smtClean="0">
                                  <a:solidFill>
                                    <a:srgbClr val="000000"/>
                                  </a:solidFill>
                                  <a:latin typeface="Cambria Math" panose="02040503050406030204" pitchFamily="18" charset="0"/>
                                </a:rPr>
                                <m:t>𝑥</m:t>
                              </m:r>
                              <m:r>
                                <a:rPr lang="zh-CN" altLang="en-US" sz="2000" i="1">
                                  <a:solidFill>
                                    <a:srgbClr val="000000"/>
                                  </a:solidFill>
                                  <a:latin typeface="Cambria Math" panose="02040503050406030204" pitchFamily="18" charset="0"/>
                                </a:rPr>
                                <m:t>方向</m:t>
                              </m:r>
                              <m:r>
                                <a:rPr lang="zh-CN" altLang="en-US" sz="2000" i="1" smtClean="0">
                                  <a:solidFill>
                                    <a:srgbClr val="000000"/>
                                  </a:solidFill>
                                  <a:latin typeface="Cambria Math" panose="02040503050406030204" pitchFamily="18" charset="0"/>
                                </a:rPr>
                                <m:t>方程</m:t>
                              </m:r>
                              <m:r>
                                <a:rPr lang="en-US" altLang="zh-CN" sz="2000" b="0" i="1" smtClean="0">
                                  <a:solidFill>
                                    <a:srgbClr val="000000"/>
                                  </a:solidFill>
                                  <a:latin typeface="Cambria Math" panose="02040503050406030204" pitchFamily="18" charset="0"/>
                                </a:rPr>
                                <m:t>:</m:t>
                              </m:r>
                              <m:r>
                                <m:rPr>
                                  <m:sty m:val="p"/>
                                </m:rPr>
                                <a:rPr lang="en-US" altLang="zh-CN" sz="2000" i="1">
                                  <a:solidFill>
                                    <a:srgbClr val="000000"/>
                                  </a:solidFill>
                                  <a:latin typeface="Cambria Math" panose="02040503050406030204" pitchFamily="18" charset="0"/>
                                </a:rPr>
                                <m:t>eq</m:t>
                              </m:r>
                              <m:r>
                                <a:rPr lang="en-US" altLang="zh-CN" sz="2000" b="0" i="1" smtClean="0">
                                  <a:solidFill>
                                    <a:srgbClr val="000000"/>
                                  </a:solidFill>
                                  <a:latin typeface="Cambria Math" panose="02040503050406030204" pitchFamily="18" charset="0"/>
                                </a:rPr>
                                <m:t>1</m:t>
                              </m:r>
                              <m:r>
                                <a:rPr lang="en-US" altLang="zh-CN" sz="2000" i="1">
                                  <a:solidFill>
                                    <a:srgbClr val="000000"/>
                                  </a:solidFill>
                                  <a:latin typeface="Cambria Math" panose="02040503050406030204" pitchFamily="18" charset="0"/>
                                </a:rPr>
                                <m:t>=</m:t>
                              </m:r>
                              <m:r>
                                <a:rPr lang="en-US" altLang="zh-CN" sz="2000" i="1" smtClean="0">
                                  <a:solidFill>
                                    <a:srgbClr val="000000"/>
                                  </a:solidFill>
                                  <a:latin typeface="Cambria Math" panose="02040503050406030204" pitchFamily="18" charset="0"/>
                                </a:rPr>
                                <m:t>2</m:t>
                              </m:r>
                              <m:r>
                                <a:rPr lang="en-US" altLang="zh-CN" sz="2000" b="0" i="1" smtClean="0">
                                  <a:solidFill>
                                    <a:srgbClr val="000000"/>
                                  </a:solidFill>
                                  <a:latin typeface="Cambria Math" panose="02040503050406030204" pitchFamily="18" charset="0"/>
                                </a:rPr>
                                <m:t>00∗</m:t>
                              </m:r>
                              <m:func>
                                <m:funcPr>
                                  <m:ctrlPr>
                                    <a:rPr lang="en-US" altLang="zh-CN" sz="2000" b="0" i="1" smtClean="0">
                                      <a:solidFill>
                                        <a:srgbClr val="000000"/>
                                      </a:solidFill>
                                      <a:latin typeface="Cambria Math" panose="02040503050406030204" pitchFamily="18" charset="0"/>
                                    </a:rPr>
                                  </m:ctrlPr>
                                </m:funcPr>
                                <m:fName>
                                  <m:r>
                                    <m:rPr>
                                      <m:sty m:val="p"/>
                                    </m:rPr>
                                    <a:rPr lang="en-US" altLang="zh-CN" sz="2000" b="0" i="0" smtClean="0">
                                      <a:solidFill>
                                        <a:srgbClr val="000000"/>
                                      </a:solidFill>
                                      <a:latin typeface="Cambria Math" panose="02040503050406030204" pitchFamily="18" charset="0"/>
                                    </a:rPr>
                                    <m:t>cos</m:t>
                                  </m:r>
                                </m:fName>
                                <m:e>
                                  <m:d>
                                    <m:dPr>
                                      <m:ctrlPr>
                                        <a:rPr lang="en-US" altLang="zh-CN" sz="2000" b="0" i="1" smtClean="0">
                                          <a:solidFill>
                                            <a:srgbClr val="000000"/>
                                          </a:solidFill>
                                          <a:latin typeface="Cambria Math" panose="02040503050406030204" pitchFamily="18" charset="0"/>
                                        </a:rPr>
                                      </m:ctrlPr>
                                    </m:dPr>
                                    <m:e>
                                      <m:r>
                                        <m:rPr>
                                          <m:nor/>
                                        </m:rPr>
                                        <a:rPr lang="en-US" altLang="zh-CN" sz="2000" b="0" i="1" dirty="0" smtClean="0"/>
                                        <m:t>a</m:t>
                                      </m:r>
                                    </m:e>
                                  </m:d>
                                </m:e>
                              </m:func>
                              <m:r>
                                <a:rPr lang="en-US" altLang="zh-CN" sz="2000" b="0" i="1" smtClean="0">
                                  <a:solidFill>
                                    <a:srgbClr val="000000"/>
                                  </a:solidFill>
                                  <a:latin typeface="Cambria Math" panose="02040503050406030204" pitchFamily="18" charset="0"/>
                                </a:rPr>
                                <m:t>∗</m:t>
                              </m:r>
                              <m:r>
                                <a:rPr lang="en-US" altLang="zh-CN" sz="2000" b="0" i="1" smtClean="0">
                                  <a:solidFill>
                                    <a:srgbClr val="000000"/>
                                  </a:solidFill>
                                  <a:latin typeface="Cambria Math" panose="02040503050406030204" pitchFamily="18" charset="0"/>
                                </a:rPr>
                                <m:t>𝑡</m:t>
                              </m:r>
                              <m:r>
                                <a:rPr lang="en-US" altLang="zh-CN" sz="2000" b="0" i="1" smtClean="0">
                                  <a:solidFill>
                                    <a:srgbClr val="000000"/>
                                  </a:solidFill>
                                  <a:latin typeface="Cambria Math" panose="02040503050406030204" pitchFamily="18" charset="0"/>
                                </a:rPr>
                                <m:t>−360=0</m:t>
                              </m:r>
                            </m:e>
                            <m:e>
                              <m:r>
                                <a:rPr lang="en-US" altLang="zh-CN" sz="2000" b="0" i="1" smtClean="0">
                                  <a:solidFill>
                                    <a:srgbClr val="000000"/>
                                  </a:solidFill>
                                  <a:latin typeface="Cambria Math" panose="02040503050406030204" pitchFamily="18" charset="0"/>
                                </a:rPr>
                                <m:t>𝑦</m:t>
                              </m:r>
                              <m:r>
                                <a:rPr lang="zh-CN" altLang="en-US" sz="2000" i="1">
                                  <a:solidFill>
                                    <a:srgbClr val="000000"/>
                                  </a:solidFill>
                                  <a:latin typeface="Cambria Math" panose="02040503050406030204" pitchFamily="18" charset="0"/>
                                </a:rPr>
                                <m:t>方向方程</m:t>
                              </m:r>
                              <m:r>
                                <a:rPr lang="en-US" altLang="zh-CN" sz="2000" b="0" i="1" smtClean="0">
                                  <a:solidFill>
                                    <a:srgbClr val="000000"/>
                                  </a:solidFill>
                                  <a:latin typeface="Cambria Math" panose="02040503050406030204" pitchFamily="18" charset="0"/>
                                </a:rPr>
                                <m:t>:</m:t>
                              </m:r>
                              <m:r>
                                <a:rPr lang="en-US" altLang="zh-CN" sz="2000" b="0" i="1" smtClean="0">
                                  <a:solidFill>
                                    <a:srgbClr val="000000"/>
                                  </a:solidFill>
                                  <a:latin typeface="Cambria Math" panose="02040503050406030204" pitchFamily="18" charset="0"/>
                                </a:rPr>
                                <m:t>𝑒𝑞</m:t>
                              </m:r>
                              <m:r>
                                <a:rPr lang="en-US" altLang="zh-CN" sz="2000" b="0" i="1" smtClean="0">
                                  <a:solidFill>
                                    <a:srgbClr val="000000"/>
                                  </a:solidFill>
                                  <a:latin typeface="Cambria Math" panose="02040503050406030204" pitchFamily="18" charset="0"/>
                                </a:rPr>
                                <m:t>2=200∗</m:t>
                              </m:r>
                              <m:func>
                                <m:funcPr>
                                  <m:ctrlPr>
                                    <a:rPr lang="en-US" altLang="zh-CN" sz="2000" i="1">
                                      <a:solidFill>
                                        <a:srgbClr val="000000"/>
                                      </a:solidFill>
                                      <a:latin typeface="Cambria Math" panose="02040503050406030204" pitchFamily="18" charset="0"/>
                                    </a:rPr>
                                  </m:ctrlPr>
                                </m:funcPr>
                                <m:fName>
                                  <m:r>
                                    <m:rPr>
                                      <m:sty m:val="p"/>
                                    </m:rPr>
                                    <a:rPr lang="en-US" altLang="zh-CN" sz="2000" b="0" i="0" smtClean="0">
                                      <a:solidFill>
                                        <a:srgbClr val="000000"/>
                                      </a:solidFill>
                                      <a:latin typeface="Cambria Math" panose="02040503050406030204" pitchFamily="18" charset="0"/>
                                    </a:rPr>
                                    <m:t>sin</m:t>
                                  </m:r>
                                </m:fName>
                                <m:e>
                                  <m:d>
                                    <m:dPr>
                                      <m:ctrlPr>
                                        <a:rPr lang="en-US" altLang="zh-CN" sz="2000" i="1">
                                          <a:solidFill>
                                            <a:srgbClr val="000000"/>
                                          </a:solidFill>
                                          <a:latin typeface="Cambria Math" panose="02040503050406030204" pitchFamily="18" charset="0"/>
                                        </a:rPr>
                                      </m:ctrlPr>
                                    </m:dPr>
                                    <m:e>
                                      <m:r>
                                        <a:rPr lang="en-US" altLang="zh-CN" sz="2000" b="0" i="1" smtClean="0">
                                          <a:solidFill>
                                            <a:srgbClr val="000000"/>
                                          </a:solidFill>
                                          <a:latin typeface="Cambria Math" panose="02040503050406030204" pitchFamily="18" charset="0"/>
                                        </a:rPr>
                                        <m:t>𝑎</m:t>
                                      </m:r>
                                    </m:e>
                                  </m:d>
                                </m:e>
                              </m:func>
                              <m:r>
                                <a:rPr lang="en-US" altLang="zh-CN" sz="2000" i="1">
                                  <a:solidFill>
                                    <a:srgbClr val="000000"/>
                                  </a:solidFill>
                                  <a:latin typeface="Cambria Math" panose="02040503050406030204" pitchFamily="18" charset="0"/>
                                </a:rPr>
                                <m:t>∗</m:t>
                              </m:r>
                              <m:r>
                                <a:rPr lang="en-US" altLang="zh-CN" sz="2000" i="1">
                                  <a:solidFill>
                                    <a:srgbClr val="000000"/>
                                  </a:solidFill>
                                  <a:latin typeface="Cambria Math" panose="02040503050406030204" pitchFamily="18" charset="0"/>
                                </a:rPr>
                                <m:t>𝑡</m:t>
                              </m:r>
                              <m:r>
                                <a:rPr lang="en-US" altLang="zh-CN" sz="2000" b="0" i="1" smtClean="0">
                                  <a:solidFill>
                                    <a:srgbClr val="000000"/>
                                  </a:solidFill>
                                  <a:latin typeface="Cambria Math" panose="02040503050406030204" pitchFamily="18" charset="0"/>
                                </a:rPr>
                                <m:t>−4.905</m:t>
                              </m:r>
                              <m:sSup>
                                <m:sSupPr>
                                  <m:ctrlPr>
                                    <a:rPr lang="es-ES" altLang="zh-CN" sz="2000" i="1" smtClean="0">
                                      <a:solidFill>
                                        <a:srgbClr val="000000"/>
                                      </a:solidFill>
                                      <a:latin typeface="Cambria Math" panose="02040503050406030204" pitchFamily="18" charset="0"/>
                                    </a:rPr>
                                  </m:ctrlPr>
                                </m:sSupPr>
                                <m:e>
                                  <m:r>
                                    <a:rPr lang="en-US" altLang="zh-CN" sz="2000" b="0" i="1" smtClean="0">
                                      <a:solidFill>
                                        <a:srgbClr val="000000"/>
                                      </a:solidFill>
                                      <a:latin typeface="Cambria Math" panose="02040503050406030204" pitchFamily="18" charset="0"/>
                                    </a:rPr>
                                    <m:t>𝑡</m:t>
                                  </m:r>
                                </m:e>
                                <m:sup>
                                  <m:r>
                                    <a:rPr lang="en-US" altLang="zh-CN" sz="2000" b="0" i="1" smtClean="0">
                                      <a:solidFill>
                                        <a:srgbClr val="000000"/>
                                      </a:solidFill>
                                      <a:latin typeface="Cambria Math" panose="02040503050406030204" pitchFamily="18" charset="0"/>
                                    </a:rPr>
                                    <m:t>2</m:t>
                                  </m:r>
                                </m:sup>
                              </m:sSup>
                              <m:r>
                                <a:rPr lang="en-US" altLang="zh-CN" sz="2000" b="0" i="1" smtClean="0">
                                  <a:solidFill>
                                    <a:srgbClr val="000000"/>
                                  </a:solidFill>
                                  <a:latin typeface="Cambria Math" panose="02040503050406030204" pitchFamily="18" charset="0"/>
                                </a:rPr>
                                <m:t>−160=0</m:t>
                              </m:r>
                            </m:e>
                          </m:eqArr>
                        </m:e>
                      </m:d>
                    </m:oMath>
                  </m:oMathPara>
                </a14:m>
                <a:endParaRPr lang="zh-CN" altLang="en-US" sz="2000" dirty="0"/>
              </a:p>
            </p:txBody>
          </p:sp>
        </mc:Choice>
        <mc:Fallback xmlns="">
          <p:sp>
            <p:nvSpPr>
              <p:cNvPr id="2" name="矩形 1">
                <a:extLst>
                  <a:ext uri="{FF2B5EF4-FFF2-40B4-BE49-F238E27FC236}">
                    <a16:creationId xmlns:a16="http://schemas.microsoft.com/office/drawing/2014/main" id="{90AF139B-24A3-4A18-AE2D-6B28FB86E66E}"/>
                  </a:ext>
                </a:extLst>
              </p:cNvPr>
              <p:cNvSpPr>
                <a:spLocks noRot="1" noChangeAspect="1" noMove="1" noResize="1" noEditPoints="1" noAdjustHandles="1" noChangeArrowheads="1" noChangeShapeType="1" noTextEdit="1"/>
              </p:cNvSpPr>
              <p:nvPr/>
            </p:nvSpPr>
            <p:spPr>
              <a:xfrm>
                <a:off x="1278417" y="1105083"/>
                <a:ext cx="6428426" cy="891719"/>
              </a:xfrm>
              <a:prstGeom prst="rect">
                <a:avLst/>
              </a:prstGeom>
              <a:blipFill>
                <a:blip r:embed="rId6"/>
                <a:stretch>
                  <a:fillRect/>
                </a:stretch>
              </a:blipFill>
            </p:spPr>
            <p:txBody>
              <a:bodyPr/>
              <a:lstStyle/>
              <a:p>
                <a:r>
                  <a:rPr lang="zh-CN" altLang="en-US">
                    <a:noFill/>
                  </a:rPr>
                  <a:t> </a:t>
                </a:r>
              </a:p>
            </p:txBody>
          </p:sp>
        </mc:Fallback>
      </mc:AlternateContent>
      <p:sp>
        <p:nvSpPr>
          <p:cNvPr id="29" name="TextBox 1"/>
          <p:cNvSpPr txBox="1"/>
          <p:nvPr/>
        </p:nvSpPr>
        <p:spPr>
          <a:xfrm>
            <a:off x="454002" y="1960961"/>
            <a:ext cx="8438478" cy="364053"/>
          </a:xfrm>
          <a:prstGeom prst="rect">
            <a:avLst/>
          </a:prstGeom>
          <a:noFill/>
        </p:spPr>
        <p:txBody>
          <a:bodyPr vert="horz" wrap="square" lIns="0" tIns="0" rIns="0" bIns="0" numCol="1" anchor="t">
            <a:noAutofit/>
          </a:bodyPr>
          <a:lstStyle>
            <a:defPPr>
              <a:defRPr lang="zh-CN"/>
            </a:defPPr>
            <a:lvl1pPr defTabSz="63500" eaLnBrk="0" fontAlgn="auto" latinLnBrk="0">
              <a:lnSpc>
                <a:spcPct val="150000"/>
              </a:lnSpc>
              <a:spcBef>
                <a:spcPts val="800"/>
              </a:spcBef>
              <a:spcAft>
                <a:spcPts val="0"/>
              </a:spcAft>
              <a:defRPr b="1" cap="none">
                <a:solidFill>
                  <a:srgbClr val="FFFFFF"/>
                </a:solidFill>
                <a:latin typeface="微软雅黑" panose="020B0503020204020204" pitchFamily="34" charset="-122"/>
                <a:ea typeface="微软雅黑" panose="020B0503020204020204" pitchFamily="34" charset="-122"/>
              </a:defRPr>
            </a:lvl1pPr>
            <a:lvl2pPr algn="ctr" eaLnBrk="0" hangingPunct="0">
              <a:defRPr sz="4400">
                <a:solidFill>
                  <a:schemeClr val="tx2"/>
                </a:solidFill>
                <a:ea typeface="楷体_GB2312" pitchFamily="49" charset="-122"/>
                <a:sym typeface="Arial" panose="020B0604020202020204" pitchFamily="34" charset="0"/>
              </a:defRPr>
            </a:lvl2pPr>
            <a:lvl3pPr algn="ctr" eaLnBrk="0" hangingPunct="0">
              <a:defRPr sz="4400">
                <a:solidFill>
                  <a:schemeClr val="tx2"/>
                </a:solidFill>
                <a:ea typeface="楷体_GB2312" pitchFamily="49" charset="-122"/>
                <a:sym typeface="Arial" panose="020B0604020202020204" pitchFamily="34" charset="0"/>
              </a:defRPr>
            </a:lvl3pPr>
            <a:lvl4pPr algn="ctr" eaLnBrk="0" hangingPunct="0">
              <a:defRPr sz="4400">
                <a:solidFill>
                  <a:schemeClr val="tx2"/>
                </a:solidFill>
                <a:ea typeface="楷体_GB2312" pitchFamily="49" charset="-122"/>
                <a:sym typeface="Arial" panose="020B0604020202020204" pitchFamily="34" charset="0"/>
              </a:defRPr>
            </a:lvl4pPr>
            <a:lvl5pPr algn="ctr" eaLnBrk="0" hangingPunct="0">
              <a:defRPr sz="4400">
                <a:solidFill>
                  <a:schemeClr val="tx2"/>
                </a:solidFill>
                <a:ea typeface="楷体_GB2312" pitchFamily="49" charset="-122"/>
                <a:sym typeface="Arial" panose="020B0604020202020204" pitchFamily="34" charset="0"/>
              </a:defRPr>
            </a:lvl5pPr>
            <a:lvl6pPr marL="457200" algn="ctr" fontAlgn="base">
              <a:spcBef>
                <a:spcPct val="0"/>
              </a:spcBef>
              <a:spcAft>
                <a:spcPct val="0"/>
              </a:spcAft>
              <a:defRPr sz="4400">
                <a:solidFill>
                  <a:schemeClr val="tx2"/>
                </a:solidFill>
                <a:ea typeface="楷体_GB2312" pitchFamily="49" charset="-122"/>
                <a:sym typeface="Arial" panose="020B0604020202020204" pitchFamily="34" charset="0"/>
              </a:defRPr>
            </a:lvl6pPr>
            <a:lvl7pPr marL="914400" algn="ctr" fontAlgn="base">
              <a:spcBef>
                <a:spcPct val="0"/>
              </a:spcBef>
              <a:spcAft>
                <a:spcPct val="0"/>
              </a:spcAft>
              <a:defRPr sz="4400">
                <a:solidFill>
                  <a:schemeClr val="tx2"/>
                </a:solidFill>
                <a:ea typeface="楷体_GB2312" pitchFamily="49" charset="-122"/>
                <a:sym typeface="Arial" panose="020B0604020202020204" pitchFamily="34" charset="0"/>
              </a:defRPr>
            </a:lvl7pPr>
            <a:lvl8pPr marL="1371600" algn="ctr" fontAlgn="base">
              <a:spcBef>
                <a:spcPct val="0"/>
              </a:spcBef>
              <a:spcAft>
                <a:spcPct val="0"/>
              </a:spcAft>
              <a:defRPr sz="4400">
                <a:solidFill>
                  <a:schemeClr val="tx2"/>
                </a:solidFill>
                <a:ea typeface="楷体_GB2312" pitchFamily="49" charset="-122"/>
                <a:sym typeface="Arial" panose="020B0604020202020204" pitchFamily="34" charset="0"/>
              </a:defRPr>
            </a:lvl8pPr>
            <a:lvl9pPr marL="1828800" algn="ctr" fontAlgn="base">
              <a:spcBef>
                <a:spcPct val="0"/>
              </a:spcBef>
              <a:spcAft>
                <a:spcPct val="0"/>
              </a:spcAft>
              <a:defRPr sz="4400">
                <a:solidFill>
                  <a:schemeClr val="tx2"/>
                </a:solidFill>
                <a:ea typeface="楷体_GB2312" pitchFamily="49" charset="-122"/>
                <a:sym typeface="Arial" panose="020B0604020202020204" pitchFamily="34" charset="0"/>
              </a:defRPr>
            </a:lvl9pPr>
          </a:lstStyle>
          <a:p>
            <a:pPr algn="dist"/>
            <a:r>
              <a:rPr lang="zh-CN" altLang="en-US" sz="2000" b="0" dirty="0">
                <a:solidFill>
                  <a:srgbClr val="0070C0"/>
                </a:solidFill>
              </a:rPr>
              <a:t>建立用单下标索引表示向量元素的水平和垂直位移的非线性</a:t>
            </a:r>
            <a:r>
              <a:rPr lang="en-US" altLang="ko-KR" sz="2000" b="0" dirty="0" err="1">
                <a:solidFill>
                  <a:srgbClr val="0070C0"/>
                </a:solidFill>
              </a:rPr>
              <a:t>方程组</a:t>
            </a:r>
            <a:endParaRPr lang="ko-KR" altLang="en-US" sz="2000" b="0" dirty="0">
              <a:solidFill>
                <a:srgbClr val="0070C0"/>
              </a:solidFill>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5D304077-6E24-4ADB-C2E3-22765530D0BB}"/>
                  </a:ext>
                </a:extLst>
              </p:cNvPr>
              <p:cNvSpPr/>
              <p:nvPr/>
            </p:nvSpPr>
            <p:spPr>
              <a:xfrm>
                <a:off x="354391" y="3903432"/>
                <a:ext cx="4177840" cy="710194"/>
              </a:xfrm>
              <a:prstGeom prst="rect">
                <a:avLst/>
              </a:prstGeom>
              <a:solidFill>
                <a:schemeClr val="bg1"/>
              </a:solidFill>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s-ES" altLang="zh-CN" i="1" smtClean="0">
                              <a:solidFill>
                                <a:srgbClr val="000000"/>
                              </a:solidFill>
                              <a:latin typeface="Cambria Math" panose="02040503050406030204" pitchFamily="18" charset="0"/>
                            </a:rPr>
                          </m:ctrlPr>
                        </m:dPr>
                        <m:e>
                          <m:eqArr>
                            <m:eqArrPr>
                              <m:ctrlPr>
                                <a:rPr lang="fr-FR" altLang="zh-CN" i="1">
                                  <a:latin typeface="Cambria Math" panose="02040503050406030204" pitchFamily="18" charset="0"/>
                                </a:rPr>
                              </m:ctrlPr>
                            </m:eqArrPr>
                            <m:e>
                              <m:r>
                                <m:rPr>
                                  <m:nor/>
                                </m:rPr>
                                <a:rPr lang="fr-FR" altLang="zh-CN"/>
                                <m:t>eq</m:t>
                              </m:r>
                              <m:r>
                                <m:rPr>
                                  <m:nor/>
                                </m:rPr>
                                <a:rPr lang="fr-FR" altLang="zh-CN"/>
                                <m:t>1=200∗</m:t>
                              </m:r>
                              <m:r>
                                <m:rPr>
                                  <m:nor/>
                                </m:rPr>
                                <a:rPr lang="fr-FR" altLang="zh-CN"/>
                                <m:t>cos</m:t>
                              </m:r>
                              <m:r>
                                <m:rPr>
                                  <m:nor/>
                                </m:rPr>
                                <a:rPr lang="fr-FR" altLang="zh-CN"/>
                                <m:t>(</m:t>
                              </m:r>
                              <m:r>
                                <m:rPr>
                                  <m:nor/>
                                </m:rPr>
                                <a:rPr lang="fr-FR" altLang="zh-CN"/>
                                <m:t>a</m:t>
                              </m:r>
                              <m:r>
                                <m:rPr>
                                  <m:nor/>
                                </m:rPr>
                                <a:rPr lang="fr-FR" altLang="zh-CN"/>
                                <m:t>)∗</m:t>
                              </m:r>
                              <m:r>
                                <m:rPr>
                                  <m:nor/>
                                </m:rPr>
                                <a:rPr lang="fr-FR" altLang="zh-CN"/>
                                <m:t>t</m:t>
                              </m:r>
                              <m:r>
                                <m:rPr>
                                  <m:nor/>
                                </m:rPr>
                                <a:rPr lang="fr-FR" altLang="zh-CN"/>
                                <m:t>−360;</m:t>
                              </m:r>
                            </m:e>
                            <m:e>
                              <m:r>
                                <m:rPr>
                                  <m:nor/>
                                </m:rPr>
                                <a:rPr lang="fr-FR" altLang="zh-CN"/>
                                <m:t> </m:t>
                              </m:r>
                              <m:r>
                                <m:rPr>
                                  <m:nor/>
                                </m:rPr>
                                <a:rPr lang="fr-FR" altLang="zh-CN"/>
                                <m:t>eq</m:t>
                              </m:r>
                              <m:r>
                                <m:rPr>
                                  <m:nor/>
                                </m:rPr>
                                <a:rPr lang="fr-FR" altLang="zh-CN"/>
                                <m:t>2=200∗</m:t>
                              </m:r>
                              <m:r>
                                <m:rPr>
                                  <m:nor/>
                                </m:rPr>
                                <a:rPr lang="fr-FR" altLang="zh-CN"/>
                                <m:t>sin</m:t>
                              </m:r>
                              <m:r>
                                <m:rPr>
                                  <m:nor/>
                                </m:rPr>
                                <a:rPr lang="fr-FR" altLang="zh-CN"/>
                                <m:t>(</m:t>
                              </m:r>
                              <m:r>
                                <m:rPr>
                                  <m:nor/>
                                </m:rPr>
                                <a:rPr lang="fr-FR" altLang="zh-CN"/>
                                <m:t>a</m:t>
                              </m:r>
                              <m:r>
                                <m:rPr>
                                  <m:nor/>
                                </m:rPr>
                                <a:rPr lang="fr-FR" altLang="zh-CN"/>
                                <m:t>)∗</m:t>
                              </m:r>
                              <m:r>
                                <m:rPr>
                                  <m:nor/>
                                </m:rPr>
                                <a:rPr lang="fr-FR" altLang="zh-CN"/>
                                <m:t>t</m:t>
                              </m:r>
                              <m:r>
                                <m:rPr>
                                  <m:nor/>
                                </m:rPr>
                                <a:rPr lang="fr-FR" altLang="zh-CN"/>
                                <m:t>−4.905∗</m:t>
                              </m:r>
                              <m:r>
                                <m:rPr>
                                  <m:nor/>
                                </m:rPr>
                                <a:rPr lang="fr-FR" altLang="zh-CN"/>
                                <m:t>t</m:t>
                              </m:r>
                              <m:r>
                                <m:rPr>
                                  <m:nor/>
                                </m:rPr>
                                <a:rPr lang="fr-FR" altLang="zh-CN"/>
                                <m:t>^2−160 </m:t>
                              </m:r>
                            </m:e>
                          </m:eqArr>
                        </m:e>
                      </m:d>
                    </m:oMath>
                  </m:oMathPara>
                </a14:m>
                <a:endParaRPr lang="zh-CN" altLang="en-US" dirty="0"/>
              </a:p>
            </p:txBody>
          </p:sp>
        </mc:Choice>
        <mc:Fallback xmlns="">
          <p:sp>
            <p:nvSpPr>
              <p:cNvPr id="5" name="矩形 4">
                <a:extLst>
                  <a:ext uri="{FF2B5EF4-FFF2-40B4-BE49-F238E27FC236}">
                    <a16:creationId xmlns:a16="http://schemas.microsoft.com/office/drawing/2014/main" id="{5D304077-6E24-4ADB-C2E3-22765530D0BB}"/>
                  </a:ext>
                </a:extLst>
              </p:cNvPr>
              <p:cNvSpPr>
                <a:spLocks noRot="1" noChangeAspect="1" noMove="1" noResize="1" noEditPoints="1" noAdjustHandles="1" noChangeArrowheads="1" noChangeShapeType="1" noTextEdit="1"/>
              </p:cNvSpPr>
              <p:nvPr/>
            </p:nvSpPr>
            <p:spPr>
              <a:xfrm>
                <a:off x="354391" y="3903432"/>
                <a:ext cx="4177840" cy="71019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B249D4C7-99A9-E14E-4DAA-75D090E29972}"/>
                  </a:ext>
                </a:extLst>
              </p:cNvPr>
              <p:cNvSpPr/>
              <p:nvPr/>
            </p:nvSpPr>
            <p:spPr>
              <a:xfrm>
                <a:off x="4572000" y="3847666"/>
                <a:ext cx="4572000" cy="641586"/>
              </a:xfrm>
              <a:prstGeom prst="rect">
                <a:avLst/>
              </a:prstGeom>
              <a:solidFill>
                <a:schemeClr val="bg1"/>
              </a:solidFill>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s-ES" altLang="zh-CN" sz="1600" i="1" smtClean="0">
                              <a:solidFill>
                                <a:srgbClr val="000000"/>
                              </a:solidFill>
                              <a:latin typeface="Cambria Math" panose="02040503050406030204" pitchFamily="18" charset="0"/>
                            </a:rPr>
                          </m:ctrlPr>
                        </m:dPr>
                        <m:e>
                          <m:eqArr>
                            <m:eqArrPr>
                              <m:ctrlPr>
                                <a:rPr lang="da-DK" altLang="zh-CN" sz="1600" i="1">
                                  <a:latin typeface="Cambria Math" panose="02040503050406030204" pitchFamily="18" charset="0"/>
                                </a:rPr>
                              </m:ctrlPr>
                            </m:eqArrPr>
                            <m:e>
                              <m:r>
                                <m:rPr>
                                  <m:nor/>
                                </m:rPr>
                                <a:rPr lang="da-DK" altLang="zh-CN" sz="1600"/>
                                <m:t>eq</m:t>
                              </m:r>
                              <m:r>
                                <m:rPr>
                                  <m:nor/>
                                </m:rPr>
                                <a:rPr lang="en-US" altLang="zh-CN" sz="1600" b="0" i="0" smtClean="0"/>
                                <m:t>[</m:t>
                              </m:r>
                              <m:r>
                                <m:rPr>
                                  <m:nor/>
                                </m:rPr>
                                <a:rPr lang="da-DK" altLang="zh-CN" sz="1600"/>
                                <m:t>1</m:t>
                              </m:r>
                              <m:r>
                                <m:rPr>
                                  <m:nor/>
                                </m:rPr>
                                <a:rPr lang="en-US" altLang="zh-CN" sz="1600" b="0" i="0" smtClean="0"/>
                                <m:t>]</m:t>
                              </m:r>
                              <m:r>
                                <m:rPr>
                                  <m:nor/>
                                </m:rPr>
                                <a:rPr lang="da-DK" altLang="zh-CN" sz="1600"/>
                                <m:t>=200∗</m:t>
                              </m:r>
                              <m:r>
                                <m:rPr>
                                  <m:nor/>
                                </m:rPr>
                                <a:rPr lang="da-DK" altLang="zh-CN" sz="1600"/>
                                <m:t>cos</m:t>
                              </m:r>
                              <m:r>
                                <m:rPr>
                                  <m:nor/>
                                </m:rPr>
                                <a:rPr lang="da-DK" altLang="zh-CN" sz="1600"/>
                                <m:t>(</m:t>
                              </m:r>
                              <m:r>
                                <m:rPr>
                                  <m:nor/>
                                </m:rPr>
                                <a:rPr lang="da-DK" altLang="zh-CN" sz="1600"/>
                                <m:t>at</m:t>
                              </m:r>
                              <m:r>
                                <m:rPr>
                                  <m:nor/>
                                </m:rPr>
                                <a:rPr lang="en-US" altLang="zh-CN" sz="1600" b="0" i="0" smtClean="0"/>
                                <m:t>[</m:t>
                              </m:r>
                              <m:r>
                                <m:rPr>
                                  <m:nor/>
                                </m:rPr>
                                <a:rPr lang="da-DK" altLang="zh-CN" sz="1600"/>
                                <m:t>1</m:t>
                              </m:r>
                              <m:r>
                                <m:rPr>
                                  <m:nor/>
                                </m:rPr>
                                <a:rPr lang="en-US" altLang="zh-CN" sz="1600" b="0" i="0" smtClean="0"/>
                                <m:t>]</m:t>
                              </m:r>
                              <m:r>
                                <m:rPr>
                                  <m:nor/>
                                </m:rPr>
                                <a:rPr lang="da-DK" altLang="zh-CN" sz="1600"/>
                                <m:t>)∗</m:t>
                              </m:r>
                              <m:r>
                                <m:rPr>
                                  <m:nor/>
                                </m:rPr>
                                <a:rPr lang="da-DK" altLang="zh-CN" sz="1600"/>
                                <m:t>at</m:t>
                              </m:r>
                              <m:r>
                                <m:rPr>
                                  <m:nor/>
                                </m:rPr>
                                <a:rPr lang="en-US" altLang="zh-CN" sz="1600" b="0" i="0" smtClean="0"/>
                                <m:t>[</m:t>
                              </m:r>
                              <m:r>
                                <m:rPr>
                                  <m:nor/>
                                </m:rPr>
                                <a:rPr lang="da-DK" altLang="zh-CN" sz="1600"/>
                                <m:t>2</m:t>
                              </m:r>
                              <m:r>
                                <m:rPr>
                                  <m:nor/>
                                </m:rPr>
                                <a:rPr lang="en-US" altLang="zh-CN" sz="1600" b="0" i="0" smtClean="0"/>
                                <m:t>]</m:t>
                              </m:r>
                              <m:r>
                                <m:rPr>
                                  <m:nor/>
                                </m:rPr>
                                <a:rPr lang="da-DK" altLang="zh-CN" sz="1600"/>
                                <m:t>−360;</m:t>
                              </m:r>
                            </m:e>
                            <m:e>
                              <m:r>
                                <m:rPr>
                                  <m:nor/>
                                </m:rPr>
                                <a:rPr lang="da-DK" altLang="zh-CN" sz="1600"/>
                                <m:t> </m:t>
                              </m:r>
                              <m:r>
                                <m:rPr>
                                  <m:nor/>
                                </m:rPr>
                                <a:rPr lang="da-DK" altLang="zh-CN" sz="1600"/>
                                <m:t>eq</m:t>
                              </m:r>
                              <m:r>
                                <m:rPr>
                                  <m:nor/>
                                </m:rPr>
                                <a:rPr lang="da-DK" altLang="zh-CN" sz="1600"/>
                                <m:t>(2)=200∗</m:t>
                              </m:r>
                              <m:r>
                                <m:rPr>
                                  <m:nor/>
                                </m:rPr>
                                <a:rPr lang="da-DK" altLang="zh-CN" sz="1600"/>
                                <m:t>sin</m:t>
                              </m:r>
                              <m:r>
                                <m:rPr>
                                  <m:nor/>
                                </m:rPr>
                                <a:rPr lang="da-DK" altLang="zh-CN" sz="1600"/>
                                <m:t>(</m:t>
                              </m:r>
                              <m:r>
                                <m:rPr>
                                  <m:nor/>
                                </m:rPr>
                                <a:rPr lang="da-DK" altLang="zh-CN" sz="1600"/>
                                <m:t>at</m:t>
                              </m:r>
                              <m:r>
                                <m:rPr>
                                  <m:nor/>
                                </m:rPr>
                                <a:rPr lang="en-US" altLang="zh-CN" sz="1600" b="0" i="0" smtClean="0"/>
                                <m:t>[</m:t>
                              </m:r>
                              <m:r>
                                <m:rPr>
                                  <m:nor/>
                                </m:rPr>
                                <a:rPr lang="da-DK" altLang="zh-CN" sz="1600"/>
                                <m:t>1</m:t>
                              </m:r>
                              <m:r>
                                <m:rPr>
                                  <m:nor/>
                                </m:rPr>
                                <a:rPr lang="en-US" altLang="zh-CN" sz="1600" b="0" i="0" smtClean="0"/>
                                <m:t>]</m:t>
                              </m:r>
                              <m:r>
                                <m:rPr>
                                  <m:nor/>
                                </m:rPr>
                                <a:rPr lang="da-DK" altLang="zh-CN" sz="1600"/>
                                <m:t>)∗</m:t>
                              </m:r>
                              <m:r>
                                <m:rPr>
                                  <m:nor/>
                                </m:rPr>
                                <a:rPr lang="da-DK" altLang="zh-CN" sz="1600"/>
                                <m:t>at</m:t>
                              </m:r>
                              <m:r>
                                <m:rPr>
                                  <m:nor/>
                                </m:rPr>
                                <a:rPr lang="en-US" altLang="zh-CN" sz="1600" b="0" i="0" smtClean="0"/>
                                <m:t>[</m:t>
                              </m:r>
                              <m:r>
                                <m:rPr>
                                  <m:nor/>
                                </m:rPr>
                                <a:rPr lang="da-DK" altLang="zh-CN" sz="1600"/>
                                <m:t>2</m:t>
                              </m:r>
                              <m:r>
                                <m:rPr>
                                  <m:nor/>
                                </m:rPr>
                                <a:rPr lang="en-US" altLang="zh-CN" sz="1600" b="0" i="0" smtClean="0"/>
                                <m:t>]</m:t>
                              </m:r>
                              <m:r>
                                <m:rPr>
                                  <m:nor/>
                                </m:rPr>
                                <a:rPr lang="da-DK" altLang="zh-CN" sz="1600"/>
                                <m:t>−4.905∗</m:t>
                              </m:r>
                              <m:r>
                                <m:rPr>
                                  <m:nor/>
                                </m:rPr>
                                <a:rPr lang="da-DK" altLang="zh-CN" sz="1600"/>
                                <m:t>at</m:t>
                              </m:r>
                              <m:r>
                                <m:rPr>
                                  <m:nor/>
                                </m:rPr>
                                <a:rPr lang="en-US" altLang="zh-CN" sz="1600" b="0" i="0" smtClean="0"/>
                                <m:t>[</m:t>
                              </m:r>
                              <m:r>
                                <m:rPr>
                                  <m:nor/>
                                </m:rPr>
                                <a:rPr lang="da-DK" altLang="zh-CN" sz="1600"/>
                                <m:t>2</m:t>
                              </m:r>
                              <m:r>
                                <m:rPr>
                                  <m:nor/>
                                </m:rPr>
                                <a:rPr lang="en-US" altLang="zh-CN" sz="1600" b="0" i="0" smtClean="0"/>
                                <m:t>]</m:t>
                              </m:r>
                              <m:r>
                                <m:rPr>
                                  <m:nor/>
                                </m:rPr>
                                <a:rPr lang="da-DK" altLang="zh-CN" sz="1600"/>
                                <m:t>^2−160 </m:t>
                              </m:r>
                            </m:e>
                          </m:eqArr>
                        </m:e>
                      </m:d>
                    </m:oMath>
                  </m:oMathPara>
                </a14:m>
                <a:endParaRPr lang="zh-CN" altLang="en-US" sz="1600" dirty="0"/>
              </a:p>
            </p:txBody>
          </p:sp>
        </mc:Choice>
        <mc:Fallback xmlns="">
          <p:sp>
            <p:nvSpPr>
              <p:cNvPr id="6" name="矩形 5">
                <a:extLst>
                  <a:ext uri="{FF2B5EF4-FFF2-40B4-BE49-F238E27FC236}">
                    <a16:creationId xmlns:a16="http://schemas.microsoft.com/office/drawing/2014/main" id="{B249D4C7-99A9-E14E-4DAA-75D090E29972}"/>
                  </a:ext>
                </a:extLst>
              </p:cNvPr>
              <p:cNvSpPr>
                <a:spLocks noRot="1" noChangeAspect="1" noMove="1" noResize="1" noEditPoints="1" noAdjustHandles="1" noChangeArrowheads="1" noChangeShapeType="1" noTextEdit="1"/>
              </p:cNvSpPr>
              <p:nvPr/>
            </p:nvSpPr>
            <p:spPr>
              <a:xfrm>
                <a:off x="4572000" y="3847666"/>
                <a:ext cx="4572000" cy="641586"/>
              </a:xfrm>
              <a:prstGeom prst="rect">
                <a:avLst/>
              </a:prstGeom>
              <a:blipFill>
                <a:blip r:embed="rId8"/>
                <a:stretch>
                  <a:fillRect/>
                </a:stretch>
              </a:blipFill>
            </p:spPr>
            <p:txBody>
              <a:bodyPr/>
              <a:lstStyle/>
              <a:p>
                <a:r>
                  <a:rPr lang="zh-CN" altLang="en-US">
                    <a:noFill/>
                  </a:rPr>
                  <a:t> </a:t>
                </a:r>
              </a:p>
            </p:txBody>
          </p:sp>
        </mc:Fallback>
      </mc:AlternateContent>
      <p:sp>
        <p:nvSpPr>
          <p:cNvPr id="3" name="箭头: 右 2">
            <a:extLst>
              <a:ext uri="{FF2B5EF4-FFF2-40B4-BE49-F238E27FC236}">
                <a16:creationId xmlns:a16="http://schemas.microsoft.com/office/drawing/2014/main" id="{F077C2B4-EA7C-4E39-B8A6-88FA9784C145}"/>
              </a:ext>
            </a:extLst>
          </p:cNvPr>
          <p:cNvSpPr/>
          <p:nvPr/>
        </p:nvSpPr>
        <p:spPr>
          <a:xfrm>
            <a:off x="4211960" y="3937736"/>
            <a:ext cx="371484" cy="523220"/>
          </a:xfrm>
          <a:prstGeom prst="rightArrow">
            <a:avLst/>
          </a:prstGeom>
          <a:noFill/>
          <a:ln>
            <a:solidFill>
              <a:srgbClr val="FF0000"/>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Rectangle 1">
            <a:extLst>
              <a:ext uri="{FF2B5EF4-FFF2-40B4-BE49-F238E27FC236}">
                <a16:creationId xmlns:a16="http://schemas.microsoft.com/office/drawing/2014/main" id="{0D0FF164-5CC3-8CFD-041F-4BBF805DBFDD}"/>
              </a:ext>
            </a:extLst>
          </p:cNvPr>
          <p:cNvSpPr>
            <a:spLocks noChangeArrowheads="1"/>
          </p:cNvSpPr>
          <p:nvPr/>
        </p:nvSpPr>
        <p:spPr bwMode="auto">
          <a:xfrm>
            <a:off x="4814333" y="2464691"/>
            <a:ext cx="17459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404040"/>
                </a:solidFill>
                <a:effectLst/>
                <a:latin typeface="微软雅黑" panose="020B0503020204020204" pitchFamily="34" charset="-122"/>
                <a:ea typeface="微软雅黑" panose="020B0503020204020204" pitchFamily="34" charset="-122"/>
              </a:rPr>
              <a:t> </a:t>
            </a:r>
            <a:r>
              <a:rPr kumimoji="0" lang="zh-CN" altLang="zh-CN" sz="2000" b="0" i="0" u="none" strike="noStrike" cap="none" normalizeH="0" baseline="0" dirty="0">
                <a:ln>
                  <a:noFill/>
                </a:ln>
                <a:solidFill>
                  <a:srgbClr val="404040"/>
                </a:solidFill>
                <a:effectLst/>
                <a:ea typeface="STIXGeneral"/>
              </a:rPr>
              <a:t>                    </a:t>
            </a:r>
            <a:r>
              <a:rPr kumimoji="0" lang="zh-CN" altLang="zh-CN" sz="2000" b="0" i="0" u="none" strike="noStrike" cap="none" normalizeH="0" baseline="0" dirty="0">
                <a:ln>
                  <a:noFill/>
                </a:ln>
                <a:solidFill>
                  <a:srgbClr val="404040"/>
                </a:solidFill>
                <a:effectLst/>
                <a:latin typeface="微软雅黑" panose="020B0503020204020204" pitchFamily="34" charset="-122"/>
                <a:ea typeface="微软雅黑" panose="020B0503020204020204" pitchFamily="34" charset="-122"/>
              </a:rPr>
              <a:t> </a:t>
            </a:r>
            <a:endParaRPr kumimoji="0" lang="zh-CN" altLang="zh-CN" sz="2000" b="0" i="0" u="none" strike="noStrike" cap="none" normalizeH="0" baseline="0" dirty="0">
              <a:ln>
                <a:noFill/>
              </a:ln>
              <a:solidFill>
                <a:schemeClr val="tx1"/>
              </a:solidFill>
              <a:effectLst/>
            </a:endParaRPr>
          </a:p>
        </p:txBody>
      </p:sp>
      <p:sp>
        <p:nvSpPr>
          <p:cNvPr id="7" name="AutoShape 2" descr="$F(x) = \bf{0}$">
            <a:extLst>
              <a:ext uri="{FF2B5EF4-FFF2-40B4-BE49-F238E27FC236}">
                <a16:creationId xmlns:a16="http://schemas.microsoft.com/office/drawing/2014/main" id="{47718C7F-75C7-EBB7-21BC-2DC8785CD519}"/>
              </a:ext>
            </a:extLst>
          </p:cNvPr>
          <p:cNvSpPr>
            <a:spLocks noChangeAspect="1" noChangeArrowheads="1"/>
          </p:cNvSpPr>
          <p:nvPr/>
        </p:nvSpPr>
        <p:spPr bwMode="auto">
          <a:xfrm flipV="1">
            <a:off x="5684283" y="2360978"/>
            <a:ext cx="552450" cy="457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28" name="矩形 27">
            <a:extLst>
              <a:ext uri="{FF2B5EF4-FFF2-40B4-BE49-F238E27FC236}">
                <a16:creationId xmlns:a16="http://schemas.microsoft.com/office/drawing/2014/main" id="{B4EA833F-5F93-454A-99D0-192BBF788792}"/>
              </a:ext>
            </a:extLst>
          </p:cNvPr>
          <p:cNvSpPr/>
          <p:nvPr/>
        </p:nvSpPr>
        <p:spPr>
          <a:xfrm>
            <a:off x="354391" y="2490341"/>
            <a:ext cx="8106041" cy="400110"/>
          </a:xfrm>
          <a:prstGeom prst="rect">
            <a:avLst/>
          </a:prstGeom>
          <a:noFill/>
          <a:scene3d>
            <a:camera prst="orthographicFront"/>
            <a:lightRig rig="threePt" dir="t"/>
          </a:scene3d>
          <a:sp3d>
            <a:bevelT prst="angle"/>
          </a:sp3d>
        </p:spPr>
        <p:txBody>
          <a:bodyPr vert="horz" wrap="square" lIns="91440" tIns="45720" rIns="91440" bIns="45720" numCol="1" anchor="t">
            <a:spAutoFit/>
          </a:bodyPr>
          <a:lstStyle/>
          <a:p>
            <a:pPr marL="457200" indent="-457200" eaLnBrk="0">
              <a:spcBef>
                <a:spcPts val="0"/>
              </a:spcBef>
              <a:spcAft>
                <a:spcPts val="0"/>
              </a:spcAft>
              <a:buFont typeface="+mj-ea"/>
              <a:buAutoNum type="circleNumDbPlain"/>
            </a:pPr>
            <a:r>
              <a:rPr lang="zh-CN" altLang="en-US" sz="2000" dirty="0">
                <a:solidFill>
                  <a:srgbClr val="00B0F0"/>
                </a:solidFill>
                <a:latin typeface="微软雅黑" panose="020B0503020204020204" charset="-122"/>
                <a:ea typeface="微软雅黑" panose="020B0503020204020204" charset="-122"/>
              </a:rPr>
              <a:t>自变量</a:t>
            </a:r>
            <a:r>
              <a:rPr lang="en-US" altLang="zh-CN" sz="2000" dirty="0">
                <a:solidFill>
                  <a:srgbClr val="00B0F0"/>
                </a:solidFill>
                <a:latin typeface="微软雅黑" panose="020B0503020204020204" charset="-122"/>
                <a:ea typeface="微软雅黑" panose="020B0503020204020204" charset="-122"/>
              </a:rPr>
              <a:t>a</a:t>
            </a:r>
            <a:r>
              <a:rPr lang="zh-CN" altLang="en-US" sz="2000" dirty="0">
                <a:solidFill>
                  <a:srgbClr val="00B0F0"/>
                </a:solidFill>
                <a:latin typeface="微软雅黑" panose="020B0503020204020204" charset="-122"/>
                <a:ea typeface="微软雅黑" panose="020B0503020204020204" charset="-122"/>
              </a:rPr>
              <a:t>和</a:t>
            </a:r>
            <a:r>
              <a:rPr lang="en-US" altLang="zh-CN" sz="2000" dirty="0">
                <a:solidFill>
                  <a:srgbClr val="00B0F0"/>
                </a:solidFill>
                <a:latin typeface="微软雅黑" panose="020B0503020204020204" charset="-122"/>
                <a:ea typeface="微软雅黑" panose="020B0503020204020204" charset="-122"/>
              </a:rPr>
              <a:t>t</a:t>
            </a:r>
            <a:r>
              <a:rPr lang="zh-CN" altLang="en-US" sz="2000" dirty="0">
                <a:solidFill>
                  <a:srgbClr val="00B0F0"/>
                </a:solidFill>
                <a:latin typeface="微软雅黑" panose="020B0503020204020204" charset="-122"/>
                <a:ea typeface="微软雅黑" panose="020B0503020204020204" charset="-122"/>
              </a:rPr>
              <a:t>构成</a:t>
            </a:r>
            <a:r>
              <a:rPr lang="en-US" altLang="ko-KR" sz="2000" dirty="0" err="1">
                <a:solidFill>
                  <a:srgbClr val="00B0F0"/>
                </a:solidFill>
                <a:latin typeface="微软雅黑" panose="020B0503020204020204" charset="-122"/>
                <a:ea typeface="微软雅黑" panose="020B0503020204020204" charset="-122"/>
              </a:rPr>
              <a:t>向量</a:t>
            </a:r>
            <a:r>
              <a:rPr lang="en-US" altLang="zh-CN" sz="2000" dirty="0" err="1">
                <a:solidFill>
                  <a:srgbClr val="00B0F0"/>
                </a:solidFill>
                <a:latin typeface="微软雅黑" panose="020B0503020204020204" charset="-122"/>
                <a:ea typeface="微软雅黑" panose="020B0503020204020204" charset="-122"/>
              </a:rPr>
              <a:t>at</a:t>
            </a:r>
            <a:r>
              <a:rPr lang="en-US" altLang="zh-CN" sz="2000" dirty="0">
                <a:solidFill>
                  <a:srgbClr val="00B0F0"/>
                </a:solidFill>
                <a:latin typeface="微软雅黑" panose="020B0503020204020204" charset="-122"/>
                <a:ea typeface="微软雅黑" panose="020B0503020204020204" charset="-122"/>
              </a:rPr>
              <a:t>=[</a:t>
            </a:r>
            <a:r>
              <a:rPr lang="en-US" altLang="zh-CN" sz="2000" dirty="0" err="1">
                <a:solidFill>
                  <a:srgbClr val="00B0F0"/>
                </a:solidFill>
                <a:latin typeface="微软雅黑" panose="020B0503020204020204" charset="-122"/>
                <a:ea typeface="微软雅黑" panose="020B0503020204020204" charset="-122"/>
              </a:rPr>
              <a:t>a,t</a:t>
            </a:r>
            <a:r>
              <a:rPr lang="en-US" altLang="zh-CN" sz="2000" dirty="0">
                <a:solidFill>
                  <a:srgbClr val="00B0F0"/>
                </a:solidFill>
                <a:latin typeface="微软雅黑" panose="020B0503020204020204" charset="-122"/>
                <a:ea typeface="微软雅黑" panose="020B0503020204020204" charset="-122"/>
              </a:rPr>
              <a:t>]=[at[1],at[2]]</a:t>
            </a:r>
            <a:r>
              <a:rPr lang="en-US" altLang="ko-KR" sz="2000" dirty="0">
                <a:solidFill>
                  <a:srgbClr val="00B0F0"/>
                </a:solidFill>
                <a:latin typeface="微软雅黑" panose="020B0503020204020204" charset="-122"/>
                <a:ea typeface="微软雅黑" panose="020B0503020204020204" charset="-122"/>
              </a:rPr>
              <a:t>,</a:t>
            </a:r>
            <a:r>
              <a:rPr lang="zh-CN" altLang="en-US" sz="2000" dirty="0">
                <a:solidFill>
                  <a:srgbClr val="00B0F0"/>
                </a:solidFill>
                <a:latin typeface="微软雅黑" panose="020B0503020204020204" charset="-122"/>
                <a:ea typeface="微软雅黑" panose="020B0503020204020204" charset="-122"/>
              </a:rPr>
              <a:t>并且用单下标表示</a:t>
            </a:r>
            <a:endParaRPr lang="ko-KR" altLang="en-US" sz="2000" cap="none" dirty="0">
              <a:solidFill>
                <a:srgbClr val="00B0F0"/>
              </a:solidFill>
              <a:latin typeface="微软雅黑" panose="020B0503020204020204" charset="-122"/>
              <a:ea typeface="微软雅黑" panose="020B0503020204020204" charset="-122"/>
            </a:endParaRPr>
          </a:p>
        </p:txBody>
      </p:sp>
      <p:sp>
        <p:nvSpPr>
          <p:cNvPr id="16" name="标题 1">
            <a:extLst>
              <a:ext uri="{FF2B5EF4-FFF2-40B4-BE49-F238E27FC236}">
                <a16:creationId xmlns:a16="http://schemas.microsoft.com/office/drawing/2014/main" id="{83471C3B-39C3-4BAA-A5F4-41474FDC6D92}"/>
              </a:ext>
            </a:extLst>
          </p:cNvPr>
          <p:cNvSpPr txBox="1">
            <a:spLocks/>
          </p:cNvSpPr>
          <p:nvPr/>
        </p:nvSpPr>
        <p:spPr>
          <a:xfrm>
            <a:off x="1278417" y="137839"/>
            <a:ext cx="7326031" cy="438150"/>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600" b="0" dirty="0">
                <a:solidFill>
                  <a:srgbClr val="002060"/>
                </a:solidFill>
                <a:latin typeface="华文楷体" panose="02010600040101010101" pitchFamily="2" charset="-122"/>
                <a:ea typeface="华文楷体" panose="02010600040101010101" pitchFamily="2" charset="-122"/>
              </a:rPr>
              <a:t>§ 8.5.2</a:t>
            </a:r>
            <a:r>
              <a:rPr lang="zh-CN" altLang="en-US" sz="2600" b="0" dirty="0">
                <a:solidFill>
                  <a:srgbClr val="002060"/>
                </a:solidFill>
                <a:latin typeface="华文楷体" panose="02010600040101010101" pitchFamily="2" charset="-122"/>
                <a:ea typeface="华文楷体" panose="02010600040101010101" pitchFamily="2" charset="-122"/>
              </a:rPr>
              <a:t>求解非线性方程组 </a:t>
            </a:r>
            <a:r>
              <a:rPr lang="en-US" altLang="zh-CN" sz="2600" b="0" dirty="0" err="1">
                <a:solidFill>
                  <a:srgbClr val="FF0000"/>
                </a:solidFill>
                <a:latin typeface="华文楷体" panose="02010600040101010101" pitchFamily="2" charset="-122"/>
                <a:ea typeface="华文楷体" panose="02010600040101010101" pitchFamily="2" charset="-122"/>
              </a:rPr>
              <a:t>fsolve</a:t>
            </a:r>
            <a:r>
              <a:rPr lang="en-US" altLang="zh-CN" sz="2600" b="0" kern="0" dirty="0">
                <a:solidFill>
                  <a:srgbClr val="FF0000"/>
                </a:solidFill>
                <a:latin typeface="华文楷体" panose="02010600040101010101" pitchFamily="2" charset="-122"/>
                <a:ea typeface="华文楷体" panose="02010600040101010101" pitchFamily="2" charset="-122"/>
              </a:rPr>
              <a:t>——</a:t>
            </a:r>
            <a:r>
              <a:rPr lang="zh-CN" altLang="en-US" sz="2600" b="0" kern="0" dirty="0">
                <a:solidFill>
                  <a:srgbClr val="FF0000"/>
                </a:solidFill>
                <a:latin typeface="华文楷体" panose="02010600040101010101" pitchFamily="2" charset="-122"/>
                <a:ea typeface="华文楷体" panose="02010600040101010101" pitchFamily="2" charset="-122"/>
              </a:rPr>
              <a:t>方程组案例</a:t>
            </a:r>
          </a:p>
        </p:txBody>
      </p:sp>
      <p:sp>
        <p:nvSpPr>
          <p:cNvPr id="17" name="波形 16">
            <a:extLst>
              <a:ext uri="{FF2B5EF4-FFF2-40B4-BE49-F238E27FC236}">
                <a16:creationId xmlns:a16="http://schemas.microsoft.com/office/drawing/2014/main" id="{7BF1734D-EF4D-45A0-B1CF-EA305399CED2}"/>
              </a:ext>
            </a:extLst>
          </p:cNvPr>
          <p:cNvSpPr/>
          <p:nvPr/>
        </p:nvSpPr>
        <p:spPr>
          <a:xfrm>
            <a:off x="418571" y="1329525"/>
            <a:ext cx="888558" cy="474076"/>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2000" b="1" dirty="0">
                <a:solidFill>
                  <a:srgbClr val="FFFF00"/>
                </a:solidFill>
                <a:latin typeface="微软雅黑" panose="020B0503020204020204" charset="-122"/>
                <a:ea typeface="微软雅黑" panose="020B0503020204020204" charset="-122"/>
              </a:rPr>
              <a:t>例85-2</a:t>
            </a:r>
            <a:endParaRPr lang="ko-KR" altLang="en-US" sz="2000" b="1" dirty="0">
              <a:solidFill>
                <a:srgbClr val="FFFF00"/>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1823630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5" grpId="0" animBg="1"/>
      <p:bldP spid="6" grpId="0" animBg="1"/>
      <p:bldP spid="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159E5814-CB3E-62F1-9091-97735DD0EF62}"/>
              </a:ext>
            </a:extLst>
          </p:cNvPr>
          <p:cNvSpPr/>
          <p:nvPr/>
        </p:nvSpPr>
        <p:spPr bwMode="auto">
          <a:xfrm>
            <a:off x="961407" y="4072263"/>
            <a:ext cx="3429771" cy="369332"/>
          </a:xfrm>
          <a:prstGeom prst="rect">
            <a:avLst/>
          </a:prstGeom>
          <a:solidFill>
            <a:schemeClr val="bg1"/>
          </a:solidFill>
          <a:ln w="9525" cap="flat" cmpd="sng">
            <a:solidFill>
              <a:schemeClr val="accent3">
                <a:alpha val="100000"/>
              </a:schemeClr>
            </a:solidFill>
            <a:prstDash val="solid"/>
            <a:miter lim="800000"/>
          </a:ln>
        </p:spPr>
        <p:txBody>
          <a:bodyPr vert="horz" wrap="square" lIns="91440" tIns="45720" rIns="91440" bIns="45720" anchor="ctr">
            <a:spAutoFit/>
          </a:bodyPr>
          <a:lstStyle/>
          <a:p>
            <a:r>
              <a:rPr lang="en-US" altLang="zh-CN" dirty="0" err="1"/>
              <a:t>att,fv</a:t>
            </a:r>
            <a:r>
              <a:rPr lang="en-US" altLang="zh-CN" dirty="0"/>
              <a:t>=</a:t>
            </a:r>
            <a:r>
              <a:rPr lang="en-US" altLang="zh-CN" dirty="0" err="1"/>
              <a:t>fsolve</a:t>
            </a:r>
            <a:r>
              <a:rPr lang="en-US" altLang="zh-CN" dirty="0"/>
              <a:t>(fun,[pi/6,5])</a:t>
            </a:r>
          </a:p>
        </p:txBody>
      </p:sp>
      <p:sp>
        <p:nvSpPr>
          <p:cNvPr id="7" name="文本框 19">
            <a:extLst>
              <a:ext uri="{FF2B5EF4-FFF2-40B4-BE49-F238E27FC236}">
                <a16:creationId xmlns:a16="http://schemas.microsoft.com/office/drawing/2014/main" id="{070A8291-C9C1-A791-B8B8-4EC61052831F}"/>
              </a:ext>
            </a:extLst>
          </p:cNvPr>
          <p:cNvSpPr txBox="1"/>
          <p:nvPr/>
        </p:nvSpPr>
        <p:spPr>
          <a:xfrm>
            <a:off x="302303" y="1347614"/>
            <a:ext cx="5277809" cy="400110"/>
          </a:xfrm>
          <a:prstGeom prst="rect">
            <a:avLst/>
          </a:prstGeom>
          <a:solidFill>
            <a:srgbClr val="FFFFFF"/>
          </a:solidFill>
        </p:spPr>
        <p:txBody>
          <a:bodyPr vert="horz" wrap="square" lIns="91440" tIns="45720" rIns="91440" bIns="45720" numCol="1" anchor="t">
            <a:spAutoFit/>
          </a:bodyPr>
          <a:lstStyle>
            <a:defPPr>
              <a:defRPr lang="zh-CN"/>
            </a:defPPr>
            <a:lvl1pPr eaLnBrk="0">
              <a:spcBef>
                <a:spcPts val="0"/>
              </a:spcBef>
              <a:spcAft>
                <a:spcPts val="0"/>
              </a:spcAft>
              <a:defRPr sz="2400">
                <a:solidFill>
                  <a:srgbClr val="002060"/>
                </a:solidFill>
                <a:latin typeface="隶书" panose="02010509060101010101" pitchFamily="49" charset="-122"/>
                <a:ea typeface="隶书" panose="02010509060101010101" pitchFamily="49" charset="-122"/>
              </a:defRPr>
            </a:lvl1pPr>
          </a:lstStyle>
          <a:p>
            <a:r>
              <a:rPr lang="zh-CN" altLang="en-US" sz="2000" b="1" dirty="0">
                <a:solidFill>
                  <a:srgbClr val="0070C0"/>
                </a:solidFill>
                <a:latin typeface="微软雅黑" panose="020B0503020204020204" pitchFamily="34" charset="-122"/>
                <a:ea typeface="微软雅黑" panose="020B0503020204020204" pitchFamily="34" charset="-122"/>
              </a:rPr>
              <a:t>（</a:t>
            </a:r>
            <a:r>
              <a:rPr lang="en-US" altLang="zh-CN" sz="2000" b="1" dirty="0">
                <a:solidFill>
                  <a:srgbClr val="0070C0"/>
                </a:solidFill>
                <a:latin typeface="微软雅黑" panose="020B0503020204020204" pitchFamily="34" charset="-122"/>
                <a:ea typeface="微软雅黑" panose="020B0503020204020204" pitchFamily="34" charset="-122"/>
              </a:rPr>
              <a:t>1</a:t>
            </a:r>
            <a:r>
              <a:rPr lang="zh-CN" altLang="en-US" sz="2000" b="1" dirty="0">
                <a:solidFill>
                  <a:srgbClr val="0070C0"/>
                </a:solidFill>
                <a:latin typeface="微软雅黑" panose="020B0503020204020204" pitchFamily="34" charset="-122"/>
                <a:ea typeface="微软雅黑" panose="020B0503020204020204" pitchFamily="34" charset="-122"/>
              </a:rPr>
              <a:t>）</a:t>
            </a:r>
            <a:r>
              <a:rPr lang="en-US" altLang="ko-KR" sz="2000" b="1" dirty="0" err="1">
                <a:solidFill>
                  <a:srgbClr val="0070C0"/>
                </a:solidFill>
                <a:latin typeface="微软雅黑" panose="020B0503020204020204" pitchFamily="34" charset="-122"/>
                <a:ea typeface="微软雅黑" panose="020B0503020204020204" pitchFamily="34" charset="-122"/>
              </a:rPr>
              <a:t>编写</a:t>
            </a:r>
            <a:r>
              <a:rPr lang="zh-CN" altLang="en-US" sz="2000" b="1" dirty="0">
                <a:solidFill>
                  <a:srgbClr val="0070C0"/>
                </a:solidFill>
                <a:latin typeface="微软雅黑" panose="020B0503020204020204" pitchFamily="34" charset="-122"/>
                <a:ea typeface="微软雅黑" panose="020B0503020204020204" pitchFamily="34" charset="-122"/>
              </a:rPr>
              <a:t>非线性方程组的</a:t>
            </a:r>
            <a:r>
              <a:rPr lang="en-US" altLang="ko-KR" sz="2000" b="1" dirty="0" err="1">
                <a:solidFill>
                  <a:srgbClr val="0070C0"/>
                </a:solidFill>
                <a:latin typeface="微软雅黑" panose="020B0503020204020204" pitchFamily="34" charset="-122"/>
                <a:ea typeface="微软雅黑" panose="020B0503020204020204" pitchFamily="34" charset="-122"/>
              </a:rPr>
              <a:t>函数</a:t>
            </a:r>
            <a:r>
              <a:rPr lang="en-US" altLang="ko-KR" sz="2000" b="1" dirty="0">
                <a:solidFill>
                  <a:srgbClr val="0070C0"/>
                </a:solidFill>
                <a:latin typeface="微软雅黑" panose="020B0503020204020204" pitchFamily="34" charset="-122"/>
                <a:ea typeface="微软雅黑" panose="020B0503020204020204" pitchFamily="34" charset="-122"/>
              </a:rPr>
              <a:t> </a:t>
            </a:r>
            <a:r>
              <a:rPr lang="zh-CN" altLang="en-US" sz="2000" b="1" dirty="0">
                <a:solidFill>
                  <a:srgbClr val="0070C0"/>
                </a:solidFill>
                <a:latin typeface="微软雅黑" panose="020B0503020204020204" pitchFamily="34" charset="-122"/>
                <a:ea typeface="微软雅黑" panose="020B0503020204020204" pitchFamily="34" charset="-122"/>
              </a:rPr>
              <a:t> </a:t>
            </a:r>
          </a:p>
        </p:txBody>
      </p:sp>
      <p:sp>
        <p:nvSpPr>
          <p:cNvPr id="8" name="文本框 21">
            <a:extLst>
              <a:ext uri="{FF2B5EF4-FFF2-40B4-BE49-F238E27FC236}">
                <a16:creationId xmlns:a16="http://schemas.microsoft.com/office/drawing/2014/main" id="{9F684398-9073-F902-8235-484B26EF6959}"/>
              </a:ext>
            </a:extLst>
          </p:cNvPr>
          <p:cNvSpPr txBox="1"/>
          <p:nvPr/>
        </p:nvSpPr>
        <p:spPr>
          <a:xfrm>
            <a:off x="321529" y="3548591"/>
            <a:ext cx="4433856" cy="400110"/>
          </a:xfrm>
          <a:prstGeom prst="rect">
            <a:avLst/>
          </a:prstGeom>
          <a:solidFill>
            <a:srgbClr val="FFFFFF"/>
          </a:solidFill>
        </p:spPr>
        <p:txBody>
          <a:bodyPr vert="horz" wrap="square" lIns="91440" tIns="45720" rIns="91440" bIns="45720" numCol="1" anchor="t">
            <a:spAutoFit/>
          </a:bodyPr>
          <a:lstStyle>
            <a:defPPr>
              <a:defRPr lang="zh-CN"/>
            </a:defPPr>
            <a:lvl1pPr eaLnBrk="0">
              <a:spcBef>
                <a:spcPts val="0"/>
              </a:spcBef>
              <a:spcAft>
                <a:spcPts val="0"/>
              </a:spcAft>
              <a:defRPr sz="2400">
                <a:solidFill>
                  <a:srgbClr val="002060"/>
                </a:solidFill>
                <a:latin typeface="隶书" panose="02010509060101010101" pitchFamily="49" charset="-122"/>
                <a:ea typeface="隶书" panose="02010509060101010101" pitchFamily="49" charset="-122"/>
              </a:defRPr>
            </a:lvl1pPr>
          </a:lstStyle>
          <a:p>
            <a:r>
              <a:rPr lang="zh-CN" altLang="en-US" sz="2000" b="1" dirty="0">
                <a:solidFill>
                  <a:srgbClr val="0070C0"/>
                </a:solidFill>
                <a:latin typeface="微软雅黑" panose="020B0503020204020204" pitchFamily="34" charset="-122"/>
                <a:ea typeface="微软雅黑" panose="020B0503020204020204" pitchFamily="34" charset="-122"/>
                <a:sym typeface="+mn-ea"/>
              </a:rPr>
              <a:t>（</a:t>
            </a:r>
            <a:r>
              <a:rPr lang="en-US" altLang="zh-CN" sz="2000" b="1" dirty="0">
                <a:solidFill>
                  <a:srgbClr val="0070C0"/>
                </a:solidFill>
                <a:latin typeface="微软雅黑" panose="020B0503020204020204" pitchFamily="34" charset="-122"/>
                <a:ea typeface="微软雅黑" panose="020B0503020204020204" pitchFamily="34" charset="-122"/>
                <a:sym typeface="+mn-ea"/>
              </a:rPr>
              <a:t>2</a:t>
            </a:r>
            <a:r>
              <a:rPr lang="zh-CN" altLang="en-US" sz="2000" b="1" dirty="0">
                <a:solidFill>
                  <a:srgbClr val="0070C0"/>
                </a:solidFill>
                <a:latin typeface="微软雅黑" panose="020B0503020204020204" pitchFamily="34" charset="-122"/>
                <a:ea typeface="微软雅黑" panose="020B0503020204020204" pitchFamily="34" charset="-122"/>
                <a:sym typeface="+mn-ea"/>
              </a:rPr>
              <a:t>）</a:t>
            </a:r>
            <a:r>
              <a:rPr lang="en-US" altLang="zh-CN" sz="2000" b="1" dirty="0" err="1">
                <a:solidFill>
                  <a:srgbClr val="0070C0"/>
                </a:solidFill>
                <a:latin typeface="微软雅黑" panose="020B0503020204020204" pitchFamily="34" charset="-122"/>
                <a:ea typeface="微软雅黑" panose="020B0503020204020204" pitchFamily="34" charset="-122"/>
                <a:sym typeface="+mn-ea"/>
              </a:rPr>
              <a:t>fsolve</a:t>
            </a:r>
            <a:r>
              <a:rPr lang="en-US" altLang="ko-KR" sz="2000" b="1" dirty="0" err="1">
                <a:solidFill>
                  <a:srgbClr val="0070C0"/>
                </a:solidFill>
                <a:latin typeface="微软雅黑" panose="020B0503020204020204" pitchFamily="34" charset="-122"/>
                <a:ea typeface="微软雅黑" panose="020B0503020204020204" pitchFamily="34" charset="-122"/>
                <a:sym typeface="+mn-ea"/>
              </a:rPr>
              <a:t>求</a:t>
            </a:r>
            <a:r>
              <a:rPr lang="zh-CN" altLang="en-US" sz="2000" b="1" dirty="0">
                <a:solidFill>
                  <a:srgbClr val="0070C0"/>
                </a:solidFill>
                <a:latin typeface="微软雅黑" panose="020B0503020204020204" pitchFamily="34" charset="-122"/>
                <a:ea typeface="微软雅黑" panose="020B0503020204020204" pitchFamily="34" charset="-122"/>
                <a:sym typeface="+mn-ea"/>
              </a:rPr>
              <a:t>根</a:t>
            </a:r>
            <a:endParaRPr lang="en-US" altLang="ko-KR" sz="2000" b="1" dirty="0">
              <a:solidFill>
                <a:srgbClr val="0070C0"/>
              </a:solidFill>
              <a:latin typeface="微软雅黑" panose="020B0503020204020204" pitchFamily="34" charset="-122"/>
              <a:ea typeface="微软雅黑" panose="020B0503020204020204" pitchFamily="34" charset="-122"/>
              <a:sym typeface="+mn-ea"/>
            </a:endParaRPr>
          </a:p>
        </p:txBody>
      </p:sp>
      <p:sp>
        <p:nvSpPr>
          <p:cNvPr id="9" name="矩形 8">
            <a:extLst>
              <a:ext uri="{FF2B5EF4-FFF2-40B4-BE49-F238E27FC236}">
                <a16:creationId xmlns:a16="http://schemas.microsoft.com/office/drawing/2014/main" id="{1A5364FD-5949-A664-3632-816CBB4BB05B}"/>
              </a:ext>
            </a:extLst>
          </p:cNvPr>
          <p:cNvSpPr/>
          <p:nvPr/>
        </p:nvSpPr>
        <p:spPr>
          <a:xfrm>
            <a:off x="5174677" y="3918375"/>
            <a:ext cx="3429771" cy="523220"/>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r="100000" b="100000"/>
            </a:path>
            <a:tileRect l="-100000" t="-100000"/>
          </a:gradFill>
          <a:ln>
            <a:solidFill>
              <a:schemeClr val="tx1"/>
            </a:solidFill>
          </a:ln>
        </p:spPr>
        <p:txBody>
          <a:bodyPr wrap="square">
            <a:spAutoFit/>
          </a:bodyPr>
          <a:lstStyle/>
          <a:p>
            <a:r>
              <a:rPr lang="zh-CN" altLang="en-US" sz="1400" dirty="0">
                <a:solidFill>
                  <a:srgbClr val="002060"/>
                </a:solidFill>
                <a:latin typeface="Times New Roman" panose="02020603050405020304" pitchFamily="18" charset="0"/>
                <a:cs typeface="Times New Roman" panose="02020603050405020304" pitchFamily="18" charset="0"/>
              </a:rPr>
              <a:t>根：</a:t>
            </a:r>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att</a:t>
            </a:r>
            <a:r>
              <a:rPr lang="en-US" altLang="zh-CN" sz="1400" dirty="0">
                <a:solidFill>
                  <a:srgbClr val="002060"/>
                </a:solidFill>
                <a:latin typeface="Times New Roman" panose="02020603050405020304" pitchFamily="18" charset="0"/>
                <a:cs typeface="Times New Roman" panose="02020603050405020304" pitchFamily="18" charset="0"/>
              </a:rPr>
              <a:t>=[0.46333429167857554(</a:t>
            </a:r>
            <a:r>
              <a:rPr lang="zh-CN" altLang="en-US" sz="1400" dirty="0">
                <a:solidFill>
                  <a:srgbClr val="002060"/>
                </a:solidFill>
                <a:latin typeface="Times New Roman" panose="02020603050405020304" pitchFamily="18" charset="0"/>
                <a:cs typeface="Times New Roman" panose="02020603050405020304" pitchFamily="18" charset="0"/>
              </a:rPr>
              <a:t>发射角</a:t>
            </a:r>
            <a:r>
              <a:rPr lang="en-US" altLang="zh-CN" sz="1400" dirty="0">
                <a:solidFill>
                  <a:srgbClr val="002060"/>
                </a:solidFill>
                <a:latin typeface="Times New Roman" panose="02020603050405020304" pitchFamily="18" charset="0"/>
                <a:cs typeface="Times New Roman" panose="02020603050405020304" pitchFamily="18" charset="0"/>
              </a:rPr>
              <a:t>), 2.012146058411397</a:t>
            </a:r>
            <a:r>
              <a:rPr lang="zh-CN" altLang="en-US" sz="1400" dirty="0">
                <a:solidFill>
                  <a:srgbClr val="002060"/>
                </a:solidFill>
                <a:latin typeface="Times New Roman" panose="02020603050405020304" pitchFamily="18" charset="0"/>
                <a:cs typeface="Times New Roman" panose="02020603050405020304" pitchFamily="18" charset="0"/>
              </a:rPr>
              <a:t>（击中目标时间）</a:t>
            </a:r>
            <a:endParaRPr lang="en-US" altLang="zh-CN" sz="1400" dirty="0">
              <a:solidFill>
                <a:srgbClr val="002060"/>
              </a:solidFill>
              <a:latin typeface="Times New Roman" panose="02020603050405020304" pitchFamily="18" charset="0"/>
              <a:cs typeface="Times New Roman" panose="02020603050405020304" pitchFamily="18" charset="0"/>
            </a:endParaRPr>
          </a:p>
        </p:txBody>
      </p:sp>
      <p:sp>
        <p:nvSpPr>
          <p:cNvPr id="11" name="矩形 10">
            <a:extLst>
              <a:ext uri="{FF2B5EF4-FFF2-40B4-BE49-F238E27FC236}">
                <a16:creationId xmlns:a16="http://schemas.microsoft.com/office/drawing/2014/main" id="{21328FFF-5B1C-E255-9F70-5AEA05FAC00C}"/>
              </a:ext>
            </a:extLst>
          </p:cNvPr>
          <p:cNvSpPr/>
          <p:nvPr/>
        </p:nvSpPr>
        <p:spPr>
          <a:xfrm>
            <a:off x="940535" y="2003998"/>
            <a:ext cx="8284415" cy="923330"/>
          </a:xfrm>
          <a:prstGeom prst="rect">
            <a:avLst/>
          </a:prstGeom>
          <a:ln>
            <a:noFill/>
          </a:ln>
        </p:spPr>
        <p:txBody>
          <a:bodyPr wrap="square">
            <a:spAutoFit/>
          </a:bodyPr>
          <a:lstStyle/>
          <a:p>
            <a:r>
              <a:rPr lang="da-DK" altLang="zh-CN" dirty="0"/>
              <a:t>function fun(at)</a:t>
            </a:r>
          </a:p>
          <a:p>
            <a:r>
              <a:rPr lang="da-DK" altLang="zh-CN" dirty="0"/>
              <a:t>    200*cos(at[1])*at[2]-360,200*sin(at[1])*at[2]-4.905*at[2]^2-160</a:t>
            </a:r>
          </a:p>
          <a:p>
            <a:r>
              <a:rPr lang="da-DK" altLang="zh-CN" dirty="0"/>
              <a:t>end</a:t>
            </a:r>
          </a:p>
        </p:txBody>
      </p:sp>
      <p:sp>
        <p:nvSpPr>
          <p:cNvPr id="12" name="矩形 11">
            <a:extLst>
              <a:ext uri="{FF2B5EF4-FFF2-40B4-BE49-F238E27FC236}">
                <a16:creationId xmlns:a16="http://schemas.microsoft.com/office/drawing/2014/main" id="{247493F8-1AEA-1E30-F63F-F4E35D7F2E45}"/>
              </a:ext>
            </a:extLst>
          </p:cNvPr>
          <p:cNvSpPr/>
          <p:nvPr/>
        </p:nvSpPr>
        <p:spPr>
          <a:xfrm>
            <a:off x="2457815" y="3589564"/>
            <a:ext cx="2297570" cy="359137"/>
          </a:xfrm>
          <a:prstGeom prst="rect">
            <a:avLst/>
          </a:prstGeom>
          <a:solidFill>
            <a:schemeClr val="bg1">
              <a:lumMod val="95000"/>
            </a:schemeClr>
          </a:solidFill>
          <a:ln>
            <a:solidFill>
              <a:schemeClr val="tx1"/>
            </a:solidFill>
          </a:ln>
        </p:spPr>
        <p:txBody>
          <a:bodyPr wrap="square">
            <a:spAutoFit/>
          </a:bodyPr>
          <a:lstStyle/>
          <a:p>
            <a:pPr eaLnBrk="0">
              <a:lnSpc>
                <a:spcPts val="2300"/>
              </a:lnSpc>
              <a:spcBef>
                <a:spcPts val="0"/>
              </a:spcBef>
              <a:spcAft>
                <a:spcPts val="0"/>
              </a:spcAft>
              <a:buClr>
                <a:srgbClr val="FF0000"/>
              </a:buClr>
            </a:pPr>
            <a:r>
              <a:rPr lang="en-US" altLang="zh-CN" sz="1400" dirty="0">
                <a:solidFill>
                  <a:srgbClr val="002060"/>
                </a:solidFill>
                <a:latin typeface="隶书" panose="02010509060101010101" pitchFamily="49" charset="-122"/>
              </a:rPr>
              <a:t>st=[pi/6,5];  #</a:t>
            </a:r>
            <a:r>
              <a:rPr lang="zh-CN" altLang="en-US" sz="1400" dirty="0">
                <a:solidFill>
                  <a:srgbClr val="002060"/>
                </a:solidFill>
                <a:latin typeface="隶书" panose="02010509060101010101" pitchFamily="49" charset="-122"/>
              </a:rPr>
              <a:t>估计初值</a:t>
            </a:r>
            <a:endParaRPr lang="zh-CN" altLang="en-US" sz="1400" dirty="0">
              <a:solidFill>
                <a:srgbClr val="002060"/>
              </a:solidFill>
              <a:latin typeface="Times New Roman" panose="02020603050405020304" pitchFamily="18" charset="0"/>
              <a:cs typeface="Times New Roman" panose="02020603050405020304" pitchFamily="18" charset="0"/>
            </a:endParaRPr>
          </a:p>
        </p:txBody>
      </p:sp>
      <p:sp>
        <p:nvSpPr>
          <p:cNvPr id="2" name="矩形 1">
            <a:extLst>
              <a:ext uri="{FF2B5EF4-FFF2-40B4-BE49-F238E27FC236}">
                <a16:creationId xmlns:a16="http://schemas.microsoft.com/office/drawing/2014/main" id="{BCC8DBC4-3896-973B-8971-D4015BA60350}"/>
              </a:ext>
            </a:extLst>
          </p:cNvPr>
          <p:cNvSpPr/>
          <p:nvPr/>
        </p:nvSpPr>
        <p:spPr>
          <a:xfrm>
            <a:off x="664430" y="808537"/>
            <a:ext cx="2831962" cy="400110"/>
          </a:xfrm>
          <a:prstGeom prst="rect">
            <a:avLst/>
          </a:prstGeom>
          <a:noFill/>
        </p:spPr>
        <p:txBody>
          <a:bodyPr wrap="square">
            <a:spAutoFit/>
          </a:bodyPr>
          <a:lstStyle/>
          <a:p>
            <a:pPr eaLnBrk="0">
              <a:spcBef>
                <a:spcPts val="0"/>
              </a:spcBef>
              <a:spcAft>
                <a:spcPts val="0"/>
              </a:spcAft>
            </a:pPr>
            <a:r>
              <a:rPr lang="zh-CN" altLang="en-US" sz="2000" dirty="0">
                <a:solidFill>
                  <a:srgbClr val="002060"/>
                </a:solidFill>
                <a:latin typeface="华文楷体" panose="02010600040101010101" pitchFamily="2" charset="-122"/>
                <a:ea typeface="华文楷体" panose="02010600040101010101" pitchFamily="2" charset="-122"/>
              </a:rPr>
              <a:t>非线性</a:t>
            </a:r>
            <a:r>
              <a:rPr lang="en-US" altLang="ko-KR" sz="2000" dirty="0" err="1">
                <a:solidFill>
                  <a:srgbClr val="002060"/>
                </a:solidFill>
                <a:latin typeface="华文楷体" panose="02010600040101010101" pitchFamily="2" charset="-122"/>
                <a:ea typeface="华文楷体" panose="02010600040101010101" pitchFamily="2" charset="-122"/>
              </a:rPr>
              <a:t>方程组</a:t>
            </a:r>
            <a:r>
              <a:rPr lang="en-US" altLang="zh-CN" sz="2000" dirty="0" err="1">
                <a:solidFill>
                  <a:srgbClr val="002060"/>
                </a:solidFill>
                <a:latin typeface="华文楷体" panose="02010600040101010101" pitchFamily="2" charset="-122"/>
                <a:ea typeface="华文楷体" panose="02010600040101010101" pitchFamily="2" charset="-122"/>
              </a:rPr>
              <a:t>eq</a:t>
            </a:r>
            <a:r>
              <a:rPr lang="en-US" altLang="zh-CN" sz="2000" dirty="0">
                <a:solidFill>
                  <a:srgbClr val="002060"/>
                </a:solidFill>
                <a:latin typeface="华文楷体" panose="02010600040101010101" pitchFamily="2" charset="-122"/>
                <a:ea typeface="华文楷体" panose="02010600040101010101" pitchFamily="2" charset="-122"/>
              </a:rPr>
              <a:t>=f(</a:t>
            </a:r>
            <a:r>
              <a:rPr lang="en-US" altLang="zh-CN" sz="2000" dirty="0" err="1">
                <a:solidFill>
                  <a:srgbClr val="002060"/>
                </a:solidFill>
                <a:latin typeface="华文楷体" panose="02010600040101010101" pitchFamily="2" charset="-122"/>
                <a:ea typeface="华文楷体" panose="02010600040101010101" pitchFamily="2" charset="-122"/>
              </a:rPr>
              <a:t>st</a:t>
            </a:r>
            <a:r>
              <a:rPr lang="en-US" altLang="zh-CN" sz="2000" dirty="0">
                <a:solidFill>
                  <a:srgbClr val="002060"/>
                </a:solidFill>
                <a:latin typeface="华文楷体" panose="02010600040101010101" pitchFamily="2" charset="-122"/>
                <a:ea typeface="华文楷体" panose="02010600040101010101" pitchFamily="2" charset="-122"/>
              </a:rPr>
              <a:t>)=0</a:t>
            </a:r>
            <a:endParaRPr lang="ko-KR" altLang="en-US" sz="2000" dirty="0">
              <a:solidFill>
                <a:srgbClr val="002060"/>
              </a:solidFill>
              <a:latin typeface="华文楷体" panose="02010600040101010101" pitchFamily="2" charset="-122"/>
            </a:endParaRPr>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A3332F3E-B149-478C-9628-434A3C7C7080}"/>
                  </a:ext>
                </a:extLst>
              </p:cNvPr>
              <p:cNvSpPr/>
              <p:nvPr/>
            </p:nvSpPr>
            <p:spPr>
              <a:xfrm>
                <a:off x="3506937" y="696909"/>
                <a:ext cx="4776704" cy="641586"/>
              </a:xfrm>
              <a:prstGeom prst="rect">
                <a:avLst/>
              </a:prstGeom>
              <a:solidFill>
                <a:schemeClr val="bg1"/>
              </a:solidFill>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s-ES" altLang="zh-CN" sz="1600" i="1" smtClean="0">
                              <a:solidFill>
                                <a:srgbClr val="000000"/>
                              </a:solidFill>
                              <a:latin typeface="Cambria Math" panose="02040503050406030204" pitchFamily="18" charset="0"/>
                            </a:rPr>
                          </m:ctrlPr>
                        </m:dPr>
                        <m:e>
                          <m:eqArr>
                            <m:eqArrPr>
                              <m:ctrlPr>
                                <a:rPr lang="da-DK" altLang="zh-CN" sz="1600" i="1">
                                  <a:latin typeface="Cambria Math" panose="02040503050406030204" pitchFamily="18" charset="0"/>
                                </a:rPr>
                              </m:ctrlPr>
                            </m:eqArrPr>
                            <m:e>
                              <m:r>
                                <m:rPr>
                                  <m:nor/>
                                </m:rPr>
                                <a:rPr lang="da-DK" altLang="zh-CN" sz="1600"/>
                                <m:t>eq</m:t>
                              </m:r>
                              <m:r>
                                <m:rPr>
                                  <m:nor/>
                                </m:rPr>
                                <a:rPr lang="en-US" altLang="zh-CN" sz="1600" b="0" i="0" smtClean="0"/>
                                <m:t>[</m:t>
                              </m:r>
                              <m:r>
                                <m:rPr>
                                  <m:nor/>
                                </m:rPr>
                                <a:rPr lang="da-DK" altLang="zh-CN" sz="1600"/>
                                <m:t>1</m:t>
                              </m:r>
                              <m:r>
                                <m:rPr>
                                  <m:nor/>
                                </m:rPr>
                                <a:rPr lang="en-US" altLang="zh-CN" sz="1600" b="0" i="0" smtClean="0"/>
                                <m:t>]</m:t>
                              </m:r>
                              <m:r>
                                <m:rPr>
                                  <m:nor/>
                                </m:rPr>
                                <a:rPr lang="da-DK" altLang="zh-CN" sz="1600"/>
                                <m:t>=200∗</m:t>
                              </m:r>
                              <m:r>
                                <m:rPr>
                                  <m:nor/>
                                </m:rPr>
                                <a:rPr lang="da-DK" altLang="zh-CN" sz="1600"/>
                                <m:t>cos</m:t>
                              </m:r>
                              <m:r>
                                <m:rPr>
                                  <m:nor/>
                                </m:rPr>
                                <a:rPr lang="da-DK" altLang="zh-CN" sz="1600"/>
                                <m:t>(</m:t>
                              </m:r>
                              <m:r>
                                <m:rPr>
                                  <m:nor/>
                                </m:rPr>
                                <a:rPr lang="da-DK" altLang="zh-CN" sz="1600"/>
                                <m:t>at</m:t>
                              </m:r>
                              <m:r>
                                <m:rPr>
                                  <m:nor/>
                                </m:rPr>
                                <a:rPr lang="en-US" altLang="zh-CN" sz="1600" b="0" i="0" smtClean="0"/>
                                <m:t>[</m:t>
                              </m:r>
                              <m:r>
                                <m:rPr>
                                  <m:nor/>
                                </m:rPr>
                                <a:rPr lang="da-DK" altLang="zh-CN" sz="1600"/>
                                <m:t>1</m:t>
                              </m:r>
                              <m:r>
                                <m:rPr>
                                  <m:nor/>
                                </m:rPr>
                                <a:rPr lang="en-US" altLang="zh-CN" sz="1600" b="0" i="0" smtClean="0"/>
                                <m:t>]</m:t>
                              </m:r>
                              <m:r>
                                <m:rPr>
                                  <m:nor/>
                                </m:rPr>
                                <a:rPr lang="da-DK" altLang="zh-CN" sz="1600"/>
                                <m:t>)∗</m:t>
                              </m:r>
                              <m:r>
                                <m:rPr>
                                  <m:nor/>
                                </m:rPr>
                                <a:rPr lang="da-DK" altLang="zh-CN" sz="1600"/>
                                <m:t>at</m:t>
                              </m:r>
                              <m:r>
                                <m:rPr>
                                  <m:nor/>
                                </m:rPr>
                                <a:rPr lang="en-US" altLang="zh-CN" sz="1600" b="0" i="0" smtClean="0"/>
                                <m:t>[</m:t>
                              </m:r>
                              <m:r>
                                <m:rPr>
                                  <m:nor/>
                                </m:rPr>
                                <a:rPr lang="da-DK" altLang="zh-CN" sz="1600"/>
                                <m:t>2</m:t>
                              </m:r>
                              <m:r>
                                <m:rPr>
                                  <m:nor/>
                                </m:rPr>
                                <a:rPr lang="en-US" altLang="zh-CN" sz="1600" b="0" i="0" smtClean="0"/>
                                <m:t>]</m:t>
                              </m:r>
                              <m:r>
                                <m:rPr>
                                  <m:nor/>
                                </m:rPr>
                                <a:rPr lang="da-DK" altLang="zh-CN" sz="1600"/>
                                <m:t>−360;</m:t>
                              </m:r>
                            </m:e>
                            <m:e>
                              <m:r>
                                <m:rPr>
                                  <m:nor/>
                                </m:rPr>
                                <a:rPr lang="da-DK" altLang="zh-CN" sz="1600"/>
                                <m:t> </m:t>
                              </m:r>
                              <m:r>
                                <m:rPr>
                                  <m:nor/>
                                </m:rPr>
                                <a:rPr lang="da-DK" altLang="zh-CN" sz="1600"/>
                                <m:t>eq</m:t>
                              </m:r>
                              <m:r>
                                <m:rPr>
                                  <m:nor/>
                                </m:rPr>
                                <a:rPr lang="da-DK" altLang="zh-CN" sz="1600"/>
                                <m:t>(2)=200∗</m:t>
                              </m:r>
                              <m:r>
                                <m:rPr>
                                  <m:nor/>
                                </m:rPr>
                                <a:rPr lang="da-DK" altLang="zh-CN" sz="1600"/>
                                <m:t>sin</m:t>
                              </m:r>
                              <m:r>
                                <m:rPr>
                                  <m:nor/>
                                </m:rPr>
                                <a:rPr lang="da-DK" altLang="zh-CN" sz="1600"/>
                                <m:t>(</m:t>
                              </m:r>
                              <m:r>
                                <m:rPr>
                                  <m:nor/>
                                </m:rPr>
                                <a:rPr lang="da-DK" altLang="zh-CN" sz="1600"/>
                                <m:t>at</m:t>
                              </m:r>
                              <m:r>
                                <m:rPr>
                                  <m:nor/>
                                </m:rPr>
                                <a:rPr lang="en-US" altLang="zh-CN" sz="1600" b="0" i="0" smtClean="0"/>
                                <m:t>[</m:t>
                              </m:r>
                              <m:r>
                                <m:rPr>
                                  <m:nor/>
                                </m:rPr>
                                <a:rPr lang="da-DK" altLang="zh-CN" sz="1600"/>
                                <m:t>1</m:t>
                              </m:r>
                              <m:r>
                                <m:rPr>
                                  <m:nor/>
                                </m:rPr>
                                <a:rPr lang="en-US" altLang="zh-CN" sz="1600" b="0" i="0" smtClean="0"/>
                                <m:t>]</m:t>
                              </m:r>
                              <m:r>
                                <m:rPr>
                                  <m:nor/>
                                </m:rPr>
                                <a:rPr lang="da-DK" altLang="zh-CN" sz="1600"/>
                                <m:t>)∗</m:t>
                              </m:r>
                              <m:r>
                                <m:rPr>
                                  <m:nor/>
                                </m:rPr>
                                <a:rPr lang="da-DK" altLang="zh-CN" sz="1600"/>
                                <m:t>at</m:t>
                              </m:r>
                              <m:r>
                                <m:rPr>
                                  <m:nor/>
                                </m:rPr>
                                <a:rPr lang="en-US" altLang="zh-CN" sz="1600" b="0" i="0" smtClean="0"/>
                                <m:t>[</m:t>
                              </m:r>
                              <m:r>
                                <m:rPr>
                                  <m:nor/>
                                </m:rPr>
                                <a:rPr lang="da-DK" altLang="zh-CN" sz="1600"/>
                                <m:t>2</m:t>
                              </m:r>
                              <m:r>
                                <m:rPr>
                                  <m:nor/>
                                </m:rPr>
                                <a:rPr lang="en-US" altLang="zh-CN" sz="1600" b="0" i="0" smtClean="0"/>
                                <m:t>]</m:t>
                              </m:r>
                              <m:r>
                                <m:rPr>
                                  <m:nor/>
                                </m:rPr>
                                <a:rPr lang="da-DK" altLang="zh-CN" sz="1600"/>
                                <m:t>−4.905∗</m:t>
                              </m:r>
                              <m:r>
                                <m:rPr>
                                  <m:nor/>
                                </m:rPr>
                                <a:rPr lang="da-DK" altLang="zh-CN" sz="1600"/>
                                <m:t>at</m:t>
                              </m:r>
                              <m:r>
                                <m:rPr>
                                  <m:nor/>
                                </m:rPr>
                                <a:rPr lang="en-US" altLang="zh-CN" sz="1600" b="0" i="0" smtClean="0"/>
                                <m:t>[</m:t>
                              </m:r>
                              <m:r>
                                <m:rPr>
                                  <m:nor/>
                                </m:rPr>
                                <a:rPr lang="da-DK" altLang="zh-CN" sz="1600"/>
                                <m:t>2</m:t>
                              </m:r>
                              <m:r>
                                <m:rPr>
                                  <m:nor/>
                                </m:rPr>
                                <a:rPr lang="en-US" altLang="zh-CN" sz="1600" b="0" i="0" smtClean="0"/>
                                <m:t>]</m:t>
                              </m:r>
                              <m:r>
                                <m:rPr>
                                  <m:nor/>
                                </m:rPr>
                                <a:rPr lang="da-DK" altLang="zh-CN" sz="1600"/>
                                <m:t>^2−160 </m:t>
                              </m:r>
                            </m:e>
                          </m:eqArr>
                        </m:e>
                      </m:d>
                    </m:oMath>
                  </m:oMathPara>
                </a14:m>
                <a:endParaRPr lang="zh-CN" altLang="en-US" sz="1600" dirty="0"/>
              </a:p>
            </p:txBody>
          </p:sp>
        </mc:Choice>
        <mc:Fallback xmlns="">
          <p:sp>
            <p:nvSpPr>
              <p:cNvPr id="14" name="矩形 13">
                <a:extLst>
                  <a:ext uri="{FF2B5EF4-FFF2-40B4-BE49-F238E27FC236}">
                    <a16:creationId xmlns:a16="http://schemas.microsoft.com/office/drawing/2014/main" id="{A3332F3E-B149-478C-9628-434A3C7C7080}"/>
                  </a:ext>
                </a:extLst>
              </p:cNvPr>
              <p:cNvSpPr>
                <a:spLocks noRot="1" noChangeAspect="1" noMove="1" noResize="1" noEditPoints="1" noAdjustHandles="1" noChangeArrowheads="1" noChangeShapeType="1" noTextEdit="1"/>
              </p:cNvSpPr>
              <p:nvPr/>
            </p:nvSpPr>
            <p:spPr>
              <a:xfrm>
                <a:off x="3506937" y="696909"/>
                <a:ext cx="4776704" cy="641586"/>
              </a:xfrm>
              <a:prstGeom prst="rect">
                <a:avLst/>
              </a:prstGeom>
              <a:blipFill>
                <a:blip r:embed="rId3"/>
                <a:stretch>
                  <a:fillRect/>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CFD9E975-134C-3557-308F-C0DFA3C2C02B}"/>
              </a:ext>
            </a:extLst>
          </p:cNvPr>
          <p:cNvSpPr/>
          <p:nvPr/>
        </p:nvSpPr>
        <p:spPr>
          <a:xfrm>
            <a:off x="887939" y="1727070"/>
            <a:ext cx="2831962" cy="359137"/>
          </a:xfrm>
          <a:prstGeom prst="rect">
            <a:avLst/>
          </a:prstGeom>
          <a:noFill/>
          <a:ln>
            <a:noFill/>
          </a:ln>
        </p:spPr>
        <p:txBody>
          <a:bodyPr wrap="square">
            <a:spAutoFit/>
          </a:bodyPr>
          <a:lstStyle/>
          <a:p>
            <a:pPr eaLnBrk="0">
              <a:lnSpc>
                <a:spcPts val="2300"/>
              </a:lnSpc>
              <a:spcBef>
                <a:spcPts val="0"/>
              </a:spcBef>
              <a:spcAft>
                <a:spcPts val="0"/>
              </a:spcAft>
              <a:buClr>
                <a:srgbClr val="FF0000"/>
              </a:buClr>
            </a:pPr>
            <a:r>
              <a:rPr lang="zh-CN" altLang="en-US" sz="1600" dirty="0">
                <a:solidFill>
                  <a:srgbClr val="002060"/>
                </a:solidFill>
                <a:latin typeface="Times New Roman" panose="02020603050405020304" pitchFamily="18" charset="0"/>
                <a:cs typeface="Times New Roman" panose="02020603050405020304" pitchFamily="18" charset="0"/>
              </a:rPr>
              <a:t>第一种方法：</a:t>
            </a:r>
            <a:r>
              <a:rPr lang="en-US" altLang="zh-CN" sz="1600" dirty="0">
                <a:solidFill>
                  <a:srgbClr val="002060"/>
                </a:solidFill>
                <a:latin typeface="Times New Roman" panose="02020603050405020304" pitchFamily="18" charset="0"/>
                <a:cs typeface="Times New Roman" panose="02020603050405020304" pitchFamily="18" charset="0"/>
              </a:rPr>
              <a:t>function</a:t>
            </a:r>
            <a:r>
              <a:rPr lang="zh-CN" altLang="en-US" sz="1600" dirty="0">
                <a:solidFill>
                  <a:srgbClr val="002060"/>
                </a:solidFill>
                <a:latin typeface="Times New Roman" panose="02020603050405020304" pitchFamily="18" charset="0"/>
                <a:cs typeface="Times New Roman" panose="02020603050405020304" pitchFamily="18" charset="0"/>
              </a:rPr>
              <a:t>关键字</a:t>
            </a:r>
          </a:p>
        </p:txBody>
      </p:sp>
      <p:sp>
        <p:nvSpPr>
          <p:cNvPr id="4" name="矩形 3">
            <a:extLst>
              <a:ext uri="{FF2B5EF4-FFF2-40B4-BE49-F238E27FC236}">
                <a16:creationId xmlns:a16="http://schemas.microsoft.com/office/drawing/2014/main" id="{AAE987BB-92CD-50B8-5BA5-08B96A1C060F}"/>
              </a:ext>
            </a:extLst>
          </p:cNvPr>
          <p:cNvSpPr/>
          <p:nvPr/>
        </p:nvSpPr>
        <p:spPr>
          <a:xfrm>
            <a:off x="899027" y="2868663"/>
            <a:ext cx="2362768" cy="359137"/>
          </a:xfrm>
          <a:prstGeom prst="rect">
            <a:avLst/>
          </a:prstGeom>
          <a:noFill/>
          <a:ln>
            <a:noFill/>
          </a:ln>
        </p:spPr>
        <p:txBody>
          <a:bodyPr wrap="square">
            <a:spAutoFit/>
          </a:bodyPr>
          <a:lstStyle/>
          <a:p>
            <a:pPr eaLnBrk="0">
              <a:lnSpc>
                <a:spcPts val="2300"/>
              </a:lnSpc>
              <a:spcBef>
                <a:spcPts val="0"/>
              </a:spcBef>
              <a:spcAft>
                <a:spcPts val="0"/>
              </a:spcAft>
              <a:buClr>
                <a:srgbClr val="FF0000"/>
              </a:buClr>
            </a:pPr>
            <a:r>
              <a:rPr lang="zh-CN" altLang="en-US" sz="1600" dirty="0">
                <a:solidFill>
                  <a:srgbClr val="002060"/>
                </a:solidFill>
                <a:latin typeface="Times New Roman" panose="02020603050405020304" pitchFamily="18" charset="0"/>
                <a:cs typeface="Times New Roman" panose="02020603050405020304" pitchFamily="18" charset="0"/>
              </a:rPr>
              <a:t>第二种方法：简化形式</a:t>
            </a:r>
          </a:p>
        </p:txBody>
      </p:sp>
      <p:sp>
        <p:nvSpPr>
          <p:cNvPr id="15" name="文本框 14">
            <a:extLst>
              <a:ext uri="{FF2B5EF4-FFF2-40B4-BE49-F238E27FC236}">
                <a16:creationId xmlns:a16="http://schemas.microsoft.com/office/drawing/2014/main" id="{B8734BCA-D6EB-5ECC-3BB4-3AEDF5696F80}"/>
              </a:ext>
            </a:extLst>
          </p:cNvPr>
          <p:cNvSpPr txBox="1"/>
          <p:nvPr/>
        </p:nvSpPr>
        <p:spPr>
          <a:xfrm>
            <a:off x="961407" y="3216018"/>
            <a:ext cx="7693916" cy="369332"/>
          </a:xfrm>
          <a:prstGeom prst="rect">
            <a:avLst/>
          </a:prstGeom>
          <a:noFill/>
        </p:spPr>
        <p:txBody>
          <a:bodyPr wrap="square">
            <a:spAutoFit/>
          </a:bodyPr>
          <a:lstStyle/>
          <a:p>
            <a:r>
              <a:rPr lang="zh-CN" altLang="en-US" dirty="0"/>
              <a:t>f</a:t>
            </a:r>
            <a:r>
              <a:rPr lang="en-US" altLang="zh-CN" dirty="0"/>
              <a:t>un</a:t>
            </a:r>
            <a:r>
              <a:rPr lang="zh-CN" altLang="en-US" dirty="0"/>
              <a:t>(at)=[200*cos(at[1])*at[2]-360,200*sin(at[1])*at[2]-4.905*at[2]^2-160]</a:t>
            </a:r>
          </a:p>
        </p:txBody>
      </p:sp>
      <p:sp>
        <p:nvSpPr>
          <p:cNvPr id="18" name="标题 1">
            <a:extLst>
              <a:ext uri="{FF2B5EF4-FFF2-40B4-BE49-F238E27FC236}">
                <a16:creationId xmlns:a16="http://schemas.microsoft.com/office/drawing/2014/main" id="{5A059682-B4CA-4739-89F7-C8DBCB198521}"/>
              </a:ext>
            </a:extLst>
          </p:cNvPr>
          <p:cNvSpPr txBox="1">
            <a:spLocks/>
          </p:cNvSpPr>
          <p:nvPr/>
        </p:nvSpPr>
        <p:spPr>
          <a:xfrm>
            <a:off x="1278417" y="137839"/>
            <a:ext cx="7326031" cy="438150"/>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600" b="0" dirty="0">
                <a:solidFill>
                  <a:srgbClr val="002060"/>
                </a:solidFill>
                <a:latin typeface="华文楷体" panose="02010600040101010101" pitchFamily="2" charset="-122"/>
                <a:ea typeface="华文楷体" panose="02010600040101010101" pitchFamily="2" charset="-122"/>
              </a:rPr>
              <a:t>§ 8.5.2</a:t>
            </a:r>
            <a:r>
              <a:rPr lang="zh-CN" altLang="en-US" sz="2600" b="0" dirty="0">
                <a:solidFill>
                  <a:srgbClr val="002060"/>
                </a:solidFill>
                <a:latin typeface="华文楷体" panose="02010600040101010101" pitchFamily="2" charset="-122"/>
                <a:ea typeface="华文楷体" panose="02010600040101010101" pitchFamily="2" charset="-122"/>
              </a:rPr>
              <a:t>求解非线性方程组 </a:t>
            </a:r>
            <a:r>
              <a:rPr lang="en-US" altLang="zh-CN" sz="2600" b="0" dirty="0" err="1">
                <a:solidFill>
                  <a:srgbClr val="FF0000"/>
                </a:solidFill>
                <a:latin typeface="华文楷体" panose="02010600040101010101" pitchFamily="2" charset="-122"/>
                <a:ea typeface="华文楷体" panose="02010600040101010101" pitchFamily="2" charset="-122"/>
              </a:rPr>
              <a:t>fsolve</a:t>
            </a:r>
            <a:r>
              <a:rPr lang="en-US" altLang="zh-CN" sz="2600" b="0" kern="0" dirty="0">
                <a:solidFill>
                  <a:srgbClr val="FF0000"/>
                </a:solidFill>
                <a:latin typeface="华文楷体" panose="02010600040101010101" pitchFamily="2" charset="-122"/>
                <a:ea typeface="华文楷体" panose="02010600040101010101" pitchFamily="2" charset="-122"/>
              </a:rPr>
              <a:t>——</a:t>
            </a:r>
            <a:r>
              <a:rPr lang="zh-CN" altLang="en-US" sz="2600" b="0" kern="0" dirty="0">
                <a:solidFill>
                  <a:srgbClr val="FF0000"/>
                </a:solidFill>
                <a:latin typeface="华文楷体" panose="02010600040101010101" pitchFamily="2" charset="-122"/>
                <a:ea typeface="华文楷体" panose="02010600040101010101" pitchFamily="2" charset="-122"/>
              </a:rPr>
              <a:t>方程组案例</a:t>
            </a:r>
          </a:p>
        </p:txBody>
      </p:sp>
      <p:sp>
        <p:nvSpPr>
          <p:cNvPr id="16" name="波形 15">
            <a:extLst>
              <a:ext uri="{FF2B5EF4-FFF2-40B4-BE49-F238E27FC236}">
                <a16:creationId xmlns:a16="http://schemas.microsoft.com/office/drawing/2014/main" id="{A9862A24-1F6A-4177-9B56-9E15318C6A25}"/>
              </a:ext>
            </a:extLst>
          </p:cNvPr>
          <p:cNvSpPr/>
          <p:nvPr/>
        </p:nvSpPr>
        <p:spPr>
          <a:xfrm>
            <a:off x="95273" y="315225"/>
            <a:ext cx="888558" cy="474076"/>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2000" b="1" dirty="0">
                <a:solidFill>
                  <a:srgbClr val="FFFF00"/>
                </a:solidFill>
                <a:latin typeface="微软雅黑" panose="020B0503020204020204" charset="-122"/>
                <a:ea typeface="微软雅黑" panose="020B0503020204020204" charset="-122"/>
              </a:rPr>
              <a:t>例85-2</a:t>
            </a:r>
            <a:endParaRPr lang="ko-KR" altLang="en-US" sz="2000" b="1" dirty="0">
              <a:solidFill>
                <a:srgbClr val="FFFF00"/>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4241980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12" grpId="0" animBg="1"/>
      <p:bldP spid="14" grpId="0" animBg="1"/>
      <p:bldP spid="3" grpId="0"/>
      <p:bldP spid="1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A44B3C-9EEE-33B6-4B10-DAE1F2161C46}"/>
              </a:ext>
            </a:extLst>
          </p:cNvPr>
          <p:cNvSpPr>
            <a:spLocks noGrp="1"/>
          </p:cNvSpPr>
          <p:nvPr>
            <p:ph type="title"/>
          </p:nvPr>
        </p:nvSpPr>
        <p:spPr>
          <a:xfrm>
            <a:off x="683568" y="837456"/>
            <a:ext cx="4104456" cy="438150"/>
          </a:xfrm>
          <a:noFill/>
        </p:spPr>
        <p:txBody>
          <a:bodyPr vert="horz" wrap="square" lIns="0" tIns="0" rIns="0" bIns="0" numCol="1" anchor="t">
            <a:noAutofit/>
          </a:bodyPr>
          <a:lstStyle/>
          <a:p>
            <a:pPr defTabSz="63500">
              <a:spcBef>
                <a:spcPts val="0"/>
              </a:spcBef>
              <a:spcAft>
                <a:spcPts val="0"/>
              </a:spcAft>
            </a:pPr>
            <a:r>
              <a:rPr lang="en-US" altLang="zh-CN" sz="2000" kern="1200" dirty="0">
                <a:solidFill>
                  <a:srgbClr val="0070C0"/>
                </a:solidFill>
                <a:latin typeface="微软雅黑" panose="020B0503020204020204" pitchFamily="34" charset="-122"/>
                <a:ea typeface="微软雅黑" panose="020B0503020204020204" pitchFamily="34" charset="-122"/>
                <a:cs typeface="+mn-cs"/>
              </a:rPr>
              <a:t>(3)</a:t>
            </a:r>
            <a:r>
              <a:rPr lang="zh-CN" altLang="en-US" sz="2000" kern="1200" dirty="0">
                <a:solidFill>
                  <a:srgbClr val="0070C0"/>
                </a:solidFill>
                <a:latin typeface="微软雅黑" panose="020B0503020204020204" pitchFamily="34" charset="-122"/>
                <a:ea typeface="微软雅黑" panose="020B0503020204020204" pitchFamily="34" charset="-122"/>
                <a:cs typeface="+mn-cs"/>
              </a:rPr>
              <a:t>绘制炮弹击中目标的运行图</a:t>
            </a:r>
          </a:p>
        </p:txBody>
      </p:sp>
      <p:sp>
        <p:nvSpPr>
          <p:cNvPr id="5" name="内容占位符 4">
            <a:extLst>
              <a:ext uri="{FF2B5EF4-FFF2-40B4-BE49-F238E27FC236}">
                <a16:creationId xmlns:a16="http://schemas.microsoft.com/office/drawing/2014/main" id="{4D416B26-CC56-49D9-89DC-E57B8192ED88}"/>
              </a:ext>
            </a:extLst>
          </p:cNvPr>
          <p:cNvSpPr>
            <a:spLocks noGrp="1"/>
          </p:cNvSpPr>
          <p:nvPr>
            <p:ph idx="1"/>
          </p:nvPr>
        </p:nvSpPr>
        <p:spPr>
          <a:xfrm>
            <a:off x="608723" y="1116977"/>
            <a:ext cx="8427265" cy="3464666"/>
          </a:xfrm>
          <a:prstGeom prst="rect">
            <a:avLst/>
          </a:prstGeom>
          <a:solidFill>
            <a:schemeClr val="bg1"/>
          </a:solidFill>
          <a:ln>
            <a:noFill/>
          </a:ln>
        </p:spPr>
        <p:txBody>
          <a:bodyPr wrap="square">
            <a:spAutoFit/>
          </a:bodyPr>
          <a:lstStyle/>
          <a:p>
            <a:pPr marL="0" indent="0">
              <a:buNone/>
            </a:pPr>
            <a:r>
              <a:rPr lang="en-US" altLang="zh-CN" sz="2000" dirty="0"/>
              <a:t>scatter(360,160,filled=true) #</a:t>
            </a:r>
            <a:r>
              <a:rPr lang="zh-CN" altLang="en-US" sz="2000" dirty="0"/>
              <a:t>绘制目标散点图</a:t>
            </a:r>
          </a:p>
          <a:p>
            <a:pPr marL="0" indent="0">
              <a:buNone/>
            </a:pPr>
            <a:r>
              <a:rPr lang="en-US" altLang="zh-CN" sz="2000" dirty="0"/>
              <a:t>text(360,160,"</a:t>
            </a:r>
            <a:r>
              <a:rPr lang="zh-CN" altLang="en-US" sz="2000" dirty="0"/>
              <a:t>目标</a:t>
            </a:r>
            <a:r>
              <a:rPr lang="en-US" altLang="zh-CN" sz="2000" dirty="0"/>
              <a:t>") #</a:t>
            </a:r>
            <a:r>
              <a:rPr lang="zh-CN" altLang="en-US" sz="2000" dirty="0"/>
              <a:t>图中标注目标</a:t>
            </a:r>
          </a:p>
          <a:p>
            <a:pPr marL="0" indent="0">
              <a:buNone/>
            </a:pPr>
            <a:r>
              <a:rPr lang="en-US" altLang="zh-CN" sz="2000" dirty="0"/>
              <a:t>hold("on"); #</a:t>
            </a:r>
            <a:r>
              <a:rPr lang="zh-CN" altLang="en-US" sz="2000" dirty="0"/>
              <a:t>叠加图</a:t>
            </a:r>
          </a:p>
          <a:p>
            <a:pPr marL="0" indent="0">
              <a:buNone/>
            </a:pPr>
            <a:r>
              <a:rPr lang="en-US" altLang="zh-CN" sz="2000" dirty="0"/>
              <a:t>axis([0,400,0,200]) #</a:t>
            </a:r>
            <a:r>
              <a:rPr lang="zh-CN" altLang="en-US" sz="2000" dirty="0"/>
              <a:t>设置坐标的区间</a:t>
            </a:r>
          </a:p>
          <a:p>
            <a:pPr marL="0" indent="0">
              <a:buNone/>
            </a:pPr>
            <a:r>
              <a:rPr lang="en-US" altLang="zh-CN" sz="2000" dirty="0"/>
              <a:t>t=0:0.0001:2.012; #</a:t>
            </a:r>
            <a:r>
              <a:rPr lang="zh-CN" altLang="en-US" sz="2000" dirty="0"/>
              <a:t>击中目标时间</a:t>
            </a:r>
            <a:r>
              <a:rPr lang="en-US" altLang="zh-CN" sz="2000" dirty="0"/>
              <a:t>2.0121</a:t>
            </a:r>
            <a:r>
              <a:rPr lang="zh-CN" altLang="en-US" sz="2000" dirty="0"/>
              <a:t>离散</a:t>
            </a:r>
          </a:p>
          <a:p>
            <a:pPr marL="0" indent="0">
              <a:buNone/>
            </a:pPr>
            <a:r>
              <a:rPr lang="en-US" altLang="zh-CN" sz="2000" dirty="0"/>
              <a:t>x = 200</a:t>
            </a:r>
            <a:r>
              <a:rPr lang="zh-CN" altLang="en-US" sz="2000" dirty="0"/>
              <a:t> </a:t>
            </a:r>
            <a:r>
              <a:rPr lang="en-US" altLang="zh-CN" sz="2000" dirty="0"/>
              <a:t>.* cos.(0.46333429167857554).*t </a:t>
            </a:r>
          </a:p>
          <a:p>
            <a:pPr marL="0" indent="0">
              <a:buNone/>
            </a:pPr>
            <a:r>
              <a:rPr lang="en-US" altLang="zh-CN" sz="2000" dirty="0"/>
              <a:t>y = 200</a:t>
            </a:r>
            <a:r>
              <a:rPr lang="zh-CN" altLang="en-US" sz="2000" dirty="0"/>
              <a:t> </a:t>
            </a:r>
            <a:r>
              <a:rPr lang="en-US" altLang="zh-CN" sz="2000" dirty="0"/>
              <a:t>.* sin.(0.46333429167857554).*t .-4.905</a:t>
            </a:r>
            <a:r>
              <a:rPr lang="zh-CN" altLang="en-US" sz="2000" dirty="0"/>
              <a:t> </a:t>
            </a:r>
            <a:r>
              <a:rPr lang="en-US" altLang="zh-CN" sz="2000" dirty="0"/>
              <a:t>.*t.^2</a:t>
            </a:r>
            <a:r>
              <a:rPr lang="zh-CN" altLang="en-US" sz="2000" dirty="0"/>
              <a:t> </a:t>
            </a:r>
          </a:p>
          <a:p>
            <a:pPr marL="0" indent="0">
              <a:buNone/>
            </a:pPr>
            <a:r>
              <a:rPr lang="en-US" altLang="zh-CN" sz="2000" dirty="0" err="1"/>
              <a:t>xlabel</a:t>
            </a:r>
            <a:r>
              <a:rPr lang="en-US" altLang="zh-CN" sz="2000" dirty="0"/>
              <a:t>("</a:t>
            </a:r>
            <a:r>
              <a:rPr lang="zh-CN" altLang="en-US" sz="2000" dirty="0"/>
              <a:t>炮弹水平飞行位置，</a:t>
            </a:r>
            <a:r>
              <a:rPr lang="en-US" altLang="zh-CN" sz="2000" dirty="0"/>
              <a:t>m")</a:t>
            </a:r>
          </a:p>
          <a:p>
            <a:pPr marL="0" indent="0">
              <a:buNone/>
            </a:pPr>
            <a:r>
              <a:rPr lang="en-US" altLang="zh-CN" sz="2000" dirty="0" err="1"/>
              <a:t>ylabel</a:t>
            </a:r>
            <a:r>
              <a:rPr lang="en-US" altLang="zh-CN" sz="2000" dirty="0"/>
              <a:t>("</a:t>
            </a:r>
            <a:r>
              <a:rPr lang="zh-CN" altLang="en-US" sz="2000" dirty="0"/>
              <a:t>炮弹垂直飞行位置，</a:t>
            </a:r>
            <a:r>
              <a:rPr lang="en-US" altLang="zh-CN" sz="2000" dirty="0"/>
              <a:t>m")</a:t>
            </a:r>
          </a:p>
          <a:p>
            <a:pPr marL="0" indent="0">
              <a:buNone/>
            </a:pPr>
            <a:r>
              <a:rPr lang="en-US" altLang="zh-CN" sz="2000" dirty="0"/>
              <a:t>comet(x,y)</a:t>
            </a:r>
            <a:endParaRPr lang="zh-CN" altLang="en-US" sz="2000" dirty="0"/>
          </a:p>
        </p:txBody>
      </p:sp>
      <p:pic>
        <p:nvPicPr>
          <p:cNvPr id="4" name="图片 3">
            <a:extLst>
              <a:ext uri="{FF2B5EF4-FFF2-40B4-BE49-F238E27FC236}">
                <a16:creationId xmlns:a16="http://schemas.microsoft.com/office/drawing/2014/main" id="{540F1BF3-1A5E-4148-9223-1A16F5B191FC}"/>
              </a:ext>
            </a:extLst>
          </p:cNvPr>
          <p:cNvPicPr>
            <a:picLocks noChangeAspect="1"/>
          </p:cNvPicPr>
          <p:nvPr/>
        </p:nvPicPr>
        <p:blipFill rotWithShape="1">
          <a:blip r:embed="rId3"/>
          <a:srcRect l="6105" t="12201" r="6295" b="5050"/>
          <a:stretch/>
        </p:blipFill>
        <p:spPr>
          <a:xfrm>
            <a:off x="5774389" y="2189748"/>
            <a:ext cx="3175460" cy="2160987"/>
          </a:xfrm>
          <a:prstGeom prst="rect">
            <a:avLst/>
          </a:prstGeom>
        </p:spPr>
      </p:pic>
      <p:sp>
        <p:nvSpPr>
          <p:cNvPr id="10" name="波形 9">
            <a:extLst>
              <a:ext uri="{FF2B5EF4-FFF2-40B4-BE49-F238E27FC236}">
                <a16:creationId xmlns:a16="http://schemas.microsoft.com/office/drawing/2014/main" id="{7F42F74E-3F27-4086-8FC7-4E7ADB01F1A8}"/>
              </a:ext>
            </a:extLst>
          </p:cNvPr>
          <p:cNvSpPr/>
          <p:nvPr/>
        </p:nvSpPr>
        <p:spPr>
          <a:xfrm>
            <a:off x="0" y="368957"/>
            <a:ext cx="827584" cy="474076"/>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charset="-122"/>
                <a:ea typeface="微软雅黑" panose="020B0503020204020204" charset="-122"/>
              </a:rPr>
              <a:t>例85-2</a:t>
            </a:r>
            <a:endParaRPr lang="ko-KR" altLang="en-US" b="1" dirty="0">
              <a:solidFill>
                <a:srgbClr val="FFFF00"/>
              </a:solidFill>
              <a:latin typeface="微软雅黑" panose="020B0503020204020204" charset="-122"/>
              <a:ea typeface="微软雅黑" panose="020B0503020204020204" charset="-122"/>
            </a:endParaRPr>
          </a:p>
        </p:txBody>
      </p:sp>
      <p:sp>
        <p:nvSpPr>
          <p:cNvPr id="11" name="文本框 10">
            <a:extLst>
              <a:ext uri="{FF2B5EF4-FFF2-40B4-BE49-F238E27FC236}">
                <a16:creationId xmlns:a16="http://schemas.microsoft.com/office/drawing/2014/main" id="{90183304-9D06-4EC5-BAC9-ECC8B0AB72BF}"/>
              </a:ext>
            </a:extLst>
          </p:cNvPr>
          <p:cNvSpPr txBox="1"/>
          <p:nvPr/>
        </p:nvSpPr>
        <p:spPr>
          <a:xfrm>
            <a:off x="6372200" y="1740610"/>
            <a:ext cx="2327763" cy="369332"/>
          </a:xfrm>
          <a:prstGeom prst="rect">
            <a:avLst/>
          </a:prstGeom>
          <a:noFill/>
        </p:spPr>
        <p:txBody>
          <a:bodyPr wrap="square">
            <a:spAutoFit/>
          </a:bodyPr>
          <a:lstStyle/>
          <a:p>
            <a:r>
              <a:rPr lang="zh-CN" altLang="en-US" sz="1800" b="1" dirty="0">
                <a:solidFill>
                  <a:srgbClr val="0070C0"/>
                </a:solidFill>
                <a:latin typeface="微软雅黑" panose="020B0503020204020204" pitchFamily="34" charset="-122"/>
                <a:ea typeface="微软雅黑" panose="020B0503020204020204" pitchFamily="34" charset="-122"/>
              </a:rPr>
              <a:t>配合图解法求最小值</a:t>
            </a:r>
            <a:endParaRPr lang="zh-CN" altLang="en-US" dirty="0"/>
          </a:p>
        </p:txBody>
      </p:sp>
      <p:sp>
        <p:nvSpPr>
          <p:cNvPr id="8" name="标题 1">
            <a:extLst>
              <a:ext uri="{FF2B5EF4-FFF2-40B4-BE49-F238E27FC236}">
                <a16:creationId xmlns:a16="http://schemas.microsoft.com/office/drawing/2014/main" id="{A716768D-B19B-4067-B7E8-290FDE99A8BE}"/>
              </a:ext>
            </a:extLst>
          </p:cNvPr>
          <p:cNvSpPr txBox="1">
            <a:spLocks/>
          </p:cNvSpPr>
          <p:nvPr/>
        </p:nvSpPr>
        <p:spPr>
          <a:xfrm>
            <a:off x="1278417" y="137839"/>
            <a:ext cx="7326031" cy="438150"/>
          </a:xfrm>
          <a:prstGeom prst="rect">
            <a:avLst/>
          </a:prstGeom>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600" b="0" dirty="0">
                <a:solidFill>
                  <a:srgbClr val="002060"/>
                </a:solidFill>
                <a:latin typeface="华文楷体" panose="02010600040101010101" pitchFamily="2" charset="-122"/>
                <a:ea typeface="华文楷体" panose="02010600040101010101" pitchFamily="2" charset="-122"/>
              </a:rPr>
              <a:t>§ 8.5.2</a:t>
            </a:r>
            <a:r>
              <a:rPr lang="zh-CN" altLang="en-US" sz="2600" b="0" dirty="0">
                <a:solidFill>
                  <a:srgbClr val="002060"/>
                </a:solidFill>
                <a:latin typeface="华文楷体" panose="02010600040101010101" pitchFamily="2" charset="-122"/>
                <a:ea typeface="华文楷体" panose="02010600040101010101" pitchFamily="2" charset="-122"/>
              </a:rPr>
              <a:t>求解非线性方程组 </a:t>
            </a:r>
            <a:r>
              <a:rPr lang="en-US" altLang="zh-CN" sz="2600" b="0" dirty="0" err="1">
                <a:solidFill>
                  <a:srgbClr val="FF0000"/>
                </a:solidFill>
                <a:latin typeface="华文楷体" panose="02010600040101010101" pitchFamily="2" charset="-122"/>
                <a:ea typeface="华文楷体" panose="02010600040101010101" pitchFamily="2" charset="-122"/>
              </a:rPr>
              <a:t>fsolve</a:t>
            </a:r>
            <a:r>
              <a:rPr lang="en-US" altLang="zh-CN" sz="2600" b="0" kern="0" dirty="0">
                <a:solidFill>
                  <a:srgbClr val="FF0000"/>
                </a:solidFill>
                <a:latin typeface="华文楷体" panose="02010600040101010101" pitchFamily="2" charset="-122"/>
                <a:ea typeface="华文楷体" panose="02010600040101010101" pitchFamily="2" charset="-122"/>
              </a:rPr>
              <a:t>——</a:t>
            </a:r>
            <a:r>
              <a:rPr lang="zh-CN" altLang="en-US" sz="2600" b="0" kern="0" dirty="0">
                <a:solidFill>
                  <a:srgbClr val="FF0000"/>
                </a:solidFill>
                <a:latin typeface="华文楷体" panose="02010600040101010101" pitchFamily="2" charset="-122"/>
                <a:ea typeface="华文楷体" panose="02010600040101010101" pitchFamily="2" charset="-122"/>
              </a:rPr>
              <a:t>方程组案例</a:t>
            </a:r>
          </a:p>
        </p:txBody>
      </p:sp>
      <p:sp>
        <p:nvSpPr>
          <p:cNvPr id="12" name="矩形 11">
            <a:extLst>
              <a:ext uri="{FF2B5EF4-FFF2-40B4-BE49-F238E27FC236}">
                <a16:creationId xmlns:a16="http://schemas.microsoft.com/office/drawing/2014/main" id="{748B64C3-9495-427A-87E6-9C536696C62E}"/>
              </a:ext>
            </a:extLst>
          </p:cNvPr>
          <p:cNvSpPr/>
          <p:nvPr/>
        </p:nvSpPr>
        <p:spPr>
          <a:xfrm>
            <a:off x="5471592" y="752386"/>
            <a:ext cx="3429771" cy="523220"/>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r="100000" b="100000"/>
            </a:path>
            <a:tileRect l="-100000" t="-100000"/>
          </a:gradFill>
          <a:ln>
            <a:solidFill>
              <a:schemeClr val="tx1"/>
            </a:solidFill>
          </a:ln>
        </p:spPr>
        <p:txBody>
          <a:bodyPr wrap="square">
            <a:spAutoFit/>
          </a:bodyPr>
          <a:lstStyle/>
          <a:p>
            <a:r>
              <a:rPr lang="zh-CN" altLang="en-US" sz="1400" dirty="0">
                <a:solidFill>
                  <a:srgbClr val="002060"/>
                </a:solidFill>
                <a:latin typeface="Times New Roman" panose="02020603050405020304" pitchFamily="18" charset="0"/>
                <a:cs typeface="Times New Roman" panose="02020603050405020304" pitchFamily="18" charset="0"/>
              </a:rPr>
              <a:t>根：</a:t>
            </a:r>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1400" dirty="0" err="1">
                <a:solidFill>
                  <a:srgbClr val="002060"/>
                </a:solidFill>
                <a:latin typeface="Times New Roman" panose="02020603050405020304" pitchFamily="18" charset="0"/>
                <a:cs typeface="Times New Roman" panose="02020603050405020304" pitchFamily="18" charset="0"/>
              </a:rPr>
              <a:t>att</a:t>
            </a:r>
            <a:r>
              <a:rPr lang="en-US" altLang="zh-CN" sz="1400" dirty="0">
                <a:solidFill>
                  <a:srgbClr val="002060"/>
                </a:solidFill>
                <a:latin typeface="Times New Roman" panose="02020603050405020304" pitchFamily="18" charset="0"/>
                <a:cs typeface="Times New Roman" panose="02020603050405020304" pitchFamily="18" charset="0"/>
              </a:rPr>
              <a:t>=[0.46333429167857554(</a:t>
            </a:r>
            <a:r>
              <a:rPr lang="zh-CN" altLang="en-US" sz="1400" dirty="0">
                <a:solidFill>
                  <a:srgbClr val="002060"/>
                </a:solidFill>
                <a:latin typeface="Times New Roman" panose="02020603050405020304" pitchFamily="18" charset="0"/>
                <a:cs typeface="Times New Roman" panose="02020603050405020304" pitchFamily="18" charset="0"/>
              </a:rPr>
              <a:t>发射角</a:t>
            </a:r>
            <a:r>
              <a:rPr lang="en-US" altLang="zh-CN" sz="1400" dirty="0">
                <a:solidFill>
                  <a:srgbClr val="002060"/>
                </a:solidFill>
                <a:latin typeface="Times New Roman" panose="02020603050405020304" pitchFamily="18" charset="0"/>
                <a:cs typeface="Times New Roman" panose="02020603050405020304" pitchFamily="18" charset="0"/>
              </a:rPr>
              <a:t>), 2.012146058411397</a:t>
            </a:r>
            <a:r>
              <a:rPr lang="zh-CN" altLang="en-US" sz="1400" dirty="0">
                <a:solidFill>
                  <a:srgbClr val="002060"/>
                </a:solidFill>
                <a:latin typeface="Times New Roman" panose="02020603050405020304" pitchFamily="18" charset="0"/>
                <a:cs typeface="Times New Roman" panose="02020603050405020304" pitchFamily="18" charset="0"/>
              </a:rPr>
              <a:t>（击中目标时间）</a:t>
            </a:r>
            <a:endParaRPr lang="en-US" altLang="zh-CN" sz="1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9595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DL之ANN/DNN： 人工神经网络ANN/DNN深度神经网络算法的简介、应用、经典案例之详细攻略_ann dnn-CSDN博客">
            <a:extLst>
              <a:ext uri="{FF2B5EF4-FFF2-40B4-BE49-F238E27FC236}">
                <a16:creationId xmlns:a16="http://schemas.microsoft.com/office/drawing/2014/main" id="{D5A9C585-F661-4131-B0D8-7C904A0A3A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5740"/>
          <a:stretch/>
        </p:blipFill>
        <p:spPr bwMode="auto">
          <a:xfrm>
            <a:off x="32637" y="2148133"/>
            <a:ext cx="3393245" cy="1383171"/>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189F6C05-9BF3-44A0-B8D8-3FA83E954074}"/>
              </a:ext>
            </a:extLst>
          </p:cNvPr>
          <p:cNvSpPr txBox="1"/>
          <p:nvPr/>
        </p:nvSpPr>
        <p:spPr>
          <a:xfrm>
            <a:off x="59393" y="3924545"/>
            <a:ext cx="9084607" cy="646331"/>
          </a:xfrm>
          <a:prstGeom prst="rect">
            <a:avLst/>
          </a:prstGeom>
          <a:noFill/>
        </p:spPr>
        <p:txBody>
          <a:bodyPr wrap="square">
            <a:spAutoFit/>
          </a:bodyPr>
          <a:lstStyle>
            <a:defPPr>
              <a:defRPr lang="zh-CN"/>
            </a:defPPr>
            <a:lvl1pPr>
              <a:defRPr>
                <a:solidFill>
                  <a:srgbClr val="002060"/>
                </a:solidFill>
                <a:latin typeface="隶书" panose="02010509060101010101" pitchFamily="49" charset="-122"/>
                <a:ea typeface="隶书" panose="02010509060101010101" pitchFamily="49" charset="-122"/>
              </a:defRPr>
            </a:lvl1pPr>
          </a:lstStyle>
          <a:p>
            <a:r>
              <a:rPr lang="zh-CN" altLang="en-US" dirty="0"/>
              <a:t>大模型通过训练海量数据来学习复杂的模式和特征，因此具备更强大的泛化能力，可以对未见过的数据做出准确的预测</a:t>
            </a:r>
            <a:r>
              <a:rPr lang="en-US" altLang="zh-CN" dirty="0"/>
              <a:t> </a:t>
            </a:r>
            <a:endParaRPr lang="zh-CN" altLang="en-US" dirty="0"/>
          </a:p>
        </p:txBody>
      </p:sp>
      <p:sp>
        <p:nvSpPr>
          <p:cNvPr id="6" name="文本框 5">
            <a:extLst>
              <a:ext uri="{FF2B5EF4-FFF2-40B4-BE49-F238E27FC236}">
                <a16:creationId xmlns:a16="http://schemas.microsoft.com/office/drawing/2014/main" id="{CE0DBBCB-48D5-4A35-B3D3-D8818CEB713F}"/>
              </a:ext>
            </a:extLst>
          </p:cNvPr>
          <p:cNvSpPr txBox="1"/>
          <p:nvPr/>
        </p:nvSpPr>
        <p:spPr>
          <a:xfrm>
            <a:off x="42466" y="739142"/>
            <a:ext cx="5849837" cy="923330"/>
          </a:xfrm>
          <a:prstGeom prst="rect">
            <a:avLst/>
          </a:prstGeom>
          <a:solidFill>
            <a:schemeClr val="bg1"/>
          </a:solidFill>
        </p:spPr>
        <p:txBody>
          <a:bodyPr wrap="square">
            <a:spAutoFit/>
          </a:bodyPr>
          <a:lstStyle/>
          <a:p>
            <a:r>
              <a:rPr lang="zh-CN" altLang="en-US" dirty="0">
                <a:solidFill>
                  <a:srgbClr val="002060"/>
                </a:solidFill>
                <a:latin typeface="隶书" panose="02010509060101010101" pitchFamily="49" charset="-122"/>
                <a:ea typeface="隶书" panose="02010509060101010101" pitchFamily="49" charset="-122"/>
                <a:sym typeface="+mn-ea"/>
              </a:rPr>
              <a:t>大模型通过深度学习的人工神经网络构架，对海量数据（</a:t>
            </a:r>
            <a:r>
              <a:rPr lang="en-US" altLang="zh-CN" b="1" dirty="0" err="1">
                <a:solidFill>
                  <a:srgbClr val="FF0000"/>
                </a:solidFill>
                <a:latin typeface="隶书" panose="02010509060101010101" pitchFamily="49" charset="-122"/>
                <a:ea typeface="隶书" panose="02010509060101010101" pitchFamily="49" charset="-122"/>
                <a:sym typeface="+mn-ea"/>
              </a:rPr>
              <a:t>x,y</a:t>
            </a:r>
            <a:r>
              <a:rPr lang="zh-CN" altLang="en-US" dirty="0">
                <a:solidFill>
                  <a:srgbClr val="002060"/>
                </a:solidFill>
                <a:latin typeface="隶书" panose="02010509060101010101" pitchFamily="49" charset="-122"/>
                <a:ea typeface="隶书" panose="02010509060101010101" pitchFamily="49" charset="-122"/>
                <a:sym typeface="+mn-ea"/>
              </a:rPr>
              <a:t>）训练，计算出</a:t>
            </a:r>
            <a:r>
              <a:rPr lang="zh-CN" altLang="en-US" dirty="0">
                <a:solidFill>
                  <a:srgbClr val="002060"/>
                </a:solidFill>
                <a:latin typeface="隶书" panose="02010509060101010101" pitchFamily="49" charset="-122"/>
                <a:ea typeface="隶书" panose="02010509060101010101" pitchFamily="49" charset="-122"/>
              </a:rPr>
              <a:t>数十亿甚至数千亿个参数</a:t>
            </a:r>
            <a:r>
              <a:rPr lang="en-US" altLang="zh-CN" b="1" dirty="0">
                <a:solidFill>
                  <a:srgbClr val="FF0000"/>
                </a:solidFill>
                <a:latin typeface="隶书" panose="02010509060101010101" pitchFamily="49" charset="-122"/>
                <a:ea typeface="隶书" panose="02010509060101010101" pitchFamily="49" charset="-122"/>
                <a:sym typeface="+mn-ea"/>
              </a:rPr>
              <a:t>w</a:t>
            </a:r>
            <a:r>
              <a:rPr lang="zh-CN" altLang="en-US" dirty="0">
                <a:solidFill>
                  <a:srgbClr val="002060"/>
                </a:solidFill>
                <a:latin typeface="隶书" panose="02010509060101010101" pitchFamily="49" charset="-122"/>
                <a:ea typeface="隶书" panose="02010509060101010101" pitchFamily="49" charset="-122"/>
                <a:sym typeface="+mn-ea"/>
              </a:rPr>
              <a:t>，从而通过</a:t>
            </a:r>
            <a:r>
              <a:rPr lang="zh-CN" altLang="en-US" dirty="0">
                <a:solidFill>
                  <a:srgbClr val="002060"/>
                </a:solidFill>
                <a:latin typeface="隶书" panose="02010509060101010101" pitchFamily="49" charset="-122"/>
                <a:ea typeface="隶书" panose="02010509060101010101" pitchFamily="49" charset="-122"/>
              </a:rPr>
              <a:t>大模型</a:t>
            </a:r>
            <a:r>
              <a:rPr lang="zh-CN" altLang="en-US" dirty="0">
                <a:solidFill>
                  <a:srgbClr val="002060"/>
                </a:solidFill>
                <a:latin typeface="隶书" panose="02010509060101010101" pitchFamily="49" charset="-122"/>
                <a:ea typeface="隶书" panose="02010509060101010101" pitchFamily="49" charset="-122"/>
                <a:sym typeface="+mn-ea"/>
              </a:rPr>
              <a:t>可以进行</a:t>
            </a:r>
            <a:r>
              <a:rPr lang="zh-CN" altLang="en-US" dirty="0">
                <a:solidFill>
                  <a:srgbClr val="FF0000"/>
                </a:solidFill>
                <a:latin typeface="隶书" panose="02010509060101010101" pitchFamily="49" charset="-122"/>
                <a:ea typeface="隶书" panose="02010509060101010101" pitchFamily="49" charset="-122"/>
                <a:sym typeface="+mn-ea"/>
              </a:rPr>
              <a:t>推理、验证和预测</a:t>
            </a:r>
            <a:endParaRPr lang="zh-CN" altLang="en-US" dirty="0">
              <a:solidFill>
                <a:srgbClr val="FF0000"/>
              </a:solidFill>
              <a:latin typeface="隶书" panose="02010509060101010101" pitchFamily="49" charset="-122"/>
              <a:ea typeface="隶书" panose="02010509060101010101" pitchFamily="49" charset="-122"/>
            </a:endParaRPr>
          </a:p>
        </p:txBody>
      </p:sp>
      <p:sp>
        <p:nvSpPr>
          <p:cNvPr id="7" name="文本框 6">
            <a:extLst>
              <a:ext uri="{FF2B5EF4-FFF2-40B4-BE49-F238E27FC236}">
                <a16:creationId xmlns:a16="http://schemas.microsoft.com/office/drawing/2014/main" id="{AFF1AD2B-7957-4D20-A45E-2B4A4492A61F}"/>
              </a:ext>
            </a:extLst>
          </p:cNvPr>
          <p:cNvSpPr txBox="1"/>
          <p:nvPr/>
        </p:nvSpPr>
        <p:spPr>
          <a:xfrm>
            <a:off x="156085" y="3589425"/>
            <a:ext cx="3364315" cy="276999"/>
          </a:xfrm>
          <a:prstGeom prst="rect">
            <a:avLst/>
          </a:prstGeom>
          <a:noFill/>
        </p:spPr>
        <p:txBody>
          <a:bodyPr wrap="square">
            <a:spAutoFit/>
          </a:bodyPr>
          <a:lstStyle>
            <a:defPPr>
              <a:defRPr lang="zh-CN"/>
            </a:defPPr>
            <a:lvl1pPr>
              <a:defRPr sz="1600" b="1">
                <a:solidFill>
                  <a:srgbClr val="0070C0"/>
                </a:solidFill>
                <a:latin typeface="微软雅黑" panose="020B0503020204020204" pitchFamily="34" charset="-122"/>
                <a:ea typeface="微软雅黑" panose="020B0503020204020204" pitchFamily="34" charset="-122"/>
              </a:defRPr>
            </a:lvl1pPr>
          </a:lstStyle>
          <a:p>
            <a:r>
              <a:rPr lang="zh-CN" altLang="en-US" sz="1200" dirty="0">
                <a:solidFill>
                  <a:schemeClr val="bg1"/>
                </a:solidFill>
                <a:highlight>
                  <a:srgbClr val="FF0000"/>
                </a:highlight>
                <a:sym typeface="+mn-ea"/>
              </a:rPr>
              <a:t>输出</a:t>
            </a:r>
            <a:r>
              <a:rPr lang="en-US" altLang="zh-CN" sz="1200" dirty="0">
                <a:solidFill>
                  <a:schemeClr val="bg1"/>
                </a:solidFill>
                <a:highlight>
                  <a:srgbClr val="FF0000"/>
                </a:highlight>
                <a:sym typeface="+mn-ea"/>
              </a:rPr>
              <a:t>y=f(</a:t>
            </a:r>
            <a:r>
              <a:rPr lang="zh-CN" altLang="en-US" sz="1200" dirty="0">
                <a:solidFill>
                  <a:schemeClr val="bg1"/>
                </a:solidFill>
                <a:highlight>
                  <a:srgbClr val="FF0000"/>
                </a:highlight>
              </a:rPr>
              <a:t>输入变量</a:t>
            </a:r>
            <a:r>
              <a:rPr lang="en-US" altLang="zh-CN" sz="1200" dirty="0">
                <a:solidFill>
                  <a:schemeClr val="bg1"/>
                </a:solidFill>
                <a:highlight>
                  <a:srgbClr val="FF0000"/>
                </a:highlight>
                <a:sym typeface="+mn-ea"/>
              </a:rPr>
              <a:t>x</a:t>
            </a:r>
            <a:r>
              <a:rPr lang="zh-CN" altLang="en-US" sz="1200" dirty="0">
                <a:solidFill>
                  <a:schemeClr val="bg1"/>
                </a:solidFill>
                <a:highlight>
                  <a:srgbClr val="FF0000"/>
                </a:highlight>
                <a:sym typeface="+mn-ea"/>
              </a:rPr>
              <a:t>，</a:t>
            </a:r>
            <a:r>
              <a:rPr lang="zh-CN" altLang="en-US" sz="1200" dirty="0">
                <a:solidFill>
                  <a:schemeClr val="bg1"/>
                </a:solidFill>
                <a:highlight>
                  <a:srgbClr val="FF0000"/>
                </a:highlight>
              </a:rPr>
              <a:t>参数</a:t>
            </a:r>
            <a:r>
              <a:rPr lang="en-US" altLang="zh-CN" sz="1200" dirty="0">
                <a:solidFill>
                  <a:schemeClr val="bg1"/>
                </a:solidFill>
                <a:highlight>
                  <a:srgbClr val="FF0000"/>
                </a:highlight>
              </a:rPr>
              <a:t>【</a:t>
            </a:r>
            <a:r>
              <a:rPr lang="zh-CN" altLang="en-US" sz="1200" dirty="0">
                <a:solidFill>
                  <a:schemeClr val="bg1"/>
                </a:solidFill>
                <a:highlight>
                  <a:srgbClr val="FF0000"/>
                </a:highlight>
              </a:rPr>
              <a:t>权重</a:t>
            </a:r>
            <a:r>
              <a:rPr lang="en-US" altLang="zh-CN" sz="1200" dirty="0">
                <a:solidFill>
                  <a:schemeClr val="bg1"/>
                </a:solidFill>
                <a:highlight>
                  <a:srgbClr val="FF0000"/>
                </a:highlight>
              </a:rPr>
              <a:t>w</a:t>
            </a:r>
            <a:r>
              <a:rPr lang="zh-CN" altLang="en-US" sz="1200" dirty="0">
                <a:solidFill>
                  <a:schemeClr val="bg1"/>
                </a:solidFill>
                <a:highlight>
                  <a:srgbClr val="FF0000"/>
                </a:highlight>
              </a:rPr>
              <a:t>、偏移</a:t>
            </a:r>
            <a:r>
              <a:rPr lang="en-US" altLang="zh-CN" sz="1200" dirty="0">
                <a:solidFill>
                  <a:schemeClr val="bg1"/>
                </a:solidFill>
                <a:highlight>
                  <a:srgbClr val="FF0000"/>
                </a:highlight>
              </a:rPr>
              <a:t>】</a:t>
            </a:r>
            <a:r>
              <a:rPr lang="en-US" altLang="zh-CN" sz="1200" dirty="0">
                <a:solidFill>
                  <a:schemeClr val="bg1"/>
                </a:solidFill>
                <a:highlight>
                  <a:srgbClr val="FF0000"/>
                </a:highlight>
                <a:sym typeface="+mn-ea"/>
              </a:rPr>
              <a:t>) </a:t>
            </a:r>
            <a:endParaRPr lang="zh-CN" altLang="en-US" sz="1200" dirty="0">
              <a:solidFill>
                <a:schemeClr val="bg1"/>
              </a:solidFill>
              <a:highlight>
                <a:srgbClr val="FF0000"/>
              </a:highlight>
            </a:endParaRPr>
          </a:p>
        </p:txBody>
      </p:sp>
      <p:pic>
        <p:nvPicPr>
          <p:cNvPr id="8" name="图片 7">
            <a:extLst>
              <a:ext uri="{FF2B5EF4-FFF2-40B4-BE49-F238E27FC236}">
                <a16:creationId xmlns:a16="http://schemas.microsoft.com/office/drawing/2014/main" id="{D8229072-F793-4B39-A05F-B6F99CE0466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287" t="57049" r="16925" b="8333"/>
          <a:stretch/>
        </p:blipFill>
        <p:spPr>
          <a:xfrm>
            <a:off x="5808694" y="834567"/>
            <a:ext cx="3213671" cy="796152"/>
          </a:xfrm>
          <a:prstGeom prst="rect">
            <a:avLst/>
          </a:prstGeom>
        </p:spPr>
      </p:pic>
      <p:sp>
        <p:nvSpPr>
          <p:cNvPr id="12" name="文本框 11">
            <a:extLst>
              <a:ext uri="{FF2B5EF4-FFF2-40B4-BE49-F238E27FC236}">
                <a16:creationId xmlns:a16="http://schemas.microsoft.com/office/drawing/2014/main" id="{5C4E2902-579B-4E5B-B156-0A7F4CF1CF64}"/>
              </a:ext>
            </a:extLst>
          </p:cNvPr>
          <p:cNvSpPr txBox="1"/>
          <p:nvPr/>
        </p:nvSpPr>
        <p:spPr>
          <a:xfrm>
            <a:off x="107504" y="1754331"/>
            <a:ext cx="2753080" cy="338554"/>
          </a:xfrm>
          <a:prstGeom prst="rect">
            <a:avLst/>
          </a:prstGeom>
          <a:noFill/>
        </p:spPr>
        <p:txBody>
          <a:bodyPr wrap="square">
            <a:spAutoFit/>
          </a:bodyPr>
          <a:lstStyle>
            <a:defPPr>
              <a:defRPr lang="zh-CN"/>
            </a:defPPr>
            <a:lvl1pPr>
              <a:defRPr sz="1600" b="1">
                <a:solidFill>
                  <a:srgbClr val="0070C0"/>
                </a:solidFill>
                <a:latin typeface="微软雅黑" panose="020B0503020204020204" pitchFamily="34" charset="-122"/>
                <a:ea typeface="微软雅黑" panose="020B0503020204020204" pitchFamily="34" charset="-122"/>
              </a:defRPr>
            </a:lvl1pPr>
          </a:lstStyle>
          <a:p>
            <a:pPr algn="dist"/>
            <a:r>
              <a:rPr lang="zh-CN" altLang="en-US" dirty="0">
                <a:sym typeface="+mn-ea"/>
              </a:rPr>
              <a:t>典型的人工神经网络构架</a:t>
            </a:r>
            <a:endParaRPr lang="zh-CN" altLang="en-US" dirty="0"/>
          </a:p>
        </p:txBody>
      </p:sp>
      <p:sp>
        <p:nvSpPr>
          <p:cNvPr id="9" name="文本框 8">
            <a:extLst>
              <a:ext uri="{FF2B5EF4-FFF2-40B4-BE49-F238E27FC236}">
                <a16:creationId xmlns:a16="http://schemas.microsoft.com/office/drawing/2014/main" id="{C1B1CC7D-5512-4345-A853-302858003803}"/>
              </a:ext>
            </a:extLst>
          </p:cNvPr>
          <p:cNvSpPr txBox="1"/>
          <p:nvPr/>
        </p:nvSpPr>
        <p:spPr>
          <a:xfrm>
            <a:off x="5807051" y="822858"/>
            <a:ext cx="3263144" cy="307777"/>
          </a:xfrm>
          <a:prstGeom prst="rect">
            <a:avLst/>
          </a:prstGeom>
          <a:noFill/>
        </p:spPr>
        <p:txBody>
          <a:bodyPr wrap="square">
            <a:spAutoFit/>
          </a:bodyPr>
          <a:lstStyle/>
          <a:p>
            <a:r>
              <a:rPr lang="zh-CN" altLang="en-US" sz="1400" b="1" dirty="0">
                <a:solidFill>
                  <a:schemeClr val="bg1"/>
                </a:solidFill>
                <a:latin typeface="微软雅黑" panose="020B0503020204020204" pitchFamily="34" charset="-122"/>
                <a:ea typeface="微软雅黑" panose="020B0503020204020204" pitchFamily="34" charset="-122"/>
              </a:rPr>
              <a:t>DeepSeek大模型</a:t>
            </a:r>
            <a:r>
              <a:rPr lang="en-US" altLang="zh-CN" sz="1400" b="1" dirty="0">
                <a:solidFill>
                  <a:schemeClr val="bg1"/>
                </a:solidFill>
                <a:latin typeface="微软雅黑" panose="020B0503020204020204" pitchFamily="34" charset="-122"/>
                <a:ea typeface="微软雅黑" panose="020B0503020204020204" pitchFamily="34" charset="-122"/>
              </a:rPr>
              <a:t>25</a:t>
            </a:r>
            <a:r>
              <a:rPr lang="zh-CN" altLang="en-US" sz="1400" b="1" dirty="0">
                <a:solidFill>
                  <a:schemeClr val="bg1"/>
                </a:solidFill>
                <a:latin typeface="微软雅黑" panose="020B0503020204020204" pitchFamily="34" charset="-122"/>
                <a:ea typeface="微软雅黑" panose="020B0503020204020204" pitchFamily="34" charset="-122"/>
              </a:rPr>
              <a:t>年</a:t>
            </a:r>
            <a:r>
              <a:rPr lang="en-US" altLang="zh-CN" sz="1400" b="1" dirty="0">
                <a:solidFill>
                  <a:schemeClr val="bg1"/>
                </a:solidFill>
                <a:latin typeface="微软雅黑" panose="020B0503020204020204" pitchFamily="34" charset="-122"/>
                <a:ea typeface="微软雅黑" panose="020B0503020204020204" pitchFamily="34" charset="-122"/>
              </a:rPr>
              <a:t>1</a:t>
            </a:r>
            <a:r>
              <a:rPr lang="zh-CN" altLang="en-US" sz="1400" b="1" dirty="0">
                <a:solidFill>
                  <a:schemeClr val="bg1"/>
                </a:solidFill>
                <a:latin typeface="微软雅黑" panose="020B0503020204020204" pitchFamily="34" charset="-122"/>
                <a:ea typeface="微软雅黑" panose="020B0503020204020204" pitchFamily="34" charset="-122"/>
              </a:rPr>
              <a:t>月</a:t>
            </a:r>
            <a:r>
              <a:rPr lang="en-US" altLang="zh-CN" sz="1400" b="1" dirty="0">
                <a:solidFill>
                  <a:schemeClr val="bg1"/>
                </a:solidFill>
                <a:latin typeface="微软雅黑" panose="020B0503020204020204" pitchFamily="34" charset="-122"/>
                <a:ea typeface="微软雅黑" panose="020B0503020204020204" pitchFamily="34" charset="-122"/>
              </a:rPr>
              <a:t>20</a:t>
            </a:r>
            <a:r>
              <a:rPr lang="zh-CN" altLang="en-US" sz="1400" b="1" dirty="0">
                <a:solidFill>
                  <a:schemeClr val="bg1"/>
                </a:solidFill>
                <a:latin typeface="微软雅黑" panose="020B0503020204020204" pitchFamily="34" charset="-122"/>
                <a:ea typeface="微软雅黑" panose="020B0503020204020204" pitchFamily="34" charset="-122"/>
              </a:rPr>
              <a:t>横空出世</a:t>
            </a:r>
            <a:endParaRPr lang="zh-CN" altLang="en-US" sz="1400" dirty="0">
              <a:solidFill>
                <a:schemeClr val="bg1"/>
              </a:solidFill>
            </a:endParaRPr>
          </a:p>
        </p:txBody>
      </p:sp>
      <p:sp>
        <p:nvSpPr>
          <p:cNvPr id="13" name="标题 1">
            <a:extLst>
              <a:ext uri="{FF2B5EF4-FFF2-40B4-BE49-F238E27FC236}">
                <a16:creationId xmlns:a16="http://schemas.microsoft.com/office/drawing/2014/main" id="{3F710C12-066C-4DF9-AE93-715D24E6A8C2}"/>
              </a:ext>
            </a:extLst>
          </p:cNvPr>
          <p:cNvSpPr txBox="1">
            <a:spLocks/>
          </p:cNvSpPr>
          <p:nvPr/>
        </p:nvSpPr>
        <p:spPr bwMode="auto">
          <a:xfrm>
            <a:off x="1729259" y="182784"/>
            <a:ext cx="5976664"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600" b="0">
                <a:solidFill>
                  <a:srgbClr val="002E5C"/>
                </a:solidFill>
                <a:latin typeface="隶书" panose="02010509060101010101" pitchFamily="49" charset="-122"/>
                <a:ea typeface="隶书" panose="02010509060101010101" pitchFamily="49"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pPr lvl="0">
              <a:defRPr/>
            </a:pPr>
            <a:r>
              <a:rPr lang="en-US" altLang="zh-CN" sz="2800" dirty="0">
                <a:solidFill>
                  <a:srgbClr val="002060"/>
                </a:solidFill>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深度学习简介</a:t>
            </a:r>
            <a:r>
              <a:rPr lang="en-US" altLang="zh-CN" sz="2800" kern="0" dirty="0">
                <a:solidFill>
                  <a:srgbClr val="FF0000"/>
                </a:solidFill>
                <a:latin typeface="华文楷体" panose="02010600040101010101" pitchFamily="2" charset="-122"/>
                <a:ea typeface="华文楷体" panose="02010600040101010101" pitchFamily="2" charset="-122"/>
              </a:rPr>
              <a:t>——</a:t>
            </a:r>
            <a:r>
              <a:rPr lang="zh-CN" altLang="en-US" sz="2800" kern="0" dirty="0">
                <a:solidFill>
                  <a:srgbClr val="FF0000"/>
                </a:solidFill>
                <a:latin typeface="华文楷体" panose="02010600040101010101" pitchFamily="2" charset="-122"/>
                <a:ea typeface="华文楷体" panose="02010600040101010101" pitchFamily="2" charset="-122"/>
                <a:sym typeface="+mn-ea"/>
              </a:rPr>
              <a:t>人工神经网络构架</a:t>
            </a:r>
            <a:endParaRPr lang="zh-CN" altLang="en-US" sz="2800" kern="0" dirty="0">
              <a:solidFill>
                <a:srgbClr val="FF0000"/>
              </a:solidFill>
              <a:latin typeface="华文楷体" panose="02010600040101010101" pitchFamily="2" charset="-122"/>
              <a:ea typeface="华文楷体" panose="02010600040101010101" pitchFamily="2" charset="-122"/>
            </a:endParaRPr>
          </a:p>
        </p:txBody>
      </p:sp>
      <p:pic>
        <p:nvPicPr>
          <p:cNvPr id="14" name="图片 13">
            <a:extLst>
              <a:ext uri="{FF2B5EF4-FFF2-40B4-BE49-F238E27FC236}">
                <a16:creationId xmlns:a16="http://schemas.microsoft.com/office/drawing/2014/main" id="{FD28D137-7C7A-4212-B6C0-6BBAD5B88240}"/>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7535" t="64000" r="5647" b="23423"/>
          <a:stretch/>
        </p:blipFill>
        <p:spPr>
          <a:xfrm>
            <a:off x="3622059" y="2148133"/>
            <a:ext cx="5365856" cy="1704679"/>
          </a:xfrm>
          <a:prstGeom prst="rect">
            <a:avLst/>
          </a:prstGeom>
        </p:spPr>
      </p:pic>
      <p:sp>
        <p:nvSpPr>
          <p:cNvPr id="11" name="文本框 10">
            <a:extLst>
              <a:ext uri="{FF2B5EF4-FFF2-40B4-BE49-F238E27FC236}">
                <a16:creationId xmlns:a16="http://schemas.microsoft.com/office/drawing/2014/main" id="{74F19022-F11D-4054-9624-6AC142914F5D}"/>
              </a:ext>
            </a:extLst>
          </p:cNvPr>
          <p:cNvSpPr txBox="1"/>
          <p:nvPr/>
        </p:nvSpPr>
        <p:spPr>
          <a:xfrm>
            <a:off x="2829664" y="1743237"/>
            <a:ext cx="6284757" cy="338554"/>
          </a:xfrm>
          <a:prstGeom prst="rect">
            <a:avLst/>
          </a:prstGeom>
          <a:noFill/>
        </p:spPr>
        <p:txBody>
          <a:bodyPr wrap="square">
            <a:spAutoFit/>
          </a:bodyPr>
          <a:lstStyle/>
          <a:p>
            <a:pPr algn="dist"/>
            <a:r>
              <a:rPr lang="zh-CN" altLang="en-US" sz="1600" b="1" dirty="0">
                <a:solidFill>
                  <a:srgbClr val="00B0F0"/>
                </a:solidFill>
                <a:latin typeface="Microsoft YaHei" panose="020B0503020204020204" pitchFamily="34" charset="-122"/>
                <a:ea typeface="Microsoft YaHei" panose="020B0503020204020204" pitchFamily="34" charset="-122"/>
              </a:rPr>
              <a:t>卷积神经网络</a:t>
            </a:r>
            <a:r>
              <a:rPr lang="zh-CN" altLang="en-US" sz="1600" b="1" dirty="0">
                <a:solidFill>
                  <a:srgbClr val="00B0F0"/>
                </a:solidFill>
                <a:latin typeface="微软雅黑" panose="020B0503020204020204" pitchFamily="34" charset="-122"/>
                <a:ea typeface="微软雅黑" panose="020B0503020204020204" pitchFamily="34" charset="-122"/>
              </a:rPr>
              <a:t>专门用来处理图像、视频、声音等数据的深度学习模型</a:t>
            </a:r>
          </a:p>
        </p:txBody>
      </p:sp>
    </p:spTree>
    <p:extLst>
      <p:ext uri="{BB962C8B-B14F-4D97-AF65-F5344CB8AC3E}">
        <p14:creationId xmlns:p14="http://schemas.microsoft.com/office/powerpoint/2010/main" val="3671028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2" grpId="0"/>
      <p:bldP spid="11"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4DB4163-6AF0-4EBA-B61F-8E9601288259}"/>
              </a:ext>
            </a:extLst>
          </p:cNvPr>
          <p:cNvSpPr txBox="1">
            <a:spLocks/>
          </p:cNvSpPr>
          <p:nvPr/>
        </p:nvSpPr>
        <p:spPr bwMode="auto">
          <a:xfrm>
            <a:off x="1043608" y="128101"/>
            <a:ext cx="7488832" cy="504056"/>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600" b="0">
                <a:solidFill>
                  <a:srgbClr val="002E5C"/>
                </a:solidFill>
                <a:latin typeface="隶书" panose="02010509060101010101" pitchFamily="49" charset="-122"/>
                <a:ea typeface="隶书" panose="02010509060101010101" pitchFamily="49"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pPr>
              <a:defRPr/>
            </a:pPr>
            <a:endParaRPr lang="en-US" altLang="zh-CN" sz="2800" dirty="0">
              <a:solidFill>
                <a:srgbClr val="002060"/>
              </a:solidFill>
              <a:latin typeface="华文楷体" panose="02010600040101010101" pitchFamily="2" charset="-122"/>
              <a:ea typeface="华文楷体" panose="02010600040101010101" pitchFamily="2" charset="-122"/>
            </a:endParaRPr>
          </a:p>
          <a:p>
            <a:pPr>
              <a:defRPr/>
            </a:pPr>
            <a:r>
              <a:rPr lang="en-US" altLang="zh-CN" sz="2800" dirty="0">
                <a:solidFill>
                  <a:srgbClr val="002060"/>
                </a:solidFill>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深度学习主要步骤</a:t>
            </a:r>
            <a:r>
              <a:rPr lang="en-US" altLang="zh-CN" sz="2800" kern="0" dirty="0">
                <a:solidFill>
                  <a:srgbClr val="FF0000"/>
                </a:solidFill>
                <a:latin typeface="华文楷体" panose="02010600040101010101" pitchFamily="2" charset="-122"/>
                <a:ea typeface="华文楷体" panose="02010600040101010101" pitchFamily="2" charset="-122"/>
              </a:rPr>
              <a:t>——</a:t>
            </a:r>
            <a:r>
              <a:rPr lang="zh-CN" altLang="en-US" sz="2800" kern="0" dirty="0">
                <a:solidFill>
                  <a:srgbClr val="FF0000"/>
                </a:solidFill>
                <a:latin typeface="华文楷体" panose="02010600040101010101" pitchFamily="2" charset="-122"/>
                <a:ea typeface="华文楷体" panose="02010600040101010101" pitchFamily="2" charset="-122"/>
              </a:rPr>
              <a:t>卷积神经网络模型</a:t>
            </a:r>
          </a:p>
        </p:txBody>
      </p:sp>
      <p:pic>
        <p:nvPicPr>
          <p:cNvPr id="12" name="图片 11">
            <a:extLst>
              <a:ext uri="{FF2B5EF4-FFF2-40B4-BE49-F238E27FC236}">
                <a16:creationId xmlns:a16="http://schemas.microsoft.com/office/drawing/2014/main" id="{115C7BC9-F7BA-4800-8891-6C2F415D8002}"/>
              </a:ext>
            </a:extLst>
          </p:cNvPr>
          <p:cNvPicPr>
            <a:picLocks noChangeAspect="1"/>
          </p:cNvPicPr>
          <p:nvPr/>
        </p:nvPicPr>
        <p:blipFill>
          <a:blip r:embed="rId3"/>
          <a:stretch>
            <a:fillRect/>
          </a:stretch>
        </p:blipFill>
        <p:spPr>
          <a:xfrm>
            <a:off x="5577519" y="1327268"/>
            <a:ext cx="3447974" cy="2000587"/>
          </a:xfrm>
          <a:prstGeom prst="rect">
            <a:avLst/>
          </a:prstGeom>
        </p:spPr>
      </p:pic>
      <p:sp>
        <p:nvSpPr>
          <p:cNvPr id="14" name="文本框 13">
            <a:extLst>
              <a:ext uri="{FF2B5EF4-FFF2-40B4-BE49-F238E27FC236}">
                <a16:creationId xmlns:a16="http://schemas.microsoft.com/office/drawing/2014/main" id="{27A278B9-6F4B-446C-A187-8EB8C7CD15D6}"/>
              </a:ext>
            </a:extLst>
          </p:cNvPr>
          <p:cNvSpPr txBox="1"/>
          <p:nvPr/>
        </p:nvSpPr>
        <p:spPr>
          <a:xfrm>
            <a:off x="5933319" y="1096436"/>
            <a:ext cx="3024336" cy="461665"/>
          </a:xfrm>
          <a:prstGeom prst="rect">
            <a:avLst/>
          </a:prstGeom>
          <a:noFill/>
        </p:spPr>
        <p:txBody>
          <a:bodyPr wrap="square">
            <a:spAutoFit/>
          </a:bodyPr>
          <a:lstStyle/>
          <a:p>
            <a:r>
              <a:rPr lang="zh-CN" altLang="en-US" sz="1200" dirty="0">
                <a:solidFill>
                  <a:srgbClr val="0070C0"/>
                </a:solidFill>
              </a:rPr>
              <a:t>卷积层将输入图像放进一组卷积滤波器，每个滤波器激活图像中的某些特征</a:t>
            </a:r>
          </a:p>
        </p:txBody>
      </p:sp>
      <p:sp>
        <p:nvSpPr>
          <p:cNvPr id="6" name="文本框 5">
            <a:extLst>
              <a:ext uri="{FF2B5EF4-FFF2-40B4-BE49-F238E27FC236}">
                <a16:creationId xmlns:a16="http://schemas.microsoft.com/office/drawing/2014/main" id="{FBE1BEA6-0164-4FA8-BCFB-04D84AF78721}"/>
              </a:ext>
            </a:extLst>
          </p:cNvPr>
          <p:cNvSpPr txBox="1"/>
          <p:nvPr/>
        </p:nvSpPr>
        <p:spPr>
          <a:xfrm>
            <a:off x="186345" y="741114"/>
            <a:ext cx="8771310" cy="338554"/>
          </a:xfrm>
          <a:prstGeom prst="rect">
            <a:avLst/>
          </a:prstGeom>
          <a:solidFill>
            <a:schemeClr val="bg1"/>
          </a:solidFill>
        </p:spPr>
        <p:txBody>
          <a:bodyPr wrap="square">
            <a:spAutoFit/>
          </a:bodyPr>
          <a:lstStyle/>
          <a:p>
            <a:pPr algn="dist"/>
            <a:r>
              <a:rPr lang="zh-CN" altLang="en-US" sz="1600" b="1" dirty="0">
                <a:solidFill>
                  <a:srgbClr val="00B0F0"/>
                </a:solidFill>
                <a:latin typeface="Microsoft YaHei" panose="020B0503020204020204" pitchFamily="34" charset="-122"/>
                <a:ea typeface="Microsoft YaHei" panose="020B0503020204020204" pitchFamily="34" charset="-122"/>
              </a:rPr>
              <a:t>卷积神经网络</a:t>
            </a:r>
            <a:r>
              <a:rPr lang="zh-CN" altLang="en-US" sz="1600" b="1" dirty="0">
                <a:solidFill>
                  <a:srgbClr val="00B0F0"/>
                </a:solidFill>
                <a:latin typeface="微软雅黑" panose="020B0503020204020204" pitchFamily="34" charset="-122"/>
                <a:ea typeface="微软雅黑" panose="020B0503020204020204" pitchFamily="34" charset="-122"/>
              </a:rPr>
              <a:t>专门用来处理图像、视频、声音等数据的深度学习模型</a:t>
            </a:r>
          </a:p>
        </p:txBody>
      </p:sp>
      <p:pic>
        <p:nvPicPr>
          <p:cNvPr id="1026" name="Picture 2">
            <a:extLst>
              <a:ext uri="{FF2B5EF4-FFF2-40B4-BE49-F238E27FC236}">
                <a16:creationId xmlns:a16="http://schemas.microsoft.com/office/drawing/2014/main" id="{80328451-C984-498E-936F-F2DFE146B89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34523" y="3102697"/>
            <a:ext cx="3275856" cy="1457642"/>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1A3CCB28-8911-4DEA-9ECC-8A153F18FA86}"/>
              </a:ext>
            </a:extLst>
          </p:cNvPr>
          <p:cNvSpPr txBox="1"/>
          <p:nvPr/>
        </p:nvSpPr>
        <p:spPr>
          <a:xfrm>
            <a:off x="245283" y="1234361"/>
            <a:ext cx="5400600" cy="3111236"/>
          </a:xfrm>
          <a:prstGeom prst="rect">
            <a:avLst/>
          </a:prstGeom>
          <a:gradFill flip="none" rotWithShape="1">
            <a:gsLst>
              <a:gs pos="0">
                <a:schemeClr val="bg1">
                  <a:shade val="30000"/>
                  <a:satMod val="115000"/>
                </a:schemeClr>
              </a:gs>
              <a:gs pos="15000">
                <a:schemeClr val="bg1">
                  <a:shade val="67500"/>
                  <a:satMod val="115000"/>
                </a:schemeClr>
              </a:gs>
              <a:gs pos="100000">
                <a:schemeClr val="bg1">
                  <a:shade val="100000"/>
                  <a:satMod val="115000"/>
                </a:schemeClr>
              </a:gs>
            </a:gsLst>
            <a:path path="circle">
              <a:fillToRect l="100000" b="100000"/>
            </a:path>
            <a:tileRect t="-100000" r="-100000"/>
          </a:gradFill>
          <a:ln>
            <a:solidFill>
              <a:schemeClr val="bg1">
                <a:lumMod val="85000"/>
              </a:schemeClr>
            </a:solidFill>
          </a:ln>
        </p:spPr>
        <p:txBody>
          <a:bodyPr wrap="square">
            <a:spAutoFit/>
          </a:bodyPr>
          <a:lstStyle/>
          <a:p>
            <a:r>
              <a:rPr lang="zh-CN" altLang="en-US" dirty="0">
                <a:solidFill>
                  <a:srgbClr val="00B0F0"/>
                </a:solidFill>
                <a:latin typeface="微软雅黑" panose="020B0503020204020204" pitchFamily="34" charset="-122"/>
                <a:ea typeface="微软雅黑" panose="020B0503020204020204" pitchFamily="34" charset="-122"/>
              </a:rPr>
              <a:t>卷积神经网络（</a:t>
            </a:r>
            <a:r>
              <a:rPr lang="en-US" altLang="zh-CN" dirty="0">
                <a:solidFill>
                  <a:srgbClr val="00B0F0"/>
                </a:solidFill>
                <a:latin typeface="微软雅黑" panose="020B0503020204020204" pitchFamily="34" charset="-122"/>
                <a:ea typeface="微软雅黑" panose="020B0503020204020204" pitchFamily="34" charset="-122"/>
              </a:rPr>
              <a:t>CNN</a:t>
            </a:r>
            <a:r>
              <a:rPr lang="zh-CN" altLang="en-US" dirty="0">
                <a:solidFill>
                  <a:srgbClr val="00B0F0"/>
                </a:solidFill>
                <a:latin typeface="微软雅黑" panose="020B0503020204020204" pitchFamily="34" charset="-122"/>
                <a:ea typeface="微软雅黑" panose="020B0503020204020204" pitchFamily="34" charset="-122"/>
              </a:rPr>
              <a:t>）</a:t>
            </a:r>
          </a:p>
          <a:p>
            <a:pPr marL="342900" indent="-342900">
              <a:lnSpc>
                <a:spcPts val="2400"/>
              </a:lnSpc>
              <a:buFont typeface="+mj-ea"/>
              <a:buAutoNum type="circleNumDbPlain"/>
            </a:pPr>
            <a:r>
              <a:rPr lang="en-US" altLang="zh-CN" sz="1600" dirty="0">
                <a:latin typeface="微软雅黑" panose="020B0503020204020204" pitchFamily="34" charset="-122"/>
                <a:ea typeface="微软雅黑" panose="020B0503020204020204" pitchFamily="34" charset="-122"/>
              </a:rPr>
              <a:t>CNN </a:t>
            </a:r>
            <a:r>
              <a:rPr lang="zh-CN" altLang="en-US" sz="1600" dirty="0">
                <a:latin typeface="微软雅黑" panose="020B0503020204020204" pitchFamily="34" charset="-122"/>
                <a:ea typeface="微软雅黑" panose="020B0503020204020204" pitchFamily="34" charset="-122"/>
              </a:rPr>
              <a:t>将一张图前向传输通过网络，然后</a:t>
            </a:r>
            <a:r>
              <a:rPr lang="zh-CN" altLang="en-US" sz="1600" dirty="0">
                <a:solidFill>
                  <a:srgbClr val="0070C0"/>
                </a:solidFill>
                <a:latin typeface="微软雅黑" panose="020B0503020204020204" pitchFamily="34" charset="-122"/>
                <a:ea typeface="微软雅黑" panose="020B0503020204020204" pitchFamily="34" charset="-122"/>
              </a:rPr>
              <a:t>输出一个</a:t>
            </a:r>
            <a:r>
              <a:rPr lang="zh-CN" altLang="en-US" sz="1600" dirty="0">
                <a:solidFill>
                  <a:srgbClr val="FF0000"/>
                </a:solidFill>
                <a:latin typeface="微软雅黑" panose="020B0503020204020204" pitchFamily="34" charset="-122"/>
                <a:ea typeface="微软雅黑" panose="020B0503020204020204" pitchFamily="34" charset="-122"/>
              </a:rPr>
              <a:t>最终的分类结果</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marL="342900" indent="-342900">
              <a:lnSpc>
                <a:spcPts val="2400"/>
              </a:lnSpc>
              <a:buFont typeface="+mj-ea"/>
              <a:buAutoNum type="circleNumDbPlain"/>
            </a:pPr>
            <a:r>
              <a:rPr lang="zh-CN" altLang="en-US" sz="1600" dirty="0">
                <a:latin typeface="微软雅黑" panose="020B0503020204020204" pitchFamily="34" charset="-122"/>
                <a:ea typeface="微软雅黑" panose="020B0503020204020204" pitchFamily="34" charset="-122"/>
              </a:rPr>
              <a:t>网络可以有几十层或几百层构成，</a:t>
            </a:r>
            <a:r>
              <a:rPr lang="zh-CN" altLang="en-US" sz="1600" dirty="0">
                <a:solidFill>
                  <a:srgbClr val="0070C0"/>
                </a:solidFill>
                <a:latin typeface="微软雅黑" panose="020B0503020204020204" pitchFamily="34" charset="-122"/>
                <a:ea typeface="微软雅黑" panose="020B0503020204020204" pitchFamily="34" charset="-122"/>
              </a:rPr>
              <a:t>每一层都</a:t>
            </a:r>
            <a:r>
              <a:rPr lang="zh-CN" altLang="en-US" sz="1600" dirty="0">
                <a:solidFill>
                  <a:srgbClr val="FF0000"/>
                </a:solidFill>
                <a:latin typeface="微软雅黑" panose="020B0503020204020204" pitchFamily="34" charset="-122"/>
                <a:ea typeface="微软雅黑" panose="020B0503020204020204" pitchFamily="34" charset="-122"/>
              </a:rPr>
              <a:t>学习检测不同的特征</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marL="342900" indent="-342900">
              <a:lnSpc>
                <a:spcPts val="2400"/>
              </a:lnSpc>
              <a:buFont typeface="+mj-ea"/>
              <a:buAutoNum type="circleNumDbPlain"/>
            </a:pPr>
            <a:r>
              <a:rPr lang="zh-CN" altLang="en-US" sz="1600" dirty="0">
                <a:solidFill>
                  <a:srgbClr val="0070C0"/>
                </a:solidFill>
                <a:latin typeface="微软雅黑" panose="020B0503020204020204" pitchFamily="34" charset="-122"/>
                <a:ea typeface="微软雅黑" panose="020B0503020204020204" pitchFamily="34" charset="-122"/>
              </a:rPr>
              <a:t>滤波器</a:t>
            </a:r>
            <a:r>
              <a:rPr lang="zh-CN" altLang="en-US" sz="1600" dirty="0">
                <a:latin typeface="微软雅黑" panose="020B0503020204020204" pitchFamily="34" charset="-122"/>
                <a:ea typeface="微软雅黑" panose="020B0503020204020204" pitchFamily="34" charset="-122"/>
              </a:rPr>
              <a:t>从输入数据中提取边缘、纹理、颜色等</a:t>
            </a:r>
            <a:r>
              <a:rPr lang="zh-CN" altLang="en-US" sz="1600" dirty="0">
                <a:solidFill>
                  <a:srgbClr val="FF0000"/>
                </a:solidFill>
                <a:latin typeface="微软雅黑" panose="020B0503020204020204" pitchFamily="34" charset="-122"/>
                <a:ea typeface="微软雅黑" panose="020B0503020204020204" pitchFamily="34" charset="-122"/>
              </a:rPr>
              <a:t>局部特征</a:t>
            </a:r>
            <a:r>
              <a:rPr lang="zh-CN" altLang="en-US" sz="1600" dirty="0">
                <a:latin typeface="微软雅黑" panose="020B0503020204020204" pitchFamily="34" charset="-122"/>
                <a:ea typeface="微软雅黑" panose="020B0503020204020204" pitchFamily="34" charset="-122"/>
              </a:rPr>
              <a:t>，</a:t>
            </a:r>
            <a:r>
              <a:rPr lang="zh-CN" altLang="en-US" sz="1600" dirty="0">
                <a:solidFill>
                  <a:srgbClr val="0070C0"/>
                </a:solidFill>
                <a:latin typeface="微软雅黑" panose="020B0503020204020204" pitchFamily="34" charset="-122"/>
                <a:ea typeface="微软雅黑" panose="020B0503020204020204" pitchFamily="34" charset="-122"/>
              </a:rPr>
              <a:t>每个</a:t>
            </a:r>
            <a:r>
              <a:rPr lang="zh-CN" altLang="en-US" sz="1600" dirty="0">
                <a:solidFill>
                  <a:srgbClr val="FF0000"/>
                </a:solidFill>
                <a:latin typeface="微软雅黑" panose="020B0503020204020204" pitchFamily="34" charset="-122"/>
                <a:ea typeface="微软雅黑" panose="020B0503020204020204" pitchFamily="34" charset="-122"/>
              </a:rPr>
              <a:t>卷积图像</a:t>
            </a:r>
            <a:r>
              <a:rPr lang="zh-CN" altLang="en-US" sz="1600" dirty="0">
                <a:solidFill>
                  <a:srgbClr val="0070C0"/>
                </a:solidFill>
                <a:latin typeface="微软雅黑" panose="020B0503020204020204" pitchFamily="34" charset="-122"/>
                <a:ea typeface="微软雅黑" panose="020B0503020204020204" pitchFamily="34" charset="-122"/>
              </a:rPr>
              <a:t>输出会用作下一层输入</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marL="342900" indent="-342900">
              <a:lnSpc>
                <a:spcPts val="2400"/>
              </a:lnSpc>
              <a:buFont typeface="+mj-ea"/>
              <a:buAutoNum type="circleNumDbPlain"/>
            </a:pPr>
            <a:r>
              <a:rPr lang="zh-CN" altLang="en-US" sz="1600" dirty="0">
                <a:latin typeface="微软雅黑" panose="020B0503020204020204" pitchFamily="34" charset="-122"/>
                <a:ea typeface="微软雅黑" panose="020B0503020204020204" pitchFamily="34" charset="-122"/>
              </a:rPr>
              <a:t>滤波器最初可以是</a:t>
            </a:r>
            <a:r>
              <a:rPr lang="zh-CN" altLang="en-US" sz="1600" dirty="0">
                <a:solidFill>
                  <a:srgbClr val="0070C0"/>
                </a:solidFill>
                <a:latin typeface="微软雅黑" panose="020B0503020204020204" pitchFamily="34" charset="-122"/>
                <a:ea typeface="微软雅黑" panose="020B0503020204020204" pitchFamily="34" charset="-122"/>
              </a:rPr>
              <a:t>非常</a:t>
            </a:r>
            <a:r>
              <a:rPr lang="zh-CN" altLang="en-US" sz="1600" dirty="0">
                <a:solidFill>
                  <a:srgbClr val="FF0000"/>
                </a:solidFill>
                <a:latin typeface="微软雅黑" panose="020B0503020204020204" pitchFamily="34" charset="-122"/>
                <a:ea typeface="微软雅黑" panose="020B0503020204020204" pitchFamily="34" charset="-122"/>
              </a:rPr>
              <a:t>简单的特征</a:t>
            </a:r>
            <a:r>
              <a:rPr lang="zh-CN" altLang="en-US" sz="1600" dirty="0">
                <a:latin typeface="微软雅黑" panose="020B0503020204020204" pitchFamily="34" charset="-122"/>
                <a:ea typeface="微软雅黑" panose="020B0503020204020204" pitchFamily="34" charset="-122"/>
              </a:rPr>
              <a:t>，例如亮度和边缘，然后增加复杂度，随着层数的增加，</a:t>
            </a:r>
            <a:r>
              <a:rPr lang="zh-CN" altLang="en-US" sz="1600" dirty="0">
                <a:solidFill>
                  <a:srgbClr val="0070C0"/>
                </a:solidFill>
                <a:latin typeface="微软雅黑" panose="020B0503020204020204" pitchFamily="34" charset="-122"/>
                <a:ea typeface="微软雅黑" panose="020B0503020204020204" pitchFamily="34" charset="-122"/>
              </a:rPr>
              <a:t>直至可以</a:t>
            </a:r>
            <a:r>
              <a:rPr lang="zh-CN" altLang="en-US" sz="1600" dirty="0">
                <a:solidFill>
                  <a:srgbClr val="FF0000"/>
                </a:solidFill>
                <a:latin typeface="微软雅黑" panose="020B0503020204020204" pitchFamily="34" charset="-122"/>
                <a:ea typeface="微软雅黑" panose="020B0503020204020204" pitchFamily="34" charset="-122"/>
              </a:rPr>
              <a:t>唯一地确定目标特征</a:t>
            </a:r>
            <a:r>
              <a:rPr lang="en-US" altLang="zh-CN" sz="160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733F386D-950C-48B7-A378-D4A0DD1A851A}"/>
              </a:ext>
            </a:extLst>
          </p:cNvPr>
          <p:cNvSpPr txBox="1"/>
          <p:nvPr/>
        </p:nvSpPr>
        <p:spPr>
          <a:xfrm>
            <a:off x="198796" y="4355869"/>
            <a:ext cx="5734523" cy="338554"/>
          </a:xfrm>
          <a:prstGeom prst="rect">
            <a:avLst/>
          </a:prstGeom>
          <a:noFill/>
        </p:spPr>
        <p:txBody>
          <a:bodyPr wrap="square">
            <a:spAutoFit/>
          </a:bodyPr>
          <a:lstStyle/>
          <a:p>
            <a:r>
              <a:rPr lang="zh-CN" altLang="en-US" sz="1600" dirty="0">
                <a:solidFill>
                  <a:srgbClr val="00B0F0"/>
                </a:solidFill>
              </a:rPr>
              <a:t>https://blog.csdn.net/AI_dataloads/article/details/133250229</a:t>
            </a:r>
          </a:p>
        </p:txBody>
      </p:sp>
    </p:spTree>
    <p:extLst>
      <p:ext uri="{BB962C8B-B14F-4D97-AF65-F5344CB8AC3E}">
        <p14:creationId xmlns:p14="http://schemas.microsoft.com/office/powerpoint/2010/main" val="1436574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A04A2CDF-5E84-40F5-B19D-C7A8DF5BDB66}"/>
              </a:ext>
            </a:extLst>
          </p:cNvPr>
          <p:cNvSpPr txBox="1"/>
          <p:nvPr/>
        </p:nvSpPr>
        <p:spPr>
          <a:xfrm>
            <a:off x="6444208" y="1090100"/>
            <a:ext cx="2736304" cy="307777"/>
          </a:xfrm>
          <a:prstGeom prst="rect">
            <a:avLst/>
          </a:prstGeom>
          <a:noFill/>
        </p:spPr>
        <p:txBody>
          <a:bodyPr wrap="square">
            <a:spAutoFit/>
          </a:bodyPr>
          <a:lstStyle/>
          <a:p>
            <a:pPr algn="l" latinLnBrk="1"/>
            <a:r>
              <a:rPr lang="zh-CN" altLang="en-US" sz="1400" b="1" i="0" dirty="0">
                <a:solidFill>
                  <a:srgbClr val="D57747"/>
                </a:solidFill>
                <a:effectLst/>
                <a:latin typeface="Microsoft YaHei" panose="020B0503020204020204" pitchFamily="34" charset="-122"/>
                <a:ea typeface="Microsoft YaHei" panose="020B0503020204020204" pitchFamily="34" charset="-122"/>
              </a:rPr>
              <a:t>使用卷积网络实现手写数字识别</a:t>
            </a:r>
          </a:p>
        </p:txBody>
      </p:sp>
      <p:pic>
        <p:nvPicPr>
          <p:cNvPr id="7" name="图片 6">
            <a:extLst>
              <a:ext uri="{FF2B5EF4-FFF2-40B4-BE49-F238E27FC236}">
                <a16:creationId xmlns:a16="http://schemas.microsoft.com/office/drawing/2014/main" id="{9E92A4F1-E20A-4B75-B437-4450D6991B79}"/>
              </a:ext>
            </a:extLst>
          </p:cNvPr>
          <p:cNvPicPr>
            <a:picLocks noChangeAspect="1"/>
          </p:cNvPicPr>
          <p:nvPr/>
        </p:nvPicPr>
        <p:blipFill rotWithShape="1">
          <a:blip r:embed="rId3"/>
          <a:srcRect r="4697"/>
          <a:stretch/>
        </p:blipFill>
        <p:spPr>
          <a:xfrm>
            <a:off x="7014187" y="1463111"/>
            <a:ext cx="1950301" cy="1828719"/>
          </a:xfrm>
          <a:prstGeom prst="rect">
            <a:avLst/>
          </a:prstGeom>
        </p:spPr>
      </p:pic>
      <p:sp>
        <p:nvSpPr>
          <p:cNvPr id="9" name="文本框 8">
            <a:extLst>
              <a:ext uri="{FF2B5EF4-FFF2-40B4-BE49-F238E27FC236}">
                <a16:creationId xmlns:a16="http://schemas.microsoft.com/office/drawing/2014/main" id="{5874DBD8-14FC-46D6-B2F2-F602FDF4B4B1}"/>
              </a:ext>
            </a:extLst>
          </p:cNvPr>
          <p:cNvSpPr txBox="1"/>
          <p:nvPr/>
        </p:nvSpPr>
        <p:spPr>
          <a:xfrm>
            <a:off x="59160" y="699542"/>
            <a:ext cx="2763764" cy="400110"/>
          </a:xfrm>
          <a:prstGeom prst="rect">
            <a:avLst/>
          </a:prstGeom>
          <a:solidFill>
            <a:schemeClr val="bg1"/>
          </a:solidFill>
        </p:spPr>
        <p:txBody>
          <a:bodyPr wrap="square">
            <a:spAutoFit/>
          </a:bodyPr>
          <a:lstStyle/>
          <a:p>
            <a:r>
              <a:rPr lang="zh-CN" altLang="en-US" sz="2000" b="1" dirty="0">
                <a:solidFill>
                  <a:srgbClr val="D57747"/>
                </a:solidFill>
                <a:latin typeface="Microsoft YaHei" panose="020B0503020204020204" pitchFamily="34" charset="-122"/>
                <a:ea typeface="Microsoft YaHei" panose="020B0503020204020204" pitchFamily="34" charset="-122"/>
              </a:rPr>
              <a:t>卷积神经网络（</a:t>
            </a:r>
            <a:r>
              <a:rPr lang="en-US" altLang="zh-CN" sz="2000" b="1" dirty="0">
                <a:solidFill>
                  <a:srgbClr val="D57747"/>
                </a:solidFill>
                <a:latin typeface="Microsoft YaHei" panose="020B0503020204020204" pitchFamily="34" charset="-122"/>
                <a:ea typeface="Microsoft YaHei" panose="020B0503020204020204" pitchFamily="34" charset="-122"/>
              </a:rPr>
              <a:t>CNN</a:t>
            </a:r>
            <a:r>
              <a:rPr lang="zh-CN" altLang="en-US" sz="2000" b="1" dirty="0">
                <a:solidFill>
                  <a:srgbClr val="D57747"/>
                </a:solidFill>
                <a:latin typeface="Microsoft YaHei" panose="020B0503020204020204" pitchFamily="34" charset="-122"/>
                <a:ea typeface="Microsoft YaHei" panose="020B0503020204020204" pitchFamily="34" charset="-122"/>
              </a:rPr>
              <a:t>）</a:t>
            </a:r>
          </a:p>
        </p:txBody>
      </p:sp>
      <p:sp>
        <p:nvSpPr>
          <p:cNvPr id="13" name="文本框 12">
            <a:extLst>
              <a:ext uri="{FF2B5EF4-FFF2-40B4-BE49-F238E27FC236}">
                <a16:creationId xmlns:a16="http://schemas.microsoft.com/office/drawing/2014/main" id="{FEFAC736-31E2-4D15-A7DA-28CEF1A1AA3D}"/>
              </a:ext>
            </a:extLst>
          </p:cNvPr>
          <p:cNvSpPr txBox="1"/>
          <p:nvPr/>
        </p:nvSpPr>
        <p:spPr>
          <a:xfrm>
            <a:off x="59160" y="1419622"/>
            <a:ext cx="8881664" cy="3289490"/>
          </a:xfrm>
          <a:prstGeom prst="rect">
            <a:avLst/>
          </a:prstGeom>
          <a:noFill/>
        </p:spPr>
        <p:txBody>
          <a:bodyPr wrap="square">
            <a:spAutoFit/>
          </a:bodyPr>
          <a:lstStyle/>
          <a:p>
            <a:pPr marL="342900" indent="-342900">
              <a:lnSpc>
                <a:spcPts val="2800"/>
              </a:lnSpc>
              <a:buFont typeface="+mj-ea"/>
              <a:buAutoNum type="circleNumDbPlain"/>
            </a:pPr>
            <a:r>
              <a:rPr lang="zh-CN" altLang="en-US" dirty="0">
                <a:solidFill>
                  <a:srgbClr val="0070C0"/>
                </a:solidFill>
                <a:latin typeface="微软雅黑" panose="020B0503020204020204" pitchFamily="34" charset="-122"/>
                <a:ea typeface="微软雅黑" panose="020B0503020204020204" pitchFamily="34" charset="-122"/>
              </a:rPr>
              <a:t>访问数据：</a:t>
            </a:r>
            <a:r>
              <a:rPr lang="zh-CN" altLang="en-US" b="0" dirty="0">
                <a:solidFill>
                  <a:srgbClr val="008000"/>
                </a:solidFill>
                <a:effectLst/>
                <a:latin typeface="Consolas" panose="020B0609020204030204" pitchFamily="49" charset="0"/>
              </a:rPr>
              <a:t>加载手写数字图片数据集 </a:t>
            </a:r>
            <a:endParaRPr lang="en-US" altLang="zh-CN" b="0" dirty="0">
              <a:solidFill>
                <a:srgbClr val="008000"/>
              </a:solidFill>
              <a:effectLst/>
              <a:latin typeface="Consolas" panose="020B0609020204030204" pitchFamily="49" charset="0"/>
            </a:endParaRPr>
          </a:p>
          <a:p>
            <a:pPr marL="342900" indent="-342900">
              <a:lnSpc>
                <a:spcPts val="2800"/>
              </a:lnSpc>
              <a:buFont typeface="+mj-ea"/>
              <a:buAutoNum type="circleNumDbPlain"/>
            </a:pPr>
            <a:r>
              <a:rPr lang="zh-CN" altLang="en-US" dirty="0">
                <a:solidFill>
                  <a:srgbClr val="0070C0"/>
                </a:solidFill>
                <a:latin typeface="微软雅黑" panose="020B0503020204020204" pitchFamily="34" charset="-122"/>
                <a:ea typeface="微软雅黑" panose="020B0503020204020204" pitchFamily="34" charset="-122"/>
              </a:rPr>
              <a:t>指定训练集和验证集</a:t>
            </a:r>
            <a:endParaRPr lang="en-US" altLang="zh-CN" dirty="0">
              <a:solidFill>
                <a:srgbClr val="0070C0"/>
              </a:solidFill>
              <a:latin typeface="微软雅黑" panose="020B0503020204020204" pitchFamily="34" charset="-122"/>
              <a:ea typeface="微软雅黑" panose="020B0503020204020204" pitchFamily="34" charset="-122"/>
            </a:endParaRPr>
          </a:p>
          <a:p>
            <a:pPr marL="342900" indent="-342900">
              <a:lnSpc>
                <a:spcPts val="2800"/>
              </a:lnSpc>
              <a:buFont typeface="+mj-ea"/>
              <a:buAutoNum type="circleNumDbPlain"/>
            </a:pPr>
            <a:r>
              <a:rPr lang="zh-CN" altLang="en-US" dirty="0">
                <a:solidFill>
                  <a:srgbClr val="0070C0"/>
                </a:solidFill>
                <a:latin typeface="微软雅黑" panose="020B0503020204020204" pitchFamily="34" charset="-122"/>
                <a:ea typeface="微软雅黑" panose="020B0503020204020204" pitchFamily="34" charset="-122"/>
              </a:rPr>
              <a:t>创建配置卷积神经网络层 </a:t>
            </a:r>
            <a:endParaRPr lang="en-US" altLang="zh-CN" dirty="0">
              <a:solidFill>
                <a:srgbClr val="0070C0"/>
              </a:solidFill>
              <a:latin typeface="微软雅黑" panose="020B0503020204020204" pitchFamily="34" charset="-122"/>
              <a:ea typeface="微软雅黑" panose="020B0503020204020204" pitchFamily="34" charset="-122"/>
            </a:endParaRPr>
          </a:p>
          <a:p>
            <a:pPr>
              <a:lnSpc>
                <a:spcPts val="2800"/>
              </a:lnSpc>
            </a:pPr>
            <a:r>
              <a:rPr lang="en-US" altLang="zh-CN" dirty="0">
                <a:solidFill>
                  <a:srgbClr val="795E26"/>
                </a:solidFill>
                <a:latin typeface="Consolas" panose="020B0609020204030204" pitchFamily="49" charset="0"/>
              </a:rPr>
              <a:t>   </a:t>
            </a:r>
            <a:r>
              <a:rPr lang="en-US" altLang="zh-CN" dirty="0" err="1">
                <a:solidFill>
                  <a:srgbClr val="795E26"/>
                </a:solidFill>
                <a:latin typeface="Consolas" panose="020B0609020204030204" pitchFamily="49" charset="0"/>
              </a:rPr>
              <a:t>SequentialCell</a:t>
            </a:r>
            <a:r>
              <a:rPr lang="zh-CN" altLang="en-US" dirty="0"/>
              <a:t>构建卷积神经网络层</a:t>
            </a:r>
            <a:r>
              <a:rPr lang="en-US" altLang="zh-CN" dirty="0"/>
              <a:t>-</a:t>
            </a:r>
            <a:r>
              <a:rPr lang="zh-CN" altLang="en-US" dirty="0"/>
              <a:t>最常见深度学习网络</a:t>
            </a:r>
            <a:endParaRPr lang="en-US" altLang="zh-CN" dirty="0"/>
          </a:p>
          <a:p>
            <a:pPr marL="342900" indent="-342900">
              <a:lnSpc>
                <a:spcPts val="2800"/>
              </a:lnSpc>
              <a:buFont typeface="+mj-ea"/>
              <a:buAutoNum type="circleNumDbPlain" startAt="4"/>
            </a:pPr>
            <a:r>
              <a:rPr lang="zh-CN" altLang="en-US" dirty="0">
                <a:solidFill>
                  <a:srgbClr val="0070C0"/>
                </a:solidFill>
                <a:latin typeface="微软雅黑" panose="020B0503020204020204" pitchFamily="34" charset="-122"/>
                <a:ea typeface="微软雅黑" panose="020B0503020204020204" pitchFamily="34" charset="-122"/>
              </a:rPr>
              <a:t>训练网络：</a:t>
            </a:r>
            <a:endParaRPr lang="en-US" altLang="zh-CN" dirty="0">
              <a:solidFill>
                <a:srgbClr val="0070C0"/>
              </a:solidFill>
              <a:latin typeface="微软雅黑" panose="020B0503020204020204" pitchFamily="34" charset="-122"/>
              <a:ea typeface="微软雅黑" panose="020B0503020204020204" pitchFamily="34" charset="-122"/>
            </a:endParaRPr>
          </a:p>
          <a:p>
            <a:pPr>
              <a:lnSpc>
                <a:spcPts val="2800"/>
              </a:lnSpc>
            </a:pPr>
            <a:r>
              <a:rPr lang="zh-CN" altLang="en-US" b="0" dirty="0">
                <a:solidFill>
                  <a:srgbClr val="008000"/>
                </a:solidFill>
                <a:effectLst/>
                <a:latin typeface="Consolas" panose="020B0609020204030204" pitchFamily="49" charset="0"/>
              </a:rPr>
              <a:t>  指定训练选项</a:t>
            </a:r>
            <a:r>
              <a:rPr lang="en-US" altLang="zh-CN" b="0" dirty="0" err="1">
                <a:solidFill>
                  <a:srgbClr val="795E26"/>
                </a:solidFill>
                <a:effectLst/>
                <a:latin typeface="Consolas" panose="020B0609020204030204" pitchFamily="49" charset="0"/>
              </a:rPr>
              <a:t>trainingOptions</a:t>
            </a:r>
            <a:r>
              <a:rPr lang="zh-CN" altLang="en-US" dirty="0">
                <a:solidFill>
                  <a:srgbClr val="008000"/>
                </a:solidFill>
                <a:latin typeface="Consolas" panose="020B0609020204030204" pitchFamily="49" charset="0"/>
              </a:rPr>
              <a:t>，使用训练数据训练神经网络</a:t>
            </a:r>
            <a:r>
              <a:rPr lang="en-US" altLang="zh-CN" b="0" dirty="0" err="1">
                <a:solidFill>
                  <a:srgbClr val="795E26"/>
                </a:solidFill>
                <a:effectLst/>
                <a:latin typeface="Consolas" panose="020B0609020204030204" pitchFamily="49" charset="0"/>
              </a:rPr>
              <a:t>trainNetwork</a:t>
            </a:r>
            <a:endParaRPr lang="en-US" altLang="zh-CN" b="0" dirty="0">
              <a:solidFill>
                <a:srgbClr val="000000"/>
              </a:solidFill>
              <a:effectLst/>
              <a:latin typeface="Consolas" panose="020B0609020204030204" pitchFamily="49" charset="0"/>
            </a:endParaRPr>
          </a:p>
          <a:p>
            <a:pPr marL="342900" indent="-342900">
              <a:lnSpc>
                <a:spcPts val="2800"/>
              </a:lnSpc>
              <a:buFont typeface="+mj-ea"/>
              <a:buAutoNum type="circleNumDbPlain" startAt="5"/>
            </a:pPr>
            <a:r>
              <a:rPr lang="zh-CN" altLang="en-US" dirty="0">
                <a:solidFill>
                  <a:srgbClr val="0070C0"/>
                </a:solidFill>
                <a:latin typeface="微软雅黑" panose="020B0503020204020204" pitchFamily="34" charset="-122"/>
                <a:ea typeface="微软雅黑" panose="020B0503020204020204" pitchFamily="34" charset="-122"/>
              </a:rPr>
              <a:t>模型评估与结果展示：</a:t>
            </a:r>
            <a:r>
              <a:rPr lang="en-US" altLang="zh-CN" dirty="0">
                <a:solidFill>
                  <a:srgbClr val="0070C0"/>
                </a:solidFill>
                <a:latin typeface="微软雅黑" panose="020B0503020204020204" pitchFamily="34" charset="-122"/>
                <a:ea typeface="微软雅黑" panose="020B0503020204020204" pitchFamily="34" charset="-122"/>
              </a:rPr>
              <a:t> </a:t>
            </a:r>
            <a:r>
              <a:rPr lang="en-US" altLang="zh-CN" b="0" dirty="0">
                <a:solidFill>
                  <a:srgbClr val="795E26"/>
                </a:solidFill>
                <a:effectLst/>
                <a:latin typeface="Consolas" panose="020B0609020204030204" pitchFamily="49" charset="0"/>
              </a:rPr>
              <a:t>predict</a:t>
            </a:r>
            <a:endParaRPr lang="en-US" altLang="zh-CN" dirty="0"/>
          </a:p>
          <a:p>
            <a:pPr>
              <a:lnSpc>
                <a:spcPts val="2800"/>
              </a:lnSpc>
            </a:pPr>
            <a:r>
              <a:rPr lang="zh-CN" altLang="en-US" b="0" dirty="0">
                <a:solidFill>
                  <a:srgbClr val="008000"/>
                </a:solidFill>
                <a:effectLst/>
                <a:latin typeface="Consolas" panose="020B0609020204030204" pitchFamily="49" charset="0"/>
              </a:rPr>
              <a:t>   使用经过训练的网络预测验证数据，并计算最终验证准确度，准确度是网络预测</a:t>
            </a:r>
            <a:endParaRPr lang="en-US" altLang="zh-CN" b="0" dirty="0">
              <a:solidFill>
                <a:srgbClr val="008000"/>
              </a:solidFill>
              <a:effectLst/>
              <a:latin typeface="Consolas" panose="020B0609020204030204" pitchFamily="49" charset="0"/>
            </a:endParaRPr>
          </a:p>
          <a:p>
            <a:pPr>
              <a:lnSpc>
                <a:spcPts val="2800"/>
              </a:lnSpc>
            </a:pPr>
            <a:r>
              <a:rPr lang="en-US" altLang="zh-CN" dirty="0">
                <a:solidFill>
                  <a:srgbClr val="008000"/>
                </a:solidFill>
                <a:latin typeface="Consolas" panose="020B0609020204030204" pitchFamily="49" charset="0"/>
              </a:rPr>
              <a:t>   </a:t>
            </a:r>
            <a:r>
              <a:rPr lang="zh-CN" altLang="en-US" b="0" dirty="0">
                <a:solidFill>
                  <a:srgbClr val="008000"/>
                </a:solidFill>
                <a:effectLst/>
                <a:latin typeface="Consolas" panose="020B0609020204030204" pitchFamily="49" charset="0"/>
              </a:rPr>
              <a:t>正确的标签的比例</a:t>
            </a:r>
            <a:endParaRPr lang="zh-CN" altLang="en-US" dirty="0"/>
          </a:p>
        </p:txBody>
      </p:sp>
      <p:sp>
        <p:nvSpPr>
          <p:cNvPr id="20" name="标题 1">
            <a:extLst>
              <a:ext uri="{FF2B5EF4-FFF2-40B4-BE49-F238E27FC236}">
                <a16:creationId xmlns:a16="http://schemas.microsoft.com/office/drawing/2014/main" id="{82A6E506-F22D-4CF0-92FE-B3C38FF43635}"/>
              </a:ext>
            </a:extLst>
          </p:cNvPr>
          <p:cNvSpPr txBox="1">
            <a:spLocks/>
          </p:cNvSpPr>
          <p:nvPr/>
        </p:nvSpPr>
        <p:spPr bwMode="auto">
          <a:xfrm>
            <a:off x="1043608" y="149212"/>
            <a:ext cx="8136904"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600" b="0">
                <a:solidFill>
                  <a:srgbClr val="002E5C"/>
                </a:solidFill>
                <a:latin typeface="隶书" panose="02010509060101010101" pitchFamily="49" charset="-122"/>
                <a:ea typeface="隶书" panose="02010509060101010101" pitchFamily="49"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pPr>
              <a:defRPr/>
            </a:pPr>
            <a:r>
              <a:rPr lang="en-US" altLang="zh-CN" sz="2400" dirty="0">
                <a:solidFill>
                  <a:srgbClr val="002060"/>
                </a:solidFill>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深度学习</a:t>
            </a:r>
            <a:r>
              <a:rPr lang="en-US" altLang="zh-CN" sz="2400" kern="0" dirty="0">
                <a:solidFill>
                  <a:srgbClr val="FF0000"/>
                </a:solidFill>
                <a:latin typeface="华文楷体" panose="02010600040101010101" pitchFamily="2" charset="-122"/>
                <a:ea typeface="华文楷体" panose="02010600040101010101" pitchFamily="2" charset="-122"/>
              </a:rPr>
              <a:t>——</a:t>
            </a:r>
            <a:r>
              <a:rPr lang="zh-CN" altLang="en-US" sz="2400" kern="0" dirty="0">
                <a:solidFill>
                  <a:srgbClr val="FF0000"/>
                </a:solidFill>
                <a:latin typeface="华文楷体" panose="02010600040101010101" pitchFamily="2" charset="-122"/>
                <a:ea typeface="华文楷体" panose="02010600040101010101" pitchFamily="2" charset="-122"/>
              </a:rPr>
              <a:t>使用卷积网络实现手写数字识别主要步骤</a:t>
            </a:r>
          </a:p>
        </p:txBody>
      </p:sp>
      <p:sp>
        <p:nvSpPr>
          <p:cNvPr id="22" name="文本框 21">
            <a:extLst>
              <a:ext uri="{FF2B5EF4-FFF2-40B4-BE49-F238E27FC236}">
                <a16:creationId xmlns:a16="http://schemas.microsoft.com/office/drawing/2014/main" id="{438C353E-42D7-436B-9A91-D25D2BA97F9A}"/>
              </a:ext>
            </a:extLst>
          </p:cNvPr>
          <p:cNvSpPr txBox="1"/>
          <p:nvPr/>
        </p:nvSpPr>
        <p:spPr>
          <a:xfrm>
            <a:off x="59160" y="1059582"/>
            <a:ext cx="6385048" cy="369332"/>
          </a:xfrm>
          <a:prstGeom prst="rect">
            <a:avLst/>
          </a:prstGeom>
          <a:noFill/>
        </p:spPr>
        <p:txBody>
          <a:bodyPr wrap="square">
            <a:spAutoFit/>
          </a:bodyPr>
          <a:lstStyle/>
          <a:p>
            <a:r>
              <a:rPr lang="zh-CN" altLang="en-US" dirty="0"/>
              <a:t>采用正确深度学习模型和训练方案，可 实现超过 </a:t>
            </a:r>
            <a:r>
              <a:rPr lang="en-US" altLang="zh-CN" dirty="0"/>
              <a:t>99% </a:t>
            </a:r>
            <a:r>
              <a:rPr lang="zh-CN" altLang="en-US" dirty="0"/>
              <a:t>准确率</a:t>
            </a:r>
          </a:p>
        </p:txBody>
      </p:sp>
      <p:sp>
        <p:nvSpPr>
          <p:cNvPr id="11" name="文本框 10">
            <a:extLst>
              <a:ext uri="{FF2B5EF4-FFF2-40B4-BE49-F238E27FC236}">
                <a16:creationId xmlns:a16="http://schemas.microsoft.com/office/drawing/2014/main" id="{DF9325F0-ABBE-48FC-99FC-7A0621F3BCDB}"/>
              </a:ext>
            </a:extLst>
          </p:cNvPr>
          <p:cNvSpPr txBox="1"/>
          <p:nvPr/>
        </p:nvSpPr>
        <p:spPr>
          <a:xfrm>
            <a:off x="2748070" y="703182"/>
            <a:ext cx="6336770" cy="369332"/>
          </a:xfrm>
          <a:prstGeom prst="rect">
            <a:avLst/>
          </a:prstGeom>
          <a:noFill/>
        </p:spPr>
        <p:txBody>
          <a:bodyPr wrap="square">
            <a:spAutoFit/>
          </a:bodyPr>
          <a:lstStyle/>
          <a:p>
            <a:pPr algn="dist"/>
            <a:r>
              <a:rPr lang="zh-CN" altLang="en-US" dirty="0"/>
              <a:t>专门处理图像、视频、声音等数据的深度学习模型</a:t>
            </a:r>
          </a:p>
        </p:txBody>
      </p:sp>
    </p:spTree>
    <p:extLst>
      <p:ext uri="{BB962C8B-B14F-4D97-AF65-F5344CB8AC3E}">
        <p14:creationId xmlns:p14="http://schemas.microsoft.com/office/powerpoint/2010/main" val="2358143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xEl>
                                              <p:pRg st="7" end="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498A058-8A24-4CD1-9D7E-757C78DB2BB1}"/>
              </a:ext>
            </a:extLst>
          </p:cNvPr>
          <p:cNvSpPr txBox="1">
            <a:spLocks/>
          </p:cNvSpPr>
          <p:nvPr/>
        </p:nvSpPr>
        <p:spPr bwMode="auto">
          <a:xfrm>
            <a:off x="2123728" y="79587"/>
            <a:ext cx="6013176" cy="504056"/>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600" b="0">
                <a:solidFill>
                  <a:srgbClr val="002E5C"/>
                </a:solidFill>
                <a:latin typeface="隶书" panose="02010509060101010101" pitchFamily="49" charset="-122"/>
                <a:ea typeface="隶书" panose="02010509060101010101" pitchFamily="49"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pPr>
              <a:defRPr/>
            </a:pPr>
            <a:endParaRPr lang="en-US" altLang="zh-CN" sz="2800" dirty="0">
              <a:solidFill>
                <a:srgbClr val="002060"/>
              </a:solidFill>
              <a:latin typeface="华文楷体" panose="02010600040101010101" pitchFamily="2" charset="-122"/>
              <a:ea typeface="华文楷体" panose="02010600040101010101" pitchFamily="2" charset="-122"/>
            </a:endParaRPr>
          </a:p>
          <a:p>
            <a:pPr>
              <a:defRPr/>
            </a:pPr>
            <a:endParaRPr lang="en-US" altLang="zh-CN" sz="2800" dirty="0">
              <a:solidFill>
                <a:srgbClr val="002060"/>
              </a:solidFill>
              <a:latin typeface="华文楷体" panose="02010600040101010101" pitchFamily="2" charset="-122"/>
              <a:ea typeface="华文楷体" panose="02010600040101010101" pitchFamily="2" charset="-122"/>
            </a:endParaRPr>
          </a:p>
          <a:p>
            <a:pPr>
              <a:defRPr/>
            </a:pPr>
            <a:r>
              <a:rPr lang="en-US" altLang="zh-CN" sz="2400" dirty="0">
                <a:solidFill>
                  <a:srgbClr val="002060"/>
                </a:solidFill>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深度学习主要步骤</a:t>
            </a:r>
            <a:r>
              <a:rPr lang="en-US" altLang="zh-CN" sz="2400" kern="0" dirty="0">
                <a:solidFill>
                  <a:srgbClr val="FF0000"/>
                </a:solidFill>
                <a:latin typeface="华文楷体" panose="02010600040101010101" pitchFamily="2" charset="-122"/>
                <a:ea typeface="华文楷体" panose="02010600040101010101" pitchFamily="2" charset="-122"/>
              </a:rPr>
              <a:t>——1</a:t>
            </a:r>
            <a:r>
              <a:rPr lang="zh-CN" altLang="en-US" sz="2400" kern="0" dirty="0">
                <a:solidFill>
                  <a:srgbClr val="FF0000"/>
                </a:solidFill>
                <a:latin typeface="华文楷体" panose="02010600040101010101" pitchFamily="2" charset="-122"/>
                <a:ea typeface="华文楷体" panose="02010600040101010101" pitchFamily="2" charset="-122"/>
              </a:rPr>
              <a:t>、加载数据 </a:t>
            </a:r>
          </a:p>
        </p:txBody>
      </p:sp>
      <p:sp>
        <p:nvSpPr>
          <p:cNvPr id="6" name="文本框 5">
            <a:extLst>
              <a:ext uri="{FF2B5EF4-FFF2-40B4-BE49-F238E27FC236}">
                <a16:creationId xmlns:a16="http://schemas.microsoft.com/office/drawing/2014/main" id="{5E86AF5E-4ED9-4D97-B4B5-16289A067513}"/>
              </a:ext>
            </a:extLst>
          </p:cNvPr>
          <p:cNvSpPr txBox="1"/>
          <p:nvPr/>
        </p:nvSpPr>
        <p:spPr>
          <a:xfrm>
            <a:off x="637935" y="699542"/>
            <a:ext cx="7969241" cy="4016484"/>
          </a:xfrm>
          <a:prstGeom prst="rect">
            <a:avLst/>
          </a:prstGeom>
          <a:noFill/>
        </p:spPr>
        <p:txBody>
          <a:bodyPr wrap="square">
            <a:spAutoFit/>
          </a:bodyPr>
          <a:lstStyle/>
          <a:p>
            <a:r>
              <a:rPr lang="en-US" altLang="zh-CN" sz="1700" b="0" dirty="0">
                <a:solidFill>
                  <a:srgbClr val="008000"/>
                </a:solidFill>
                <a:effectLst/>
                <a:latin typeface="Consolas" panose="020B0609020204030204" pitchFamily="49" charset="0"/>
              </a:rPr>
              <a:t>#</a:t>
            </a:r>
            <a:r>
              <a:rPr lang="zh-CN" altLang="en-US" sz="1700" b="0" dirty="0">
                <a:solidFill>
                  <a:srgbClr val="008000"/>
                </a:solidFill>
                <a:effectLst/>
                <a:latin typeface="Consolas" panose="020B0609020204030204" pitchFamily="49" charset="0"/>
              </a:rPr>
              <a:t>加载手写数字图片数据集</a:t>
            </a:r>
            <a:r>
              <a:rPr lang="en-US" altLang="zh-CN" sz="1700" b="0" dirty="0">
                <a:solidFill>
                  <a:srgbClr val="008000"/>
                </a:solidFill>
                <a:effectLst/>
                <a:latin typeface="Consolas" panose="020B0609020204030204" pitchFamily="49" charset="0"/>
              </a:rPr>
              <a:t>, </a:t>
            </a:r>
            <a:r>
              <a:rPr lang="zh-CN" altLang="en-US" sz="1700" b="0" dirty="0">
                <a:solidFill>
                  <a:srgbClr val="008000"/>
                </a:solidFill>
                <a:effectLst/>
                <a:latin typeface="Consolas" panose="020B0609020204030204" pitchFamily="49" charset="0"/>
              </a:rPr>
              <a:t>下载链接为手写数字图片数据集</a:t>
            </a:r>
            <a:endParaRPr lang="zh-CN" altLang="en-US" sz="1700" b="0" dirty="0">
              <a:solidFill>
                <a:srgbClr val="000000"/>
              </a:solidFill>
              <a:effectLst/>
              <a:latin typeface="Consolas" panose="020B0609020204030204" pitchFamily="49" charset="0"/>
            </a:endParaRPr>
          </a:p>
          <a:p>
            <a:r>
              <a:rPr lang="en-US" altLang="zh-CN" sz="1700" b="0" dirty="0">
                <a:solidFill>
                  <a:srgbClr val="AF00DB"/>
                </a:solidFill>
                <a:effectLst/>
                <a:latin typeface="Consolas" panose="020B0609020204030204" pitchFamily="49" charset="0"/>
              </a:rPr>
              <a:t>using</a:t>
            </a:r>
            <a:r>
              <a:rPr lang="en-US" altLang="zh-CN" sz="1700" b="0" dirty="0">
                <a:solidFill>
                  <a:srgbClr val="000000"/>
                </a:solidFill>
                <a:effectLst/>
                <a:latin typeface="Consolas" panose="020B0609020204030204" pitchFamily="49" charset="0"/>
              </a:rPr>
              <a:t> </a:t>
            </a:r>
            <a:r>
              <a:rPr lang="en-US" altLang="zh-CN" sz="1700" b="0" dirty="0" err="1">
                <a:solidFill>
                  <a:srgbClr val="000000"/>
                </a:solidFill>
                <a:effectLst/>
                <a:latin typeface="Consolas" panose="020B0609020204030204" pitchFamily="49" charset="0"/>
              </a:rPr>
              <a:t>TyDeepLearning</a:t>
            </a:r>
            <a:endParaRPr lang="en-US" altLang="zh-CN" sz="1700" b="0" dirty="0">
              <a:solidFill>
                <a:srgbClr val="000000"/>
              </a:solidFill>
              <a:effectLst/>
              <a:latin typeface="Consolas" panose="020B0609020204030204" pitchFamily="49" charset="0"/>
            </a:endParaRPr>
          </a:p>
          <a:p>
            <a:r>
              <a:rPr lang="en-US" altLang="zh-CN" sz="1700" b="0" dirty="0">
                <a:solidFill>
                  <a:srgbClr val="AF00DB"/>
                </a:solidFill>
                <a:effectLst/>
                <a:latin typeface="Consolas" panose="020B0609020204030204" pitchFamily="49" charset="0"/>
              </a:rPr>
              <a:t>using</a:t>
            </a:r>
            <a:r>
              <a:rPr lang="en-US" altLang="zh-CN" sz="1700" b="0" dirty="0">
                <a:solidFill>
                  <a:srgbClr val="000000"/>
                </a:solidFill>
                <a:effectLst/>
                <a:latin typeface="Consolas" panose="020B0609020204030204" pitchFamily="49" charset="0"/>
              </a:rPr>
              <a:t> </a:t>
            </a:r>
            <a:r>
              <a:rPr lang="en-US" altLang="zh-CN" sz="1700" b="0" dirty="0" err="1">
                <a:solidFill>
                  <a:srgbClr val="000000"/>
                </a:solidFill>
                <a:effectLst/>
                <a:latin typeface="Consolas" panose="020B0609020204030204" pitchFamily="49" charset="0"/>
              </a:rPr>
              <a:t>TyMath</a:t>
            </a:r>
            <a:endParaRPr lang="en-US" altLang="zh-CN" sz="1700" b="0" dirty="0">
              <a:solidFill>
                <a:srgbClr val="000000"/>
              </a:solidFill>
              <a:effectLst/>
              <a:latin typeface="Consolas" panose="020B0609020204030204" pitchFamily="49" charset="0"/>
            </a:endParaRPr>
          </a:p>
          <a:p>
            <a:r>
              <a:rPr lang="en-US" altLang="zh-CN" sz="1700" b="0" dirty="0">
                <a:solidFill>
                  <a:srgbClr val="AF00DB"/>
                </a:solidFill>
                <a:effectLst/>
                <a:latin typeface="Consolas" panose="020B0609020204030204" pitchFamily="49" charset="0"/>
              </a:rPr>
              <a:t>using</a:t>
            </a:r>
            <a:r>
              <a:rPr lang="en-US" altLang="zh-CN" sz="1700" b="0" dirty="0">
                <a:solidFill>
                  <a:srgbClr val="000000"/>
                </a:solidFill>
                <a:effectLst/>
                <a:latin typeface="Consolas" panose="020B0609020204030204" pitchFamily="49" charset="0"/>
              </a:rPr>
              <a:t> </a:t>
            </a:r>
            <a:r>
              <a:rPr lang="en-US" altLang="zh-CN" sz="1700" b="0" dirty="0" err="1">
                <a:solidFill>
                  <a:srgbClr val="000000"/>
                </a:solidFill>
                <a:effectLst/>
                <a:latin typeface="Consolas" panose="020B0609020204030204" pitchFamily="49" charset="0"/>
              </a:rPr>
              <a:t>TyPlot</a:t>
            </a:r>
            <a:endParaRPr lang="en-US" altLang="zh-CN" sz="1700" b="0" dirty="0">
              <a:solidFill>
                <a:srgbClr val="000000"/>
              </a:solidFill>
              <a:effectLst/>
              <a:latin typeface="Consolas" panose="020B0609020204030204" pitchFamily="49" charset="0"/>
            </a:endParaRPr>
          </a:p>
          <a:p>
            <a:r>
              <a:rPr lang="en-US" altLang="zh-CN" sz="1700" b="0" dirty="0">
                <a:solidFill>
                  <a:srgbClr val="AF00DB"/>
                </a:solidFill>
                <a:effectLst/>
                <a:latin typeface="Consolas" panose="020B0609020204030204" pitchFamily="49" charset="0"/>
              </a:rPr>
              <a:t>using</a:t>
            </a:r>
            <a:r>
              <a:rPr lang="en-US" altLang="zh-CN" sz="1700" b="0" dirty="0">
                <a:solidFill>
                  <a:srgbClr val="000000"/>
                </a:solidFill>
                <a:effectLst/>
                <a:latin typeface="Consolas" panose="020B0609020204030204" pitchFamily="49" charset="0"/>
              </a:rPr>
              <a:t> </a:t>
            </a:r>
            <a:r>
              <a:rPr lang="en-US" altLang="zh-CN" sz="1700" b="0" dirty="0" err="1">
                <a:solidFill>
                  <a:srgbClr val="000000"/>
                </a:solidFill>
                <a:effectLst/>
                <a:latin typeface="Consolas" panose="020B0609020204030204" pitchFamily="49" charset="0"/>
              </a:rPr>
              <a:t>TyImages</a:t>
            </a:r>
            <a:endParaRPr lang="en-US" altLang="zh-CN" sz="1700" b="0" dirty="0">
              <a:solidFill>
                <a:srgbClr val="000000"/>
              </a:solidFill>
              <a:effectLst/>
              <a:latin typeface="Consolas" panose="020B0609020204030204" pitchFamily="49" charset="0"/>
            </a:endParaRPr>
          </a:p>
          <a:p>
            <a:r>
              <a:rPr lang="en-US" altLang="zh-CN" sz="1700" b="0" dirty="0">
                <a:solidFill>
                  <a:srgbClr val="000000"/>
                </a:solidFill>
                <a:effectLst/>
                <a:latin typeface="Consolas" panose="020B0609020204030204" pitchFamily="49" charset="0"/>
              </a:rPr>
              <a:t>file = </a:t>
            </a:r>
            <a:r>
              <a:rPr lang="en-US" altLang="zh-CN" sz="1700" b="0" dirty="0">
                <a:solidFill>
                  <a:srgbClr val="A31515"/>
                </a:solidFill>
                <a:effectLst/>
                <a:latin typeface="Consolas" panose="020B0609020204030204" pitchFamily="49" charset="0"/>
              </a:rPr>
              <a:t>"</a:t>
            </a:r>
            <a:r>
              <a:rPr lang="en-US" altLang="zh-CN" sz="1700" b="0" dirty="0" err="1">
                <a:solidFill>
                  <a:srgbClr val="A31515"/>
                </a:solidFill>
                <a:effectLst/>
                <a:latin typeface="Consolas" panose="020B0609020204030204" pitchFamily="49" charset="0"/>
              </a:rPr>
              <a:t>DigitDataset</a:t>
            </a:r>
            <a:r>
              <a:rPr lang="en-US" altLang="zh-CN" sz="1700" b="0" dirty="0">
                <a:solidFill>
                  <a:srgbClr val="A31515"/>
                </a:solidFill>
                <a:effectLst/>
                <a:latin typeface="Consolas" panose="020B0609020204030204" pitchFamily="49" charset="0"/>
              </a:rPr>
              <a:t>/" #</a:t>
            </a:r>
            <a:r>
              <a:rPr lang="en-US" altLang="zh-CN" sz="1600" dirty="0"/>
              <a:t>28 x 28 </a:t>
            </a:r>
            <a:r>
              <a:rPr lang="zh-CN" altLang="en-US" sz="1600" dirty="0"/>
              <a:t>像素，总共有 </a:t>
            </a:r>
            <a:r>
              <a:rPr lang="en-US" altLang="zh-CN" sz="1600" dirty="0"/>
              <a:t>50,00 </a:t>
            </a:r>
            <a:r>
              <a:rPr lang="zh-CN" altLang="en-US" sz="1600" dirty="0"/>
              <a:t>个图像</a:t>
            </a:r>
            <a:endParaRPr lang="en-US" altLang="zh-CN" sz="1700" b="0" dirty="0">
              <a:solidFill>
                <a:srgbClr val="000000"/>
              </a:solidFill>
              <a:effectLst/>
              <a:latin typeface="Consolas" panose="020B0609020204030204" pitchFamily="49" charset="0"/>
            </a:endParaRPr>
          </a:p>
          <a:p>
            <a:r>
              <a:rPr lang="en-US" altLang="zh-CN" sz="1700" b="0" dirty="0" err="1">
                <a:solidFill>
                  <a:srgbClr val="000000"/>
                </a:solidFill>
                <a:effectLst/>
                <a:latin typeface="Consolas" panose="020B0609020204030204" pitchFamily="49" charset="0"/>
              </a:rPr>
              <a:t>XTrain</a:t>
            </a:r>
            <a:r>
              <a:rPr lang="en-US" altLang="zh-CN" sz="1700" b="0" dirty="0">
                <a:solidFill>
                  <a:srgbClr val="000000"/>
                </a:solidFill>
                <a:effectLst/>
                <a:latin typeface="Consolas" panose="020B0609020204030204" pitchFamily="49" charset="0"/>
              </a:rPr>
              <a:t>, </a:t>
            </a:r>
            <a:r>
              <a:rPr lang="en-US" altLang="zh-CN" sz="1700" b="0" dirty="0" err="1">
                <a:solidFill>
                  <a:srgbClr val="000000"/>
                </a:solidFill>
                <a:effectLst/>
                <a:latin typeface="Consolas" panose="020B0609020204030204" pitchFamily="49" charset="0"/>
              </a:rPr>
              <a:t>YTrain</a:t>
            </a:r>
            <a:r>
              <a:rPr lang="en-US" altLang="zh-CN" sz="1700" b="0" dirty="0">
                <a:solidFill>
                  <a:srgbClr val="000000"/>
                </a:solidFill>
                <a:effectLst/>
                <a:latin typeface="Consolas" panose="020B0609020204030204" pitchFamily="49" charset="0"/>
              </a:rPr>
              <a:t> = </a:t>
            </a:r>
            <a:r>
              <a:rPr lang="en-US" altLang="zh-CN" sz="1700" b="0" dirty="0" err="1">
                <a:solidFill>
                  <a:srgbClr val="795E26"/>
                </a:solidFill>
                <a:effectLst/>
                <a:latin typeface="Consolas" panose="020B0609020204030204" pitchFamily="49" charset="0"/>
              </a:rPr>
              <a:t>DigitDatasetTrainData</a:t>
            </a:r>
            <a:r>
              <a:rPr lang="en-US" altLang="zh-CN" sz="1700" b="0" dirty="0">
                <a:solidFill>
                  <a:srgbClr val="000000"/>
                </a:solidFill>
                <a:effectLst/>
                <a:latin typeface="Consolas" panose="020B0609020204030204" pitchFamily="49" charset="0"/>
              </a:rPr>
              <a:t>(file</a:t>
            </a:r>
            <a:r>
              <a:rPr lang="en-US" altLang="zh-CN" sz="1700" dirty="0">
                <a:solidFill>
                  <a:srgbClr val="000000"/>
                </a:solidFill>
                <a:latin typeface="Consolas" panose="020B0609020204030204" pitchFamily="49" charset="0"/>
              </a:rPr>
              <a:t>) # 5000×1×28×28</a:t>
            </a:r>
            <a:endParaRPr lang="en-US" altLang="zh-CN" sz="1700" b="0" dirty="0">
              <a:solidFill>
                <a:srgbClr val="000000"/>
              </a:solidFill>
              <a:effectLst/>
              <a:latin typeface="Consolas" panose="020B0609020204030204" pitchFamily="49" charset="0"/>
            </a:endParaRPr>
          </a:p>
          <a:p>
            <a:r>
              <a:rPr lang="en-US" altLang="zh-CN" sz="1700" b="0" dirty="0">
                <a:solidFill>
                  <a:srgbClr val="008000"/>
                </a:solidFill>
                <a:effectLst/>
                <a:latin typeface="Consolas" panose="020B0609020204030204" pitchFamily="49" charset="0"/>
              </a:rPr>
              <a:t>#</a:t>
            </a:r>
            <a:r>
              <a:rPr lang="zh-CN" altLang="en-US" sz="1700" b="0" dirty="0">
                <a:solidFill>
                  <a:srgbClr val="008000"/>
                </a:solidFill>
                <a:effectLst/>
                <a:latin typeface="Consolas" panose="020B0609020204030204" pitchFamily="49" charset="0"/>
              </a:rPr>
              <a:t>显示数据存储中的部分图像。</a:t>
            </a:r>
            <a:endParaRPr lang="zh-CN" altLang="en-US" sz="1700" b="0" dirty="0">
              <a:solidFill>
                <a:srgbClr val="000000"/>
              </a:solidFill>
              <a:effectLst/>
              <a:latin typeface="Consolas" panose="020B0609020204030204" pitchFamily="49" charset="0"/>
            </a:endParaRPr>
          </a:p>
          <a:p>
            <a:r>
              <a:rPr lang="en-US" altLang="zh-CN" sz="1700" b="0" dirty="0">
                <a:solidFill>
                  <a:srgbClr val="000000"/>
                </a:solidFill>
                <a:effectLst/>
                <a:latin typeface="Consolas" panose="020B0609020204030204" pitchFamily="49" charset="0"/>
              </a:rPr>
              <a:t>p=</a:t>
            </a:r>
            <a:r>
              <a:rPr lang="en-US" altLang="zh-CN" sz="1700" b="0" dirty="0" err="1">
                <a:solidFill>
                  <a:srgbClr val="795E26"/>
                </a:solidFill>
                <a:effectLst/>
                <a:latin typeface="Consolas" panose="020B0609020204030204" pitchFamily="49" charset="0"/>
              </a:rPr>
              <a:t>randperm</a:t>
            </a:r>
            <a:r>
              <a:rPr lang="en-US" altLang="zh-CN" sz="1700" b="0" dirty="0">
                <a:solidFill>
                  <a:srgbClr val="000000"/>
                </a:solidFill>
                <a:effectLst/>
                <a:latin typeface="Consolas" panose="020B0609020204030204" pitchFamily="49" charset="0"/>
              </a:rPr>
              <a:t>(</a:t>
            </a:r>
            <a:r>
              <a:rPr lang="en-US" altLang="zh-CN" sz="1700" b="0" dirty="0">
                <a:solidFill>
                  <a:srgbClr val="098658"/>
                </a:solidFill>
                <a:effectLst/>
                <a:latin typeface="Consolas" panose="020B0609020204030204" pitchFamily="49" charset="0"/>
              </a:rPr>
              <a:t>5000</a:t>
            </a:r>
            <a:r>
              <a:rPr lang="en-US" altLang="zh-CN" sz="1700" b="0" dirty="0">
                <a:solidFill>
                  <a:srgbClr val="000000"/>
                </a:solidFill>
                <a:effectLst/>
                <a:latin typeface="Consolas" panose="020B0609020204030204" pitchFamily="49" charset="0"/>
              </a:rPr>
              <a:t>)</a:t>
            </a:r>
          </a:p>
          <a:p>
            <a:r>
              <a:rPr lang="en-US" altLang="zh-CN" sz="1700" b="0" dirty="0">
                <a:solidFill>
                  <a:srgbClr val="000000"/>
                </a:solidFill>
                <a:effectLst/>
                <a:latin typeface="Consolas" panose="020B0609020204030204" pitchFamily="49" charset="0"/>
              </a:rPr>
              <a:t>index = p[</a:t>
            </a:r>
            <a:r>
              <a:rPr lang="en-US" altLang="zh-CN" sz="1700" b="0" dirty="0">
                <a:solidFill>
                  <a:srgbClr val="098658"/>
                </a:solidFill>
                <a:effectLst/>
                <a:latin typeface="Consolas" panose="020B0609020204030204" pitchFamily="49" charset="0"/>
              </a:rPr>
              <a:t>1</a:t>
            </a:r>
            <a:r>
              <a:rPr lang="en-US" altLang="zh-CN" sz="1700" b="0" dirty="0">
                <a:solidFill>
                  <a:srgbClr val="000000"/>
                </a:solidFill>
                <a:effectLst/>
                <a:latin typeface="Consolas" panose="020B0609020204030204" pitchFamily="49" charset="0"/>
              </a:rPr>
              <a:t>:</a:t>
            </a:r>
            <a:r>
              <a:rPr lang="en-US" altLang="zh-CN" sz="1700" b="0" dirty="0">
                <a:solidFill>
                  <a:srgbClr val="098658"/>
                </a:solidFill>
                <a:effectLst/>
                <a:latin typeface="Consolas" panose="020B0609020204030204" pitchFamily="49" charset="0"/>
              </a:rPr>
              <a:t>20</a:t>
            </a:r>
            <a:r>
              <a:rPr lang="en-US" altLang="zh-CN" sz="1700" b="0" dirty="0">
                <a:solidFill>
                  <a:srgbClr val="000000"/>
                </a:solidFill>
                <a:effectLst/>
                <a:latin typeface="Consolas" panose="020B0609020204030204" pitchFamily="49" charset="0"/>
              </a:rPr>
              <a:t>]</a:t>
            </a:r>
          </a:p>
          <a:p>
            <a:r>
              <a:rPr lang="en-US" altLang="zh-CN" sz="1700" b="0" dirty="0">
                <a:solidFill>
                  <a:srgbClr val="795E26"/>
                </a:solidFill>
                <a:effectLst/>
                <a:latin typeface="Consolas" panose="020B0609020204030204" pitchFamily="49" charset="0"/>
              </a:rPr>
              <a:t>figure</a:t>
            </a:r>
            <a:r>
              <a:rPr lang="en-US" altLang="zh-CN" sz="1700" b="0" dirty="0">
                <a:solidFill>
                  <a:srgbClr val="000000"/>
                </a:solidFill>
                <a:effectLst/>
                <a:latin typeface="Consolas" panose="020B0609020204030204" pitchFamily="49" charset="0"/>
              </a:rPr>
              <a:t>(</a:t>
            </a:r>
            <a:r>
              <a:rPr lang="en-US" altLang="zh-CN" sz="1700" b="0" dirty="0">
                <a:solidFill>
                  <a:srgbClr val="098658"/>
                </a:solidFill>
                <a:effectLst/>
                <a:latin typeface="Consolas" panose="020B0609020204030204" pitchFamily="49" charset="0"/>
              </a:rPr>
              <a:t>1</a:t>
            </a:r>
            <a:r>
              <a:rPr lang="en-US" altLang="zh-CN" sz="1700" b="0" dirty="0">
                <a:solidFill>
                  <a:srgbClr val="000000"/>
                </a:solidFill>
                <a:effectLst/>
                <a:latin typeface="Consolas" panose="020B0609020204030204" pitchFamily="49" charset="0"/>
              </a:rPr>
              <a:t>)</a:t>
            </a:r>
          </a:p>
          <a:p>
            <a:r>
              <a:rPr lang="en-US" altLang="zh-CN" sz="1700" b="0" dirty="0">
                <a:solidFill>
                  <a:srgbClr val="AF00DB"/>
                </a:solidFill>
                <a:effectLst/>
                <a:latin typeface="Consolas" panose="020B0609020204030204" pitchFamily="49" charset="0"/>
              </a:rPr>
              <a:t>for</a:t>
            </a:r>
            <a:r>
              <a:rPr lang="en-US" altLang="zh-CN" sz="1700" b="0" dirty="0">
                <a:solidFill>
                  <a:srgbClr val="000000"/>
                </a:solidFill>
                <a:effectLst/>
                <a:latin typeface="Consolas" panose="020B0609020204030204" pitchFamily="49" charset="0"/>
              </a:rPr>
              <a:t> </a:t>
            </a:r>
            <a:r>
              <a:rPr lang="en-US" altLang="zh-CN" sz="1700" b="0" dirty="0" err="1">
                <a:solidFill>
                  <a:srgbClr val="000000"/>
                </a:solidFill>
                <a:effectLst/>
                <a:latin typeface="Consolas" panose="020B0609020204030204" pitchFamily="49" charset="0"/>
              </a:rPr>
              <a:t>i</a:t>
            </a:r>
            <a:r>
              <a:rPr lang="en-US" altLang="zh-CN" sz="1700" b="0" dirty="0">
                <a:solidFill>
                  <a:srgbClr val="000000"/>
                </a:solidFill>
                <a:effectLst/>
                <a:latin typeface="Consolas" panose="020B0609020204030204" pitchFamily="49" charset="0"/>
              </a:rPr>
              <a:t> in </a:t>
            </a:r>
            <a:r>
              <a:rPr lang="en-US" altLang="zh-CN" sz="1700" b="0" dirty="0" err="1">
                <a:solidFill>
                  <a:srgbClr val="795E26"/>
                </a:solidFill>
                <a:effectLst/>
                <a:latin typeface="Consolas" panose="020B0609020204030204" pitchFamily="49" charset="0"/>
              </a:rPr>
              <a:t>eachindex</a:t>
            </a:r>
            <a:r>
              <a:rPr lang="en-US" altLang="zh-CN" sz="1700" b="0" dirty="0">
                <a:solidFill>
                  <a:srgbClr val="000000"/>
                </a:solidFill>
                <a:effectLst/>
                <a:latin typeface="Consolas" panose="020B0609020204030204" pitchFamily="49" charset="0"/>
              </a:rPr>
              <a:t>(</a:t>
            </a:r>
            <a:r>
              <a:rPr lang="en-US" altLang="zh-CN" sz="1700" b="0" dirty="0">
                <a:solidFill>
                  <a:srgbClr val="795E26"/>
                </a:solidFill>
                <a:effectLst/>
                <a:latin typeface="Consolas" panose="020B0609020204030204" pitchFamily="49" charset="0"/>
              </a:rPr>
              <a:t>range</a:t>
            </a:r>
            <a:r>
              <a:rPr lang="en-US" altLang="zh-CN" sz="1700" b="0" dirty="0">
                <a:solidFill>
                  <a:srgbClr val="000000"/>
                </a:solidFill>
                <a:effectLst/>
                <a:latin typeface="Consolas" panose="020B0609020204030204" pitchFamily="49" charset="0"/>
              </a:rPr>
              <a:t>(</a:t>
            </a:r>
            <a:r>
              <a:rPr lang="en-US" altLang="zh-CN" sz="1700" b="0" dirty="0">
                <a:solidFill>
                  <a:srgbClr val="098658"/>
                </a:solidFill>
                <a:effectLst/>
                <a:latin typeface="Consolas" panose="020B0609020204030204" pitchFamily="49" charset="0"/>
              </a:rPr>
              <a:t>1</a:t>
            </a:r>
            <a:r>
              <a:rPr lang="en-US" altLang="zh-CN" sz="1700" b="0" dirty="0">
                <a:solidFill>
                  <a:srgbClr val="000000"/>
                </a:solidFill>
                <a:effectLst/>
                <a:latin typeface="Consolas" panose="020B0609020204030204" pitchFamily="49" charset="0"/>
              </a:rPr>
              <a:t>, </a:t>
            </a:r>
            <a:r>
              <a:rPr lang="en-US" altLang="zh-CN" sz="1700" b="0" dirty="0">
                <a:solidFill>
                  <a:srgbClr val="098658"/>
                </a:solidFill>
                <a:effectLst/>
                <a:latin typeface="Consolas" panose="020B0609020204030204" pitchFamily="49" charset="0"/>
              </a:rPr>
              <a:t>20</a:t>
            </a:r>
            <a:r>
              <a:rPr lang="en-US" altLang="zh-CN" sz="1700" b="0" dirty="0">
                <a:solidFill>
                  <a:srgbClr val="000000"/>
                </a:solidFill>
                <a:effectLst/>
                <a:latin typeface="Consolas" panose="020B0609020204030204" pitchFamily="49" charset="0"/>
              </a:rPr>
              <a:t>)) #</a:t>
            </a:r>
            <a:r>
              <a:rPr lang="zh-CN" altLang="en-US" sz="1600" dirty="0"/>
              <a:t>高效迭代器</a:t>
            </a:r>
            <a:endParaRPr lang="en-US" altLang="zh-CN" sz="1700" b="0" dirty="0">
              <a:solidFill>
                <a:srgbClr val="000000"/>
              </a:solidFill>
              <a:effectLst/>
              <a:latin typeface="Consolas" panose="020B0609020204030204" pitchFamily="49" charset="0"/>
            </a:endParaRPr>
          </a:p>
          <a:p>
            <a:r>
              <a:rPr lang="en-US" altLang="zh-CN" sz="1700" b="0" dirty="0">
                <a:solidFill>
                  <a:srgbClr val="000000"/>
                </a:solidFill>
                <a:effectLst/>
                <a:latin typeface="Consolas" panose="020B0609020204030204" pitchFamily="49" charset="0"/>
              </a:rPr>
              <a:t>    </a:t>
            </a:r>
            <a:r>
              <a:rPr lang="en-US" altLang="zh-CN" sz="1700" b="0" dirty="0">
                <a:solidFill>
                  <a:srgbClr val="795E26"/>
                </a:solidFill>
                <a:effectLst/>
                <a:latin typeface="Consolas" panose="020B0609020204030204" pitchFamily="49" charset="0"/>
              </a:rPr>
              <a:t>subplot</a:t>
            </a:r>
            <a:r>
              <a:rPr lang="en-US" altLang="zh-CN" sz="1700" b="0" dirty="0">
                <a:solidFill>
                  <a:srgbClr val="000000"/>
                </a:solidFill>
                <a:effectLst/>
                <a:latin typeface="Consolas" panose="020B0609020204030204" pitchFamily="49" charset="0"/>
              </a:rPr>
              <a:t>(</a:t>
            </a:r>
            <a:r>
              <a:rPr lang="en-US" altLang="zh-CN" sz="1700" b="0" dirty="0">
                <a:solidFill>
                  <a:srgbClr val="098658"/>
                </a:solidFill>
                <a:effectLst/>
                <a:latin typeface="Consolas" panose="020B0609020204030204" pitchFamily="49" charset="0"/>
              </a:rPr>
              <a:t>4</a:t>
            </a:r>
            <a:r>
              <a:rPr lang="en-US" altLang="zh-CN" sz="1700" b="0" dirty="0">
                <a:solidFill>
                  <a:srgbClr val="000000"/>
                </a:solidFill>
                <a:effectLst/>
                <a:latin typeface="Consolas" panose="020B0609020204030204" pitchFamily="49" charset="0"/>
              </a:rPr>
              <a:t>, </a:t>
            </a:r>
            <a:r>
              <a:rPr lang="en-US" altLang="zh-CN" sz="1700" b="0" dirty="0">
                <a:solidFill>
                  <a:srgbClr val="098658"/>
                </a:solidFill>
                <a:effectLst/>
                <a:latin typeface="Consolas" panose="020B0609020204030204" pitchFamily="49" charset="0"/>
              </a:rPr>
              <a:t>5</a:t>
            </a:r>
            <a:r>
              <a:rPr lang="en-US" altLang="zh-CN" sz="1700" b="0" dirty="0">
                <a:solidFill>
                  <a:srgbClr val="000000"/>
                </a:solidFill>
                <a:effectLst/>
                <a:latin typeface="Consolas" panose="020B0609020204030204" pitchFamily="49" charset="0"/>
              </a:rPr>
              <a:t>, </a:t>
            </a:r>
            <a:r>
              <a:rPr lang="en-US" altLang="zh-CN" sz="1700" b="0" dirty="0" err="1">
                <a:solidFill>
                  <a:srgbClr val="000000"/>
                </a:solidFill>
                <a:effectLst/>
                <a:latin typeface="Consolas" panose="020B0609020204030204" pitchFamily="49" charset="0"/>
              </a:rPr>
              <a:t>i</a:t>
            </a:r>
            <a:r>
              <a:rPr lang="en-US" altLang="zh-CN" sz="1700" b="0" dirty="0">
                <a:solidFill>
                  <a:srgbClr val="000000"/>
                </a:solidFill>
                <a:effectLst/>
                <a:latin typeface="Consolas" panose="020B0609020204030204" pitchFamily="49" charset="0"/>
              </a:rPr>
              <a:t>)</a:t>
            </a:r>
          </a:p>
          <a:p>
            <a:r>
              <a:rPr lang="en-US" altLang="zh-CN" sz="1700" b="0" dirty="0">
                <a:solidFill>
                  <a:srgbClr val="000000"/>
                </a:solidFill>
                <a:effectLst/>
                <a:latin typeface="Consolas" panose="020B0609020204030204" pitchFamily="49" charset="0"/>
              </a:rPr>
              <a:t>    </a:t>
            </a:r>
            <a:r>
              <a:rPr lang="en-US" altLang="zh-CN" sz="1700" b="0" dirty="0" err="1">
                <a:solidFill>
                  <a:srgbClr val="795E26"/>
                </a:solidFill>
                <a:effectLst/>
                <a:latin typeface="Consolas" panose="020B0609020204030204" pitchFamily="49" charset="0"/>
              </a:rPr>
              <a:t>imshow</a:t>
            </a:r>
            <a:r>
              <a:rPr lang="en-US" altLang="zh-CN" sz="1700" b="0" dirty="0">
                <a:solidFill>
                  <a:srgbClr val="000000"/>
                </a:solidFill>
                <a:effectLst/>
                <a:latin typeface="Consolas" panose="020B0609020204030204" pitchFamily="49" charset="0"/>
              </a:rPr>
              <a:t>(</a:t>
            </a:r>
            <a:r>
              <a:rPr lang="en-US" altLang="zh-CN" sz="1700" b="0" dirty="0" err="1">
                <a:solidFill>
                  <a:srgbClr val="000000"/>
                </a:solidFill>
                <a:effectLst/>
                <a:latin typeface="Consolas" panose="020B0609020204030204" pitchFamily="49" charset="0"/>
              </a:rPr>
              <a:t>XTrain</a:t>
            </a:r>
            <a:r>
              <a:rPr lang="en-US" altLang="zh-CN" sz="1700" b="0" dirty="0">
                <a:solidFill>
                  <a:srgbClr val="000000"/>
                </a:solidFill>
                <a:effectLst/>
                <a:latin typeface="Consolas" panose="020B0609020204030204" pitchFamily="49" charset="0"/>
              </a:rPr>
              <a:t>[index[</a:t>
            </a:r>
            <a:r>
              <a:rPr lang="en-US" altLang="zh-CN" sz="1700" b="0" dirty="0" err="1">
                <a:solidFill>
                  <a:srgbClr val="000000"/>
                </a:solidFill>
                <a:effectLst/>
                <a:latin typeface="Consolas" panose="020B0609020204030204" pitchFamily="49" charset="0"/>
              </a:rPr>
              <a:t>i</a:t>
            </a:r>
            <a:r>
              <a:rPr lang="en-US" altLang="zh-CN" sz="1700" b="0" dirty="0">
                <a:solidFill>
                  <a:srgbClr val="000000"/>
                </a:solidFill>
                <a:effectLst/>
                <a:latin typeface="Consolas" panose="020B0609020204030204" pitchFamily="49" charset="0"/>
              </a:rPr>
              <a:t>], </a:t>
            </a:r>
            <a:r>
              <a:rPr lang="en-US" altLang="zh-CN" sz="1700" b="0" dirty="0">
                <a:solidFill>
                  <a:srgbClr val="098658"/>
                </a:solidFill>
                <a:effectLst/>
                <a:latin typeface="Consolas" panose="020B0609020204030204" pitchFamily="49" charset="0"/>
              </a:rPr>
              <a:t>1</a:t>
            </a:r>
            <a:r>
              <a:rPr lang="en-US" altLang="zh-CN" sz="1700" b="0" dirty="0">
                <a:solidFill>
                  <a:srgbClr val="000000"/>
                </a:solidFill>
                <a:effectLst/>
                <a:latin typeface="Consolas" panose="020B0609020204030204" pitchFamily="49" charset="0"/>
              </a:rPr>
              <a:t>, :, :])</a:t>
            </a:r>
          </a:p>
          <a:p>
            <a:r>
              <a:rPr lang="en-US" altLang="zh-CN" sz="1700" b="0" dirty="0">
                <a:solidFill>
                  <a:srgbClr val="AF00DB"/>
                </a:solidFill>
                <a:effectLst/>
                <a:latin typeface="Consolas" panose="020B0609020204030204" pitchFamily="49" charset="0"/>
              </a:rPr>
              <a:t>end</a:t>
            </a:r>
            <a:endParaRPr lang="en-US" altLang="zh-CN" sz="1700" b="0" dirty="0">
              <a:solidFill>
                <a:srgbClr val="000000"/>
              </a:solidFill>
              <a:effectLst/>
              <a:latin typeface="Consolas" panose="020B0609020204030204" pitchFamily="49" charset="0"/>
            </a:endParaRPr>
          </a:p>
        </p:txBody>
      </p:sp>
      <p:pic>
        <p:nvPicPr>
          <p:cNvPr id="3" name="图片 2">
            <a:extLst>
              <a:ext uri="{FF2B5EF4-FFF2-40B4-BE49-F238E27FC236}">
                <a16:creationId xmlns:a16="http://schemas.microsoft.com/office/drawing/2014/main" id="{750BEFC9-68BB-4299-A70E-4869CDA12503}"/>
              </a:ext>
            </a:extLst>
          </p:cNvPr>
          <p:cNvPicPr>
            <a:picLocks noChangeAspect="1"/>
          </p:cNvPicPr>
          <p:nvPr/>
        </p:nvPicPr>
        <p:blipFill>
          <a:blip r:embed="rId2"/>
          <a:stretch>
            <a:fillRect/>
          </a:stretch>
        </p:blipFill>
        <p:spPr>
          <a:xfrm>
            <a:off x="6732240" y="2941378"/>
            <a:ext cx="1957447" cy="1587493"/>
          </a:xfrm>
          <a:prstGeom prst="rect">
            <a:avLst/>
          </a:prstGeom>
        </p:spPr>
      </p:pic>
    </p:spTree>
    <p:extLst>
      <p:ext uri="{BB962C8B-B14F-4D97-AF65-F5344CB8AC3E}">
        <p14:creationId xmlns:p14="http://schemas.microsoft.com/office/powerpoint/2010/main" val="2428367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
                                            <p:txEl>
                                              <p:pRg st="11" end="1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xEl>
                                              <p:pRg st="13" end="1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1EBF05E-6AE5-4480-8FCD-51ED8D80AC85}"/>
              </a:ext>
            </a:extLst>
          </p:cNvPr>
          <p:cNvSpPr txBox="1"/>
          <p:nvPr/>
        </p:nvSpPr>
        <p:spPr>
          <a:xfrm>
            <a:off x="179512" y="771550"/>
            <a:ext cx="8712968" cy="1170320"/>
          </a:xfrm>
          <a:prstGeom prst="rect">
            <a:avLst/>
          </a:prstGeom>
          <a:solidFill>
            <a:schemeClr val="bg1"/>
          </a:solidFill>
        </p:spPr>
        <p:txBody>
          <a:bodyPr wrap="square">
            <a:spAutoFit/>
          </a:bodyPr>
          <a:lstStyle/>
          <a:p>
            <a:pPr>
              <a:lnSpc>
                <a:spcPts val="2900"/>
              </a:lnSpc>
            </a:pP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指定训练集和验证集</a:t>
            </a:r>
            <a:endParaRPr lang="zh-CN" altLang="en-US" b="0" dirty="0">
              <a:solidFill>
                <a:srgbClr val="000000"/>
              </a:solidFill>
              <a:effectLst/>
              <a:latin typeface="Consolas" panose="020B0609020204030204" pitchFamily="49" charset="0"/>
            </a:endParaRPr>
          </a:p>
          <a:p>
            <a:pPr>
              <a:lnSpc>
                <a:spcPts val="2900"/>
              </a:lnSpc>
            </a:pP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将数据划分为训练数据集和验证数据集，以使训练集中的每个类别包含 </a:t>
            </a:r>
            <a:r>
              <a:rPr lang="en-US" altLang="zh-CN" b="0" dirty="0">
                <a:solidFill>
                  <a:srgbClr val="008000"/>
                </a:solidFill>
                <a:effectLst/>
                <a:latin typeface="Consolas" panose="020B0609020204030204" pitchFamily="49" charset="0"/>
              </a:rPr>
              <a:t>750 </a:t>
            </a:r>
            <a:r>
              <a:rPr lang="zh-CN" altLang="en-US" b="0" dirty="0">
                <a:solidFill>
                  <a:srgbClr val="008000"/>
                </a:solidFill>
                <a:effectLst/>
                <a:latin typeface="Consolas" panose="020B0609020204030204" pitchFamily="49" charset="0"/>
              </a:rPr>
              <a:t>个图像，并且验证集包含对应每个标签的其余图像。</a:t>
            </a:r>
            <a:endParaRPr lang="zh-CN" altLang="en-US" b="0" dirty="0">
              <a:solidFill>
                <a:srgbClr val="000000"/>
              </a:solidFill>
              <a:effectLst/>
              <a:latin typeface="Consolas" panose="020B0609020204030204" pitchFamily="49" charset="0"/>
            </a:endParaRPr>
          </a:p>
        </p:txBody>
      </p:sp>
      <p:sp>
        <p:nvSpPr>
          <p:cNvPr id="6" name="标题 1">
            <a:extLst>
              <a:ext uri="{FF2B5EF4-FFF2-40B4-BE49-F238E27FC236}">
                <a16:creationId xmlns:a16="http://schemas.microsoft.com/office/drawing/2014/main" id="{6410DB9E-DECD-4CA9-A5F6-2C3F0E758981}"/>
              </a:ext>
            </a:extLst>
          </p:cNvPr>
          <p:cNvSpPr txBox="1">
            <a:spLocks/>
          </p:cNvSpPr>
          <p:nvPr/>
        </p:nvSpPr>
        <p:spPr bwMode="auto">
          <a:xfrm>
            <a:off x="1331640" y="128101"/>
            <a:ext cx="7488832" cy="504056"/>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600" b="0">
                <a:solidFill>
                  <a:srgbClr val="002E5C"/>
                </a:solidFill>
                <a:latin typeface="隶书" panose="02010509060101010101" pitchFamily="49" charset="-122"/>
                <a:ea typeface="隶书" panose="02010509060101010101" pitchFamily="49"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pPr>
              <a:defRPr/>
            </a:pPr>
            <a:endParaRPr lang="en-US" altLang="zh-CN" sz="2800" dirty="0">
              <a:solidFill>
                <a:srgbClr val="002060"/>
              </a:solidFill>
              <a:latin typeface="华文楷体" panose="02010600040101010101" pitchFamily="2" charset="-122"/>
              <a:ea typeface="华文楷体" panose="02010600040101010101" pitchFamily="2" charset="-122"/>
            </a:endParaRPr>
          </a:p>
          <a:p>
            <a:pPr>
              <a:defRPr/>
            </a:pPr>
            <a:r>
              <a:rPr lang="en-US" altLang="zh-CN" sz="2400" dirty="0">
                <a:solidFill>
                  <a:srgbClr val="002060"/>
                </a:solidFill>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深度学习主要步骤</a:t>
            </a:r>
            <a:r>
              <a:rPr lang="en-US" altLang="zh-CN" sz="2400" kern="0" dirty="0">
                <a:solidFill>
                  <a:srgbClr val="FF0000"/>
                </a:solidFill>
                <a:latin typeface="华文楷体" panose="02010600040101010101" pitchFamily="2" charset="-122"/>
                <a:ea typeface="华文楷体" panose="02010600040101010101" pitchFamily="2" charset="-122"/>
              </a:rPr>
              <a:t>——2</a:t>
            </a:r>
            <a:r>
              <a:rPr lang="zh-CN" altLang="en-US" sz="2400" kern="0" dirty="0">
                <a:solidFill>
                  <a:srgbClr val="FF0000"/>
                </a:solidFill>
                <a:latin typeface="华文楷体" panose="02010600040101010101" pitchFamily="2" charset="-122"/>
                <a:ea typeface="华文楷体" panose="02010600040101010101" pitchFamily="2" charset="-122"/>
              </a:rPr>
              <a:t>、指定训练集和验证集</a:t>
            </a:r>
          </a:p>
        </p:txBody>
      </p:sp>
      <p:sp>
        <p:nvSpPr>
          <p:cNvPr id="8" name="文本框 7">
            <a:extLst>
              <a:ext uri="{FF2B5EF4-FFF2-40B4-BE49-F238E27FC236}">
                <a16:creationId xmlns:a16="http://schemas.microsoft.com/office/drawing/2014/main" id="{FB3D57E0-4424-4067-8F14-924CE1177AC1}"/>
              </a:ext>
            </a:extLst>
          </p:cNvPr>
          <p:cNvSpPr txBox="1"/>
          <p:nvPr/>
        </p:nvSpPr>
        <p:spPr>
          <a:xfrm>
            <a:off x="312498" y="2071923"/>
            <a:ext cx="8579982" cy="2216376"/>
          </a:xfrm>
          <a:prstGeom prst="rect">
            <a:avLst/>
          </a:prstGeom>
          <a:noFill/>
          <a:ln>
            <a:solidFill>
              <a:schemeClr val="bg1">
                <a:lumMod val="50000"/>
              </a:schemeClr>
            </a:solidFill>
          </a:ln>
        </p:spPr>
        <p:txBody>
          <a:bodyPr wrap="square">
            <a:spAutoFit/>
          </a:bodyPr>
          <a:lstStyle/>
          <a:p>
            <a:pPr>
              <a:lnSpc>
                <a:spcPts val="2800"/>
              </a:lnSpc>
            </a:pPr>
            <a:r>
              <a:rPr lang="en-US" altLang="zh-CN" b="0" dirty="0">
                <a:solidFill>
                  <a:srgbClr val="000000"/>
                </a:solidFill>
                <a:effectLst/>
                <a:latin typeface="Consolas" panose="020B0609020204030204" pitchFamily="49" charset="0"/>
              </a:rPr>
              <a:t>index1 = p[</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750</a:t>
            </a:r>
            <a:r>
              <a:rPr lang="en-US" altLang="zh-CN" b="0" dirty="0">
                <a:solidFill>
                  <a:srgbClr val="000000"/>
                </a:solidFill>
                <a:effectLst/>
                <a:latin typeface="Consolas" panose="020B0609020204030204" pitchFamily="49" charset="0"/>
              </a:rPr>
              <a:t>]</a:t>
            </a:r>
          </a:p>
          <a:p>
            <a:pPr>
              <a:lnSpc>
                <a:spcPts val="2800"/>
              </a:lnSpc>
            </a:pPr>
            <a:r>
              <a:rPr lang="en-US" altLang="zh-CN" b="0" dirty="0">
                <a:solidFill>
                  <a:srgbClr val="000000"/>
                </a:solidFill>
                <a:effectLst/>
                <a:latin typeface="Consolas" panose="020B0609020204030204" pitchFamily="49" charset="0"/>
              </a:rPr>
              <a:t>index2 = p[</a:t>
            </a:r>
            <a:r>
              <a:rPr lang="en-US" altLang="zh-CN" b="0" dirty="0">
                <a:solidFill>
                  <a:srgbClr val="098658"/>
                </a:solidFill>
                <a:effectLst/>
                <a:latin typeface="Consolas" panose="020B0609020204030204" pitchFamily="49" charset="0"/>
              </a:rPr>
              <a:t>751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end</a:t>
            </a:r>
            <a:r>
              <a:rPr lang="en-US" altLang="zh-CN" b="0" dirty="0">
                <a:solidFill>
                  <a:srgbClr val="000000"/>
                </a:solidFill>
                <a:effectLst/>
                <a:latin typeface="Consolas" panose="020B0609020204030204" pitchFamily="49" charset="0"/>
              </a:rPr>
              <a:t>]</a:t>
            </a:r>
          </a:p>
          <a:p>
            <a:pPr>
              <a:lnSpc>
                <a:spcPts val="2800"/>
              </a:lnSpc>
            </a:pPr>
            <a:r>
              <a:rPr lang="en-US" altLang="zh-CN" b="0" dirty="0" err="1">
                <a:solidFill>
                  <a:srgbClr val="000000"/>
                </a:solidFill>
                <a:effectLst/>
                <a:latin typeface="Consolas" panose="020B0609020204030204" pitchFamily="49" charset="0"/>
              </a:rPr>
              <a:t>X_train</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XTrain</a:t>
            </a:r>
            <a:r>
              <a:rPr lang="en-US" altLang="zh-CN" b="0" dirty="0">
                <a:solidFill>
                  <a:srgbClr val="000000"/>
                </a:solidFill>
                <a:effectLst/>
                <a:latin typeface="Consolas" panose="020B0609020204030204" pitchFamily="49" charset="0"/>
              </a:rPr>
              <a:t>[index2, :, :, :]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训练集</a:t>
            </a:r>
            <a:endParaRPr lang="zh-CN" altLang="en-US" b="0" dirty="0">
              <a:solidFill>
                <a:srgbClr val="000000"/>
              </a:solidFill>
              <a:effectLst/>
              <a:latin typeface="Consolas" panose="020B0609020204030204" pitchFamily="49" charset="0"/>
            </a:endParaRPr>
          </a:p>
          <a:p>
            <a:pPr>
              <a:lnSpc>
                <a:spcPts val="2800"/>
              </a:lnSpc>
            </a:pPr>
            <a:r>
              <a:rPr lang="en-US" altLang="zh-CN" b="0" dirty="0" err="1">
                <a:solidFill>
                  <a:srgbClr val="000000"/>
                </a:solidFill>
                <a:effectLst/>
                <a:latin typeface="Consolas" panose="020B0609020204030204" pitchFamily="49" charset="0"/>
              </a:rPr>
              <a:t>Y_train</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YTrain</a:t>
            </a:r>
            <a:r>
              <a:rPr lang="en-US" altLang="zh-CN" b="0" dirty="0">
                <a:solidFill>
                  <a:srgbClr val="000000"/>
                </a:solidFill>
                <a:effectLst/>
                <a:latin typeface="Consolas" panose="020B0609020204030204" pitchFamily="49" charset="0"/>
              </a:rPr>
              <a:t>[index2]</a:t>
            </a:r>
          </a:p>
          <a:p>
            <a:pPr>
              <a:lnSpc>
                <a:spcPts val="2800"/>
              </a:lnSpc>
            </a:pPr>
            <a:r>
              <a:rPr lang="en-US" altLang="zh-CN" b="0" dirty="0" err="1">
                <a:solidFill>
                  <a:srgbClr val="000000"/>
                </a:solidFill>
                <a:effectLst/>
                <a:latin typeface="Consolas" panose="020B0609020204030204" pitchFamily="49" charset="0"/>
              </a:rPr>
              <a:t>X_Test</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XTrain</a:t>
            </a:r>
            <a:r>
              <a:rPr lang="en-US" altLang="zh-CN" b="0" dirty="0">
                <a:solidFill>
                  <a:srgbClr val="000000"/>
                </a:solidFill>
                <a:effectLst/>
                <a:latin typeface="Consolas" panose="020B0609020204030204" pitchFamily="49" charset="0"/>
              </a:rPr>
              <a:t>[index1, :, :,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验证集</a:t>
            </a:r>
            <a:endParaRPr lang="zh-CN" altLang="en-US" b="0" dirty="0">
              <a:solidFill>
                <a:srgbClr val="000000"/>
              </a:solidFill>
              <a:effectLst/>
              <a:latin typeface="Consolas" panose="020B0609020204030204" pitchFamily="49" charset="0"/>
            </a:endParaRPr>
          </a:p>
          <a:p>
            <a:pPr>
              <a:lnSpc>
                <a:spcPts val="2800"/>
              </a:lnSpc>
            </a:pPr>
            <a:r>
              <a:rPr lang="en-US" altLang="zh-CN" b="0" dirty="0" err="1">
                <a:solidFill>
                  <a:srgbClr val="000000"/>
                </a:solidFill>
                <a:effectLst/>
                <a:latin typeface="Consolas" panose="020B0609020204030204" pitchFamily="49" charset="0"/>
              </a:rPr>
              <a:t>Y_Test</a:t>
            </a:r>
            <a:r>
              <a:rPr lang="en-US" altLang="zh-CN" b="0" dirty="0">
                <a:solidFill>
                  <a:srgbClr val="000000"/>
                </a:solidFill>
                <a:effectLst/>
                <a:latin typeface="Consolas" panose="020B0609020204030204" pitchFamily="49" charset="0"/>
              </a:rPr>
              <a:t> = </a:t>
            </a:r>
            <a:r>
              <a:rPr lang="en-US" altLang="zh-CN" b="0" dirty="0" err="1">
                <a:solidFill>
                  <a:srgbClr val="000000"/>
                </a:solidFill>
                <a:effectLst/>
                <a:latin typeface="Consolas" panose="020B0609020204030204" pitchFamily="49" charset="0"/>
              </a:rPr>
              <a:t>YTrain</a:t>
            </a:r>
            <a:r>
              <a:rPr lang="en-US" altLang="zh-CN" b="0" dirty="0">
                <a:solidFill>
                  <a:srgbClr val="000000"/>
                </a:solidFill>
                <a:effectLst/>
                <a:latin typeface="Consolas" panose="020B0609020204030204" pitchFamily="49" charset="0"/>
              </a:rPr>
              <a:t>[index1]</a:t>
            </a:r>
          </a:p>
        </p:txBody>
      </p:sp>
    </p:spTree>
    <p:extLst>
      <p:ext uri="{BB962C8B-B14F-4D97-AF65-F5344CB8AC3E}">
        <p14:creationId xmlns:p14="http://schemas.microsoft.com/office/powerpoint/2010/main" val="4262948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4A29F2DC-AFBB-4550-B735-C8E0DE78996E}"/>
              </a:ext>
            </a:extLst>
          </p:cNvPr>
          <p:cNvSpPr txBox="1"/>
          <p:nvPr/>
        </p:nvSpPr>
        <p:spPr>
          <a:xfrm>
            <a:off x="951528" y="2571750"/>
            <a:ext cx="7652919" cy="2144177"/>
          </a:xfrm>
          <a:prstGeom prst="rect">
            <a:avLst/>
          </a:prstGeom>
          <a:noFill/>
        </p:spPr>
        <p:txBody>
          <a:bodyPr wrap="square">
            <a:spAutoFit/>
          </a:bodyPr>
          <a:lstStyle/>
          <a:p>
            <a:pPr>
              <a:lnSpc>
                <a:spcPts val="2000"/>
              </a:lnSpc>
            </a:pP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定义卷积神经网络架构</a:t>
            </a:r>
            <a:r>
              <a:rPr lang="en-US" altLang="zh-CN" b="0" dirty="0">
                <a:solidFill>
                  <a:srgbClr val="008000"/>
                </a:solidFill>
                <a:effectLst/>
                <a:latin typeface="Consolas" panose="020B0609020204030204" pitchFamily="49" charset="0"/>
              </a:rPr>
              <a:t>:</a:t>
            </a:r>
            <a:r>
              <a:rPr lang="zh-CN" altLang="en-US" dirty="0">
                <a:solidFill>
                  <a:srgbClr val="008000"/>
                </a:solidFill>
                <a:latin typeface="Consolas" panose="020B0609020204030204" pitchFamily="49" charset="0"/>
              </a:rPr>
              <a:t>网络构建容器</a:t>
            </a:r>
            <a:r>
              <a:rPr lang="en-US" altLang="zh-CN" dirty="0" err="1">
                <a:solidFill>
                  <a:srgbClr val="008000"/>
                </a:solidFill>
                <a:latin typeface="Consolas" panose="020B0609020204030204" pitchFamily="49" charset="0"/>
              </a:rPr>
              <a:t>SequentialCell</a:t>
            </a:r>
            <a:endParaRPr lang="zh-CN" altLang="en-US" dirty="0">
              <a:solidFill>
                <a:srgbClr val="008000"/>
              </a:solidFill>
              <a:latin typeface="Consolas" panose="020B0609020204030204" pitchFamily="49" charset="0"/>
            </a:endParaRPr>
          </a:p>
          <a:p>
            <a:pPr>
              <a:lnSpc>
                <a:spcPts val="2000"/>
              </a:lnSpc>
            </a:pPr>
            <a:r>
              <a:rPr lang="en-US" altLang="zh-CN" sz="1600" b="1" dirty="0">
                <a:solidFill>
                  <a:srgbClr val="FF0000"/>
                </a:solidFill>
                <a:effectLst/>
                <a:latin typeface="Consolas" panose="020B0609020204030204" pitchFamily="49" charset="0"/>
              </a:rPr>
              <a:t>layers</a:t>
            </a:r>
            <a:r>
              <a:rPr lang="en-US" altLang="zh-CN" sz="1600" b="0" dirty="0">
                <a:solidFill>
                  <a:srgbClr val="000000"/>
                </a:solidFill>
                <a:effectLst/>
                <a:latin typeface="Consolas" panose="020B0609020204030204" pitchFamily="49" charset="0"/>
              </a:rPr>
              <a:t>=</a:t>
            </a:r>
            <a:r>
              <a:rPr lang="en-US" altLang="zh-CN" sz="1600" b="0" dirty="0" err="1">
                <a:solidFill>
                  <a:srgbClr val="795E26"/>
                </a:solidFill>
                <a:effectLst/>
                <a:latin typeface="Consolas" panose="020B0609020204030204" pitchFamily="49" charset="0"/>
              </a:rPr>
              <a:t>SequentialCell</a:t>
            </a:r>
            <a:r>
              <a:rPr lang="en-US" altLang="zh-CN" sz="1600" b="0" dirty="0">
                <a:solidFill>
                  <a:srgbClr val="000000"/>
                </a:solidFill>
                <a:effectLst/>
                <a:latin typeface="Consolas" panose="020B0609020204030204" pitchFamily="49" charset="0"/>
              </a:rPr>
              <a:t>([</a:t>
            </a:r>
          </a:p>
          <a:p>
            <a:pPr>
              <a:lnSpc>
                <a:spcPts val="2000"/>
              </a:lnSpc>
            </a:pPr>
            <a:r>
              <a:rPr lang="en-US" altLang="zh-CN" sz="1600" b="0" dirty="0">
                <a:solidFill>
                  <a:srgbClr val="000000"/>
                </a:solidFill>
                <a:effectLst/>
                <a:latin typeface="Consolas" panose="020B0609020204030204" pitchFamily="49" charset="0"/>
              </a:rPr>
              <a:t>    </a:t>
            </a:r>
            <a:r>
              <a:rPr lang="en-US" altLang="zh-CN" sz="1600" b="0" dirty="0">
                <a:solidFill>
                  <a:srgbClr val="795E26"/>
                </a:solidFill>
                <a:effectLst/>
                <a:latin typeface="Consolas" panose="020B0609020204030204" pitchFamily="49" charset="0"/>
              </a:rPr>
              <a:t>convolution2dLayer</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20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5</a:t>
            </a:r>
            <a:r>
              <a:rPr lang="en-US" altLang="zh-CN" sz="1600" b="0" dirty="0">
                <a:solidFill>
                  <a:srgbClr val="000000"/>
                </a:solidFill>
                <a:effectLst/>
                <a:latin typeface="Consolas" panose="020B0609020204030204" pitchFamily="49" charset="0"/>
              </a:rPr>
              <a:t>), #</a:t>
            </a:r>
            <a:r>
              <a:rPr lang="zh-CN" altLang="en-US" sz="1600" dirty="0">
                <a:solidFill>
                  <a:srgbClr val="333333"/>
                </a:solidFill>
                <a:latin typeface="Courier New" panose="02070309020205020404" pitchFamily="49" charset="0"/>
              </a:rPr>
              <a:t>卷积层</a:t>
            </a:r>
            <a:endParaRPr lang="en-US" altLang="zh-CN" sz="1600" b="0" dirty="0">
              <a:solidFill>
                <a:srgbClr val="000000"/>
              </a:solidFill>
              <a:effectLst/>
              <a:latin typeface="Consolas" panose="020B0609020204030204" pitchFamily="49" charset="0"/>
            </a:endParaRPr>
          </a:p>
          <a:p>
            <a:pPr>
              <a:lnSpc>
                <a:spcPts val="2000"/>
              </a:lnSpc>
            </a:pPr>
            <a:r>
              <a:rPr lang="en-US" altLang="zh-CN" sz="1600" b="0" dirty="0">
                <a:solidFill>
                  <a:srgbClr val="000000"/>
                </a:solidFill>
                <a:effectLst/>
                <a:latin typeface="Consolas" panose="020B0609020204030204" pitchFamily="49" charset="0"/>
              </a:rPr>
              <a:t>    </a:t>
            </a:r>
            <a:r>
              <a:rPr lang="en-US" altLang="zh-CN" sz="1600" b="0" dirty="0" err="1">
                <a:solidFill>
                  <a:srgbClr val="795E26"/>
                </a:solidFill>
                <a:effectLst/>
                <a:latin typeface="Consolas" panose="020B0609020204030204" pitchFamily="49" charset="0"/>
              </a:rPr>
              <a:t>reluLayer</a:t>
            </a:r>
            <a:r>
              <a:rPr lang="en-US" altLang="zh-CN" sz="1600" b="0" dirty="0">
                <a:solidFill>
                  <a:srgbClr val="000000"/>
                </a:solidFill>
                <a:effectLst/>
                <a:latin typeface="Consolas" panose="020B0609020204030204" pitchFamily="49" charset="0"/>
              </a:rPr>
              <a:t>(), #</a:t>
            </a:r>
            <a:r>
              <a:rPr lang="zh-CN" altLang="en-US" sz="1600" dirty="0">
                <a:solidFill>
                  <a:srgbClr val="333333"/>
                </a:solidFill>
                <a:latin typeface="Courier New" panose="02070309020205020404" pitchFamily="49" charset="0"/>
              </a:rPr>
              <a:t>激活函数</a:t>
            </a:r>
            <a:endParaRPr lang="en-US" altLang="zh-CN" sz="1600" b="0" dirty="0">
              <a:solidFill>
                <a:srgbClr val="000000"/>
              </a:solidFill>
              <a:effectLst/>
              <a:latin typeface="Consolas" panose="020B0609020204030204" pitchFamily="49" charset="0"/>
            </a:endParaRPr>
          </a:p>
          <a:p>
            <a:pPr>
              <a:lnSpc>
                <a:spcPts val="2000"/>
              </a:lnSpc>
            </a:pPr>
            <a:r>
              <a:rPr lang="en-US" altLang="zh-CN" sz="1600" b="0" dirty="0">
                <a:solidFill>
                  <a:srgbClr val="000000"/>
                </a:solidFill>
                <a:effectLst/>
                <a:latin typeface="Consolas" panose="020B0609020204030204" pitchFamily="49" charset="0"/>
              </a:rPr>
              <a:t>    </a:t>
            </a:r>
            <a:r>
              <a:rPr lang="en-US" altLang="zh-CN" sz="1600" b="0" dirty="0">
                <a:solidFill>
                  <a:srgbClr val="795E26"/>
                </a:solidFill>
                <a:effectLst/>
                <a:latin typeface="Consolas" panose="020B0609020204030204" pitchFamily="49" charset="0"/>
              </a:rPr>
              <a:t>maxPooling2dLayer</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 Stride=</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  #</a:t>
            </a:r>
            <a:r>
              <a:rPr lang="zh-CN" altLang="en-US" sz="1600" dirty="0">
                <a:solidFill>
                  <a:srgbClr val="333333"/>
                </a:solidFill>
                <a:latin typeface="Courier New" panose="02070309020205020404" pitchFamily="49" charset="0"/>
              </a:rPr>
              <a:t>池化层</a:t>
            </a:r>
            <a:endParaRPr lang="en-US" altLang="zh-CN" sz="1600" b="0" dirty="0">
              <a:solidFill>
                <a:srgbClr val="000000"/>
              </a:solidFill>
              <a:effectLst/>
              <a:latin typeface="Consolas" panose="020B0609020204030204" pitchFamily="49" charset="0"/>
            </a:endParaRPr>
          </a:p>
          <a:p>
            <a:pPr>
              <a:lnSpc>
                <a:spcPts val="2000"/>
              </a:lnSpc>
            </a:pPr>
            <a:r>
              <a:rPr lang="en-US" altLang="zh-CN" sz="1600" b="0" dirty="0">
                <a:solidFill>
                  <a:srgbClr val="000000"/>
                </a:solidFill>
                <a:effectLst/>
                <a:latin typeface="Consolas" panose="020B0609020204030204" pitchFamily="49" charset="0"/>
              </a:rPr>
              <a:t>    </a:t>
            </a:r>
            <a:r>
              <a:rPr lang="en-US" altLang="zh-CN" sz="1600" b="0" dirty="0" err="1">
                <a:solidFill>
                  <a:srgbClr val="795E26"/>
                </a:solidFill>
                <a:effectLst/>
                <a:latin typeface="Consolas" panose="020B0609020204030204" pitchFamily="49" charset="0"/>
              </a:rPr>
              <a:t>flattenLayer</a:t>
            </a:r>
            <a:r>
              <a:rPr lang="en-US" altLang="zh-CN" sz="1600" b="0" dirty="0">
                <a:solidFill>
                  <a:srgbClr val="000000"/>
                </a:solidFill>
                <a:effectLst/>
                <a:latin typeface="Consolas" panose="020B0609020204030204" pitchFamily="49" charset="0"/>
              </a:rPr>
              <a:t>(),</a:t>
            </a:r>
          </a:p>
          <a:p>
            <a:pPr>
              <a:lnSpc>
                <a:spcPts val="2000"/>
              </a:lnSpc>
            </a:pPr>
            <a:r>
              <a:rPr lang="en-US" altLang="zh-CN" sz="1600" b="0" dirty="0">
                <a:solidFill>
                  <a:srgbClr val="000000"/>
                </a:solidFill>
                <a:effectLst/>
                <a:latin typeface="Consolas" panose="020B0609020204030204" pitchFamily="49" charset="0"/>
              </a:rPr>
              <a:t>    </a:t>
            </a:r>
            <a:r>
              <a:rPr lang="en-US" altLang="zh-CN" sz="1600" b="0" dirty="0" err="1">
                <a:solidFill>
                  <a:srgbClr val="795E26"/>
                </a:solidFill>
                <a:effectLst/>
                <a:latin typeface="Consolas" panose="020B0609020204030204" pitchFamily="49" charset="0"/>
              </a:rPr>
              <a:t>fullyConnectedLayer</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20</a:t>
            </a:r>
            <a:r>
              <a:rPr lang="en-US" altLang="zh-CN" sz="1600" b="0" dirty="0">
                <a:solidFill>
                  <a:srgbClr val="000000"/>
                </a:solidFill>
                <a:effectLst/>
                <a:latin typeface="Consolas" panose="020B0609020204030204" pitchFamily="49" charset="0"/>
              </a:rPr>
              <a:t> * </a:t>
            </a:r>
            <a:r>
              <a:rPr lang="en-US" altLang="zh-CN" sz="1600" b="0" dirty="0">
                <a:solidFill>
                  <a:srgbClr val="098658"/>
                </a:solidFill>
                <a:effectLst/>
                <a:latin typeface="Consolas" panose="020B0609020204030204" pitchFamily="49" charset="0"/>
              </a:rPr>
              <a:t>14</a:t>
            </a:r>
            <a:r>
              <a:rPr lang="en-US" altLang="zh-CN" sz="1600" b="0" dirty="0">
                <a:solidFill>
                  <a:srgbClr val="000000"/>
                </a:solidFill>
                <a:effectLst/>
                <a:latin typeface="Consolas" panose="020B0609020204030204" pitchFamily="49" charset="0"/>
              </a:rPr>
              <a:t> * </a:t>
            </a:r>
            <a:r>
              <a:rPr lang="en-US" altLang="zh-CN" sz="1600" b="0" dirty="0">
                <a:solidFill>
                  <a:srgbClr val="098658"/>
                </a:solidFill>
                <a:effectLst/>
                <a:latin typeface="Consolas" panose="020B0609020204030204" pitchFamily="49" charset="0"/>
              </a:rPr>
              <a:t>14</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10</a:t>
            </a:r>
            <a:r>
              <a:rPr lang="en-US" altLang="zh-CN" sz="1600" b="0" dirty="0">
                <a:solidFill>
                  <a:srgbClr val="000000"/>
                </a:solidFill>
                <a:effectLst/>
                <a:latin typeface="Consolas" panose="020B0609020204030204" pitchFamily="49" charset="0"/>
              </a:rPr>
              <a:t>), #</a:t>
            </a:r>
            <a:r>
              <a:rPr lang="zh-CN" altLang="en-US" sz="1600" dirty="0">
                <a:solidFill>
                  <a:srgbClr val="333333"/>
                </a:solidFill>
                <a:latin typeface="Courier New" panose="02070309020205020404" pitchFamily="49" charset="0"/>
              </a:rPr>
              <a:t>全连接层 </a:t>
            </a:r>
            <a:endParaRPr lang="en-US" altLang="zh-CN" sz="1600" b="0" dirty="0">
              <a:solidFill>
                <a:srgbClr val="000000"/>
              </a:solidFill>
              <a:effectLst/>
              <a:latin typeface="Consolas" panose="020B0609020204030204" pitchFamily="49" charset="0"/>
            </a:endParaRPr>
          </a:p>
          <a:p>
            <a:pPr>
              <a:lnSpc>
                <a:spcPts val="2000"/>
              </a:lnSpc>
            </a:pPr>
            <a:r>
              <a:rPr lang="en-US" altLang="zh-CN" sz="1600" b="0" dirty="0">
                <a:solidFill>
                  <a:srgbClr val="000000"/>
                </a:solidFill>
                <a:effectLst/>
                <a:latin typeface="Consolas" panose="020B0609020204030204" pitchFamily="49" charset="0"/>
              </a:rPr>
              <a:t>    </a:t>
            </a:r>
            <a:r>
              <a:rPr lang="en-US" altLang="zh-CN" sz="1600" b="0" dirty="0" err="1">
                <a:solidFill>
                  <a:srgbClr val="795E26"/>
                </a:solidFill>
                <a:effectLst/>
                <a:latin typeface="Consolas" panose="020B0609020204030204" pitchFamily="49" charset="0"/>
              </a:rPr>
              <a:t>softmaxLayer</a:t>
            </a:r>
            <a:r>
              <a:rPr lang="en-US" altLang="zh-CN" sz="1600" b="0" dirty="0">
                <a:solidFill>
                  <a:srgbClr val="000000"/>
                </a:solidFill>
                <a:effectLst/>
                <a:latin typeface="Consolas" panose="020B0609020204030204" pitchFamily="49" charset="0"/>
              </a:rPr>
              <a:t>(),]) #</a:t>
            </a:r>
            <a:r>
              <a:rPr lang="zh-CN" altLang="en-US" sz="1600" dirty="0">
                <a:solidFill>
                  <a:srgbClr val="333333"/>
                </a:solidFill>
                <a:latin typeface="Courier New" panose="02070309020205020404" pitchFamily="49" charset="0"/>
              </a:rPr>
              <a:t>分类输出 </a:t>
            </a:r>
            <a:endParaRPr lang="en-US" altLang="zh-CN" sz="1600" b="0" dirty="0">
              <a:solidFill>
                <a:srgbClr val="000000"/>
              </a:solidFill>
              <a:effectLst/>
              <a:latin typeface="Consolas" panose="020B0609020204030204" pitchFamily="49" charset="0"/>
            </a:endParaRPr>
          </a:p>
        </p:txBody>
      </p:sp>
      <p:sp>
        <p:nvSpPr>
          <p:cNvPr id="7" name="标题 1">
            <a:extLst>
              <a:ext uri="{FF2B5EF4-FFF2-40B4-BE49-F238E27FC236}">
                <a16:creationId xmlns:a16="http://schemas.microsoft.com/office/drawing/2014/main" id="{A0F280B8-CB17-4101-B4B7-B9A2C530B2DB}"/>
              </a:ext>
            </a:extLst>
          </p:cNvPr>
          <p:cNvSpPr txBox="1">
            <a:spLocks/>
          </p:cNvSpPr>
          <p:nvPr/>
        </p:nvSpPr>
        <p:spPr bwMode="auto">
          <a:xfrm>
            <a:off x="1043608" y="114886"/>
            <a:ext cx="7488832" cy="504056"/>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600" b="0">
                <a:solidFill>
                  <a:srgbClr val="002E5C"/>
                </a:solidFill>
                <a:latin typeface="隶书" panose="02010509060101010101" pitchFamily="49" charset="-122"/>
                <a:ea typeface="隶书" panose="02010509060101010101" pitchFamily="49"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pPr>
              <a:defRPr/>
            </a:pPr>
            <a:endParaRPr lang="en-US" altLang="zh-CN" sz="2800" dirty="0">
              <a:solidFill>
                <a:srgbClr val="002060"/>
              </a:solidFill>
              <a:latin typeface="华文楷体" panose="02010600040101010101" pitchFamily="2" charset="-122"/>
              <a:ea typeface="华文楷体" panose="02010600040101010101" pitchFamily="2" charset="-122"/>
            </a:endParaRPr>
          </a:p>
          <a:p>
            <a:pPr>
              <a:defRPr/>
            </a:pPr>
            <a:r>
              <a:rPr lang="en-US" altLang="zh-CN" sz="2400" dirty="0">
                <a:solidFill>
                  <a:srgbClr val="002060"/>
                </a:solidFill>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深度学习主要步骤</a:t>
            </a:r>
            <a:r>
              <a:rPr lang="en-US" altLang="zh-CN" sz="2400" kern="0" dirty="0">
                <a:solidFill>
                  <a:srgbClr val="FF0000"/>
                </a:solidFill>
                <a:latin typeface="华文楷体" panose="02010600040101010101" pitchFamily="2" charset="-122"/>
                <a:ea typeface="华文楷体" panose="02010600040101010101" pitchFamily="2" charset="-122"/>
              </a:rPr>
              <a:t>——3</a:t>
            </a:r>
            <a:r>
              <a:rPr lang="zh-CN" altLang="en-US" sz="2400" kern="0" dirty="0">
                <a:solidFill>
                  <a:srgbClr val="FF0000"/>
                </a:solidFill>
                <a:latin typeface="华文楷体" panose="02010600040101010101" pitchFamily="2" charset="-122"/>
                <a:ea typeface="华文楷体" panose="02010600040101010101" pitchFamily="2" charset="-122"/>
              </a:rPr>
              <a:t>、构建卷积神经网络框架</a:t>
            </a:r>
          </a:p>
        </p:txBody>
      </p:sp>
      <p:pic>
        <p:nvPicPr>
          <p:cNvPr id="9" name="图片 8">
            <a:extLst>
              <a:ext uri="{FF2B5EF4-FFF2-40B4-BE49-F238E27FC236}">
                <a16:creationId xmlns:a16="http://schemas.microsoft.com/office/drawing/2014/main" id="{50FB4A0B-761D-49AC-BDDA-D7D0584A7E03}"/>
              </a:ext>
            </a:extLst>
          </p:cNvPr>
          <p:cNvPicPr>
            <a:picLocks noChangeAspect="1"/>
          </p:cNvPicPr>
          <p:nvPr/>
        </p:nvPicPr>
        <p:blipFill rotWithShape="1">
          <a:blip r:embed="rId3">
            <a:extLst>
              <a:ext uri="{28A0092B-C50C-407E-A947-70E740481C1C}">
                <a14:useLocalDpi xmlns:a14="http://schemas.microsoft.com/office/drawing/2010/main" val="0"/>
              </a:ext>
            </a:extLst>
          </a:blip>
          <a:srcRect t="45800" r="-1377" b="36000"/>
          <a:stretch/>
        </p:blipFill>
        <p:spPr>
          <a:xfrm>
            <a:off x="1017779" y="788219"/>
            <a:ext cx="7272808" cy="1806648"/>
          </a:xfrm>
          <a:prstGeom prst="rect">
            <a:avLst/>
          </a:prstGeom>
        </p:spPr>
      </p:pic>
      <p:sp>
        <p:nvSpPr>
          <p:cNvPr id="10" name="文本框 9">
            <a:extLst>
              <a:ext uri="{FF2B5EF4-FFF2-40B4-BE49-F238E27FC236}">
                <a16:creationId xmlns:a16="http://schemas.microsoft.com/office/drawing/2014/main" id="{848EBC62-DC44-41C1-99BA-56F58CCE8884}"/>
              </a:ext>
            </a:extLst>
          </p:cNvPr>
          <p:cNvSpPr txBox="1"/>
          <p:nvPr/>
        </p:nvSpPr>
        <p:spPr>
          <a:xfrm>
            <a:off x="848098" y="673968"/>
            <a:ext cx="3010125" cy="338554"/>
          </a:xfrm>
          <a:prstGeom prst="rect">
            <a:avLst/>
          </a:prstGeom>
          <a:solidFill>
            <a:schemeClr val="bg1"/>
          </a:solidFill>
        </p:spPr>
        <p:txBody>
          <a:bodyPr wrap="square">
            <a:spAutoFit/>
          </a:bodyPr>
          <a:lstStyle/>
          <a:p>
            <a:r>
              <a:rPr lang="zh-CN" altLang="en-US" sz="1600" kern="0" dirty="0">
                <a:solidFill>
                  <a:srgbClr val="FF0000"/>
                </a:solidFill>
                <a:latin typeface="微软雅黑" panose="020B0503020204020204" pitchFamily="34" charset="-122"/>
                <a:ea typeface="微软雅黑" panose="020B0503020204020204" pitchFamily="34" charset="-122"/>
              </a:rPr>
              <a:t>多层卷积神经网络</a:t>
            </a:r>
            <a:r>
              <a:rPr lang="zh-CN" altLang="en-US" sz="1600" b="0" i="0" dirty="0">
                <a:solidFill>
                  <a:srgbClr val="FF0000"/>
                </a:solidFill>
                <a:effectLst/>
                <a:latin typeface="微软雅黑" panose="020B0503020204020204" pitchFamily="34" charset="-122"/>
                <a:ea typeface="微软雅黑" panose="020B0503020204020204" pitchFamily="34" charset="-122"/>
              </a:rPr>
              <a:t>模型结构：</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31F7FB1C-413A-44FB-B64A-6694CF6F1D62}"/>
              </a:ext>
            </a:extLst>
          </p:cNvPr>
          <p:cNvSpPr txBox="1"/>
          <p:nvPr/>
        </p:nvSpPr>
        <p:spPr>
          <a:xfrm>
            <a:off x="1331640" y="2341136"/>
            <a:ext cx="864096" cy="276999"/>
          </a:xfrm>
          <a:prstGeom prst="rect">
            <a:avLst/>
          </a:prstGeom>
          <a:solidFill>
            <a:schemeClr val="bg1"/>
          </a:solidFill>
        </p:spPr>
        <p:txBody>
          <a:bodyPr wrap="square">
            <a:spAutoFit/>
          </a:bodyPr>
          <a:lstStyle/>
          <a:p>
            <a:r>
              <a:rPr lang="zh-CN" altLang="en-US" sz="1200" b="1" dirty="0">
                <a:solidFill>
                  <a:srgbClr val="0070C0"/>
                </a:solidFill>
                <a:latin typeface="微软雅黑" panose="020B0503020204020204" pitchFamily="34" charset="-122"/>
                <a:ea typeface="微软雅黑" panose="020B0503020204020204" pitchFamily="34" charset="-122"/>
              </a:rPr>
              <a:t>输入图像</a:t>
            </a:r>
          </a:p>
        </p:txBody>
      </p:sp>
      <p:sp>
        <p:nvSpPr>
          <p:cNvPr id="12" name="文本框 11">
            <a:extLst>
              <a:ext uri="{FF2B5EF4-FFF2-40B4-BE49-F238E27FC236}">
                <a16:creationId xmlns:a16="http://schemas.microsoft.com/office/drawing/2014/main" id="{A9E078AF-38C3-4260-93A6-81960A7D8C9E}"/>
              </a:ext>
            </a:extLst>
          </p:cNvPr>
          <p:cNvSpPr txBox="1"/>
          <p:nvPr/>
        </p:nvSpPr>
        <p:spPr>
          <a:xfrm>
            <a:off x="2363612" y="2343360"/>
            <a:ext cx="702715" cy="276999"/>
          </a:xfrm>
          <a:prstGeom prst="rect">
            <a:avLst/>
          </a:prstGeom>
          <a:solidFill>
            <a:schemeClr val="bg1"/>
          </a:solidFill>
        </p:spPr>
        <p:txBody>
          <a:bodyPr wrap="square">
            <a:spAutoFit/>
          </a:bodyPr>
          <a:lstStyle/>
          <a:p>
            <a:r>
              <a:rPr lang="zh-CN" altLang="en-US" sz="1200" b="1" dirty="0">
                <a:solidFill>
                  <a:srgbClr val="0070C0"/>
                </a:solidFill>
                <a:latin typeface="微软雅黑" panose="020B0503020204020204" pitchFamily="34" charset="-122"/>
                <a:ea typeface="微软雅黑" panose="020B0503020204020204" pitchFamily="34" charset="-122"/>
              </a:rPr>
              <a:t>卷积层</a:t>
            </a:r>
          </a:p>
        </p:txBody>
      </p:sp>
      <p:sp>
        <p:nvSpPr>
          <p:cNvPr id="13" name="文本框 12">
            <a:extLst>
              <a:ext uri="{FF2B5EF4-FFF2-40B4-BE49-F238E27FC236}">
                <a16:creationId xmlns:a16="http://schemas.microsoft.com/office/drawing/2014/main" id="{3ADEA2E2-B77B-49FD-A3B5-96A2FC670830}"/>
              </a:ext>
            </a:extLst>
          </p:cNvPr>
          <p:cNvSpPr txBox="1"/>
          <p:nvPr/>
        </p:nvSpPr>
        <p:spPr>
          <a:xfrm>
            <a:off x="3038324" y="2341136"/>
            <a:ext cx="702715" cy="276999"/>
          </a:xfrm>
          <a:prstGeom prst="rect">
            <a:avLst/>
          </a:prstGeom>
          <a:solidFill>
            <a:schemeClr val="bg1"/>
          </a:solidFill>
        </p:spPr>
        <p:txBody>
          <a:bodyPr wrap="square">
            <a:spAutoFit/>
          </a:bodyPr>
          <a:lstStyle/>
          <a:p>
            <a:r>
              <a:rPr lang="zh-CN" altLang="en-US" sz="1200" b="1" dirty="0">
                <a:solidFill>
                  <a:srgbClr val="0070C0"/>
                </a:solidFill>
                <a:latin typeface="微软雅黑" panose="020B0503020204020204" pitchFamily="34" charset="-122"/>
                <a:ea typeface="微软雅黑" panose="020B0503020204020204" pitchFamily="34" charset="-122"/>
              </a:rPr>
              <a:t>激活层</a:t>
            </a:r>
          </a:p>
        </p:txBody>
      </p:sp>
      <p:sp>
        <p:nvSpPr>
          <p:cNvPr id="14" name="文本框 13">
            <a:extLst>
              <a:ext uri="{FF2B5EF4-FFF2-40B4-BE49-F238E27FC236}">
                <a16:creationId xmlns:a16="http://schemas.microsoft.com/office/drawing/2014/main" id="{337BE91C-CBD3-43CD-9925-ECE6E9D3CA02}"/>
              </a:ext>
            </a:extLst>
          </p:cNvPr>
          <p:cNvSpPr txBox="1"/>
          <p:nvPr/>
        </p:nvSpPr>
        <p:spPr>
          <a:xfrm>
            <a:off x="3948463" y="2340918"/>
            <a:ext cx="702715" cy="276999"/>
          </a:xfrm>
          <a:prstGeom prst="rect">
            <a:avLst/>
          </a:prstGeom>
          <a:solidFill>
            <a:schemeClr val="bg1"/>
          </a:solidFill>
        </p:spPr>
        <p:txBody>
          <a:bodyPr wrap="square">
            <a:spAutoFit/>
          </a:bodyPr>
          <a:lstStyle/>
          <a:p>
            <a:r>
              <a:rPr lang="zh-CN" altLang="en-US" sz="1200" b="1" dirty="0">
                <a:solidFill>
                  <a:srgbClr val="0070C0"/>
                </a:solidFill>
                <a:latin typeface="微软雅黑" panose="020B0503020204020204" pitchFamily="34" charset="-122"/>
                <a:ea typeface="微软雅黑" panose="020B0503020204020204" pitchFamily="34" charset="-122"/>
              </a:rPr>
              <a:t>池化层</a:t>
            </a:r>
          </a:p>
        </p:txBody>
      </p:sp>
      <p:sp>
        <p:nvSpPr>
          <p:cNvPr id="15" name="文本框 14">
            <a:extLst>
              <a:ext uri="{FF2B5EF4-FFF2-40B4-BE49-F238E27FC236}">
                <a16:creationId xmlns:a16="http://schemas.microsoft.com/office/drawing/2014/main" id="{18153C17-4F79-4690-940B-2E4FD625DF30}"/>
              </a:ext>
            </a:extLst>
          </p:cNvPr>
          <p:cNvSpPr txBox="1"/>
          <p:nvPr/>
        </p:nvSpPr>
        <p:spPr>
          <a:xfrm>
            <a:off x="5701190" y="2354818"/>
            <a:ext cx="864096" cy="276999"/>
          </a:xfrm>
          <a:prstGeom prst="rect">
            <a:avLst/>
          </a:prstGeom>
          <a:solidFill>
            <a:schemeClr val="bg1"/>
          </a:solidFill>
        </p:spPr>
        <p:txBody>
          <a:bodyPr wrap="square">
            <a:spAutoFit/>
          </a:bodyPr>
          <a:lstStyle/>
          <a:p>
            <a:r>
              <a:rPr lang="zh-CN" altLang="en-US" sz="1200" b="1" dirty="0">
                <a:solidFill>
                  <a:srgbClr val="0070C0"/>
                </a:solidFill>
                <a:latin typeface="微软雅黑" panose="020B0503020204020204" pitchFamily="34" charset="-122"/>
                <a:ea typeface="微软雅黑" panose="020B0503020204020204" pitchFamily="34" charset="-122"/>
              </a:rPr>
              <a:t>全连接层</a:t>
            </a:r>
          </a:p>
        </p:txBody>
      </p:sp>
      <p:sp>
        <p:nvSpPr>
          <p:cNvPr id="16" name="文本框 15">
            <a:extLst>
              <a:ext uri="{FF2B5EF4-FFF2-40B4-BE49-F238E27FC236}">
                <a16:creationId xmlns:a16="http://schemas.microsoft.com/office/drawing/2014/main" id="{D1192486-AFF9-4512-9714-9E24015BB80B}"/>
              </a:ext>
            </a:extLst>
          </p:cNvPr>
          <p:cNvSpPr txBox="1"/>
          <p:nvPr/>
        </p:nvSpPr>
        <p:spPr>
          <a:xfrm>
            <a:off x="6671723" y="2340918"/>
            <a:ext cx="864096" cy="276999"/>
          </a:xfrm>
          <a:prstGeom prst="rect">
            <a:avLst/>
          </a:prstGeom>
          <a:solidFill>
            <a:schemeClr val="bg1"/>
          </a:solidFill>
        </p:spPr>
        <p:txBody>
          <a:bodyPr wrap="square">
            <a:spAutoFit/>
          </a:bodyPr>
          <a:lstStyle/>
          <a:p>
            <a:r>
              <a:rPr lang="zh-CN" altLang="en-US" sz="1200" b="1" dirty="0">
                <a:solidFill>
                  <a:srgbClr val="0070C0"/>
                </a:solidFill>
                <a:latin typeface="微软雅黑" panose="020B0503020204020204" pitchFamily="34" charset="-122"/>
                <a:ea typeface="微软雅黑" panose="020B0503020204020204" pitchFamily="34" charset="-122"/>
              </a:rPr>
              <a:t>概率输出</a:t>
            </a:r>
          </a:p>
        </p:txBody>
      </p:sp>
      <p:sp>
        <p:nvSpPr>
          <p:cNvPr id="17" name="文本框 16">
            <a:extLst>
              <a:ext uri="{FF2B5EF4-FFF2-40B4-BE49-F238E27FC236}">
                <a16:creationId xmlns:a16="http://schemas.microsoft.com/office/drawing/2014/main" id="{5C7B4D25-79BC-47BE-A2E9-D3BC8458E900}"/>
              </a:ext>
            </a:extLst>
          </p:cNvPr>
          <p:cNvSpPr txBox="1"/>
          <p:nvPr/>
        </p:nvSpPr>
        <p:spPr>
          <a:xfrm>
            <a:off x="7492742" y="2354817"/>
            <a:ext cx="864096" cy="276999"/>
          </a:xfrm>
          <a:prstGeom prst="rect">
            <a:avLst/>
          </a:prstGeom>
          <a:solidFill>
            <a:schemeClr val="bg1"/>
          </a:solidFill>
        </p:spPr>
        <p:txBody>
          <a:bodyPr wrap="square">
            <a:spAutoFit/>
          </a:bodyPr>
          <a:lstStyle/>
          <a:p>
            <a:r>
              <a:rPr lang="zh-CN" altLang="en-US" sz="1200" b="1" dirty="0">
                <a:solidFill>
                  <a:srgbClr val="0070C0"/>
                </a:solidFill>
                <a:latin typeface="微软雅黑" panose="020B0503020204020204" pitchFamily="34" charset="-122"/>
                <a:ea typeface="微软雅黑" panose="020B0503020204020204" pitchFamily="34" charset="-122"/>
              </a:rPr>
              <a:t>分类概率</a:t>
            </a:r>
          </a:p>
        </p:txBody>
      </p:sp>
      <p:sp>
        <p:nvSpPr>
          <p:cNvPr id="8" name="文本框 7">
            <a:extLst>
              <a:ext uri="{FF2B5EF4-FFF2-40B4-BE49-F238E27FC236}">
                <a16:creationId xmlns:a16="http://schemas.microsoft.com/office/drawing/2014/main" id="{BA3479A2-9A8C-481A-BEB2-785357B3D97B}"/>
              </a:ext>
            </a:extLst>
          </p:cNvPr>
          <p:cNvSpPr txBox="1"/>
          <p:nvPr/>
        </p:nvSpPr>
        <p:spPr>
          <a:xfrm>
            <a:off x="3532695" y="635134"/>
            <a:ext cx="4971806" cy="338554"/>
          </a:xfrm>
          <a:prstGeom prst="rect">
            <a:avLst/>
          </a:prstGeom>
          <a:noFill/>
        </p:spPr>
        <p:txBody>
          <a:bodyPr wrap="square">
            <a:spAutoFit/>
          </a:bodyPr>
          <a:lstStyle/>
          <a:p>
            <a:r>
              <a:rPr lang="zh-CN" altLang="en-US" sz="1600" b="0" i="0" dirty="0">
                <a:solidFill>
                  <a:srgbClr val="0070C0"/>
                </a:solidFill>
                <a:effectLst/>
                <a:latin typeface="微软雅黑" panose="020B0503020204020204" pitchFamily="34" charset="-122"/>
                <a:ea typeface="微软雅黑" panose="020B0503020204020204" pitchFamily="34" charset="-122"/>
              </a:rPr>
              <a:t>输入层、卷积和激活、池化层、多层堆叠、全连接层</a:t>
            </a:r>
            <a:endParaRPr lang="zh-CN" altLang="en-US" sz="1600"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42977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animBg="1"/>
      <p:bldP spid="13" grpId="0" animBg="1"/>
      <p:bldP spid="14" grpId="0" animBg="1"/>
      <p:bldP spid="15" grpId="0" animBg="1"/>
      <p:bldP spid="16" grpId="0" animBg="1"/>
      <p:bldP spid="17"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9D76830-DAD8-4562-899F-D0CEA7545A86}"/>
              </a:ext>
            </a:extLst>
          </p:cNvPr>
          <p:cNvSpPr txBox="1">
            <a:spLocks/>
          </p:cNvSpPr>
          <p:nvPr/>
        </p:nvSpPr>
        <p:spPr bwMode="auto">
          <a:xfrm>
            <a:off x="1187624" y="123478"/>
            <a:ext cx="7488832" cy="504056"/>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600" b="0">
                <a:solidFill>
                  <a:srgbClr val="002E5C"/>
                </a:solidFill>
                <a:latin typeface="隶书" panose="02010509060101010101" pitchFamily="49" charset="-122"/>
                <a:ea typeface="隶书" panose="02010509060101010101" pitchFamily="49"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pPr>
              <a:defRPr/>
            </a:pPr>
            <a:endParaRPr lang="en-US" altLang="zh-CN" sz="2800" dirty="0">
              <a:solidFill>
                <a:srgbClr val="002060"/>
              </a:solidFill>
              <a:latin typeface="华文楷体" panose="02010600040101010101" pitchFamily="2" charset="-122"/>
              <a:ea typeface="华文楷体" panose="02010600040101010101" pitchFamily="2" charset="-122"/>
            </a:endParaRPr>
          </a:p>
          <a:p>
            <a:pPr>
              <a:defRPr/>
            </a:pPr>
            <a:r>
              <a:rPr lang="en-US" altLang="zh-CN" sz="2400" dirty="0">
                <a:solidFill>
                  <a:srgbClr val="002060"/>
                </a:solidFill>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深度学习主要步骤</a:t>
            </a:r>
            <a:r>
              <a:rPr lang="en-US" altLang="zh-CN" sz="2400" kern="0" dirty="0">
                <a:solidFill>
                  <a:srgbClr val="FF0000"/>
                </a:solidFill>
                <a:latin typeface="华文楷体" panose="02010600040101010101" pitchFamily="2" charset="-122"/>
                <a:ea typeface="华文楷体" panose="02010600040101010101" pitchFamily="2" charset="-122"/>
              </a:rPr>
              <a:t>——4</a:t>
            </a:r>
            <a:r>
              <a:rPr lang="zh-CN" altLang="en-US" sz="2400" kern="0" dirty="0">
                <a:solidFill>
                  <a:srgbClr val="FF0000"/>
                </a:solidFill>
                <a:latin typeface="华文楷体" panose="02010600040101010101" pitchFamily="2" charset="-122"/>
                <a:ea typeface="华文楷体" panose="02010600040101010101" pitchFamily="2" charset="-122"/>
              </a:rPr>
              <a:t>、训练深度学习神经网络</a:t>
            </a:r>
          </a:p>
        </p:txBody>
      </p:sp>
      <p:sp>
        <p:nvSpPr>
          <p:cNvPr id="9" name="文本框 8">
            <a:extLst>
              <a:ext uri="{FF2B5EF4-FFF2-40B4-BE49-F238E27FC236}">
                <a16:creationId xmlns:a16="http://schemas.microsoft.com/office/drawing/2014/main" id="{417E82C7-6D22-4D3E-9239-6EB99C827E3C}"/>
              </a:ext>
            </a:extLst>
          </p:cNvPr>
          <p:cNvSpPr txBox="1"/>
          <p:nvPr/>
        </p:nvSpPr>
        <p:spPr>
          <a:xfrm>
            <a:off x="150723" y="759498"/>
            <a:ext cx="4619444" cy="369332"/>
          </a:xfrm>
          <a:prstGeom prst="rect">
            <a:avLst/>
          </a:prstGeom>
          <a:solidFill>
            <a:schemeClr val="bg1"/>
          </a:solidFill>
        </p:spPr>
        <p:txBody>
          <a:bodyPr wrap="square">
            <a:spAutoFit/>
          </a:bodyPr>
          <a:lstStyle/>
          <a:p>
            <a:r>
              <a:rPr lang="en-US" altLang="zh-CN" b="1" i="0" dirty="0">
                <a:solidFill>
                  <a:srgbClr val="0070C0"/>
                </a:solidFill>
                <a:effectLst/>
                <a:latin typeface="Microsoft YaHei" panose="020B0503020204020204" pitchFamily="34" charset="-122"/>
                <a:ea typeface="Microsoft YaHei" panose="020B0503020204020204" pitchFamily="34" charset="-122"/>
              </a:rPr>
              <a:t>#</a:t>
            </a:r>
            <a:r>
              <a:rPr lang="zh-CN" altLang="en-US" b="1" i="0" dirty="0">
                <a:solidFill>
                  <a:srgbClr val="0070C0"/>
                </a:solidFill>
                <a:effectLst/>
                <a:latin typeface="Microsoft YaHei" panose="020B0503020204020204" pitchFamily="34" charset="-122"/>
                <a:ea typeface="Microsoft YaHei" panose="020B0503020204020204" pitchFamily="34" charset="-122"/>
              </a:rPr>
              <a:t>对深度学习神经网络的训练选项</a:t>
            </a:r>
            <a:endParaRPr lang="zh-CN" altLang="en-US" b="1" dirty="0">
              <a:solidFill>
                <a:srgbClr val="0070C0"/>
              </a:solidFill>
            </a:endParaRPr>
          </a:p>
        </p:txBody>
      </p:sp>
      <p:sp>
        <p:nvSpPr>
          <p:cNvPr id="14" name="Rectangle 2">
            <a:extLst>
              <a:ext uri="{FF2B5EF4-FFF2-40B4-BE49-F238E27FC236}">
                <a16:creationId xmlns:a16="http://schemas.microsoft.com/office/drawing/2014/main" id="{DC83D322-F9BC-41EB-975E-CAC986761B0B}"/>
              </a:ext>
            </a:extLst>
          </p:cNvPr>
          <p:cNvSpPr>
            <a:spLocks noChangeArrowheads="1"/>
          </p:cNvSpPr>
          <p:nvPr/>
        </p:nvSpPr>
        <p:spPr bwMode="auto">
          <a:xfrm>
            <a:off x="197127" y="1887008"/>
            <a:ext cx="4734913" cy="1491114"/>
          </a:xfrm>
          <a:prstGeom prst="rect">
            <a:avLst/>
          </a:prstGeom>
          <a:solidFill>
            <a:srgbClr val="F6F6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nSpc>
                <a:spcPts val="3000"/>
              </a:lnSpc>
            </a:pPr>
            <a:r>
              <a:rPr kumimoji="0" lang="en-US" altLang="zh-CN"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a:t>
            </a:r>
            <a:r>
              <a:rPr kumimoji="0" lang="zh-CN" altLang="zh-CN"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指定网络训练选项。使用CrossEntropyLoss作为损失函数，Momentum为优化算法，评价指标为准确度，</a:t>
            </a:r>
            <a:r>
              <a:rPr lang="zh-CN" altLang="en-US" sz="1600" dirty="0">
                <a:solidFill>
                  <a:srgbClr val="0070C0"/>
                </a:solidFill>
                <a:latin typeface="微软雅黑" panose="020B0503020204020204" pitchFamily="34" charset="-122"/>
                <a:ea typeface="微软雅黑" panose="020B0503020204020204" pitchFamily="34" charset="-122"/>
              </a:rPr>
              <a:t>训练批次大小</a:t>
            </a:r>
            <a:r>
              <a:rPr lang="zh-CN" altLang="zh-CN" sz="1600" dirty="0">
                <a:solidFill>
                  <a:srgbClr val="0070C0"/>
                </a:solidFill>
                <a:latin typeface="微软雅黑" panose="020B0503020204020204" pitchFamily="34" charset="-122"/>
                <a:ea typeface="微软雅黑" panose="020B0503020204020204" pitchFamily="34" charset="-122"/>
              </a:rPr>
              <a:t>bactchsize 为 128</a:t>
            </a:r>
            <a:r>
              <a:rPr lang="en-US" altLang="zh-CN" sz="1600" dirty="0">
                <a:solidFill>
                  <a:srgbClr val="0070C0"/>
                </a:solidFill>
                <a:latin typeface="微软雅黑" panose="020B0503020204020204" pitchFamily="34" charset="-122"/>
                <a:ea typeface="微软雅黑" panose="020B0503020204020204" pitchFamily="34" charset="-122"/>
              </a:rPr>
              <a:t>,</a:t>
            </a:r>
            <a:r>
              <a:rPr lang="zh-CN" altLang="en-US" sz="1600" i="0" dirty="0">
                <a:solidFill>
                  <a:srgbClr val="0070C0"/>
                </a:solidFill>
                <a:effectLst/>
                <a:latin typeface="微软雅黑" panose="020B0503020204020204" pitchFamily="34" charset="-122"/>
                <a:ea typeface="微软雅黑" panose="020B0503020204020204" pitchFamily="34" charset="-122"/>
              </a:rPr>
              <a:t>训练次数</a:t>
            </a:r>
            <a:r>
              <a:rPr kumimoji="0" lang="zh-CN" altLang="zh-CN"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epoch 为 50</a:t>
            </a:r>
            <a:r>
              <a:rPr lang="zh-CN" altLang="zh-CN" sz="1600" dirty="0">
                <a:solidFill>
                  <a:srgbClr val="0070C0"/>
                </a:solidFill>
                <a:latin typeface="微软雅黑" panose="020B0503020204020204" pitchFamily="34" charset="-122"/>
                <a:ea typeface="微软雅黑" panose="020B0503020204020204" pitchFamily="34" charset="-122"/>
              </a:rPr>
              <a:t>，学习率为 0.001。</a:t>
            </a:r>
            <a:endParaRPr kumimoji="0" lang="zh-CN" altLang="zh-CN" sz="1600" i="0" u="none" strike="noStrike" cap="none" normalizeH="0" baseline="0" dirty="0">
              <a:ln>
                <a:noFill/>
              </a:ln>
              <a:solidFill>
                <a:srgbClr val="0070C0"/>
              </a:solidFill>
              <a:effectLst/>
            </a:endParaRPr>
          </a:p>
        </p:txBody>
      </p:sp>
      <p:sp>
        <p:nvSpPr>
          <p:cNvPr id="25" name="文本框 24">
            <a:extLst>
              <a:ext uri="{FF2B5EF4-FFF2-40B4-BE49-F238E27FC236}">
                <a16:creationId xmlns:a16="http://schemas.microsoft.com/office/drawing/2014/main" id="{CA3B2715-8DCE-41D3-BDF8-E66E1B6F9BC4}"/>
              </a:ext>
            </a:extLst>
          </p:cNvPr>
          <p:cNvSpPr txBox="1"/>
          <p:nvPr/>
        </p:nvSpPr>
        <p:spPr>
          <a:xfrm>
            <a:off x="181968" y="1151840"/>
            <a:ext cx="8815520" cy="646331"/>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options = </a:t>
            </a:r>
            <a:r>
              <a:rPr lang="en-US" altLang="zh-CN" b="0" dirty="0" err="1">
                <a:solidFill>
                  <a:srgbClr val="795E26"/>
                </a:solidFill>
                <a:effectLst/>
                <a:latin typeface="Consolas" panose="020B0609020204030204" pitchFamily="49" charset="0"/>
              </a:rPr>
              <a:t>trainingOptions</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CrossEntropyLoss</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 </a:t>
            </a:r>
            <a:r>
              <a:rPr lang="en-US" altLang="zh-CN" b="0" dirty="0">
                <a:solidFill>
                  <a:srgbClr val="A31515"/>
                </a:solidFill>
                <a:effectLst/>
                <a:latin typeface="Consolas" panose="020B0609020204030204" pitchFamily="49" charset="0"/>
              </a:rPr>
              <a:t>"Momentum"</a:t>
            </a:r>
            <a:r>
              <a:rPr lang="en-US" altLang="zh-CN" b="0" dirty="0">
                <a:solidFill>
                  <a:srgbClr val="000000"/>
                </a:solidFill>
                <a:effectLst/>
                <a:latin typeface="Consolas" panose="020B0609020204030204" pitchFamily="49" charset="0"/>
              </a:rPr>
              <a:t>, </a:t>
            </a:r>
            <a:r>
              <a:rPr lang="en-US" altLang="zh-CN" b="0" dirty="0">
                <a:solidFill>
                  <a:srgbClr val="A31515"/>
                </a:solidFill>
                <a:effectLst/>
                <a:latin typeface="Consolas" panose="020B0609020204030204" pitchFamily="49" charset="0"/>
              </a:rPr>
              <a:t>"Accuracy"</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128</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50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0.001</a:t>
            </a:r>
            <a:r>
              <a:rPr lang="en-US" altLang="zh-CN" b="0" dirty="0">
                <a:solidFill>
                  <a:srgbClr val="000000"/>
                </a:solidFill>
                <a:effectLst/>
                <a:latin typeface="Consolas" panose="020B0609020204030204" pitchFamily="49" charset="0"/>
              </a:rPr>
              <a:t>; Plots=</a:t>
            </a:r>
            <a:r>
              <a:rPr lang="en-US" altLang="zh-CN" b="0" dirty="0">
                <a:solidFill>
                  <a:srgbClr val="0000FF"/>
                </a:solidFill>
                <a:effectLst/>
                <a:latin typeface="Consolas" panose="020B0609020204030204" pitchFamily="49" charset="0"/>
              </a:rPr>
              <a:t>true</a:t>
            </a:r>
            <a:r>
              <a:rPr lang="en-US" altLang="zh-CN" b="0" dirty="0">
                <a:solidFill>
                  <a:srgbClr val="000000"/>
                </a:solidFill>
                <a:effectLst/>
                <a:latin typeface="Consolas" panose="020B0609020204030204" pitchFamily="49" charset="0"/>
              </a:rPr>
              <a:t>)</a:t>
            </a:r>
          </a:p>
        </p:txBody>
      </p:sp>
      <p:sp>
        <p:nvSpPr>
          <p:cNvPr id="27" name="文本框 26">
            <a:extLst>
              <a:ext uri="{FF2B5EF4-FFF2-40B4-BE49-F238E27FC236}">
                <a16:creationId xmlns:a16="http://schemas.microsoft.com/office/drawing/2014/main" id="{B7F2A1FC-2F6E-4E8A-B16F-49C7FC385516}"/>
              </a:ext>
            </a:extLst>
          </p:cNvPr>
          <p:cNvSpPr txBox="1"/>
          <p:nvPr/>
        </p:nvSpPr>
        <p:spPr>
          <a:xfrm>
            <a:off x="34869" y="4051616"/>
            <a:ext cx="6696744" cy="369332"/>
          </a:xfrm>
          <a:prstGeom prst="rect">
            <a:avLst/>
          </a:prstGeom>
          <a:noFill/>
        </p:spPr>
        <p:txBody>
          <a:bodyPr wrap="square">
            <a:spAutoFit/>
          </a:bodyPr>
          <a:lstStyle/>
          <a:p>
            <a:r>
              <a:rPr lang="fr-FR" altLang="zh-CN" b="1" dirty="0">
                <a:solidFill>
                  <a:srgbClr val="0070C0"/>
                </a:solidFill>
                <a:effectLst/>
                <a:latin typeface="Consolas" panose="020B0609020204030204" pitchFamily="49" charset="0"/>
              </a:rPr>
              <a:t>net</a:t>
            </a:r>
            <a:r>
              <a:rPr lang="fr-FR" altLang="zh-CN" b="0" dirty="0">
                <a:solidFill>
                  <a:srgbClr val="000000"/>
                </a:solidFill>
                <a:effectLst/>
                <a:latin typeface="Consolas" panose="020B0609020204030204" pitchFamily="49" charset="0"/>
              </a:rPr>
              <a:t>=</a:t>
            </a:r>
            <a:r>
              <a:rPr lang="fr-FR" altLang="zh-CN" b="0" dirty="0">
                <a:solidFill>
                  <a:srgbClr val="795E26"/>
                </a:solidFill>
                <a:effectLst/>
                <a:latin typeface="Consolas" panose="020B0609020204030204" pitchFamily="49" charset="0"/>
              </a:rPr>
              <a:t>trainNetwork</a:t>
            </a:r>
            <a:r>
              <a:rPr lang="fr-FR" altLang="zh-CN" b="0" dirty="0">
                <a:solidFill>
                  <a:srgbClr val="000000"/>
                </a:solidFill>
                <a:effectLst/>
                <a:latin typeface="Consolas" panose="020B0609020204030204" pitchFamily="49" charset="0"/>
              </a:rPr>
              <a:t>(X_train,Y_train,</a:t>
            </a:r>
            <a:r>
              <a:rPr lang="fr-FR" altLang="zh-CN" b="0" dirty="0">
                <a:solidFill>
                  <a:srgbClr val="FF0000"/>
                </a:solidFill>
                <a:effectLst/>
                <a:latin typeface="Consolas" panose="020B0609020204030204" pitchFamily="49" charset="0"/>
              </a:rPr>
              <a:t>l</a:t>
            </a:r>
            <a:r>
              <a:rPr lang="fr-FR" altLang="zh-CN" b="1" dirty="0">
                <a:solidFill>
                  <a:srgbClr val="FF0000"/>
                </a:solidFill>
                <a:effectLst/>
                <a:latin typeface="Consolas" panose="020B0609020204030204" pitchFamily="49" charset="0"/>
              </a:rPr>
              <a:t>ayers</a:t>
            </a:r>
            <a:r>
              <a:rPr lang="fr-FR" altLang="zh-CN" b="0" dirty="0">
                <a:solidFill>
                  <a:srgbClr val="000000"/>
                </a:solidFill>
                <a:effectLst/>
                <a:latin typeface="Consolas" panose="020B0609020204030204" pitchFamily="49" charset="0"/>
              </a:rPr>
              <a:t>, options)</a:t>
            </a:r>
            <a:r>
              <a:rPr lang="en-US" altLang="zh-CN" b="0" dirty="0">
                <a:solidFill>
                  <a:srgbClr val="000000"/>
                </a:solidFill>
                <a:effectLst/>
                <a:latin typeface="Consolas" panose="020B0609020204030204" pitchFamily="49" charset="0"/>
              </a:rPr>
              <a:t> </a:t>
            </a:r>
            <a:endParaRPr lang="fr-FR" altLang="zh-CN" b="0" dirty="0">
              <a:solidFill>
                <a:srgbClr val="000000"/>
              </a:solidFill>
              <a:effectLst/>
              <a:latin typeface="Consolas" panose="020B0609020204030204" pitchFamily="49" charset="0"/>
            </a:endParaRPr>
          </a:p>
        </p:txBody>
      </p:sp>
      <p:sp>
        <p:nvSpPr>
          <p:cNvPr id="33" name="文本框 32">
            <a:extLst>
              <a:ext uri="{FF2B5EF4-FFF2-40B4-BE49-F238E27FC236}">
                <a16:creationId xmlns:a16="http://schemas.microsoft.com/office/drawing/2014/main" id="{703D5626-9EAE-4C5F-A9CF-33ED9483F5D0}"/>
              </a:ext>
            </a:extLst>
          </p:cNvPr>
          <p:cNvSpPr txBox="1"/>
          <p:nvPr/>
        </p:nvSpPr>
        <p:spPr>
          <a:xfrm>
            <a:off x="34869" y="3576164"/>
            <a:ext cx="4619444" cy="369332"/>
          </a:xfrm>
          <a:prstGeom prst="rect">
            <a:avLst/>
          </a:prstGeom>
          <a:solidFill>
            <a:schemeClr val="bg1"/>
          </a:solidFill>
        </p:spPr>
        <p:txBody>
          <a:bodyPr wrap="square">
            <a:spAutoFit/>
          </a:bodyPr>
          <a:lstStyle>
            <a:defPPr>
              <a:defRPr lang="zh-CN"/>
            </a:defPPr>
            <a:lvl1pPr>
              <a:defRPr b="1" i="0">
                <a:solidFill>
                  <a:srgbClr val="0070C0"/>
                </a:solidFill>
                <a:effectLst/>
                <a:latin typeface="Microsoft YaHei" panose="020B0503020204020204" pitchFamily="34" charset="-122"/>
                <a:ea typeface="Microsoft YaHei" panose="020B0503020204020204" pitchFamily="34" charset="-122"/>
              </a:defRPr>
            </a:lvl1pPr>
          </a:lstStyle>
          <a:p>
            <a:r>
              <a:rPr lang="en-US" altLang="zh-CN" dirty="0"/>
              <a:t>#</a:t>
            </a:r>
            <a:r>
              <a:rPr lang="zh-CN" altLang="en-US" dirty="0"/>
              <a:t>使用训练数据</a:t>
            </a:r>
            <a:r>
              <a:rPr lang="fr-FR" altLang="zh-CN" dirty="0">
                <a:latin typeface="Consolas" panose="020B0609020204030204" pitchFamily="49" charset="0"/>
              </a:rPr>
              <a:t>trainNetwork</a:t>
            </a:r>
            <a:r>
              <a:rPr lang="zh-CN" altLang="en-US" dirty="0"/>
              <a:t>训练神经网络</a:t>
            </a:r>
          </a:p>
        </p:txBody>
      </p:sp>
      <p:pic>
        <p:nvPicPr>
          <p:cNvPr id="37" name="图片 36">
            <a:extLst>
              <a:ext uri="{FF2B5EF4-FFF2-40B4-BE49-F238E27FC236}">
                <a16:creationId xmlns:a16="http://schemas.microsoft.com/office/drawing/2014/main" id="{780F9B3C-3802-49F8-9B80-C87F56CA772C}"/>
              </a:ext>
            </a:extLst>
          </p:cNvPr>
          <p:cNvPicPr>
            <a:picLocks noChangeAspect="1"/>
          </p:cNvPicPr>
          <p:nvPr/>
        </p:nvPicPr>
        <p:blipFill>
          <a:blip r:embed="rId3"/>
          <a:stretch>
            <a:fillRect/>
          </a:stretch>
        </p:blipFill>
        <p:spPr>
          <a:xfrm>
            <a:off x="5004048" y="2066871"/>
            <a:ext cx="2200175" cy="1752149"/>
          </a:xfrm>
          <a:prstGeom prst="rect">
            <a:avLst/>
          </a:prstGeom>
        </p:spPr>
      </p:pic>
      <p:sp>
        <p:nvSpPr>
          <p:cNvPr id="39" name="文本框 38">
            <a:extLst>
              <a:ext uri="{FF2B5EF4-FFF2-40B4-BE49-F238E27FC236}">
                <a16:creationId xmlns:a16="http://schemas.microsoft.com/office/drawing/2014/main" id="{FA219B92-CEC9-4952-9031-87D00B50CD3F}"/>
              </a:ext>
            </a:extLst>
          </p:cNvPr>
          <p:cNvSpPr txBox="1"/>
          <p:nvPr/>
        </p:nvSpPr>
        <p:spPr>
          <a:xfrm>
            <a:off x="6255072" y="1613505"/>
            <a:ext cx="2448272" cy="369332"/>
          </a:xfrm>
          <a:prstGeom prst="rect">
            <a:avLst/>
          </a:prstGeom>
          <a:noFill/>
        </p:spPr>
        <p:txBody>
          <a:bodyPr wrap="square">
            <a:spAutoFit/>
          </a:bodyPr>
          <a:lstStyle/>
          <a:p>
            <a:r>
              <a:rPr lang="zh-CN" altLang="en-US" b="0" dirty="0">
                <a:solidFill>
                  <a:srgbClr val="008000"/>
                </a:solidFill>
                <a:effectLst/>
                <a:latin typeface="Consolas" panose="020B0609020204030204" pitchFamily="49" charset="0"/>
              </a:rPr>
              <a:t>训练进度图显示损失</a:t>
            </a:r>
            <a:endParaRPr lang="zh-CN" altLang="en-US" b="0" dirty="0">
              <a:solidFill>
                <a:srgbClr val="000000"/>
              </a:solidFill>
              <a:effectLst/>
              <a:latin typeface="Consolas" panose="020B0609020204030204" pitchFamily="49" charset="0"/>
            </a:endParaRPr>
          </a:p>
        </p:txBody>
      </p:sp>
      <p:pic>
        <p:nvPicPr>
          <p:cNvPr id="3" name="图片 2">
            <a:extLst>
              <a:ext uri="{FF2B5EF4-FFF2-40B4-BE49-F238E27FC236}">
                <a16:creationId xmlns:a16="http://schemas.microsoft.com/office/drawing/2014/main" id="{446BA657-FD85-4EE8-9EAF-FC40891A1C97}"/>
              </a:ext>
            </a:extLst>
          </p:cNvPr>
          <p:cNvPicPr>
            <a:picLocks noChangeAspect="1"/>
          </p:cNvPicPr>
          <p:nvPr/>
        </p:nvPicPr>
        <p:blipFill>
          <a:blip r:embed="rId4"/>
          <a:stretch>
            <a:fillRect/>
          </a:stretch>
        </p:blipFill>
        <p:spPr>
          <a:xfrm>
            <a:off x="6996325" y="2829430"/>
            <a:ext cx="2122024" cy="1591518"/>
          </a:xfrm>
          <a:prstGeom prst="rect">
            <a:avLst/>
          </a:prstGeom>
        </p:spPr>
      </p:pic>
    </p:spTree>
    <p:extLst>
      <p:ext uri="{BB962C8B-B14F-4D97-AF65-F5344CB8AC3E}">
        <p14:creationId xmlns:p14="http://schemas.microsoft.com/office/powerpoint/2010/main" val="735781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5" grpId="0"/>
      <p:bldP spid="27" grpId="0"/>
      <p:bldP spid="33" grpId="0" animBg="1"/>
      <p:bldP spid="39"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5B91DE0F-ED31-43F3-9621-4A29A2D14371}"/>
              </a:ext>
            </a:extLst>
          </p:cNvPr>
          <p:cNvSpPr txBox="1"/>
          <p:nvPr/>
        </p:nvSpPr>
        <p:spPr>
          <a:xfrm>
            <a:off x="0" y="680956"/>
            <a:ext cx="9081346" cy="3991477"/>
          </a:xfrm>
          <a:prstGeom prst="rect">
            <a:avLst/>
          </a:prstGeom>
          <a:solidFill>
            <a:schemeClr val="bg1"/>
          </a:solidFill>
        </p:spPr>
        <p:txBody>
          <a:bodyPr wrap="square">
            <a:spAutoFit/>
          </a:bodyPr>
          <a:lstStyle/>
          <a:p>
            <a:pPr>
              <a:lnSpc>
                <a:spcPts val="1600"/>
              </a:lnSpc>
            </a:pPr>
            <a:r>
              <a:rPr lang="en-US" altLang="zh-CN" sz="1600" b="0" dirty="0">
                <a:solidFill>
                  <a:srgbClr val="0000FF"/>
                </a:solidFill>
                <a:effectLst/>
                <a:latin typeface="Consolas" panose="020B0609020204030204" pitchFamily="49" charset="0"/>
              </a:rPr>
              <a:t>function</a:t>
            </a:r>
            <a:r>
              <a:rPr lang="en-US" altLang="zh-CN" sz="1600" b="0" dirty="0">
                <a:solidFill>
                  <a:srgbClr val="000000"/>
                </a:solidFill>
                <a:effectLst/>
                <a:latin typeface="Consolas" panose="020B0609020204030204" pitchFamily="49" charset="0"/>
              </a:rPr>
              <a:t> </a:t>
            </a:r>
            <a:r>
              <a:rPr lang="en-US" altLang="zh-CN" sz="1600" b="0" dirty="0" err="1">
                <a:solidFill>
                  <a:srgbClr val="795E26"/>
                </a:solidFill>
                <a:effectLst/>
                <a:latin typeface="Consolas" panose="020B0609020204030204" pitchFamily="49" charset="0"/>
              </a:rPr>
              <a:t>preclasses</a:t>
            </a:r>
            <a:r>
              <a:rPr lang="en-US" altLang="zh-CN" sz="1600" b="0" dirty="0">
                <a:solidFill>
                  <a:srgbClr val="000000"/>
                </a:solidFill>
                <a:effectLst/>
                <a:latin typeface="Consolas" panose="020B0609020204030204" pitchFamily="49" charset="0"/>
              </a:rPr>
              <a:t>(prob, classes)</a:t>
            </a:r>
          </a:p>
          <a:p>
            <a:pPr>
              <a:lnSpc>
                <a:spcPts val="1600"/>
              </a:lnSpc>
            </a:pP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ypredclasses</a:t>
            </a:r>
            <a:r>
              <a:rPr lang="en-US" altLang="zh-CN" sz="1600" b="0" dirty="0">
                <a:solidFill>
                  <a:srgbClr val="000000"/>
                </a:solidFill>
                <a:effectLst/>
                <a:latin typeface="Consolas" panose="020B0609020204030204" pitchFamily="49" charset="0"/>
              </a:rPr>
              <a:t> = []</a:t>
            </a:r>
          </a:p>
          <a:p>
            <a:pPr>
              <a:lnSpc>
                <a:spcPts val="1600"/>
              </a:lnSpc>
            </a:pPr>
            <a:r>
              <a:rPr lang="en-US" altLang="zh-CN" sz="1600" b="0" dirty="0">
                <a:solidFill>
                  <a:srgbClr val="000000"/>
                </a:solidFill>
                <a:effectLst/>
                <a:latin typeface="Consolas" panose="020B0609020204030204" pitchFamily="49" charset="0"/>
              </a:rPr>
              <a:t>    </a:t>
            </a:r>
            <a:r>
              <a:rPr lang="en-US" altLang="zh-CN" sz="1600" b="0" dirty="0">
                <a:solidFill>
                  <a:srgbClr val="AF00DB"/>
                </a:solidFill>
                <a:effectLst/>
                <a:latin typeface="Consolas" panose="020B0609020204030204" pitchFamily="49" charset="0"/>
              </a:rPr>
              <a:t>for</a:t>
            </a: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 in </a:t>
            </a:r>
            <a:r>
              <a:rPr lang="en-US" altLang="zh-CN" sz="1600" b="0" dirty="0" err="1">
                <a:solidFill>
                  <a:srgbClr val="795E26"/>
                </a:solidFill>
                <a:effectLst/>
                <a:latin typeface="Consolas" panose="020B0609020204030204" pitchFamily="49" charset="0"/>
              </a:rPr>
              <a:t>eachindex</a:t>
            </a:r>
            <a:r>
              <a:rPr lang="en-US" altLang="zh-CN" sz="1600" b="0" dirty="0">
                <a:solidFill>
                  <a:srgbClr val="000000"/>
                </a:solidFill>
                <a:effectLst/>
                <a:latin typeface="Consolas" panose="020B0609020204030204" pitchFamily="49" charset="0"/>
              </a:rPr>
              <a:t>(</a:t>
            </a:r>
            <a:r>
              <a:rPr lang="en-US" altLang="zh-CN" sz="1600" b="0" dirty="0">
                <a:solidFill>
                  <a:srgbClr val="795E26"/>
                </a:solidFill>
                <a:effectLst/>
                <a:latin typeface="Consolas" panose="020B0609020204030204" pitchFamily="49" charset="0"/>
              </a:rPr>
              <a:t>range</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 </a:t>
            </a:r>
            <a:r>
              <a:rPr lang="en-US" altLang="zh-CN" sz="1600" b="0" dirty="0">
                <a:solidFill>
                  <a:srgbClr val="795E26"/>
                </a:solidFill>
                <a:effectLst/>
                <a:latin typeface="Consolas" panose="020B0609020204030204" pitchFamily="49" charset="0"/>
              </a:rPr>
              <a:t>size</a:t>
            </a:r>
            <a:r>
              <a:rPr lang="en-US" altLang="zh-CN" sz="1600" b="0" dirty="0">
                <a:solidFill>
                  <a:srgbClr val="000000"/>
                </a:solidFill>
                <a:effectLst/>
                <a:latin typeface="Consolas" panose="020B0609020204030204" pitchFamily="49" charset="0"/>
              </a:rPr>
              <a:t>(prob)[</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a:t>
            </a:r>
          </a:p>
          <a:p>
            <a:pPr>
              <a:lnSpc>
                <a:spcPts val="1600"/>
              </a:lnSpc>
            </a:pP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maxindex</a:t>
            </a:r>
            <a:r>
              <a:rPr lang="en-US" altLang="zh-CN" sz="1600" b="0" dirty="0">
                <a:solidFill>
                  <a:srgbClr val="000000"/>
                </a:solidFill>
                <a:effectLst/>
                <a:latin typeface="Consolas" panose="020B0609020204030204" pitchFamily="49" charset="0"/>
              </a:rPr>
              <a:t> = </a:t>
            </a:r>
            <a:r>
              <a:rPr lang="en-US" altLang="zh-CN" sz="1600" b="0" dirty="0">
                <a:solidFill>
                  <a:srgbClr val="098658"/>
                </a:solidFill>
                <a:effectLst/>
                <a:latin typeface="Consolas" panose="020B0609020204030204" pitchFamily="49" charset="0"/>
              </a:rPr>
              <a:t>0</a:t>
            </a:r>
            <a:endParaRPr lang="en-US" altLang="zh-CN" sz="1600" b="0" dirty="0">
              <a:solidFill>
                <a:srgbClr val="000000"/>
              </a:solidFill>
              <a:effectLst/>
              <a:latin typeface="Consolas" panose="020B0609020204030204" pitchFamily="49" charset="0"/>
            </a:endParaRPr>
          </a:p>
          <a:p>
            <a:pPr>
              <a:lnSpc>
                <a:spcPts val="1600"/>
              </a:lnSpc>
            </a:pP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maxnum</a:t>
            </a:r>
            <a:r>
              <a:rPr lang="en-US" altLang="zh-CN" sz="1600" b="0" dirty="0">
                <a:solidFill>
                  <a:srgbClr val="000000"/>
                </a:solidFill>
                <a:effectLst/>
                <a:latin typeface="Consolas" panose="020B0609020204030204" pitchFamily="49" charset="0"/>
              </a:rPr>
              <a:t> = </a:t>
            </a:r>
            <a:r>
              <a:rPr lang="en-US" altLang="zh-CN" sz="1600" b="0" dirty="0">
                <a:solidFill>
                  <a:srgbClr val="098658"/>
                </a:solidFill>
                <a:effectLst/>
                <a:latin typeface="Consolas" panose="020B0609020204030204" pitchFamily="49" charset="0"/>
              </a:rPr>
              <a:t>0</a:t>
            </a:r>
            <a:endParaRPr lang="en-US" altLang="zh-CN" sz="1600" b="0" dirty="0">
              <a:solidFill>
                <a:srgbClr val="000000"/>
              </a:solidFill>
              <a:effectLst/>
              <a:latin typeface="Consolas" panose="020B0609020204030204" pitchFamily="49" charset="0"/>
            </a:endParaRPr>
          </a:p>
          <a:p>
            <a:pPr>
              <a:lnSpc>
                <a:spcPts val="1600"/>
              </a:lnSpc>
            </a:pPr>
            <a:r>
              <a:rPr lang="en-US" altLang="zh-CN" sz="1600" b="0" dirty="0">
                <a:solidFill>
                  <a:srgbClr val="000000"/>
                </a:solidFill>
                <a:effectLst/>
                <a:latin typeface="Consolas" panose="020B0609020204030204" pitchFamily="49" charset="0"/>
              </a:rPr>
              <a:t>        </a:t>
            </a:r>
            <a:r>
              <a:rPr lang="en-US" altLang="zh-CN" sz="1600" b="0" dirty="0">
                <a:solidFill>
                  <a:srgbClr val="AF00DB"/>
                </a:solidFill>
                <a:effectLst/>
                <a:latin typeface="Consolas" panose="020B0609020204030204" pitchFamily="49" charset="0"/>
              </a:rPr>
              <a:t>for</a:t>
            </a:r>
            <a:r>
              <a:rPr lang="en-US" altLang="zh-CN" sz="1600" b="0" dirty="0">
                <a:solidFill>
                  <a:srgbClr val="000000"/>
                </a:solidFill>
                <a:effectLst/>
                <a:latin typeface="Consolas" panose="020B0609020204030204" pitchFamily="49" charset="0"/>
              </a:rPr>
              <a:t> k in </a:t>
            </a:r>
            <a:r>
              <a:rPr lang="en-US" altLang="zh-CN" sz="1600" b="0" dirty="0" err="1">
                <a:solidFill>
                  <a:srgbClr val="795E26"/>
                </a:solidFill>
                <a:effectLst/>
                <a:latin typeface="Consolas" panose="020B0609020204030204" pitchFamily="49" charset="0"/>
              </a:rPr>
              <a:t>eachindex</a:t>
            </a:r>
            <a:r>
              <a:rPr lang="en-US" altLang="zh-CN" sz="1600" b="0" dirty="0">
                <a:solidFill>
                  <a:srgbClr val="000000"/>
                </a:solidFill>
                <a:effectLst/>
                <a:latin typeface="Consolas" panose="020B0609020204030204" pitchFamily="49" charset="0"/>
              </a:rPr>
              <a:t>(classes)</a:t>
            </a:r>
          </a:p>
          <a:p>
            <a:pPr>
              <a:lnSpc>
                <a:spcPts val="1600"/>
              </a:lnSpc>
            </a:pPr>
            <a:r>
              <a:rPr lang="en-US" altLang="zh-CN" sz="1600" b="0" dirty="0">
                <a:solidFill>
                  <a:srgbClr val="000000"/>
                </a:solidFill>
                <a:effectLst/>
                <a:latin typeface="Consolas" panose="020B0609020204030204" pitchFamily="49" charset="0"/>
              </a:rPr>
              <a:t>            </a:t>
            </a:r>
            <a:r>
              <a:rPr lang="en-US" altLang="zh-CN" sz="1600" b="0" dirty="0">
                <a:solidFill>
                  <a:srgbClr val="AF00DB"/>
                </a:solidFill>
                <a:effectLst/>
                <a:latin typeface="Consolas" panose="020B0609020204030204" pitchFamily="49" charset="0"/>
              </a:rPr>
              <a:t>if</a:t>
            </a:r>
            <a:r>
              <a:rPr lang="en-US" altLang="zh-CN" sz="1600" b="0" dirty="0">
                <a:solidFill>
                  <a:srgbClr val="000000"/>
                </a:solidFill>
                <a:effectLst/>
                <a:latin typeface="Consolas" panose="020B0609020204030204" pitchFamily="49" charset="0"/>
              </a:rPr>
              <a:t> prob[</a:t>
            </a:r>
            <a:r>
              <a:rPr lang="en-US" altLang="zh-CN" sz="1600" b="0" dirty="0" err="1">
                <a:solidFill>
                  <a:srgbClr val="00000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 :][k] &gt; </a:t>
            </a:r>
            <a:r>
              <a:rPr lang="en-US" altLang="zh-CN" sz="1600" b="0" dirty="0" err="1">
                <a:solidFill>
                  <a:srgbClr val="000000"/>
                </a:solidFill>
                <a:effectLst/>
                <a:latin typeface="Consolas" panose="020B0609020204030204" pitchFamily="49" charset="0"/>
              </a:rPr>
              <a:t>maxnum</a:t>
            </a:r>
            <a:endParaRPr lang="en-US" altLang="zh-CN" sz="1600" b="0" dirty="0">
              <a:solidFill>
                <a:srgbClr val="000000"/>
              </a:solidFill>
              <a:effectLst/>
              <a:latin typeface="Consolas" panose="020B0609020204030204" pitchFamily="49" charset="0"/>
            </a:endParaRPr>
          </a:p>
          <a:p>
            <a:pPr>
              <a:lnSpc>
                <a:spcPts val="1600"/>
              </a:lnSpc>
            </a:pP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maxnum</a:t>
            </a:r>
            <a:r>
              <a:rPr lang="en-US" altLang="zh-CN" sz="1600" b="0" dirty="0">
                <a:solidFill>
                  <a:srgbClr val="000000"/>
                </a:solidFill>
                <a:effectLst/>
                <a:latin typeface="Consolas" panose="020B0609020204030204" pitchFamily="49" charset="0"/>
              </a:rPr>
              <a:t> = prob[</a:t>
            </a:r>
            <a:r>
              <a:rPr lang="en-US" altLang="zh-CN" sz="1600" b="0" dirty="0" err="1">
                <a:solidFill>
                  <a:srgbClr val="00000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 :][k]</a:t>
            </a:r>
          </a:p>
          <a:p>
            <a:pPr>
              <a:lnSpc>
                <a:spcPts val="1600"/>
              </a:lnSpc>
            </a:pP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maxindex</a:t>
            </a:r>
            <a:r>
              <a:rPr lang="en-US" altLang="zh-CN" sz="1600" b="0" dirty="0">
                <a:solidFill>
                  <a:srgbClr val="000000"/>
                </a:solidFill>
                <a:effectLst/>
                <a:latin typeface="Consolas" panose="020B0609020204030204" pitchFamily="49" charset="0"/>
              </a:rPr>
              <a:t> = k</a:t>
            </a:r>
          </a:p>
          <a:p>
            <a:pPr>
              <a:lnSpc>
                <a:spcPts val="1600"/>
              </a:lnSpc>
            </a:pPr>
            <a:r>
              <a:rPr lang="en-US" altLang="zh-CN" sz="1600" b="0" dirty="0">
                <a:solidFill>
                  <a:srgbClr val="000000"/>
                </a:solidFill>
                <a:effectLst/>
                <a:latin typeface="Consolas" panose="020B0609020204030204" pitchFamily="49" charset="0"/>
              </a:rPr>
              <a:t>            </a:t>
            </a:r>
            <a:r>
              <a:rPr lang="en-US" altLang="zh-CN" sz="1600" b="0" dirty="0">
                <a:solidFill>
                  <a:srgbClr val="AF00DB"/>
                </a:solidFill>
                <a:effectLst/>
                <a:latin typeface="Consolas" panose="020B0609020204030204" pitchFamily="49" charset="0"/>
              </a:rPr>
              <a:t>end</a:t>
            </a:r>
            <a:endParaRPr lang="en-US" altLang="zh-CN" sz="1600" b="0" dirty="0">
              <a:solidFill>
                <a:srgbClr val="000000"/>
              </a:solidFill>
              <a:effectLst/>
              <a:latin typeface="Consolas" panose="020B0609020204030204" pitchFamily="49" charset="0"/>
            </a:endParaRPr>
          </a:p>
          <a:p>
            <a:pPr>
              <a:lnSpc>
                <a:spcPts val="1600"/>
              </a:lnSpc>
            </a:pPr>
            <a:r>
              <a:rPr lang="en-US" altLang="zh-CN" sz="1600" b="0" dirty="0">
                <a:solidFill>
                  <a:srgbClr val="000000"/>
                </a:solidFill>
                <a:effectLst/>
                <a:latin typeface="Consolas" panose="020B0609020204030204" pitchFamily="49" charset="0"/>
              </a:rPr>
              <a:t>        </a:t>
            </a:r>
            <a:r>
              <a:rPr lang="en-US" altLang="zh-CN" sz="1600" b="0" dirty="0">
                <a:solidFill>
                  <a:srgbClr val="AF00DB"/>
                </a:solidFill>
                <a:effectLst/>
                <a:latin typeface="Consolas" panose="020B0609020204030204" pitchFamily="49" charset="0"/>
              </a:rPr>
              <a:t>end</a:t>
            </a:r>
            <a:endParaRPr lang="en-US" altLang="zh-CN" sz="1600" b="0" dirty="0">
              <a:solidFill>
                <a:srgbClr val="000000"/>
              </a:solidFill>
              <a:effectLst/>
              <a:latin typeface="Consolas" panose="020B0609020204030204" pitchFamily="49" charset="0"/>
            </a:endParaRPr>
          </a:p>
          <a:p>
            <a:pPr>
              <a:lnSpc>
                <a:spcPts val="1600"/>
              </a:lnSpc>
            </a:pP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ypredclasses</a:t>
            </a:r>
            <a:r>
              <a:rPr lang="en-US" altLang="zh-CN" sz="1600" b="0" dirty="0">
                <a:solidFill>
                  <a:srgbClr val="000000"/>
                </a:solidFill>
                <a:effectLst/>
                <a:latin typeface="Consolas" panose="020B0609020204030204" pitchFamily="49" charset="0"/>
              </a:rPr>
              <a:t> = </a:t>
            </a:r>
            <a:r>
              <a:rPr lang="en-US" altLang="zh-CN" sz="1600" b="0" dirty="0">
                <a:solidFill>
                  <a:srgbClr val="795E26"/>
                </a:solidFill>
                <a:effectLst/>
                <a:latin typeface="Consolas" panose="020B0609020204030204" pitchFamily="49" charset="0"/>
              </a:rPr>
              <a:t>append!</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ypredclasses</a:t>
            </a:r>
            <a:r>
              <a:rPr lang="en-US" altLang="zh-CN" sz="1600" b="0" dirty="0">
                <a:solidFill>
                  <a:srgbClr val="000000"/>
                </a:solidFill>
                <a:effectLst/>
                <a:latin typeface="Consolas" panose="020B0609020204030204" pitchFamily="49" charset="0"/>
              </a:rPr>
              <a:t>, [</a:t>
            </a:r>
            <a:r>
              <a:rPr lang="en-US" altLang="zh-CN" sz="1600" b="0" dirty="0">
                <a:solidFill>
                  <a:srgbClr val="795E26"/>
                </a:solidFill>
                <a:effectLst/>
                <a:latin typeface="Consolas" panose="020B0609020204030204" pitchFamily="49" charset="0"/>
              </a:rPr>
              <a:t>unique</a:t>
            </a:r>
            <a:r>
              <a:rPr lang="en-US" altLang="zh-CN" sz="1600" b="0" dirty="0">
                <a:solidFill>
                  <a:srgbClr val="000000"/>
                </a:solidFill>
                <a:effectLst/>
                <a:latin typeface="Consolas" panose="020B0609020204030204" pitchFamily="49" charset="0"/>
              </a:rPr>
              <a:t>(classes)[</a:t>
            </a:r>
            <a:r>
              <a:rPr lang="en-US" altLang="zh-CN" sz="1600" b="0" dirty="0" err="1">
                <a:solidFill>
                  <a:srgbClr val="000000"/>
                </a:solidFill>
                <a:effectLst/>
                <a:latin typeface="Consolas" panose="020B0609020204030204" pitchFamily="49" charset="0"/>
              </a:rPr>
              <a:t>maxindex</a:t>
            </a:r>
            <a:r>
              <a:rPr lang="en-US" altLang="zh-CN" sz="1600" b="0" dirty="0">
                <a:solidFill>
                  <a:srgbClr val="000000"/>
                </a:solidFill>
                <a:effectLst/>
                <a:latin typeface="Consolas" panose="020B0609020204030204" pitchFamily="49" charset="0"/>
              </a:rPr>
              <a:t>]])</a:t>
            </a:r>
          </a:p>
          <a:p>
            <a:pPr>
              <a:lnSpc>
                <a:spcPts val="1600"/>
              </a:lnSpc>
            </a:pPr>
            <a:r>
              <a:rPr lang="en-US" altLang="zh-CN" sz="1600" b="0" dirty="0">
                <a:solidFill>
                  <a:srgbClr val="000000"/>
                </a:solidFill>
                <a:effectLst/>
                <a:latin typeface="Consolas" panose="020B0609020204030204" pitchFamily="49" charset="0"/>
              </a:rPr>
              <a:t>    </a:t>
            </a:r>
            <a:r>
              <a:rPr lang="en-US" altLang="zh-CN" sz="1600" b="0" dirty="0">
                <a:solidFill>
                  <a:srgbClr val="AF00DB"/>
                </a:solidFill>
                <a:effectLst/>
                <a:latin typeface="Consolas" panose="020B0609020204030204" pitchFamily="49" charset="0"/>
              </a:rPr>
              <a:t>end</a:t>
            </a:r>
            <a:endParaRPr lang="en-US" altLang="zh-CN" sz="1600" b="0" dirty="0">
              <a:solidFill>
                <a:srgbClr val="000000"/>
              </a:solidFill>
              <a:effectLst/>
              <a:latin typeface="Consolas" panose="020B0609020204030204" pitchFamily="49" charset="0"/>
            </a:endParaRPr>
          </a:p>
          <a:p>
            <a:pPr>
              <a:lnSpc>
                <a:spcPts val="1600"/>
              </a:lnSpc>
            </a:pPr>
            <a:r>
              <a:rPr lang="en-US" altLang="zh-CN" sz="1600" b="0" dirty="0">
                <a:solidFill>
                  <a:srgbClr val="000000"/>
                </a:solidFill>
                <a:effectLst/>
                <a:latin typeface="Consolas" panose="020B0609020204030204" pitchFamily="49" charset="0"/>
              </a:rPr>
              <a:t>    </a:t>
            </a:r>
            <a:r>
              <a:rPr lang="en-US" altLang="zh-CN" sz="1600" b="0" dirty="0">
                <a:solidFill>
                  <a:srgbClr val="AF00DB"/>
                </a:solidFill>
                <a:effectLst/>
                <a:latin typeface="Consolas" panose="020B0609020204030204" pitchFamily="49" charset="0"/>
              </a:rPr>
              <a:t>return</a:t>
            </a: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ypredclasses</a:t>
            </a:r>
            <a:endParaRPr lang="en-US" altLang="zh-CN" sz="1600" b="0" dirty="0">
              <a:solidFill>
                <a:srgbClr val="000000"/>
              </a:solidFill>
              <a:effectLst/>
              <a:latin typeface="Consolas" panose="020B0609020204030204" pitchFamily="49" charset="0"/>
            </a:endParaRPr>
          </a:p>
          <a:p>
            <a:pPr>
              <a:lnSpc>
                <a:spcPts val="1600"/>
              </a:lnSpc>
            </a:pPr>
            <a:r>
              <a:rPr lang="en-US" altLang="zh-CN" sz="1600" b="0" dirty="0">
                <a:solidFill>
                  <a:srgbClr val="AF00DB"/>
                </a:solidFill>
                <a:effectLst/>
                <a:latin typeface="Consolas" panose="020B0609020204030204" pitchFamily="49" charset="0"/>
              </a:rPr>
              <a:t>end</a:t>
            </a:r>
            <a:endParaRPr lang="en-US" altLang="zh-CN" sz="1600" b="0" dirty="0">
              <a:solidFill>
                <a:srgbClr val="000000"/>
              </a:solidFill>
              <a:effectLst/>
              <a:latin typeface="Consolas" panose="020B0609020204030204" pitchFamily="49" charset="0"/>
            </a:endParaRPr>
          </a:p>
          <a:p>
            <a:pPr>
              <a:lnSpc>
                <a:spcPts val="1600"/>
              </a:lnSpc>
            </a:pPr>
            <a:r>
              <a:rPr lang="en-US" altLang="zh-CN" sz="1600" b="1" dirty="0" err="1">
                <a:solidFill>
                  <a:srgbClr val="FF0000"/>
                </a:solidFill>
                <a:effectLst/>
                <a:latin typeface="Consolas" panose="020B0609020204030204" pitchFamily="49" charset="0"/>
              </a:rPr>
              <a:t>YPred</a:t>
            </a:r>
            <a:r>
              <a:rPr lang="en-US" altLang="zh-CN" sz="1600" b="0" dirty="0">
                <a:solidFill>
                  <a:srgbClr val="000000"/>
                </a:solidFill>
                <a:effectLst/>
                <a:latin typeface="Consolas" panose="020B0609020204030204" pitchFamily="49" charset="0"/>
              </a:rPr>
              <a:t> = </a:t>
            </a:r>
            <a:r>
              <a:rPr lang="en-US" altLang="zh-CN" sz="1600" b="0" dirty="0" err="1">
                <a:solidFill>
                  <a:srgbClr val="000000"/>
                </a:solidFill>
                <a:effectLst/>
                <a:latin typeface="Consolas" panose="020B0609020204030204" pitchFamily="49" charset="0"/>
              </a:rPr>
              <a:t>TyDeepLearning.</a:t>
            </a:r>
            <a:r>
              <a:rPr lang="en-US" altLang="zh-CN" sz="1600" b="0" dirty="0" err="1">
                <a:solidFill>
                  <a:schemeClr val="bg1"/>
                </a:solidFill>
                <a:effectLst/>
                <a:highlight>
                  <a:srgbClr val="FF0000"/>
                </a:highlight>
                <a:latin typeface="Consolas" panose="020B0609020204030204" pitchFamily="49" charset="0"/>
              </a:rPr>
              <a:t>predict</a:t>
            </a:r>
            <a:r>
              <a:rPr lang="en-US" altLang="zh-CN" sz="1600" b="0" dirty="0">
                <a:solidFill>
                  <a:srgbClr val="000000"/>
                </a:solidFill>
                <a:effectLst/>
                <a:latin typeface="Consolas" panose="020B0609020204030204" pitchFamily="49" charset="0"/>
              </a:rPr>
              <a:t>(net, </a:t>
            </a:r>
            <a:r>
              <a:rPr lang="en-US" altLang="zh-CN" sz="1600" b="0" dirty="0" err="1">
                <a:solidFill>
                  <a:srgbClr val="000000"/>
                </a:solidFill>
                <a:effectLst/>
                <a:latin typeface="Consolas" panose="020B0609020204030204" pitchFamily="49" charset="0"/>
              </a:rPr>
              <a:t>X_Test</a:t>
            </a:r>
            <a:r>
              <a:rPr lang="en-US" altLang="zh-CN" sz="1600" b="0" dirty="0">
                <a:solidFill>
                  <a:srgbClr val="000000"/>
                </a:solidFill>
                <a:effectLst/>
                <a:latin typeface="Consolas" panose="020B0609020204030204" pitchFamily="49" charset="0"/>
              </a:rPr>
              <a:t>) #</a:t>
            </a:r>
            <a:r>
              <a:rPr lang="zh-CN" altLang="en-US" sz="1600" b="0" i="0" dirty="0">
                <a:solidFill>
                  <a:srgbClr val="8A8A8A"/>
                </a:solidFill>
                <a:effectLst/>
                <a:latin typeface="Microsoft YaHei" panose="020B0503020204020204" pitchFamily="34" charset="-122"/>
                <a:ea typeface="Microsoft YaHei" panose="020B0503020204020204" pitchFamily="34" charset="-122"/>
              </a:rPr>
              <a:t>使用训练有素的神经网络预测 </a:t>
            </a:r>
            <a:endParaRPr lang="en-US" altLang="zh-CN" sz="1600" b="0" dirty="0">
              <a:solidFill>
                <a:srgbClr val="000000"/>
              </a:solidFill>
              <a:effectLst/>
              <a:latin typeface="Consolas" panose="020B0609020204030204" pitchFamily="49" charset="0"/>
            </a:endParaRPr>
          </a:p>
          <a:p>
            <a:pPr>
              <a:lnSpc>
                <a:spcPts val="1600"/>
              </a:lnSpc>
            </a:pPr>
            <a:r>
              <a:rPr lang="en-US" altLang="zh-CN" sz="1600" b="0" dirty="0">
                <a:solidFill>
                  <a:srgbClr val="000000"/>
                </a:solidFill>
                <a:effectLst/>
                <a:latin typeface="Consolas" panose="020B0609020204030204" pitchFamily="49" charset="0"/>
              </a:rPr>
              <a:t>classes = [</a:t>
            </a:r>
            <a:r>
              <a:rPr lang="en-US" altLang="zh-CN" sz="1600" b="0" dirty="0" err="1">
                <a:solidFill>
                  <a:srgbClr val="00000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 - </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 </a:t>
            </a:r>
            <a:r>
              <a:rPr lang="en-US" altLang="zh-CN" sz="1600" b="0" dirty="0">
                <a:solidFill>
                  <a:srgbClr val="AF00DB"/>
                </a:solidFill>
                <a:effectLst/>
                <a:latin typeface="Consolas" panose="020B0609020204030204" pitchFamily="49" charset="0"/>
              </a:rPr>
              <a:t>for</a:t>
            </a: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i</a:t>
            </a:r>
            <a:r>
              <a:rPr lang="en-US" altLang="zh-CN" sz="1600" b="0" dirty="0">
                <a:solidFill>
                  <a:srgbClr val="000000"/>
                </a:solidFill>
                <a:effectLst/>
                <a:latin typeface="Consolas" panose="020B0609020204030204" pitchFamily="49" charset="0"/>
              </a:rPr>
              <a:t> in </a:t>
            </a:r>
            <a:r>
              <a:rPr lang="en-US" altLang="zh-CN" sz="1600" b="0" dirty="0">
                <a:solidFill>
                  <a:srgbClr val="795E26"/>
                </a:solidFill>
                <a:effectLst/>
                <a:latin typeface="Consolas" panose="020B0609020204030204" pitchFamily="49" charset="0"/>
              </a:rPr>
              <a:t>range</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10</a:t>
            </a:r>
            <a:r>
              <a:rPr lang="en-US" altLang="zh-CN" sz="1600" b="0" dirty="0">
                <a:solidFill>
                  <a:srgbClr val="000000"/>
                </a:solidFill>
                <a:effectLst/>
                <a:latin typeface="Consolas" panose="020B0609020204030204" pitchFamily="49" charset="0"/>
              </a:rPr>
              <a:t>)]</a:t>
            </a:r>
          </a:p>
          <a:p>
            <a:pPr>
              <a:lnSpc>
                <a:spcPts val="1600"/>
              </a:lnSpc>
            </a:pPr>
            <a:r>
              <a:rPr lang="en-US" altLang="zh-CN" sz="1600" b="1" dirty="0">
                <a:solidFill>
                  <a:srgbClr val="FF0000"/>
                </a:solidFill>
                <a:latin typeface="Consolas" panose="020B0609020204030204" pitchFamily="49" charset="0"/>
              </a:rPr>
              <a:t>YPred1 </a:t>
            </a:r>
            <a:r>
              <a:rPr lang="en-US" altLang="zh-CN" sz="1600" b="0" dirty="0">
                <a:solidFill>
                  <a:srgbClr val="000000"/>
                </a:solidFill>
                <a:effectLst/>
                <a:latin typeface="Consolas" panose="020B0609020204030204" pitchFamily="49" charset="0"/>
              </a:rPr>
              <a:t>= </a:t>
            </a:r>
            <a:r>
              <a:rPr lang="en-US" altLang="zh-CN" sz="1600" b="0" dirty="0" err="1">
                <a:solidFill>
                  <a:srgbClr val="795E26"/>
                </a:solidFill>
                <a:effectLst/>
                <a:latin typeface="Consolas" panose="020B0609020204030204" pitchFamily="49" charset="0"/>
              </a:rPr>
              <a:t>preclasses</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YPred</a:t>
            </a:r>
            <a:r>
              <a:rPr lang="en-US" altLang="zh-CN" sz="1600" b="0" dirty="0">
                <a:solidFill>
                  <a:srgbClr val="000000"/>
                </a:solidFill>
                <a:effectLst/>
                <a:latin typeface="Consolas" panose="020B0609020204030204" pitchFamily="49" charset="0"/>
              </a:rPr>
              <a:t>, classes)</a:t>
            </a:r>
          </a:p>
          <a:p>
            <a:pPr>
              <a:lnSpc>
                <a:spcPts val="1600"/>
              </a:lnSpc>
            </a:pPr>
            <a:r>
              <a:rPr lang="en-US" altLang="zh-CN" sz="1600" b="0" dirty="0">
                <a:solidFill>
                  <a:srgbClr val="795E26"/>
                </a:solidFill>
                <a:effectLst/>
                <a:latin typeface="Consolas" panose="020B0609020204030204" pitchFamily="49" charset="0"/>
              </a:rPr>
              <a:t>accuracy</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YPred</a:t>
            </a: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Y_Test</a:t>
            </a:r>
            <a:r>
              <a:rPr lang="en-US" altLang="zh-CN" sz="1600" b="0" dirty="0">
                <a:solidFill>
                  <a:srgbClr val="000000"/>
                </a:solidFill>
                <a:effectLst/>
                <a:latin typeface="Consolas" panose="020B0609020204030204" pitchFamily="49" charset="0"/>
              </a:rPr>
              <a:t>)  </a:t>
            </a:r>
            <a:r>
              <a:rPr lang="en-US" altLang="zh-CN" sz="1600" b="0" dirty="0">
                <a:solidFill>
                  <a:srgbClr val="FF0000"/>
                </a:solidFill>
                <a:effectLst/>
                <a:latin typeface="Consolas" panose="020B0609020204030204" pitchFamily="49" charset="0"/>
              </a:rPr>
              <a:t>#</a:t>
            </a:r>
            <a:r>
              <a:rPr lang="zh-CN" altLang="en-US" sz="1600" b="0" i="0" dirty="0">
                <a:solidFill>
                  <a:srgbClr val="FF0000"/>
                </a:solidFill>
                <a:effectLst/>
                <a:latin typeface="Microsoft YaHei" panose="020B0503020204020204" pitchFamily="34" charset="-122"/>
                <a:ea typeface="Microsoft YaHei" panose="020B0503020204020204" pitchFamily="34" charset="-122"/>
              </a:rPr>
              <a:t>准确度是网络预测正确的标签的比例</a:t>
            </a:r>
            <a:endParaRPr lang="en-US" altLang="zh-CN" sz="1600" b="0" dirty="0">
              <a:solidFill>
                <a:srgbClr val="FF0000"/>
              </a:solidFill>
              <a:effectLst/>
              <a:latin typeface="Consolas" panose="020B0609020204030204" pitchFamily="49" charset="0"/>
            </a:endParaRPr>
          </a:p>
        </p:txBody>
      </p:sp>
      <p:sp>
        <p:nvSpPr>
          <p:cNvPr id="9" name="文本框 8">
            <a:extLst>
              <a:ext uri="{FF2B5EF4-FFF2-40B4-BE49-F238E27FC236}">
                <a16:creationId xmlns:a16="http://schemas.microsoft.com/office/drawing/2014/main" id="{227D73E6-ACA1-4A25-A11E-69983CBEAFCE}"/>
              </a:ext>
            </a:extLst>
          </p:cNvPr>
          <p:cNvSpPr txBox="1"/>
          <p:nvPr/>
        </p:nvSpPr>
        <p:spPr>
          <a:xfrm>
            <a:off x="5380438" y="1781052"/>
            <a:ext cx="3592952" cy="738664"/>
          </a:xfrm>
          <a:prstGeom prst="rect">
            <a:avLst/>
          </a:prstGeom>
          <a:noFill/>
          <a:ln>
            <a:solidFill>
              <a:schemeClr val="bg1">
                <a:lumMod val="50000"/>
              </a:schemeClr>
            </a:solidFill>
          </a:ln>
        </p:spPr>
        <p:txBody>
          <a:bodyPr wrap="square">
            <a:spAutoFit/>
          </a:bodyPr>
          <a:lstStyle/>
          <a:p>
            <a:r>
              <a:rPr lang="en-US" altLang="zh-CN" sz="1400" b="0" dirty="0">
                <a:solidFill>
                  <a:srgbClr val="008000"/>
                </a:solidFill>
                <a:effectLst/>
                <a:latin typeface="Consolas" panose="020B0609020204030204" pitchFamily="49" charset="0"/>
              </a:rPr>
              <a:t>#</a:t>
            </a:r>
            <a:r>
              <a:rPr lang="zh-CN" altLang="en-US" sz="1400" b="0" dirty="0">
                <a:solidFill>
                  <a:srgbClr val="008000"/>
                </a:solidFill>
                <a:effectLst/>
                <a:latin typeface="Consolas" panose="020B0609020204030204" pitchFamily="49" charset="0"/>
              </a:rPr>
              <a:t>使用经过训练的网络预测验证数据的标签，并计算最终验证准确度。</a:t>
            </a:r>
            <a:endParaRPr lang="en-US" altLang="zh-CN" sz="1400" b="0" dirty="0">
              <a:solidFill>
                <a:srgbClr val="008000"/>
              </a:solidFill>
              <a:effectLst/>
              <a:latin typeface="Consolas" panose="020B0609020204030204" pitchFamily="49" charset="0"/>
            </a:endParaRPr>
          </a:p>
          <a:p>
            <a:r>
              <a:rPr lang="zh-CN" altLang="en-US" sz="1400" b="0" dirty="0">
                <a:solidFill>
                  <a:srgbClr val="008000"/>
                </a:solidFill>
                <a:effectLst/>
                <a:latin typeface="Consolas" panose="020B0609020204030204" pitchFamily="49" charset="0"/>
              </a:rPr>
              <a:t>预测标签与验证集的真实标签相匹配。</a:t>
            </a:r>
            <a:endParaRPr lang="zh-CN" altLang="en-US" sz="1400" b="0" dirty="0">
              <a:solidFill>
                <a:srgbClr val="000000"/>
              </a:solidFill>
              <a:effectLst/>
              <a:latin typeface="Consolas" panose="020B0609020204030204" pitchFamily="49" charset="0"/>
            </a:endParaRPr>
          </a:p>
        </p:txBody>
      </p:sp>
      <p:sp>
        <p:nvSpPr>
          <p:cNvPr id="10" name="标题 1">
            <a:extLst>
              <a:ext uri="{FF2B5EF4-FFF2-40B4-BE49-F238E27FC236}">
                <a16:creationId xmlns:a16="http://schemas.microsoft.com/office/drawing/2014/main" id="{6A728D5B-BEFE-4206-B8F5-8289C3355DF7}"/>
              </a:ext>
            </a:extLst>
          </p:cNvPr>
          <p:cNvSpPr txBox="1">
            <a:spLocks/>
          </p:cNvSpPr>
          <p:nvPr/>
        </p:nvSpPr>
        <p:spPr bwMode="auto">
          <a:xfrm>
            <a:off x="1306587" y="161620"/>
            <a:ext cx="7488832" cy="504056"/>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600" b="0">
                <a:solidFill>
                  <a:srgbClr val="002E5C"/>
                </a:solidFill>
                <a:latin typeface="隶书" panose="02010509060101010101" pitchFamily="49" charset="-122"/>
                <a:ea typeface="隶书" panose="02010509060101010101" pitchFamily="49"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pPr>
              <a:defRPr/>
            </a:pPr>
            <a:endParaRPr lang="en-US" altLang="zh-CN" sz="2800" dirty="0">
              <a:solidFill>
                <a:srgbClr val="002060"/>
              </a:solidFill>
              <a:latin typeface="华文楷体" panose="02010600040101010101" pitchFamily="2" charset="-122"/>
              <a:ea typeface="华文楷体" panose="02010600040101010101" pitchFamily="2" charset="-122"/>
            </a:endParaRPr>
          </a:p>
          <a:p>
            <a:pPr>
              <a:defRPr/>
            </a:pPr>
            <a:r>
              <a:rPr lang="en-US" altLang="zh-CN" sz="2800" dirty="0">
                <a:solidFill>
                  <a:srgbClr val="002060"/>
                </a:solidFill>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深度学习主要步骤</a:t>
            </a:r>
            <a:r>
              <a:rPr lang="en-US" altLang="zh-CN" sz="2800" kern="0" dirty="0">
                <a:solidFill>
                  <a:srgbClr val="FF0000"/>
                </a:solidFill>
                <a:latin typeface="华文楷体" panose="02010600040101010101" pitchFamily="2" charset="-122"/>
                <a:ea typeface="华文楷体" panose="02010600040101010101" pitchFamily="2" charset="-122"/>
              </a:rPr>
              <a:t>——5</a:t>
            </a:r>
            <a:r>
              <a:rPr lang="zh-CN" altLang="en-US" sz="2800" kern="0" dirty="0">
                <a:solidFill>
                  <a:srgbClr val="FF0000"/>
                </a:solidFill>
                <a:latin typeface="华文楷体" panose="02010600040101010101" pitchFamily="2" charset="-122"/>
                <a:ea typeface="华文楷体" panose="02010600040101010101" pitchFamily="2" charset="-122"/>
              </a:rPr>
              <a:t>、模型评估</a:t>
            </a:r>
          </a:p>
        </p:txBody>
      </p:sp>
      <p:sp>
        <p:nvSpPr>
          <p:cNvPr id="12" name="文本框 11">
            <a:extLst>
              <a:ext uri="{FF2B5EF4-FFF2-40B4-BE49-F238E27FC236}">
                <a16:creationId xmlns:a16="http://schemas.microsoft.com/office/drawing/2014/main" id="{6B5E77F2-8300-410B-9A8E-F11F3DE095A5}"/>
              </a:ext>
            </a:extLst>
          </p:cNvPr>
          <p:cNvSpPr txBox="1"/>
          <p:nvPr/>
        </p:nvSpPr>
        <p:spPr>
          <a:xfrm>
            <a:off x="5198092" y="680956"/>
            <a:ext cx="3945908" cy="369332"/>
          </a:xfrm>
          <a:prstGeom prst="rect">
            <a:avLst/>
          </a:prstGeom>
          <a:noFill/>
        </p:spPr>
        <p:txBody>
          <a:bodyPr wrap="square">
            <a:spAutoFit/>
          </a:bodyPr>
          <a:lstStyle/>
          <a:p>
            <a:r>
              <a:rPr lang="zh-CN" altLang="en-US" b="0" i="0" dirty="0">
                <a:solidFill>
                  <a:srgbClr val="00B0F0"/>
                </a:solidFill>
                <a:effectLst/>
                <a:latin typeface="Microsoft YaHei" panose="020B0503020204020204" pitchFamily="34" charset="-122"/>
                <a:ea typeface="Microsoft YaHei" panose="020B0503020204020204" pitchFamily="34" charset="-122"/>
              </a:rPr>
              <a:t>预测新数据的标签并计算分类准确度</a:t>
            </a:r>
            <a:endParaRPr lang="zh-CN" altLang="en-US" dirty="0">
              <a:solidFill>
                <a:srgbClr val="00B0F0"/>
              </a:solidFill>
            </a:endParaRPr>
          </a:p>
        </p:txBody>
      </p:sp>
    </p:spTree>
    <p:extLst>
      <p:ext uri="{BB962C8B-B14F-4D97-AF65-F5344CB8AC3E}">
        <p14:creationId xmlns:p14="http://schemas.microsoft.com/office/powerpoint/2010/main" val="19967160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1FAF4F45-5217-41C5-AADC-69439D0C7699}"/>
              </a:ext>
            </a:extLst>
          </p:cNvPr>
          <p:cNvPicPr>
            <a:picLocks noChangeAspect="1"/>
          </p:cNvPicPr>
          <p:nvPr/>
        </p:nvPicPr>
        <p:blipFill>
          <a:blip r:embed="rId2"/>
          <a:stretch>
            <a:fillRect/>
          </a:stretch>
        </p:blipFill>
        <p:spPr>
          <a:xfrm>
            <a:off x="6302490" y="2283718"/>
            <a:ext cx="2734383" cy="2209113"/>
          </a:xfrm>
          <a:prstGeom prst="rect">
            <a:avLst/>
          </a:prstGeom>
        </p:spPr>
      </p:pic>
      <p:sp>
        <p:nvSpPr>
          <p:cNvPr id="5" name="文本框 4">
            <a:extLst>
              <a:ext uri="{FF2B5EF4-FFF2-40B4-BE49-F238E27FC236}">
                <a16:creationId xmlns:a16="http://schemas.microsoft.com/office/drawing/2014/main" id="{E588C0DF-91CA-4DB3-B9FF-1AEE4BFE396F}"/>
              </a:ext>
            </a:extLst>
          </p:cNvPr>
          <p:cNvSpPr txBox="1"/>
          <p:nvPr/>
        </p:nvSpPr>
        <p:spPr>
          <a:xfrm>
            <a:off x="113408" y="738739"/>
            <a:ext cx="8779072" cy="400110"/>
          </a:xfrm>
          <a:prstGeom prst="rect">
            <a:avLst/>
          </a:prstGeom>
          <a:solidFill>
            <a:schemeClr val="bg1"/>
          </a:solidFill>
        </p:spPr>
        <p:txBody>
          <a:bodyPr wrap="square">
            <a:spAutoFit/>
          </a:bodyPr>
          <a:lstStyle/>
          <a:p>
            <a:pPr algn="dist"/>
            <a:r>
              <a:rPr lang="en-US" altLang="zh-CN" sz="2000" b="1" i="0" dirty="0">
                <a:solidFill>
                  <a:srgbClr val="0070C0"/>
                </a:solidFill>
                <a:effectLst/>
                <a:latin typeface="Microsoft YaHei" panose="020B0503020204020204" pitchFamily="34" charset="-122"/>
                <a:ea typeface="Microsoft YaHei" panose="020B0503020204020204" pitchFamily="34" charset="-122"/>
              </a:rPr>
              <a:t>#</a:t>
            </a:r>
            <a:r>
              <a:rPr lang="zh-CN" altLang="en-US" sz="2000" b="1" i="0" dirty="0">
                <a:solidFill>
                  <a:srgbClr val="0070C0"/>
                </a:solidFill>
                <a:effectLst/>
                <a:latin typeface="Microsoft YaHei" panose="020B0503020204020204" pitchFamily="34" charset="-122"/>
                <a:ea typeface="Microsoft YaHei" panose="020B0503020204020204" pitchFamily="34" charset="-122"/>
              </a:rPr>
              <a:t>在验证集随机取张图片进行展示，并使用网络对图片类别进行预测</a:t>
            </a:r>
            <a:endParaRPr lang="zh-CN" altLang="en-US" sz="2000" b="1" dirty="0">
              <a:solidFill>
                <a:srgbClr val="0070C0"/>
              </a:solidFill>
            </a:endParaRPr>
          </a:p>
        </p:txBody>
      </p:sp>
      <p:sp>
        <p:nvSpPr>
          <p:cNvPr id="7" name="文本框 6">
            <a:extLst>
              <a:ext uri="{FF2B5EF4-FFF2-40B4-BE49-F238E27FC236}">
                <a16:creationId xmlns:a16="http://schemas.microsoft.com/office/drawing/2014/main" id="{40047B3B-8E40-448E-BD4B-D9F3E089C620}"/>
              </a:ext>
            </a:extLst>
          </p:cNvPr>
          <p:cNvSpPr txBox="1"/>
          <p:nvPr/>
        </p:nvSpPr>
        <p:spPr>
          <a:xfrm>
            <a:off x="113408" y="1198319"/>
            <a:ext cx="8496944" cy="3477875"/>
          </a:xfrm>
          <a:prstGeom prst="rect">
            <a:avLst/>
          </a:prstGeom>
          <a:noFill/>
        </p:spPr>
        <p:txBody>
          <a:bodyPr wrap="square">
            <a:spAutoFit/>
          </a:bodyPr>
          <a:lstStyle/>
          <a:p>
            <a:r>
              <a:rPr lang="en-US" altLang="zh-CN" sz="2000" b="0" dirty="0">
                <a:solidFill>
                  <a:srgbClr val="008000"/>
                </a:solidFill>
                <a:effectLst/>
                <a:latin typeface="Consolas" panose="020B0609020204030204" pitchFamily="49" charset="0"/>
              </a:rPr>
              <a:t>#</a:t>
            </a:r>
            <a:r>
              <a:rPr lang="zh-CN" altLang="en-US" sz="2000" b="0" dirty="0">
                <a:solidFill>
                  <a:srgbClr val="008000"/>
                </a:solidFill>
                <a:effectLst/>
                <a:latin typeface="Consolas" panose="020B0609020204030204" pitchFamily="49" charset="0"/>
              </a:rPr>
              <a:t>在验证集随机取张图片进行展示，并使用网络对图片类别进行预测。</a:t>
            </a:r>
            <a:endParaRPr lang="zh-CN" altLang="en-US" sz="2000" b="0" dirty="0">
              <a:solidFill>
                <a:srgbClr val="000000"/>
              </a:solidFill>
              <a:effectLst/>
              <a:latin typeface="Consolas" panose="020B0609020204030204" pitchFamily="49" charset="0"/>
            </a:endParaRPr>
          </a:p>
          <a:p>
            <a:r>
              <a:rPr lang="en-US" altLang="zh-CN" sz="2000" b="0" dirty="0">
                <a:solidFill>
                  <a:srgbClr val="795E26"/>
                </a:solidFill>
                <a:effectLst/>
                <a:latin typeface="Consolas" panose="020B0609020204030204" pitchFamily="49" charset="0"/>
              </a:rPr>
              <a:t>figure</a:t>
            </a:r>
            <a:r>
              <a:rPr lang="en-US" altLang="zh-CN" sz="2000" b="0" dirty="0">
                <a:solidFill>
                  <a:srgbClr val="000000"/>
                </a:solidFill>
                <a:effectLst/>
                <a:latin typeface="Consolas" panose="020B0609020204030204" pitchFamily="49" charset="0"/>
              </a:rPr>
              <a:t>(</a:t>
            </a:r>
            <a:r>
              <a:rPr lang="en-US" altLang="zh-CN" sz="2000" b="0" dirty="0">
                <a:solidFill>
                  <a:srgbClr val="098658"/>
                </a:solidFill>
                <a:effectLst/>
                <a:latin typeface="Consolas" panose="020B0609020204030204" pitchFamily="49" charset="0"/>
              </a:rPr>
              <a:t>3</a:t>
            </a:r>
            <a:r>
              <a:rPr lang="en-US" altLang="zh-CN" sz="2000" b="0" dirty="0">
                <a:solidFill>
                  <a:srgbClr val="000000"/>
                </a:solidFill>
                <a:effectLst/>
                <a:latin typeface="Consolas" panose="020B0609020204030204" pitchFamily="49" charset="0"/>
              </a:rPr>
              <a:t>)</a:t>
            </a:r>
          </a:p>
          <a:p>
            <a:r>
              <a:rPr lang="en-US" altLang="zh-CN" sz="2000" b="0" dirty="0">
                <a:solidFill>
                  <a:srgbClr val="000000"/>
                </a:solidFill>
                <a:effectLst/>
                <a:latin typeface="Consolas" panose="020B0609020204030204" pitchFamily="49" charset="0"/>
              </a:rPr>
              <a:t>p2 = </a:t>
            </a:r>
            <a:r>
              <a:rPr lang="en-US" altLang="zh-CN" sz="2000" b="0" dirty="0" err="1">
                <a:solidFill>
                  <a:srgbClr val="795E26"/>
                </a:solidFill>
                <a:effectLst/>
                <a:latin typeface="Consolas" panose="020B0609020204030204" pitchFamily="49" charset="0"/>
              </a:rPr>
              <a:t>randperm</a:t>
            </a:r>
            <a:r>
              <a:rPr lang="en-US" altLang="zh-CN" sz="2000" b="0" dirty="0">
                <a:solidFill>
                  <a:srgbClr val="000000"/>
                </a:solidFill>
                <a:effectLst/>
                <a:latin typeface="Consolas" panose="020B0609020204030204" pitchFamily="49" charset="0"/>
              </a:rPr>
              <a:t>(</a:t>
            </a:r>
            <a:r>
              <a:rPr lang="en-US" altLang="zh-CN" sz="2000" b="0" dirty="0">
                <a:solidFill>
                  <a:srgbClr val="098658"/>
                </a:solidFill>
                <a:effectLst/>
                <a:latin typeface="Consolas" panose="020B0609020204030204" pitchFamily="49" charset="0"/>
              </a:rPr>
              <a:t>750</a:t>
            </a:r>
            <a:r>
              <a:rPr lang="en-US" altLang="zh-CN" sz="2000" b="0" dirty="0">
                <a:solidFill>
                  <a:srgbClr val="000000"/>
                </a:solidFill>
                <a:effectLst/>
                <a:latin typeface="Consolas" panose="020B0609020204030204" pitchFamily="49" charset="0"/>
              </a:rPr>
              <a:t>)</a:t>
            </a:r>
          </a:p>
          <a:p>
            <a:r>
              <a:rPr lang="en-US" altLang="zh-CN" sz="2000" b="0" dirty="0">
                <a:solidFill>
                  <a:srgbClr val="000000"/>
                </a:solidFill>
                <a:effectLst/>
                <a:latin typeface="Consolas" panose="020B0609020204030204" pitchFamily="49" charset="0"/>
              </a:rPr>
              <a:t>index = p2[</a:t>
            </a:r>
            <a:r>
              <a:rPr lang="en-US" altLang="zh-CN" sz="2000" b="0" dirty="0">
                <a:solidFill>
                  <a:srgbClr val="098658"/>
                </a:solidFill>
                <a:effectLst/>
                <a:latin typeface="Consolas" panose="020B0609020204030204" pitchFamily="49" charset="0"/>
              </a:rPr>
              <a:t>1</a:t>
            </a:r>
            <a:r>
              <a:rPr lang="en-US" altLang="zh-CN" sz="2000" b="0" dirty="0">
                <a:solidFill>
                  <a:srgbClr val="000000"/>
                </a:solidFill>
                <a:effectLst/>
                <a:latin typeface="Consolas" panose="020B0609020204030204" pitchFamily="49" charset="0"/>
              </a:rPr>
              <a:t>:</a:t>
            </a:r>
            <a:r>
              <a:rPr lang="en-US" altLang="zh-CN" sz="2000" b="0" dirty="0">
                <a:solidFill>
                  <a:srgbClr val="098658"/>
                </a:solidFill>
                <a:effectLst/>
                <a:latin typeface="Consolas" panose="020B0609020204030204" pitchFamily="49" charset="0"/>
              </a:rPr>
              <a:t>9</a:t>
            </a:r>
            <a:r>
              <a:rPr lang="en-US" altLang="zh-CN" sz="2000" b="0" dirty="0">
                <a:solidFill>
                  <a:srgbClr val="000000"/>
                </a:solidFill>
                <a:effectLst/>
                <a:latin typeface="Consolas" panose="020B0609020204030204" pitchFamily="49" charset="0"/>
              </a:rPr>
              <a:t>]</a:t>
            </a:r>
          </a:p>
          <a:p>
            <a:r>
              <a:rPr lang="en-US" altLang="zh-CN" sz="2000" b="0" dirty="0">
                <a:solidFill>
                  <a:srgbClr val="AF00DB"/>
                </a:solidFill>
                <a:effectLst/>
                <a:latin typeface="Consolas" panose="020B0609020204030204" pitchFamily="49" charset="0"/>
              </a:rPr>
              <a:t>for</a:t>
            </a:r>
            <a:r>
              <a:rPr lang="en-US" altLang="zh-CN" sz="2000" b="0" dirty="0">
                <a:solidFill>
                  <a:srgbClr val="000000"/>
                </a:solidFill>
                <a:effectLst/>
                <a:latin typeface="Consolas" panose="020B0609020204030204" pitchFamily="49" charset="0"/>
              </a:rPr>
              <a:t> </a:t>
            </a:r>
            <a:r>
              <a:rPr lang="en-US" altLang="zh-CN" sz="2000" b="0" dirty="0" err="1">
                <a:solidFill>
                  <a:srgbClr val="000000"/>
                </a:solidFill>
                <a:effectLst/>
                <a:latin typeface="Consolas" panose="020B0609020204030204" pitchFamily="49" charset="0"/>
              </a:rPr>
              <a:t>i</a:t>
            </a:r>
            <a:r>
              <a:rPr lang="en-US" altLang="zh-CN" sz="2000" b="0" dirty="0">
                <a:solidFill>
                  <a:srgbClr val="000000"/>
                </a:solidFill>
                <a:effectLst/>
                <a:latin typeface="Consolas" panose="020B0609020204030204" pitchFamily="49" charset="0"/>
              </a:rPr>
              <a:t> in </a:t>
            </a:r>
            <a:r>
              <a:rPr lang="en-US" altLang="zh-CN" sz="2000" b="0" dirty="0" err="1">
                <a:solidFill>
                  <a:srgbClr val="795E26"/>
                </a:solidFill>
                <a:effectLst/>
                <a:latin typeface="Consolas" panose="020B0609020204030204" pitchFamily="49" charset="0"/>
              </a:rPr>
              <a:t>eachindex</a:t>
            </a:r>
            <a:r>
              <a:rPr lang="en-US" altLang="zh-CN" sz="2000" b="0" dirty="0">
                <a:solidFill>
                  <a:srgbClr val="000000"/>
                </a:solidFill>
                <a:effectLst/>
                <a:latin typeface="Consolas" panose="020B0609020204030204" pitchFamily="49" charset="0"/>
              </a:rPr>
              <a:t>(</a:t>
            </a:r>
            <a:r>
              <a:rPr lang="en-US" altLang="zh-CN" sz="2000" b="0" dirty="0">
                <a:solidFill>
                  <a:srgbClr val="795E26"/>
                </a:solidFill>
                <a:effectLst/>
                <a:latin typeface="Consolas" panose="020B0609020204030204" pitchFamily="49" charset="0"/>
              </a:rPr>
              <a:t>range</a:t>
            </a:r>
            <a:r>
              <a:rPr lang="en-US" altLang="zh-CN" sz="2000" b="0" dirty="0">
                <a:solidFill>
                  <a:srgbClr val="000000"/>
                </a:solidFill>
                <a:effectLst/>
                <a:latin typeface="Consolas" panose="020B0609020204030204" pitchFamily="49" charset="0"/>
              </a:rPr>
              <a:t>(</a:t>
            </a:r>
            <a:r>
              <a:rPr lang="en-US" altLang="zh-CN" sz="2000" b="0" dirty="0">
                <a:solidFill>
                  <a:srgbClr val="098658"/>
                </a:solidFill>
                <a:effectLst/>
                <a:latin typeface="Consolas" panose="020B0609020204030204" pitchFamily="49" charset="0"/>
              </a:rPr>
              <a:t>1</a:t>
            </a:r>
            <a:r>
              <a:rPr lang="en-US" altLang="zh-CN" sz="2000" b="0" dirty="0">
                <a:solidFill>
                  <a:srgbClr val="000000"/>
                </a:solidFill>
                <a:effectLst/>
                <a:latin typeface="Consolas" panose="020B0609020204030204" pitchFamily="49" charset="0"/>
              </a:rPr>
              <a:t>, </a:t>
            </a:r>
            <a:r>
              <a:rPr lang="en-US" altLang="zh-CN" sz="2000" b="0" dirty="0">
                <a:solidFill>
                  <a:srgbClr val="098658"/>
                </a:solidFill>
                <a:effectLst/>
                <a:latin typeface="Consolas" panose="020B0609020204030204" pitchFamily="49" charset="0"/>
              </a:rPr>
              <a:t>9</a:t>
            </a:r>
            <a:r>
              <a:rPr lang="en-US" altLang="zh-CN" sz="2000" b="0" dirty="0">
                <a:solidFill>
                  <a:srgbClr val="000000"/>
                </a:solidFill>
                <a:effectLst/>
                <a:latin typeface="Consolas" panose="020B0609020204030204" pitchFamily="49" charset="0"/>
              </a:rPr>
              <a:t>))</a:t>
            </a:r>
          </a:p>
          <a:p>
            <a:r>
              <a:rPr lang="en-US" altLang="zh-CN" sz="2000" b="0" dirty="0">
                <a:solidFill>
                  <a:srgbClr val="000000"/>
                </a:solidFill>
                <a:effectLst/>
                <a:latin typeface="Consolas" panose="020B0609020204030204" pitchFamily="49" charset="0"/>
              </a:rPr>
              <a:t>    </a:t>
            </a:r>
            <a:r>
              <a:rPr lang="en-US" altLang="zh-CN" sz="2000" b="0" dirty="0" err="1">
                <a:solidFill>
                  <a:srgbClr val="000000"/>
                </a:solidFill>
                <a:effectLst/>
                <a:latin typeface="Consolas" panose="020B0609020204030204" pitchFamily="49" charset="0"/>
              </a:rPr>
              <a:t>TyPlot.</a:t>
            </a:r>
            <a:r>
              <a:rPr lang="en-US" altLang="zh-CN" sz="2000" b="0" dirty="0" err="1">
                <a:solidFill>
                  <a:srgbClr val="795E26"/>
                </a:solidFill>
                <a:effectLst/>
                <a:latin typeface="Consolas" panose="020B0609020204030204" pitchFamily="49" charset="0"/>
              </a:rPr>
              <a:t>subplot</a:t>
            </a:r>
            <a:r>
              <a:rPr lang="en-US" altLang="zh-CN" sz="2000" b="0" dirty="0">
                <a:solidFill>
                  <a:srgbClr val="000000"/>
                </a:solidFill>
                <a:effectLst/>
                <a:latin typeface="Consolas" panose="020B0609020204030204" pitchFamily="49" charset="0"/>
              </a:rPr>
              <a:t>(</a:t>
            </a:r>
            <a:r>
              <a:rPr lang="en-US" altLang="zh-CN" sz="2000" b="0" dirty="0">
                <a:solidFill>
                  <a:srgbClr val="098658"/>
                </a:solidFill>
                <a:effectLst/>
                <a:latin typeface="Consolas" panose="020B0609020204030204" pitchFamily="49" charset="0"/>
              </a:rPr>
              <a:t>3</a:t>
            </a:r>
            <a:r>
              <a:rPr lang="en-US" altLang="zh-CN" sz="2000" b="0" dirty="0">
                <a:solidFill>
                  <a:srgbClr val="000000"/>
                </a:solidFill>
                <a:effectLst/>
                <a:latin typeface="Consolas" panose="020B0609020204030204" pitchFamily="49" charset="0"/>
              </a:rPr>
              <a:t>, </a:t>
            </a:r>
            <a:r>
              <a:rPr lang="en-US" altLang="zh-CN" sz="2000" b="0" dirty="0">
                <a:solidFill>
                  <a:srgbClr val="098658"/>
                </a:solidFill>
                <a:effectLst/>
                <a:latin typeface="Consolas" panose="020B0609020204030204" pitchFamily="49" charset="0"/>
              </a:rPr>
              <a:t>3</a:t>
            </a:r>
            <a:r>
              <a:rPr lang="en-US" altLang="zh-CN" sz="2000" b="0" dirty="0">
                <a:solidFill>
                  <a:srgbClr val="000000"/>
                </a:solidFill>
                <a:effectLst/>
                <a:latin typeface="Consolas" panose="020B0609020204030204" pitchFamily="49" charset="0"/>
              </a:rPr>
              <a:t>, </a:t>
            </a:r>
            <a:r>
              <a:rPr lang="en-US" altLang="zh-CN" sz="2000" b="0" dirty="0" err="1">
                <a:solidFill>
                  <a:srgbClr val="000000"/>
                </a:solidFill>
                <a:effectLst/>
                <a:latin typeface="Consolas" panose="020B0609020204030204" pitchFamily="49" charset="0"/>
              </a:rPr>
              <a:t>i</a:t>
            </a:r>
            <a:r>
              <a:rPr lang="en-US" altLang="zh-CN" sz="2000" b="0" dirty="0">
                <a:solidFill>
                  <a:srgbClr val="000000"/>
                </a:solidFill>
                <a:effectLst/>
                <a:latin typeface="Consolas" panose="020B0609020204030204" pitchFamily="49" charset="0"/>
              </a:rPr>
              <a:t>)</a:t>
            </a:r>
          </a:p>
          <a:p>
            <a:r>
              <a:rPr lang="en-US" altLang="zh-CN" sz="2000" b="0" dirty="0">
                <a:solidFill>
                  <a:srgbClr val="000000"/>
                </a:solidFill>
                <a:effectLst/>
                <a:latin typeface="Consolas" panose="020B0609020204030204" pitchFamily="49" charset="0"/>
              </a:rPr>
              <a:t>    </a:t>
            </a:r>
            <a:r>
              <a:rPr lang="en-US" altLang="zh-CN" sz="2000" b="0" dirty="0" err="1">
                <a:solidFill>
                  <a:srgbClr val="000000"/>
                </a:solidFill>
                <a:effectLst/>
                <a:latin typeface="Consolas" panose="020B0609020204030204" pitchFamily="49" charset="0"/>
              </a:rPr>
              <a:t>TyImages.</a:t>
            </a:r>
            <a:r>
              <a:rPr lang="en-US" altLang="zh-CN" sz="2000" b="0" dirty="0" err="1">
                <a:solidFill>
                  <a:srgbClr val="795E26"/>
                </a:solidFill>
                <a:effectLst/>
                <a:latin typeface="Consolas" panose="020B0609020204030204" pitchFamily="49" charset="0"/>
              </a:rPr>
              <a:t>imshow</a:t>
            </a:r>
            <a:r>
              <a:rPr lang="en-US" altLang="zh-CN" sz="2000" b="0" dirty="0">
                <a:solidFill>
                  <a:srgbClr val="000000"/>
                </a:solidFill>
                <a:effectLst/>
                <a:latin typeface="Consolas" panose="020B0609020204030204" pitchFamily="49" charset="0"/>
              </a:rPr>
              <a:t>(</a:t>
            </a:r>
            <a:r>
              <a:rPr lang="en-US" altLang="zh-CN" sz="2000" b="0" dirty="0" err="1">
                <a:solidFill>
                  <a:srgbClr val="000000"/>
                </a:solidFill>
                <a:effectLst/>
                <a:latin typeface="Consolas" panose="020B0609020204030204" pitchFamily="49" charset="0"/>
              </a:rPr>
              <a:t>X_Test</a:t>
            </a:r>
            <a:r>
              <a:rPr lang="en-US" altLang="zh-CN" sz="2000" b="0" dirty="0">
                <a:solidFill>
                  <a:srgbClr val="000000"/>
                </a:solidFill>
                <a:effectLst/>
                <a:latin typeface="Consolas" panose="020B0609020204030204" pitchFamily="49" charset="0"/>
              </a:rPr>
              <a:t>[index[</a:t>
            </a:r>
            <a:r>
              <a:rPr lang="en-US" altLang="zh-CN" sz="2000" b="0" dirty="0" err="1">
                <a:solidFill>
                  <a:srgbClr val="000000"/>
                </a:solidFill>
                <a:effectLst/>
                <a:latin typeface="Consolas" panose="020B0609020204030204" pitchFamily="49" charset="0"/>
              </a:rPr>
              <a:t>i</a:t>
            </a:r>
            <a:r>
              <a:rPr lang="en-US" altLang="zh-CN" sz="2000" b="0" dirty="0">
                <a:solidFill>
                  <a:srgbClr val="000000"/>
                </a:solidFill>
                <a:effectLst/>
                <a:latin typeface="Consolas" panose="020B0609020204030204" pitchFamily="49" charset="0"/>
              </a:rPr>
              <a:t>], </a:t>
            </a:r>
            <a:r>
              <a:rPr lang="en-US" altLang="zh-CN" sz="2000" b="0" dirty="0">
                <a:solidFill>
                  <a:srgbClr val="098658"/>
                </a:solidFill>
                <a:effectLst/>
                <a:latin typeface="Consolas" panose="020B0609020204030204" pitchFamily="49" charset="0"/>
              </a:rPr>
              <a:t>1</a:t>
            </a:r>
            <a:r>
              <a:rPr lang="en-US" altLang="zh-CN" sz="2000" b="0" dirty="0">
                <a:solidFill>
                  <a:srgbClr val="000000"/>
                </a:solidFill>
                <a:effectLst/>
                <a:latin typeface="Consolas" panose="020B0609020204030204" pitchFamily="49" charset="0"/>
              </a:rPr>
              <a:t>, :, :])</a:t>
            </a:r>
          </a:p>
          <a:p>
            <a:r>
              <a:rPr lang="en-US" altLang="zh-CN" sz="2000" b="0" dirty="0">
                <a:solidFill>
                  <a:srgbClr val="000000"/>
                </a:solidFill>
                <a:effectLst/>
                <a:latin typeface="Consolas" panose="020B0609020204030204" pitchFamily="49" charset="0"/>
              </a:rPr>
              <a:t>    title1 = </a:t>
            </a:r>
            <a:r>
              <a:rPr lang="en-US" altLang="zh-CN" sz="2000" b="0" dirty="0">
                <a:solidFill>
                  <a:srgbClr val="A31515"/>
                </a:solidFill>
                <a:effectLst/>
                <a:latin typeface="Consolas" panose="020B0609020204030204" pitchFamily="49" charset="0"/>
              </a:rPr>
              <a:t>"Prediction Label"</a:t>
            </a:r>
            <a:endParaRPr lang="en-US" altLang="zh-CN" sz="2000" b="0" dirty="0">
              <a:solidFill>
                <a:srgbClr val="000000"/>
              </a:solidFill>
              <a:effectLst/>
              <a:latin typeface="Consolas" panose="020B0609020204030204" pitchFamily="49" charset="0"/>
            </a:endParaRPr>
          </a:p>
          <a:p>
            <a:r>
              <a:rPr lang="en-US" altLang="zh-CN" sz="2000" b="0" dirty="0">
                <a:solidFill>
                  <a:srgbClr val="000000"/>
                </a:solidFill>
                <a:effectLst/>
                <a:latin typeface="Consolas" panose="020B0609020204030204" pitchFamily="49" charset="0"/>
              </a:rPr>
              <a:t>    title2 = </a:t>
            </a:r>
            <a:r>
              <a:rPr lang="en-US" altLang="zh-CN" sz="2000" b="0" dirty="0">
                <a:solidFill>
                  <a:srgbClr val="795E26"/>
                </a:solidFill>
                <a:effectLst/>
                <a:latin typeface="Consolas" panose="020B0609020204030204" pitchFamily="49" charset="0"/>
              </a:rPr>
              <a:t>string</a:t>
            </a:r>
            <a:r>
              <a:rPr lang="en-US" altLang="zh-CN" sz="2000" b="0" dirty="0">
                <a:solidFill>
                  <a:srgbClr val="000000"/>
                </a:solidFill>
                <a:effectLst/>
                <a:latin typeface="Consolas" panose="020B0609020204030204" pitchFamily="49" charset="0"/>
              </a:rPr>
              <a:t>(</a:t>
            </a:r>
            <a:r>
              <a:rPr lang="en-US" altLang="zh-CN" sz="2000" b="1" dirty="0">
                <a:solidFill>
                  <a:srgbClr val="FF0000"/>
                </a:solidFill>
                <a:effectLst/>
                <a:latin typeface="Consolas" panose="020B0609020204030204" pitchFamily="49" charset="0"/>
              </a:rPr>
              <a:t>YPred1</a:t>
            </a:r>
            <a:r>
              <a:rPr lang="en-US" altLang="zh-CN" sz="2000" b="0" dirty="0">
                <a:solidFill>
                  <a:srgbClr val="000000"/>
                </a:solidFill>
                <a:effectLst/>
                <a:latin typeface="Consolas" panose="020B0609020204030204" pitchFamily="49" charset="0"/>
              </a:rPr>
              <a:t>[index[</a:t>
            </a:r>
            <a:r>
              <a:rPr lang="en-US" altLang="zh-CN" sz="2000" b="0" dirty="0" err="1">
                <a:solidFill>
                  <a:srgbClr val="000000"/>
                </a:solidFill>
                <a:effectLst/>
                <a:latin typeface="Consolas" panose="020B0609020204030204" pitchFamily="49" charset="0"/>
              </a:rPr>
              <a:t>i</a:t>
            </a:r>
            <a:r>
              <a:rPr lang="en-US" altLang="zh-CN" sz="2000" b="0" dirty="0">
                <a:solidFill>
                  <a:srgbClr val="000000"/>
                </a:solidFill>
                <a:effectLst/>
                <a:latin typeface="Consolas" panose="020B0609020204030204" pitchFamily="49" charset="0"/>
              </a:rPr>
              <a:t>]])</a:t>
            </a:r>
          </a:p>
          <a:p>
            <a:r>
              <a:rPr lang="en-US" altLang="zh-CN" sz="2000" b="0" dirty="0">
                <a:solidFill>
                  <a:srgbClr val="000000"/>
                </a:solidFill>
                <a:effectLst/>
                <a:latin typeface="Consolas" panose="020B0609020204030204" pitchFamily="49" charset="0"/>
              </a:rPr>
              <a:t>    </a:t>
            </a:r>
            <a:r>
              <a:rPr lang="en-US" altLang="zh-CN" sz="2000" b="0" dirty="0">
                <a:solidFill>
                  <a:srgbClr val="795E26"/>
                </a:solidFill>
                <a:effectLst/>
                <a:latin typeface="Consolas" panose="020B0609020204030204" pitchFamily="49" charset="0"/>
              </a:rPr>
              <a:t>title</a:t>
            </a:r>
            <a:r>
              <a:rPr lang="en-US" altLang="zh-CN" sz="2000" b="0" dirty="0">
                <a:solidFill>
                  <a:srgbClr val="000000"/>
                </a:solidFill>
                <a:effectLst/>
                <a:latin typeface="Consolas" panose="020B0609020204030204" pitchFamily="49" charset="0"/>
              </a:rPr>
              <a:t>(</a:t>
            </a:r>
            <a:r>
              <a:rPr lang="en-US" altLang="zh-CN" sz="2000" b="0" dirty="0">
                <a:solidFill>
                  <a:srgbClr val="795E26"/>
                </a:solidFill>
                <a:effectLst/>
                <a:latin typeface="Consolas" panose="020B0609020204030204" pitchFamily="49" charset="0"/>
              </a:rPr>
              <a:t>string</a:t>
            </a:r>
            <a:r>
              <a:rPr lang="en-US" altLang="zh-CN" sz="2000" b="0" dirty="0">
                <a:solidFill>
                  <a:srgbClr val="000000"/>
                </a:solidFill>
                <a:effectLst/>
                <a:latin typeface="Consolas" panose="020B0609020204030204" pitchFamily="49" charset="0"/>
              </a:rPr>
              <a:t>(title1, </a:t>
            </a:r>
            <a:r>
              <a:rPr lang="en-US" altLang="zh-CN" sz="2000" b="0" dirty="0">
                <a:solidFill>
                  <a:srgbClr val="A31515"/>
                </a:solidFill>
                <a:effectLst/>
                <a:latin typeface="Consolas" panose="020B0609020204030204" pitchFamily="49" charset="0"/>
              </a:rPr>
              <a:t>": "</a:t>
            </a:r>
            <a:r>
              <a:rPr lang="en-US" altLang="zh-CN" sz="2000" b="0" dirty="0">
                <a:solidFill>
                  <a:srgbClr val="000000"/>
                </a:solidFill>
                <a:effectLst/>
                <a:latin typeface="Consolas" panose="020B0609020204030204" pitchFamily="49" charset="0"/>
              </a:rPr>
              <a:t>, title2))</a:t>
            </a:r>
          </a:p>
          <a:p>
            <a:r>
              <a:rPr lang="en-US" altLang="zh-CN" sz="2000" b="0" dirty="0">
                <a:solidFill>
                  <a:srgbClr val="AF00DB"/>
                </a:solidFill>
                <a:effectLst/>
                <a:latin typeface="Consolas" panose="020B0609020204030204" pitchFamily="49" charset="0"/>
              </a:rPr>
              <a:t>end</a:t>
            </a:r>
            <a:endParaRPr lang="en-US" altLang="zh-CN" b="0" dirty="0">
              <a:solidFill>
                <a:srgbClr val="000000"/>
              </a:solidFill>
              <a:effectLst/>
              <a:latin typeface="Consolas" panose="020B0609020204030204" pitchFamily="49" charset="0"/>
            </a:endParaRPr>
          </a:p>
        </p:txBody>
      </p:sp>
      <p:sp>
        <p:nvSpPr>
          <p:cNvPr id="8" name="标题 1">
            <a:extLst>
              <a:ext uri="{FF2B5EF4-FFF2-40B4-BE49-F238E27FC236}">
                <a16:creationId xmlns:a16="http://schemas.microsoft.com/office/drawing/2014/main" id="{0431B064-1A45-45E9-9A13-C5D8B2398130}"/>
              </a:ext>
            </a:extLst>
          </p:cNvPr>
          <p:cNvSpPr txBox="1">
            <a:spLocks/>
          </p:cNvSpPr>
          <p:nvPr/>
        </p:nvSpPr>
        <p:spPr bwMode="auto">
          <a:xfrm>
            <a:off x="1259632" y="144435"/>
            <a:ext cx="7488832" cy="504056"/>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600" b="0">
                <a:solidFill>
                  <a:srgbClr val="002E5C"/>
                </a:solidFill>
                <a:latin typeface="隶书" panose="02010509060101010101" pitchFamily="49" charset="-122"/>
                <a:ea typeface="隶书" panose="02010509060101010101" pitchFamily="49"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pPr>
              <a:defRPr/>
            </a:pPr>
            <a:endParaRPr lang="en-US" altLang="zh-CN" sz="2800" dirty="0">
              <a:solidFill>
                <a:srgbClr val="002060"/>
              </a:solidFill>
              <a:latin typeface="华文楷体" panose="02010600040101010101" pitchFamily="2" charset="-122"/>
              <a:ea typeface="华文楷体" panose="02010600040101010101" pitchFamily="2" charset="-122"/>
            </a:endParaRPr>
          </a:p>
          <a:p>
            <a:pPr>
              <a:defRPr/>
            </a:pPr>
            <a:r>
              <a:rPr lang="en-US" altLang="zh-CN" sz="2800" dirty="0">
                <a:solidFill>
                  <a:srgbClr val="002060"/>
                </a:solidFill>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深度学习主要步骤</a:t>
            </a:r>
            <a:r>
              <a:rPr lang="en-US" altLang="zh-CN" sz="2800" kern="0" dirty="0">
                <a:solidFill>
                  <a:srgbClr val="FF0000"/>
                </a:solidFill>
                <a:latin typeface="华文楷体" panose="02010600040101010101" pitchFamily="2" charset="-122"/>
                <a:ea typeface="华文楷体" panose="02010600040101010101" pitchFamily="2" charset="-122"/>
              </a:rPr>
              <a:t>——5</a:t>
            </a:r>
            <a:r>
              <a:rPr lang="zh-CN" altLang="en-US" sz="2800" kern="0" dirty="0">
                <a:solidFill>
                  <a:srgbClr val="FF0000"/>
                </a:solidFill>
                <a:latin typeface="华文楷体" panose="02010600040101010101" pitchFamily="2" charset="-122"/>
                <a:ea typeface="华文楷体" panose="02010600040101010101" pitchFamily="2" charset="-122"/>
              </a:rPr>
              <a:t>、模型验证</a:t>
            </a:r>
          </a:p>
        </p:txBody>
      </p:sp>
    </p:spTree>
    <p:extLst>
      <p:ext uri="{BB962C8B-B14F-4D97-AF65-F5344CB8AC3E}">
        <p14:creationId xmlns:p14="http://schemas.microsoft.com/office/powerpoint/2010/main" val="2066114634"/>
      </p:ext>
    </p:extLst>
  </p:cSld>
  <p:clrMapOvr>
    <a:masterClrMapping/>
  </p:clrMapOvr>
</p:sld>
</file>

<file path=ppt/theme/theme1.xml><?xml version="1.0" encoding="utf-8"?>
<a:theme xmlns:a="http://schemas.openxmlformats.org/drawingml/2006/main" name="主题1">
  <a:themeElements>
    <a:clrScheme name="darp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arpa">
      <a:majorFont>
        <a:latin typeface="Helvetic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177800" marR="0" indent="-177800" algn="ctr" defTabSz="914400" rtl="0" eaLnBrk="0" fontAlgn="base" latinLnBrk="0" hangingPunct="0">
          <a:lnSpc>
            <a:spcPct val="11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177800" marR="0" indent="-177800" algn="ctr" defTabSz="914400" rtl="0" eaLnBrk="0" fontAlgn="base" latinLnBrk="0" hangingPunct="0">
          <a:lnSpc>
            <a:spcPct val="11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arp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arp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arpa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arpa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arp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arp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arp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19025</TotalTime>
  <Pages>154</Pages>
  <Words>16613</Words>
  <Characters>0</Characters>
  <Application>Microsoft Office PowerPoint</Application>
  <DocSecurity>0</DocSecurity>
  <PresentationFormat>全屏显示(16:9)</PresentationFormat>
  <Lines>0</Lines>
  <Paragraphs>1562</Paragraphs>
  <Slides>70</Slides>
  <Notes>42</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70</vt:i4>
      </vt:variant>
    </vt:vector>
  </HeadingPairs>
  <TitlesOfParts>
    <vt:vector size="94" baseType="lpstr">
      <vt:lpstr>-apple-system</vt:lpstr>
      <vt:lpstr>Arial Unicode MS</vt:lpstr>
      <vt:lpstr>Helvetica Neue</vt:lpstr>
      <vt:lpstr>MS Gothic</vt:lpstr>
      <vt:lpstr>PingFang SC</vt:lpstr>
      <vt:lpstr>等线</vt:lpstr>
      <vt:lpstr>等线 Light</vt:lpstr>
      <vt:lpstr>华文琥珀</vt:lpstr>
      <vt:lpstr>华文楷体</vt:lpstr>
      <vt:lpstr>楷体_GB2312</vt:lpstr>
      <vt:lpstr>隶书</vt:lpstr>
      <vt:lpstr>宋体</vt:lpstr>
      <vt:lpstr>Microsoft YaHei</vt:lpstr>
      <vt:lpstr>Microsoft YaHei</vt:lpstr>
      <vt:lpstr>微软雅黑 Light</vt:lpstr>
      <vt:lpstr>Arial</vt:lpstr>
      <vt:lpstr>Calibri</vt:lpstr>
      <vt:lpstr>Cambria Math</vt:lpstr>
      <vt:lpstr>Consolas</vt:lpstr>
      <vt:lpstr>Courier New</vt:lpstr>
      <vt:lpstr>Helvetica</vt:lpstr>
      <vt:lpstr>Times New Roman</vt:lpstr>
      <vt:lpstr>Wingdings</vt:lpstr>
      <vt:lpstr>主题1</vt:lpstr>
      <vt:lpstr>第8章. 最优化计算</vt:lpstr>
      <vt:lpstr>第8章. 最优化计算</vt:lpstr>
      <vt:lpstr>第8章 最优化计算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大作业</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(3)绘制炮弹击中目标的运行图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li aibin</cp:lastModifiedBy>
  <cp:revision>1474</cp:revision>
  <dcterms:modified xsi:type="dcterms:W3CDTF">2025-04-22T07:17:52Z</dcterms:modified>
</cp:coreProperties>
</file>