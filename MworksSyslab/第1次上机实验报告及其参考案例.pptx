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16"/>
  </p:notesMasterIdLst>
  <p:sldIdLst>
    <p:sldId id="10114" r:id="rId2"/>
    <p:sldId id="679" r:id="rId3"/>
    <p:sldId id="2086" r:id="rId4"/>
    <p:sldId id="2107" r:id="rId5"/>
    <p:sldId id="2114" r:id="rId6"/>
    <p:sldId id="2206" r:id="rId7"/>
    <p:sldId id="10113" r:id="rId8"/>
    <p:sldId id="2110" r:id="rId9"/>
    <p:sldId id="2210" r:id="rId10"/>
    <p:sldId id="2113" r:id="rId11"/>
    <p:sldId id="2111" r:id="rId12"/>
    <p:sldId id="2112" r:id="rId13"/>
    <p:sldId id="2211" r:id="rId14"/>
    <p:sldId id="2212" r:id="rId1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76"/>
    <a:srgbClr val="CC6600"/>
    <a:srgbClr val="3399FF"/>
    <a:srgbClr val="736303"/>
    <a:srgbClr val="66CCFF"/>
    <a:srgbClr val="FF9900"/>
    <a:srgbClr val="F0DA04"/>
    <a:srgbClr val="6D629C"/>
    <a:srgbClr val="3366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3673" autoAdjust="0"/>
  </p:normalViewPr>
  <p:slideViewPr>
    <p:cSldViewPr snapToObjects="1">
      <p:cViewPr varScale="1">
        <p:scale>
          <a:sx n="81" d="100"/>
          <a:sy n="81" d="100"/>
        </p:scale>
        <p:origin x="872" y="56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534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直接把“</a:t>
            </a:r>
            <a:r>
              <a:rPr lang="en-US" altLang="zh-CN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</a:t>
            </a:r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自变量</a:t>
            </a:r>
            <a:r>
              <a:rPr lang="en-US" altLang="zh-CN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x)=</a:t>
            </a:r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表达式”作为</a:t>
            </a:r>
            <a:r>
              <a:rPr lang="en-US" altLang="zh-CN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672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844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舰载机飞行员是怎样炼成的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比选拔航天员还苛刻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619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162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dirty="0"/>
              <a:t>function age(y) </a:t>
            </a:r>
          </a:p>
          <a:p>
            <a:r>
              <a:rPr lang="en-US" altLang="zh-CN" dirty="0"/>
              <a:t>   if y≥18        </a:t>
            </a:r>
          </a:p>
          <a:p>
            <a:r>
              <a:rPr lang="en-US" altLang="zh-CN" dirty="0"/>
              <a:t>result="</a:t>
            </a:r>
            <a:r>
              <a:rPr lang="zh-CN" altLang="en-US" dirty="0"/>
              <a:t>允许进入网吧</a:t>
            </a:r>
            <a:r>
              <a:rPr lang="en-US" altLang="zh-CN" dirty="0"/>
              <a:t>"   </a:t>
            </a:r>
          </a:p>
          <a:p>
            <a:r>
              <a:rPr lang="en-US" altLang="zh-CN" dirty="0"/>
              <a:t> else        result="</a:t>
            </a:r>
            <a:r>
              <a:rPr lang="zh-CN" altLang="en-US" dirty="0"/>
              <a:t>不允许进入网吧</a:t>
            </a:r>
            <a:r>
              <a:rPr lang="en-US" altLang="zh-CN" dirty="0"/>
              <a:t>"    </a:t>
            </a:r>
          </a:p>
          <a:p>
            <a:r>
              <a:rPr lang="en-US" altLang="zh-CN" dirty="0"/>
              <a:t>end   </a:t>
            </a:r>
          </a:p>
          <a:p>
            <a:r>
              <a:rPr lang="en-US" altLang="zh-CN" dirty="0"/>
              <a:t> </a:t>
            </a:r>
            <a:r>
              <a:rPr lang="en-US" altLang="zh-CN" dirty="0" err="1"/>
              <a:t>println</a:t>
            </a:r>
            <a:r>
              <a:rPr lang="en-US" altLang="zh-CN" dirty="0"/>
              <a:t>(result) </a:t>
            </a:r>
          </a:p>
          <a:p>
            <a:r>
              <a:rPr lang="en-US" altLang="zh-CN" dirty="0"/>
              <a:t>end</a:t>
            </a:r>
            <a:endParaRPr lang="zh-CN" altLang="en-US"/>
          </a:p>
          <a:p>
            <a:endParaRPr lang="en-US" altLang="zh-CN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x&gt;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进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不进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julia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 age(20)</a:t>
            </a:r>
          </a:p>
          <a:p>
            <a:r>
              <a:rPr lang="zh-CN" alt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允许进入网吧</a:t>
            </a:r>
          </a:p>
          <a:p>
            <a:endParaRPr lang="zh-CN" alt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julia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 age(16)</a:t>
            </a:r>
          </a:p>
          <a:p>
            <a:r>
              <a:rPr lang="zh-CN" alt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不允许进入网吧</a:t>
            </a:r>
            <a:endParaRPr lang="en-US" altLang="zh-CN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dirty="0"/>
              <a:t>function age(y)    if y≥18        result="</a:t>
            </a:r>
            <a:r>
              <a:rPr lang="zh-CN" altLang="en-US" dirty="0"/>
              <a:t>允许进入网吧</a:t>
            </a:r>
            <a:r>
              <a:rPr lang="en-US" altLang="zh-CN" dirty="0"/>
              <a:t>"    else        result="</a:t>
            </a:r>
            <a:r>
              <a:rPr lang="zh-CN" altLang="en-US" dirty="0"/>
              <a:t>不允许进入网吧</a:t>
            </a:r>
            <a:r>
              <a:rPr lang="en-US" altLang="zh-CN" dirty="0"/>
              <a:t>"    end    </a:t>
            </a:r>
            <a:r>
              <a:rPr lang="en-US" altLang="zh-CN" dirty="0" err="1"/>
              <a:t>println</a:t>
            </a:r>
            <a:r>
              <a:rPr lang="en-US" altLang="zh-CN" dirty="0"/>
              <a:t>(result) end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444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n-NO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nn-NO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n-NO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^k </a:t>
            </a:r>
            <a:r>
              <a:rPr lang="nn-NO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</a:t>
            </a:r>
            <a:r>
              <a:rPr lang="nn-NO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n-NO" altLang="zh-CN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nn-NO" altLang="zh-CN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</a:t>
            </a:r>
            <a:r>
              <a:rPr lang="nn-NO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nn-NO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结果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#sum([2^k for k=0.0:63.0])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2021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年，全球小麦总产量是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7.76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亿吨，创造了人类历史纪录。也就是说，要把棋盘放满，按照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2021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年的小麦产量，全人类要不吃不喝种六个多世纪的麦</a:t>
            </a:r>
            <a:endParaRPr lang="nn-NO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nn-NO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n-NO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sum([2^k for k=0.0:63.0])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n-NO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1.8446744073709552e19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nn-NO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nn-NO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(x)::</a:t>
            </a:r>
            <a:r>
              <a:rPr lang="en-US" altLang="zh-C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y=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^k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:x])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米的总量约为</a:t>
            </a:r>
            <a:r>
              <a:rPr lang="en-US" altLang="zh-CN" sz="120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1.845*10^19</a:t>
            </a:r>
            <a:r>
              <a:rPr lang="zh-CN" altLang="zh-CN" sz="120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粒，如果每秒可以数</a:t>
            </a:r>
            <a:r>
              <a:rPr lang="en-US" altLang="zh-CN" sz="120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5</a:t>
            </a:r>
            <a:r>
              <a:rPr lang="zh-CN" altLang="zh-CN" sz="120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粒，数完需要</a:t>
            </a:r>
            <a:r>
              <a:rPr lang="en-US" altLang="zh-CN" sz="120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1.17*10^11</a:t>
            </a:r>
            <a:r>
              <a:rPr lang="zh-CN" altLang="zh-CN" sz="120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年，大约</a:t>
            </a:r>
            <a:r>
              <a:rPr lang="en-US" altLang="zh-CN" sz="120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1170</a:t>
            </a:r>
            <a:r>
              <a:rPr lang="zh-CN" altLang="zh-CN" sz="120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亿年</a:t>
            </a:r>
            <a:endParaRPr lang="en-US" altLang="zh-CN" sz="1200" dirty="0">
              <a:solidFill>
                <a:srgbClr val="121212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121212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年全国粮食产量稳中有增 连续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年稳定在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1.3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万亿斤以上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nn-NO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24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874288"/>
            <a:ext cx="7772400" cy="4308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CB138-D962-4159-86D4-69744E72DF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310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0685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C858E-3DCE-4D01-A80F-DEA7F14DD0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32559"/>
            <a:ext cx="4040188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32559"/>
            <a:ext cx="4041775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2ED9D-B9E8-4415-A1AA-A51EE65F13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DE395-C011-4FCA-B35B-9450E02CE8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2733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B4065-B1B7-4E06-9A01-41AE3A9EC0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6340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8D4F1-5252-4CE3-8F75-35C51027C8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31486" y="802481"/>
            <a:ext cx="4856714" cy="20559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522D-DF1B-4BE4-9E38-6362FBF71D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6700" y="250031"/>
            <a:ext cx="1981200" cy="19538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07586" y="250031"/>
            <a:ext cx="4856714" cy="19538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13E49-A68C-484C-9771-B00D1343D1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250031"/>
            <a:ext cx="7667625" cy="438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73100" y="802481"/>
            <a:ext cx="6515100" cy="566309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A134C-C122-4DE6-ABA6-CD4CFACFA3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61" r:id="rId12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y=@.x%5E2-log(x)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9A529BD-7241-48DF-83B1-A95803F1699B}"/>
              </a:ext>
            </a:extLst>
          </p:cNvPr>
          <p:cNvSpPr txBox="1"/>
          <p:nvPr/>
        </p:nvSpPr>
        <p:spPr>
          <a:xfrm>
            <a:off x="755576" y="1419622"/>
            <a:ext cx="79208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effectLst/>
              </a:rPr>
              <a:t>做上机实验可以参考“第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次上机实验报告及其参考案例”，有问题可以随时探讨。</a:t>
            </a:r>
            <a:endParaRPr lang="zh-CN" altLang="en-US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effectLst/>
              </a:rPr>
              <a:t>要求提交完整上机实验报告：一、实验目的；二、上机实验理论；三、上机实验内容；四、上机实验代码和结果 ；四部分缺一不可。</a:t>
            </a:r>
            <a:endParaRPr lang="zh-CN" altLang="en-US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effectLst/>
              </a:rPr>
              <a:t>将编写代码和结果用小四号字体粘贴复制到“四上机实验代码和结果”后面，要求代码和结果缺一不可，要求保存文件名为自己的姓名，方便统计成绩。</a:t>
            </a:r>
            <a:endParaRPr lang="zh-CN" altLang="en-US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effectLst/>
              </a:rPr>
              <a:t>完成的上机实验报告电子版文件可随时上传到</a:t>
            </a:r>
            <a:r>
              <a:rPr lang="en-US" altLang="zh-CN" dirty="0">
                <a:effectLst/>
              </a:rPr>
              <a:t>QQ“</a:t>
            </a:r>
            <a:r>
              <a:rPr lang="zh-CN" altLang="en-US" dirty="0">
                <a:effectLst/>
              </a:rPr>
              <a:t>第一次上机实验报告”作业中。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747739-D999-4DF2-B1C6-8395A99E8663}"/>
              </a:ext>
            </a:extLst>
          </p:cNvPr>
          <p:cNvSpPr txBox="1"/>
          <p:nvPr/>
        </p:nvSpPr>
        <p:spPr>
          <a:xfrm>
            <a:off x="755576" y="953889"/>
            <a:ext cx="4623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上机实验报告</a:t>
            </a:r>
            <a:r>
              <a:rPr lang="zh-CN" altLang="en-US" sz="1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558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C53CF-A584-4B67-B944-0D46DC50D54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2025/3/14</a:t>
            </a:fld>
            <a:endParaRPr lang="zh-CN" altLang="en-US" sz="18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8AFA89-A926-463F-9D62-0D5882BAE144}"/>
              </a:ext>
            </a:extLst>
          </p:cNvPr>
          <p:cNvSpPr txBox="1"/>
          <p:nvPr/>
        </p:nvSpPr>
        <p:spPr>
          <a:xfrm>
            <a:off x="797790" y="706044"/>
            <a:ext cx="78488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en-US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MWORKS </a:t>
            </a:r>
            <a:r>
              <a:rPr lang="en-US" altLang="zh-CN" sz="2800" b="1" kern="100" dirty="0" err="1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Syslab</a:t>
            </a:r>
            <a:r>
              <a:rPr lang="en-US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科学计算软件及其应用》</a:t>
            </a:r>
            <a:endParaRPr lang="zh-CN" altLang="zh-CN" sz="28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第</a:t>
            </a:r>
            <a:r>
              <a:rPr lang="zh-CN" altLang="en-US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一</a:t>
            </a:r>
            <a:r>
              <a:rPr lang="zh-CN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次上机实验报告</a:t>
            </a:r>
            <a:r>
              <a:rPr lang="en-US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­</a:t>
            </a:r>
            <a:endParaRPr lang="zh-CN" altLang="zh-CN" sz="28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E161AC-E5B0-4F3B-8E67-2E8897A855E2}"/>
              </a:ext>
            </a:extLst>
          </p:cNvPr>
          <p:cNvSpPr txBox="1"/>
          <p:nvPr/>
        </p:nvSpPr>
        <p:spPr>
          <a:xfrm>
            <a:off x="827584" y="1491630"/>
            <a:ext cx="8064896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一、实验目的：</a:t>
            </a:r>
            <a:r>
              <a:rPr lang="en-US" altLang="zh-CN" sz="2400" b="1" kern="1800" dirty="0">
                <a:solidFill>
                  <a:srgbClr val="002060"/>
                </a:solidFill>
                <a:effectLst/>
                <a:latin typeface="黑体" panose="02010609060101010101" pitchFamily="49" charset="-122"/>
                <a:ea typeface="等线" panose="02010600030101010101" pitchFamily="2" charset="-122"/>
                <a:cs typeface="宋体" panose="02010600030101010101" pitchFamily="2" charset="-122"/>
              </a:rPr>
              <a:t>Julia</a:t>
            </a:r>
            <a:r>
              <a:rPr lang="zh-CN" altLang="zh-CN" sz="2400" b="1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语言基础知识和编程练习</a:t>
            </a:r>
            <a:endParaRPr lang="zh-CN" altLang="zh-CN" sz="2400" kern="1800" dirty="0">
              <a:solidFill>
                <a:srgbClr val="00206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A3AC6B-F8AE-427F-ACF3-A772C0904BA3}"/>
              </a:ext>
            </a:extLst>
          </p:cNvPr>
          <p:cNvSpPr txBox="1"/>
          <p:nvPr/>
        </p:nvSpPr>
        <p:spPr>
          <a:xfrm>
            <a:off x="971600" y="2083670"/>
            <a:ext cx="7128792" cy="23537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algn="just">
              <a:lnSpc>
                <a:spcPct val="150000"/>
              </a:lnSpc>
              <a:buFont typeface="+mj-lt"/>
              <a:buAutoNum type="arabicPeriod"/>
              <a:defRPr sz="2400" b="0" kern="180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pPr marL="342900" lvl="0" indent="-342900" algn="just">
              <a:buFont typeface="+mj-lt"/>
              <a:buAutoNum type="arabicPeriod"/>
            </a:pPr>
            <a:r>
              <a:rPr lang="zh-CN" altLang="zh-CN" sz="2000" kern="1800" dirty="0">
                <a:solidFill>
                  <a:srgbClr val="121212"/>
                </a:solidFill>
                <a:effectLst/>
                <a:ea typeface="宋体" panose="02010600030101010101" pitchFamily="2" charset="-122"/>
              </a:rPr>
              <a:t>学会矩阵和向量</a:t>
            </a:r>
            <a:r>
              <a:rPr lang="zh-CN" altLang="en-US" sz="2000" dirty="0">
                <a:solidFill>
                  <a:srgbClr val="121212"/>
                </a:solidFill>
                <a:ea typeface="宋体" panose="02010600030101010101" pitchFamily="2" charset="-122"/>
              </a:rPr>
              <a:t>创建</a:t>
            </a:r>
            <a:endParaRPr lang="zh-CN" altLang="zh-CN" sz="20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/>
            <a:r>
              <a:rPr lang="zh-CN" altLang="zh-CN" sz="2000" dirty="0">
                <a:solidFill>
                  <a:srgbClr val="121212"/>
                </a:solidFill>
                <a:ea typeface="宋体" panose="02010600030101010101" pitchFamily="2" charset="-122"/>
              </a:rPr>
              <a:t>学会函数表达式的创建</a:t>
            </a:r>
            <a:endParaRPr lang="en-US" altLang="zh-CN" sz="2000" dirty="0">
              <a:solidFill>
                <a:srgbClr val="121212"/>
              </a:solidFill>
              <a:ea typeface="宋体" panose="02010600030101010101" pitchFamily="2" charset="-122"/>
            </a:endParaRPr>
          </a:p>
          <a:p>
            <a:pPr marL="342900" indent="-342900"/>
            <a:r>
              <a:rPr lang="zh-CN" altLang="zh-CN" sz="2000" dirty="0">
                <a:solidFill>
                  <a:srgbClr val="121212"/>
                </a:solidFill>
                <a:ea typeface="宋体" panose="02010600030101010101" pitchFamily="2" charset="-122"/>
              </a:rPr>
              <a:t>学会</a:t>
            </a:r>
            <a:r>
              <a:rPr lang="zh-CN" altLang="en-US" sz="2000" dirty="0">
                <a:solidFill>
                  <a:srgbClr val="121212"/>
                </a:solidFill>
                <a:ea typeface="宋体" panose="02010600030101010101" pitchFamily="2" charset="-122"/>
              </a:rPr>
              <a:t>向量点运算和</a:t>
            </a:r>
            <a:r>
              <a:rPr lang="zh-CN" altLang="zh-CN" sz="2000" dirty="0">
                <a:solidFill>
                  <a:srgbClr val="121212"/>
                </a:solidFill>
                <a:ea typeface="宋体" panose="02010600030101010101" pitchFamily="2" charset="-122"/>
              </a:rPr>
              <a:t>函数</a:t>
            </a:r>
            <a:r>
              <a:rPr lang="zh-CN" altLang="en-US" sz="2000" dirty="0">
                <a:solidFill>
                  <a:srgbClr val="121212"/>
                </a:solidFill>
                <a:ea typeface="宋体" panose="02010600030101010101" pitchFamily="2" charset="-122"/>
              </a:rPr>
              <a:t>点运算</a:t>
            </a:r>
            <a:endParaRPr lang="zh-CN" altLang="zh-CN" sz="2000" kern="10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2000" kern="1800" dirty="0">
                <a:solidFill>
                  <a:srgbClr val="121212"/>
                </a:solidFill>
                <a:effectLst/>
                <a:ea typeface="宋体" panose="02010600030101010101" pitchFamily="2" charset="-122"/>
              </a:rPr>
              <a:t>学会函数文件编写和调用</a:t>
            </a:r>
            <a:endParaRPr lang="en-US" altLang="zh-CN" sz="2000" kern="1800" dirty="0">
              <a:solidFill>
                <a:srgbClr val="121212"/>
              </a:solidFill>
              <a:effectLst/>
              <a:ea typeface="宋体" panose="02010600030101010101" pitchFamily="2" charset="-122"/>
            </a:endParaRPr>
          </a:p>
          <a:p>
            <a:pPr marL="342900" lvl="0" indent="-342900"/>
            <a:r>
              <a:rPr lang="zh-CN" altLang="en-US" sz="2000" dirty="0">
                <a:solidFill>
                  <a:srgbClr val="12121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学会应用条件语句和循环语句</a:t>
            </a:r>
            <a:endParaRPr lang="zh-CN" altLang="zh-CN" sz="20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97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4DD80D1-E1C1-45C1-8FF6-CC4B0FA1F803}"/>
              </a:ext>
            </a:extLst>
          </p:cNvPr>
          <p:cNvSpPr txBox="1"/>
          <p:nvPr/>
        </p:nvSpPr>
        <p:spPr>
          <a:xfrm>
            <a:off x="1115615" y="4945"/>
            <a:ext cx="7848873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二、上机实验理论</a:t>
            </a:r>
            <a:r>
              <a:rPr lang="zh-CN" altLang="en-US" sz="24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和示例</a:t>
            </a:r>
            <a:r>
              <a:rPr lang="en-US" altLang="zh-CN" sz="24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——</a:t>
            </a:r>
            <a:r>
              <a:rPr lang="en-US" altLang="zh-CN" sz="2400" kern="1800" dirty="0">
                <a:solidFill>
                  <a:srgbClr val="CC6600"/>
                </a:solidFill>
                <a:effectLst/>
                <a:latin typeface="微软雅黑" panose="020B0503020204020204" pitchFamily="34" charset="-122"/>
                <a:ea typeface="等线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2400" kern="1800" dirty="0">
                <a:solidFill>
                  <a:srgbClr val="CC66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、列向量和矩阵的</a:t>
            </a:r>
            <a:r>
              <a:rPr lang="zh-CN" altLang="zh-CN" sz="2400" kern="1800" dirty="0">
                <a:solidFill>
                  <a:srgbClr val="CC66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创建</a:t>
            </a:r>
            <a:endParaRPr lang="zh-CN" altLang="zh-CN" sz="2400" kern="100" dirty="0">
              <a:solidFill>
                <a:srgbClr val="CC66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C7ED64-8E61-43A9-B9B8-6AFBBA6E2417}"/>
              </a:ext>
            </a:extLst>
          </p:cNvPr>
          <p:cNvSpPr txBox="1"/>
          <p:nvPr/>
        </p:nvSpPr>
        <p:spPr>
          <a:xfrm>
            <a:off x="151317" y="725615"/>
            <a:ext cx="81936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 kern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b="0" dirty="0"/>
              <a:t>(1)  </a:t>
            </a:r>
            <a:r>
              <a:rPr lang="zh-CN" altLang="zh-CN" sz="1800" b="0" dirty="0"/>
              <a:t>用方括号</a:t>
            </a:r>
            <a:r>
              <a:rPr lang="en-US" altLang="zh-CN" sz="1800" b="0" dirty="0"/>
              <a:t>[]</a:t>
            </a:r>
            <a:r>
              <a:rPr lang="zh-CN" altLang="zh-CN" sz="1800" b="0" dirty="0"/>
              <a:t>创建列向量，向量之间元素用</a:t>
            </a:r>
            <a:r>
              <a:rPr lang="zh-CN" altLang="zh-CN" sz="1800" b="0" dirty="0">
                <a:solidFill>
                  <a:srgbClr val="FF0000"/>
                </a:solidFill>
              </a:rPr>
              <a:t>分号</a:t>
            </a:r>
            <a:r>
              <a:rPr lang="zh-CN" altLang="zh-CN" sz="1800" b="0" dirty="0"/>
              <a:t>分割</a:t>
            </a:r>
            <a:endParaRPr lang="en-US" altLang="zh-CN" sz="1800" b="0" dirty="0"/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809C6CBD-1293-4263-856D-B4ED633EA3FF}"/>
              </a:ext>
            </a:extLst>
          </p:cNvPr>
          <p:cNvSpPr txBox="1"/>
          <p:nvPr/>
        </p:nvSpPr>
        <p:spPr bwMode="auto">
          <a:xfrm>
            <a:off x="796932" y="1687848"/>
            <a:ext cx="1902860" cy="33723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defPPr>
              <a:defRPr lang="zh-CN"/>
            </a:defPPr>
            <a:lvl1pPr algn="dist" eaLnBrk="0" hangingPunct="0">
              <a:defRPr b="1">
                <a:solidFill>
                  <a:srgbClr val="FFFFFF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A=[a1,a2,…an] </a:t>
            </a:r>
            <a:endParaRPr lang="zh-CN" altLang="en-US" sz="1600" dirty="0">
              <a:solidFill>
                <a:schemeClr val="bg1"/>
              </a:solidFill>
              <a:highlight>
                <a:srgbClr val="3399FF"/>
              </a:highlight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A8C1F2-7920-48B4-A4DE-A76D6EE5205A}"/>
              </a:ext>
            </a:extLst>
          </p:cNvPr>
          <p:cNvSpPr txBox="1"/>
          <p:nvPr/>
        </p:nvSpPr>
        <p:spPr>
          <a:xfrm>
            <a:off x="325372" y="1632512"/>
            <a:ext cx="496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或</a:t>
            </a:r>
            <a:endParaRPr lang="zh-CN" altLang="en-US" dirty="0"/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88F5F23C-80E9-4357-94AD-59E8A85DC79D}"/>
              </a:ext>
            </a:extLst>
          </p:cNvPr>
          <p:cNvSpPr txBox="1"/>
          <p:nvPr/>
        </p:nvSpPr>
        <p:spPr bwMode="auto">
          <a:xfrm>
            <a:off x="796932" y="1222778"/>
            <a:ext cx="1902860" cy="33723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defPPr>
              <a:defRPr lang="zh-CN"/>
            </a:defPPr>
            <a:lvl1pPr algn="dist" eaLnBrk="0" hangingPunct="0">
              <a:defRPr b="1">
                <a:solidFill>
                  <a:srgbClr val="FFFFFF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>
                <a:solidFill>
                  <a:srgbClr val="FFFFFF"/>
                </a:solidFill>
                <a:effectLst/>
                <a:highlight>
                  <a:srgbClr val="3399FF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A=[a1;a2;…an] </a:t>
            </a:r>
            <a:endParaRPr lang="zh-CN" altLang="en-US" sz="1600" dirty="0">
              <a:solidFill>
                <a:schemeClr val="bg1"/>
              </a:solidFill>
              <a:highlight>
                <a:srgbClr val="3399FF"/>
              </a:highlight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02D7357-AB08-4A48-9C2A-05AAC4D52E40}"/>
              </a:ext>
            </a:extLst>
          </p:cNvPr>
          <p:cNvSpPr/>
          <p:nvPr/>
        </p:nvSpPr>
        <p:spPr bwMode="auto">
          <a:xfrm>
            <a:off x="3307166" y="1223819"/>
            <a:ext cx="2880320" cy="1080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0000CC">
                <a:alpha val="100000"/>
              </a:srgbClr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noAutofit/>
          </a:bodyPr>
          <a:lstStyle/>
          <a:p>
            <a:pPr indent="114300"/>
            <a:r>
              <a:rPr lang="en-US" sz="1600" kern="1200" dirty="0" err="1">
                <a:solidFill>
                  <a:srgbClr val="006600"/>
                </a:solidFill>
                <a:effectLst/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julia</a:t>
            </a:r>
            <a:r>
              <a:rPr lang="en-US" sz="1600" kern="1200" dirty="0">
                <a:solidFill>
                  <a:srgbClr val="006600"/>
                </a:solidFill>
                <a:effectLst/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 </a:t>
            </a:r>
            <a:r>
              <a:rPr lang="en-US" altLang="zh-CN" sz="1600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a=[1;2]  </a:t>
            </a:r>
            <a:r>
              <a:rPr lang="en-US" sz="1600" kern="1200" dirty="0">
                <a:solidFill>
                  <a:srgbClr val="006600"/>
                </a:solidFill>
                <a:effectLst/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#</a:t>
            </a:r>
            <a:r>
              <a:rPr lang="zh-CN" altLang="en-US" sz="1600" kern="1200" dirty="0">
                <a:solidFill>
                  <a:srgbClr val="006600"/>
                </a:solidFill>
                <a:effectLst/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1600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a=[1,2]</a:t>
            </a:r>
          </a:p>
          <a:p>
            <a:pPr indent="114300"/>
            <a:r>
              <a:rPr lang="zh-CN" altLang="en-US" sz="1600" kern="12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结果</a:t>
            </a:r>
            <a:r>
              <a:rPr lang="en-US" sz="1600" kern="12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2-element Vector{Int64}:</a:t>
            </a:r>
            <a:endParaRPr lang="zh-CN" sz="16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114935" algn="l" fontAlgn="base"/>
            <a:r>
              <a:rPr lang="en-US" sz="1600" b="1" kern="1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1</a:t>
            </a:r>
            <a:endParaRPr 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114935" algn="l" fontAlgn="base"/>
            <a:r>
              <a:rPr lang="en-US" sz="1600" b="1" kern="1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2</a:t>
            </a:r>
            <a:endParaRPr 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09202A02-EF05-4E64-AADC-1EBD97CEE560}"/>
              </a:ext>
            </a:extLst>
          </p:cNvPr>
          <p:cNvSpPr/>
          <p:nvPr/>
        </p:nvSpPr>
        <p:spPr bwMode="auto">
          <a:xfrm>
            <a:off x="3245362" y="2776966"/>
            <a:ext cx="2559970" cy="110678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0000CC">
                <a:alpha val="100000"/>
              </a:srgbClr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noAutofit/>
          </a:bodyPr>
          <a:lstStyle/>
          <a:p>
            <a:pPr indent="114300"/>
            <a:r>
              <a:rPr lang="en-US" dirty="0" err="1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julia</a:t>
            </a:r>
            <a:r>
              <a:rPr lang="en-US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 </a:t>
            </a:r>
            <a:r>
              <a:rPr lang="en-US" altLang="zh-CN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=[1 2; 3 4]</a:t>
            </a:r>
            <a:endParaRPr lang="zh-CN" altLang="en-US" dirty="0">
              <a:solidFill>
                <a:srgbClr val="006600"/>
              </a:solidFill>
              <a:latin typeface="华文楷体" panose="0201060004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114300"/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结果</a:t>
            </a:r>
            <a:r>
              <a:rPr lang="en-US" dirty="0">
                <a:solidFill>
                  <a:srgbClr val="FF00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2×2 Matrix{Int64}:</a:t>
            </a:r>
            <a:endParaRPr lang="zh-CN" altLang="en-US" dirty="0">
              <a:solidFill>
                <a:srgbClr val="FF0000"/>
              </a:solidFill>
              <a:latin typeface="华文楷体" panose="0201060004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114935"/>
            <a:r>
              <a:rPr lang="en-US" sz="1600" b="1" kern="1800" dirty="0">
                <a:solidFill>
                  <a:srgbClr val="FF0000"/>
                </a:solidFill>
                <a:latin typeface="宋体" panose="02010600030101010101" pitchFamily="2" charset="-122"/>
                <a:ea typeface="等线" panose="02010600030101010101" pitchFamily="2" charset="-122"/>
              </a:rPr>
              <a:t> 1  2</a:t>
            </a:r>
            <a:endParaRPr lang="zh-CN" altLang="en-US" sz="1600" b="1" kern="1800" dirty="0">
              <a:solidFill>
                <a:srgbClr val="FF0000"/>
              </a:solidFill>
              <a:latin typeface="宋体" panose="02010600030101010101" pitchFamily="2" charset="-122"/>
              <a:ea typeface="等线" panose="02010600030101010101" pitchFamily="2" charset="-122"/>
            </a:endParaRPr>
          </a:p>
          <a:p>
            <a:pPr indent="114935"/>
            <a:r>
              <a:rPr lang="en-US" sz="1600" b="1" kern="1800" dirty="0">
                <a:solidFill>
                  <a:srgbClr val="FF0000"/>
                </a:solidFill>
                <a:latin typeface="宋体" panose="02010600030101010101" pitchFamily="2" charset="-122"/>
                <a:ea typeface="等线" panose="02010600030101010101" pitchFamily="2" charset="-122"/>
              </a:rPr>
              <a:t> 3  4</a:t>
            </a:r>
            <a:endParaRPr lang="zh-CN" altLang="en-US" sz="1600" b="1" kern="1800" dirty="0">
              <a:solidFill>
                <a:srgbClr val="FF0000"/>
              </a:solidFill>
              <a:latin typeface="宋体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A75E7D2F-BBB1-456C-8FB7-7CBBBC8D2780}"/>
              </a:ext>
            </a:extLst>
          </p:cNvPr>
          <p:cNvSpPr txBox="1"/>
          <p:nvPr/>
        </p:nvSpPr>
        <p:spPr bwMode="auto">
          <a:xfrm>
            <a:off x="535336" y="3109081"/>
            <a:ext cx="2288983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defPPr>
              <a:defRPr lang="zh-CN"/>
            </a:defPPr>
            <a:lvl1pPr algn="dist" eaLnBrk="0" hangingPunct="0">
              <a:defRPr sz="1800" b="1">
                <a:solidFill>
                  <a:srgbClr val="FFFFFF"/>
                </a:solidFill>
                <a:effectLst/>
                <a:highlight>
                  <a:srgbClr val="3399FF"/>
                </a:highlight>
                <a:latin typeface="等线" panose="02010600030101010101" pitchFamily="2" charset="-122"/>
                <a:ea typeface="source-code-pro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A=[a1 a2; a3 a4 ]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469FCF2-0C75-43E9-948F-D329730B94E6}"/>
              </a:ext>
            </a:extLst>
          </p:cNvPr>
          <p:cNvSpPr txBox="1"/>
          <p:nvPr/>
        </p:nvSpPr>
        <p:spPr>
          <a:xfrm>
            <a:off x="107504" y="2379279"/>
            <a:ext cx="8766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 kern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b="0" dirty="0"/>
              <a:t>(2) </a:t>
            </a:r>
            <a:r>
              <a:rPr lang="zh-CN" altLang="zh-CN" sz="1800" b="0" dirty="0"/>
              <a:t>用方括号</a:t>
            </a:r>
            <a:r>
              <a:rPr lang="en-US" altLang="zh-CN" sz="1800" b="0" dirty="0"/>
              <a:t>[]</a:t>
            </a:r>
            <a:r>
              <a:rPr lang="zh-CN" altLang="zh-CN" sz="1800" b="0" dirty="0"/>
              <a:t>创建矩阵，矩阵同行元素用空格分割</a:t>
            </a:r>
            <a:r>
              <a:rPr lang="zh-CN" altLang="en-US" sz="1800" b="0" dirty="0"/>
              <a:t>而</a:t>
            </a:r>
            <a:r>
              <a:rPr lang="zh-CN" altLang="en-US" sz="1800" b="0" dirty="0">
                <a:solidFill>
                  <a:srgbClr val="FF0000"/>
                </a:solidFill>
              </a:rPr>
              <a:t>不用逗号</a:t>
            </a:r>
            <a:r>
              <a:rPr lang="zh-CN" altLang="en-US" sz="1800" b="0" dirty="0"/>
              <a:t>，</a:t>
            </a:r>
            <a:endParaRPr lang="en-US" altLang="zh-CN" sz="1800" b="0" dirty="0"/>
          </a:p>
          <a:p>
            <a:r>
              <a:rPr lang="en-US" altLang="zh-CN" sz="1800" b="0" dirty="0"/>
              <a:t>     </a:t>
            </a:r>
            <a:r>
              <a:rPr lang="zh-CN" altLang="zh-CN" sz="1800" b="0" dirty="0"/>
              <a:t>行与行之间用分号分割</a:t>
            </a:r>
            <a:endParaRPr lang="zh-CN" altLang="en-US" sz="1800" b="0" dirty="0"/>
          </a:p>
        </p:txBody>
      </p:sp>
      <p:sp>
        <p:nvSpPr>
          <p:cNvPr id="23" name="AutoShape 13">
            <a:extLst>
              <a:ext uri="{FF2B5EF4-FFF2-40B4-BE49-F238E27FC236}">
                <a16:creationId xmlns:a16="http://schemas.microsoft.com/office/drawing/2014/main" id="{856324BA-E1EC-41E9-8728-B26DD48F9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8564" y="534972"/>
            <a:ext cx="2791793" cy="1567428"/>
          </a:xfrm>
          <a:prstGeom prst="irregularSeal2">
            <a:avLst/>
          </a:prstGeom>
          <a:noFill/>
          <a:ln w="57150">
            <a:noFill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marL="342900" indent="-342900" algn="dist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线性方程组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A*x=b</a:t>
            </a:r>
          </a:p>
          <a:p>
            <a:pPr marL="342900" indent="-342900" algn="dist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系数矩阵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marL="342900" indent="-342900" algn="dist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常数列向量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  <a:p>
            <a:pPr marL="342900" indent="-342900" algn="dist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增广矩阵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 b]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C0D1CF-3C98-4293-A262-4C9F29F8B7AA}"/>
              </a:ext>
            </a:extLst>
          </p:cNvPr>
          <p:cNvSpPr txBox="1"/>
          <p:nvPr/>
        </p:nvSpPr>
        <p:spPr>
          <a:xfrm>
            <a:off x="107504" y="4043848"/>
            <a:ext cx="518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0" kern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(3) </a:t>
            </a:r>
            <a:r>
              <a:rPr lang="zh-CN" altLang="en-US" dirty="0"/>
              <a:t>用空格将行数相同两个数组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进行横向拼接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7B85F51-3720-4245-92D9-51E05A206ED7}"/>
              </a:ext>
            </a:extLst>
          </p:cNvPr>
          <p:cNvSpPr/>
          <p:nvPr/>
        </p:nvSpPr>
        <p:spPr>
          <a:xfrm>
            <a:off x="5292080" y="4036485"/>
            <a:ext cx="698119" cy="4001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chemeClr val="bg1"/>
                </a:solidFill>
              </a:rPr>
              <a:t>[a b]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2411421F-ADB3-4DCC-A355-6559A8E0ED1C}"/>
              </a:ext>
            </a:extLst>
          </p:cNvPr>
          <p:cNvSpPr/>
          <p:nvPr/>
        </p:nvSpPr>
        <p:spPr bwMode="auto">
          <a:xfrm>
            <a:off x="6226376" y="3479550"/>
            <a:ext cx="2559970" cy="110678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0000CC">
                <a:alpha val="100000"/>
              </a:srgbClr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noAutofit/>
          </a:bodyPr>
          <a:lstStyle/>
          <a:p>
            <a:pPr indent="114300"/>
            <a:r>
              <a:rPr lang="en-US" dirty="0" err="1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julia</a:t>
            </a:r>
            <a:r>
              <a:rPr lang="en-US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 </a:t>
            </a:r>
            <a:r>
              <a:rPr lang="en-US" altLang="zh-CN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ab=[</a:t>
            </a:r>
            <a:r>
              <a:rPr lang="en-US" altLang="zh-CN" dirty="0" err="1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rgbClr val="006600"/>
              </a:solidFill>
              <a:latin typeface="华文楷体" panose="0201060004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114300"/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结果</a:t>
            </a:r>
            <a:r>
              <a:rPr lang="en-US" dirty="0">
                <a:solidFill>
                  <a:srgbClr val="FF00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2×3 Matrix{Int64}:</a:t>
            </a:r>
            <a:endParaRPr lang="zh-CN" altLang="en-US" dirty="0">
              <a:solidFill>
                <a:srgbClr val="FF0000"/>
              </a:solidFill>
              <a:latin typeface="华文楷体" panose="0201060004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114935"/>
            <a:r>
              <a:rPr lang="en-US" sz="1600" b="1" kern="1800" dirty="0">
                <a:solidFill>
                  <a:srgbClr val="FF0000"/>
                </a:solidFill>
                <a:latin typeface="宋体" panose="02010600030101010101" pitchFamily="2" charset="-122"/>
                <a:ea typeface="等线" panose="02010600030101010101" pitchFamily="2" charset="-122"/>
              </a:rPr>
              <a:t> 1  1  2</a:t>
            </a:r>
            <a:endParaRPr lang="zh-CN" altLang="en-US" sz="1600" b="1" kern="1800" dirty="0">
              <a:solidFill>
                <a:srgbClr val="FF0000"/>
              </a:solidFill>
              <a:latin typeface="宋体" panose="02010600030101010101" pitchFamily="2" charset="-122"/>
              <a:ea typeface="等线" panose="02010600030101010101" pitchFamily="2" charset="-122"/>
            </a:endParaRPr>
          </a:p>
          <a:p>
            <a:pPr indent="114935"/>
            <a:r>
              <a:rPr lang="en-US" sz="1600" b="1" kern="1800" dirty="0">
                <a:solidFill>
                  <a:srgbClr val="FF0000"/>
                </a:solidFill>
                <a:latin typeface="宋体" panose="02010600030101010101" pitchFamily="2" charset="-122"/>
                <a:ea typeface="等线" panose="02010600030101010101" pitchFamily="2" charset="-122"/>
              </a:rPr>
              <a:t> 2  3  4</a:t>
            </a:r>
            <a:endParaRPr lang="zh-CN" altLang="en-US" sz="1600" b="1" kern="1800" dirty="0">
              <a:solidFill>
                <a:srgbClr val="FF0000"/>
              </a:solidFill>
              <a:latin typeface="宋体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2" name="AutoShape 13">
            <a:extLst>
              <a:ext uri="{FF2B5EF4-FFF2-40B4-BE49-F238E27FC236}">
                <a16:creationId xmlns:a16="http://schemas.microsoft.com/office/drawing/2014/main" id="{5B41539F-1A8C-4589-855B-11721BC0E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8288" y="2091294"/>
            <a:ext cx="1008112" cy="575969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708835B-0DC3-42BE-B9A3-A423CA2C4F63}"/>
              </a:ext>
            </a:extLst>
          </p:cNvPr>
          <p:cNvSpPr txBox="1"/>
          <p:nvPr/>
        </p:nvSpPr>
        <p:spPr>
          <a:xfrm>
            <a:off x="6516216" y="2571750"/>
            <a:ext cx="2778781" cy="84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</a:t>
            </a:r>
            <a:r>
              <a:rPr lang="en-US" altLang="zh-CN" sz="14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4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代码共享，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建议建立列向量都用分号；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建议矩阵同行元素用空格</a:t>
            </a:r>
          </a:p>
        </p:txBody>
      </p:sp>
    </p:spTree>
    <p:extLst>
      <p:ext uri="{BB962C8B-B14F-4D97-AF65-F5344CB8AC3E}">
        <p14:creationId xmlns:p14="http://schemas.microsoft.com/office/powerpoint/2010/main" val="4023957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807FB76-B534-4D1F-B9CF-D969F95AC0F4}"/>
              </a:ext>
            </a:extLst>
          </p:cNvPr>
          <p:cNvSpPr txBox="1"/>
          <p:nvPr/>
        </p:nvSpPr>
        <p:spPr>
          <a:xfrm>
            <a:off x="1547663" y="-35211"/>
            <a:ext cx="6480721" cy="58381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二、上机实验理论</a:t>
            </a:r>
            <a:r>
              <a:rPr lang="zh-CN" altLang="en-US" sz="24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和案例</a:t>
            </a:r>
            <a:r>
              <a:rPr lang="en-US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——2</a:t>
            </a:r>
            <a:r>
              <a:rPr lang="zh-CN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、数组索引</a:t>
            </a:r>
            <a:r>
              <a:rPr lang="en-US" altLang="zh-CN" sz="2400" b="1" kern="1800" dirty="0">
                <a:solidFill>
                  <a:srgbClr val="FF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[ ]</a:t>
            </a:r>
            <a:endParaRPr lang="zh-CN" altLang="zh-CN" sz="2400" b="1" kern="1800" dirty="0">
              <a:solidFill>
                <a:srgbClr val="FF0000"/>
              </a:solidFill>
              <a:latin typeface="微软雅黑" panose="020B0503020204020204" pitchFamily="34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772206-C0F7-4120-9417-2825AC3C7148}"/>
              </a:ext>
            </a:extLst>
          </p:cNvPr>
          <p:cNvSpPr txBox="1"/>
          <p:nvPr/>
        </p:nvSpPr>
        <p:spPr>
          <a:xfrm>
            <a:off x="107504" y="1065569"/>
            <a:ext cx="8799441" cy="3533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en-US" altLang="zh-CN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位置索引</a:t>
            </a:r>
            <a:r>
              <a:rPr lang="en-US" altLang="zh-CN" kern="18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kern="1800" dirty="0" err="1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kern="18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：在矩阵第</a:t>
            </a:r>
            <a:r>
              <a:rPr lang="en-US" altLang="zh-CN" kern="18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行第</a:t>
            </a:r>
            <a:r>
              <a:rPr lang="en-US" altLang="zh-CN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列的元素位置</a:t>
            </a:r>
          </a:p>
          <a:p>
            <a:pPr>
              <a:lnSpc>
                <a:spcPts val="3400"/>
              </a:lnSpc>
            </a:pP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访问矩阵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行第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列元素</a:t>
            </a:r>
            <a:r>
              <a:rPr lang="en-US" altLang="zh-CN" dirty="0" err="1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aij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=A[</a:t>
            </a:r>
            <a:r>
              <a:rPr lang="en-US" altLang="zh-CN" dirty="0" err="1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3400"/>
              </a:lnSpc>
            </a:pPr>
            <a:r>
              <a:rPr lang="en-US" altLang="zh-CN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线性索引</a:t>
            </a:r>
            <a:r>
              <a:rPr lang="en-US" altLang="zh-CN" kern="18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[k]</a:t>
            </a:r>
            <a:r>
              <a:rPr lang="zh-CN" altLang="en-US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：在数组第</a:t>
            </a:r>
            <a:r>
              <a:rPr lang="en-US" altLang="zh-CN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个元素位置</a:t>
            </a:r>
          </a:p>
          <a:p>
            <a:pPr>
              <a:lnSpc>
                <a:spcPts val="3400"/>
              </a:lnSpc>
            </a:pP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访问矩阵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</a:t>
            </a:r>
            <a:r>
              <a:rPr lang="en-US" altLang="zh-CN" dirty="0" err="1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ak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=A[k]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3400"/>
              </a:lnSpc>
            </a:pPr>
            <a:r>
              <a:rPr lang="en-US" altLang="zh-CN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逻辑索引</a:t>
            </a:r>
            <a:r>
              <a:rPr lang="en-US" altLang="zh-CN" kern="18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kern="18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逻辑关系式</a:t>
            </a:r>
            <a:r>
              <a:rPr lang="en-US" altLang="zh-CN" kern="18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：元素满足逻辑关系式的位置    </a:t>
            </a:r>
            <a:endParaRPr lang="en-US" altLang="zh-CN" kern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00"/>
              </a:lnSpc>
            </a:pPr>
            <a:r>
              <a:rPr lang="zh-CN" altLang="en-US" dirty="0"/>
              <a:t>      如比较每个元素，逻辑运算符用点运算符</a:t>
            </a:r>
          </a:p>
          <a:p>
            <a:pPr>
              <a:lnSpc>
                <a:spcPts val="3400"/>
              </a:lnSpc>
            </a:pP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访问满足逻辑关系式的元素 </a:t>
            </a:r>
            <a:r>
              <a:rPr lang="en-US" altLang="zh-CN" dirty="0" err="1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aind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=A[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逻辑关系式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3400"/>
              </a:lnSpc>
            </a:pPr>
            <a:r>
              <a:rPr lang="en-US" altLang="zh-CN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kern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用冒号索引：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抽取</a:t>
            </a:r>
            <a:r>
              <a:rPr lang="zh-CN" altLang="en-US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j</a:t>
            </a:r>
            <a:r>
              <a:rPr lang="zh-CN" altLang="en-US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列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全部元素</a:t>
            </a:r>
            <a:r>
              <a:rPr lang="zh-CN" altLang="en-US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en-US" altLang="zh-CN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zh-CN" altLang="en-US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dirty="0" err="1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aj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=A[:,j]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D0A0C1-CEB5-47E4-81DF-0C03CDB741F6}"/>
              </a:ext>
            </a:extLst>
          </p:cNvPr>
          <p:cNvSpPr txBox="1"/>
          <p:nvPr/>
        </p:nvSpPr>
        <p:spPr>
          <a:xfrm>
            <a:off x="130128" y="699436"/>
            <a:ext cx="629305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zh-CN" sz="2000" kern="1800" dirty="0">
                <a:solidFill>
                  <a:srgbClr val="002060"/>
                </a:solidFill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数组索引：用方括号</a:t>
            </a:r>
            <a:r>
              <a:rPr lang="en-US" altLang="zh-CN" sz="2000" kern="1800" dirty="0">
                <a:solidFill>
                  <a:srgbClr val="002060"/>
                </a:solidFill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[]</a:t>
            </a:r>
            <a:r>
              <a:rPr lang="zh-CN" altLang="zh-CN" sz="2000" kern="1800" dirty="0">
                <a:solidFill>
                  <a:srgbClr val="002060"/>
                </a:solidFill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确定元素在数组的位置</a:t>
            </a:r>
            <a:r>
              <a:rPr lang="en-US" altLang="zh-CN" sz="2000" kern="1800" dirty="0">
                <a:solidFill>
                  <a:srgbClr val="002060"/>
                </a:solidFill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lang="zh-CN" altLang="en-US" sz="2000" kern="1800" dirty="0">
                <a:solidFill>
                  <a:srgbClr val="002060"/>
                </a:solidFill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三种索引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22DA80-129F-4B5C-8D0B-3A071282D82B}"/>
                  </a:ext>
                </a:extLst>
              </p:cNvPr>
              <p:cNvSpPr txBox="1"/>
              <p:nvPr/>
            </p:nvSpPr>
            <p:spPr>
              <a:xfrm>
                <a:off x="6296571" y="746580"/>
                <a:ext cx="2739925" cy="1029897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90000"/>
                  </a:lnSpc>
                  <a:defRPr sz="1600" kern="0">
                    <a:solidFill>
                      <a:schemeClr val="bg1"/>
                    </a:solidFill>
                    <a:highlight>
                      <a:srgbClr val="FF9900"/>
                    </a:highlight>
                    <a:latin typeface="华文楷体" panose="02010600040101010101" pitchFamily="2" charset="-122"/>
                    <a:ea typeface="华文楷体" panose="02010600040101010101" pitchFamily="2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highlight>
                      <a:srgbClr val="000080"/>
                    </a:highlight>
                  </a:rPr>
                  <a:t>          访问矩阵 </a:t>
                </a:r>
                <a:r>
                  <a:rPr lang="en-US" altLang="zh-CN" sz="1400" dirty="0">
                    <a:highlight>
                      <a:srgbClr val="000080"/>
                    </a:highlight>
                  </a:rPr>
                  <a:t>                     </a:t>
                </a:r>
                <a:r>
                  <a:rPr lang="zh-CN" altLang="en-US" sz="1400" dirty="0">
                    <a:highlight>
                      <a:srgbClr val="000080"/>
                    </a:highlight>
                  </a:rPr>
                  <a:t>元素</a:t>
                </a:r>
                <a:endParaRPr lang="en-US" altLang="zh-CN" sz="1400" dirty="0">
                  <a:highlight>
                    <a:srgbClr val="000080"/>
                  </a:highlight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highlight>
                      <a:srgbClr val="000080"/>
                    </a:highlight>
                  </a:rPr>
                  <a:t>(1)</a:t>
                </a:r>
                <a:r>
                  <a:rPr lang="zh-CN" altLang="en-US" sz="1400" dirty="0">
                    <a:highlight>
                      <a:srgbClr val="000080"/>
                    </a:highlight>
                  </a:rPr>
                  <a:t>第</a:t>
                </a:r>
                <a:r>
                  <a:rPr lang="en-US" altLang="zh-CN" sz="1400" dirty="0">
                    <a:highlight>
                      <a:srgbClr val="000080"/>
                    </a:highlight>
                  </a:rPr>
                  <a:t>2</a:t>
                </a:r>
                <a:r>
                  <a:rPr lang="zh-CN" altLang="en-US" sz="1400" dirty="0">
                    <a:highlight>
                      <a:srgbClr val="000080"/>
                    </a:highlight>
                  </a:rPr>
                  <a:t>行第</a:t>
                </a:r>
                <a:r>
                  <a:rPr lang="en-US" altLang="zh-CN" sz="1400" dirty="0">
                    <a:highlight>
                      <a:srgbClr val="000080"/>
                    </a:highlight>
                  </a:rPr>
                  <a:t>1</a:t>
                </a:r>
                <a:r>
                  <a:rPr lang="zh-CN" altLang="en-US" sz="1400" dirty="0">
                    <a:highlight>
                      <a:srgbClr val="000080"/>
                    </a:highlight>
                  </a:rPr>
                  <a:t>列</a:t>
                </a:r>
                <a:r>
                  <a:rPr lang="en-US" altLang="zh-CN" sz="1400" dirty="0">
                    <a:highlight>
                      <a:srgbClr val="000080"/>
                    </a:highlight>
                  </a:rPr>
                  <a:t>;(2)</a:t>
                </a:r>
                <a:r>
                  <a:rPr lang="zh-CN" altLang="en-US" sz="1400" dirty="0">
                    <a:highlight>
                      <a:srgbClr val="000080"/>
                    </a:highlight>
                  </a:rPr>
                  <a:t>第</a:t>
                </a:r>
                <a:r>
                  <a:rPr lang="en-US" altLang="zh-CN" sz="1400" dirty="0">
                    <a:highlight>
                      <a:srgbClr val="000080"/>
                    </a:highlight>
                  </a:rPr>
                  <a:t>3</a:t>
                </a:r>
                <a:r>
                  <a:rPr lang="zh-CN" altLang="en-US" sz="1400" dirty="0">
                    <a:highlight>
                      <a:srgbClr val="000080"/>
                    </a:highlight>
                  </a:rPr>
                  <a:t>个位置</a:t>
                </a:r>
                <a:r>
                  <a:rPr lang="en-US" altLang="zh-CN" sz="1400" dirty="0">
                    <a:highlight>
                      <a:srgbClr val="000080"/>
                    </a:highlight>
                  </a:rPr>
                  <a:t>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highlight>
                      <a:srgbClr val="000080"/>
                    </a:highlight>
                  </a:rPr>
                  <a:t>(3)A 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highlight>
                          <a:srgbClr val="00008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altLang="zh-CN" sz="1400" b="0" i="1" smtClean="0">
                        <a:highlight>
                          <a:srgbClr val="00008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1400" dirty="0">
                    <a:highlight>
                      <a:srgbClr val="000080"/>
                    </a:highlight>
                  </a:rPr>
                  <a:t> </a:t>
                </a:r>
                <a:r>
                  <a:rPr lang="zh-CN" altLang="en-US" sz="1400" dirty="0">
                    <a:highlight>
                      <a:srgbClr val="000080"/>
                    </a:highlight>
                  </a:rPr>
                  <a:t>；</a:t>
                </a:r>
                <a:r>
                  <a:rPr lang="en-US" altLang="zh-CN" sz="1400" dirty="0">
                    <a:highlight>
                      <a:srgbClr val="000080"/>
                    </a:highlight>
                  </a:rPr>
                  <a:t>(4)</a:t>
                </a:r>
                <a:r>
                  <a:rPr lang="zh-CN" altLang="en-US" sz="1400" dirty="0">
                    <a:highlight>
                      <a:srgbClr val="000080"/>
                    </a:highlight>
                  </a:rPr>
                  <a:t>抽取第</a:t>
                </a:r>
                <a:r>
                  <a:rPr lang="en-US" altLang="zh-CN" sz="1400" dirty="0">
                    <a:highlight>
                      <a:srgbClr val="000080"/>
                    </a:highlight>
                  </a:rPr>
                  <a:t>2</a:t>
                </a:r>
                <a:r>
                  <a:rPr lang="zh-CN" altLang="en-US" sz="1400" dirty="0">
                    <a:highlight>
                      <a:srgbClr val="000080"/>
                    </a:highlight>
                  </a:rPr>
                  <a:t>列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22DA80-129F-4B5C-8D0B-3A071282D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571" y="746580"/>
                <a:ext cx="2739925" cy="1029897"/>
              </a:xfrm>
              <a:prstGeom prst="rect">
                <a:avLst/>
              </a:prstGeom>
              <a:blipFill>
                <a:blip r:embed="rId2"/>
                <a:stretch>
                  <a:fillRect l="-668" b="-53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波形 9">
            <a:extLst>
              <a:ext uri="{FF2B5EF4-FFF2-40B4-BE49-F238E27FC236}">
                <a16:creationId xmlns:a16="http://schemas.microsoft.com/office/drawing/2014/main" id="{18D92B62-F6AC-4CF6-A5C8-5187C16C611A}"/>
              </a:ext>
            </a:extLst>
          </p:cNvPr>
          <p:cNvSpPr/>
          <p:nvPr/>
        </p:nvSpPr>
        <p:spPr>
          <a:xfrm>
            <a:off x="6381274" y="838898"/>
            <a:ext cx="269625" cy="25037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493E728-3F4B-4AF8-8509-EA5CB86E84C9}"/>
                  </a:ext>
                </a:extLst>
              </p:cNvPr>
              <p:cNvSpPr txBox="1"/>
              <p:nvPr/>
            </p:nvSpPr>
            <p:spPr>
              <a:xfrm>
                <a:off x="7509402" y="734108"/>
                <a:ext cx="1040157" cy="410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493E728-3F4B-4AF8-8509-EA5CB86E8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402" y="734108"/>
                <a:ext cx="1040157" cy="410625"/>
              </a:xfrm>
              <a:prstGeom prst="rect">
                <a:avLst/>
              </a:prstGeom>
              <a:blipFill>
                <a:blip r:embed="rId3"/>
                <a:stretch>
                  <a:fillRect l="-4118" t="-1471" b="-14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B05D7D56-78F7-4BFC-B018-0C61762EFF73}"/>
              </a:ext>
            </a:extLst>
          </p:cNvPr>
          <p:cNvSpPr/>
          <p:nvPr/>
        </p:nvSpPr>
        <p:spPr>
          <a:xfrm>
            <a:off x="6304517" y="1826762"/>
            <a:ext cx="2089033" cy="465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A=[1 2; 3 4]  #</a:t>
            </a:r>
            <a:r>
              <a:rPr lang="zh-CN" altLang="en-US" dirty="0">
                <a:solidFill>
                  <a:srgbClr val="FF0000"/>
                </a:solidFill>
              </a:rPr>
              <a:t>矩阵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3EC38D-F501-40C8-A61F-5169F24E9828}"/>
              </a:ext>
            </a:extLst>
          </p:cNvPr>
          <p:cNvSpPr/>
          <p:nvPr/>
        </p:nvSpPr>
        <p:spPr>
          <a:xfrm>
            <a:off x="6278387" y="2340080"/>
            <a:ext cx="2384051" cy="454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(1) A21=A[2,1]  </a:t>
            </a:r>
            <a:r>
              <a:rPr lang="zh-CN" altLang="en-US" dirty="0">
                <a:solidFill>
                  <a:srgbClr val="FF0000"/>
                </a:solidFill>
              </a:rPr>
              <a:t>结果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14FD51-8E0E-41E7-9E33-3EC191E42D92}"/>
              </a:ext>
            </a:extLst>
          </p:cNvPr>
          <p:cNvSpPr/>
          <p:nvPr/>
        </p:nvSpPr>
        <p:spPr>
          <a:xfrm>
            <a:off x="6285249" y="2892274"/>
            <a:ext cx="2127570" cy="454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(2) A3=A[3]   </a:t>
            </a:r>
            <a:r>
              <a:rPr lang="zh-CN" altLang="en-US" dirty="0">
                <a:solidFill>
                  <a:srgbClr val="FF0000"/>
                </a:solidFill>
              </a:rPr>
              <a:t>结果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6B247D-70EB-4502-A1F5-57382863D669}"/>
              </a:ext>
            </a:extLst>
          </p:cNvPr>
          <p:cNvSpPr/>
          <p:nvPr/>
        </p:nvSpPr>
        <p:spPr>
          <a:xfrm>
            <a:off x="6296571" y="3492899"/>
            <a:ext cx="2044214" cy="454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(3) A[m.&gt;=3]</a:t>
            </a:r>
            <a:r>
              <a:rPr lang="zh-CN" altLang="en-US" dirty="0">
                <a:solidFill>
                  <a:srgbClr val="FF0000"/>
                </a:solidFill>
              </a:rPr>
              <a:t>结果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204867-2EFE-4926-9824-A32B87B3D523}"/>
              </a:ext>
            </a:extLst>
          </p:cNvPr>
          <p:cNvSpPr/>
          <p:nvPr/>
        </p:nvSpPr>
        <p:spPr>
          <a:xfrm>
            <a:off x="6296571" y="4130001"/>
            <a:ext cx="1839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(4) A[:,2]</a:t>
            </a:r>
            <a:r>
              <a:rPr lang="zh-CN" altLang="en-US" dirty="0">
                <a:solidFill>
                  <a:srgbClr val="FF0000"/>
                </a:solidFill>
              </a:rPr>
              <a:t>结果</a:t>
            </a:r>
            <a:r>
              <a:rPr lang="en-US" altLang="zh-CN" dirty="0">
                <a:solidFill>
                  <a:srgbClr val="FF0000"/>
                </a:solidFill>
              </a:rPr>
              <a:t>2 4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8963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8A4ECD6-68CC-443E-80B1-EA933D7C8FB8}"/>
              </a:ext>
            </a:extLst>
          </p:cNvPr>
          <p:cNvSpPr txBox="1"/>
          <p:nvPr/>
        </p:nvSpPr>
        <p:spPr>
          <a:xfrm>
            <a:off x="179512" y="1160354"/>
            <a:ext cx="8725856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向量点运算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数组运算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自变量为数组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向量或矩阵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针对数组每个元素逐点进行运算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11B555-F356-4A5E-B870-630DCE2A7BBE}"/>
              </a:ext>
            </a:extLst>
          </p:cNvPr>
          <p:cNvSpPr/>
          <p:nvPr/>
        </p:nvSpPr>
        <p:spPr>
          <a:xfrm>
            <a:off x="302515" y="723860"/>
            <a:ext cx="3583964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y=f(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自变量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x)=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具体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kumimoji="0" lang="ko-KR" altLang="en-US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3BC0382F-DD4B-4395-98E2-C0397FED7E45}"/>
              </a:ext>
            </a:extLst>
          </p:cNvPr>
          <p:cNvSpPr txBox="1">
            <a:spLocks/>
          </p:cNvSpPr>
          <p:nvPr/>
        </p:nvSpPr>
        <p:spPr bwMode="auto">
          <a:xfrm>
            <a:off x="971321" y="53348"/>
            <a:ext cx="3636101" cy="571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endParaRPr lang="en-US" altLang="zh-CN" sz="2400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sz="24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二、上机实验理论</a:t>
            </a:r>
            <a:r>
              <a:rPr lang="zh-CN" altLang="en-US" sz="24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和示例</a:t>
            </a:r>
            <a:r>
              <a:rPr lang="en-US" altLang="zh-CN" sz="24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—— </a:t>
            </a:r>
            <a:r>
              <a:rPr lang="en-US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3. 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向量点运算</a:t>
            </a:r>
            <a:r>
              <a:rPr lang="en-US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(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逐元素运算）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C6C5D9-F087-404C-A551-5A8B114FDC0E}"/>
              </a:ext>
            </a:extLst>
          </p:cNvPr>
          <p:cNvSpPr txBox="1"/>
          <p:nvPr/>
        </p:nvSpPr>
        <p:spPr>
          <a:xfrm>
            <a:off x="3897649" y="740558"/>
            <a:ext cx="488537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8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已知自变量</a:t>
            </a:r>
            <a:r>
              <a:rPr lang="en-US" altLang="zh-CN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数组，</a:t>
            </a:r>
            <a:r>
              <a:rPr lang="zh-CN" altLang="en-US" sz="18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根据表达式</a:t>
            </a: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zh-CN" altLang="en-US" sz="18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lang="en-US" altLang="zh-CN" sz="18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0A40BB4-F2DE-4971-BB4E-F40655CB34DF}"/>
              </a:ext>
            </a:extLst>
          </p:cNvPr>
          <p:cNvSpPr txBox="1"/>
          <p:nvPr/>
        </p:nvSpPr>
        <p:spPr>
          <a:xfrm>
            <a:off x="593619" y="3147814"/>
            <a:ext cx="59571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x=1:2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求表达式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y=x^2-log(x)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的因变量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es-ES" altLang="zh-CN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F7C2C4-DA23-4E77-906A-589854A3A1F3}"/>
              </a:ext>
            </a:extLst>
          </p:cNvPr>
          <p:cNvSpPr txBox="1"/>
          <p:nvPr/>
        </p:nvSpPr>
        <p:spPr>
          <a:xfrm>
            <a:off x="290635" y="3579862"/>
            <a:ext cx="8392981" cy="10240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/>
              <a:t>x=1:2</a:t>
            </a:r>
            <a:r>
              <a:rPr lang="en-US" altLang="zh-CN" dirty="0"/>
              <a:t>#</a:t>
            </a:r>
            <a:r>
              <a:rPr lang="zh-CN" altLang="en-US" dirty="0">
                <a:highlight>
                  <a:srgbClr val="FFFF00"/>
                </a:highlight>
              </a:rPr>
              <a:t>x=[1:</a:t>
            </a:r>
            <a:r>
              <a:rPr lang="en-US" altLang="zh-CN" dirty="0">
                <a:highlight>
                  <a:srgbClr val="FFFF00"/>
                </a:highlight>
              </a:rPr>
              <a:t>2</a:t>
            </a:r>
            <a:r>
              <a:rPr lang="zh-CN" altLang="en-US" dirty="0">
                <a:highlight>
                  <a:srgbClr val="FFFF00"/>
                </a:highlight>
              </a:rPr>
              <a:t>]</a:t>
            </a:r>
            <a:r>
              <a:rPr lang="zh-CN" altLang="en-US" dirty="0"/>
              <a:t>; y=x^2-log(x)  </a:t>
            </a: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zh-CN" altLang="en-US" dirty="0">
                <a:solidFill>
                  <a:srgbClr val="FF0000"/>
                </a:solidFill>
              </a:rPr>
              <a:t>结果ERROR: MethodError: no method matching </a:t>
            </a:r>
            <a:r>
              <a:rPr lang="en-US" altLang="zh-CN" dirty="0">
                <a:solidFill>
                  <a:srgbClr val="FF0000"/>
                </a:solidFill>
              </a:rPr>
              <a:t>^</a:t>
            </a:r>
          </a:p>
          <a:p>
            <a:pPr>
              <a:lnSpc>
                <a:spcPts val="2500"/>
              </a:lnSpc>
            </a:pPr>
            <a:r>
              <a:rPr lang="es-ES" altLang="zh-CN" dirty="0"/>
              <a:t>y=x.^2 .-log.(x)</a:t>
            </a:r>
            <a:r>
              <a:rPr lang="en-US" altLang="zh-CN" dirty="0"/>
              <a:t> </a:t>
            </a:r>
          </a:p>
          <a:p>
            <a:pPr>
              <a:lnSpc>
                <a:spcPts val="2500"/>
              </a:lnSpc>
            </a:pPr>
            <a:r>
              <a:rPr lang="es-ES" altLang="zh-CN" dirty="0"/>
              <a:t>println("y=$y")    </a:t>
            </a:r>
            <a:r>
              <a:rPr lang="zh-CN" altLang="en-US" dirty="0">
                <a:solidFill>
                  <a:srgbClr val="FF0000"/>
                </a:solidFill>
              </a:rPr>
              <a:t>结果：</a:t>
            </a:r>
            <a:r>
              <a:rPr lang="es-ES" altLang="zh-CN" dirty="0">
                <a:solidFill>
                  <a:srgbClr val="FF0000"/>
                </a:solidFill>
              </a:rPr>
              <a:t>y=[1.0, 3.3068526]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波形 22">
            <a:extLst>
              <a:ext uri="{FF2B5EF4-FFF2-40B4-BE49-F238E27FC236}">
                <a16:creationId xmlns:a16="http://schemas.microsoft.com/office/drawing/2014/main" id="{EF711B0F-574D-473D-9E1F-926F600209D1}"/>
              </a:ext>
            </a:extLst>
          </p:cNvPr>
          <p:cNvSpPr/>
          <p:nvPr/>
        </p:nvSpPr>
        <p:spPr>
          <a:xfrm>
            <a:off x="290635" y="3192925"/>
            <a:ext cx="329639" cy="27560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568A114-5AF4-4030-B77A-8034F68F4177}"/>
              </a:ext>
            </a:extLst>
          </p:cNvPr>
          <p:cNvSpPr txBox="1"/>
          <p:nvPr/>
        </p:nvSpPr>
        <p:spPr>
          <a:xfrm>
            <a:off x="2085485" y="2099681"/>
            <a:ext cx="2336803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kumimoji="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表达式中运算符加点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68C3F4-2846-4EE7-A0F6-DA9E0926B2F3}"/>
              </a:ext>
            </a:extLst>
          </p:cNvPr>
          <p:cNvSpPr txBox="1"/>
          <p:nvPr/>
        </p:nvSpPr>
        <p:spPr>
          <a:xfrm>
            <a:off x="212084" y="1646990"/>
            <a:ext cx="38904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两种点运算方法计算因变量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9E39CF-6CB2-4DB9-86D4-74D392F68F42}"/>
              </a:ext>
            </a:extLst>
          </p:cNvPr>
          <p:cNvSpPr txBox="1"/>
          <p:nvPr/>
        </p:nvSpPr>
        <p:spPr>
          <a:xfrm>
            <a:off x="2789372" y="2641976"/>
            <a:ext cx="1215027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kumimoji="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@.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表达式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A8A3FD-EB27-49A8-AF8D-FCB4442D1F87}"/>
              </a:ext>
            </a:extLst>
          </p:cNvPr>
          <p:cNvSpPr txBox="1"/>
          <p:nvPr/>
        </p:nvSpPr>
        <p:spPr>
          <a:xfrm>
            <a:off x="179512" y="2117389"/>
            <a:ext cx="2169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用点运算符：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4332B86-57A1-4848-9087-79432DBFAEB4}"/>
              </a:ext>
            </a:extLst>
          </p:cNvPr>
          <p:cNvSpPr txBox="1"/>
          <p:nvPr/>
        </p:nvSpPr>
        <p:spPr>
          <a:xfrm>
            <a:off x="4457642" y="2047100"/>
            <a:ext cx="46085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.+, .-, .*, ./,.^,sin.(),cos.(),exp.(),log.() 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EE78840-2BD3-476C-9C86-63674A3EF79A}"/>
              </a:ext>
            </a:extLst>
          </p:cNvPr>
          <p:cNvSpPr txBox="1"/>
          <p:nvPr/>
        </p:nvSpPr>
        <p:spPr>
          <a:xfrm>
            <a:off x="208533" y="2633228"/>
            <a:ext cx="25145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”@.”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操作符：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8E27DF-0A95-4267-BC53-82F4B9AF6BAC}"/>
              </a:ext>
            </a:extLst>
          </p:cNvPr>
          <p:cNvSpPr txBox="1"/>
          <p:nvPr/>
        </p:nvSpPr>
        <p:spPr>
          <a:xfrm>
            <a:off x="4030496" y="2621785"/>
            <a:ext cx="493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不再用点运算符，如式太长，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@. 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后加空格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266659C-8AE3-451E-BF66-77C4B7D1F3A7}"/>
              </a:ext>
            </a:extLst>
          </p:cNvPr>
          <p:cNvSpPr txBox="1"/>
          <p:nvPr/>
        </p:nvSpPr>
        <p:spPr>
          <a:xfrm>
            <a:off x="2411760" y="3838596"/>
            <a:ext cx="2520280" cy="38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y=@.x^2-log(x)</a:t>
            </a:r>
            <a:endParaRPr lang="en-US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4712BE-59ED-479B-8C1E-6E9432310735}"/>
              </a:ext>
            </a:extLst>
          </p:cNvPr>
          <p:cNvSpPr/>
          <p:nvPr/>
        </p:nvSpPr>
        <p:spPr>
          <a:xfrm>
            <a:off x="6327569" y="1622548"/>
            <a:ext cx="274134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x1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起始值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,x2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终止值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,,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步长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h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9264DE-6FA8-4525-B3CD-FB96BB5C7D93}"/>
              </a:ext>
            </a:extLst>
          </p:cNvPr>
          <p:cNvSpPr/>
          <p:nvPr/>
        </p:nvSpPr>
        <p:spPr>
          <a:xfrm>
            <a:off x="5184130" y="1654486"/>
            <a:ext cx="1239583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x=x1 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x2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750B8A0-609B-4A6A-B40A-161D0B76FC63}"/>
              </a:ext>
            </a:extLst>
          </p:cNvPr>
          <p:cNvSpPr txBox="1"/>
          <p:nvPr/>
        </p:nvSpPr>
        <p:spPr>
          <a:xfrm>
            <a:off x="3635896" y="1643062"/>
            <a:ext cx="1594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线性等分向量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873B3976-E6E6-480C-8790-C3EF6B74D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4142825"/>
            <a:ext cx="1008112" cy="575969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04F4011-1A63-4F53-A752-6C6AFD238538}"/>
              </a:ext>
            </a:extLst>
          </p:cNvPr>
          <p:cNvSpPr txBox="1"/>
          <p:nvPr/>
        </p:nvSpPr>
        <p:spPr>
          <a:xfrm>
            <a:off x="5819376" y="4297815"/>
            <a:ext cx="3543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向量和矩阵逐元素点运算绘图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2722DCB-8DBD-437B-8905-FF073754BC57}"/>
              </a:ext>
            </a:extLst>
          </p:cNvPr>
          <p:cNvSpPr txBox="1"/>
          <p:nvPr/>
        </p:nvSpPr>
        <p:spPr>
          <a:xfrm>
            <a:off x="5527513" y="3936614"/>
            <a:ext cx="3513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</a:rPr>
              <a:t>x=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FF0000"/>
                </a:highlight>
              </a:rPr>
              <a:t>[x1:h:x2] 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</a:rPr>
              <a:t>冒号等分向量不能加括号</a:t>
            </a:r>
          </a:p>
        </p:txBody>
      </p:sp>
    </p:spTree>
    <p:extLst>
      <p:ext uri="{BB962C8B-B14F-4D97-AF65-F5344CB8AC3E}">
        <p14:creationId xmlns:p14="http://schemas.microsoft.com/office/powerpoint/2010/main" val="384890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 animBg="1"/>
      <p:bldP spid="25" grpId="0" animBg="1"/>
      <p:bldP spid="15" grpId="0"/>
      <p:bldP spid="17" grpId="0" animBg="1"/>
      <p:bldP spid="20" grpId="0"/>
      <p:bldP spid="24" grpId="0"/>
      <p:bldP spid="26" grpId="0"/>
      <p:bldP spid="27" grpId="0"/>
      <p:bldP spid="18" grpId="0"/>
      <p:bldP spid="22" grpId="0"/>
      <p:bldP spid="28" grpId="0" animBg="1"/>
      <p:bldP spid="29" grpId="0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1204" y="2025336"/>
            <a:ext cx="29396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简化形式函数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f(x)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1205" y="3018824"/>
            <a:ext cx="6290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function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函数名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，自变量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为输入量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140503" y="723409"/>
            <a:ext cx="8955593" cy="28206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0">
                <a:solidFill>
                  <a:srgbClr val="002E5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dist"/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建立函数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f(x)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表达式的三种方式：简化形式、匿名句柄和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function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85255" y="1505408"/>
            <a:ext cx="1324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>
                <a:solidFill>
                  <a:srgbClr val="002060"/>
                </a:solidFill>
              </a:rPr>
              <a:t>函数名为</a:t>
            </a:r>
            <a:r>
              <a:rPr lang="en-US" altLang="zh-CN" b="0" dirty="0">
                <a:solidFill>
                  <a:srgbClr val="002060"/>
                </a:solidFill>
              </a:rPr>
              <a:t>f</a:t>
            </a:r>
            <a:r>
              <a:rPr lang="zh-CN" altLang="en-US" b="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1" name="矩形 10"/>
          <p:cNvSpPr/>
          <p:nvPr/>
        </p:nvSpPr>
        <p:spPr>
          <a:xfrm>
            <a:off x="82279" y="2484914"/>
            <a:ext cx="21973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定义匿名函数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endParaRPr lang="zh-CN" altLang="en-US" sz="24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41675" y="3480211"/>
            <a:ext cx="2534723" cy="1064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f(x)</a:t>
            </a:r>
          </a:p>
          <a:p>
            <a:pPr>
              <a:lnSpc>
                <a:spcPts val="2600"/>
              </a:lnSpc>
            </a:pPr>
            <a:r>
              <a:rPr lang="es-E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y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=x^2-log(x)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end 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57309" y="2571750"/>
            <a:ext cx="225589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f=(</a:t>
            </a:r>
            <a:r>
              <a:rPr lang="zh-CN" altLang="en-US" dirty="0"/>
              <a:t>自变量</a:t>
            </a:r>
            <a:r>
              <a:rPr lang="en-US" altLang="zh-CN" dirty="0"/>
              <a:t>x) </a:t>
            </a:r>
            <a:r>
              <a:rPr lang="en-US" altLang="zh-CN" dirty="0">
                <a:highlight>
                  <a:srgbClr val="FF0000"/>
                </a:highlight>
              </a:rPr>
              <a:t>-&gt;</a:t>
            </a:r>
            <a:r>
              <a:rPr lang="zh-CN" altLang="en-US" dirty="0"/>
              <a:t>表达式 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528313" y="2048682"/>
            <a:ext cx="26837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f(x)=x^2-log(x)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6567" y="1522814"/>
            <a:ext cx="3306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lang="es-ES" altLang="zh-CN" sz="180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=f(</a:t>
            </a:r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自变量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x)=</a:t>
            </a:r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es-ES" altLang="zh-CN" sz="1800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528313" y="2580462"/>
            <a:ext cx="2845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s-E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x)-&gt;</a:t>
            </a:r>
            <a:r>
              <a:rPr lang="es-E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x^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2-log(x)</a:t>
            </a:r>
            <a:r>
              <a:rPr lang="es-E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2425183" y="2083766"/>
            <a:ext cx="1946432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f(</a:t>
            </a:r>
            <a:r>
              <a:rPr lang="zh-CN" altLang="en-US" dirty="0"/>
              <a:t>自变量</a:t>
            </a:r>
            <a:r>
              <a:rPr lang="en-US" altLang="zh-CN" dirty="0"/>
              <a:t>x)=</a:t>
            </a:r>
            <a:r>
              <a:rPr lang="zh-CN" altLang="en-US" dirty="0"/>
              <a:t>表达式</a:t>
            </a:r>
          </a:p>
        </p:txBody>
      </p:sp>
      <p:sp>
        <p:nvSpPr>
          <p:cNvPr id="2" name="对话气泡: 圆角矩形 1"/>
          <p:cNvSpPr/>
          <p:nvPr/>
        </p:nvSpPr>
        <p:spPr bwMode="auto">
          <a:xfrm>
            <a:off x="1213275" y="1522814"/>
            <a:ext cx="1993497" cy="369332"/>
          </a:xfrm>
          <a:prstGeom prst="wedgeRoundRectCallout">
            <a:avLst>
              <a:gd name="adj1" fmla="val 68824"/>
              <a:gd name="adj2" fmla="val 108394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137542" y="1874740"/>
            <a:ext cx="2006458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匿名形式用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=@(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输入量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en-US" altLang="zh-CN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s-E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=@(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x) </a:t>
            </a:r>
            <a:r>
              <a:rPr lang="es-E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x^2-log(x) </a:t>
            </a:r>
            <a:endParaRPr lang="zh-CN" altLang="en-US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657687" y="3460401"/>
            <a:ext cx="1465270" cy="93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  <a:r>
              <a:rPr lang="en-US" altLang="zh-CN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=f(x)</a:t>
            </a:r>
          </a:p>
          <a:p>
            <a:pPr>
              <a:lnSpc>
                <a:spcPct val="150000"/>
              </a:lnSpc>
            </a:pPr>
            <a:r>
              <a:rPr lang="es-E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s-ES" altLang="zh-CN" sz="12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=x^2-log(x)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end </a:t>
            </a:r>
            <a:endParaRPr lang="zh-CN" altLang="en-US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70886" y="1490049"/>
            <a:ext cx="4092210" cy="315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kern="0">
                <a:solidFill>
                  <a:schemeClr val="bg1"/>
                </a:solidFill>
                <a:highlight>
                  <a:srgbClr val="FF9900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algn="dist"/>
            <a:r>
              <a:rPr lang="zh-CN" altLang="en-US" b="1" dirty="0">
                <a:highlight>
                  <a:srgbClr val="003B76"/>
                </a:highlight>
              </a:rPr>
              <a:t>建立</a:t>
            </a:r>
            <a:r>
              <a:rPr lang="en-US" altLang="zh-CN" b="1" dirty="0">
                <a:highlight>
                  <a:srgbClr val="003B76"/>
                </a:highlight>
              </a:rPr>
              <a:t>y=f(x)=x^2-log(x)</a:t>
            </a:r>
            <a:r>
              <a:rPr lang="zh-CN" altLang="en-US" b="1" dirty="0">
                <a:highlight>
                  <a:srgbClr val="003B76"/>
                </a:highlight>
              </a:rPr>
              <a:t>三种函数形式</a:t>
            </a:r>
          </a:p>
        </p:txBody>
      </p:sp>
      <p:sp>
        <p:nvSpPr>
          <p:cNvPr id="29" name="波形 28"/>
          <p:cNvSpPr/>
          <p:nvPr/>
        </p:nvSpPr>
        <p:spPr>
          <a:xfrm>
            <a:off x="4618300" y="1471531"/>
            <a:ext cx="404317" cy="38013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标题 1"/>
          <p:cNvSpPr txBox="1"/>
          <p:nvPr/>
        </p:nvSpPr>
        <p:spPr bwMode="auto">
          <a:xfrm>
            <a:off x="496903" y="303362"/>
            <a:ext cx="8323569" cy="28206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zh-CN" sz="24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二、上机实验理论</a:t>
            </a:r>
            <a:r>
              <a:rPr lang="zh-CN" altLang="en-US" sz="24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和示例</a:t>
            </a:r>
            <a:r>
              <a:rPr lang="en-US" altLang="zh-CN" sz="24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——4</a:t>
            </a:r>
            <a:r>
              <a:rPr lang="en-US" altLang="zh-CN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建立函数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f(x)</a:t>
            </a:r>
            <a:r>
              <a:rPr lang="zh-CN" altLang="en-US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 三种形式</a:t>
            </a:r>
            <a:endParaRPr lang="zh-CN" altLang="en-US" sz="2400" b="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1204" y="3452642"/>
            <a:ext cx="1780307" cy="119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1600" b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function f(x)</a:t>
            </a:r>
          </a:p>
          <a:p>
            <a:pPr>
              <a:lnSpc>
                <a:spcPts val="3000"/>
              </a:lnSpc>
            </a:pPr>
            <a:r>
              <a:rPr lang="es-ES" altLang="zh-CN" sz="1600" b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  y=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具体表达式</a:t>
            </a:r>
            <a:endParaRPr lang="en-US" altLang="zh-CN" sz="1600" dirty="0">
              <a:solidFill>
                <a:schemeClr val="bg1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s-ES" altLang="zh-CN" sz="1600" b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600" dirty="0">
              <a:solidFill>
                <a:schemeClr val="bg1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utoShape 13"/>
          <p:cNvSpPr>
            <a:spLocks noChangeArrowheads="1"/>
          </p:cNvSpPr>
          <p:nvPr/>
        </p:nvSpPr>
        <p:spPr bwMode="auto">
          <a:xfrm rot="569508">
            <a:off x="4246371" y="3783963"/>
            <a:ext cx="1026456" cy="552737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37" name="文本框 36"/>
          <p:cNvSpPr txBox="1"/>
          <p:nvPr/>
        </p:nvSpPr>
        <p:spPr>
          <a:xfrm rot="172861">
            <a:off x="5269086" y="3690683"/>
            <a:ext cx="2255235" cy="1089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en-US" altLang="zh-CN" sz="1200" kern="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</a:t>
            </a:r>
            <a:r>
              <a:rPr lang="zh-CN" altLang="en-US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函数形式，</a:t>
            </a:r>
            <a:endParaRPr lang="en-US" altLang="zh-CN" sz="12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en-US" altLang="zh-CN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标准函数要有输出项；</a:t>
            </a:r>
            <a:endParaRPr lang="en-US" altLang="zh-CN" sz="12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en-US" altLang="zh-CN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无简化表达式</a:t>
            </a:r>
            <a:endParaRPr lang="en-US" altLang="zh-CN" sz="12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endParaRPr lang="zh-CN" altLang="en-US" sz="1200" dirty="0">
              <a:solidFill>
                <a:srgbClr val="002060"/>
              </a:solidFill>
            </a:endParaRPr>
          </a:p>
        </p:txBody>
      </p:sp>
      <p:sp>
        <p:nvSpPr>
          <p:cNvPr id="30" name="对话气泡: 圆角矩形 29"/>
          <p:cNvSpPr/>
          <p:nvPr/>
        </p:nvSpPr>
        <p:spPr bwMode="auto">
          <a:xfrm>
            <a:off x="5772683" y="1486608"/>
            <a:ext cx="1823653" cy="332777"/>
          </a:xfrm>
          <a:prstGeom prst="wedgeRoundRectCallout">
            <a:avLst>
              <a:gd name="adj1" fmla="val -31448"/>
              <a:gd name="adj2" fmla="val 119170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BCE902-EB20-4C8A-8971-F259F8DF62FD}"/>
              </a:ext>
            </a:extLst>
          </p:cNvPr>
          <p:cNvSpPr txBox="1"/>
          <p:nvPr/>
        </p:nvSpPr>
        <p:spPr>
          <a:xfrm>
            <a:off x="167340" y="1108645"/>
            <a:ext cx="8922594" cy="27699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200" dirty="0"/>
              <a:t>三种形式函数都由三要素构成：</a:t>
            </a:r>
            <a:r>
              <a:rPr lang="en-US" altLang="zh-CN" sz="1200" dirty="0"/>
              <a:t>f(</a:t>
            </a:r>
            <a:r>
              <a:rPr lang="zh-CN" altLang="en-US" sz="1200" dirty="0"/>
              <a:t>函数名</a:t>
            </a:r>
            <a:r>
              <a:rPr lang="en-US" altLang="zh-CN" sz="1200" dirty="0"/>
              <a:t>)</a:t>
            </a:r>
            <a:r>
              <a:rPr lang="zh-CN" altLang="en-US" sz="1200" dirty="0"/>
              <a:t>，自变量</a:t>
            </a:r>
            <a:r>
              <a:rPr lang="en-US" altLang="zh-CN" sz="1200" dirty="0"/>
              <a:t>x(</a:t>
            </a:r>
            <a:r>
              <a:rPr lang="zh-CN" altLang="en-US" sz="1200" dirty="0"/>
              <a:t>输入参数）</a:t>
            </a:r>
            <a:r>
              <a:rPr lang="en-US" altLang="zh-CN" sz="1200" dirty="0"/>
              <a:t>,</a:t>
            </a:r>
            <a:r>
              <a:rPr lang="zh-CN" altLang="en-US" sz="1200" dirty="0"/>
              <a:t>表达式</a:t>
            </a:r>
            <a:r>
              <a:rPr lang="en-US" altLang="zh-CN" sz="1200" dirty="0"/>
              <a:t>expression</a:t>
            </a:r>
            <a:endParaRPr lang="es-ES" altLang="zh-CN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  <p:bldP spid="12" grpId="0"/>
      <p:bldP spid="18" grpId="0" animBg="1"/>
      <p:bldP spid="19" grpId="0"/>
      <p:bldP spid="21" grpId="0"/>
      <p:bldP spid="23" grpId="0"/>
      <p:bldP spid="26" grpId="0" animBg="1"/>
      <p:bldP spid="2" grpId="0" animBg="1"/>
      <p:bldP spid="22" grpId="0"/>
      <p:bldP spid="27" grpId="0"/>
      <p:bldP spid="28" grpId="0"/>
      <p:bldP spid="29" grpId="0" animBg="1"/>
      <p:bldP spid="32" grpId="0"/>
      <p:bldP spid="36" grpId="0" animBg="1"/>
      <p:bldP spid="37" grpId="0"/>
      <p:bldP spid="30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-25653" y="130218"/>
            <a:ext cx="8918133" cy="46952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zh-CN" sz="22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二、上机实验理论</a:t>
            </a:r>
            <a:r>
              <a:rPr lang="zh-CN" altLang="en-US" sz="22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和示例</a:t>
            </a:r>
            <a:r>
              <a:rPr lang="en-US" altLang="zh-CN" sz="22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——5.</a:t>
            </a:r>
            <a:r>
              <a:rPr lang="zh-CN" altLang="en-US" sz="22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函数调用求因变量</a:t>
            </a:r>
            <a:r>
              <a:rPr lang="en-US" altLang="zh-CN" sz="22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2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标量运算和点运算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-46937" y="1659977"/>
            <a:ext cx="9108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函数点运算三种方式：自变量为数组（或向量或矩阵），针对数组每个元素逐点运算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629" y="2526519"/>
            <a:ext cx="9018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 algn="dist">
              <a:buFont typeface="+mj-lt"/>
              <a:buAutoNum type="romanUcPeriod"/>
            </a:pP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定义函数时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运算符加点</a:t>
            </a: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：表达式中逐元素运算时，每个运算符前加一个</a:t>
            </a:r>
            <a:r>
              <a:rPr lang="zh-CN" altLang="en-US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6694" y="744477"/>
            <a:ext cx="23154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函数调用格式一样</a:t>
            </a:r>
            <a:r>
              <a:rPr lang="en-US" altLang="zh-CN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-69990" y="3817555"/>
            <a:ext cx="2005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 startAt="2"/>
            </a:pP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函数调用加点：</a:t>
            </a:r>
            <a:endParaRPr lang="zh-CN" altLang="en-US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0085" y="2847228"/>
            <a:ext cx="491199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f(x)=x.^2 .-log.(x)  #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f=x-&gt; x.^2 .-log.(x)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782699" y="3729649"/>
            <a:ext cx="2022321" cy="45890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0070C0"/>
                </a:solidFill>
              </a:rPr>
              <a:t>f(x)=x^2-log(x</a:t>
            </a:r>
            <a:r>
              <a:rPr lang="zh-CN" altLang="en-US" sz="1800" dirty="0">
                <a:solidFill>
                  <a:srgbClr val="0070C0"/>
                </a:solidFill>
              </a:rPr>
              <a:t>）</a:t>
            </a:r>
            <a:endParaRPr lang="en-US" altLang="zh-CN" sz="1800" dirty="0">
              <a:solidFill>
                <a:srgbClr val="0070C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-46937" y="3345427"/>
            <a:ext cx="2811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 startAt="3"/>
            </a:pP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定义函数为：</a:t>
            </a:r>
            <a:endParaRPr lang="zh-CN" altLang="en-US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88925" y="2097430"/>
            <a:ext cx="5623235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b="1" ker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三种方法求向量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x=1:2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y=f(x)=x^2-log(x)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0428" y="4280594"/>
            <a:ext cx="28632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println(“y=$y”)#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显示结果</a:t>
            </a:r>
            <a:endParaRPr lang="es-E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803320" y="4296932"/>
            <a:ext cx="30298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结果y=[1.0, 3.3068528194400546],</a:t>
            </a:r>
          </a:p>
        </p:txBody>
      </p:sp>
      <p:sp>
        <p:nvSpPr>
          <p:cNvPr id="25" name="波形 24"/>
          <p:cNvSpPr/>
          <p:nvPr/>
        </p:nvSpPr>
        <p:spPr>
          <a:xfrm>
            <a:off x="107504" y="2078239"/>
            <a:ext cx="312651" cy="375151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756911" y="3684179"/>
            <a:ext cx="2723209" cy="45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FF0000"/>
                </a:solidFill>
              </a:rPr>
              <a:t>y=f.(1:2)  </a:t>
            </a:r>
            <a:r>
              <a:rPr lang="zh-CN" altLang="en-US" sz="1800" b="1" dirty="0">
                <a:solidFill>
                  <a:srgbClr val="FF0000"/>
                </a:solidFill>
              </a:rPr>
              <a:t>或</a:t>
            </a:r>
            <a:r>
              <a:rPr lang="en-US" altLang="zh-CN" b="1" dirty="0">
                <a:solidFill>
                  <a:srgbClr val="FF0000"/>
                </a:solidFill>
              </a:rPr>
              <a:t>y=@. f(1:3) </a:t>
            </a:r>
            <a:endParaRPr lang="es-ES" altLang="zh-CN" sz="1800" b="1" dirty="0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605483" y="3256803"/>
            <a:ext cx="202232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800">
                <a:solidFill>
                  <a:srgbClr val="FF0000"/>
                </a:solidFill>
              </a:defRPr>
            </a:lvl1pPr>
          </a:lstStyle>
          <a:p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f(x)=@. 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  <p:sp>
        <p:nvSpPr>
          <p:cNvPr id="30" name="AutoShape 13"/>
          <p:cNvSpPr>
            <a:spLocks noChangeArrowheads="1"/>
          </p:cNvSpPr>
          <p:nvPr/>
        </p:nvSpPr>
        <p:spPr bwMode="auto">
          <a:xfrm>
            <a:off x="5607469" y="4147471"/>
            <a:ext cx="858813" cy="567753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33" name="对话气泡: 圆角矩形 32"/>
          <p:cNvSpPr/>
          <p:nvPr/>
        </p:nvSpPr>
        <p:spPr bwMode="auto">
          <a:xfrm>
            <a:off x="5588588" y="2047630"/>
            <a:ext cx="3452630" cy="380104"/>
          </a:xfrm>
          <a:prstGeom prst="wedgeRoundRectCallout">
            <a:avLst>
              <a:gd name="adj1" fmla="val 44857"/>
              <a:gd name="adj2" fmla="val 88489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580112" y="2056296"/>
            <a:ext cx="35809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>
                <a:solidFill>
                  <a:srgbClr val="00B0F0"/>
                </a:solidFill>
                <a:latin typeface="Cambria Math" panose="02040503050406030204" pitchFamily="18" charset="0"/>
              </a:rPr>
              <a:t>.+, .-,  .*, ./,  .^, sin.(x), log.(x) ,  exp.(x) </a:t>
            </a:r>
            <a:endParaRPr lang="zh-CN" altLang="en-US" sz="1600" b="1" kern="0" dirty="0">
              <a:solidFill>
                <a:srgbClr val="00B0F0"/>
              </a:solidFill>
              <a:latin typeface="Cambria Math" panose="020405030504060302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1FE09E6-296C-486E-89F7-F1E4686643FD}"/>
              </a:ext>
            </a:extLst>
          </p:cNvPr>
          <p:cNvSpPr txBox="1"/>
          <p:nvPr/>
        </p:nvSpPr>
        <p:spPr>
          <a:xfrm>
            <a:off x="6334352" y="4280594"/>
            <a:ext cx="312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调用无</a:t>
            </a:r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f.(x)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@.f(x)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134DE37-290D-46CB-99C3-BFBDD48A00E6}"/>
              </a:ext>
            </a:extLst>
          </p:cNvPr>
          <p:cNvSpPr/>
          <p:nvPr/>
        </p:nvSpPr>
        <p:spPr>
          <a:xfrm>
            <a:off x="2077318" y="745708"/>
            <a:ext cx="3522291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600" dirty="0"/>
              <a:t>输出参数</a:t>
            </a:r>
            <a:r>
              <a:rPr lang="en-US" altLang="zh-CN" sz="1600" dirty="0"/>
              <a:t>y=</a:t>
            </a:r>
            <a:r>
              <a:rPr lang="en-US" altLang="ko-KR" sz="1600" dirty="0" err="1"/>
              <a:t>函数名</a:t>
            </a:r>
            <a:r>
              <a:rPr lang="en-US" altLang="ko-KR" sz="1600" dirty="0"/>
              <a:t>(</a:t>
            </a:r>
            <a:r>
              <a:rPr lang="zh-CN" altLang="en-US" sz="1600" dirty="0"/>
              <a:t>赋值的</a:t>
            </a:r>
            <a:r>
              <a:rPr lang="en-US" altLang="ko-KR" sz="1600" dirty="0" err="1"/>
              <a:t>输入</a:t>
            </a:r>
            <a:r>
              <a:rPr lang="zh-CN" altLang="en-US" sz="1600" dirty="0"/>
              <a:t>参数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DD76065-EB12-4C66-B557-F23A7EE3C088}"/>
              </a:ext>
            </a:extLst>
          </p:cNvPr>
          <p:cNvSpPr txBox="1"/>
          <p:nvPr/>
        </p:nvSpPr>
        <p:spPr>
          <a:xfrm>
            <a:off x="5442401" y="2918896"/>
            <a:ext cx="1188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y=f(1:2)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F23E943-85B1-4C0C-B5A9-6B79884818D9}"/>
              </a:ext>
            </a:extLst>
          </p:cNvPr>
          <p:cNvSpPr txBox="1"/>
          <p:nvPr/>
        </p:nvSpPr>
        <p:spPr>
          <a:xfrm>
            <a:off x="3509870" y="3318740"/>
            <a:ext cx="2247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f(x)=@. x^2-log(x)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1E45F61-A24D-4248-A243-17B48BC2C3E1}"/>
              </a:ext>
            </a:extLst>
          </p:cNvPr>
          <p:cNvSpPr txBox="1"/>
          <p:nvPr/>
        </p:nvSpPr>
        <p:spPr>
          <a:xfrm>
            <a:off x="5620597" y="3258224"/>
            <a:ext cx="1010755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FF0000"/>
                </a:solidFill>
              </a:rPr>
              <a:t>y=f(1:2) </a:t>
            </a:r>
            <a:endParaRPr lang="es-ES" altLang="zh-CN" sz="1800" b="1" dirty="0">
              <a:solidFill>
                <a:srgbClr val="FF0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900A146-99C8-4A10-AEDF-1983E6DAFCDD}"/>
              </a:ext>
            </a:extLst>
          </p:cNvPr>
          <p:cNvSpPr txBox="1"/>
          <p:nvPr/>
        </p:nvSpPr>
        <p:spPr>
          <a:xfrm>
            <a:off x="1911868" y="3795886"/>
            <a:ext cx="1064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f.(x )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A525D8D-CA16-4368-B178-BE2454FF2280}"/>
              </a:ext>
            </a:extLst>
          </p:cNvPr>
          <p:cNvSpPr txBox="1"/>
          <p:nvPr/>
        </p:nvSpPr>
        <p:spPr>
          <a:xfrm>
            <a:off x="2731040" y="3817555"/>
            <a:ext cx="11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@. </a:t>
            </a:r>
            <a:r>
              <a:rPr lang="en-US" altLang="zh-CN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 (x)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43CF441-33D7-4FA9-9180-B41C70114E29}"/>
              </a:ext>
            </a:extLst>
          </p:cNvPr>
          <p:cNvSpPr txBox="1"/>
          <p:nvPr/>
        </p:nvSpPr>
        <p:spPr>
          <a:xfrm>
            <a:off x="51455" y="1201266"/>
            <a:ext cx="8927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spcBef>
                <a:spcPts val="600"/>
              </a:spcBef>
            </a:pPr>
            <a:r>
              <a:rPr lang="zh-CN" altLang="zh-CN" sz="1800" b="1" kern="1800" dirty="0">
                <a:solidFill>
                  <a:srgbClr val="00B0F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两种方式：定义函数加点，调用时不再加点；定义函数不加点，调用时再加点</a:t>
            </a:r>
            <a:endParaRPr lang="zh-CN" altLang="zh-CN" sz="1400" b="1" kern="100" dirty="0">
              <a:solidFill>
                <a:srgbClr val="00B0F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AutoShape 13">
            <a:extLst>
              <a:ext uri="{FF2B5EF4-FFF2-40B4-BE49-F238E27FC236}">
                <a16:creationId xmlns:a16="http://schemas.microsoft.com/office/drawing/2014/main" id="{59C20B34-C61F-4C63-945F-8D73A6FA9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6911" y="619082"/>
            <a:ext cx="858813" cy="567753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5C4E747-1590-4A36-8776-8F2775E61876}"/>
              </a:ext>
            </a:extLst>
          </p:cNvPr>
          <p:cNvSpPr txBox="1"/>
          <p:nvPr/>
        </p:nvSpPr>
        <p:spPr>
          <a:xfrm>
            <a:off x="6599183" y="798329"/>
            <a:ext cx="2429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函数数组运算要求加点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20" grpId="0"/>
      <p:bldP spid="21" grpId="0"/>
      <p:bldP spid="23" grpId="0"/>
      <p:bldP spid="28" grpId="0"/>
      <p:bldP spid="31" grpId="0"/>
      <p:bldP spid="32" grpId="0"/>
      <p:bldP spid="25" grpId="0" animBg="1"/>
      <p:bldP spid="26" grpId="0"/>
      <p:bldP spid="27" grpId="0"/>
      <p:bldP spid="30" grpId="0" animBg="1"/>
      <p:bldP spid="33" grpId="0" animBg="1"/>
      <p:bldP spid="34" grpId="0"/>
      <p:bldP spid="35" grpId="0"/>
      <p:bldP spid="36" grpId="0" animBg="1"/>
      <p:bldP spid="37" grpId="0"/>
      <p:bldP spid="38" grpId="0"/>
      <p:bldP spid="39" grpId="0"/>
      <p:bldP spid="40" grpId="0"/>
      <p:bldP spid="41" grpId="0"/>
      <p:bldP spid="43" grpId="0"/>
      <p:bldP spid="42" grpId="0" animBg="1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9294419-B4C4-421C-A94E-CEAE833581D8}"/>
              </a:ext>
            </a:extLst>
          </p:cNvPr>
          <p:cNvSpPr/>
          <p:nvPr/>
        </p:nvSpPr>
        <p:spPr>
          <a:xfrm>
            <a:off x="106530" y="895941"/>
            <a:ext cx="577038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b="1" kern="1800" dirty="0">
                <a:solidFill>
                  <a:srgbClr val="0070C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（</a:t>
            </a:r>
            <a:r>
              <a:rPr lang="en-US" altLang="zh-CN" sz="1600" b="1" kern="1800" dirty="0">
                <a:solidFill>
                  <a:srgbClr val="0070C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r>
              <a:rPr lang="zh-CN" altLang="en-US" sz="1600" b="1" kern="1800" dirty="0">
                <a:solidFill>
                  <a:srgbClr val="0070C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r>
              <a:rPr lang="zh-CN" altLang="zh-CN" sz="1600" b="1" kern="1800" dirty="0">
                <a:solidFill>
                  <a:srgbClr val="0070C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双分支语句</a:t>
            </a:r>
            <a:endParaRPr lang="zh-CN" altLang="en-US" sz="1600" b="1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94477B5-271B-44F7-AF9E-EEDF34E1A154}"/>
              </a:ext>
            </a:extLst>
          </p:cNvPr>
          <p:cNvSpPr txBox="1">
            <a:spLocks/>
          </p:cNvSpPr>
          <p:nvPr/>
        </p:nvSpPr>
        <p:spPr bwMode="auto">
          <a:xfrm>
            <a:off x="894943" y="104510"/>
            <a:ext cx="7637497" cy="469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endParaRPr lang="en-US" altLang="zh-CN" sz="2400" b="0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sz="2400" b="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二、上机实验理论</a:t>
            </a:r>
            <a:r>
              <a:rPr lang="zh-CN" altLang="en-US" sz="2400" b="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和案例</a:t>
            </a:r>
            <a:r>
              <a:rPr lang="en-US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——6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、</a:t>
            </a:r>
            <a:r>
              <a:rPr lang="zh-CN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双分支语句和三元运算符</a:t>
            </a:r>
            <a:endParaRPr lang="zh-CN" altLang="en-US" sz="2400" kern="1800" dirty="0">
              <a:solidFill>
                <a:srgbClr val="CC6600"/>
              </a:solidFill>
              <a:latin typeface="微软雅黑" panose="020B0503020204020204" pitchFamily="34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FE35B88-4087-4C24-906D-3110F799D73F}"/>
              </a:ext>
            </a:extLst>
          </p:cNvPr>
          <p:cNvSpPr/>
          <p:nvPr/>
        </p:nvSpPr>
        <p:spPr bwMode="auto">
          <a:xfrm>
            <a:off x="57715" y="4378082"/>
            <a:ext cx="3977890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algn="dist"/>
            <a:r>
              <a:rPr lang="en-US" sz="1400" b="1" kern="0" dirty="0" err="1">
                <a:solidFill>
                  <a:schemeClr val="bg1"/>
                </a:solidFill>
                <a:latin typeface="Cambria Math" panose="02040503050406030204" pitchFamily="18" charset="0"/>
              </a:rPr>
              <a:t>println</a:t>
            </a:r>
            <a:r>
              <a:rPr lang="zh-CN" altLang="en-US" sz="1400" b="1" kern="0" dirty="0">
                <a:solidFill>
                  <a:schemeClr val="bg1"/>
                </a:solidFill>
                <a:latin typeface="Cambria Math" panose="02040503050406030204" pitchFamily="18" charset="0"/>
              </a:rPr>
              <a:t>（“字符串</a:t>
            </a:r>
            <a:r>
              <a:rPr lang="en-US" sz="1400" b="1" kern="0" dirty="0">
                <a:solidFill>
                  <a:schemeClr val="bg1"/>
                </a:solidFill>
                <a:latin typeface="Cambria Math" panose="02040503050406030204" pitchFamily="18" charset="0"/>
              </a:rPr>
              <a:t>=$</a:t>
            </a:r>
            <a:r>
              <a:rPr lang="zh-CN" altLang="en-US" sz="1400" b="1" kern="0" dirty="0">
                <a:solidFill>
                  <a:schemeClr val="bg1"/>
                </a:solidFill>
                <a:latin typeface="Cambria Math" panose="02040503050406030204" pitchFamily="18" charset="0"/>
              </a:rPr>
              <a:t>数值变量”</a:t>
            </a:r>
            <a:r>
              <a:rPr lang="en-US" altLang="zh-CN" sz="1400" b="1" kern="0" dirty="0">
                <a:solidFill>
                  <a:schemeClr val="bg1"/>
                </a:solidFill>
                <a:latin typeface="Cambria Math" panose="02040503050406030204" pitchFamily="18" charset="0"/>
              </a:rPr>
              <a:t>)</a:t>
            </a:r>
            <a:r>
              <a:rPr lang="zh-CN" altLang="en-US" sz="1400" b="1" kern="0" dirty="0">
                <a:solidFill>
                  <a:schemeClr val="bg1"/>
                </a:solidFill>
                <a:latin typeface="Cambria Math" panose="02040503050406030204" pitchFamily="18" charset="0"/>
              </a:rPr>
              <a:t>）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112D2F3-DDE1-1F7E-B1FC-FF9A32235038}"/>
              </a:ext>
            </a:extLst>
          </p:cNvPr>
          <p:cNvSpPr/>
          <p:nvPr/>
        </p:nvSpPr>
        <p:spPr bwMode="auto">
          <a:xfrm>
            <a:off x="711927" y="933403"/>
            <a:ext cx="2761072" cy="1477328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spAutoFit/>
          </a:bodyPr>
          <a:lstStyle/>
          <a:p>
            <a:pPr algn="just" eaLnBrk="0">
              <a:spcAft>
                <a:spcPts val="0"/>
              </a:spcAft>
            </a:pP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 expression   A </a:t>
            </a:r>
            <a:r>
              <a:rPr lang="zh-CN" alt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（条件</a:t>
            </a: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 eaLnBrk="0">
              <a:spcAft>
                <a:spcPts val="0"/>
              </a:spcAft>
            </a:pP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statements  B</a:t>
            </a:r>
            <a:r>
              <a:rPr lang="zh-CN" alt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（语句</a:t>
            </a: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 eaLnBrk="0">
              <a:spcAft>
                <a:spcPts val="0"/>
              </a:spcAft>
            </a:pP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endParaRPr lang="zh-CN" altLang="en-US" b="1" dirty="0">
              <a:solidFill>
                <a:srgbClr val="006600"/>
              </a:solidFill>
              <a:latin typeface="华文楷体" panose="0201060004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 eaLnBrk="0">
              <a:spcAft>
                <a:spcPts val="0"/>
              </a:spcAft>
            </a:pP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statements  C </a:t>
            </a:r>
            <a:r>
              <a:rPr lang="zh-CN" alt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（语句</a:t>
            </a: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 eaLnBrk="0">
              <a:spcAft>
                <a:spcPts val="0"/>
              </a:spcAft>
            </a:pP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end</a:t>
            </a:r>
            <a:endParaRPr lang="zh-CN" altLang="en-US" b="1" dirty="0">
              <a:solidFill>
                <a:srgbClr val="006600"/>
              </a:solidFill>
              <a:latin typeface="华文楷体" panose="0201060004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952B6D-60EB-4466-BA23-141A76308CB2}"/>
              </a:ext>
            </a:extLst>
          </p:cNvPr>
          <p:cNvSpPr/>
          <p:nvPr/>
        </p:nvSpPr>
        <p:spPr>
          <a:xfrm>
            <a:off x="-73319" y="2481560"/>
            <a:ext cx="30365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1600" b="1" kern="1800" dirty="0">
                <a:solidFill>
                  <a:srgbClr val="0070C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600" b="1" kern="1800" dirty="0">
                <a:solidFill>
                  <a:srgbClr val="0070C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600" b="1" kern="1800" dirty="0">
                <a:solidFill>
                  <a:srgbClr val="0070C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600" b="1" kern="1800" dirty="0">
                <a:solidFill>
                  <a:srgbClr val="0070C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宋体" panose="02010600030101010101" pitchFamily="2" charset="-122"/>
              </a:rPr>
              <a:t>ABC</a:t>
            </a:r>
            <a:r>
              <a:rPr lang="zh-CN" altLang="zh-CN" sz="1600" b="1" kern="1800" dirty="0">
                <a:solidFill>
                  <a:srgbClr val="0070C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三元运算符</a:t>
            </a:r>
            <a:endParaRPr lang="zh-CN" altLang="zh-CN" sz="16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01293C-5443-40D9-B180-7A5D40DF7315}"/>
              </a:ext>
            </a:extLst>
          </p:cNvPr>
          <p:cNvSpPr/>
          <p:nvPr/>
        </p:nvSpPr>
        <p:spPr>
          <a:xfrm>
            <a:off x="3771799" y="997766"/>
            <a:ext cx="5022461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686100" indent="-342900" algn="just">
              <a:lnSpc>
                <a:spcPts val="21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编写函数文件</a:t>
            </a:r>
            <a:r>
              <a:rPr lang="en-US" altLang="zh-CN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ttest.jl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endParaRPr lang="en-US" altLang="zh-CN" b="1" kern="100" dirty="0">
              <a:solidFill>
                <a:srgbClr val="00206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48000" indent="-304800" algn="just">
              <a:lnSpc>
                <a:spcPts val="21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function </a:t>
            </a:r>
            <a:r>
              <a:rPr lang="en-US" altLang="zh-CN" b="1" kern="100" dirty="0" err="1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ttest</a:t>
            </a: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(x, y)        </a:t>
            </a:r>
          </a:p>
          <a:p>
            <a:pPr marL="648000" indent="-304800" algn="just">
              <a:lnSpc>
                <a:spcPts val="21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if </a:t>
            </a:r>
            <a:r>
              <a:rPr lang="en-US" altLang="zh-CN" b="1" kern="100" dirty="0">
                <a:solidFill>
                  <a:srgbClr val="FF0000"/>
                </a:solidFill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 &lt; y</a:t>
            </a:r>
          </a:p>
          <a:p>
            <a:pPr marL="648000" indent="-304800" algn="just">
              <a:lnSpc>
                <a:spcPts val="21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result = "</a:t>
            </a:r>
            <a:r>
              <a:rPr lang="en-US" altLang="zh-CN" b="1" kern="100" dirty="0">
                <a:solidFill>
                  <a:srgbClr val="FF0000"/>
                </a:solidFill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less than</a:t>
            </a: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</a:p>
          <a:p>
            <a:pPr marL="648000" indent="-304800" algn="just">
              <a:lnSpc>
                <a:spcPts val="21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else</a:t>
            </a:r>
          </a:p>
          <a:p>
            <a:pPr marL="648000" indent="-304800" algn="just">
              <a:lnSpc>
                <a:spcPts val="21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result = "</a:t>
            </a:r>
            <a:r>
              <a:rPr lang="en-US" altLang="zh-CN" b="1" kern="100" dirty="0">
                <a:solidFill>
                  <a:srgbClr val="FF0000"/>
                </a:solidFill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greater than"</a:t>
            </a:r>
          </a:p>
          <a:p>
            <a:pPr marL="648000" indent="-304800" algn="just">
              <a:lnSpc>
                <a:spcPts val="21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end</a:t>
            </a:r>
          </a:p>
          <a:p>
            <a:pPr marL="648000" indent="-304800" algn="just">
              <a:lnSpc>
                <a:spcPts val="21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100" dirty="0" err="1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println</a:t>
            </a: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("x is", result, " y")  #</a:t>
            </a:r>
            <a:r>
              <a:rPr lang="zh-CN" altLang="en-US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打印显示结果</a:t>
            </a:r>
          </a:p>
          <a:p>
            <a:pPr marL="648000" indent="-304800" algn="just">
              <a:lnSpc>
                <a:spcPts val="21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end</a:t>
            </a:r>
          </a:p>
          <a:p>
            <a:pPr marL="476250" indent="-342900" algn="just">
              <a:lnSpc>
                <a:spcPts val="2100"/>
              </a:lnSpc>
              <a:spcAft>
                <a:spcPts val="0"/>
              </a:spcAft>
              <a:buFont typeface="+mj-ea"/>
              <a:buAutoNum type="circleNumDbPlain" startAt="2"/>
            </a:pP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命令窗口加载</a:t>
            </a:r>
            <a:r>
              <a:rPr lang="en-US" altLang="zh-CN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ttest.jl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33350" algn="just">
              <a:lnSpc>
                <a:spcPts val="21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julia</a:t>
            </a: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 include("</a:t>
            </a:r>
            <a:r>
              <a:rPr lang="en-US" altLang="zh-CN" b="1" kern="100" dirty="0" err="1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ttest.jl</a:t>
            </a: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")</a:t>
            </a:r>
            <a:endParaRPr lang="zh-CN" altLang="zh-CN" b="1" kern="100" dirty="0">
              <a:solidFill>
                <a:srgbClr val="00206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33350" algn="just">
              <a:lnSpc>
                <a:spcPts val="21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结果</a:t>
            </a:r>
            <a:r>
              <a:rPr lang="en-US" altLang="zh-CN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ttest</a:t>
            </a:r>
            <a:r>
              <a:rPr lang="en-US" altLang="zh-CN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(generic function with 1 method)</a:t>
            </a:r>
            <a:endParaRPr lang="zh-CN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76250" indent="-342900" algn="just">
              <a:lnSpc>
                <a:spcPts val="2100"/>
              </a:lnSpc>
              <a:spcAft>
                <a:spcPts val="0"/>
              </a:spcAft>
              <a:buFont typeface="+mj-ea"/>
              <a:buAutoNum type="circleNumDbPlain" startAt="3"/>
            </a:pP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在命令窗口调用</a:t>
            </a:r>
            <a:r>
              <a:rPr lang="en-US" altLang="zh-CN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ttest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33350" algn="just">
              <a:lnSpc>
                <a:spcPts val="21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julia</a:t>
            </a: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 </a:t>
            </a:r>
            <a:r>
              <a:rPr lang="en-US" altLang="zh-CN" b="1" kern="100" dirty="0" err="1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ttest</a:t>
            </a:r>
            <a:r>
              <a:rPr lang="en-US" altLang="zh-CN" b="1" kern="100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(2,3) </a:t>
            </a:r>
            <a:r>
              <a:rPr lang="en-US" altLang="zh-CN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#</a:t>
            </a:r>
            <a:r>
              <a:rPr lang="zh-CN" altLang="zh-CN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结果</a:t>
            </a:r>
            <a:r>
              <a:rPr lang="en-US" altLang="zh-CN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 is less than y</a:t>
            </a:r>
            <a:endParaRPr lang="zh-CN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E8EF77-EDA7-4C5A-B34D-44F70799AA7F}"/>
              </a:ext>
            </a:extLst>
          </p:cNvPr>
          <p:cNvSpPr/>
          <p:nvPr/>
        </p:nvSpPr>
        <p:spPr>
          <a:xfrm>
            <a:off x="-73319" y="4033396"/>
            <a:ext cx="31621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800" dirty="0">
                <a:solidFill>
                  <a:srgbClr val="0070C0"/>
                </a:solidFill>
                <a:ea typeface="微软雅黑" panose="020B0503020204020204" pitchFamily="34" charset="-122"/>
              </a:rPr>
              <a:t>（</a:t>
            </a:r>
            <a:r>
              <a:rPr lang="en-US" altLang="zh-CN" sz="1600" b="1" kern="1800" dirty="0">
                <a:solidFill>
                  <a:srgbClr val="0070C0"/>
                </a:solidFill>
                <a:ea typeface="微软雅黑" panose="020B0503020204020204" pitchFamily="34" charset="-122"/>
              </a:rPr>
              <a:t>3</a:t>
            </a:r>
            <a:r>
              <a:rPr lang="zh-CN" altLang="en-US" sz="1600" b="1" kern="1800" dirty="0">
                <a:solidFill>
                  <a:srgbClr val="0070C0"/>
                </a:solidFill>
                <a:ea typeface="微软雅黑" panose="020B0503020204020204" pitchFamily="34" charset="-122"/>
              </a:rPr>
              <a:t>）打印显示数值或字符串结果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E4D15D-FCA6-438C-B9FD-B55F1E5F4252}"/>
              </a:ext>
            </a:extLst>
          </p:cNvPr>
          <p:cNvSpPr/>
          <p:nvPr/>
        </p:nvSpPr>
        <p:spPr>
          <a:xfrm>
            <a:off x="7295738" y="1072381"/>
            <a:ext cx="1821930" cy="75886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zh-CN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编写条件语句的函数文件，</a:t>
            </a:r>
            <a:r>
              <a:rPr lang="zh-CN" altLang="en-US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当</a:t>
            </a:r>
            <a:r>
              <a:rPr lang="en-US" altLang="zh-CN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≠</a:t>
            </a:r>
            <a:r>
              <a:rPr lang="en-US" altLang="zh-CN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zh-CN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判断</a:t>
            </a:r>
            <a:r>
              <a:rPr lang="en-US" altLang="zh-CN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zh-CN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16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大小</a:t>
            </a:r>
            <a:endParaRPr lang="en-US" altLang="zh-CN" sz="1600" b="1" kern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波形 15">
            <a:extLst>
              <a:ext uri="{FF2B5EF4-FFF2-40B4-BE49-F238E27FC236}">
                <a16:creationId xmlns:a16="http://schemas.microsoft.com/office/drawing/2014/main" id="{C38D746B-5F6B-4430-B1D1-A391AC30C310}"/>
              </a:ext>
            </a:extLst>
          </p:cNvPr>
          <p:cNvSpPr/>
          <p:nvPr/>
        </p:nvSpPr>
        <p:spPr>
          <a:xfrm>
            <a:off x="7167706" y="1083961"/>
            <a:ext cx="278919" cy="27560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913FED-44E3-4689-A364-93A8989F6F3A}"/>
              </a:ext>
            </a:extLst>
          </p:cNvPr>
          <p:cNvSpPr/>
          <p:nvPr/>
        </p:nvSpPr>
        <p:spPr>
          <a:xfrm>
            <a:off x="109078" y="2860916"/>
            <a:ext cx="3830035" cy="1200329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algn="just" eaLnBrk="0"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各符号之间有空格 </a:t>
            </a:r>
          </a:p>
          <a:p>
            <a:pPr marL="342900" indent="-342900" algn="just" eaLnBrk="0"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是条件表达式 </a:t>
            </a:r>
          </a:p>
          <a:p>
            <a:pPr marL="342900" indent="-342900" algn="just" eaLnBrk="0"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值为真时，该三元运算符返回</a:t>
            </a: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rgbClr val="006600"/>
              </a:solidFill>
              <a:latin typeface="华文楷体" panose="0201060004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0"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值为假时，则执行</a:t>
            </a:r>
            <a:r>
              <a:rPr 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rgbClr val="006600"/>
                </a:solidFill>
                <a:latin typeface="华文楷体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语句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CC3D9E-247F-4295-A453-AA2DD770BDDD}"/>
              </a:ext>
            </a:extLst>
          </p:cNvPr>
          <p:cNvSpPr/>
          <p:nvPr/>
        </p:nvSpPr>
        <p:spPr>
          <a:xfrm>
            <a:off x="-73319" y="4832129"/>
            <a:ext cx="9217319" cy="3488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76250" indent="-342900" algn="just">
              <a:lnSpc>
                <a:spcPts val="2000"/>
              </a:lnSpc>
              <a:spcAft>
                <a:spcPts val="0"/>
              </a:spcAft>
              <a:buFont typeface="+mj-ea"/>
              <a:buAutoNum type="circleNumDbPlain" startAt="4"/>
            </a:pP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编写</a:t>
            </a: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三元运算符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: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x=2;y=3;  </a:t>
            </a:r>
            <a:r>
              <a:rPr lang="en-US" altLang="zh-CN" sz="1600" b="1" kern="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x&lt;=y ? "less than" : "greater than</a:t>
            </a:r>
            <a:r>
              <a:rPr lang="en-US" altLang="zh-CN" sz="16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16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结果</a:t>
            </a:r>
            <a:r>
              <a:rPr lang="en-US" altLang="zh-CN" sz="16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"less than"</a:t>
            </a:r>
            <a:endParaRPr lang="zh-CN" altLang="zh-CN" sz="1600" kern="100" dirty="0">
              <a:solidFill>
                <a:srgbClr val="00206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ABC799-F097-4478-A9E9-1B74E0707775}"/>
              </a:ext>
            </a:extLst>
          </p:cNvPr>
          <p:cNvSpPr txBox="1"/>
          <p:nvPr/>
        </p:nvSpPr>
        <p:spPr>
          <a:xfrm>
            <a:off x="85774" y="715885"/>
            <a:ext cx="8972452" cy="25126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anchor="t">
            <a:no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条件语句：根据给定条件成立与否，执行不同语句，为分支语句，且只执行一个分支</a:t>
            </a:r>
            <a:endParaRPr lang="en-US" altLang="ko-KR" cap="none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795E5E-3C08-0874-40A1-D3EF503434A6}"/>
              </a:ext>
            </a:extLst>
          </p:cNvPr>
          <p:cNvSpPr/>
          <p:nvPr/>
        </p:nvSpPr>
        <p:spPr>
          <a:xfrm>
            <a:off x="2202699" y="2428194"/>
            <a:ext cx="1145166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hangingPunct="0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83272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2" grpId="0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4">
            <a:extLst>
              <a:ext uri="{FF2B5EF4-FFF2-40B4-BE49-F238E27FC236}">
                <a16:creationId xmlns:a16="http://schemas.microsoft.com/office/drawing/2014/main" id="{1570383F-3E32-4E68-BAF1-1E0B3A1D1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9" y="3395560"/>
            <a:ext cx="3563888" cy="40729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）数组推导式语法格式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3ECF6204-EF7F-4EA0-B1CE-B0D8D0000377}"/>
              </a:ext>
            </a:extLst>
          </p:cNvPr>
          <p:cNvSpPr txBox="1">
            <a:spLocks/>
          </p:cNvSpPr>
          <p:nvPr/>
        </p:nvSpPr>
        <p:spPr bwMode="auto">
          <a:xfrm>
            <a:off x="308144" y="3786489"/>
            <a:ext cx="8258550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just"/>
            <a:br>
              <a:rPr lang="en-US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2000" b="1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start:step:stop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时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可用数组推导式直接得到</a:t>
            </a:r>
            <a:r>
              <a:rPr lang="en-US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C86A80-8F49-4CA1-9404-08DEE2B62719}"/>
              </a:ext>
            </a:extLst>
          </p:cNvPr>
          <p:cNvSpPr/>
          <p:nvPr/>
        </p:nvSpPr>
        <p:spPr>
          <a:xfrm>
            <a:off x="3242828" y="3373376"/>
            <a:ext cx="356388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altLang="zh-CN" kern="0" dirty="0">
                <a:solidFill>
                  <a:schemeClr val="bg1"/>
                </a:solidFill>
              </a:rPr>
              <a:t>A = </a:t>
            </a:r>
            <a:r>
              <a:rPr lang="es-ES" altLang="zh-CN" b="1" kern="0" dirty="0">
                <a:solidFill>
                  <a:schemeClr val="bg1"/>
                </a:solidFill>
                <a:highlight>
                  <a:srgbClr val="FF0000"/>
                </a:highlight>
              </a:rPr>
              <a:t>[</a:t>
            </a:r>
            <a:r>
              <a:rPr lang="es-ES" altLang="zh-CN" kern="0" dirty="0">
                <a:solidFill>
                  <a:schemeClr val="bg1"/>
                </a:solidFill>
              </a:rPr>
              <a:t> </a:t>
            </a:r>
            <a:r>
              <a:rPr lang="en-US" altLang="zh-CN" kern="0" dirty="0">
                <a:solidFill>
                  <a:schemeClr val="bg1"/>
                </a:solidFill>
              </a:rPr>
              <a:t>f</a:t>
            </a:r>
            <a:r>
              <a:rPr lang="es-ES" altLang="zh-CN" kern="0" dirty="0">
                <a:solidFill>
                  <a:schemeClr val="bg1"/>
                </a:solidFill>
              </a:rPr>
              <a:t>(x) for x=</a:t>
            </a: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lang="en-US" altLang="zh-CN" b="1" kern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start:step:stop</a:t>
            </a:r>
            <a:r>
              <a:rPr lang="es-ES" altLang="zh-CN" b="1" kern="0" dirty="0">
                <a:solidFill>
                  <a:schemeClr val="bg1"/>
                </a:solidFill>
                <a:highlight>
                  <a:srgbClr val="FF0000"/>
                </a:highlight>
              </a:rPr>
              <a:t>]</a:t>
            </a:r>
            <a:endParaRPr lang="zh-CN" altLang="en-US" b="1" kern="0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5B30B8-A52D-49E9-9E58-084EB98AC611}"/>
              </a:ext>
            </a:extLst>
          </p:cNvPr>
          <p:cNvSpPr txBox="1"/>
          <p:nvPr/>
        </p:nvSpPr>
        <p:spPr>
          <a:xfrm>
            <a:off x="7261971" y="3369080"/>
            <a:ext cx="14174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必加括号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22C4C41-FF67-444E-AAEA-AC9683A16467}"/>
              </a:ext>
            </a:extLst>
          </p:cNvPr>
          <p:cNvSpPr txBox="1"/>
          <p:nvPr/>
        </p:nvSpPr>
        <p:spPr>
          <a:xfrm>
            <a:off x="4490440" y="1050172"/>
            <a:ext cx="2023296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编写循环语句，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t=1:4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时的</a:t>
            </a:r>
            <a:r>
              <a:rPr lang="en-US" alt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v=t^2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向量值</a:t>
            </a:r>
            <a:endParaRPr lang="en-US" altLang="zh-CN" b="1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2774E421-CFEC-477F-BA09-36A69DC83510}"/>
              </a:ext>
            </a:extLst>
          </p:cNvPr>
          <p:cNvSpPr txBox="1">
            <a:spLocks/>
          </p:cNvSpPr>
          <p:nvPr/>
        </p:nvSpPr>
        <p:spPr bwMode="auto">
          <a:xfrm>
            <a:off x="1292795" y="123151"/>
            <a:ext cx="7637497" cy="469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endParaRPr lang="en-US" altLang="zh-CN" sz="2400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sz="22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二、上机实验理论</a:t>
            </a:r>
            <a:r>
              <a:rPr lang="zh-CN" altLang="en-US" sz="2200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和案例</a:t>
            </a:r>
            <a:r>
              <a:rPr lang="en-US" altLang="zh-CN" sz="22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—— 7</a:t>
            </a:r>
            <a:r>
              <a:rPr lang="zh-CN" altLang="en-US" sz="22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、循环语句</a:t>
            </a:r>
            <a:r>
              <a:rPr lang="en-US" altLang="zh-CN" sz="22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for</a:t>
            </a:r>
            <a:endParaRPr lang="zh-CN" altLang="en-US" sz="2200" kern="1800" dirty="0">
              <a:solidFill>
                <a:srgbClr val="CC6600"/>
              </a:solidFill>
              <a:latin typeface="微软雅黑" panose="020B0503020204020204" pitchFamily="34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17329A-0CA5-4FA2-BBF9-563628A44520}"/>
              </a:ext>
            </a:extLst>
          </p:cNvPr>
          <p:cNvSpPr txBox="1"/>
          <p:nvPr/>
        </p:nvSpPr>
        <p:spPr>
          <a:xfrm>
            <a:off x="367349" y="4049716"/>
            <a:ext cx="4354724" cy="614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</a:t>
            </a:r>
            <a:r>
              <a:rPr lang="zh-CN" altLang="en-US" sz="2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r>
              <a:rPr lang="en-US" altLang="zh-CN" sz="2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V=[t^2 for t=1:4]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FE7A329-E8DB-4524-882F-CD8B901809E4}"/>
              </a:ext>
            </a:extLst>
          </p:cNvPr>
          <p:cNvSpPr txBox="1"/>
          <p:nvPr/>
        </p:nvSpPr>
        <p:spPr>
          <a:xfrm>
            <a:off x="367349" y="2455418"/>
            <a:ext cx="7290444" cy="94014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anchor="t">
            <a:noAutofit/>
          </a:bodyPr>
          <a:lstStyle>
            <a:defPPr>
              <a:defRPr lang="zh-CN"/>
            </a:defPPr>
            <a:lvl1pPr marL="0" indent="0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p"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循环变量是线性等分向量，每个元素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带入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到循环体循环运算</a:t>
            </a:r>
            <a:endParaRPr lang="en-US" altLang="zh-CN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p"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输出最终结果是循环</a:t>
            </a:r>
            <a:r>
              <a:rPr lang="en-US" altLang="ko-KR" sz="18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终止值带入结果</a:t>
            </a:r>
            <a:endParaRPr lang="en-US" altLang="zh-CN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ts val="2400"/>
              </a:lnSpc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“=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”可以替换为关键字 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或者∈</a:t>
            </a:r>
          </a:p>
        </p:txBody>
      </p:sp>
      <p:sp>
        <p:nvSpPr>
          <p:cNvPr id="20" name="矩形 1">
            <a:extLst>
              <a:ext uri="{FF2B5EF4-FFF2-40B4-BE49-F238E27FC236}">
                <a16:creationId xmlns:a16="http://schemas.microsoft.com/office/drawing/2014/main" id="{6AC405D4-7639-4B16-8497-3233A06ACDC1}"/>
              </a:ext>
            </a:extLst>
          </p:cNvPr>
          <p:cNvSpPr/>
          <p:nvPr/>
        </p:nvSpPr>
        <p:spPr bwMode="auto">
          <a:xfrm>
            <a:off x="435999" y="1166766"/>
            <a:ext cx="3590351" cy="12052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循环变量</a:t>
            </a: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初始值:步长:终止值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statements 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2C6D12-1CDD-4043-8DB7-78E8FEEC4E52}"/>
              </a:ext>
            </a:extLst>
          </p:cNvPr>
          <p:cNvSpPr txBox="1"/>
          <p:nvPr/>
        </p:nvSpPr>
        <p:spPr>
          <a:xfrm>
            <a:off x="3203848" y="745639"/>
            <a:ext cx="5581130" cy="404523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anchor="t">
            <a:noAutofit/>
          </a:bodyPr>
          <a:lstStyle/>
          <a:p>
            <a:pPr algn="dist" eaLnBrk="0"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按给定条件重复执行指定语句</a:t>
            </a:r>
            <a:r>
              <a:rPr lang="en-US" altLang="zh-CN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为局部变量</a:t>
            </a:r>
            <a:endParaRPr lang="en-US" altLang="ko-KR" b="1" cap="none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479597A-D459-440F-81B2-44E3B9A3E3C0}"/>
              </a:ext>
            </a:extLst>
          </p:cNvPr>
          <p:cNvSpPr txBox="1"/>
          <p:nvPr/>
        </p:nvSpPr>
        <p:spPr>
          <a:xfrm>
            <a:off x="4461613" y="4265160"/>
            <a:ext cx="2785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 结果：1.0  4.0  9.0  16.0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465B05-5750-4C36-AD18-3F75A0DEE7EE}"/>
              </a:ext>
            </a:extLst>
          </p:cNvPr>
          <p:cNvSpPr txBox="1"/>
          <p:nvPr/>
        </p:nvSpPr>
        <p:spPr>
          <a:xfrm>
            <a:off x="6930671" y="1048011"/>
            <a:ext cx="2023297" cy="175432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v=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zeros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zh-C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t=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:4</a:t>
            </a:r>
          </a:p>
          <a:p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global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</a:p>
          <a:p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v[t]=t^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altLang="zh-CN" sz="1800" dirty="0">
              <a:solidFill>
                <a:srgbClr val="098658"/>
              </a:solidFill>
              <a:latin typeface="Consolas" panose="020B0609020204030204" pitchFamily="49" charset="0"/>
            </a:endParaRPr>
          </a:p>
          <a:p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</a:t>
            </a:r>
          </a:p>
          <a:p>
            <a:r>
              <a:rPr lang="en-US" altLang="zh-C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A538558-FA60-410E-936E-950758FE0EFB}"/>
              </a:ext>
            </a:extLst>
          </p:cNvPr>
          <p:cNvSpPr txBox="1"/>
          <p:nvPr/>
        </p:nvSpPr>
        <p:spPr>
          <a:xfrm>
            <a:off x="179512" y="680578"/>
            <a:ext cx="271588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循环结构格式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0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517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animBg="1"/>
      <p:bldP spid="10" grpId="0" animBg="1"/>
      <p:bldP spid="11" grpId="0"/>
      <p:bldP spid="14" grpId="0"/>
      <p:bldP spid="18" grpId="0"/>
      <p:bldP spid="20" grpId="0" animBg="1"/>
      <p:bldP spid="22" grpId="0" animBg="1"/>
      <p:bldP spid="24" grpId="0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A7EB4DF-DAB2-445D-9B02-94DBC8EA569C}"/>
              </a:ext>
            </a:extLst>
          </p:cNvPr>
          <p:cNvSpPr txBox="1"/>
          <p:nvPr/>
        </p:nvSpPr>
        <p:spPr>
          <a:xfrm>
            <a:off x="977017" y="19472"/>
            <a:ext cx="8136905" cy="62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600" b="1" kern="1800" dirty="0">
                <a:solidFill>
                  <a:srgbClr val="003B76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6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——1</a:t>
            </a:r>
            <a:r>
              <a:rPr lang="zh-CN" altLang="en-US" sz="26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、建立矩阵和向量</a:t>
            </a:r>
            <a:endParaRPr lang="zh-CN" altLang="zh-CN" sz="26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0A73899-6929-4F45-86FA-10308ABAC848}"/>
              </a:ext>
            </a:extLst>
          </p:cNvPr>
          <p:cNvSpPr txBox="1"/>
          <p:nvPr/>
        </p:nvSpPr>
        <p:spPr>
          <a:xfrm>
            <a:off x="294852" y="1059582"/>
            <a:ext cx="8712968" cy="3603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混合红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、绿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、蓝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光源，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模式是通过调整红、绿、蓝三种颜色的亮度值（通常范围为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0-255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）来显示不同的颜色， 各光源强度用表示</a:t>
            </a:r>
            <a:r>
              <a:rPr lang="en-US" altLang="zh-CN" sz="16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r,g,b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如生成颜色 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(120,160,200)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，建立各光源强度</a:t>
            </a:r>
            <a:r>
              <a:rPr lang="en-US" altLang="zh-CN" sz="16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r,g,b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为待解变量的方程组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1.0r+0.5g+0.2b=120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0.3r+1.0g+0.4b=160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0.1r+0.4g+1.0b=200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建立方程组系数矩阵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：提取方程等式左侧系数构成矩阵，同一方程系数用空格分开；不同方程系数构成不同行，不同行元素用分号分开 </a:t>
            </a:r>
          </a:p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建立方程组列向量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：提取方程等式右侧常数构成列向量，元素间用分号；分割</a:t>
            </a:r>
          </a:p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用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建立增广矩阵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ab=[A b],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访问矩阵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的第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 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ab[1]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7B211B-6623-49E5-B91D-B77D5C1546C4}"/>
              </a:ext>
            </a:extLst>
          </p:cNvPr>
          <p:cNvSpPr txBox="1"/>
          <p:nvPr/>
        </p:nvSpPr>
        <p:spPr>
          <a:xfrm>
            <a:off x="294852" y="725027"/>
            <a:ext cx="640871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、计算机图形学（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颜色混合模型）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数组创建和索引</a:t>
            </a:r>
          </a:p>
        </p:txBody>
      </p:sp>
    </p:spTree>
    <p:extLst>
      <p:ext uri="{BB962C8B-B14F-4D97-AF65-F5344CB8AC3E}">
        <p14:creationId xmlns:p14="http://schemas.microsoft.com/office/powerpoint/2010/main" val="28492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FB95B44-B41A-46E4-9BDB-DCB2E8E8181B}"/>
              </a:ext>
            </a:extLst>
          </p:cNvPr>
          <p:cNvSpPr txBox="1"/>
          <p:nvPr/>
        </p:nvSpPr>
        <p:spPr>
          <a:xfrm>
            <a:off x="827584" y="-13096"/>
            <a:ext cx="7776864" cy="62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600" b="1" kern="1800" dirty="0">
                <a:solidFill>
                  <a:srgbClr val="003B76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6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——2</a:t>
            </a:r>
            <a:r>
              <a:rPr lang="zh-CN" altLang="en-US" sz="26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、函数建立和函数点</a:t>
            </a:r>
            <a:r>
              <a:rPr lang="zh-CN" altLang="en-US" sz="26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运算 </a:t>
            </a:r>
            <a:endParaRPr lang="zh-CN" altLang="zh-CN" sz="26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42C0F8-C6CD-4A75-8448-4F9A780658C0}"/>
              </a:ext>
            </a:extLst>
          </p:cNvPr>
          <p:cNvSpPr txBox="1"/>
          <p:nvPr/>
        </p:nvSpPr>
        <p:spPr>
          <a:xfrm>
            <a:off x="503548" y="1563638"/>
            <a:ext cx="8136904" cy="2802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某飞机在跑道上着陆后开始滑行减速，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假设速度随时间变化函数：</a:t>
            </a:r>
            <a:r>
              <a:rPr lang="en-US" altLang="zh-CN" sz="2000" dirty="0"/>
              <a:t>v=f(t)=80exp(-0.2t)</a:t>
            </a:r>
            <a:r>
              <a:rPr lang="zh-CN" altLang="en-US" sz="2000" dirty="0"/>
              <a:t>，（</a:t>
            </a:r>
            <a:r>
              <a:rPr lang="en-US" altLang="zh-CN" sz="2000" dirty="0"/>
              <a:t>t≥0</a:t>
            </a:r>
            <a:r>
              <a:rPr lang="zh-CN" altLang="en-US" sz="2000" dirty="0"/>
              <a:t>） 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2060"/>
                </a:solidFill>
              </a:rPr>
              <a:t>① 冒号法生成时间起始值为</a:t>
            </a:r>
            <a:r>
              <a:rPr lang="en-US" altLang="zh-CN" sz="2000" dirty="0">
                <a:solidFill>
                  <a:srgbClr val="002060"/>
                </a:solidFill>
              </a:rPr>
              <a:t>0</a:t>
            </a:r>
            <a:r>
              <a:rPr lang="zh-CN" altLang="en-US" sz="2000" dirty="0">
                <a:solidFill>
                  <a:srgbClr val="002060"/>
                </a:solidFill>
              </a:rPr>
              <a:t>，终止值为</a:t>
            </a:r>
            <a:r>
              <a:rPr lang="en-US" altLang="zh-CN" sz="2000" dirty="0">
                <a:solidFill>
                  <a:srgbClr val="002060"/>
                </a:solidFill>
              </a:rPr>
              <a:t>30</a:t>
            </a:r>
            <a:r>
              <a:rPr lang="zh-CN" altLang="en-US" sz="2000" dirty="0">
                <a:solidFill>
                  <a:srgbClr val="002060"/>
                </a:solidFill>
              </a:rPr>
              <a:t>，步长为</a:t>
            </a:r>
            <a:r>
              <a:rPr lang="en-US" altLang="zh-CN" sz="2000" dirty="0">
                <a:solidFill>
                  <a:srgbClr val="002060"/>
                </a:solidFill>
              </a:rPr>
              <a:t>5</a:t>
            </a:r>
            <a:r>
              <a:rPr lang="zh-CN" altLang="en-US" sz="2000" dirty="0">
                <a:solidFill>
                  <a:srgbClr val="002060"/>
                </a:solidFill>
              </a:rPr>
              <a:t>的时间向量</a:t>
            </a:r>
            <a:r>
              <a:rPr lang="en-US" altLang="zh-CN" sz="2000" dirty="0">
                <a:solidFill>
                  <a:srgbClr val="002060"/>
                </a:solidFill>
              </a:rPr>
              <a:t>t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</a:rPr>
              <a:t>② </a:t>
            </a:r>
            <a:r>
              <a:rPr lang="zh-CN" altLang="en-US" sz="2000" dirty="0">
                <a:solidFill>
                  <a:srgbClr val="002060"/>
                </a:solidFill>
              </a:rPr>
              <a:t>采用向量点运算</a:t>
            </a:r>
            <a:r>
              <a:rPr lang="en-US" altLang="zh-CN" sz="2000" dirty="0">
                <a:solidFill>
                  <a:srgbClr val="002060"/>
                </a:solidFill>
              </a:rPr>
              <a:t>”v=@. 80exp(-0.2t)” </a:t>
            </a:r>
            <a:r>
              <a:rPr lang="zh-CN" altLang="en-US" sz="2000" dirty="0">
                <a:solidFill>
                  <a:srgbClr val="002060"/>
                </a:solidFill>
              </a:rPr>
              <a:t>，求时间</a:t>
            </a:r>
            <a:r>
              <a:rPr lang="en-US" altLang="zh-CN" sz="2000" dirty="0">
                <a:solidFill>
                  <a:srgbClr val="002060"/>
                </a:solidFill>
              </a:rPr>
              <a:t>t=0:5:30</a:t>
            </a:r>
            <a:r>
              <a:rPr lang="zh-CN" altLang="en-US" sz="2000" dirty="0">
                <a:solidFill>
                  <a:srgbClr val="002060"/>
                </a:solidFill>
              </a:rPr>
              <a:t>时速度</a:t>
            </a:r>
            <a:r>
              <a:rPr lang="en-US" altLang="zh-CN" sz="2000" dirty="0">
                <a:solidFill>
                  <a:srgbClr val="002060"/>
                </a:solidFill>
              </a:rPr>
              <a:t>v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</a:rPr>
              <a:t>③  </a:t>
            </a:r>
            <a:r>
              <a:rPr lang="zh-CN" altLang="en-US" sz="2000" dirty="0">
                <a:solidFill>
                  <a:srgbClr val="002060"/>
                </a:solidFill>
              </a:rPr>
              <a:t>建立飞机速度关于时间的简化函数</a:t>
            </a:r>
            <a:r>
              <a:rPr lang="en-US" altLang="zh-CN" sz="2000" dirty="0">
                <a:solidFill>
                  <a:srgbClr val="002060"/>
                </a:solidFill>
              </a:rPr>
              <a:t>f(t)</a:t>
            </a:r>
            <a:r>
              <a:rPr lang="zh-CN" altLang="en-US" sz="2000" dirty="0">
                <a:solidFill>
                  <a:srgbClr val="002060"/>
                </a:solidFill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2060"/>
                </a:solidFill>
              </a:rPr>
              <a:t>④  采用函数点运算</a:t>
            </a:r>
            <a:r>
              <a:rPr lang="en-US" altLang="zh-CN" sz="2000" dirty="0">
                <a:solidFill>
                  <a:srgbClr val="002060"/>
                </a:solidFill>
              </a:rPr>
              <a:t>f.()</a:t>
            </a:r>
            <a:r>
              <a:rPr lang="zh-CN" altLang="en-US" sz="2000" dirty="0">
                <a:solidFill>
                  <a:srgbClr val="002060"/>
                </a:solidFill>
              </a:rPr>
              <a:t>，计算</a:t>
            </a:r>
            <a:r>
              <a:rPr lang="en-US" altLang="zh-CN" sz="2000" dirty="0">
                <a:solidFill>
                  <a:srgbClr val="002060"/>
                </a:solidFill>
              </a:rPr>
              <a:t>t=0:5:30</a:t>
            </a:r>
            <a:r>
              <a:rPr lang="zh-CN" altLang="en-US" sz="2000" dirty="0">
                <a:solidFill>
                  <a:srgbClr val="002060"/>
                </a:solidFill>
              </a:rPr>
              <a:t>时的速度，即</a:t>
            </a:r>
            <a:r>
              <a:rPr lang="en-US" altLang="zh-CN" sz="2000" dirty="0">
                <a:solidFill>
                  <a:srgbClr val="002060"/>
                </a:solidFill>
              </a:rPr>
              <a:t>v=f.(</a:t>
            </a:r>
            <a:r>
              <a:rPr lang="zh-CN" altLang="en-US" sz="2000" dirty="0">
                <a:solidFill>
                  <a:srgbClr val="002060"/>
                </a:solidFill>
              </a:rPr>
              <a:t>赋值的时间</a:t>
            </a:r>
            <a:r>
              <a:rPr lang="en-US" altLang="zh-CN" sz="2000" dirty="0">
                <a:solidFill>
                  <a:srgbClr val="002060"/>
                </a:solidFill>
              </a:rPr>
              <a:t>t</a:t>
            </a:r>
            <a:r>
              <a:rPr lang="en-US" altLang="zh-CN" sz="2000" dirty="0"/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4003B1-B462-4D64-870A-036FA6DE8984}"/>
              </a:ext>
            </a:extLst>
          </p:cNvPr>
          <p:cNvSpPr txBox="1"/>
          <p:nvPr/>
        </p:nvSpPr>
        <p:spPr>
          <a:xfrm>
            <a:off x="534274" y="962560"/>
            <a:ext cx="81061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、飞机着陆过程运动学分析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函数创建、向量点运算和函数点运算</a:t>
            </a:r>
          </a:p>
        </p:txBody>
      </p:sp>
    </p:spTree>
    <p:extLst>
      <p:ext uri="{BB962C8B-B14F-4D97-AF65-F5344CB8AC3E}">
        <p14:creationId xmlns:p14="http://schemas.microsoft.com/office/powerpoint/2010/main" val="362448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611FB46-9D60-421E-8062-8A46BA56228C}"/>
              </a:ext>
            </a:extLst>
          </p:cNvPr>
          <p:cNvSpPr/>
          <p:nvPr/>
        </p:nvSpPr>
        <p:spPr>
          <a:xfrm>
            <a:off x="323528" y="1065326"/>
            <a:ext cx="8712968" cy="3969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/>
              <a:t>3</a:t>
            </a:r>
            <a:r>
              <a:rPr lang="zh-CN" altLang="zh-CN" dirty="0"/>
              <a:t>月</a:t>
            </a:r>
            <a:r>
              <a:rPr lang="en-US" altLang="zh-CN" dirty="0"/>
              <a:t>13</a:t>
            </a:r>
            <a:r>
              <a:rPr lang="zh-CN" altLang="zh-CN" dirty="0"/>
              <a:t>号 《哪吒</a:t>
            </a:r>
            <a:r>
              <a:rPr lang="en-US" altLang="zh-CN" dirty="0"/>
              <a:t>2</a:t>
            </a:r>
            <a:r>
              <a:rPr lang="zh-CN" altLang="zh-CN" dirty="0"/>
              <a:t>》票房为</a:t>
            </a:r>
            <a:r>
              <a:rPr lang="en-US" altLang="zh-CN" dirty="0"/>
              <a:t>149.49</a:t>
            </a:r>
            <a:r>
              <a:rPr lang="zh-CN" altLang="zh-CN" dirty="0"/>
              <a:t>亿，位于全球第六；当前全球票房第三的是《阿凡达：水之道》</a:t>
            </a:r>
            <a:r>
              <a:rPr lang="en-US" altLang="zh-CN" dirty="0"/>
              <a:t>168.25</a:t>
            </a:r>
            <a:r>
              <a:rPr lang="zh-CN" altLang="zh-CN" dirty="0"/>
              <a:t>亿；请</a:t>
            </a:r>
            <a:r>
              <a:rPr lang="zh-CN" altLang="en-US" dirty="0"/>
              <a:t>猜测</a:t>
            </a:r>
            <a:r>
              <a:rPr lang="zh-CN" altLang="zh-CN" dirty="0"/>
              <a:t>一个半月时间</a:t>
            </a:r>
            <a:r>
              <a:rPr lang="zh-CN" altLang="en-US" dirty="0"/>
              <a:t>后</a:t>
            </a:r>
            <a:r>
              <a:rPr lang="zh-CN" altLang="zh-CN" dirty="0"/>
              <a:t>，即</a:t>
            </a:r>
            <a:r>
              <a:rPr lang="en-US" altLang="zh-CN" dirty="0"/>
              <a:t>5</a:t>
            </a:r>
            <a:r>
              <a:rPr lang="zh-CN" altLang="zh-CN" dirty="0"/>
              <a:t>月</a:t>
            </a:r>
            <a:r>
              <a:rPr lang="en-US" altLang="zh-CN" dirty="0"/>
              <a:t>1</a:t>
            </a:r>
            <a:r>
              <a:rPr lang="zh-CN" altLang="zh-CN" dirty="0"/>
              <a:t>号前，</a:t>
            </a:r>
            <a:r>
              <a:rPr lang="en-US" altLang="zh-CN" dirty="0"/>
              <a:t> </a:t>
            </a:r>
            <a:r>
              <a:rPr lang="zh-CN" altLang="zh-CN" dirty="0"/>
              <a:t>哪吒票房</a:t>
            </a:r>
            <a:r>
              <a:rPr lang="zh-CN" altLang="en-US" dirty="0"/>
              <a:t>能否跃升全球</a:t>
            </a:r>
            <a:r>
              <a:rPr lang="zh-CN" altLang="zh-CN" dirty="0"/>
              <a:t>第三</a:t>
            </a:r>
            <a:r>
              <a:rPr lang="zh-CN" altLang="en-US" dirty="0"/>
              <a:t>。请</a:t>
            </a:r>
            <a:r>
              <a:rPr lang="zh-CN" altLang="zh-CN" dirty="0"/>
              <a:t>编写双分支语句，超过</a:t>
            </a:r>
            <a:r>
              <a:rPr lang="en-US" altLang="zh-CN" dirty="0"/>
              <a:t>168.25</a:t>
            </a:r>
            <a:r>
              <a:rPr lang="zh-CN" altLang="zh-CN" dirty="0"/>
              <a:t>亿，则“一个半月时间哪吒票房能跃升全球第三”，否则“一个半月时间哪吒票房难于</a:t>
            </a:r>
            <a:r>
              <a:rPr lang="zh-CN" altLang="en-US" dirty="0"/>
              <a:t>排行</a:t>
            </a:r>
            <a:r>
              <a:rPr lang="zh-CN" altLang="zh-CN" dirty="0"/>
              <a:t>全球第三” 。</a:t>
            </a:r>
          </a:p>
          <a:p>
            <a:pPr>
              <a:lnSpc>
                <a:spcPct val="125000"/>
              </a:lnSpc>
            </a:pPr>
            <a:r>
              <a:rPr lang="zh-CN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编写《哪吒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》票房双分支语句的函数文件，并改写成三元素运算符</a:t>
            </a:r>
          </a:p>
          <a:p>
            <a:pPr marL="342900" lvl="0" indent="-342900">
              <a:lnSpc>
                <a:spcPct val="125000"/>
              </a:lnSpc>
              <a:buFont typeface="+mj-ea"/>
              <a:buAutoNum type="circleNumDbPlain"/>
            </a:pPr>
            <a:r>
              <a:rPr lang="zh-CN" altLang="zh-CN" dirty="0">
                <a:solidFill>
                  <a:srgbClr val="002060"/>
                </a:solidFill>
              </a:rPr>
              <a:t>用</a:t>
            </a:r>
            <a:r>
              <a:rPr lang="en-US" altLang="zh-CN" dirty="0">
                <a:solidFill>
                  <a:srgbClr val="002060"/>
                </a:solidFill>
              </a:rPr>
              <a:t>function</a:t>
            </a:r>
            <a:r>
              <a:rPr lang="zh-CN" altLang="zh-CN" dirty="0">
                <a:solidFill>
                  <a:srgbClr val="002060"/>
                </a:solidFill>
              </a:rPr>
              <a:t>编写函数文件，根据你自己预测的票房，判断《哪吒</a:t>
            </a:r>
            <a:r>
              <a:rPr lang="en-US" altLang="zh-CN" dirty="0">
                <a:solidFill>
                  <a:srgbClr val="002060"/>
                </a:solidFill>
              </a:rPr>
              <a:t>2</a:t>
            </a:r>
            <a:r>
              <a:rPr lang="zh-CN" altLang="zh-CN" dirty="0">
                <a:solidFill>
                  <a:srgbClr val="002060"/>
                </a:solidFill>
              </a:rPr>
              <a:t>》是否能跃升第三的双分支语句， </a:t>
            </a:r>
          </a:p>
          <a:p>
            <a:pPr marL="342900" lvl="0" indent="-342900">
              <a:lnSpc>
                <a:spcPct val="125000"/>
              </a:lnSpc>
              <a:buFont typeface="+mj-ea"/>
              <a:buAutoNum type="circleNumDbPlain"/>
            </a:pPr>
            <a:r>
              <a:rPr lang="zh-CN" altLang="zh-CN" dirty="0">
                <a:solidFill>
                  <a:srgbClr val="002060"/>
                </a:solidFill>
              </a:rPr>
              <a:t>编程中请用</a:t>
            </a:r>
            <a:r>
              <a:rPr lang="en-US" altLang="zh-CN" dirty="0" err="1">
                <a:solidFill>
                  <a:srgbClr val="002060"/>
                </a:solidFill>
              </a:rPr>
              <a:t>println</a:t>
            </a:r>
            <a:r>
              <a:rPr lang="zh-CN" altLang="en-US" dirty="0">
                <a:solidFill>
                  <a:srgbClr val="002060"/>
                </a:solidFill>
              </a:rPr>
              <a:t>编写</a:t>
            </a:r>
            <a:r>
              <a:rPr lang="zh-CN" altLang="zh-CN" dirty="0">
                <a:solidFill>
                  <a:srgbClr val="002060"/>
                </a:solidFill>
              </a:rPr>
              <a:t>《哪吒</a:t>
            </a:r>
            <a:r>
              <a:rPr lang="en-US" altLang="zh-CN" dirty="0">
                <a:solidFill>
                  <a:srgbClr val="002060"/>
                </a:solidFill>
              </a:rPr>
              <a:t>2</a:t>
            </a:r>
            <a:r>
              <a:rPr lang="zh-CN" altLang="zh-CN" dirty="0">
                <a:solidFill>
                  <a:srgbClr val="002060"/>
                </a:solidFill>
              </a:rPr>
              <a:t>》是否能跃升第三的</a:t>
            </a:r>
            <a:r>
              <a:rPr lang="zh-CN" altLang="en-US" dirty="0">
                <a:solidFill>
                  <a:srgbClr val="002060"/>
                </a:solidFill>
              </a:rPr>
              <a:t>执行语句</a:t>
            </a:r>
            <a:endParaRPr lang="zh-CN" altLang="zh-CN" dirty="0">
              <a:solidFill>
                <a:srgbClr val="002060"/>
              </a:solidFill>
            </a:endParaRPr>
          </a:p>
          <a:p>
            <a:pPr marL="342900" lvl="0" indent="-342900">
              <a:lnSpc>
                <a:spcPct val="125000"/>
              </a:lnSpc>
              <a:buFont typeface="+mj-ea"/>
              <a:buAutoNum type="circleNumDbPlain"/>
            </a:pPr>
            <a:r>
              <a:rPr lang="en-US" altLang="zh-CN" dirty="0">
                <a:solidFill>
                  <a:srgbClr val="002060"/>
                </a:solidFill>
              </a:rPr>
              <a:t>Include</a:t>
            </a:r>
            <a:r>
              <a:rPr lang="zh-CN" altLang="zh-CN" dirty="0">
                <a:solidFill>
                  <a:srgbClr val="002060"/>
                </a:solidFill>
              </a:rPr>
              <a:t>运行加载函数文件，请输入你自己预测票房值调用函数文件，并</a:t>
            </a:r>
            <a:r>
              <a:rPr lang="zh-CN" altLang="en-US" dirty="0">
                <a:solidFill>
                  <a:srgbClr val="002060"/>
                </a:solidFill>
              </a:rPr>
              <a:t>提供</a:t>
            </a:r>
            <a:r>
              <a:rPr lang="zh-CN" altLang="zh-CN" dirty="0">
                <a:solidFill>
                  <a:srgbClr val="002060"/>
                </a:solidFill>
              </a:rPr>
              <a:t>结果</a:t>
            </a:r>
          </a:p>
          <a:p>
            <a:pPr marL="342900" lvl="0" indent="-342900">
              <a:lnSpc>
                <a:spcPct val="125000"/>
              </a:lnSpc>
              <a:buFont typeface="+mj-ea"/>
              <a:buAutoNum type="circleNumDbPlain"/>
            </a:pPr>
            <a:r>
              <a:rPr lang="zh-CN" altLang="zh-CN" dirty="0">
                <a:solidFill>
                  <a:srgbClr val="002060"/>
                </a:solidFill>
              </a:rPr>
              <a:t>请将双分支语句改成三元素运算符，并且运行和提供结果。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D66326-417E-43DF-AF2C-3A4C97A7DD17}"/>
              </a:ext>
            </a:extLst>
          </p:cNvPr>
          <p:cNvSpPr txBox="1"/>
          <p:nvPr/>
        </p:nvSpPr>
        <p:spPr>
          <a:xfrm>
            <a:off x="1115616" y="4945"/>
            <a:ext cx="6552728" cy="62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600" b="1" kern="1800" dirty="0">
                <a:solidFill>
                  <a:srgbClr val="003B76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6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——3</a:t>
            </a:r>
            <a:r>
              <a:rPr lang="zh-CN" altLang="en-US" sz="26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、双分支语句编程</a:t>
            </a:r>
            <a:endParaRPr lang="zh-CN" altLang="zh-CN" sz="26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245718-3536-4A07-849A-DAB0F492CD04}"/>
              </a:ext>
            </a:extLst>
          </p:cNvPr>
          <p:cNvSpPr txBox="1"/>
          <p:nvPr/>
        </p:nvSpPr>
        <p:spPr>
          <a:xfrm>
            <a:off x="323528" y="695994"/>
            <a:ext cx="777686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一个半月</a:t>
            </a:r>
            <a:r>
              <a:rPr lang="zh-CN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哪吒票房排行</a:t>
            </a:r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能否跃升全球</a:t>
            </a:r>
            <a:r>
              <a:rPr lang="zh-CN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第三——条件语句和三元运算符</a:t>
            </a:r>
          </a:p>
        </p:txBody>
      </p:sp>
    </p:spTree>
    <p:extLst>
      <p:ext uri="{BB962C8B-B14F-4D97-AF65-F5344CB8AC3E}">
        <p14:creationId xmlns:p14="http://schemas.microsoft.com/office/powerpoint/2010/main" val="399505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B3F277A-1B9F-41A0-A94D-25809D437CFC}"/>
              </a:ext>
            </a:extLst>
          </p:cNvPr>
          <p:cNvSpPr txBox="1"/>
          <p:nvPr/>
        </p:nvSpPr>
        <p:spPr>
          <a:xfrm>
            <a:off x="95111" y="774046"/>
            <a:ext cx="4620905" cy="29067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anchor="t">
            <a:no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循环语句：按照给定条件重复执行指定语句</a:t>
            </a:r>
            <a:endParaRPr lang="en-US" altLang="ko-KR" b="1" cap="none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317EBD-5C3D-4EF7-BB45-E11567E8986D}"/>
              </a:ext>
            </a:extLst>
          </p:cNvPr>
          <p:cNvSpPr/>
          <p:nvPr/>
        </p:nvSpPr>
        <p:spPr>
          <a:xfrm>
            <a:off x="59629" y="1171005"/>
            <a:ext cx="637502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棋盘米粒</a:t>
            </a:r>
            <a:r>
              <a:rPr lang="zh-CN" altLang="en-US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：ｉｉ＝</a:t>
            </a:r>
            <a:r>
              <a:rPr lang="en-US" altLang="zh-CN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0</a:t>
            </a:r>
            <a:r>
              <a:rPr lang="en-US" altLang="zh-CN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0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0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0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3</a:t>
            </a:r>
            <a:r>
              <a:rPr lang="en-US" altLang="zh-CN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…</a:t>
            </a:r>
            <a:r>
              <a:rPr lang="zh-CN" altLang="en-US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＋</a:t>
            </a:r>
            <a:r>
              <a:rPr lang="en-US" altLang="zh-CN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 2</a:t>
            </a:r>
            <a:r>
              <a:rPr lang="en-US" altLang="zh-CN" sz="20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r>
              <a:rPr lang="zh-CN" altLang="en-US" sz="20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－１</a:t>
            </a:r>
            <a:r>
              <a:rPr lang="en-US" altLang="zh-CN" sz="20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0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+….+2</a:t>
            </a:r>
            <a:r>
              <a:rPr lang="en-US" altLang="zh-CN" sz="20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64</a:t>
            </a:r>
            <a:endParaRPr lang="zh-CN" altLang="zh-CN" sz="2000" b="1" kern="1800" baseline="30000" dirty="0">
              <a:solidFill>
                <a:srgbClr val="33CCFF"/>
              </a:solidFill>
              <a:latin typeface="等线" panose="0201060003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C6E5E9-19CA-4803-B5C8-24D8202AB249}"/>
              </a:ext>
            </a:extLst>
          </p:cNvPr>
          <p:cNvSpPr txBox="1"/>
          <p:nvPr/>
        </p:nvSpPr>
        <p:spPr>
          <a:xfrm>
            <a:off x="5184843" y="1563638"/>
            <a:ext cx="15175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＋</a:t>
            </a:r>
            <a:r>
              <a:rPr lang="en-US" altLang="ko-KR" sz="2000" dirty="0" err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累计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8BBACC-7BB7-4C00-97EB-EE03B6F239ED}"/>
              </a:ext>
            </a:extLst>
          </p:cNvPr>
          <p:cNvSpPr txBox="1"/>
          <p:nvPr/>
        </p:nvSpPr>
        <p:spPr>
          <a:xfrm>
            <a:off x="6712037" y="1006777"/>
            <a:ext cx="189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ko-KR" sz="2000" kern="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循环体</a:t>
            </a:r>
            <a:r>
              <a:rPr lang="zh-CN" altLang="en-US" sz="2000" kern="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FD69D5-1763-4DD5-B9B7-DB89BBB228DD}"/>
              </a:ext>
            </a:extLst>
          </p:cNvPr>
          <p:cNvSpPr txBox="1"/>
          <p:nvPr/>
        </p:nvSpPr>
        <p:spPr>
          <a:xfrm>
            <a:off x="2367811" y="1528348"/>
            <a:ext cx="28330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－１次累计和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</a:t>
            </a:r>
            <a:r>
              <a:rPr lang="en-US" altLang="ko-KR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(k</a:t>
            </a:r>
            <a:r>
              <a: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－１）</a:t>
            </a:r>
            <a:endParaRPr lang="zh-CN" altLang="en-US" sz="2000" b="1" baseline="-25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A2F0C1-B905-4696-A7C2-2E4EACB4072B}"/>
              </a:ext>
            </a:extLst>
          </p:cNvPr>
          <p:cNvSpPr txBox="1"/>
          <p:nvPr/>
        </p:nvSpPr>
        <p:spPr>
          <a:xfrm>
            <a:off x="118030" y="1511202"/>
            <a:ext cx="2307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次累计和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</a:t>
            </a:r>
            <a:r>
              <a:rPr lang="en-US" altLang="ko-KR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(k)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＝</a:t>
            </a:r>
            <a:endParaRPr lang="zh-CN" altLang="en-US" sz="20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6FC0330A-AC2B-41BD-9A1F-66597AC1787E}"/>
              </a:ext>
            </a:extLst>
          </p:cNvPr>
          <p:cNvSpPr/>
          <p:nvPr/>
        </p:nvSpPr>
        <p:spPr bwMode="auto">
          <a:xfrm>
            <a:off x="2145577" y="1195746"/>
            <a:ext cx="2657630" cy="373093"/>
          </a:xfrm>
          <a:prstGeom prst="wedgeRoundRectCallout">
            <a:avLst>
              <a:gd name="adj1" fmla="val 332"/>
              <a:gd name="adj2" fmla="val 68335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B6F34383-AF64-4B04-BD7E-DEB44970582B}"/>
              </a:ext>
            </a:extLst>
          </p:cNvPr>
          <p:cNvSpPr/>
          <p:nvPr/>
        </p:nvSpPr>
        <p:spPr bwMode="auto">
          <a:xfrm>
            <a:off x="4900797" y="1185972"/>
            <a:ext cx="331162" cy="373093"/>
          </a:xfrm>
          <a:prstGeom prst="wedgeRoundRectCallout">
            <a:avLst>
              <a:gd name="adj1" fmla="val 160944"/>
              <a:gd name="adj2" fmla="val 66047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C1E280F-A2EF-421D-8FD6-06B169A47556}"/>
              </a:ext>
            </a:extLst>
          </p:cNvPr>
          <p:cNvSpPr txBox="1"/>
          <p:nvPr/>
        </p:nvSpPr>
        <p:spPr>
          <a:xfrm>
            <a:off x="6789387" y="1456567"/>
            <a:ext cx="1709871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代码</a:t>
            </a:r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ii=ii</a:t>
            </a:r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16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endParaRPr lang="zh-CN" altLang="en-US" sz="1600" dirty="0">
              <a:solidFill>
                <a:schemeClr val="bg1"/>
              </a:solidFill>
              <a:highlight>
                <a:srgbClr val="33CCFF"/>
              </a:highlight>
              <a:latin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016DA4-2ECE-4118-98D6-8FECDD5E8F5C}"/>
              </a:ext>
            </a:extLst>
          </p:cNvPr>
          <p:cNvSpPr/>
          <p:nvPr/>
        </p:nvSpPr>
        <p:spPr>
          <a:xfrm>
            <a:off x="156635" y="1957234"/>
            <a:ext cx="8801157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ii=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k in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或者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k=0:60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global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ii  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ii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为全局变量，否则找不到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ii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   ii=ii+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^k; 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或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ii += 2^k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复合赋值运算符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迭代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("ii=$ii")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128456-6351-4078-BCD3-8AB5323DB111}"/>
              </a:ext>
            </a:extLst>
          </p:cNvPr>
          <p:cNvSpPr/>
          <p:nvPr/>
        </p:nvSpPr>
        <p:spPr>
          <a:xfrm>
            <a:off x="2438146" y="3786407"/>
            <a:ext cx="3934054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altLang="zh-CN" sz="2000" kern="0" dirty="0">
                <a:solidFill>
                  <a:schemeClr val="bg1"/>
                </a:solidFill>
              </a:rPr>
              <a:t>A = </a:t>
            </a:r>
            <a:r>
              <a:rPr lang="es-ES" altLang="zh-CN" sz="2000" b="1" kern="0" dirty="0">
                <a:solidFill>
                  <a:schemeClr val="bg1"/>
                </a:solidFill>
                <a:highlight>
                  <a:srgbClr val="FF0000"/>
                </a:highlight>
              </a:rPr>
              <a:t>[</a:t>
            </a:r>
            <a:r>
              <a:rPr lang="es-ES" altLang="zh-CN" sz="2000" kern="0" dirty="0">
                <a:solidFill>
                  <a:schemeClr val="bg1"/>
                </a:solidFill>
              </a:rPr>
              <a:t> </a:t>
            </a:r>
            <a:r>
              <a:rPr lang="en-US" altLang="zh-CN" sz="2000" kern="0" dirty="0">
                <a:solidFill>
                  <a:schemeClr val="bg1"/>
                </a:solidFill>
              </a:rPr>
              <a:t>f</a:t>
            </a:r>
            <a:r>
              <a:rPr lang="es-ES" altLang="zh-CN" sz="2000" kern="0" dirty="0">
                <a:solidFill>
                  <a:schemeClr val="bg1"/>
                </a:solidFill>
              </a:rPr>
              <a:t>(x) for x=</a:t>
            </a:r>
            <a:r>
              <a:rPr lang="en-US" altLang="zh-CN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lang="en-US" altLang="zh-CN" sz="2000" b="1" kern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start:step:stop</a:t>
            </a:r>
            <a:r>
              <a:rPr lang="es-ES" altLang="zh-CN" sz="2000" b="1" kern="0" dirty="0">
                <a:solidFill>
                  <a:schemeClr val="bg1"/>
                </a:solidFill>
                <a:highlight>
                  <a:srgbClr val="FF0000"/>
                </a:highlight>
              </a:rPr>
              <a:t>]</a:t>
            </a:r>
            <a:endParaRPr lang="zh-CN" altLang="en-US" sz="2000" b="1" kern="0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4FCC94-7CA3-455D-A2B8-FD40FDD4DD95}"/>
              </a:ext>
            </a:extLst>
          </p:cNvPr>
          <p:cNvSpPr txBox="1"/>
          <p:nvPr/>
        </p:nvSpPr>
        <p:spPr>
          <a:xfrm>
            <a:off x="107504" y="3826664"/>
            <a:ext cx="2436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数组推导式语法格式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0C40B1E-8430-4203-9515-4EAD4ED5BFCB}"/>
              </a:ext>
            </a:extLst>
          </p:cNvPr>
          <p:cNvSpPr txBox="1"/>
          <p:nvPr/>
        </p:nvSpPr>
        <p:spPr>
          <a:xfrm>
            <a:off x="100304" y="4230287"/>
            <a:ext cx="904369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用推导式循环语句求出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格米粒构成数组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再用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个格米粒的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加起来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DA3B9DF-A377-4948-8E7F-A0524BD8DA35}"/>
              </a:ext>
            </a:extLst>
          </p:cNvPr>
          <p:cNvSpPr txBox="1"/>
          <p:nvPr/>
        </p:nvSpPr>
        <p:spPr>
          <a:xfrm>
            <a:off x="1115616" y="4945"/>
            <a:ext cx="6552728" cy="62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600" b="1" kern="1800" dirty="0">
                <a:solidFill>
                  <a:srgbClr val="003B76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6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——4</a:t>
            </a:r>
            <a:r>
              <a:rPr lang="zh-CN" altLang="en-US" sz="26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、</a:t>
            </a:r>
            <a:r>
              <a:rPr lang="zh-CN" altLang="en-US" sz="26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推导式循环编程</a:t>
            </a:r>
            <a:endParaRPr lang="zh-CN" altLang="zh-CN" sz="26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252BB51-7496-42DA-9D53-9F0C69CE5FE8}"/>
              </a:ext>
            </a:extLst>
          </p:cNvPr>
          <p:cNvSpPr txBox="1"/>
          <p:nvPr/>
        </p:nvSpPr>
        <p:spPr>
          <a:xfrm>
            <a:off x="6434649" y="3817185"/>
            <a:ext cx="2761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等线" panose="02010600030101010101" pitchFamily="2" charset="-122"/>
                <a:cs typeface="宋体" panose="02010600030101010101" pitchFamily="2" charset="-122"/>
              </a:rPr>
              <a:t>[2^k</a:t>
            </a:r>
            <a:r>
              <a:rPr lang="zh-CN" altLang="en-US" sz="1800" b="1" kern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等线" panose="02010600030101010101" pitchFamily="2" charset="-122"/>
                <a:cs typeface="宋体" panose="02010600030101010101" pitchFamily="2" charset="-122"/>
              </a:rPr>
              <a:t>循环次数</a:t>
            </a:r>
            <a:r>
              <a:rPr lang="en-US" altLang="zh-CN" sz="1800" b="1" kern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等线" panose="02010600030101010101" pitchFamily="2" charset="-122"/>
                <a:cs typeface="宋体" panose="02010600030101010101" pitchFamily="2" charset="-122"/>
              </a:rPr>
              <a:t>k=0:63)]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111B29-0D1A-44D7-957E-8D790910E1EB}"/>
              </a:ext>
            </a:extLst>
          </p:cNvPr>
          <p:cNvSpPr txBox="1"/>
          <p:nvPr/>
        </p:nvSpPr>
        <p:spPr>
          <a:xfrm>
            <a:off x="6247107" y="2357063"/>
            <a:ext cx="2710685" cy="958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zh-CN" altLang="en-US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指数增长</a:t>
            </a:r>
            <a:r>
              <a:rPr lang="en-US" altLang="zh-CN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1844</a:t>
            </a:r>
            <a:r>
              <a:rPr lang="zh-CN" altLang="en-US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亿亿</a:t>
            </a:r>
          </a:p>
          <a:p>
            <a:pPr>
              <a:lnSpc>
                <a:spcPts val="2250"/>
              </a:lnSpc>
            </a:pPr>
            <a:r>
              <a:rPr lang="zh-CN" altLang="zh-CN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米如果每秒可以数</a:t>
            </a:r>
            <a:r>
              <a:rPr lang="en-US" altLang="zh-CN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粒，数完需要大约</a:t>
            </a:r>
            <a:r>
              <a:rPr lang="en-US" altLang="zh-CN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1170</a:t>
            </a:r>
            <a:r>
              <a:rPr lang="zh-CN" altLang="zh-CN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亿年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6A5D6C6-1D85-4696-BE77-2B0E8923DA4F}"/>
              </a:ext>
            </a:extLst>
          </p:cNvPr>
          <p:cNvSpPr txBox="1"/>
          <p:nvPr/>
        </p:nvSpPr>
        <p:spPr>
          <a:xfrm>
            <a:off x="5102267" y="717398"/>
            <a:ext cx="133238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指数增长</a:t>
            </a:r>
          </a:p>
        </p:txBody>
      </p:sp>
    </p:spTree>
    <p:extLst>
      <p:ext uri="{BB962C8B-B14F-4D97-AF65-F5344CB8AC3E}">
        <p14:creationId xmlns:p14="http://schemas.microsoft.com/office/powerpoint/2010/main" val="58586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5" grpId="0" animBg="1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0FA46A3-FC11-4DC0-8E9C-DFCE5AF44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106" y="1032781"/>
            <a:ext cx="87088" cy="87088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C7FAC2D-82AC-40C3-B002-C0E00C0E93AC}"/>
              </a:ext>
            </a:extLst>
          </p:cNvPr>
          <p:cNvSpPr txBox="1"/>
          <p:nvPr/>
        </p:nvSpPr>
        <p:spPr>
          <a:xfrm>
            <a:off x="971600" y="195486"/>
            <a:ext cx="4619896" cy="46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zh-CN" sz="1800" b="1" kern="1800" dirty="0">
                <a:solidFill>
                  <a:srgbClr val="121212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四、上机实验代码和结果 </a:t>
            </a:r>
            <a:endParaRPr lang="zh-CN" altLang="zh-CN" sz="11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5D9C0F-9A6D-478E-B3BF-499AB299EDC1}"/>
              </a:ext>
            </a:extLst>
          </p:cNvPr>
          <p:cNvSpPr txBox="1"/>
          <p:nvPr/>
        </p:nvSpPr>
        <p:spPr>
          <a:xfrm>
            <a:off x="683568" y="915566"/>
            <a:ext cx="8064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必须标明题号，要求提供代码和结果，要求用小四号字体粘贴复制代码和结果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22099FB-3A80-4825-919C-0DC44B208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716426"/>
              </p:ext>
            </p:extLst>
          </p:nvPr>
        </p:nvGraphicFramePr>
        <p:xfrm>
          <a:off x="827584" y="1916270"/>
          <a:ext cx="7776864" cy="1663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1606710279"/>
                    </a:ext>
                  </a:extLst>
                </a:gridCol>
              </a:tblGrid>
              <a:tr h="541740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1600" kern="100" dirty="0">
                          <a:effectLst/>
                        </a:rPr>
                        <a:t>实验目的、工作原理、实验步骤、原始数据、结果及分析等内容完整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348" marR="59348" marT="0" marB="0" anchor="ctr"/>
                </a:tc>
                <a:extLst>
                  <a:ext uri="{0D108BD9-81ED-4DB2-BD59-A6C34878D82A}">
                    <a16:rowId xmlns:a16="http://schemas.microsoft.com/office/drawing/2014/main" val="2271616793"/>
                  </a:ext>
                </a:extLst>
              </a:tr>
              <a:tr h="51239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1600" kern="100" dirty="0">
                          <a:effectLst/>
                        </a:rPr>
                        <a:t>报告撰写规范</a:t>
                      </a:r>
                      <a:r>
                        <a:rPr lang="zh-CN" altLang="en-US" sz="1600" kern="100" dirty="0">
                          <a:effectLst/>
                        </a:rPr>
                        <a:t>，代码和结果缺一不可，</a:t>
                      </a:r>
                      <a:r>
                        <a:rPr lang="zh-CN" sz="1600" kern="100" dirty="0">
                          <a:effectLst/>
                        </a:rPr>
                        <a:t>图表清晰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348" marR="59348" marT="0" marB="0" anchor="ctr"/>
                </a:tc>
                <a:extLst>
                  <a:ext uri="{0D108BD9-81ED-4DB2-BD59-A6C34878D82A}">
                    <a16:rowId xmlns:a16="http://schemas.microsoft.com/office/drawing/2014/main" val="1939926795"/>
                  </a:ext>
                </a:extLst>
              </a:tr>
              <a:tr h="60945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1600" kern="100" dirty="0">
                          <a:effectLst/>
                        </a:rPr>
                        <a:t>实验结论（结果）表达准确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348" marR="59348" marT="0" marB="0" anchor="ctr"/>
                </a:tc>
                <a:extLst>
                  <a:ext uri="{0D108BD9-81ED-4DB2-BD59-A6C34878D82A}">
                    <a16:rowId xmlns:a16="http://schemas.microsoft.com/office/drawing/2014/main" val="1798330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585601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10989</TotalTime>
  <Pages>154</Pages>
  <Words>3026</Words>
  <Characters>0</Characters>
  <Application>Microsoft Office PowerPoint</Application>
  <DocSecurity>0</DocSecurity>
  <PresentationFormat>全屏显示(16:9)</PresentationFormat>
  <Lines>0</Lines>
  <Paragraphs>305</Paragraphs>
  <Slides>14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-apple-system</vt:lpstr>
      <vt:lpstr>Arial Unicode MS</vt:lpstr>
      <vt:lpstr>等线</vt:lpstr>
      <vt:lpstr>黑体</vt:lpstr>
      <vt:lpstr>华文楷体</vt:lpstr>
      <vt:lpstr>隶书</vt:lpstr>
      <vt:lpstr>宋体</vt:lpstr>
      <vt:lpstr>Microsoft YaHei</vt:lpstr>
      <vt:lpstr>Microsoft YaHei</vt:lpstr>
      <vt:lpstr>Arial</vt:lpstr>
      <vt:lpstr>Calibri</vt:lpstr>
      <vt:lpstr>Cambria Math</vt:lpstr>
      <vt:lpstr>Consolas</vt:lpstr>
      <vt:lpstr>Helvetica</vt:lpstr>
      <vt:lpstr>Times New Roman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856</cp:revision>
  <dcterms:modified xsi:type="dcterms:W3CDTF">2025-03-14T09:28:14Z</dcterms:modified>
</cp:coreProperties>
</file>