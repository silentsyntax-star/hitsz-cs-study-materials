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5" r:id="rId1"/>
  </p:sldMasterIdLst>
  <p:notesMasterIdLst>
    <p:notesMasterId r:id="rId14"/>
  </p:notesMasterIdLst>
  <p:sldIdLst>
    <p:sldId id="679" r:id="rId2"/>
    <p:sldId id="10105" r:id="rId3"/>
    <p:sldId id="730" r:id="rId4"/>
    <p:sldId id="2086" r:id="rId5"/>
    <p:sldId id="10108" r:id="rId6"/>
    <p:sldId id="1818" r:id="rId7"/>
    <p:sldId id="2087" r:id="rId8"/>
    <p:sldId id="10109" r:id="rId9"/>
    <p:sldId id="10110" r:id="rId10"/>
    <p:sldId id="10111" r:id="rId11"/>
    <p:sldId id="10112" r:id="rId12"/>
    <p:sldId id="10113" r:id="rId13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201" userDrawn="1">
          <p15:clr>
            <a:srgbClr val="A4A3A4"/>
          </p15:clr>
        </p15:guide>
        <p15:guide id="4" pos="2879">
          <p15:clr>
            <a:srgbClr val="A4A3A4"/>
          </p15:clr>
        </p15:guide>
        <p15:guide id="5" orient="horz" pos="3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4200">
          <p15:clr>
            <a:srgbClr val="A4A3A4"/>
          </p15:clr>
        </p15:guide>
        <p15:guide id="4" pos="287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B76"/>
    <a:srgbClr val="3399FF"/>
    <a:srgbClr val="736303"/>
    <a:srgbClr val="F0DA04"/>
    <a:srgbClr val="6D629C"/>
    <a:srgbClr val="3366FF"/>
    <a:srgbClr val="66CCFF"/>
    <a:srgbClr val="33CCFF"/>
    <a:srgbClr val="7F62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4" autoAdjust="0"/>
    <p:restoredTop sz="89133" autoAdjust="0"/>
  </p:normalViewPr>
  <p:slideViewPr>
    <p:cSldViewPr snapToObjects="1">
      <p:cViewPr varScale="1">
        <p:scale>
          <a:sx n="77" d="100"/>
          <a:sy n="77" d="100"/>
        </p:scale>
        <p:origin x="896" y="60"/>
      </p:cViewPr>
      <p:guideLst>
        <p:guide orient="horz" pos="4201"/>
        <p:guide pos="2879"/>
        <p:guide orient="horz" pos="3151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-26472"/>
    </p:cViewPr>
  </p:sorterViewPr>
  <p:notesViewPr>
    <p:cSldViewPr snapToObjects="1">
      <p:cViewPr varScale="1">
        <p:scale>
          <a:sx n="47" d="100"/>
          <a:sy n="47" d="100"/>
        </p:scale>
        <p:origin x="2694" y="60"/>
      </p:cViewPr>
      <p:guideLst>
        <p:guide orient="horz" pos="2880"/>
        <p:guide pos="2160"/>
        <p:guide orient="horz" pos="4200"/>
        <p:guide pos="28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4DA7F0C-A8F0-4487-826C-000FF0B66B21}" type="datetimeFigureOut">
              <a:rPr lang="zh-CN" altLang="en-US"/>
              <a:pPr>
                <a:defRPr/>
              </a:pPr>
              <a:t>2025/4/24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6C58412-F58B-4DA5-9529-CC0CDE1939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1653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550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altLang="zh-CN" dirty="0"/>
          </a:p>
          <a:p>
            <a:r>
              <a:rPr lang="es-ES" altLang="zh-CN" dirty="0"/>
              <a:t>&gt;&gt; x=cc(1:1400,1);</a:t>
            </a:r>
          </a:p>
          <a:p>
            <a:r>
              <a:rPr lang="es-ES" altLang="zh-CN" dirty="0"/>
              <a:t>y=cc(1:1400,2);</a:t>
            </a:r>
          </a:p>
          <a:p>
            <a:r>
              <a:rPr lang="es-ES" altLang="zh-CN" dirty="0"/>
              <a:t>&gt;&gt; trapz(x,y)</a:t>
            </a:r>
          </a:p>
          <a:p>
            <a:r>
              <a:rPr lang="es-ES" altLang="zh-CN" dirty="0"/>
              <a:t>ans =</a:t>
            </a:r>
          </a:p>
          <a:p>
            <a:r>
              <a:rPr lang="es-ES" altLang="zh-CN" dirty="0"/>
              <a:t>   4.3038e+03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AF5D7B6-9300-482A-AC6E-3BA105FED359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符号运算有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gradient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，数值运算时用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TyMath.gradient</a:t>
            </a:r>
            <a:r>
              <a:rPr lang="en-US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zh-CN" altLang="en-US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324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296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56630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A839A6-78F6-48CF-87A6-6BD8E9022C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195486"/>
            <a:ext cx="7667625" cy="438150"/>
          </a:xfrm>
        </p:spPr>
        <p:txBody>
          <a:bodyPr/>
          <a:lstStyle>
            <a:lvl1pPr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3100" y="802481"/>
            <a:ext cx="6515100" cy="547842"/>
          </a:xfrm>
        </p:spPr>
        <p:txBody>
          <a:bodyPr/>
          <a:lstStyle>
            <a:lvl1pPr marL="1778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endParaRPr lang="zh-CN" alt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024" y="4726213"/>
            <a:ext cx="8784976" cy="41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6BB9768-376B-0637-C297-1B5D054A51BD}"/>
              </a:ext>
            </a:extLst>
          </p:cNvPr>
          <p:cNvCxnSpPr/>
          <p:nvPr userDrawn="1"/>
        </p:nvCxnSpPr>
        <p:spPr bwMode="auto">
          <a:xfrm>
            <a:off x="6626" y="4645735"/>
            <a:ext cx="9144000" cy="0"/>
          </a:xfrm>
          <a:prstGeom prst="line">
            <a:avLst/>
          </a:prstGeom>
          <a:ln w="19050">
            <a:solidFill>
              <a:srgbClr val="736303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874288"/>
            <a:ext cx="7772400" cy="4308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1CB138-D962-4159-86D4-69744E72DF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73100" y="802481"/>
            <a:ext cx="3181350" cy="2394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006850" y="802481"/>
            <a:ext cx="3181350" cy="2394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AC858E-3DCE-4D01-A80F-DEA7F14DD0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32559"/>
            <a:ext cx="4040188" cy="4985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16835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32559"/>
            <a:ext cx="4041775" cy="4985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16835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2ED9D-B9E8-4415-A1AA-A51EE65F13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DE395-C011-4FCA-B35B-9450E02CE8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BEE3A-E9D9-4E9F-BCF8-FFCE31090B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3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0" y="4515966"/>
            <a:ext cx="9113837" cy="627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27330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293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B4065-B1B7-4E06-9A01-41AE3A9EC04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6340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3293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8D4F1-5252-4CE3-8F75-35C51027C8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331486" y="802481"/>
            <a:ext cx="4856714" cy="205594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E522D-DF1B-4BE4-9E38-6362FBF71D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6700" y="250031"/>
            <a:ext cx="1981200" cy="195381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607586" y="250031"/>
            <a:ext cx="4856714" cy="195381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913E49-A68C-484C-9771-B00D1343D1B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250031"/>
            <a:ext cx="7667625" cy="4381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73100" y="802481"/>
            <a:ext cx="6515100" cy="566309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A134C-C122-4DE6-ABA6-CD4CFACFA3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685800" y="42862"/>
            <a:ext cx="7772400" cy="614363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 anchor="b"/>
          <a:lstStyle/>
          <a:p>
            <a:pPr>
              <a:lnSpc>
                <a:spcPct val="85000"/>
              </a:lnSpc>
              <a:defRPr/>
            </a:pPr>
            <a:endParaRPr lang="zh-CN" altLang="en-US" sz="3400">
              <a:solidFill>
                <a:srgbClr val="002E5C"/>
              </a:solidFill>
              <a:latin typeface="Helvetica" pitchFamily="34" charset="0"/>
              <a:ea typeface="宋体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30276" y="250031"/>
            <a:ext cx="76676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3100" y="802481"/>
            <a:ext cx="6515100" cy="2055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Click to edit Master text 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pic>
        <p:nvPicPr>
          <p:cNvPr id="1029" name="Picture 5" descr="symbol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" y="330994"/>
            <a:ext cx="942975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906463" y="660797"/>
            <a:ext cx="8121650" cy="0"/>
          </a:xfrm>
          <a:prstGeom prst="line">
            <a:avLst/>
          </a:prstGeom>
          <a:noFill/>
          <a:ln w="28575">
            <a:solidFill>
              <a:srgbClr val="003B76"/>
            </a:solidFill>
            <a:round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915988" y="653653"/>
            <a:ext cx="8108950" cy="0"/>
          </a:xfrm>
          <a:prstGeom prst="line">
            <a:avLst/>
          </a:prstGeom>
          <a:noFill/>
          <a:ln w="12700">
            <a:solidFill>
              <a:srgbClr val="F0DA04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FD990E54-9BDD-4FF4-80FA-301FCBFF66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1" r:id="rId2"/>
    <p:sldLayoutId id="2147483670" r:id="rId3"/>
    <p:sldLayoutId id="2147483669" r:id="rId4"/>
    <p:sldLayoutId id="2147483668" r:id="rId5"/>
    <p:sldLayoutId id="2147483667" r:id="rId6"/>
    <p:sldLayoutId id="2147483666" r:id="rId7"/>
    <p:sldLayoutId id="2147483665" r:id="rId8"/>
    <p:sldLayoutId id="2147483664" r:id="rId9"/>
    <p:sldLayoutId id="2147483663" r:id="rId10"/>
    <p:sldLayoutId id="2147483662" r:id="rId11"/>
    <p:sldLayoutId id="2147483661" r:id="rId12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9pPr>
    </p:titleStyle>
    <p:bodyStyle>
      <a:lvl1pPr marL="1778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800" b="1">
          <a:solidFill>
            <a:srgbClr val="A50021"/>
          </a:solidFill>
          <a:latin typeface="+mn-lt"/>
          <a:ea typeface="+mn-ea"/>
          <a:cs typeface="+mn-cs"/>
        </a:defRPr>
      </a:lvl1pPr>
      <a:lvl2pPr marL="6350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2pPr>
      <a:lvl3pPr marL="10922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rgbClr val="002E5C"/>
          </a:solidFill>
          <a:latin typeface="+mn-lt"/>
        </a:defRPr>
      </a:lvl3pPr>
      <a:lvl4pPr marL="15494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4pPr>
      <a:lvl5pPr marL="20066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5pPr>
      <a:lvl6pPr marL="24638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6pPr>
      <a:lvl7pPr marL="29210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7pPr>
      <a:lvl8pPr marL="33782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8pPr>
      <a:lvl9pPr marL="38354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emf"/><Relationship Id="rId7" Type="http://schemas.openxmlformats.org/officeDocument/2006/relationships/image" Target="../media/image8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0.png"/><Relationship Id="rId5" Type="http://schemas.openxmlformats.org/officeDocument/2006/relationships/image" Target="../media/image810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0C53CF-A584-4B67-B944-0D46DC50D54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869D5C21-8453-4E8B-8FA6-9D282B0DEA91}" type="datetime1">
              <a:rPr lang="zh-CN" altLang="en-US" smtClean="0"/>
              <a:pPr>
                <a:defRPr/>
              </a:pPr>
              <a:t>2025/4/24</a:t>
            </a:fld>
            <a:endParaRPr lang="zh-CN" altLang="en-US" sz="18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8AFA89-A926-463F-9D62-0D5882BAE144}"/>
              </a:ext>
            </a:extLst>
          </p:cNvPr>
          <p:cNvSpPr txBox="1"/>
          <p:nvPr/>
        </p:nvSpPr>
        <p:spPr>
          <a:xfrm>
            <a:off x="827584" y="843558"/>
            <a:ext cx="78488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2800" b="1" kern="1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lang="en-US" altLang="zh-CN" sz="2800" b="1" kern="1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MWORKS </a:t>
            </a:r>
            <a:r>
              <a:rPr lang="en-US" altLang="zh-CN" sz="2800" b="1" kern="100" dirty="0" err="1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Syslab</a:t>
            </a:r>
            <a:r>
              <a:rPr lang="en-US" altLang="zh-CN" sz="2800" b="1" kern="1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kern="1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科学计算软件及其应用》</a:t>
            </a:r>
            <a:endParaRPr lang="zh-CN" altLang="zh-CN" sz="28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zh-CN" sz="2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第四次上机实验报告</a:t>
            </a:r>
            <a:r>
              <a:rPr lang="en-US" altLang="zh-CN" sz="2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­</a:t>
            </a:r>
            <a:endParaRPr lang="zh-CN" altLang="zh-CN" sz="28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2E161AC-E5B0-4F3B-8E67-2E8897A855E2}"/>
              </a:ext>
            </a:extLst>
          </p:cNvPr>
          <p:cNvSpPr txBox="1"/>
          <p:nvPr/>
        </p:nvSpPr>
        <p:spPr>
          <a:xfrm>
            <a:off x="719572" y="1700106"/>
            <a:ext cx="8064896" cy="6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一、</a:t>
            </a:r>
            <a:r>
              <a:rPr lang="zh-CN" altLang="en-US" sz="2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上机</a:t>
            </a:r>
            <a:r>
              <a:rPr lang="zh-CN" altLang="zh-CN" sz="28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目的：</a:t>
            </a:r>
            <a:endParaRPr lang="zh-CN" altLang="zh-CN" sz="28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3A9B3A5-5FF3-4FF2-91D3-FA3DBB1A07EA}"/>
              </a:ext>
            </a:extLst>
          </p:cNvPr>
          <p:cNvSpPr/>
          <p:nvPr/>
        </p:nvSpPr>
        <p:spPr>
          <a:xfrm>
            <a:off x="827584" y="4074372"/>
            <a:ext cx="8064896" cy="461665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dist" defTabSz="685800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kern="1800" dirty="0">
                <a:solidFill>
                  <a:srgbClr val="0070C0"/>
                </a:solidFill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建议</a:t>
            </a:r>
            <a:r>
              <a:rPr lang="en-US" altLang="zh-CN" sz="2400" b="1" kern="1800" dirty="0" err="1">
                <a:solidFill>
                  <a:srgbClr val="0070C0"/>
                </a:solidFill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fzero</a:t>
            </a:r>
            <a:r>
              <a:rPr lang="zh-CN" altLang="en-US" sz="2400" b="1" kern="1800" dirty="0">
                <a:solidFill>
                  <a:srgbClr val="0070C0"/>
                </a:solidFill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求根时最好配合</a:t>
            </a:r>
            <a:r>
              <a:rPr lang="en-US" altLang="ko-KR" sz="2400" b="1" kern="1800" dirty="0" err="1">
                <a:solidFill>
                  <a:srgbClr val="0070C0"/>
                </a:solidFill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图解法</a:t>
            </a:r>
            <a:r>
              <a:rPr lang="zh-CN" altLang="en-US" sz="2400" b="1" kern="1800" dirty="0">
                <a:solidFill>
                  <a:srgbClr val="0070C0"/>
                </a:solidFill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确认初始值</a:t>
            </a:r>
            <a:r>
              <a:rPr lang="en-US" altLang="zh-CN" sz="2400" b="1" kern="1800" dirty="0">
                <a:solidFill>
                  <a:srgbClr val="0070C0"/>
                </a:solidFill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x0</a:t>
            </a:r>
            <a:endParaRPr lang="ko-KR" altLang="en-US" sz="2400" b="1" kern="1800" dirty="0">
              <a:solidFill>
                <a:srgbClr val="0070C0"/>
              </a:solidFill>
              <a:latin typeface="等线" panose="02010600030101010101" pitchFamily="2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17149A-86FD-4620-973D-91B03F35674E}"/>
              </a:ext>
            </a:extLst>
          </p:cNvPr>
          <p:cNvSpPr txBox="1"/>
          <p:nvPr/>
        </p:nvSpPr>
        <p:spPr>
          <a:xfrm>
            <a:off x="1259632" y="2409409"/>
            <a:ext cx="6768752" cy="1578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ts val="4000"/>
              </a:lnSpc>
              <a:buFont typeface="+mj-lt"/>
              <a:buAutoNum type="arabicPeriod"/>
            </a:pPr>
            <a:r>
              <a:rPr lang="zh-CN" altLang="zh-CN" sz="24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学会数值积分</a:t>
            </a:r>
            <a:r>
              <a:rPr lang="en-US" altLang="zh-CN" sz="2400" b="1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trapz</a:t>
            </a:r>
            <a:r>
              <a:rPr lang="zh-CN" altLang="zh-CN" sz="24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en-US" altLang="zh-CN" sz="2400" b="1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cumtrapz</a:t>
            </a:r>
            <a:endParaRPr lang="zh-CN" altLang="zh-CN" sz="2400" b="1" dirty="0">
              <a:solidFill>
                <a:srgbClr val="0070C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lvl="0" indent="-342900">
              <a:lnSpc>
                <a:spcPts val="4000"/>
              </a:lnSpc>
              <a:buFont typeface="+mj-lt"/>
              <a:buAutoNum type="arabicPeriod"/>
            </a:pPr>
            <a:r>
              <a:rPr lang="zh-CN" altLang="zh-CN" sz="24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学会数值微分</a:t>
            </a:r>
            <a:r>
              <a:rPr lang="en-US" altLang="zh-CN" sz="24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gradient</a:t>
            </a:r>
            <a:r>
              <a:rPr lang="zh-CN" altLang="zh-CN" sz="24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求导</a:t>
            </a:r>
          </a:p>
          <a:p>
            <a:pPr marL="342900" lvl="0" indent="-342900">
              <a:lnSpc>
                <a:spcPts val="4000"/>
              </a:lnSpc>
              <a:buFont typeface="+mj-lt"/>
              <a:buAutoNum type="arabicPeriod"/>
            </a:pPr>
            <a:r>
              <a:rPr lang="zh-CN" altLang="zh-CN" sz="24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学会数值</a:t>
            </a:r>
            <a:r>
              <a:rPr lang="en-US" altLang="zh-CN" sz="2400" b="1" dirty="0" err="1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fzero</a:t>
            </a:r>
            <a:r>
              <a:rPr lang="zh-CN" altLang="zh-CN" sz="2400" b="1" dirty="0">
                <a:solidFill>
                  <a:srgbClr val="0070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求根 </a:t>
            </a:r>
          </a:p>
        </p:txBody>
      </p:sp>
    </p:spTree>
    <p:extLst>
      <p:ext uri="{BB962C8B-B14F-4D97-AF65-F5344CB8AC3E}">
        <p14:creationId xmlns:p14="http://schemas.microsoft.com/office/powerpoint/2010/main" val="76097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324B438-A68D-4757-BEF8-1B5323394F76}"/>
              </a:ext>
            </a:extLst>
          </p:cNvPr>
          <p:cNvSpPr txBox="1"/>
          <p:nvPr/>
        </p:nvSpPr>
        <p:spPr>
          <a:xfrm>
            <a:off x="5099715" y="3565368"/>
            <a:ext cx="1776541" cy="414889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dist"/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sz="200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坐标轴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</a:t>
            </a:r>
            <a:endParaRPr lang="en-US" altLang="zh-CN" sz="2000" cap="none" dirty="0">
              <a:solidFill>
                <a:srgbClr val="FFFF00"/>
              </a:solidFill>
              <a:highlight>
                <a:srgbClr val="21A4FF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dist"/>
            <a:r>
              <a:rPr lang="en-US" altLang="ko-KR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 algn="dist" defTabSz="63500" eaLnBrk="0">
              <a:spcBef>
                <a:spcPts val="600"/>
              </a:spcBef>
              <a:spcAft>
                <a:spcPts val="0"/>
              </a:spcAft>
            </a:pPr>
            <a:endParaRPr lang="ko-KR" altLang="en-US" sz="2000" cap="none" dirty="0">
              <a:solidFill>
                <a:srgbClr val="002060"/>
              </a:solidFill>
              <a:latin typeface="华文楷体" panose="0201060004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B9749D-A3FC-483C-AA8E-F107B1A857FB}"/>
              </a:ext>
            </a:extLst>
          </p:cNvPr>
          <p:cNvSpPr/>
          <p:nvPr/>
        </p:nvSpPr>
        <p:spPr>
          <a:xfrm>
            <a:off x="691967" y="3507854"/>
            <a:ext cx="2791149" cy="461665"/>
          </a:xfrm>
          <a:prstGeom prst="rect">
            <a:avLst/>
          </a:prstGeom>
          <a:solidFill>
            <a:schemeClr val="bg1"/>
          </a:solidFill>
        </p:spPr>
        <p:txBody>
          <a:bodyPr vert="horz" wrap="none" lIns="91440" tIns="45720" rIns="91440" bIns="45720" numCol="1" anchor="t">
            <a:spAutoFit/>
          </a:bodyPr>
          <a:lstStyle/>
          <a:p>
            <a:pPr marL="457200" indent="-457200" eaLnBrk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梯形积分</a:t>
            </a:r>
            <a:r>
              <a:rPr lang="en-US" altLang="zh-CN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trapz</a:t>
            </a:r>
            <a:r>
              <a:rPr lang="en-US" altLang="ko-KR" sz="2400" cap="none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ko-KR" altLang="en-US" sz="2400" cap="none" dirty="0">
              <a:solidFill>
                <a:srgbClr val="000000"/>
              </a:solidFill>
              <a:latin typeface="华文楷体" panose="0201060004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44C90B-D850-4ABC-AC73-C81B36B4D0B2}"/>
              </a:ext>
            </a:extLst>
          </p:cNvPr>
          <p:cNvSpPr/>
          <p:nvPr/>
        </p:nvSpPr>
        <p:spPr>
          <a:xfrm>
            <a:off x="4304324" y="4045183"/>
            <a:ext cx="2167861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ko-KR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 Z=</a:t>
            </a:r>
            <a:r>
              <a:rPr lang="en-US" altLang="ko-KR" sz="2000" b="1" kern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21A4FF"/>
                </a:highligh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cum</a:t>
            </a:r>
            <a:r>
              <a:rPr lang="en-US" altLang="ko-KR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trapz</a:t>
            </a:r>
            <a:r>
              <a:rPr lang="en-US" altLang="ko-KR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x</a:t>
            </a:r>
            <a:r>
              <a:rPr lang="en-US" altLang="ko-KR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y</a:t>
            </a:r>
            <a:r>
              <a:rPr lang="en-US" altLang="ko-KR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A86D40-FC81-4985-99D0-57717E675EDE}"/>
              </a:ext>
            </a:extLst>
          </p:cNvPr>
          <p:cNvSpPr/>
          <p:nvPr/>
        </p:nvSpPr>
        <p:spPr>
          <a:xfrm>
            <a:off x="644436" y="4034445"/>
            <a:ext cx="3922869" cy="461665"/>
          </a:xfrm>
          <a:prstGeom prst="rect">
            <a:avLst/>
          </a:prstGeom>
        </p:spPr>
        <p:txBody>
          <a:bodyPr vert="horz" wrap="none" lIns="91440" tIns="45720" rIns="91440" bIns="45720" numCol="1" anchor="t">
            <a:spAutoFit/>
          </a:bodyPr>
          <a:lstStyle/>
          <a:p>
            <a:pPr marL="457200" indent="-457200" eaLnBrk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累积梯形积分</a:t>
            </a:r>
            <a:r>
              <a:rPr lang="en-US" altLang="zh-CN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cumtrapz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DC7FD23-CA0C-41F3-A8DF-924C03F332EA}"/>
              </a:ext>
            </a:extLst>
          </p:cNvPr>
          <p:cNvSpPr/>
          <p:nvPr/>
        </p:nvSpPr>
        <p:spPr>
          <a:xfrm>
            <a:off x="3303765" y="3543234"/>
            <a:ext cx="1661212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ko-KR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 Z=</a:t>
            </a:r>
            <a:r>
              <a:rPr lang="en-US" altLang="ko-KR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trapz</a:t>
            </a:r>
            <a:r>
              <a:rPr lang="en-US" altLang="ko-KR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x</a:t>
            </a:r>
            <a:r>
              <a:rPr lang="en-US" altLang="ko-KR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y</a:t>
            </a:r>
            <a:r>
              <a:rPr lang="en-US" altLang="ko-KR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24BE94-1AC6-4EA1-A950-E3D0D3C3DC2D}"/>
              </a:ext>
            </a:extLst>
          </p:cNvPr>
          <p:cNvSpPr/>
          <p:nvPr/>
        </p:nvSpPr>
        <p:spPr>
          <a:xfrm>
            <a:off x="6338703" y="875816"/>
            <a:ext cx="2439964" cy="289310"/>
          </a:xfrm>
          <a:prstGeom prst="rect">
            <a:avLst/>
          </a:prstGeom>
          <a:solidFill>
            <a:srgbClr val="0070C0"/>
          </a:solidFill>
        </p:spPr>
        <p:txBody>
          <a:bodyPr vert="horz" wrap="square" lIns="91440" tIns="45720" rIns="91440" bIns="45720" numCol="1" anchor="t">
            <a:spAutoFit/>
          </a:bodyPr>
          <a:lstStyle/>
          <a:p>
            <a:pPr defTabSz="63500" eaLnBrk="0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常用离散实验数据的积分</a:t>
            </a:r>
            <a:endParaRPr lang="ko-KR" altLang="en-US" sz="16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1721FE8A-B158-4E52-A786-80F7D6122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967" y="771499"/>
            <a:ext cx="5646736" cy="438150"/>
          </a:xfrm>
          <a:solidFill>
            <a:schemeClr val="bg1"/>
          </a:solidFill>
        </p:spPr>
        <p:txBody>
          <a:bodyPr/>
          <a:lstStyle/>
          <a:p>
            <a:pPr>
              <a:tabLst>
                <a:tab pos="457200" algn="l"/>
              </a:tabLst>
            </a:pPr>
            <a:r>
              <a:rPr lang="en-US" altLang="zh-CN" sz="22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2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梯形积分</a:t>
            </a:r>
            <a:r>
              <a:rPr lang="en-US" altLang="zh-CN" sz="2200" kern="12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trapz</a:t>
            </a:r>
            <a:r>
              <a:rPr lang="zh-CN" altLang="en-US" sz="22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和累积梯形积分</a:t>
            </a:r>
            <a:r>
              <a:rPr lang="en-US" altLang="zh-CN" sz="2200" kern="12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cumtrapz</a:t>
            </a:r>
            <a:endParaRPr lang="zh-CN" altLang="en-US" sz="2200" kern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A8A92ED1-1150-457E-957C-476D4A6E5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170" y="1233077"/>
            <a:ext cx="5364637" cy="847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4D12FB6C-8988-4089-A920-EEB12CA7DA5E}"/>
              </a:ext>
            </a:extLst>
          </p:cNvPr>
          <p:cNvSpPr txBox="1"/>
          <p:nvPr/>
        </p:nvSpPr>
        <p:spPr>
          <a:xfrm>
            <a:off x="510954" y="2091365"/>
            <a:ext cx="5701996" cy="1232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145" marR="0" lvl="0" indent="-457200" algn="l" defTabSz="63500" rtl="0" eaLnBrk="0" fontAlgn="base" latinLnBrk="0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一般按照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等步长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b-a)/n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区间线性等分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份，求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个子区的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144145" marR="0" lvl="0" indent="-457200" algn="l" defTabSz="63500" rtl="0" eaLnBrk="0" fontAlgn="base" latinLnBrk="0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梯形面积和</a:t>
            </a:r>
            <a:endParaRPr lang="zh-CN" altLang="en-US" sz="2400" dirty="0"/>
          </a:p>
        </p:txBody>
      </p:sp>
      <p:pic>
        <p:nvPicPr>
          <p:cNvPr id="20" name="Picture 471" descr="Math GIF">
            <a:extLst>
              <a:ext uri="{FF2B5EF4-FFF2-40B4-BE49-F238E27FC236}">
                <a16:creationId xmlns:a16="http://schemas.microsoft.com/office/drawing/2014/main" id="{3C3D6E73-ED9D-4424-B9F9-9FA1FEB5744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703" y="1398914"/>
            <a:ext cx="2769801" cy="138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CB59126F-DA3E-414C-949B-1D2D9A87483C}"/>
              </a:ext>
            </a:extLst>
          </p:cNvPr>
          <p:cNvSpPr txBox="1"/>
          <p:nvPr/>
        </p:nvSpPr>
        <p:spPr>
          <a:xfrm>
            <a:off x="693107" y="22604"/>
            <a:ext cx="5319053" cy="6247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6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</a:t>
            </a:r>
            <a:r>
              <a:rPr lang="zh-CN" altLang="en-US" sz="26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梯形积分数值计算</a:t>
            </a:r>
            <a:r>
              <a:rPr lang="zh-CN" altLang="zh-CN" sz="26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理论</a:t>
            </a:r>
            <a:r>
              <a:rPr lang="zh-CN" altLang="en-US" sz="26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endParaRPr lang="zh-CN" altLang="zh-CN" sz="26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42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l="6596" t="10100" r="7476" b="8000"/>
          <a:stretch>
            <a:fillRect/>
          </a:stretch>
        </p:blipFill>
        <p:spPr>
          <a:xfrm>
            <a:off x="7074363" y="1449250"/>
            <a:ext cx="1920791" cy="1492922"/>
          </a:xfrm>
          <a:prstGeom prst="rect">
            <a:avLst/>
          </a:prstGeom>
        </p:spPr>
      </p:pic>
      <p:sp>
        <p:nvSpPr>
          <p:cNvPr id="31" name="文本框 6"/>
          <p:cNvSpPr txBox="1">
            <a:spLocks noChangeArrowheads="1"/>
          </p:cNvSpPr>
          <p:nvPr/>
        </p:nvSpPr>
        <p:spPr bwMode="auto">
          <a:xfrm>
            <a:off x="413950" y="969325"/>
            <a:ext cx="7304219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dist">
              <a:spcBef>
                <a:spcPct val="0"/>
              </a:spcBef>
              <a:buClrTx/>
              <a:buSzTx/>
              <a:buNone/>
            </a:pP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(1)area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绘制多孔材料的压缩应力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应变曲线的面积图和积分值</a:t>
            </a:r>
          </a:p>
        </p:txBody>
      </p:sp>
      <p:sp>
        <p:nvSpPr>
          <p:cNvPr id="3" name="矩形 2"/>
          <p:cNvSpPr/>
          <p:nvPr/>
        </p:nvSpPr>
        <p:spPr>
          <a:xfrm>
            <a:off x="353689" y="1070149"/>
            <a:ext cx="8699988" cy="348900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defTabSz="0" eaLnBrk="0" hangingPunct="0">
              <a:spcBef>
                <a:spcPts val="0"/>
              </a:spcBef>
            </a:pPr>
            <a:endParaRPr lang="zh-CN" altLang="en-US" sz="22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6"/>
          <p:cNvSpPr txBox="1">
            <a:spLocks noChangeArrowheads="1"/>
          </p:cNvSpPr>
          <p:nvPr/>
        </p:nvSpPr>
        <p:spPr bwMode="auto">
          <a:xfrm>
            <a:off x="7304269" y="1901149"/>
            <a:ext cx="14757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dist">
              <a:spcBef>
                <a:spcPct val="0"/>
              </a:spcBef>
              <a:buClrTx/>
              <a:buSzTx/>
              <a:buNone/>
            </a:pPr>
            <a:r>
              <a:rPr lang="zh-CN" altLang="en-US" sz="12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计算压缩曲线下总面积即</a:t>
            </a:r>
            <a:r>
              <a:rPr lang="zh-CN" altLang="en-US" sz="12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cs typeface="Times New Roman" panose="02020603050405020304" pitchFamily="18" charset="0"/>
              </a:rPr>
              <a:t>总吸能量</a:t>
            </a:r>
            <a:endParaRPr lang="zh-CN" altLang="en-US" sz="1200" dirty="0">
              <a:solidFill>
                <a:srgbClr val="002060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5279" y="1283512"/>
            <a:ext cx="8588481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2000"/>
              </a:lnSpc>
            </a:pP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xy=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readtable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("tial.csv")  #x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是浮点数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Vector{Float64}  </a:t>
            </a:r>
          </a:p>
          <a:p>
            <a:pPr eaLnBrk="0" hangingPunct="0">
              <a:lnSpc>
                <a:spcPts val="2000"/>
              </a:lnSpc>
            </a:pP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x=xy[:,1]/100 #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第一列应变作为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轴数据</a:t>
            </a:r>
          </a:p>
          <a:p>
            <a:pPr eaLnBrk="0" hangingPunct="0">
              <a:lnSpc>
                <a:spcPts val="2000"/>
              </a:lnSpc>
            </a:pP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y=xy[:,2] #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第二列应力作为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轴数据</a:t>
            </a:r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0" hangingPunct="0">
              <a:lnSpc>
                <a:spcPts val="2000"/>
              </a:lnSpc>
            </a:pP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area(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x,y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 #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面积图，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轴应变，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轴应力</a:t>
            </a:r>
          </a:p>
          <a:p>
            <a:pPr eaLnBrk="0" hangingPunct="0">
              <a:lnSpc>
                <a:spcPts val="2000"/>
              </a:lnSpc>
            </a:pP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xlabel(raw"$\epsilon$") #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标注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轴为应变</a:t>
            </a:r>
            <a:r>
              <a:rPr lang="el-GR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ε</a:t>
            </a:r>
          </a:p>
          <a:p>
            <a:pPr eaLnBrk="0" hangingPunct="0">
              <a:lnSpc>
                <a:spcPts val="2000"/>
              </a:lnSpc>
            </a:pP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ylabel(raw"$\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sigma$,MPa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") #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标注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轴为应力</a:t>
            </a:r>
            <a:r>
              <a:rPr lang="el-GR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σ</a:t>
            </a:r>
          </a:p>
          <a:p>
            <a:pPr>
              <a:lnSpc>
                <a:spcPts val="2000"/>
              </a:lnSpc>
            </a:pP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trapz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#</a:t>
            </a:r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</a:t>
            </a:r>
            <a:r>
              <a:rPr lang="pt-BR" altLang="zh-CN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72.17014577639301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A34BC26-772D-4DD9-8829-4C48A7E4F100}"/>
              </a:ext>
            </a:extLst>
          </p:cNvPr>
          <p:cNvSpPr txBox="1"/>
          <p:nvPr/>
        </p:nvSpPr>
        <p:spPr>
          <a:xfrm>
            <a:off x="740979" y="-37363"/>
            <a:ext cx="7185645" cy="624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6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</a:t>
            </a:r>
            <a:r>
              <a:rPr lang="zh-CN" altLang="en-US" sz="26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梯形积分</a:t>
            </a:r>
            <a:r>
              <a:rPr lang="en-US" altLang="zh-CN" sz="2600" b="1" kern="1800" dirty="0" err="1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trapz</a:t>
            </a:r>
            <a:r>
              <a:rPr lang="zh-CN" altLang="en-US" sz="26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和</a:t>
            </a:r>
            <a:r>
              <a:rPr lang="en-US" altLang="zh-CN" sz="2600" b="1" kern="1800" dirty="0" err="1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cumtrapz</a:t>
            </a:r>
            <a:r>
              <a:rPr lang="zh-CN" altLang="en-US" sz="26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数值计算案</a:t>
            </a:r>
            <a:r>
              <a:rPr lang="zh-CN" altLang="en-US" sz="2600" b="1" kern="1800" dirty="0">
                <a:solidFill>
                  <a:srgbClr val="003B76"/>
                </a:solidFill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例</a:t>
            </a:r>
            <a:endParaRPr lang="zh-CN" altLang="zh-CN" sz="26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DE8E0334-2261-461B-BD7D-A759E93D5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207" y="3042919"/>
            <a:ext cx="4718858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buClrTx/>
              <a:buSzTx/>
              <a:buFont typeface="Wingdings" panose="05000000000000000000" pitchFamily="2" charset="2"/>
              <a:buNone/>
              <a:defRPr kumimoji="1" sz="20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zh-CN" sz="1600" b="0" dirty="0"/>
              <a:t>(2)</a:t>
            </a:r>
            <a:r>
              <a:rPr lang="en-US" altLang="zh-CN" sz="1600" b="0" dirty="0" err="1"/>
              <a:t>cumtrapz</a:t>
            </a:r>
            <a:r>
              <a:rPr lang="zh-CN" altLang="en-US" sz="1600" b="0" dirty="0"/>
              <a:t>计算不同压下量的面积</a:t>
            </a:r>
            <a:r>
              <a:rPr lang="en-US" altLang="zh-CN" sz="1600" b="0" dirty="0"/>
              <a:t>—</a:t>
            </a:r>
            <a:r>
              <a:rPr lang="zh-CN" altLang="en-US" sz="1600" b="0" dirty="0"/>
              <a:t>累积吸能量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841827C-FD44-412D-A0E7-0F0A517E9E3C}"/>
              </a:ext>
            </a:extLst>
          </p:cNvPr>
          <p:cNvSpPr txBox="1"/>
          <p:nvPr/>
        </p:nvSpPr>
        <p:spPr>
          <a:xfrm>
            <a:off x="455279" y="3349367"/>
            <a:ext cx="8581217" cy="1374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2000"/>
              </a:lnSpc>
            </a:pP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Ec=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cumtrapz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x,y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); </a:t>
            </a:r>
          </a:p>
          <a:p>
            <a:pPr eaLnBrk="0" hangingPunct="0">
              <a:lnSpc>
                <a:spcPts val="2000"/>
              </a:lnSpc>
            </a:pP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泡沫铝复合材料累积吸能曲线</a:t>
            </a:r>
          </a:p>
          <a:p>
            <a:pPr eaLnBrk="0" hangingPunct="0">
              <a:lnSpc>
                <a:spcPts val="2000"/>
              </a:lnSpc>
            </a:pP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plot(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x,Ec,linewidth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=2); </a:t>
            </a:r>
          </a:p>
          <a:p>
            <a:pPr eaLnBrk="0" hangingPunct="0">
              <a:lnSpc>
                <a:spcPts val="2000"/>
              </a:lnSpc>
            </a:pP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xlabel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("Strain/ %"); #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标注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轴为应变</a:t>
            </a:r>
            <a:endParaRPr lang="en-US" altLang="zh-CN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0" hangingPunct="0">
              <a:lnSpc>
                <a:spcPts val="2000"/>
              </a:lnSpc>
            </a:pP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ylabel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raw"Energy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absorption MJ/$m^{3}$" ) #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标注</a:t>
            </a:r>
            <a:r>
              <a:rPr lang="en-US" altLang="zh-CN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轴为累积吸能量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4146D81-FC59-47FC-B618-E12553E577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475" t="11313" r="6688" b="6601"/>
          <a:stretch>
            <a:fillRect/>
          </a:stretch>
        </p:blipFill>
        <p:spPr>
          <a:xfrm>
            <a:off x="7165671" y="3205351"/>
            <a:ext cx="1839006" cy="1310615"/>
          </a:xfrm>
          <a:prstGeom prst="rect">
            <a:avLst/>
          </a:prstGeom>
        </p:spPr>
      </p:pic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F30C4475-4DD6-49B3-B725-860E29D1E578}"/>
              </a:ext>
            </a:extLst>
          </p:cNvPr>
          <p:cNvSpPr txBox="1"/>
          <p:nvPr/>
        </p:nvSpPr>
        <p:spPr bwMode="auto">
          <a:xfrm>
            <a:off x="3763258" y="2006102"/>
            <a:ext cx="1663125" cy="24657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indent="0" defTabSz="0" eaLnBrk="0" hangingPunct="0">
              <a:lnSpc>
                <a:spcPts val="16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kern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defRPr>
            </a:lvl1pPr>
            <a:lvl2pPr marL="742950" indent="-285750" defTabSz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+mn-lt"/>
                <a:ea typeface="+mn-ea"/>
              </a:defRPr>
            </a:lvl2pPr>
            <a:lvl3pPr marL="1143000" indent="-228600" defTabSz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+mn-lt"/>
                <a:ea typeface="+mn-ea"/>
              </a:defRPr>
            </a:lvl3pPr>
            <a:lvl4pPr marL="1600200" indent="-228600" defTabSz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+mn-lt"/>
                <a:ea typeface="+mn-ea"/>
              </a:defRPr>
            </a:lvl4pPr>
            <a:lvl5pPr marL="2057400" indent="-228600" defTabSz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+mn-lt"/>
                <a:ea typeface="+mn-ea"/>
              </a:defRPr>
            </a:lvl5pPr>
            <a:lvl6pPr marL="2514600" indent="-228600" defTabSz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+mn-lt"/>
                <a:ea typeface="+mn-ea"/>
              </a:defRPr>
            </a:lvl6pPr>
            <a:lvl7pPr marL="2971800" indent="-228600" defTabSz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+mn-lt"/>
                <a:ea typeface="+mn-ea"/>
              </a:defRPr>
            </a:lvl7pPr>
            <a:lvl8pPr marL="3429000" indent="-228600" defTabSz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+mn-lt"/>
                <a:ea typeface="+mn-ea"/>
              </a:defRPr>
            </a:lvl8pPr>
            <a:lvl9pPr marL="3886200" indent="-228600" defTabSz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+mn-lt"/>
                <a:ea typeface="+mn-ea"/>
              </a:defRPr>
            </a:lvl9pPr>
          </a:lstStyle>
          <a:p>
            <a:r>
              <a:rPr lang="zh-CN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总吸收能量</a:t>
            </a:r>
          </a:p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2C621AEC-0E00-4215-B59B-5B9497354464}"/>
              </a:ext>
            </a:extLst>
          </p:cNvPr>
          <p:cNvSpPr txBox="1"/>
          <p:nvPr/>
        </p:nvSpPr>
        <p:spPr bwMode="auto">
          <a:xfrm>
            <a:off x="7303444" y="3290879"/>
            <a:ext cx="1302387" cy="22362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lnSpc>
                <a:spcPts val="16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累积</a:t>
            </a:r>
            <a:r>
              <a:rPr lang="zh-CN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吸能</a:t>
            </a:r>
            <a:endParaRPr lang="zh-CN" altLang="zh-CN" sz="2200" kern="1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2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A1DB17-3107-471F-908E-AE11BA9F31F1}"/>
              </a:ext>
            </a:extLst>
          </p:cNvPr>
          <p:cNvSpPr txBox="1"/>
          <p:nvPr/>
        </p:nvSpPr>
        <p:spPr>
          <a:xfrm>
            <a:off x="580419" y="723214"/>
            <a:ext cx="8414735" cy="441757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dist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由压缩实验应力平台积分得到总吸能量和累积吸能曲线</a:t>
            </a:r>
            <a:endParaRPr lang="zh-CN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dist" defTabSz="63500" eaLnBrk="0">
              <a:spcBef>
                <a:spcPts val="600"/>
              </a:spcBef>
              <a:spcAft>
                <a:spcPts val="0"/>
              </a:spcAft>
            </a:pPr>
            <a:endParaRPr lang="ko-KR" altLang="en-US" b="1" cap="none" dirty="0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A5FBC48B-93DF-4400-8ECA-B4D51BE6D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597" y="1450670"/>
            <a:ext cx="1475798" cy="544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">
            <a:extLst>
              <a:ext uri="{FF2B5EF4-FFF2-40B4-BE49-F238E27FC236}">
                <a16:creationId xmlns:a16="http://schemas.microsoft.com/office/drawing/2014/main" id="{C1B98B78-1ED3-43A4-A279-559353204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61" y="3909660"/>
            <a:ext cx="1217950" cy="51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301F01C-7757-474A-B295-F03BB8874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73" y="1149827"/>
            <a:ext cx="363901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(1) diff</a:t>
            </a:r>
            <a:r>
              <a:rPr kumimoji="0" lang="zh-CN" altLang="en-US" sz="22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数值向前差分及求导</a:t>
            </a:r>
            <a:endParaRPr kumimoji="0" lang="zh-CN" altLang="en-US" sz="220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6A4FA71-51BF-43A7-BB7E-9232B01E5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032" y="1582413"/>
            <a:ext cx="3828845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dist" defTabSz="0" eaLnBrk="0" hangingPunct="0">
              <a:lnSpc>
                <a:spcPct val="90000"/>
              </a:lnSpc>
            </a:pPr>
            <a:r>
              <a:rPr lang="en-US" altLang="zh-CN" sz="2000" dirty="0">
                <a:solidFill>
                  <a:srgbClr val="003B7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zh-CN" altLang="en-US" sz="2000" dirty="0">
                <a:solidFill>
                  <a:srgbClr val="003B7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个元素向量</a:t>
            </a:r>
            <a:r>
              <a:rPr lang="en-US" altLang="zh-CN" sz="2000" dirty="0">
                <a:solidFill>
                  <a:srgbClr val="003B7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</a:t>
            </a:r>
            <a:r>
              <a:rPr lang="zh-CN" altLang="en-US" sz="2000" dirty="0">
                <a:solidFill>
                  <a:srgbClr val="003B7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的向前一阶差分：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288D917B-BF44-42AB-98EA-41F97AC96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52" y="2031834"/>
            <a:ext cx="3120611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dist" defTabSz="0" eaLnBrk="0" hangingPunct="0">
              <a:lnSpc>
                <a:spcPct val="90000"/>
              </a:lnSpc>
            </a:pPr>
            <a:r>
              <a:rPr lang="zh-CN" altLang="zh-CN" sz="2000" dirty="0">
                <a:solidFill>
                  <a:srgbClr val="003B7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使用差分</a:t>
            </a:r>
            <a:r>
              <a:rPr lang="en-US" altLang="zh-CN" sz="2000" dirty="0">
                <a:solidFill>
                  <a:srgbClr val="003B7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diff</a:t>
            </a:r>
            <a:r>
              <a:rPr lang="zh-CN" altLang="en-US" sz="2000" dirty="0">
                <a:solidFill>
                  <a:srgbClr val="003B7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近似求导数：</a:t>
            </a: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292275E0-4AC3-4745-A17E-486283095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" y="2489181"/>
            <a:ext cx="481876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gradient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数值中心差分及求导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7DD2BB3-38DD-4418-98B6-9B794ECDE39E}"/>
              </a:ext>
            </a:extLst>
          </p:cNvPr>
          <p:cNvSpPr/>
          <p:nvPr/>
        </p:nvSpPr>
        <p:spPr>
          <a:xfrm>
            <a:off x="327158" y="3085012"/>
            <a:ext cx="2825728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dist" defTabSz="0" eaLnBrk="0" hangingPunct="0">
              <a:lnSpc>
                <a:spcPct val="90000"/>
              </a:lnSpc>
            </a:pPr>
            <a:r>
              <a:rPr lang="en-US" altLang="zh-CN" sz="2000" dirty="0">
                <a:solidFill>
                  <a:srgbClr val="003B7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zh-CN" altLang="en-US" sz="2000" dirty="0">
                <a:solidFill>
                  <a:srgbClr val="003B7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个元素向量</a:t>
            </a:r>
            <a:r>
              <a:rPr lang="en-US" altLang="zh-CN" sz="2000" dirty="0">
                <a:solidFill>
                  <a:srgbClr val="003B7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</a:t>
            </a:r>
            <a:r>
              <a:rPr lang="zh-CN" altLang="en-US" sz="2000" dirty="0">
                <a:solidFill>
                  <a:srgbClr val="003B7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中心差分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CBFD6A4-95F2-427A-9DF4-BEBF956A788B}"/>
              </a:ext>
            </a:extLst>
          </p:cNvPr>
          <p:cNvSpPr/>
          <p:nvPr/>
        </p:nvSpPr>
        <p:spPr>
          <a:xfrm>
            <a:off x="326844" y="3588786"/>
            <a:ext cx="1847105" cy="3715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dist" defTabSz="0" eaLnBrk="0" hangingPunct="0">
              <a:lnSpc>
                <a:spcPct val="90000"/>
              </a:lnSpc>
            </a:pPr>
            <a:r>
              <a:rPr lang="zh-CN" altLang="en-US" sz="2000" dirty="0">
                <a:solidFill>
                  <a:srgbClr val="003B7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一维数值梯度</a:t>
            </a:r>
            <a:endParaRPr lang="zh-CN" altLang="zh-CN" sz="2000" dirty="0">
              <a:solidFill>
                <a:srgbClr val="003B7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3F85E96-19DD-4A82-826D-AD0324C64579}"/>
              </a:ext>
            </a:extLst>
          </p:cNvPr>
          <p:cNvSpPr/>
          <p:nvPr/>
        </p:nvSpPr>
        <p:spPr>
          <a:xfrm>
            <a:off x="6319885" y="3591966"/>
            <a:ext cx="20361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</a:t>
            </a:r>
            <a:r>
              <a:rPr lang="zh-CN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x方向上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步长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en-US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ACFCB30-6DF3-4511-BFF3-838EF682D82E}"/>
              </a:ext>
            </a:extLst>
          </p:cNvPr>
          <p:cNvSpPr/>
          <p:nvPr/>
        </p:nvSpPr>
        <p:spPr>
          <a:xfrm>
            <a:off x="5003855" y="3552332"/>
            <a:ext cx="13420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Fx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=dx/h</a:t>
            </a:r>
            <a:endParaRPr lang="zh-CN" altLang="en-US" sz="24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F223741-A7BD-4D6E-8B5E-1E56012B56E6}"/>
              </a:ext>
            </a:extLst>
          </p:cNvPr>
          <p:cNvSpPr/>
          <p:nvPr/>
        </p:nvSpPr>
        <p:spPr>
          <a:xfrm>
            <a:off x="4429888" y="2525548"/>
            <a:ext cx="346849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gradient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或者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TyMath.gradient</a:t>
            </a:r>
            <a:r>
              <a:rPr lang="en-US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zh-CN" altLang="en-US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F29649E-451B-42CB-9BBB-3CCC1EBB2A06}"/>
              </a:ext>
            </a:extLst>
          </p:cNvPr>
          <p:cNvSpPr/>
          <p:nvPr/>
        </p:nvSpPr>
        <p:spPr>
          <a:xfrm>
            <a:off x="2178126" y="3588786"/>
            <a:ext cx="2825729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Fx</a:t>
            </a:r>
            <a:r>
              <a:rPr lang="en-US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TyMath</a:t>
            </a:r>
            <a:r>
              <a:rPr lang="en-US" altLang="zh-CN" sz="2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 </a:t>
            </a:r>
            <a:r>
              <a:rPr lang="en-US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gradient(</a:t>
            </a:r>
            <a:r>
              <a:rPr lang="en-US" altLang="zh-CN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x,h</a:t>
            </a:r>
            <a:r>
              <a:rPr lang="en-US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20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4">
            <a:extLst>
              <a:ext uri="{FF2B5EF4-FFF2-40B4-BE49-F238E27FC236}">
                <a16:creationId xmlns:a16="http://schemas.microsoft.com/office/drawing/2014/main" id="{D766F4A6-CC9B-4C02-90B8-1EFF08306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6848" y="1450431"/>
            <a:ext cx="1241454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dx=diff(x)</a:t>
            </a:r>
          </a:p>
        </p:txBody>
      </p:sp>
      <p:pic>
        <p:nvPicPr>
          <p:cNvPr id="2049" name="图片 13">
            <a:extLst>
              <a:ext uri="{FF2B5EF4-FFF2-40B4-BE49-F238E27FC236}">
                <a16:creationId xmlns:a16="http://schemas.microsoft.com/office/drawing/2014/main" id="{6827A79D-CF40-4445-A02C-C286B2E37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836" y="1846821"/>
            <a:ext cx="3589603" cy="73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0F804036-CA3B-4ABE-9A87-DA20CCC02FCE}"/>
              </a:ext>
            </a:extLst>
          </p:cNvPr>
          <p:cNvSpPr/>
          <p:nvPr/>
        </p:nvSpPr>
        <p:spPr>
          <a:xfrm>
            <a:off x="3143128" y="3047280"/>
            <a:ext cx="2639745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ko-KR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ko-KR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000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TyMath</a:t>
            </a:r>
            <a:r>
              <a:rPr lang="en-US" altLang="zh-CN" sz="2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 </a:t>
            </a:r>
            <a:r>
              <a:rPr lang="en-US" altLang="ko-KR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gradient(</a:t>
            </a:r>
            <a:r>
              <a:rPr lang="en-US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ko-KR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C475F731-4C15-45DE-85E3-D84A15C6D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13" y="710144"/>
            <a:ext cx="3639016" cy="4308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kumimoji="0" lang="en-US" altLang="zh-CN" sz="22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2. </a:t>
            </a:r>
            <a:r>
              <a:rPr kumimoji="0" lang="zh-CN" altLang="en-US" sz="22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数值差分及求导</a:t>
            </a:r>
            <a:endParaRPr kumimoji="0" lang="zh-CN" altLang="en-US" sz="220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</a:endParaRPr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CE204FDD-2EB9-4FE8-B1FE-8B45A6A80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850" y="679187"/>
            <a:ext cx="976956" cy="605334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  <a:endParaRPr lang="zh-CN" altLang="en-US" sz="1200" b="1" kern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4C94B2E-27D2-43CF-9CD3-4227371318A3}"/>
              </a:ext>
            </a:extLst>
          </p:cNvPr>
          <p:cNvSpPr txBox="1"/>
          <p:nvPr/>
        </p:nvSpPr>
        <p:spPr>
          <a:xfrm>
            <a:off x="4471137" y="791853"/>
            <a:ext cx="4380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一阶向前差分的元素减少</a:t>
            </a:r>
            <a:r>
              <a:rPr lang="en-US" altLang="zh-CN" dirty="0"/>
              <a:t>1</a:t>
            </a:r>
            <a:r>
              <a:rPr lang="zh-CN" altLang="en-US" dirty="0"/>
              <a:t>个，</a:t>
            </a:r>
            <a:r>
              <a:rPr lang="en-US" altLang="zh-CN" dirty="0"/>
              <a:t>n</a:t>
            </a:r>
            <a:r>
              <a:rPr lang="zh-CN" altLang="en-US" dirty="0"/>
              <a:t>变为</a:t>
            </a:r>
            <a:r>
              <a:rPr lang="en-US" altLang="zh-CN" dirty="0"/>
              <a:t>n-1</a:t>
            </a:r>
            <a:endParaRPr lang="zh-CN" altLang="en-US" dirty="0"/>
          </a:p>
        </p:txBody>
      </p:sp>
      <p:sp>
        <p:nvSpPr>
          <p:cNvPr id="26" name="AutoShape 13">
            <a:extLst>
              <a:ext uri="{FF2B5EF4-FFF2-40B4-BE49-F238E27FC236}">
                <a16:creationId xmlns:a16="http://schemas.microsoft.com/office/drawing/2014/main" id="{D845080C-9915-465B-8D4B-9C1B95095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6003" y="4013997"/>
            <a:ext cx="976956" cy="605334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kern="0" dirty="0">
                <a:solidFill>
                  <a:srgbClr val="FFFF00"/>
                </a:solidFill>
                <a:ea typeface="黑体" panose="02010609060101010101" pitchFamily="49" charset="-122"/>
              </a:rPr>
              <a:t>注意</a:t>
            </a:r>
            <a:endParaRPr lang="zh-CN" altLang="en-US" sz="1200" b="1" kern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1D4EFD7-6B2D-4448-887F-1DCE2DF88595}"/>
              </a:ext>
            </a:extLst>
          </p:cNvPr>
          <p:cNvSpPr txBox="1"/>
          <p:nvPr/>
        </p:nvSpPr>
        <p:spPr>
          <a:xfrm>
            <a:off x="6124205" y="4131569"/>
            <a:ext cx="2766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中心差分后元素个数不变</a:t>
            </a:r>
            <a:endParaRPr lang="en-US" altLang="zh-CN" sz="18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4">
            <a:extLst>
              <a:ext uri="{FF2B5EF4-FFF2-40B4-BE49-F238E27FC236}">
                <a16:creationId xmlns:a16="http://schemas.microsoft.com/office/drawing/2014/main" id="{6EC88FF0-2AA2-4358-91A1-9CD895D3A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5604" y="1946906"/>
            <a:ext cx="1835769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plot(x[2:end],df)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9B7DD14-805D-45FE-B3C0-F100847CCAC6}"/>
              </a:ext>
            </a:extLst>
          </p:cNvPr>
          <p:cNvSpPr txBox="1"/>
          <p:nvPr/>
        </p:nvSpPr>
        <p:spPr>
          <a:xfrm>
            <a:off x="6935245" y="1502960"/>
            <a:ext cx="2096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绘制向前导数曲线</a:t>
            </a:r>
            <a:endParaRPr lang="en-US" altLang="zh-CN" sz="18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4">
            <a:extLst>
              <a:ext uri="{FF2B5EF4-FFF2-40B4-BE49-F238E27FC236}">
                <a16:creationId xmlns:a16="http://schemas.microsoft.com/office/drawing/2014/main" id="{33E84036-7178-43E1-B6F1-74F746177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9308" y="3058025"/>
            <a:ext cx="1249008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plot(</a:t>
            </a:r>
            <a:r>
              <a:rPr lang="en-US" altLang="zh-CN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x,Fx</a:t>
            </a:r>
            <a:r>
              <a:rPr lang="en-US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4BBE16A-72BD-4585-B937-181A601160C0}"/>
              </a:ext>
            </a:extLst>
          </p:cNvPr>
          <p:cNvSpPr txBox="1"/>
          <p:nvPr/>
        </p:nvSpPr>
        <p:spPr>
          <a:xfrm>
            <a:off x="5853381" y="3043507"/>
            <a:ext cx="2106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绘制中心导数曲线</a:t>
            </a:r>
            <a:endParaRPr lang="en-US" altLang="zh-CN" sz="18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E889F6C-4A7E-44D3-9B4E-2930A3CAF5AD}"/>
              </a:ext>
            </a:extLst>
          </p:cNvPr>
          <p:cNvSpPr/>
          <p:nvPr/>
        </p:nvSpPr>
        <p:spPr>
          <a:xfrm>
            <a:off x="334852" y="4093634"/>
            <a:ext cx="14414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步长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h=1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2CEEF7F-83A9-474E-ADF0-469C89BC5AA7}"/>
              </a:ext>
            </a:extLst>
          </p:cNvPr>
          <p:cNvSpPr/>
          <p:nvPr/>
        </p:nvSpPr>
        <p:spPr>
          <a:xfrm>
            <a:off x="1936269" y="4112698"/>
            <a:ext cx="2635731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Fx</a:t>
            </a:r>
            <a:r>
              <a:rPr lang="en-US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TyMath</a:t>
            </a:r>
            <a:r>
              <a:rPr lang="en-US" altLang="zh-CN" sz="2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 </a:t>
            </a:r>
            <a:r>
              <a:rPr lang="en-US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gradient(x)</a:t>
            </a:r>
            <a:endParaRPr lang="zh-CN" altLang="en-US" sz="20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882A58D-0DCB-4F16-ACAA-666333170526}"/>
              </a:ext>
            </a:extLst>
          </p:cNvPr>
          <p:cNvSpPr txBox="1"/>
          <p:nvPr/>
        </p:nvSpPr>
        <p:spPr>
          <a:xfrm>
            <a:off x="-1" y="-15683"/>
            <a:ext cx="6345890" cy="66543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600" b="1" kern="18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</a:t>
            </a:r>
            <a:r>
              <a:rPr lang="zh-CN" altLang="en-US" sz="2600" b="1" kern="18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梯度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gradient</a:t>
            </a:r>
            <a:r>
              <a:rPr lang="zh-CN" altLang="en-US" sz="2600" b="1" kern="18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数值计算</a:t>
            </a:r>
            <a:r>
              <a:rPr lang="zh-CN" altLang="zh-CN" sz="2600" b="1" kern="18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理论</a:t>
            </a:r>
            <a:r>
              <a:rPr lang="zh-CN" altLang="en-US" sz="2600" b="1" kern="18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endParaRPr lang="zh-CN" altLang="zh-CN" sz="2600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957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 animBg="1"/>
      <p:bldP spid="27" grpId="0" animBg="1"/>
      <p:bldP spid="28" grpId="0"/>
      <p:bldP spid="29" grpId="0"/>
      <p:bldP spid="32" grpId="0" animBg="1"/>
      <p:bldP spid="33" grpId="0" animBg="1"/>
      <p:bldP spid="22" grpId="0" animBg="1"/>
      <p:bldP spid="26" grpId="0" animBg="1"/>
      <p:bldP spid="30" grpId="0"/>
      <p:bldP spid="35" grpId="0" animBg="1"/>
      <p:bldP spid="36" grpId="0"/>
      <p:bldP spid="37" grpId="0"/>
      <p:bldP spid="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6E5F84B-06E6-43A7-832C-0BCA33943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81" y="1137567"/>
            <a:ext cx="8365067" cy="3465244"/>
          </a:xfrm>
          <a:noFill/>
        </p:spPr>
        <p:txBody>
          <a:bodyPr/>
          <a:lstStyle/>
          <a:p>
            <a:pPr marL="0" indent="0">
              <a:lnSpc>
                <a:spcPts val="2400"/>
              </a:lnSpc>
              <a:buNone/>
            </a:pPr>
            <a:r>
              <a:rPr lang="en-US" altLang="zh-CN" sz="1800" dirty="0"/>
              <a:t>h=pi/100;#</a:t>
            </a:r>
            <a:r>
              <a:rPr lang="zh-CN" altLang="en-US" sz="1800" dirty="0"/>
              <a:t>步长</a:t>
            </a:r>
            <a:r>
              <a:rPr lang="en-US" altLang="zh-CN" sz="1800" dirty="0"/>
              <a:t>pi/100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altLang="zh-CN" sz="1800" dirty="0"/>
              <a:t>x=0:h:2*pi;#201</a:t>
            </a:r>
            <a:r>
              <a:rPr lang="zh-CN" altLang="en-US" sz="1800" dirty="0"/>
              <a:t>个点元素</a:t>
            </a:r>
            <a:endParaRPr lang="en-US" altLang="zh-CN" sz="1800" dirty="0"/>
          </a:p>
          <a:p>
            <a:pPr marL="0" indent="0">
              <a:lnSpc>
                <a:spcPts val="2400"/>
              </a:lnSpc>
              <a:buNone/>
            </a:pPr>
            <a:r>
              <a:rPr lang="en-US" altLang="zh-CN" sz="1800" dirty="0"/>
              <a:t>y=sin.(x);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altLang="zh-CN" sz="1800" dirty="0"/>
              <a:t>plot(</a:t>
            </a:r>
            <a:r>
              <a:rPr lang="en-US" altLang="zh-CN" sz="1800" dirty="0" err="1"/>
              <a:t>x,y</a:t>
            </a:r>
            <a:r>
              <a:rPr lang="en-US" altLang="zh-CN" sz="1800" dirty="0"/>
              <a:t>) #</a:t>
            </a:r>
            <a:r>
              <a:rPr lang="zh-CN" altLang="en-US" sz="1800" dirty="0"/>
              <a:t>正弦曲线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altLang="zh-CN" sz="1800" dirty="0"/>
              <a:t>hold("on")  #</a:t>
            </a:r>
            <a:r>
              <a:rPr lang="zh-CN" altLang="en-US" sz="1800" dirty="0"/>
              <a:t>叠加其它导数曲线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altLang="zh-CN" sz="1800" dirty="0" err="1"/>
              <a:t>yhh</a:t>
            </a:r>
            <a:r>
              <a:rPr lang="en-US" altLang="zh-CN" sz="1800" dirty="0"/>
              <a:t>=diff(y)./diff(x)  #y</a:t>
            </a:r>
            <a:r>
              <a:rPr lang="zh-CN" altLang="en-US" sz="1800" dirty="0"/>
              <a:t>的向前差商</a:t>
            </a:r>
            <a:r>
              <a:rPr lang="en-US" altLang="zh-CN" sz="1800" dirty="0"/>
              <a:t>(</a:t>
            </a:r>
            <a:r>
              <a:rPr lang="en-US" altLang="zh-CN" sz="1800" dirty="0" err="1"/>
              <a:t>yhh</a:t>
            </a:r>
            <a:r>
              <a:rPr lang="en-US" altLang="zh-CN" sz="1800" dirty="0"/>
              <a:t>=diff(y)/h 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altLang="zh-CN" sz="1800" dirty="0"/>
              <a:t>plot(x[1:end-1], </a:t>
            </a:r>
            <a:r>
              <a:rPr lang="en-US" altLang="zh-CN" sz="1800" dirty="0" err="1"/>
              <a:t>yhh</a:t>
            </a:r>
            <a:r>
              <a:rPr lang="en-US" altLang="zh-CN" sz="1800" dirty="0"/>
              <a:t>, "k*-", </a:t>
            </a:r>
            <a:r>
              <a:rPr lang="en-US" altLang="zh-CN" sz="1800" dirty="0" err="1"/>
              <a:t>markersize</a:t>
            </a:r>
            <a:r>
              <a:rPr lang="en-US" altLang="zh-CN" sz="1800" dirty="0"/>
              <a:t>=12) #</a:t>
            </a:r>
            <a:r>
              <a:rPr lang="zh-CN" altLang="en-US" sz="1800" dirty="0"/>
              <a:t>向前求导图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altLang="zh-CN" sz="1800" b="1" dirty="0" err="1">
                <a:solidFill>
                  <a:srgbClr val="FF0000"/>
                </a:solidFill>
              </a:rPr>
              <a:t>yg</a:t>
            </a:r>
            <a:r>
              <a:rPr lang="en-US" altLang="zh-CN" sz="1800" b="1" dirty="0">
                <a:solidFill>
                  <a:srgbClr val="FF0000"/>
                </a:solidFill>
              </a:rPr>
              <a:t>=</a:t>
            </a:r>
            <a:r>
              <a:rPr lang="en-US" altLang="zh-CN" sz="1800" b="1" dirty="0" err="1">
                <a:solidFill>
                  <a:srgbClr val="FF0000"/>
                </a:solidFill>
              </a:rPr>
              <a:t>TyMath.gradient</a:t>
            </a:r>
            <a:r>
              <a:rPr lang="en-US" altLang="zh-CN" sz="1800" b="1" dirty="0">
                <a:solidFill>
                  <a:srgbClr val="FF0000"/>
                </a:solidFill>
              </a:rPr>
              <a:t>(</a:t>
            </a:r>
            <a:r>
              <a:rPr lang="en-US" altLang="zh-CN" sz="1800" b="1" dirty="0" err="1">
                <a:solidFill>
                  <a:srgbClr val="FF0000"/>
                </a:solidFill>
              </a:rPr>
              <a:t>y,h</a:t>
            </a:r>
            <a:r>
              <a:rPr lang="en-US" altLang="zh-CN" sz="1800" b="1" dirty="0">
                <a:solidFill>
                  <a:srgbClr val="FF0000"/>
                </a:solidFill>
              </a:rPr>
              <a:t>); #</a:t>
            </a:r>
            <a:r>
              <a:rPr lang="zh-CN" altLang="en-US" sz="1800" b="1" dirty="0">
                <a:solidFill>
                  <a:srgbClr val="FF0000"/>
                </a:solidFill>
              </a:rPr>
              <a:t>中心梯度求正弦导数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altLang="zh-CN" sz="1800" dirty="0"/>
              <a:t>plot(x,</a:t>
            </a:r>
            <a:r>
              <a:rPr lang="en-US" altLang="zh-CN" sz="1800" dirty="0" err="1"/>
              <a:t>yg</a:t>
            </a:r>
            <a:r>
              <a:rPr lang="en-US" altLang="zh-CN" sz="1800" dirty="0"/>
              <a:t>,"or-",</a:t>
            </a:r>
            <a:r>
              <a:rPr lang="en-US" altLang="zh-CN" sz="1800" dirty="0" err="1"/>
              <a:t>markersize</a:t>
            </a:r>
            <a:r>
              <a:rPr lang="en-US" altLang="zh-CN" sz="1800" dirty="0"/>
              <a:t>=12) #</a:t>
            </a:r>
            <a:r>
              <a:rPr lang="zh-CN" altLang="en-US" sz="1800" dirty="0"/>
              <a:t>梯度求导图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altLang="zh-CN" sz="1800" dirty="0"/>
              <a:t>plot(</a:t>
            </a:r>
            <a:r>
              <a:rPr lang="en-US" altLang="zh-CN" sz="1800" dirty="0" err="1"/>
              <a:t>x,cos</a:t>
            </a:r>
            <a:r>
              <a:rPr lang="en-US" altLang="zh-CN" sz="1800" dirty="0"/>
              <a:t>.(x),"&gt;b-") #</a:t>
            </a:r>
            <a:r>
              <a:rPr lang="zh-CN" altLang="en-US" sz="1800" dirty="0"/>
              <a:t>正弦导数解析解为余弦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altLang="zh-CN" sz="1800" dirty="0"/>
              <a:t>legend(["</a:t>
            </a:r>
            <a:r>
              <a:rPr lang="en-US" altLang="zh-CN" sz="1800" dirty="0" err="1"/>
              <a:t>sin","diff","gradient</a:t>
            </a:r>
            <a:r>
              <a:rPr lang="en-US" altLang="zh-CN" sz="1800" dirty="0"/>
              <a:t>","</a:t>
            </a:r>
            <a:r>
              <a:rPr lang="zh-CN" altLang="en-US" sz="1800" dirty="0"/>
              <a:t>解析解</a:t>
            </a:r>
            <a:r>
              <a:rPr lang="en-US" altLang="zh-CN" sz="1800" dirty="0"/>
              <a:t>"])</a:t>
            </a:r>
            <a:endParaRPr lang="zh-CN" altLang="en-US" sz="1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ED4597-07DC-453E-A632-201AC7E901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88" t="12200" r="6687" b="8935"/>
          <a:stretch>
            <a:fillRect/>
          </a:stretch>
        </p:blipFill>
        <p:spPr>
          <a:xfrm>
            <a:off x="6100252" y="1528592"/>
            <a:ext cx="2733362" cy="210583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B480FAF-147D-4977-B111-EABCA720CB07}"/>
              </a:ext>
            </a:extLst>
          </p:cNvPr>
          <p:cNvSpPr txBox="1"/>
          <p:nvPr/>
        </p:nvSpPr>
        <p:spPr>
          <a:xfrm>
            <a:off x="256597" y="737457"/>
            <a:ext cx="3284451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方向步长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pi/100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形状 6">
            <a:extLst>
              <a:ext uri="{FF2B5EF4-FFF2-40B4-BE49-F238E27FC236}">
                <a16:creationId xmlns:a16="http://schemas.microsoft.com/office/drawing/2014/main" id="{DD76FB64-4650-4BAD-B749-BD427EE4FCA7}"/>
              </a:ext>
            </a:extLst>
          </p:cNvPr>
          <p:cNvSpPr/>
          <p:nvPr/>
        </p:nvSpPr>
        <p:spPr>
          <a:xfrm>
            <a:off x="5511186" y="3967702"/>
            <a:ext cx="1116850" cy="450442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r>
              <a:rPr lang="zh-CN" altLang="en-US" sz="16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注意</a:t>
            </a:r>
            <a:endParaRPr lang="en-US" altLang="zh-CN" sz="16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15D440-7BD9-4B52-A420-E80AEE552B32}"/>
              </a:ext>
            </a:extLst>
          </p:cNvPr>
          <p:cNvSpPr txBox="1"/>
          <p:nvPr/>
        </p:nvSpPr>
        <p:spPr>
          <a:xfrm>
            <a:off x="6753753" y="3848966"/>
            <a:ext cx="24267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步长适当，向前差商</a:t>
            </a:r>
            <a:endParaRPr lang="en-US" altLang="zh-CN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和解析解才能完全符号</a:t>
            </a:r>
            <a:endParaRPr lang="en-US" altLang="zh-CN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4FEF91-D561-4B32-AD22-97423ACAA019}"/>
              </a:ext>
            </a:extLst>
          </p:cNvPr>
          <p:cNvSpPr txBox="1"/>
          <p:nvPr/>
        </p:nvSpPr>
        <p:spPr>
          <a:xfrm>
            <a:off x="-1" y="-15683"/>
            <a:ext cx="6345890" cy="66543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600" b="1" kern="18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</a:t>
            </a:r>
            <a:r>
              <a:rPr lang="zh-CN" altLang="en-US" sz="2600" b="1" kern="18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梯度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gradient</a:t>
            </a:r>
            <a:r>
              <a:rPr lang="zh-CN" altLang="en-US" sz="2600" b="1" kern="18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数值计算案例</a:t>
            </a:r>
            <a:endParaRPr lang="zh-CN" altLang="zh-CN" sz="2600" kern="100" dirty="0">
              <a:solidFill>
                <a:srgbClr val="0070C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21B48D-7D72-42C6-B4DA-05FC7FA13997}"/>
              </a:ext>
            </a:extLst>
          </p:cNvPr>
          <p:cNvSpPr/>
          <p:nvPr/>
        </p:nvSpPr>
        <p:spPr>
          <a:xfrm>
            <a:off x="3563887" y="701728"/>
            <a:ext cx="5459851" cy="7083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ts val="2500"/>
              </a:lnSpc>
            </a:pP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已知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正弦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y=sin(x),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采用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diff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gradient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计算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该函数在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[0,2</a:t>
            </a:r>
            <a:r>
              <a:rPr lang="el-GR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π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]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区间中的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导数，并和导数解析解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cos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对比</a:t>
            </a:r>
            <a:r>
              <a:rPr lang="zh-CN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22</a:t>
            </a:r>
            <a:endParaRPr lang="zh-CN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800597-F794-4E1A-ABC8-62B5E756C108}"/>
              </a:ext>
            </a:extLst>
          </p:cNvPr>
          <p:cNvSpPr/>
          <p:nvPr/>
        </p:nvSpPr>
        <p:spPr>
          <a:xfrm>
            <a:off x="3308532" y="1982516"/>
            <a:ext cx="2376578" cy="31566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sz="16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Fx</a:t>
            </a:r>
            <a:r>
              <a:rPr lang="en-US" altLang="zh-CN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1600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TyMath</a:t>
            </a:r>
            <a:r>
              <a:rPr lang="en-US" altLang="zh-CN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 </a:t>
            </a:r>
            <a:r>
              <a:rPr lang="en-US" altLang="zh-CN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gradient(</a:t>
            </a:r>
            <a:r>
              <a:rPr lang="en-US" altLang="zh-CN" sz="16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F,h</a:t>
            </a:r>
            <a:r>
              <a:rPr lang="en-US" altLang="zh-CN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16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52FC1B-6C46-4850-BE9A-C37A13E6FD03}"/>
              </a:ext>
            </a:extLst>
          </p:cNvPr>
          <p:cNvSpPr/>
          <p:nvPr/>
        </p:nvSpPr>
        <p:spPr>
          <a:xfrm>
            <a:off x="3318453" y="1563638"/>
            <a:ext cx="2549691" cy="31566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ko-KR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df=</a:t>
            </a:r>
            <a:r>
              <a:rPr lang="zh-CN" altLang="en-US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diff(</a:t>
            </a:r>
            <a:r>
              <a:rPr lang="en-US" altLang="zh-CN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diff(x)=</a:t>
            </a:r>
            <a:r>
              <a:rPr lang="zh-CN" altLang="en-US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diff(</a:t>
            </a:r>
            <a:r>
              <a:rPr lang="en-US" altLang="zh-CN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)/</a:t>
            </a:r>
            <a:r>
              <a:rPr lang="en-US" altLang="zh-CN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endParaRPr lang="en-US" altLang="ko-KR" sz="16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989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>
            <a:extLst>
              <a:ext uri="{FF2B5EF4-FFF2-40B4-BE49-F238E27FC236}">
                <a16:creationId xmlns:a16="http://schemas.microsoft.com/office/drawing/2014/main" id="{315FE3F2-9642-47FD-B433-8D691D52E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6931" y="1078731"/>
            <a:ext cx="60325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 anchor="t">
            <a:spAutoFit/>
          </a:bodyPr>
          <a:lstStyle/>
          <a:p>
            <a:pPr algn="dist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endParaRPr lang="zh-CN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F02869-FCD9-43B4-94F8-347F0EA9B562}"/>
              </a:ext>
            </a:extLst>
          </p:cNvPr>
          <p:cNvSpPr txBox="1"/>
          <p:nvPr/>
        </p:nvSpPr>
        <p:spPr>
          <a:xfrm>
            <a:off x="2301391" y="1091390"/>
            <a:ext cx="4382823" cy="338554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177800" indent="-177800">
              <a:lnSpc>
                <a:spcPct val="90000"/>
              </a:lnSpc>
              <a:defRPr sz="32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marL="0" lvl="0" indent="0" algn="dist" eaLnBrk="0" hangingPunct="0">
              <a:lnSpc>
                <a:spcPct val="100000"/>
              </a:lnSpc>
            </a:pPr>
            <a:r>
              <a:rPr lang="zh-CN" altLang="zh-CN" sz="1600" b="0" dirty="0">
                <a:effectLst/>
                <a:highlight>
                  <a:srgbClr val="FF0000"/>
                </a:highlight>
                <a:latin typeface="Arial Unicode MS"/>
                <a:ea typeface="source-code-pro"/>
              </a:rPr>
              <a:t>x,</a:t>
            </a:r>
            <a:r>
              <a:rPr lang="zh-CN" altLang="zh-CN" sz="1600" b="0" dirty="0">
                <a:effectLst/>
                <a:latin typeface="Arial Unicode MS"/>
                <a:ea typeface="source-code-pro"/>
              </a:rPr>
              <a:t>fval,exitflag,output </a:t>
            </a:r>
            <a:r>
              <a:rPr lang="zh-CN" altLang="zh-CN" sz="1600" b="0" dirty="0">
                <a:effectLst/>
                <a:highlight>
                  <a:srgbClr val="FF0000"/>
                </a:highlight>
                <a:latin typeface="Arial Unicode MS"/>
                <a:ea typeface="source-code-pro"/>
              </a:rPr>
              <a:t>= fzero(fun,x0)</a:t>
            </a:r>
            <a:r>
              <a:rPr lang="zh-CN" altLang="zh-CN" sz="800" b="0" dirty="0">
                <a:effectLst/>
                <a:highlight>
                  <a:srgbClr val="FF0000"/>
                </a:highlight>
              </a:rPr>
              <a:t> </a:t>
            </a:r>
            <a:endParaRPr lang="zh-CN" altLang="zh-CN" sz="3600" b="0" dirty="0">
              <a:effectLst/>
              <a:highlight>
                <a:srgbClr val="FF0000"/>
              </a:highlight>
              <a:latin typeface="Arial" panose="020B0604020202020204" pitchFamily="34" charset="0"/>
            </a:endParaRPr>
          </a:p>
        </p:txBody>
      </p:sp>
      <p:sp>
        <p:nvSpPr>
          <p:cNvPr id="10" name="Rectangle 20">
            <a:extLst>
              <a:ext uri="{FF2B5EF4-FFF2-40B4-BE49-F238E27FC236}">
                <a16:creationId xmlns:a16="http://schemas.microsoft.com/office/drawing/2014/main" id="{E569BECF-3D72-46D7-8938-CE89AE96860D}"/>
              </a:ext>
            </a:extLst>
          </p:cNvPr>
          <p:cNvSpPr/>
          <p:nvPr/>
        </p:nvSpPr>
        <p:spPr bwMode="auto">
          <a:xfrm>
            <a:off x="152052" y="1897694"/>
            <a:ext cx="4340751" cy="1342932"/>
          </a:xfrm>
          <a:prstGeom prst="rect">
            <a:avLst/>
          </a:prstGeom>
          <a:solidFill>
            <a:srgbClr val="FFFFFF"/>
          </a:solidFill>
          <a:ln w="28575" cap="flat" cmpd="sng">
            <a:noFill/>
            <a:prstDash val="solid"/>
            <a:miter lim="800000"/>
          </a:ln>
        </p:spPr>
        <p:txBody>
          <a:bodyPr vert="horz" wrap="square" lIns="68580" tIns="34290" rIns="68580" bIns="34290" numCol="1" anchor="t">
            <a:spAutoFit/>
          </a:bodyPr>
          <a:lstStyle/>
          <a:p>
            <a:pPr marL="285750" indent="-285750" eaLnBrk="0">
              <a:lnSpc>
                <a:spcPts val="2475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x:</a:t>
            </a:r>
            <a:r>
              <a:rPr lang="zh-CN" altLang="en-US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非线性方程的根</a:t>
            </a:r>
            <a:r>
              <a:rPr lang="en-US" altLang="zh-CN" sz="2000" cap="none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ko-KR" sz="2000" cap="none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 eaLnBrk="0">
              <a:lnSpc>
                <a:spcPts val="2475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</a:t>
            </a:r>
            <a:r>
              <a:rPr lang="en-US" altLang="ko-KR" sz="2000" dirty="0" err="1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val:x</a:t>
            </a:r>
            <a:r>
              <a:rPr lang="zh-CN" altLang="en-US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带入到</a:t>
            </a:r>
            <a:r>
              <a:rPr lang="en-US" altLang="ko-KR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f(x)</a:t>
            </a:r>
            <a:r>
              <a:rPr lang="zh-CN" altLang="en-US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的值，即函数</a:t>
            </a:r>
            <a:r>
              <a:rPr lang="en-US" altLang="ko-KR" sz="2000" cap="none" dirty="0" err="1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零点</a:t>
            </a:r>
            <a:r>
              <a:rPr lang="en-US" altLang="zh-CN" sz="2000" cap="none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ko-KR" sz="2000" cap="none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 eaLnBrk="0">
              <a:lnSpc>
                <a:spcPts val="2475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ko-KR" sz="2000" dirty="0" err="1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exitflag:</a:t>
            </a:r>
            <a:r>
              <a:rPr lang="en-US" altLang="ko-KR" sz="2000" cap="none" dirty="0" err="1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程序退出标志</a:t>
            </a:r>
            <a:r>
              <a:rPr lang="zh-CN" altLang="en-US" sz="2000" cap="none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ko-KR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</a:t>
            </a:r>
            <a:r>
              <a:rPr lang="en-US" altLang="ko-KR" sz="2000" dirty="0" err="1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收敛</a:t>
            </a:r>
            <a:endParaRPr lang="en-US" altLang="ko-KR" sz="2000" cap="none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 defTabSz="685800" eaLnBrk="0">
              <a:lnSpc>
                <a:spcPts val="2475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ko-KR" sz="2000" dirty="0" err="1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output:</a:t>
            </a:r>
            <a:r>
              <a:rPr lang="en-US" altLang="ko-KR" sz="2000" cap="none" dirty="0" err="1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输出信息结果</a:t>
            </a:r>
            <a:endParaRPr lang="en-US" altLang="ko-KR" sz="2000" cap="none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5C59CD-5895-4E82-A1DE-F17DD6816AFF}"/>
              </a:ext>
            </a:extLst>
          </p:cNvPr>
          <p:cNvSpPr/>
          <p:nvPr/>
        </p:nvSpPr>
        <p:spPr>
          <a:xfrm>
            <a:off x="59482" y="3582291"/>
            <a:ext cx="9084518" cy="10454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285750" indent="-285750" eaLnBrk="0">
              <a:lnSpc>
                <a:spcPts val="2475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ko-KR" sz="2000" dirty="0" err="1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fun:待</a:t>
            </a:r>
            <a:r>
              <a:rPr lang="zh-CN" altLang="en-US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求根的方程表达式，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即</a:t>
            </a:r>
            <a:r>
              <a:rPr lang="en-US" altLang="zh-CN" sz="2000" dirty="0">
                <a:solidFill>
                  <a:schemeClr val="bg1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fun(x)=0</a:t>
            </a:r>
            <a:r>
              <a:rPr lang="zh-CN" altLang="en-US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  <a:endParaRPr lang="en-US" altLang="zh-CN" sz="200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 eaLnBrk="0">
              <a:lnSpc>
                <a:spcPts val="2475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ko-KR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x0:初始值</a:t>
            </a:r>
            <a:r>
              <a:rPr lang="zh-CN" altLang="en-US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，搜索起始点，指定为实数标量或二元素实数向量</a:t>
            </a:r>
            <a:endParaRPr lang="en-US" altLang="zh-CN" sz="200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 eaLnBrk="0">
              <a:lnSpc>
                <a:spcPts val="2475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x0</a:t>
            </a:r>
            <a:r>
              <a:rPr lang="zh-CN" altLang="en-US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为向量 </a:t>
            </a:r>
            <a:r>
              <a:rPr lang="en-US" altLang="ko-KR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[x1,x2]</a:t>
            </a:r>
            <a:r>
              <a:rPr lang="zh-CN" altLang="en-US" sz="20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时，即给初始值范围，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要求上下边界处</a:t>
            </a:r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f(x1)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f(x2)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函数值异号</a:t>
            </a:r>
            <a:endParaRPr lang="en-US" altLang="ko-KR" sz="20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Text Box 17">
            <a:extLst>
              <a:ext uri="{FF2B5EF4-FFF2-40B4-BE49-F238E27FC236}">
                <a16:creationId xmlns:a16="http://schemas.microsoft.com/office/drawing/2014/main" id="{E4661A9B-EC9B-48B3-AC76-216B83F2F149}"/>
              </a:ext>
            </a:extLst>
          </p:cNvPr>
          <p:cNvSpPr txBox="1"/>
          <p:nvPr/>
        </p:nvSpPr>
        <p:spPr bwMode="auto">
          <a:xfrm>
            <a:off x="126660" y="1483102"/>
            <a:ext cx="1692188" cy="369332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l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b="1" cap="none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输出参数：</a:t>
            </a:r>
            <a:r>
              <a:rPr lang="en-US" altLang="ko-KR" b="1" cap="none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ko-KR" altLang="en-US" b="1" cap="none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charset="-122"/>
            </a:endParaRPr>
          </a:p>
        </p:txBody>
      </p:sp>
      <p:sp>
        <p:nvSpPr>
          <p:cNvPr id="13" name="Text Box 17">
            <a:extLst>
              <a:ext uri="{FF2B5EF4-FFF2-40B4-BE49-F238E27FC236}">
                <a16:creationId xmlns:a16="http://schemas.microsoft.com/office/drawing/2014/main" id="{36FAA16F-5C6B-4112-91BC-7363FFA5ED24}"/>
              </a:ext>
            </a:extLst>
          </p:cNvPr>
          <p:cNvSpPr txBox="1"/>
          <p:nvPr/>
        </p:nvSpPr>
        <p:spPr bwMode="auto">
          <a:xfrm>
            <a:off x="143659" y="3215141"/>
            <a:ext cx="1692188" cy="369332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vert="horz" wrap="square" lIns="91440" tIns="45720" rIns="91440" bIns="45720" numCol="1" anchor="t">
            <a:spAutoFit/>
          </a:bodyPr>
          <a:lstStyle>
            <a:defPPr>
              <a:defRPr lang="zh-CN"/>
            </a:defPPr>
            <a:lvl1pPr marL="0" indent="0" defTabSz="914400" eaLnBrk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 cap="none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dirty="0"/>
              <a:t>输入参数：</a:t>
            </a:r>
            <a:r>
              <a:rPr lang="en-US" altLang="ko-KR" sz="1800" dirty="0"/>
              <a:t> </a:t>
            </a:r>
            <a:endParaRPr lang="ko-KR" altLang="en-US" sz="18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19CCDE-64C4-486F-9CD3-CE8B93E646CF}"/>
              </a:ext>
            </a:extLst>
          </p:cNvPr>
          <p:cNvSpPr/>
          <p:nvPr/>
        </p:nvSpPr>
        <p:spPr>
          <a:xfrm>
            <a:off x="2496914" y="1907960"/>
            <a:ext cx="2685896" cy="33855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dist" defTabSz="914400" latinLnBrk="0">
              <a:buFontTx/>
              <a:buNone/>
            </a:pPr>
            <a:r>
              <a:rPr lang="en-US" altLang="ko-KR" sz="1600" dirty="0" err="1">
                <a:solidFill>
                  <a:srgbClr val="FF0000"/>
                </a:solidFill>
                <a:latin typeface="+mj-lt"/>
                <a:ea typeface="隶书" panose="02010509060101010101" pitchFamily="49" charset="-122"/>
              </a:rPr>
              <a:t>fval,exitflag,output</a:t>
            </a:r>
            <a:r>
              <a:rPr lang="zh-CN" altLang="en-US" sz="1600" dirty="0">
                <a:solidFill>
                  <a:srgbClr val="FF0000"/>
                </a:solidFill>
                <a:latin typeface="+mj-lt"/>
                <a:ea typeface="隶书" panose="02010509060101010101" pitchFamily="49" charset="-122"/>
              </a:rPr>
              <a:t>可</a:t>
            </a:r>
            <a:r>
              <a:rPr lang="en-US" altLang="ko-KR" sz="1600" dirty="0" err="1">
                <a:solidFill>
                  <a:srgbClr val="FF0000"/>
                </a:solidFill>
                <a:latin typeface="+mj-lt"/>
                <a:ea typeface="隶书" panose="02010509060101010101" pitchFamily="49" charset="-122"/>
              </a:rPr>
              <a:t>省略</a:t>
            </a:r>
            <a:r>
              <a:rPr lang="en-US" altLang="ko-KR" sz="1600" dirty="0">
                <a:solidFill>
                  <a:srgbClr val="FF0000"/>
                </a:solidFill>
                <a:latin typeface="+mj-lt"/>
                <a:ea typeface="隶书" panose="02010509060101010101" pitchFamily="49" charset="-122"/>
              </a:rPr>
              <a:t>,</a:t>
            </a:r>
            <a:endParaRPr lang="ko-KR" altLang="en-US" sz="1600" dirty="0">
              <a:solidFill>
                <a:srgbClr val="FF0000"/>
              </a:solidFill>
              <a:latin typeface="+mj-lt"/>
              <a:ea typeface="隶书" panose="02010509060101010101" pitchFamily="49" charset="-122"/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F5DBBC49-FA25-47D3-A60A-6198F2939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405" y="1055328"/>
            <a:ext cx="206909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 anchor="t">
            <a:spAutoFit/>
          </a:bodyPr>
          <a:lstStyle/>
          <a:p>
            <a:pPr algn="dist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fzero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求根格式</a:t>
            </a:r>
            <a:endParaRPr lang="zh-CN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8DB3DC8-634C-4116-A8CC-4E426F21A3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contrast="20000"/>
          </a:blip>
          <a:srcRect l="-1117" t="56454" r="7746"/>
          <a:stretch/>
        </p:blipFill>
        <p:spPr>
          <a:xfrm rot="10800000">
            <a:off x="5223464" y="1835726"/>
            <a:ext cx="3573749" cy="1888152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16D45C1A-67CC-43E4-B4E5-40316A1A61A3}"/>
              </a:ext>
            </a:extLst>
          </p:cNvPr>
          <p:cNvSpPr txBox="1"/>
          <p:nvPr/>
        </p:nvSpPr>
        <p:spPr>
          <a:xfrm>
            <a:off x="4251547" y="2960726"/>
            <a:ext cx="45719" cy="338554"/>
          </a:xfrm>
          <a:prstGeom prst="rect">
            <a:avLst/>
          </a:prstGeom>
          <a:blipFill rotWithShape="1">
            <a:blip r:embed="rId4" cstate="print"/>
            <a:stretch>
              <a:fillRect l="-3467" t="-758" b="-6061"/>
            </a:stretch>
          </a:blipFill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sz="2200" dirty="0">
              <a:noFill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3E3F39D-851B-477C-993C-F180799E31A5}"/>
                  </a:ext>
                </a:extLst>
              </p:cNvPr>
              <p:cNvSpPr/>
              <p:nvPr/>
            </p:nvSpPr>
            <p:spPr>
              <a:xfrm>
                <a:off x="6453730" y="3085223"/>
                <a:ext cx="217899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隶书" panose="020105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隶书" panose="020105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隶书" panose="020105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隶书" panose="02010509060101010101" pitchFamily="49" charset="-122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隶书" panose="02010509060101010101" pitchFamily="49" charset="-122"/>
                        </a:rPr>
                        <m:t>∗</m:t>
                      </m:r>
                      <m:r>
                        <a:rPr lang="en-US" altLang="zh-CN" sz="2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隶书" panose="02010509060101010101" pitchFamily="49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隶书" panose="020105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隶书" panose="020105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隶书" panose="020105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隶书" panose="02010509060101010101" pitchFamily="49" charset="-122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3E3F39D-851B-477C-993C-F180799E31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3730" y="3085223"/>
                <a:ext cx="2178993" cy="400110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椭圆 22">
            <a:extLst>
              <a:ext uri="{FF2B5EF4-FFF2-40B4-BE49-F238E27FC236}">
                <a16:creationId xmlns:a16="http://schemas.microsoft.com/office/drawing/2014/main" id="{EE34C94C-C987-400D-A7A4-967F12D497C9}"/>
              </a:ext>
            </a:extLst>
          </p:cNvPr>
          <p:cNvSpPr/>
          <p:nvPr/>
        </p:nvSpPr>
        <p:spPr>
          <a:xfrm>
            <a:off x="7542321" y="2715019"/>
            <a:ext cx="342830" cy="3372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B3F4A807-5512-4E92-AF8D-09DE5E1E55B8}"/>
                  </a:ext>
                </a:extLst>
              </p:cNvPr>
              <p:cNvSpPr/>
              <p:nvPr/>
            </p:nvSpPr>
            <p:spPr>
              <a:xfrm>
                <a:off x="5223465" y="3122520"/>
                <a:ext cx="663714" cy="369332"/>
              </a:xfrm>
              <a:prstGeom prst="rect">
                <a:avLst/>
              </a:prstGeom>
              <a:noFill/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eaLnBrk="0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B3F4A807-5512-4E92-AF8D-09DE5E1E55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465" y="3122520"/>
                <a:ext cx="66371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5C118C1-85E1-41A4-811A-EF14AC8677C6}"/>
                  </a:ext>
                </a:extLst>
              </p:cNvPr>
              <p:cNvSpPr/>
              <p:nvPr/>
            </p:nvSpPr>
            <p:spPr>
              <a:xfrm>
                <a:off x="8101175" y="1854294"/>
                <a:ext cx="679917" cy="369332"/>
              </a:xfrm>
              <a:prstGeom prst="rect">
                <a:avLst/>
              </a:prstGeom>
              <a:noFill/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eaLnBrk="0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𝑓</m:t>
                      </m:r>
                      <m:d>
                        <m:dPr>
                          <m:ctrlPr>
                            <a:rPr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  <a:latin typeface="+mn-lt"/>
                  <a:ea typeface="+mn-ea"/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5C118C1-85E1-41A4-811A-EF14AC8677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175" y="1854294"/>
                <a:ext cx="67991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椭圆 27">
            <a:extLst>
              <a:ext uri="{FF2B5EF4-FFF2-40B4-BE49-F238E27FC236}">
                <a16:creationId xmlns:a16="http://schemas.microsoft.com/office/drawing/2014/main" id="{077FD651-5E2B-4F07-88C6-CAF242066B78}"/>
              </a:ext>
            </a:extLst>
          </p:cNvPr>
          <p:cNvSpPr/>
          <p:nvPr/>
        </p:nvSpPr>
        <p:spPr>
          <a:xfrm>
            <a:off x="7633304" y="2519100"/>
            <a:ext cx="59705" cy="8716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BEA0177-471E-4ECC-9D06-32D6FB0BC4A8}"/>
              </a:ext>
            </a:extLst>
          </p:cNvPr>
          <p:cNvSpPr/>
          <p:nvPr/>
        </p:nvSpPr>
        <p:spPr>
          <a:xfrm>
            <a:off x="5110477" y="2108329"/>
            <a:ext cx="542426" cy="52322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i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2745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l</a:t>
            </a:r>
            <a:endParaRPr lang="ko-KR" altLang="en-US" sz="2800" b="1" i="1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2745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C9E13B2-0580-4DD6-9860-7E76B73E4B1E}"/>
              </a:ext>
            </a:extLst>
          </p:cNvPr>
          <p:cNvSpPr/>
          <p:nvPr/>
        </p:nvSpPr>
        <p:spPr>
          <a:xfrm>
            <a:off x="8495589" y="2041596"/>
            <a:ext cx="603250" cy="52322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u</a:t>
            </a:r>
            <a:endParaRPr lang="ko-KR" altLang="en-US" sz="28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85703D29-539F-4367-81A6-4305209CD885}"/>
              </a:ext>
            </a:extLst>
          </p:cNvPr>
          <p:cNvCxnSpPr>
            <a:cxnSpLocks/>
          </p:cNvCxnSpPr>
          <p:nvPr/>
        </p:nvCxnSpPr>
        <p:spPr>
          <a:xfrm flipV="1">
            <a:off x="5009597" y="2539814"/>
            <a:ext cx="3890679" cy="2500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4D9A95B-9B92-4A31-9CC5-26A742D2D625}"/>
                  </a:ext>
                </a:extLst>
              </p:cNvPr>
              <p:cNvSpPr txBox="1"/>
              <p:nvPr/>
            </p:nvSpPr>
            <p:spPr>
              <a:xfrm>
                <a:off x="5216000" y="1641871"/>
                <a:ext cx="3988362" cy="637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2200"/>
                  </a:lnSpc>
                </a:pPr>
                <a:r>
                  <a:rPr lang="zh-CN" altLang="en-US" sz="1000" b="1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求根原理：在</a:t>
                </a:r>
                <a14:m>
                  <m:oMath xmlns:m="http://schemas.openxmlformats.org/officeDocument/2006/math">
                    <m:r>
                      <a:rPr lang="en-US" altLang="zh-CN" sz="1000" b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𝒙</m:t>
                    </m:r>
                    <m:r>
                      <a:rPr lang="zh-CN" altLang="en-US" sz="1000" b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区间</m:t>
                    </m:r>
                    <m:sSub>
                      <m:sSubPr>
                        <m:ctrlPr>
                          <a:rPr lang="en-US" altLang="zh-CN" sz="1000" b="1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000" b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CN" sz="1000" b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000" b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𝒍</m:t>
                        </m:r>
                      </m:sub>
                    </m:sSub>
                    <m:sSub>
                      <m:sSubPr>
                        <m:ctrlPr>
                          <a:rPr lang="en-US" altLang="zh-CN" sz="1000" b="1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000" b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000" b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000" b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𝒖</m:t>
                        </m:r>
                      </m:sub>
                    </m:sSub>
                  </m:oMath>
                </a14:m>
                <a:r>
                  <a:rPr lang="en-US" altLang="zh-CN" sz="1000" b="1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]</a:t>
                </a:r>
                <a:r>
                  <a:rPr lang="zh-CN" altLang="en-US" sz="1000" b="1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1000" b="1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1000" b="1" i="1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f</a:t>
                </a:r>
                <a:r>
                  <a:rPr lang="en-US" altLang="zh-CN" sz="1000" b="1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(x</a:t>
                </a:r>
                <a:r>
                  <a:rPr lang="en-US" altLang="zh-CN" sz="1000" b="1" i="1" baseline="-250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l</a:t>
                </a:r>
                <a:r>
                  <a:rPr lang="en-US" altLang="zh-CN" sz="1000" b="1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1000" b="1" i="1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与</a:t>
                </a:r>
                <a:r>
                  <a:rPr lang="en-US" altLang="zh-CN" sz="1000" b="1" i="1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f</a:t>
                </a:r>
                <a:r>
                  <a:rPr lang="en-US" altLang="zh-CN" sz="1000" b="1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(x</a:t>
                </a:r>
                <a:r>
                  <a:rPr lang="en-US" altLang="zh-CN" sz="1000" b="1" i="1" baseline="-250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</a:t>
                </a:r>
                <a:r>
                  <a:rPr lang="en-US" altLang="zh-CN" sz="1000" b="1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1000" b="1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符号相反，那么在</a:t>
                </a:r>
                <a:r>
                  <a:rPr lang="en-US" altLang="zh-CN" sz="1000" b="1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1000" b="1" i="1" baseline="-250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l</a:t>
                </a:r>
                <a:r>
                  <a:rPr lang="zh-CN" altLang="en-US" sz="1000" b="1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000" b="1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1000" b="1" i="1" baseline="-250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</a:t>
                </a:r>
                <a:r>
                  <a:rPr lang="zh-CN" altLang="en-US" sz="1000" b="1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之间一定存在根</a:t>
                </a:r>
                <a:r>
                  <a:rPr lang="en-US" altLang="zh-CN" sz="1000" b="1" dirty="0">
                    <a:solidFill>
                      <a:srgbClr val="00B0F0"/>
                    </a:solidFill>
                    <a:latin typeface="隶书" panose="02010509060101010101" pitchFamily="49" charset="-122"/>
                    <a:ea typeface="隶书" panose="02010509060101010101" pitchFamily="49" charset="-122"/>
                    <a:cs typeface="Times New Roman" panose="02020603050405020304" pitchFamily="18" charset="0"/>
                  </a:rPr>
                  <a:t>.</a:t>
                </a:r>
                <a:endParaRPr lang="zh-CN" altLang="en-US" sz="1000" b="1" dirty="0">
                  <a:solidFill>
                    <a:srgbClr val="00B0F0"/>
                  </a:solidFill>
                  <a:latin typeface="隶书" panose="02010509060101010101" pitchFamily="49" charset="-122"/>
                  <a:ea typeface="隶书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4D9A95B-9B92-4A31-9CC5-26A742D2D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000" y="1641871"/>
                <a:ext cx="3988362" cy="637995"/>
              </a:xfrm>
              <a:prstGeom prst="rect">
                <a:avLst/>
              </a:prstGeom>
              <a:blipFill>
                <a:blip r:embed="rId8"/>
                <a:stretch>
                  <a:fillRect b="-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37DA72BC-EF2B-4CD2-8396-D620DA36DDF7}"/>
              </a:ext>
            </a:extLst>
          </p:cNvPr>
          <p:cNvSpPr txBox="1"/>
          <p:nvPr/>
        </p:nvSpPr>
        <p:spPr>
          <a:xfrm>
            <a:off x="5464245" y="3565160"/>
            <a:ext cx="35360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求根就是先</a:t>
            </a:r>
            <a:r>
              <a:rPr lang="zh-CN" altLang="en-US" sz="16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搜索含有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1600" b="1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变号的区间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9681587-8D32-4493-A100-112F7EA1A2A7}"/>
              </a:ext>
            </a:extLst>
          </p:cNvPr>
          <p:cNvSpPr/>
          <p:nvPr/>
        </p:nvSpPr>
        <p:spPr>
          <a:xfrm>
            <a:off x="1267132" y="1478967"/>
            <a:ext cx="5186598" cy="33855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defTabSz="914400" latinLnBrk="0">
              <a:buFontTx/>
              <a:buNone/>
            </a:pPr>
            <a:r>
              <a:rPr lang="zh-CN" altLang="en-US" sz="1600" dirty="0">
                <a:solidFill>
                  <a:srgbClr val="FF0000"/>
                </a:solidFill>
                <a:latin typeface="+mj-lt"/>
                <a:ea typeface="隶书" panose="02010509060101010101" pitchFamily="49" charset="-122"/>
              </a:rPr>
              <a:t>如只有第一项输出项</a:t>
            </a:r>
            <a:r>
              <a:rPr lang="en-US" altLang="zh-CN" sz="1600" dirty="0">
                <a:solidFill>
                  <a:srgbClr val="FF0000"/>
                </a:solidFill>
                <a:latin typeface="+mj-lt"/>
                <a:ea typeface="隶书" panose="02010509060101010101" pitchFamily="49" charset="-122"/>
              </a:rPr>
              <a:t>x</a:t>
            </a:r>
            <a:r>
              <a:rPr lang="zh-CN" altLang="en-US" sz="1600" dirty="0">
                <a:solidFill>
                  <a:srgbClr val="FF0000"/>
                </a:solidFill>
                <a:latin typeface="+mj-lt"/>
                <a:ea typeface="隶书" panose="02010509060101010101" pitchFamily="49" charset="-122"/>
              </a:rPr>
              <a:t>不加逗号，</a:t>
            </a:r>
            <a:r>
              <a:rPr lang="en-US" altLang="zh-CN" sz="1600" dirty="0">
                <a:solidFill>
                  <a:srgbClr val="FF0000"/>
                </a:solidFill>
                <a:latin typeface="+mj-lt"/>
                <a:ea typeface="隶书" panose="02010509060101010101" pitchFamily="49" charset="-122"/>
              </a:rPr>
              <a:t>x</a:t>
            </a:r>
            <a:r>
              <a:rPr lang="zh-CN" altLang="en-US" sz="1600" dirty="0">
                <a:solidFill>
                  <a:srgbClr val="FF0000"/>
                </a:solidFill>
                <a:latin typeface="+mj-lt"/>
                <a:ea typeface="隶书" panose="02010509060101010101" pitchFamily="49" charset="-122"/>
              </a:rPr>
              <a:t>将代表所有输出结果</a:t>
            </a:r>
            <a:endParaRPr lang="ko-KR" altLang="en-US" sz="1600" dirty="0">
              <a:solidFill>
                <a:srgbClr val="FF0000"/>
              </a:solidFill>
              <a:latin typeface="+mj-lt"/>
              <a:ea typeface="隶书" panose="020105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5A7F969-9F58-4E0D-B9C8-C29787E1AF68}"/>
              </a:ext>
            </a:extLst>
          </p:cNvPr>
          <p:cNvSpPr txBox="1"/>
          <p:nvPr/>
        </p:nvSpPr>
        <p:spPr>
          <a:xfrm>
            <a:off x="7258077" y="1082021"/>
            <a:ext cx="1824646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177800" indent="-177800">
              <a:lnSpc>
                <a:spcPct val="90000"/>
              </a:lnSpc>
              <a:defRPr sz="32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pPr marL="0" lvl="0" indent="0" eaLnBrk="0" hangingPunct="0">
              <a:lnSpc>
                <a:spcPct val="100000"/>
              </a:lnSpc>
            </a:pPr>
            <a:r>
              <a:rPr lang="zh-CN" altLang="zh-CN" sz="1600" b="0" dirty="0">
                <a:effectLst/>
                <a:highlight>
                  <a:srgbClr val="3399FF"/>
                </a:highlight>
                <a:latin typeface="Arial Unicode MS"/>
                <a:ea typeface="source-code-pro"/>
              </a:rPr>
              <a:t>x, = fzero(fun,x0)</a:t>
            </a:r>
            <a:r>
              <a:rPr lang="zh-CN" altLang="zh-CN" sz="1600" b="0" dirty="0">
                <a:effectLst/>
                <a:highlight>
                  <a:srgbClr val="3399FF"/>
                </a:highlight>
              </a:rPr>
              <a:t> </a:t>
            </a:r>
            <a:endParaRPr lang="zh-CN" altLang="zh-CN" sz="1600" b="0" dirty="0">
              <a:effectLst/>
              <a:highlight>
                <a:srgbClr val="3399FF"/>
              </a:highlight>
              <a:latin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49424D5-2D3E-4A84-BB1B-9C8ABA11E4A9}"/>
              </a:ext>
            </a:extLst>
          </p:cNvPr>
          <p:cNvSpPr/>
          <p:nvPr/>
        </p:nvSpPr>
        <p:spPr>
          <a:xfrm>
            <a:off x="126660" y="675144"/>
            <a:ext cx="3350729" cy="38420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0" hangingPunct="0">
              <a:lnSpc>
                <a:spcPct val="85000"/>
              </a:lnSpc>
              <a:tabLst>
                <a:tab pos="457200" algn="l"/>
              </a:tabLst>
            </a:pP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3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、</a:t>
            </a:r>
            <a:r>
              <a:rPr lang="en-US" altLang="zh-CN" sz="22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fzero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局部求根</a:t>
            </a:r>
            <a:endParaRPr lang="ko-KR" altLang="en-US" sz="2200" dirty="0">
              <a:solidFill>
                <a:srgbClr val="0070C0"/>
              </a:solidFill>
              <a:latin typeface="微软雅黑" panose="020B0503020204020204" pitchFamily="34" charset="-122"/>
              <a:cs typeface="+mj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E155C2C-0983-4B95-9755-4EE973EA12DA}"/>
              </a:ext>
            </a:extLst>
          </p:cNvPr>
          <p:cNvSpPr txBox="1"/>
          <p:nvPr/>
        </p:nvSpPr>
        <p:spPr>
          <a:xfrm>
            <a:off x="143659" y="-12132"/>
            <a:ext cx="4966818" cy="6247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6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</a:t>
            </a:r>
            <a:r>
              <a:rPr lang="en-US" altLang="zh-CN" sz="2600" b="1" kern="1800" dirty="0" err="1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fzero</a:t>
            </a:r>
            <a:r>
              <a:rPr lang="zh-CN" altLang="en-US" sz="26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数值计算</a:t>
            </a:r>
            <a:r>
              <a:rPr lang="zh-CN" altLang="zh-CN" sz="26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理论</a:t>
            </a:r>
            <a:endParaRPr lang="zh-CN" altLang="zh-CN" sz="26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4B92105-5852-4998-96DB-F101F4B909F2}"/>
              </a:ext>
            </a:extLst>
          </p:cNvPr>
          <p:cNvSpPr txBox="1"/>
          <p:nvPr/>
        </p:nvSpPr>
        <p:spPr>
          <a:xfrm>
            <a:off x="2523204" y="563635"/>
            <a:ext cx="6666705" cy="433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altLang="zh-CN" sz="1600" b="1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x,fval</a:t>
            </a:r>
            <a:r>
              <a:rPr lang="en-US" altLang="zh-CN" sz="16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600" b="1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exitflag</a:t>
            </a:r>
            <a:r>
              <a:rPr lang="en-US" altLang="zh-CN" sz="16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1600" b="1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fzero</a:t>
            </a:r>
            <a:r>
              <a:rPr lang="en-US" altLang="zh-CN" sz="16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(fun,x0,optimset(Display=“</a:t>
            </a:r>
            <a:r>
              <a:rPr lang="en-US" altLang="zh-CN" sz="1600" b="1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iter</a:t>
            </a:r>
            <a:r>
              <a:rPr lang="en-US" altLang="zh-CN" sz="16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”))) </a:t>
            </a:r>
            <a:r>
              <a:rPr lang="zh-CN" altLang="en-US" sz="16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查看每次迭代结果</a:t>
            </a:r>
            <a:endParaRPr lang="zh-CN" altLang="zh-CN" sz="16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83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2" grpId="0" animBg="1"/>
      <p:bldP spid="13" grpId="0" animBg="1"/>
      <p:bldP spid="15" grpId="0"/>
      <p:bldP spid="22" grpId="0"/>
      <p:bldP spid="23" grpId="0" animBg="1"/>
      <p:bldP spid="24" grpId="0"/>
      <p:bldP spid="25" grpId="0"/>
      <p:bldP spid="28" grpId="0" animBg="1"/>
      <p:bldP spid="29" grpId="0"/>
      <p:bldP spid="30" grpId="0"/>
      <p:bldP spid="32" grpId="0"/>
      <p:bldP spid="16" grpId="0"/>
      <p:bldP spid="26" grpId="0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EE969BF-8A74-434B-B13B-5153C8DFF6ED}"/>
              </a:ext>
            </a:extLst>
          </p:cNvPr>
          <p:cNvSpPr txBox="1"/>
          <p:nvPr/>
        </p:nvSpPr>
        <p:spPr>
          <a:xfrm>
            <a:off x="0" y="669669"/>
            <a:ext cx="9112744" cy="39349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ts val="3800"/>
              </a:lnSpc>
              <a:buFont typeface="Symbol" panose="05050102010706020507" pitchFamily="18" charset="2"/>
              <a:buBlip>
                <a:blip r:embed="rId2"/>
              </a:buBlip>
              <a:tabLst>
                <a:tab pos="266700" algn="l"/>
                <a:tab pos="457200" algn="l"/>
              </a:tabLst>
            </a:pPr>
            <a:r>
              <a:rPr lang="en-US" altLang="zh-CN" b="1" kern="18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x</a:t>
            </a:r>
            <a:r>
              <a:rPr lang="zh-CN" altLang="zh-CN" b="1" kern="18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在</a:t>
            </a:r>
            <a:r>
              <a:rPr lang="en-US" altLang="zh-CN" b="1" kern="18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[0,2pi]</a:t>
            </a:r>
            <a:r>
              <a:rPr lang="zh-CN" altLang="zh-CN" b="1" kern="18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范围内设置不同初始值</a:t>
            </a:r>
            <a:r>
              <a:rPr lang="zh-CN" altLang="en-US" b="1" kern="1800" dirty="0">
                <a:solidFill>
                  <a:srgbClr val="0070C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时，</a:t>
            </a:r>
            <a:r>
              <a:rPr lang="zh-CN" altLang="zh-CN" b="1" kern="1800" dirty="0">
                <a:solidFill>
                  <a:srgbClr val="0070C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求</a:t>
            </a:r>
            <a:r>
              <a:rPr lang="en-US" altLang="zh-CN" b="1" kern="18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sin(x)=0.5</a:t>
            </a:r>
            <a:r>
              <a:rPr lang="zh-CN" altLang="zh-CN" b="1" kern="1800" dirty="0">
                <a:solidFill>
                  <a:srgbClr val="0070C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根</a:t>
            </a:r>
          </a:p>
          <a:p>
            <a:pPr marL="266700" algn="l">
              <a:lnSpc>
                <a:spcPts val="3800"/>
              </a:lnSpc>
            </a:pPr>
            <a:r>
              <a:rPr lang="en-US" altLang="zh-CN" sz="20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ff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(x)=</a:t>
            </a:r>
            <a:r>
              <a:rPr lang="en-US" altLang="zh-CN" sz="20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sin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(x)-</a:t>
            </a:r>
            <a:r>
              <a:rPr lang="en-US" altLang="zh-CN" sz="2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0.5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r>
              <a:rPr lang="en-US" altLang="zh-CN" sz="2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2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建立函数表达式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algn="l">
              <a:lnSpc>
                <a:spcPts val="3800"/>
              </a:lnSpc>
            </a:pPr>
            <a:r>
              <a:rPr lang="en-US" altLang="zh-CN" sz="20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fplot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(ff,[</a:t>
            </a:r>
            <a:r>
              <a:rPr lang="en-US" altLang="zh-CN" sz="2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2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2pi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]) </a:t>
            </a:r>
            <a:r>
              <a:rPr lang="en-US" altLang="zh-CN" sz="2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zh-CN" sz="2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绘制</a:t>
            </a:r>
            <a:r>
              <a:rPr lang="zh-CN" altLang="en-US" sz="2000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函数</a:t>
            </a:r>
            <a:r>
              <a:rPr lang="zh-CN" altLang="zh-CN" sz="2000" kern="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图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algn="l">
              <a:lnSpc>
                <a:spcPts val="3800"/>
              </a:lnSpc>
            </a:pPr>
            <a:r>
              <a:rPr lang="en-US" altLang="zh-CN" sz="2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x,fval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20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fzero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(ff,</a:t>
            </a:r>
            <a:r>
              <a:rPr lang="en-US" altLang="zh-CN" sz="2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0.3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>
              <a:lnSpc>
                <a:spcPts val="3800"/>
              </a:lnSpc>
            </a:pPr>
            <a:r>
              <a:rPr lang="en-US" altLang="zh-CN" sz="20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println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zh-CN" sz="20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根</a:t>
            </a:r>
            <a:r>
              <a:rPr lang="en-US" altLang="zh-CN" sz="20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x=</a:t>
            </a:r>
            <a:r>
              <a:rPr lang="en-US" altLang="zh-CN" sz="2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$x</a:t>
            </a:r>
            <a:r>
              <a:rPr lang="en-US" altLang="zh-CN" sz="20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);</a:t>
            </a:r>
            <a:r>
              <a:rPr lang="en-US" altLang="zh-CN" sz="20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println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zh-CN" sz="20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函数零点</a:t>
            </a:r>
            <a:r>
              <a:rPr lang="en-US" altLang="zh-CN" sz="20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fval</a:t>
            </a:r>
            <a:r>
              <a:rPr lang="en-US" altLang="zh-CN" sz="20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2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20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fval</a:t>
            </a:r>
            <a:r>
              <a:rPr lang="en-US" altLang="zh-CN" sz="20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66700" algn="l">
              <a:lnSpc>
                <a:spcPts val="3800"/>
              </a:lnSpc>
            </a:pPr>
            <a:r>
              <a:rPr lang="en-US" altLang="zh-CN" sz="20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x,fval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20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fzero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(ff,</a:t>
            </a:r>
            <a:r>
              <a:rPr lang="en-US" altLang="zh-CN" sz="20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lang="en-US" altLang="zh-CN" sz="20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println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zh-CN" sz="20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根</a:t>
            </a:r>
            <a:r>
              <a:rPr lang="en-US" altLang="zh-CN" sz="20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x=</a:t>
            </a:r>
            <a:r>
              <a:rPr lang="en-US" altLang="zh-CN" sz="20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$x</a:t>
            </a:r>
            <a:r>
              <a:rPr lang="en-US" altLang="zh-CN" sz="20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20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);</a:t>
            </a:r>
          </a:p>
          <a:p>
            <a:pPr marL="266700" algn="l">
              <a:lnSpc>
                <a:spcPts val="3800"/>
              </a:lnSpc>
            </a:pPr>
            <a:r>
              <a:rPr lang="en-US" altLang="zh-CN" sz="20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x,fval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fzero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(ff,[0.3,3])  </a:t>
            </a:r>
            <a:r>
              <a:rPr lang="en-US" altLang="zh-CN" sz="2000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#</a:t>
            </a:r>
            <a:r>
              <a:rPr lang="zh-CN" altLang="en-US" sz="2000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结果</a:t>
            </a:r>
            <a:r>
              <a:rPr lang="en-US" altLang="zh-CN" sz="1400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ERROR: Function values at the interval endpoints must differ in sign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. </a:t>
            </a:r>
          </a:p>
          <a:p>
            <a:pPr marL="266700">
              <a:lnSpc>
                <a:spcPts val="3800"/>
              </a:lnSpc>
            </a:pPr>
            <a:r>
              <a:rPr lang="en-US" altLang="zh-CN" sz="20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x,fval</a:t>
            </a:r>
            <a:r>
              <a:rPr lang="en-US" altLang="zh-CN" sz="20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2000" kern="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fzero</a:t>
            </a:r>
            <a:r>
              <a:rPr lang="en-US" altLang="zh-CN" sz="2000" kern="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(ff,[0.3,1]) </a:t>
            </a:r>
            <a:r>
              <a:rPr lang="en-US" altLang="zh-CN" sz="1400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#</a:t>
            </a:r>
            <a:r>
              <a:rPr lang="zh-CN" altLang="en-US" sz="1400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结果</a:t>
            </a:r>
            <a:r>
              <a:rPr lang="en-US" altLang="zh-CN" sz="1400" b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0.5235987755982989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20539E8-E37A-4F09-A19D-E06E160530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0" t="12201" r="7476" b="9400"/>
          <a:stretch/>
        </p:blipFill>
        <p:spPr>
          <a:xfrm>
            <a:off x="6746329" y="1227324"/>
            <a:ext cx="2093835" cy="1836204"/>
          </a:xfrm>
          <a:prstGeom prst="rect">
            <a:avLst/>
          </a:prstGeom>
        </p:spPr>
      </p:pic>
      <p:sp>
        <p:nvSpPr>
          <p:cNvPr id="19" name="对话气泡: 圆角矩形 18">
            <a:extLst>
              <a:ext uri="{FF2B5EF4-FFF2-40B4-BE49-F238E27FC236}">
                <a16:creationId xmlns:a16="http://schemas.microsoft.com/office/drawing/2014/main" id="{600C4347-06CF-456C-A1E4-D702D68C62A0}"/>
              </a:ext>
            </a:extLst>
          </p:cNvPr>
          <p:cNvSpPr/>
          <p:nvPr/>
        </p:nvSpPr>
        <p:spPr bwMode="auto">
          <a:xfrm>
            <a:off x="4806339" y="2060711"/>
            <a:ext cx="1584176" cy="578882"/>
          </a:xfrm>
          <a:prstGeom prst="wedgeRoundRectCallout">
            <a:avLst>
              <a:gd name="adj1" fmla="val 91986"/>
              <a:gd name="adj2" fmla="val -94036"/>
              <a:gd name="adj3" fmla="val 16667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根x=0.523</a:t>
            </a:r>
            <a:r>
              <a:rPr lang="en-US" altLang="zh-CN" sz="1400">
                <a:solidFill>
                  <a:srgbClr val="FF0000"/>
                </a:solidFill>
              </a:rPr>
              <a:t>6</a:t>
            </a:r>
          </a:p>
          <a:p>
            <a:r>
              <a:rPr lang="zh-CN" altLang="en-US" sz="1400">
                <a:solidFill>
                  <a:srgbClr val="FF0000"/>
                </a:solidFill>
              </a:rPr>
              <a:t>函数零点fval=0.0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BD0837E0-3BC1-45A4-88BB-0A68449B1DFA}"/>
              </a:ext>
            </a:extLst>
          </p:cNvPr>
          <p:cNvSpPr/>
          <p:nvPr/>
        </p:nvSpPr>
        <p:spPr bwMode="auto">
          <a:xfrm>
            <a:off x="6882084" y="2111269"/>
            <a:ext cx="1982626" cy="510778"/>
          </a:xfrm>
          <a:prstGeom prst="wedgeRoundRectCallout">
            <a:avLst>
              <a:gd name="adj1" fmla="val -9338"/>
              <a:gd name="adj2" fmla="val -118508"/>
              <a:gd name="adj3" fmla="val 16667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根</a:t>
            </a:r>
            <a:r>
              <a:rPr lang="en-US" altLang="zh-CN" sz="1200" dirty="0">
                <a:solidFill>
                  <a:srgbClr val="FF0000"/>
                </a:solidFill>
              </a:rPr>
              <a:t>x=2.6180</a:t>
            </a:r>
          </a:p>
          <a:p>
            <a:r>
              <a:rPr lang="zh-CN" altLang="en-US" sz="1200" dirty="0">
                <a:solidFill>
                  <a:srgbClr val="FF0000"/>
                </a:solidFill>
              </a:rPr>
              <a:t>函数零点</a:t>
            </a:r>
            <a:r>
              <a:rPr lang="en-US" altLang="zh-CN" sz="1200" dirty="0" err="1">
                <a:solidFill>
                  <a:srgbClr val="FF0000"/>
                </a:solidFill>
              </a:rPr>
              <a:t>fval</a:t>
            </a:r>
            <a:r>
              <a:rPr lang="en-US" altLang="zh-CN" sz="1200" dirty="0">
                <a:solidFill>
                  <a:srgbClr val="FF0000"/>
                </a:solidFill>
              </a:rPr>
              <a:t>=-5.5511e-17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1" name="形状 18">
            <a:extLst>
              <a:ext uri="{FF2B5EF4-FFF2-40B4-BE49-F238E27FC236}">
                <a16:creationId xmlns:a16="http://schemas.microsoft.com/office/drawing/2014/main" id="{358C2B35-64AF-45DC-84BC-87FAAD2B5A9D}"/>
              </a:ext>
            </a:extLst>
          </p:cNvPr>
          <p:cNvSpPr/>
          <p:nvPr/>
        </p:nvSpPr>
        <p:spPr>
          <a:xfrm>
            <a:off x="5842961" y="663985"/>
            <a:ext cx="749380" cy="488637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marL="0" indent="0" algn="ctr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400" b="1" cap="none" dirty="0">
                <a:solidFill>
                  <a:srgbClr val="FFFF00"/>
                </a:solidFill>
                <a:latin typeface="微软雅黑" panose="020B0503020204020204" pitchFamily="34" charset="-122"/>
                <a:ea typeface="楷体_GB2312" charset="0"/>
              </a:rPr>
              <a:t>注意</a:t>
            </a:r>
            <a:endParaRPr lang="ko-KR" altLang="en-US" sz="1400" b="1" cap="none" dirty="0">
              <a:solidFill>
                <a:srgbClr val="FFFF00"/>
              </a:solidFill>
              <a:latin typeface="微软雅黑" panose="020B0503020204020204" pitchFamily="34" charset="-122"/>
              <a:ea typeface="楷体_GB2312" charset="0"/>
            </a:endParaRPr>
          </a:p>
        </p:txBody>
      </p:sp>
      <p:sp>
        <p:nvSpPr>
          <p:cNvPr id="14" name="形状 18">
            <a:extLst>
              <a:ext uri="{FF2B5EF4-FFF2-40B4-BE49-F238E27FC236}">
                <a16:creationId xmlns:a16="http://schemas.microsoft.com/office/drawing/2014/main" id="{4FC8E414-58B7-4970-9395-5B24EBA38991}"/>
              </a:ext>
            </a:extLst>
          </p:cNvPr>
          <p:cNvSpPr/>
          <p:nvPr/>
        </p:nvSpPr>
        <p:spPr>
          <a:xfrm>
            <a:off x="5943867" y="4083918"/>
            <a:ext cx="1036178" cy="488637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marL="0" indent="0" algn="ctr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400" b="1" cap="none" dirty="0">
                <a:solidFill>
                  <a:srgbClr val="FFFF00"/>
                </a:solidFill>
                <a:latin typeface="微软雅黑" panose="020B0503020204020204" pitchFamily="34" charset="-122"/>
                <a:ea typeface="楷体_GB2312" charset="0"/>
              </a:rPr>
              <a:t>注意</a:t>
            </a:r>
            <a:endParaRPr lang="ko-KR" altLang="en-US" sz="1400" b="1" cap="none" dirty="0">
              <a:solidFill>
                <a:srgbClr val="FFFF00"/>
              </a:solidFill>
              <a:latin typeface="微软雅黑" panose="020B0503020204020204" pitchFamily="34" charset="-122"/>
              <a:ea typeface="楷体_GB2312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E676D0-810D-4347-AE61-C76EBC387486}"/>
              </a:ext>
            </a:extLst>
          </p:cNvPr>
          <p:cNvSpPr txBox="1"/>
          <p:nvPr/>
        </p:nvSpPr>
        <p:spPr>
          <a:xfrm>
            <a:off x="6746329" y="4248702"/>
            <a:ext cx="24363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400" dirty="0">
                <a:solidFill>
                  <a:srgbClr val="0070C0"/>
                </a:solidFill>
                <a:latin typeface="Arial Unicode MS" charset="0"/>
                <a:ea typeface="Arial Unicode MS" charset="0"/>
                <a:cs typeface="Times New Roman" panose="02020603050405020304" pitchFamily="18" charset="0"/>
              </a:rPr>
              <a:t>[x1,x2])</a:t>
            </a: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两端函数值必须异号</a:t>
            </a:r>
            <a:endParaRPr lang="ko-KR" altLang="en-US" sz="1400" b="1" cap="none" dirty="0">
              <a:solidFill>
                <a:srgbClr val="0070C0"/>
              </a:solidFill>
              <a:latin typeface="微软雅黑" panose="020B0503020204020204" pitchFamily="34" charset="-122"/>
              <a:ea typeface="楷体_GB2312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66639C1-AD93-4BBB-A3C9-0AF83F0D5E16}"/>
              </a:ext>
            </a:extLst>
          </p:cNvPr>
          <p:cNvSpPr txBox="1"/>
          <p:nvPr/>
        </p:nvSpPr>
        <p:spPr>
          <a:xfrm>
            <a:off x="6217651" y="772054"/>
            <a:ext cx="31395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defTabSz="914400" eaLnBrk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多根存在，选择离初始值最近根</a:t>
            </a:r>
            <a:endParaRPr lang="ko-KR" altLang="en-US" sz="1400" b="1" cap="none" dirty="0">
              <a:solidFill>
                <a:srgbClr val="0070C0"/>
              </a:solidFill>
              <a:latin typeface="微软雅黑" panose="020B0503020204020204" pitchFamily="34" charset="-122"/>
              <a:ea typeface="楷体_GB2312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96A54BC-CEF7-4146-877E-704B44647A10}"/>
              </a:ext>
            </a:extLst>
          </p:cNvPr>
          <p:cNvSpPr txBox="1"/>
          <p:nvPr/>
        </p:nvSpPr>
        <p:spPr>
          <a:xfrm>
            <a:off x="107875" y="39726"/>
            <a:ext cx="4572357" cy="58381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二、</a:t>
            </a:r>
            <a:r>
              <a:rPr lang="en-US" altLang="zh-CN" sz="2400" b="1" kern="1800" dirty="0" err="1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fzero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数值计算案例</a:t>
            </a:r>
            <a:endParaRPr lang="zh-CN" altLang="zh-CN" sz="24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8E137A3-F9C2-49AC-91A4-D53B69EB57C9}"/>
              </a:ext>
            </a:extLst>
          </p:cNvPr>
          <p:cNvSpPr txBox="1"/>
          <p:nvPr/>
        </p:nvSpPr>
        <p:spPr>
          <a:xfrm>
            <a:off x="3494615" y="131967"/>
            <a:ext cx="5688065" cy="441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altLang="zh-CN" sz="1800" b="1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x,fval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800" b="1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exitflag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1800" b="1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fzero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(fun,x0,optimset(Display="</a:t>
            </a:r>
            <a:r>
              <a:rPr lang="en-US" altLang="zh-CN" sz="1800" b="1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iter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")))</a:t>
            </a:r>
            <a:endParaRPr lang="zh-CN" altLang="zh-CN" sz="18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962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F5781FD-0CD0-4420-81D7-FE174CBF666C}"/>
              </a:ext>
            </a:extLst>
          </p:cNvPr>
          <p:cNvSpPr txBox="1"/>
          <p:nvPr/>
        </p:nvSpPr>
        <p:spPr>
          <a:xfrm>
            <a:off x="755577" y="19472"/>
            <a:ext cx="8358346" cy="58381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800" dirty="0">
                <a:solidFill>
                  <a:srgbClr val="003B76"/>
                </a:solidFill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三</a:t>
            </a: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、上机实验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内容</a:t>
            </a:r>
            <a:r>
              <a:rPr lang="en-US" altLang="zh-CN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——1</a:t>
            </a:r>
            <a:r>
              <a:rPr lang="zh-CN" altLang="en-US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、</a:t>
            </a:r>
            <a:r>
              <a:rPr lang="zh-CN" altLang="zh-CN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梯形积分法求总票房和累计总票房</a:t>
            </a:r>
            <a:endParaRPr lang="zh-CN" altLang="zh-CN" sz="24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AB30C8-8085-4C12-9145-60965ABF5208}"/>
              </a:ext>
            </a:extLst>
          </p:cNvPr>
          <p:cNvSpPr txBox="1"/>
          <p:nvPr/>
        </p:nvSpPr>
        <p:spPr>
          <a:xfrm>
            <a:off x="539832" y="626049"/>
            <a:ext cx="8568952" cy="1797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zh-CN" sz="18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根据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t=1:45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天《哪吒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》单日票房数据</a:t>
            </a:r>
            <a:r>
              <a:rPr lang="en-US" altLang="zh-CN" sz="18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（亿元）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25000"/>
              </a:lnSpc>
            </a:pP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4.87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4.8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6.19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7.31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8.12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8.43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8.66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6.49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5.85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5.41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6.2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,7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.61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5.8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4.82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5.33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3.6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5.81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7.87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6.14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1.93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1.66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1.27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1.28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2.28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5.2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3.51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0.74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0.61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0.53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0.49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0.9661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2.344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1.409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0.2812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0.2465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0.229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0.223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0.5619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1.4185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0.7601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0.1558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0.1419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0.132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0.1191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8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0.239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8A7EED-5F78-4A22-AD26-FFA45A63A842}"/>
              </a:ext>
            </a:extLst>
          </p:cNvPr>
          <p:cNvSpPr txBox="1"/>
          <p:nvPr/>
        </p:nvSpPr>
        <p:spPr>
          <a:xfrm>
            <a:off x="526748" y="2355726"/>
            <a:ext cx="8744616" cy="2290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altLang="zh-CN" sz="18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、用梯形积分法</a:t>
            </a:r>
            <a:r>
              <a:rPr lang="en-US" altLang="zh-CN" sz="1800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trapz</a:t>
            </a:r>
            <a:r>
              <a:rPr lang="zh-CN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800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cumtrapz</a:t>
            </a:r>
            <a:r>
              <a:rPr lang="zh-CN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分别求</a:t>
            </a:r>
            <a:r>
              <a:rPr lang="en-US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45</a:t>
            </a:r>
            <a:r>
              <a:rPr lang="zh-CN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天总票房和累计总票房</a:t>
            </a:r>
            <a:r>
              <a:rPr lang="en-US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yc45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 fontAlgn="base" hangingPunct="0">
              <a:lnSpc>
                <a:spcPts val="2900"/>
              </a:lnSpc>
              <a:buFont typeface="+mj-lt"/>
              <a:buAutoNum type="arabicParenR"/>
              <a:tabLst>
                <a:tab pos="269875" algn="l"/>
              </a:tabLst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建立时间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和单日票房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向量；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 fontAlgn="base" hangingPunct="0">
              <a:lnSpc>
                <a:spcPts val="2900"/>
              </a:lnSpc>
              <a:buFont typeface="+mj-lt"/>
              <a:buAutoNum type="arabicParenR"/>
              <a:tabLst>
                <a:tab pos="269875" algn="l"/>
              </a:tabLst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用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trapz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求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45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天的总票房，提供结果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y45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；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 fontAlgn="base" hangingPunct="0">
              <a:lnSpc>
                <a:spcPts val="2900"/>
              </a:lnSpc>
              <a:buFont typeface="+mj-lt"/>
              <a:buAutoNum type="arabicParenR"/>
              <a:tabLst>
                <a:tab pos="269875" algn="l"/>
              </a:tabLst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用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cumtrapz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求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45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天每天的累计总票房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yc45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；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 fontAlgn="base" hangingPunct="0">
              <a:lnSpc>
                <a:spcPts val="2900"/>
              </a:lnSpc>
              <a:buFont typeface="+mj-lt"/>
              <a:buAutoNum type="arabicParenR"/>
              <a:tabLst>
                <a:tab pos="269875" algn="l"/>
              </a:tabLst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绘制累计总票房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yc45-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时间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曲线，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xlabel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和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ylabel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标注横纵坐标分别为时间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（天），累计总票房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（亿元）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256030-4B2C-42CC-BF1D-5C1DDF499D82}"/>
              </a:ext>
            </a:extLst>
          </p:cNvPr>
          <p:cNvSpPr txBox="1"/>
          <p:nvPr/>
        </p:nvSpPr>
        <p:spPr>
          <a:xfrm>
            <a:off x="7092280" y="2838293"/>
            <a:ext cx="1776541" cy="414889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algn="dist"/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sz="2000" cap="none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坐标轴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</a:t>
            </a:r>
            <a:endParaRPr lang="en-US" altLang="zh-CN" sz="2000" cap="none" dirty="0">
              <a:solidFill>
                <a:srgbClr val="FFFF00"/>
              </a:solidFill>
              <a:highlight>
                <a:srgbClr val="21A4FF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dist"/>
            <a:r>
              <a:rPr lang="en-US" altLang="ko-KR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 algn="dist" defTabSz="63500" eaLnBrk="0">
              <a:spcBef>
                <a:spcPts val="600"/>
              </a:spcBef>
              <a:spcAft>
                <a:spcPts val="0"/>
              </a:spcAft>
            </a:pPr>
            <a:endParaRPr lang="ko-KR" altLang="en-US" sz="2000" cap="none" dirty="0">
              <a:solidFill>
                <a:srgbClr val="002060"/>
              </a:solidFill>
              <a:latin typeface="华文楷体" panose="0201060004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1EAD87-E91F-4889-83D9-DF299811E95A}"/>
              </a:ext>
            </a:extLst>
          </p:cNvPr>
          <p:cNvSpPr/>
          <p:nvPr/>
        </p:nvSpPr>
        <p:spPr>
          <a:xfrm>
            <a:off x="5724128" y="3316437"/>
            <a:ext cx="2167861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ko-KR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 Z=</a:t>
            </a:r>
            <a:r>
              <a:rPr lang="en-US" altLang="ko-KR" sz="2000" b="1" kern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21A4FF"/>
                </a:highligh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cum</a:t>
            </a:r>
            <a:r>
              <a:rPr lang="en-US" altLang="ko-KR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trapz</a:t>
            </a:r>
            <a:r>
              <a:rPr lang="en-US" altLang="ko-KR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x</a:t>
            </a:r>
            <a:r>
              <a:rPr lang="en-US" altLang="ko-KR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y</a:t>
            </a:r>
            <a:r>
              <a:rPr lang="en-US" altLang="ko-KR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9858B8-446A-4682-A21F-4A5A0A5C2F02}"/>
              </a:ext>
            </a:extLst>
          </p:cNvPr>
          <p:cNvSpPr/>
          <p:nvPr/>
        </p:nvSpPr>
        <p:spPr>
          <a:xfrm>
            <a:off x="5220072" y="2862695"/>
            <a:ext cx="1661212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ko-KR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 Z=</a:t>
            </a:r>
            <a:r>
              <a:rPr lang="en-US" altLang="ko-KR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trapz</a:t>
            </a:r>
            <a:r>
              <a:rPr lang="en-US" altLang="ko-KR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x</a:t>
            </a:r>
            <a:r>
              <a:rPr lang="en-US" altLang="ko-KR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y</a:t>
            </a:r>
            <a:r>
              <a:rPr lang="en-US" altLang="ko-KR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10204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77486DF-50B2-4063-9225-31B87E1961EA}"/>
              </a:ext>
            </a:extLst>
          </p:cNvPr>
          <p:cNvSpPr txBox="1"/>
          <p:nvPr/>
        </p:nvSpPr>
        <p:spPr>
          <a:xfrm>
            <a:off x="1115616" y="52723"/>
            <a:ext cx="7428371" cy="58381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800" dirty="0">
                <a:solidFill>
                  <a:srgbClr val="003B76"/>
                </a:solidFill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三</a:t>
            </a: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、上机实验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内容</a:t>
            </a:r>
            <a:r>
              <a:rPr lang="en-US" altLang="zh-CN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——2</a:t>
            </a:r>
            <a:r>
              <a:rPr lang="zh-CN" altLang="en-US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、</a:t>
            </a:r>
            <a:r>
              <a:rPr lang="zh-CN" altLang="en-US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梯度法直接</a:t>
            </a:r>
            <a:r>
              <a:rPr lang="zh-CN" altLang="zh-CN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求</a:t>
            </a:r>
            <a:r>
              <a:rPr lang="zh-CN" altLang="en-US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单日</a:t>
            </a:r>
            <a:r>
              <a:rPr lang="zh-CN" altLang="zh-CN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票房</a:t>
            </a:r>
            <a:endParaRPr lang="zh-CN" altLang="zh-CN" sz="24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97859F-1494-4BE3-9456-0B3DDB186EEE}"/>
              </a:ext>
            </a:extLst>
          </p:cNvPr>
          <p:cNvSpPr txBox="1"/>
          <p:nvPr/>
        </p:nvSpPr>
        <p:spPr>
          <a:xfrm>
            <a:off x="392220" y="1201657"/>
            <a:ext cx="7920880" cy="333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altLang="zh-CN" sz="18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、用梯度</a:t>
            </a:r>
            <a:r>
              <a:rPr lang="en-US" altLang="zh-CN" sz="1800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TyMath</a:t>
            </a:r>
            <a:r>
              <a:rPr lang="en-US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. gradient</a:t>
            </a:r>
            <a:r>
              <a:rPr lang="zh-CN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对累计总票房</a:t>
            </a:r>
            <a:r>
              <a:rPr lang="en-US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yc45</a:t>
            </a:r>
            <a:r>
              <a:rPr lang="zh-CN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一阶求导计算单日票房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 fontAlgn="base" hangingPunct="0">
              <a:lnSpc>
                <a:spcPct val="200000"/>
              </a:lnSpc>
              <a:buFont typeface="+mj-lt"/>
              <a:buAutoNum type="arabicParenR"/>
              <a:tabLst>
                <a:tab pos="269875" algn="l"/>
              </a:tabLst>
            </a:pP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</a:rPr>
              <a:t>figure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打开新图窗，并且用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hold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的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on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模式将进行图形叠加；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 fontAlgn="base" hangingPunct="0">
              <a:lnSpc>
                <a:spcPct val="200000"/>
              </a:lnSpc>
              <a:buFont typeface="+mj-lt"/>
              <a:buAutoNum type="arabicParenR"/>
              <a:tabLst>
                <a:tab pos="269875" algn="l"/>
              </a:tabLst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用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scatter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绘制单日票房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y-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时间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的散点图；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>
              <a:lnSpc>
                <a:spcPct val="200000"/>
              </a:lnSpc>
              <a:buFont typeface="+mj-lt"/>
              <a:buAutoNum type="arabicParenR"/>
            </a:pPr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用梯度</a:t>
            </a:r>
            <a:r>
              <a:rPr lang="en-US" altLang="zh-CN" sz="18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TyMath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. gradient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对每天的累计总票房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yc45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求导计算单日票房</a:t>
            </a:r>
            <a:r>
              <a:rPr lang="en-US" altLang="zh-CN" sz="18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yg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；</a:t>
            </a:r>
            <a:endParaRPr lang="zh-CN" altLang="zh-CN" sz="14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 fontAlgn="base" hangingPunct="0">
              <a:lnSpc>
                <a:spcPct val="200000"/>
              </a:lnSpc>
              <a:buFont typeface="+mj-lt"/>
              <a:buAutoNum type="arabicParenR"/>
              <a:tabLst>
                <a:tab pos="269875" algn="l"/>
              </a:tabLst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用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plot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在同一窗口叠加绘制梯度求导所获得单日票房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yg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-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时间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的曲线图；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 fontAlgn="base" hangingPunct="0">
              <a:lnSpc>
                <a:spcPct val="200000"/>
              </a:lnSpc>
              <a:buFont typeface="+mj-lt"/>
              <a:buAutoNum type="arabicParenR"/>
              <a:tabLst>
                <a:tab pos="269875" algn="l"/>
              </a:tabLst>
            </a:pP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</a:rPr>
              <a:t>xlabel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和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ylabel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标注横纵坐标分别为时间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（天），单日票房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（亿元）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C0E3375-7564-4199-A134-7DB376A48154}"/>
              </a:ext>
            </a:extLst>
          </p:cNvPr>
          <p:cNvSpPr/>
          <p:nvPr/>
        </p:nvSpPr>
        <p:spPr>
          <a:xfrm>
            <a:off x="457971" y="830145"/>
            <a:ext cx="1230393" cy="3715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dist" defTabSz="0" eaLnBrk="0" hangingPunct="0">
              <a:lnSpc>
                <a:spcPct val="90000"/>
              </a:lnSpc>
            </a:pPr>
            <a:r>
              <a:rPr lang="zh-CN" altLang="en-US" sz="2000" dirty="0">
                <a:solidFill>
                  <a:srgbClr val="003B7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一维梯度</a:t>
            </a:r>
            <a:endParaRPr lang="zh-CN" altLang="zh-CN" sz="2000" dirty="0">
              <a:solidFill>
                <a:srgbClr val="003B7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BFB853-2D3E-4193-A68E-17B60D32FD99}"/>
              </a:ext>
            </a:extLst>
          </p:cNvPr>
          <p:cNvSpPr/>
          <p:nvPr/>
        </p:nvSpPr>
        <p:spPr>
          <a:xfrm>
            <a:off x="4521939" y="783038"/>
            <a:ext cx="13981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是步长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    </a:t>
            </a:r>
            <a:endParaRPr lang="zh-CN" altLang="en-US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1F0EDB-2EB5-417A-AF7B-B0AEA9C4ABE0}"/>
              </a:ext>
            </a:extLst>
          </p:cNvPr>
          <p:cNvSpPr/>
          <p:nvPr/>
        </p:nvSpPr>
        <p:spPr>
          <a:xfrm>
            <a:off x="5579869" y="791338"/>
            <a:ext cx="8643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h=1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5EAC09-85E4-49E2-A133-2C152A435D28}"/>
              </a:ext>
            </a:extLst>
          </p:cNvPr>
          <p:cNvSpPr/>
          <p:nvPr/>
        </p:nvSpPr>
        <p:spPr>
          <a:xfrm>
            <a:off x="6444208" y="812824"/>
            <a:ext cx="2635731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Fx</a:t>
            </a:r>
            <a:r>
              <a:rPr lang="en-US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TyMath</a:t>
            </a:r>
            <a:r>
              <a:rPr lang="en-US" altLang="zh-CN" sz="2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 </a:t>
            </a:r>
            <a:r>
              <a:rPr lang="en-US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gradient(x)</a:t>
            </a:r>
            <a:endParaRPr lang="zh-CN" altLang="en-US" sz="20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A44F8F4-D360-477A-B325-71B3E87D3A67}"/>
              </a:ext>
            </a:extLst>
          </p:cNvPr>
          <p:cNvSpPr/>
          <p:nvPr/>
        </p:nvSpPr>
        <p:spPr>
          <a:xfrm>
            <a:off x="1688364" y="797337"/>
            <a:ext cx="2883636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Fx</a:t>
            </a:r>
            <a:r>
              <a:rPr lang="en-US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TyMath</a:t>
            </a:r>
            <a:r>
              <a:rPr lang="en-US" altLang="zh-CN" sz="2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 </a:t>
            </a:r>
            <a:r>
              <a:rPr lang="en-US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gradient(</a:t>
            </a:r>
            <a:r>
              <a:rPr lang="en-US" altLang="zh-CN" sz="2000" b="1" kern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x,h</a:t>
            </a:r>
            <a:r>
              <a:rPr lang="en-US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20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617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E33D2C4-B04B-4B56-A95C-34FF07258D21}"/>
              </a:ext>
            </a:extLst>
          </p:cNvPr>
          <p:cNvSpPr txBox="1"/>
          <p:nvPr/>
        </p:nvSpPr>
        <p:spPr>
          <a:xfrm>
            <a:off x="467544" y="52723"/>
            <a:ext cx="8496944" cy="58381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800" dirty="0">
                <a:solidFill>
                  <a:srgbClr val="003B76"/>
                </a:solidFill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三</a:t>
            </a: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、上机实验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内容</a:t>
            </a:r>
            <a:r>
              <a:rPr lang="en-US" altLang="zh-CN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——3</a:t>
            </a:r>
            <a:r>
              <a:rPr lang="zh-CN" altLang="en-US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、</a:t>
            </a:r>
            <a:r>
              <a:rPr lang="zh-CN" altLang="en-US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梯度法对拟合累计票房</a:t>
            </a:r>
            <a:r>
              <a:rPr lang="zh-CN" altLang="zh-CN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求</a:t>
            </a:r>
            <a:r>
              <a:rPr lang="zh-CN" altLang="en-US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单日</a:t>
            </a:r>
            <a:r>
              <a:rPr lang="zh-CN" altLang="zh-CN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票房</a:t>
            </a:r>
            <a:endParaRPr lang="zh-CN" altLang="zh-CN" sz="24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740185-0C19-4CE5-8409-961AD71F51DB}"/>
              </a:ext>
            </a:extLst>
          </p:cNvPr>
          <p:cNvSpPr txBox="1"/>
          <p:nvPr/>
        </p:nvSpPr>
        <p:spPr>
          <a:xfrm>
            <a:off x="611560" y="639013"/>
            <a:ext cx="8436483" cy="4335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altLang="zh-CN" sz="18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、用梯度</a:t>
            </a:r>
            <a:r>
              <a:rPr lang="en-US" altLang="zh-CN" sz="1800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TyMath</a:t>
            </a:r>
            <a:r>
              <a:rPr lang="en-US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. gradient</a:t>
            </a:r>
            <a:r>
              <a:rPr lang="zh-CN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对拟合累计总票房</a:t>
            </a:r>
            <a:r>
              <a:rPr lang="en-US" altLang="zh-CN" sz="1800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ycf</a:t>
            </a:r>
            <a:r>
              <a:rPr lang="zh-CN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一阶求导计算单日票房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200000"/>
              </a:lnSpc>
              <a:buFont typeface="+mj-lt"/>
              <a:buAutoNum type="arabicParenR"/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建立三次多项式拟合的累计票房函数式：</a:t>
            </a:r>
            <a:endParaRPr lang="en-US" altLang="zh-CN" sz="1800" kern="1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lvl="0" algn="l">
              <a:lnSpc>
                <a:spcPct val="200000"/>
              </a:lnSpc>
            </a:pP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   </a:t>
            </a:r>
            <a:r>
              <a:rPr lang="en-US" altLang="zh-CN" sz="1800" b="1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ycf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(t)=0.0012*t^3+-0.1964*t^2+9.8279*t+-10.9406</a:t>
            </a:r>
            <a:endParaRPr lang="zh-CN" altLang="zh-CN" sz="1400" b="1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>
              <a:lnSpc>
                <a:spcPct val="200000"/>
              </a:lnSpc>
              <a:buFont typeface="+mj-lt"/>
              <a:buAutoNum type="arabicParenR"/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调用累计票房拟合函数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ycf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(t)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，预测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t=1:45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累计票房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ycff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，无需提供结果；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>
              <a:lnSpc>
                <a:spcPct val="200000"/>
              </a:lnSpc>
              <a:buFont typeface="+mj-lt"/>
              <a:buAutoNum type="arabicParenR"/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再用梯度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TyMath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. gradient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对拟合累计总票房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ycff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求导计算单日票房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yfg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>
              <a:lnSpc>
                <a:spcPct val="200000"/>
              </a:lnSpc>
              <a:buFont typeface="+mj-lt"/>
              <a:buAutoNum type="arabicParenR"/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用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plot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在同一窗口叠加绘制先拟合后梯度求导所获得单日票房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yfg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-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时间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的曲线图；</a:t>
            </a:r>
            <a:endParaRPr lang="en-US" altLang="zh-CN" sz="1800" kern="1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arenR"/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用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legend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标注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"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散点图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","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直接梯度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","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先拟合再梯度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"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三个图的图例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l">
              <a:lnSpc>
                <a:spcPct val="200000"/>
              </a:lnSpc>
              <a:buFont typeface="+mj-lt"/>
              <a:buAutoNum type="arabicParenR"/>
            </a:pP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6132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7771B11-79EA-4280-919D-25823D309ABC}"/>
              </a:ext>
            </a:extLst>
          </p:cNvPr>
          <p:cNvSpPr txBox="1"/>
          <p:nvPr/>
        </p:nvSpPr>
        <p:spPr>
          <a:xfrm>
            <a:off x="467544" y="52723"/>
            <a:ext cx="8496944" cy="58381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kern="1800" dirty="0">
                <a:solidFill>
                  <a:srgbClr val="003B76"/>
                </a:solidFill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三</a:t>
            </a:r>
            <a:r>
              <a:rPr lang="zh-CN" altLang="zh-CN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、上机实验</a:t>
            </a:r>
            <a:r>
              <a:rPr lang="zh-CN" altLang="en-US" sz="2400" b="1" kern="1800" dirty="0">
                <a:solidFill>
                  <a:srgbClr val="003B76"/>
                </a:solidFill>
                <a:effectLst/>
                <a:latin typeface="等线" panose="02010600030101010101" pitchFamily="2" charset="-122"/>
                <a:ea typeface="黑体" panose="02010609060101010101" pitchFamily="49" charset="-122"/>
                <a:cs typeface="宋体" panose="02010600030101010101" pitchFamily="2" charset="-122"/>
              </a:rPr>
              <a:t>内容</a:t>
            </a:r>
            <a:r>
              <a:rPr lang="en-US" altLang="zh-CN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——3</a:t>
            </a:r>
            <a:r>
              <a:rPr lang="zh-CN" altLang="en-US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+mn-cs"/>
              </a:rPr>
              <a:t>、</a:t>
            </a:r>
            <a:r>
              <a:rPr lang="zh-CN" altLang="en-US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用</a:t>
            </a:r>
            <a:r>
              <a:rPr lang="en-US" altLang="zh-CN" sz="2400" kern="1800" dirty="0" err="1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fzero</a:t>
            </a:r>
            <a:r>
              <a:rPr lang="zh-CN" altLang="en-US" sz="2400" kern="1800" dirty="0">
                <a:solidFill>
                  <a:srgbClr val="CC6600"/>
                </a:solidFill>
                <a:latin typeface="微软雅黑" panose="020B0503020204020204" pitchFamily="34" charset="-122"/>
                <a:ea typeface="等线" panose="02010600030101010101" pitchFamily="2" charset="-122"/>
              </a:rPr>
              <a:t>求拟合单日票房函数的根</a:t>
            </a:r>
            <a:endParaRPr lang="zh-CN" altLang="zh-CN" sz="2400" kern="100" dirty="0">
              <a:solidFill>
                <a:srgbClr val="003B76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FDD32C-A1F6-4624-A105-F8462D5CDFD2}"/>
              </a:ext>
            </a:extLst>
          </p:cNvPr>
          <p:cNvSpPr txBox="1"/>
          <p:nvPr/>
        </p:nvSpPr>
        <p:spPr>
          <a:xfrm>
            <a:off x="359025" y="699542"/>
            <a:ext cx="8784975" cy="146174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altLang="zh-CN" sz="18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、用</a:t>
            </a:r>
            <a:r>
              <a:rPr lang="en-US" altLang="zh-CN" sz="1800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fzero</a:t>
            </a:r>
            <a:r>
              <a:rPr lang="zh-CN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求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拟合单日票房函数</a:t>
            </a:r>
            <a:r>
              <a:rPr lang="zh-CN" altLang="en-US" sz="1800" kern="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的</a:t>
            </a:r>
            <a:r>
              <a:rPr lang="zh-CN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不同初始值设置时单日票房达到</a:t>
            </a:r>
            <a:r>
              <a:rPr lang="en-US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亿元的时间 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2700"/>
              </a:lnSpc>
            </a:pPr>
            <a:r>
              <a:rPr lang="zh-CN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要求有输入参数</a:t>
            </a:r>
            <a:r>
              <a:rPr lang="en-US" altLang="zh-CN" sz="1800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optimset</a:t>
            </a:r>
            <a:r>
              <a:rPr lang="en-US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(Display="</a:t>
            </a:r>
            <a:r>
              <a:rPr lang="en-US" altLang="zh-CN" sz="1800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iter</a:t>
            </a:r>
            <a:r>
              <a:rPr lang="en-US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，查看不同初始值设置时每次迭代求解结果 ：</a:t>
            </a:r>
            <a:r>
              <a:rPr lang="en-US" altLang="zh-CN" sz="2000" b="1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x,fval</a:t>
            </a:r>
            <a:r>
              <a:rPr lang="en-US" altLang="zh-CN" sz="20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exitflag</a:t>
            </a:r>
            <a:r>
              <a:rPr lang="en-US" altLang="zh-CN" sz="20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2000" b="1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fzero</a:t>
            </a:r>
            <a:r>
              <a:rPr lang="en-US" altLang="zh-CN" sz="20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(fun,x0,optimset(Display="</a:t>
            </a:r>
            <a:r>
              <a:rPr lang="en-US" altLang="zh-CN" sz="2000" b="1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iter</a:t>
            </a:r>
            <a:r>
              <a:rPr lang="en-US" altLang="zh-CN" sz="20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")))</a:t>
            </a:r>
            <a:endParaRPr lang="zh-CN" altLang="zh-CN" sz="20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3000"/>
              </a:lnSpc>
            </a:pP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D413D0-6EBA-4C3B-B1B1-F776E72572A0}"/>
              </a:ext>
            </a:extLst>
          </p:cNvPr>
          <p:cNvSpPr txBox="1"/>
          <p:nvPr/>
        </p:nvSpPr>
        <p:spPr>
          <a:xfrm>
            <a:off x="285439" y="1707654"/>
            <a:ext cx="8677471" cy="3036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lnSpc>
                <a:spcPts val="2850"/>
              </a:lnSpc>
              <a:buFont typeface="+mj-lt"/>
              <a:buAutoNum type="arabicParenR"/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figure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打开新图窗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ts val="2850"/>
              </a:lnSpc>
              <a:buFont typeface="+mj-lt"/>
              <a:buAutoNum type="arabicParenR"/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拟合单日票房等于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亿，即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yd(t)=23.9027*(exp(-0.0897*t)-exp(-0.2670*t))=6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，需将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yd(t)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转化为方程形式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yf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(t)=0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，其函数名为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yf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 fontAlgn="base" hangingPunct="0">
              <a:lnSpc>
                <a:spcPts val="2850"/>
              </a:lnSpc>
              <a:buFont typeface="+mj-lt"/>
              <a:buAutoNum type="arabicParenR"/>
              <a:tabLst>
                <a:tab pos="269875" algn="l"/>
              </a:tabLst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fplot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绘制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1-45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天的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yf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单日票房曲线，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xlabel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ylabel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标注横纵坐标分别为时间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（天），单日票房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（亿元）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ts val="2850"/>
              </a:lnSpc>
              <a:buFont typeface="+mj-lt"/>
              <a:buAutoNum type="arabicParenR"/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fzero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求函数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yf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在单日票房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yf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=0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时需要多长时间，要求初试值为一个标量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t0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ts val="2850"/>
              </a:lnSpc>
              <a:buFont typeface="+mj-lt"/>
              <a:buAutoNum type="arabicParenR"/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fzero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求函数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yf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在单日票房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yf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=0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时需要多长时间，要求初试值为【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t1,t2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】范围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ts val="2850"/>
              </a:lnSpc>
              <a:buFont typeface="+mj-lt"/>
              <a:buAutoNum type="arabicParenR"/>
            </a:pP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println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分别打印两种的根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、函数值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fval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、退出标志</a:t>
            </a:r>
            <a:r>
              <a:rPr lang="en-US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ex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和输出信息</a:t>
            </a:r>
            <a:r>
              <a:rPr lang="en-US" altLang="zh-CN" sz="1800" kern="100" dirty="0" err="1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ou</a:t>
            </a:r>
            <a:r>
              <a:rPr lang="zh-CN" altLang="zh-CN" sz="1800" kern="100" dirty="0">
                <a:solidFill>
                  <a:srgbClr val="00206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，提供结果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00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569FB-7189-42C2-8183-25FC754AF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902D51-08EE-4541-9A65-781F73D23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671206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darp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arpa">
      <a:majorFont>
        <a:latin typeface="Helvetic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arp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p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13255</TotalTime>
  <Pages>154</Pages>
  <Words>1903</Words>
  <Characters>0</Characters>
  <Application>Microsoft Office PowerPoint</Application>
  <DocSecurity>0</DocSecurity>
  <PresentationFormat>全屏显示(16:9)</PresentationFormat>
  <Lines>0</Lines>
  <Paragraphs>176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 Unicode MS</vt:lpstr>
      <vt:lpstr>等线</vt:lpstr>
      <vt:lpstr>华文楷体</vt:lpstr>
      <vt:lpstr>隶书</vt:lpstr>
      <vt:lpstr>微软雅黑</vt:lpstr>
      <vt:lpstr>微软雅黑 Light</vt:lpstr>
      <vt:lpstr>Arial</vt:lpstr>
      <vt:lpstr>Calibri</vt:lpstr>
      <vt:lpstr>Cambria Math</vt:lpstr>
      <vt:lpstr>Consolas</vt:lpstr>
      <vt:lpstr>Helvetica</vt:lpstr>
      <vt:lpstr>Symbol</vt:lpstr>
      <vt:lpstr>Times New Roman</vt:lpstr>
      <vt:lpstr>Wingdings</vt:lpstr>
      <vt:lpstr>主题1</vt:lpstr>
      <vt:lpstr>PowerPoint 演示文稿</vt:lpstr>
      <vt:lpstr>1. 梯形积分trapz和累积梯形积分cumtrapz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 aibin</cp:lastModifiedBy>
  <cp:revision>737</cp:revision>
  <dcterms:modified xsi:type="dcterms:W3CDTF">2025-04-24T08:17:07Z</dcterms:modified>
</cp:coreProperties>
</file>