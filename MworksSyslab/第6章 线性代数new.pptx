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91"/>
  </p:notesMasterIdLst>
  <p:sldIdLst>
    <p:sldId id="2218" r:id="rId2"/>
    <p:sldId id="2208" r:id="rId3"/>
    <p:sldId id="789" r:id="rId4"/>
    <p:sldId id="1215" r:id="rId5"/>
    <p:sldId id="2088" r:id="rId6"/>
    <p:sldId id="2219" r:id="rId7"/>
    <p:sldId id="2220" r:id="rId8"/>
    <p:sldId id="2221" r:id="rId9"/>
    <p:sldId id="2222" r:id="rId10"/>
    <p:sldId id="2211" r:id="rId11"/>
    <p:sldId id="2223" r:id="rId12"/>
    <p:sldId id="2225" r:id="rId13"/>
    <p:sldId id="2236" r:id="rId14"/>
    <p:sldId id="2226" r:id="rId15"/>
    <p:sldId id="2227" r:id="rId16"/>
    <p:sldId id="2224" r:id="rId17"/>
    <p:sldId id="2228" r:id="rId18"/>
    <p:sldId id="2229" r:id="rId19"/>
    <p:sldId id="2230" r:id="rId20"/>
    <p:sldId id="2231" r:id="rId21"/>
    <p:sldId id="2232" r:id="rId22"/>
    <p:sldId id="2233" r:id="rId23"/>
    <p:sldId id="2234" r:id="rId24"/>
    <p:sldId id="2235" r:id="rId25"/>
    <p:sldId id="2107" r:id="rId26"/>
    <p:sldId id="2106" r:id="rId27"/>
    <p:sldId id="2099" r:id="rId28"/>
    <p:sldId id="2104" r:id="rId29"/>
    <p:sldId id="2094" r:id="rId30"/>
    <p:sldId id="2204" r:id="rId31"/>
    <p:sldId id="2140" r:id="rId32"/>
    <p:sldId id="2210" r:id="rId33"/>
    <p:sldId id="2146" r:id="rId34"/>
    <p:sldId id="2143" r:id="rId35"/>
    <p:sldId id="2145" r:id="rId36"/>
    <p:sldId id="2149" r:id="rId37"/>
    <p:sldId id="2200" r:id="rId38"/>
    <p:sldId id="2150" r:id="rId39"/>
    <p:sldId id="2152" r:id="rId40"/>
    <p:sldId id="2100" r:id="rId41"/>
    <p:sldId id="2207" r:id="rId42"/>
    <p:sldId id="2217" r:id="rId43"/>
    <p:sldId id="2111" r:id="rId44"/>
    <p:sldId id="2209" r:id="rId45"/>
    <p:sldId id="2109" r:id="rId46"/>
    <p:sldId id="2103" r:id="rId47"/>
    <p:sldId id="2108" r:id="rId48"/>
    <p:sldId id="2110" r:id="rId49"/>
    <p:sldId id="2160" r:id="rId50"/>
    <p:sldId id="2138" r:id="rId51"/>
    <p:sldId id="2114" r:id="rId52"/>
    <p:sldId id="2169" r:id="rId53"/>
    <p:sldId id="2115" r:id="rId54"/>
    <p:sldId id="2196" r:id="rId55"/>
    <p:sldId id="2116" r:id="rId56"/>
    <p:sldId id="2135" r:id="rId57"/>
    <p:sldId id="2113" r:id="rId58"/>
    <p:sldId id="2112" r:id="rId59"/>
    <p:sldId id="2119" r:id="rId60"/>
    <p:sldId id="801" r:id="rId61"/>
    <p:sldId id="2120" r:id="rId62"/>
    <p:sldId id="528" r:id="rId63"/>
    <p:sldId id="530" r:id="rId64"/>
    <p:sldId id="2121" r:id="rId65"/>
    <p:sldId id="2122" r:id="rId66"/>
    <p:sldId id="2123" r:id="rId67"/>
    <p:sldId id="2125" r:id="rId68"/>
    <p:sldId id="2126" r:id="rId69"/>
    <p:sldId id="2128" r:id="rId70"/>
    <p:sldId id="2129" r:id="rId71"/>
    <p:sldId id="2130" r:id="rId72"/>
    <p:sldId id="2131" r:id="rId73"/>
    <p:sldId id="827" r:id="rId74"/>
    <p:sldId id="828" r:id="rId75"/>
    <p:sldId id="819" r:id="rId76"/>
    <p:sldId id="2136" r:id="rId77"/>
    <p:sldId id="831" r:id="rId78"/>
    <p:sldId id="2132" r:id="rId79"/>
    <p:sldId id="837" r:id="rId80"/>
    <p:sldId id="2139" r:id="rId81"/>
    <p:sldId id="2142" r:id="rId82"/>
    <p:sldId id="2153" r:id="rId83"/>
    <p:sldId id="2155" r:id="rId84"/>
    <p:sldId id="2156" r:id="rId85"/>
    <p:sldId id="2202" r:id="rId86"/>
    <p:sldId id="2165" r:id="rId87"/>
    <p:sldId id="2159" r:id="rId88"/>
    <p:sldId id="2164" r:id="rId89"/>
    <p:sldId id="2163" r:id="rId9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76"/>
    <a:srgbClr val="3399FF"/>
    <a:srgbClr val="33CCFF"/>
    <a:srgbClr val="3366FF"/>
    <a:srgbClr val="F0DA04"/>
    <a:srgbClr val="66CCFF"/>
    <a:srgbClr val="736303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657" autoAdjust="0"/>
  </p:normalViewPr>
  <p:slideViewPr>
    <p:cSldViewPr snapToObjects="1">
      <p:cViewPr varScale="1">
        <p:scale>
          <a:sx n="75" d="100"/>
          <a:sy n="75" d="100"/>
        </p:scale>
        <p:origin x="1156" y="44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BA%BF%E6%80%A7%E4%BB%A3%E6%95%B0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8%A1%8C%E5%88%97%E5%BC%8F" TargetMode="External"/><Relationship Id="rId5" Type="http://schemas.openxmlformats.org/officeDocument/2006/relationships/hyperlink" Target="https://baike.baidu.com/item/%E7%9F%A9%E9%98%B5" TargetMode="External"/><Relationship Id="rId4" Type="http://schemas.openxmlformats.org/officeDocument/2006/relationships/hyperlink" Target="https://baike.baidu.com/item/%E7%BA%BF%E6%80%A7%E6%96%B9%E7%A8%8B%E7%BB%84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2.mathworks.cn/help/matlab/ref/rcond.html#bt72tsf-C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baidu.com/s?wd=%E9%9D%9E%E5%B9%B3%E5%87%A1%E8%A7%A3&amp;tn=SE_PcZhidaonwhc_ngpagmjz&amp;rsv_dl=gh_pc_zhidao" TargetMode="External"/><Relationship Id="rId5" Type="http://schemas.openxmlformats.org/officeDocument/2006/relationships/hyperlink" Target="https://www.baidu.com/s?wd=%E5%A5%87%E5%BC%82%E7%9F%A9%E9%98%B5&amp;tn=SE_PcZhidaonwhc_ngpagmjz&amp;rsv_dl=gh_pc_zhidao" TargetMode="External"/><Relationship Id="rId4" Type="http://schemas.openxmlformats.org/officeDocument/2006/relationships/hyperlink" Target="https://ww2.mathworks.cn/help/matlab/ref/rcond.html#bt72tsf-A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625770873#:~:text=%E7%AD%94%E6%A1%88%E6%98%AF%EF%BC%9A%E7%94%A8%E5%9F%BA%E7%A1%80%E8%A7%A3%E7%B3%BB%E6%9D%A5%E8%A1%A8%E8%BE%BE%E8%BF%99%E6%97%A0%E7%A9%B7%E5%A4%9A%E7%BB%84%E8%A7%A3%202.3%20%E5%9F%BA%E7%A1%80%E8%A7%A3%E7%B3%BB%20%E6%8C%87%E5%9C%A8%E6%97%A0%E7%A9%B7%E5%A4%9A%E7%BB%84%E8%A7%A3%E4%B8%AD%EF%BC%8C%E6%89%BE%E5%88%B0%E4%B8%80%E7%BB%84%E8%A7%A3%EF%BC%8C%E4%B8%94%E6%BB%A1%E8%B6%B3%EF%BC%9A,%E2%91%A0%20%E8%BF%99%E7%BB%84%E8%A7%A3%E5%86%85%E7%9A%84%E5%90%91%E9%87%8F%E7%BA%BF%E6%80%A7%E6%97%A0%E5%85%B3%20%E2%91%A1%20%E6%96%B9%E7%A8%8B%E7%BB%84%E7%9A%84%E4%BB%BB%E6%84%8F%E4%B8%80%E4%B8%AA%E8%A7%A3%E9%83%BD%E5%8F%AF%E7%94%B1%E8%BF%99%E7%BB%84%E5%90%91%E9%87%8F%E7%BA%BF%E6%80%A7%E8%A1%A8%E7%A4%BA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search?q=%E5%9F%BA%E7%A1%80%E8%A7%A3%E7%B3%BB&amp;search_source=Entity&amp;hybrid_search_source=Entity&amp;hybrid_search_extra=%7b%22sourceType%22:%22answer%22,%22sourceId%22:1544557652%7d" TargetMode="Externa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3283697.htm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曲线拟合包括回归分析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‌。曲线拟合和回归分析是两种紧密相关的数据建模方法，它们在数据处理和分析中有着不同的应用场景和目的，在数学方法和应用场景上有一定的重叠和联系。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曲线拟合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‌：曲线拟合是指选择适当的曲线类型来拟合观测数据，并用拟合的曲线方程分析两变量间的关系。它侧重于调整曲线的参数，使得曲线在某种准则下与所有数据点最为接近，不要求完全经过数据点。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回归分析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‌：回归分析是一种数据分析方法，旨在研究两个或多个变量之间的关系。它强调变量之间存在随机因素，常用于基于含有随机误差的大数据的预测分析，挖掘大数据间的联系或某种规律。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拟合就是把平面上一系列的点，用一条光滑的曲线连接起来。 因为这条曲线有无数种可能，从而有各种拟合方法。 拟合的曲线一般可以用函数表示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曲线拟合属于‌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数值计算方法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‌的范畴</a:t>
            </a:r>
            <a:endParaRPr lang="zh-CN" altLang="en-US" dirty="0"/>
          </a:p>
          <a:p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工程中根据守恒定律建立线性方程组，电流和电压守恒，力平衡</a:t>
            </a:r>
            <a:endParaRPr lang="en-US" altLang="zh-CN" dirty="0"/>
          </a:p>
          <a:p>
            <a:r>
              <a:rPr lang="zh-CN" altLang="en-US" dirty="0"/>
              <a:t>无处不在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你们解过哪些线性方程组</a:t>
            </a:r>
            <a:endParaRPr lang="en-US" altLang="zh-CN" sz="1200" b="0" kern="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发现许多线性方程组根据守恒定律建立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4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lnSpc>
                <a:spcPct val="150000"/>
              </a:lnSpc>
            </a:pPr>
            <a:r>
              <a:rPr lang="zh-CN" altLang="en-US" b="1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线性方程、特征值、奇异值、分解、矩阵运算、矩阵结构 </a:t>
            </a:r>
            <a:r>
              <a:rPr lang="en-US" altLang="zh-CN" b="1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Syslab</a:t>
            </a:r>
            <a:r>
              <a:rPr lang="en-US" altLang="zh-CN" b="1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中的线性代数函数提供快速且数值稳健的矩阵计算。功能包括各种矩阵分解、线性方程求解、计算特征值或奇异值等。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latinLnBrk="1"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数组可以是一维数组（向量）、二维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矩阵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和多维数组</a:t>
            </a:r>
          </a:p>
          <a:p>
            <a:pPr algn="l" latinLnBrk="1"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数组可以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包含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任意大小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和任意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类型的元素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172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元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一次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方程组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365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不能简单将线性方程划分为良态、病态、奇异三类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‌，因为：良态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病态描述‌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数值稳定性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‌，适用于可逆矩阵的问题；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奇异方程描述‌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矩阵不可逆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‌，与解的存在性相关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. 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实际应用中的混淆‌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在数值计算中，‌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接近奇异的矩阵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‌（条件数极大但尚未完全奇异）可能被泛称为“病态矩阵”‌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68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。例如，条件数超过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10101010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的矩阵在实际问题中可能被视为病态。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严格来说，病态矩阵属于非奇异矩阵的范畴，而奇异矩阵是一个独立的概念‌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34</a:t>
            </a:r>
          </a:p>
          <a:p>
            <a:br>
              <a:rPr lang="zh-CN" altLang="en-US" dirty="0"/>
            </a:b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50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778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第一节</a:t>
            </a:r>
            <a:r>
              <a:rPr lang="en-US" altLang="zh-CN" dirty="0"/>
              <a:t>10000</a:t>
            </a:r>
            <a:r>
              <a:rPr lang="zh-CN" altLang="en-US" dirty="0"/>
              <a:t>个方程用左除法无法求</a:t>
            </a:r>
            <a:endParaRPr lang="en-US" altLang="zh-CN" dirty="0"/>
          </a:p>
          <a:p>
            <a:r>
              <a:rPr lang="zh-CN" altLang="en-US" dirty="0"/>
              <a:t>插值是在四个心部温度基础上插值求得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564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克莱姆法则为何在工程和科学计算中极少被实际应用</a:t>
            </a:r>
            <a:endParaRPr lang="zh-CN" alt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当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KaTeX_Main"/>
              </a:rPr>
              <a:t>n=3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27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次乘法和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21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次加法。</a:t>
            </a:r>
          </a:p>
          <a:p>
            <a:endParaRPr lang="en-US" altLang="zh-CN" b="0" i="0" dirty="0">
              <a:solidFill>
                <a:srgbClr val="CC0000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克莱姆法则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，又译克拉默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法则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Cramer's Rule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）是线性代数中一个关于求解线性方程组的定理。 它适用于变量和方程数目相等的线性方程组，是瑞士数学家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克莱姆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1704-1752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）于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1750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年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要有唯一解的化，行列式能不能等于零？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  历史上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线性代数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的第一个问题是关于解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线性方程组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的问题，而线性方程组理论的发展又促成了作为工具的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矩阵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论和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行列式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理论的创立与发展，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我们知道一次方程叫做线性方程，讨论线性方程的代数就叫做线性代数。在线性代数中最重要的内容就是行列式和矩阵。 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行列式的概念最早是由十七世纪日本数学家关孝和提出来的。矩阵的概念在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世纪逐渐形成。线性代数作为一个独立的分支在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世纪才形成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矩阵正式作为数学中的研究对象出现，则是在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行列式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的研究发展起来后。逻辑上，矩阵的概念先于行列式，但在实际的历史上则恰好相反。行列式作为解线性方程组的工具逐步发展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从线性代数的分析可知，矩阵的条件数总是大于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，正交矩阵的条件数等于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，奇异矩阵的条件数为无穷大，而病态矩阵的条件数则为比较大的数据（远大于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）。也就是说奇异矩阵一定是病态的！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261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对于奇异矩阵或者 长方形矩阵均存在广义逆。但是需要注意的是，矩阵的广 义逆矩阵，而矩阵的逆矩阵是唯一的。</a:t>
            </a:r>
            <a:r>
              <a:rPr lang="zh-CN" altLang="en-US" sz="1200" dirty="0">
                <a:solidFill>
                  <a:srgbClr val="CC0000"/>
                </a:solidFill>
                <a:latin typeface="arial" panose="020B0604020202020204" pitchFamily="34" charset="0"/>
              </a:rPr>
              <a:t>伪逆</a:t>
            </a:r>
            <a:r>
              <a:rPr lang="zh-CN" altLang="en-US" sz="1200" dirty="0">
                <a:solidFill>
                  <a:srgbClr val="333333"/>
                </a:solidFill>
                <a:latin typeface="arial" panose="020B0604020202020204" pitchFamily="34" charset="0"/>
              </a:rPr>
              <a:t>矩阵是逆矩阵的广义形式。由于奇异矩阵或非方阵的矩阵不存在逆矩阵，</a:t>
            </a:r>
            <a:r>
              <a:rPr lang="en-US" altLang="zh-CN" sz="1200" dirty="0" err="1">
                <a:solidFill>
                  <a:srgbClr val="CC0000"/>
                </a:solidFill>
                <a:latin typeface="arial" panose="020B0604020202020204" pitchFamily="34" charset="0"/>
              </a:rPr>
              <a:t>matlab</a:t>
            </a:r>
            <a:r>
              <a:rPr lang="zh-CN" altLang="en-US" sz="1200" dirty="0">
                <a:solidFill>
                  <a:srgbClr val="333333"/>
                </a:solidFill>
                <a:latin typeface="arial" panose="020B0604020202020204" pitchFamily="34" charset="0"/>
              </a:rPr>
              <a:t>里可以用</a:t>
            </a:r>
            <a:r>
              <a:rPr lang="zh-CN" altLang="en-US" sz="1200" dirty="0">
                <a:solidFill>
                  <a:srgbClr val="CC0000"/>
                </a:solidFill>
                <a:latin typeface="arial" panose="020B0604020202020204" pitchFamily="34" charset="0"/>
              </a:rPr>
              <a:t>函数</a:t>
            </a:r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</a:rPr>
              <a:t>pinv(A)</a:t>
            </a:r>
            <a:r>
              <a:rPr lang="zh-CN" altLang="en-US" sz="1200" dirty="0">
                <a:solidFill>
                  <a:srgbClr val="333333"/>
                </a:solidFill>
                <a:latin typeface="arial" panose="020B0604020202020204" pitchFamily="34" charset="0"/>
              </a:rPr>
              <a:t>求其</a:t>
            </a:r>
            <a:r>
              <a:rPr lang="zh-CN" altLang="en-US" sz="1200" dirty="0">
                <a:solidFill>
                  <a:srgbClr val="CC0000"/>
                </a:solidFill>
                <a:latin typeface="arial" panose="020B0604020202020204" pitchFamily="34" charset="0"/>
              </a:rPr>
              <a:t>伪逆</a:t>
            </a:r>
            <a:r>
              <a:rPr lang="zh-CN" altLang="en-US" sz="1200" dirty="0">
                <a:solidFill>
                  <a:srgbClr val="333333"/>
                </a:solidFill>
                <a:latin typeface="arial" panose="020B0604020202020204" pitchFamily="34" charset="0"/>
              </a:rPr>
              <a:t>矩阵。</a:t>
            </a:r>
            <a:endParaRPr lang="en-US" altLang="zh-CN" sz="12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通过奇异值分解来形成 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的伪逆</a:t>
            </a:r>
            <a:endParaRPr lang="en-US" altLang="zh-CN" b="0" i="0" dirty="0">
              <a:solidFill>
                <a:srgbClr val="2C3E5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3399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Moore-Penrose</a:t>
            </a:r>
            <a:r>
              <a:rPr lang="zh-CN" altLang="en-US" sz="1200" b="1" dirty="0">
                <a:solidFill>
                  <a:srgbClr val="3399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zh-CN" altLang="en-US" sz="1200" dirty="0">
                <a:solidFill>
                  <a:srgbClr val="3399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求解没有唯一解或有许多解的线性方程组</a:t>
            </a:r>
            <a:endParaRPr lang="en-US" altLang="zh-CN" sz="1200" dirty="0">
              <a:solidFill>
                <a:srgbClr val="3399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‌数学定义‌（辅助理解）：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行秩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‌：矩阵中‌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线性无关的行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‌的最大数量。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列秩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‌：矩阵中‌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线性无关的列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‌的最大数量。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关键定理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‌：行秩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=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列秩，统称为秩（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Rank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 ≤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秩 ≤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min(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行数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列数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0" i="0" dirty="0">
                <a:solidFill>
                  <a:srgbClr val="00B0F0"/>
                </a:solidFill>
                <a:effectLst/>
                <a:latin typeface="PingFang SC"/>
              </a:rPr>
              <a:t>‌方阵</a:t>
            </a:r>
            <a:r>
              <a:rPr lang="zh-CN" altLang="en-US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满秩‌：</a:t>
            </a:r>
            <a:r>
              <a:rPr lang="en-US" altLang="zh-CN" sz="12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n×n</a:t>
            </a:r>
            <a:r>
              <a:rPr lang="zh-CN" altLang="en-US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方阵的秩为 </a:t>
            </a:r>
            <a:r>
              <a:rPr lang="en-US" altLang="zh-CN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行秩</a:t>
            </a:r>
            <a:r>
              <a:rPr lang="en-US" altLang="zh-CN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zh-CN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列秩</a:t>
            </a:r>
            <a:r>
              <a:rPr lang="zh-CN" altLang="en-US" sz="1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，说明其所有行和列线性无关。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3399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3399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Moore-Penrose 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是一种矩阵，可在不存在逆矩阵的情况下作为逆矩阵的部分替代。此矩阵常被用于求解没有唯一解或有许多解的线性方程组。</a:t>
            </a:r>
            <a:endParaRPr lang="en-US" altLang="zh-CN" b="0" i="0" dirty="0">
              <a:solidFill>
                <a:srgbClr val="0070C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通过奇异值分解来形成</a:t>
            </a:r>
            <a:r>
              <a:rPr lang="en-US" altLang="zh-CN" sz="1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的伪逆</a:t>
            </a:r>
            <a:endParaRPr lang="zh-CN" altLang="en-US" sz="1200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3399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4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第一节</a:t>
            </a:r>
            <a:r>
              <a:rPr lang="en-US" altLang="zh-CN" dirty="0"/>
              <a:t>10000</a:t>
            </a:r>
            <a:r>
              <a:rPr lang="zh-CN" altLang="en-US" dirty="0"/>
              <a:t>个方程用左除法无法求</a:t>
            </a:r>
            <a:endParaRPr lang="en-US" altLang="zh-CN" dirty="0"/>
          </a:p>
          <a:p>
            <a:r>
              <a:rPr lang="zh-CN" altLang="en-US" dirty="0"/>
              <a:t>插值是在四个心部温度基础上插值求得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907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363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841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82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 实际问题的线性方程组建立在试验基础上，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都源于试验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奇异矩阵是病态矩阵，判断病态与否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判断对系数和常数扰动敏感程度，采用范数和条件数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867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病态方程组是指因系数的很小改变却导致解改变很大的方程组，称相应的系数矩阵</a:t>
            </a:r>
            <a:r>
              <a:rPr lang="en-US" altLang="zh-CN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为病态矩阵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164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条件数是区分矩阵“病态”的指标之一，条件数在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-apple-system"/>
              </a:rPr>
              <a:t>1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附近的问题称为“良态”问题，条件数高的问题称为“病态”问题，条件数趋于无穷大的问题为“奇异”问题。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03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rcond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范数条件数倒数估计值。如果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的条件设置良好，</a:t>
            </a:r>
            <a:r>
              <a:rPr lang="en-US" altLang="zh-CN" dirty="0" err="1"/>
              <a:t>rcond</a:t>
            </a:r>
            <a:r>
              <a:rPr lang="en-US" altLang="zh-CN" dirty="0"/>
              <a:t>(A)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。如果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的条件设置错误，</a:t>
            </a:r>
            <a:r>
              <a:rPr lang="en-US" altLang="zh-CN" dirty="0" err="1"/>
              <a:t>rcond</a:t>
            </a:r>
            <a:r>
              <a:rPr lang="en-US" altLang="zh-CN" dirty="0"/>
              <a:t>(A)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endParaRPr lang="en-US" altLang="zh-CN" dirty="0"/>
          </a:p>
          <a:p>
            <a:r>
              <a:rPr lang="en-US" altLang="zh-CN" dirty="0"/>
              <a:t>RCOND</a:t>
            </a:r>
            <a:r>
              <a:rPr lang="zh-CN" altLang="en-US" dirty="0"/>
              <a:t>条件数越靠近</a:t>
            </a:r>
            <a:r>
              <a:rPr lang="en-US" altLang="zh-CN" dirty="0"/>
              <a:t>1</a:t>
            </a:r>
            <a:r>
              <a:rPr lang="zh-CN" altLang="en-US" dirty="0"/>
              <a:t>，求解方程时越稳定，也可以说矩阵的性质很好。越靠近</a:t>
            </a:r>
            <a:r>
              <a:rPr lang="en-US" altLang="zh-CN" dirty="0"/>
              <a:t>0</a:t>
            </a:r>
            <a:r>
              <a:rPr lang="zh-CN" altLang="en-US" dirty="0"/>
              <a:t>，代表矩阵的性质越坏，求解方程时也就越不稳定。</a:t>
            </a:r>
            <a:endParaRPr lang="en-US" altLang="zh-CN" dirty="0"/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rcond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范数条件数倒数估计值。如果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的条件设置良好，</a:t>
            </a:r>
            <a:r>
              <a:rPr lang="en-US" altLang="zh-CN" dirty="0" err="1"/>
              <a:t>rcond</a:t>
            </a:r>
            <a:r>
              <a:rPr lang="en-US" altLang="zh-CN" dirty="0"/>
              <a:t>(A)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。如果 </a:t>
            </a:r>
            <a:r>
              <a:rPr lang="en-US" altLang="zh-CN" dirty="0"/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的条件设置错误，</a:t>
            </a:r>
            <a:r>
              <a:rPr lang="en-US" altLang="zh-CN" dirty="0" err="1"/>
              <a:t>rcond</a:t>
            </a:r>
            <a:r>
              <a:rPr lang="en-US" altLang="zh-CN" dirty="0"/>
              <a:t>(A)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endParaRPr lang="en-US" altLang="zh-CN" dirty="0"/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判定矩阵是否病态以及衡量矩阵的病态程度通常是看矩阵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的条件数</a:t>
            </a:r>
            <a:r>
              <a:rPr lang="en-US" altLang="zh-CN" i="1" dirty="0"/>
              <a:t>K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zh-CN" i="1" dirty="0"/>
              <a:t>A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)=‖A-1‖/‖A‖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的大小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其中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A-1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为矩阵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的逆，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‖‖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表示对矩阵取某一种范数。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K(A)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称为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的条件数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它很大时，称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为病态，否则称良态；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K(A)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愈大，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的病态程度就愈严重。书上就是这么定形的定义，可是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）的数值究竟是多少，才可以认为矩阵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是病态的。</a:t>
            </a:r>
            <a:br>
              <a:rPr lang="zh-CN" altLang="en-US" dirty="0"/>
            </a:br>
            <a:endParaRPr lang="zh-CN" altLang="en-US" dirty="0"/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奇异矩阵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就是不可逆矩阵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它不满秩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经过初等行变化后得到的矩阵会有零行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因此方程的个数会小于未知数的个数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方程组就会有非零解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非平凡解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不是一个方阵，或者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是一个非满秩的方阵时，矩阵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没有逆矩阵，但可以找到一个与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的转置矩阵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A‘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同型的矩阵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，使得：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A·B·A=A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B·A·B=B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；此时称矩阵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的伪逆，也称为广义逆矩阵。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916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B8843B-E1BB-497F-89E4-E577D52F3B00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644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047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温度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0.3943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0.3809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0.3705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0.3587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0.3455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0.3331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0.3193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0.3049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0.2909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0.2771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散点图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温度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压降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p1,=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polyfit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必须加逗号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refcurve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(p1)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原始数据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拟合平均值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133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左除法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 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符号通常为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A\b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MATLAB/Python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），直接求解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Ax=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KaTeX_Main"/>
              </a:rPr>
              <a:t>b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KaTeX_Main"/>
              </a:rPr>
              <a:t>x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KaTeX_Main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，无需显式求逆。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条件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‌：可处理非方阵（超定或欠定系统），自动选择最小二乘解或最小范数解。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步骤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‌：使用数值分解方法（如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QR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SVD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）直接求解。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727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当方程组存在无限多解时，</a:t>
            </a:r>
            <a:r>
              <a:rPr lang="en-US" altLang="zh-CN" dirty="0" err="1"/>
              <a:t>lsqminnorm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始终返回唯一的最小范数解，与 </a:t>
            </a:r>
            <a:r>
              <a:rPr lang="en-US" altLang="zh-CN" dirty="0" err="1"/>
              <a:t>pinv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解等价但更高效‌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如果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是矩形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m×n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矩阵，且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 ~= n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行矩阵，那么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A\B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返回方程组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A*x= 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的最小二乘解。</a:t>
            </a:r>
          </a:p>
          <a:p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endParaRPr lang="en-US" altLang="zh-CN" b="1" dirty="0"/>
          </a:p>
          <a:p>
            <a:r>
              <a:rPr lang="zh-CN" altLang="en-US" b="1" dirty="0"/>
              <a:t>每种函数命令的算法不一样，应用场合不用</a:t>
            </a:r>
            <a:endParaRPr lang="en-US" altLang="zh-CN" b="1" dirty="0"/>
          </a:p>
          <a:p>
            <a:r>
              <a:rPr lang="zh-CN" altLang="en-US" b="1" dirty="0"/>
              <a:t>如果</a:t>
            </a:r>
            <a:r>
              <a:rPr lang="en-US" altLang="zh-CN" b="1" dirty="0"/>
              <a:t>m=n, </a:t>
            </a:r>
            <a:r>
              <a:rPr lang="zh-CN" altLang="en-US" b="1" dirty="0"/>
              <a:t>方程有精确解</a:t>
            </a:r>
            <a:r>
              <a:rPr lang="en-US" altLang="zh-CN" b="1" dirty="0"/>
              <a:t>.</a:t>
            </a:r>
            <a:r>
              <a:rPr lang="zh-CN" altLang="en-US" b="1" dirty="0"/>
              <a:t>如果</a:t>
            </a:r>
            <a:r>
              <a:rPr lang="en-US" altLang="zh-CN" b="1" dirty="0"/>
              <a:t>m&gt;n, </a:t>
            </a:r>
            <a:r>
              <a:rPr lang="zh-CN" altLang="en-US" b="1" dirty="0"/>
              <a:t>方程没有精确解</a:t>
            </a:r>
            <a:r>
              <a:rPr lang="en-US" altLang="zh-CN" b="1" dirty="0"/>
              <a:t>, </a:t>
            </a:r>
            <a:r>
              <a:rPr lang="zh-CN" altLang="en-US" b="1" dirty="0"/>
              <a:t>但可以求最小二乘解</a:t>
            </a:r>
            <a:r>
              <a:rPr lang="en-US" altLang="zh-CN" b="1" dirty="0"/>
              <a:t>. A\B, </a:t>
            </a:r>
            <a:r>
              <a:rPr lang="en-US" altLang="zh-CN" b="1" dirty="0" err="1"/>
              <a:t>lsqminnorm</a:t>
            </a:r>
            <a:r>
              <a:rPr lang="en-US" altLang="zh-CN" b="1" dirty="0"/>
              <a:t>(A,B) </a:t>
            </a:r>
            <a:r>
              <a:rPr lang="zh-CN" altLang="en-US" b="1" dirty="0"/>
              <a:t>和</a:t>
            </a:r>
            <a:r>
              <a:rPr lang="en-US" altLang="zh-CN" b="1" dirty="0" err="1"/>
              <a:t>pinv</a:t>
            </a:r>
            <a:r>
              <a:rPr lang="en-US" altLang="zh-CN" b="1" dirty="0"/>
              <a:t>(A)*B</a:t>
            </a:r>
            <a:r>
              <a:rPr lang="zh-CN" altLang="en-US" b="1" dirty="0"/>
              <a:t>都可以用</a:t>
            </a:r>
            <a:r>
              <a:rPr lang="en-US" altLang="zh-CN" b="1" dirty="0"/>
              <a:t>.</a:t>
            </a:r>
            <a:r>
              <a:rPr lang="zh-CN" altLang="en-US" b="1" dirty="0"/>
              <a:t>如果</a:t>
            </a:r>
            <a:r>
              <a:rPr lang="en-US" altLang="zh-CN" b="1" dirty="0"/>
              <a:t>m&lt;n, A</a:t>
            </a:r>
            <a:r>
              <a:rPr lang="zh-CN" altLang="en-US" b="1" dirty="0"/>
              <a:t>低秩</a:t>
            </a:r>
            <a:r>
              <a:rPr lang="en-US" altLang="zh-CN" b="1" dirty="0"/>
              <a:t>, X</a:t>
            </a:r>
            <a:r>
              <a:rPr lang="zh-CN" altLang="en-US" b="1" dirty="0"/>
              <a:t>有无穷多解</a:t>
            </a:r>
            <a:r>
              <a:rPr lang="en-US" altLang="zh-CN" b="1" dirty="0"/>
              <a:t>, </a:t>
            </a:r>
            <a:r>
              <a:rPr lang="zh-CN" altLang="en-US" b="1" dirty="0"/>
              <a:t>这里注意用</a:t>
            </a:r>
            <a:r>
              <a:rPr lang="en-US" altLang="zh-CN" b="1" dirty="0"/>
              <a:t>A\B</a:t>
            </a:r>
            <a:r>
              <a:rPr lang="zh-CN" altLang="en-US" b="1" dirty="0"/>
              <a:t>求得的是令</a:t>
            </a:r>
            <a:r>
              <a:rPr lang="en-US" altLang="zh-CN" b="1" dirty="0"/>
              <a:t>norm(AX-B)</a:t>
            </a:r>
            <a:r>
              <a:rPr lang="zh-CN" altLang="en-US" b="1" dirty="0"/>
              <a:t>最小</a:t>
            </a:r>
            <a:r>
              <a:rPr lang="en-US" altLang="zh-CN" b="1" dirty="0"/>
              <a:t>, </a:t>
            </a:r>
            <a:r>
              <a:rPr lang="zh-CN" altLang="en-US" b="1" dirty="0"/>
              <a:t>而</a:t>
            </a:r>
            <a:r>
              <a:rPr lang="en-US" altLang="zh-CN" b="1" dirty="0" err="1"/>
              <a:t>lsqminnorm</a:t>
            </a:r>
            <a:r>
              <a:rPr lang="zh-CN" altLang="en-US" b="1" dirty="0"/>
              <a:t>和</a:t>
            </a:r>
            <a:r>
              <a:rPr lang="en-US" altLang="zh-CN" b="1" dirty="0" err="1"/>
              <a:t>pinv</a:t>
            </a:r>
            <a:r>
              <a:rPr lang="en-US" altLang="zh-CN" b="1" dirty="0"/>
              <a:t>(A)*B</a:t>
            </a:r>
            <a:r>
              <a:rPr lang="zh-CN" altLang="en-US" b="1" dirty="0"/>
              <a:t>不仅令</a:t>
            </a:r>
            <a:r>
              <a:rPr lang="en-US" altLang="zh-CN" b="1" dirty="0"/>
              <a:t>norm(AX-B), </a:t>
            </a:r>
            <a:r>
              <a:rPr lang="zh-CN" altLang="en-US" b="1" dirty="0"/>
              <a:t>也会令</a:t>
            </a:r>
            <a:r>
              <a:rPr lang="en-US" altLang="zh-CN" b="1" dirty="0"/>
              <a:t>norm(X)</a:t>
            </a:r>
            <a:r>
              <a:rPr lang="zh-CN" altLang="en-US" b="1" dirty="0"/>
              <a:t>最小</a:t>
            </a:r>
            <a:r>
              <a:rPr lang="en-US" altLang="zh-CN" b="1" dirty="0"/>
              <a:t>.</a:t>
            </a:r>
          </a:p>
          <a:p>
            <a:r>
              <a:rPr lang="en-US" altLang="zh-CN" b="1" dirty="0"/>
              <a:t>————————————————</a:t>
            </a:r>
          </a:p>
          <a:p>
            <a:r>
              <a:rPr lang="en-US" altLang="zh-CN" b="1" dirty="0"/>
              <a:t>                            </a:t>
            </a:r>
            <a:r>
              <a:rPr lang="zh-CN" altLang="en-US" b="1" dirty="0"/>
              <a:t>版权声明：本文为博主原创文章，遵循 </a:t>
            </a:r>
            <a:r>
              <a:rPr lang="en-US" altLang="zh-CN" b="1" dirty="0"/>
              <a:t>CC 4.0 BY-SA </a:t>
            </a:r>
            <a:r>
              <a:rPr lang="zh-CN" altLang="en-US" b="1" dirty="0"/>
              <a:t>版权协议，转载请附上原文出处链接和本声明。                        </a:t>
            </a:r>
          </a:p>
          <a:p>
            <a:r>
              <a:rPr lang="zh-CN" altLang="en-US" b="1" dirty="0"/>
              <a:t>原文链接：</a:t>
            </a:r>
            <a:r>
              <a:rPr lang="en-US" altLang="zh-CN" b="1" dirty="0"/>
              <a:t>https://blog.csdn.net/yq_forever/article/details/108043033.</a:t>
            </a:r>
          </a:p>
          <a:p>
            <a:r>
              <a:rPr lang="en-US" altLang="zh-CN" b="1" dirty="0"/>
              <a:t>————————————————</a:t>
            </a:r>
          </a:p>
          <a:p>
            <a:r>
              <a:rPr lang="en-US" altLang="zh-CN" b="1" dirty="0"/>
              <a:t>                            </a:t>
            </a:r>
            <a:r>
              <a:rPr lang="zh-CN" altLang="en-US" b="1" dirty="0"/>
              <a:t>版权声明：本文为博主原创文章，遵循 </a:t>
            </a:r>
            <a:r>
              <a:rPr lang="en-US" altLang="zh-CN" b="1" dirty="0"/>
              <a:t>CC 4.0 BY-SA </a:t>
            </a:r>
            <a:r>
              <a:rPr lang="zh-CN" altLang="en-US" b="1" dirty="0"/>
              <a:t>版权协议，转载请附上原文出处链接和本声明。                        </a:t>
            </a:r>
          </a:p>
          <a:p>
            <a:r>
              <a:rPr lang="zh-CN" altLang="en-US" b="1" dirty="0"/>
              <a:t>原文链接：</a:t>
            </a:r>
            <a:r>
              <a:rPr lang="en-US" altLang="zh-CN" b="1" dirty="0"/>
              <a:t>https://blog.csdn.net/yq_forever/article/details/108043033</a:t>
            </a:r>
          </a:p>
          <a:p>
            <a:endParaRPr lang="en-US" altLang="zh-C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矩阵分解在求解线性方程组中非常重要。例如，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分解和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Cholesky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分解可以将原矩阵分解成更容易求解的形式，从而更稳定地求解矩阵的逆‌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用反斜杠计算问题的最小二乘解</a:t>
            </a:r>
            <a:endParaRPr lang="zh-CN" altLang="en-US" dirty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501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分解是左除法的核心算法之一</a:t>
            </a:r>
            <a:endParaRPr lang="en-US" altLang="zh-CN" sz="1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  <a:p>
            <a:endParaRPr lang="en-US" altLang="zh-CN" sz="1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  <a:p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复杂函数用简单多项式逼近</a:t>
            </a:r>
            <a:endParaRPr lang="en-US" altLang="zh-CN" sz="1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  <a:p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对处理大规模数据集非常有用</a:t>
            </a:r>
            <a:endParaRPr lang="en-US" altLang="zh-CN" sz="1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  <a:p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矩阵分解对解线性方程组尤为重要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84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2.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最小二乘法在欠定方程中的应用‌</a:t>
            </a: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(1)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目标与适用性‌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最小范数解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‌：当方程组欠定时，最小二乘法不再以残差最小化为目标（因为残差可能为零），而是通过附加条件（如解向量的最小范数）选择唯一解。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dirty="0" err="1"/>
              <a:t>lsqminnorm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函数专门用于求解欠定方程的最小范数解‌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5742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86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三角矩阵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UL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的乘积（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A=LU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），将原方程组转化为两个三角方程组的求解问题，即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Ly=b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和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KaTeX_Main"/>
              </a:rPr>
              <a:t>Ux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，通过前向替换和后向替换快速求解‌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分解本质上等价于高斯消元法的矩阵形式，消元过程对应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的生成，而消元系数则构成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非对角元素</a:t>
            </a:r>
            <a:endParaRPr lang="en-US" altLang="zh-CN" dirty="0"/>
          </a:p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稳定性增强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‌：采用带行交换的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PA=LU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PA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分解（部分选主元）处理主元接近零的病态矩阵‌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2</a:t>
            </a:r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分解在左除法中的优势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效率高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‌：分解后求解不同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b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的方程组只需替换步骤，复杂度从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O(n3)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O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(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3)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降至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O(n2)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O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(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KaTeX_Main"/>
              </a:rPr>
              <a:t>2)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稳定性强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‌：通过部分选主元（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PA=LU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）可处理部分病态矩阵，增强数值稳定性‌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27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与其他分解方法的对比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相较于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Cholesky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分解（仅适用于对称正定矩阵），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分解适用于更广泛的矩阵类型‌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对比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QR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分解（适用于任意矩阵但计算量更大），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分解在满足条件时计算效率更高‌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47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综上，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分解是左除法求解线性方程组的重要数学基础，但其应用需满足特定矩阵条件，实际实现中会根据矩阵特性动态选择分解方法‌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061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8339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非对称阵的线性方程求解，推荐使用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LU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分解；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对称正定矩阵，推荐使用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Cholesky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分解 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(LLT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分解需要条件数小，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LDLT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更鲁棒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，但注意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Cholesky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分解无法给出方程的秩，不能用于确定方程是否存在解；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对欠定和过确定的问题，最一般和精度最高的求解法是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SVD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方法；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矩阵分解本质上是一类消元方法，消元的顺序对矩阵分解的效率至关重要。除了一些通用的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Pivoting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方法外，还可以针对特定问题的矩阵结构分析，设计独特的排序方法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Ordering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，对矩阵分解效率提升有很大作用；</a:t>
            </a:r>
            <a:endParaRPr lang="en-US" altLang="zh-CN" sz="1200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1200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1200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按照矩阵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A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的特点，我们可以做如下分类：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1.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是否是满秩矩阵；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2.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是否是稀疏矩阵；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3.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是否是对称矩阵；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4.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是否是病态矩阵；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5.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是否是正定矩阵</a:t>
            </a:r>
          </a:p>
          <a:p>
            <a:pPr algn="l"/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6. 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矩阵规模（矩阵中</a:t>
            </a:r>
            <a:r>
              <a:rPr lang="en-US" altLang="zh-CN" sz="1200" b="0" i="0" dirty="0">
                <a:solidFill>
                  <a:srgbClr val="121212"/>
                </a:solidFill>
                <a:effectLst/>
                <a:latin typeface="-apple-system"/>
              </a:rPr>
              <a:t>N</a:t>
            </a:r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的大小）</a:t>
            </a:r>
          </a:p>
          <a:p>
            <a:pPr algn="l"/>
            <a:r>
              <a:rPr lang="zh-CN" altLang="en-US" sz="1200" b="0" i="0" dirty="0">
                <a:solidFill>
                  <a:srgbClr val="121212"/>
                </a:solidFill>
                <a:effectLst/>
                <a:latin typeface="-apple-system"/>
              </a:rPr>
              <a:t>在选择求解方法的时候，需要考虑到方程组矩阵以上特点。根据作者的经验，方程组的求解性能高度依赖矩阵特征，矩阵规模和硬件。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200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027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非零主元列</a:t>
            </a:r>
            <a:r>
              <a:rPr lang="en-US" altLang="zh-CN" sz="1200" b="1" dirty="0"/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在行阶梯形中，每行的第一个非零元素所在的列即为‌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主元列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‌。主元必须是非零的。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dirty="0"/>
              <a:t>矩阵除法是从线性代数的逆矩阵概念引出的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分解通过将系数矩阵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分解为下三角矩阵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L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和上三角矩阵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U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的乘积（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A=LU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），将原方程组转化为两个三角方程组的求解问题，即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Ly=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KaTeX_Main"/>
              </a:rPr>
              <a:t>b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KaTeX_Math"/>
              </a:rPr>
              <a:t>Ly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和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KaTeX_Main"/>
              </a:rPr>
              <a:t>Ux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KaTeX_Main"/>
              </a:rPr>
              <a:t>y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KaTeX_Math"/>
              </a:rPr>
              <a:t>Ux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，通过前向替换和后向替换快速求解‌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inv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执行输入矩阵的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LU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分解（如果输入矩阵是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Hermitian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矩阵，则执行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LDL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分解）。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22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高斯消元法隐式实现了矩阵分解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A=LU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，其中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L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为下三角矩阵，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U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为上三角矩阵，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分解本质上等价于高斯消元法的矩阵形式，高效稳定。消元过程对应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的生成，而消元系数则构成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非对角元素‌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inv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输入矩阵为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LU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分解的上下三角（如果输入矩阵是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Hermitian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矩阵，则执行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LDL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分解）。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956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第一节</a:t>
            </a:r>
            <a:r>
              <a:rPr lang="en-US" altLang="zh-CN" dirty="0"/>
              <a:t>10000</a:t>
            </a:r>
            <a:r>
              <a:rPr lang="zh-CN" altLang="en-US" dirty="0"/>
              <a:t>个方程用左除法无法求</a:t>
            </a:r>
            <a:endParaRPr lang="en-US" altLang="zh-CN" dirty="0"/>
          </a:p>
          <a:p>
            <a:r>
              <a:rPr lang="zh-CN" altLang="en-US" dirty="0"/>
              <a:t>插值是在四个心部温度基础上插值求得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5644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第一节</a:t>
            </a:r>
            <a:r>
              <a:rPr lang="en-US" altLang="zh-CN" dirty="0"/>
              <a:t>10000</a:t>
            </a:r>
            <a:r>
              <a:rPr lang="zh-CN" altLang="en-US" dirty="0"/>
              <a:t>个方程用左除法无法求</a:t>
            </a:r>
            <a:endParaRPr lang="en-US" altLang="zh-CN" dirty="0"/>
          </a:p>
          <a:p>
            <a:r>
              <a:rPr lang="zh-CN" altLang="en-US" dirty="0"/>
              <a:t>插值是在四个心部温度基础上插值求得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9079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方程不一样，操作一样，看看结果如何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444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nv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(a)*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求解不如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= A\b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直接求解</a:t>
            </a:r>
            <a:endParaRPr lang="zh-CN" altLang="en-US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1138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734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8419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823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在计算线性方程组的最小范数最小二乘解时，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的效率通常高于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使用完全正交分解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来计算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的低秩逼近，而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使用的是奇异值分解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SVD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）。因此，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的结果不完全一致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29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712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对于非齐次线性方程组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Ax=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KaTeX_Main"/>
              </a:rPr>
              <a:t>b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KaTeX_Math"/>
              </a:rPr>
              <a:t>Ax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（欠定方程），如果存在解，其通解结构为齐次方程组的通解加上非齐次方程组的一个特解。其中齐次方程组的通解由基础解系表示，因此欠定方程对应的齐次方程组仍然存在基础解系。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8008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(A)*b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与左除法求根结果一样</a:t>
            </a:r>
            <a:endParaRPr lang="en-US" altLang="zh-CN" sz="1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如果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的秩小于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中的列数，则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= A\B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不一定是最小范数解。您可以使用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=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或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=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来计算最小范数最小二乘解。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在计算线性方程组的最小范数最小二乘解时，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的效率通常高于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使用完全正交分解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来计算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的低秩逼近，而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使用的是奇异值分解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SVD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）。因此，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的结果不完全一致。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200" b="1" dirty="0">
                <a:solidFill>
                  <a:srgbClr val="FFC000"/>
                </a:solidFill>
                <a:highlight>
                  <a:srgbClr val="FF0000"/>
                </a:highlight>
              </a:rPr>
              <a:t>%</a:t>
            </a:r>
            <a:r>
              <a:rPr lang="en-US" altLang="zh-CN" sz="1200" b="1" dirty="0" err="1">
                <a:solidFill>
                  <a:srgbClr val="FFC000"/>
                </a:solidFill>
                <a:highlight>
                  <a:srgbClr val="FF0000"/>
                </a:highlight>
              </a:rPr>
              <a:t>matlab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3399FF"/>
                </a:highlight>
              </a:rPr>
              <a:t>设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3399FF"/>
                </a:highlight>
              </a:rPr>
              <a:t>x1=0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3399FF"/>
                </a:highlight>
              </a:rPr>
              <a:t>求欠定方程</a:t>
            </a:r>
            <a:endParaRPr lang="en-US" altLang="zh-CN" sz="1200" dirty="0">
              <a:solidFill>
                <a:schemeClr val="bg1"/>
              </a:solidFill>
              <a:highlight>
                <a:srgbClr val="3399FF"/>
              </a:highlight>
            </a:endParaRPr>
          </a:p>
          <a:p>
            <a:r>
              <a:rPr lang="en-US" altLang="zh-CN" sz="1200" dirty="0"/>
              <a:t> </a:t>
            </a:r>
            <a:r>
              <a:rPr lang="zh-CN" altLang="en-US" sz="1200" dirty="0"/>
              <a:t>rr\b </a:t>
            </a:r>
            <a:endParaRPr lang="en-US" altLang="zh-CN" sz="1200" dirty="0"/>
          </a:p>
          <a:p>
            <a:r>
              <a:rPr lang="zh-CN" altLang="en-US" sz="1200" dirty="0">
                <a:solidFill>
                  <a:srgbClr val="FF0000"/>
                </a:solidFill>
              </a:rPr>
              <a:t>结果    0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  500.0000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 -200.0000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  100.0000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3964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零空间 </a:t>
            </a:r>
            <a:r>
              <a:rPr lang="en-US" altLang="zh-CN" dirty="0"/>
              <a:t>null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，“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rational”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的有理基是从通过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rref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计算得到的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的简化行阶梯形矩阵形式获得的。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齐次线性方程组解的性质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定理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是齐次线性方程组的一个解，则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kx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也是它的解，其中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是任意常数。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定理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对齐次线性方程组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r(A)=r&lt;n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，则存在基础解系，且基础解系所含向量的个数为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n-r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，即其解空间的维数为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n-r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r>
              <a:rPr lang="zh-CN" altLang="en-US" b="0" i="0" baseline="30000" dirty="0">
                <a:solidFill>
                  <a:srgbClr val="3366CC"/>
                </a:solidFill>
                <a:effectLst/>
                <a:latin typeface="Helvetica Neue"/>
              </a:rPr>
              <a:t> </a:t>
            </a:r>
            <a:r>
              <a:rPr lang="en-US" altLang="zh-CN" b="0" i="0" baseline="30000" dirty="0">
                <a:solidFill>
                  <a:srgbClr val="3366CC"/>
                </a:solidFill>
                <a:effectLst/>
                <a:latin typeface="Helvetica Neue"/>
              </a:rPr>
              <a:t>[4]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hlinkClick r:id="rId3"/>
              </a:rPr>
              <a:t>11.2 </a:t>
            </a:r>
            <a:r>
              <a:rPr lang="zh-CN" altLang="en-US" dirty="0">
                <a:hlinkClick r:id="rId3"/>
              </a:rPr>
              <a:t>齐次线性方程组的基础解系和通解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知乎 </a:t>
            </a:r>
            <a:r>
              <a:rPr lang="en-US" altLang="zh-CN" dirty="0">
                <a:hlinkClick r:id="rId3"/>
              </a:rPr>
              <a:t>(zhihu.com)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br>
              <a:rPr lang="zh-CN" altLang="en-US" dirty="0"/>
            </a:b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Ax=b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的解构成的矢量空间叫做矩阵 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A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的零空间，记为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N(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A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 ，其中 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N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是英文零“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-apple-system"/>
              </a:rPr>
              <a:t>null”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的首字母。</a:t>
            </a:r>
            <a:endParaRPr lang="en-US" altLang="zh-CN" b="1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只是选不同的自由变量，可能会有不同的形式（</a:t>
            </a:r>
            <a:r>
              <a:rPr lang="zh-CN" altLang="en-US" b="0" i="0" u="none" strike="noStrike" dirty="0">
                <a:solidFill>
                  <a:srgbClr val="175399"/>
                </a:solidFill>
                <a:effectLst/>
                <a:latin typeface="-apple-system"/>
                <a:hlinkClick r:id="rId4"/>
              </a:rPr>
              <a:t>基础解系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不同）</a:t>
            </a:r>
            <a:endParaRPr lang="zh-CN" altLang="en-US" dirty="0"/>
          </a:p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零空间是方程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Ax = 0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的所有解的集合</a:t>
            </a:r>
            <a:endParaRPr lang="en-US" altLang="zh-CN" b="0" i="0" dirty="0">
              <a:solidFill>
                <a:srgbClr val="000000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零空间就是齐次线性方程组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Ax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＝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的全部解，基就是基础解系，维数是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－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r(A)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是未知元的个数，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的秩。</a:t>
            </a:r>
            <a:endParaRPr lang="en-US" altLang="zh-CN" b="0" i="0" dirty="0">
              <a:solidFill>
                <a:srgbClr val="333333"/>
              </a:solidFill>
              <a:effectLst/>
              <a:latin typeface="PingFangSC-Regular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SC-Regular"/>
            </a:endParaRPr>
          </a:p>
          <a:p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基础解系指的是一个齐次线性方程组的一组线性无关的解向量，这些解向量可以线性组合出该方程组的全部解。对于</a:t>
            </a:r>
            <a:r>
              <a:rPr lang="en-US" altLang="zh-CN" b="0" i="0" dirty="0">
                <a:solidFill>
                  <a:srgbClr val="1E1F24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个未知量的齐次线性方程组</a:t>
            </a:r>
            <a:r>
              <a:rPr lang="en-US" altLang="zh-CN" b="0" i="0" dirty="0">
                <a:solidFill>
                  <a:srgbClr val="1E1F24"/>
                </a:solidFill>
                <a:effectLst/>
                <a:latin typeface="PingFang SC"/>
              </a:rPr>
              <a:t>Ax=0</a:t>
            </a:r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，其基础解系中的向量个数等于未知量的个数</a:t>
            </a:r>
            <a:r>
              <a:rPr lang="en-US" altLang="zh-CN" b="0" i="0" dirty="0">
                <a:solidFill>
                  <a:srgbClr val="1E1F24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减去矩阵的秩</a:t>
            </a:r>
            <a:r>
              <a:rPr lang="en-US" altLang="zh-CN" b="0" i="0" dirty="0">
                <a:solidFill>
                  <a:srgbClr val="1E1F24"/>
                </a:solidFill>
                <a:effectLst/>
                <a:latin typeface="PingFang SC"/>
              </a:rPr>
              <a:t>r</a:t>
            </a:r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（即自由变量的个数</a:t>
            </a:r>
            <a:r>
              <a:rPr lang="en-US" altLang="zh-CN" b="0" i="0" dirty="0">
                <a:solidFill>
                  <a:srgbClr val="1E1F24"/>
                </a:solidFill>
                <a:effectLst/>
                <a:latin typeface="PingFang SC"/>
              </a:rPr>
              <a:t>n-r</a:t>
            </a:r>
            <a:r>
              <a:rPr lang="zh-CN" altLang="en-US" b="0" i="0" dirty="0">
                <a:solidFill>
                  <a:srgbClr val="1E1F24"/>
                </a:solidFill>
                <a:effectLst/>
                <a:latin typeface="PingFang SC"/>
              </a:rPr>
              <a:t>）。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n−r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个线性无关的解向量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欠定线性方程组  包含的未知数比方程多。欠定方程组可以有无限多个解或没有解。当方程组有无限多个解时，它们都位于一条直线上。该线上的各点均通过零空间向量的线性组合获得。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2589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氰酸钾</a:t>
            </a:r>
            <a:r>
              <a:rPr lang="pt-BR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KOCN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氰化钾</a:t>
            </a:r>
            <a:r>
              <a:rPr lang="pt-BR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KOH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题目摘自福建省厦门外国语学校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2008-2009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学年高三第三次月考化学试卷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2086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016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r(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=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的基础解系中含有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线性无关的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解向量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这时在通解中取常数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为各分量分母的最小公倍数即可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例如本例中</a:t>
            </a:r>
          </a:p>
          <a:p>
            <a:pPr algn="ctr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1, 2, 3/2, 1, 1/2, 3, 1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分母的最小公倍数为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故取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2.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1625" algn="just">
              <a:spcAft>
                <a:spcPts val="600"/>
              </a:spcAf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r(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的基础解系中含有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个以上的线性无关的解向量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这时可以根据化学方程式中元素的化合价的上升与下降的情况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在原线性方程组中添加新的方程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276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lsqminnorm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是求解超定方程组的首选方法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如果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是矩形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m×n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矩阵，且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 ~= n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行矩阵，那么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A\B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返回方程组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A*x= 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的最小二乘解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如果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的秩小于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中的列数，则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x=A\B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不一定是最小范数解。您可以使用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=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）或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x=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来计算最小范数最小二乘解。</a:t>
            </a: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&gt;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rrl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a,y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2×1 Matrix{Float64}: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-0.0025980606060606085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0.4998987878787881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&gt;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rp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(a)*y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2×1 Matrix{Float64}: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-0.002598060606060605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0.49989878787878816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&gt;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=a\y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2×1 Matrix{Float64}: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-0.002598060606060608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0.49989878787878794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solidFill>
                <a:srgbClr val="21212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8745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262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在计算线性方程组的最小范数最小二乘解时，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的效率通常高于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使用完全正交分解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来计算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的低秩逼近，而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使用的是奇异值分解 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SVD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）。因此，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的结果不完全一致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1526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基尔霍夫电压定律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KVL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是确定电路中任意回路内各电压之间关系的定律，因此又称为</a:t>
            </a:r>
            <a:r>
              <a:rPr lang="zh-CN" altLang="en-US" dirty="0">
                <a:solidFill>
                  <a:srgbClr val="136EC2"/>
                </a:solidFill>
                <a:latin typeface="arial" panose="020B0604020202020204" pitchFamily="34" charset="0"/>
                <a:hlinkClick r:id="rId3"/>
              </a:rPr>
              <a:t>回路电压定律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。</a:t>
            </a:r>
            <a:endParaRPr lang="zh-CN" altLang="en-US" dirty="0"/>
          </a:p>
          <a:p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回路法的一般步骤：</a:t>
            </a: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①选定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l=b-(n-1)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个独立回路，并确定其绕行方向；</a:t>
            </a: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②对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l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个独立回路，以回路电流为未知量，列写其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KVL</a:t>
            </a:r>
            <a:r>
              <a:rPr lang="zh-CN" altLang="en-US" dirty="0"/>
              <a:t>基尔霍夫定律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方程；</a:t>
            </a: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③求解上述方程，得到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l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个回路电流；</a:t>
            </a: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④求各支路电流；</a:t>
            </a: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⑤其它分析。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在电路计算中通常取电路的基本回路（当电路是平面网络，则常取其网孔）作为独立电路。</a:t>
            </a:r>
            <a:endParaRPr lang="zh-CN" altLang="en-US" dirty="0"/>
          </a:p>
          <a:p>
            <a:endParaRPr lang="zh-CN" alt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5339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776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436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3965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常用的矩阵为对角矩阵，对称矩阵，正交矩阵和三角矩阵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高斯消元法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对角矩阵 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(diagonal matrix)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是一个 </a:t>
            </a:r>
            <a:r>
              <a:rPr lang="zh-CN" altLang="en-US" b="1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主对角线 之外的元素皆为</a:t>
            </a:r>
            <a:r>
              <a:rPr lang="en-US" altLang="zh-CN" b="1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zh-CN" altLang="en-US" b="1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的 矩阵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0567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9378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33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989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MATLAB® </a:t>
            </a:r>
            <a:r>
              <a:rPr lang="zh-CN" altLang="en-US" dirty="0"/>
              <a:t>从不会自动创建稀疏矩阵。相反，还必须确定矩阵中是否包含足够高百分比的零元素，</a:t>
            </a:r>
            <a:endParaRPr lang="en-US" altLang="zh-CN" dirty="0"/>
          </a:p>
          <a:p>
            <a:r>
              <a:rPr lang="zh-CN" altLang="en-US" dirty="0"/>
              <a:t>不专门定义，稀疏矩阵不会自动产生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28555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0109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9565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8294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6738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5344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平面温度场的有限差分求解 由线性方程组成的代数方程组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611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4478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35033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SYSLAB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稀疏矩阵雅可比迭代求解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个方程温度场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lang="en-US" altLang="zh-CN" sz="1800" kern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julia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语言编写稀疏矩阵的雅可比迭代法求根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创建方程的系数矩阵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和常向量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的稀疏矩阵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t_u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顶边温度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底边温度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左边温度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右边温度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 * N, N * N);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创建系数矩阵的零稀疏矩阵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 * N,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N^2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维零稀疏向量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:N*N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的主对角线元素都是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A[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:N*N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和向量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N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中和上边界节点对应的分量赋值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等线" panose="02010600030101010101" pitchFamily="2" charset="-122"/>
                <a:ea typeface="Consolas" panose="020B0609020204030204" pitchFamily="49" charset="0"/>
                <a:cs typeface="宋体" panose="02010600030101010101" pitchFamily="2" charset="-122"/>
              </a:rPr>
              <a:t>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t_u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==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中和右边界节点对应的分量赋值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t_r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==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中和左边界节点对应的分量赋值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t_l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 N * (N -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中和下边界节点对应的分量赋值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 N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中和上边界无关的节点所对应的元素赋值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-N] = 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!=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中和左边界无关的节点所对应的元素赋值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!=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中和右边界无关的节点所对应的元素赋值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N * (N -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中和下边界无关的节点所对应的元素赋值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i+N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  <a:spcAft>
                <a:spcPts val="1200"/>
              </a:spcAf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雅可比迭代法解方程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(N^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#x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根的占位零稀疏矩阵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x0 = 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(N^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x0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为稀疏矩阵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 = 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diagm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(A));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的对角矩阵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 = -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 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   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的下三角阵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UU = -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triu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的上三角阵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BB = D \ (L + UU);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 = D \ b;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= BB * x0 + f;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迭代解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 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迭代次数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norm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- x0) &gt;=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10e-6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x0 =x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 = BB * x0 + f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8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n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n = n + 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构造温度场矩阵并绘制温度场图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 = [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eye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(N^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N^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x]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单位矩阵和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列向量必须空格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X=U[:,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(N,N); 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把矩阵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的最后一列按矩阵形式赋给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j=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i,j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]=U[N*(i-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j,N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]=B;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把钢板内部温度和和四周温度值放入矩阵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].=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t_u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 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传播运算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].=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t_d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].=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].=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T[[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,N+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]].=</a:t>
            </a:r>
            <a:r>
              <a:rPr lang="en-US" altLang="zh-CN" sz="1800" kern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NaN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矩阵四个角没有温度值，故把非数</a:t>
            </a:r>
            <a:r>
              <a:rPr lang="en-US" altLang="zh-CN" sz="1800" kern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NaN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放入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Tr=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reverse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reverse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Tr,dims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contourf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clabel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c,inline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colors=</a:t>
            </a:r>
            <a:r>
              <a:rPr lang="en-US" altLang="zh-CN" sz="18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"k"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colorbar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742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采用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julia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语言编写稀疏矩阵的雅可比迭代法求根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创建方程的系数矩阵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和常向量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顶边温度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底边温度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左边温度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右边温度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* N, N * N);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创建系数矩阵的零稀疏矩阵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* N,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构造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N^2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维零稀疏向量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:N*N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的主对角线元素都是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:N*N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中和上边界节点对应的分量赋值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==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中和右边界节点对应的分量赋值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==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中和左边界节点对应的分量赋值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N * (N -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中和下边界节点对应的分量赋值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中和上边界无关的节点所对应的元素赋值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-N]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!=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中和左边界无关的节点所对应的元素赋值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!=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中和右边界无关的节点所对应的元素赋值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 * (N -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中和下边界无关的节点所对应的元素赋值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i+N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雅可比迭代法解方程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根的占位零稀疏矩阵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x0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diagm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diag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的对角矩阵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 = -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的下三角阵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UU = -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的上三角阵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BB =(D-L)\UU;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=(D-L)\b;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BB * x0 + f;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迭代解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迭代次数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- x0) &gt;=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10e-6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x0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x0 =x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= BB * x0 + f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 = n +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构造温度场矩阵并绘制温度场图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 = [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eye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x]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单位矩阵和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列向量必须空格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X=U[:,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(N,N);  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把矩阵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的最后一列按矩阵形式赋给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i,j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]=U[N*(i-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j,N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]=B;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把钢板内部温度和和四周温度值放入矩阵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传播运算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]].=</a:t>
            </a:r>
            <a:r>
              <a:rPr lang="en-US" altLang="zh-CN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矩阵四个角没有温度值，故把非数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放入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Tr,dims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c,inline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colors=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colorbar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</a:t>
            </a: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26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CBA7A8B-9D94-4075-80FB-16BE42589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992720"/>
            <a:ext cx="6624736" cy="216726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</a:defRPr>
            </a:lvl1pPr>
            <a:lvl2pPr>
              <a:defRPr sz="2800" b="0">
                <a:solidFill>
                  <a:srgbClr val="002060"/>
                </a:solidFill>
              </a:defRPr>
            </a:lvl2pPr>
            <a:lvl3pPr>
              <a:defRPr sz="2400" b="0">
                <a:solidFill>
                  <a:srgbClr val="002060"/>
                </a:solidFill>
              </a:defRPr>
            </a:lvl3pPr>
            <a:lvl4pPr>
              <a:defRPr sz="2000" b="0">
                <a:solidFill>
                  <a:srgbClr val="002060"/>
                </a:solidFill>
              </a:defRPr>
            </a:lvl4pPr>
            <a:lvl5pPr>
              <a:defRPr sz="2000" b="0">
                <a:solidFill>
                  <a:srgbClr val="002060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385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  <p:sldLayoutId id="2147483677" r:id="rId1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8.png"/><Relationship Id="rId4" Type="http://schemas.openxmlformats.org/officeDocument/2006/relationships/image" Target="../media/image4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10" Type="http://schemas.openxmlformats.org/officeDocument/2006/relationships/image" Target="../media/image38.png"/><Relationship Id="rId4" Type="http://schemas.openxmlformats.org/officeDocument/2006/relationships/image" Target="../media/image8.png"/><Relationship Id="rId9" Type="http://schemas.openxmlformats.org/officeDocument/2006/relationships/image" Target="../media/image3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BA%BF%E6%80%A7%E4%BB%A3%E6%95%B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baike.baidu.com/item/%E7%BA%BF%E6%80%A7%E6%96%B9%E7%A8%8B%E7%BB%8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BA%BF%E6%80%A7%E6%96%B9%E7%A8%8B%E7%BB%8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baike.baidu.com/item/%E7%BA%BF%E6%80%A7%E4%BB%A3%E6%95%B0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23.wmf"/><Relationship Id="rId10" Type="http://schemas.openxmlformats.org/officeDocument/2006/relationships/image" Target="../media/image25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7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520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7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#/Doc/TyMath/SparseMatrices/Creation/spdiagm.html#spdiagm"/><Relationship Id="rId3" Type="http://schemas.openxmlformats.org/officeDocument/2006/relationships/hyperlink" Target="#/Doc/TyMath/SparseMatrices/Creation/sparse.html#sparse"/><Relationship Id="rId7" Type="http://schemas.openxmlformats.org/officeDocument/2006/relationships/hyperlink" Target="#/Doc/TyMath/SparseMatrices/Creation/sprandsym.html#sprandsym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Math/SparseMatrices/Creation/speye.html#speye"/><Relationship Id="rId5" Type="http://schemas.openxmlformats.org/officeDocument/2006/relationships/hyperlink" Target="#/Doc/TyMath/SparseMatrices/Creation/spzeros.html#spzeros"/><Relationship Id="rId10" Type="http://schemas.openxmlformats.org/officeDocument/2006/relationships/hyperlink" Target="#/Doc/TyMath/SparseMatrices/Creation/sprandn.html#sprandn"/><Relationship Id="rId4" Type="http://schemas.openxmlformats.org/officeDocument/2006/relationships/hyperlink" Target="#/Doc/TyMath/SparseMatrices/Creation/spalloc.html"/><Relationship Id="rId9" Type="http://schemas.openxmlformats.org/officeDocument/2006/relationships/hyperlink" Target="#/Doc/TyMath/SparseMatrices/Creation/sprand.html#sprand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60.png"/><Relationship Id="rId7" Type="http://schemas.microsoft.com/office/2007/relationships/hdphoto" Target="../media/hdphoto1.wdp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microsoft.com/office/2007/relationships/hdphoto" Target="../media/hdphoto2.wdp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85.wmf"/><Relationship Id="rId18" Type="http://schemas.openxmlformats.org/officeDocument/2006/relationships/image" Target="../media/image92.png"/><Relationship Id="rId3" Type="http://schemas.openxmlformats.org/officeDocument/2006/relationships/notesSlide" Target="../notesSlides/notesSlide64.xml"/><Relationship Id="rId21" Type="http://schemas.openxmlformats.org/officeDocument/2006/relationships/oleObject" Target="../embeddings/oleObject20.bin"/><Relationship Id="rId7" Type="http://schemas.openxmlformats.org/officeDocument/2006/relationships/audio" Target="../media/audio4.wav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87.wmf"/><Relationship Id="rId25" Type="http://schemas.openxmlformats.org/officeDocument/2006/relationships/hyperlink" Target="https://www.mathworks.com/help/releases/R2018b/matlab/ref/norm.html#bvhji30-3" TargetMode="Externa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.bin"/><Relationship Id="rId20" Type="http://schemas.openxmlformats.org/officeDocument/2006/relationships/image" Target="../media/image93.png"/><Relationship Id="rId1" Type="http://schemas.openxmlformats.org/officeDocument/2006/relationships/vmlDrawing" Target="../drawings/vmlDrawing11.vml"/><Relationship Id="rId6" Type="http://schemas.openxmlformats.org/officeDocument/2006/relationships/audio" Target="../media/audio3.wav"/><Relationship Id="rId11" Type="http://schemas.openxmlformats.org/officeDocument/2006/relationships/image" Target="../media/image84.wmf"/><Relationship Id="rId24" Type="http://schemas.openxmlformats.org/officeDocument/2006/relationships/image" Target="../media/image89.wmf"/><Relationship Id="rId5" Type="http://schemas.openxmlformats.org/officeDocument/2006/relationships/audio" Target="../media/audio2.wav"/><Relationship Id="rId15" Type="http://schemas.openxmlformats.org/officeDocument/2006/relationships/image" Target="../media/image86.wmf"/><Relationship Id="rId23" Type="http://schemas.openxmlformats.org/officeDocument/2006/relationships/oleObject" Target="../embeddings/oleObject21.bin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85.png"/><Relationship Id="rId4" Type="http://schemas.openxmlformats.org/officeDocument/2006/relationships/audio" Target="../media/audio1.wav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18.bin"/><Relationship Id="rId22" Type="http://schemas.openxmlformats.org/officeDocument/2006/relationships/image" Target="../media/image88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9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file:///D:\sysjulia\&#28201;&#24230;&#22330;jacobi&#36845;&#20195;&#27714;&#35299;&#20840;&#37096;&#31243;&#24207;.docx" TargetMode="External"/><Relationship Id="rId3" Type="http://schemas.openxmlformats.org/officeDocument/2006/relationships/image" Target="../media/image81.png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png"/><Relationship Id="rId5" Type="http://schemas.openxmlformats.org/officeDocument/2006/relationships/image" Target="../media/image91.emf"/><Relationship Id="rId4" Type="http://schemas.microsoft.com/office/2007/relationships/hdphoto" Target="../media/hdphoto2.wdp"/><Relationship Id="rId9" Type="http://schemas.openxmlformats.org/officeDocument/2006/relationships/image" Target="../media/image90.emf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17.bin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1E76FD4-968E-4F2B-93A5-4C9EAA8F7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949" y="816427"/>
            <a:ext cx="9144000" cy="191112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27E1242-A30F-4353-B89F-EC26E799154B}"/>
              </a:ext>
            </a:extLst>
          </p:cNvPr>
          <p:cNvSpPr/>
          <p:nvPr/>
        </p:nvSpPr>
        <p:spPr bwMode="auto">
          <a:xfrm>
            <a:off x="5633392" y="929518"/>
            <a:ext cx="1584176" cy="21602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4064886-4C10-402E-B251-FF7833974B82}"/>
              </a:ext>
            </a:extLst>
          </p:cNvPr>
          <p:cNvSpPr/>
          <p:nvPr/>
        </p:nvSpPr>
        <p:spPr bwMode="auto">
          <a:xfrm>
            <a:off x="5633392" y="2111568"/>
            <a:ext cx="1584176" cy="21602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189724-B278-4F59-BC33-E1F73E39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811625"/>
            <a:ext cx="7544853" cy="1237053"/>
          </a:xfrm>
          <a:prstGeom prst="rect">
            <a:avLst/>
          </a:prstGeom>
        </p:spPr>
      </p:pic>
      <p:sp>
        <p:nvSpPr>
          <p:cNvPr id="13" name="矩形 2">
            <a:extLst>
              <a:ext uri="{FF2B5EF4-FFF2-40B4-BE49-F238E27FC236}">
                <a16:creationId xmlns:a16="http://schemas.microsoft.com/office/drawing/2014/main" id="{1B040F8A-D145-4F56-81D5-9129DFB70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51470"/>
            <a:ext cx="7848871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交大作业时间一班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12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5:30-6:30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；二班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F152CB8-9525-4AF2-BE83-A888090DE936}"/>
              </a:ext>
            </a:extLst>
          </p:cNvPr>
          <p:cNvSpPr/>
          <p:nvPr/>
        </p:nvSpPr>
        <p:spPr bwMode="auto">
          <a:xfrm>
            <a:off x="2720752" y="2413539"/>
            <a:ext cx="1872208" cy="30778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78EB4A-1B35-47BA-8FA1-1559ADBA7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10" y="2863682"/>
            <a:ext cx="9144000" cy="85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4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/>
          <a:srcRect r="6278"/>
          <a:stretch>
            <a:fillRect/>
          </a:stretch>
        </p:blipFill>
        <p:spPr>
          <a:xfrm>
            <a:off x="6651367" y="2366886"/>
            <a:ext cx="2025089" cy="1686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内容占位符 2"/>
              <p:cNvSpPr txBox="1"/>
              <p:nvPr/>
            </p:nvSpPr>
            <p:spPr>
              <a:xfrm>
                <a:off x="284047" y="696731"/>
                <a:ext cx="8752450" cy="4478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lvl1pPr marL="1778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sz="2800" b="1">
                    <a:solidFill>
                      <a:srgbClr val="A50021"/>
                    </a:solidFill>
                    <a:latin typeface="+mn-lt"/>
                    <a:ea typeface="+mn-ea"/>
                    <a:cs typeface="+mn-cs"/>
                  </a:defRPr>
                </a:lvl1pPr>
                <a:lvl2pPr marL="6350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chemeClr val="tx1"/>
                    </a:solidFill>
                    <a:latin typeface="+mn-lt"/>
                  </a:defRPr>
                </a:lvl2pPr>
                <a:lvl3pPr marL="10922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2E5C"/>
                    </a:solidFill>
                    <a:latin typeface="+mn-lt"/>
                  </a:defRPr>
                </a:lvl3pPr>
                <a:lvl4pPr marL="15494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sz="2000" b="1">
                    <a:solidFill>
                      <a:srgbClr val="002E5C"/>
                    </a:solidFill>
                    <a:latin typeface="+mn-lt"/>
                  </a:defRPr>
                </a:lvl4pPr>
                <a:lvl5pPr marL="20066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sz="2000" b="1">
                    <a:solidFill>
                      <a:srgbClr val="002E5C"/>
                    </a:solidFill>
                    <a:latin typeface="+mn-lt"/>
                  </a:defRPr>
                </a:lvl5pPr>
                <a:lvl6pPr marL="24638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6pPr>
                <a:lvl7pPr marL="29210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7pPr>
                <a:lvl8pPr marL="33782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8pPr>
                <a:lvl9pPr marL="38354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9pPr>
              </a:lstStyle>
              <a:p>
                <a:pPr marL="0" indent="0" algn="dist">
                  <a:buNone/>
                  <a:tabLst>
                    <a:tab pos="417195" algn="l"/>
                  </a:tabLst>
                </a:pPr>
                <a14:m>
                  <m:oMath xmlns:m="http://schemas.openxmlformats.org/officeDocument/2006/math">
                    <m:r>
                      <a:rPr lang="zh-CN" altLang="en-US" sz="18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三种方法</m:t>
                    </m:r>
                  </m:oMath>
                </a14:m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求</a:t>
                </a:r>
                <a:r>
                  <a:rPr lang="zh-CN" altLang="zh-CN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大物实验</a:t>
                </a:r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压降</a:t>
                </a:r>
                <a14:m>
                  <m:oMath xmlns:m="http://schemas.openxmlformats.org/officeDocument/2006/math">
                    <m:r>
                      <a:rPr lang="en-US" altLang="zh-CN" sz="1800" b="1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与温度</a:t>
                </a:r>
                <a:r>
                  <a:rPr lang="en-US" altLang="zh-CN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线性关系</a:t>
                </a:r>
                <a14:m>
                  <m:oMath xmlns:m="http://schemas.openxmlformats.org/officeDocument/2006/math">
                    <m:r>
                      <a:rPr lang="en-US" altLang="zh-CN" sz="1800" b="1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 altLang="zh-CN" sz="1800" b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b="1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m:rPr>
                        <m:nor/>
                      </m:rPr>
                      <a:rPr lang="en-US" altLang="zh-CN" sz="1800" kern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CN" sz="1800" b="1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altLang="zh-CN" sz="1800" b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1800" kern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sz="1800" b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800" b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即求</m:t>
                    </m:r>
                  </m:oMath>
                </a14:m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斜率</a:t>
                </a:r>
                <a:r>
                  <a:rPr lang="en-US" altLang="zh-CN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和截距</a:t>
                </a:r>
                <a:r>
                  <a:rPr lang="en-US" altLang="zh-CN" sz="180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zh-CN" altLang="en-US" sz="1800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7" y="696731"/>
                <a:ext cx="8752450" cy="447896"/>
              </a:xfrm>
              <a:prstGeom prst="rect">
                <a:avLst/>
              </a:prstGeom>
              <a:blipFill>
                <a:blip r:embed="rId4"/>
                <a:stretch>
                  <a:fillRect l="-348" t="-5405" r="-627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7459038"/>
                  </p:ext>
                </p:extLst>
              </p:nvPr>
            </p:nvGraphicFramePr>
            <p:xfrm>
              <a:off x="362883" y="1131590"/>
              <a:ext cx="8580868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1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8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230329"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0329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a:rPr lang="en-US" altLang="zh-CN" sz="1200" b="1" i="1" kern="12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altLang="zh-CN" sz="12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zh-CN" altLang="en-US" sz="12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压降</a:t>
                          </a:r>
                          <a:r>
                            <a:rPr lang="en-US" altLang="zh-CN" sz="12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)</a:t>
                          </a:r>
                          <a:endParaRPr lang="zh-CN" altLang="en-US" sz="1200" b="1" kern="12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7459038"/>
                  </p:ext>
                </p:extLst>
              </p:nvPr>
            </p:nvGraphicFramePr>
            <p:xfrm>
              <a:off x="362883" y="1131590"/>
              <a:ext cx="8580868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1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8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780079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04444" r="-1012598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2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2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8"/>
          <p:cNvSpPr>
            <a:spLocks noChangeArrowheads="1"/>
          </p:cNvSpPr>
          <p:nvPr/>
        </p:nvSpPr>
        <p:spPr bwMode="auto">
          <a:xfrm>
            <a:off x="275753" y="3173955"/>
            <a:ext cx="242403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超定方程组求解</a:t>
            </a:r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：</a:t>
            </a:r>
          </a:p>
        </p:txBody>
      </p:sp>
      <p:sp>
        <p:nvSpPr>
          <p:cNvPr id="43" name="TextBox 2"/>
          <p:cNvSpPr txBox="1">
            <a:spLocks noChangeArrowheads="1"/>
          </p:cNvSpPr>
          <p:nvPr/>
        </p:nvSpPr>
        <p:spPr bwMode="auto">
          <a:xfrm>
            <a:off x="2666419" y="3173955"/>
            <a:ext cx="1178408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 algn="dist">
              <a:lnSpc>
                <a:spcPct val="90000"/>
              </a:lnSpc>
              <a:defRPr sz="2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dirty="0">
                <a:sym typeface="Arial" panose="020B0604020202020204" pitchFamily="34" charset="0"/>
              </a:rPr>
              <a:t>b=X</a:t>
            </a:r>
            <a:r>
              <a:rPr lang="en-US" altLang="zh-CN" sz="1600" dirty="0">
                <a:sym typeface="Courier New" panose="02070309020205020404" pitchFamily="49" charset="0"/>
              </a:rPr>
              <a:t>\</a:t>
            </a:r>
            <a:r>
              <a:rPr lang="en-US" altLang="zh-CN" sz="1600" dirty="0">
                <a:sym typeface="Arial" panose="020B0604020202020204" pitchFamily="34" charset="0"/>
              </a:rPr>
              <a:t>Y</a:t>
            </a:r>
            <a:endParaRPr lang="zh-CN" altLang="en-US" sz="1600" dirty="0">
              <a:sym typeface="Arial" panose="020B0604020202020204" pitchFamily="34" charset="0"/>
            </a:endParaRPr>
          </a:p>
        </p:txBody>
      </p:sp>
      <p:sp>
        <p:nvSpPr>
          <p:cNvPr id="44" name="矩形 1"/>
          <p:cNvSpPr>
            <a:spLocks noChangeArrowheads="1"/>
          </p:cNvSpPr>
          <p:nvPr/>
        </p:nvSpPr>
        <p:spPr bwMode="auto">
          <a:xfrm>
            <a:off x="1969921" y="2264247"/>
            <a:ext cx="3250151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r,</a:t>
            </a:r>
            <a:r>
              <a:rPr lang="ko-KR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cs typeface="Times New Roman" panose="02020603050405020304" pitchFamily="18" charset="0"/>
              </a:rPr>
              <a:t> bint, r, rint , stats</a:t>
            </a:r>
            <a:r>
              <a:rPr lang="ko-KR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= regress ( Y,  X  )</a:t>
            </a:r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266601" y="2274426"/>
            <a:ext cx="171840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线性回归</a:t>
            </a:r>
            <a:r>
              <a:rPr lang="zh-CN" altLang="en-US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：</a:t>
            </a: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273465" y="2721104"/>
            <a:ext cx="184596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曲线拟合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: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矩形 1">
            <a:extLst>
              <a:ext uri="{FF2B5EF4-FFF2-40B4-BE49-F238E27FC236}">
                <a16:creationId xmlns:a16="http://schemas.microsoft.com/office/drawing/2014/main" id="{CA315014-C796-44E5-BDED-21D44B378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117" y="2714790"/>
            <a:ext cx="1351698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p,=</a:t>
            </a:r>
            <a:r>
              <a:rPr lang="en-US" altLang="zh-CN" sz="16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polyfit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6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x,y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ko-KR" altLang="en-US" sz="16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矩形 2">
            <a:extLst>
              <a:ext uri="{FF2B5EF4-FFF2-40B4-BE49-F238E27FC236}">
                <a16:creationId xmlns:a16="http://schemas.microsoft.com/office/drawing/2014/main" id="{EC6DA971-41CB-401E-B419-61432C5F0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025" y="67942"/>
            <a:ext cx="6310383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 线性代数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解线性方程组</a:t>
            </a:r>
            <a:endParaRPr lang="zh-CN" altLang="en-US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956389-1416-410A-88A4-D9B4C0FD6247}"/>
              </a:ext>
            </a:extLst>
          </p:cNvPr>
          <p:cNvSpPr txBox="1"/>
          <p:nvPr/>
        </p:nvSpPr>
        <p:spPr>
          <a:xfrm>
            <a:off x="276457" y="3536114"/>
            <a:ext cx="5737703" cy="1058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当多项式拟合</a:t>
            </a:r>
            <a:r>
              <a:rPr lang="en-US" altLang="zh-CN" sz="16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并采用‌最小二乘法‌时，</a:t>
            </a:r>
            <a:endParaRPr lang="en-US" altLang="zh-CN" sz="1600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曲线拟合确实可以看作求解超定方程组的过程</a:t>
            </a:r>
            <a:endParaRPr lang="en-US" altLang="zh-CN" sz="1600" b="1" i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16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每个数据点对应一个方程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1E1F78-D501-4DF9-8216-2C2B39C9FD0E}"/>
              </a:ext>
            </a:extLst>
          </p:cNvPr>
          <p:cNvSpPr txBox="1"/>
          <p:nvPr/>
        </p:nvSpPr>
        <p:spPr>
          <a:xfrm>
            <a:off x="284046" y="1839339"/>
            <a:ext cx="4447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线性关系（一次多项式 ）：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y=</a:t>
            </a:r>
            <a:r>
              <a:rPr lang="en-US" altLang="zh-CN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x+</a:t>
            </a:r>
            <a:r>
              <a:rPr lang="en-US" altLang="zh-CN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en-US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8EF09F4-16C8-4924-A9E1-DE0A554F07E8}"/>
                  </a:ext>
                </a:extLst>
              </p:cNvPr>
              <p:cNvSpPr txBox="1"/>
              <p:nvPr/>
            </p:nvSpPr>
            <p:spPr>
              <a:xfrm>
                <a:off x="5974206" y="1867682"/>
                <a:ext cx="3397880" cy="2685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0.3943=40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0.3809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0.3705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0.3587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0.3455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  60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0.3331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0.3193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dirty="0" smtClean="0">
                                  <a:solidFill>
                                    <a:srgbClr val="002060"/>
                                  </a:solidFill>
                                  <a:latin typeface="隶书" panose="02010509060101010101" pitchFamily="49" charset="-122"/>
                                  <a:ea typeface="隶书" panose="02010509060101010101" pitchFamily="49" charset="-122"/>
                                </a:rPr>
                                <m:t> 70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+ 1∗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0.3049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0.2909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0.2771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8EF09F4-16C8-4924-A9E1-DE0A554F0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206" y="1867682"/>
                <a:ext cx="3397880" cy="26850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">
            <a:extLst>
              <a:ext uri="{FF2B5EF4-FFF2-40B4-BE49-F238E27FC236}">
                <a16:creationId xmlns:a16="http://schemas.microsoft.com/office/drawing/2014/main" id="{F10F3DFB-5DBC-4935-8BB4-402CB2D71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711" y="3164874"/>
            <a:ext cx="1683444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 algn="dist">
              <a:lnSpc>
                <a:spcPct val="90000"/>
              </a:lnSpc>
              <a:defRPr sz="2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dirty="0">
                <a:sym typeface="Arial" panose="020B0604020202020204" pitchFamily="34" charset="0"/>
              </a:rPr>
              <a:t>b=</a:t>
            </a:r>
            <a:r>
              <a:rPr lang="en-US" altLang="zh-CN" sz="1600" dirty="0" err="1">
                <a:sym typeface="Arial" panose="020B0604020202020204" pitchFamily="34" charset="0"/>
              </a:rPr>
              <a:t>pinv</a:t>
            </a:r>
            <a:r>
              <a:rPr lang="en-US" altLang="zh-CN" sz="1600" dirty="0">
                <a:sym typeface="Arial" panose="020B0604020202020204" pitchFamily="34" charset="0"/>
              </a:rPr>
              <a:t>(X)</a:t>
            </a:r>
            <a:r>
              <a:rPr lang="en-US" altLang="zh-CN" sz="1600" dirty="0">
                <a:sym typeface="Courier New" panose="02070309020205020404" pitchFamily="49" charset="0"/>
              </a:rPr>
              <a:t>*</a:t>
            </a:r>
            <a:r>
              <a:rPr lang="en-US" altLang="zh-CN" sz="1600" dirty="0">
                <a:sym typeface="Arial" panose="020B0604020202020204" pitchFamily="34" charset="0"/>
              </a:rPr>
              <a:t>Y</a:t>
            </a:r>
            <a:endParaRPr lang="zh-CN" altLang="en-US" sz="1600" dirty="0"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0AB40E-6849-488D-993E-CF388116AF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10626" t="37400" r="35012" b="16511"/>
          <a:stretch/>
        </p:blipFill>
        <p:spPr>
          <a:xfrm>
            <a:off x="89568" y="705253"/>
            <a:ext cx="4129150" cy="196815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1158E8C-6E64-4C2D-A3C8-8844CE1D476E}"/>
              </a:ext>
            </a:extLst>
          </p:cNvPr>
          <p:cNvSpPr txBox="1">
            <a:spLocks/>
          </p:cNvSpPr>
          <p:nvPr/>
        </p:nvSpPr>
        <p:spPr bwMode="auto">
          <a:xfrm>
            <a:off x="5177500" y="4289"/>
            <a:ext cx="3822357" cy="558061"/>
          </a:xfrm>
          <a:prstGeom prst="rect">
            <a:avLst/>
          </a:prstGeom>
          <a:noFill/>
          <a:ln>
            <a:noFill/>
          </a:ln>
        </p:spPr>
        <p:txBody>
          <a:bodyPr wrap="none" anchor="b"/>
          <a:lstStyle>
            <a:lvl1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zh-CN" altLang="en-US" sz="2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许多线性方程组根据守恒定律建立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6D2299-F9C4-4FB2-9EA0-368B07B136F6}"/>
              </a:ext>
            </a:extLst>
          </p:cNvPr>
          <p:cNvSpPr txBox="1"/>
          <p:nvPr/>
        </p:nvSpPr>
        <p:spPr>
          <a:xfrm>
            <a:off x="-41392" y="2409844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FF00"/>
                </a:solidFill>
              </a:defRPr>
            </a:lvl1pPr>
          </a:lstStyle>
          <a:p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电工学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F6C68C4-58AD-46BD-A594-F44407C7FD12}"/>
              </a:ext>
            </a:extLst>
          </p:cNvPr>
          <p:cNvGrpSpPr/>
          <p:nvPr/>
        </p:nvGrpSpPr>
        <p:grpSpPr>
          <a:xfrm>
            <a:off x="3936983" y="771369"/>
            <a:ext cx="3095625" cy="2276475"/>
            <a:chOff x="611560" y="799639"/>
            <a:chExt cx="3095625" cy="227647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2C24E43-47E4-4279-A2CC-669575319A25}"/>
                </a:ext>
              </a:extLst>
            </p:cNvPr>
            <p:cNvSpPr/>
            <p:nvPr/>
          </p:nvSpPr>
          <p:spPr>
            <a:xfrm>
              <a:off x="2654119" y="1658559"/>
              <a:ext cx="92525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 dirty="0"/>
                <a:t>=100N·m</a:t>
              </a:r>
              <a:endParaRPr lang="zh-CN" altLang="en-US" sz="14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943BCA4-67A4-4D03-B579-9777CA3E4F43}"/>
                </a:ext>
              </a:extLst>
            </p:cNvPr>
            <p:cNvSpPr/>
            <p:nvPr/>
          </p:nvSpPr>
          <p:spPr>
            <a:xfrm>
              <a:off x="1020193" y="2435009"/>
              <a:ext cx="6671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 dirty="0"/>
                <a:t>30N =</a:t>
              </a:r>
              <a:endParaRPr lang="zh-CN" altLang="en-US" sz="1400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EA46749-3113-4E67-ACC9-12DA82E3A9EC}"/>
                </a:ext>
              </a:extLst>
            </p:cNvPr>
            <p:cNvGrpSpPr/>
            <p:nvPr/>
          </p:nvGrpSpPr>
          <p:grpSpPr>
            <a:xfrm>
              <a:off x="611560" y="799639"/>
              <a:ext cx="3095625" cy="2276475"/>
              <a:chOff x="611560" y="799639"/>
              <a:chExt cx="3095625" cy="2276475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83088B35-5CA5-4250-9825-F89E038159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11560" y="799639"/>
                <a:ext cx="3095625" cy="2276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2D5EF32-3994-4F2F-9A74-AF0462E7A832}"/>
                  </a:ext>
                </a:extLst>
              </p:cNvPr>
              <p:cNvSpPr/>
              <p:nvPr/>
            </p:nvSpPr>
            <p:spPr bwMode="auto">
              <a:xfrm>
                <a:off x="948185" y="1508505"/>
                <a:ext cx="239439" cy="264311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7800" marR="0" indent="-17780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F86891A-23FB-4BA7-9A92-76BE88149E78}"/>
                </a:ext>
              </a:extLst>
            </p:cNvPr>
            <p:cNvSpPr/>
            <p:nvPr/>
          </p:nvSpPr>
          <p:spPr bwMode="auto">
            <a:xfrm>
              <a:off x="1990874" y="2239104"/>
              <a:ext cx="303063" cy="283708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77800" marR="0" indent="-17780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5642D50-5D98-45AB-A7D2-BF114F51072F}"/>
                </a:ext>
              </a:extLst>
            </p:cNvPr>
            <p:cNvSpPr/>
            <p:nvPr/>
          </p:nvSpPr>
          <p:spPr bwMode="auto">
            <a:xfrm>
              <a:off x="2167014" y="2438114"/>
              <a:ext cx="311084" cy="276172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marL="177800" marR="0" indent="-17780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CA85CB0-8BA6-447C-AAD6-27B862B47092}"/>
                </a:ext>
              </a:extLst>
            </p:cNvPr>
            <p:cNvSpPr/>
            <p:nvPr/>
          </p:nvSpPr>
          <p:spPr>
            <a:xfrm>
              <a:off x="2190168" y="2114530"/>
              <a:ext cx="61747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 dirty="0"/>
                <a:t>=50N</a:t>
              </a:r>
              <a:endParaRPr lang="zh-CN" altLang="en-US" sz="1400" dirty="0"/>
            </a:p>
          </p:txBody>
        </p:sp>
      </p:grpSp>
      <p:pic>
        <p:nvPicPr>
          <p:cNvPr id="20" name="Picture 3">
            <a:extLst>
              <a:ext uri="{FF2B5EF4-FFF2-40B4-BE49-F238E27FC236}">
                <a16:creationId xmlns:a16="http://schemas.microsoft.com/office/drawing/2014/main" id="{A1FBFD82-C8CD-4F02-B507-963CCEA06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7327" y="1097760"/>
            <a:ext cx="1823094" cy="13425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bg2">
                <a:lumMod val="20000"/>
                <a:lumOff val="80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contourClr>
              <a:srgbClr val="C0C0C0"/>
            </a:contourClr>
          </a:sp3d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E001AE9-D02D-4FF4-9093-779A6C32231C}"/>
              </a:ext>
            </a:extLst>
          </p:cNvPr>
          <p:cNvSpPr txBox="1"/>
          <p:nvPr/>
        </p:nvSpPr>
        <p:spPr>
          <a:xfrm>
            <a:off x="5235830" y="675189"/>
            <a:ext cx="3746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/>
              <a:t>《</a:t>
            </a:r>
            <a:r>
              <a:rPr lang="zh-CN" altLang="en-US" sz="1400" dirty="0"/>
              <a:t>理论力学</a:t>
            </a:r>
            <a:r>
              <a:rPr lang="en-US" altLang="zh-CN" sz="1400" dirty="0"/>
              <a:t>》T</a:t>
            </a:r>
            <a:r>
              <a:rPr lang="zh-CN" altLang="en-US" sz="1400" dirty="0"/>
              <a:t>形构件的静力学问题（力守恒）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60C029-453C-4BBD-BC84-29BA1B99285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8" t="9947" r="18065" b="23197"/>
          <a:stretch/>
        </p:blipFill>
        <p:spPr>
          <a:xfrm rot="16200000">
            <a:off x="1387585" y="1320776"/>
            <a:ext cx="1447613" cy="42710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C22C73-B1FC-41A4-A012-57B8F5B5129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90" t="37308" r="15546" b="49771"/>
          <a:stretch/>
        </p:blipFill>
        <p:spPr>
          <a:xfrm rot="10800000">
            <a:off x="6763855" y="3083988"/>
            <a:ext cx="2380145" cy="1386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BD3866D-924D-4233-BEA5-F891B40B3657}"/>
                  </a:ext>
                </a:extLst>
              </p:cNvPr>
              <p:cNvSpPr txBox="1"/>
              <p:nvPr/>
            </p:nvSpPr>
            <p:spPr>
              <a:xfrm>
                <a:off x="-41392" y="4268553"/>
                <a:ext cx="2369816" cy="308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400" dirty="0"/>
                  <a:t>《</a:t>
                </a:r>
                <a:r>
                  <a:rPr lang="zh-CN" altLang="en-US" sz="1400" dirty="0"/>
                  <a:t>传热学</a:t>
                </a:r>
                <a:r>
                  <a:rPr lang="en-US" altLang="zh-CN" sz="1400" dirty="0"/>
                  <a:t>》</a:t>
                </a:r>
                <a:r>
                  <a:rPr lang="zh-CN" altLang="en-US" sz="1400" dirty="0"/>
                  <a:t>热守恒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1400">
                            <a:latin typeface="Cambria Math" panose="02040503050406030204" pitchFamily="18" charset="0"/>
                          </a:rPr>
                          <m:t>热</m:t>
                        </m:r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nary>
                    <m:r>
                      <a:rPr lang="en-US" altLang="zh-CN" sz="14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0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BD3866D-924D-4233-BEA5-F891B40B3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92" y="4268553"/>
                <a:ext cx="2369816" cy="308482"/>
              </a:xfrm>
              <a:prstGeom prst="rect">
                <a:avLst/>
              </a:prstGeom>
              <a:blipFill>
                <a:blip r:embed="rId8"/>
                <a:stretch>
                  <a:fillRect l="-771" t="-100000" b="-1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FFFCBB0-9092-423E-A3AB-65770038EBCF}"/>
                  </a:ext>
                </a:extLst>
              </p:cNvPr>
              <p:cNvSpPr txBox="1"/>
              <p:nvPr/>
            </p:nvSpPr>
            <p:spPr>
              <a:xfrm>
                <a:off x="5864410" y="1612390"/>
                <a:ext cx="1063856" cy="553998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000">
                    <a:solidFill>
                      <a:srgbClr val="FFFF00"/>
                    </a:solidFill>
                  </a:defRPr>
                </a:lvl1pPr>
              </a:lstStyle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水平力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</m:sSub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垂直力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力矩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</a:t>
                </a:r>
                <a:r>
                  <a:rPr lang="zh-CN" altLang="en-US" dirty="0"/>
                  <a:t>；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FFFCBB0-9092-423E-A3AB-65770038E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410" y="1612390"/>
                <a:ext cx="1063856" cy="553998"/>
              </a:xfrm>
              <a:prstGeom prst="rect">
                <a:avLst/>
              </a:prstGeom>
              <a:blipFill>
                <a:blip r:embed="rId9"/>
                <a:stretch>
                  <a:fillRect l="-13143" t="-37363" b="-63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DDA4510-CC4A-4FB3-A779-D378B7E07119}"/>
                  </a:ext>
                </a:extLst>
              </p:cNvPr>
              <p:cNvSpPr txBox="1"/>
              <p:nvPr/>
            </p:nvSpPr>
            <p:spPr>
              <a:xfrm>
                <a:off x="2483768" y="2439129"/>
                <a:ext cx="1965819" cy="40011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1000" dirty="0">
                    <a:solidFill>
                      <a:srgbClr val="FFFF00"/>
                    </a:solidFill>
                  </a:rPr>
                  <a:t>电荷守恒：</a:t>
                </a:r>
                <a:r>
                  <a:rPr lang="zh-CN" altLang="en-US" sz="1000" b="1" dirty="0">
                    <a:solidFill>
                      <a:srgbClr val="FFFF00"/>
                    </a:solidFill>
                  </a:rPr>
                  <a:t>每节点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电流</m:t>
                        </m:r>
                        <m: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10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000" b="1" dirty="0">
                    <a:solidFill>
                      <a:srgbClr val="FFFF00"/>
                    </a:solidFill>
                  </a:rPr>
                  <a:t>0</a:t>
                </a:r>
              </a:p>
              <a:p>
                <a:r>
                  <a:rPr lang="zh-CN" altLang="en-US" sz="1000" b="1" dirty="0">
                    <a:solidFill>
                      <a:srgbClr val="FFFF00"/>
                    </a:solidFill>
                  </a:rPr>
                  <a:t>能量守恒：环路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电流</m:t>
                        </m:r>
                        <m: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altLang="zh-CN" sz="1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10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000" b="1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DDA4510-CC4A-4FB3-A779-D378B7E07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439129"/>
                <a:ext cx="1965819" cy="400110"/>
              </a:xfrm>
              <a:prstGeom prst="rect">
                <a:avLst/>
              </a:prstGeom>
              <a:blipFill>
                <a:blip r:embed="rId10"/>
                <a:stretch>
                  <a:fillRect t="-53030" b="-87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: 圆角 1">
            <a:extLst>
              <a:ext uri="{FF2B5EF4-FFF2-40B4-BE49-F238E27FC236}">
                <a16:creationId xmlns:a16="http://schemas.microsoft.com/office/drawing/2014/main" id="{342C8FA4-FF34-4D6D-904F-298C9291E747}"/>
              </a:ext>
            </a:extLst>
          </p:cNvPr>
          <p:cNvSpPr/>
          <p:nvPr/>
        </p:nvSpPr>
        <p:spPr bwMode="auto">
          <a:xfrm>
            <a:off x="2252278" y="1433213"/>
            <a:ext cx="1455626" cy="56247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4B75C5A-4F98-4AC7-B50D-48B1A2C75B02}"/>
              </a:ext>
            </a:extLst>
          </p:cNvPr>
          <p:cNvSpPr/>
          <p:nvPr/>
        </p:nvSpPr>
        <p:spPr bwMode="auto">
          <a:xfrm>
            <a:off x="7065917" y="1084718"/>
            <a:ext cx="1904503" cy="1456071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CB798C6-B445-4373-8F58-E40014029691}"/>
              </a:ext>
            </a:extLst>
          </p:cNvPr>
          <p:cNvSpPr/>
          <p:nvPr/>
        </p:nvSpPr>
        <p:spPr bwMode="auto">
          <a:xfrm>
            <a:off x="7032608" y="3184492"/>
            <a:ext cx="2003888" cy="129535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AutoShape 13">
            <a:extLst>
              <a:ext uri="{FF2B5EF4-FFF2-40B4-BE49-F238E27FC236}">
                <a16:creationId xmlns:a16="http://schemas.microsoft.com/office/drawing/2014/main" id="{61121774-F180-47D5-36D4-CEEA93BB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591" y="3346145"/>
            <a:ext cx="632551" cy="825534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</a:rPr>
              <a:t>注意</a:t>
            </a:r>
            <a:endParaRPr lang="zh-CN" altLang="en-US" sz="1600" dirty="0">
              <a:solidFill>
                <a:srgbClr val="FFFF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563764-53EB-4318-85BB-0C22324DB80B}"/>
              </a:ext>
            </a:extLst>
          </p:cNvPr>
          <p:cNvSpPr txBox="1"/>
          <p:nvPr/>
        </p:nvSpPr>
        <p:spPr>
          <a:xfrm>
            <a:off x="652474" y="42927"/>
            <a:ext cx="466382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zh-CN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</a:t>
            </a:r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线性方程组是线性代数核心</a:t>
            </a:r>
            <a:endParaRPr lang="en-US" altLang="zh-CN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2DE883-93CC-4728-A4D2-943DEBFEDAC2}"/>
              </a:ext>
            </a:extLst>
          </p:cNvPr>
          <p:cNvSpPr txBox="1"/>
          <p:nvPr/>
        </p:nvSpPr>
        <p:spPr>
          <a:xfrm>
            <a:off x="3955714" y="3562887"/>
            <a:ext cx="2988304" cy="98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线性方程组应用非常广泛：物理学，经济学，力学，计算机图形学、数字信号处理、自动控制原理等课程。</a:t>
            </a:r>
          </a:p>
        </p:txBody>
      </p:sp>
    </p:spTree>
    <p:extLst>
      <p:ext uri="{BB962C8B-B14F-4D97-AF65-F5344CB8AC3E}">
        <p14:creationId xmlns:p14="http://schemas.microsoft.com/office/powerpoint/2010/main" val="33197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21" grpId="0" animBg="1"/>
      <p:bldP spid="23" grpId="0" animBg="1"/>
      <p:bldP spid="24" grpId="0" animBg="1"/>
      <p:bldP spid="2" grpId="0" animBg="1"/>
      <p:bldP spid="25" grpId="0" animBg="1"/>
      <p:bldP spid="26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>
            <a:extLst>
              <a:ext uri="{FF2B5EF4-FFF2-40B4-BE49-F238E27FC236}">
                <a16:creationId xmlns:a16="http://schemas.microsoft.com/office/drawing/2014/main" id="{D616E451-E776-4508-BD13-F922FFFD0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616" y="1268166"/>
            <a:ext cx="8020310" cy="33039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det,inv,rank,eigval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eigvecs,norm,cond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三类线性方程组和求解方法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§6.3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矩阵分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§6.4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恰定方程求解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§6.5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奇异方程求解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§6.6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欠定非齐次方程求解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§6.7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欠定齐次方程求解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§6.8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超定方程求解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矩阵的重组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抽取上三角、下三角和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大型稀疏方程组：数万及以上</a:t>
            </a:r>
            <a:r>
              <a:rPr lang="zh-CN" altLang="zh-CN" b="1" dirty="0"/>
              <a:t>）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3E33A86A-E5E0-4D1F-9A02-03768497A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616" y="744946"/>
            <a:ext cx="825688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 线性代数</a:t>
            </a: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A6806FF1-D426-47DF-9F22-6566F1898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01" y="188760"/>
            <a:ext cx="8991910" cy="45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矩阵是一个按照长方阵排列的数字集合  ，最早来自于方程组系数所构成的方阵</a:t>
            </a:r>
            <a:endParaRPr lang="zh-CN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81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>
            <a:extLst>
              <a:ext uri="{FF2B5EF4-FFF2-40B4-BE49-F238E27FC236}">
                <a16:creationId xmlns:a16="http://schemas.microsoft.com/office/drawing/2014/main" id="{E705348E-0C85-452A-A5F4-25BD7A4AB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29" y="1888472"/>
            <a:ext cx="8736142" cy="23550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4000"/>
              </a:lnSpc>
              <a:buNone/>
            </a:pPr>
            <a:r>
              <a:rPr lang="en-US" altLang="zh-CN" sz="2600" kern="1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学会矩阵函数分析</a:t>
            </a:r>
            <a:r>
              <a:rPr lang="en-US" altLang="zh-CN" sz="28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det,inv,rank,norm,cond,eigval,eigvecs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ts val="4000"/>
              </a:lnSpc>
              <a:buFont typeface="Arial" panose="020B0604020202020204" pitchFamily="34" charset="0"/>
              <a:buNone/>
            </a:pP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了解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三类线性方程组特点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ts val="4000"/>
              </a:lnSpc>
              <a:buNone/>
            </a:pP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学会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左除法和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逆乘法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线性方程组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ts val="4000"/>
              </a:lnSpc>
              <a:buNone/>
            </a:pP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了解</a:t>
            </a: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lu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qr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矩阵分解法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linsolve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线性方程组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E1E7E5BB-CB6C-48B3-A29D-74ADBA87F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29" y="1131590"/>
            <a:ext cx="2954655" cy="5909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3600" kern="1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本章学习目标</a:t>
            </a:r>
            <a:endParaRPr lang="en-US" altLang="zh-CN" sz="3600" kern="1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15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6EFD998-A49C-4B8B-BE14-53E6B40D8792}"/>
              </a:ext>
            </a:extLst>
          </p:cNvPr>
          <p:cNvSpPr txBox="1">
            <a:spLocks/>
          </p:cNvSpPr>
          <p:nvPr/>
        </p:nvSpPr>
        <p:spPr bwMode="auto">
          <a:xfrm>
            <a:off x="1013954" y="159355"/>
            <a:ext cx="4206118" cy="454562"/>
          </a:xfrm>
          <a:prstGeom prst="rect">
            <a:avLst/>
          </a:prstGeom>
          <a:noFill/>
          <a:ln>
            <a:noFill/>
          </a:ln>
        </p:spPr>
        <p:txBody>
          <a:bodyPr wrap="none" anchor="b"/>
          <a:lstStyle>
            <a:lvl1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   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23621902-3D02-4AFB-8E2A-49C2A9E5A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004608"/>
            <a:ext cx="7830046" cy="41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det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的行列式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det=0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非奇异，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≠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            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Inv(A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方阵的逆，非奇异可逆的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pinv(A)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矩阵伪逆，奇异不可逆，但可伪逆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rank(A)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矩阵的秩</a:t>
            </a:r>
          </a:p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norm(A)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误差扰动敏感度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cond(A)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10^10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病态程度，无穷大为奇异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4000"/>
              </a:lnSpc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eigval(A) 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方阵特征值、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eigvecs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0" hangingPunct="0">
              <a:lnSpc>
                <a:spcPts val="3800"/>
              </a:lnSpc>
              <a:buFont typeface="+mj-lt"/>
              <a:buAutoNum type="arabicPeriod"/>
              <a:defRPr/>
            </a:pP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CAE313-5DE5-4980-8D3C-F59DB2ABA0F3}"/>
              </a:ext>
            </a:extLst>
          </p:cNvPr>
          <p:cNvSpPr txBox="1"/>
          <p:nvPr/>
        </p:nvSpPr>
        <p:spPr>
          <a:xfrm>
            <a:off x="179512" y="698400"/>
            <a:ext cx="877340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800" b="1" i="0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历史上</a:t>
            </a:r>
            <a:r>
              <a:rPr lang="zh-CN" altLang="en-US" sz="1800" b="1" i="0" u="none" strike="noStrike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线性代数</a:t>
            </a:r>
            <a:r>
              <a:rPr lang="zh-CN" altLang="en-US" sz="1800" b="1" i="0" u="none" strike="noStrike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b="1" i="0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第一个问题是关于解</a:t>
            </a:r>
            <a:r>
              <a:rPr lang="zh-CN" altLang="en-US" sz="1800" b="1" i="0" u="none" strike="noStrike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线性方程组</a:t>
            </a:r>
            <a:r>
              <a:rPr lang="zh-CN" altLang="en-US" sz="1800" b="1" i="0" u="none" strike="noStrike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b="1" i="0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A124CB-8295-41C6-8E36-77618E9C0DF7}"/>
              </a:ext>
            </a:extLst>
          </p:cNvPr>
          <p:cNvSpPr txBox="1"/>
          <p:nvPr/>
        </p:nvSpPr>
        <p:spPr>
          <a:xfrm>
            <a:off x="4406098" y="165658"/>
            <a:ext cx="3766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围绕解奇异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非奇异线性方程组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57E1CC-3318-4F84-826D-0EBCD65098B4}"/>
                  </a:ext>
                </a:extLst>
              </p:cNvPr>
              <p:cNvSpPr txBox="1"/>
              <p:nvPr/>
            </p:nvSpPr>
            <p:spPr>
              <a:xfrm>
                <a:off x="6850678" y="2484698"/>
                <a:ext cx="2317760" cy="2088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0.3943=40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0.3809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0.3705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0.3587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0.3455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60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0.3331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0.3193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 b="0" i="0" dirty="0" smtClean="0">
                                  <a:solidFill>
                                    <a:srgbClr val="002060"/>
                                  </a:solidFill>
                                  <a:latin typeface="隶书" panose="02010509060101010101" pitchFamily="49" charset="-122"/>
                                  <a:ea typeface="隶书" panose="02010509060101010101" pitchFamily="49" charset="-122"/>
                                </a:rPr>
                                <m:t>70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+ 1∗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0.3049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0.2909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0.2771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57E1CC-3318-4F84-826D-0EBCD6509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678" y="2484698"/>
                <a:ext cx="2317760" cy="2088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08DCBA1-B252-43B2-AD29-BE3C0EE31C48}"/>
              </a:ext>
            </a:extLst>
          </p:cNvPr>
          <p:cNvSpPr txBox="1"/>
          <p:nvPr/>
        </p:nvSpPr>
        <p:spPr>
          <a:xfrm>
            <a:off x="4535489" y="1829630"/>
            <a:ext cx="4608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实验的系数矩阵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与常数列向量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往往有误差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2E0CB1-2F25-40E4-A7CF-6290282D854C}"/>
                  </a:ext>
                </a:extLst>
              </p:cNvPr>
              <p:cNvSpPr txBox="1"/>
              <p:nvPr/>
            </p:nvSpPr>
            <p:spPr>
              <a:xfrm>
                <a:off x="5453195" y="1513116"/>
                <a:ext cx="35156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1pPr>
              </a:lstStyle>
              <a:p>
                <a:pPr algn="r"/>
                <a:r>
                  <a:rPr lang="zh-CN" altLang="zh-CN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大物实验</a:t>
                </a:r>
                <a:r>
                  <a:rPr lang="zh-CN" altLang="en-US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压降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与温度</a:t>
                </a:r>
                <a:r>
                  <a:rPr lang="en-US" altLang="zh-CN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线性关系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2E0CB1-2F25-40E4-A7CF-6290282D8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195" y="1513116"/>
                <a:ext cx="3515622" cy="338554"/>
              </a:xfrm>
              <a:prstGeom prst="rect">
                <a:avLst/>
              </a:prstGeom>
              <a:blipFill>
                <a:blip r:embed="rId6"/>
                <a:stretch>
                  <a:fillRect t="-5357" r="-1042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58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B599BEF-B6B8-4050-AB2D-9B8F4B52555B}"/>
              </a:ext>
            </a:extLst>
          </p:cNvPr>
          <p:cNvSpPr txBox="1"/>
          <p:nvPr/>
        </p:nvSpPr>
        <p:spPr>
          <a:xfrm>
            <a:off x="149350" y="700729"/>
            <a:ext cx="462323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、‌按系数矩阵性质分类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20461-A01B-4EB8-9203-4D0A69110AFF}"/>
              </a:ext>
            </a:extLst>
          </p:cNvPr>
          <p:cNvSpPr txBox="1"/>
          <p:nvPr/>
        </p:nvSpPr>
        <p:spPr>
          <a:xfrm>
            <a:off x="251520" y="1027099"/>
            <a:ext cx="8784976" cy="73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24000">
              <a:lnSpc>
                <a:spcPts val="2600"/>
              </a:lnSpc>
              <a:buFont typeface="+mj-ea"/>
              <a:buAutoNum type="circleNumDbPlain"/>
            </a:pPr>
            <a:r>
              <a:rPr lang="zh-CN" altLang="en-US" sz="16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‌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非奇异方程组：</a:t>
            </a:r>
            <a:r>
              <a:rPr lang="zh-CN" altLang="en-US" sz="16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系数矩阵为方阵且可逆（行列式非零），必有 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唯一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342900" indent="-324000">
              <a:lnSpc>
                <a:spcPts val="26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奇异方程组：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‌系数矩阵为方阵但不可逆（行列式为零），有解或误解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81A0CF-AF61-4734-991D-0315BD33819F}"/>
              </a:ext>
            </a:extLst>
          </p:cNvPr>
          <p:cNvSpPr txBox="1"/>
          <p:nvPr/>
        </p:nvSpPr>
        <p:spPr>
          <a:xfrm>
            <a:off x="56707" y="1761066"/>
            <a:ext cx="462323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、‌按条件数分类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C7CABE-AFFE-4075-9A3C-AE84708159F0}"/>
              </a:ext>
            </a:extLst>
          </p:cNvPr>
          <p:cNvSpPr txBox="1"/>
          <p:nvPr/>
        </p:nvSpPr>
        <p:spPr>
          <a:xfrm>
            <a:off x="326348" y="2130398"/>
            <a:ext cx="8892480" cy="1399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6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‌良态方程</a:t>
            </a:r>
            <a:r>
              <a:rPr lang="en-US" altLang="zh-CN" b="1" dirty="0">
                <a:solidFill>
                  <a:srgbClr val="333333"/>
                </a:solidFill>
                <a:latin typeface="PingFang SC"/>
              </a:rPr>
              <a:t>: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条件数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较低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接近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，解对输入微小</a:t>
            </a:r>
            <a:r>
              <a:rPr lang="zh-CN" altLang="zh-CN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误差</a:t>
            </a:r>
            <a:r>
              <a:rPr lang="en-US" altLang="zh-CN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扰动</a:t>
            </a:r>
            <a:r>
              <a:rPr lang="en-US" altLang="zh-CN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不敏感，数值稳定性好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342900" indent="-342900">
              <a:lnSpc>
                <a:spcPts val="26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病态方程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指条件数非常大的‌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非奇异矩阵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如远大于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其数值解对微小扰动极其敏感，</a:t>
            </a:r>
            <a:r>
              <a:rPr lang="zh-CN" altLang="zh-CN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数值解不稳定</a:t>
            </a:r>
            <a:r>
              <a:rPr lang="zh-CN" altLang="en-US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但理论上仍可逆‌，通常超过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10^10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的矩阵在实际问题中视为病态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marL="342900" indent="-342900">
              <a:lnSpc>
                <a:spcPts val="26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奇异方程：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条件数趋于无穷大的问题为“奇异”问题，是不可逆的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FB7EFE-AE10-4369-B40D-85AD4F45A880}"/>
              </a:ext>
            </a:extLst>
          </p:cNvPr>
          <p:cNvSpPr txBox="1"/>
          <p:nvPr/>
        </p:nvSpPr>
        <p:spPr>
          <a:xfrm>
            <a:off x="1217062" y="29541"/>
            <a:ext cx="7128792" cy="60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30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线性方程组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AX=b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分类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74D1C6-A3C3-4A03-8111-D30C8D5ED17B}"/>
              </a:ext>
            </a:extLst>
          </p:cNvPr>
          <p:cNvSpPr txBox="1"/>
          <p:nvPr/>
        </p:nvSpPr>
        <p:spPr>
          <a:xfrm>
            <a:off x="64044" y="3511873"/>
            <a:ext cx="204703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 dirty="0"/>
              <a:t>按齐次性分类</a:t>
            </a:r>
            <a:r>
              <a:rPr lang="en-US" altLang="zh-CN" dirty="0"/>
              <a:t>‌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C4751A-8C8E-40B8-B6C4-E90B6F732DFE}"/>
              </a:ext>
            </a:extLst>
          </p:cNvPr>
          <p:cNvSpPr txBox="1"/>
          <p:nvPr/>
        </p:nvSpPr>
        <p:spPr>
          <a:xfrm>
            <a:off x="326812" y="3860054"/>
            <a:ext cx="8709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非齐次方程组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至少有一个常数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列向量的元素不等于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零（即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 Ax=b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b≠0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）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齐次方程组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所有常数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列向量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均为零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zh-CN" altLang="zh-CN" dirty="0">
                <a:solidFill>
                  <a:srgbClr val="333333"/>
                </a:solidFill>
                <a:latin typeface="PingFang SC"/>
              </a:rPr>
              <a:t>即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 Ax=0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必有零解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，也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存在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 ‌</a:t>
            </a:r>
            <a:r>
              <a:rPr lang="zh-CN" altLang="zh-CN" sz="1800" b="1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非零</a:t>
            </a:r>
            <a:r>
              <a:rPr lang="zh-CN" altLang="zh-CN" kern="0" dirty="0">
                <a:solidFill>
                  <a:srgbClr val="000000"/>
                </a:solidFill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无穷</a:t>
            </a:r>
            <a:r>
              <a:rPr lang="zh-CN" altLang="zh-CN" sz="1800" b="1" kern="0" dirty="0">
                <a:solidFill>
                  <a:srgbClr val="000000"/>
                </a:solidFill>
                <a:effectLst/>
                <a:latin typeface="PingFang SC"/>
                <a:ea typeface="宋体" panose="02010600030101010101" pitchFamily="2" charset="-122"/>
                <a:cs typeface="Arial" panose="020B0604020202020204" pitchFamily="34" charset="0"/>
              </a:rPr>
              <a:t>解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10268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8">
            <a:extLst>
              <a:ext uri="{FF2B5EF4-FFF2-40B4-BE49-F238E27FC236}">
                <a16:creationId xmlns:a16="http://schemas.microsoft.com/office/drawing/2014/main" id="{9B55EC09-5A6D-4255-8D50-F389B912D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50" y="994291"/>
            <a:ext cx="5288621" cy="183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det</a:t>
            </a:r>
            <a:r>
              <a:rPr lang="zh-CN" altLang="en-US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的行列式 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det=0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非奇异，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≠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            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Inv(A</a:t>
            </a:r>
            <a:r>
              <a:rPr lang="zh-CN" altLang="en-US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方阵的逆，非奇异可逆的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pinv(A)</a:t>
            </a:r>
            <a:r>
              <a:rPr lang="en-US" altLang="zh-CN" sz="15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矩阵伪逆，奇异不可逆，但可伪逆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rank(A)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矩阵的秩</a:t>
            </a:r>
          </a:p>
          <a:p>
            <a:pPr eaLnBrk="0" hangingPunct="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norm(A)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误差扰动敏感度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0" hangingPunct="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cond(A)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条件数（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10^10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15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病态程度，无穷大为奇异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049D11-6AE6-4B7D-9396-770CB956E6DD}"/>
              </a:ext>
            </a:extLst>
          </p:cNvPr>
          <p:cNvSpPr txBox="1"/>
          <p:nvPr/>
        </p:nvSpPr>
        <p:spPr>
          <a:xfrm>
            <a:off x="181846" y="698400"/>
            <a:ext cx="896215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线性方程组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是历史上</a:t>
            </a:r>
            <a:r>
              <a:rPr lang="zh-CN" altLang="en-US" sz="1600" b="1" i="0" u="none" strike="noStrike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线性代数</a:t>
            </a:r>
            <a:r>
              <a:rPr lang="zh-CN" altLang="en-US" sz="1600" b="1" i="0" kern="12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第一个问题，也是线性代数的核心问题，围绕方程介绍矩阵函数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7753BC-4B8C-496C-A125-06D1D9021A6D}"/>
              </a:ext>
            </a:extLst>
          </p:cNvPr>
          <p:cNvSpPr txBox="1"/>
          <p:nvPr/>
        </p:nvSpPr>
        <p:spPr>
          <a:xfrm>
            <a:off x="165391" y="2739669"/>
            <a:ext cx="4935726" cy="150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建立系数矩阵、常数向量和增广矩阵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求方程组的行列式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、逆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、伪逆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rank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、并求条件数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用逆乘法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和伪逆乘法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求方程的根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15B70-6EA1-44A7-9490-9DB660583639}"/>
              </a:ext>
            </a:extLst>
          </p:cNvPr>
          <p:cNvSpPr/>
          <p:nvPr/>
        </p:nvSpPr>
        <p:spPr>
          <a:xfrm>
            <a:off x="8314647" y="22117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DA87A8-A470-42F1-8A79-5AEFCD8615A5}"/>
              </a:ext>
            </a:extLst>
          </p:cNvPr>
          <p:cNvSpPr/>
          <p:nvPr/>
        </p:nvSpPr>
        <p:spPr>
          <a:xfrm>
            <a:off x="8718654" y="159190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255CE0-0DBD-4E81-8E2D-1282EA717A4E}"/>
              </a:ext>
            </a:extLst>
          </p:cNvPr>
          <p:cNvSpPr/>
          <p:nvPr/>
        </p:nvSpPr>
        <p:spPr>
          <a:xfrm>
            <a:off x="6235083" y="175186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D857AA-9F7B-4AFF-AECB-493F70498905}"/>
              </a:ext>
            </a:extLst>
          </p:cNvPr>
          <p:cNvSpPr/>
          <p:nvPr/>
        </p:nvSpPr>
        <p:spPr>
          <a:xfrm>
            <a:off x="6230003" y="231934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0448E4-5526-45F6-A644-F456CD1E3F85}"/>
              </a:ext>
            </a:extLst>
          </p:cNvPr>
          <p:cNvSpPr/>
          <p:nvPr/>
        </p:nvSpPr>
        <p:spPr>
          <a:xfrm>
            <a:off x="7106151" y="993897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E7D225-DA1B-4730-99C8-43EB99ACD575}"/>
              </a:ext>
            </a:extLst>
          </p:cNvPr>
          <p:cNvSpPr/>
          <p:nvPr/>
        </p:nvSpPr>
        <p:spPr>
          <a:xfrm>
            <a:off x="7972926" y="987574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3C1AE7-E5DD-4441-9BF4-B901447431D2}"/>
              </a:ext>
            </a:extLst>
          </p:cNvPr>
          <p:cNvSpPr/>
          <p:nvPr/>
        </p:nvSpPr>
        <p:spPr>
          <a:xfrm>
            <a:off x="7556858" y="151147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A7E16E-4A14-458C-8BF5-D33D3D813AC6}"/>
              </a:ext>
            </a:extLst>
          </p:cNvPr>
          <p:cNvSpPr/>
          <p:nvPr/>
        </p:nvSpPr>
        <p:spPr>
          <a:xfrm>
            <a:off x="8012268" y="27624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AEDFA1-CA24-49BE-80A8-A7780631422E}"/>
              </a:ext>
            </a:extLst>
          </p:cNvPr>
          <p:cNvSpPr/>
          <p:nvPr/>
        </p:nvSpPr>
        <p:spPr>
          <a:xfrm>
            <a:off x="7073712" y="273966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F0B8A23-2C98-4D65-9964-CB58436DC46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098" t="16351" r="63649" b="15834"/>
          <a:stretch/>
        </p:blipFill>
        <p:spPr>
          <a:xfrm>
            <a:off x="6653457" y="1312663"/>
            <a:ext cx="2022103" cy="1477394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2EB0ADD-8B89-42F1-A788-2CEFC3E1F23B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 flipV="1">
            <a:off x="6649080" y="1756964"/>
            <a:ext cx="2069574" cy="4222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99B5720-DB70-4964-80B1-45230EB2B191}"/>
              </a:ext>
            </a:extLst>
          </p:cNvPr>
          <p:cNvCxnSpPr>
            <a:cxnSpLocks/>
          </p:cNvCxnSpPr>
          <p:nvPr/>
        </p:nvCxnSpPr>
        <p:spPr bwMode="auto">
          <a:xfrm flipH="1">
            <a:off x="6683607" y="2499946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B346AD3-D106-46C6-9560-6B241B2BB0A1}"/>
              </a:ext>
            </a:extLst>
          </p:cNvPr>
          <p:cNvCxnSpPr>
            <a:cxnSpLocks/>
          </p:cNvCxnSpPr>
          <p:nvPr/>
        </p:nvCxnSpPr>
        <p:spPr bwMode="auto">
          <a:xfrm>
            <a:off x="7274709" y="1347614"/>
            <a:ext cx="0" cy="1414796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F69FC4-8B54-4D0B-A604-5A48B34A562C}"/>
              </a:ext>
            </a:extLst>
          </p:cNvPr>
          <p:cNvCxnSpPr>
            <a:cxnSpLocks/>
          </p:cNvCxnSpPr>
          <p:nvPr/>
        </p:nvCxnSpPr>
        <p:spPr bwMode="auto">
          <a:xfrm>
            <a:off x="8131096" y="1292141"/>
            <a:ext cx="27695" cy="1470269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82633BD-C9A6-42A9-B68F-20F41AE5DB2F}"/>
              </a:ext>
            </a:extLst>
          </p:cNvPr>
          <p:cNvSpPr/>
          <p:nvPr/>
        </p:nvSpPr>
        <p:spPr>
          <a:xfrm>
            <a:off x="8030995" y="232669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1544A0-0361-4272-B58B-79609AE933A0}"/>
              </a:ext>
            </a:extLst>
          </p:cNvPr>
          <p:cNvSpPr/>
          <p:nvPr/>
        </p:nvSpPr>
        <p:spPr>
          <a:xfrm>
            <a:off x="8702381" y="2175949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A916648-9DB7-4E0E-AEDA-F4D9F41848A3}"/>
              </a:ext>
            </a:extLst>
          </p:cNvPr>
          <p:cNvSpPr/>
          <p:nvPr/>
        </p:nvSpPr>
        <p:spPr>
          <a:xfrm>
            <a:off x="7105974" y="229378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24CBDF-571B-4CC7-8C0D-BDE159EFFCC0}"/>
              </a:ext>
            </a:extLst>
          </p:cNvPr>
          <p:cNvSpPr/>
          <p:nvPr/>
        </p:nvSpPr>
        <p:spPr>
          <a:xfrm>
            <a:off x="7100791" y="1581653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0C59D8-3E92-4A73-9F83-F0A21C9CEA93}"/>
              </a:ext>
            </a:extLst>
          </p:cNvPr>
          <p:cNvSpPr/>
          <p:nvPr/>
        </p:nvSpPr>
        <p:spPr>
          <a:xfrm>
            <a:off x="8091009" y="155897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F13149A8-D4E8-4BCE-B6C8-5C1FFBDFE9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41878" y="2715766"/>
            <a:ext cx="2640330" cy="1981200"/>
            <a:chOff x="3879" y="2063"/>
            <a:chExt cx="4159" cy="3120"/>
          </a:xfrm>
        </p:grpSpPr>
        <p:sp>
          <p:nvSpPr>
            <p:cNvPr id="36" name="AutoShape 29">
              <a:extLst>
                <a:ext uri="{FF2B5EF4-FFF2-40B4-BE49-F238E27FC236}">
                  <a16:creationId xmlns:a16="http://schemas.microsoft.com/office/drawing/2014/main" id="{F09935CD-77E0-4DA4-80BD-6109B6AFFF4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Text Box 28">
              <a:extLst>
                <a:ext uri="{FF2B5EF4-FFF2-40B4-BE49-F238E27FC236}">
                  <a16:creationId xmlns:a16="http://schemas.microsoft.com/office/drawing/2014/main" id="{9AB6B2BF-81B8-404D-9AB2-19EDC5740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Oval 27">
              <a:extLst>
                <a:ext uri="{FF2B5EF4-FFF2-40B4-BE49-F238E27FC236}">
                  <a16:creationId xmlns:a16="http://schemas.microsoft.com/office/drawing/2014/main" id="{D4444395-7402-4B86-ACAF-D712719FB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39" name="Oval 26">
              <a:extLst>
                <a:ext uri="{FF2B5EF4-FFF2-40B4-BE49-F238E27FC236}">
                  <a16:creationId xmlns:a16="http://schemas.microsoft.com/office/drawing/2014/main" id="{CDFD9DB4-D4A9-48C7-8840-90B29A433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" name="Oval 25">
              <a:extLst>
                <a:ext uri="{FF2B5EF4-FFF2-40B4-BE49-F238E27FC236}">
                  <a16:creationId xmlns:a16="http://schemas.microsoft.com/office/drawing/2014/main" id="{C8A37B7E-DC54-4153-88A9-D352FC58B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1" name="Oval 24">
              <a:extLst>
                <a:ext uri="{FF2B5EF4-FFF2-40B4-BE49-F238E27FC236}">
                  <a16:creationId xmlns:a16="http://schemas.microsoft.com/office/drawing/2014/main" id="{8C9D538B-1ACB-428F-86C0-894D6663A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54C159A8-C17F-4D04-B619-0BBFEA289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E27E64C8-1087-4B9C-81B5-BF88ACEF1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82F3B57C-CC78-459B-85CF-DB6D78FF7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EF989950-F62F-409C-BB95-57E007D86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A2C1BAA1-7452-4F28-A430-FD9F9CA4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D77A36C1-3506-4F78-957A-4D9480DA9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5FF0865C-96B3-4DF1-9D73-32EB491EF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EF899B2D-33F8-4A85-8D60-533B9F587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CDB00974-A1EC-4941-8F59-44E00196E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69E89942-CDB2-4889-BD70-944E206BF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Text Box 13">
              <a:extLst>
                <a:ext uri="{FF2B5EF4-FFF2-40B4-BE49-F238E27FC236}">
                  <a16:creationId xmlns:a16="http://schemas.microsoft.com/office/drawing/2014/main" id="{1869BC48-D1CF-4201-A1A3-CD4893551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Text Box 12">
              <a:extLst>
                <a:ext uri="{FF2B5EF4-FFF2-40B4-BE49-F238E27FC236}">
                  <a16:creationId xmlns:a16="http://schemas.microsoft.com/office/drawing/2014/main" id="{C29052C5-184D-4FD8-9C86-D0377469D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Text Box 11">
              <a:extLst>
                <a:ext uri="{FF2B5EF4-FFF2-40B4-BE49-F238E27FC236}">
                  <a16:creationId xmlns:a16="http://schemas.microsoft.com/office/drawing/2014/main" id="{171C00CB-83AE-4DAC-B6F9-C8229613A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Text Box 10">
              <a:extLst>
                <a:ext uri="{FF2B5EF4-FFF2-40B4-BE49-F238E27FC236}">
                  <a16:creationId xmlns:a16="http://schemas.microsoft.com/office/drawing/2014/main" id="{C86F90E6-29BA-4DE8-8F07-A840617EB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Text Box 9">
              <a:extLst>
                <a:ext uri="{FF2B5EF4-FFF2-40B4-BE49-F238E27FC236}">
                  <a16:creationId xmlns:a16="http://schemas.microsoft.com/office/drawing/2014/main" id="{A753B5F4-0825-44BB-B332-64BD060B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Text Box 8">
              <a:extLst>
                <a:ext uri="{FF2B5EF4-FFF2-40B4-BE49-F238E27FC236}">
                  <a16:creationId xmlns:a16="http://schemas.microsoft.com/office/drawing/2014/main" id="{41673987-1ECE-4440-B8ED-E47BF95B0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Text Box 7">
              <a:extLst>
                <a:ext uri="{FF2B5EF4-FFF2-40B4-BE49-F238E27FC236}">
                  <a16:creationId xmlns:a16="http://schemas.microsoft.com/office/drawing/2014/main" id="{C8BDEF27-D46F-473C-9801-417013B88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Text Box 6">
              <a:extLst>
                <a:ext uri="{FF2B5EF4-FFF2-40B4-BE49-F238E27FC236}">
                  <a16:creationId xmlns:a16="http://schemas.microsoft.com/office/drawing/2014/main" id="{61E59AFA-06BB-4F7A-96D3-C598F10C2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Text Box 5">
              <a:extLst>
                <a:ext uri="{FF2B5EF4-FFF2-40B4-BE49-F238E27FC236}">
                  <a16:creationId xmlns:a16="http://schemas.microsoft.com/office/drawing/2014/main" id="{6EEA6038-83C1-41BB-A4A7-B1AAE0A1B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3" name="矩形 62">
            <a:extLst>
              <a:ext uri="{FF2B5EF4-FFF2-40B4-BE49-F238E27FC236}">
                <a16:creationId xmlns:a16="http://schemas.microsoft.com/office/drawing/2014/main" id="{D6749906-26CF-41CF-9FE7-DBB1708100ED}"/>
              </a:ext>
            </a:extLst>
          </p:cNvPr>
          <p:cNvSpPr/>
          <p:nvPr/>
        </p:nvSpPr>
        <p:spPr>
          <a:xfrm>
            <a:off x="5050457" y="1956331"/>
            <a:ext cx="1436154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求板心温度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3B2818D-CE06-486B-8722-887B1659D972}"/>
              </a:ext>
            </a:extLst>
          </p:cNvPr>
          <p:cNvSpPr/>
          <p:nvPr/>
        </p:nvSpPr>
        <p:spPr>
          <a:xfrm>
            <a:off x="5365352" y="3516331"/>
            <a:ext cx="1139590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求车流量</a:t>
            </a:r>
          </a:p>
        </p:txBody>
      </p:sp>
      <p:sp>
        <p:nvSpPr>
          <p:cNvPr id="65" name="波形 64">
            <a:extLst>
              <a:ext uri="{FF2B5EF4-FFF2-40B4-BE49-F238E27FC236}">
                <a16:creationId xmlns:a16="http://schemas.microsoft.com/office/drawing/2014/main" id="{E604F122-E8D6-4D5B-9218-4EC3FC93D1A6}"/>
              </a:ext>
            </a:extLst>
          </p:cNvPr>
          <p:cNvSpPr/>
          <p:nvPr/>
        </p:nvSpPr>
        <p:spPr>
          <a:xfrm>
            <a:off x="4457544" y="1966797"/>
            <a:ext cx="651265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波形 65">
            <a:extLst>
              <a:ext uri="{FF2B5EF4-FFF2-40B4-BE49-F238E27FC236}">
                <a16:creationId xmlns:a16="http://schemas.microsoft.com/office/drawing/2014/main" id="{91A72668-9BC0-4C56-AD1C-041ADFD2D261}"/>
              </a:ext>
            </a:extLst>
          </p:cNvPr>
          <p:cNvSpPr/>
          <p:nvPr/>
        </p:nvSpPr>
        <p:spPr>
          <a:xfrm>
            <a:off x="4774939" y="3507854"/>
            <a:ext cx="651265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例61-2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DAF9DED-3292-4237-BF17-280F555AACFC}"/>
              </a:ext>
            </a:extLst>
          </p:cNvPr>
          <p:cNvSpPr txBox="1"/>
          <p:nvPr/>
        </p:nvSpPr>
        <p:spPr>
          <a:xfrm>
            <a:off x="1290339" y="4235495"/>
            <a:ext cx="7685765" cy="3154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68580" tIns="34290" rIns="68580" bIns="34290" anchor="t">
            <a:spAutoFit/>
          </a:bodyPr>
          <a:lstStyle>
            <a:defPPr>
              <a:defRPr lang="zh-CN"/>
            </a:defPPr>
            <a:lvl1pPr defTabSz="685800" ea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 sz="1600" b="1" cap="none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dirty="0">
                <a:solidFill>
                  <a:srgbClr val="0070C0"/>
                </a:solidFill>
              </a:rPr>
              <a:t>例</a:t>
            </a:r>
            <a:r>
              <a:rPr lang="en-US" altLang="zh-CN" dirty="0">
                <a:solidFill>
                  <a:srgbClr val="0070C0"/>
                </a:solidFill>
              </a:rPr>
              <a:t>61-2</a:t>
            </a:r>
            <a:r>
              <a:rPr lang="zh-CN" altLang="en-US" dirty="0">
                <a:solidFill>
                  <a:srgbClr val="0070C0"/>
                </a:solidFill>
              </a:rPr>
              <a:t>方程</a:t>
            </a:r>
            <a:r>
              <a:rPr lang="en-US" altLang="zh-CN" dirty="0">
                <a:solidFill>
                  <a:srgbClr val="0070C0"/>
                </a:solidFill>
              </a:rPr>
              <a:t>,</a:t>
            </a:r>
            <a:r>
              <a:rPr lang="zh-CN" altLang="en-US" dirty="0">
                <a:solidFill>
                  <a:srgbClr val="0070C0"/>
                </a:solidFill>
              </a:rPr>
              <a:t>建立常数列向量，矩阵、求行列式、求逆和求根、秩、伪逆 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zh-CN" altLang="en-US" dirty="0">
                <a:solidFill>
                  <a:srgbClr val="0070C0"/>
                </a:solidFill>
              </a:rPr>
              <a:t>、条件数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68" name="波形 67">
            <a:extLst>
              <a:ext uri="{FF2B5EF4-FFF2-40B4-BE49-F238E27FC236}">
                <a16:creationId xmlns:a16="http://schemas.microsoft.com/office/drawing/2014/main" id="{1C95F510-4B59-4F3B-A424-27BFBCDFDE7F}"/>
              </a:ext>
            </a:extLst>
          </p:cNvPr>
          <p:cNvSpPr/>
          <p:nvPr/>
        </p:nvSpPr>
        <p:spPr>
          <a:xfrm>
            <a:off x="219844" y="4235211"/>
            <a:ext cx="921306" cy="29588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EBCAA66-3EF5-43CE-80F0-8960249811CF}"/>
              </a:ext>
            </a:extLst>
          </p:cNvPr>
          <p:cNvSpPr txBox="1"/>
          <p:nvPr/>
        </p:nvSpPr>
        <p:spPr>
          <a:xfrm>
            <a:off x="1217062" y="29541"/>
            <a:ext cx="7128792" cy="60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非奇异和奇异方程组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27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4D34B56-24A0-4653-B55A-24A557900B82}"/>
              </a:ext>
            </a:extLst>
          </p:cNvPr>
          <p:cNvSpPr/>
          <p:nvPr/>
        </p:nvSpPr>
        <p:spPr>
          <a:xfrm>
            <a:off x="1080771" y="680399"/>
            <a:ext cx="6392335" cy="3527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薄壁铁板热传导问题，该板周边温度已知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求板中心温度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3CB261-52DC-4F48-8DAD-1B8BD5E963C5}"/>
              </a:ext>
            </a:extLst>
          </p:cNvPr>
          <p:cNvSpPr/>
          <p:nvPr/>
        </p:nvSpPr>
        <p:spPr>
          <a:xfrm>
            <a:off x="3907628" y="1926580"/>
            <a:ext cx="2573020" cy="1077218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Ta=(10+20+Tb+Tc)/4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Tb=(20+40+Ta+Td)/4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Tc=(10+30+Ta+Td)/4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Td=(30+40+Tb+Tc)/4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65EA74-9283-4A81-A817-E3CE2DF7F2A1}"/>
              </a:ext>
            </a:extLst>
          </p:cNvPr>
          <p:cNvSpPr txBox="1"/>
          <p:nvPr/>
        </p:nvSpPr>
        <p:spPr>
          <a:xfrm>
            <a:off x="3967196" y="1194306"/>
            <a:ext cx="4556216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各点温度为其上下左右各点温度平均值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T,</a:t>
            </a:r>
          </a:p>
          <a:p>
            <a:pPr>
              <a:lnSpc>
                <a:spcPts val="25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个心部节点列出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个方程构成线性方程组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C3453CD-AE35-4940-8D97-6D21C6E129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4009" y="1997030"/>
          <a:ext cx="1972725" cy="853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r:id="rId4" imgW="68884800" imgH="21945600" progId="">
                  <p:embed/>
                </p:oleObj>
              </mc:Choice>
              <mc:Fallback>
                <p:oleObj r:id="rId4" imgW="68884800" imgH="21945600" progId="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C3453CD-AE35-4940-8D97-6D21C6E129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009" y="1997030"/>
                        <a:ext cx="1972725" cy="85395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40E59199-A3E7-4E20-B9EA-9D149C06E096}"/>
              </a:ext>
            </a:extLst>
          </p:cNvPr>
          <p:cNvSpPr txBox="1"/>
          <p:nvPr/>
        </p:nvSpPr>
        <p:spPr>
          <a:xfrm>
            <a:off x="6374223" y="758718"/>
            <a:ext cx="920521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热守恒</a:t>
            </a:r>
          </a:p>
        </p:txBody>
      </p:sp>
      <p:sp>
        <p:nvSpPr>
          <p:cNvPr id="26" name="波形 25">
            <a:extLst>
              <a:ext uri="{FF2B5EF4-FFF2-40B4-BE49-F238E27FC236}">
                <a16:creationId xmlns:a16="http://schemas.microsoft.com/office/drawing/2014/main" id="{244CD99D-0748-4F1A-82E0-8D03A81163EB}"/>
              </a:ext>
            </a:extLst>
          </p:cNvPr>
          <p:cNvSpPr/>
          <p:nvPr/>
        </p:nvSpPr>
        <p:spPr>
          <a:xfrm>
            <a:off x="326540" y="696652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6308A61-0210-422A-98CA-6D2BE4E01E40}"/>
              </a:ext>
            </a:extLst>
          </p:cNvPr>
          <p:cNvSpPr txBox="1"/>
          <p:nvPr/>
        </p:nvSpPr>
        <p:spPr>
          <a:xfrm>
            <a:off x="1365292" y="984364"/>
            <a:ext cx="5493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铁板均匀划分网格，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方向各等分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份，得到心部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A49AAFA-3D30-4FFF-9A27-2CFA94CA8B59}"/>
              </a:ext>
            </a:extLst>
          </p:cNvPr>
          <p:cNvSpPr/>
          <p:nvPr/>
        </p:nvSpPr>
        <p:spPr>
          <a:xfrm>
            <a:off x="2681227" y="22117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100433-1A5B-4C66-B9A0-A190C7260778}"/>
              </a:ext>
            </a:extLst>
          </p:cNvPr>
          <p:cNvSpPr/>
          <p:nvPr/>
        </p:nvSpPr>
        <p:spPr>
          <a:xfrm>
            <a:off x="3085234" y="159190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D941B6-02D7-4945-B39D-517C4F8D2461}"/>
              </a:ext>
            </a:extLst>
          </p:cNvPr>
          <p:cNvSpPr/>
          <p:nvPr/>
        </p:nvSpPr>
        <p:spPr>
          <a:xfrm>
            <a:off x="601663" y="175186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1793AA-783E-47C7-9711-BE3F5574CA23}"/>
              </a:ext>
            </a:extLst>
          </p:cNvPr>
          <p:cNvSpPr/>
          <p:nvPr/>
        </p:nvSpPr>
        <p:spPr>
          <a:xfrm>
            <a:off x="596583" y="231934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033228-869A-4614-81F6-9CE2681A7098}"/>
              </a:ext>
            </a:extLst>
          </p:cNvPr>
          <p:cNvSpPr/>
          <p:nvPr/>
        </p:nvSpPr>
        <p:spPr>
          <a:xfrm>
            <a:off x="1923438" y="151147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B9916C4-BDDE-49A2-82C2-82151C81EA45}"/>
              </a:ext>
            </a:extLst>
          </p:cNvPr>
          <p:cNvSpPr/>
          <p:nvPr/>
        </p:nvSpPr>
        <p:spPr>
          <a:xfrm>
            <a:off x="2378848" y="27624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82F7BCD-2639-44A4-9F9D-371AD2951881}"/>
              </a:ext>
            </a:extLst>
          </p:cNvPr>
          <p:cNvSpPr/>
          <p:nvPr/>
        </p:nvSpPr>
        <p:spPr>
          <a:xfrm>
            <a:off x="1440292" y="273966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194FD20B-653B-424D-BD8A-786763DF02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98" t="16351" r="63649" b="15834"/>
          <a:stretch/>
        </p:blipFill>
        <p:spPr>
          <a:xfrm>
            <a:off x="1050187" y="1334691"/>
            <a:ext cx="1991953" cy="1455366"/>
          </a:xfrm>
          <a:prstGeom prst="rect">
            <a:avLst/>
          </a:prstGeom>
        </p:spPr>
      </p:pic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1675F59-9183-40EF-B9BD-878D19CFC066}"/>
              </a:ext>
            </a:extLst>
          </p:cNvPr>
          <p:cNvCxnSpPr>
            <a:cxnSpLocks/>
            <a:stCxn id="40" idx="1"/>
          </p:cNvCxnSpPr>
          <p:nvPr/>
        </p:nvCxnSpPr>
        <p:spPr bwMode="auto">
          <a:xfrm flipH="1" flipV="1">
            <a:off x="1015660" y="1756964"/>
            <a:ext cx="2069574" cy="4222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4DCEB09-F844-4C30-9672-46136550422F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0187" y="2499946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4B6E6D7-4295-46FF-B0FD-0FA9F2F9898C}"/>
              </a:ext>
            </a:extLst>
          </p:cNvPr>
          <p:cNvCxnSpPr>
            <a:cxnSpLocks/>
          </p:cNvCxnSpPr>
          <p:nvPr/>
        </p:nvCxnSpPr>
        <p:spPr bwMode="auto">
          <a:xfrm>
            <a:off x="1641289" y="1347614"/>
            <a:ext cx="0" cy="1414796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EB9656D-3E70-4FD9-8D39-F80BDB29EDC9}"/>
              </a:ext>
            </a:extLst>
          </p:cNvPr>
          <p:cNvCxnSpPr>
            <a:cxnSpLocks/>
          </p:cNvCxnSpPr>
          <p:nvPr/>
        </p:nvCxnSpPr>
        <p:spPr bwMode="auto">
          <a:xfrm>
            <a:off x="2497676" y="1292141"/>
            <a:ext cx="27695" cy="1470269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0C1750E0-4333-44FC-ABE7-731D71C2BFB5}"/>
              </a:ext>
            </a:extLst>
          </p:cNvPr>
          <p:cNvSpPr/>
          <p:nvPr/>
        </p:nvSpPr>
        <p:spPr>
          <a:xfrm>
            <a:off x="2345949" y="2250073"/>
            <a:ext cx="33274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CCBB4C3-E944-4999-92DC-94ACBB8E7B1D}"/>
              </a:ext>
            </a:extLst>
          </p:cNvPr>
          <p:cNvSpPr/>
          <p:nvPr/>
        </p:nvSpPr>
        <p:spPr>
          <a:xfrm>
            <a:off x="3068961" y="2175949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55AB0F0-6414-435B-BBC6-6258AF94A65A}"/>
              </a:ext>
            </a:extLst>
          </p:cNvPr>
          <p:cNvSpPr/>
          <p:nvPr/>
        </p:nvSpPr>
        <p:spPr>
          <a:xfrm>
            <a:off x="1419772" y="2293785"/>
            <a:ext cx="33274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45D9096-AA15-48DE-ABD5-7C616B5C0A56}"/>
              </a:ext>
            </a:extLst>
          </p:cNvPr>
          <p:cNvSpPr/>
          <p:nvPr/>
        </p:nvSpPr>
        <p:spPr>
          <a:xfrm>
            <a:off x="1467371" y="1581653"/>
            <a:ext cx="33274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EC32578-51EA-4CA7-B2F5-3DA9F80D9576}"/>
              </a:ext>
            </a:extLst>
          </p:cNvPr>
          <p:cNvSpPr/>
          <p:nvPr/>
        </p:nvSpPr>
        <p:spPr>
          <a:xfrm>
            <a:off x="2365503" y="1609355"/>
            <a:ext cx="33274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B9E3C95-B03C-41D8-A09C-C61F3567CA13}"/>
              </a:ext>
            </a:extLst>
          </p:cNvPr>
          <p:cNvSpPr/>
          <p:nvPr/>
        </p:nvSpPr>
        <p:spPr>
          <a:xfrm>
            <a:off x="1460679" y="119430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691E8CB-A214-45B6-8DDD-DAF764CDCD7B}"/>
              </a:ext>
            </a:extLst>
          </p:cNvPr>
          <p:cNvSpPr/>
          <p:nvPr/>
        </p:nvSpPr>
        <p:spPr>
          <a:xfrm>
            <a:off x="2327454" y="1187983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2E08D37-676D-4F8F-B067-4A43ED8CE87B}"/>
              </a:ext>
            </a:extLst>
          </p:cNvPr>
          <p:cNvSpPr txBox="1"/>
          <p:nvPr/>
        </p:nvSpPr>
        <p:spPr>
          <a:xfrm>
            <a:off x="1014933" y="2979152"/>
            <a:ext cx="7429199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>
              <a:lnSpc>
                <a:spcPts val="2200"/>
              </a:lnSpc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某城市单行线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车流量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，图中标明每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段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每小时按箭头方向行驶车流量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辆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). </a:t>
            </a:r>
            <a:endParaRPr lang="zh-CN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9" name="Group 4">
            <a:extLst>
              <a:ext uri="{FF2B5EF4-FFF2-40B4-BE49-F238E27FC236}">
                <a16:creationId xmlns:a16="http://schemas.microsoft.com/office/drawing/2014/main" id="{AA972CDB-C906-4848-B6C3-2F65031E2D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7534" y="3061227"/>
            <a:ext cx="2640330" cy="1981200"/>
            <a:chOff x="3879" y="2063"/>
            <a:chExt cx="4159" cy="3120"/>
          </a:xfrm>
        </p:grpSpPr>
        <p:sp>
          <p:nvSpPr>
            <p:cNvPr id="80" name="AutoShape 29">
              <a:extLst>
                <a:ext uri="{FF2B5EF4-FFF2-40B4-BE49-F238E27FC236}">
                  <a16:creationId xmlns:a16="http://schemas.microsoft.com/office/drawing/2014/main" id="{EF76C730-0A39-4951-BDB4-4FE4E2D363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Text Box 28">
              <a:extLst>
                <a:ext uri="{FF2B5EF4-FFF2-40B4-BE49-F238E27FC236}">
                  <a16:creationId xmlns:a16="http://schemas.microsoft.com/office/drawing/2014/main" id="{3C92FB6A-C383-4943-B77A-821697BB4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Oval 27">
              <a:extLst>
                <a:ext uri="{FF2B5EF4-FFF2-40B4-BE49-F238E27FC236}">
                  <a16:creationId xmlns:a16="http://schemas.microsoft.com/office/drawing/2014/main" id="{7E85BA1D-3267-4360-9A48-5CDDE7CFF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83" name="Oval 26">
              <a:extLst>
                <a:ext uri="{FF2B5EF4-FFF2-40B4-BE49-F238E27FC236}">
                  <a16:creationId xmlns:a16="http://schemas.microsoft.com/office/drawing/2014/main" id="{4906572B-2EB6-401B-9677-DD754612F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4" name="Oval 25">
              <a:extLst>
                <a:ext uri="{FF2B5EF4-FFF2-40B4-BE49-F238E27FC236}">
                  <a16:creationId xmlns:a16="http://schemas.microsoft.com/office/drawing/2014/main" id="{0AF5407E-1C7E-46E7-81ED-F0360C565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5" name="Oval 24">
              <a:extLst>
                <a:ext uri="{FF2B5EF4-FFF2-40B4-BE49-F238E27FC236}">
                  <a16:creationId xmlns:a16="http://schemas.microsoft.com/office/drawing/2014/main" id="{8453B1E8-4B37-4E65-A5BB-ACDA9351C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162984A9-A26E-4238-BC32-FCEB12C64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D031B166-FE16-4D80-A132-D5FE8F63B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20A6D8E5-EB49-42D2-B2E2-50D7AA13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3AE8826B-62CA-44D3-A0A3-B14CF667E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C9A375E0-564C-485C-BE74-F42B092C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1B5D9C89-E6BA-4C72-9B2D-85069C032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265AF5D3-5BF6-4147-B3FA-86FDCA52E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A945B3A9-F194-452D-B0E8-5C794BBF9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BBF4DBEA-087D-4A51-8135-B3E6E6278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EAE51B68-AC0B-4568-9255-C012879F4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Text Box 13">
              <a:extLst>
                <a:ext uri="{FF2B5EF4-FFF2-40B4-BE49-F238E27FC236}">
                  <a16:creationId xmlns:a16="http://schemas.microsoft.com/office/drawing/2014/main" id="{2E88E38F-4627-4109-9678-37186C56A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Text Box 12">
              <a:extLst>
                <a:ext uri="{FF2B5EF4-FFF2-40B4-BE49-F238E27FC236}">
                  <a16:creationId xmlns:a16="http://schemas.microsoft.com/office/drawing/2014/main" id="{27DB02C9-8EBF-476D-A48E-A46FF3991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Text Box 11">
              <a:extLst>
                <a:ext uri="{FF2B5EF4-FFF2-40B4-BE49-F238E27FC236}">
                  <a16:creationId xmlns:a16="http://schemas.microsoft.com/office/drawing/2014/main" id="{E72898AB-76F0-477F-875D-8C2F5800F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Text Box 10">
              <a:extLst>
                <a:ext uri="{FF2B5EF4-FFF2-40B4-BE49-F238E27FC236}">
                  <a16:creationId xmlns:a16="http://schemas.microsoft.com/office/drawing/2014/main" id="{B19E3D82-BC75-44D2-9E30-5D7FC2060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Text Box 9">
              <a:extLst>
                <a:ext uri="{FF2B5EF4-FFF2-40B4-BE49-F238E27FC236}">
                  <a16:creationId xmlns:a16="http://schemas.microsoft.com/office/drawing/2014/main" id="{4C98BF3C-CC11-4C3B-92C3-DEDF3540D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Text Box 8">
              <a:extLst>
                <a:ext uri="{FF2B5EF4-FFF2-40B4-BE49-F238E27FC236}">
                  <a16:creationId xmlns:a16="http://schemas.microsoft.com/office/drawing/2014/main" id="{99C8A54F-30CB-4ADF-AEE1-B64B9878B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51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1" i="0" u="none" strike="noStrike" cap="none" normalizeH="0" baseline="-3000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02" name="Text Box 7">
              <a:extLst>
                <a:ext uri="{FF2B5EF4-FFF2-40B4-BE49-F238E27FC236}">
                  <a16:creationId xmlns:a16="http://schemas.microsoft.com/office/drawing/2014/main" id="{D7280436-2F37-4484-992D-7B5C09AA5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57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/>
                <a:t>x2</a:t>
              </a:r>
            </a:p>
          </p:txBody>
        </p:sp>
        <p:sp>
          <p:nvSpPr>
            <p:cNvPr id="103" name="Text Box 6">
              <a:extLst>
                <a:ext uri="{FF2B5EF4-FFF2-40B4-BE49-F238E27FC236}">
                  <a16:creationId xmlns:a16="http://schemas.microsoft.com/office/drawing/2014/main" id="{91DC27DD-E777-41A7-8324-C3BF5309E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57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i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x3</a:t>
              </a:r>
            </a:p>
          </p:txBody>
        </p:sp>
        <p:sp>
          <p:nvSpPr>
            <p:cNvPr id="104" name="Text Box 5">
              <a:extLst>
                <a:ext uri="{FF2B5EF4-FFF2-40B4-BE49-F238E27FC236}">
                  <a16:creationId xmlns:a16="http://schemas.microsoft.com/office/drawing/2014/main" id="{63450814-914E-4B02-8347-1C9BCA6FD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6" y="3389"/>
              <a:ext cx="57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4F818D-36E6-45F2-BE4F-4E834111EEF3}"/>
                  </a:ext>
                </a:extLst>
              </p:cNvPr>
              <p:cNvSpPr txBox="1"/>
              <p:nvPr/>
            </p:nvSpPr>
            <p:spPr>
              <a:xfrm>
                <a:off x="4903125" y="3760829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i="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+ 300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100 + 200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4F818D-36E6-45F2-BE4F-4E834111E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125" y="3760829"/>
                <a:ext cx="2171353" cy="733534"/>
              </a:xfrm>
              <a:prstGeom prst="rect">
                <a:avLst/>
              </a:prstGeom>
              <a:blipFill>
                <a:blip r:embed="rId7"/>
                <a:stretch>
                  <a:fillRect t="-2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本框 105">
            <a:extLst>
              <a:ext uri="{FF2B5EF4-FFF2-40B4-BE49-F238E27FC236}">
                <a16:creationId xmlns:a16="http://schemas.microsoft.com/office/drawing/2014/main" id="{7790B52E-E6E8-401D-A69F-C62F04F2ED0B}"/>
              </a:ext>
            </a:extLst>
          </p:cNvPr>
          <p:cNvSpPr txBox="1"/>
          <p:nvPr/>
        </p:nvSpPr>
        <p:spPr>
          <a:xfrm>
            <a:off x="3388136" y="3350952"/>
            <a:ext cx="1491049" cy="124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④四个路口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lnSpc>
                <a:spcPts val="2300"/>
              </a:lnSpc>
            </a:pPr>
            <a:r>
              <a:rPr lang="zh-CN" altLang="en-US" sz="1600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驶入车辆数等于驶出车辆数</a:t>
            </a:r>
            <a:endParaRPr lang="zh-CN" altLang="zh-CN" sz="1600" kern="1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波形 106">
            <a:extLst>
              <a:ext uri="{FF2B5EF4-FFF2-40B4-BE49-F238E27FC236}">
                <a16:creationId xmlns:a16="http://schemas.microsoft.com/office/drawing/2014/main" id="{BCD1F36F-BC51-4B7B-9181-78F0AE89150E}"/>
              </a:ext>
            </a:extLst>
          </p:cNvPr>
          <p:cNvSpPr/>
          <p:nvPr/>
        </p:nvSpPr>
        <p:spPr>
          <a:xfrm>
            <a:off x="259549" y="3020898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9B40265-4B84-4C24-957C-494590BA7C75}"/>
              </a:ext>
            </a:extLst>
          </p:cNvPr>
          <p:cNvSpPr txBox="1"/>
          <p:nvPr/>
        </p:nvSpPr>
        <p:spPr>
          <a:xfrm>
            <a:off x="8053203" y="2990533"/>
            <a:ext cx="1055301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数量守恒</a:t>
            </a:r>
          </a:p>
        </p:txBody>
      </p:sp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534B14CF-2882-4D59-A1FC-1235197FC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4887" y="3451225"/>
          <a:ext cx="183038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r:id="rId8" imgW="1549400" imgH="939800" progId="Equation.DSMT4">
                  <p:embed/>
                </p:oleObj>
              </mc:Choice>
              <mc:Fallback>
                <p:oleObj r:id="rId8" imgW="1549400" imgH="93980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534B14CF-2882-4D59-A1FC-1235197FC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4887" y="3451225"/>
                        <a:ext cx="1830387" cy="11096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909C35F6-9DDC-4012-8D46-CEC69A2C8DD0}"/>
              </a:ext>
            </a:extLst>
          </p:cNvPr>
          <p:cNvSpPr/>
          <p:nvPr/>
        </p:nvSpPr>
        <p:spPr>
          <a:xfrm>
            <a:off x="7951433" y="676636"/>
            <a:ext cx="1055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个变量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21729FE-8F33-4151-BBD9-7901A28733C5}"/>
              </a:ext>
            </a:extLst>
          </p:cNvPr>
          <p:cNvSpPr/>
          <p:nvPr/>
        </p:nvSpPr>
        <p:spPr>
          <a:xfrm>
            <a:off x="7945813" y="1034095"/>
            <a:ext cx="1053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个方程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F720E19-1A84-47B7-957F-37D0D382E920}"/>
              </a:ext>
            </a:extLst>
          </p:cNvPr>
          <p:cNvSpPr txBox="1"/>
          <p:nvPr/>
        </p:nvSpPr>
        <p:spPr>
          <a:xfrm>
            <a:off x="1217062" y="29541"/>
            <a:ext cx="7128792" cy="60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32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非奇异和奇异方程组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64" name="波形 63">
            <a:extLst>
              <a:ext uri="{FF2B5EF4-FFF2-40B4-BE49-F238E27FC236}">
                <a16:creationId xmlns:a16="http://schemas.microsoft.com/office/drawing/2014/main" id="{20EF08B6-B08C-42FE-9F7A-66664D1A2953}"/>
              </a:ext>
            </a:extLst>
          </p:cNvPr>
          <p:cNvSpPr/>
          <p:nvPr/>
        </p:nvSpPr>
        <p:spPr>
          <a:xfrm>
            <a:off x="5087949" y="3321281"/>
            <a:ext cx="822127" cy="2776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252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089" name="Picture 1" descr="C:\Users\ai\AppData\Roaming\Tencent\Users\910987637\QQ\WinTemp\RichOle\%__E994O20A9M5B6FN[~T$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5" y="690651"/>
            <a:ext cx="1960545" cy="11756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45090" name="Picture 2" descr="C:\Users\ai\AppData\Roaming\Tencent\Users\910987637\QQ\WinTemp\RichOle\4T~7PSO%CMKL0LBL~](_[ZV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4" y="1908285"/>
            <a:ext cx="1960546" cy="115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091" name="Picture 3" descr="C:\Users\ai\AppData\Roaming\Tencent\Users\910987637\QQ\WinTemp\RichOle\YUH~J~@AUC4OM]QHU{APEX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161" y="713294"/>
            <a:ext cx="3096860" cy="4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069993" y="2083893"/>
                <a:ext cx="5263286" cy="469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3200"/>
                  </a:lnSpc>
                  <a:buFont typeface="+mj-ea"/>
                  <a:buAutoNum type="circleNumDbPlain"/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det(A)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 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，为</a:t>
                </a:r>
                <a:r>
                  <a:rPr lang="zh-CN" altLang="en-US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非奇异矩阵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唯一解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993" y="2083893"/>
                <a:ext cx="5263286" cy="469872"/>
              </a:xfrm>
              <a:prstGeom prst="rect">
                <a:avLst/>
              </a:prstGeom>
              <a:blipFill>
                <a:blip r:embed="rId6"/>
                <a:stretch>
                  <a:fillRect l="-1043" b="-23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2054942" y="2567200"/>
            <a:ext cx="7055475" cy="41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Font typeface="+mj-ea"/>
              <a:buAutoNum type="circleNumDbPlain" startAt="2"/>
            </a:pP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det(A)=0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或接近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，为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奇异矩阵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，无解或解不唯一；为病态</a:t>
            </a:r>
            <a:endParaRPr lang="en-US" altLang="zh-CN" sz="20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76116" y="1678375"/>
            <a:ext cx="27729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方矩阵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行列式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FF681-7EC6-B984-E3F0-18EE4C45CFA4}"/>
              </a:ext>
            </a:extLst>
          </p:cNvPr>
          <p:cNvSpPr/>
          <p:nvPr/>
        </p:nvSpPr>
        <p:spPr>
          <a:xfrm>
            <a:off x="2045767" y="710460"/>
            <a:ext cx="378440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克莱姆法则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Crammer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解线性方程组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DAB591-2206-4CA0-91D3-EEFEA936DEAC}"/>
              </a:ext>
            </a:extLst>
          </p:cNvPr>
          <p:cNvSpPr txBox="1"/>
          <p:nvPr/>
        </p:nvSpPr>
        <p:spPr>
          <a:xfrm>
            <a:off x="1237835" y="82280"/>
            <a:ext cx="698841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方阵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和逆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4" name="矩形 13"/>
          <p:cNvSpPr/>
          <p:nvPr/>
        </p:nvSpPr>
        <p:spPr>
          <a:xfrm>
            <a:off x="3882689" y="1695002"/>
            <a:ext cx="84935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B1175A-21CE-43FC-A6C3-52802953D739}"/>
              </a:ext>
            </a:extLst>
          </p:cNvPr>
          <p:cNvSpPr txBox="1"/>
          <p:nvPr/>
        </p:nvSpPr>
        <p:spPr>
          <a:xfrm>
            <a:off x="1949875" y="1163528"/>
            <a:ext cx="6798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 求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阶方程组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乘法和加法总运算次数：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(n+1)⋅n!+n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8542555D-66DD-4282-B76A-A01E077E4ECF}"/>
              </a:ext>
            </a:extLst>
          </p:cNvPr>
          <p:cNvSpPr txBox="1"/>
          <p:nvPr/>
        </p:nvSpPr>
        <p:spPr>
          <a:xfrm>
            <a:off x="104340" y="3637979"/>
            <a:ext cx="147003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方矩阵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</a:t>
            </a:r>
            <a:r>
              <a:rPr lang="zh-CN" altLang="en-US" sz="1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6D6ACAB-8849-4386-BC35-08BE5590702C}"/>
              </a:ext>
            </a:extLst>
          </p:cNvPr>
          <p:cNvSpPr/>
          <p:nvPr/>
        </p:nvSpPr>
        <p:spPr>
          <a:xfrm>
            <a:off x="1463751" y="3611506"/>
            <a:ext cx="116403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B=inv(A) 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1F9D44-CABB-4A4F-AD42-C3E74F4584A9}"/>
              </a:ext>
            </a:extLst>
          </p:cNvPr>
          <p:cNvSpPr/>
          <p:nvPr/>
        </p:nvSpPr>
        <p:spPr>
          <a:xfrm>
            <a:off x="58579" y="3180174"/>
            <a:ext cx="587197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非奇异方阵才可逆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A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B=B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A=E (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单位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互为逆矩阵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FB540A7F-F8EE-4084-8E96-6025E3E91A49}"/>
              </a:ext>
            </a:extLst>
          </p:cNvPr>
          <p:cNvSpPr txBox="1"/>
          <p:nvPr/>
        </p:nvSpPr>
        <p:spPr>
          <a:xfrm>
            <a:off x="104340" y="4159981"/>
            <a:ext cx="347295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方阵逆乘求解</a:t>
            </a:r>
            <a:r>
              <a:rPr lang="en-US" altLang="zh-CN" sz="1600" dirty="0"/>
              <a:t>Ax=b</a:t>
            </a:r>
            <a:r>
              <a:rPr lang="zh-CN" altLang="en-US" sz="1600" dirty="0"/>
              <a:t>线性方程组：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B97B87-C61D-4173-A67F-55EE78469FA7}"/>
              </a:ext>
            </a:extLst>
          </p:cNvPr>
          <p:cNvSpPr/>
          <p:nvPr/>
        </p:nvSpPr>
        <p:spPr>
          <a:xfrm>
            <a:off x="2627784" y="3619403"/>
            <a:ext cx="293687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Ax=b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:A</a:t>
            </a:r>
            <a:r>
              <a:rPr lang="en-US" altLang="zh-CN" sz="16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 A</a:t>
            </a:r>
            <a:r>
              <a:rPr lang="en-US" altLang="zh-CN" sz="16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73977777-EA9A-4115-9AF2-E44BB7DD3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02252"/>
              </p:ext>
            </p:extLst>
          </p:nvPr>
        </p:nvGraphicFramePr>
        <p:xfrm>
          <a:off x="5778915" y="3331181"/>
          <a:ext cx="3312505" cy="1184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8562">
                  <a:extLst>
                    <a:ext uri="{9D8B030D-6E8A-4147-A177-3AD203B41FA5}">
                      <a16:colId xmlns:a16="http://schemas.microsoft.com/office/drawing/2014/main" val="501788192"/>
                    </a:ext>
                  </a:extLst>
                </a:gridCol>
                <a:gridCol w="1167583">
                  <a:extLst>
                    <a:ext uri="{9D8B030D-6E8A-4147-A177-3AD203B41FA5}">
                      <a16:colId xmlns:a16="http://schemas.microsoft.com/office/drawing/2014/main" val="1859412248"/>
                    </a:ext>
                  </a:extLst>
                </a:gridCol>
                <a:gridCol w="1136360">
                  <a:extLst>
                    <a:ext uri="{9D8B030D-6E8A-4147-A177-3AD203B41FA5}">
                      <a16:colId xmlns:a16="http://schemas.microsoft.com/office/drawing/2014/main" val="4237169550"/>
                    </a:ext>
                  </a:extLst>
                </a:gridCol>
              </a:tblGrid>
              <a:tr h="241596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en-US" sz="800" kern="0" dirty="0">
                          <a:effectLst/>
                        </a:rPr>
                        <a:t>‌</a:t>
                      </a:r>
                      <a:r>
                        <a:rPr lang="zh-CN" sz="800" kern="0" dirty="0">
                          <a:effectLst/>
                        </a:rPr>
                        <a:t>性质</a:t>
                      </a:r>
                      <a:r>
                        <a:rPr lang="en-US" sz="800" kern="0" dirty="0">
                          <a:effectLst/>
                        </a:rPr>
                        <a:t>‌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7175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effectLst/>
                        </a:rPr>
                        <a:t>非奇异</a:t>
                      </a:r>
                      <a:r>
                        <a:rPr lang="zh-CN" altLang="zh-CN" sz="800" kern="0" dirty="0">
                          <a:effectLst/>
                        </a:rPr>
                        <a:t>方程组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7175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effectLst/>
                        </a:rPr>
                        <a:t>奇异方程组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71755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951669"/>
                  </a:ext>
                </a:extLst>
              </a:tr>
              <a:tr h="266721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effectLst/>
                        </a:rPr>
                        <a:t>矩阵可逆性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可逆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不可逆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50147"/>
                  </a:ext>
                </a:extLst>
              </a:tr>
              <a:tr h="266721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effectLst/>
                        </a:rPr>
                        <a:t>解唯一性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唯一解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无穷解或无解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73178"/>
                  </a:ext>
                </a:extLst>
              </a:tr>
              <a:tr h="266721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effectLst/>
                        </a:rPr>
                        <a:t>方程数</a:t>
                      </a:r>
                      <a:endParaRPr lang="zh-CN" sz="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方程数</a:t>
                      </a:r>
                      <a:r>
                        <a:rPr lang="en-US" sz="800" kern="0" dirty="0">
                          <a:solidFill>
                            <a:schemeClr val="bg1"/>
                          </a:solidFill>
                          <a:effectLst/>
                        </a:rPr>
                        <a:t>=</a:t>
                      </a: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未知数数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方程数</a:t>
                      </a:r>
                      <a:r>
                        <a:rPr lang="en-US" sz="800" kern="0" dirty="0">
                          <a:solidFill>
                            <a:schemeClr val="bg1"/>
                          </a:solidFill>
                          <a:effectLst/>
                        </a:rPr>
                        <a:t>=</a:t>
                      </a:r>
                      <a:r>
                        <a:rPr lang="zh-CN" sz="800" kern="0" dirty="0">
                          <a:solidFill>
                            <a:schemeClr val="bg1"/>
                          </a:solidFill>
                          <a:effectLst/>
                        </a:rPr>
                        <a:t>未知数数</a:t>
                      </a:r>
                      <a:endParaRPr lang="zh-CN" sz="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100330" marB="10033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2384"/>
                  </a:ext>
                </a:extLst>
              </a:tr>
            </a:tbl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D25C74E3-692C-4D7E-B505-47A98AD0E154}"/>
              </a:ext>
            </a:extLst>
          </p:cNvPr>
          <p:cNvSpPr/>
          <p:nvPr/>
        </p:nvSpPr>
        <p:spPr>
          <a:xfrm>
            <a:off x="3138493" y="4094486"/>
            <a:ext cx="208157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x=A</a:t>
            </a:r>
            <a:r>
              <a:rPr lang="en-US" altLang="zh-CN" sz="1600" b="1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b=inv(A)*b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392E59-FD32-4A4E-85E6-9F541965FD0F}"/>
              </a:ext>
            </a:extLst>
          </p:cNvPr>
          <p:cNvSpPr/>
          <p:nvPr/>
        </p:nvSpPr>
        <p:spPr>
          <a:xfrm>
            <a:off x="6228055" y="2992627"/>
            <a:ext cx="259228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奇异和非奇异方程组区别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74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5" grpId="0" animBg="1"/>
      <p:bldP spid="14" grpId="0" animBg="1"/>
      <p:bldP spid="22" grpId="0"/>
      <p:bldP spid="23" grpId="0" animBg="1"/>
      <p:bldP spid="29" grpId="0" animBg="1"/>
      <p:bldP spid="30" grpId="0" animBg="1"/>
      <p:bldP spid="33" grpId="0" animBg="1"/>
      <p:bldP spid="35" grpId="0" animBg="1"/>
      <p:bldP spid="32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CE99E37-32C0-4DD5-917D-7C1310C55F6E}"/>
              </a:ext>
            </a:extLst>
          </p:cNvPr>
          <p:cNvSpPr/>
          <p:nvPr/>
        </p:nvSpPr>
        <p:spPr>
          <a:xfrm>
            <a:off x="134499" y="2325162"/>
            <a:ext cx="19287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伪逆矩阵：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95BA7E-4D94-48FD-AB07-DB97B6A85AE1}"/>
              </a:ext>
            </a:extLst>
          </p:cNvPr>
          <p:cNvSpPr/>
          <p:nvPr/>
        </p:nvSpPr>
        <p:spPr>
          <a:xfrm>
            <a:off x="112721" y="840851"/>
            <a:ext cx="277433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伪逆函数格式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en-US" altLang="zh-CN" sz="20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E962D3-7A2C-44E9-A35F-D04B74A76AAD}"/>
              </a:ext>
            </a:extLst>
          </p:cNvPr>
          <p:cNvSpPr/>
          <p:nvPr/>
        </p:nvSpPr>
        <p:spPr>
          <a:xfrm>
            <a:off x="1835696" y="2330208"/>
            <a:ext cx="4695239" cy="41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A*B*A=A,B*A*B=B 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伪逆矩阵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B0D133-5E72-48F7-A47C-CDB206804FE3}"/>
              </a:ext>
            </a:extLst>
          </p:cNvPr>
          <p:cNvSpPr/>
          <p:nvPr/>
        </p:nvSpPr>
        <p:spPr>
          <a:xfrm>
            <a:off x="2410005" y="785922"/>
            <a:ext cx="95410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pinv(A)</a:t>
            </a:r>
            <a:endParaRPr lang="zh-CN" altLang="en-US" sz="20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84A1BA-15F0-4D0E-B2AA-C4009452F68A}"/>
              </a:ext>
            </a:extLst>
          </p:cNvPr>
          <p:cNvSpPr/>
          <p:nvPr/>
        </p:nvSpPr>
        <p:spPr>
          <a:xfrm>
            <a:off x="1562007" y="1839286"/>
            <a:ext cx="73304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逆矩阵广义形式。在求解严重病态矩阵时可避免“伪解”的产生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D34EC2-79E4-46B4-947E-047350EBBCF0}"/>
              </a:ext>
            </a:extLst>
          </p:cNvPr>
          <p:cNvSpPr/>
          <p:nvPr/>
        </p:nvSpPr>
        <p:spPr>
          <a:xfrm>
            <a:off x="134498" y="1804170"/>
            <a:ext cx="1415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34EEE06-019A-41DD-A185-96199D1CA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98" y="1307807"/>
            <a:ext cx="244169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 marL="457200" indent="-457200">
              <a:buFont typeface="Wingdings" panose="05000000000000000000" pitchFamily="2" charset="2"/>
              <a:buChar char="p"/>
              <a:defRPr sz="28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zh-CN" altLang="en-US" sz="2000" dirty="0"/>
              <a:t>伪逆存在条件：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EB069F-DAF7-420D-B873-D09AC1079516}"/>
              </a:ext>
            </a:extLst>
          </p:cNvPr>
          <p:cNvSpPr/>
          <p:nvPr/>
        </p:nvSpPr>
        <p:spPr>
          <a:xfrm>
            <a:off x="2339752" y="1227266"/>
            <a:ext cx="5579596" cy="480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奇异矩阵（非满秩的方阵）；长方形矩阵 </a:t>
            </a:r>
            <a:endParaRPr lang="en-US" altLang="zh-CN" sz="2000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A6A737-DA5E-46C3-ADCB-FDDF06BEB9F1}"/>
              </a:ext>
            </a:extLst>
          </p:cNvPr>
          <p:cNvSpPr txBox="1"/>
          <p:nvPr/>
        </p:nvSpPr>
        <p:spPr>
          <a:xfrm>
            <a:off x="141929" y="2849179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buFont typeface="Wingdings" panose="05000000000000000000" pitchFamily="2" charset="2"/>
              <a:buChar char="p"/>
              <a:defRPr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000" dirty="0">
                <a:solidFill>
                  <a:srgbClr val="00B0F0"/>
                </a:solidFill>
              </a:rPr>
              <a:t>pinv(A</a:t>
            </a:r>
            <a:r>
              <a:rPr lang="zh-CN" altLang="en-US" sz="2000" dirty="0">
                <a:solidFill>
                  <a:srgbClr val="00B0F0"/>
                </a:solidFill>
              </a:rPr>
              <a:t>）只是一种成本比较高的计算 </a:t>
            </a:r>
            <a:r>
              <a:rPr lang="en-US" altLang="zh-CN" sz="2000" dirty="0">
                <a:solidFill>
                  <a:srgbClr val="00B0F0"/>
                </a:solidFill>
              </a:rPr>
              <a:t>inv</a:t>
            </a:r>
            <a:r>
              <a:rPr lang="zh-CN" altLang="en-US" sz="2000" dirty="0">
                <a:solidFill>
                  <a:srgbClr val="00B0F0"/>
                </a:solidFill>
              </a:rPr>
              <a:t>（</a:t>
            </a:r>
            <a:r>
              <a:rPr lang="en-US" altLang="zh-CN" sz="2000" dirty="0">
                <a:solidFill>
                  <a:srgbClr val="00B0F0"/>
                </a:solidFill>
              </a:rPr>
              <a:t>A</a:t>
            </a:r>
            <a:r>
              <a:rPr lang="zh-CN" altLang="en-US" sz="2000" dirty="0">
                <a:solidFill>
                  <a:srgbClr val="00B0F0"/>
                </a:solidFill>
              </a:rPr>
              <a:t>）的方式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FAE692-A13C-4F18-8F0E-173CB6EFE642}"/>
              </a:ext>
            </a:extLst>
          </p:cNvPr>
          <p:cNvSpPr txBox="1"/>
          <p:nvPr/>
        </p:nvSpPr>
        <p:spPr>
          <a:xfrm>
            <a:off x="3407690" y="759719"/>
            <a:ext cx="5265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 </a:t>
            </a:r>
            <a:r>
              <a:rPr lang="zh-CN" altLang="en-US" sz="2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US" sz="2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奇异值分解</a:t>
            </a:r>
            <a:r>
              <a:rPr lang="en-US" altLang="zh-CN" sz="22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svd</a:t>
            </a:r>
            <a:r>
              <a:rPr lang="en-US" altLang="zh-CN" sz="2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</a:t>
            </a:r>
            <a:r>
              <a:rPr lang="zh-CN" altLang="en-US" sz="2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2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en-US" altLang="zh-CN" sz="2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22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伪逆</a:t>
            </a:r>
            <a:endParaRPr lang="zh-CN" altLang="en-US" sz="2200" dirty="0">
              <a:solidFill>
                <a:srgbClr val="00B0F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AD9B68-30D2-4CA3-ABB2-3AB31CE1DB0C}"/>
              </a:ext>
            </a:extLst>
          </p:cNvPr>
          <p:cNvSpPr txBox="1"/>
          <p:nvPr/>
        </p:nvSpPr>
        <p:spPr>
          <a:xfrm>
            <a:off x="1355345" y="133487"/>
            <a:ext cx="681942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</a:t>
            </a:r>
            <a:r>
              <a:rPr lang="en-US" altLang="zh-CN" sz="2800" b="1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和秩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3">
            <a:extLst>
              <a:ext uri="{FF2B5EF4-FFF2-40B4-BE49-F238E27FC236}">
                <a16:creationId xmlns:a16="http://schemas.microsoft.com/office/drawing/2014/main" id="{62F9CEB6-D69C-45C7-A19D-550740AEE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75" y="3291830"/>
            <a:ext cx="7497967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秩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表示矩阵中‌线性无关‌的行（或列）的最大数量</a:t>
            </a:r>
            <a:endParaRPr lang="en-US" altLang="zh-CN" sz="20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3A36E1-B294-4193-ACAB-3FC55A42577C}"/>
              </a:ext>
            </a:extLst>
          </p:cNvPr>
          <p:cNvSpPr/>
          <p:nvPr/>
        </p:nvSpPr>
        <p:spPr>
          <a:xfrm>
            <a:off x="6256201" y="3291567"/>
            <a:ext cx="1392036" cy="3760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ts val="25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rank(A)</a:t>
            </a:r>
            <a:endParaRPr lang="zh-CN" altLang="en-US" sz="20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37E2A6-BFA4-4395-86EA-5C91F7E694C5}"/>
              </a:ext>
            </a:extLst>
          </p:cNvPr>
          <p:cNvSpPr txBox="1"/>
          <p:nvPr/>
        </p:nvSpPr>
        <p:spPr>
          <a:xfrm>
            <a:off x="112721" y="3776455"/>
            <a:ext cx="8861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0" i="0" dirty="0">
                <a:solidFill>
                  <a:srgbClr val="00B0F0"/>
                </a:solidFill>
                <a:effectLst/>
                <a:latin typeface="PingFang SC"/>
              </a:rPr>
              <a:t>‌方阵</a:t>
            </a:r>
            <a:r>
              <a:rPr lang="en-US" altLang="zh-CN" sz="2000" b="0" i="0" dirty="0">
                <a:solidFill>
                  <a:srgbClr val="00B0F0"/>
                </a:solidFill>
                <a:effectLst/>
                <a:latin typeface="PingFang SC"/>
              </a:rPr>
              <a:t>n*n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秩‌：秩≤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。当秩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=n,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矩阵满秩。非奇异可逆矩阵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必满秩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则解唯一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F4FB8D-C64C-47D6-8D1E-DA3A15A7A6F8}"/>
              </a:ext>
            </a:extLst>
          </p:cNvPr>
          <p:cNvSpPr txBox="1"/>
          <p:nvPr/>
        </p:nvSpPr>
        <p:spPr>
          <a:xfrm>
            <a:off x="99108" y="4174519"/>
            <a:ext cx="9080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p"/>
              <a:defRPr b="0" i="0">
                <a:solidFill>
                  <a:srgbClr val="333333"/>
                </a:solidFill>
                <a:effectLst/>
                <a:latin typeface="PingFang SC"/>
              </a:defRPr>
            </a:lvl1pPr>
          </a:lstStyle>
          <a:p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‌非方阵秩‌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:0 ≤ 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秩≤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min(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行数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m, 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列数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n),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当秩</a:t>
            </a:r>
            <a:r>
              <a:rPr lang="en-US" altLang="zh-CN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=min(m, n)</a:t>
            </a:r>
            <a:r>
              <a:rPr lang="zh-CN" altLang="en-US" sz="20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，则满秩，但不可逆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06844A-CA5C-426D-87BB-1193C6EF6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374" y="3043446"/>
            <a:ext cx="1133983" cy="6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7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  <p:bldP spid="14" grpId="0"/>
      <p:bldP spid="15" grpId="0"/>
      <p:bldP spid="20" grpId="0"/>
      <p:bldP spid="22" grpId="0"/>
      <p:bldP spid="21" grpId="0" animBg="1"/>
      <p:bldP spid="23" grpId="0" animBg="1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4D34B56-24A0-4653-B55A-24A557900B82}"/>
              </a:ext>
            </a:extLst>
          </p:cNvPr>
          <p:cNvSpPr/>
          <p:nvPr/>
        </p:nvSpPr>
        <p:spPr>
          <a:xfrm>
            <a:off x="272523" y="719829"/>
            <a:ext cx="3651406" cy="9231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薄壁铁板热传导问题，该板周边温度已知，分别为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度，求板中心温度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3CB261-52DC-4F48-8DAD-1B8BD5E963C5}"/>
              </a:ext>
            </a:extLst>
          </p:cNvPr>
          <p:cNvSpPr/>
          <p:nvPr/>
        </p:nvSpPr>
        <p:spPr>
          <a:xfrm>
            <a:off x="4229046" y="1638548"/>
            <a:ext cx="2573020" cy="1077218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Ta=(10+20+Tb+Tc)/4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Tb=(20+40+Ta+Td)/4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Tc=(10+30+Ta+Td)/4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Td=(30+40+Tb+Tc)/4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B09AB6BA-AFA2-45BE-A429-BF48EDF1588F}"/>
              </a:ext>
            </a:extLst>
          </p:cNvPr>
          <p:cNvSpPr/>
          <p:nvPr/>
        </p:nvSpPr>
        <p:spPr>
          <a:xfrm>
            <a:off x="4007574" y="1547400"/>
            <a:ext cx="293370" cy="11591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65EA74-9283-4A81-A817-E3CE2DF7F2A1}"/>
              </a:ext>
            </a:extLst>
          </p:cNvPr>
          <p:cNvSpPr txBox="1"/>
          <p:nvPr/>
        </p:nvSpPr>
        <p:spPr>
          <a:xfrm>
            <a:off x="4072408" y="381460"/>
            <a:ext cx="4811050" cy="1030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各点温度为其上下左右各点温度平均值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  <a:p>
            <a:pPr>
              <a:lnSpc>
                <a:spcPts val="2700"/>
              </a:lnSpc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个心部节点列出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个方程构成线性方程组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C3453CD-AE35-4940-8D97-6D21C6E129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025" y="1665497"/>
          <a:ext cx="2241455" cy="970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4" r:id="rId4" imgW="68884800" imgH="21945600" progId="">
                  <p:embed/>
                </p:oleObj>
              </mc:Choice>
              <mc:Fallback>
                <p:oleObj r:id="rId4" imgW="68884800" imgH="21945600" progId="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C3453CD-AE35-4940-8D97-6D21C6E129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025" y="1665497"/>
                        <a:ext cx="2241455" cy="97028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40E59199-A3E7-4E20-B9EA-9D149C06E096}"/>
              </a:ext>
            </a:extLst>
          </p:cNvPr>
          <p:cNvSpPr txBox="1"/>
          <p:nvPr/>
        </p:nvSpPr>
        <p:spPr>
          <a:xfrm>
            <a:off x="2725353" y="1444780"/>
            <a:ext cx="920521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热守恒</a:t>
            </a:r>
          </a:p>
        </p:txBody>
      </p:sp>
      <p:sp>
        <p:nvSpPr>
          <p:cNvPr id="26" name="波形 25">
            <a:extLst>
              <a:ext uri="{FF2B5EF4-FFF2-40B4-BE49-F238E27FC236}">
                <a16:creationId xmlns:a16="http://schemas.microsoft.com/office/drawing/2014/main" id="{244CD99D-0748-4F1A-82E0-8D03A81163EB}"/>
              </a:ext>
            </a:extLst>
          </p:cNvPr>
          <p:cNvSpPr/>
          <p:nvPr/>
        </p:nvSpPr>
        <p:spPr>
          <a:xfrm>
            <a:off x="58111" y="381460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3DE242-CF02-49F6-A5B2-356C95111A20}"/>
              </a:ext>
            </a:extLst>
          </p:cNvPr>
          <p:cNvSpPr txBox="1"/>
          <p:nvPr/>
        </p:nvSpPr>
        <p:spPr>
          <a:xfrm>
            <a:off x="951179" y="30156"/>
            <a:ext cx="7540825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求解中心温度的线性方程组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789CA8-7107-4E02-B163-E8A3B76CDBE7}"/>
              </a:ext>
            </a:extLst>
          </p:cNvPr>
          <p:cNvSpPr/>
          <p:nvPr/>
        </p:nvSpPr>
        <p:spPr>
          <a:xfrm>
            <a:off x="2334267" y="293179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D95295-E0D3-4B3A-A295-92E6BD728196}"/>
              </a:ext>
            </a:extLst>
          </p:cNvPr>
          <p:cNvSpPr/>
          <p:nvPr/>
        </p:nvSpPr>
        <p:spPr>
          <a:xfrm>
            <a:off x="2338885" y="3490773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65EEE7-123C-4D1B-A6CD-CDE6DB193182}"/>
              </a:ext>
            </a:extLst>
          </p:cNvPr>
          <p:cNvSpPr/>
          <p:nvPr/>
        </p:nvSpPr>
        <p:spPr>
          <a:xfrm>
            <a:off x="3084688" y="247194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6308A61-0210-422A-98CA-6D2BE4E01E40}"/>
              </a:ext>
            </a:extLst>
          </p:cNvPr>
          <p:cNvSpPr txBox="1"/>
          <p:nvPr/>
        </p:nvSpPr>
        <p:spPr>
          <a:xfrm>
            <a:off x="229074" y="4031836"/>
            <a:ext cx="325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铁板均匀划分网格，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方向各等分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份，得到心部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sz="1400" dirty="0"/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29C17CD5-B1E5-4A53-B4FF-32EF43CB06F8}"/>
              </a:ext>
            </a:extLst>
          </p:cNvPr>
          <p:cNvGraphicFramePr>
            <a:graphicFrameLocks noGrp="1"/>
          </p:cNvGraphicFramePr>
          <p:nvPr/>
        </p:nvGraphicFramePr>
        <p:xfrm>
          <a:off x="674060" y="2032742"/>
          <a:ext cx="2427243" cy="17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592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92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592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8F053E2E-F5F8-4D3A-BA37-A0AE9176FE8D}"/>
              </a:ext>
            </a:extLst>
          </p:cNvPr>
          <p:cNvSpPr/>
          <p:nvPr/>
        </p:nvSpPr>
        <p:spPr>
          <a:xfrm>
            <a:off x="254703" y="247194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08AC53-B184-43D0-A551-F86F587FAFFD}"/>
              </a:ext>
            </a:extLst>
          </p:cNvPr>
          <p:cNvSpPr/>
          <p:nvPr/>
        </p:nvSpPr>
        <p:spPr>
          <a:xfrm>
            <a:off x="249623" y="303942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38ECF9B-02E9-405E-A33D-7F697FB6B0D9}"/>
              </a:ext>
            </a:extLst>
          </p:cNvPr>
          <p:cNvSpPr/>
          <p:nvPr/>
        </p:nvSpPr>
        <p:spPr>
          <a:xfrm>
            <a:off x="1207642" y="1641969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4585DC-4346-4EC0-9C7A-0C29E291C33F}"/>
              </a:ext>
            </a:extLst>
          </p:cNvPr>
          <p:cNvSpPr/>
          <p:nvPr/>
        </p:nvSpPr>
        <p:spPr>
          <a:xfrm>
            <a:off x="2074417" y="163564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F2FF958-80D2-4DC2-81A9-C386251C24A1}"/>
              </a:ext>
            </a:extLst>
          </p:cNvPr>
          <p:cNvSpPr/>
          <p:nvPr/>
        </p:nvSpPr>
        <p:spPr>
          <a:xfrm>
            <a:off x="1576478" y="223155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39FA167-2D1B-4264-8025-64DFF9B0F65B}"/>
              </a:ext>
            </a:extLst>
          </p:cNvPr>
          <p:cNvSpPr/>
          <p:nvPr/>
        </p:nvSpPr>
        <p:spPr>
          <a:xfrm>
            <a:off x="2156332" y="3697756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86E0B5B-10BC-4312-9878-13D1CACCFCA7}"/>
              </a:ext>
            </a:extLst>
          </p:cNvPr>
          <p:cNvSpPr/>
          <p:nvPr/>
        </p:nvSpPr>
        <p:spPr>
          <a:xfrm>
            <a:off x="1217776" y="3675015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D872D096-8C71-48C6-BED0-329EEE135D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98" t="16351" r="63649" b="15834"/>
          <a:stretch/>
        </p:blipFill>
        <p:spPr>
          <a:xfrm>
            <a:off x="673077" y="2032742"/>
            <a:ext cx="2418761" cy="1767201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550FC76A-2B3B-4430-A9B9-469803E3F42E}"/>
              </a:ext>
            </a:extLst>
          </p:cNvPr>
          <p:cNvSpPr/>
          <p:nvPr/>
        </p:nvSpPr>
        <p:spPr>
          <a:xfrm>
            <a:off x="1207639" y="2402409"/>
            <a:ext cx="585589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026F86B-9BBB-437C-A451-BBAE3A1CEAD1}"/>
              </a:ext>
            </a:extLst>
          </p:cNvPr>
          <p:cNvSpPr/>
          <p:nvPr/>
        </p:nvSpPr>
        <p:spPr>
          <a:xfrm>
            <a:off x="2044945" y="2410385"/>
            <a:ext cx="539374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27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FC0E1EB-3F13-4634-A1B8-B0C6227ADE6D}"/>
              </a:ext>
            </a:extLst>
          </p:cNvPr>
          <p:cNvCxnSpPr>
            <a:cxnSpLocks/>
            <a:endCxn id="47" idx="3"/>
          </p:cNvCxnSpPr>
          <p:nvPr/>
        </p:nvCxnSpPr>
        <p:spPr bwMode="auto">
          <a:xfrm flipH="1">
            <a:off x="644553" y="2640109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210E7A6-35B7-408C-BCF0-65F96B3B5F90}"/>
              </a:ext>
            </a:extLst>
          </p:cNvPr>
          <p:cNvCxnSpPr>
            <a:cxnSpLocks/>
          </p:cNvCxnSpPr>
          <p:nvPr/>
        </p:nvCxnSpPr>
        <p:spPr bwMode="auto">
          <a:xfrm flipH="1">
            <a:off x="703227" y="3220026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F51CB24-5095-4CF7-8891-3B7F8BD56BD1}"/>
              </a:ext>
            </a:extLst>
          </p:cNvPr>
          <p:cNvCxnSpPr/>
          <p:nvPr/>
        </p:nvCxnSpPr>
        <p:spPr bwMode="auto">
          <a:xfrm>
            <a:off x="1409113" y="2125673"/>
            <a:ext cx="0" cy="1673141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6F32956-3480-4BF9-ABA9-CD588BD4D1F6}"/>
              </a:ext>
            </a:extLst>
          </p:cNvPr>
          <p:cNvCxnSpPr>
            <a:cxnSpLocks/>
          </p:cNvCxnSpPr>
          <p:nvPr/>
        </p:nvCxnSpPr>
        <p:spPr bwMode="auto">
          <a:xfrm>
            <a:off x="2323562" y="2067694"/>
            <a:ext cx="27695" cy="1732249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B2E20FC0-1E41-4E81-B32C-A3C040F54CD0}"/>
              </a:ext>
            </a:extLst>
          </p:cNvPr>
          <p:cNvSpPr/>
          <p:nvPr/>
        </p:nvSpPr>
        <p:spPr>
          <a:xfrm>
            <a:off x="1060189" y="2985219"/>
            <a:ext cx="716935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22.5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B60D64F-3C62-4630-B89A-E4DBFFF29A27}"/>
              </a:ext>
            </a:extLst>
          </p:cNvPr>
          <p:cNvSpPr/>
          <p:nvPr/>
        </p:nvSpPr>
        <p:spPr>
          <a:xfrm>
            <a:off x="2014016" y="2965968"/>
            <a:ext cx="716935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30.0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F8919E-502C-492E-80EA-90CC6B8007E9}"/>
              </a:ext>
            </a:extLst>
          </p:cNvPr>
          <p:cNvSpPr/>
          <p:nvPr/>
        </p:nvSpPr>
        <p:spPr>
          <a:xfrm>
            <a:off x="2050615" y="304677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5D8CF53-6635-41F4-AF71-1ECB7461207A}"/>
              </a:ext>
            </a:extLst>
          </p:cNvPr>
          <p:cNvSpPr/>
          <p:nvPr/>
        </p:nvSpPr>
        <p:spPr>
          <a:xfrm>
            <a:off x="3068415" y="3055981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EA9058-BD02-4149-A406-28D3836E58A2}"/>
              </a:ext>
            </a:extLst>
          </p:cNvPr>
          <p:cNvSpPr/>
          <p:nvPr/>
        </p:nvSpPr>
        <p:spPr>
          <a:xfrm>
            <a:off x="1249055" y="3098040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35200D-5993-436A-81F7-5A3782BD1F5C}"/>
              </a:ext>
            </a:extLst>
          </p:cNvPr>
          <p:cNvSpPr/>
          <p:nvPr/>
        </p:nvSpPr>
        <p:spPr>
          <a:xfrm>
            <a:off x="1216567" y="2499742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036285-FF1E-4319-922A-14F6D30FF5BD}"/>
              </a:ext>
            </a:extLst>
          </p:cNvPr>
          <p:cNvSpPr/>
          <p:nvPr/>
        </p:nvSpPr>
        <p:spPr>
          <a:xfrm>
            <a:off x="2133957" y="2483871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9E24A63-0311-444F-8BB0-7CBD1CB270A6}"/>
              </a:ext>
            </a:extLst>
          </p:cNvPr>
          <p:cNvSpPr txBox="1"/>
          <p:nvPr/>
        </p:nvSpPr>
        <p:spPr>
          <a:xfrm>
            <a:off x="4072408" y="2661253"/>
            <a:ext cx="4935726" cy="1862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建立系数矩阵、常数向量和增广矩阵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求方程组的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条件数、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行列式、逆、伪逆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各种方法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求解恰定方程组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sz="18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初等变换的阶梯形函数</a:t>
            </a:r>
            <a:r>
              <a:rPr lang="en-US" altLang="zh-CN" sz="18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09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65D2B6-6355-4522-BEE2-746E8945C2D4}"/>
              </a:ext>
            </a:extLst>
          </p:cNvPr>
          <p:cNvSpPr txBox="1"/>
          <p:nvPr/>
        </p:nvSpPr>
        <p:spPr>
          <a:xfrm>
            <a:off x="1329503" y="14110"/>
            <a:ext cx="7490970" cy="5866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46896E-B949-4532-A41E-92D7C5598F36}"/>
              </a:ext>
            </a:extLst>
          </p:cNvPr>
          <p:cNvSpPr txBox="1"/>
          <p:nvPr/>
        </p:nvSpPr>
        <p:spPr>
          <a:xfrm>
            <a:off x="666164" y="732224"/>
            <a:ext cx="87264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zh-CN" b="1" dirty="0"/>
              <a:t>某城市单行线</a:t>
            </a:r>
            <a:r>
              <a:rPr lang="zh-CN" altLang="en-US" b="1" dirty="0"/>
              <a:t>车流量</a:t>
            </a:r>
            <a:r>
              <a:rPr lang="zh-CN" altLang="zh-CN" b="1" dirty="0"/>
              <a:t>图</a:t>
            </a:r>
            <a:r>
              <a:rPr lang="zh-CN" altLang="en-US" b="1" dirty="0"/>
              <a:t>，图中标明每</a:t>
            </a:r>
            <a:r>
              <a:rPr lang="zh-CN" altLang="zh-CN" b="1" dirty="0"/>
              <a:t>段</a:t>
            </a:r>
            <a:r>
              <a:rPr lang="zh-CN" altLang="en-US" b="1" dirty="0"/>
              <a:t>路</a:t>
            </a:r>
            <a:r>
              <a:rPr lang="zh-CN" altLang="zh-CN" b="1" dirty="0"/>
              <a:t>每小时按箭头方向行驶车流量</a:t>
            </a:r>
            <a:r>
              <a:rPr lang="en-US" altLang="zh-CN" b="1" dirty="0"/>
              <a:t>( </a:t>
            </a:r>
            <a:r>
              <a:rPr lang="zh-CN" altLang="zh-CN" b="1" dirty="0"/>
              <a:t>辆</a:t>
            </a:r>
            <a:r>
              <a:rPr lang="en-US" altLang="zh-CN" b="1" dirty="0"/>
              <a:t>). </a:t>
            </a:r>
            <a:endParaRPr lang="zh-CN" altLang="zh-CN" b="1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9709C24-051D-459C-AA70-CB4A6B381A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7285" y="890339"/>
            <a:ext cx="2640330" cy="1981200"/>
            <a:chOff x="3879" y="2063"/>
            <a:chExt cx="4159" cy="3120"/>
          </a:xfrm>
        </p:grpSpPr>
        <p:sp>
          <p:nvSpPr>
            <p:cNvPr id="7" name="AutoShape 29">
              <a:extLst>
                <a:ext uri="{FF2B5EF4-FFF2-40B4-BE49-F238E27FC236}">
                  <a16:creationId xmlns:a16="http://schemas.microsoft.com/office/drawing/2014/main" id="{0A4BE593-4A74-4887-BAF9-74D14050E9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9569ACC0-1D8B-4EF5-A36C-7FB45D4CB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27">
              <a:extLst>
                <a:ext uri="{FF2B5EF4-FFF2-40B4-BE49-F238E27FC236}">
                  <a16:creationId xmlns:a16="http://schemas.microsoft.com/office/drawing/2014/main" id="{C8125666-1222-4E3C-A991-E375C420E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4258BFE0-79F2-4F23-B16B-BFA27D57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Oval 25">
              <a:extLst>
                <a:ext uri="{FF2B5EF4-FFF2-40B4-BE49-F238E27FC236}">
                  <a16:creationId xmlns:a16="http://schemas.microsoft.com/office/drawing/2014/main" id="{8BCAF78A-EB7D-4DD6-B036-41EEFDCBE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24">
              <a:extLst>
                <a:ext uri="{FF2B5EF4-FFF2-40B4-BE49-F238E27FC236}">
                  <a16:creationId xmlns:a16="http://schemas.microsoft.com/office/drawing/2014/main" id="{20B06B9F-3104-4229-8963-7F24DD7C5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11E9EC7-50F1-425F-B104-F602D541A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840002F-7CD8-45AA-BB75-86AC6AD24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9F316BDB-9C2E-4343-B1BA-FD4AA878A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09AD0F1F-DBA0-4E78-9F97-4EA7CB9D5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B40A3D1-3994-4186-92D0-A91A41570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B558824-8237-4493-A146-E95B8224B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E71220E-F6CE-4862-8EEB-AC630CA2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41A48BB9-6747-4088-A313-461AB43FF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A6CC712-1BA4-4E40-BD21-E37274076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48270F6-98F5-480B-A56E-26BF1622E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EF4A09C8-E3F0-4C72-8B20-BA0AC969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6CE06EBF-6E6C-43E2-A714-7928FDC9E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5956944-C1F5-4794-AF4D-1A38D8068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988A9CA1-5E57-42D5-BB9F-A08B6946E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8D85C3CF-4C69-4649-9F78-AB0239D5F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36CCF2B0-ACC1-412D-B4F6-5EC4B851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34E1E6AC-D587-4E29-BF8D-437564F07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CFC75D0C-EFEA-43C5-AD3E-6631C642C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DE3FE0FE-63F9-48ED-903D-E92DDA3D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/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sz="2000" i="0" kern="100" dirty="0">
                    <a:solidFill>
                      <a:srgbClr val="00B0F0"/>
                    </a:solidFill>
                    <a:effectLst/>
                    <a:latin typeface="+mj-lt"/>
                    <a:ea typeface="宋体" panose="02010600030101010101" pitchFamily="2" charset="-122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100 + 200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blipFill>
                <a:blip r:embed="rId4"/>
                <a:stretch>
                  <a:fillRect t="-35833" r="-15730" b="-3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D69B009-9214-46D6-AF33-2843198B7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876" y="2975984"/>
          <a:ext cx="2549596" cy="154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7" r:id="rId5" imgW="1549400" imgH="939800" progId="Equation.DSMT4">
                  <p:embed/>
                </p:oleObj>
              </mc:Choice>
              <mc:Fallback>
                <p:oleObj r:id="rId5" imgW="1549400" imgH="93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D69B009-9214-46D6-AF33-2843198B7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876" y="2975984"/>
                        <a:ext cx="2549596" cy="15473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E2B3B53A-F6C9-419D-A70C-04BD0C8E983C}"/>
              </a:ext>
            </a:extLst>
          </p:cNvPr>
          <p:cNvSpPr txBox="1"/>
          <p:nvPr/>
        </p:nvSpPr>
        <p:spPr>
          <a:xfrm>
            <a:off x="3488018" y="1516084"/>
            <a:ext cx="2782858" cy="72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④四个路口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驶入车辆数等于驶出车辆数</a:t>
            </a:r>
            <a:endParaRPr lang="zh-CN" altLang="zh-CN" sz="1600" b="1" kern="1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F7A4C39-ED0A-4FED-800E-955F620C80BB}"/>
              </a:ext>
            </a:extLst>
          </p:cNvPr>
          <p:cNvSpPr/>
          <p:nvPr/>
        </p:nvSpPr>
        <p:spPr bwMode="auto">
          <a:xfrm rot="5400000">
            <a:off x="7493076" y="2809373"/>
            <a:ext cx="290322" cy="243763"/>
          </a:xfrm>
          <a:prstGeom prst="rightArrow">
            <a:avLst/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550230E-8F7A-4D34-A7BE-BCBD71DF403C}"/>
              </a:ext>
            </a:extLst>
          </p:cNvPr>
          <p:cNvSpPr/>
          <p:nvPr/>
        </p:nvSpPr>
        <p:spPr>
          <a:xfrm>
            <a:off x="6350619" y="4103240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个变量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442F80-58F4-4E59-A81B-6F6CBB6135DE}"/>
              </a:ext>
            </a:extLst>
          </p:cNvPr>
          <p:cNvSpPr/>
          <p:nvPr/>
        </p:nvSpPr>
        <p:spPr>
          <a:xfrm>
            <a:off x="7225524" y="3069116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个方程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BD884A-6E2F-465A-AD3A-41C2139211AA}"/>
              </a:ext>
            </a:extLst>
          </p:cNvPr>
          <p:cNvSpPr/>
          <p:nvPr/>
        </p:nvSpPr>
        <p:spPr>
          <a:xfrm>
            <a:off x="353623" y="2599573"/>
            <a:ext cx="5439929" cy="204498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建立方程组系数矩阵、常数向量和增广矩阵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求方程组的行列式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伪逆求根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范数最小最小二乘求根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初等变换的阶梯形函数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波形 44">
            <a:extLst>
              <a:ext uri="{FF2B5EF4-FFF2-40B4-BE49-F238E27FC236}">
                <a16:creationId xmlns:a16="http://schemas.microsoft.com/office/drawing/2014/main" id="{116DC41E-D2E9-4B28-9EF2-8A3B899437F5}"/>
              </a:ext>
            </a:extLst>
          </p:cNvPr>
          <p:cNvSpPr/>
          <p:nvPr/>
        </p:nvSpPr>
        <p:spPr>
          <a:xfrm>
            <a:off x="59825" y="708522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波形 39">
            <a:extLst>
              <a:ext uri="{FF2B5EF4-FFF2-40B4-BE49-F238E27FC236}">
                <a16:creationId xmlns:a16="http://schemas.microsoft.com/office/drawing/2014/main" id="{689CAA99-10F1-4847-AFC2-DA3735F46498}"/>
              </a:ext>
            </a:extLst>
          </p:cNvPr>
          <p:cNvSpPr/>
          <p:nvPr/>
        </p:nvSpPr>
        <p:spPr>
          <a:xfrm>
            <a:off x="3556932" y="1146562"/>
            <a:ext cx="1159084" cy="423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676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3FEB46-64E0-43FC-A722-D0DFDAE98A47}"/>
              </a:ext>
            </a:extLst>
          </p:cNvPr>
          <p:cNvSpPr/>
          <p:nvPr/>
        </p:nvSpPr>
        <p:spPr>
          <a:xfrm>
            <a:off x="181195" y="985498"/>
            <a:ext cx="8949389" cy="37856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a=[1 -0.25 -0.25 0;-0.25 1 0 -0.25; -0.25 0 1 -0.25;0 -0.25 -0.25 1]  </a:t>
            </a:r>
            <a:r>
              <a:rPr lang="en-US" altLang="ko-KR" b="1" cap="none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#方程系数矩阵</a:t>
            </a:r>
            <a:r>
              <a:rPr lang="zh-CN" altLang="en-US" b="1" cap="none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结果</a:t>
            </a:r>
            <a:endParaRPr lang="ko-KR" altLang="en-US" b="1" cap="none" dirty="0">
              <a:solidFill>
                <a:srgbClr val="FF000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4×4 Matrix{Float64}: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1.0   -0.25  -0.25   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1.0    0.0   -0.25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0.0    1.0   -0.25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0.0   -0.25  -0.25   1.0</a:t>
            </a:r>
            <a:endParaRPr lang="en-US" altLang="ko-KR" b="1" cap="none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defTabSz="914400" eaLnBrk="0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ab</a:t>
            </a:r>
            <a:r>
              <a:rPr lang="en-US" altLang="ko-KR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=[</a:t>
            </a:r>
            <a:r>
              <a:rPr lang="en-US" altLang="zh-CN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en-US" altLang="ko-KR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b] </a:t>
            </a:r>
            <a:r>
              <a:rPr lang="en-US" altLang="ko-KR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#方程增广矩阵</a:t>
            </a:r>
            <a:endParaRPr lang="ko-KR" altLang="en-US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4×5 Matrix{Float64}: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1.0   -0.25  -0.25   0.0    7.5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1.0    0.0   -0.25  15.0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0.0    1.0   -0.25  10.0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0.0   -0.25  -0.25   1.0   17.5</a:t>
            </a:r>
            <a:endParaRPr lang="ko-KR" altLang="en-US" b="1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6E7FD-8D19-4F8B-9F23-B7E3D1E5DDE6}"/>
              </a:ext>
            </a:extLst>
          </p:cNvPr>
          <p:cNvSpPr/>
          <p:nvPr/>
        </p:nvSpPr>
        <p:spPr>
          <a:xfrm>
            <a:off x="194610" y="675827"/>
            <a:ext cx="886396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建立方程组的系数矩阵、增广矩阵和常数向量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AFE04E-9987-436D-98C3-339CC829564B}"/>
              </a:ext>
            </a:extLst>
          </p:cNvPr>
          <p:cNvSpPr/>
          <p:nvPr/>
        </p:nvSpPr>
        <p:spPr>
          <a:xfrm>
            <a:off x="4283969" y="2528681"/>
            <a:ext cx="4576604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b=[7.5;15;10;17.5]</a:t>
            </a:r>
            <a:r>
              <a:rPr lang="en-US" altLang="ko-KR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#方程</a:t>
            </a:r>
            <a:r>
              <a:rPr lang="zh-CN" altLang="en-US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常数列向量</a:t>
            </a:r>
            <a:endParaRPr lang="en-US" altLang="ko-KR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结果</a:t>
            </a: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4-element Vector{Float64}: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7.5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15.0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17.5</a:t>
            </a:r>
            <a:endParaRPr lang="ko-KR" altLang="en-US" sz="2000" b="1" dirty="0">
              <a:solidFill>
                <a:srgbClr val="00206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2380A74-8676-45C8-8AB7-B7BEEFC9D0BE}"/>
              </a:ext>
            </a:extLst>
          </p:cNvPr>
          <p:cNvSpPr txBox="1">
            <a:spLocks/>
          </p:cNvSpPr>
          <p:nvPr/>
        </p:nvSpPr>
        <p:spPr bwMode="auto">
          <a:xfrm>
            <a:off x="3744741" y="1455968"/>
            <a:ext cx="5279880" cy="34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构造矩阵</a:t>
            </a:r>
            <a:r>
              <a:rPr lang="en-US" altLang="zh-CN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同行元素用空格分隔，不同行元素用分号分隔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DC99E73-5962-4879-A894-2B41F0E2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154" y="1888794"/>
            <a:ext cx="3312368" cy="3443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构造向量：用逗号分隔向量的元素</a:t>
            </a: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65520B79-48B8-4296-A4EE-4BF1121A5265}"/>
              </a:ext>
            </a:extLst>
          </p:cNvPr>
          <p:cNvSpPr/>
          <p:nvPr/>
        </p:nvSpPr>
        <p:spPr>
          <a:xfrm>
            <a:off x="194610" y="203073"/>
            <a:ext cx="862413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B70B6-68BB-4CAB-BECA-51107CE112D0}"/>
              </a:ext>
            </a:extLst>
          </p:cNvPr>
          <p:cNvSpPr txBox="1"/>
          <p:nvPr/>
        </p:nvSpPr>
        <p:spPr>
          <a:xfrm>
            <a:off x="1057023" y="61199"/>
            <a:ext cx="7540825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求解中心温度的线性方程组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18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699A19B-A9A6-4BAB-AB70-59CF041F5550}"/>
              </a:ext>
            </a:extLst>
          </p:cNvPr>
          <p:cNvSpPr/>
          <p:nvPr/>
        </p:nvSpPr>
        <p:spPr>
          <a:xfrm>
            <a:off x="179512" y="667742"/>
            <a:ext cx="3388898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判断方程组的类型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961293-88F2-41A7-8486-8947E25E5097}"/>
              </a:ext>
            </a:extLst>
          </p:cNvPr>
          <p:cNvSpPr/>
          <p:nvPr/>
        </p:nvSpPr>
        <p:spPr>
          <a:xfrm>
            <a:off x="234259" y="1064844"/>
            <a:ext cx="5728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矩系数阵的秩</a:t>
            </a:r>
            <a:r>
              <a:rPr lang="zh-CN" altLang="en-US" sz="24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 =4</a:t>
            </a:r>
          </a:p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增广矩阵的秩</a:t>
            </a:r>
            <a:r>
              <a:rPr lang="zh-CN" altLang="en-US" sz="24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 =4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A18F25-D350-4B64-889A-A71011FF4A86}"/>
              </a:ext>
            </a:extLst>
          </p:cNvPr>
          <p:cNvSpPr/>
          <p:nvPr/>
        </p:nvSpPr>
        <p:spPr>
          <a:xfrm>
            <a:off x="3654142" y="762158"/>
            <a:ext cx="316835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rank(A)=rank(</a:t>
            </a:r>
            <a:r>
              <a:rPr lang="en-US" altLang="zh-CN" sz="1600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)=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未知量个数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592A61-8708-4646-9E62-129FABFACF1D}"/>
              </a:ext>
            </a:extLst>
          </p:cNvPr>
          <p:cNvSpPr/>
          <p:nvPr/>
        </p:nvSpPr>
        <p:spPr>
          <a:xfrm>
            <a:off x="8308392" y="709793"/>
            <a:ext cx="7906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</a:rPr>
              <a:t>n</a:t>
            </a: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Arial"/>
                <a:ea typeface="宋体"/>
              </a:rPr>
              <a:t>满秩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9B09FA-7EAB-4499-A466-9CE65DAD4207}"/>
              </a:ext>
            </a:extLst>
          </p:cNvPr>
          <p:cNvSpPr/>
          <p:nvPr/>
        </p:nvSpPr>
        <p:spPr>
          <a:xfrm>
            <a:off x="179512" y="1885382"/>
            <a:ext cx="5023299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求方程组的条件数、行列式和逆、伪逆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BF9F04-DBD1-42E4-B2DE-B3EA4EB384A1}"/>
              </a:ext>
            </a:extLst>
          </p:cNvPr>
          <p:cNvSpPr txBox="1"/>
          <p:nvPr/>
        </p:nvSpPr>
        <p:spPr>
          <a:xfrm>
            <a:off x="234259" y="2223997"/>
            <a:ext cx="86174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ad=det(</a:t>
            </a:r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  </a:t>
            </a:r>
            <a:r>
              <a:rPr lang="en-US" altLang="zh-CN" sz="20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行列式非零ad=0.75 </a:t>
            </a:r>
            <a:r>
              <a:rPr lang="zh-CN" altLang="en-US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非奇异可逆矩阵解是唯一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ai=inv(</a:t>
            </a:r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 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可逆</a:t>
            </a:r>
            <a:endParaRPr lang="en-US" altLang="zh-CN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pinv(a</a:t>
            </a:r>
            <a:r>
              <a:rPr lang="en-US" altLang="zh-CN" sz="20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 </a:t>
            </a:r>
            <a:r>
              <a:rPr lang="en-US" altLang="zh-CN" sz="20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逆基于奇异分解</a:t>
            </a:r>
            <a:r>
              <a:rPr lang="en-US" altLang="zh-CN" sz="2000" dirty="0" err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svd</a:t>
            </a:r>
            <a:r>
              <a:rPr lang="zh-CN" altLang="en-US" sz="20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，计算更复杂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4×4 Matrix{Float64}: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1.16667   0.333333  0.333333  0.166667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0.333333  1.16667   0.166667  0.333333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0.333333  0.166667  1.16667   0.333333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0.166667  0.333333  0.333333  1.16667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DA5D2D2-3EC2-4A41-A3B4-D80C892EF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715" y="1172977"/>
            <a:ext cx="288032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dirty="0"/>
              <a:t>未知量数</a:t>
            </a:r>
            <a:r>
              <a:rPr lang="en-US" altLang="zh-CN" sz="1600" dirty="0"/>
              <a:t>n=</a:t>
            </a:r>
            <a:r>
              <a:rPr lang="zh-CN" altLang="en-US" sz="1600" dirty="0"/>
              <a:t>方程数</a:t>
            </a:r>
            <a:r>
              <a:rPr lang="en-US" altLang="zh-CN" sz="1600" dirty="0"/>
              <a:t>m</a:t>
            </a:r>
            <a:r>
              <a:rPr lang="zh-CN" altLang="en-US" sz="1600" dirty="0"/>
              <a:t>，唯一解</a:t>
            </a: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455585C1-3785-4E5B-95BB-40BA15EDAB84}"/>
              </a:ext>
            </a:extLst>
          </p:cNvPr>
          <p:cNvSpPr/>
          <p:nvPr/>
        </p:nvSpPr>
        <p:spPr>
          <a:xfrm>
            <a:off x="50459" y="172503"/>
            <a:ext cx="935529" cy="3832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C6186E-AD1F-4AFB-89CF-A5D859840B7A}"/>
              </a:ext>
            </a:extLst>
          </p:cNvPr>
          <p:cNvSpPr txBox="1"/>
          <p:nvPr/>
        </p:nvSpPr>
        <p:spPr>
          <a:xfrm>
            <a:off x="2560298" y="2562644"/>
            <a:ext cx="3523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sz="16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是成本比较高的计算 </a:t>
            </a:r>
            <a:r>
              <a:rPr lang="en-US" altLang="zh-CN" sz="16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inv</a:t>
            </a:r>
            <a:r>
              <a:rPr lang="zh-CN" altLang="en-US" sz="1600" b="0" i="0" dirty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774194-133C-4DE7-BDBF-2557501EC7CB}"/>
              </a:ext>
            </a:extLst>
          </p:cNvPr>
          <p:cNvSpPr txBox="1"/>
          <p:nvPr/>
        </p:nvSpPr>
        <p:spPr>
          <a:xfrm>
            <a:off x="4698755" y="1862869"/>
            <a:ext cx="292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</a:t>
            </a:r>
            <a:r>
              <a:rPr lang="en-US" altLang="zh-CN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条件数ans = 3</a:t>
            </a:r>
            <a:r>
              <a:rPr lang="en-US" altLang="zh-CN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.0</a:t>
            </a:r>
            <a:endParaRPr lang="zh-CN" altLang="en-US" sz="18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9C6293-4F61-44B4-B83C-F873E63A67FB}"/>
              </a:ext>
            </a:extLst>
          </p:cNvPr>
          <p:cNvSpPr/>
          <p:nvPr/>
        </p:nvSpPr>
        <p:spPr>
          <a:xfrm>
            <a:off x="6186975" y="2648192"/>
            <a:ext cx="257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buFont typeface="+mj-ea"/>
              <a:buAutoNum type="circleNumDbPlain" startAt="4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逆乘求解恰定方程组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60F595-EBDC-436D-BBF1-3F6A79401131}"/>
              </a:ext>
            </a:extLst>
          </p:cNvPr>
          <p:cNvSpPr/>
          <p:nvPr/>
        </p:nvSpPr>
        <p:spPr>
          <a:xfrm>
            <a:off x="6380931" y="3022306"/>
            <a:ext cx="2654785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</a:rPr>
              <a:t>T</a:t>
            </a:r>
            <a:r>
              <a:rPr lang="en-US" altLang="zh-CN" sz="1600" dirty="0" err="1">
                <a:solidFill>
                  <a:srgbClr val="002060"/>
                </a:solidFill>
              </a:rPr>
              <a:t>i</a:t>
            </a:r>
            <a:r>
              <a:rPr lang="zh-CN" altLang="en-US" sz="1600" dirty="0">
                <a:solidFill>
                  <a:srgbClr val="002060"/>
                </a:solidFill>
              </a:rPr>
              <a:t>=inv(</a:t>
            </a:r>
            <a:r>
              <a:rPr lang="en-US" altLang="zh-CN" sz="1600" dirty="0">
                <a:solidFill>
                  <a:srgbClr val="002060"/>
                </a:solidFill>
              </a:rPr>
              <a:t>a</a:t>
            </a:r>
            <a:r>
              <a:rPr lang="zh-CN" altLang="en-US" sz="1600" dirty="0">
                <a:solidFill>
                  <a:srgbClr val="002060"/>
                </a:solidFill>
              </a:rPr>
              <a:t>)*b    </a:t>
            </a:r>
            <a:r>
              <a:rPr lang="en-US" altLang="zh-CN" sz="1600" dirty="0">
                <a:solidFill>
                  <a:srgbClr val="FF0000"/>
                </a:solidFill>
              </a:rPr>
              <a:t>#</a:t>
            </a:r>
            <a:r>
              <a:rPr lang="zh-CN" altLang="en-US" sz="1600" dirty="0">
                <a:solidFill>
                  <a:srgbClr val="FF0000"/>
                </a:solidFill>
              </a:rPr>
              <a:t>逆乘法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4-element Vector{Float64}: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19.999999999999996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27.499999999999996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22.499999999999996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29.999999999999993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53D4BB15-4CCB-417C-9BD5-055320D04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656" y="4129314"/>
            <a:ext cx="3042196" cy="50405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非奇异逆和伪逆相等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AEF0799-0E87-413A-8FB7-9EE697B56822}"/>
              </a:ext>
            </a:extLst>
          </p:cNvPr>
          <p:cNvSpPr txBox="1"/>
          <p:nvPr/>
        </p:nvSpPr>
        <p:spPr>
          <a:xfrm>
            <a:off x="951179" y="65105"/>
            <a:ext cx="7540825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求解中心温度的线性方程组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4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65D2B6-6355-4522-BEE2-746E8945C2D4}"/>
              </a:ext>
            </a:extLst>
          </p:cNvPr>
          <p:cNvSpPr txBox="1"/>
          <p:nvPr/>
        </p:nvSpPr>
        <p:spPr>
          <a:xfrm>
            <a:off x="1329503" y="14110"/>
            <a:ext cx="7490970" cy="5866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46896E-B949-4532-A41E-92D7C5598F36}"/>
              </a:ext>
            </a:extLst>
          </p:cNvPr>
          <p:cNvSpPr txBox="1"/>
          <p:nvPr/>
        </p:nvSpPr>
        <p:spPr>
          <a:xfrm>
            <a:off x="666164" y="732224"/>
            <a:ext cx="87264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zh-CN" b="1" dirty="0"/>
              <a:t>某城市单行线</a:t>
            </a:r>
            <a:r>
              <a:rPr lang="zh-CN" altLang="en-US" b="1" dirty="0"/>
              <a:t>车流量</a:t>
            </a:r>
            <a:r>
              <a:rPr lang="zh-CN" altLang="zh-CN" b="1" dirty="0"/>
              <a:t>图</a:t>
            </a:r>
            <a:r>
              <a:rPr lang="zh-CN" altLang="en-US" b="1" dirty="0"/>
              <a:t>，图中标明每</a:t>
            </a:r>
            <a:r>
              <a:rPr lang="zh-CN" altLang="zh-CN" b="1" dirty="0"/>
              <a:t>段</a:t>
            </a:r>
            <a:r>
              <a:rPr lang="zh-CN" altLang="en-US" b="1" dirty="0"/>
              <a:t>路</a:t>
            </a:r>
            <a:r>
              <a:rPr lang="zh-CN" altLang="zh-CN" b="1" dirty="0"/>
              <a:t>每小时按箭头方向行驶车流量</a:t>
            </a:r>
            <a:r>
              <a:rPr lang="en-US" altLang="zh-CN" b="1" dirty="0"/>
              <a:t>( </a:t>
            </a:r>
            <a:r>
              <a:rPr lang="zh-CN" altLang="zh-CN" b="1" dirty="0"/>
              <a:t>辆</a:t>
            </a:r>
            <a:r>
              <a:rPr lang="en-US" altLang="zh-CN" b="1" dirty="0"/>
              <a:t>). </a:t>
            </a:r>
            <a:endParaRPr lang="zh-CN" altLang="zh-CN" b="1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9709C24-051D-459C-AA70-CB4A6B381A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7285" y="890339"/>
            <a:ext cx="2640330" cy="1981200"/>
            <a:chOff x="3879" y="2063"/>
            <a:chExt cx="4159" cy="3120"/>
          </a:xfrm>
        </p:grpSpPr>
        <p:sp>
          <p:nvSpPr>
            <p:cNvPr id="7" name="AutoShape 29">
              <a:extLst>
                <a:ext uri="{FF2B5EF4-FFF2-40B4-BE49-F238E27FC236}">
                  <a16:creationId xmlns:a16="http://schemas.microsoft.com/office/drawing/2014/main" id="{0A4BE593-4A74-4887-BAF9-74D14050E9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9569ACC0-1D8B-4EF5-A36C-7FB45D4CB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27">
              <a:extLst>
                <a:ext uri="{FF2B5EF4-FFF2-40B4-BE49-F238E27FC236}">
                  <a16:creationId xmlns:a16="http://schemas.microsoft.com/office/drawing/2014/main" id="{C8125666-1222-4E3C-A991-E375C420E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4258BFE0-79F2-4F23-B16B-BFA27D57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Oval 25">
              <a:extLst>
                <a:ext uri="{FF2B5EF4-FFF2-40B4-BE49-F238E27FC236}">
                  <a16:creationId xmlns:a16="http://schemas.microsoft.com/office/drawing/2014/main" id="{8BCAF78A-EB7D-4DD6-B036-41EEFDCBE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24">
              <a:extLst>
                <a:ext uri="{FF2B5EF4-FFF2-40B4-BE49-F238E27FC236}">
                  <a16:creationId xmlns:a16="http://schemas.microsoft.com/office/drawing/2014/main" id="{20B06B9F-3104-4229-8963-7F24DD7C5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11E9EC7-50F1-425F-B104-F602D541A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840002F-7CD8-45AA-BB75-86AC6AD24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9F316BDB-9C2E-4343-B1BA-FD4AA878A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09AD0F1F-DBA0-4E78-9F97-4EA7CB9D5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B40A3D1-3994-4186-92D0-A91A41570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B558824-8237-4493-A146-E95B8224B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E71220E-F6CE-4862-8EEB-AC630CA2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41A48BB9-6747-4088-A313-461AB43FF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A6CC712-1BA4-4E40-BD21-E37274076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48270F6-98F5-480B-A56E-26BF1622E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EF4A09C8-E3F0-4C72-8B20-BA0AC969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6CE06EBF-6E6C-43E2-A714-7928FDC9E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5956944-C1F5-4794-AF4D-1A38D8068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988A9CA1-5E57-42D5-BB9F-A08B6946E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8D85C3CF-4C69-4649-9F78-AB0239D5F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36CCF2B0-ACC1-412D-B4F6-5EC4B851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34E1E6AC-D587-4E29-BF8D-437564F07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CFC75D0C-EFEA-43C5-AD3E-6631C642C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DE3FE0FE-63F9-48ED-903D-E92DDA3D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/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sz="2000" i="0" kern="100" dirty="0">
                    <a:solidFill>
                      <a:srgbClr val="00B0F0"/>
                    </a:solidFill>
                    <a:effectLst/>
                    <a:latin typeface="+mj-lt"/>
                    <a:ea typeface="宋体" panose="02010600030101010101" pitchFamily="2" charset="-122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100 + 200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blipFill>
                <a:blip r:embed="rId4"/>
                <a:stretch>
                  <a:fillRect t="-35833" r="-15730" b="-3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D69B009-9214-46D6-AF33-2843198B7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876" y="2975984"/>
          <a:ext cx="2549596" cy="154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r:id="rId5" imgW="1549400" imgH="939800" progId="Equation.DSMT4">
                  <p:embed/>
                </p:oleObj>
              </mc:Choice>
              <mc:Fallback>
                <p:oleObj r:id="rId5" imgW="1549400" imgH="93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D69B009-9214-46D6-AF33-2843198B7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876" y="2975984"/>
                        <a:ext cx="2549596" cy="15473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E2B3B53A-F6C9-419D-A70C-04BD0C8E983C}"/>
              </a:ext>
            </a:extLst>
          </p:cNvPr>
          <p:cNvSpPr txBox="1"/>
          <p:nvPr/>
        </p:nvSpPr>
        <p:spPr>
          <a:xfrm>
            <a:off x="3488018" y="1516084"/>
            <a:ext cx="2782858" cy="72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④四个路口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驶入车辆数等于驶出车辆数</a:t>
            </a:r>
            <a:endParaRPr lang="zh-CN" altLang="zh-CN" sz="1600" b="1" kern="1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F7A4C39-ED0A-4FED-800E-955F620C80BB}"/>
              </a:ext>
            </a:extLst>
          </p:cNvPr>
          <p:cNvSpPr/>
          <p:nvPr/>
        </p:nvSpPr>
        <p:spPr bwMode="auto">
          <a:xfrm rot="5400000">
            <a:off x="7493076" y="2809373"/>
            <a:ext cx="290322" cy="243763"/>
          </a:xfrm>
          <a:prstGeom prst="rightArrow">
            <a:avLst/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550230E-8F7A-4D34-A7BE-BCBD71DF403C}"/>
              </a:ext>
            </a:extLst>
          </p:cNvPr>
          <p:cNvSpPr/>
          <p:nvPr/>
        </p:nvSpPr>
        <p:spPr>
          <a:xfrm>
            <a:off x="6350619" y="4103240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个变量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442F80-58F4-4E59-A81B-6F6CBB6135DE}"/>
              </a:ext>
            </a:extLst>
          </p:cNvPr>
          <p:cNvSpPr/>
          <p:nvPr/>
        </p:nvSpPr>
        <p:spPr>
          <a:xfrm>
            <a:off x="7225524" y="3069116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个方程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BD884A-6E2F-465A-AD3A-41C2139211AA}"/>
              </a:ext>
            </a:extLst>
          </p:cNvPr>
          <p:cNvSpPr/>
          <p:nvPr/>
        </p:nvSpPr>
        <p:spPr>
          <a:xfrm>
            <a:off x="353623" y="2599573"/>
            <a:ext cx="5439929" cy="204498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建立方程组系数矩阵、常数向量和增广矩阵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求方程组的行列式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伪逆求根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范数最小最小二乘求根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初等变换的阶梯形函数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波形 44">
            <a:extLst>
              <a:ext uri="{FF2B5EF4-FFF2-40B4-BE49-F238E27FC236}">
                <a16:creationId xmlns:a16="http://schemas.microsoft.com/office/drawing/2014/main" id="{116DC41E-D2E9-4B28-9EF2-8A3B899437F5}"/>
              </a:ext>
            </a:extLst>
          </p:cNvPr>
          <p:cNvSpPr/>
          <p:nvPr/>
        </p:nvSpPr>
        <p:spPr>
          <a:xfrm>
            <a:off x="59825" y="708522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476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94A22CC8-9F38-4118-814F-F0DF6A47CF09}"/>
              </a:ext>
            </a:extLst>
          </p:cNvPr>
          <p:cNvSpPr txBox="1"/>
          <p:nvPr/>
        </p:nvSpPr>
        <p:spPr>
          <a:xfrm>
            <a:off x="557426" y="1041832"/>
            <a:ext cx="64296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=[1 1 0 0;1 0 0 -1; 0 1 1 0;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0 0 -1 1];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b=[500;-100;300;300];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ab=[a b];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860BE91-CDEF-4F8C-B2E6-980B9E53A9BE}"/>
              </a:ext>
            </a:extLst>
          </p:cNvPr>
          <p:cNvSpPr/>
          <p:nvPr/>
        </p:nvSpPr>
        <p:spPr>
          <a:xfrm>
            <a:off x="1823158" y="703278"/>
            <a:ext cx="70122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72000" indent="-360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建立方程组的系数矩阵、增广矩阵和常数向量 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jtll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E1E3678-BEC0-4306-A7B5-7674A279E8EE}"/>
              </a:ext>
            </a:extLst>
          </p:cNvPr>
          <p:cNvSpPr/>
          <p:nvPr/>
        </p:nvSpPr>
        <p:spPr>
          <a:xfrm>
            <a:off x="560084" y="2227295"/>
            <a:ext cx="3388898" cy="369332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36000" indent="-36000" eaLnBrk="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判断方程组的类型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DDB3F64-A8E3-4250-ACE5-0486A822D069}"/>
              </a:ext>
            </a:extLst>
          </p:cNvPr>
          <p:cNvSpPr/>
          <p:nvPr/>
        </p:nvSpPr>
        <p:spPr>
          <a:xfrm>
            <a:off x="560084" y="2931790"/>
            <a:ext cx="3543356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条件数，行列式和逆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华文楷体" panose="0201060004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2544FB4-D56A-428A-9E2E-A8C0FE9ACB48}"/>
              </a:ext>
            </a:extLst>
          </p:cNvPr>
          <p:cNvSpPr txBox="1"/>
          <p:nvPr/>
        </p:nvSpPr>
        <p:spPr>
          <a:xfrm>
            <a:off x="562372" y="2492293"/>
            <a:ext cx="3755204" cy="45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rank(a) 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  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满秩为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68CC82D-69D1-4864-9455-1C29A641AD3E}"/>
              </a:ext>
            </a:extLst>
          </p:cNvPr>
          <p:cNvSpPr txBox="1"/>
          <p:nvPr/>
        </p:nvSpPr>
        <p:spPr>
          <a:xfrm>
            <a:off x="581439" y="3269831"/>
            <a:ext cx="4412532" cy="1045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Inf</a:t>
            </a:r>
          </a:p>
          <a:p>
            <a:pPr>
              <a:lnSpc>
                <a:spcPts val="25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det(a)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0.0   </a:t>
            </a:r>
          </a:p>
          <a:p>
            <a:pPr>
              <a:lnSpc>
                <a:spcPts val="2500"/>
              </a:lnSpc>
            </a:pPr>
            <a:r>
              <a:rPr lang="es-E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inv(a)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 </a:t>
            </a:r>
            <a:r>
              <a:rPr lang="es-E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ERROR: SingularException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18D2D1-A450-4158-99D2-1CE3C786D014}"/>
              </a:ext>
            </a:extLst>
          </p:cNvPr>
          <p:cNvSpPr txBox="1"/>
          <p:nvPr/>
        </p:nvSpPr>
        <p:spPr>
          <a:xfrm>
            <a:off x="698543" y="4308218"/>
            <a:ext cx="410011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400" dirty="0"/>
              <a:t>A </a:t>
            </a:r>
            <a:r>
              <a:rPr lang="zh-CN" altLang="en-US" sz="1400" dirty="0"/>
              <a:t>非方阵，或者是方阵且奇异，则 </a:t>
            </a:r>
            <a:r>
              <a:rPr lang="en-US" altLang="zh-CN" sz="1400" dirty="0"/>
              <a:t>inv(A) </a:t>
            </a:r>
            <a:r>
              <a:rPr lang="zh-CN" altLang="en-US" sz="1400" dirty="0"/>
              <a:t>不存在</a:t>
            </a:r>
          </a:p>
        </p:txBody>
      </p:sp>
      <p:sp>
        <p:nvSpPr>
          <p:cNvPr id="43" name="波形 42">
            <a:extLst>
              <a:ext uri="{FF2B5EF4-FFF2-40B4-BE49-F238E27FC236}">
                <a16:creationId xmlns:a16="http://schemas.microsoft.com/office/drawing/2014/main" id="{DFD831F5-9EA2-4F09-83D5-03C40A283188}"/>
              </a:ext>
            </a:extLst>
          </p:cNvPr>
          <p:cNvSpPr/>
          <p:nvPr/>
        </p:nvSpPr>
        <p:spPr>
          <a:xfrm>
            <a:off x="698715" y="712724"/>
            <a:ext cx="1043608" cy="37730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7F4B00-C86F-4AF7-931B-44309DB3FD36}"/>
              </a:ext>
            </a:extLst>
          </p:cNvPr>
          <p:cNvSpPr txBox="1"/>
          <p:nvPr/>
        </p:nvSpPr>
        <p:spPr>
          <a:xfrm>
            <a:off x="5639582" y="1518885"/>
            <a:ext cx="30273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&gt; p=</a:t>
            </a: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(a)</a:t>
            </a:r>
          </a:p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4×4 Matrix{Float64}:</a:t>
            </a:r>
          </a:p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0.375   0.375  -0.125   0.125</a:t>
            </a:r>
          </a:p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0.375  -0.125   0.375   0.125</a:t>
            </a:r>
          </a:p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-0.125  -0.125   0.375  -0.375</a:t>
            </a:r>
          </a:p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0.125  -0.375   0.125   0.375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D4C119-17EE-45CA-8A5F-7AF4C966885E}"/>
              </a:ext>
            </a:extLst>
          </p:cNvPr>
          <p:cNvSpPr txBox="1"/>
          <p:nvPr/>
        </p:nvSpPr>
        <p:spPr>
          <a:xfrm>
            <a:off x="2439974" y="3607872"/>
            <a:ext cx="363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奇异不可逆矩阵，无解或无穷解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E43461-3452-4F96-997E-C655B26B01CD}"/>
              </a:ext>
            </a:extLst>
          </p:cNvPr>
          <p:cNvSpPr/>
          <p:nvPr/>
        </p:nvSpPr>
        <p:spPr>
          <a:xfrm>
            <a:off x="5292080" y="1151202"/>
            <a:ext cx="3543356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buFont typeface="+mj-ea"/>
              <a:buAutoNum type="circleNumDbPlain" startAt="4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伪逆矩阵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23901E-1C5C-4322-A070-B28320AF6F53}"/>
              </a:ext>
            </a:extLst>
          </p:cNvPr>
          <p:cNvSpPr/>
          <p:nvPr/>
        </p:nvSpPr>
        <p:spPr>
          <a:xfrm>
            <a:off x="5292080" y="2921149"/>
            <a:ext cx="363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>
              <a:buFont typeface="+mj-ea"/>
              <a:buAutoNum type="circleNumDbPlain" startAt="5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伪逆乘求解奇异方程组的特解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790B67-24F8-4DC8-AB03-30CB4C86AF9B}"/>
              </a:ext>
            </a:extLst>
          </p:cNvPr>
          <p:cNvSpPr txBox="1"/>
          <p:nvPr/>
        </p:nvSpPr>
        <p:spPr>
          <a:xfrm>
            <a:off x="5987300" y="3213768"/>
            <a:ext cx="24581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p=pinv(a)*b</a:t>
            </a: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ty_format("short",p)  </a:t>
            </a: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150.0000</a:t>
            </a: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350.0000</a:t>
            </a: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-50.0000</a:t>
            </a: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250.0000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AF82A7-9476-4076-B785-CF394AC1F83A}"/>
              </a:ext>
            </a:extLst>
          </p:cNvPr>
          <p:cNvSpPr txBox="1"/>
          <p:nvPr/>
        </p:nvSpPr>
        <p:spPr>
          <a:xfrm>
            <a:off x="951179" y="65105"/>
            <a:ext cx="7540825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求解中心温度的线性方程组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0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053906" y="7864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180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83969" y="677999"/>
            <a:ext cx="9060032" cy="6898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方程组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b="1" i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b="1" i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建立在实验基础上</a:t>
            </a:r>
            <a:r>
              <a:rPr lang="en-US" altLang="zh-CN" b="1" i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实验的系数矩阵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与常数列向量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往往有误差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扰动），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微小变化会影响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解结果</a:t>
            </a:r>
            <a:r>
              <a:rPr lang="zh-CN" altLang="en-US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</a:p>
        </p:txBody>
      </p:sp>
      <p:graphicFrame>
        <p:nvGraphicFramePr>
          <p:cNvPr id="108552" name="Object 8"/>
          <p:cNvGraphicFramePr>
            <a:graphicFrameLocks noChangeAspect="1"/>
          </p:cNvGraphicFramePr>
          <p:nvPr/>
        </p:nvGraphicFramePr>
        <p:xfrm>
          <a:off x="831257" y="1851100"/>
          <a:ext cx="2881313" cy="853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name="公式" r:id="rId4" imgW="1054100" imgH="469900" progId="Equation.3">
                  <p:embed/>
                </p:oleObj>
              </mc:Choice>
              <mc:Fallback>
                <p:oleObj name="公式" r:id="rId4" imgW="1054100" imgH="469900" progId="Equation.3">
                  <p:embed/>
                  <p:pic>
                    <p:nvPicPr>
                      <p:cNvPr id="1085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57" y="1851100"/>
                        <a:ext cx="2881313" cy="8536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321688F2-89FA-48C9-B3BB-29608CA54791}"/>
              </a:ext>
            </a:extLst>
          </p:cNvPr>
          <p:cNvSpPr/>
          <p:nvPr/>
        </p:nvSpPr>
        <p:spPr>
          <a:xfrm>
            <a:off x="4201694" y="1115372"/>
            <a:ext cx="2621230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求方程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的根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a=[1 1;1 1.01]</a:t>
            </a:r>
            <a:endParaRPr lang="en-US" altLang="zh-CN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b=[2;2]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x=inv(a)*b   </a:t>
            </a:r>
          </a:p>
          <a:p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方程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根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 = 2 .0   0</a:t>
            </a:r>
            <a:endParaRPr lang="zh-CN" altLang="en-US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E4022C-25A4-4B12-A19D-05098597ADC6}"/>
              </a:ext>
            </a:extLst>
          </p:cNvPr>
          <p:cNvSpPr/>
          <p:nvPr/>
        </p:nvSpPr>
        <p:spPr>
          <a:xfrm>
            <a:off x="4236253" y="2886281"/>
            <a:ext cx="4305451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求方程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的根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bb=[2;2.01]</a:t>
            </a:r>
            <a:endParaRPr lang="en-US" altLang="zh-CN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x=inv(a)*bb</a:t>
            </a:r>
          </a:p>
        </p:txBody>
      </p:sp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740711" y="3651870"/>
          <a:ext cx="2881313" cy="854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8" name="公式" r:id="rId6" imgW="1054100" imgH="469900" progId="Equation.3">
                  <p:embed/>
                </p:oleObj>
              </mc:Choice>
              <mc:Fallback>
                <p:oleObj name="公式" r:id="rId6" imgW="1054100" imgH="469900" progId="Equation.3">
                  <p:embed/>
                  <p:pic>
                    <p:nvPicPr>
                      <p:cNvPr id="1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11" y="3651870"/>
                        <a:ext cx="2881313" cy="8548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3242" y="2014983"/>
            <a:ext cx="83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方程</a:t>
            </a: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endParaRPr lang="zh-CN" altLang="en-US" b="1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59902" y="4092003"/>
            <a:ext cx="784189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3399FF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2.01</a:t>
            </a:r>
            <a:endParaRPr lang="zh-CN" altLang="en-US" sz="2000" b="1" dirty="0">
              <a:solidFill>
                <a:srgbClr val="3399FF"/>
              </a:solidFill>
              <a:latin typeface="Arial Black" panose="020B0A04020102020204" pitchFamily="34" charset="0"/>
              <a:ea typeface="隶书" panose="020105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970854" y="2384315"/>
          <a:ext cx="198596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9" name="Microsoft Equation 3.1" r:id="rId7" imgW="965160" imgH="215640" progId="Equation.3">
                  <p:embed/>
                </p:oleObj>
              </mc:Choice>
              <mc:Fallback>
                <p:oleObj name="Microsoft Equation 3.1" r:id="rId7" imgW="965160" imgH="21564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854" y="2384315"/>
                        <a:ext cx="1985963" cy="33813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478573" y="4130204"/>
          <a:ext cx="152241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0" name="Microsoft Equation 3.1" r:id="rId9" imgW="761760" imgH="215640" progId="Equation.3">
                  <p:embed/>
                </p:oleObj>
              </mc:Choice>
              <mc:Fallback>
                <p:oleObj name="Microsoft Equation 3.1" r:id="rId9" imgW="761760" imgH="21564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573" y="4130204"/>
                        <a:ext cx="1522413" cy="3857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63" name="AutoShape 19"/>
          <p:cNvSpPr>
            <a:spLocks noChangeArrowheads="1"/>
          </p:cNvSpPr>
          <p:nvPr/>
        </p:nvSpPr>
        <p:spPr bwMode="auto">
          <a:xfrm>
            <a:off x="6162474" y="1398398"/>
            <a:ext cx="3166985" cy="706257"/>
          </a:xfrm>
          <a:prstGeom prst="irregularSeal2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对</a:t>
            </a:r>
            <a:r>
              <a:rPr lang="en-US" altLang="zh-CN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扰动非常敏感</a:t>
            </a:r>
          </a:p>
        </p:txBody>
      </p:sp>
      <p:sp>
        <p:nvSpPr>
          <p:cNvPr id="8" name="圆角矩形 7"/>
          <p:cNvSpPr/>
          <p:nvPr/>
        </p:nvSpPr>
        <p:spPr bwMode="auto">
          <a:xfrm>
            <a:off x="1486128" y="2263750"/>
            <a:ext cx="720080" cy="371613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波形 21"/>
          <p:cNvSpPr/>
          <p:nvPr/>
        </p:nvSpPr>
        <p:spPr>
          <a:xfrm>
            <a:off x="207094" y="1409109"/>
            <a:ext cx="936104" cy="34241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例61-3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67A671E-1606-A409-AECC-30645F767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802" y="162256"/>
            <a:ext cx="34275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的扰动敏感程度）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6B63F1-3553-1373-FC8A-4A5E75F2867B}"/>
              </a:ext>
            </a:extLst>
          </p:cNvPr>
          <p:cNvSpPr/>
          <p:nvPr/>
        </p:nvSpPr>
        <p:spPr bwMode="auto">
          <a:xfrm>
            <a:off x="3307269" y="2245458"/>
            <a:ext cx="388431" cy="3983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706" y="3844033"/>
            <a:ext cx="83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方程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6" name="Group 14"/>
          <p:cNvGrpSpPr>
            <a:grpSpLocks/>
          </p:cNvGrpSpPr>
          <p:nvPr/>
        </p:nvGrpSpPr>
        <p:grpSpPr bwMode="auto">
          <a:xfrm>
            <a:off x="63657" y="2692328"/>
            <a:ext cx="3557588" cy="959347"/>
            <a:chOff x="2725" y="2653"/>
            <a:chExt cx="2241" cy="635"/>
          </a:xfrm>
        </p:grpSpPr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2725" y="2819"/>
              <a:ext cx="124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B0F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若方程右端变为</a:t>
              </a:r>
            </a:p>
          </p:txBody>
        </p:sp>
        <p:graphicFrame>
          <p:nvGraphicFramePr>
            <p:cNvPr id="28" name="Object 16"/>
            <p:cNvGraphicFramePr>
              <a:graphicFrameLocks noChangeAspect="1"/>
            </p:cNvGraphicFramePr>
            <p:nvPr/>
          </p:nvGraphicFramePr>
          <p:xfrm>
            <a:off x="4068" y="2653"/>
            <a:ext cx="898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1" name="公式" r:id="rId11" imgW="698500" imgH="469900" progId="Equation.3">
                    <p:embed/>
                  </p:oleObj>
                </mc:Choice>
                <mc:Fallback>
                  <p:oleObj name="公式" r:id="rId11" imgW="698500" imgH="469900" progId="Equation.3">
                    <p:embed/>
                    <p:pic>
                      <p:nvPicPr>
                        <p:cNvPr id="2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8" y="2653"/>
                          <a:ext cx="898" cy="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9">
            <a:extLst>
              <a:ext uri="{FF2B5EF4-FFF2-40B4-BE49-F238E27FC236}">
                <a16:creationId xmlns:a16="http://schemas.microsoft.com/office/drawing/2014/main" id="{C0E1B027-D6F4-479D-902E-FA4916253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582" y="1368428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求解线性方程组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9A19CC-C577-4B73-8507-266B21DD961F}"/>
              </a:ext>
            </a:extLst>
          </p:cNvPr>
          <p:cNvSpPr txBox="1"/>
          <p:nvPr/>
        </p:nvSpPr>
        <p:spPr>
          <a:xfrm>
            <a:off x="4236253" y="3916559"/>
            <a:ext cx="4773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1.0000000000000222</a:t>
            </a:r>
          </a:p>
          <a:p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0.9999999999999778</a:t>
            </a:r>
            <a:endParaRPr lang="zh-CN" altLang="en-US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78D9B6C-B7E2-4FC2-A3C2-AF047FCD616A}"/>
              </a:ext>
            </a:extLst>
          </p:cNvPr>
          <p:cNvSpPr txBox="1"/>
          <p:nvPr/>
        </p:nvSpPr>
        <p:spPr>
          <a:xfrm>
            <a:off x="869593" y="9386"/>
            <a:ext cx="4642716" cy="5866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矩阵范数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27874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 animBg="1"/>
      <p:bldP spid="108563" grpId="0" animBg="1"/>
      <p:bldP spid="10" grpId="0" animBg="1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42F57E6-594F-4203-A59B-15855753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72180"/>
            <a:ext cx="4996063" cy="2535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5962D8-4DE8-47CD-836D-24F1917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54" y="3524924"/>
            <a:ext cx="8892480" cy="993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0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=b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，如解</a:t>
            </a:r>
            <a:r>
              <a:rPr lang="en-US" altLang="zh-CN" sz="20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0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的扰动敏感，很小改变导致解改变很大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其方程组称为病态方程组，也称系数矩阵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是病态矩阵。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493FF5B-6F34-4528-B142-6D12139071E1}"/>
              </a:ext>
            </a:extLst>
          </p:cNvPr>
          <p:cNvCxnSpPr/>
          <p:nvPr/>
        </p:nvCxnSpPr>
        <p:spPr bwMode="auto">
          <a:xfrm>
            <a:off x="480491" y="1934814"/>
            <a:ext cx="3275856" cy="144016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3B89F67-7522-4C6B-B592-9D1D4EA167D3}"/>
              </a:ext>
            </a:extLst>
          </p:cNvPr>
          <p:cNvCxnSpPr/>
          <p:nvPr/>
        </p:nvCxnSpPr>
        <p:spPr bwMode="auto">
          <a:xfrm>
            <a:off x="251520" y="1676938"/>
            <a:ext cx="3072779" cy="1368152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11">
            <a:extLst>
              <a:ext uri="{FF2B5EF4-FFF2-40B4-BE49-F238E27FC236}">
                <a16:creationId xmlns:a16="http://schemas.microsoft.com/office/drawing/2014/main" id="{FA97BFC3-5FB5-422E-A6A0-F837B5EF5BAA}"/>
              </a:ext>
            </a:extLst>
          </p:cNvPr>
          <p:cNvSpPr txBox="1"/>
          <p:nvPr/>
        </p:nvSpPr>
        <p:spPr>
          <a:xfrm>
            <a:off x="3170516" y="277848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(2,0)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208A72D-1731-4400-BF7A-8D8CA4CD2C89}"/>
              </a:ext>
            </a:extLst>
          </p:cNvPr>
          <p:cNvSpPr txBox="1"/>
          <p:nvPr/>
        </p:nvSpPr>
        <p:spPr>
          <a:xfrm>
            <a:off x="1588563" y="205535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(1,1)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B15CC56-62F1-4458-AD63-10F29E0990BB}"/>
              </a:ext>
            </a:extLst>
          </p:cNvPr>
          <p:cNvCxnSpPr/>
          <p:nvPr/>
        </p:nvCxnSpPr>
        <p:spPr bwMode="auto">
          <a:xfrm>
            <a:off x="480491" y="1676938"/>
            <a:ext cx="3119092" cy="1666232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DB12A76-DF5C-435B-A3CA-8E80E962E340}"/>
              </a:ext>
            </a:extLst>
          </p:cNvPr>
          <p:cNvSpPr txBox="1"/>
          <p:nvPr/>
        </p:nvSpPr>
        <p:spPr>
          <a:xfrm>
            <a:off x="5339007" y="999067"/>
            <a:ext cx="3588969" cy="237590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ts val="3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从图可以看出，原方程组对应的两条直线（红与黑）交于（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）点，但由于两直线几近平行，所以当第二个方程有微小变化 （从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2.01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）时，交点变（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1,1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），变化很大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2DA70118-367F-4AC2-A882-C124476712E2}"/>
              </a:ext>
            </a:extLst>
          </p:cNvPr>
          <p:cNvSpPr/>
          <p:nvPr/>
        </p:nvSpPr>
        <p:spPr>
          <a:xfrm>
            <a:off x="71059" y="739129"/>
            <a:ext cx="1031648" cy="44673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例61-4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C3209DF1-0659-40F6-B0C3-F71132B60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608" y="162256"/>
            <a:ext cx="34275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的扰动敏感程度）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E018D4-923F-4C22-8CFD-A524A544D5B9}"/>
              </a:ext>
            </a:extLst>
          </p:cNvPr>
          <p:cNvSpPr txBox="1"/>
          <p:nvPr/>
        </p:nvSpPr>
        <p:spPr>
          <a:xfrm>
            <a:off x="869593" y="9386"/>
            <a:ext cx="4642716" cy="5866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矩阵范数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2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6296028B-F6C2-42CF-B127-4F9D15C5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6" y="692159"/>
            <a:ext cx="8847334" cy="12618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范数定义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为了定量地估计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的扰动敏感的程度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需要度量</a:t>
            </a:r>
          </a:p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向量或矩阵“大小”的数量指标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这记作范数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6C821D8B-DACA-4458-B58A-7DAF9E91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569" y="2105099"/>
            <a:ext cx="249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x=[x</a:t>
            </a:r>
            <a:r>
              <a:rPr lang="en-US" altLang="zh-CN" sz="2800" baseline="-25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,x</a:t>
            </a:r>
            <a:r>
              <a:rPr lang="en-US" altLang="zh-CN" sz="2800" baseline="-25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,x</a:t>
            </a:r>
            <a:r>
              <a:rPr lang="en-US" altLang="zh-CN" sz="2800" baseline="-25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…,</a:t>
            </a:r>
            <a:r>
              <a:rPr lang="en-US" altLang="zh-CN" sz="28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zh-CN" sz="2800" baseline="-25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3F3C13DF-2193-4D98-888D-17A119FA4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75" y="2210354"/>
            <a:ext cx="29001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常见的三种向量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843999FC-0532-4D2A-9F50-61D82556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3" y="2877037"/>
            <a:ext cx="3981854" cy="43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610DDE23-F61D-4E89-A85E-A32773716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3" y="3558564"/>
            <a:ext cx="4520047" cy="39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26031C6E-2C54-45F9-83E3-8B13F1897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29" y="4190002"/>
            <a:ext cx="4397661" cy="34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1FDA069-4246-4D54-9121-7B3355721411}"/>
              </a:ext>
            </a:extLst>
          </p:cNvPr>
          <p:cNvSpPr/>
          <p:nvPr/>
        </p:nvSpPr>
        <p:spPr>
          <a:xfrm>
            <a:off x="290363" y="1668247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范数分类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向量范数或矩阵范数</a:t>
            </a: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8FA8D7AE-5761-410F-9B24-C445FEAFFA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8375" y="1131590"/>
          <a:ext cx="427038" cy="415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公式" r:id="rId6" imgW="215640" imgH="279360" progId="Equation.3">
                  <p:embed/>
                </p:oleObj>
              </mc:Choice>
              <mc:Fallback>
                <p:oleObj name="公式" r:id="rId6" imgW="215640" imgH="279360" progId="Equation.3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8FA8D7AE-5761-410F-9B24-C445FEAFF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8375" y="1131590"/>
                        <a:ext cx="427038" cy="4155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45B6ED7-4F13-40D5-B6C0-866DDCFA0F43}"/>
              </a:ext>
            </a:extLst>
          </p:cNvPr>
          <p:cNvSpPr txBox="1"/>
          <p:nvPr/>
        </p:nvSpPr>
        <p:spPr>
          <a:xfrm>
            <a:off x="4522015" y="2897626"/>
            <a:ext cx="4387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u="sng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000" u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向量中所有元素绝对值之和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F659B3-3C7B-46F0-AA35-26405AAE09C1}"/>
              </a:ext>
            </a:extLst>
          </p:cNvPr>
          <p:cNvSpPr txBox="1"/>
          <p:nvPr/>
        </p:nvSpPr>
        <p:spPr>
          <a:xfrm>
            <a:off x="5047320" y="3493441"/>
            <a:ext cx="3538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u="none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向量中所有元素平方和开根号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94E8B7-F74E-4582-8C40-476F567DC770}"/>
              </a:ext>
            </a:extLst>
          </p:cNvPr>
          <p:cNvSpPr txBox="1"/>
          <p:nvPr/>
        </p:nvSpPr>
        <p:spPr>
          <a:xfrm>
            <a:off x="4910410" y="4196728"/>
            <a:ext cx="3981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u="none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向量中所有元素绝对值中最大值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C1A60A-4C30-46F6-8639-E35E6CA0469A}"/>
              </a:ext>
            </a:extLst>
          </p:cNvPr>
          <p:cNvSpPr txBox="1"/>
          <p:nvPr/>
        </p:nvSpPr>
        <p:spPr>
          <a:xfrm>
            <a:off x="1331640" y="54625"/>
            <a:ext cx="65484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三种范数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07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511F1CB7-37FE-48E9-B6E9-8F6F088D9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966" y="803820"/>
            <a:ext cx="4210721" cy="2914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grpSp>
        <p:nvGrpSpPr>
          <p:cNvPr id="7" name="Group 4">
            <a:extLst>
              <a:ext uri="{FF2B5EF4-FFF2-40B4-BE49-F238E27FC236}">
                <a16:creationId xmlns:a16="http://schemas.microsoft.com/office/drawing/2014/main" id="{8FE268D2-62D1-4BF3-8459-7B4170F68B7A}"/>
              </a:ext>
            </a:extLst>
          </p:cNvPr>
          <p:cNvGrpSpPr>
            <a:grpSpLocks/>
          </p:cNvGrpSpPr>
          <p:nvPr/>
        </p:nvGrpSpPr>
        <p:grpSpPr bwMode="auto">
          <a:xfrm>
            <a:off x="685388" y="1218502"/>
            <a:ext cx="3281575" cy="1286884"/>
            <a:chOff x="759" y="817"/>
            <a:chExt cx="2724" cy="1615"/>
          </a:xfrm>
          <a:solidFill>
            <a:schemeClr val="bg1"/>
          </a:solidFill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5AFE5F89-5F5E-4EE1-BCA5-C1ED4A22DD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" y="817"/>
              <a:ext cx="1644" cy="44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868693DF-CB7F-4947-A3B2-A2F001DF7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" y="903"/>
              <a:ext cx="681" cy="21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7D38B2DE-EED2-4506-BDC9-B4AD7FDA1C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" y="1457"/>
              <a:ext cx="882" cy="27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D9242142-1105-45BE-87A6-9260D7ED0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" y="1329"/>
              <a:ext cx="1614" cy="4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9">
              <a:extLst>
                <a:ext uri="{FF2B5EF4-FFF2-40B4-BE49-F238E27FC236}">
                  <a16:creationId xmlns:a16="http://schemas.microsoft.com/office/drawing/2014/main" id="{D12DB0BC-9D05-402E-8DBD-E50E204AD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1925"/>
              <a:ext cx="1692" cy="5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10">
              <a:extLst>
                <a:ext uri="{FF2B5EF4-FFF2-40B4-BE49-F238E27FC236}">
                  <a16:creationId xmlns:a16="http://schemas.microsoft.com/office/drawing/2014/main" id="{51574CAE-11ED-43CE-BC72-76D84C79A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" y="1968"/>
              <a:ext cx="810" cy="21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4" name="Picture 15">
            <a:extLst>
              <a:ext uri="{FF2B5EF4-FFF2-40B4-BE49-F238E27FC236}">
                <a16:creationId xmlns:a16="http://schemas.microsoft.com/office/drawing/2014/main" id="{58DDA027-11C7-4153-862E-34391B01B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412" y="1661585"/>
            <a:ext cx="2699324" cy="323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5D856957-33A7-4186-9912-33DDF5693A66}"/>
              </a:ext>
            </a:extLst>
          </p:cNvPr>
          <p:cNvSpPr txBox="1">
            <a:spLocks noChangeArrowheads="1"/>
          </p:cNvSpPr>
          <p:nvPr/>
        </p:nvSpPr>
        <p:spPr>
          <a:xfrm>
            <a:off x="619740" y="3015678"/>
            <a:ext cx="6696744" cy="152349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514350" indent="-514350" eaLnBrk="1" hangingPunct="1">
              <a:lnSpc>
                <a:spcPts val="3800"/>
              </a:lnSpc>
              <a:buFontTx/>
              <a:buAutoNum type="circleNumDbPlain"/>
            </a:pP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范数：</a:t>
            </a:r>
            <a:endParaRPr lang="en-US" altLang="zh-CN" sz="20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3800"/>
              </a:lnSpc>
              <a:buNone/>
            </a:pP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8817C6-2F9C-41FB-A704-5A6C09C32372}"/>
              </a:ext>
            </a:extLst>
          </p:cNvPr>
          <p:cNvSpPr/>
          <p:nvPr/>
        </p:nvSpPr>
        <p:spPr>
          <a:xfrm>
            <a:off x="3119162" y="3108306"/>
            <a:ext cx="246690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norm(A,2),</a:t>
            </a:r>
            <a:r>
              <a:rPr lang="zh-CN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默认 </a:t>
            </a:r>
            <a:r>
              <a:rPr lang="en-US" altLang="zh-CN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norm(A)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BD3D70-AD72-4588-BDA1-E4D92C359AC0}"/>
              </a:ext>
            </a:extLst>
          </p:cNvPr>
          <p:cNvSpPr/>
          <p:nvPr/>
        </p:nvSpPr>
        <p:spPr>
          <a:xfrm>
            <a:off x="3131212" y="3634963"/>
            <a:ext cx="1184523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norm(A,1)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2F4C1E-2366-4E90-8FED-DE537BDD3CB4}"/>
              </a:ext>
            </a:extLst>
          </p:cNvPr>
          <p:cNvSpPr/>
          <p:nvPr/>
        </p:nvSpPr>
        <p:spPr>
          <a:xfrm>
            <a:off x="3110703" y="4116836"/>
            <a:ext cx="128907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b="1" kern="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A,Inf</a:t>
            </a:r>
            <a:r>
              <a:rPr lang="en-US" altLang="zh-CN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0BCEB2-8B62-48DA-A40C-9FA7831BD63C}"/>
              </a:ext>
            </a:extLst>
          </p:cNvPr>
          <p:cNvSpPr/>
          <p:nvPr/>
        </p:nvSpPr>
        <p:spPr>
          <a:xfrm>
            <a:off x="611560" y="2624709"/>
            <a:ext cx="2435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向量或矩阵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范数函数</a:t>
            </a:r>
            <a:endParaRPr lang="zh-CN" alt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74A97B-77E7-489C-92BC-8EEEF2218E2F}"/>
              </a:ext>
            </a:extLst>
          </p:cNvPr>
          <p:cNvSpPr txBox="1"/>
          <p:nvPr/>
        </p:nvSpPr>
        <p:spPr>
          <a:xfrm>
            <a:off x="4270392" y="2532571"/>
            <a:ext cx="3475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sz="2000" dirty="0"/>
              <a:t>p-</a:t>
            </a:r>
            <a:r>
              <a:rPr lang="zh-CN" altLang="en-US" sz="2000" dirty="0"/>
              <a:t>范数类型</a:t>
            </a:r>
            <a:r>
              <a:rPr lang="en-US" altLang="zh-CN" sz="2000" dirty="0"/>
              <a:t>:1,2, inf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C29E32-1556-486C-8755-7B2651202CCA}"/>
              </a:ext>
            </a:extLst>
          </p:cNvPr>
          <p:cNvSpPr txBox="1"/>
          <p:nvPr/>
        </p:nvSpPr>
        <p:spPr>
          <a:xfrm>
            <a:off x="5623308" y="3055595"/>
            <a:ext cx="2639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600" u="none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元素平方和开根号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A2F0F8-DAEE-4059-A020-0A1A93FAD922}"/>
              </a:ext>
            </a:extLst>
          </p:cNvPr>
          <p:cNvSpPr/>
          <p:nvPr/>
        </p:nvSpPr>
        <p:spPr>
          <a:xfrm>
            <a:off x="3119162" y="2616878"/>
            <a:ext cx="106779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sz="1600" b="1" kern="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3F6C00-FC76-448E-BFE6-03DBDF9F03FA}"/>
              </a:ext>
            </a:extLst>
          </p:cNvPr>
          <p:cNvSpPr/>
          <p:nvPr/>
        </p:nvSpPr>
        <p:spPr>
          <a:xfrm>
            <a:off x="5012167" y="3560635"/>
            <a:ext cx="3923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  2-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范数： 常用误差的平方和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456E4755-7A2C-48B8-B14A-C90E05A94A8A}"/>
              </a:ext>
            </a:extLst>
          </p:cNvPr>
          <p:cNvSpPr txBox="1">
            <a:spLocks noChangeArrowheads="1"/>
          </p:cNvSpPr>
          <p:nvPr/>
        </p:nvSpPr>
        <p:spPr>
          <a:xfrm>
            <a:off x="619740" y="3537884"/>
            <a:ext cx="3816424" cy="1030756"/>
          </a:xfrm>
          <a:prstGeom prst="rect">
            <a:avLst/>
          </a:prstGeom>
          <a:ln>
            <a:noFill/>
          </a:ln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514350" indent="-514350" eaLnBrk="1" hangingPunct="1">
              <a:lnSpc>
                <a:spcPts val="3800"/>
              </a:lnSpc>
              <a:buFont typeface="+mj-ea"/>
              <a:buAutoNum type="circleNumDbPlain" startAt="2"/>
            </a:pP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范数：</a:t>
            </a:r>
            <a:endParaRPr lang="en-US" altLang="zh-CN" sz="20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1" hangingPunct="1">
              <a:lnSpc>
                <a:spcPts val="3800"/>
              </a:lnSpc>
              <a:buFont typeface="+mj-ea"/>
              <a:buAutoNum type="circleNumDbPlain" startAt="2"/>
            </a:pP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的∞</a:t>
            </a:r>
            <a:r>
              <a:rPr lang="en-US" altLang="zh-CN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范数：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F080C787-CAFF-4996-942D-532D13EA4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80" y="734611"/>
            <a:ext cx="2666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常见的三种矩阵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C622F4-02CC-4919-B33E-67EBE367340A}"/>
              </a:ext>
            </a:extLst>
          </p:cNvPr>
          <p:cNvSpPr txBox="1"/>
          <p:nvPr/>
        </p:nvSpPr>
        <p:spPr>
          <a:xfrm>
            <a:off x="1331640" y="54625"/>
            <a:ext cx="65484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三种范数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353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159" y="1957416"/>
            <a:ext cx="8451446" cy="1281889"/>
          </a:xfrm>
          <a:ln>
            <a:noFill/>
          </a:ln>
        </p:spPr>
        <p:txBody>
          <a:bodyPr/>
          <a:lstStyle/>
          <a:p>
            <a:pPr marL="0" indent="0" eaLnBrk="1" hangingPunct="1">
              <a:lnSpc>
                <a:spcPts val="3200"/>
              </a:lnSpc>
              <a:buFont typeface="+mj-ea"/>
              <a:buAutoNum type="circleNumDbPlain"/>
              <a:defRPr/>
            </a:pP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范数下条件数</a:t>
            </a:r>
            <a:endParaRPr lang="en-US" altLang="zh-CN" sz="1800" b="0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3200"/>
              </a:lnSpc>
              <a:buFont typeface="+mj-ea"/>
              <a:buAutoNum type="circleNumDbPlain"/>
              <a:defRPr/>
            </a:pP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范数下条件数，非方阵也行</a:t>
            </a:r>
            <a:endParaRPr lang="en-US" altLang="zh-CN" sz="1800" b="0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3200"/>
              </a:lnSpc>
              <a:buFont typeface="+mj-ea"/>
              <a:buAutoNum type="circleNumDbPlain"/>
              <a:defRPr/>
            </a:pP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∞</a:t>
            </a:r>
            <a:r>
              <a:rPr lang="en-US" altLang="zh-CN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800" b="0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范数下条件数</a:t>
            </a:r>
          </a:p>
        </p:txBody>
      </p:sp>
      <p:sp>
        <p:nvSpPr>
          <p:cNvPr id="5" name="矩形 4"/>
          <p:cNvSpPr/>
          <p:nvPr/>
        </p:nvSpPr>
        <p:spPr>
          <a:xfrm>
            <a:off x="193159" y="1103000"/>
            <a:ext cx="8574730" cy="4589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的条件数可以判定矩阵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是否病态以及衡量病态程度</a:t>
            </a:r>
            <a:endParaRPr lang="en-US" altLang="zh-CN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0616" y="1510980"/>
            <a:ext cx="1751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p=1,2 or </a:t>
            </a:r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nf</a:t>
            </a:r>
            <a:endParaRPr lang="zh-CN" altLang="en-US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23F4E6-FEA4-4868-A0E2-8D6643D60B01}"/>
              </a:ext>
            </a:extLst>
          </p:cNvPr>
          <p:cNvSpPr/>
          <p:nvPr/>
        </p:nvSpPr>
        <p:spPr>
          <a:xfrm>
            <a:off x="2798567" y="2020829"/>
            <a:ext cx="1142544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cond(A,1)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AC2A3E-81EF-4757-A11A-AB9E277CE0E8}"/>
              </a:ext>
            </a:extLst>
          </p:cNvPr>
          <p:cNvSpPr/>
          <p:nvPr/>
        </p:nvSpPr>
        <p:spPr>
          <a:xfrm>
            <a:off x="4136464" y="2361123"/>
            <a:ext cx="106642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cond(A,2)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67275F-F7C1-4572-AA72-1D98A509DDE6}"/>
              </a:ext>
            </a:extLst>
          </p:cNvPr>
          <p:cNvSpPr/>
          <p:nvPr/>
        </p:nvSpPr>
        <p:spPr>
          <a:xfrm>
            <a:off x="2834355" y="2884185"/>
            <a:ext cx="130210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cond(A,Inf)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6863041-8948-49A4-9794-CB624685AD0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98874" y="1546399"/>
            <a:ext cx="1944216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p-条件数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类型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511E16FD-142C-4E86-AD39-05FA785A2B3A}"/>
              </a:ext>
            </a:extLst>
          </p:cNvPr>
          <p:cNvSpPr txBox="1"/>
          <p:nvPr/>
        </p:nvSpPr>
        <p:spPr>
          <a:xfrm>
            <a:off x="193159" y="1571577"/>
            <a:ext cx="279852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调用条件数的格式：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F0FB4A-382A-0967-5577-847B8730BF4D}"/>
              </a:ext>
            </a:extLst>
          </p:cNvPr>
          <p:cNvSpPr/>
          <p:nvPr/>
        </p:nvSpPr>
        <p:spPr>
          <a:xfrm>
            <a:off x="193159" y="801079"/>
            <a:ext cx="141577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定义式：</a:t>
            </a: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F9151BA7-A627-17A5-2096-EF0C4D77D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8" t="1433"/>
          <a:stretch/>
        </p:blipFill>
        <p:spPr bwMode="auto">
          <a:xfrm>
            <a:off x="1353929" y="852388"/>
            <a:ext cx="2949464" cy="289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B860B03-8F73-8021-1C31-549928C26540}"/>
              </a:ext>
            </a:extLst>
          </p:cNvPr>
          <p:cNvSpPr/>
          <p:nvPr/>
        </p:nvSpPr>
        <p:spPr>
          <a:xfrm>
            <a:off x="4398371" y="688649"/>
            <a:ext cx="4369518" cy="51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的范数与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的逆矩阵的范数的乘积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68D03E-632C-6B45-5C9A-16383BFCC767}"/>
              </a:ext>
            </a:extLst>
          </p:cNvPr>
          <p:cNvSpPr/>
          <p:nvPr/>
        </p:nvSpPr>
        <p:spPr>
          <a:xfrm>
            <a:off x="2600889" y="1590436"/>
            <a:ext cx="108835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</a:t>
            </a:r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672BD0-E5B3-C6F5-261E-11C55D8F4507}"/>
              </a:ext>
            </a:extLst>
          </p:cNvPr>
          <p:cNvSpPr/>
          <p:nvPr/>
        </p:nvSpPr>
        <p:spPr>
          <a:xfrm>
            <a:off x="5248117" y="2327696"/>
            <a:ext cx="1380666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默认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cond(A)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F9AFF5-E7EA-4F22-9793-0E91701E6B4D}"/>
              </a:ext>
            </a:extLst>
          </p:cNvPr>
          <p:cNvSpPr/>
          <p:nvPr/>
        </p:nvSpPr>
        <p:spPr>
          <a:xfrm>
            <a:off x="226744" y="3224229"/>
            <a:ext cx="4238807" cy="144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条件数衡量方程状态：</a:t>
            </a:r>
            <a:endParaRPr lang="en-US" altLang="zh-CN" sz="17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条件数越接近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，矩阵呈良态；</a:t>
            </a:r>
            <a:endParaRPr lang="en-US" altLang="zh-CN" sz="1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值越大越病态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10^10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为病态；</a:t>
            </a:r>
            <a:endParaRPr lang="en-US" altLang="zh-CN" sz="1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zh-CN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条件数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接近</a:t>
            </a:r>
            <a:r>
              <a:rPr lang="zh-CN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10^16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矩阵呈奇异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2F56EE-97E4-42B8-9EF6-E7DCBBDBD6A0}"/>
              </a:ext>
            </a:extLst>
          </p:cNvPr>
          <p:cNvSpPr txBox="1"/>
          <p:nvPr/>
        </p:nvSpPr>
        <p:spPr>
          <a:xfrm>
            <a:off x="1331640" y="54625"/>
            <a:ext cx="65484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三种范数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26A138C0-08D2-42D6-B093-131AE9BE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80279"/>
              </p:ext>
            </p:extLst>
          </p:nvPr>
        </p:nvGraphicFramePr>
        <p:xfrm>
          <a:off x="4353004" y="3250212"/>
          <a:ext cx="4782142" cy="1288101"/>
        </p:xfrm>
        <a:graphic>
          <a:graphicData uri="http://schemas.openxmlformats.org/drawingml/2006/table">
            <a:tbl>
              <a:tblPr/>
              <a:tblGrid>
                <a:gridCol w="1071798">
                  <a:extLst>
                    <a:ext uri="{9D8B030D-6E8A-4147-A177-3AD203B41FA5}">
                      <a16:colId xmlns:a16="http://schemas.microsoft.com/office/drawing/2014/main" val="850743115"/>
                    </a:ext>
                  </a:extLst>
                </a:gridCol>
                <a:gridCol w="1536900">
                  <a:extLst>
                    <a:ext uri="{9D8B030D-6E8A-4147-A177-3AD203B41FA5}">
                      <a16:colId xmlns:a16="http://schemas.microsoft.com/office/drawing/2014/main" val="2667378046"/>
                    </a:ext>
                  </a:extLst>
                </a:gridCol>
                <a:gridCol w="2173444">
                  <a:extLst>
                    <a:ext uri="{9D8B030D-6E8A-4147-A177-3AD203B41FA5}">
                      <a16:colId xmlns:a16="http://schemas.microsoft.com/office/drawing/2014/main" val="2239901229"/>
                    </a:ext>
                  </a:extLst>
                </a:gridCol>
              </a:tblGrid>
              <a:tr h="265328"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特性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</a:p>
                  </a:txBody>
                  <a:tcPr marL="85859" marR="85859" marT="56345" marB="40246" anchor="ctr">
                    <a:lnL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病态问题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</a:p>
                  </a:txBody>
                  <a:tcPr marL="85859" marR="85859" marT="56345" marB="40246" anchor="ctr">
                    <a:lnL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奇异问题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‌</a:t>
                      </a:r>
                    </a:p>
                  </a:txBody>
                  <a:tcPr marL="85859" marR="85859" marT="56345" marB="40246" anchor="ctr">
                    <a:lnL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66831"/>
                  </a:ext>
                </a:extLst>
              </a:tr>
              <a:tr h="279110"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条件数范围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高但有限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趋于无穷大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2464"/>
                  </a:ext>
                </a:extLst>
              </a:tr>
              <a:tr h="279110"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矩阵可逆性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50BD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D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D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可逆但接近奇异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50BD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不可逆（行列式为零）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867976"/>
                  </a:ext>
                </a:extLst>
              </a:tr>
              <a:tr h="27911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  <a:latin typeface="PingFang SC"/>
                        </a:rPr>
                        <a:t>解的存在性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</a:rPr>
                        <a:t>‌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5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D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存在唯一解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5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C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C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解可能不存在或不唯一‌</a:t>
                      </a:r>
                    </a:p>
                  </a:txBody>
                  <a:tcPr marL="85859" marR="85859" marT="56345" marB="56345" anchor="ctr">
                    <a:lnL w="6350" cap="flat" cmpd="sng" algn="ctr">
                      <a:solidFill>
                        <a:srgbClr val="50C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C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054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5A710144-FC51-4CB1-8116-24E7D6C82D6B}"/>
              </a:ext>
            </a:extLst>
          </p:cNvPr>
          <p:cNvSpPr/>
          <p:nvPr/>
        </p:nvSpPr>
        <p:spPr>
          <a:xfrm>
            <a:off x="5580112" y="2882802"/>
            <a:ext cx="259228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病态和奇异矩阵的区别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927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3" grpId="0" build="p" animBg="1"/>
      <p:bldP spid="5" grpId="0" animBg="1"/>
      <p:bldP spid="6" grpId="0"/>
      <p:bldP spid="11" grpId="0" animBg="1"/>
      <p:bldP spid="12" grpId="0" animBg="1"/>
      <p:bldP spid="13" grpId="0" animBg="1"/>
      <p:bldP spid="15" grpId="0" animBg="1"/>
      <p:bldP spid="18" grpId="0" animBg="1"/>
      <p:bldP spid="20" grpId="0" animBg="1"/>
      <p:bldP spid="21" grpId="0" animBg="1"/>
      <p:bldP spid="17" grpId="0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533170E-A5B3-4D97-A436-7D3F7BCCD67A}"/>
              </a:ext>
            </a:extLst>
          </p:cNvPr>
          <p:cNvSpPr/>
          <p:nvPr/>
        </p:nvSpPr>
        <p:spPr>
          <a:xfrm>
            <a:off x="1183042" y="767004"/>
            <a:ext cx="20208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中心温度条件数</a:t>
            </a: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CD5185C4-13B8-4BE8-8065-0D23A66CE550}"/>
              </a:ext>
            </a:extLst>
          </p:cNvPr>
          <p:cNvSpPr/>
          <p:nvPr/>
        </p:nvSpPr>
        <p:spPr>
          <a:xfrm>
            <a:off x="243254" y="754280"/>
            <a:ext cx="939789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例61-1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47225B-0A50-459F-8DAF-6F03C2F319D5}"/>
              </a:ext>
            </a:extLst>
          </p:cNvPr>
          <p:cNvSpPr txBox="1"/>
          <p:nvPr/>
        </p:nvSpPr>
        <p:spPr>
          <a:xfrm>
            <a:off x="284098" y="4132860"/>
            <a:ext cx="8715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接近奇异的矩阵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‌（条件数极大但尚未完全奇异）可能被泛称为“病态矩阵”‌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07BAD0-C634-4210-A9D1-4D3271625B59}"/>
              </a:ext>
            </a:extLst>
          </p:cNvPr>
          <p:cNvSpPr txBox="1"/>
          <p:nvPr/>
        </p:nvSpPr>
        <p:spPr>
          <a:xfrm>
            <a:off x="1475656" y="66443"/>
            <a:ext cx="65484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三种范数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norm(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A,p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D14A55-C403-4C47-900B-60EC7BC64BFE}"/>
              </a:ext>
            </a:extLst>
          </p:cNvPr>
          <p:cNvSpPr/>
          <p:nvPr/>
        </p:nvSpPr>
        <p:spPr>
          <a:xfrm>
            <a:off x="1184143" y="2355726"/>
            <a:ext cx="20643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车流量条件数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B66D1407-DF54-419A-970F-587A02034BE7}"/>
              </a:ext>
            </a:extLst>
          </p:cNvPr>
          <p:cNvSpPr/>
          <p:nvPr/>
        </p:nvSpPr>
        <p:spPr>
          <a:xfrm>
            <a:off x="244354" y="2364353"/>
            <a:ext cx="939789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例61-2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204387-6B88-41BC-A828-BF35A1E9BB8F}"/>
              </a:ext>
            </a:extLst>
          </p:cNvPr>
          <p:cNvSpPr txBox="1"/>
          <p:nvPr/>
        </p:nvSpPr>
        <p:spPr>
          <a:xfrm>
            <a:off x="140052" y="1114040"/>
            <a:ext cx="9003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c1=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#3.0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c2=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 #3.000000000000001</a:t>
            </a:r>
          </a:p>
          <a:p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C48725-75C9-44D2-8721-3DC3E4DEF83A}"/>
              </a:ext>
            </a:extLst>
          </p:cNvPr>
          <p:cNvSpPr txBox="1"/>
          <p:nvPr/>
        </p:nvSpPr>
        <p:spPr>
          <a:xfrm>
            <a:off x="244529" y="2901935"/>
            <a:ext cx="63551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a=[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b=[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;-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pt-B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zh-CN" altLang="en-US" dirty="0"/>
              <a:t>c1=cond(a,1)  </a:t>
            </a:r>
            <a:r>
              <a:rPr lang="en-US" altLang="zh-CN" dirty="0"/>
              <a:t>#</a:t>
            </a:r>
            <a:r>
              <a:rPr lang="zh-CN" altLang="en-US" dirty="0"/>
              <a:t>Inf</a:t>
            </a:r>
          </a:p>
          <a:p>
            <a:r>
              <a:rPr lang="zh-CN" altLang="en-US" dirty="0"/>
              <a:t>c2=cond(a)  </a:t>
            </a:r>
            <a:r>
              <a:rPr lang="en-US" altLang="zh-CN" dirty="0"/>
              <a:t>#</a:t>
            </a:r>
            <a:r>
              <a:rPr lang="zh-CN" altLang="en-US" dirty="0"/>
              <a:t>Inf</a:t>
            </a:r>
          </a:p>
        </p:txBody>
      </p:sp>
    </p:spTree>
    <p:extLst>
      <p:ext uri="{BB962C8B-B14F-4D97-AF65-F5344CB8AC3E}">
        <p14:creationId xmlns:p14="http://schemas.microsoft.com/office/powerpoint/2010/main" val="2147539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8929" y="3448124"/>
            <a:ext cx="4375920" cy="499624"/>
          </a:xfrm>
        </p:spPr>
        <p:txBody>
          <a:bodyPr/>
          <a:lstStyle/>
          <a:p>
            <a:pPr marL="0" indent="0" algn="dist" eaLnBrk="1" hangingPunct="1">
              <a:lnSpc>
                <a:spcPct val="150000"/>
              </a:lnSpc>
              <a:buNone/>
            </a:pPr>
            <a:r>
              <a:rPr lang="zh-CN" altLang="en-US" sz="20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20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宋体"/>
              </a:rPr>
              <a:t>特征列向量构成矩阵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宋体"/>
              </a:rPr>
              <a:t>V</a:t>
            </a:r>
            <a:endParaRPr lang="zh-CN" altLang="en-US" sz="2000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宋体"/>
            </a:endParaRPr>
          </a:p>
        </p:txBody>
      </p:sp>
      <p:sp>
        <p:nvSpPr>
          <p:cNvPr id="58375" name="矩形 1"/>
          <p:cNvSpPr>
            <a:spLocks noChangeArrowheads="1"/>
          </p:cNvSpPr>
          <p:nvPr/>
        </p:nvSpPr>
        <p:spPr bwMode="auto">
          <a:xfrm>
            <a:off x="371425" y="1339080"/>
            <a:ext cx="3912543" cy="49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zh-CN" altLang="en-US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ν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关系：</a:t>
            </a:r>
          </a:p>
        </p:txBody>
      </p:sp>
      <p:sp>
        <p:nvSpPr>
          <p:cNvPr id="10" name="矩形 9"/>
          <p:cNvSpPr/>
          <p:nvPr/>
        </p:nvSpPr>
        <p:spPr>
          <a:xfrm>
            <a:off x="499268" y="4113498"/>
            <a:ext cx="1749255" cy="393826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eigvecs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6544" y="1971313"/>
            <a:ext cx="1197412" cy="393826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A*ν=λ*ν </a:t>
            </a:r>
          </a:p>
        </p:txBody>
      </p:sp>
      <p:sp>
        <p:nvSpPr>
          <p:cNvPr id="5" name="矩形 4"/>
          <p:cNvSpPr/>
          <p:nvPr/>
        </p:nvSpPr>
        <p:spPr>
          <a:xfrm>
            <a:off x="508447" y="3029611"/>
            <a:ext cx="1543273" cy="393826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eigvals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2388" y="2491856"/>
            <a:ext cx="3594933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lvl="0" indent="-177800">
              <a:lnSpc>
                <a:spcPct val="11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求方阵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的全部特征值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478929" y="620313"/>
            <a:ext cx="792088" cy="839159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latin typeface="Times New Roman" pitchFamily="18" charset="0"/>
              </a:rPr>
              <a:t>注意</a:t>
            </a:r>
            <a:endParaRPr lang="zh-CN" altLang="en-US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23EEA7-45BC-4C1C-854F-5F0E46C99788}"/>
              </a:ext>
            </a:extLst>
          </p:cNvPr>
          <p:cNvSpPr txBox="1"/>
          <p:nvPr/>
        </p:nvSpPr>
        <p:spPr>
          <a:xfrm>
            <a:off x="1043608" y="67338"/>
            <a:ext cx="784887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特征值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eigval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与特征向量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eigvecs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6DB64F26-28A9-4F78-8791-65561E6D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089" y="4163519"/>
            <a:ext cx="3779912" cy="438150"/>
          </a:xfrm>
          <a:solidFill>
            <a:schemeClr val="bg1"/>
          </a:solidFill>
        </p:spPr>
        <p:txBody>
          <a:bodyPr/>
          <a:lstStyle/>
          <a:p>
            <a:pPr>
              <a:lnSpc>
                <a:spcPts val="2700"/>
              </a:lnSpc>
            </a:pPr>
            <a:br>
              <a:rPr lang="en-US" altLang="zh-CN" sz="2000" b="1" dirty="0"/>
            </a:br>
            <a:r>
              <a:rPr lang="en-US" altLang="zh-CN" sz="2000" b="1" dirty="0" err="1"/>
              <a:t>va</a:t>
            </a:r>
            <a:r>
              <a:rPr lang="en-US" altLang="zh-CN" sz="2000" b="1" dirty="0"/>
              <a:t>=eigvecs(a)  #</a:t>
            </a:r>
            <a:r>
              <a:rPr lang="zh-CN" altLang="en-US" sz="2000" b="1" dirty="0"/>
              <a:t>特征向量</a:t>
            </a:r>
            <a:br>
              <a:rPr lang="en-US" altLang="zh-CN" sz="2000" b="1" dirty="0"/>
            </a:b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B0F0"/>
                </a:solidFill>
              </a:rPr>
              <a:t>3×3 Matrix{Float64}:</a:t>
            </a:r>
            <a:br>
              <a:rPr lang="en-US" altLang="zh-CN" sz="2000" b="1" dirty="0">
                <a:solidFill>
                  <a:srgbClr val="00B0F0"/>
                </a:solidFill>
              </a:rPr>
            </a:br>
            <a:r>
              <a:rPr lang="en-US" altLang="zh-CN" sz="2000" b="1" dirty="0">
                <a:solidFill>
                  <a:srgbClr val="00B0F0"/>
                </a:solidFill>
              </a:rPr>
              <a:t>  0.543844  -0.816497  0.193823</a:t>
            </a:r>
            <a:br>
              <a:rPr lang="en-US" altLang="zh-CN" sz="2000" b="1" dirty="0">
                <a:solidFill>
                  <a:srgbClr val="00B0F0"/>
                </a:solidFill>
              </a:rPr>
            </a:br>
            <a:r>
              <a:rPr lang="en-US" altLang="zh-CN" sz="2000" b="1" dirty="0">
                <a:solidFill>
                  <a:srgbClr val="00B0F0"/>
                </a:solidFill>
              </a:rPr>
              <a:t> -0.781227  -0.408248  0.472247</a:t>
            </a:r>
            <a:br>
              <a:rPr lang="en-US" altLang="zh-CN" sz="2000" b="1" dirty="0">
                <a:solidFill>
                  <a:srgbClr val="00B0F0"/>
                </a:solidFill>
              </a:rPr>
            </a:br>
            <a:r>
              <a:rPr lang="en-US" altLang="zh-CN" sz="2000" b="1" dirty="0">
                <a:solidFill>
                  <a:srgbClr val="00B0F0"/>
                </a:solidFill>
              </a:rPr>
              <a:t>  0.306461   0.408248  0.859893</a:t>
            </a:r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87DD6A10-6A28-4C62-9CAC-D4DD00FDF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805" y="4188433"/>
            <a:ext cx="5112568" cy="491007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kern="0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200" b="1" kern="0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eig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求特征值和特征向量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53788F-12C3-412D-8ABF-A4E260B8E8FE}"/>
              </a:ext>
            </a:extLst>
          </p:cNvPr>
          <p:cNvSpPr txBox="1"/>
          <p:nvPr/>
        </p:nvSpPr>
        <p:spPr>
          <a:xfrm>
            <a:off x="5364089" y="782521"/>
            <a:ext cx="3779911" cy="2154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b="1" dirty="0"/>
              <a:t>a=[1 1 1;1 2 3;1 3 6];</a:t>
            </a:r>
            <a:br>
              <a:rPr lang="en-US" altLang="zh-CN" sz="1800" b="1" dirty="0"/>
            </a:br>
            <a:r>
              <a:rPr lang="en-US" altLang="zh-CN" sz="1800" b="1" dirty="0" err="1"/>
              <a:t>va</a:t>
            </a:r>
            <a:r>
              <a:rPr lang="en-US" altLang="zh-CN" sz="1800" b="1" dirty="0"/>
              <a:t>=</a:t>
            </a:r>
            <a:r>
              <a:rPr lang="en-US" altLang="zh-CN" sz="1800" b="1" dirty="0" err="1"/>
              <a:t>eigvals</a:t>
            </a:r>
            <a:r>
              <a:rPr lang="en-US" altLang="zh-CN" sz="1800" b="1" dirty="0"/>
              <a:t>(a)  #</a:t>
            </a:r>
            <a:r>
              <a:rPr lang="zh-CN" altLang="en-US" sz="1800" b="1" dirty="0"/>
              <a:t>特征值</a:t>
            </a:r>
            <a:br>
              <a:rPr lang="en-US" altLang="zh-CN" sz="1800" b="1" dirty="0"/>
            </a:br>
            <a:r>
              <a:rPr lang="en-US" altLang="zh-CN" sz="1800" b="1" dirty="0"/>
              <a:t> 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3-element Vector{Float64}: </a:t>
            </a:r>
            <a:b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</a:b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0.12701665379258278</a:t>
            </a:r>
            <a:b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</a:b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1.0000000000000002</a:t>
            </a:r>
            <a:b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</a:b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7.872983346207416</a:t>
            </a:r>
            <a:endParaRPr lang="zh-CN" altLang="en-US" sz="20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FB6E8A-672E-407B-8FAB-BCBE7384F413}"/>
              </a:ext>
            </a:extLst>
          </p:cNvPr>
          <p:cNvSpPr txBox="1"/>
          <p:nvPr/>
        </p:nvSpPr>
        <p:spPr>
          <a:xfrm>
            <a:off x="1245894" y="803998"/>
            <a:ext cx="4616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最优控制和经济管理等领域</a:t>
            </a:r>
          </a:p>
        </p:txBody>
      </p:sp>
    </p:spTree>
    <p:extLst>
      <p:ext uri="{BB962C8B-B14F-4D97-AF65-F5344CB8AC3E}">
        <p14:creationId xmlns:p14="http://schemas.microsoft.com/office/powerpoint/2010/main" val="38508450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build="p"/>
      <p:bldP spid="10" grpId="0" animBg="1"/>
      <p:bldP spid="2" grpId="0" animBg="1"/>
      <p:bldP spid="5" grpId="0" animBg="1"/>
      <p:bldP spid="6" grpId="0"/>
      <p:bldP spid="11" grpId="0" animBg="1"/>
      <p:bldP spid="13" grpId="0" animBg="1"/>
      <p:bldP spid="14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4">
            <a:extLst>
              <a:ext uri="{FF2B5EF4-FFF2-40B4-BE49-F238E27FC236}">
                <a16:creationId xmlns:a16="http://schemas.microsoft.com/office/drawing/2014/main" id="{1795DBFD-713D-4574-B1A2-1FC655D4B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6625" y="581756"/>
            <a:ext cx="8369438" cy="34261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10E901D-FC70-4C81-B85F-F3DDC5BD47FF}"/>
              </a:ext>
            </a:extLst>
          </p:cNvPr>
          <p:cNvSpPr/>
          <p:nvPr/>
        </p:nvSpPr>
        <p:spPr>
          <a:xfrm>
            <a:off x="6997827" y="3337145"/>
            <a:ext cx="2064989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常数列向量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b(m*1)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pic>
        <p:nvPicPr>
          <p:cNvPr id="6" name="Picture 1" descr="C:\Users\aibin\AppData\Roaming\Tencent\Users\910987637\QQ\WinTemp\RichOle\H53OUY5MA039WY6{(DGF`TM.png">
            <a:extLst>
              <a:ext uri="{FF2B5EF4-FFF2-40B4-BE49-F238E27FC236}">
                <a16:creationId xmlns:a16="http://schemas.microsoft.com/office/drawing/2014/main" id="{0FBA31FE-A303-4D16-96CF-17E7DBBF17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6"/>
          <a:stretch/>
        </p:blipFill>
        <p:spPr bwMode="auto">
          <a:xfrm>
            <a:off x="3754355" y="3633898"/>
            <a:ext cx="2124214" cy="971550"/>
          </a:xfrm>
          <a:prstGeom prst="rect">
            <a:avLst/>
          </a:prstGeom>
          <a:ln w="28575">
            <a:solidFill>
              <a:srgbClr val="990000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020C7F7-D501-4F50-8F76-83080F69924B}"/>
              </a:ext>
            </a:extLst>
          </p:cNvPr>
          <p:cNvSpPr/>
          <p:nvPr/>
        </p:nvSpPr>
        <p:spPr>
          <a:xfrm>
            <a:off x="2087682" y="3253073"/>
            <a:ext cx="2373662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charset="0"/>
                <a:ea typeface="宋体" charset="-122"/>
              </a:rPr>
              <a:t>系数矩阵</a:t>
            </a:r>
            <a:r>
              <a:rPr lang="en-US" altLang="zh-CN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charset="0"/>
                <a:ea typeface="宋体" charset="-122"/>
              </a:rPr>
              <a:t>A(m*n)</a:t>
            </a:r>
            <a:endParaRPr lang="zh-CN" altLang="en-US" sz="1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charset="0"/>
              <a:ea typeface="宋体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FFA47C-8B13-4D7E-BAD7-6F71EED881DA}"/>
              </a:ext>
            </a:extLst>
          </p:cNvPr>
          <p:cNvSpPr/>
          <p:nvPr/>
        </p:nvSpPr>
        <p:spPr>
          <a:xfrm>
            <a:off x="6980412" y="1194306"/>
            <a:ext cx="166565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个独立方程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3F8328-3A3E-4ACC-9DDA-DF9669282714}"/>
              </a:ext>
            </a:extLst>
          </p:cNvPr>
          <p:cNvSpPr/>
          <p:nvPr/>
        </p:nvSpPr>
        <p:spPr>
          <a:xfrm>
            <a:off x="3859220" y="1744117"/>
            <a:ext cx="138371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个未知量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20CB5B-931E-4498-A5E0-DDBDE2B6DABE}"/>
              </a:ext>
            </a:extLst>
          </p:cNvPr>
          <p:cNvSpPr/>
          <p:nvPr/>
        </p:nvSpPr>
        <p:spPr>
          <a:xfrm>
            <a:off x="395536" y="4146634"/>
            <a:ext cx="1281120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增广矩阵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B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4582655-3007-4D7A-B3C9-32537703CB6A}"/>
              </a:ext>
            </a:extLst>
          </p:cNvPr>
          <p:cNvSpPr/>
          <p:nvPr/>
        </p:nvSpPr>
        <p:spPr bwMode="auto">
          <a:xfrm>
            <a:off x="5244417" y="3660343"/>
            <a:ext cx="295941" cy="915479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C4A2A1-1B49-44DC-8AE3-AB91FAECF274}"/>
              </a:ext>
            </a:extLst>
          </p:cNvPr>
          <p:cNvSpPr txBox="1"/>
          <p:nvPr/>
        </p:nvSpPr>
        <p:spPr>
          <a:xfrm>
            <a:off x="1730377" y="4133407"/>
            <a:ext cx="1011815" cy="36933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zh-CN" dirty="0"/>
              <a:t>B=[A b]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76FBEE-E6AB-4E42-B296-3B587BAF1EA3}"/>
              </a:ext>
            </a:extLst>
          </p:cNvPr>
          <p:cNvSpPr/>
          <p:nvPr/>
        </p:nvSpPr>
        <p:spPr>
          <a:xfrm>
            <a:off x="179512" y="685273"/>
            <a:ext cx="6035606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线性方程组结构和增广矩阵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756B7-963F-426F-AFA2-77EA7D1065FC}"/>
              </a:ext>
            </a:extLst>
          </p:cNvPr>
          <p:cNvSpPr/>
          <p:nvPr/>
        </p:nvSpPr>
        <p:spPr>
          <a:xfrm>
            <a:off x="4176846" y="4007945"/>
            <a:ext cx="351378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charset="0"/>
                <a:ea typeface="宋体" charset="-122"/>
              </a:rPr>
              <a:t>A</a:t>
            </a:r>
            <a:endParaRPr lang="zh-CN" altLang="en-US" sz="1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charset="0"/>
              <a:ea typeface="宋体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14E28-664F-4985-9E9D-819A16E060A6}"/>
              </a:ext>
            </a:extLst>
          </p:cNvPr>
          <p:cNvSpPr/>
          <p:nvPr/>
        </p:nvSpPr>
        <p:spPr>
          <a:xfrm>
            <a:off x="5540358" y="3989296"/>
            <a:ext cx="325730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b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ABD97E4-54B2-4A11-B7A8-7996F3FD179A}"/>
              </a:ext>
            </a:extLst>
          </p:cNvPr>
          <p:cNvSpPr/>
          <p:nvPr/>
        </p:nvSpPr>
        <p:spPr bwMode="auto">
          <a:xfrm>
            <a:off x="2020852" y="2402659"/>
            <a:ext cx="1091019" cy="281575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8B5C7E-560D-4F08-8DCB-BBB21B4B66D3}"/>
              </a:ext>
            </a:extLst>
          </p:cNvPr>
          <p:cNvSpPr/>
          <p:nvPr/>
        </p:nvSpPr>
        <p:spPr>
          <a:xfrm>
            <a:off x="5244417" y="2379981"/>
            <a:ext cx="1988045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待解列向量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x(n*1)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FAD288-5CDA-4EA7-B9B6-BF6C02F96749}"/>
              </a:ext>
            </a:extLst>
          </p:cNvPr>
          <p:cNvSpPr txBox="1"/>
          <p:nvPr/>
        </p:nvSpPr>
        <p:spPr>
          <a:xfrm>
            <a:off x="1036096" y="171682"/>
            <a:ext cx="7416824" cy="4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三类线性方程组和解法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方程结构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85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8">
            <a:extLst>
              <a:ext uri="{FF2B5EF4-FFF2-40B4-BE49-F238E27FC236}">
                <a16:creationId xmlns:a16="http://schemas.microsoft.com/office/drawing/2014/main" id="{64C556D3-40FF-4E47-AA40-A3CED3C23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92" y="1714238"/>
            <a:ext cx="11650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,y</a:t>
            </a:r>
            <a:r>
              <a:rPr lang="en-US" altLang="zh-CN" sz="2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400" baseline="-25000" dirty="0">
              <a:solidFill>
                <a:srgbClr val="00206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536BE02-2D3A-440F-9624-D35B45F7B60F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23" y="1284469"/>
            <a:ext cx="18208" cy="146216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D645515-4260-4375-936A-D9C65B7C54FA}"/>
              </a:ext>
            </a:extLst>
          </p:cNvPr>
          <p:cNvCxnSpPr>
            <a:cxnSpLocks/>
          </p:cNvCxnSpPr>
          <p:nvPr/>
        </p:nvCxnSpPr>
        <p:spPr bwMode="auto">
          <a:xfrm>
            <a:off x="593663" y="2649355"/>
            <a:ext cx="280453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AD49FFB6-5955-4C43-BAED-B59D6E7C4742}"/>
              </a:ext>
            </a:extLst>
          </p:cNvPr>
          <p:cNvSpPr/>
          <p:nvPr/>
        </p:nvSpPr>
        <p:spPr bwMode="auto">
          <a:xfrm>
            <a:off x="1069089" y="2296903"/>
            <a:ext cx="45719" cy="109728"/>
          </a:xfrm>
          <a:prstGeom prst="flowChartConnector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D1A494A-636B-4FF8-AC82-8A3E683AEB8D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123" y="1742939"/>
            <a:ext cx="2412909" cy="7739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矩形 8">
            <a:extLst>
              <a:ext uri="{FF2B5EF4-FFF2-40B4-BE49-F238E27FC236}">
                <a16:creationId xmlns:a16="http://schemas.microsoft.com/office/drawing/2014/main" id="{12CE1677-B715-4850-93DF-D731385E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34" y="1049655"/>
            <a:ext cx="4909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C006CF3D-E070-420B-A7BD-7DB0031C2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668" y="1219019"/>
            <a:ext cx="11650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aseline="-25000" dirty="0">
              <a:solidFill>
                <a:srgbClr val="00206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6ED1CA-007A-42BB-89D0-93D17EF52C7E}"/>
              </a:ext>
            </a:extLst>
          </p:cNvPr>
          <p:cNvSpPr txBox="1"/>
          <p:nvPr/>
        </p:nvSpPr>
        <p:spPr>
          <a:xfrm>
            <a:off x="901858" y="2324990"/>
            <a:ext cx="1133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截距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b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402290-FDB6-4307-A693-52D5E3D927AA}"/>
              </a:ext>
            </a:extLst>
          </p:cNvPr>
          <p:cNvSpPr txBox="1"/>
          <p:nvPr/>
        </p:nvSpPr>
        <p:spPr>
          <a:xfrm>
            <a:off x="1319020" y="1689297"/>
            <a:ext cx="1442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线斜率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k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574ADBA-05E0-4E2D-9890-5594901DB667}"/>
                  </a:ext>
                </a:extLst>
              </p:cNvPr>
              <p:cNvSpPr txBox="1"/>
              <p:nvPr/>
            </p:nvSpPr>
            <p:spPr>
              <a:xfrm>
                <a:off x="3500403" y="1958192"/>
                <a:ext cx="2062296" cy="755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574ADBA-05E0-4E2D-9890-5594901DB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03" y="1958192"/>
                <a:ext cx="2062296" cy="755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8">
            <a:extLst>
              <a:ext uri="{FF2B5EF4-FFF2-40B4-BE49-F238E27FC236}">
                <a16:creationId xmlns:a16="http://schemas.microsoft.com/office/drawing/2014/main" id="{1DBB649D-895A-45EC-8A3B-7749394D655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732227" y="4136762"/>
            <a:ext cx="5303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42A5B47E-6A08-4C2B-BE04-0EA995979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33" y="3283509"/>
            <a:ext cx="11650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,y</a:t>
            </a:r>
            <a:r>
              <a:rPr lang="en-US" altLang="zh-CN" sz="2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400" baseline="-25000" dirty="0">
              <a:solidFill>
                <a:srgbClr val="00206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8A9B152-C11E-48FA-9C13-4A4F1439D13B}"/>
              </a:ext>
            </a:extLst>
          </p:cNvPr>
          <p:cNvCxnSpPr>
            <a:cxnSpLocks/>
          </p:cNvCxnSpPr>
          <p:nvPr/>
        </p:nvCxnSpPr>
        <p:spPr bwMode="auto">
          <a:xfrm flipV="1">
            <a:off x="660662" y="2968541"/>
            <a:ext cx="17151" cy="149558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13729F4-EDD1-44B8-818B-A2E1233A15E2}"/>
              </a:ext>
            </a:extLst>
          </p:cNvPr>
          <p:cNvCxnSpPr>
            <a:cxnSpLocks/>
          </p:cNvCxnSpPr>
          <p:nvPr/>
        </p:nvCxnSpPr>
        <p:spPr bwMode="auto">
          <a:xfrm>
            <a:off x="683316" y="4456952"/>
            <a:ext cx="280453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DCDEF9E2-7E85-4A78-81D7-5C59AC96BC99}"/>
              </a:ext>
            </a:extLst>
          </p:cNvPr>
          <p:cNvSpPr/>
          <p:nvPr/>
        </p:nvSpPr>
        <p:spPr bwMode="auto">
          <a:xfrm>
            <a:off x="1179864" y="3845240"/>
            <a:ext cx="45719" cy="109728"/>
          </a:xfrm>
          <a:prstGeom prst="flowChartConnector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3A5F4012-7038-462C-9BF2-06C323FC25AE}"/>
              </a:ext>
            </a:extLst>
          </p:cNvPr>
          <p:cNvSpPr/>
          <p:nvPr/>
        </p:nvSpPr>
        <p:spPr bwMode="auto">
          <a:xfrm>
            <a:off x="1214672" y="3813245"/>
            <a:ext cx="45719" cy="109728"/>
          </a:xfrm>
          <a:prstGeom prst="flowChartConnector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C94F246-2811-433E-8AE1-2B5F1E9E41F3}"/>
              </a:ext>
            </a:extLst>
          </p:cNvPr>
          <p:cNvCxnSpPr>
            <a:cxnSpLocks/>
          </p:cNvCxnSpPr>
          <p:nvPr/>
        </p:nvCxnSpPr>
        <p:spPr bwMode="auto">
          <a:xfrm flipV="1">
            <a:off x="747085" y="3264854"/>
            <a:ext cx="2412909" cy="7739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矩形 8">
            <a:extLst>
              <a:ext uri="{FF2B5EF4-FFF2-40B4-BE49-F238E27FC236}">
                <a16:creationId xmlns:a16="http://schemas.microsoft.com/office/drawing/2014/main" id="{495947C0-E1AD-4460-9C72-A749F9800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652" y="2706931"/>
            <a:ext cx="4909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ED97FCD-51C3-44A8-9B83-8655225F563F}"/>
                  </a:ext>
                </a:extLst>
              </p:cNvPr>
              <p:cNvSpPr txBox="1"/>
              <p:nvPr/>
            </p:nvSpPr>
            <p:spPr>
              <a:xfrm>
                <a:off x="4585997" y="3296316"/>
                <a:ext cx="28045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ED97FCD-51C3-44A8-9B83-8655225F5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997" y="3296316"/>
                <a:ext cx="2804539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762FC7BA-8736-4ACD-9EAA-89B02F2FC67B}"/>
              </a:ext>
            </a:extLst>
          </p:cNvPr>
          <p:cNvSpPr txBox="1"/>
          <p:nvPr/>
        </p:nvSpPr>
        <p:spPr>
          <a:xfrm>
            <a:off x="4861375" y="3748552"/>
            <a:ext cx="2804539" cy="7921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>
              <a:lnSpc>
                <a:spcPts val="28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未知个数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n&gt;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方程个数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无穷解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4FE4B8-702D-4C8F-BC9C-687FFB1FF8DE}"/>
              </a:ext>
            </a:extLst>
          </p:cNvPr>
          <p:cNvSpPr txBox="1"/>
          <p:nvPr/>
        </p:nvSpPr>
        <p:spPr>
          <a:xfrm>
            <a:off x="5763784" y="1920266"/>
            <a:ext cx="3119807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未知个数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n=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方程个数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m,</a:t>
            </a:r>
          </a:p>
          <a:p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有唯一精确解 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72EE2FB-952F-44D4-877B-ED73530DA862}"/>
                  </a:ext>
                </a:extLst>
              </p:cNvPr>
              <p:cNvSpPr txBox="1"/>
              <p:nvPr/>
            </p:nvSpPr>
            <p:spPr>
              <a:xfrm>
                <a:off x="3430332" y="1131932"/>
                <a:ext cx="538442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B0F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直线方程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altLang="zh-CN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，求斜率</a:t>
                </a:r>
                <a:r>
                  <a:rPr lang="en-US" altLang="zh-CN" sz="2400" dirty="0">
                    <a:solidFill>
                      <a:srgbClr val="00B0F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>
                    <a:solidFill>
                      <a:srgbClr val="00B0F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和截距</a:t>
                </a:r>
                <a:r>
                  <a:rPr lang="en-US" altLang="zh-CN" sz="2400" dirty="0">
                    <a:solidFill>
                      <a:srgbClr val="00B0F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</a:t>
                </a:r>
                <a:endParaRPr lang="zh-CN" altLang="en-US" sz="2400" dirty="0">
                  <a:solidFill>
                    <a:srgbClr val="00B0F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72EE2FB-952F-44D4-877B-ED73530DA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332" y="1131932"/>
                <a:ext cx="5384424" cy="461665"/>
              </a:xfrm>
              <a:prstGeom prst="rect">
                <a:avLst/>
              </a:prstGeom>
              <a:blipFill>
                <a:blip r:embed="rId4"/>
                <a:stretch>
                  <a:fillRect l="-1812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F0D21E09-3C32-4E3C-8BED-85A91CBA9114}"/>
              </a:ext>
            </a:extLst>
          </p:cNvPr>
          <p:cNvSpPr/>
          <p:nvPr/>
        </p:nvSpPr>
        <p:spPr bwMode="auto">
          <a:xfrm>
            <a:off x="2588369" y="1834013"/>
            <a:ext cx="105542" cy="66016"/>
          </a:xfrm>
          <a:prstGeom prst="flowChartConnector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C87FD823-4B13-4E1C-B72B-05B7237C9418}"/>
              </a:ext>
            </a:extLst>
          </p:cNvPr>
          <p:cNvSpPr/>
          <p:nvPr/>
        </p:nvSpPr>
        <p:spPr bwMode="auto">
          <a:xfrm>
            <a:off x="2780184" y="3357154"/>
            <a:ext cx="45719" cy="109728"/>
          </a:xfrm>
          <a:prstGeom prst="flowChartConnector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矩形 8">
            <a:extLst>
              <a:ext uri="{FF2B5EF4-FFF2-40B4-BE49-F238E27FC236}">
                <a16:creationId xmlns:a16="http://schemas.microsoft.com/office/drawing/2014/main" id="{A0AF0662-C4E6-4469-9B41-0514FC444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286" y="3398133"/>
            <a:ext cx="9399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aseline="-25000" dirty="0">
              <a:solidFill>
                <a:srgbClr val="00206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80FD503-0531-4B40-9714-9898BA09343D}"/>
              </a:ext>
            </a:extLst>
          </p:cNvPr>
          <p:cNvCxnSpPr/>
          <p:nvPr/>
        </p:nvCxnSpPr>
        <p:spPr bwMode="auto">
          <a:xfrm flipV="1">
            <a:off x="1094791" y="3213467"/>
            <a:ext cx="308857" cy="117147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BDA858B-E99C-43B5-8E3E-AD7DCDD6BE5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94791" y="3259235"/>
            <a:ext cx="236849" cy="112570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F864F95-4FFE-4434-A29E-A866D349406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68479" y="3736687"/>
            <a:ext cx="751193" cy="30210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9B73D-B5D8-4FA7-971F-B5AA28AA9329}"/>
              </a:ext>
            </a:extLst>
          </p:cNvPr>
          <p:cNvSpPr txBox="1"/>
          <p:nvPr/>
        </p:nvSpPr>
        <p:spPr>
          <a:xfrm>
            <a:off x="434240" y="679546"/>
            <a:ext cx="847219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1" i="0">
                <a:solidFill>
                  <a:srgbClr val="00B0F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根据唯一解、无穷解和无解确定线性方程组为恰定、欠定还是超定类型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17F806-E9BD-4177-A566-BD97C9A97443}"/>
              </a:ext>
            </a:extLst>
          </p:cNvPr>
          <p:cNvSpPr txBox="1"/>
          <p:nvPr/>
        </p:nvSpPr>
        <p:spPr>
          <a:xfrm>
            <a:off x="4919707" y="2936468"/>
            <a:ext cx="3180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+mj-ea"/>
              <a:buAutoNum type="circleNumDbPlain"/>
              <a:defRPr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>
              <a:buFont typeface="+mj-ea"/>
              <a:buAutoNum type="circleNumDbPlain" startAt="2"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欠定方程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---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非方阵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26CEF2-5A46-41D5-81BC-967126A7321B}"/>
              </a:ext>
            </a:extLst>
          </p:cNvPr>
          <p:cNvSpPr txBox="1"/>
          <p:nvPr/>
        </p:nvSpPr>
        <p:spPr>
          <a:xfrm>
            <a:off x="3506755" y="1520049"/>
            <a:ext cx="2875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恰定方程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---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方阵 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61DC2E0-366B-4F96-B01A-BE8867391DA1}"/>
              </a:ext>
            </a:extLst>
          </p:cNvPr>
          <p:cNvSpPr/>
          <p:nvPr/>
        </p:nvSpPr>
        <p:spPr bwMode="auto">
          <a:xfrm>
            <a:off x="473260" y="1104702"/>
            <a:ext cx="8341496" cy="1738762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F0AB6C1-69B7-4BAD-A9C3-CA4213D980FF}"/>
              </a:ext>
            </a:extLst>
          </p:cNvPr>
          <p:cNvSpPr/>
          <p:nvPr/>
        </p:nvSpPr>
        <p:spPr bwMode="auto">
          <a:xfrm>
            <a:off x="454537" y="2902790"/>
            <a:ext cx="8365935" cy="1757192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F8DC709-DDB8-483E-A16A-A315B0729C86}"/>
              </a:ext>
            </a:extLst>
          </p:cNvPr>
          <p:cNvSpPr txBox="1"/>
          <p:nvPr/>
        </p:nvSpPr>
        <p:spPr>
          <a:xfrm>
            <a:off x="1403648" y="2925159"/>
            <a:ext cx="3180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点和第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点重合为一点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AA46DDC-88F6-4918-AFAA-C0C734BD9FA2}"/>
              </a:ext>
            </a:extLst>
          </p:cNvPr>
          <p:cNvSpPr txBox="1"/>
          <p:nvPr/>
        </p:nvSpPr>
        <p:spPr>
          <a:xfrm>
            <a:off x="747085" y="171682"/>
            <a:ext cx="8396915" cy="4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三类线性方程组和解法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恰定、欠定和超定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608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23" grpId="0" animBg="1"/>
      <p:bldP spid="30" grpId="0" animBg="1"/>
      <p:bldP spid="31" grpId="0"/>
      <p:bldP spid="36" grpId="0"/>
      <p:bldP spid="37" grpId="0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64BAD136-91FD-4F1E-8982-A616B25B05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88" t="12319" r="5973" b="8000"/>
          <a:stretch/>
        </p:blipFill>
        <p:spPr>
          <a:xfrm>
            <a:off x="2044399" y="2237975"/>
            <a:ext cx="2384432" cy="1773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CB565D-3BA9-48D9-BDC0-57ECDBEA141D}"/>
                  </a:ext>
                </a:extLst>
              </p:cNvPr>
              <p:cNvSpPr txBox="1"/>
              <p:nvPr/>
            </p:nvSpPr>
            <p:spPr>
              <a:xfrm>
                <a:off x="-97580" y="1781577"/>
                <a:ext cx="2296005" cy="2088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0.3943=40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0.3809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0.3705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0.3587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0.3455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  60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0.3331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0.3193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 b="0" i="0" dirty="0" smtClean="0">
                                  <a:solidFill>
                                    <a:srgbClr val="002060"/>
                                  </a:solidFill>
                                  <a:latin typeface="隶书" panose="02010509060101010101" pitchFamily="49" charset="-122"/>
                                  <a:ea typeface="隶书" panose="02010509060101010101" pitchFamily="49" charset="-122"/>
                                </a:rPr>
                                <m:t> 70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+ 1∗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0.3049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0.2909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400"/>
                                <m:t>0.2771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CB565D-3BA9-48D9-BDC0-57ECDBEA1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580" y="1781577"/>
                <a:ext cx="2296005" cy="2088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4">
                <a:extLst>
                  <a:ext uri="{FF2B5EF4-FFF2-40B4-BE49-F238E27FC236}">
                    <a16:creationId xmlns:a16="http://schemas.microsoft.com/office/drawing/2014/main" id="{8DDD88BC-9358-400B-A4BA-950B30FDC4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012858"/>
                  </p:ext>
                </p:extLst>
              </p:nvPr>
            </p:nvGraphicFramePr>
            <p:xfrm>
              <a:off x="203572" y="749062"/>
              <a:ext cx="8749048" cy="6447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5622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45461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55021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22396"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22396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a:rPr lang="en-US" altLang="zh-CN" sz="1400" b="1" i="1" kern="12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altLang="zh-CN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zh-CN" altLang="en-US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压降</a:t>
                          </a:r>
                          <a:r>
                            <a:rPr lang="en-US" altLang="zh-CN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)</a:t>
                          </a:r>
                          <a:endParaRPr lang="zh-CN" altLang="en-US" sz="1400" b="1" kern="12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+mn-cs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4">
                <a:extLst>
                  <a:ext uri="{FF2B5EF4-FFF2-40B4-BE49-F238E27FC236}">
                    <a16:creationId xmlns:a16="http://schemas.microsoft.com/office/drawing/2014/main" id="{8DDD88BC-9358-400B-A4BA-950B30FDC4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012858"/>
                  </p:ext>
                </p:extLst>
              </p:nvPr>
            </p:nvGraphicFramePr>
            <p:xfrm>
              <a:off x="203572" y="749062"/>
              <a:ext cx="8749048" cy="6447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5622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45461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55021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795368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22396"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2239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75" t="-103774" r="-1016279" b="-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b="1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4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14C640B-7882-49E9-9055-5B0DFFCFDC4C}"/>
              </a:ext>
            </a:extLst>
          </p:cNvPr>
          <p:cNvSpPr txBox="1"/>
          <p:nvPr/>
        </p:nvSpPr>
        <p:spPr>
          <a:xfrm>
            <a:off x="5768549" y="3177993"/>
            <a:ext cx="3184071" cy="952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同时经过所有点的直线不存在，即满足所有方程的解不存在，即无解，常见数据处理和曲线拟合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459D429-43BD-4D54-901E-573CA51ADE36}"/>
              </a:ext>
            </a:extLst>
          </p:cNvPr>
          <p:cNvCxnSpPr>
            <a:cxnSpLocks/>
          </p:cNvCxnSpPr>
          <p:nvPr/>
        </p:nvCxnSpPr>
        <p:spPr bwMode="auto">
          <a:xfrm>
            <a:off x="2077640" y="3712195"/>
            <a:ext cx="247167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矩形 8">
            <a:extLst>
              <a:ext uri="{FF2B5EF4-FFF2-40B4-BE49-F238E27FC236}">
                <a16:creationId xmlns:a16="http://schemas.microsoft.com/office/drawing/2014/main" id="{AE85AC3F-03CB-4035-9974-8FA4C32CD3E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06534" y="3269119"/>
            <a:ext cx="5303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0C8093A-38BE-4B19-8DA5-2B460E35FF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111859" y="2304499"/>
            <a:ext cx="9932" cy="144623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矩形 8">
            <a:extLst>
              <a:ext uri="{FF2B5EF4-FFF2-40B4-BE49-F238E27FC236}">
                <a16:creationId xmlns:a16="http://schemas.microsoft.com/office/drawing/2014/main" id="{9EB93195-C01F-4C53-B633-D22F466DF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5610" y="2373278"/>
            <a:ext cx="4909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740FD05-C404-4112-93E4-394B48B7469C}"/>
              </a:ext>
            </a:extLst>
          </p:cNvPr>
          <p:cNvSpPr txBox="1"/>
          <p:nvPr/>
        </p:nvSpPr>
        <p:spPr>
          <a:xfrm>
            <a:off x="2028314" y="4297335"/>
            <a:ext cx="6924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可以采用误差平方和最小的最小二乘法求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近似解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C15EA3-D311-44BF-BD00-C5306AF6A261}"/>
              </a:ext>
            </a:extLst>
          </p:cNvPr>
          <p:cNvSpPr txBox="1"/>
          <p:nvPr/>
        </p:nvSpPr>
        <p:spPr>
          <a:xfrm>
            <a:off x="77610" y="1441108"/>
            <a:ext cx="8749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结正向压降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与温度的线性关系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,10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个采样数据点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求直线斜率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和截距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0A1C0F8-D0B0-46CF-A9EB-DCDDD00F9781}"/>
                  </a:ext>
                </a:extLst>
              </p:cNvPr>
              <p:cNvSpPr txBox="1"/>
              <p:nvPr/>
            </p:nvSpPr>
            <p:spPr>
              <a:xfrm>
                <a:off x="6804248" y="853745"/>
                <a:ext cx="1944216" cy="461665"/>
              </a:xfrm>
              <a:prstGeom prst="rect">
                <a:avLst/>
              </a:prstGeom>
              <a:solidFill>
                <a:srgbClr val="003B76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线性方程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1200" b="0" dirty="0">
                  <a:solidFill>
                    <a:schemeClr val="bg1"/>
                  </a:solidFill>
                  <a:latin typeface="华文楷体" panose="0201060004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</a:rPr>
                  <a:t>未知数个数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n&lt;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方程个数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m</a:t>
                </a:r>
                <a:endParaRPr lang="zh-CN" altLang="en-US" sz="1200" i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0A1C0F8-D0B0-46CF-A9EB-DCDDD00F9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853745"/>
                <a:ext cx="1944216" cy="461665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38D2F6CD-732B-40B0-9FFB-A3BB9DEB4235}"/>
              </a:ext>
            </a:extLst>
          </p:cNvPr>
          <p:cNvSpPr txBox="1"/>
          <p:nvPr/>
        </p:nvSpPr>
        <p:spPr>
          <a:xfrm>
            <a:off x="5765389" y="1761354"/>
            <a:ext cx="3343115" cy="634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4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个采样数据点都落在同一直线上，任意两点确定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就是同一条</a:t>
            </a:r>
            <a:r>
              <a:rPr lang="zh-CN" altLang="en-US" sz="14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直线</a:t>
            </a:r>
            <a:endParaRPr lang="zh-CN" altLang="en-US" sz="1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F46D87F-0820-4F1F-8662-B4C966843B45}"/>
              </a:ext>
            </a:extLst>
          </p:cNvPr>
          <p:cNvSpPr/>
          <p:nvPr/>
        </p:nvSpPr>
        <p:spPr bwMode="auto">
          <a:xfrm>
            <a:off x="2380754" y="2383357"/>
            <a:ext cx="36000" cy="36000"/>
          </a:xfrm>
          <a:prstGeom prst="ellipse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DA38BB3-F249-497B-8608-959A40A905B1}"/>
              </a:ext>
            </a:extLst>
          </p:cNvPr>
          <p:cNvSpPr/>
          <p:nvPr/>
        </p:nvSpPr>
        <p:spPr bwMode="auto">
          <a:xfrm>
            <a:off x="3937253" y="3611444"/>
            <a:ext cx="36000" cy="36000"/>
          </a:xfrm>
          <a:prstGeom prst="ellipse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30135D4-0C97-4E7C-BA87-57C01C887516}"/>
              </a:ext>
            </a:extLst>
          </p:cNvPr>
          <p:cNvCxnSpPr>
            <a:cxnSpLocks/>
          </p:cNvCxnSpPr>
          <p:nvPr/>
        </p:nvCxnSpPr>
        <p:spPr bwMode="auto">
          <a:xfrm>
            <a:off x="2396096" y="2381364"/>
            <a:ext cx="1177623" cy="870092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BB65FFB-7C77-4323-9F63-672137D9D842}"/>
              </a:ext>
            </a:extLst>
          </p:cNvPr>
          <p:cNvCxnSpPr>
            <a:cxnSpLocks/>
          </p:cNvCxnSpPr>
          <p:nvPr/>
        </p:nvCxnSpPr>
        <p:spPr bwMode="auto">
          <a:xfrm>
            <a:off x="3164562" y="2981407"/>
            <a:ext cx="759202" cy="631822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66601663-31D2-4D8A-8C4E-92FC8408FBBC}"/>
              </a:ext>
            </a:extLst>
          </p:cNvPr>
          <p:cNvSpPr/>
          <p:nvPr/>
        </p:nvSpPr>
        <p:spPr bwMode="auto">
          <a:xfrm>
            <a:off x="3555719" y="3251119"/>
            <a:ext cx="36000" cy="36000"/>
          </a:xfrm>
          <a:prstGeom prst="ellipse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C75723E2-6985-4704-9DD9-296CCE04947C}"/>
              </a:ext>
            </a:extLst>
          </p:cNvPr>
          <p:cNvSpPr/>
          <p:nvPr/>
        </p:nvSpPr>
        <p:spPr bwMode="auto">
          <a:xfrm>
            <a:off x="3159385" y="2956392"/>
            <a:ext cx="36000" cy="36000"/>
          </a:xfrm>
          <a:prstGeom prst="ellipse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DE9C1-984F-45BA-8C81-56173D2B218D}"/>
              </a:ext>
            </a:extLst>
          </p:cNvPr>
          <p:cNvSpPr txBox="1"/>
          <p:nvPr/>
        </p:nvSpPr>
        <p:spPr>
          <a:xfrm>
            <a:off x="5784274" y="2476433"/>
            <a:ext cx="3042384" cy="6349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/>
              <a:t>由于误差存在，很难得到所有测试点都落在一条直线上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63F683-7E1A-4C6D-8039-E30790C06454}"/>
              </a:ext>
            </a:extLst>
          </p:cNvPr>
          <p:cNvSpPr txBox="1"/>
          <p:nvPr/>
        </p:nvSpPr>
        <p:spPr>
          <a:xfrm>
            <a:off x="96739" y="4251950"/>
            <a:ext cx="1947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超定线性方程组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88471E-BD1C-4713-972B-56291B5B3BF6}"/>
              </a:ext>
            </a:extLst>
          </p:cNvPr>
          <p:cNvSpPr txBox="1"/>
          <p:nvPr/>
        </p:nvSpPr>
        <p:spPr>
          <a:xfrm>
            <a:off x="2178914" y="3484355"/>
            <a:ext cx="1822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次拟合</a:t>
            </a:r>
            <a:r>
              <a:rPr lang="zh-CN" altLang="en-US" sz="1400" dirty="0">
                <a:solidFill>
                  <a:srgbClr val="FF0000"/>
                </a:solidFill>
              </a:rPr>
              <a:t>R2=0.9983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7DACB4-0C2B-47D1-87D6-D0857A3E0177}"/>
              </a:ext>
            </a:extLst>
          </p:cNvPr>
          <p:cNvSpPr txBox="1"/>
          <p:nvPr/>
        </p:nvSpPr>
        <p:spPr>
          <a:xfrm>
            <a:off x="65667" y="3895945"/>
            <a:ext cx="5872024" cy="378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超定方程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非方阵：未知个数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n&lt;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方程个数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 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无解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02C74B-AF14-43AE-B6AD-8EEF40666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983" y="1830150"/>
            <a:ext cx="2212831" cy="143896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02E8BA9-4145-4214-8FC9-9417C21C91F5}"/>
              </a:ext>
            </a:extLst>
          </p:cNvPr>
          <p:cNvCxnSpPr/>
          <p:nvPr/>
        </p:nvCxnSpPr>
        <p:spPr bwMode="auto">
          <a:xfrm flipV="1">
            <a:off x="4054450" y="1975952"/>
            <a:ext cx="0" cy="146839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BF1A582-7F17-43BD-BD44-2416B1362498}"/>
              </a:ext>
            </a:extLst>
          </p:cNvPr>
          <p:cNvCxnSpPr/>
          <p:nvPr/>
        </p:nvCxnSpPr>
        <p:spPr bwMode="auto">
          <a:xfrm flipV="1">
            <a:off x="5410011" y="2922364"/>
            <a:ext cx="0" cy="146839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69F304C-02C8-4183-9A65-AFA1C132AC30}"/>
              </a:ext>
            </a:extLst>
          </p:cNvPr>
          <p:cNvSpPr txBox="1"/>
          <p:nvPr/>
        </p:nvSpPr>
        <p:spPr>
          <a:xfrm>
            <a:off x="747085" y="171682"/>
            <a:ext cx="8396915" cy="4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三类线性方程组和解法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恰定、欠定和超定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606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32" grpId="0"/>
      <p:bldP spid="33" grpId="0"/>
      <p:bldP spid="21" grpId="0"/>
      <p:bldP spid="24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7BE2B10-80AD-4F5C-8687-7909387592DD}"/>
              </a:ext>
            </a:extLst>
          </p:cNvPr>
          <p:cNvSpPr txBox="1"/>
          <p:nvPr/>
        </p:nvSpPr>
        <p:spPr>
          <a:xfrm>
            <a:off x="1467004" y="3994361"/>
            <a:ext cx="1476279" cy="3368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>
              <a:lnSpc>
                <a:spcPts val="18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超定方程</a:t>
            </a:r>
          </a:p>
        </p:txBody>
      </p:sp>
      <p:sp>
        <p:nvSpPr>
          <p:cNvPr id="6" name="箭头: 五边形 20">
            <a:extLst>
              <a:ext uri="{FF2B5EF4-FFF2-40B4-BE49-F238E27FC236}">
                <a16:creationId xmlns:a16="http://schemas.microsoft.com/office/drawing/2014/main" id="{AD298EB4-9BEE-4ECF-80B0-E2EAD40A048F}"/>
              </a:ext>
            </a:extLst>
          </p:cNvPr>
          <p:cNvSpPr/>
          <p:nvPr/>
        </p:nvSpPr>
        <p:spPr>
          <a:xfrm>
            <a:off x="1405457" y="3942562"/>
            <a:ext cx="1766896" cy="456005"/>
          </a:xfrm>
          <a:prstGeom prst="homePlat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FF00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15A938-F6D1-47E4-8808-DAFEFEF71D45}"/>
              </a:ext>
            </a:extLst>
          </p:cNvPr>
          <p:cNvSpPr/>
          <p:nvPr/>
        </p:nvSpPr>
        <p:spPr>
          <a:xfrm>
            <a:off x="3299260" y="1664365"/>
            <a:ext cx="35060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通常未知量个数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n=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991A7E-DE59-46CA-9C5F-BE28D566488F}"/>
              </a:ext>
            </a:extLst>
          </p:cNvPr>
          <p:cNvSpPr/>
          <p:nvPr/>
        </p:nvSpPr>
        <p:spPr>
          <a:xfrm>
            <a:off x="3299260" y="2897675"/>
            <a:ext cx="35060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通常未知量个数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n&gt;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587FAC-4340-4900-884D-CA3756DB3BDD}"/>
              </a:ext>
            </a:extLst>
          </p:cNvPr>
          <p:cNvSpPr/>
          <p:nvPr/>
        </p:nvSpPr>
        <p:spPr>
          <a:xfrm>
            <a:off x="3383210" y="1240238"/>
            <a:ext cx="31630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rank(A)= rank([A b]) =n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满秩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047C4E-905C-4553-99E4-06DAD0A137E9}"/>
              </a:ext>
            </a:extLst>
          </p:cNvPr>
          <p:cNvSpPr/>
          <p:nvPr/>
        </p:nvSpPr>
        <p:spPr>
          <a:xfrm>
            <a:off x="3299260" y="2461339"/>
            <a:ext cx="35477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rank(A)= rank([A b]) &lt;n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非满秩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39B0E5-2FD6-412C-A2CE-626494E19871}"/>
              </a:ext>
            </a:extLst>
          </p:cNvPr>
          <p:cNvSpPr/>
          <p:nvPr/>
        </p:nvSpPr>
        <p:spPr>
          <a:xfrm>
            <a:off x="3472764" y="3628941"/>
            <a:ext cx="22829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rank(A)&lt; rank([A b])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0A5D4E-91B8-4DDF-91BC-9296B38F904E}"/>
              </a:ext>
            </a:extLst>
          </p:cNvPr>
          <p:cNvSpPr/>
          <p:nvPr/>
        </p:nvSpPr>
        <p:spPr>
          <a:xfrm>
            <a:off x="3441126" y="4085197"/>
            <a:ext cx="29931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未知量个数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n&lt;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方程个数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B42C03CE-913A-426B-A8E6-412FFD6D4E72}"/>
              </a:ext>
            </a:extLst>
          </p:cNvPr>
          <p:cNvSpPr/>
          <p:nvPr/>
        </p:nvSpPr>
        <p:spPr bwMode="auto">
          <a:xfrm rot="10800000">
            <a:off x="938470" y="1400348"/>
            <a:ext cx="399089" cy="3055068"/>
          </a:xfrm>
          <a:prstGeom prst="rightBrace">
            <a:avLst>
              <a:gd name="adj1" fmla="val 8333"/>
              <a:gd name="adj2" fmla="val 48852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3AF4C9-A412-43F9-83A3-F78BC9A77175}"/>
              </a:ext>
            </a:extLst>
          </p:cNvPr>
          <p:cNvSpPr/>
          <p:nvPr/>
        </p:nvSpPr>
        <p:spPr>
          <a:xfrm>
            <a:off x="569871" y="1290024"/>
            <a:ext cx="4320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0FA97E-794F-43ED-99FF-A035B6DB687F}"/>
              </a:ext>
            </a:extLst>
          </p:cNvPr>
          <p:cNvSpPr txBox="1"/>
          <p:nvPr/>
        </p:nvSpPr>
        <p:spPr>
          <a:xfrm>
            <a:off x="1420934" y="2737793"/>
            <a:ext cx="1522350" cy="32977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800"/>
              </a:lnSpc>
              <a:defRPr sz="2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sz="1800" dirty="0"/>
              <a:t>欠定方程</a:t>
            </a:r>
          </a:p>
        </p:txBody>
      </p:sp>
      <p:sp>
        <p:nvSpPr>
          <p:cNvPr id="16" name="箭头: 五边形 20">
            <a:extLst>
              <a:ext uri="{FF2B5EF4-FFF2-40B4-BE49-F238E27FC236}">
                <a16:creationId xmlns:a16="http://schemas.microsoft.com/office/drawing/2014/main" id="{082E59FC-2073-4677-AC9D-D85E702456B7}"/>
              </a:ext>
            </a:extLst>
          </p:cNvPr>
          <p:cNvSpPr/>
          <p:nvPr/>
        </p:nvSpPr>
        <p:spPr>
          <a:xfrm>
            <a:off x="1369005" y="2682601"/>
            <a:ext cx="1820703" cy="456005"/>
          </a:xfrm>
          <a:prstGeom prst="homePlat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FF00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65A3E-BE9D-46A2-B90D-205749B8BE00}"/>
              </a:ext>
            </a:extLst>
          </p:cNvPr>
          <p:cNvSpPr txBox="1"/>
          <p:nvPr/>
        </p:nvSpPr>
        <p:spPr>
          <a:xfrm>
            <a:off x="1408431" y="1593814"/>
            <a:ext cx="1534852" cy="32977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800"/>
              </a:lnSpc>
              <a:defRPr sz="2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sz="1800" dirty="0"/>
              <a:t>恰定方程</a:t>
            </a:r>
          </a:p>
        </p:txBody>
      </p:sp>
      <p:sp>
        <p:nvSpPr>
          <p:cNvPr id="18" name="箭头: 五边形 20">
            <a:extLst>
              <a:ext uri="{FF2B5EF4-FFF2-40B4-BE49-F238E27FC236}">
                <a16:creationId xmlns:a16="http://schemas.microsoft.com/office/drawing/2014/main" id="{C94674D4-62EF-41DE-B0F5-E5886EB8EFDC}"/>
              </a:ext>
            </a:extLst>
          </p:cNvPr>
          <p:cNvSpPr/>
          <p:nvPr/>
        </p:nvSpPr>
        <p:spPr>
          <a:xfrm>
            <a:off x="1345539" y="1539681"/>
            <a:ext cx="1820703" cy="456005"/>
          </a:xfrm>
          <a:prstGeom prst="homePlat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00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61F708-8960-4A79-9C54-0A2DB81B5552}"/>
              </a:ext>
            </a:extLst>
          </p:cNvPr>
          <p:cNvSpPr/>
          <p:nvPr/>
        </p:nvSpPr>
        <p:spPr>
          <a:xfrm>
            <a:off x="641116" y="689128"/>
            <a:ext cx="81636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当系数矩阵秩序等于增广矩阵秩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rank(A)=rank([A b])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时有解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B74F0570-C17E-4DF5-928E-572DCC232661}"/>
              </a:ext>
            </a:extLst>
          </p:cNvPr>
          <p:cNvSpPr/>
          <p:nvPr/>
        </p:nvSpPr>
        <p:spPr bwMode="auto">
          <a:xfrm>
            <a:off x="3303703" y="1217478"/>
            <a:ext cx="3860585" cy="884509"/>
          </a:xfrm>
          <a:prstGeom prst="homePlate">
            <a:avLst/>
          </a:prstGeom>
          <a:noFill/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449BF7D9-853D-4022-BADE-170BDE30BC25}"/>
              </a:ext>
            </a:extLst>
          </p:cNvPr>
          <p:cNvSpPr/>
          <p:nvPr/>
        </p:nvSpPr>
        <p:spPr bwMode="auto">
          <a:xfrm>
            <a:off x="3321198" y="2427734"/>
            <a:ext cx="3936697" cy="870051"/>
          </a:xfrm>
          <a:prstGeom prst="homePlate">
            <a:avLst/>
          </a:prstGeom>
          <a:noFill/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64556080-FC7D-4B15-A19B-15F2C234CDBE}"/>
              </a:ext>
            </a:extLst>
          </p:cNvPr>
          <p:cNvSpPr/>
          <p:nvPr/>
        </p:nvSpPr>
        <p:spPr bwMode="auto">
          <a:xfrm>
            <a:off x="3335826" y="3623532"/>
            <a:ext cx="3828462" cy="830840"/>
          </a:xfrm>
          <a:prstGeom prst="homePlate">
            <a:avLst/>
          </a:prstGeom>
          <a:noFill/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E3F2CB-0050-4ED3-B8A7-8A06AEE85447}"/>
              </a:ext>
            </a:extLst>
          </p:cNvPr>
          <p:cNvSpPr/>
          <p:nvPr/>
        </p:nvSpPr>
        <p:spPr>
          <a:xfrm>
            <a:off x="7321468" y="1417462"/>
            <a:ext cx="1112805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唯一解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0156E9-F77A-46BF-A173-91D59C9B18A4}"/>
              </a:ext>
            </a:extLst>
          </p:cNvPr>
          <p:cNvSpPr/>
          <p:nvPr/>
        </p:nvSpPr>
        <p:spPr>
          <a:xfrm>
            <a:off x="7376614" y="2613462"/>
            <a:ext cx="1112805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无数解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2A2A5-B039-4A41-83D7-807B803562F7}"/>
              </a:ext>
            </a:extLst>
          </p:cNvPr>
          <p:cNvSpPr/>
          <p:nvPr/>
        </p:nvSpPr>
        <p:spPr>
          <a:xfrm>
            <a:off x="7321468" y="3623375"/>
            <a:ext cx="1415772" cy="83099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无解，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求近似解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326666-9F53-40D7-84DF-D105D5910F50}"/>
              </a:ext>
            </a:extLst>
          </p:cNvPr>
          <p:cNvSpPr txBox="1"/>
          <p:nvPr/>
        </p:nvSpPr>
        <p:spPr>
          <a:xfrm>
            <a:off x="1266129" y="1153799"/>
            <a:ext cx="1844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系数矩阵是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FA0F591-79D6-4A31-A99D-3A837E2F73BD}"/>
              </a:ext>
            </a:extLst>
          </p:cNvPr>
          <p:cNvSpPr txBox="1"/>
          <p:nvPr/>
        </p:nvSpPr>
        <p:spPr>
          <a:xfrm>
            <a:off x="1195429" y="2285673"/>
            <a:ext cx="208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是非方阵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436737-CEDE-45E1-98B4-F6B867FFB103}"/>
              </a:ext>
            </a:extLst>
          </p:cNvPr>
          <p:cNvSpPr txBox="1"/>
          <p:nvPr/>
        </p:nvSpPr>
        <p:spPr>
          <a:xfrm>
            <a:off x="1236987" y="3546710"/>
            <a:ext cx="208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是非方阵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B622FA2-0D3F-417D-BD93-D555E3D969A2}"/>
              </a:ext>
            </a:extLst>
          </p:cNvPr>
          <p:cNvSpPr txBox="1"/>
          <p:nvPr/>
        </p:nvSpPr>
        <p:spPr>
          <a:xfrm>
            <a:off x="747085" y="171682"/>
            <a:ext cx="8396915" cy="4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三类线性方程组和解法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恰定、欠定和超定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494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8">
            <a:extLst>
              <a:ext uri="{FF2B5EF4-FFF2-40B4-BE49-F238E27FC236}">
                <a16:creationId xmlns:a16="http://schemas.microsoft.com/office/drawing/2014/main" id="{6BD5BB43-F316-4F56-8661-CEB8B1637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736992"/>
            <a:ext cx="8568953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Ax=b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的常用两类解法：直接解法和迭代法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C1DFDC9-2F26-494A-B7F7-F590EA915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853" y="1154033"/>
            <a:ext cx="163086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514350" indent="-514350">
              <a:buFont typeface="+mj-ea"/>
              <a:buAutoNum type="circleNumDbPlain"/>
            </a:pP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直接解法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8DA905F-F297-487F-A951-2115C4A4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3" y="1052940"/>
            <a:ext cx="6840759" cy="458908"/>
          </a:xfrm>
          <a:prstGeom prst="rect">
            <a:avLst/>
          </a:prstGeom>
          <a:noFill/>
          <a:ln w="9525">
            <a:noFill/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左除法、逆乘法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、最小二乘法</a:t>
            </a:r>
            <a:r>
              <a:rPr lang="en-US" altLang="zh-CN" sz="18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、阶梯函数法、矩阵分解法</a:t>
            </a:r>
            <a:endParaRPr lang="en-US" altLang="zh-CN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93DC58-48BF-42B7-939D-8B39F8F6C8A6}"/>
              </a:ext>
            </a:extLst>
          </p:cNvPr>
          <p:cNvSpPr/>
          <p:nvPr/>
        </p:nvSpPr>
        <p:spPr>
          <a:xfrm>
            <a:off x="370009" y="1952551"/>
            <a:ext cx="74308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特点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09E88B7-E6AF-4207-92CE-580307747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36" y="1546260"/>
            <a:ext cx="7345255" cy="1158843"/>
          </a:xfrm>
          <a:prstGeom prst="rect">
            <a:avLst/>
          </a:prstGeom>
          <a:noFill/>
          <a:ln w="9525">
            <a:noFill/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6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以矩阵初等变换为基础，通过四则运算可求精确解；</a:t>
            </a:r>
            <a:endParaRPr lang="en-US" altLang="zh-CN" sz="1800" b="0" dirty="0">
              <a:solidFill>
                <a:srgbClr val="007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占用内存空间大，程序实现较为复杂；</a:t>
            </a:r>
            <a:endParaRPr lang="en-US" altLang="zh-CN" sz="1800" b="0" dirty="0">
              <a:solidFill>
                <a:srgbClr val="007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一般适合求解中小型线性方程</a:t>
            </a:r>
            <a:endParaRPr lang="en-US" altLang="zh-CN" sz="1800" b="0" dirty="0">
              <a:solidFill>
                <a:srgbClr val="007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48354A-8C9A-44BF-87DD-822A53B0A3F5}"/>
              </a:ext>
            </a:extLst>
          </p:cNvPr>
          <p:cNvSpPr txBox="1"/>
          <p:nvPr/>
        </p:nvSpPr>
        <p:spPr>
          <a:xfrm>
            <a:off x="782584" y="68844"/>
            <a:ext cx="503751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§6.2 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三类线性方程组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9C646271-6844-48C8-BCE9-52D47573C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3221854"/>
            <a:ext cx="2928369" cy="814838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endParaRPr lang="en-US" altLang="zh-CN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解方程组贯穿</a:t>
            </a:r>
            <a:endParaRPr lang="en-US" altLang="zh-CN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线性代数始终</a:t>
            </a:r>
          </a:p>
          <a:p>
            <a:pPr algn="ctr"/>
            <a:endParaRPr lang="zh-CN" altLang="en-US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8DFB5F-8A7E-44D9-BAA7-47EF156FFBDB}"/>
              </a:ext>
            </a:extLst>
          </p:cNvPr>
          <p:cNvSpPr txBox="1"/>
          <p:nvPr/>
        </p:nvSpPr>
        <p:spPr>
          <a:xfrm>
            <a:off x="4572000" y="57327"/>
            <a:ext cx="4191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解线性方程的方法</a:t>
            </a:r>
            <a:endParaRPr lang="zh-CN" altLang="en-US" sz="2800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CF2F9C2-9FF7-480B-BA18-F45839AC1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09" y="2810666"/>
            <a:ext cx="141483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514350" indent="-514350">
              <a:buFont typeface="+mj-ea"/>
              <a:buAutoNum type="circleNumDbPlain" startAt="2"/>
            </a:pP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646CD267-A426-4AB9-A74B-0D627B074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844" y="2771746"/>
            <a:ext cx="7323660" cy="387735"/>
          </a:xfrm>
          <a:prstGeom prst="rect">
            <a:avLst/>
          </a:prstGeom>
          <a:noFill/>
          <a:ln w="9525">
            <a:noFill/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先给定解的初始值，采用迭代逐步逼近，求得满足一定精度要求近似解。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20402177-82D9-45DF-AAC9-124ECC936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158" y="3193886"/>
            <a:ext cx="6691755" cy="1139094"/>
          </a:xfrm>
          <a:prstGeom prst="rect">
            <a:avLst/>
          </a:prstGeom>
          <a:noFill/>
          <a:ln w="9525">
            <a:noFill/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2500"/>
              </a:lnSpc>
              <a:defRPr sz="2000" b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</a:pPr>
            <a:r>
              <a:rPr lang="zh-CN" altLang="en-US" sz="1800" dirty="0"/>
              <a:t>占用存储空间小，程序设计简单；</a:t>
            </a:r>
            <a:endParaRPr lang="en-US" altLang="zh-CN" sz="1800" dirty="0"/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</a:pPr>
            <a:r>
              <a:rPr lang="zh-CN" altLang="en-US" sz="1800" dirty="0"/>
              <a:t>适用于求解大型稀疏矩阵线性方程组；</a:t>
            </a:r>
            <a:endParaRPr lang="en-US" altLang="zh-CN" sz="1800" dirty="0"/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</a:pPr>
            <a:r>
              <a:rPr lang="zh-CN" altLang="en-US" sz="1800" dirty="0"/>
              <a:t>要考虑算法收敛性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A5E93A-FAE0-4D1B-A852-DCD0ACD28BF2}"/>
              </a:ext>
            </a:extLst>
          </p:cNvPr>
          <p:cNvSpPr/>
          <p:nvPr/>
        </p:nvSpPr>
        <p:spPr>
          <a:xfrm>
            <a:off x="343574" y="3686596"/>
            <a:ext cx="76951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92B564-9E42-481A-95DE-AB4B307E332E}"/>
              </a:ext>
            </a:extLst>
          </p:cNvPr>
          <p:cNvSpPr txBox="1"/>
          <p:nvPr/>
        </p:nvSpPr>
        <p:spPr>
          <a:xfrm>
            <a:off x="943854" y="4267937"/>
            <a:ext cx="818071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600" dirty="0"/>
              <a:t>M</a:t>
            </a:r>
            <a:r>
              <a:rPr lang="zh-CN" altLang="en-US" sz="1600" dirty="0"/>
              <a:t>语言左除法可处理非方阵（超定或欠定）</a:t>
            </a:r>
            <a:r>
              <a:rPr lang="en-US" altLang="zh-CN" sz="1600" dirty="0"/>
              <a:t>,</a:t>
            </a:r>
            <a:r>
              <a:rPr lang="zh-CN" altLang="en-US" sz="1600" dirty="0"/>
              <a:t>自动选择最小二乘解或最小范数解</a:t>
            </a:r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925F030A-2138-4E6A-B004-B3937F429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541" y="4177864"/>
            <a:ext cx="1170336" cy="482118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  <a:p>
            <a:pPr algn="ctr"/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50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 animBg="1"/>
      <p:bldP spid="13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>
            <a:extLst>
              <a:ext uri="{FF2B5EF4-FFF2-40B4-BE49-F238E27FC236}">
                <a16:creationId xmlns:a16="http://schemas.microsoft.com/office/drawing/2014/main" id="{8037512F-4024-4929-B688-D5A230D13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34" y="1586312"/>
            <a:ext cx="1454508" cy="338554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pinv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(A)*b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F81E0B-A7FF-413D-B70D-57BE62976D4D}"/>
              </a:ext>
            </a:extLst>
          </p:cNvPr>
          <p:cNvSpPr txBox="1"/>
          <p:nvPr/>
        </p:nvSpPr>
        <p:spPr>
          <a:xfrm>
            <a:off x="1545542" y="1593701"/>
            <a:ext cx="777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伪逆乘法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基于奇异矩阵分解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优先用于奇异，适合欠定和超定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BD297192-4744-48E8-90D3-C21EB3FF7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3" y="2047338"/>
            <a:ext cx="2248718" cy="338554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>
                <a:highlight>
                  <a:srgbClr val="000080"/>
                </a:highlight>
              </a:rPr>
              <a:t>x=lsqminnorm(A,b)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D1B305-F456-4226-A205-7141C8E98227}"/>
              </a:ext>
            </a:extLst>
          </p:cNvPr>
          <p:cNvSpPr txBox="1"/>
          <p:nvPr/>
        </p:nvSpPr>
        <p:spPr>
          <a:xfrm>
            <a:off x="30966" y="2467228"/>
            <a:ext cx="9005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 eaLnBrk="0" hangingPunct="0"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优先用于欠定和超定方程，因为</a:t>
            </a:r>
            <a:r>
              <a:rPr lang="en-US" altLang="zh-CN" sz="1600" dirty="0">
                <a:solidFill>
                  <a:srgbClr val="FF0000"/>
                </a:solidFill>
              </a:rPr>
              <a:t>norm(AX-b)</a:t>
            </a:r>
            <a:r>
              <a:rPr lang="zh-CN" altLang="en-US" sz="1600" dirty="0">
                <a:solidFill>
                  <a:srgbClr val="FF0000"/>
                </a:solidFill>
              </a:rPr>
              <a:t>最小</a:t>
            </a:r>
            <a:r>
              <a:rPr lang="en-US" altLang="zh-CN" sz="1600" dirty="0">
                <a:solidFill>
                  <a:srgbClr val="FF0000"/>
                </a:solidFill>
              </a:rPr>
              <a:t>, norm(X)</a:t>
            </a:r>
            <a:r>
              <a:rPr lang="zh-CN" altLang="en-US" sz="1600" dirty="0"/>
              <a:t>也最小，</a:t>
            </a:r>
            <a:r>
              <a:rPr lang="zh-CN" altLang="en-US" sz="1600" b="0" dirty="0"/>
              <a:t>基于完全正交分解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0A6E3903-D79D-4F9B-A067-0BB07CFF7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3" y="1149631"/>
            <a:ext cx="849760" cy="338554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x=A\b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9049AC-183C-4C62-B96E-5803F1350373}"/>
              </a:ext>
            </a:extLst>
          </p:cNvPr>
          <p:cNvSpPr txBox="1"/>
          <p:nvPr/>
        </p:nvSpPr>
        <p:spPr>
          <a:xfrm>
            <a:off x="868556" y="1114320"/>
            <a:ext cx="8481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左除法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适合解恰定方程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速度精度高于逆乘法；求非方阵</a:t>
            </a:r>
            <a:r>
              <a:rPr lang="pt-BR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A*x= B</a:t>
            </a:r>
            <a:r>
              <a:rPr lang="zh-CN" altLang="pt-BR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，易错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19615F-BAB2-439F-A24B-5E3794D55BBE}"/>
              </a:ext>
            </a:extLst>
          </p:cNvPr>
          <p:cNvSpPr txBox="1"/>
          <p:nvPr/>
        </p:nvSpPr>
        <p:spPr>
          <a:xfrm>
            <a:off x="2372900" y="2025749"/>
            <a:ext cx="677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最小范数最小二乘解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适合奇异、欠定和超定方程，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效率高于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F35B82-1216-4B31-B2F9-8B89E763F8C9}"/>
              </a:ext>
            </a:extLst>
          </p:cNvPr>
          <p:cNvSpPr txBox="1"/>
          <p:nvPr/>
        </p:nvSpPr>
        <p:spPr>
          <a:xfrm>
            <a:off x="1707279" y="3363838"/>
            <a:ext cx="69450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阶梯形矩阵</a:t>
            </a:r>
            <a:r>
              <a:rPr lang="en-US" altLang="zh-CN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Gauss-Jordan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消元法，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常用于欠定方程求任意解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88A8D9A0-6246-4E52-B597-1B7F4E1AD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45" y="2910765"/>
            <a:ext cx="1584082" cy="307777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4E701B-37A9-4982-BD6B-091471CB0B27}"/>
              </a:ext>
            </a:extLst>
          </p:cNvPr>
          <p:cNvSpPr txBox="1"/>
          <p:nvPr/>
        </p:nvSpPr>
        <p:spPr>
          <a:xfrm>
            <a:off x="1650088" y="2904165"/>
            <a:ext cx="76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线性方程组求解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和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QR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适于方阵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未正确缩放或近奇异矩阵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易出错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58541A-66B3-40B7-BD1B-AAC5D0441BE4}"/>
              </a:ext>
            </a:extLst>
          </p:cNvPr>
          <p:cNvSpPr txBox="1"/>
          <p:nvPr/>
        </p:nvSpPr>
        <p:spPr>
          <a:xfrm>
            <a:off x="1475656" y="49187"/>
            <a:ext cx="7056784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§6.2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 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求解常用方法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EBA16DF0-CAC7-4381-A904-323BDA612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3881181"/>
            <a:ext cx="135941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>
                <a:sym typeface="Arial" charset="0"/>
              </a:rPr>
              <a:t>x=inv</a:t>
            </a:r>
            <a:r>
              <a:rPr lang="en-US" altLang="zh-CN" dirty="0">
                <a:sym typeface="Arial" charset="0"/>
              </a:rPr>
              <a:t>(A)*b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437E4C-0555-4CB3-8339-B59407690882}"/>
              </a:ext>
            </a:extLst>
          </p:cNvPr>
          <p:cNvSpPr txBox="1"/>
          <p:nvPr/>
        </p:nvSpPr>
        <p:spPr>
          <a:xfrm>
            <a:off x="1529849" y="3858602"/>
            <a:ext cx="75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逆乘法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只求方阵的恰定方程，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lu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分解的输入，求解速度和精度低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4F1E8C-3927-4698-B522-0A510C0ADE24}"/>
              </a:ext>
            </a:extLst>
          </p:cNvPr>
          <p:cNvSpPr txBox="1"/>
          <p:nvPr/>
        </p:nvSpPr>
        <p:spPr>
          <a:xfrm>
            <a:off x="0" y="694162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0070C0"/>
                </a:solidFill>
              </a:rPr>
              <a:t>每种函数命令算法不一样，应用场合不同</a:t>
            </a:r>
            <a:r>
              <a:rPr lang="en-US" altLang="zh-CN" sz="1600" dirty="0">
                <a:solidFill>
                  <a:srgbClr val="0070C0"/>
                </a:solidFill>
              </a:rPr>
              <a:t>,</a:t>
            </a:r>
            <a:r>
              <a:rPr lang="zh-CN" altLang="en-US" sz="1600" dirty="0">
                <a:solidFill>
                  <a:srgbClr val="0070C0"/>
                </a:solidFill>
              </a:rPr>
              <a:t>常用左除法、伪逆乘法，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最小范数最小二乘解</a:t>
            </a:r>
            <a:endParaRPr lang="en-US" altLang="zh-CN" sz="1600" dirty="0">
              <a:solidFill>
                <a:srgbClr val="0070C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75B875-447A-4C6A-AAF9-03A21F28E8EB}"/>
              </a:ext>
            </a:extLst>
          </p:cNvPr>
          <p:cNvSpPr/>
          <p:nvPr/>
        </p:nvSpPr>
        <p:spPr>
          <a:xfrm>
            <a:off x="116245" y="3404581"/>
            <a:ext cx="154312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R,P=rref([A b])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0E3FD5-11BD-47E5-A40A-BE65D4E585C5}"/>
              </a:ext>
            </a:extLst>
          </p:cNvPr>
          <p:cNvSpPr txBox="1"/>
          <p:nvPr/>
        </p:nvSpPr>
        <p:spPr>
          <a:xfrm>
            <a:off x="983815" y="4283524"/>
            <a:ext cx="8052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sz="1600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、伪逆乘法、左除法、和</a:t>
            </a:r>
            <a:r>
              <a:rPr lang="en-US" altLang="zh-CN" sz="1600" b="1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linsolve</a:t>
            </a:r>
            <a:r>
              <a:rPr lang="zh-CN" altLang="en-US" sz="1600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、左除法都可求解三类方程，各有侧重</a:t>
            </a:r>
            <a:r>
              <a:rPr lang="en-US" altLang="zh-CN" sz="1600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zh-CN" altLang="en-US" sz="1600" b="1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AutoShape 13">
            <a:extLst>
              <a:ext uri="{FF2B5EF4-FFF2-40B4-BE49-F238E27FC236}">
                <a16:creationId xmlns:a16="http://schemas.microsoft.com/office/drawing/2014/main" id="{62CD6FAC-8B18-4741-8193-BC2F178F9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541" y="4177864"/>
            <a:ext cx="1170336" cy="482118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  <a:p>
            <a:pPr algn="ctr"/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162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23" grpId="0"/>
      <p:bldP spid="19" grpId="0" animBg="1"/>
      <p:bldP spid="20" grpId="0" animBg="1"/>
      <p:bldP spid="21" grpId="0"/>
      <p:bldP spid="22" grpId="0" animBg="1"/>
      <p:bldP spid="26" grpId="0"/>
      <p:bldP spid="17" grpId="0" animBg="1"/>
      <p:bldP spid="27" grpId="0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5CD12E8-E3E2-44C6-81F9-5E37A6DCD2A6}"/>
              </a:ext>
            </a:extLst>
          </p:cNvPr>
          <p:cNvSpPr txBox="1">
            <a:spLocks/>
          </p:cNvSpPr>
          <p:nvPr/>
        </p:nvSpPr>
        <p:spPr bwMode="auto">
          <a:xfrm>
            <a:off x="1538319" y="102903"/>
            <a:ext cx="6014701" cy="520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kern="0" dirty="0"/>
              <a:t>§6.3 </a:t>
            </a:r>
            <a:r>
              <a:rPr lang="zh-CN" altLang="en-US" kern="0" dirty="0"/>
              <a:t>矩阵分解法</a:t>
            </a:r>
            <a:r>
              <a:rPr lang="en-US" altLang="zh-CN" kern="0" dirty="0">
                <a:solidFill>
                  <a:srgbClr val="FF0000"/>
                </a:solidFill>
              </a:rPr>
              <a:t>——</a:t>
            </a:r>
            <a:r>
              <a:rPr lang="zh-CN" altLang="en-US" kern="0" dirty="0">
                <a:solidFill>
                  <a:srgbClr val="FF0000"/>
                </a:solidFill>
              </a:rPr>
              <a:t>分解特点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054F88-7C79-4CF5-99DC-08E0265C6A99}"/>
              </a:ext>
            </a:extLst>
          </p:cNvPr>
          <p:cNvSpPr/>
          <p:nvPr/>
        </p:nvSpPr>
        <p:spPr>
          <a:xfrm>
            <a:off x="229812" y="4231987"/>
            <a:ext cx="8516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dist" defTabSz="0">
              <a:spcBef>
                <a:spcPct val="20000"/>
              </a:spcBef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矩阵分解在数据分析、机器学习、信号处理、控制理论、量子力学尤为重要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003DFE-7BBD-4714-9714-C5F053397D3D}"/>
              </a:ext>
            </a:extLst>
          </p:cNvPr>
          <p:cNvSpPr/>
          <p:nvPr/>
        </p:nvSpPr>
        <p:spPr>
          <a:xfrm>
            <a:off x="250376" y="3026923"/>
            <a:ext cx="8703973" cy="551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 defTabSz="0">
              <a:lnSpc>
                <a:spcPts val="4200"/>
              </a:lnSpc>
              <a:spcBef>
                <a:spcPts val="0"/>
              </a:spcBef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矩阵分解可将矩阵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A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分解成若干简单矩阵乘积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简化计算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节省空间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加快运行速度</a:t>
            </a:r>
            <a:endParaRPr lang="zh-CN" altLang="en-US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447FCC-2276-4358-9EA6-95FBC7A7D714}"/>
              </a:ext>
            </a:extLst>
          </p:cNvPr>
          <p:cNvSpPr/>
          <p:nvPr/>
        </p:nvSpPr>
        <p:spPr>
          <a:xfrm>
            <a:off x="6829788" y="3746605"/>
            <a:ext cx="1811714" cy="369332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rPr>
              <a:t>简化矩阵的运算</a:t>
            </a:r>
          </a:p>
        </p:txBody>
      </p:sp>
      <p:sp>
        <p:nvSpPr>
          <p:cNvPr id="10" name="右箭头 27">
            <a:extLst>
              <a:ext uri="{FF2B5EF4-FFF2-40B4-BE49-F238E27FC236}">
                <a16:creationId xmlns:a16="http://schemas.microsoft.com/office/drawing/2014/main" id="{DDBA04B9-03B4-4663-BD1A-8EFA557B6109}"/>
              </a:ext>
            </a:extLst>
          </p:cNvPr>
          <p:cNvSpPr/>
          <p:nvPr/>
        </p:nvSpPr>
        <p:spPr bwMode="auto">
          <a:xfrm>
            <a:off x="1668172" y="3866117"/>
            <a:ext cx="1261373" cy="168521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97DABA-ED73-4797-B936-F58F0D9C5DA9}"/>
              </a:ext>
            </a:extLst>
          </p:cNvPr>
          <p:cNvSpPr/>
          <p:nvPr/>
        </p:nvSpPr>
        <p:spPr>
          <a:xfrm>
            <a:off x="323528" y="3746606"/>
            <a:ext cx="1114408" cy="369332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矩阵分解</a:t>
            </a:r>
            <a:endParaRPr lang="zh-CN" altLang="en-US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A15405-FAFE-43BA-A25C-89E31F79CB29}"/>
              </a:ext>
            </a:extLst>
          </p:cNvPr>
          <p:cNvSpPr/>
          <p:nvPr/>
        </p:nvSpPr>
        <p:spPr>
          <a:xfrm>
            <a:off x="3191362" y="3755816"/>
            <a:ext cx="1811714" cy="369332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rPr>
              <a:t>简单矩阵的组合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4C3E7F-8920-4661-BB38-3C483F5C642C}"/>
              </a:ext>
            </a:extLst>
          </p:cNvPr>
          <p:cNvSpPr txBox="1"/>
          <p:nvPr/>
        </p:nvSpPr>
        <p:spPr>
          <a:xfrm>
            <a:off x="260200" y="2779073"/>
            <a:ext cx="86236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矩阵分解是矩阵理论的非常重要内容，通常可以将一般矩阵变成更易于处理的形式</a:t>
            </a:r>
          </a:p>
        </p:txBody>
      </p:sp>
      <p:pic>
        <p:nvPicPr>
          <p:cNvPr id="44034" name="Picture 2" descr="矩阵分解 (乘法篇)_一个矩阵乘以上三角矩阵-CSDN博客">
            <a:extLst>
              <a:ext uri="{FF2B5EF4-FFF2-40B4-BE49-F238E27FC236}">
                <a16:creationId xmlns:a16="http://schemas.microsoft.com/office/drawing/2014/main" id="{9C439E13-4F81-4157-A785-51D54ECE0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" b="18231"/>
          <a:stretch/>
        </p:blipFill>
        <p:spPr bwMode="auto">
          <a:xfrm>
            <a:off x="5100333" y="1234459"/>
            <a:ext cx="3703466" cy="148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BF58E62-9A86-40C1-8B1A-57D6E2991208}"/>
              </a:ext>
            </a:extLst>
          </p:cNvPr>
          <p:cNvSpPr/>
          <p:nvPr/>
        </p:nvSpPr>
        <p:spPr>
          <a:xfrm>
            <a:off x="5489041" y="2312760"/>
            <a:ext cx="748923" cy="27699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下三角</a:t>
            </a: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L</a:t>
            </a:r>
            <a:endParaRPr lang="zh-CN" altLang="en-US" sz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DCB6A3-9C4D-448C-88AB-589F448520B8}"/>
              </a:ext>
            </a:extLst>
          </p:cNvPr>
          <p:cNvSpPr txBox="1"/>
          <p:nvPr/>
        </p:nvSpPr>
        <p:spPr>
          <a:xfrm>
            <a:off x="217472" y="1159967"/>
            <a:ext cx="4829790" cy="14107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ts val="36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左除法优先采用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分解；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6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上下三角分解和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QR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分解的函数</a:t>
            </a:r>
          </a:p>
          <a:p>
            <a:pPr marL="285750" indent="-285750">
              <a:lnSpc>
                <a:spcPts val="36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基于奇异矩阵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svd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分解的函数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251B6E-ACC4-49D5-9F62-E2B83B201B15}"/>
              </a:ext>
            </a:extLst>
          </p:cNvPr>
          <p:cNvSpPr/>
          <p:nvPr/>
        </p:nvSpPr>
        <p:spPr>
          <a:xfrm>
            <a:off x="6968523" y="1565833"/>
            <a:ext cx="756938" cy="27699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上三角</a:t>
            </a: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U</a:t>
            </a:r>
            <a:endParaRPr lang="zh-CN" altLang="en-US" sz="1200" b="1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/>
            </a:endParaRPr>
          </a:p>
        </p:txBody>
      </p:sp>
      <p:sp>
        <p:nvSpPr>
          <p:cNvPr id="18" name="右箭头 27">
            <a:extLst>
              <a:ext uri="{FF2B5EF4-FFF2-40B4-BE49-F238E27FC236}">
                <a16:creationId xmlns:a16="http://schemas.microsoft.com/office/drawing/2014/main" id="{ADF4E4F9-BFF4-423D-982A-ABC1B72ADF0E}"/>
              </a:ext>
            </a:extLst>
          </p:cNvPr>
          <p:cNvSpPr/>
          <p:nvPr/>
        </p:nvSpPr>
        <p:spPr bwMode="auto">
          <a:xfrm>
            <a:off x="5264893" y="3834879"/>
            <a:ext cx="1395339" cy="168521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43EDCF-5AC9-48B6-841A-5CB550A72993}"/>
              </a:ext>
            </a:extLst>
          </p:cNvPr>
          <p:cNvSpPr/>
          <p:nvPr/>
        </p:nvSpPr>
        <p:spPr bwMode="auto">
          <a:xfrm>
            <a:off x="5182613" y="1275607"/>
            <a:ext cx="1355886" cy="14190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1A9334-B9C5-4FB2-8BC3-8AEE7CBB8E02}"/>
              </a:ext>
            </a:extLst>
          </p:cNvPr>
          <p:cNvSpPr/>
          <p:nvPr/>
        </p:nvSpPr>
        <p:spPr bwMode="auto">
          <a:xfrm>
            <a:off x="6584312" y="1275606"/>
            <a:ext cx="1228048" cy="14190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313253-15E2-455F-93ED-6B3073E93DA2}"/>
              </a:ext>
            </a:extLst>
          </p:cNvPr>
          <p:cNvSpPr/>
          <p:nvPr/>
        </p:nvSpPr>
        <p:spPr>
          <a:xfrm>
            <a:off x="5178707" y="790635"/>
            <a:ext cx="918841" cy="36933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  <a:sym typeface="Arial" charset="0"/>
              </a:rPr>
              <a:t>A=L*U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D02564-699E-423C-8BA8-3003FCCAD5B9}"/>
              </a:ext>
            </a:extLst>
          </p:cNvPr>
          <p:cNvSpPr txBox="1"/>
          <p:nvPr/>
        </p:nvSpPr>
        <p:spPr>
          <a:xfrm>
            <a:off x="6204372" y="748492"/>
            <a:ext cx="136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x=b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求根</a:t>
            </a:r>
            <a:endParaRPr lang="pl-PL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41C5B4-7589-4A26-991D-0893756C236C}"/>
              </a:ext>
            </a:extLst>
          </p:cNvPr>
          <p:cNvSpPr txBox="1"/>
          <p:nvPr/>
        </p:nvSpPr>
        <p:spPr>
          <a:xfrm>
            <a:off x="229812" y="746127"/>
            <a:ext cx="4678416" cy="4322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矩阵分解源于求解线性方程组 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C2578C-0647-4368-919C-A09D5B70B3A4}"/>
              </a:ext>
            </a:extLst>
          </p:cNvPr>
          <p:cNvSpPr txBox="1"/>
          <p:nvPr/>
        </p:nvSpPr>
        <p:spPr>
          <a:xfrm>
            <a:off x="7388817" y="737784"/>
            <a:ext cx="1575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pl-PL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\(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pl-PL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\P*b)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61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24" grpId="0" animBg="1"/>
      <p:bldP spid="13" grpId="0" animBg="1"/>
      <p:bldP spid="17" grpId="0" animBg="1"/>
      <p:bldP spid="18" grpId="0" animBg="1"/>
      <p:bldP spid="9" grpId="0" animBg="1"/>
      <p:bldP spid="22" grpId="0" animBg="1"/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1CDC9E4-8D96-4F20-85BB-BF2F91EA2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979732"/>
              </p:ext>
            </p:extLst>
          </p:nvPr>
        </p:nvGraphicFramePr>
        <p:xfrm>
          <a:off x="162603" y="1107314"/>
          <a:ext cx="8875573" cy="3129069"/>
        </p:xfrm>
        <a:graphic>
          <a:graphicData uri="http://schemas.openxmlformats.org/drawingml/2006/table">
            <a:tbl>
              <a:tblPr/>
              <a:tblGrid>
                <a:gridCol w="981809">
                  <a:extLst>
                    <a:ext uri="{9D8B030D-6E8A-4147-A177-3AD203B41FA5}">
                      <a16:colId xmlns:a16="http://schemas.microsoft.com/office/drawing/2014/main" val="636327538"/>
                    </a:ext>
                  </a:extLst>
                </a:gridCol>
                <a:gridCol w="1819112">
                  <a:extLst>
                    <a:ext uri="{9D8B030D-6E8A-4147-A177-3AD203B41FA5}">
                      <a16:colId xmlns:a16="http://schemas.microsoft.com/office/drawing/2014/main" val="493154592"/>
                    </a:ext>
                  </a:extLst>
                </a:gridCol>
                <a:gridCol w="1309762">
                  <a:extLst>
                    <a:ext uri="{9D8B030D-6E8A-4147-A177-3AD203B41FA5}">
                      <a16:colId xmlns:a16="http://schemas.microsoft.com/office/drawing/2014/main" val="257793219"/>
                    </a:ext>
                  </a:extLst>
                </a:gridCol>
                <a:gridCol w="1455291">
                  <a:extLst>
                    <a:ext uri="{9D8B030D-6E8A-4147-A177-3AD203B41FA5}">
                      <a16:colId xmlns:a16="http://schemas.microsoft.com/office/drawing/2014/main" val="1112193474"/>
                    </a:ext>
                  </a:extLst>
                </a:gridCol>
                <a:gridCol w="1236997">
                  <a:extLst>
                    <a:ext uri="{9D8B030D-6E8A-4147-A177-3AD203B41FA5}">
                      <a16:colId xmlns:a16="http://schemas.microsoft.com/office/drawing/2014/main" val="2613388537"/>
                    </a:ext>
                  </a:extLst>
                </a:gridCol>
                <a:gridCol w="918794">
                  <a:extLst>
                    <a:ext uri="{9D8B030D-6E8A-4147-A177-3AD203B41FA5}">
                      <a16:colId xmlns:a16="http://schemas.microsoft.com/office/drawing/2014/main" val="4094606039"/>
                    </a:ext>
                  </a:extLst>
                </a:gridCol>
                <a:gridCol w="1153808">
                  <a:extLst>
                    <a:ext uri="{9D8B030D-6E8A-4147-A177-3AD203B41FA5}">
                      <a16:colId xmlns:a16="http://schemas.microsoft.com/office/drawing/2014/main" val="4026927664"/>
                    </a:ext>
                  </a:extLst>
                </a:gridCol>
              </a:tblGrid>
              <a:tr h="423341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</a:rPr>
                        <a:t>分解方法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0" dirty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charset="0"/>
                        </a:rPr>
                        <a:t>若干矩阵乘积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PingFang SC"/>
                      </a:endParaRP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</a:rPr>
                        <a:t>分解函数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  <a:ea typeface="+mn-ea"/>
                          <a:cs typeface="+mn-cs"/>
                        </a:rPr>
                        <a:t>适用矩阵类型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  <a:ea typeface="+mn-ea"/>
                          <a:cs typeface="+mn-cs"/>
                        </a:rPr>
                        <a:t>典型问题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</a:rPr>
                        <a:t>典型应用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PingFang SC"/>
                        </a:rPr>
                        <a:t>算法基础</a:t>
                      </a:r>
                    </a:p>
                  </a:txBody>
                  <a:tcPr marL="67071" marR="67071" marT="44015" marB="31439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74478363"/>
                  </a:ext>
                </a:extLst>
              </a:tr>
              <a:tr h="51750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</a:rPr>
                        <a:t>LU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effectLst/>
                        </a:rPr>
                        <a:t>A=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下三角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ffectLst/>
                        </a:rPr>
                        <a:t>L*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上三角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U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lu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非奇异方阵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非奇异</a:t>
                      </a:r>
                      <a:endParaRPr lang="en-US" altLang="zh-CN" sz="1400" b="1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恰定方程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chemeClr val="tx1"/>
                          </a:solidFill>
                          <a:effectLst/>
                        </a:rPr>
                        <a:t>工程力学、电路分析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左除法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kern="1200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linsolve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lang="zh-CN" altLang="en-US" sz="1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逆乘法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62318628"/>
                  </a:ext>
                </a:extLst>
              </a:tr>
              <a:tr h="51750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</a:rPr>
                        <a:t>Cholesky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正定矩阵上三角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R;</a:t>
                      </a: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L=R’; A=R’*R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R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cholesky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对称正定矩阵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高效求解正定方程组 ‌</a:t>
                      </a:r>
                      <a:b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endParaRPr lang="zh-CN" altLang="en-US" sz="1400" b="1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优化问题、统计模型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2293210"/>
                  </a:ext>
                </a:extLst>
              </a:tr>
              <a:tr h="51750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</a:rPr>
                        <a:t>QR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A=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正交矩阵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Q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*上三角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R   (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正交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Q’=Q</a:t>
                      </a:r>
                      <a:r>
                        <a:rPr lang="en-US" altLang="zh-CN" sz="14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-1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sym typeface="Arial" charset="0"/>
                        </a:rPr>
                        <a:t>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R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qr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任意矩阵</a:t>
                      </a:r>
                      <a:endParaRPr lang="en-US" altLang="zh-CN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含非方阵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行满秩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最小二乘法、超定方程组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数据拟合、图像处理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kern="1200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Linsolve</a:t>
                      </a:r>
                      <a:endParaRPr lang="en-US" altLang="zh-CN" sz="1400" b="1" i="0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kern="1200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lsqminnorm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005447"/>
                  </a:ext>
                </a:extLst>
              </a:tr>
              <a:tr h="73200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</a:rPr>
                        <a:t>SVD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A=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正交阵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U*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对角阵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s*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转置正交阵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l-PL" altLang="zh-CN" sz="140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pl-PL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pl-PL" altLang="zh-CN" sz="140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pl-PL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pl-PL" altLang="zh-CN" sz="1400" dirty="0">
                          <a:solidFill>
                            <a:schemeClr val="tx1"/>
                          </a:solidFill>
                        </a:rPr>
                        <a:t>V </a:t>
                      </a:r>
                      <a:r>
                        <a:rPr lang="pl-PL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pl-PL" altLang="zh-CN" sz="1400" dirty="0">
                          <a:solidFill>
                            <a:schemeClr val="tx1"/>
                          </a:solidFill>
                        </a:rPr>
                        <a:t> svd</a:t>
                      </a:r>
                      <a:r>
                        <a:rPr lang="pl-PL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l-PL" altLang="zh-CN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pl-PL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任意矩阵</a:t>
                      </a:r>
                      <a:endParaRPr lang="en-US" altLang="zh-CN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（含病态）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病态问题、</a:t>
                      </a:r>
                      <a:endParaRPr lang="en-US" altLang="zh-CN" sz="1400" b="1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秩亏矩阵求解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</a:rPr>
                        <a:t>信号处理、降维分析</a:t>
                      </a: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pinv</a:t>
                      </a: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伪逆乘 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071" marR="67071" marT="44015" marB="44015" anchor="ctr">
                    <a:lnL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69000">
                          <a:srgbClr val="00B0F0">
                            <a:alpha val="6000"/>
                          </a:srgb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4189018"/>
                  </a:ext>
                </a:extLst>
              </a:tr>
            </a:tbl>
          </a:graphicData>
        </a:graphic>
      </p:graphicFrame>
      <p:sp>
        <p:nvSpPr>
          <p:cNvPr id="11" name="标题 3">
            <a:extLst>
              <a:ext uri="{FF2B5EF4-FFF2-40B4-BE49-F238E27FC236}">
                <a16:creationId xmlns:a16="http://schemas.microsoft.com/office/drawing/2014/main" id="{603B66FE-34F9-43E2-AB33-7F37006C4756}"/>
              </a:ext>
            </a:extLst>
          </p:cNvPr>
          <p:cNvSpPr txBox="1">
            <a:spLocks/>
          </p:cNvSpPr>
          <p:nvPr/>
        </p:nvSpPr>
        <p:spPr bwMode="auto">
          <a:xfrm>
            <a:off x="1835696" y="150509"/>
            <a:ext cx="597145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常用分解函数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3F4DA0-1B3E-4E37-9B62-CDA629BF1FD6}"/>
              </a:ext>
            </a:extLst>
          </p:cNvPr>
          <p:cNvSpPr/>
          <p:nvPr/>
        </p:nvSpPr>
        <p:spPr>
          <a:xfrm>
            <a:off x="107504" y="724688"/>
            <a:ext cx="8875573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分解复杂矩阵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A=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简单矩阵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1*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简单矩阵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2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，用矩阵分解函数可得到分解后简单矩阵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1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和简单矩阵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charset="0"/>
              </a:rPr>
              <a:t>2</a:t>
            </a:r>
            <a:endParaRPr lang="zh-CN" altLang="en-US" sz="1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39D95B-B0B9-4E56-AA9D-615EF7E0341D}"/>
              </a:ext>
            </a:extLst>
          </p:cNvPr>
          <p:cNvSpPr txBox="1"/>
          <p:nvPr/>
        </p:nvSpPr>
        <p:spPr>
          <a:xfrm>
            <a:off x="0" y="4329662"/>
            <a:ext cx="9108504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sz="1400" b="1" i="0" dirty="0" err="1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lsqminnorm</a:t>
            </a:r>
            <a:r>
              <a:rPr lang="zh-CN" altLang="en-US" sz="14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QR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sz="14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完全正交分解</a:t>
            </a:r>
            <a:r>
              <a:rPr lang="en-US" altLang="zh-CN" sz="14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COD</a:t>
            </a:r>
            <a:r>
              <a:rPr lang="zh-CN" altLang="en-US" sz="14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，适合欠定方程和超定。效率通常高于</a:t>
            </a:r>
            <a:r>
              <a:rPr lang="en-US" altLang="zh-CN" sz="1400" b="1" i="0" dirty="0" err="1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sz="14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，，其结果不完全一致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408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5B8A54A-39FA-4004-B77B-4BD49AE92D64}"/>
              </a:ext>
            </a:extLst>
          </p:cNvPr>
          <p:cNvSpPr txBox="1">
            <a:spLocks/>
          </p:cNvSpPr>
          <p:nvPr/>
        </p:nvSpPr>
        <p:spPr bwMode="auto">
          <a:xfrm>
            <a:off x="1041460" y="180090"/>
            <a:ext cx="7699612" cy="467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</a:t>
            </a:r>
            <a:r>
              <a:rPr lang="en-US" altLang="zh-CN" sz="2800" b="1" kern="0" dirty="0"/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非奇异</a:t>
            </a:r>
            <a:r>
              <a:rPr lang="zh-CN" altLang="en-US" sz="2800" b="1" kern="0" dirty="0">
                <a:solidFill>
                  <a:srgbClr val="FF0000"/>
                </a:solidFill>
                <a:sym typeface="Arial" pitchFamily="34" charset="0"/>
              </a:rPr>
              <a:t>方阵</a:t>
            </a:r>
            <a:r>
              <a:rPr lang="en-US" altLang="zh-CN" sz="2800" b="1" kern="0" dirty="0" err="1">
                <a:solidFill>
                  <a:srgbClr val="FF0000"/>
                </a:solidFill>
              </a:rPr>
              <a:t>qr</a:t>
            </a:r>
            <a:r>
              <a:rPr lang="zh-CN" altLang="en-US" sz="2800" b="1" kern="0" dirty="0">
                <a:solidFill>
                  <a:srgbClr val="FF0000"/>
                </a:solidFill>
              </a:rPr>
              <a:t>矩阵分解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CE5F63-C9AE-4342-9C80-DB8618765627}"/>
              </a:ext>
            </a:extLst>
          </p:cNvPr>
          <p:cNvSpPr/>
          <p:nvPr/>
        </p:nvSpPr>
        <p:spPr>
          <a:xfrm>
            <a:off x="300128" y="725520"/>
            <a:ext cx="7138640" cy="4247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defTabSz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A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分解成正交矩阵</a:t>
            </a:r>
            <a:r>
              <a:rPr lang="en-US" altLang="zh-CN" sz="2400" b="1" dirty="0">
                <a:solidFill>
                  <a:srgbClr val="0070C0"/>
                </a:solidFill>
                <a:sym typeface="Arial" charset="0"/>
              </a:rPr>
              <a:t>Q’=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en-US" altLang="zh-CN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)</a:t>
            </a:r>
            <a:r>
              <a:rPr lang="en-US" altLang="zh-CN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Q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和上三角矩阵</a:t>
            </a:r>
            <a:r>
              <a:rPr lang="en-US" altLang="zh-CN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R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乘积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0BF0D5-B2B5-4D45-8F7D-CA36DCC157DD}"/>
              </a:ext>
            </a:extLst>
          </p:cNvPr>
          <p:cNvSpPr/>
          <p:nvPr/>
        </p:nvSpPr>
        <p:spPr>
          <a:xfrm>
            <a:off x="6406061" y="793036"/>
            <a:ext cx="705642" cy="33855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16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A=Q</a:t>
            </a:r>
            <a:r>
              <a:rPr lang="zh-CN" altLang="en-US" sz="16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*</a:t>
            </a:r>
            <a:r>
              <a:rPr lang="en-US" altLang="zh-CN" sz="16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R</a:t>
            </a:r>
            <a:endParaRPr lang="zh-CN" altLang="en-US" sz="1600" b="1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D9595D-89E2-4460-AE9A-43F86A08535A}"/>
              </a:ext>
            </a:extLst>
          </p:cNvPr>
          <p:cNvSpPr/>
          <p:nvPr/>
        </p:nvSpPr>
        <p:spPr>
          <a:xfrm>
            <a:off x="327534" y="1847883"/>
            <a:ext cx="1796194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Ax=b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解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x=(Q*R)\b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EAE0C2-6A96-40B3-8F1E-ACC492809829}"/>
              </a:ext>
            </a:extLst>
          </p:cNvPr>
          <p:cNvSpPr/>
          <p:nvPr/>
        </p:nvSpPr>
        <p:spPr>
          <a:xfrm>
            <a:off x="327534" y="1303025"/>
            <a:ext cx="122012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Q,R=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FBA1891-8EA2-4645-AF8C-5C99FA482C85}"/>
              </a:ext>
            </a:extLst>
          </p:cNvPr>
          <p:cNvSpPr/>
          <p:nvPr/>
        </p:nvSpPr>
        <p:spPr bwMode="auto">
          <a:xfrm rot="5400000">
            <a:off x="853990" y="1646221"/>
            <a:ext cx="237928" cy="280251"/>
          </a:xfrm>
          <a:prstGeom prst="rightArrow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79C2A7-BBE4-4247-8BE1-5F49A534A3D3}"/>
              </a:ext>
            </a:extLst>
          </p:cNvPr>
          <p:cNvSpPr/>
          <p:nvPr/>
        </p:nvSpPr>
        <p:spPr>
          <a:xfrm>
            <a:off x="346203" y="2417068"/>
            <a:ext cx="141748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x= 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=R\(Q\b)</a:t>
            </a:r>
            <a:endParaRPr lang="zh-CN" altLang="en-US" b="1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207A6529-9896-474F-9A79-0C74BCBA1B12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3234840"/>
            <a:ext cx="2319338" cy="1425179"/>
            <a:chOff x="3417" y="71"/>
            <a:chExt cx="1461" cy="1197"/>
          </a:xfrm>
        </p:grpSpPr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6D9DDDCE-5AEA-4F5C-9156-81F5904AD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19"/>
              <a:ext cx="214" cy="1111"/>
            </a:xfrm>
            <a:prstGeom prst="leftBrace">
              <a:avLst>
                <a:gd name="adj1" fmla="val 4326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5A10098C-D14B-439E-B035-3BC088DE4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71"/>
              <a:ext cx="124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</a:rPr>
                <a:t>2x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1</a:t>
              </a:r>
              <a:r>
                <a:rPr lang="en-US" altLang="zh-CN" dirty="0">
                  <a:solidFill>
                    <a:srgbClr val="0070C0"/>
                  </a:solidFill>
                </a:rPr>
                <a:t>+x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2</a:t>
              </a:r>
              <a:r>
                <a:rPr lang="en-US" altLang="zh-CN" dirty="0">
                  <a:solidFill>
                    <a:srgbClr val="0070C0"/>
                  </a:solidFill>
                </a:rPr>
                <a:t>-5x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3</a:t>
              </a:r>
              <a:r>
                <a:rPr lang="en-US" altLang="zh-CN" dirty="0">
                  <a:solidFill>
                    <a:srgbClr val="0070C0"/>
                  </a:solidFill>
                </a:rPr>
                <a:t>+x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4</a:t>
              </a:r>
              <a:r>
                <a:rPr lang="en-US" altLang="zh-CN" dirty="0">
                  <a:solidFill>
                    <a:srgbClr val="0070C0"/>
                  </a:solidFill>
                </a:rPr>
                <a:t>=13</a:t>
              </a:r>
            </a:p>
          </p:txBody>
        </p:sp>
        <p:sp>
          <p:nvSpPr>
            <p:cNvPr id="19" name="Text Box 6">
              <a:extLst>
                <a:ext uri="{FF2B5EF4-FFF2-40B4-BE49-F238E27FC236}">
                  <a16:creationId xmlns:a16="http://schemas.microsoft.com/office/drawing/2014/main" id="{263E1855-04DC-4C57-BE1E-C7FFB0FEC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359"/>
              <a:ext cx="102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70C0"/>
                  </a:solidFill>
                </a:rPr>
                <a:t>X</a:t>
              </a:r>
              <a:r>
                <a:rPr lang="en-US" altLang="zh-CN" baseline="-25000">
                  <a:solidFill>
                    <a:srgbClr val="0070C0"/>
                  </a:solidFill>
                </a:rPr>
                <a:t>1</a:t>
              </a:r>
              <a:r>
                <a:rPr lang="en-US" altLang="zh-CN">
                  <a:solidFill>
                    <a:srgbClr val="0070C0"/>
                  </a:solidFill>
                </a:rPr>
                <a:t>-5x</a:t>
              </a:r>
              <a:r>
                <a:rPr lang="en-US" altLang="zh-CN" baseline="-25000">
                  <a:solidFill>
                    <a:srgbClr val="0070C0"/>
                  </a:solidFill>
                </a:rPr>
                <a:t>2</a:t>
              </a:r>
              <a:r>
                <a:rPr lang="en-US" altLang="zh-CN">
                  <a:solidFill>
                    <a:srgbClr val="0070C0"/>
                  </a:solidFill>
                </a:rPr>
                <a:t>+7x</a:t>
              </a:r>
              <a:r>
                <a:rPr lang="en-US" altLang="zh-CN" baseline="-25000">
                  <a:solidFill>
                    <a:srgbClr val="0070C0"/>
                  </a:solidFill>
                </a:rPr>
                <a:t>4</a:t>
              </a:r>
              <a:r>
                <a:rPr lang="en-US" altLang="zh-CN">
                  <a:solidFill>
                    <a:srgbClr val="0070C0"/>
                  </a:solidFill>
                </a:rPr>
                <a:t>=-9</a:t>
              </a:r>
            </a:p>
          </p:txBody>
        </p:sp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98E4854B-CA44-4C25-99CE-2C791E979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647"/>
              <a:ext cx="875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</a:rPr>
                <a:t>2x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2</a:t>
              </a:r>
              <a:r>
                <a:rPr lang="en-US" altLang="zh-CN" dirty="0">
                  <a:solidFill>
                    <a:srgbClr val="0070C0"/>
                  </a:solidFill>
                </a:rPr>
                <a:t>+x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3</a:t>
              </a:r>
              <a:r>
                <a:rPr lang="en-US" altLang="zh-CN" dirty="0">
                  <a:solidFill>
                    <a:srgbClr val="0070C0"/>
                  </a:solidFill>
                </a:rPr>
                <a:t>-x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4</a:t>
              </a:r>
              <a:r>
                <a:rPr lang="en-US" altLang="zh-CN" dirty="0">
                  <a:solidFill>
                    <a:srgbClr val="0070C0"/>
                  </a:solidFill>
                </a:rPr>
                <a:t>=6</a:t>
              </a:r>
            </a:p>
          </p:txBody>
        </p:sp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D5A18716-686D-4797-B981-D96BDAB42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958"/>
              <a:ext cx="113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</a:rPr>
                <a:t>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1</a:t>
              </a:r>
              <a:r>
                <a:rPr lang="en-US" altLang="zh-CN" dirty="0">
                  <a:solidFill>
                    <a:srgbClr val="0070C0"/>
                  </a:solidFill>
                </a:rPr>
                <a:t>+6x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2</a:t>
              </a:r>
              <a:r>
                <a:rPr lang="en-US" altLang="zh-CN" dirty="0">
                  <a:solidFill>
                    <a:srgbClr val="0070C0"/>
                  </a:solidFill>
                </a:rPr>
                <a:t>-x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3</a:t>
              </a:r>
              <a:r>
                <a:rPr lang="en-US" altLang="zh-CN" dirty="0">
                  <a:solidFill>
                    <a:srgbClr val="0070C0"/>
                  </a:solidFill>
                </a:rPr>
                <a:t>-4x</a:t>
              </a:r>
              <a:r>
                <a:rPr lang="en-US" altLang="zh-CN" baseline="-25000" dirty="0">
                  <a:solidFill>
                    <a:srgbClr val="0070C0"/>
                  </a:solidFill>
                </a:rPr>
                <a:t>4</a:t>
              </a:r>
              <a:r>
                <a:rPr lang="en-US" altLang="zh-CN" dirty="0">
                  <a:solidFill>
                    <a:srgbClr val="0070C0"/>
                  </a:solidFill>
                </a:rPr>
                <a:t>=0</a:t>
              </a: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9698200-5656-492B-9048-95276E22A152}"/>
              </a:ext>
            </a:extLst>
          </p:cNvPr>
          <p:cNvSpPr txBox="1"/>
          <p:nvPr/>
        </p:nvSpPr>
        <p:spPr>
          <a:xfrm>
            <a:off x="2557778" y="1164525"/>
            <a:ext cx="4623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altLang="zh-CN" sz="1800" b="0" dirty="0"/>
              <a:t>a=[2 1 -5 1;1 -5 0 7;0 2 1 -1;1 6 -1 -4];</a:t>
            </a:r>
          </a:p>
          <a:p>
            <a:pPr marL="0" indent="0">
              <a:buNone/>
            </a:pPr>
            <a:r>
              <a:rPr lang="pt-BR" altLang="zh-CN" sz="1800" b="0" dirty="0"/>
              <a:t>b=[13;-9;6;0];  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D6C1CC-2868-401D-9DE7-6B4714FF3E57}"/>
              </a:ext>
            </a:extLst>
          </p:cNvPr>
          <p:cNvSpPr txBox="1"/>
          <p:nvPr/>
        </p:nvSpPr>
        <p:spPr>
          <a:xfrm>
            <a:off x="2557778" y="1786346"/>
            <a:ext cx="4623238" cy="288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结果</a:t>
            </a:r>
            <a:r>
              <a:rPr lang="pt-BR" altLang="zh-CN" sz="1600" b="1" dirty="0">
                <a:solidFill>
                  <a:srgbClr val="FF0000"/>
                </a:solidFill>
              </a:rPr>
              <a:t>Q factor</a:t>
            </a:r>
            <a:r>
              <a:rPr lang="pt-BR" altLang="zh-CN" sz="1600" dirty="0">
                <a:solidFill>
                  <a:srgbClr val="66CCFF"/>
                </a:solidFill>
              </a:rPr>
              <a:t>: </a:t>
            </a:r>
            <a:r>
              <a:rPr lang="pt-BR" altLang="zh-CN" sz="1600" b="1" dirty="0">
                <a:solidFill>
                  <a:srgbClr val="66CCFF"/>
                </a:solidFill>
              </a:rPr>
              <a:t>4×4 -0.816497   0.0        0.517301  -0.256385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-0.408248  -0.68483   -0.595497   0.0986095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 0.0        0.249029  -0.430082  -0.867764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-0.408248   0.68483   -0.439104   0.41416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FF0000"/>
                </a:solidFill>
              </a:rPr>
              <a:t>R factor: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-2.44949  -1.22474   4.49073   -2.04124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 0.0       8.03119  -0.435801  -7.78216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 0.0       0.0      -2.57748   -1.46468</a:t>
            </a:r>
          </a:p>
          <a:p>
            <a:pPr>
              <a:lnSpc>
                <a:spcPts val="2200"/>
              </a:lnSpc>
            </a:pPr>
            <a:r>
              <a:rPr lang="pt-BR" altLang="zh-CN" sz="1600" b="1" dirty="0">
                <a:solidFill>
                  <a:srgbClr val="66CCFF"/>
                </a:solidFill>
              </a:rPr>
              <a:t>  0.0       0.0       0.0       -0.354994</a:t>
            </a:r>
            <a:endParaRPr lang="zh-CN" altLang="en-US" sz="1600" b="1" dirty="0">
              <a:solidFill>
                <a:srgbClr val="66CCFF"/>
              </a:solidFill>
            </a:endParaRP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6CF38344-5523-4DC4-88CE-758A59398D6E}"/>
              </a:ext>
            </a:extLst>
          </p:cNvPr>
          <p:cNvSpPr/>
          <p:nvPr/>
        </p:nvSpPr>
        <p:spPr bwMode="auto">
          <a:xfrm rot="5400000">
            <a:off x="950617" y="2180062"/>
            <a:ext cx="119216" cy="354797"/>
          </a:xfrm>
          <a:prstGeom prst="rightArrow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endParaRPr lang="zh-CN" altLang="en-US" sz="1600" b="1">
              <a:latin typeface="Times New Roman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03948A4-2929-44BE-891C-981FB262AFA2}"/>
              </a:ext>
            </a:extLst>
          </p:cNvPr>
          <p:cNvSpPr txBox="1"/>
          <p:nvPr/>
        </p:nvSpPr>
        <p:spPr>
          <a:xfrm>
            <a:off x="6758882" y="3018918"/>
            <a:ext cx="2299917" cy="15414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r\ (q\ b)</a:t>
            </a:r>
          </a:p>
          <a:p>
            <a:r>
              <a:rPr lang="zh-CN" altLang="en-US" sz="1400" dirty="0">
                <a:solidFill>
                  <a:srgbClr val="66CCFF"/>
                </a:solidFill>
              </a:rPr>
              <a:t>结果4×1 Matrix{Float64}:</a:t>
            </a:r>
          </a:p>
          <a:p>
            <a:r>
              <a:rPr lang="zh-CN" altLang="en-US" sz="1400" dirty="0">
                <a:solidFill>
                  <a:srgbClr val="66CCFF"/>
                </a:solidFill>
              </a:rPr>
              <a:t> -66.55555555555559</a:t>
            </a:r>
          </a:p>
          <a:p>
            <a:r>
              <a:rPr lang="zh-CN" altLang="en-US" sz="1400" dirty="0">
                <a:solidFill>
                  <a:srgbClr val="66CCFF"/>
                </a:solidFill>
              </a:rPr>
              <a:t>  25.666666666666657</a:t>
            </a:r>
          </a:p>
          <a:p>
            <a:r>
              <a:rPr lang="zh-CN" altLang="en-US" sz="1400" dirty="0">
                <a:solidFill>
                  <a:srgbClr val="66CCFF"/>
                </a:solidFill>
              </a:rPr>
              <a:t> -18.77777777777779</a:t>
            </a:r>
          </a:p>
          <a:p>
            <a:r>
              <a:rPr lang="zh-CN" altLang="en-US" sz="1400" dirty="0">
                <a:solidFill>
                  <a:srgbClr val="66CCFF"/>
                </a:solidFill>
              </a:rPr>
              <a:t>  26.55555555555555</a:t>
            </a:r>
          </a:p>
        </p:txBody>
      </p:sp>
      <p:sp>
        <p:nvSpPr>
          <p:cNvPr id="26" name="波形 25">
            <a:extLst>
              <a:ext uri="{FF2B5EF4-FFF2-40B4-BE49-F238E27FC236}">
                <a16:creationId xmlns:a16="http://schemas.microsoft.com/office/drawing/2014/main" id="{83C57B5D-86CF-4078-B598-BCC34E63CB8D}"/>
              </a:ext>
            </a:extLst>
          </p:cNvPr>
          <p:cNvSpPr/>
          <p:nvPr/>
        </p:nvSpPr>
        <p:spPr>
          <a:xfrm>
            <a:off x="372246" y="2873018"/>
            <a:ext cx="669214" cy="3693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ko-KR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63-1</a:t>
            </a:r>
            <a:endParaRPr lang="ko-KR" altLang="en-US" sz="16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20D773-F176-4153-9B78-4597050BE460}"/>
              </a:ext>
            </a:extLst>
          </p:cNvPr>
          <p:cNvSpPr txBox="1"/>
          <p:nvPr/>
        </p:nvSpPr>
        <p:spPr>
          <a:xfrm>
            <a:off x="7194096" y="762258"/>
            <a:ext cx="194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QR</a:t>
            </a:r>
            <a:r>
              <a:rPr lang="zh-CN" altLang="en-US" sz="1800" dirty="0">
                <a:solidFill>
                  <a:schemeClr val="bg1"/>
                </a:solidFill>
                <a:effectLst/>
                <a:highlight>
                  <a:srgbClr val="003B76"/>
                </a:highlight>
              </a:rPr>
              <a:t>适用任意矩阵</a:t>
            </a:r>
            <a:endParaRPr lang="en-US" altLang="zh-CN" sz="1800" dirty="0">
              <a:solidFill>
                <a:schemeClr val="bg1"/>
              </a:solidFill>
              <a:effectLst/>
              <a:highlight>
                <a:srgbClr val="003B7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2991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2FEE049-E1B2-41AC-979A-E3066A1A9F38}"/>
              </a:ext>
            </a:extLst>
          </p:cNvPr>
          <p:cNvSpPr txBox="1">
            <a:spLocks/>
          </p:cNvSpPr>
          <p:nvPr/>
        </p:nvSpPr>
        <p:spPr bwMode="auto">
          <a:xfrm>
            <a:off x="1475656" y="164097"/>
            <a:ext cx="5832648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</a:rPr>
              <a:t>lu</a:t>
            </a:r>
            <a:r>
              <a:rPr lang="zh-CN" altLang="en-US" sz="2800" b="1" kern="0" dirty="0">
                <a:solidFill>
                  <a:srgbClr val="FF0000"/>
                </a:solidFill>
              </a:rPr>
              <a:t>矩阵分解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06D6F053-FFD2-4AB4-B18C-5F26B2612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846" y="673414"/>
                <a:ext cx="6155362" cy="48577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b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2pPr>
                <a:lvl3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3pPr>
                <a:lvl4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4pPr>
                <a:lvl5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5pPr>
                <a:lvl6pPr marL="4572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6pPr>
                <a:lvl7pPr marL="9144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7pPr>
                <a:lvl8pPr marL="13716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8pPr>
                <a:lvl9pPr marL="18288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9pPr>
              </a:lstStyle>
              <a:p>
                <a:pPr eaLnBrk="1" hangingPunct="1"/>
                <a:r>
                  <a:rPr lang="zh-CN" altLang="en-US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非奇异方阵</a:t>
                </a:r>
                <a:r>
                  <a:rPr lang="en-US" altLang="zh-CN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A(</a:t>
                </a:r>
                <a:r>
                  <a:rPr lang="en-US" altLang="ko-KR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det(A)</a:t>
                </a:r>
                <a14:m>
                  <m:oMath xmlns:m="http://schemas.openxmlformats.org/officeDocument/2006/math">
                    <m:r>
                      <a:rPr lang="en-US" altLang="zh-CN" sz="2200" b="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en-US" altLang="ko-KR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0)</a:t>
                </a:r>
                <a:r>
                  <a:rPr lang="zh-CN" altLang="en-US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200" b="0" kern="0" dirty="0" err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lu</a:t>
                </a:r>
                <a:r>
                  <a:rPr lang="zh-CN" altLang="en-US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分解</a:t>
                </a:r>
                <a:r>
                  <a:rPr lang="en-US" altLang="zh-CN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高斯消元法</a:t>
                </a:r>
                <a:r>
                  <a:rPr lang="en-US" altLang="zh-CN" sz="2200" b="0" kern="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zh-CN" sz="2200" b="0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06D6F053-FFD2-4AB4-B18C-5F26B2612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46" y="673414"/>
                <a:ext cx="6155362" cy="485775"/>
              </a:xfrm>
              <a:prstGeom prst="rect">
                <a:avLst/>
              </a:prstGeom>
              <a:blipFill>
                <a:blip r:embed="rId3"/>
                <a:stretch>
                  <a:fillRect l="-1287" b="-262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249822C8-CAC4-40CB-A3E6-17A5EA825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60" y="2332828"/>
            <a:ext cx="7281545" cy="399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514350" indent="-514350" algn="just" eaLnBrk="1" hangingPunct="1">
              <a:lnSpc>
                <a:spcPct val="80000"/>
              </a:lnSpc>
              <a:buFont typeface="+mj-ea"/>
              <a:buAutoNum type="circleNumDbPlain" startAt="2"/>
            </a:pP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下三角阵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和上三角阵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及置换矩阵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的乘积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CA3FA8-0C35-4558-803F-2F37419A37CE}"/>
              </a:ext>
            </a:extLst>
          </p:cNvPr>
          <p:cNvSpPr/>
          <p:nvPr/>
        </p:nvSpPr>
        <p:spPr>
          <a:xfrm>
            <a:off x="278750" y="1169514"/>
            <a:ext cx="7209790" cy="106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 eaLnBrk="0" hangingPunct="0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分解下三角阵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和上三角阵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乘积</a:t>
            </a:r>
          </a:p>
          <a:p>
            <a:pPr algn="just" eaLnBrk="0" hangingPunct="0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17143-C3C6-4F6C-8547-B58E5DD6FCCA}"/>
              </a:ext>
            </a:extLst>
          </p:cNvPr>
          <p:cNvSpPr/>
          <p:nvPr/>
        </p:nvSpPr>
        <p:spPr>
          <a:xfrm>
            <a:off x="288846" y="4208470"/>
            <a:ext cx="8174322" cy="399661"/>
          </a:xfrm>
          <a:prstGeom prst="rect">
            <a:avLst/>
          </a:prstGeom>
          <a:ln>
            <a:noFill/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dist" defTabSz="0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LU</a:t>
            </a:r>
            <a:r>
              <a:rPr lang="zh-CN" altLang="en-US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分解可以提高求解线性方程组</a:t>
            </a:r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运算的速度</a:t>
            </a:r>
            <a:endParaRPr lang="zh-CN" altLang="en-US" sz="24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063EEF-EC87-4EAA-9911-35F73E4EE265}"/>
              </a:ext>
            </a:extLst>
          </p:cNvPr>
          <p:cNvSpPr/>
          <p:nvPr/>
        </p:nvSpPr>
        <p:spPr>
          <a:xfrm>
            <a:off x="5953468" y="1318200"/>
            <a:ext cx="891591" cy="36933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A=L*U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F3FF1-A262-418F-BBE7-23D8DC95D609}"/>
              </a:ext>
            </a:extLst>
          </p:cNvPr>
          <p:cNvSpPr/>
          <p:nvPr/>
        </p:nvSpPr>
        <p:spPr>
          <a:xfrm>
            <a:off x="2254157" y="2799783"/>
            <a:ext cx="2317843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Ax=b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解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:x=U\(L\P*b)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814105-1EFB-4CF0-AC42-4A17BAD5E850}"/>
              </a:ext>
            </a:extLst>
          </p:cNvPr>
          <p:cNvSpPr/>
          <p:nvPr/>
        </p:nvSpPr>
        <p:spPr>
          <a:xfrm>
            <a:off x="372806" y="2819712"/>
            <a:ext cx="157220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L,U,P=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lu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(A)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 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2E768F-0C9A-4917-903C-39566762907B}"/>
              </a:ext>
            </a:extLst>
          </p:cNvPr>
          <p:cNvSpPr/>
          <p:nvPr/>
        </p:nvSpPr>
        <p:spPr>
          <a:xfrm>
            <a:off x="406020" y="1774236"/>
            <a:ext cx="136303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L,U=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lu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(A)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762AC961-BEC9-4E79-A7D5-CF3A31CEE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854" y="2320173"/>
            <a:ext cx="1297150" cy="36933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rPr>
              <a:t>A=</a:t>
            </a:r>
            <a:r>
              <a:rPr lang="zh-CN" altLang="zh-CN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rPr>
              <a:t>P'*L*U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FD5B6C-9DA6-413D-B3E1-D9244773A9CF}"/>
              </a:ext>
            </a:extLst>
          </p:cNvPr>
          <p:cNvSpPr txBox="1"/>
          <p:nvPr/>
        </p:nvSpPr>
        <p:spPr>
          <a:xfrm>
            <a:off x="5230332" y="2849284"/>
            <a:ext cx="3661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L 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单位下三角矩阵，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U 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上三角矩阵</a:t>
            </a:r>
            <a:endParaRPr lang="en-US" altLang="zh-CN" b="0" i="0" dirty="0">
              <a:solidFill>
                <a:srgbClr val="0070C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990E6CEF-5F5F-4E4D-93D8-1B32BFEC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39" y="3370624"/>
            <a:ext cx="8845857" cy="32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Font typeface="+mj-ea"/>
              <a:buAutoNum type="circleNumDbPlain" startAt="3"/>
            </a:pPr>
            <a:r>
              <a:rPr lang="zh-CN" altLang="en-US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</a:t>
            </a:r>
            <a:r>
              <a:rPr lang="en-US" altLang="zh-CN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en-US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分解个单位下三角矩阵 </a:t>
            </a:r>
            <a:r>
              <a:rPr lang="en-US" altLang="zh-CN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r>
              <a:rPr lang="zh-CN" altLang="en-US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、上三角矩阵 </a:t>
            </a:r>
            <a:r>
              <a:rPr lang="en-US" altLang="zh-CN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r>
              <a:rPr lang="zh-CN" altLang="en-US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、行置换矩阵 </a:t>
            </a:r>
            <a:r>
              <a:rPr lang="en-US" altLang="zh-CN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 </a:t>
            </a:r>
            <a:r>
              <a:rPr lang="zh-CN" altLang="en-US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及列置换矩阵 </a:t>
            </a:r>
            <a:r>
              <a:rPr lang="en-US" altLang="zh-CN" sz="1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</a:t>
            </a:r>
            <a:endParaRPr lang="zh-CN" altLang="en-US" sz="18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FA1A05-BA40-4807-918B-9D4FC2E82A80}"/>
              </a:ext>
            </a:extLst>
          </p:cNvPr>
          <p:cNvSpPr/>
          <p:nvPr/>
        </p:nvSpPr>
        <p:spPr>
          <a:xfrm>
            <a:off x="344666" y="3739420"/>
            <a:ext cx="178674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L,U,P,Q=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lu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(S)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 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8C1E4B0-B327-4BB1-B9A8-16E803C5F8A9}"/>
              </a:ext>
            </a:extLst>
          </p:cNvPr>
          <p:cNvSpPr txBox="1"/>
          <p:nvPr/>
        </p:nvSpPr>
        <p:spPr>
          <a:xfrm>
            <a:off x="2483768" y="3733081"/>
            <a:ext cx="1838965" cy="36933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defPPr>
              <a:defRPr lang="zh-CN"/>
            </a:defPPr>
            <a:lvl1pPr>
              <a:defRPr sz="2000" b="1" ker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800" dirty="0"/>
              <a:t>满足 </a:t>
            </a:r>
            <a:r>
              <a:rPr lang="en-US" altLang="zh-CN" sz="1800" dirty="0"/>
              <a:t>PSQ = L*U</a:t>
            </a:r>
            <a:endParaRPr lang="zh-CN" altLang="en-US" sz="1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9A43F5-9FE9-4B4E-9B75-F24E78BA7CE6}"/>
              </a:ext>
            </a:extLst>
          </p:cNvPr>
          <p:cNvSpPr txBox="1"/>
          <p:nvPr/>
        </p:nvSpPr>
        <p:spPr>
          <a:xfrm>
            <a:off x="1789022" y="1753587"/>
            <a:ext cx="4379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此处用法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排列顺序与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不一致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309A27-3002-4BD0-AFEB-86F7E734F739}"/>
              </a:ext>
            </a:extLst>
          </p:cNvPr>
          <p:cNvSpPr txBox="1"/>
          <p:nvPr/>
        </p:nvSpPr>
        <p:spPr>
          <a:xfrm>
            <a:off x="6364490" y="754231"/>
            <a:ext cx="248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LU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只</a:t>
            </a:r>
            <a:r>
              <a:rPr lang="zh-CN" altLang="en-US" sz="1800" dirty="0">
                <a:solidFill>
                  <a:schemeClr val="bg1"/>
                </a:solidFill>
                <a:effectLst/>
                <a:highlight>
                  <a:srgbClr val="003B76"/>
                </a:highlight>
              </a:rPr>
              <a:t>适用非奇异矩阵</a:t>
            </a:r>
            <a:endParaRPr lang="en-US" altLang="zh-CN" sz="1800" dirty="0">
              <a:solidFill>
                <a:schemeClr val="bg1"/>
              </a:solidFill>
              <a:effectLst/>
              <a:highlight>
                <a:srgbClr val="003B7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80715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2D44CEE-8A23-4530-8E92-CFA06C9E6F9E}"/>
              </a:ext>
            </a:extLst>
          </p:cNvPr>
          <p:cNvSpPr/>
          <p:nvPr/>
        </p:nvSpPr>
        <p:spPr>
          <a:xfrm>
            <a:off x="1505451" y="984118"/>
            <a:ext cx="4392488" cy="3665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l-PL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l,u,p=lu(a)</a:t>
            </a:r>
          </a:p>
          <a:p>
            <a:pPr>
              <a:lnSpc>
                <a:spcPct val="90000"/>
              </a:lnSpc>
            </a:pPr>
            <a:r>
              <a:rPr lang="zh-CN" altLang="en-US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LU{Float64, Matrix{Float64}, Vector{Int64}}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 factor: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4×4 Matrix{Float64}: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1.0   0.0       0.0       0.0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0.5   1.0       0.0       0.0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0.5  -1.0       1.0       0.0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0.0  -0.363636  0.477273  1.0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 factor: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4×4 Matrix{Float64}: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2.0   1.0  -5.0  1.0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0.0  -5.5   2.5  6.5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0.0   0.0   4.0  2.0</a:t>
            </a:r>
          </a:p>
          <a:p>
            <a:pPr>
              <a:lnSpc>
                <a:spcPct val="90000"/>
              </a:lnSpc>
            </a:pPr>
            <a:r>
              <a:rPr lang="pl-PL" altLang="zh-CN" sz="17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0.0   0.0   0.0  0.409091</a:t>
            </a:r>
            <a:endParaRPr lang="pl-PL" altLang="zh-CN" sz="1700" dirty="0">
              <a:solidFill>
                <a:srgbClr val="00B0F0"/>
              </a:solidFill>
              <a:latin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34A6B7-3194-430F-90D2-E6B039F0ED0F}"/>
              </a:ext>
            </a:extLst>
          </p:cNvPr>
          <p:cNvSpPr/>
          <p:nvPr/>
        </p:nvSpPr>
        <p:spPr>
          <a:xfrm>
            <a:off x="1505451" y="680859"/>
            <a:ext cx="341382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 algn="dist" eaLnBrk="0">
              <a:buFont typeface="+mj-lt"/>
              <a:buAutoNum type="romanUcPeriod" startAt="4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分解求根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0445E24-C248-440E-88CE-6A84B3A08550}"/>
              </a:ext>
            </a:extLst>
          </p:cNvPr>
          <p:cNvSpPr txBox="1">
            <a:spLocks/>
          </p:cNvSpPr>
          <p:nvPr/>
        </p:nvSpPr>
        <p:spPr bwMode="auto">
          <a:xfrm>
            <a:off x="827584" y="128996"/>
            <a:ext cx="7849578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矩阵分解法解线性方程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</a:rPr>
              <a:t>lu</a:t>
            </a:r>
            <a:r>
              <a:rPr lang="zh-CN" altLang="en-US" sz="2800" b="1" kern="0" dirty="0">
                <a:solidFill>
                  <a:srgbClr val="FF0000"/>
                </a:solidFill>
              </a:rPr>
              <a:t>矩阵分解案例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AF410D-42BB-4AEC-B160-BF33A60D9710}"/>
              </a:ext>
            </a:extLst>
          </p:cNvPr>
          <p:cNvSpPr/>
          <p:nvPr/>
        </p:nvSpPr>
        <p:spPr>
          <a:xfrm>
            <a:off x="5358232" y="744273"/>
            <a:ext cx="3096695" cy="3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eaLnBrk="0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#LU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分解矩阵的左除求解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26C54-6EAF-4F83-9A8C-53CAE544B4FB}"/>
              </a:ext>
            </a:extLst>
          </p:cNvPr>
          <p:cNvSpPr/>
          <p:nvPr/>
        </p:nvSpPr>
        <p:spPr>
          <a:xfrm>
            <a:off x="5436096" y="1176206"/>
            <a:ext cx="33843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l, u, p = lu(a)</a:t>
            </a:r>
          </a:p>
          <a:p>
            <a:r>
              <a:rPr lang="pl-PL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m=diagm([1, 1, 1, 1])</a:t>
            </a:r>
          </a:p>
          <a:p>
            <a:r>
              <a:rPr lang="pl-PL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P=m[p, :]</a:t>
            </a:r>
          </a:p>
          <a:p>
            <a:r>
              <a:rPr lang="pl-PL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x=u\(l\P*b)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39AF17-F4F5-469C-B613-E6DD5BF097AC}"/>
              </a:ext>
            </a:extLst>
          </p:cNvPr>
          <p:cNvSpPr/>
          <p:nvPr/>
        </p:nvSpPr>
        <p:spPr>
          <a:xfrm>
            <a:off x="5358232" y="2917062"/>
            <a:ext cx="3384376" cy="16182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pl-PL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4×1 Matrix{Float64}:</a:t>
            </a:r>
          </a:p>
          <a:p>
            <a:pPr>
              <a:lnSpc>
                <a:spcPct val="90000"/>
              </a:lnSpc>
            </a:pPr>
            <a:r>
              <a:rPr lang="pl-PL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-66.55555555555554</a:t>
            </a:r>
          </a:p>
          <a:p>
            <a:pPr>
              <a:lnSpc>
                <a:spcPct val="90000"/>
              </a:lnSpc>
            </a:pPr>
            <a:r>
              <a:rPr lang="pl-PL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25.666666666666664</a:t>
            </a:r>
          </a:p>
          <a:p>
            <a:pPr>
              <a:lnSpc>
                <a:spcPct val="90000"/>
              </a:lnSpc>
            </a:pPr>
            <a:r>
              <a:rPr lang="pl-PL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-18.777777777777775</a:t>
            </a:r>
          </a:p>
          <a:p>
            <a:pPr>
              <a:lnSpc>
                <a:spcPct val="90000"/>
              </a:lnSpc>
            </a:pPr>
            <a:r>
              <a:rPr lang="pl-PL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26.55555555555555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3AD2AC78-C0A8-41F4-A799-BA5D625A4920}"/>
              </a:ext>
            </a:extLst>
          </p:cNvPr>
          <p:cNvSpPr/>
          <p:nvPr/>
        </p:nvSpPr>
        <p:spPr>
          <a:xfrm>
            <a:off x="742454" y="744273"/>
            <a:ext cx="648072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例63-1</a:t>
            </a:r>
            <a:endParaRPr lang="ko-KR" altLang="en-US" sz="16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8091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>
            <a:extLst>
              <a:ext uri="{FF2B5EF4-FFF2-40B4-BE49-F238E27FC236}">
                <a16:creationId xmlns:a16="http://schemas.microsoft.com/office/drawing/2014/main" id="{E44E02A5-319D-4D53-BFD9-0BF6DD2DD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64" y="2827686"/>
            <a:ext cx="7909950" cy="104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defTabSz="0" eaLnBrk="0" hangingPunct="0">
              <a:lnSpc>
                <a:spcPts val="36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上三角阵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U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设为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R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，则下三角阵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为其转置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R’</a:t>
            </a:r>
          </a:p>
          <a:p>
            <a:pPr marL="457200" indent="-457200" defTabSz="0" eaLnBrk="0" hangingPunct="0">
              <a:lnSpc>
                <a:spcPts val="36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分解下三角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R’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和上三角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R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的乘积；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charset="0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5510A415-68AE-4DC5-AFF0-F13B3EE12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251" y="4021473"/>
            <a:ext cx="1543789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charset="0"/>
              </a:rPr>
              <a:t>R=</a:t>
            </a:r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charset="0"/>
              </a:rPr>
              <a:t>cholesky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charset="0"/>
              </a:rPr>
              <a:t>(A)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3973B4-DCDB-430A-AE97-B8211C0C1E15}"/>
              </a:ext>
            </a:extLst>
          </p:cNvPr>
          <p:cNvSpPr/>
          <p:nvPr/>
        </p:nvSpPr>
        <p:spPr>
          <a:xfrm>
            <a:off x="400760" y="1127593"/>
            <a:ext cx="7750692" cy="969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正定矩阵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的特征值全为正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;</a:t>
            </a:r>
          </a:p>
          <a:p>
            <a:pPr marL="457200" indent="-457200" eaLnBrk="0" hangingPunct="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正定矩阵肯定是对称的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的转置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=A)</a:t>
            </a:r>
            <a:endParaRPr lang="zh-CN" altLang="en-US" sz="20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D469B6-C1B5-4AAC-A12E-03BE7DAEDF86}"/>
              </a:ext>
            </a:extLst>
          </p:cNvPr>
          <p:cNvSpPr/>
          <p:nvPr/>
        </p:nvSpPr>
        <p:spPr>
          <a:xfrm>
            <a:off x="4786862" y="3392686"/>
            <a:ext cx="122529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itchFamily="34" charset="0"/>
              </a:rPr>
              <a:t>即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itchFamily="34" charset="0"/>
              </a:rPr>
              <a:t>A=L*U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ED6644-1DE3-475B-A703-F6FB8A22AFE7}"/>
              </a:ext>
            </a:extLst>
          </p:cNvPr>
          <p:cNvSpPr/>
          <p:nvPr/>
        </p:nvSpPr>
        <p:spPr>
          <a:xfrm>
            <a:off x="397787" y="2371695"/>
            <a:ext cx="3419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乔利斯基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Cholesky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 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1CAD72-74B1-4232-B6BC-263E9C8426BF}"/>
              </a:ext>
            </a:extLst>
          </p:cNvPr>
          <p:cNvSpPr/>
          <p:nvPr/>
        </p:nvSpPr>
        <p:spPr>
          <a:xfrm>
            <a:off x="429725" y="788771"/>
            <a:ext cx="1736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正定矩阵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 </a:t>
            </a:r>
            <a:endParaRPr lang="zh-CN" altLang="en-US" sz="20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CD9B9E-3A96-4328-84FA-A97E26424BE0}"/>
              </a:ext>
            </a:extLst>
          </p:cNvPr>
          <p:cNvSpPr/>
          <p:nvPr/>
        </p:nvSpPr>
        <p:spPr>
          <a:xfrm>
            <a:off x="386864" y="4015907"/>
            <a:ext cx="27703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正定矩阵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上三角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endParaRPr lang="zh-CN" altLang="en-US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EDB3F-715F-4B6C-AF7B-2D0F380331C5}"/>
              </a:ext>
            </a:extLst>
          </p:cNvPr>
          <p:cNvSpPr/>
          <p:nvPr/>
        </p:nvSpPr>
        <p:spPr>
          <a:xfrm>
            <a:off x="6012160" y="3371214"/>
            <a:ext cx="80644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itchFamily="34" charset="0"/>
              </a:rPr>
              <a:t>=R'*R</a:t>
            </a:r>
          </a:p>
        </p:txBody>
      </p:sp>
      <p:sp>
        <p:nvSpPr>
          <p:cNvPr id="13" name="标题 3">
            <a:extLst>
              <a:ext uri="{FF2B5EF4-FFF2-40B4-BE49-F238E27FC236}">
                <a16:creationId xmlns:a16="http://schemas.microsoft.com/office/drawing/2014/main" id="{B1777C04-9301-41AC-AF38-8575FB14F507}"/>
              </a:ext>
            </a:extLst>
          </p:cNvPr>
          <p:cNvSpPr txBox="1">
            <a:spLocks/>
          </p:cNvSpPr>
          <p:nvPr/>
        </p:nvSpPr>
        <p:spPr bwMode="auto">
          <a:xfrm>
            <a:off x="429725" y="123478"/>
            <a:ext cx="8714275" cy="467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矩阵分解法解线性方程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正定矩阵</a:t>
            </a:r>
            <a:r>
              <a:rPr lang="en-US" altLang="zh-CN" sz="2800" b="1" dirty="0" err="1">
                <a:solidFill>
                  <a:srgbClr val="FF0000"/>
                </a:solidFill>
              </a:rPr>
              <a:t>cholesky</a:t>
            </a:r>
            <a:r>
              <a:rPr lang="zh-CN" altLang="en-US" sz="2800" b="1" dirty="0">
                <a:solidFill>
                  <a:srgbClr val="FF0000"/>
                </a:solidFill>
              </a:rPr>
              <a:t>分解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1F3344-BBD9-4534-B4C6-6C82419C496B}"/>
              </a:ext>
            </a:extLst>
          </p:cNvPr>
          <p:cNvSpPr txBox="1"/>
          <p:nvPr/>
        </p:nvSpPr>
        <p:spPr>
          <a:xfrm>
            <a:off x="4995637" y="929351"/>
            <a:ext cx="4148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解方法是以法 国数学家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André-Louis Cholesky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1875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－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1918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）的名字命名的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B16F93-655F-48B8-9144-89F139210EB3}"/>
              </a:ext>
            </a:extLst>
          </p:cNvPr>
          <p:cNvSpPr txBox="1"/>
          <p:nvPr/>
        </p:nvSpPr>
        <p:spPr>
          <a:xfrm>
            <a:off x="5190459" y="2073436"/>
            <a:ext cx="3953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计算量比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分解减少约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50%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适合大规模对称正定系统的快速求解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061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">
            <a:extLst>
              <a:ext uri="{FF2B5EF4-FFF2-40B4-BE49-F238E27FC236}">
                <a16:creationId xmlns:a16="http://schemas.microsoft.com/office/drawing/2014/main" id="{39517D78-E5CA-4DDA-8603-04B4DC8D4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580" y="843558"/>
            <a:ext cx="5760640" cy="37286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a=[1/2 1/3 1/4;1/3 1/4 1/5;1/4 1/5 1/6]   #</a:t>
            </a:r>
            <a:r>
              <a:rPr lang="zh-CN" altLang="en-US" sz="2000" dirty="0">
                <a:solidFill>
                  <a:srgbClr val="002060"/>
                </a:solidFill>
              </a:rPr>
              <a:t>系数矩阵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2060"/>
                </a:solidFill>
              </a:rPr>
              <a:t>r=cholesky(a)   # chol</a:t>
            </a:r>
            <a:r>
              <a:rPr lang="zh-CN" altLang="en-US" sz="2000" dirty="0">
                <a:solidFill>
                  <a:srgbClr val="002060"/>
                </a:solidFill>
              </a:rPr>
              <a:t>分解求解上三角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pt-BR" altLang="zh-CN" sz="2000" dirty="0">
                <a:solidFill>
                  <a:srgbClr val="00B0F0"/>
                </a:solidFill>
              </a:rPr>
              <a:t>Cholesky{Float64, Matrix{Float64}}</a:t>
            </a: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B0F0"/>
                </a:solidFill>
              </a:rPr>
              <a:t>U factor:</a:t>
            </a: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B0F0"/>
                </a:solidFill>
              </a:rPr>
              <a:t>3×3 UpperTriangular{Float64, Matrix{Float64}}:</a:t>
            </a: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B0F0"/>
                </a:solidFill>
              </a:rPr>
              <a:t> 0.707107  0.471405  0.353553</a:t>
            </a: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B0F0"/>
                </a:solidFill>
              </a:rPr>
              <a:t>  ⋅        0.166667  0.2</a:t>
            </a:r>
          </a:p>
          <a:p>
            <a:pPr eaLnBrk="0" hangingPunct="0">
              <a:lnSpc>
                <a:spcPct val="150000"/>
              </a:lnSpc>
            </a:pPr>
            <a:r>
              <a:rPr lang="pt-BR" altLang="zh-CN" sz="2000" dirty="0">
                <a:solidFill>
                  <a:srgbClr val="00B0F0"/>
                </a:solidFill>
              </a:rPr>
              <a:t>  ⋅         ⋅        0.0408248 </a:t>
            </a:r>
            <a:r>
              <a:rPr lang="en-US" altLang="zh-CN" sz="2000" dirty="0">
                <a:solidFill>
                  <a:srgbClr val="00B0F0"/>
                </a:solidFill>
              </a:rPr>
              <a:t> </a:t>
            </a:r>
            <a:endParaRPr lang="pt-BR" altLang="zh-CN" sz="2000" dirty="0">
              <a:solidFill>
                <a:srgbClr val="00B0F0"/>
              </a:solidFill>
            </a:endParaRP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B953C2DB-8E4A-4DA9-9704-C72C33F37909}"/>
              </a:ext>
            </a:extLst>
          </p:cNvPr>
          <p:cNvGrpSpPr>
            <a:grpSpLocks/>
          </p:cNvGrpSpPr>
          <p:nvPr/>
        </p:nvGrpSpPr>
        <p:grpSpPr bwMode="auto">
          <a:xfrm>
            <a:off x="310252" y="1209344"/>
            <a:ext cx="2463800" cy="1028700"/>
            <a:chOff x="3264" y="2296"/>
            <a:chExt cx="1766" cy="864"/>
          </a:xfrm>
          <a:solidFill>
            <a:schemeClr val="bg1"/>
          </a:solidFill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9171CB07-BB4A-430F-95E7-9252D7D89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344"/>
              <a:ext cx="214" cy="816"/>
            </a:xfrm>
            <a:prstGeom prst="leftBrace">
              <a:avLst>
                <a:gd name="adj1" fmla="val 31776"/>
                <a:gd name="adj2" fmla="val 500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solidFill>
                  <a:srgbClr val="002060"/>
                </a:solidFill>
              </a:endParaRP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EDDB2244-2E46-4AE2-80EB-F1461B5AC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2296"/>
              <a:ext cx="1470" cy="2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2060"/>
                  </a:solidFill>
                </a:rPr>
                <a:t>1/2x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1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+1/3x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+1/4x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3</a:t>
              </a:r>
              <a:r>
                <a:rPr lang="en-US" altLang="zh-CN" sz="1600" dirty="0">
                  <a:solidFill>
                    <a:srgbClr val="002060"/>
                  </a:solidFill>
                </a:rPr>
                <a:t>=0.95</a:t>
              </a: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FBEE809A-62E5-45BB-9E4E-BD211D841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2584"/>
              <a:ext cx="1552" cy="2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2060"/>
                  </a:solidFill>
                </a:rPr>
                <a:t>1/3X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1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+1/4x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+1/5x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3 </a:t>
              </a:r>
              <a:r>
                <a:rPr lang="en-US" altLang="zh-CN" sz="1600" dirty="0">
                  <a:solidFill>
                    <a:srgbClr val="002060"/>
                  </a:solidFill>
                </a:rPr>
                <a:t>= 0.67</a:t>
              </a:r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8EE45895-AF3F-45C1-A36A-07C0536CE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2876"/>
              <a:ext cx="1470" cy="2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2060"/>
                  </a:solidFill>
                </a:rPr>
                <a:t>1/4x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1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+1/5x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1600" dirty="0">
                  <a:solidFill>
                    <a:srgbClr val="002060"/>
                  </a:solidFill>
                </a:rPr>
                <a:t>+1/6x</a:t>
              </a:r>
              <a:r>
                <a:rPr lang="en-US" altLang="zh-CN" sz="1600" baseline="-25000" dirty="0">
                  <a:solidFill>
                    <a:srgbClr val="002060"/>
                  </a:solidFill>
                </a:rPr>
                <a:t>3</a:t>
              </a:r>
              <a:r>
                <a:rPr lang="en-US" altLang="zh-CN" sz="1600" dirty="0">
                  <a:solidFill>
                    <a:srgbClr val="002060"/>
                  </a:solidFill>
                </a:rPr>
                <a:t>=0.52</a:t>
              </a:r>
            </a:p>
          </p:txBody>
        </p:sp>
      </p:grpSp>
      <p:sp>
        <p:nvSpPr>
          <p:cNvPr id="20" name="波形 19">
            <a:extLst>
              <a:ext uri="{FF2B5EF4-FFF2-40B4-BE49-F238E27FC236}">
                <a16:creationId xmlns:a16="http://schemas.microsoft.com/office/drawing/2014/main" id="{BB3ED49E-F5C5-4647-B01C-041B2F8C445F}"/>
              </a:ext>
            </a:extLst>
          </p:cNvPr>
          <p:cNvSpPr/>
          <p:nvPr/>
        </p:nvSpPr>
        <p:spPr>
          <a:xfrm>
            <a:off x="221074" y="890601"/>
            <a:ext cx="833332" cy="30725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例63-2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3">
            <a:extLst>
              <a:ext uri="{FF2B5EF4-FFF2-40B4-BE49-F238E27FC236}">
                <a16:creationId xmlns:a16="http://schemas.microsoft.com/office/drawing/2014/main" id="{F0CA09A5-7A8F-49B4-A9AA-FB2C0FB947E5}"/>
              </a:ext>
            </a:extLst>
          </p:cNvPr>
          <p:cNvSpPr txBox="1">
            <a:spLocks/>
          </p:cNvSpPr>
          <p:nvPr/>
        </p:nvSpPr>
        <p:spPr bwMode="auto">
          <a:xfrm>
            <a:off x="915519" y="120229"/>
            <a:ext cx="7745834" cy="467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矩阵分解法解线性方程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800" b="1" dirty="0" err="1">
                <a:solidFill>
                  <a:srgbClr val="FF0000"/>
                </a:solidFill>
              </a:rPr>
              <a:t>cholesky</a:t>
            </a:r>
            <a:r>
              <a:rPr lang="zh-CN" altLang="en-US" sz="2800" b="1" dirty="0">
                <a:solidFill>
                  <a:srgbClr val="FF0000"/>
                </a:solidFill>
              </a:rPr>
              <a:t>分解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A64FA8-482C-4501-ABC8-200195DA8F07}"/>
              </a:ext>
            </a:extLst>
          </p:cNvPr>
          <p:cNvSpPr txBox="1"/>
          <p:nvPr/>
        </p:nvSpPr>
        <p:spPr>
          <a:xfrm>
            <a:off x="1043608" y="843558"/>
            <a:ext cx="2456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1800" dirty="0">
                <a:solidFill>
                  <a:srgbClr val="00B0F0"/>
                </a:solidFill>
              </a:rPr>
              <a:t>Cholesky</a:t>
            </a:r>
            <a:r>
              <a:rPr lang="zh-CN" altLang="en-US" sz="1800" dirty="0">
                <a:solidFill>
                  <a:srgbClr val="00B0F0"/>
                </a:solidFill>
              </a:rPr>
              <a:t>求解方程根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800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186CCF1-A15E-411E-AB31-C5F8CADB85EA}"/>
              </a:ext>
            </a:extLst>
          </p:cNvPr>
          <p:cNvSpPr txBox="1">
            <a:spLocks/>
          </p:cNvSpPr>
          <p:nvPr/>
        </p:nvSpPr>
        <p:spPr bwMode="auto">
          <a:xfrm>
            <a:off x="1517913" y="141656"/>
            <a:ext cx="6336704" cy="467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奇异值分解法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svd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771D0C9-87E3-4C7A-B0BC-F84C38732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185" y="1165870"/>
            <a:ext cx="7362144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奇异矩阵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分解成正交阵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、对角阵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和转置正交阵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的乘积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48F520C0-6019-4596-ADA0-299F5E7F2EEA}"/>
              </a:ext>
            </a:extLst>
          </p:cNvPr>
          <p:cNvSpPr txBox="1"/>
          <p:nvPr/>
        </p:nvSpPr>
        <p:spPr>
          <a:xfrm>
            <a:off x="7478810" y="1183250"/>
            <a:ext cx="1300435" cy="40011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 ker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A=U*s*v’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706276-17BC-4419-A63C-725011AFF549}"/>
              </a:ext>
            </a:extLst>
          </p:cNvPr>
          <p:cNvSpPr/>
          <p:nvPr/>
        </p:nvSpPr>
        <p:spPr>
          <a:xfrm>
            <a:off x="2663787" y="1607508"/>
            <a:ext cx="140415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u,s,v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svd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(A)</a:t>
            </a:r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D986CB-29A2-43C5-9ACF-4F781FD21F33}"/>
              </a:ext>
            </a:extLst>
          </p:cNvPr>
          <p:cNvSpPr/>
          <p:nvPr/>
        </p:nvSpPr>
        <p:spPr>
          <a:xfrm>
            <a:off x="200662" y="1647041"/>
            <a:ext cx="24991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奇异分解调用格式：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AutoShape 13">
                <a:extLst>
                  <a:ext uri="{FF2B5EF4-FFF2-40B4-BE49-F238E27FC236}">
                    <a16:creationId xmlns:a16="http://schemas.microsoft.com/office/drawing/2014/main" id="{AC4A39CD-6E4E-4E31-BC2E-AB368A058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61199" y="662419"/>
                <a:ext cx="4104456" cy="483995"/>
              </a:xfrm>
              <a:prstGeom prst="irregularSeal2">
                <a:avLst/>
              </a:prstGeom>
              <a:gradFill rotWithShape="1">
                <a:gsLst>
                  <a:gs pos="0">
                    <a:srgbClr val="000076"/>
                  </a:gs>
                  <a:gs pos="50000">
                    <a:srgbClr val="0000FF"/>
                  </a:gs>
                  <a:gs pos="100000">
                    <a:srgbClr val="000076"/>
                  </a:gs>
                </a:gsLst>
                <a:lin ang="5400000" scaled="1"/>
              </a:gradFill>
              <a:ln w="57150">
                <a:solidFill>
                  <a:srgbClr val="00FF00"/>
                </a:solidFill>
                <a:miter lim="800000"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/>
              <a:lstStyle/>
              <a:p>
                <a:pPr ea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奇异矩阵</a:t>
                </a:r>
                <a:r>
                  <a:rPr lang="en-US" altLang="ko-KR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det(A)</a:t>
                </a:r>
                <a14:m>
                  <m:oMath xmlns:m="http://schemas.openxmlformats.org/officeDocument/2006/math">
                    <m:r>
                      <a:rPr lang="en-US" altLang="zh-CN" sz="1600" b="1" dirty="0">
                        <a:solidFill>
                          <a:srgbClr val="FFFF00"/>
                        </a:solidFill>
                        <a:latin typeface="Cambria Math"/>
                        <a:ea typeface="隶书" panose="02010509060101010101" pitchFamily="49" charset="-122"/>
                      </a:rPr>
                      <m:t>=</m:t>
                    </m:r>
                  </m:oMath>
                </a14:m>
                <a:r>
                  <a:rPr lang="en-US" altLang="ko-KR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AutoShape 13">
                <a:extLst>
                  <a:ext uri="{FF2B5EF4-FFF2-40B4-BE49-F238E27FC236}">
                    <a16:creationId xmlns:a16="http://schemas.microsoft.com/office/drawing/2014/main" id="{AC4A39CD-6E4E-4E31-BC2E-AB368A0585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61199" y="662419"/>
                <a:ext cx="4104456" cy="483995"/>
              </a:xfrm>
              <a:prstGeom prst="irregularSeal2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rgbClr val="00FF00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E225B298-58AB-435B-8051-59B9ACA368D7}"/>
              </a:ext>
            </a:extLst>
          </p:cNvPr>
          <p:cNvSpPr/>
          <p:nvPr/>
        </p:nvSpPr>
        <p:spPr>
          <a:xfrm>
            <a:off x="203843" y="2099431"/>
            <a:ext cx="4582459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l-PL" altLang="zh-CN" sz="2000" dirty="0">
                <a:solidFill>
                  <a:srgbClr val="002060"/>
                </a:solidFill>
              </a:rPr>
              <a:t>A=[4 2 -1;3 -1 2;11 3 0];</a:t>
            </a:r>
          </a:p>
          <a:p>
            <a:r>
              <a:rPr lang="pl-PL" altLang="zh-CN" sz="2000" dirty="0">
                <a:solidFill>
                  <a:srgbClr val="002060"/>
                </a:solidFill>
              </a:rPr>
              <a:t>u,s,v=svd(A)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5ABCE6-22E1-4960-91E2-B0C929A15B08}"/>
              </a:ext>
            </a:extLst>
          </p:cNvPr>
          <p:cNvSpPr txBox="1"/>
          <p:nvPr/>
        </p:nvSpPr>
        <p:spPr>
          <a:xfrm>
            <a:off x="161601" y="2838614"/>
            <a:ext cx="43924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结果SVD{Float64, Float64, Matrix{Float64}}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U factor: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4×4 Matrix{Float64}: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0.0201329   0.941497   0.209575  -0.263166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-0.75359     0.198928  -0.601604   0.174936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0.183787   -0.122021  -0.511971  -0.830192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0.630808    0.24315   -0.576227   0.459262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50AC9E-11DC-48BC-A42E-44375B42018F}"/>
              </a:ext>
            </a:extLst>
          </p:cNvPr>
          <p:cNvSpPr txBox="1"/>
          <p:nvPr/>
        </p:nvSpPr>
        <p:spPr>
          <a:xfrm>
            <a:off x="4686265" y="1607508"/>
            <a:ext cx="46666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</a:rPr>
              <a:t>singular values: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4-element Vector{Float64}: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11.258425087337153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5.8896432519772235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2.131607119650891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0.12734993015415974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Vt factor: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4×4 Matrix{Float64}: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-0.0073293   0.705295  -0.0486468  -0.707205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0.394773    0.197247  -0.861284    0.251868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-0.355919   -0.592844  -0.461445   -0.555812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0.847008   -0.334947   0.207103   -0.357067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6AEACB-0269-4240-A03B-E4F0BCAB15DF}"/>
              </a:ext>
            </a:extLst>
          </p:cNvPr>
          <p:cNvSpPr txBox="1"/>
          <p:nvPr/>
        </p:nvSpPr>
        <p:spPr>
          <a:xfrm>
            <a:off x="2915817" y="738074"/>
            <a:ext cx="622818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奇异矩阵分解法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svd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应用在统计分析、信号处理和控制理论数据挖掘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099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B0DFE0A-030F-4522-904A-6980E53490B9}"/>
              </a:ext>
            </a:extLst>
          </p:cNvPr>
          <p:cNvSpPr txBox="1"/>
          <p:nvPr/>
        </p:nvSpPr>
        <p:spPr>
          <a:xfrm>
            <a:off x="525630" y="673089"/>
            <a:ext cx="8657743" cy="3797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4200"/>
              </a:lnSpc>
              <a:buFont typeface="+mj-ea"/>
              <a:buAutoNum type="circleNumDbPlain"/>
            </a:pP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LU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分解：将矩阵分解成单位下三角矩阵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和上三角矩阵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，本质上仍然属于高斯消去法</a:t>
            </a:r>
          </a:p>
          <a:p>
            <a:pPr marL="342900" indent="-342900" algn="l">
              <a:lnSpc>
                <a:spcPts val="4200"/>
              </a:lnSpc>
              <a:buFont typeface="+mj-ea"/>
              <a:buAutoNum type="circleNumDbPlain"/>
            </a:pP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Cholesky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分解：把一个对称正定的矩阵表示成一个下三角矩阵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和其转置的乘积的分解。如果矩阵是正定的，使用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Cholesky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分解会比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LU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分解更加高效。</a:t>
            </a:r>
          </a:p>
          <a:p>
            <a:pPr marL="342900" indent="-342900" algn="l">
              <a:lnSpc>
                <a:spcPts val="4200"/>
              </a:lnSpc>
              <a:buFont typeface="+mj-ea"/>
              <a:buAutoNum type="circleNumDbPlain"/>
            </a:pP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LDLT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分解法：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Cholesky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分解法的改进</a:t>
            </a:r>
          </a:p>
          <a:p>
            <a:pPr marL="342900" indent="-342900" algn="l">
              <a:lnSpc>
                <a:spcPts val="4200"/>
              </a:lnSpc>
              <a:buFont typeface="+mj-ea"/>
              <a:buAutoNum type="circleNumDbPlain"/>
            </a:pP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QR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分解是把矩阵分解成一个正交矩阵与一个上三角矩阵的积。</a:t>
            </a: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62DC0DAB-2BA1-4718-83FA-B9788F385E2E}"/>
              </a:ext>
            </a:extLst>
          </p:cNvPr>
          <p:cNvSpPr txBox="1">
            <a:spLocks/>
          </p:cNvSpPr>
          <p:nvPr/>
        </p:nvSpPr>
        <p:spPr bwMode="auto">
          <a:xfrm>
            <a:off x="1763688" y="177116"/>
            <a:ext cx="6013492" cy="467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§6.3 </a:t>
            </a:r>
            <a:r>
              <a:rPr lang="zh-CN" altLang="en-US" sz="2800" b="1" kern="0" dirty="0"/>
              <a:t>矩阵分解法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矩阵分解特点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15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C5500E2-809B-4243-9E09-C198FE37F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5" y="1131590"/>
            <a:ext cx="2036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逆乘法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：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4640100D-0121-4687-9D70-592F53C5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60" y="1181129"/>
            <a:ext cx="1458616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600" dirty="0">
                <a:sym typeface="Arial" charset="0"/>
              </a:rPr>
              <a:t>x=inv(A)*b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CBEDED2A-9C6E-4A9A-AF3D-A0035DDC2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109" y="1654818"/>
            <a:ext cx="87124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ym typeface="Arial" charset="0"/>
              </a:rPr>
              <a:t>x=A</a:t>
            </a:r>
            <a:r>
              <a:rPr lang="en-US" altLang="zh-CN" sz="1600" dirty="0">
                <a:sym typeface="Courier New" pitchFamily="49" charset="0"/>
              </a:rPr>
              <a:t>\</a:t>
            </a:r>
            <a:r>
              <a:rPr lang="en-US" altLang="zh-CN" sz="1600" dirty="0">
                <a:sym typeface="Arial" charset="0"/>
              </a:rPr>
              <a:t>b</a:t>
            </a:r>
            <a:endParaRPr lang="zh-CN" altLang="en-US" sz="1600" dirty="0">
              <a:sym typeface="Arial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1E8ACA6-3FD7-483F-993E-39E54906CBFC}"/>
              </a:ext>
            </a:extLst>
          </p:cNvPr>
          <p:cNvSpPr txBox="1">
            <a:spLocks noChangeArrowheads="1"/>
          </p:cNvSpPr>
          <p:nvPr/>
        </p:nvSpPr>
        <p:spPr>
          <a:xfrm>
            <a:off x="73436" y="3269891"/>
            <a:ext cx="6357874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buFont typeface="+mj-ea"/>
              <a:buAutoNum type="circleNumDbPlain" startAt="2"/>
              <a:defRPr sz="32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9pPr>
          </a:lstStyle>
          <a:p>
            <a:pPr marL="0" indent="0">
              <a:buFont typeface="+mj-ea"/>
              <a:buAutoNum type="circleNumDbPlain" startAt="4"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阶梯形矩阵函数</a:t>
            </a:r>
            <a:r>
              <a:rPr lang="en-US" altLang="zh-CN"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Gauss-Jordan 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消元法）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B5D4323-E947-40F4-BE12-64C98154F3F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1"/>
          <a:stretch/>
        </p:blipFill>
        <p:spPr>
          <a:xfrm>
            <a:off x="6863042" y="3136314"/>
            <a:ext cx="2245462" cy="11756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FA44A4B-D8FC-4CBF-B894-7BC380BB14E8}"/>
              </a:ext>
            </a:extLst>
          </p:cNvPr>
          <p:cNvSpPr/>
          <p:nvPr/>
        </p:nvSpPr>
        <p:spPr>
          <a:xfrm>
            <a:off x="2688802" y="3645998"/>
            <a:ext cx="1933543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增广矩阵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[A b]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57A17C-3D58-4F86-8E54-C0F75775DFA3}"/>
              </a:ext>
            </a:extLst>
          </p:cNvPr>
          <p:cNvSpPr/>
          <p:nvPr/>
        </p:nvSpPr>
        <p:spPr>
          <a:xfrm>
            <a:off x="598889" y="3700728"/>
            <a:ext cx="188353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R,P=rref([A b])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DBE6ECB-46C7-47D9-9021-DB6E29A8CAC0}"/>
              </a:ext>
            </a:extLst>
          </p:cNvPr>
          <p:cNvSpPr txBox="1"/>
          <p:nvPr/>
        </p:nvSpPr>
        <p:spPr>
          <a:xfrm>
            <a:off x="8461776" y="4220521"/>
            <a:ext cx="534121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X</a:t>
            </a:r>
            <a:r>
              <a:rPr lang="zh-CN" altLang="en-US" dirty="0"/>
              <a:t>解</a:t>
            </a:r>
            <a:endParaRPr lang="en-US" altLang="zh-CN" dirty="0"/>
          </a:p>
        </p:txBody>
      </p:sp>
      <p:sp>
        <p:nvSpPr>
          <p:cNvPr id="16" name="圆角矩形 10">
            <a:extLst>
              <a:ext uri="{FF2B5EF4-FFF2-40B4-BE49-F238E27FC236}">
                <a16:creationId xmlns:a16="http://schemas.microsoft.com/office/drawing/2014/main" id="{14099CB2-4D92-48D0-B2A1-92B00BF146B0}"/>
              </a:ext>
            </a:extLst>
          </p:cNvPr>
          <p:cNvSpPr/>
          <p:nvPr/>
        </p:nvSpPr>
        <p:spPr bwMode="auto">
          <a:xfrm>
            <a:off x="6957365" y="3236979"/>
            <a:ext cx="1391805" cy="1015005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圆角矩形 10">
            <a:extLst>
              <a:ext uri="{FF2B5EF4-FFF2-40B4-BE49-F238E27FC236}">
                <a16:creationId xmlns:a16="http://schemas.microsoft.com/office/drawing/2014/main" id="{7EEC0041-449F-4334-B83C-4E20E8B0713B}"/>
              </a:ext>
            </a:extLst>
          </p:cNvPr>
          <p:cNvSpPr/>
          <p:nvPr/>
        </p:nvSpPr>
        <p:spPr bwMode="auto">
          <a:xfrm>
            <a:off x="8436580" y="3220707"/>
            <a:ext cx="444166" cy="991227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8" name="曲线连接符 23">
            <a:extLst>
              <a:ext uri="{FF2B5EF4-FFF2-40B4-BE49-F238E27FC236}">
                <a16:creationId xmlns:a16="http://schemas.microsoft.com/office/drawing/2014/main" id="{98334C05-76A9-46F8-8996-45299EBB7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6445927" y="3921863"/>
            <a:ext cx="502337" cy="262253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1">
            <a:extLst>
              <a:ext uri="{FF2B5EF4-FFF2-40B4-BE49-F238E27FC236}">
                <a16:creationId xmlns:a16="http://schemas.microsoft.com/office/drawing/2014/main" id="{216403A1-5801-4740-9022-83879AD587E1}"/>
              </a:ext>
            </a:extLst>
          </p:cNvPr>
          <p:cNvSpPr txBox="1"/>
          <p:nvPr/>
        </p:nvSpPr>
        <p:spPr>
          <a:xfrm>
            <a:off x="6679233" y="4258140"/>
            <a:ext cx="1855519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/>
            <a:r>
              <a:rPr lang="zh-CN" altLang="en-US" sz="1600" dirty="0"/>
              <a:t>阶梯形单位矩阵</a:t>
            </a:r>
            <a:r>
              <a:rPr lang="en-US" altLang="zh-CN" sz="1600" dirty="0"/>
              <a:t>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D7E5F7-6DFE-4505-9F68-51BA5D33DC4D}"/>
              </a:ext>
            </a:extLst>
          </p:cNvPr>
          <p:cNvSpPr/>
          <p:nvPr/>
        </p:nvSpPr>
        <p:spPr>
          <a:xfrm>
            <a:off x="549261" y="4089102"/>
            <a:ext cx="3262050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>
            <a:spAutoFit/>
          </a:bodyPr>
          <a:lstStyle/>
          <a:p>
            <a:r>
              <a:rPr lang="en-US" altLang="zh-CN" sz="1400" b="1" dirty="0"/>
              <a:t>R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A </a:t>
            </a:r>
            <a:r>
              <a:rPr lang="zh-CN" altLang="en-US" sz="1400" b="1" dirty="0"/>
              <a:t>的简化的行阶梯形矩阵，</a:t>
            </a:r>
            <a:endParaRPr lang="en-US" altLang="zh-CN" sz="1400" b="1" dirty="0"/>
          </a:p>
          <a:p>
            <a:r>
              <a:rPr lang="en-US" altLang="zh-CN" sz="1400" dirty="0"/>
              <a:t> </a:t>
            </a:r>
            <a:r>
              <a:rPr lang="en-US" altLang="zh-CN" sz="1400" b="1" dirty="0"/>
              <a:t>p - </a:t>
            </a:r>
            <a:r>
              <a:rPr lang="zh-CN" altLang="en-US" sz="1400" b="1" dirty="0"/>
              <a:t>非零主元列</a:t>
            </a:r>
            <a:endParaRPr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51FABE-22F0-4368-94C8-27D91855CB4D}"/>
              </a:ext>
            </a:extLst>
          </p:cNvPr>
          <p:cNvSpPr txBox="1"/>
          <p:nvPr/>
        </p:nvSpPr>
        <p:spPr>
          <a:xfrm>
            <a:off x="755576" y="65833"/>
            <a:ext cx="10081120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求解方法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Gauss-Jordan 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消元法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24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8A0AE9-C66F-4FCC-A3CF-69C6A5DC93C2}"/>
              </a:ext>
            </a:extLst>
          </p:cNvPr>
          <p:cNvSpPr txBox="1"/>
          <p:nvPr/>
        </p:nvSpPr>
        <p:spPr>
          <a:xfrm>
            <a:off x="131961" y="702176"/>
            <a:ext cx="88177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rank(A)=rank(</a:t>
            </a:r>
            <a:r>
              <a:rPr lang="en-US" altLang="zh-CN" sz="1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，解唯一的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396B90-CB5C-40E9-9E64-D06575BBADB1}"/>
              </a:ext>
            </a:extLst>
          </p:cNvPr>
          <p:cNvSpPr txBox="1"/>
          <p:nvPr/>
        </p:nvSpPr>
        <p:spPr>
          <a:xfrm>
            <a:off x="44158" y="1649757"/>
            <a:ext cx="4422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 左除法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的线性方程组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 =b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373189AD-E647-413F-9E61-3779AFFD0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064" y="2088817"/>
            <a:ext cx="90776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600" dirty="0">
                <a:sym typeface="Arial" charset="0"/>
              </a:rPr>
              <a:t>x=b/A</a:t>
            </a:r>
            <a:endParaRPr lang="zh-CN" altLang="en-US" sz="1600" dirty="0">
              <a:sym typeface="Arial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86DA92-135D-493D-A228-A18B10461A08}"/>
              </a:ext>
            </a:extLst>
          </p:cNvPr>
          <p:cNvSpPr txBox="1"/>
          <p:nvPr/>
        </p:nvSpPr>
        <p:spPr>
          <a:xfrm>
            <a:off x="490865" y="2056642"/>
            <a:ext cx="47211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 右除法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的线性方程组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xA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=b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EE3D2E-C6BA-4F79-9A13-7A3CC20446E7}"/>
              </a:ext>
            </a:extLst>
          </p:cNvPr>
          <p:cNvSpPr txBox="1"/>
          <p:nvPr/>
        </p:nvSpPr>
        <p:spPr>
          <a:xfrm>
            <a:off x="5405812" y="2036411"/>
            <a:ext cx="269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必须具相同的列数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99E7096-9304-4E7A-8DC4-5963FC33CEDB}"/>
              </a:ext>
            </a:extLst>
          </p:cNvPr>
          <p:cNvSpPr txBox="1"/>
          <p:nvPr/>
        </p:nvSpPr>
        <p:spPr>
          <a:xfrm>
            <a:off x="5428369" y="1626702"/>
            <a:ext cx="2537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必须相同的行数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22C0208-93BF-4572-BBBE-B0EB309BB010}"/>
              </a:ext>
            </a:extLst>
          </p:cNvPr>
          <p:cNvSpPr txBox="1"/>
          <p:nvPr/>
        </p:nvSpPr>
        <p:spPr>
          <a:xfrm>
            <a:off x="3037017" y="1141838"/>
            <a:ext cx="5921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 A\b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不必构造逆矩阵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直接高斯消元，精度高，速度快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2AC4AE-46A8-4903-8CEC-3C7023749F4B}"/>
              </a:ext>
            </a:extLst>
          </p:cNvPr>
          <p:cNvSpPr/>
          <p:nvPr/>
        </p:nvSpPr>
        <p:spPr>
          <a:xfrm>
            <a:off x="4850434" y="4152456"/>
            <a:ext cx="171580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R=[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D,x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E31F3C2A-4A36-4A97-BFF6-046AFE46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525" y="2540603"/>
            <a:ext cx="152878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4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A315C65-4527-466C-B0E6-BDB5C8BA42B2}"/>
              </a:ext>
            </a:extLst>
          </p:cNvPr>
          <p:cNvSpPr txBox="1"/>
          <p:nvPr/>
        </p:nvSpPr>
        <p:spPr>
          <a:xfrm>
            <a:off x="3866608" y="2526096"/>
            <a:ext cx="5412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和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QR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未正确缩放或近奇异矩阵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易出错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EE295D-1BD5-4BDF-A638-C669D2115C22}"/>
              </a:ext>
            </a:extLst>
          </p:cNvPr>
          <p:cNvSpPr txBox="1"/>
          <p:nvPr/>
        </p:nvSpPr>
        <p:spPr>
          <a:xfrm>
            <a:off x="48800" y="2524452"/>
            <a:ext cx="2257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线性方程组求解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B399E63-1F46-4A48-86F0-D5ABA0ABBF7B}"/>
              </a:ext>
            </a:extLst>
          </p:cNvPr>
          <p:cNvSpPr txBox="1"/>
          <p:nvPr/>
        </p:nvSpPr>
        <p:spPr>
          <a:xfrm>
            <a:off x="392836" y="2873402"/>
            <a:ext cx="80964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方阵时，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对于所有其他情况，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QR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</p:spTree>
    <p:extLst>
      <p:ext uri="{BB962C8B-B14F-4D97-AF65-F5344CB8AC3E}">
        <p14:creationId xmlns:p14="http://schemas.microsoft.com/office/powerpoint/2010/main" val="159438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1" grpId="0" animBg="1"/>
      <p:bldP spid="13" grpId="0"/>
      <p:bldP spid="14" grpId="0" animBg="1"/>
      <p:bldP spid="15" grpId="0"/>
      <p:bldP spid="16" grpId="0" animBg="1"/>
      <p:bldP spid="17" grpId="0" animBg="1"/>
      <p:bldP spid="19" grpId="0"/>
      <p:bldP spid="22" grpId="0" animBg="1"/>
      <p:bldP spid="24" grpId="0"/>
      <p:bldP spid="25" grpId="0" animBg="1"/>
      <p:bldP spid="26" grpId="0"/>
      <p:bldP spid="27" grpId="0"/>
      <p:bldP spid="28" grpId="0"/>
      <p:bldP spid="29" grpId="0"/>
      <p:bldP spid="20" grpId="0" animBg="1"/>
      <p:bldP spid="30" grpId="0" animBg="1"/>
      <p:bldP spid="31" grpId="0"/>
      <p:bldP spid="32" grpId="0"/>
      <p:bldP spid="3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箭头: 右 76">
            <a:extLst>
              <a:ext uri="{FF2B5EF4-FFF2-40B4-BE49-F238E27FC236}">
                <a16:creationId xmlns:a16="http://schemas.microsoft.com/office/drawing/2014/main" id="{51BB21C2-B212-44ED-ABDB-39945F5374A3}"/>
              </a:ext>
            </a:extLst>
          </p:cNvPr>
          <p:cNvSpPr/>
          <p:nvPr/>
        </p:nvSpPr>
        <p:spPr bwMode="auto">
          <a:xfrm rot="19192943">
            <a:off x="5400209" y="2553101"/>
            <a:ext cx="392924" cy="133838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4" name="矩形: 圆角 10">
            <a:extLst>
              <a:ext uri="{FF2B5EF4-FFF2-40B4-BE49-F238E27FC236}">
                <a16:creationId xmlns:a16="http://schemas.microsoft.com/office/drawing/2014/main" id="{F29709F2-625F-4AD0-B828-B4546822CD9F}"/>
              </a:ext>
            </a:extLst>
          </p:cNvPr>
          <p:cNvSpPr/>
          <p:nvPr/>
        </p:nvSpPr>
        <p:spPr>
          <a:xfrm>
            <a:off x="55242" y="684764"/>
            <a:ext cx="9073555" cy="42073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初等变换               高斯消元法                 回代方程               阶梯形同解方程</a:t>
            </a:r>
          </a:p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2B40E1-DD90-44A1-97BB-C067617BE0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06" y="1050889"/>
            <a:ext cx="2808802" cy="12712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1911B4-EB47-4078-AEA2-852A5DA9183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466" r="348"/>
          <a:stretch/>
        </p:blipFill>
        <p:spPr>
          <a:xfrm>
            <a:off x="4799901" y="1131439"/>
            <a:ext cx="3521024" cy="11562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7F9402-177A-479E-B1C8-C5CD1353CB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899" y="3279639"/>
            <a:ext cx="3042354" cy="1235817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E51DD90E-398C-4AF3-B04B-CAFE50115292}"/>
              </a:ext>
            </a:extLst>
          </p:cNvPr>
          <p:cNvSpPr/>
          <p:nvPr/>
        </p:nvSpPr>
        <p:spPr bwMode="auto">
          <a:xfrm>
            <a:off x="4111603" y="1666382"/>
            <a:ext cx="733806" cy="511781"/>
          </a:xfrm>
          <a:prstGeom prst="rightArrow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92F78A-60D2-4C7D-B7EA-862902F5499A}"/>
              </a:ext>
            </a:extLst>
          </p:cNvPr>
          <p:cNvSpPr txBox="1"/>
          <p:nvPr/>
        </p:nvSpPr>
        <p:spPr>
          <a:xfrm>
            <a:off x="3840259" y="1059582"/>
            <a:ext cx="754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(2)-(1)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FD1C78-5EF2-4C62-A45D-92AA5AA2D9C3}"/>
              </a:ext>
            </a:extLst>
          </p:cNvPr>
          <p:cNvSpPr txBox="1"/>
          <p:nvPr/>
        </p:nvSpPr>
        <p:spPr>
          <a:xfrm>
            <a:off x="3656615" y="1434532"/>
            <a:ext cx="1248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(3)-1.5*(1)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9B5DD1-E636-4662-AC6A-E1A197FDE0E7}"/>
              </a:ext>
            </a:extLst>
          </p:cNvPr>
          <p:cNvSpPr txBox="1"/>
          <p:nvPr/>
        </p:nvSpPr>
        <p:spPr>
          <a:xfrm>
            <a:off x="3682897" y="1862643"/>
            <a:ext cx="1321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(4)-0.5*(1)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1961DB8-BDAC-447D-9C11-362329004384}"/>
              </a:ext>
            </a:extLst>
          </p:cNvPr>
          <p:cNvSpPr/>
          <p:nvPr/>
        </p:nvSpPr>
        <p:spPr bwMode="auto">
          <a:xfrm>
            <a:off x="742078" y="1482274"/>
            <a:ext cx="418091" cy="829425"/>
          </a:xfrm>
          <a:prstGeom prst="roundRect">
            <a:avLst/>
          </a:prstGeom>
          <a:noFill/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C7AF9-9F12-43C0-AB71-D97EA779F536}"/>
              </a:ext>
            </a:extLst>
          </p:cNvPr>
          <p:cNvSpPr/>
          <p:nvPr/>
        </p:nvSpPr>
        <p:spPr bwMode="auto">
          <a:xfrm>
            <a:off x="5673967" y="1707654"/>
            <a:ext cx="415131" cy="537831"/>
          </a:xfrm>
          <a:prstGeom prst="roundRect">
            <a:avLst/>
          </a:prstGeom>
          <a:noFill/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CC5F894-3E93-4679-B54F-C05B6A5D52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492" y="3212319"/>
            <a:ext cx="2757980" cy="1375653"/>
          </a:xfrm>
          <a:prstGeom prst="rect">
            <a:avLst/>
          </a:prstGeom>
        </p:spPr>
      </p:pic>
      <p:sp>
        <p:nvSpPr>
          <p:cNvPr id="14" name="箭头: 右弧形 13">
            <a:extLst>
              <a:ext uri="{FF2B5EF4-FFF2-40B4-BE49-F238E27FC236}">
                <a16:creationId xmlns:a16="http://schemas.microsoft.com/office/drawing/2014/main" id="{91AF3343-17D7-4FB9-9132-64929B5097C8}"/>
              </a:ext>
            </a:extLst>
          </p:cNvPr>
          <p:cNvSpPr/>
          <p:nvPr/>
        </p:nvSpPr>
        <p:spPr bwMode="auto">
          <a:xfrm rot="317481">
            <a:off x="8706115" y="1875926"/>
            <a:ext cx="334690" cy="2228171"/>
          </a:xfrm>
          <a:prstGeom prst="curvedLef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EFC47D-D8D6-4F04-B830-64C5C92A9AA0}"/>
              </a:ext>
            </a:extLst>
          </p:cNvPr>
          <p:cNvSpPr txBox="1"/>
          <p:nvPr/>
        </p:nvSpPr>
        <p:spPr>
          <a:xfrm>
            <a:off x="7863896" y="1575791"/>
            <a:ext cx="102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(3)-2*(2)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16" name="箭头: 右弧形 15">
            <a:extLst>
              <a:ext uri="{FF2B5EF4-FFF2-40B4-BE49-F238E27FC236}">
                <a16:creationId xmlns:a16="http://schemas.microsoft.com/office/drawing/2014/main" id="{06FDF05A-453E-49CC-AE41-6EC2872AEA8C}"/>
              </a:ext>
            </a:extLst>
          </p:cNvPr>
          <p:cNvSpPr/>
          <p:nvPr/>
        </p:nvSpPr>
        <p:spPr bwMode="auto">
          <a:xfrm rot="317481">
            <a:off x="8671627" y="2285052"/>
            <a:ext cx="386229" cy="2237229"/>
          </a:xfrm>
          <a:prstGeom prst="curvedLeftArrow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7FBFA9-79FB-408E-90ED-9D7512765B6E}"/>
              </a:ext>
            </a:extLst>
          </p:cNvPr>
          <p:cNvSpPr txBox="1"/>
          <p:nvPr/>
        </p:nvSpPr>
        <p:spPr>
          <a:xfrm>
            <a:off x="7851012" y="1914386"/>
            <a:ext cx="102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(4)-2*(2)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58A6B9-BF0A-42BF-AC59-4C75A8DAFB67}"/>
              </a:ext>
            </a:extLst>
          </p:cNvPr>
          <p:cNvSpPr/>
          <p:nvPr/>
        </p:nvSpPr>
        <p:spPr>
          <a:xfrm>
            <a:off x="3257723" y="1432324"/>
            <a:ext cx="2665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初等变换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ECF8469-453F-42B4-B08C-AF7638C04EE9}"/>
              </a:ext>
            </a:extLst>
          </p:cNvPr>
          <p:cNvGrpSpPr/>
          <p:nvPr/>
        </p:nvGrpSpPr>
        <p:grpSpPr>
          <a:xfrm>
            <a:off x="3156232" y="3630929"/>
            <a:ext cx="2336391" cy="944340"/>
            <a:chOff x="539552" y="4859298"/>
            <a:chExt cx="2883116" cy="1287237"/>
          </a:xfrm>
        </p:grpSpPr>
        <p:cxnSp>
          <p:nvCxnSpPr>
            <p:cNvPr id="22" name="连接符: 肘形 21">
              <a:extLst>
                <a:ext uri="{FF2B5EF4-FFF2-40B4-BE49-F238E27FC236}">
                  <a16:creationId xmlns:a16="http://schemas.microsoft.com/office/drawing/2014/main" id="{A447CA48-840E-4E84-8695-052DDF13D3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9552" y="4859298"/>
              <a:ext cx="1224136" cy="504056"/>
            </a:xfrm>
            <a:prstGeom prst="bentConnector3">
              <a:avLst>
                <a:gd name="adj1" fmla="val 66289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C3A1307E-86CB-43A4-A07F-EAF52A9337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09944" y="5378616"/>
              <a:ext cx="1332104" cy="266950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0626B35E-2177-405B-98C1-73240140410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80250" y="5624754"/>
              <a:ext cx="1342418" cy="52178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DECF0D57-DF2A-48E6-B9C3-0511A2F4EAA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7" t="9617" r="7641" b="5818"/>
          <a:stretch/>
        </p:blipFill>
        <p:spPr>
          <a:xfrm>
            <a:off x="55242" y="3278744"/>
            <a:ext cx="2440666" cy="1292322"/>
          </a:xfrm>
          <a:prstGeom prst="rect">
            <a:avLst/>
          </a:prstGeom>
          <a:noFill/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64B92D-F600-4A68-9C3A-7E5F2E4C1869}"/>
              </a:ext>
            </a:extLst>
          </p:cNvPr>
          <p:cNvGrpSpPr/>
          <p:nvPr/>
        </p:nvGrpSpPr>
        <p:grpSpPr>
          <a:xfrm>
            <a:off x="179512" y="3640582"/>
            <a:ext cx="1872208" cy="919279"/>
            <a:chOff x="534360" y="4752245"/>
            <a:chExt cx="2646399" cy="1230647"/>
          </a:xfrm>
        </p:grpSpPr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A4FD84DC-AC9A-43A9-813D-67F4FE5DA8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4360" y="4752245"/>
              <a:ext cx="1229328" cy="453149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EE04CE99-7A45-472A-AAE7-FAD9A92290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5017" y="5205394"/>
              <a:ext cx="1385358" cy="29809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4590EF0E-C3D7-41D3-8B66-AC455117AC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20536" y="5495314"/>
              <a:ext cx="1260223" cy="487578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1" name="矩形: 圆角 3">
            <a:extLst>
              <a:ext uri="{FF2B5EF4-FFF2-40B4-BE49-F238E27FC236}">
                <a16:creationId xmlns:a16="http://schemas.microsoft.com/office/drawing/2014/main" id="{22FC115F-016A-4F2E-AFF1-0ECC42DBD76F}"/>
              </a:ext>
            </a:extLst>
          </p:cNvPr>
          <p:cNvSpPr/>
          <p:nvPr/>
        </p:nvSpPr>
        <p:spPr bwMode="auto">
          <a:xfrm>
            <a:off x="5040238" y="1611742"/>
            <a:ext cx="277038" cy="633743"/>
          </a:xfrm>
          <a:prstGeom prst="roundRect">
            <a:avLst/>
          </a:prstGeom>
          <a:noFill/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94B8151-B5C3-4A06-891D-4D1E9A1769AA}"/>
              </a:ext>
            </a:extLst>
          </p:cNvPr>
          <p:cNvSpPr/>
          <p:nvPr/>
        </p:nvSpPr>
        <p:spPr>
          <a:xfrm>
            <a:off x="5004048" y="1602595"/>
            <a:ext cx="43473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X1</a:t>
            </a:r>
          </a:p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消</a:t>
            </a:r>
            <a:endParaRPr lang="en-US" altLang="zh-CN" sz="1400" dirty="0">
              <a:solidFill>
                <a:srgbClr val="FFFF00"/>
              </a:solidFill>
              <a:highlight>
                <a:srgbClr val="003B76"/>
              </a:highlight>
              <a:latin typeface="Arial" pitchFamily="34" charset="0"/>
              <a:ea typeface="隶书" pitchFamily="49" charset="-122"/>
            </a:endParaRPr>
          </a:p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元</a:t>
            </a:r>
          </a:p>
        </p:txBody>
      </p:sp>
      <p:sp>
        <p:nvSpPr>
          <p:cNvPr id="33" name="矩形: 圆角 3">
            <a:extLst>
              <a:ext uri="{FF2B5EF4-FFF2-40B4-BE49-F238E27FC236}">
                <a16:creationId xmlns:a16="http://schemas.microsoft.com/office/drawing/2014/main" id="{22B7FC37-C5D9-4938-8F52-9926D65186EB}"/>
              </a:ext>
            </a:extLst>
          </p:cNvPr>
          <p:cNvSpPr/>
          <p:nvPr/>
        </p:nvSpPr>
        <p:spPr bwMode="auto">
          <a:xfrm>
            <a:off x="742079" y="1131438"/>
            <a:ext cx="2638567" cy="239652"/>
          </a:xfrm>
          <a:prstGeom prst="roundRect">
            <a:avLst/>
          </a:prstGeom>
          <a:noFill/>
          <a:ln w="952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AABF21B-0368-4728-9B13-EA95948E2A60}"/>
              </a:ext>
            </a:extLst>
          </p:cNvPr>
          <p:cNvSpPr/>
          <p:nvPr/>
        </p:nvSpPr>
        <p:spPr>
          <a:xfrm>
            <a:off x="1131672" y="3733934"/>
            <a:ext cx="982964" cy="27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单位矩阵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D</a:t>
            </a:r>
            <a:endParaRPr lang="zh-CN" altLang="en-US" sz="1200" dirty="0">
              <a:solidFill>
                <a:srgbClr val="FFFF00"/>
              </a:solidFill>
              <a:highlight>
                <a:srgbClr val="003B76"/>
              </a:highlight>
              <a:latin typeface="Arial" pitchFamily="34" charset="0"/>
              <a:ea typeface="隶书" pitchFamily="49" charset="-122"/>
            </a:endParaRPr>
          </a:p>
        </p:txBody>
      </p:sp>
      <p:sp>
        <p:nvSpPr>
          <p:cNvPr id="35" name="矩形: 圆角 3">
            <a:extLst>
              <a:ext uri="{FF2B5EF4-FFF2-40B4-BE49-F238E27FC236}">
                <a16:creationId xmlns:a16="http://schemas.microsoft.com/office/drawing/2014/main" id="{25749F84-5EA4-4662-9830-573B35064DEC}"/>
              </a:ext>
            </a:extLst>
          </p:cNvPr>
          <p:cNvSpPr/>
          <p:nvPr/>
        </p:nvSpPr>
        <p:spPr bwMode="auto">
          <a:xfrm>
            <a:off x="2110733" y="3324542"/>
            <a:ext cx="379154" cy="1214341"/>
          </a:xfrm>
          <a:prstGeom prst="roundRect">
            <a:avLst/>
          </a:prstGeom>
          <a:noFill/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6F9531D-5B05-45D0-A08E-B30C7412901C}"/>
              </a:ext>
            </a:extLst>
          </p:cNvPr>
          <p:cNvSpPr txBox="1"/>
          <p:nvPr/>
        </p:nvSpPr>
        <p:spPr>
          <a:xfrm>
            <a:off x="191822" y="1126798"/>
            <a:ext cx="372218" cy="27699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(1)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B614BD-A11A-484B-BAC4-6C1DF37E226C}"/>
              </a:ext>
            </a:extLst>
          </p:cNvPr>
          <p:cNvSpPr txBox="1"/>
          <p:nvPr/>
        </p:nvSpPr>
        <p:spPr>
          <a:xfrm>
            <a:off x="179512" y="1433678"/>
            <a:ext cx="372218" cy="27699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(2)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F729FF-AB7B-4384-9D3E-4D036FFFAC09}"/>
              </a:ext>
            </a:extLst>
          </p:cNvPr>
          <p:cNvSpPr txBox="1"/>
          <p:nvPr/>
        </p:nvSpPr>
        <p:spPr>
          <a:xfrm>
            <a:off x="188278" y="1701161"/>
            <a:ext cx="372218" cy="27699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(3)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6F17ED3-B610-4E47-AE5F-1E12BE43B70C}"/>
              </a:ext>
            </a:extLst>
          </p:cNvPr>
          <p:cNvSpPr txBox="1"/>
          <p:nvPr/>
        </p:nvSpPr>
        <p:spPr>
          <a:xfrm>
            <a:off x="179512" y="2022637"/>
            <a:ext cx="372218" cy="27699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(4)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4280F948-BEFD-465C-A950-A26F239B572F}"/>
              </a:ext>
            </a:extLst>
          </p:cNvPr>
          <p:cNvSpPr/>
          <p:nvPr/>
        </p:nvSpPr>
        <p:spPr bwMode="auto">
          <a:xfrm>
            <a:off x="3765606" y="1347154"/>
            <a:ext cx="919416" cy="94412"/>
          </a:xfrm>
          <a:prstGeom prst="rightArrow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EF4A400-8C19-41C6-AFAA-9D253D708831}"/>
              </a:ext>
            </a:extLst>
          </p:cNvPr>
          <p:cNvSpPr/>
          <p:nvPr/>
        </p:nvSpPr>
        <p:spPr bwMode="auto">
          <a:xfrm>
            <a:off x="7035157" y="3880149"/>
            <a:ext cx="277982" cy="627239"/>
          </a:xfrm>
          <a:prstGeom prst="roundRect">
            <a:avLst/>
          </a:prstGeom>
          <a:noFill/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5" name="矩形: 圆角 3">
            <a:extLst>
              <a:ext uri="{FF2B5EF4-FFF2-40B4-BE49-F238E27FC236}">
                <a16:creationId xmlns:a16="http://schemas.microsoft.com/office/drawing/2014/main" id="{F289D24F-FF78-4070-8DEB-8DC156DC2FEC}"/>
              </a:ext>
            </a:extLst>
          </p:cNvPr>
          <p:cNvSpPr/>
          <p:nvPr/>
        </p:nvSpPr>
        <p:spPr bwMode="auto">
          <a:xfrm>
            <a:off x="6373598" y="3867894"/>
            <a:ext cx="385357" cy="669414"/>
          </a:xfrm>
          <a:prstGeom prst="roundRect">
            <a:avLst/>
          </a:prstGeom>
          <a:noFill/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ECF313BC-F53D-4EC1-BDE7-82598E3CE9E7}"/>
              </a:ext>
            </a:extLst>
          </p:cNvPr>
          <p:cNvSpPr/>
          <p:nvPr/>
        </p:nvSpPr>
        <p:spPr bwMode="auto">
          <a:xfrm rot="10800000">
            <a:off x="2587344" y="3794489"/>
            <a:ext cx="390894" cy="217420"/>
          </a:xfrm>
          <a:prstGeom prst="rightArrow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6BA1559-1D93-469D-8987-74B1461A1ACF}"/>
              </a:ext>
            </a:extLst>
          </p:cNvPr>
          <p:cNvSpPr txBox="1"/>
          <p:nvPr/>
        </p:nvSpPr>
        <p:spPr>
          <a:xfrm>
            <a:off x="761679" y="-23964"/>
            <a:ext cx="8361324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高斯消元法原理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E3177-3804-4BBA-961D-471EEB4268E9}"/>
              </a:ext>
            </a:extLst>
          </p:cNvPr>
          <p:cNvSpPr/>
          <p:nvPr/>
        </p:nvSpPr>
        <p:spPr>
          <a:xfrm>
            <a:off x="1949220" y="3542795"/>
            <a:ext cx="338554" cy="2700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根</a:t>
            </a:r>
          </a:p>
        </p:txBody>
      </p:sp>
      <p:sp>
        <p:nvSpPr>
          <p:cNvPr id="59" name="AutoShape 2">
            <a:extLst>
              <a:ext uri="{FF2B5EF4-FFF2-40B4-BE49-F238E27FC236}">
                <a16:creationId xmlns:a16="http://schemas.microsoft.com/office/drawing/2014/main" id="{ED30F4F9-191F-44D5-B792-10E7362A41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03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D88D0F-C2A9-4DA6-A09C-58A81F8A246F}"/>
              </a:ext>
            </a:extLst>
          </p:cNvPr>
          <p:cNvSpPr/>
          <p:nvPr/>
        </p:nvSpPr>
        <p:spPr>
          <a:xfrm>
            <a:off x="6411459" y="3909982"/>
            <a:ext cx="37221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X1</a:t>
            </a:r>
          </a:p>
          <a:p>
            <a:pPr>
              <a:lnSpc>
                <a:spcPts val="1500"/>
              </a:lnSpc>
            </a:pPr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消</a:t>
            </a:r>
            <a:endParaRPr lang="en-US" altLang="zh-CN" sz="1200" dirty="0">
              <a:solidFill>
                <a:srgbClr val="FFFF00"/>
              </a:solidFill>
              <a:highlight>
                <a:srgbClr val="003B76"/>
              </a:highlight>
              <a:latin typeface="Arial" pitchFamily="34" charset="0"/>
              <a:ea typeface="隶书" pitchFamily="49" charset="-122"/>
            </a:endParaRPr>
          </a:p>
          <a:p>
            <a:pPr>
              <a:lnSpc>
                <a:spcPts val="1500"/>
              </a:lnSpc>
            </a:pPr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元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CF17718-D636-4A2D-9191-2D8086583A86}"/>
              </a:ext>
            </a:extLst>
          </p:cNvPr>
          <p:cNvSpPr/>
          <p:nvPr/>
        </p:nvSpPr>
        <p:spPr>
          <a:xfrm>
            <a:off x="6998025" y="3880149"/>
            <a:ext cx="497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X2</a:t>
            </a:r>
          </a:p>
          <a:p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消</a:t>
            </a:r>
            <a:endParaRPr lang="en-US" altLang="zh-CN" sz="1200" dirty="0">
              <a:solidFill>
                <a:srgbClr val="FFFF00"/>
              </a:solidFill>
              <a:highlight>
                <a:srgbClr val="003B76"/>
              </a:highlight>
              <a:latin typeface="Arial" pitchFamily="34" charset="0"/>
              <a:ea typeface="隶书" pitchFamily="49" charset="-122"/>
            </a:endParaRPr>
          </a:p>
          <a:p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元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17F702D-F02C-4917-B558-761CC48ECFBC}"/>
              </a:ext>
            </a:extLst>
          </p:cNvPr>
          <p:cNvSpPr txBox="1"/>
          <p:nvPr/>
        </p:nvSpPr>
        <p:spPr>
          <a:xfrm>
            <a:off x="4433727" y="3638206"/>
            <a:ext cx="1321788" cy="27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非零上三角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u</a:t>
            </a:r>
            <a:endParaRPr lang="zh-CN" altLang="en-US" sz="1200" dirty="0">
              <a:solidFill>
                <a:srgbClr val="FFFF00"/>
              </a:solidFill>
              <a:highlight>
                <a:srgbClr val="003B76"/>
              </a:highlight>
              <a:latin typeface="Arial" pitchFamily="34" charset="0"/>
              <a:ea typeface="隶书" pitchFamily="49" charset="-122"/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141DF0A4-3255-4633-92C8-080091184D70}"/>
              </a:ext>
            </a:extLst>
          </p:cNvPr>
          <p:cNvSpPr/>
          <p:nvPr/>
        </p:nvSpPr>
        <p:spPr bwMode="auto">
          <a:xfrm rot="10800000">
            <a:off x="5827885" y="3861721"/>
            <a:ext cx="400975" cy="230379"/>
          </a:xfrm>
          <a:prstGeom prst="rightArrow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" name="箭头: 右 68">
            <a:extLst>
              <a:ext uri="{FF2B5EF4-FFF2-40B4-BE49-F238E27FC236}">
                <a16:creationId xmlns:a16="http://schemas.microsoft.com/office/drawing/2014/main" id="{43FC9D83-8A65-4A07-9CA3-3B032C0CDF7B}"/>
              </a:ext>
            </a:extLst>
          </p:cNvPr>
          <p:cNvSpPr/>
          <p:nvPr/>
        </p:nvSpPr>
        <p:spPr bwMode="auto">
          <a:xfrm>
            <a:off x="1812918" y="844711"/>
            <a:ext cx="886874" cy="156991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A61467D0-6F58-4B50-BB24-B569CB2BE5BE}"/>
              </a:ext>
            </a:extLst>
          </p:cNvPr>
          <p:cNvSpPr/>
          <p:nvPr/>
        </p:nvSpPr>
        <p:spPr bwMode="auto">
          <a:xfrm>
            <a:off x="3778434" y="1685250"/>
            <a:ext cx="919416" cy="94412"/>
          </a:xfrm>
          <a:prstGeom prst="rightArrow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5DCC764-AEDB-4F7F-AE8B-07C521C9519B}"/>
              </a:ext>
            </a:extLst>
          </p:cNvPr>
          <p:cNvSpPr txBox="1"/>
          <p:nvPr/>
        </p:nvSpPr>
        <p:spPr>
          <a:xfrm>
            <a:off x="3130271" y="4157670"/>
            <a:ext cx="179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x4= 0</a:t>
            </a:r>
            <a:r>
              <a:rPr lang="zh-CN" altLang="en-US" sz="1200" dirty="0">
                <a:solidFill>
                  <a:srgbClr val="0000FF"/>
                </a:solidFill>
                <a:latin typeface="Arial" pitchFamily="34" charset="0"/>
                <a:ea typeface="隶书" pitchFamily="49" charset="-122"/>
              </a:rPr>
              <a:t>代方程</a:t>
            </a:r>
            <a:r>
              <a:rPr lang="en-US" altLang="zh-CN" sz="1200" dirty="0">
                <a:solidFill>
                  <a:srgbClr val="0000FF"/>
                </a:solidFill>
                <a:latin typeface="Arial" pitchFamily="34" charset="0"/>
                <a:ea typeface="隶书" pitchFamily="49" charset="-122"/>
              </a:rPr>
              <a:t>3</a:t>
            </a:r>
            <a:r>
              <a:rPr lang="zh-CN" altLang="en-US" sz="1200" dirty="0">
                <a:solidFill>
                  <a:srgbClr val="0000FF"/>
                </a:solidFill>
                <a:latin typeface="Arial" pitchFamily="34" charset="0"/>
                <a:ea typeface="隶书" pitchFamily="49" charset="-122"/>
              </a:rPr>
              <a:t>求</a:t>
            </a:r>
            <a:r>
              <a:rPr lang="en-US" altLang="zh-CN" sz="1200" b="1" dirty="0">
                <a:solidFill>
                  <a:srgbClr val="FF0000"/>
                </a:solidFill>
              </a:rPr>
              <a:t>x3=-1</a:t>
            </a:r>
            <a:endParaRPr lang="zh-CN" altLang="en-US" sz="12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BC17AE0-F945-4E2C-B487-BD784FD5108B}"/>
              </a:ext>
            </a:extLst>
          </p:cNvPr>
          <p:cNvSpPr txBox="1"/>
          <p:nvPr/>
        </p:nvSpPr>
        <p:spPr>
          <a:xfrm>
            <a:off x="3110611" y="4336504"/>
            <a:ext cx="1966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再代方程</a:t>
            </a:r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r>
              <a:rPr lang="zh-CN" altLang="en-US" sz="1200" b="1" dirty="0">
                <a:solidFill>
                  <a:srgbClr val="FF0000"/>
                </a:solidFill>
              </a:rPr>
              <a:t>求</a:t>
            </a:r>
            <a:r>
              <a:rPr lang="en-US" altLang="zh-CN" sz="1200" b="1" dirty="0">
                <a:solidFill>
                  <a:srgbClr val="FF0000"/>
                </a:solidFill>
              </a:rPr>
              <a:t> x2= 2, x1=1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12A56752-8629-46DF-9CF7-3E25A7C827DE}"/>
              </a:ext>
            </a:extLst>
          </p:cNvPr>
          <p:cNvSpPr/>
          <p:nvPr/>
        </p:nvSpPr>
        <p:spPr bwMode="auto">
          <a:xfrm>
            <a:off x="4079784" y="813548"/>
            <a:ext cx="886874" cy="156991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C612D26D-8F45-4906-8B0B-CC943DC7BDA3}"/>
              </a:ext>
            </a:extLst>
          </p:cNvPr>
          <p:cNvSpPr/>
          <p:nvPr/>
        </p:nvSpPr>
        <p:spPr bwMode="auto">
          <a:xfrm>
            <a:off x="6465220" y="800901"/>
            <a:ext cx="886874" cy="156991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AFEDB40-8B2C-4BA2-9232-17765B255EF9}"/>
              </a:ext>
            </a:extLst>
          </p:cNvPr>
          <p:cNvSpPr txBox="1"/>
          <p:nvPr/>
        </p:nvSpPr>
        <p:spPr>
          <a:xfrm>
            <a:off x="677495" y="3256147"/>
            <a:ext cx="1247963" cy="2700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120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defRPr>
            </a:lvl1pPr>
          </a:lstStyle>
          <a:p>
            <a:r>
              <a:rPr lang="zh-CN" altLang="en-US" dirty="0"/>
              <a:t>增广矩阵 </a:t>
            </a:r>
            <a:r>
              <a:rPr lang="en-US" altLang="zh-CN" dirty="0"/>
              <a:t>[D,</a:t>
            </a:r>
            <a:r>
              <a:rPr lang="zh-CN" altLang="en-US" dirty="0"/>
              <a:t>根</a:t>
            </a:r>
            <a:r>
              <a:rPr lang="en-US" altLang="zh-CN" dirty="0"/>
              <a:t>] 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873015-EA10-420E-9F9E-1D1D5520A2A6}"/>
              </a:ext>
            </a:extLst>
          </p:cNvPr>
          <p:cNvSpPr/>
          <p:nvPr/>
        </p:nvSpPr>
        <p:spPr bwMode="auto">
          <a:xfrm>
            <a:off x="1304185" y="2370356"/>
            <a:ext cx="6508175" cy="84807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FC0A82A-DE89-452E-8068-17C852A40980}"/>
              </a:ext>
            </a:extLst>
          </p:cNvPr>
          <p:cNvSpPr/>
          <p:nvPr/>
        </p:nvSpPr>
        <p:spPr>
          <a:xfrm>
            <a:off x="475929" y="2723048"/>
            <a:ext cx="1464529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阶梯形矩阵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2">
            <a:extLst>
              <a:ext uri="{FF2B5EF4-FFF2-40B4-BE49-F238E27FC236}">
                <a16:creationId xmlns:a16="http://schemas.microsoft.com/office/drawing/2014/main" id="{BC3B40C8-FDBC-40AE-96C8-4252DDA47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611" y="2338263"/>
            <a:ext cx="114590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eaLnBrk="0" hangingPunct="0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x=inv(a)*b</a:t>
            </a:r>
          </a:p>
        </p:txBody>
      </p:sp>
      <p:sp>
        <p:nvSpPr>
          <p:cNvPr id="72" name="箭头: 右 71">
            <a:extLst>
              <a:ext uri="{FF2B5EF4-FFF2-40B4-BE49-F238E27FC236}">
                <a16:creationId xmlns:a16="http://schemas.microsoft.com/office/drawing/2014/main" id="{FC459EFC-C200-43EC-A352-D930B11A48BF}"/>
              </a:ext>
            </a:extLst>
          </p:cNvPr>
          <p:cNvSpPr/>
          <p:nvPr/>
        </p:nvSpPr>
        <p:spPr bwMode="auto">
          <a:xfrm>
            <a:off x="3776074" y="2156289"/>
            <a:ext cx="919416" cy="94412"/>
          </a:xfrm>
          <a:prstGeom prst="rightArrow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7849BE0-E71F-4646-BBF4-A98583B54AF1}"/>
              </a:ext>
            </a:extLst>
          </p:cNvPr>
          <p:cNvSpPr txBox="1"/>
          <p:nvPr/>
        </p:nvSpPr>
        <p:spPr>
          <a:xfrm>
            <a:off x="2881546" y="2723048"/>
            <a:ext cx="114712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dist"/>
            <a:r>
              <a:rPr lang="zh-CN" altLang="en-US" dirty="0">
                <a:solidFill>
                  <a:schemeClr val="bg1"/>
                </a:solidFill>
              </a:rPr>
              <a:t>高斯消元法</a:t>
            </a:r>
          </a:p>
        </p:txBody>
      </p:sp>
      <p:sp>
        <p:nvSpPr>
          <p:cNvPr id="80" name="箭头: 右 79">
            <a:extLst>
              <a:ext uri="{FF2B5EF4-FFF2-40B4-BE49-F238E27FC236}">
                <a16:creationId xmlns:a16="http://schemas.microsoft.com/office/drawing/2014/main" id="{5601E01D-69B9-4B4A-B3A9-30428957B18C}"/>
              </a:ext>
            </a:extLst>
          </p:cNvPr>
          <p:cNvSpPr/>
          <p:nvPr/>
        </p:nvSpPr>
        <p:spPr bwMode="auto">
          <a:xfrm rot="10800000">
            <a:off x="1963453" y="2845785"/>
            <a:ext cx="880355" cy="113236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1" name="箭头: 右 80">
            <a:extLst>
              <a:ext uri="{FF2B5EF4-FFF2-40B4-BE49-F238E27FC236}">
                <a16:creationId xmlns:a16="http://schemas.microsoft.com/office/drawing/2014/main" id="{344B5094-A72C-45CB-84FA-0494293096ED}"/>
              </a:ext>
            </a:extLst>
          </p:cNvPr>
          <p:cNvSpPr/>
          <p:nvPr/>
        </p:nvSpPr>
        <p:spPr bwMode="auto">
          <a:xfrm rot="13280031">
            <a:off x="4519167" y="2550867"/>
            <a:ext cx="392924" cy="133838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D184B2A-4006-4EBB-8357-C96DFBCCE7F4}"/>
              </a:ext>
            </a:extLst>
          </p:cNvPr>
          <p:cNvSpPr txBox="1"/>
          <p:nvPr/>
        </p:nvSpPr>
        <p:spPr>
          <a:xfrm>
            <a:off x="6473936" y="2755099"/>
            <a:ext cx="72327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左除法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4297D3B-9AE3-41D9-8FF7-BCC9FB1F92CF}"/>
              </a:ext>
            </a:extLst>
          </p:cNvPr>
          <p:cNvSpPr txBox="1"/>
          <p:nvPr/>
        </p:nvSpPr>
        <p:spPr>
          <a:xfrm>
            <a:off x="4853521" y="2768029"/>
            <a:ext cx="777714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</a:t>
            </a:r>
            <a:r>
              <a:rPr lang="zh-CN" altLang="en-US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2D879EB9-0E3B-4202-8B9C-CBBF62C2BF30}"/>
              </a:ext>
            </a:extLst>
          </p:cNvPr>
          <p:cNvSpPr/>
          <p:nvPr/>
        </p:nvSpPr>
        <p:spPr bwMode="auto">
          <a:xfrm>
            <a:off x="4073407" y="2852415"/>
            <a:ext cx="726493" cy="124206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2F68988-09A3-4ACD-814A-AD581486A504}"/>
              </a:ext>
            </a:extLst>
          </p:cNvPr>
          <p:cNvSpPr/>
          <p:nvPr/>
        </p:nvSpPr>
        <p:spPr bwMode="auto">
          <a:xfrm>
            <a:off x="1215149" y="2576731"/>
            <a:ext cx="6280710" cy="565042"/>
          </a:xfrm>
          <a:prstGeom prst="ellipse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E797-2EB9-4A94-A80E-CC03BDA72990}"/>
              </a:ext>
            </a:extLst>
          </p:cNvPr>
          <p:cNvSpPr/>
          <p:nvPr/>
        </p:nvSpPr>
        <p:spPr>
          <a:xfrm>
            <a:off x="3121224" y="3839138"/>
            <a:ext cx="6730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003B76"/>
                </a:highlight>
                <a:latin typeface="Arial" pitchFamily="34" charset="0"/>
                <a:ea typeface="隶书" pitchFamily="49" charset="-122"/>
              </a:rPr>
              <a:t>回代法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AE73EE67-C864-40E5-8D1D-CAD4C0641D3F}"/>
              </a:ext>
            </a:extLst>
          </p:cNvPr>
          <p:cNvSpPr/>
          <p:nvPr/>
        </p:nvSpPr>
        <p:spPr bwMode="auto">
          <a:xfrm rot="18728727">
            <a:off x="1556979" y="3063566"/>
            <a:ext cx="259526" cy="221555"/>
          </a:xfrm>
          <a:prstGeom prst="rightArrow">
            <a:avLst/>
          </a:prstGeom>
          <a:noFill/>
          <a:ln>
            <a:solidFill>
              <a:srgbClr val="0070C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46E73336-C951-4F31-B0DB-3EABD35BEAA0}"/>
              </a:ext>
            </a:extLst>
          </p:cNvPr>
          <p:cNvSpPr/>
          <p:nvPr/>
        </p:nvSpPr>
        <p:spPr bwMode="auto">
          <a:xfrm rot="18728727">
            <a:off x="4833463" y="3114729"/>
            <a:ext cx="259526" cy="221555"/>
          </a:xfrm>
          <a:prstGeom prst="rightArrow">
            <a:avLst/>
          </a:prstGeom>
          <a:noFill/>
          <a:ln>
            <a:solidFill>
              <a:srgbClr val="0070C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0426851-F51C-437C-8F8C-DD7207F186ED}"/>
              </a:ext>
            </a:extLst>
          </p:cNvPr>
          <p:cNvSpPr txBox="1"/>
          <p:nvPr/>
        </p:nvSpPr>
        <p:spPr>
          <a:xfrm>
            <a:off x="5824825" y="2366775"/>
            <a:ext cx="114712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dist"/>
            <a:r>
              <a:rPr lang="en-US" altLang="zh-CN" dirty="0" err="1">
                <a:solidFill>
                  <a:schemeClr val="bg1"/>
                </a:solidFill>
              </a:rPr>
              <a:t>linsolve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9" name="箭头: 右 88">
            <a:extLst>
              <a:ext uri="{FF2B5EF4-FFF2-40B4-BE49-F238E27FC236}">
                <a16:creationId xmlns:a16="http://schemas.microsoft.com/office/drawing/2014/main" id="{CED13E6D-F850-4092-B3C8-860B751181D9}"/>
              </a:ext>
            </a:extLst>
          </p:cNvPr>
          <p:cNvSpPr/>
          <p:nvPr/>
        </p:nvSpPr>
        <p:spPr bwMode="auto">
          <a:xfrm>
            <a:off x="5650006" y="2878133"/>
            <a:ext cx="726493" cy="124206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>
            <a:solidFill>
              <a:srgbClr val="002060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" grpId="0"/>
      <p:bldP spid="9" grpId="0"/>
      <p:bldP spid="10" grpId="0"/>
      <p:bldP spid="11" grpId="0" animBg="1"/>
      <p:bldP spid="12" grpId="0" animBg="1"/>
      <p:bldP spid="14" grpId="0" animBg="1"/>
      <p:bldP spid="15" grpId="0"/>
      <p:bldP spid="16" grpId="0" animBg="1"/>
      <p:bldP spid="17" grpId="0"/>
      <p:bldP spid="19" grpId="0"/>
      <p:bldP spid="31" grpId="0" animBg="1"/>
      <p:bldP spid="32" grpId="0"/>
      <p:bldP spid="34" grpId="0"/>
      <p:bldP spid="35" grpId="0" animBg="1"/>
      <p:bldP spid="41" grpId="0" animBg="1"/>
      <p:bldP spid="44" grpId="0" animBg="1"/>
      <p:bldP spid="45" grpId="0" animBg="1"/>
      <p:bldP spid="52" grpId="0" animBg="1"/>
      <p:bldP spid="36" grpId="0" animBg="1"/>
      <p:bldP spid="60" grpId="0"/>
      <p:bldP spid="61" grpId="0"/>
      <p:bldP spid="64" grpId="0"/>
      <p:bldP spid="65" grpId="0" animBg="1"/>
      <p:bldP spid="69" grpId="0" animBg="1"/>
      <p:bldP spid="71" grpId="0" animBg="1"/>
      <p:bldP spid="87" grpId="0" animBg="1"/>
      <p:bldP spid="88" grpId="0" animBg="1"/>
      <p:bldP spid="78" grpId="0"/>
      <p:bldP spid="53" grpId="0" animBg="1"/>
      <p:bldP spid="67" grpId="0" animBg="1"/>
      <p:bldP spid="72" grpId="0" animBg="1"/>
      <p:bldP spid="76" grpId="0" animBg="1"/>
      <p:bldP spid="80" grpId="0" animBg="1"/>
      <p:bldP spid="81" grpId="0" animBg="1"/>
      <p:bldP spid="58" grpId="0" animBg="1"/>
      <p:bldP spid="68" grpId="0" animBg="1"/>
      <p:bldP spid="70" grpId="0" animBg="1"/>
      <p:bldP spid="18" grpId="0"/>
      <p:bldP spid="83" grpId="0" animBg="1"/>
      <p:bldP spid="84" grpId="0" animBg="1"/>
      <p:bldP spid="79" grpId="0" animBg="1"/>
      <p:bldP spid="8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4D34B56-24A0-4653-B55A-24A557900B82}"/>
              </a:ext>
            </a:extLst>
          </p:cNvPr>
          <p:cNvSpPr/>
          <p:nvPr/>
        </p:nvSpPr>
        <p:spPr>
          <a:xfrm>
            <a:off x="1080771" y="680399"/>
            <a:ext cx="6392335" cy="3527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薄壁铁板热传导问题，该板周边温度已知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求板中心温度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3CB261-52DC-4F48-8DAD-1B8BD5E963C5}"/>
              </a:ext>
            </a:extLst>
          </p:cNvPr>
          <p:cNvSpPr/>
          <p:nvPr/>
        </p:nvSpPr>
        <p:spPr>
          <a:xfrm>
            <a:off x="3901395" y="1858959"/>
            <a:ext cx="2573020" cy="1077218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Ta=(10+20+Tb+Tc)/4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Tb=(20+40+Ta+Td)/4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Tc=(10+30+Ta+Td)/4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Td=(30+40+Tb+Tc)/4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65EA74-9283-4A81-A817-E3CE2DF7F2A1}"/>
              </a:ext>
            </a:extLst>
          </p:cNvPr>
          <p:cNvSpPr txBox="1"/>
          <p:nvPr/>
        </p:nvSpPr>
        <p:spPr>
          <a:xfrm>
            <a:off x="3876059" y="1186103"/>
            <a:ext cx="3482967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各点温度为其上下左右各点温度平均值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T,</a:t>
            </a:r>
          </a:p>
          <a:p>
            <a:pPr>
              <a:lnSpc>
                <a:spcPts val="2500"/>
              </a:lnSpc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个心部节点列出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个方程构成线性方程组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C3453CD-AE35-4940-8D97-6D21C6E129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245807"/>
              </p:ext>
            </p:extLst>
          </p:nvPr>
        </p:nvGraphicFramePr>
        <p:xfrm>
          <a:off x="6475244" y="1899728"/>
          <a:ext cx="2140332" cy="926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8" r:id="rId4" imgW="68884800" imgH="21945600" progId="">
                  <p:embed/>
                </p:oleObj>
              </mc:Choice>
              <mc:Fallback>
                <p:oleObj r:id="rId4" imgW="68884800" imgH="21945600" progId="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C3453CD-AE35-4940-8D97-6D21C6E129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244" y="1899728"/>
                        <a:ext cx="2140332" cy="9265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40E59199-A3E7-4E20-B9EA-9D149C06E096}"/>
              </a:ext>
            </a:extLst>
          </p:cNvPr>
          <p:cNvSpPr txBox="1"/>
          <p:nvPr/>
        </p:nvSpPr>
        <p:spPr>
          <a:xfrm>
            <a:off x="6250292" y="747788"/>
            <a:ext cx="920521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热守恒</a:t>
            </a:r>
          </a:p>
        </p:txBody>
      </p:sp>
      <p:sp>
        <p:nvSpPr>
          <p:cNvPr id="26" name="波形 25">
            <a:extLst>
              <a:ext uri="{FF2B5EF4-FFF2-40B4-BE49-F238E27FC236}">
                <a16:creationId xmlns:a16="http://schemas.microsoft.com/office/drawing/2014/main" id="{244CD99D-0748-4F1A-82E0-8D03A81163EB}"/>
              </a:ext>
            </a:extLst>
          </p:cNvPr>
          <p:cNvSpPr/>
          <p:nvPr/>
        </p:nvSpPr>
        <p:spPr>
          <a:xfrm>
            <a:off x="326540" y="696652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6308A61-0210-422A-98CA-6D2BE4E01E40}"/>
              </a:ext>
            </a:extLst>
          </p:cNvPr>
          <p:cNvSpPr txBox="1"/>
          <p:nvPr/>
        </p:nvSpPr>
        <p:spPr>
          <a:xfrm>
            <a:off x="1009271" y="976742"/>
            <a:ext cx="5493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铁板均匀划分网格，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方向各等分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份，得到心部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F61A664-5A45-4196-999A-92C7E3C592AB}"/>
              </a:ext>
            </a:extLst>
          </p:cNvPr>
          <p:cNvSpPr txBox="1"/>
          <p:nvPr/>
        </p:nvSpPr>
        <p:spPr>
          <a:xfrm>
            <a:off x="1248323" y="90831"/>
            <a:ext cx="7261723" cy="492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 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系数方阵的方程组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采用不同方法求解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A49AAFA-3D30-4FFF-9A27-2CFA94CA8B59}"/>
              </a:ext>
            </a:extLst>
          </p:cNvPr>
          <p:cNvSpPr/>
          <p:nvPr/>
        </p:nvSpPr>
        <p:spPr>
          <a:xfrm>
            <a:off x="2681227" y="22117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100433-1A5B-4C66-B9A0-A190C7260778}"/>
              </a:ext>
            </a:extLst>
          </p:cNvPr>
          <p:cNvSpPr/>
          <p:nvPr/>
        </p:nvSpPr>
        <p:spPr>
          <a:xfrm>
            <a:off x="3085234" y="159190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D941B6-02D7-4945-B39D-517C4F8D2461}"/>
              </a:ext>
            </a:extLst>
          </p:cNvPr>
          <p:cNvSpPr/>
          <p:nvPr/>
        </p:nvSpPr>
        <p:spPr>
          <a:xfrm>
            <a:off x="601663" y="175186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1793AA-783E-47C7-9711-BE3F5574CA23}"/>
              </a:ext>
            </a:extLst>
          </p:cNvPr>
          <p:cNvSpPr/>
          <p:nvPr/>
        </p:nvSpPr>
        <p:spPr>
          <a:xfrm>
            <a:off x="596583" y="231934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033228-869A-4614-81F6-9CE2681A7098}"/>
              </a:ext>
            </a:extLst>
          </p:cNvPr>
          <p:cNvSpPr/>
          <p:nvPr/>
        </p:nvSpPr>
        <p:spPr>
          <a:xfrm>
            <a:off x="1923438" y="151147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B9916C4-BDDE-49A2-82C2-82151C81EA45}"/>
              </a:ext>
            </a:extLst>
          </p:cNvPr>
          <p:cNvSpPr/>
          <p:nvPr/>
        </p:nvSpPr>
        <p:spPr>
          <a:xfrm>
            <a:off x="2378848" y="276241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82F7BCD-2639-44A4-9F9D-371AD2951881}"/>
              </a:ext>
            </a:extLst>
          </p:cNvPr>
          <p:cNvSpPr/>
          <p:nvPr/>
        </p:nvSpPr>
        <p:spPr>
          <a:xfrm>
            <a:off x="1440292" y="2739669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194FD20B-653B-424D-BD8A-786763DF02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98" t="16351" r="63649" b="15834"/>
          <a:stretch/>
        </p:blipFill>
        <p:spPr>
          <a:xfrm>
            <a:off x="1050187" y="1334691"/>
            <a:ext cx="1991953" cy="1455366"/>
          </a:xfrm>
          <a:prstGeom prst="rect">
            <a:avLst/>
          </a:prstGeom>
        </p:spPr>
      </p:pic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1675F59-9183-40EF-B9BD-878D19CFC066}"/>
              </a:ext>
            </a:extLst>
          </p:cNvPr>
          <p:cNvCxnSpPr>
            <a:cxnSpLocks/>
            <a:stCxn id="40" idx="1"/>
          </p:cNvCxnSpPr>
          <p:nvPr/>
        </p:nvCxnSpPr>
        <p:spPr bwMode="auto">
          <a:xfrm flipH="1" flipV="1">
            <a:off x="1015660" y="1756964"/>
            <a:ext cx="2069574" cy="4222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4DCEB09-F844-4C30-9672-46136550422F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0187" y="2355726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4B6E6D7-4295-46FF-B0FD-0FA9F2F9898C}"/>
              </a:ext>
            </a:extLst>
          </p:cNvPr>
          <p:cNvCxnSpPr>
            <a:cxnSpLocks/>
          </p:cNvCxnSpPr>
          <p:nvPr/>
        </p:nvCxnSpPr>
        <p:spPr bwMode="auto">
          <a:xfrm>
            <a:off x="1641289" y="1347614"/>
            <a:ext cx="0" cy="1414796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EB9656D-3E70-4FD9-8D39-F80BDB29EDC9}"/>
              </a:ext>
            </a:extLst>
          </p:cNvPr>
          <p:cNvCxnSpPr>
            <a:cxnSpLocks/>
          </p:cNvCxnSpPr>
          <p:nvPr/>
        </p:nvCxnSpPr>
        <p:spPr bwMode="auto">
          <a:xfrm>
            <a:off x="2497676" y="1292141"/>
            <a:ext cx="27695" cy="1470269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0C1750E0-4333-44FC-ABE7-731D71C2BFB5}"/>
              </a:ext>
            </a:extLst>
          </p:cNvPr>
          <p:cNvSpPr/>
          <p:nvPr/>
        </p:nvSpPr>
        <p:spPr>
          <a:xfrm>
            <a:off x="2361591" y="2185227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CCBB4C3-E944-4999-92DC-94ACBB8E7B1D}"/>
              </a:ext>
            </a:extLst>
          </p:cNvPr>
          <p:cNvSpPr/>
          <p:nvPr/>
        </p:nvSpPr>
        <p:spPr>
          <a:xfrm>
            <a:off x="3068961" y="2175949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55AB0F0-6414-435B-BBC6-6258AF94A65A}"/>
              </a:ext>
            </a:extLst>
          </p:cNvPr>
          <p:cNvSpPr/>
          <p:nvPr/>
        </p:nvSpPr>
        <p:spPr>
          <a:xfrm>
            <a:off x="1472554" y="2151230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45D9096-AA15-48DE-ABD5-7C616B5C0A56}"/>
              </a:ext>
            </a:extLst>
          </p:cNvPr>
          <p:cNvSpPr/>
          <p:nvPr/>
        </p:nvSpPr>
        <p:spPr>
          <a:xfrm>
            <a:off x="1497127" y="1685408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EC32578-51EA-4CA7-B2F5-3DA9F80D9576}"/>
              </a:ext>
            </a:extLst>
          </p:cNvPr>
          <p:cNvSpPr/>
          <p:nvPr/>
        </p:nvSpPr>
        <p:spPr>
          <a:xfrm>
            <a:off x="2345039" y="164084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B9E3C95-B03C-41D8-A09C-C61F3567CA13}"/>
              </a:ext>
            </a:extLst>
          </p:cNvPr>
          <p:cNvSpPr/>
          <p:nvPr/>
        </p:nvSpPr>
        <p:spPr>
          <a:xfrm>
            <a:off x="1460679" y="119430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691E8CB-A214-45B6-8DDD-DAF764CDCD7B}"/>
              </a:ext>
            </a:extLst>
          </p:cNvPr>
          <p:cNvSpPr/>
          <p:nvPr/>
        </p:nvSpPr>
        <p:spPr>
          <a:xfrm>
            <a:off x="2327454" y="1187983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2E08D37-676D-4F8F-B067-4A43ED8CE87B}"/>
              </a:ext>
            </a:extLst>
          </p:cNvPr>
          <p:cNvSpPr txBox="1"/>
          <p:nvPr/>
        </p:nvSpPr>
        <p:spPr>
          <a:xfrm>
            <a:off x="1014933" y="2979152"/>
            <a:ext cx="7429199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>
              <a:lnSpc>
                <a:spcPts val="2200"/>
              </a:lnSpc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某城市单行线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车流量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，图中标明每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段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每小时按箭头方向行驶车流量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辆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). </a:t>
            </a:r>
            <a:endParaRPr lang="zh-CN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9" name="Group 4">
            <a:extLst>
              <a:ext uri="{FF2B5EF4-FFF2-40B4-BE49-F238E27FC236}">
                <a16:creationId xmlns:a16="http://schemas.microsoft.com/office/drawing/2014/main" id="{AA972CDB-C906-4848-B6C3-2F65031E2D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7009" y="3144046"/>
            <a:ext cx="2640330" cy="1981200"/>
            <a:chOff x="3879" y="2063"/>
            <a:chExt cx="4159" cy="3120"/>
          </a:xfrm>
        </p:grpSpPr>
        <p:sp>
          <p:nvSpPr>
            <p:cNvPr id="80" name="AutoShape 29">
              <a:extLst>
                <a:ext uri="{FF2B5EF4-FFF2-40B4-BE49-F238E27FC236}">
                  <a16:creationId xmlns:a16="http://schemas.microsoft.com/office/drawing/2014/main" id="{EF76C730-0A39-4951-BDB4-4FE4E2D363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Text Box 28">
              <a:extLst>
                <a:ext uri="{FF2B5EF4-FFF2-40B4-BE49-F238E27FC236}">
                  <a16:creationId xmlns:a16="http://schemas.microsoft.com/office/drawing/2014/main" id="{3C92FB6A-C383-4943-B77A-821697BB4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Oval 27">
              <a:extLst>
                <a:ext uri="{FF2B5EF4-FFF2-40B4-BE49-F238E27FC236}">
                  <a16:creationId xmlns:a16="http://schemas.microsoft.com/office/drawing/2014/main" id="{7E85BA1D-3267-4360-9A48-5CDDE7CFF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83" name="Oval 26">
              <a:extLst>
                <a:ext uri="{FF2B5EF4-FFF2-40B4-BE49-F238E27FC236}">
                  <a16:creationId xmlns:a16="http://schemas.microsoft.com/office/drawing/2014/main" id="{4906572B-2EB6-401B-9677-DD754612F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4" name="Oval 25">
              <a:extLst>
                <a:ext uri="{FF2B5EF4-FFF2-40B4-BE49-F238E27FC236}">
                  <a16:creationId xmlns:a16="http://schemas.microsoft.com/office/drawing/2014/main" id="{0AF5407E-1C7E-46E7-81ED-F0360C565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5" name="Oval 24">
              <a:extLst>
                <a:ext uri="{FF2B5EF4-FFF2-40B4-BE49-F238E27FC236}">
                  <a16:creationId xmlns:a16="http://schemas.microsoft.com/office/drawing/2014/main" id="{8453B1E8-4B37-4E65-A5BB-ACDA9351C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162984A9-A26E-4238-BC32-FCEB12C64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D031B166-FE16-4D80-A132-D5FE8F63B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20A6D8E5-EB49-42D2-B2E2-50D7AA13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3AE8826B-62CA-44D3-A0A3-B14CF667E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C9A375E0-564C-485C-BE74-F42B092C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1B5D9C89-E6BA-4C72-9B2D-85069C032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265AF5D3-5BF6-4147-B3FA-86FDCA52E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A945B3A9-F194-452D-B0E8-5C794BBF9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BBF4DBEA-087D-4A51-8135-B3E6E6278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EAE51B68-AC0B-4568-9255-C012879F4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Text Box 13">
              <a:extLst>
                <a:ext uri="{FF2B5EF4-FFF2-40B4-BE49-F238E27FC236}">
                  <a16:creationId xmlns:a16="http://schemas.microsoft.com/office/drawing/2014/main" id="{2E88E38F-4627-4109-9678-37186C56A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Text Box 12">
              <a:extLst>
                <a:ext uri="{FF2B5EF4-FFF2-40B4-BE49-F238E27FC236}">
                  <a16:creationId xmlns:a16="http://schemas.microsoft.com/office/drawing/2014/main" id="{27DB02C9-8EBF-476D-A48E-A46FF3991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Text Box 11">
              <a:extLst>
                <a:ext uri="{FF2B5EF4-FFF2-40B4-BE49-F238E27FC236}">
                  <a16:creationId xmlns:a16="http://schemas.microsoft.com/office/drawing/2014/main" id="{E72898AB-76F0-477F-875D-8C2F5800F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Text Box 10">
              <a:extLst>
                <a:ext uri="{FF2B5EF4-FFF2-40B4-BE49-F238E27FC236}">
                  <a16:creationId xmlns:a16="http://schemas.microsoft.com/office/drawing/2014/main" id="{B19E3D82-BC75-44D2-9E30-5D7FC2060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Text Box 9">
              <a:extLst>
                <a:ext uri="{FF2B5EF4-FFF2-40B4-BE49-F238E27FC236}">
                  <a16:creationId xmlns:a16="http://schemas.microsoft.com/office/drawing/2014/main" id="{4C98BF3C-CC11-4C3B-92C3-DEDF3540D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Text Box 8">
              <a:extLst>
                <a:ext uri="{FF2B5EF4-FFF2-40B4-BE49-F238E27FC236}">
                  <a16:creationId xmlns:a16="http://schemas.microsoft.com/office/drawing/2014/main" id="{99C8A54F-30CB-4ADF-AEE1-B64B9878B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Text Box 7">
              <a:extLst>
                <a:ext uri="{FF2B5EF4-FFF2-40B4-BE49-F238E27FC236}">
                  <a16:creationId xmlns:a16="http://schemas.microsoft.com/office/drawing/2014/main" id="{D7280436-2F37-4484-992D-7B5C09AA5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Text Box 6">
              <a:extLst>
                <a:ext uri="{FF2B5EF4-FFF2-40B4-BE49-F238E27FC236}">
                  <a16:creationId xmlns:a16="http://schemas.microsoft.com/office/drawing/2014/main" id="{91DC27DD-E777-41A7-8324-C3BF5309E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Text Box 5">
              <a:extLst>
                <a:ext uri="{FF2B5EF4-FFF2-40B4-BE49-F238E27FC236}">
                  <a16:creationId xmlns:a16="http://schemas.microsoft.com/office/drawing/2014/main" id="{63450814-914E-4B02-8347-1C9BCA6FD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4F818D-36E6-45F2-BE4F-4E834111EEF3}"/>
                  </a:ext>
                </a:extLst>
              </p:cNvPr>
              <p:cNvSpPr txBox="1"/>
              <p:nvPr/>
            </p:nvSpPr>
            <p:spPr>
              <a:xfrm>
                <a:off x="4903125" y="3684472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i="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+ 300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100 + 200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baseline="-250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4F818D-36E6-45F2-BE4F-4E834111E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125" y="3684472"/>
                <a:ext cx="2171353" cy="733534"/>
              </a:xfrm>
              <a:prstGeom prst="rect">
                <a:avLst/>
              </a:prstGeom>
              <a:blipFill>
                <a:blip r:embed="rId7"/>
                <a:stretch>
                  <a:fillRect t="-22314" b="-28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本框 105">
            <a:extLst>
              <a:ext uri="{FF2B5EF4-FFF2-40B4-BE49-F238E27FC236}">
                <a16:creationId xmlns:a16="http://schemas.microsoft.com/office/drawing/2014/main" id="{7790B52E-E6E8-401D-A69F-C62F04F2ED0B}"/>
              </a:ext>
            </a:extLst>
          </p:cNvPr>
          <p:cNvSpPr txBox="1"/>
          <p:nvPr/>
        </p:nvSpPr>
        <p:spPr>
          <a:xfrm>
            <a:off x="3388136" y="3350952"/>
            <a:ext cx="1491049" cy="124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en-US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④四个路口</a:t>
            </a:r>
            <a:r>
              <a:rPr lang="en-US" altLang="zh-CN" sz="14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lnSpc>
                <a:spcPts val="2300"/>
              </a:lnSpc>
            </a:pPr>
            <a:r>
              <a:rPr lang="zh-CN" altLang="en-US" sz="1400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驶入车辆数等于驶出车辆数</a:t>
            </a:r>
            <a:endParaRPr lang="zh-CN" altLang="zh-CN" sz="1400" kern="1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波形 106">
            <a:extLst>
              <a:ext uri="{FF2B5EF4-FFF2-40B4-BE49-F238E27FC236}">
                <a16:creationId xmlns:a16="http://schemas.microsoft.com/office/drawing/2014/main" id="{BCD1F36F-BC51-4B7B-9181-78F0AE89150E}"/>
              </a:ext>
            </a:extLst>
          </p:cNvPr>
          <p:cNvSpPr/>
          <p:nvPr/>
        </p:nvSpPr>
        <p:spPr>
          <a:xfrm>
            <a:off x="259549" y="3003714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9B40265-4B84-4C24-957C-494590BA7C75}"/>
              </a:ext>
            </a:extLst>
          </p:cNvPr>
          <p:cNvSpPr txBox="1"/>
          <p:nvPr/>
        </p:nvSpPr>
        <p:spPr>
          <a:xfrm>
            <a:off x="7869136" y="3006657"/>
            <a:ext cx="1055301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数量守恒</a:t>
            </a:r>
          </a:p>
        </p:txBody>
      </p:sp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534B14CF-2882-4D59-A1FC-1235197FC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32893"/>
              </p:ext>
            </p:extLst>
          </p:nvPr>
        </p:nvGraphicFramePr>
        <p:xfrm>
          <a:off x="7138009" y="3451225"/>
          <a:ext cx="183038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9" r:id="rId8" imgW="1549400" imgH="939800" progId="Equation.DSMT4">
                  <p:embed/>
                </p:oleObj>
              </mc:Choice>
              <mc:Fallback>
                <p:oleObj r:id="rId8" imgW="1549400" imgH="93980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534B14CF-2882-4D59-A1FC-1235197FC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009" y="3451225"/>
                        <a:ext cx="1830387" cy="11096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909C35F6-9DDC-4012-8D46-CEC69A2C8DD0}"/>
              </a:ext>
            </a:extLst>
          </p:cNvPr>
          <p:cNvSpPr/>
          <p:nvPr/>
        </p:nvSpPr>
        <p:spPr>
          <a:xfrm>
            <a:off x="7889988" y="723609"/>
            <a:ext cx="1055301" cy="33855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highlight>
                  <a:srgbClr val="80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个变量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21729FE-8F33-4151-BBD9-7901A28733C5}"/>
              </a:ext>
            </a:extLst>
          </p:cNvPr>
          <p:cNvSpPr/>
          <p:nvPr/>
        </p:nvSpPr>
        <p:spPr>
          <a:xfrm>
            <a:off x="7884368" y="1081068"/>
            <a:ext cx="1053459" cy="33855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highlight>
                  <a:srgbClr val="80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个方程</a:t>
            </a:r>
          </a:p>
        </p:txBody>
      </p:sp>
    </p:spTree>
    <p:extLst>
      <p:ext uri="{BB962C8B-B14F-4D97-AF65-F5344CB8AC3E}">
        <p14:creationId xmlns:p14="http://schemas.microsoft.com/office/powerpoint/2010/main" val="362124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78" grpId="0"/>
      <p:bldP spid="105" grpId="0" animBg="1"/>
      <p:bldP spid="106" grpId="0"/>
      <p:bldP spid="107" grpId="0" animBg="1"/>
      <p:bldP spid="108" grpId="0" animBg="1"/>
      <p:bldP spid="110" grpId="0" animBg="1"/>
      <p:bldP spid="1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4D34B56-24A0-4653-B55A-24A557900B82}"/>
              </a:ext>
            </a:extLst>
          </p:cNvPr>
          <p:cNvSpPr/>
          <p:nvPr/>
        </p:nvSpPr>
        <p:spPr>
          <a:xfrm>
            <a:off x="272523" y="719829"/>
            <a:ext cx="3651406" cy="9231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薄壁铁板热传导问题，该板周边温度已知，分别为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度，求板中心温度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3CB261-52DC-4F48-8DAD-1B8BD5E963C5}"/>
              </a:ext>
            </a:extLst>
          </p:cNvPr>
          <p:cNvSpPr/>
          <p:nvPr/>
        </p:nvSpPr>
        <p:spPr>
          <a:xfrm>
            <a:off x="4229046" y="1438762"/>
            <a:ext cx="2573020" cy="1077218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Ta=(10+20+Tb+Tc)/4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Tb=(20+40+Ta+Td)/4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Tc=(10+30+Ta+Td)/4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Td=(30+40+Tb+Tc)/4</a:t>
            </a:r>
            <a:endParaRPr lang="ko-KR" altLang="en-US" sz="16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B09AB6BA-AFA2-45BE-A429-BF48EDF1588F}"/>
              </a:ext>
            </a:extLst>
          </p:cNvPr>
          <p:cNvSpPr/>
          <p:nvPr/>
        </p:nvSpPr>
        <p:spPr>
          <a:xfrm>
            <a:off x="4007574" y="1347614"/>
            <a:ext cx="293370" cy="11591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65EA74-9283-4A81-A817-E3CE2DF7F2A1}"/>
              </a:ext>
            </a:extLst>
          </p:cNvPr>
          <p:cNvSpPr txBox="1"/>
          <p:nvPr/>
        </p:nvSpPr>
        <p:spPr>
          <a:xfrm>
            <a:off x="4591937" y="686167"/>
            <a:ext cx="4811050" cy="683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7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个心部节点列出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个方程构成线性方程组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C3453CD-AE35-4940-8D97-6D21C6E129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259990"/>
              </p:ext>
            </p:extLst>
          </p:nvPr>
        </p:nvGraphicFramePr>
        <p:xfrm>
          <a:off x="6651025" y="1465711"/>
          <a:ext cx="2241455" cy="970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0" r:id="rId4" imgW="68884800" imgH="21945600" progId="">
                  <p:embed/>
                </p:oleObj>
              </mc:Choice>
              <mc:Fallback>
                <p:oleObj r:id="rId4" imgW="68884800" imgH="21945600" progId="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BFC64D9D-BDED-47B7-B167-29AC17203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025" y="1465711"/>
                        <a:ext cx="2241455" cy="97028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40E59199-A3E7-4E20-B9EA-9D149C06E096}"/>
              </a:ext>
            </a:extLst>
          </p:cNvPr>
          <p:cNvSpPr txBox="1"/>
          <p:nvPr/>
        </p:nvSpPr>
        <p:spPr>
          <a:xfrm>
            <a:off x="2725353" y="1444780"/>
            <a:ext cx="920521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热守恒</a:t>
            </a:r>
          </a:p>
        </p:txBody>
      </p:sp>
      <p:sp>
        <p:nvSpPr>
          <p:cNvPr id="26" name="波形 25">
            <a:extLst>
              <a:ext uri="{FF2B5EF4-FFF2-40B4-BE49-F238E27FC236}">
                <a16:creationId xmlns:a16="http://schemas.microsoft.com/office/drawing/2014/main" id="{244CD99D-0748-4F1A-82E0-8D03A81163EB}"/>
              </a:ext>
            </a:extLst>
          </p:cNvPr>
          <p:cNvSpPr/>
          <p:nvPr/>
        </p:nvSpPr>
        <p:spPr>
          <a:xfrm>
            <a:off x="58111" y="381460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3DE242-CF02-49F6-A5B2-356C95111A20}"/>
              </a:ext>
            </a:extLst>
          </p:cNvPr>
          <p:cNvSpPr txBox="1"/>
          <p:nvPr/>
        </p:nvSpPr>
        <p:spPr>
          <a:xfrm>
            <a:off x="899592" y="47196"/>
            <a:ext cx="8163536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789CA8-7107-4E02-B163-E8A3B76CDBE7}"/>
              </a:ext>
            </a:extLst>
          </p:cNvPr>
          <p:cNvSpPr/>
          <p:nvPr/>
        </p:nvSpPr>
        <p:spPr>
          <a:xfrm>
            <a:off x="2334267" y="2931790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D95295-E0D3-4B3A-A295-92E6BD728196}"/>
              </a:ext>
            </a:extLst>
          </p:cNvPr>
          <p:cNvSpPr/>
          <p:nvPr/>
        </p:nvSpPr>
        <p:spPr>
          <a:xfrm>
            <a:off x="2338885" y="3490773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65EEE7-123C-4D1B-A6CD-CDE6DB193182}"/>
              </a:ext>
            </a:extLst>
          </p:cNvPr>
          <p:cNvSpPr/>
          <p:nvPr/>
        </p:nvSpPr>
        <p:spPr>
          <a:xfrm>
            <a:off x="3084688" y="247194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6308A61-0210-422A-98CA-6D2BE4E01E40}"/>
              </a:ext>
            </a:extLst>
          </p:cNvPr>
          <p:cNvSpPr txBox="1"/>
          <p:nvPr/>
        </p:nvSpPr>
        <p:spPr>
          <a:xfrm>
            <a:off x="285180" y="4063934"/>
            <a:ext cx="325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铁板均匀划分网格，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方向各等分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份，得到心部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sz="1400" dirty="0"/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29C17CD5-B1E5-4A53-B4FF-32EF43CB0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352280"/>
              </p:ext>
            </p:extLst>
          </p:nvPr>
        </p:nvGraphicFramePr>
        <p:xfrm>
          <a:off x="674060" y="2032742"/>
          <a:ext cx="2427243" cy="17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592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92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592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8F053E2E-F5F8-4D3A-BA37-A0AE9176FE8D}"/>
              </a:ext>
            </a:extLst>
          </p:cNvPr>
          <p:cNvSpPr/>
          <p:nvPr/>
        </p:nvSpPr>
        <p:spPr>
          <a:xfrm>
            <a:off x="254703" y="247194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08AC53-B184-43D0-A551-F86F587FAFFD}"/>
              </a:ext>
            </a:extLst>
          </p:cNvPr>
          <p:cNvSpPr/>
          <p:nvPr/>
        </p:nvSpPr>
        <p:spPr>
          <a:xfrm>
            <a:off x="249623" y="303942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38ECF9B-02E9-405E-A33D-7F697FB6B0D9}"/>
              </a:ext>
            </a:extLst>
          </p:cNvPr>
          <p:cNvSpPr/>
          <p:nvPr/>
        </p:nvSpPr>
        <p:spPr>
          <a:xfrm>
            <a:off x="1207642" y="1641969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4585DC-4346-4EC0-9C7A-0C29E291C33F}"/>
              </a:ext>
            </a:extLst>
          </p:cNvPr>
          <p:cNvSpPr/>
          <p:nvPr/>
        </p:nvSpPr>
        <p:spPr>
          <a:xfrm>
            <a:off x="2074417" y="163564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F2FF958-80D2-4DC2-81A9-C386251C24A1}"/>
              </a:ext>
            </a:extLst>
          </p:cNvPr>
          <p:cNvSpPr/>
          <p:nvPr/>
        </p:nvSpPr>
        <p:spPr>
          <a:xfrm>
            <a:off x="1576478" y="223155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39FA167-2D1B-4264-8025-64DFF9B0F65B}"/>
              </a:ext>
            </a:extLst>
          </p:cNvPr>
          <p:cNvSpPr/>
          <p:nvPr/>
        </p:nvSpPr>
        <p:spPr>
          <a:xfrm>
            <a:off x="2156332" y="3697756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86E0B5B-10BC-4312-9878-13D1CACCFCA7}"/>
              </a:ext>
            </a:extLst>
          </p:cNvPr>
          <p:cNvSpPr/>
          <p:nvPr/>
        </p:nvSpPr>
        <p:spPr>
          <a:xfrm>
            <a:off x="1217776" y="3675015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D872D096-8C71-48C6-BED0-329EEE135D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98" t="16351" r="63649" b="15834"/>
          <a:stretch/>
        </p:blipFill>
        <p:spPr>
          <a:xfrm>
            <a:off x="673077" y="2032742"/>
            <a:ext cx="2418761" cy="1767201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550FC76A-2B3B-4430-A9B9-469803E3F42E}"/>
              </a:ext>
            </a:extLst>
          </p:cNvPr>
          <p:cNvSpPr/>
          <p:nvPr/>
        </p:nvSpPr>
        <p:spPr>
          <a:xfrm>
            <a:off x="1207639" y="2402409"/>
            <a:ext cx="585589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026F86B-9BBB-437C-A451-BBAE3A1CEAD1}"/>
              </a:ext>
            </a:extLst>
          </p:cNvPr>
          <p:cNvSpPr/>
          <p:nvPr/>
        </p:nvSpPr>
        <p:spPr>
          <a:xfrm>
            <a:off x="2044945" y="2410385"/>
            <a:ext cx="539374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27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FC0E1EB-3F13-4634-A1B8-B0C6227ADE6D}"/>
              </a:ext>
            </a:extLst>
          </p:cNvPr>
          <p:cNvCxnSpPr>
            <a:cxnSpLocks/>
            <a:endCxn id="47" idx="3"/>
          </p:cNvCxnSpPr>
          <p:nvPr/>
        </p:nvCxnSpPr>
        <p:spPr bwMode="auto">
          <a:xfrm flipH="1">
            <a:off x="644553" y="2640109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210E7A6-35B7-408C-BCF0-65F96B3B5F90}"/>
              </a:ext>
            </a:extLst>
          </p:cNvPr>
          <p:cNvCxnSpPr>
            <a:cxnSpLocks/>
          </p:cNvCxnSpPr>
          <p:nvPr/>
        </p:nvCxnSpPr>
        <p:spPr bwMode="auto">
          <a:xfrm flipH="1">
            <a:off x="703227" y="3220026"/>
            <a:ext cx="2393344" cy="110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F51CB24-5095-4CF7-8891-3B7F8BD56BD1}"/>
              </a:ext>
            </a:extLst>
          </p:cNvPr>
          <p:cNvCxnSpPr/>
          <p:nvPr/>
        </p:nvCxnSpPr>
        <p:spPr bwMode="auto">
          <a:xfrm>
            <a:off x="1409113" y="2125673"/>
            <a:ext cx="0" cy="1673141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6F32956-3480-4BF9-ABA9-CD588BD4D1F6}"/>
              </a:ext>
            </a:extLst>
          </p:cNvPr>
          <p:cNvCxnSpPr>
            <a:cxnSpLocks/>
          </p:cNvCxnSpPr>
          <p:nvPr/>
        </p:nvCxnSpPr>
        <p:spPr bwMode="auto">
          <a:xfrm>
            <a:off x="2323562" y="2067694"/>
            <a:ext cx="27695" cy="1732249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B2E20FC0-1E41-4E81-B32C-A3C040F54CD0}"/>
              </a:ext>
            </a:extLst>
          </p:cNvPr>
          <p:cNvSpPr/>
          <p:nvPr/>
        </p:nvSpPr>
        <p:spPr>
          <a:xfrm>
            <a:off x="1060189" y="2985219"/>
            <a:ext cx="716935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22.5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B60D64F-3C62-4630-B89A-E4DBFFF29A27}"/>
              </a:ext>
            </a:extLst>
          </p:cNvPr>
          <p:cNvSpPr/>
          <p:nvPr/>
        </p:nvSpPr>
        <p:spPr>
          <a:xfrm>
            <a:off x="2014016" y="2965968"/>
            <a:ext cx="716935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highlight>
                  <a:srgbClr val="F0DA04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30.0</a:t>
            </a:r>
            <a:endParaRPr lang="zh-CN" altLang="en-US" sz="2000" b="1" dirty="0">
              <a:solidFill>
                <a:srgbClr val="FF0000"/>
              </a:solidFill>
              <a:highlight>
                <a:srgbClr val="F0DA04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F8919E-502C-492E-80EA-90CC6B8007E9}"/>
              </a:ext>
            </a:extLst>
          </p:cNvPr>
          <p:cNvSpPr/>
          <p:nvPr/>
        </p:nvSpPr>
        <p:spPr>
          <a:xfrm>
            <a:off x="2050615" y="3046775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5D8CF53-6635-41F4-AF71-1ECB7461207A}"/>
              </a:ext>
            </a:extLst>
          </p:cNvPr>
          <p:cNvSpPr/>
          <p:nvPr/>
        </p:nvSpPr>
        <p:spPr>
          <a:xfrm>
            <a:off x="3068415" y="3055981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EA9058-BD02-4149-A406-28D3836E58A2}"/>
              </a:ext>
            </a:extLst>
          </p:cNvPr>
          <p:cNvSpPr/>
          <p:nvPr/>
        </p:nvSpPr>
        <p:spPr>
          <a:xfrm>
            <a:off x="1249055" y="3098040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35200D-5993-436A-81F7-5A3782BD1F5C}"/>
              </a:ext>
            </a:extLst>
          </p:cNvPr>
          <p:cNvSpPr/>
          <p:nvPr/>
        </p:nvSpPr>
        <p:spPr>
          <a:xfrm>
            <a:off x="1216567" y="2499742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036285-FF1E-4319-922A-14F6D30FF5BD}"/>
              </a:ext>
            </a:extLst>
          </p:cNvPr>
          <p:cNvSpPr/>
          <p:nvPr/>
        </p:nvSpPr>
        <p:spPr>
          <a:xfrm>
            <a:off x="2133957" y="2483871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58C72CF-90DC-4C1C-99E4-CB85272A0632}"/>
              </a:ext>
            </a:extLst>
          </p:cNvPr>
          <p:cNvSpPr txBox="1"/>
          <p:nvPr/>
        </p:nvSpPr>
        <p:spPr>
          <a:xfrm>
            <a:off x="4649440" y="636398"/>
            <a:ext cx="4413688" cy="406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各点温度为其上下左右各点温度平均值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0B842709-B15D-4271-B12C-E5142CB6E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597" y="2980630"/>
            <a:ext cx="2036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逆乘法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：</a:t>
            </a:r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A09561D9-F927-4D8F-BE34-3F97ADE3C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994" y="3077656"/>
            <a:ext cx="145861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400" dirty="0">
                <a:sym typeface="Arial" charset="0"/>
              </a:rPr>
              <a:t>x=inv(A)*b</a:t>
            </a:r>
          </a:p>
        </p:txBody>
      </p:sp>
      <p:sp>
        <p:nvSpPr>
          <p:cNvPr id="43" name="TextBox 2">
            <a:extLst>
              <a:ext uri="{FF2B5EF4-FFF2-40B4-BE49-F238E27FC236}">
                <a16:creationId xmlns:a16="http://schemas.microsoft.com/office/drawing/2014/main" id="{BF44EFF3-D720-4765-8489-D0BA091AD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799" y="3512736"/>
            <a:ext cx="73238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ym typeface="Arial" charset="0"/>
              </a:rPr>
              <a:t>x=A</a:t>
            </a:r>
            <a:r>
              <a:rPr lang="en-US" altLang="zh-CN" sz="1400" dirty="0">
                <a:sym typeface="Courier New" pitchFamily="49" charset="0"/>
              </a:rPr>
              <a:t>\</a:t>
            </a:r>
            <a:r>
              <a:rPr lang="en-US" altLang="zh-CN" sz="1400" dirty="0">
                <a:sym typeface="Arial" charset="0"/>
              </a:rPr>
              <a:t>b</a:t>
            </a:r>
            <a:endParaRPr lang="zh-CN" altLang="en-US" sz="1400" dirty="0">
              <a:sym typeface="Arial" charset="0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B731526E-6206-4EA1-A361-5CE1AE5F689A}"/>
              </a:ext>
            </a:extLst>
          </p:cNvPr>
          <p:cNvSpPr txBox="1">
            <a:spLocks noChangeArrowheads="1"/>
          </p:cNvSpPr>
          <p:nvPr/>
        </p:nvSpPr>
        <p:spPr>
          <a:xfrm>
            <a:off x="4064597" y="4290650"/>
            <a:ext cx="4197634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buFont typeface="+mj-ea"/>
              <a:buAutoNum type="circleNumDbPlain" startAt="2"/>
              <a:defRPr sz="32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9pPr>
          </a:lstStyle>
          <a:p>
            <a:pPr marL="0" indent="0">
              <a:buFont typeface="+mj-ea"/>
              <a:buAutoNum type="circleNumDbPlain" startAt="4"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阶梯形矩阵函数</a:t>
            </a:r>
            <a:r>
              <a:rPr lang="en-US" altLang="zh-CN"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3D86FD1-B376-47BB-8E70-2E42C069814C}"/>
              </a:ext>
            </a:extLst>
          </p:cNvPr>
          <p:cNvSpPr txBox="1"/>
          <p:nvPr/>
        </p:nvSpPr>
        <p:spPr>
          <a:xfrm>
            <a:off x="4052645" y="3467784"/>
            <a:ext cx="1478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 左除法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TextBox 2">
            <a:extLst>
              <a:ext uri="{FF2B5EF4-FFF2-40B4-BE49-F238E27FC236}">
                <a16:creationId xmlns:a16="http://schemas.microsoft.com/office/drawing/2014/main" id="{57BE1716-B504-48BC-ACBA-73532E21F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439" y="3844434"/>
            <a:ext cx="152878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4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FC0FD69-E11C-4A07-A066-8D31B9780449}"/>
              </a:ext>
            </a:extLst>
          </p:cNvPr>
          <p:cNvSpPr txBox="1"/>
          <p:nvPr/>
        </p:nvSpPr>
        <p:spPr>
          <a:xfrm>
            <a:off x="4064596" y="3879268"/>
            <a:ext cx="251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线性方程组求解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3B62D3A-619E-4CE0-870C-047C24DE8D86}"/>
              </a:ext>
            </a:extLst>
          </p:cNvPr>
          <p:cNvSpPr/>
          <p:nvPr/>
        </p:nvSpPr>
        <p:spPr>
          <a:xfrm>
            <a:off x="6626061" y="4290646"/>
            <a:ext cx="188353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R,P=rref([A b])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0CA20B4-1794-4922-BF02-0C323A94B0D9}"/>
              </a:ext>
            </a:extLst>
          </p:cNvPr>
          <p:cNvSpPr txBox="1"/>
          <p:nvPr/>
        </p:nvSpPr>
        <p:spPr>
          <a:xfrm>
            <a:off x="4551949" y="2552634"/>
            <a:ext cx="4511179" cy="40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恰定方程组优先采用左除法，也可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AutoShape 13">
            <a:extLst>
              <a:ext uri="{FF2B5EF4-FFF2-40B4-BE49-F238E27FC236}">
                <a16:creationId xmlns:a16="http://schemas.microsoft.com/office/drawing/2014/main" id="{2DE14FF1-6866-46AE-BD8B-6F024DDA4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879" y="2518086"/>
            <a:ext cx="1170336" cy="482118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  <a:p>
            <a:pPr algn="ctr"/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4139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65D2B6-6355-4522-BEE2-746E8945C2D4}"/>
              </a:ext>
            </a:extLst>
          </p:cNvPr>
          <p:cNvSpPr txBox="1"/>
          <p:nvPr/>
        </p:nvSpPr>
        <p:spPr>
          <a:xfrm>
            <a:off x="616010" y="56701"/>
            <a:ext cx="8477187" cy="57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§6.5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奇异矩阵线性方程组</a:t>
            </a: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46896E-B949-4532-A41E-92D7C5598F36}"/>
              </a:ext>
            </a:extLst>
          </p:cNvPr>
          <p:cNvSpPr txBox="1"/>
          <p:nvPr/>
        </p:nvSpPr>
        <p:spPr>
          <a:xfrm>
            <a:off x="666164" y="732224"/>
            <a:ext cx="87264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zh-CN" b="1" dirty="0"/>
              <a:t>某城市单行线</a:t>
            </a:r>
            <a:r>
              <a:rPr lang="zh-CN" altLang="en-US" b="1" dirty="0"/>
              <a:t>车流量</a:t>
            </a:r>
            <a:r>
              <a:rPr lang="zh-CN" altLang="zh-CN" b="1" dirty="0"/>
              <a:t>图</a:t>
            </a:r>
            <a:r>
              <a:rPr lang="zh-CN" altLang="en-US" b="1" dirty="0"/>
              <a:t>，图中标明每</a:t>
            </a:r>
            <a:r>
              <a:rPr lang="zh-CN" altLang="zh-CN" b="1" dirty="0"/>
              <a:t>段</a:t>
            </a:r>
            <a:r>
              <a:rPr lang="zh-CN" altLang="en-US" b="1" dirty="0"/>
              <a:t>路</a:t>
            </a:r>
            <a:r>
              <a:rPr lang="zh-CN" altLang="zh-CN" b="1" dirty="0"/>
              <a:t>每小时按箭头方向行驶车流量</a:t>
            </a:r>
            <a:r>
              <a:rPr lang="en-US" altLang="zh-CN" b="1" dirty="0"/>
              <a:t>( </a:t>
            </a:r>
            <a:r>
              <a:rPr lang="zh-CN" altLang="zh-CN" b="1" dirty="0"/>
              <a:t>辆</a:t>
            </a:r>
            <a:r>
              <a:rPr lang="en-US" altLang="zh-CN" b="1" dirty="0"/>
              <a:t>). </a:t>
            </a:r>
            <a:endParaRPr lang="zh-CN" altLang="zh-CN" b="1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9709C24-051D-459C-AA70-CB4A6B381A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7285" y="890339"/>
            <a:ext cx="2640330" cy="1981200"/>
            <a:chOff x="3879" y="2063"/>
            <a:chExt cx="4159" cy="3120"/>
          </a:xfrm>
        </p:grpSpPr>
        <p:sp>
          <p:nvSpPr>
            <p:cNvPr id="7" name="AutoShape 29">
              <a:extLst>
                <a:ext uri="{FF2B5EF4-FFF2-40B4-BE49-F238E27FC236}">
                  <a16:creationId xmlns:a16="http://schemas.microsoft.com/office/drawing/2014/main" id="{0A4BE593-4A74-4887-BAF9-74D14050E9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9569ACC0-1D8B-4EF5-A36C-7FB45D4CB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27">
              <a:extLst>
                <a:ext uri="{FF2B5EF4-FFF2-40B4-BE49-F238E27FC236}">
                  <a16:creationId xmlns:a16="http://schemas.microsoft.com/office/drawing/2014/main" id="{C8125666-1222-4E3C-A991-E375C420E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4258BFE0-79F2-4F23-B16B-BFA27D57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Oval 25">
              <a:extLst>
                <a:ext uri="{FF2B5EF4-FFF2-40B4-BE49-F238E27FC236}">
                  <a16:creationId xmlns:a16="http://schemas.microsoft.com/office/drawing/2014/main" id="{8BCAF78A-EB7D-4DD6-B036-41EEFDCBE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24">
              <a:extLst>
                <a:ext uri="{FF2B5EF4-FFF2-40B4-BE49-F238E27FC236}">
                  <a16:creationId xmlns:a16="http://schemas.microsoft.com/office/drawing/2014/main" id="{20B06B9F-3104-4229-8963-7F24DD7C5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11E9EC7-50F1-425F-B104-F602D541A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840002F-7CD8-45AA-BB75-86AC6AD24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9F316BDB-9C2E-4343-B1BA-FD4AA878A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09AD0F1F-DBA0-4E78-9F97-4EA7CB9D5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B40A3D1-3994-4186-92D0-A91A41570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B558824-8237-4493-A146-E95B8224B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E71220E-F6CE-4862-8EEB-AC630CA2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41A48BB9-6747-4088-A313-461AB43FF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A6CC712-1BA4-4E40-BD21-E37274076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48270F6-98F5-480B-A56E-26BF1622E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EF4A09C8-E3F0-4C72-8B20-BA0AC969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6CE06EBF-6E6C-43E2-A714-7928FDC9E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5956944-C1F5-4794-AF4D-1A38D8068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988A9CA1-5E57-42D5-BB9F-A08B6946E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8D85C3CF-4C69-4649-9F78-AB0239D5F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36CCF2B0-ACC1-412D-B4F6-5EC4B851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34E1E6AC-D587-4E29-BF8D-437564F07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CFC75D0C-EFEA-43C5-AD3E-6631C642C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DE3FE0FE-63F9-48ED-903D-E92DDA3D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/>
              <p:nvPr/>
            </p:nvSpPr>
            <p:spPr>
              <a:xfrm>
                <a:off x="3872126" y="1540470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sz="2000" i="0" kern="100" dirty="0">
                    <a:solidFill>
                      <a:srgbClr val="00B0F0"/>
                    </a:solidFill>
                    <a:effectLst/>
                    <a:latin typeface="+mj-lt"/>
                    <a:ea typeface="宋体" panose="02010600030101010101" pitchFamily="2" charset="-122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100 + 200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126" y="1540470"/>
                <a:ext cx="2171353" cy="733534"/>
              </a:xfrm>
              <a:prstGeom prst="rect">
                <a:avLst/>
              </a:prstGeom>
              <a:blipFill>
                <a:blip r:embed="rId4"/>
                <a:stretch>
                  <a:fillRect t="-35833" r="-16011" b="-3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D69B009-9214-46D6-AF33-2843198B7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605621"/>
              </p:ext>
            </p:extLst>
          </p:nvPr>
        </p:nvGraphicFramePr>
        <p:xfrm>
          <a:off x="6426702" y="1137989"/>
          <a:ext cx="2549596" cy="154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8" r:id="rId5" imgW="1549400" imgH="939800" progId="Equation.DSMT4">
                  <p:embed/>
                </p:oleObj>
              </mc:Choice>
              <mc:Fallback>
                <p:oleObj r:id="rId5" imgW="1549400" imgH="93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D69B009-9214-46D6-AF33-2843198B7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702" y="1137989"/>
                        <a:ext cx="2549596" cy="15473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波形 44">
            <a:extLst>
              <a:ext uri="{FF2B5EF4-FFF2-40B4-BE49-F238E27FC236}">
                <a16:creationId xmlns:a16="http://schemas.microsoft.com/office/drawing/2014/main" id="{116DC41E-D2E9-4B28-9EF2-8A3B899437F5}"/>
              </a:ext>
            </a:extLst>
          </p:cNvPr>
          <p:cNvSpPr/>
          <p:nvPr/>
        </p:nvSpPr>
        <p:spPr>
          <a:xfrm>
            <a:off x="59825" y="708522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AF10A00F-E272-4D88-B97F-7CFE3737C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" y="2715766"/>
            <a:ext cx="2036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伪逆乘法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：</a:t>
            </a:r>
          </a:p>
        </p:txBody>
      </p:sp>
      <p:sp>
        <p:nvSpPr>
          <p:cNvPr id="43" name="TextBox 2">
            <a:extLst>
              <a:ext uri="{FF2B5EF4-FFF2-40B4-BE49-F238E27FC236}">
                <a16:creationId xmlns:a16="http://schemas.microsoft.com/office/drawing/2014/main" id="{4C407C4A-8AC4-4B53-BD7C-45392EC80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331" y="2810848"/>
            <a:ext cx="145861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400" dirty="0">
                <a:sym typeface="Arial" charset="0"/>
              </a:rPr>
              <a:t>x=</a:t>
            </a:r>
            <a:r>
              <a:rPr lang="en-US" altLang="zh-CN" sz="1400" dirty="0" err="1">
                <a:sym typeface="Arial" charset="0"/>
              </a:rPr>
              <a:t>pinv</a:t>
            </a:r>
            <a:r>
              <a:rPr lang="en-US" altLang="zh-CN" sz="1400" dirty="0">
                <a:sym typeface="Arial" charset="0"/>
              </a:rPr>
              <a:t>(A)*b</a:t>
            </a:r>
          </a:p>
        </p:txBody>
      </p:sp>
      <p:sp>
        <p:nvSpPr>
          <p:cNvPr id="44" name="TextBox 2">
            <a:extLst>
              <a:ext uri="{FF2B5EF4-FFF2-40B4-BE49-F238E27FC236}">
                <a16:creationId xmlns:a16="http://schemas.microsoft.com/office/drawing/2014/main" id="{7175AB56-E7A6-45F9-A9DE-E697D9B7E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186" y="3655594"/>
            <a:ext cx="73238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ym typeface="Arial" charset="0"/>
              </a:rPr>
              <a:t>x=A</a:t>
            </a:r>
            <a:r>
              <a:rPr lang="en-US" altLang="zh-CN" sz="1400" dirty="0">
                <a:sym typeface="Courier New" pitchFamily="49" charset="0"/>
              </a:rPr>
              <a:t>\</a:t>
            </a:r>
            <a:r>
              <a:rPr lang="en-US" altLang="zh-CN" sz="1400" dirty="0">
                <a:sym typeface="Arial" charset="0"/>
              </a:rPr>
              <a:t>b</a:t>
            </a:r>
            <a:endParaRPr lang="zh-CN" altLang="en-US" sz="1400" dirty="0">
              <a:sym typeface="Arial" charset="0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E5FC23A6-3630-4FAA-9181-1B9C568403E9}"/>
              </a:ext>
            </a:extLst>
          </p:cNvPr>
          <p:cNvSpPr txBox="1">
            <a:spLocks noChangeArrowheads="1"/>
          </p:cNvSpPr>
          <p:nvPr/>
        </p:nvSpPr>
        <p:spPr>
          <a:xfrm>
            <a:off x="344880" y="4122293"/>
            <a:ext cx="4197634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buFont typeface="+mj-ea"/>
              <a:buAutoNum type="circleNumDbPlain" startAt="2"/>
              <a:defRPr sz="32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9pPr>
          </a:lstStyle>
          <a:p>
            <a:pPr marL="0" indent="0">
              <a:buFont typeface="+mj-ea"/>
              <a:buAutoNum type="circleNumDbPlain" startAt="4"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阶梯形矩阵函数</a:t>
            </a:r>
            <a:r>
              <a:rPr lang="en-US" altLang="zh-CN"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058089D-B518-420E-82FD-FBFAC809DA17}"/>
              </a:ext>
            </a:extLst>
          </p:cNvPr>
          <p:cNvSpPr txBox="1"/>
          <p:nvPr/>
        </p:nvSpPr>
        <p:spPr>
          <a:xfrm>
            <a:off x="340677" y="3208634"/>
            <a:ext cx="1478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 左除法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TextBox 2">
            <a:extLst>
              <a:ext uri="{FF2B5EF4-FFF2-40B4-BE49-F238E27FC236}">
                <a16:creationId xmlns:a16="http://schemas.microsoft.com/office/drawing/2014/main" id="{FD405CE9-F08D-4AD7-A9DD-09AC85090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2688" y="3226769"/>
            <a:ext cx="152878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4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C6F8067-502A-4FE8-AD4E-79C56089A288}"/>
              </a:ext>
            </a:extLst>
          </p:cNvPr>
          <p:cNvSpPr txBox="1"/>
          <p:nvPr/>
        </p:nvSpPr>
        <p:spPr>
          <a:xfrm>
            <a:off x="334674" y="3631913"/>
            <a:ext cx="251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线性方程组求解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: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040FBD3-DBB0-4EEB-AFAF-32B7160849A7}"/>
              </a:ext>
            </a:extLst>
          </p:cNvPr>
          <p:cNvSpPr/>
          <p:nvPr/>
        </p:nvSpPr>
        <p:spPr>
          <a:xfrm>
            <a:off x="3069710" y="4113589"/>
            <a:ext cx="188353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R,P=rref([A b])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8CF9451-1080-4A72-A40A-D0E29635AEB0}"/>
              </a:ext>
            </a:extLst>
          </p:cNvPr>
          <p:cNvSpPr txBox="1"/>
          <p:nvPr/>
        </p:nvSpPr>
        <p:spPr>
          <a:xfrm>
            <a:off x="5922126" y="3170353"/>
            <a:ext cx="3352865" cy="1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奇异方程组和病态方程组优先采用伪逆乘法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lsqminnorm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EC05021D-4A34-4F20-BDFA-37B620D59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518" y="3446804"/>
            <a:ext cx="1170336" cy="482118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  <a:p>
            <a:pPr algn="ctr"/>
            <a:endParaRPr lang="zh-CN" altLang="en-US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TextBox 2">
            <a:extLst>
              <a:ext uri="{FF2B5EF4-FFF2-40B4-BE49-F238E27FC236}">
                <a16:creationId xmlns:a16="http://schemas.microsoft.com/office/drawing/2014/main" id="{549EF897-72A8-4221-9414-AADF652B7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68" y="2821472"/>
            <a:ext cx="2248718" cy="338554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>
                <a:highlight>
                  <a:srgbClr val="000080"/>
                </a:highlight>
              </a:rPr>
              <a:t>x=lsqminnorm(A,b) 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73AA6DE-2F25-47BD-A613-989F39317B3B}"/>
              </a:ext>
            </a:extLst>
          </p:cNvPr>
          <p:cNvSpPr txBox="1"/>
          <p:nvPr/>
        </p:nvSpPr>
        <p:spPr>
          <a:xfrm>
            <a:off x="4028666" y="2787252"/>
            <a:ext cx="2638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最小范数最小二乘解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5556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3FEB46-64E0-43FC-A722-D0DFDAE98A47}"/>
              </a:ext>
            </a:extLst>
          </p:cNvPr>
          <p:cNvSpPr/>
          <p:nvPr/>
        </p:nvSpPr>
        <p:spPr>
          <a:xfrm>
            <a:off x="181195" y="985498"/>
            <a:ext cx="8949389" cy="37856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a=[1 -0.25 -0.25 0;-0.25 1 0 -0.25; -0.25 0 1 -0.25;0 -0.25 -0.25 1]  </a:t>
            </a:r>
            <a:r>
              <a:rPr lang="en-US" altLang="ko-KR" b="1" cap="none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#方程系数矩阵</a:t>
            </a:r>
            <a:r>
              <a:rPr lang="zh-CN" altLang="en-US" b="1" cap="none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结果</a:t>
            </a:r>
            <a:endParaRPr lang="ko-KR" altLang="en-US" b="1" cap="none" dirty="0">
              <a:solidFill>
                <a:srgbClr val="FF000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4×4 Matrix{Float64}: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1.0   -0.25  -0.25   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1.0    0.0   -0.25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0.0    1.0   -0.25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0.0   -0.25  -0.25   1.0</a:t>
            </a:r>
            <a:endParaRPr lang="en-US" altLang="ko-KR" b="1" cap="none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defTabSz="914400" eaLnBrk="0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ab</a:t>
            </a:r>
            <a:r>
              <a:rPr lang="en-US" altLang="ko-KR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=[</a:t>
            </a:r>
            <a:r>
              <a:rPr lang="en-US" altLang="zh-CN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en-US" altLang="ko-KR" b="1" cap="none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b] </a:t>
            </a:r>
            <a:r>
              <a:rPr lang="en-US" altLang="ko-KR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#方程增广矩阵</a:t>
            </a:r>
            <a:endParaRPr lang="ko-KR" altLang="en-US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4×5 Matrix{Float64}: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1.0   -0.25  -0.25   0.0    7.5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1.0    0.0   -0.25  15.0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-0.25   0.0    1.0   -0.25  10.0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0.0   -0.25  -0.25   1.0   17.5</a:t>
            </a:r>
            <a:endParaRPr lang="ko-KR" altLang="en-US" b="1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6E7FD-8D19-4F8B-9F23-B7E3D1E5DDE6}"/>
              </a:ext>
            </a:extLst>
          </p:cNvPr>
          <p:cNvSpPr/>
          <p:nvPr/>
        </p:nvSpPr>
        <p:spPr>
          <a:xfrm>
            <a:off x="194610" y="675827"/>
            <a:ext cx="886396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建立方程组的系数矩阵、增广矩阵和常数向量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AFE04E-9987-436D-98C3-339CC829564B}"/>
              </a:ext>
            </a:extLst>
          </p:cNvPr>
          <p:cNvSpPr/>
          <p:nvPr/>
        </p:nvSpPr>
        <p:spPr>
          <a:xfrm>
            <a:off x="4283969" y="2528681"/>
            <a:ext cx="4576604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b=[7.5;15;10;17.5]</a:t>
            </a:r>
            <a:r>
              <a:rPr lang="en-US" altLang="ko-KR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#方程</a:t>
            </a:r>
            <a:r>
              <a:rPr lang="zh-CN" altLang="en-US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常数列向量</a:t>
            </a:r>
            <a:endParaRPr lang="en-US" altLang="ko-KR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结果</a:t>
            </a: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4-element Vector{Float64}: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7.5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15.0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10.0</a:t>
            </a: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17.5</a:t>
            </a:r>
            <a:endParaRPr lang="ko-KR" altLang="en-US" sz="2000" b="1" dirty="0">
              <a:solidFill>
                <a:srgbClr val="00206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EF2202-47C1-48D6-83F9-C14A8304FFD9}"/>
              </a:ext>
            </a:extLst>
          </p:cNvPr>
          <p:cNvSpPr txBox="1"/>
          <p:nvPr/>
        </p:nvSpPr>
        <p:spPr>
          <a:xfrm>
            <a:off x="1213565" y="14892"/>
            <a:ext cx="7744957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6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求解中心温度代码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2380A74-8676-45C8-8AB7-B7BEEFC9D0BE}"/>
              </a:ext>
            </a:extLst>
          </p:cNvPr>
          <p:cNvSpPr txBox="1">
            <a:spLocks/>
          </p:cNvSpPr>
          <p:nvPr/>
        </p:nvSpPr>
        <p:spPr bwMode="auto">
          <a:xfrm>
            <a:off x="3744741" y="1455968"/>
            <a:ext cx="5279880" cy="34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构造矩阵</a:t>
            </a:r>
            <a:r>
              <a:rPr lang="en-US" altLang="zh-CN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同行元素用空格分隔，不同行元素用分号分隔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DC99E73-5962-4879-A894-2B41F0E2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154" y="1888794"/>
            <a:ext cx="3312368" cy="3443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构造向量：用逗号分隔向量的元素</a:t>
            </a: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65520B79-48B8-4296-A4EE-4BF1121A5265}"/>
              </a:ext>
            </a:extLst>
          </p:cNvPr>
          <p:cNvSpPr/>
          <p:nvPr/>
        </p:nvSpPr>
        <p:spPr>
          <a:xfrm>
            <a:off x="181195" y="134765"/>
            <a:ext cx="1071470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57260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699A19B-A9A6-4BAB-AB70-59CF041F5550}"/>
              </a:ext>
            </a:extLst>
          </p:cNvPr>
          <p:cNvSpPr/>
          <p:nvPr/>
        </p:nvSpPr>
        <p:spPr>
          <a:xfrm>
            <a:off x="429109" y="676736"/>
            <a:ext cx="3388898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判断方程组的类型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961293-88F2-41A7-8486-8947E25E5097}"/>
              </a:ext>
            </a:extLst>
          </p:cNvPr>
          <p:cNvSpPr/>
          <p:nvPr/>
        </p:nvSpPr>
        <p:spPr>
          <a:xfrm>
            <a:off x="467544" y="1064844"/>
            <a:ext cx="5728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矩系数阵的秩</a:t>
            </a:r>
            <a:r>
              <a:rPr lang="zh-CN" altLang="en-US" sz="24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 =4</a:t>
            </a:r>
          </a:p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增广矩阵的秩</a:t>
            </a:r>
            <a:r>
              <a:rPr lang="zh-CN" altLang="en-US" sz="24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 =4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A18F25-D350-4B64-889A-A71011FF4A86}"/>
              </a:ext>
            </a:extLst>
          </p:cNvPr>
          <p:cNvSpPr/>
          <p:nvPr/>
        </p:nvSpPr>
        <p:spPr>
          <a:xfrm>
            <a:off x="4572000" y="772477"/>
            <a:ext cx="316835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rank(A)=rank(</a:t>
            </a:r>
            <a:r>
              <a:rPr lang="en-US" altLang="zh-CN" sz="1600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)=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未知量个数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592A61-8708-4646-9E62-129FABFACF1D}"/>
              </a:ext>
            </a:extLst>
          </p:cNvPr>
          <p:cNvSpPr/>
          <p:nvPr/>
        </p:nvSpPr>
        <p:spPr>
          <a:xfrm>
            <a:off x="8308392" y="709793"/>
            <a:ext cx="7906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</a:rPr>
              <a:t>n</a:t>
            </a: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Arial"/>
                <a:ea typeface="宋体"/>
              </a:rPr>
              <a:t>满秩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560D92-9391-4F26-B6AB-E9CC48632833}"/>
              </a:ext>
            </a:extLst>
          </p:cNvPr>
          <p:cNvSpPr txBox="1"/>
          <p:nvPr/>
        </p:nvSpPr>
        <p:spPr>
          <a:xfrm>
            <a:off x="1008338" y="6145"/>
            <a:ext cx="8135661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求解中心温度代码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9B09FA-7EAB-4499-A466-9CE65DAD4207}"/>
              </a:ext>
            </a:extLst>
          </p:cNvPr>
          <p:cNvSpPr/>
          <p:nvPr/>
        </p:nvSpPr>
        <p:spPr>
          <a:xfrm>
            <a:off x="412797" y="1885382"/>
            <a:ext cx="5023299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求方程组的条件数、行列式和逆、伪逆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BF9F04-DBD1-42E4-B2DE-B3EA4EB384A1}"/>
              </a:ext>
            </a:extLst>
          </p:cNvPr>
          <p:cNvSpPr txBox="1"/>
          <p:nvPr/>
        </p:nvSpPr>
        <p:spPr>
          <a:xfrm>
            <a:off x="481700" y="2209687"/>
            <a:ext cx="86174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cond(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条件数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 = 3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.0</a:t>
            </a:r>
            <a:endParaRPr lang="zh-CN" altLang="en-US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ad=det(</a:t>
            </a:r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  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行列式</a:t>
            </a:r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ad = 0.75 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ai=inv(</a:t>
            </a:r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 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逆基于</a:t>
            </a:r>
            <a:r>
              <a:rPr lang="en-US" altLang="zh-CN" sz="200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lu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分解</a:t>
            </a:r>
            <a:endParaRPr lang="en-US" altLang="zh-CN" sz="2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000" b="1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pinv</a:t>
            </a:r>
            <a:r>
              <a:rPr lang="en-US" altLang="zh-CN" sz="20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(a) 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逆基于奇异分解</a:t>
            </a:r>
            <a:r>
              <a:rPr lang="en-US" altLang="zh-CN" sz="200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svd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，计算更复杂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4×4 Matrix{Float64}: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1.16667   0.333333  0.333333  0.166667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0.333333  1.16667   0.166667  0.333333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0.333333  0.166667  1.16667   0.333333</a:t>
            </a:r>
          </a:p>
          <a:p>
            <a:r>
              <a:rPr lang="en-US" altLang="zh-CN" sz="1600" b="1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0.166667  0.333333  0.333333  1.16667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53D4BB15-4CCB-417C-9BD5-055320D04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03" y="4118995"/>
            <a:ext cx="3635896" cy="50405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恰定方程逆和伪逆相等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DA5D2D2-3EC2-4A41-A3B4-D80C892EF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302" y="1232388"/>
            <a:ext cx="297228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dirty="0"/>
              <a:t>未知量数</a:t>
            </a:r>
            <a:r>
              <a:rPr lang="en-US" altLang="zh-CN" sz="1600" dirty="0"/>
              <a:t>n=</a:t>
            </a:r>
            <a:r>
              <a:rPr lang="zh-CN" altLang="en-US" sz="1600" dirty="0"/>
              <a:t>方程数</a:t>
            </a:r>
            <a:r>
              <a:rPr lang="en-US" altLang="zh-CN" sz="1600" dirty="0"/>
              <a:t>m</a:t>
            </a:r>
            <a:r>
              <a:rPr lang="zh-CN" altLang="en-US" sz="1600" dirty="0"/>
              <a:t>，唯一解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B587768-BAA3-4B5F-A77B-F95014F47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146" y="1903082"/>
            <a:ext cx="2069411" cy="53073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为恰定方程</a:t>
            </a: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455585C1-3785-4E5B-95BB-40BA15EDAB84}"/>
              </a:ext>
            </a:extLst>
          </p:cNvPr>
          <p:cNvSpPr/>
          <p:nvPr/>
        </p:nvSpPr>
        <p:spPr>
          <a:xfrm>
            <a:off x="96912" y="141035"/>
            <a:ext cx="935529" cy="3832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C6186E-AD1F-4AFB-89CF-A5D859840B7A}"/>
              </a:ext>
            </a:extLst>
          </p:cNvPr>
          <p:cNvSpPr txBox="1"/>
          <p:nvPr/>
        </p:nvSpPr>
        <p:spPr>
          <a:xfrm>
            <a:off x="5652120" y="3209388"/>
            <a:ext cx="2736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）是成本比较高的计算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inv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的方式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005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F13CDD-7C0F-46C7-9406-BE0CE62CE76D}"/>
              </a:ext>
            </a:extLst>
          </p:cNvPr>
          <p:cNvSpPr/>
          <p:nvPr/>
        </p:nvSpPr>
        <p:spPr>
          <a:xfrm>
            <a:off x="57754" y="709026"/>
            <a:ext cx="315231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 eaLnBrk="0">
              <a:buFont typeface="+mj-ea"/>
              <a:buAutoNum type="circleNumDbPlain" startAt="4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求解恰定方程组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8050A5-7B59-430E-B84E-0E0FDD99E58D}"/>
              </a:ext>
            </a:extLst>
          </p:cNvPr>
          <p:cNvSpPr/>
          <p:nvPr/>
        </p:nvSpPr>
        <p:spPr>
          <a:xfrm>
            <a:off x="77305" y="1084293"/>
            <a:ext cx="3060340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</a:rPr>
              <a:t>T</a:t>
            </a:r>
            <a:r>
              <a:rPr lang="en-US" altLang="zh-CN" sz="1600" dirty="0" err="1">
                <a:solidFill>
                  <a:srgbClr val="002060"/>
                </a:solidFill>
              </a:rPr>
              <a:t>i</a:t>
            </a:r>
            <a:r>
              <a:rPr lang="zh-CN" altLang="en-US" sz="1600" dirty="0">
                <a:solidFill>
                  <a:srgbClr val="002060"/>
                </a:solidFill>
              </a:rPr>
              <a:t>=inv(</a:t>
            </a:r>
            <a:r>
              <a:rPr lang="en-US" altLang="zh-CN" sz="1600" dirty="0">
                <a:solidFill>
                  <a:srgbClr val="002060"/>
                </a:solidFill>
              </a:rPr>
              <a:t>a</a:t>
            </a:r>
            <a:r>
              <a:rPr lang="zh-CN" altLang="en-US" sz="1600" dirty="0">
                <a:solidFill>
                  <a:srgbClr val="002060"/>
                </a:solidFill>
              </a:rPr>
              <a:t>)*b    </a:t>
            </a:r>
            <a:r>
              <a:rPr lang="en-US" altLang="zh-CN" sz="1600" dirty="0">
                <a:solidFill>
                  <a:srgbClr val="FF0000"/>
                </a:solidFill>
              </a:rPr>
              <a:t>#</a:t>
            </a:r>
            <a:r>
              <a:rPr lang="zh-CN" altLang="en-US" sz="1600" dirty="0">
                <a:solidFill>
                  <a:srgbClr val="FF0000"/>
                </a:solidFill>
              </a:rPr>
              <a:t>逆乘法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4-element Vector{Float64}: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19.999999999999996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27.499999999999996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22.499999999999996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29.999999999999993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24DD93-9AD2-42ED-8A07-0DC39565B56C}"/>
              </a:ext>
            </a:extLst>
          </p:cNvPr>
          <p:cNvSpPr/>
          <p:nvPr/>
        </p:nvSpPr>
        <p:spPr>
          <a:xfrm>
            <a:off x="77305" y="2743640"/>
            <a:ext cx="9081430" cy="18158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2060"/>
                </a:solidFill>
              </a:rPr>
              <a:t>T</a:t>
            </a:r>
            <a:r>
              <a:rPr lang="en-US" altLang="zh-CN" sz="1600" b="1" dirty="0">
                <a:solidFill>
                  <a:srgbClr val="002060"/>
                </a:solidFill>
              </a:rPr>
              <a:t>c</a:t>
            </a:r>
            <a:r>
              <a:rPr lang="zh-CN" altLang="en-US" sz="1600" b="1" dirty="0">
                <a:solidFill>
                  <a:srgbClr val="002060"/>
                </a:solidFill>
              </a:rPr>
              <a:t>=</a:t>
            </a:r>
            <a:r>
              <a:rPr lang="en-US" altLang="zh-CN" sz="1600" b="1" dirty="0">
                <a:solidFill>
                  <a:srgbClr val="002060"/>
                </a:solidFill>
              </a:rPr>
              <a:t>a</a:t>
            </a:r>
            <a:r>
              <a:rPr lang="zh-CN" altLang="en-US" sz="1600" b="1" dirty="0">
                <a:solidFill>
                  <a:srgbClr val="002060"/>
                </a:solidFill>
              </a:rPr>
              <a:t>\b    </a:t>
            </a:r>
            <a:r>
              <a:rPr lang="en-US" altLang="zh-CN" sz="1600" b="1" dirty="0">
                <a:solidFill>
                  <a:srgbClr val="FF0000"/>
                </a:solidFill>
              </a:rPr>
              <a:t>#</a:t>
            </a:r>
            <a:r>
              <a:rPr lang="zh-CN" altLang="en-US" sz="1600" b="1" dirty="0">
                <a:solidFill>
                  <a:srgbClr val="FF0000"/>
                </a:solidFill>
              </a:rPr>
              <a:t>左除法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/>
              <a:t> x=linsolve(a,b) </a:t>
            </a:r>
            <a:r>
              <a:rPr lang="en-US" altLang="zh-CN" sz="1600" b="1" dirty="0">
                <a:solidFill>
                  <a:srgbClr val="FF0000"/>
                </a:solidFill>
              </a:rPr>
              <a:t>#</a:t>
            </a:r>
            <a:r>
              <a:rPr lang="zh-CN" altLang="en-US" sz="1600" b="1" dirty="0">
                <a:solidFill>
                  <a:srgbClr val="FF0000"/>
                </a:solidFill>
              </a:rPr>
              <a:t>线性方程求解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4-element Vector{Float64}: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20.0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27.5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22.5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30.0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FB6865-1916-4720-9D1F-3F377F798C82}"/>
              </a:ext>
            </a:extLst>
          </p:cNvPr>
          <p:cNvSpPr txBox="1"/>
          <p:nvPr/>
        </p:nvSpPr>
        <p:spPr>
          <a:xfrm>
            <a:off x="1008339" y="6145"/>
            <a:ext cx="8081550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1B46D7-45DB-401D-9C27-FEED7FC9CF5F}"/>
              </a:ext>
            </a:extLst>
          </p:cNvPr>
          <p:cNvSpPr txBox="1"/>
          <p:nvPr/>
        </p:nvSpPr>
        <p:spPr>
          <a:xfrm>
            <a:off x="5984495" y="2792998"/>
            <a:ext cx="337726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fr-FR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绘制温度场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/>
              <a:t>t</a:t>
            </a:r>
            <a:r>
              <a:rPr lang="fr-FR" altLang="zh-CN" sz="2000" dirty="0"/>
              <a:t>r=reverse(</a:t>
            </a:r>
            <a:r>
              <a:rPr lang="en-US" altLang="zh-CN" sz="2000" dirty="0"/>
              <a:t>t</a:t>
            </a:r>
            <a:r>
              <a:rPr lang="fr-FR" altLang="zh-CN" sz="2000" dirty="0"/>
              <a:t>) #</a:t>
            </a:r>
            <a:r>
              <a:rPr lang="zh-CN" altLang="en-US" sz="2000" b="1" dirty="0"/>
              <a:t>数据进行翻转</a:t>
            </a:r>
            <a:endParaRPr lang="fr-FR" altLang="zh-CN" sz="2000" dirty="0"/>
          </a:p>
          <a:p>
            <a:r>
              <a:rPr lang="fr-FR" altLang="zh-CN" sz="2000" dirty="0"/>
              <a:t>tt=reverse(tr,dims=2)</a:t>
            </a:r>
          </a:p>
          <a:p>
            <a:r>
              <a:rPr lang="fr-FR" altLang="zh-CN" sz="2000" dirty="0"/>
              <a:t>c = contourf(tt)</a:t>
            </a:r>
          </a:p>
          <a:p>
            <a:r>
              <a:rPr lang="fr-FR" altLang="zh-CN" sz="2000" dirty="0"/>
              <a:t>clabel(c,</a:t>
            </a:r>
            <a:r>
              <a:rPr lang="en-US" altLang="zh-CN" sz="2000" dirty="0"/>
              <a:t>inline=false</a:t>
            </a:r>
            <a:r>
              <a:rPr lang="fr-FR" altLang="zh-CN" sz="2000" dirty="0"/>
              <a:t>, colors="red");</a:t>
            </a:r>
            <a:r>
              <a:rPr lang="en-US" altLang="zh-CN" sz="2000" dirty="0" err="1"/>
              <a:t>colorbar</a:t>
            </a:r>
            <a:r>
              <a:rPr lang="en-US" altLang="zh-CN" sz="2000" dirty="0"/>
              <a:t>(c)</a:t>
            </a:r>
            <a:endParaRPr lang="fr-FR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E9653B1-C601-450B-B277-498F045FF8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75" t="11388" r="5900" b="9359"/>
          <a:stretch/>
        </p:blipFill>
        <p:spPr>
          <a:xfrm>
            <a:off x="3470851" y="2884454"/>
            <a:ext cx="2550403" cy="1730679"/>
          </a:xfrm>
          <a:prstGeom prst="rect">
            <a:avLst/>
          </a:prstGeom>
        </p:spPr>
      </p:pic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FA32DBA9-1D87-48E2-ABC7-ADE1356CA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783332"/>
              </p:ext>
            </p:extLst>
          </p:nvPr>
        </p:nvGraphicFramePr>
        <p:xfrm>
          <a:off x="3558072" y="859193"/>
          <a:ext cx="2268258" cy="168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75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75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75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B4BF534C-45C7-42D5-A087-35EE259F1939}"/>
              </a:ext>
            </a:extLst>
          </p:cNvPr>
          <p:cNvSpPr/>
          <p:nvPr/>
        </p:nvSpPr>
        <p:spPr>
          <a:xfrm>
            <a:off x="4095131" y="1270050"/>
            <a:ext cx="406544" cy="338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68819A-1C2A-4649-9C32-7B2AFBCBAC80}"/>
              </a:ext>
            </a:extLst>
          </p:cNvPr>
          <p:cNvSpPr/>
          <p:nvPr/>
        </p:nvSpPr>
        <p:spPr>
          <a:xfrm>
            <a:off x="5022224" y="1281873"/>
            <a:ext cx="415290" cy="338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27</a:t>
            </a:r>
            <a:endParaRPr lang="zh-CN" altLang="en-US" sz="16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38D5BD-BBBF-4163-B3EE-AA68E1C8E303}"/>
              </a:ext>
            </a:extLst>
          </p:cNvPr>
          <p:cNvSpPr/>
          <p:nvPr/>
        </p:nvSpPr>
        <p:spPr>
          <a:xfrm>
            <a:off x="4005866" y="1903568"/>
            <a:ext cx="650331" cy="338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22.5</a:t>
            </a:r>
            <a:endParaRPr lang="zh-CN" altLang="en-US" sz="16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A9FC21-22F8-431A-B4F4-B753FC818B99}"/>
              </a:ext>
            </a:extLst>
          </p:cNvPr>
          <p:cNvSpPr/>
          <p:nvPr/>
        </p:nvSpPr>
        <p:spPr>
          <a:xfrm>
            <a:off x="4975399" y="1917462"/>
            <a:ext cx="597760" cy="338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30.0</a:t>
            </a:r>
            <a:endParaRPr lang="zh-CN" altLang="en-US" sz="16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F576FF-3C5E-4054-AE5F-2F97A995CC28}"/>
              </a:ext>
            </a:extLst>
          </p:cNvPr>
          <p:cNvSpPr/>
          <p:nvPr/>
        </p:nvSpPr>
        <p:spPr>
          <a:xfrm>
            <a:off x="3321411" y="1298392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F1B737-2706-4032-8698-0D275E22BC82}"/>
              </a:ext>
            </a:extLst>
          </p:cNvPr>
          <p:cNvSpPr/>
          <p:nvPr/>
        </p:nvSpPr>
        <p:spPr>
          <a:xfrm>
            <a:off x="3287931" y="1876515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4AA9E0-135D-4DFE-928E-9B29A8F72C03}"/>
              </a:ext>
            </a:extLst>
          </p:cNvPr>
          <p:cNvSpPr/>
          <p:nvPr/>
        </p:nvSpPr>
        <p:spPr>
          <a:xfrm>
            <a:off x="4189983" y="715250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F0D269-CEB7-4A0F-B4C9-ACDB03A54A71}"/>
              </a:ext>
            </a:extLst>
          </p:cNvPr>
          <p:cNvSpPr/>
          <p:nvPr/>
        </p:nvSpPr>
        <p:spPr>
          <a:xfrm>
            <a:off x="4975399" y="712494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8E68613-A92B-4B4B-9EF1-D7EA9C317EB7}"/>
              </a:ext>
            </a:extLst>
          </p:cNvPr>
          <p:cNvSpPr/>
          <p:nvPr/>
        </p:nvSpPr>
        <p:spPr>
          <a:xfrm>
            <a:off x="5773457" y="1853904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007A8A8-945E-46BF-A394-3DF6CF0FB551}"/>
              </a:ext>
            </a:extLst>
          </p:cNvPr>
          <p:cNvSpPr/>
          <p:nvPr/>
        </p:nvSpPr>
        <p:spPr>
          <a:xfrm>
            <a:off x="5766683" y="1236149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47388D-0522-4B56-BA2E-307AA7986725}"/>
              </a:ext>
            </a:extLst>
          </p:cNvPr>
          <p:cNvSpPr/>
          <p:nvPr/>
        </p:nvSpPr>
        <p:spPr>
          <a:xfrm>
            <a:off x="4947043" y="2484330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3A3D54-D8FB-4591-9187-C1E7ADD7050B}"/>
              </a:ext>
            </a:extLst>
          </p:cNvPr>
          <p:cNvSpPr/>
          <p:nvPr/>
        </p:nvSpPr>
        <p:spPr>
          <a:xfrm>
            <a:off x="4111825" y="2458368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37CECA-5A21-4910-863B-64A860A179C9}"/>
              </a:ext>
            </a:extLst>
          </p:cNvPr>
          <p:cNvSpPr/>
          <p:nvPr/>
        </p:nvSpPr>
        <p:spPr>
          <a:xfrm>
            <a:off x="3357359" y="703038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15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9A95073-F393-4D19-ABD4-66DB5BEA3E4E}"/>
              </a:ext>
            </a:extLst>
          </p:cNvPr>
          <p:cNvSpPr/>
          <p:nvPr/>
        </p:nvSpPr>
        <p:spPr>
          <a:xfrm>
            <a:off x="3275926" y="2447116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4A6DF4D-A065-4E03-9D67-9C4C466977C9}"/>
              </a:ext>
            </a:extLst>
          </p:cNvPr>
          <p:cNvSpPr/>
          <p:nvPr/>
        </p:nvSpPr>
        <p:spPr>
          <a:xfrm>
            <a:off x="5707036" y="696476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F75DD67-8494-4D34-A823-7D58A9EAA0EC}"/>
              </a:ext>
            </a:extLst>
          </p:cNvPr>
          <p:cNvSpPr/>
          <p:nvPr/>
        </p:nvSpPr>
        <p:spPr>
          <a:xfrm>
            <a:off x="5708646" y="2449220"/>
            <a:ext cx="389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35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984E307-A8C2-44ED-9C16-366D9532D819}"/>
              </a:ext>
            </a:extLst>
          </p:cNvPr>
          <p:cNvSpPr txBox="1"/>
          <p:nvPr/>
        </p:nvSpPr>
        <p:spPr>
          <a:xfrm>
            <a:off x="6269050" y="1145848"/>
            <a:ext cx="25514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000" b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建立</a:t>
            </a:r>
            <a:r>
              <a:rPr lang="en-US" altLang="zh-CN" sz="2000" b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4*4</a:t>
            </a:r>
            <a:r>
              <a:rPr lang="zh-CN" altLang="en-US" sz="2000" b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的温度矩阵</a:t>
            </a:r>
            <a:endParaRPr lang="fr-FR" altLang="zh-CN" sz="2000" b="0" dirty="0">
              <a:solidFill>
                <a:srgbClr val="00B0F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t = [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15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 </a:t>
            </a:r>
          </a:p>
          <a:p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40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 </a:t>
            </a:r>
          </a:p>
          <a:p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22.5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30.0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40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</a:p>
          <a:p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fr-FR" altLang="zh-CN" sz="2000" b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35</a:t>
            </a:r>
            <a:r>
              <a:rPr lang="fr-FR" altLang="zh-CN" sz="2000" b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42" name="波形 41">
            <a:extLst>
              <a:ext uri="{FF2B5EF4-FFF2-40B4-BE49-F238E27FC236}">
                <a16:creationId xmlns:a16="http://schemas.microsoft.com/office/drawing/2014/main" id="{9A44C6AB-F946-42BD-B5D1-B3DB786BC301}"/>
              </a:ext>
            </a:extLst>
          </p:cNvPr>
          <p:cNvSpPr/>
          <p:nvPr/>
        </p:nvSpPr>
        <p:spPr>
          <a:xfrm>
            <a:off x="54111" y="296367"/>
            <a:ext cx="1041911" cy="4001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AutoShape 13">
            <a:extLst>
              <a:ext uri="{FF2B5EF4-FFF2-40B4-BE49-F238E27FC236}">
                <a16:creationId xmlns:a16="http://schemas.microsoft.com/office/drawing/2014/main" id="{DF47AC32-6D68-4399-B880-1AC31CD0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31" y="3720841"/>
            <a:ext cx="877444" cy="53073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340EDA-5988-4C1E-9723-96CAE6BD6BD0}"/>
              </a:ext>
            </a:extLst>
          </p:cNvPr>
          <p:cNvSpPr/>
          <p:nvPr/>
        </p:nvSpPr>
        <p:spPr>
          <a:xfrm>
            <a:off x="6194878" y="753145"/>
            <a:ext cx="271887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绘制温度场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0A956FC-1208-4B03-87C8-BA97D012B434}"/>
              </a:ext>
            </a:extLst>
          </p:cNvPr>
          <p:cNvSpPr txBox="1"/>
          <p:nvPr/>
        </p:nvSpPr>
        <p:spPr>
          <a:xfrm>
            <a:off x="3533772" y="2780368"/>
            <a:ext cx="27652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julia&gt; lsqminnorm(a,b)</a:t>
            </a:r>
          </a:p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Vector{Float64}:</a:t>
            </a:r>
          </a:p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 20.000000000000007</a:t>
            </a:r>
          </a:p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 27.500000000000004</a:t>
            </a:r>
          </a:p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 22.500000000000007</a:t>
            </a:r>
          </a:p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 30.0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D9634-0E95-437F-8695-0C0FBE15A432}"/>
              </a:ext>
            </a:extLst>
          </p:cNvPr>
          <p:cNvSpPr txBox="1"/>
          <p:nvPr/>
        </p:nvSpPr>
        <p:spPr>
          <a:xfrm>
            <a:off x="1412498" y="3616075"/>
            <a:ext cx="2121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建议左除法，因为精度高于逆乘法</a:t>
            </a:r>
          </a:p>
        </p:txBody>
      </p:sp>
    </p:spTree>
    <p:extLst>
      <p:ext uri="{BB962C8B-B14F-4D97-AF65-F5344CB8AC3E}">
        <p14:creationId xmlns:p14="http://schemas.microsoft.com/office/powerpoint/2010/main" val="1140949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40C211A-B538-4398-BC9D-3227F4AC7609}"/>
              </a:ext>
            </a:extLst>
          </p:cNvPr>
          <p:cNvSpPr txBox="1"/>
          <p:nvPr/>
        </p:nvSpPr>
        <p:spPr>
          <a:xfrm>
            <a:off x="648072" y="2618202"/>
            <a:ext cx="8244408" cy="1917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fr-FR" altLang="zh-CN" sz="2000" dirty="0">
                <a:solidFill>
                  <a:srgbClr val="0070C0"/>
                </a:solidFill>
              </a:rPr>
              <a:t>                      </a:t>
            </a:r>
            <a:r>
              <a:rPr lang="zh-CN" altLang="en-US" sz="2000" dirty="0">
                <a:solidFill>
                  <a:srgbClr val="0070C0"/>
                </a:solidFill>
              </a:rPr>
              <a:t>结果</a:t>
            </a:r>
            <a:r>
              <a:rPr lang="fr-FR" altLang="zh-CN" sz="2000" dirty="0">
                <a:solidFill>
                  <a:srgbClr val="0070C0"/>
                </a:solidFill>
              </a:rPr>
              <a:t> 4×5 Matrix{Float64}:</a:t>
            </a:r>
          </a:p>
          <a:p>
            <a:pPr>
              <a:lnSpc>
                <a:spcPts val="2900"/>
              </a:lnSpc>
            </a:pPr>
            <a:r>
              <a:rPr lang="fr-FR" altLang="zh-CN" sz="2000" dirty="0">
                <a:solidFill>
                  <a:srgbClr val="0070C0"/>
                </a:solidFill>
              </a:rPr>
              <a:t>    1.0000         0         0         0           20.0</a:t>
            </a:r>
          </a:p>
          <a:p>
            <a:pPr>
              <a:lnSpc>
                <a:spcPts val="2900"/>
              </a:lnSpc>
            </a:pPr>
            <a:r>
              <a:rPr lang="fr-FR" altLang="zh-CN" sz="2000" dirty="0">
                <a:solidFill>
                  <a:srgbClr val="0070C0"/>
                </a:solidFill>
              </a:rPr>
              <a:t>         0    1.0000         0         0           27.5</a:t>
            </a:r>
          </a:p>
          <a:p>
            <a:pPr>
              <a:lnSpc>
                <a:spcPts val="2900"/>
              </a:lnSpc>
            </a:pPr>
            <a:r>
              <a:rPr lang="fr-FR" altLang="zh-CN" sz="2000" dirty="0">
                <a:solidFill>
                  <a:srgbClr val="0070C0"/>
                </a:solidFill>
              </a:rPr>
              <a:t>         0         0    1.0000         0           22.5</a:t>
            </a:r>
          </a:p>
          <a:p>
            <a:pPr>
              <a:lnSpc>
                <a:spcPts val="2900"/>
              </a:lnSpc>
            </a:pPr>
            <a:r>
              <a:rPr lang="fr-FR" altLang="zh-CN" sz="2000" dirty="0">
                <a:solidFill>
                  <a:srgbClr val="0070C0"/>
                </a:solidFill>
              </a:rPr>
              <a:t>         0         0         0    1.0000           30.0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78ED42-5B19-4983-A275-766520EFB2F4}"/>
              </a:ext>
            </a:extLst>
          </p:cNvPr>
          <p:cNvSpPr txBox="1"/>
          <p:nvPr/>
        </p:nvSpPr>
        <p:spPr>
          <a:xfrm>
            <a:off x="966157" y="672638"/>
            <a:ext cx="791579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eaLnBrk="0">
              <a:defRPr sz="3200"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 algn="dist">
              <a:buFont typeface="+mj-ea"/>
              <a:buAutoNum type="circleNumDbPlain" startAt="5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增广矩阵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初等变换的阶梯形函数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求中心温度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F339A6B7-6662-4AC8-8E36-761BF31FCE77}"/>
              </a:ext>
            </a:extLst>
          </p:cNvPr>
          <p:cNvSpPr txBox="1"/>
          <p:nvPr/>
        </p:nvSpPr>
        <p:spPr>
          <a:xfrm>
            <a:off x="4414545" y="3474397"/>
            <a:ext cx="591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 X</a:t>
            </a:r>
          </a:p>
          <a:p>
            <a:r>
              <a:rPr lang="zh-CN" altLang="en-US" dirty="0"/>
              <a:t>解</a:t>
            </a:r>
            <a:endParaRPr lang="en-US" altLang="zh-CN" dirty="0"/>
          </a:p>
        </p:txBody>
      </p:sp>
      <p:sp>
        <p:nvSpPr>
          <p:cNvPr id="8" name="圆角矩形 10">
            <a:extLst>
              <a:ext uri="{FF2B5EF4-FFF2-40B4-BE49-F238E27FC236}">
                <a16:creationId xmlns:a16="http://schemas.microsoft.com/office/drawing/2014/main" id="{C9171EE1-7BE8-41C8-B5C6-61479ABDAC8A}"/>
              </a:ext>
            </a:extLst>
          </p:cNvPr>
          <p:cNvSpPr/>
          <p:nvPr/>
        </p:nvSpPr>
        <p:spPr bwMode="auto">
          <a:xfrm>
            <a:off x="4770651" y="3070011"/>
            <a:ext cx="723155" cy="1455104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圆角矩形 10">
            <a:extLst>
              <a:ext uri="{FF2B5EF4-FFF2-40B4-BE49-F238E27FC236}">
                <a16:creationId xmlns:a16="http://schemas.microsoft.com/office/drawing/2014/main" id="{C24531D6-B7AF-4720-A306-45BACF9A2394}"/>
              </a:ext>
            </a:extLst>
          </p:cNvPr>
          <p:cNvSpPr/>
          <p:nvPr/>
        </p:nvSpPr>
        <p:spPr bwMode="auto">
          <a:xfrm>
            <a:off x="644520" y="3060532"/>
            <a:ext cx="3794750" cy="1455104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402FF28-22F3-4D19-BCFD-55CDE7D7C29A}"/>
              </a:ext>
            </a:extLst>
          </p:cNvPr>
          <p:cNvSpPr txBox="1"/>
          <p:nvPr/>
        </p:nvSpPr>
        <p:spPr>
          <a:xfrm>
            <a:off x="639789" y="2670586"/>
            <a:ext cx="16417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FF00"/>
                </a:solidFill>
                <a:highlight>
                  <a:srgbClr val="FF0000"/>
                </a:highlight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#</a:t>
            </a:r>
            <a:r>
              <a:rPr lang="zh-CN" altLang="en-US" dirty="0"/>
              <a:t>阶梯形矩阵</a:t>
            </a:r>
            <a:r>
              <a:rPr lang="en-US" altLang="zh-CN" dirty="0"/>
              <a:t>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6A34B6-A9A8-4274-9C49-06904FA4BE5B}"/>
              </a:ext>
            </a:extLst>
          </p:cNvPr>
          <p:cNvSpPr/>
          <p:nvPr/>
        </p:nvSpPr>
        <p:spPr>
          <a:xfrm>
            <a:off x="6162559" y="2027624"/>
            <a:ext cx="2309759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R,=rref([A b])</a:t>
            </a:r>
            <a:endParaRPr lang="zh-CN" altLang="en-US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E76A4A-82D7-4346-ABEC-94CD5895D245}"/>
              </a:ext>
            </a:extLst>
          </p:cNvPr>
          <p:cNvSpPr/>
          <p:nvPr/>
        </p:nvSpPr>
        <p:spPr>
          <a:xfrm>
            <a:off x="6080524" y="1573769"/>
            <a:ext cx="289797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是</a:t>
            </a:r>
            <a:r>
              <a:rPr lang="en-US" altLang="zh-CN" b="1" dirty="0">
                <a:solidFill>
                  <a:srgbClr val="FF0000"/>
                </a:solidFill>
              </a:rPr>
              <a:t>A </a:t>
            </a:r>
            <a:r>
              <a:rPr lang="zh-CN" altLang="en-US" b="1" dirty="0">
                <a:solidFill>
                  <a:srgbClr val="FF0000"/>
                </a:solidFill>
              </a:rPr>
              <a:t>的简化行阶梯形矩阵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1BF91B-CBEF-4761-B7FF-22EBCBCB9E96}"/>
              </a:ext>
            </a:extLst>
          </p:cNvPr>
          <p:cNvSpPr txBox="1"/>
          <p:nvPr/>
        </p:nvSpPr>
        <p:spPr>
          <a:xfrm>
            <a:off x="831955" y="14201"/>
            <a:ext cx="8325992" cy="5717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6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6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求解中心温度代码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867A76-A3D2-41D6-8327-36FA9BA852DF}"/>
              </a:ext>
            </a:extLst>
          </p:cNvPr>
          <p:cNvSpPr txBox="1"/>
          <p:nvPr/>
        </p:nvSpPr>
        <p:spPr>
          <a:xfrm>
            <a:off x="7005377" y="3125511"/>
            <a:ext cx="1167023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Ta=20.0</a:t>
            </a:r>
          </a:p>
          <a:p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Tb=27.5</a:t>
            </a:r>
          </a:p>
          <a:p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Tc=27.5</a:t>
            </a:r>
          </a:p>
          <a:p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Td=30.0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DB97F562-5694-4F06-9B72-5A67344B8D9F}"/>
              </a:ext>
            </a:extLst>
          </p:cNvPr>
          <p:cNvSpPr txBox="1"/>
          <p:nvPr/>
        </p:nvSpPr>
        <p:spPr>
          <a:xfrm>
            <a:off x="671683" y="3182296"/>
            <a:ext cx="358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/>
              <a:t>单位矩阵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617C23-E197-4E55-876B-801A6D68D000}"/>
              </a:ext>
            </a:extLst>
          </p:cNvPr>
          <p:cNvSpPr txBox="1"/>
          <p:nvPr/>
        </p:nvSpPr>
        <p:spPr>
          <a:xfrm>
            <a:off x="671682" y="1103525"/>
            <a:ext cx="83648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系数矩阵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常数列向量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ab=[a b];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增广矩阵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R,=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(ab)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阶梯形矩阵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E27351D7-D780-4C5C-A273-61A42304C72A}"/>
              </a:ext>
            </a:extLst>
          </p:cNvPr>
          <p:cNvSpPr/>
          <p:nvPr/>
        </p:nvSpPr>
        <p:spPr>
          <a:xfrm>
            <a:off x="0" y="615693"/>
            <a:ext cx="1061504" cy="46450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6BEF08-8494-45CB-9416-264CD648E427}"/>
              </a:ext>
            </a:extLst>
          </p:cNvPr>
          <p:cNvSpPr txBox="1"/>
          <p:nvPr/>
        </p:nvSpPr>
        <p:spPr>
          <a:xfrm>
            <a:off x="6854133" y="2637129"/>
            <a:ext cx="1641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板心四个温度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167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BE376DB4-27E5-49F4-A464-9A15AC8B5F89}"/>
              </a:ext>
            </a:extLst>
          </p:cNvPr>
          <p:cNvSpPr txBox="1"/>
          <p:nvPr/>
        </p:nvSpPr>
        <p:spPr>
          <a:xfrm>
            <a:off x="77491" y="504252"/>
            <a:ext cx="3374864" cy="4599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N=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50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;t_u=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;t_d=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;t_l=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;t_r=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40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A=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zeros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(N*N, N*N);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b=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zeros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(N*N,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);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构造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N^2×N^2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零矩阵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；构造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N^2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维零向量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:N*N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的主对角线元素都是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4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:N*N;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和向量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&lt;=N  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中和上边界节点对应的分量赋值 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t_u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i,N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)==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中和右边界节点对应的分量赋值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]+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t_r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i,N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)==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中和左边界节点对应的分量赋值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]+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t_l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&gt;N*(N-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中和下边界节点对应的分量赋值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]=b[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]+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t_d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&gt;N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中和上边界无关的节点所对应的元素赋值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-N]=-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i,N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)!=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中和左边界无关的节点所对应的元素赋值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A[i,i-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i,N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)!=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中和右边界无关的节点所对应的元素赋值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A[i,i+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&lt;=N*(N-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8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中和下边界无关的节点所对应的元素赋值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A[</a:t>
            </a:r>
            <a:r>
              <a:rPr lang="en-US" altLang="zh-CN" sz="8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i,i+N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]=-</a:t>
            </a:r>
            <a:r>
              <a:rPr lang="en-US" altLang="zh-CN" sz="8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8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;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100"/>
              </a:lnSpc>
            </a:pPr>
            <a:r>
              <a:rPr lang="en-US" altLang="zh-CN" sz="8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E1F420-E2AC-4186-A428-B88CA1BF004D}"/>
              </a:ext>
            </a:extLst>
          </p:cNvPr>
          <p:cNvSpPr txBox="1"/>
          <p:nvPr/>
        </p:nvSpPr>
        <p:spPr>
          <a:xfrm>
            <a:off x="2263660" y="754064"/>
            <a:ext cx="6804515" cy="43499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zh-CN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增广矩阵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简化为</a:t>
            </a:r>
            <a:r>
              <a:rPr lang="zh-CN" altLang="zh-CN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阶梯矩阵</a:t>
            </a: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U,=</a:t>
            </a:r>
            <a:r>
              <a:rPr lang="en-US" altLang="zh-CN" sz="1600" kern="0" dirty="0" err="1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rref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([A b]) 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X=U[:,end]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795E26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B=zeros(N,N);  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6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:N </a:t>
            </a:r>
            <a:r>
              <a:rPr lang="en-US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把矩阵</a:t>
            </a:r>
            <a:r>
              <a:rPr lang="en-US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U</a:t>
            </a:r>
            <a:r>
              <a:rPr lang="zh-CN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的最后一列按矩阵形式赋给</a:t>
            </a:r>
            <a:r>
              <a:rPr lang="en-US" altLang="zh-CN" sz="1600" kern="0" dirty="0">
                <a:solidFill>
                  <a:srgbClr val="008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AF00D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j=</a:t>
            </a:r>
            <a:r>
              <a:rPr lang="en-US" altLang="zh-CN" sz="16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:N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B[</a:t>
            </a:r>
            <a:r>
              <a:rPr lang="en-US" altLang="zh-CN" sz="16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i,j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]=U[N*(i-</a:t>
            </a:r>
            <a:r>
              <a:rPr lang="en-US" altLang="zh-CN" sz="16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)+</a:t>
            </a:r>
            <a:r>
              <a:rPr lang="en-US" altLang="zh-CN" sz="1600" kern="0" dirty="0" err="1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j,N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*N+</a:t>
            </a:r>
            <a:r>
              <a:rPr lang="en-US" altLang="zh-CN" sz="1600" kern="0" dirty="0">
                <a:solidFill>
                  <a:srgbClr val="098658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];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kern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end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T=zeros(N+2,N+2)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T[2:N+1,2:N+1]=B; #</a:t>
            </a:r>
            <a:r>
              <a:rPr lang="zh-CN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把钢板内部温度和和四周温度值放入矩阵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T[1,2:N+1].=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t_u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;   #</a:t>
            </a:r>
            <a:r>
              <a:rPr lang="zh-CN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传播运算</a:t>
            </a: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T[N+2,2:N+1].=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t_d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T[2:N+1,1].=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t_l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T[2:N+1,N+2].=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t_r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T[[1,N+2],[1,N+2]].=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NaN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; #</a:t>
            </a:r>
            <a:r>
              <a:rPr lang="zh-CN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矩阵四个角没有温度值，故把非数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NaN</a:t>
            </a:r>
            <a:r>
              <a:rPr lang="zh-CN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放入</a:t>
            </a:r>
            <a:endParaRPr lang="en-US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绘制温度场</a:t>
            </a:r>
            <a:endParaRPr lang="zh-CN" altLang="zh-CN" sz="1600" kern="0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/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contourf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(T)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clabel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c,inline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=false, </a:t>
            </a:r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fontsize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=10, colors="k")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colorbar</a:t>
            </a:r>
            <a:r>
              <a:rPr lang="en-US" altLang="zh-CN" sz="16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(c)</a:t>
            </a:r>
            <a:endParaRPr lang="zh-CN" altLang="zh-CN" sz="16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3A5452-C3E1-48BD-9439-D727E8FCF5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3" t="12320" r="8263" b="12200"/>
          <a:stretch/>
        </p:blipFill>
        <p:spPr>
          <a:xfrm>
            <a:off x="6020839" y="2293806"/>
            <a:ext cx="3123067" cy="187449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DB3A4A6-6344-4DDE-B750-B5DA760E0A1B}"/>
              </a:ext>
            </a:extLst>
          </p:cNvPr>
          <p:cNvSpPr/>
          <p:nvPr/>
        </p:nvSpPr>
        <p:spPr>
          <a:xfrm>
            <a:off x="6474221" y="4322121"/>
            <a:ext cx="2592288" cy="338554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心部</a:t>
            </a:r>
            <a:r>
              <a:rPr lang="en-US" altLang="ko-KR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50*50</a:t>
            </a:r>
            <a:r>
              <a:rPr lang="zh-CN" altLang="en-US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节点</a:t>
            </a:r>
            <a:r>
              <a:rPr lang="en-US" altLang="zh-CN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2500</a:t>
            </a:r>
            <a:r>
              <a:rPr lang="zh-CN" altLang="en-US" sz="16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11C78F47-9F54-4680-9F35-139A74A1A1D1}"/>
              </a:ext>
            </a:extLst>
          </p:cNvPr>
          <p:cNvSpPr/>
          <p:nvPr/>
        </p:nvSpPr>
        <p:spPr>
          <a:xfrm>
            <a:off x="4825408" y="575254"/>
            <a:ext cx="1186752" cy="40238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例64-1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C71F0C-80D2-4E2F-839A-21F0BCBC4888}"/>
              </a:ext>
            </a:extLst>
          </p:cNvPr>
          <p:cNvSpPr txBox="1"/>
          <p:nvPr/>
        </p:nvSpPr>
        <p:spPr>
          <a:xfrm>
            <a:off x="0" y="400542"/>
            <a:ext cx="2125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altLang="zh-CN" sz="1400" kern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400" kern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创建方程的系数矩阵</a:t>
            </a:r>
            <a:endParaRPr lang="zh-CN" altLang="zh-CN" sz="1400" kern="100" dirty="0">
              <a:solidFill>
                <a:schemeClr val="bg1"/>
              </a:solidFill>
              <a:effectLst/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44C05E-42B1-4A56-9CC9-459A893ED4FF}"/>
              </a:ext>
            </a:extLst>
          </p:cNvPr>
          <p:cNvSpPr/>
          <p:nvPr/>
        </p:nvSpPr>
        <p:spPr>
          <a:xfrm>
            <a:off x="5916365" y="615864"/>
            <a:ext cx="3308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/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求解恰定方程组</a:t>
            </a:r>
            <a:r>
              <a:rPr lang="en-US" altLang="zh-CN" sz="2000" dirty="0">
                <a:solidFill>
                  <a:schemeClr val="bg1"/>
                </a:solidFill>
                <a:highlight>
                  <a:srgbClr val="0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2500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个方程</a:t>
            </a:r>
            <a:endParaRPr lang="en-US" altLang="zh-CN" sz="2000" dirty="0">
              <a:solidFill>
                <a:schemeClr val="bg1"/>
              </a:solidFill>
              <a:highlight>
                <a:srgbClr val="00008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450677-6508-4E26-8E9C-176E7DA57588}"/>
              </a:ext>
            </a:extLst>
          </p:cNvPr>
          <p:cNvSpPr txBox="1"/>
          <p:nvPr/>
        </p:nvSpPr>
        <p:spPr>
          <a:xfrm>
            <a:off x="6720173" y="1232276"/>
            <a:ext cx="2423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铁板均匀划分网格，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方向各等分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得到心部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20909B-1F14-4C7A-91EF-ABAAF55D2FF7}"/>
              </a:ext>
            </a:extLst>
          </p:cNvPr>
          <p:cNvSpPr txBox="1"/>
          <p:nvPr/>
        </p:nvSpPr>
        <p:spPr>
          <a:xfrm>
            <a:off x="539553" y="-101381"/>
            <a:ext cx="9036898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恰定线性方程组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求解中心温度</a:t>
            </a:r>
            <a:r>
              <a:rPr lang="en-US" altLang="zh-CN" sz="28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tfield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307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65D2B6-6355-4522-BEE2-746E8945C2D4}"/>
              </a:ext>
            </a:extLst>
          </p:cNvPr>
          <p:cNvSpPr txBox="1"/>
          <p:nvPr/>
        </p:nvSpPr>
        <p:spPr>
          <a:xfrm>
            <a:off x="616010" y="56701"/>
            <a:ext cx="8477187" cy="57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§6.5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奇异矩阵线性方程组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46896E-B949-4532-A41E-92D7C5598F36}"/>
              </a:ext>
            </a:extLst>
          </p:cNvPr>
          <p:cNvSpPr txBox="1"/>
          <p:nvPr/>
        </p:nvSpPr>
        <p:spPr>
          <a:xfrm>
            <a:off x="666164" y="732224"/>
            <a:ext cx="87264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20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zh-CN" b="1" dirty="0"/>
              <a:t>某城市单行线</a:t>
            </a:r>
            <a:r>
              <a:rPr lang="zh-CN" altLang="en-US" b="1" dirty="0"/>
              <a:t>车流量</a:t>
            </a:r>
            <a:r>
              <a:rPr lang="zh-CN" altLang="zh-CN" b="1" dirty="0"/>
              <a:t>图</a:t>
            </a:r>
            <a:r>
              <a:rPr lang="zh-CN" altLang="en-US" b="1" dirty="0"/>
              <a:t>，图中标明每</a:t>
            </a:r>
            <a:r>
              <a:rPr lang="zh-CN" altLang="zh-CN" b="1" dirty="0"/>
              <a:t>段</a:t>
            </a:r>
            <a:r>
              <a:rPr lang="zh-CN" altLang="en-US" b="1" dirty="0"/>
              <a:t>路</a:t>
            </a:r>
            <a:r>
              <a:rPr lang="zh-CN" altLang="zh-CN" b="1" dirty="0"/>
              <a:t>每小时按箭头方向行驶车流量</a:t>
            </a:r>
            <a:r>
              <a:rPr lang="en-US" altLang="zh-CN" b="1" dirty="0"/>
              <a:t>( </a:t>
            </a:r>
            <a:r>
              <a:rPr lang="zh-CN" altLang="zh-CN" b="1" dirty="0"/>
              <a:t>辆</a:t>
            </a:r>
            <a:r>
              <a:rPr lang="en-US" altLang="zh-CN" b="1" dirty="0"/>
              <a:t>). </a:t>
            </a:r>
            <a:endParaRPr lang="zh-CN" altLang="zh-CN" b="1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9709C24-051D-459C-AA70-CB4A6B381A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7285" y="890339"/>
            <a:ext cx="2640330" cy="1981200"/>
            <a:chOff x="3879" y="2063"/>
            <a:chExt cx="4159" cy="3120"/>
          </a:xfrm>
        </p:grpSpPr>
        <p:sp>
          <p:nvSpPr>
            <p:cNvPr id="7" name="AutoShape 29">
              <a:extLst>
                <a:ext uri="{FF2B5EF4-FFF2-40B4-BE49-F238E27FC236}">
                  <a16:creationId xmlns:a16="http://schemas.microsoft.com/office/drawing/2014/main" id="{0A4BE593-4A74-4887-BAF9-74D14050E9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9569ACC0-1D8B-4EF5-A36C-7FB45D4CB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27">
              <a:extLst>
                <a:ext uri="{FF2B5EF4-FFF2-40B4-BE49-F238E27FC236}">
                  <a16:creationId xmlns:a16="http://schemas.microsoft.com/office/drawing/2014/main" id="{C8125666-1222-4E3C-A991-E375C420E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4258BFE0-79F2-4F23-B16B-BFA27D57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Oval 25">
              <a:extLst>
                <a:ext uri="{FF2B5EF4-FFF2-40B4-BE49-F238E27FC236}">
                  <a16:creationId xmlns:a16="http://schemas.microsoft.com/office/drawing/2014/main" id="{8BCAF78A-EB7D-4DD6-B036-41EEFDCBE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24">
              <a:extLst>
                <a:ext uri="{FF2B5EF4-FFF2-40B4-BE49-F238E27FC236}">
                  <a16:creationId xmlns:a16="http://schemas.microsoft.com/office/drawing/2014/main" id="{20B06B9F-3104-4229-8963-7F24DD7C5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11E9EC7-50F1-425F-B104-F602D541A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840002F-7CD8-45AA-BB75-86AC6AD24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9F316BDB-9C2E-4343-B1BA-FD4AA878A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09AD0F1F-DBA0-4E78-9F97-4EA7CB9D5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B40A3D1-3994-4186-92D0-A91A41570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B558824-8237-4493-A146-E95B8224B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E71220E-F6CE-4862-8EEB-AC630CA2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41A48BB9-6747-4088-A313-461AB43FF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A6CC712-1BA4-4E40-BD21-E37274076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48270F6-98F5-480B-A56E-26BF1622E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EF4A09C8-E3F0-4C72-8B20-BA0AC969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4" y="2264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6CE06EBF-6E6C-43E2-A714-7928FDC9E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5956944-C1F5-4794-AF4D-1A38D8068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3656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988A9CA1-5E57-42D5-BB9F-A08B6946E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382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8D85C3CF-4C69-4649-9F78-AB0239D5F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75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36CCF2B0-ACC1-412D-B4F6-5EC4B851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34E1E6AC-D587-4E29-BF8D-437564F07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CFC75D0C-EFEA-43C5-AD3E-6631C642C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" y="3831"/>
              <a:ext cx="49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DE3FE0FE-63F9-48ED-903D-E92DDA3D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51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/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en-US" altLang="zh-CN" sz="2000" i="0" kern="100" dirty="0">
                    <a:solidFill>
                      <a:srgbClr val="00B0F0"/>
                    </a:solidFill>
                    <a:effectLst/>
                    <a:latin typeface="+mj-lt"/>
                    <a:ea typeface="宋体" panose="02010600030101010101" pitchFamily="2" charset="-122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kern="10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kern="100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500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 smtClean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400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100 + 200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baseline="-250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kern="100" dirty="0">
                                  <a:solidFill>
                                    <a:srgbClr val="00B0F0"/>
                                  </a:solidFill>
                                  <a:ea typeface="宋体" panose="02010600030101010101" pitchFamily="2" charset="-122"/>
                                </a:rPr>
                                <m:t> + 300 </m:t>
                              </m:r>
                              <m:r>
                                <m:rPr>
                                  <m:nor/>
                                </m:rPr>
                                <a:rPr lang="zh-CN" altLang="zh-CN" sz="2000" kern="100" dirty="0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F232789-82A1-4996-86D4-46DB0B08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885" y="1649794"/>
                <a:ext cx="2171353" cy="733534"/>
              </a:xfrm>
              <a:prstGeom prst="rect">
                <a:avLst/>
              </a:prstGeom>
              <a:blipFill>
                <a:blip r:embed="rId4"/>
                <a:stretch>
                  <a:fillRect t="-35833" r="-15730" b="-3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D69B009-9214-46D6-AF33-2843198B7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876" y="2975984"/>
          <a:ext cx="2549596" cy="154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7" r:id="rId5" imgW="1549400" imgH="939800" progId="Equation.DSMT4">
                  <p:embed/>
                </p:oleObj>
              </mc:Choice>
              <mc:Fallback>
                <p:oleObj r:id="rId5" imgW="1549400" imgH="93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D69B009-9214-46D6-AF33-2843198B7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876" y="2975984"/>
                        <a:ext cx="2549596" cy="15473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E2B3B53A-F6C9-419D-A70C-04BD0C8E983C}"/>
              </a:ext>
            </a:extLst>
          </p:cNvPr>
          <p:cNvSpPr txBox="1"/>
          <p:nvPr/>
        </p:nvSpPr>
        <p:spPr>
          <a:xfrm>
            <a:off x="3488018" y="1516084"/>
            <a:ext cx="2782858" cy="72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④四个路口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algn="dist">
              <a:lnSpc>
                <a:spcPts val="2600"/>
              </a:lnSpc>
            </a:pPr>
            <a:r>
              <a:rPr lang="zh-CN" altLang="en-US" sz="1600" b="1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驶入车辆数等于驶出车辆数</a:t>
            </a:r>
            <a:endParaRPr lang="zh-CN" altLang="zh-CN" sz="1600" b="1" kern="1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F7A4C39-ED0A-4FED-800E-955F620C80BB}"/>
              </a:ext>
            </a:extLst>
          </p:cNvPr>
          <p:cNvSpPr/>
          <p:nvPr/>
        </p:nvSpPr>
        <p:spPr bwMode="auto">
          <a:xfrm rot="5400000">
            <a:off x="7493076" y="2809373"/>
            <a:ext cx="290322" cy="243763"/>
          </a:xfrm>
          <a:prstGeom prst="rightArrow">
            <a:avLst/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550230E-8F7A-4D34-A7BE-BCBD71DF403C}"/>
              </a:ext>
            </a:extLst>
          </p:cNvPr>
          <p:cNvSpPr/>
          <p:nvPr/>
        </p:nvSpPr>
        <p:spPr>
          <a:xfrm>
            <a:off x="6350619" y="4103240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个变量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442F80-58F4-4E59-A81B-6F6CBB6135DE}"/>
              </a:ext>
            </a:extLst>
          </p:cNvPr>
          <p:cNvSpPr/>
          <p:nvPr/>
        </p:nvSpPr>
        <p:spPr>
          <a:xfrm>
            <a:off x="7225524" y="3069116"/>
            <a:ext cx="10054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4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个方程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BD884A-6E2F-465A-AD3A-41C2139211AA}"/>
              </a:ext>
            </a:extLst>
          </p:cNvPr>
          <p:cNvSpPr/>
          <p:nvPr/>
        </p:nvSpPr>
        <p:spPr>
          <a:xfrm>
            <a:off x="353623" y="2599573"/>
            <a:ext cx="5439929" cy="204498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建立方程组系数矩阵、常数向量和增广矩阵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求方程组的行列式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inv\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伪逆求根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范数最小最小二乘求根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增广矩阵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初等变换的阶梯形函数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波形 39">
            <a:extLst>
              <a:ext uri="{FF2B5EF4-FFF2-40B4-BE49-F238E27FC236}">
                <a16:creationId xmlns:a16="http://schemas.microsoft.com/office/drawing/2014/main" id="{373D2D40-0751-4C57-B235-DA2908B7B098}"/>
              </a:ext>
            </a:extLst>
          </p:cNvPr>
          <p:cNvSpPr/>
          <p:nvPr/>
        </p:nvSpPr>
        <p:spPr>
          <a:xfrm>
            <a:off x="99517" y="801986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95543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94A22CC8-9F38-4118-814F-F0DF6A47CF09}"/>
              </a:ext>
            </a:extLst>
          </p:cNvPr>
          <p:cNvSpPr txBox="1"/>
          <p:nvPr/>
        </p:nvSpPr>
        <p:spPr>
          <a:xfrm>
            <a:off x="557426" y="1041832"/>
            <a:ext cx="64296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=[1 1 0 0;1 0 0 -1; 0 1 1 0;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0 0 -1 1];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b=[500;-100;300;300];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ab=[a b];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B691328-C5E2-4A5A-BE53-AF1E021D72AB}"/>
              </a:ext>
            </a:extLst>
          </p:cNvPr>
          <p:cNvSpPr txBox="1"/>
          <p:nvPr/>
        </p:nvSpPr>
        <p:spPr>
          <a:xfrm>
            <a:off x="524588" y="56064"/>
            <a:ext cx="8548145" cy="57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§6.5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奇异矩阵线性方程组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DD5034C-8C0A-4244-B1DE-0B3B9E6D0F33}"/>
              </a:ext>
            </a:extLst>
          </p:cNvPr>
          <p:cNvSpPr/>
          <p:nvPr/>
        </p:nvSpPr>
        <p:spPr>
          <a:xfrm>
            <a:off x="2987824" y="2258091"/>
            <a:ext cx="302731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rank(A)=rank(</a:t>
            </a:r>
            <a:r>
              <a:rPr lang="en-US" altLang="zh-CN" sz="1600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)&lt;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未知量个数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860BE91-CDEF-4F8C-B2E6-980B9E53A9BE}"/>
              </a:ext>
            </a:extLst>
          </p:cNvPr>
          <p:cNvSpPr/>
          <p:nvPr/>
        </p:nvSpPr>
        <p:spPr>
          <a:xfrm>
            <a:off x="960804" y="703278"/>
            <a:ext cx="584344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72000" indent="-360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建立方程组的系数矩阵、增广矩阵和常数向量 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jtll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E1E3678-BEC0-4306-A7B5-7674A279E8EE}"/>
              </a:ext>
            </a:extLst>
          </p:cNvPr>
          <p:cNvSpPr/>
          <p:nvPr/>
        </p:nvSpPr>
        <p:spPr>
          <a:xfrm>
            <a:off x="560084" y="2227295"/>
            <a:ext cx="3388898" cy="369332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36000" indent="-36000" eaLnBrk="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判断方程组的类型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DDB3F64-A8E3-4250-ACE5-0486A822D069}"/>
              </a:ext>
            </a:extLst>
          </p:cNvPr>
          <p:cNvSpPr/>
          <p:nvPr/>
        </p:nvSpPr>
        <p:spPr>
          <a:xfrm>
            <a:off x="560084" y="3320461"/>
            <a:ext cx="3543356" cy="36933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条件数，行列式和逆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华文楷体" panose="0201060004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2544FB4-D56A-428A-9E2E-A8C0FE9ACB48}"/>
              </a:ext>
            </a:extLst>
          </p:cNvPr>
          <p:cNvSpPr txBox="1"/>
          <p:nvPr/>
        </p:nvSpPr>
        <p:spPr>
          <a:xfrm>
            <a:off x="560084" y="2539037"/>
            <a:ext cx="3755204" cy="85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rank(a) 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rank(ab)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  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68CC82D-69D1-4864-9455-1C29A641AD3E}"/>
              </a:ext>
            </a:extLst>
          </p:cNvPr>
          <p:cNvSpPr txBox="1"/>
          <p:nvPr/>
        </p:nvSpPr>
        <p:spPr>
          <a:xfrm>
            <a:off x="560084" y="3659015"/>
            <a:ext cx="4412532" cy="1045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cond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Inf</a:t>
            </a:r>
          </a:p>
          <a:p>
            <a:pPr>
              <a:lnSpc>
                <a:spcPts val="25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det(a)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0.0</a:t>
            </a:r>
          </a:p>
          <a:p>
            <a:pPr>
              <a:lnSpc>
                <a:spcPts val="2500"/>
              </a:lnSpc>
            </a:pPr>
            <a:r>
              <a:rPr lang="es-E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inv(a)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 </a:t>
            </a:r>
            <a:r>
              <a:rPr lang="es-E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ERROR: SingularException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18D2D1-A450-4158-99D2-1CE3C786D014}"/>
              </a:ext>
            </a:extLst>
          </p:cNvPr>
          <p:cNvSpPr txBox="1"/>
          <p:nvPr/>
        </p:nvSpPr>
        <p:spPr>
          <a:xfrm>
            <a:off x="4925562" y="4317725"/>
            <a:ext cx="410011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400" dirty="0"/>
              <a:t>A </a:t>
            </a:r>
            <a:r>
              <a:rPr lang="zh-CN" altLang="en-US" sz="1400" dirty="0"/>
              <a:t>非方阵，或者是方阵且奇异，则 </a:t>
            </a:r>
            <a:r>
              <a:rPr lang="en-US" altLang="zh-CN" sz="1400" dirty="0"/>
              <a:t>inv(A) </a:t>
            </a:r>
            <a:r>
              <a:rPr lang="zh-CN" altLang="en-US" sz="1400" dirty="0"/>
              <a:t>不存在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7F4B00-C86F-4AF7-931B-44309DB3FD36}"/>
              </a:ext>
            </a:extLst>
          </p:cNvPr>
          <p:cNvSpPr txBox="1"/>
          <p:nvPr/>
        </p:nvSpPr>
        <p:spPr>
          <a:xfrm>
            <a:off x="5940152" y="2523239"/>
            <a:ext cx="30273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&gt; p=</a:t>
            </a:r>
            <a:r>
              <a:rPr lang="en-US" altLang="zh-CN" sz="1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(a)</a:t>
            </a:r>
          </a:p>
          <a:p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4×4 Matrix{Float64}:</a:t>
            </a:r>
          </a:p>
          <a:p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0.375   0.375  -0.125   0.125</a:t>
            </a:r>
          </a:p>
          <a:p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0.375  -0.125   0.375   0.125</a:t>
            </a:r>
          </a:p>
          <a:p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-0.125  -0.125   0.375  -0.375</a:t>
            </a:r>
          </a:p>
          <a:p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0.125  -0.375   0.125   0.375</a:t>
            </a:r>
            <a:endParaRPr lang="zh-CN" altLang="en-US" dirty="0"/>
          </a:p>
        </p:txBody>
      </p:sp>
      <p:sp>
        <p:nvSpPr>
          <p:cNvPr id="15" name="波形 14">
            <a:extLst>
              <a:ext uri="{FF2B5EF4-FFF2-40B4-BE49-F238E27FC236}">
                <a16:creationId xmlns:a16="http://schemas.microsoft.com/office/drawing/2014/main" id="{39B57CA6-CC32-4B4C-9920-22D34BA4468D}"/>
              </a:ext>
            </a:extLst>
          </p:cNvPr>
          <p:cNvSpPr/>
          <p:nvPr/>
        </p:nvSpPr>
        <p:spPr>
          <a:xfrm>
            <a:off x="265686" y="723157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8086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FF4CA386-D8B8-4852-9FCA-E16918748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195" y="723181"/>
            <a:ext cx="3682871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4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求奇异的欠定方程特解：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83DCE4E-5C38-4AEB-8777-43659A912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22" y="1210933"/>
            <a:ext cx="133269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sym typeface="Arial" charset="0"/>
              </a:rPr>
              <a:t>x=</a:t>
            </a:r>
            <a:r>
              <a:rPr lang="en-US" altLang="zh-CN" sz="1600" dirty="0" err="1">
                <a:solidFill>
                  <a:schemeClr val="bg1"/>
                </a:solidFill>
                <a:sym typeface="Arial" charset="0"/>
              </a:rPr>
              <a:t>pinv</a:t>
            </a:r>
            <a:r>
              <a:rPr lang="en-US" altLang="zh-CN" sz="1600" dirty="0">
                <a:solidFill>
                  <a:schemeClr val="bg1"/>
                </a:solidFill>
                <a:sym typeface="Arial" charset="0"/>
              </a:rPr>
              <a:t>(A)*b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62F95E-337B-4E00-9B16-6E3B90627033}"/>
              </a:ext>
            </a:extLst>
          </p:cNvPr>
          <p:cNvSpPr txBox="1"/>
          <p:nvPr/>
        </p:nvSpPr>
        <p:spPr>
          <a:xfrm>
            <a:off x="1531553" y="1226579"/>
            <a:ext cx="48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基于奇异矩阵分解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svd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的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0F487BB-56FF-41D8-8C60-4AB9ECBD53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5827" y="2288769"/>
            <a:ext cx="2819028" cy="2116816"/>
            <a:chOff x="3882" y="2063"/>
            <a:chExt cx="4156" cy="3120"/>
          </a:xfrm>
        </p:grpSpPr>
        <p:sp>
          <p:nvSpPr>
            <p:cNvPr id="12" name="AutoShape 29">
              <a:extLst>
                <a:ext uri="{FF2B5EF4-FFF2-40B4-BE49-F238E27FC236}">
                  <a16:creationId xmlns:a16="http://schemas.microsoft.com/office/drawing/2014/main" id="{25173549-167B-4D71-8B61-885D5607812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F6AD92E7-3AF8-4384-9C96-3BB07278D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Oval 27">
              <a:extLst>
                <a:ext uri="{FF2B5EF4-FFF2-40B4-BE49-F238E27FC236}">
                  <a16:creationId xmlns:a16="http://schemas.microsoft.com/office/drawing/2014/main" id="{F5C83F3D-9B41-4742-8FE6-4E1498112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FFFF00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  <p:sp>
          <p:nvSpPr>
            <p:cNvPr id="15" name="Oval 26">
              <a:extLst>
                <a:ext uri="{FF2B5EF4-FFF2-40B4-BE49-F238E27FC236}">
                  <a16:creationId xmlns:a16="http://schemas.microsoft.com/office/drawing/2014/main" id="{749B709F-F6F7-4B85-9C7F-41D4CC053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" name="Oval 25">
              <a:extLst>
                <a:ext uri="{FF2B5EF4-FFF2-40B4-BE49-F238E27FC236}">
                  <a16:creationId xmlns:a16="http://schemas.microsoft.com/office/drawing/2014/main" id="{1FD3DDC6-08CD-437B-A81A-570D8F3CC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sz="1200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" name="Oval 24">
              <a:extLst>
                <a:ext uri="{FF2B5EF4-FFF2-40B4-BE49-F238E27FC236}">
                  <a16:creationId xmlns:a16="http://schemas.microsoft.com/office/drawing/2014/main" id="{A6A3D2B4-1649-4705-9D4A-9D0E29CC7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FF00"/>
                  </a:solidFill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FF898266-78CF-4A88-AE87-2DA9CAB3E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F04574BF-F743-4099-9C39-99BDCA575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93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1D6B556F-766B-4B0D-891D-9D17A57A2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9B3E706-B0D9-4387-8FAC-9A7CDAC93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27628AC9-0D0B-4268-ADB3-6B4286154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5E521251-52A3-42E3-AF76-A95D8D148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248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A5B5FD4C-0045-4691-A9FB-3CC731F3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132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DDE908FB-45B5-4327-81F6-C71556719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4242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DCF050F3-D8CC-437E-8448-A4328DB45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C7FF970A-A251-437F-A4C1-457E08949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51249C24-D5CB-49F3-B847-7F630F33E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9" y="2330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1A3C4597-7766-4CB0-A862-AE99BA111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63F1C452-7BDB-4C27-B79B-A1276A080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" y="3935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B3AB50DA-7EC1-4EA5-B4D7-D30518793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0" y="4445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Text Box 9">
              <a:extLst>
                <a:ext uri="{FF2B5EF4-FFF2-40B4-BE49-F238E27FC236}">
                  <a16:creationId xmlns:a16="http://schemas.microsoft.com/office/drawing/2014/main" id="{4A45F3C8-A44B-4642-BAB8-F7D7F129C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4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10529E2A-C937-4398-A88F-7DA0C759E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2858"/>
              <a:ext cx="7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X1=150</a:t>
              </a:r>
            </a:p>
          </p:txBody>
        </p:sp>
        <p:sp>
          <p:nvSpPr>
            <p:cNvPr id="34" name="Text Box 7">
              <a:extLst>
                <a:ext uri="{FF2B5EF4-FFF2-40B4-BE49-F238E27FC236}">
                  <a16:creationId xmlns:a16="http://schemas.microsoft.com/office/drawing/2014/main" id="{959E2ADB-C948-4D52-BE94-031F3AF09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7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X2=350</a:t>
              </a:r>
            </a:p>
          </p:txBody>
        </p:sp>
        <p:sp>
          <p:nvSpPr>
            <p:cNvPr id="35" name="Text Box 6">
              <a:extLst>
                <a:ext uri="{FF2B5EF4-FFF2-40B4-BE49-F238E27FC236}">
                  <a16:creationId xmlns:a16="http://schemas.microsoft.com/office/drawing/2014/main" id="{32577387-AA44-4513-8052-6FCB714F2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" y="3867"/>
              <a:ext cx="68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X3=-50</a:t>
              </a:r>
            </a:p>
          </p:txBody>
        </p:sp>
        <p:sp>
          <p:nvSpPr>
            <p:cNvPr id="36" name="Text Box 5">
              <a:extLst>
                <a:ext uri="{FF2B5EF4-FFF2-40B4-BE49-F238E27FC236}">
                  <a16:creationId xmlns:a16="http://schemas.microsoft.com/office/drawing/2014/main" id="{8FA10BDD-7485-4898-8141-70475082B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3420"/>
              <a:ext cx="7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X4=250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575553FF-6717-42B0-8F54-D2763EFEC81B}"/>
              </a:ext>
            </a:extLst>
          </p:cNvPr>
          <p:cNvSpPr txBox="1"/>
          <p:nvPr/>
        </p:nvSpPr>
        <p:spPr>
          <a:xfrm>
            <a:off x="117368" y="2145344"/>
            <a:ext cx="53169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=[1 1 0 0;1 0 0 -1; 0 1 1 0;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0 0 -1 1];</a:t>
            </a:r>
          </a:p>
          <a:p>
            <a:pPr>
              <a:lnSpc>
                <a:spcPts val="26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b=[500;-100;300;300];</a:t>
            </a:r>
          </a:p>
          <a:p>
            <a:pPr>
              <a:lnSpc>
                <a:spcPts val="26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det(a)#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</a:t>
            </a:r>
            <a:r>
              <a:rPr lang="en-US" altLang="zh-CN" sz="22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(a)*b #</a:t>
            </a:r>
            <a:r>
              <a:rPr lang="zh-CN" altLang="en-US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特解</a:t>
            </a:r>
            <a:endParaRPr lang="en-US" altLang="zh-CN" sz="22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</a:t>
            </a:r>
            <a:r>
              <a:rPr lang="en-US" altLang="zh-CN" sz="22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en-US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2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a,b</a:t>
            </a:r>
            <a:r>
              <a:rPr lang="en-US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sz="2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ty_format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("</a:t>
            </a:r>
            <a:r>
              <a:rPr lang="en-US" altLang="zh-CN" sz="2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short",x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)#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短形式显示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10DCA2C-1D2B-4380-AED9-EFC8BD1DFCFD}"/>
              </a:ext>
            </a:extLst>
          </p:cNvPr>
          <p:cNvSpPr txBox="1"/>
          <p:nvPr/>
        </p:nvSpPr>
        <p:spPr>
          <a:xfrm>
            <a:off x="3447496" y="727031"/>
            <a:ext cx="576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线性方程组范数</a:t>
            </a:r>
            <a:r>
              <a:rPr lang="zh-CN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norm(A*x-b) 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最小的最小二乘解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4ADA733-23F9-41CA-96C5-20DA5BC9C440}"/>
              </a:ext>
            </a:extLst>
          </p:cNvPr>
          <p:cNvSpPr txBox="1"/>
          <p:nvPr/>
        </p:nvSpPr>
        <p:spPr>
          <a:xfrm>
            <a:off x="12979" y="4394821"/>
            <a:ext cx="5170054" cy="38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s-E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A\b   </a:t>
            </a:r>
            <a:r>
              <a:rPr lang="es-E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s-E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SingularException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utoShape 13">
            <a:extLst>
              <a:ext uri="{FF2B5EF4-FFF2-40B4-BE49-F238E27FC236}">
                <a16:creationId xmlns:a16="http://schemas.microsoft.com/office/drawing/2014/main" id="{1713AC91-AABA-4EA1-9618-070EE2508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905" y="4075992"/>
            <a:ext cx="3640641" cy="53073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左除不适合于奇异矩阵</a:t>
            </a:r>
            <a:endParaRPr lang="zh-CN" altLang="en-US" sz="1200" b="1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E37681B-826F-45D5-B760-685804EC2D52}"/>
              </a:ext>
            </a:extLst>
          </p:cNvPr>
          <p:cNvSpPr txBox="1"/>
          <p:nvPr/>
        </p:nvSpPr>
        <p:spPr>
          <a:xfrm>
            <a:off x="1114885" y="45153"/>
            <a:ext cx="7921611" cy="57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§6.5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奇异矩阵线性方程组</a:t>
            </a:r>
            <a:r>
              <a:rPr lang="en-US" altLang="zh-CN" sz="26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D79A34F-3519-40DB-B2D1-3D40042704BD}"/>
              </a:ext>
            </a:extLst>
          </p:cNvPr>
          <p:cNvSpPr txBox="1"/>
          <p:nvPr/>
        </p:nvSpPr>
        <p:spPr>
          <a:xfrm>
            <a:off x="5567495" y="2128620"/>
            <a:ext cx="3640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x=linsolve(a,b) </a:t>
            </a:r>
            <a:r>
              <a:rPr lang="en-US" altLang="zh-CN" b="1" dirty="0">
                <a:solidFill>
                  <a:srgbClr val="FF0000"/>
                </a:solidFill>
              </a:rPr>
              <a:t>#</a:t>
            </a:r>
            <a:r>
              <a:rPr lang="zh-CN" altLang="en-US" b="1" dirty="0">
                <a:solidFill>
                  <a:srgbClr val="FF0000"/>
                </a:solidFill>
              </a:rPr>
              <a:t>线性方程求特解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EFA197F-8CAF-489D-A6C1-5C5688170A00}"/>
              </a:ext>
            </a:extLst>
          </p:cNvPr>
          <p:cNvSpPr txBox="1"/>
          <p:nvPr/>
        </p:nvSpPr>
        <p:spPr>
          <a:xfrm>
            <a:off x="7497498" y="2578309"/>
            <a:ext cx="1278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结果</a:t>
            </a:r>
            <a:endParaRPr lang="en-US" altLang="zh-CN" dirty="0"/>
          </a:p>
          <a:p>
            <a:r>
              <a:rPr lang="zh-CN" altLang="en-US" dirty="0"/>
              <a:t> -100.0</a:t>
            </a:r>
          </a:p>
          <a:p>
            <a:r>
              <a:rPr lang="zh-CN" altLang="en-US" dirty="0"/>
              <a:t>  600.0</a:t>
            </a:r>
          </a:p>
          <a:p>
            <a:r>
              <a:rPr lang="zh-CN" altLang="en-US" dirty="0"/>
              <a:t> -300.0</a:t>
            </a:r>
          </a:p>
          <a:p>
            <a:r>
              <a:rPr lang="zh-CN" altLang="en-US" dirty="0"/>
              <a:t>    0.0</a:t>
            </a:r>
          </a:p>
        </p:txBody>
      </p:sp>
      <p:sp>
        <p:nvSpPr>
          <p:cNvPr id="51" name="TextBox 2">
            <a:extLst>
              <a:ext uri="{FF2B5EF4-FFF2-40B4-BE49-F238E27FC236}">
                <a16:creationId xmlns:a16="http://schemas.microsoft.com/office/drawing/2014/main" id="{B58CAFCF-F6F6-468C-B882-DC3A63629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23" y="1646404"/>
            <a:ext cx="196730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x=linsolve(a,b)</a:t>
            </a:r>
            <a:endParaRPr lang="en-US" altLang="zh-CN" sz="1800" dirty="0">
              <a:solidFill>
                <a:schemeClr val="bg1"/>
              </a:solidFill>
              <a:sym typeface="Arial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55621B-6311-4ED7-9A18-92CA737E2C68}"/>
              </a:ext>
            </a:extLst>
          </p:cNvPr>
          <p:cNvSpPr txBox="1"/>
          <p:nvPr/>
        </p:nvSpPr>
        <p:spPr>
          <a:xfrm>
            <a:off x="2036562" y="1638674"/>
            <a:ext cx="717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对于所有其他情况，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QR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  <p:sp>
        <p:nvSpPr>
          <p:cNvPr id="53" name="波形 52">
            <a:extLst>
              <a:ext uri="{FF2B5EF4-FFF2-40B4-BE49-F238E27FC236}">
                <a16:creationId xmlns:a16="http://schemas.microsoft.com/office/drawing/2014/main" id="{7906112C-412A-4996-BEFC-0AD83803F00B}"/>
              </a:ext>
            </a:extLst>
          </p:cNvPr>
          <p:cNvSpPr/>
          <p:nvPr/>
        </p:nvSpPr>
        <p:spPr>
          <a:xfrm>
            <a:off x="171124" y="294506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6617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2FE0A6-BF31-4527-9E7F-618ADC453058}"/>
              </a:ext>
            </a:extLst>
          </p:cNvPr>
          <p:cNvSpPr txBox="1"/>
          <p:nvPr/>
        </p:nvSpPr>
        <p:spPr>
          <a:xfrm>
            <a:off x="5340028" y="3210866"/>
            <a:ext cx="3768476" cy="13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x1                -x4=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-100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x2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+x4=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600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x3 -x4=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-300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圆角矩形 10">
            <a:extLst>
              <a:ext uri="{FF2B5EF4-FFF2-40B4-BE49-F238E27FC236}">
                <a16:creationId xmlns:a16="http://schemas.microsoft.com/office/drawing/2014/main" id="{F5BF409B-470D-4A36-8813-FC014B352896}"/>
              </a:ext>
            </a:extLst>
          </p:cNvPr>
          <p:cNvSpPr/>
          <p:nvPr/>
        </p:nvSpPr>
        <p:spPr bwMode="auto">
          <a:xfrm>
            <a:off x="5539816" y="3218213"/>
            <a:ext cx="3211481" cy="1257046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BEE795-4BE8-4F3D-A468-8C278DD53E16}"/>
              </a:ext>
            </a:extLst>
          </p:cNvPr>
          <p:cNvSpPr txBox="1"/>
          <p:nvPr/>
        </p:nvSpPr>
        <p:spPr>
          <a:xfrm>
            <a:off x="4788024" y="2748440"/>
            <a:ext cx="4133165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defRPr sz="2800"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342900" indent="-342900" algn="dist">
              <a:buFont typeface="Wingdings" panose="05000000000000000000" pitchFamily="2" charset="2"/>
              <a:buChar char="p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简化成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个未知数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202F21-0827-403D-A98E-72E36304CB61}"/>
              </a:ext>
            </a:extLst>
          </p:cNvPr>
          <p:cNvSpPr txBox="1"/>
          <p:nvPr/>
        </p:nvSpPr>
        <p:spPr>
          <a:xfrm>
            <a:off x="5006326" y="1145606"/>
            <a:ext cx="403017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  <a:spcAft>
                <a:spcPts val="600"/>
              </a:spcAft>
            </a:pP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 = 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1        0      0      -1        -100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000"/>
              </a:lnSpc>
              <a:spcAft>
                <a:spcPts val="600"/>
              </a:spcAft>
            </a:pPr>
            <a:r>
              <a:rPr lang="en-US" altLang="zh-C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0        1      0       1         600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000"/>
              </a:lnSpc>
              <a:spcAft>
                <a:spcPts val="600"/>
              </a:spcAft>
            </a:pPr>
            <a:r>
              <a:rPr lang="en-US" altLang="zh-C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0        0      1      -1       -300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000"/>
              </a:lnSpc>
              <a:spcAft>
                <a:spcPts val="600"/>
              </a:spcAft>
            </a:pPr>
            <a:r>
              <a:rPr lang="en-US" altLang="zh-C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0        0      0       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0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圆角矩形 10">
            <a:extLst>
              <a:ext uri="{FF2B5EF4-FFF2-40B4-BE49-F238E27FC236}">
                <a16:creationId xmlns:a16="http://schemas.microsoft.com/office/drawing/2014/main" id="{BA2E23C0-31C5-442C-B95B-701797BD76BD}"/>
              </a:ext>
            </a:extLst>
          </p:cNvPr>
          <p:cNvSpPr/>
          <p:nvPr/>
        </p:nvSpPr>
        <p:spPr bwMode="auto">
          <a:xfrm>
            <a:off x="8097448" y="1131590"/>
            <a:ext cx="790002" cy="1349087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D897573-55AE-47AE-8520-9CB4AE6DF788}"/>
              </a:ext>
            </a:extLst>
          </p:cNvPr>
          <p:cNvSpPr/>
          <p:nvPr/>
        </p:nvSpPr>
        <p:spPr bwMode="auto">
          <a:xfrm>
            <a:off x="5426911" y="1170609"/>
            <a:ext cx="2604305" cy="1261401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E97991-1732-492C-BF13-C3EED53A567E}"/>
              </a:ext>
            </a:extLst>
          </p:cNvPr>
          <p:cNvSpPr txBox="1"/>
          <p:nvPr/>
        </p:nvSpPr>
        <p:spPr>
          <a:xfrm>
            <a:off x="5604080" y="769208"/>
            <a:ext cx="4890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</a:rPr>
              <a:t>x1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2313FD-53CC-4494-888D-73854BF4A507}"/>
              </a:ext>
            </a:extLst>
          </p:cNvPr>
          <p:cNvSpPr txBox="1"/>
          <p:nvPr/>
        </p:nvSpPr>
        <p:spPr>
          <a:xfrm>
            <a:off x="-24929" y="741933"/>
            <a:ext cx="32287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eaLnBrk="0">
              <a:defRPr sz="3200"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 algn="dist">
              <a:buFont typeface="+mj-ea"/>
              <a:buAutoNum type="circleNumDbPlain" startAt="5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阶梯形函数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rref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求车流量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4736803-9D8B-4FB2-88FE-4CA8C2EDB7EB}"/>
              </a:ext>
            </a:extLst>
          </p:cNvPr>
          <p:cNvSpPr/>
          <p:nvPr/>
        </p:nvSpPr>
        <p:spPr>
          <a:xfrm>
            <a:off x="5277865" y="2434138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主元列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8CB3543-BDF6-44C2-91AD-348E5BA2C419}"/>
              </a:ext>
            </a:extLst>
          </p:cNvPr>
          <p:cNvSpPr/>
          <p:nvPr/>
        </p:nvSpPr>
        <p:spPr>
          <a:xfrm>
            <a:off x="5939187" y="2432010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主元列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D8E61F1-0300-4A94-9624-465223C8D4C5}"/>
              </a:ext>
            </a:extLst>
          </p:cNvPr>
          <p:cNvSpPr/>
          <p:nvPr/>
        </p:nvSpPr>
        <p:spPr>
          <a:xfrm>
            <a:off x="6558806" y="2418637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主元列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9D6A9AD-2D74-4D04-8D75-E97DE122DB4A}"/>
              </a:ext>
            </a:extLst>
          </p:cNvPr>
          <p:cNvSpPr/>
          <p:nvPr/>
        </p:nvSpPr>
        <p:spPr>
          <a:xfrm>
            <a:off x="7155195" y="2412112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非主元列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A993B18-3D34-4AAC-9BE5-3AC009C95BC2}"/>
              </a:ext>
            </a:extLst>
          </p:cNvPr>
          <p:cNvSpPr txBox="1"/>
          <p:nvPr/>
        </p:nvSpPr>
        <p:spPr>
          <a:xfrm>
            <a:off x="4544537" y="803488"/>
            <a:ext cx="125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09C1D42-99C1-402B-9FF2-C9F9FB2A54B1}"/>
              </a:ext>
            </a:extLst>
          </p:cNvPr>
          <p:cNvSpPr txBox="1"/>
          <p:nvPr/>
        </p:nvSpPr>
        <p:spPr>
          <a:xfrm>
            <a:off x="183689" y="3014184"/>
            <a:ext cx="432693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=[1 1 0 0;1 0 0 -1; 0 1 1 0;</a:t>
            </a:r>
            <a:r>
              <a:rPr lang="en-US" altLang="zh-CN" sz="2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 0 -1 1];</a:t>
            </a:r>
          </a:p>
          <a:p>
            <a:pPr>
              <a:lnSpc>
                <a:spcPts val="28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b=[500;-100;300;300];</a:t>
            </a:r>
          </a:p>
          <a:p>
            <a:pPr>
              <a:lnSpc>
                <a:spcPts val="28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ab=[a b];</a:t>
            </a:r>
          </a:p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R,=</a:t>
            </a:r>
            <a:r>
              <a:rPr lang="en-US" altLang="zh-CN" sz="2400" b="1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r>
              <a:rPr lang="en-US" altLang="zh-CN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(ab)</a:t>
            </a:r>
            <a:endParaRPr lang="en-US" altLang="zh-CN" sz="22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B581C7B-5656-49A9-B168-67E633A8FC9C}"/>
              </a:ext>
            </a:extLst>
          </p:cNvPr>
          <p:cNvSpPr/>
          <p:nvPr/>
        </p:nvSpPr>
        <p:spPr>
          <a:xfrm>
            <a:off x="255699" y="1218986"/>
            <a:ext cx="215606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R,P=rref([A b])</a:t>
            </a:r>
            <a:endParaRPr lang="zh-CN" altLang="en-US" sz="20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E951E2A-2B9E-44AF-AD8F-582EA2C937F4}"/>
              </a:ext>
            </a:extLst>
          </p:cNvPr>
          <p:cNvSpPr/>
          <p:nvPr/>
        </p:nvSpPr>
        <p:spPr>
          <a:xfrm>
            <a:off x="153474" y="1857357"/>
            <a:ext cx="3974165" cy="114082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的简化行的阶梯形矩阵，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-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非零主元列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增广矩阵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 b]  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6CBDD9-A510-4BF5-98C7-B24CD50687C4}"/>
              </a:ext>
            </a:extLst>
          </p:cNvPr>
          <p:cNvSpPr txBox="1"/>
          <p:nvPr/>
        </p:nvSpPr>
        <p:spPr>
          <a:xfrm>
            <a:off x="6201834" y="769208"/>
            <a:ext cx="4890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</a:rPr>
              <a:t>x2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2A71D9-0B4D-4A00-8FE5-285D8D59C1CC}"/>
              </a:ext>
            </a:extLst>
          </p:cNvPr>
          <p:cNvSpPr txBox="1"/>
          <p:nvPr/>
        </p:nvSpPr>
        <p:spPr>
          <a:xfrm>
            <a:off x="6741877" y="788099"/>
            <a:ext cx="4890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</a:rPr>
              <a:t>x3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1C5CC0-5467-4A43-BFF2-919D02813AAD}"/>
              </a:ext>
            </a:extLst>
          </p:cNvPr>
          <p:cNvSpPr txBox="1"/>
          <p:nvPr/>
        </p:nvSpPr>
        <p:spPr>
          <a:xfrm>
            <a:off x="7362070" y="766967"/>
            <a:ext cx="4890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</a:rPr>
              <a:t>x4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DA5864-AFAB-4A01-B255-AE90D6C18337}"/>
              </a:ext>
            </a:extLst>
          </p:cNvPr>
          <p:cNvSpPr txBox="1"/>
          <p:nvPr/>
        </p:nvSpPr>
        <p:spPr>
          <a:xfrm>
            <a:off x="1114885" y="45153"/>
            <a:ext cx="7921611" cy="57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§6.5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奇异矩阵线性方程组</a:t>
            </a:r>
            <a:r>
              <a:rPr lang="en-US" altLang="zh-CN" sz="26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求解交通车流量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022E9E-9774-4599-B196-5B1F84E1065A}"/>
              </a:ext>
            </a:extLst>
          </p:cNvPr>
          <p:cNvSpPr txBox="1"/>
          <p:nvPr/>
        </p:nvSpPr>
        <p:spPr>
          <a:xfrm>
            <a:off x="3763657" y="4121929"/>
            <a:ext cx="1739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自由变量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波形 28">
            <a:extLst>
              <a:ext uri="{FF2B5EF4-FFF2-40B4-BE49-F238E27FC236}">
                <a16:creationId xmlns:a16="http://schemas.microsoft.com/office/drawing/2014/main" id="{6A93DEDC-504F-4423-8D48-EAC721D60158}"/>
              </a:ext>
            </a:extLst>
          </p:cNvPr>
          <p:cNvSpPr/>
          <p:nvPr/>
        </p:nvSpPr>
        <p:spPr>
          <a:xfrm>
            <a:off x="99517" y="303412"/>
            <a:ext cx="695118" cy="34353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例65-1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18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2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517682A-C59A-471F-A97B-29B8EE1561B6}"/>
              </a:ext>
            </a:extLst>
          </p:cNvPr>
          <p:cNvSpPr txBox="1"/>
          <p:nvPr/>
        </p:nvSpPr>
        <p:spPr>
          <a:xfrm>
            <a:off x="3553646" y="810805"/>
            <a:ext cx="2243988" cy="12824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514350" indent="-514350" eaLnBrk="0">
              <a:lnSpc>
                <a:spcPts val="2800"/>
              </a:lnSpc>
              <a:buFont typeface="+mj-lt"/>
              <a:buAutoNum type="romanUcPeriod" startAt="3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x4 = 0</a:t>
            </a:r>
          </a:p>
          <a:p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=- 100, </a:t>
            </a:r>
          </a:p>
          <a:p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x</a:t>
            </a:r>
            <a:r>
              <a:rPr lang="en-US" altLang="zh-CN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600,</a:t>
            </a:r>
          </a:p>
          <a:p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-300</a:t>
            </a:r>
            <a:endParaRPr lang="zh-CN" altLang="en-US" dirty="0"/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D890DABF-1015-4F7D-98B8-70CF9E1685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57811" y="509876"/>
            <a:ext cx="2660010" cy="1981200"/>
            <a:chOff x="3882" y="2063"/>
            <a:chExt cx="4190" cy="3120"/>
          </a:xfrm>
        </p:grpSpPr>
        <p:sp>
          <p:nvSpPr>
            <p:cNvPr id="7" name="AutoShape 26">
              <a:extLst>
                <a:ext uri="{FF2B5EF4-FFF2-40B4-BE49-F238E27FC236}">
                  <a16:creationId xmlns:a16="http://schemas.microsoft.com/office/drawing/2014/main" id="{835EC6A4-A9F1-4384-89FC-932A0F4890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82" y="2063"/>
              <a:ext cx="4156" cy="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8" name="Text Box 25">
              <a:extLst>
                <a:ext uri="{FF2B5EF4-FFF2-40B4-BE49-F238E27FC236}">
                  <a16:creationId xmlns:a16="http://schemas.microsoft.com/office/drawing/2014/main" id="{DDC5E946-1412-44A9-A9CD-4F6A41F4D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2858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24">
              <a:extLst>
                <a:ext uri="{FF2B5EF4-FFF2-40B4-BE49-F238E27FC236}">
                  <a16:creationId xmlns:a16="http://schemas.microsoft.com/office/drawing/2014/main" id="{E984A277-B560-4638-B8F9-1DDF5CC27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2411004B-53B9-418B-98F9-BD1A453BF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2737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Oval 22">
              <a:extLst>
                <a:ext uri="{FF2B5EF4-FFF2-40B4-BE49-F238E27FC236}">
                  <a16:creationId xmlns:a16="http://schemas.microsoft.com/office/drawing/2014/main" id="{DE87174C-B625-4142-BE71-34FC9FFA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Oval 21">
              <a:extLst>
                <a:ext uri="{FF2B5EF4-FFF2-40B4-BE49-F238E27FC236}">
                  <a16:creationId xmlns:a16="http://schemas.microsoft.com/office/drawing/2014/main" id="{1EC9718A-27A2-4895-BAB3-92CBC6B17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5" y="4043"/>
              <a:ext cx="389" cy="3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8800" tIns="0" rIns="288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7BED1C2A-B7A8-434C-AE4D-A24FD4AF0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24"/>
              <a:ext cx="691" cy="0"/>
            </a:xfrm>
            <a:custGeom>
              <a:avLst/>
              <a:gdLst>
                <a:gd name="T0" fmla="*/ 0 w 960"/>
                <a:gd name="T1" fmla="*/ 0 h 1"/>
                <a:gd name="T2" fmla="*/ 960 w 9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1">
                  <a:moveTo>
                    <a:pt x="0" y="0"/>
                  </a:moveTo>
                  <a:lnTo>
                    <a:pt x="9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BF2C0EE7-0C92-4641-8826-C6FAF62CE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6" y="4221"/>
              <a:ext cx="1628" cy="1"/>
            </a:xfrm>
            <a:custGeom>
              <a:avLst/>
              <a:gdLst>
                <a:gd name="T0" fmla="*/ 0 w 2260"/>
                <a:gd name="T1" fmla="*/ 0 h 1"/>
                <a:gd name="T2" fmla="*/ 2260 w 22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0" h="1">
                  <a:moveTo>
                    <a:pt x="0" y="0"/>
                  </a:moveTo>
                  <a:lnTo>
                    <a:pt x="226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BF478812-EFC5-43D6-9422-572DE33FF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" y="2931"/>
              <a:ext cx="806" cy="1"/>
            </a:xfrm>
            <a:custGeom>
              <a:avLst/>
              <a:gdLst>
                <a:gd name="T0" fmla="*/ 0 w 1120"/>
                <a:gd name="T1" fmla="*/ 0 h 1"/>
                <a:gd name="T2" fmla="*/ 1120 w 1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0" h="1">
                  <a:moveTo>
                    <a:pt x="0" y="0"/>
                  </a:moveTo>
                  <a:lnTo>
                    <a:pt x="11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14F5DBDF-FA90-48DB-B146-057A9E9C1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3133"/>
              <a:ext cx="0" cy="907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94DF4B3-A436-4C57-9DC4-6C89F8A63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3125"/>
              <a:ext cx="1" cy="915"/>
            </a:xfrm>
            <a:custGeom>
              <a:avLst/>
              <a:gdLst>
                <a:gd name="T0" fmla="*/ 0 w 1"/>
                <a:gd name="T1" fmla="*/ 0 h 1270"/>
                <a:gd name="T2" fmla="*/ 0 w 1"/>
                <a:gd name="T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19085986-FD0D-4D65-8367-F9F61724C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" y="2074"/>
              <a:ext cx="1" cy="670"/>
            </a:xfrm>
            <a:custGeom>
              <a:avLst/>
              <a:gdLst>
                <a:gd name="T0" fmla="*/ 0 w 1"/>
                <a:gd name="T1" fmla="*/ 0 h 930"/>
                <a:gd name="T2" fmla="*/ 0 w 1"/>
                <a:gd name="T3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30">
                  <a:moveTo>
                    <a:pt x="0" y="0"/>
                  </a:moveTo>
                  <a:lnTo>
                    <a:pt x="0" y="9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EEE79AE6-B06E-46E5-8CC7-FF70BED73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4436"/>
              <a:ext cx="0" cy="526"/>
            </a:xfrm>
            <a:custGeom>
              <a:avLst/>
              <a:gdLst>
                <a:gd name="T0" fmla="*/ 0 w 1"/>
                <a:gd name="T1" fmla="*/ 0 h 730"/>
                <a:gd name="T2" fmla="*/ 0 w 1"/>
                <a:gd name="T3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0">
                  <a:moveTo>
                    <a:pt x="0" y="0"/>
                  </a:moveTo>
                  <a:lnTo>
                    <a:pt x="0" y="7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93206BD9-99AD-4E71-86B2-269403CC9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" y="2915"/>
              <a:ext cx="1643" cy="0"/>
            </a:xfrm>
            <a:custGeom>
              <a:avLst/>
              <a:gdLst>
                <a:gd name="T0" fmla="*/ 0 w 2280"/>
                <a:gd name="T1" fmla="*/ 0 h 1"/>
                <a:gd name="T2" fmla="*/ 2280 w 22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80" h="1">
                  <a:moveTo>
                    <a:pt x="0" y="0"/>
                  </a:moveTo>
                  <a:lnTo>
                    <a:pt x="228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5FE4DA-2AD3-4CEA-A386-6D49881ED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" y="4242"/>
              <a:ext cx="792" cy="0"/>
            </a:xfrm>
            <a:custGeom>
              <a:avLst/>
              <a:gdLst>
                <a:gd name="T0" fmla="*/ 0 w 1100"/>
                <a:gd name="T1" fmla="*/ 0 h 1"/>
                <a:gd name="T2" fmla="*/ 1100 w 110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0" h="1">
                  <a:moveTo>
                    <a:pt x="0" y="0"/>
                  </a:moveTo>
                  <a:lnTo>
                    <a:pt x="110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029FBB5-9FB2-4A44-9A4A-53B2E6B77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4242"/>
              <a:ext cx="749" cy="0"/>
            </a:xfrm>
            <a:custGeom>
              <a:avLst/>
              <a:gdLst>
                <a:gd name="T0" fmla="*/ 0 w 1040"/>
                <a:gd name="T1" fmla="*/ 0 h 1"/>
                <a:gd name="T2" fmla="*/ 1040 w 10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0" h="1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E25B4F0B-A945-4B4A-8D63-8F77AC104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" y="2424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400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9">
              <a:extLst>
                <a:ext uri="{FF2B5EF4-FFF2-40B4-BE49-F238E27FC236}">
                  <a16:creationId xmlns:a16="http://schemas.microsoft.com/office/drawing/2014/main" id="{C269C2BD-AAE8-43DE-8FD7-E53B7A3B0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2962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0006253E-4723-48C2-ACB0-58528E422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" y="3819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id="{D22617AB-7693-4277-983F-FB8DBF39E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4535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0C301353-6B0C-4A25-84F7-C652073C9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" y="4197"/>
              <a:ext cx="573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7741FE1C-05E3-4D3F-8F18-14FF3B3C9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6" y="2927"/>
              <a:ext cx="9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1200" b="1" i="0" u="none" strike="noStrike" cap="none" normalizeH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1=100</a:t>
              </a:r>
              <a:endParaRPr kumimoji="0" lang="en-US" altLang="zh-CN" sz="1200" b="1" i="0" u="none" strike="noStrike" cap="none" normalizeH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5D48FAC1-B820-4602-B6D4-53344E2E8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" y="3420"/>
              <a:ext cx="9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1" i="1" u="none" strike="noStrike" cap="none" normalizeH="0">
                  <a:ln>
                    <a:noFill/>
                  </a:ln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X2=600</a:t>
              </a:r>
            </a:p>
          </p:txBody>
        </p:sp>
        <p:sp>
          <p:nvSpPr>
            <p:cNvPr id="30" name="Text Box 3">
              <a:extLst>
                <a:ext uri="{FF2B5EF4-FFF2-40B4-BE49-F238E27FC236}">
                  <a16:creationId xmlns:a16="http://schemas.microsoft.com/office/drawing/2014/main" id="{C0E232C1-4BD2-40D9-AFD5-CF60FD1FE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" y="3817"/>
              <a:ext cx="105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i="1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X3 =300</a:t>
              </a:r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FC89AA6C-CA33-4908-919C-AB5721605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2" y="3405"/>
              <a:ext cx="1090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5837" tIns="32918" rIns="65837" bIns="32918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1200" b="0" i="0" u="none" strike="noStrike" cap="none" normalizeH="0" baseline="-30000" dirty="0">
                  <a:ln>
                    <a:noFill/>
                  </a:ln>
                  <a:solidFill>
                    <a:schemeClr val="bg1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1200" b="0" i="0" u="none" strike="noStrike" cap="none" normalizeH="0" dirty="0">
                  <a:ln>
                    <a:noFill/>
                  </a:ln>
                  <a:solidFill>
                    <a:schemeClr val="bg1"/>
                  </a:solidFill>
                  <a:effectLst/>
                  <a:highlight>
                    <a:srgbClr val="FF0000"/>
                  </a:highligh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=0</a:t>
              </a:r>
              <a:endParaRPr kumimoji="0" lang="en-US" altLang="zh-CN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8CA4A8A3-FF16-446F-9109-024A6F95C89D}"/>
              </a:ext>
            </a:extLst>
          </p:cNvPr>
          <p:cNvSpPr/>
          <p:nvPr/>
        </p:nvSpPr>
        <p:spPr>
          <a:xfrm>
            <a:off x="16822" y="3437476"/>
            <a:ext cx="3402965" cy="114082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marL="514350" indent="-514350" eaLnBrk="0">
              <a:lnSpc>
                <a:spcPts val="2800"/>
              </a:lnSpc>
              <a:buFont typeface="+mj-lt"/>
              <a:buAutoNum type="romanUcPeriod" startAt="2"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x4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自由变量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，可以选择任意值 ，得到方程组无穷个解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4528B79-82CC-45B1-AB4B-4CF8109EDBBD}"/>
              </a:ext>
            </a:extLst>
          </p:cNvPr>
          <p:cNvSpPr txBox="1"/>
          <p:nvPr/>
        </p:nvSpPr>
        <p:spPr>
          <a:xfrm>
            <a:off x="26534" y="792740"/>
            <a:ext cx="3306321" cy="101566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342900" indent="-342900" algn="dist" eaLnBrk="0">
              <a:buFont typeface="Wingdings" panose="05000000000000000000" pitchFamily="2" charset="2"/>
              <a:buChar char="p"/>
              <a:defRPr sz="20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514350" indent="-514350">
              <a:buFont typeface="+mj-lt"/>
              <a:buAutoNum type="romanUcPeriod"/>
            </a:pPr>
            <a:r>
              <a:rPr lang="zh-CN" altLang="en-US" dirty="0"/>
              <a:t>阶梯形</a:t>
            </a:r>
            <a:r>
              <a:rPr lang="en-US" altLang="zh-CN" dirty="0"/>
              <a:t>R</a:t>
            </a:r>
            <a:r>
              <a:rPr lang="zh-CN" altLang="en-US" dirty="0"/>
              <a:t>矩阵将</a:t>
            </a:r>
            <a:r>
              <a:rPr lang="en-US" altLang="zh-CN" dirty="0"/>
              <a:t>4</a:t>
            </a:r>
            <a:r>
              <a:rPr lang="zh-CN" altLang="en-US" dirty="0"/>
              <a:t>个方程简化为</a:t>
            </a:r>
            <a:r>
              <a:rPr lang="en-US" altLang="zh-CN" dirty="0"/>
              <a:t>4</a:t>
            </a:r>
            <a:r>
              <a:rPr lang="zh-CN" altLang="en-US" dirty="0"/>
              <a:t>个未知数</a:t>
            </a:r>
            <a:r>
              <a:rPr lang="en-US" altLang="zh-CN" dirty="0"/>
              <a:t>3</a:t>
            </a:r>
            <a:r>
              <a:rPr lang="zh-CN" altLang="en-US" dirty="0"/>
              <a:t>个方程的欠定方程组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3241E16-ACA9-42F2-BD5F-C58133693C51}"/>
              </a:ext>
            </a:extLst>
          </p:cNvPr>
          <p:cNvSpPr txBox="1"/>
          <p:nvPr/>
        </p:nvSpPr>
        <p:spPr>
          <a:xfrm>
            <a:off x="969795" y="40835"/>
            <a:ext cx="8055914" cy="5866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§6.6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欠定线性方程组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rref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求车流量的无穷解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53D1478-EE12-4507-8E0C-F694E357B50B}"/>
              </a:ext>
            </a:extLst>
          </p:cNvPr>
          <p:cNvSpPr txBox="1"/>
          <p:nvPr/>
        </p:nvSpPr>
        <p:spPr>
          <a:xfrm>
            <a:off x="119291" y="1890615"/>
            <a:ext cx="3211482" cy="13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x1                -x4=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-100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x2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+x4=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600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x3 -x4=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-300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圆角矩形 10">
            <a:extLst>
              <a:ext uri="{FF2B5EF4-FFF2-40B4-BE49-F238E27FC236}">
                <a16:creationId xmlns:a16="http://schemas.microsoft.com/office/drawing/2014/main" id="{B6042363-802B-45F7-AB3B-F5DD28754E1E}"/>
              </a:ext>
            </a:extLst>
          </p:cNvPr>
          <p:cNvSpPr/>
          <p:nvPr/>
        </p:nvSpPr>
        <p:spPr bwMode="auto">
          <a:xfrm>
            <a:off x="527426" y="2034784"/>
            <a:ext cx="2623777" cy="1257046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2" name="对话气泡: 椭圆形 71">
            <a:extLst>
              <a:ext uri="{FF2B5EF4-FFF2-40B4-BE49-F238E27FC236}">
                <a16:creationId xmlns:a16="http://schemas.microsoft.com/office/drawing/2014/main" id="{35D5E7AF-5B4D-47F9-893C-18A520B204BD}"/>
              </a:ext>
            </a:extLst>
          </p:cNvPr>
          <p:cNvSpPr/>
          <p:nvPr/>
        </p:nvSpPr>
        <p:spPr bwMode="auto">
          <a:xfrm>
            <a:off x="5962209" y="767307"/>
            <a:ext cx="3029628" cy="1685477"/>
          </a:xfrm>
          <a:prstGeom prst="wedgeEllipseCallout">
            <a:avLst>
              <a:gd name="adj1" fmla="val -55972"/>
              <a:gd name="adj2" fmla="val -27957"/>
            </a:avLst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4" name="波形 73">
            <a:extLst>
              <a:ext uri="{FF2B5EF4-FFF2-40B4-BE49-F238E27FC236}">
                <a16:creationId xmlns:a16="http://schemas.microsoft.com/office/drawing/2014/main" id="{1E3DDB0E-3728-4CE8-9F8A-6C1A15C1B542}"/>
              </a:ext>
            </a:extLst>
          </p:cNvPr>
          <p:cNvSpPr/>
          <p:nvPr/>
        </p:nvSpPr>
        <p:spPr>
          <a:xfrm>
            <a:off x="50652" y="418596"/>
            <a:ext cx="1043608" cy="37730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例66-1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AF21B2-EB9B-4281-A583-7EEC95B4E07A}"/>
              </a:ext>
            </a:extLst>
          </p:cNvPr>
          <p:cNvSpPr txBox="1"/>
          <p:nvPr/>
        </p:nvSpPr>
        <p:spPr>
          <a:xfrm>
            <a:off x="4973299" y="2927939"/>
            <a:ext cx="30609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x=linsolve(a,b)</a:t>
            </a:r>
          </a:p>
          <a:p>
            <a:r>
              <a:rPr lang="zh-CN" altLang="en-US" dirty="0"/>
              <a:t>4-element Vector{Float64}:</a:t>
            </a:r>
          </a:p>
          <a:p>
            <a:r>
              <a:rPr lang="zh-CN" altLang="en-US" dirty="0"/>
              <a:t> -100.0</a:t>
            </a:r>
          </a:p>
          <a:p>
            <a:r>
              <a:rPr lang="zh-CN" altLang="en-US" dirty="0"/>
              <a:t>  600.0</a:t>
            </a:r>
          </a:p>
          <a:p>
            <a:r>
              <a:rPr lang="zh-CN" altLang="en-US" dirty="0"/>
              <a:t> -300.0</a:t>
            </a:r>
          </a:p>
          <a:p>
            <a:r>
              <a:rPr lang="zh-CN" altLang="en-US" dirty="0"/>
              <a:t>    0.0</a:t>
            </a:r>
          </a:p>
        </p:txBody>
      </p:sp>
      <p:sp>
        <p:nvSpPr>
          <p:cNvPr id="67" name="TextBox 2">
            <a:extLst>
              <a:ext uri="{FF2B5EF4-FFF2-40B4-BE49-F238E27FC236}">
                <a16:creationId xmlns:a16="http://schemas.microsoft.com/office/drawing/2014/main" id="{E8F85EDB-0BC1-4CFB-ACA9-CF84138C9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116" y="2462481"/>
            <a:ext cx="175233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4340856-4698-478C-82AF-72D65E74C84F}"/>
              </a:ext>
            </a:extLst>
          </p:cNvPr>
          <p:cNvSpPr txBox="1"/>
          <p:nvPr/>
        </p:nvSpPr>
        <p:spPr>
          <a:xfrm>
            <a:off x="6622607" y="2493515"/>
            <a:ext cx="2638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QR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欠定方程组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009F335-8E64-4233-824E-671964ABA05D}"/>
              </a:ext>
            </a:extLst>
          </p:cNvPr>
          <p:cNvSpPr txBox="1"/>
          <p:nvPr/>
        </p:nvSpPr>
        <p:spPr>
          <a:xfrm>
            <a:off x="3205443" y="2461959"/>
            <a:ext cx="1942380" cy="37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线性方程组求解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44471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7D1A596-D242-4B64-ADA9-E4E39B086767}"/>
              </a:ext>
            </a:extLst>
          </p:cNvPr>
          <p:cNvSpPr txBox="1"/>
          <p:nvPr/>
        </p:nvSpPr>
        <p:spPr>
          <a:xfrm>
            <a:off x="3253413" y="2113310"/>
            <a:ext cx="3408220" cy="117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个未知数简化方程求解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900"/>
              </a:lnSpc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=[1 0 0 -1;0 1 0 1;0 0 1 -1] 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9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b=[-100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-300]  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B7BE9A-EE1A-464F-B6D6-6C47E1BA71BF}"/>
              </a:ext>
            </a:extLst>
          </p:cNvPr>
          <p:cNvSpPr txBox="1"/>
          <p:nvPr/>
        </p:nvSpPr>
        <p:spPr>
          <a:xfrm>
            <a:off x="737797" y="11492"/>
            <a:ext cx="8208912" cy="5795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§6.6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欠定线性方程组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简化为欠定方程车流量求解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1592946-1DAD-4D10-B463-70EDC3B28730}"/>
              </a:ext>
            </a:extLst>
          </p:cNvPr>
          <p:cNvSpPr txBox="1"/>
          <p:nvPr/>
        </p:nvSpPr>
        <p:spPr>
          <a:xfrm>
            <a:off x="11559" y="2311995"/>
            <a:ext cx="3032704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x1  </a:t>
            </a: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-x4=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-100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x2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+x4=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600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x3 -x4=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-300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圆角矩形 10">
            <a:extLst>
              <a:ext uri="{FF2B5EF4-FFF2-40B4-BE49-F238E27FC236}">
                <a16:creationId xmlns:a16="http://schemas.microsoft.com/office/drawing/2014/main" id="{F9E960F1-F8D2-4279-A970-D651E6D1BD8B}"/>
              </a:ext>
            </a:extLst>
          </p:cNvPr>
          <p:cNvSpPr/>
          <p:nvPr/>
        </p:nvSpPr>
        <p:spPr bwMode="auto">
          <a:xfrm>
            <a:off x="303996" y="2324619"/>
            <a:ext cx="2487778" cy="990416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E337C6D-1418-489C-8C9E-6DDAA601630A}"/>
              </a:ext>
            </a:extLst>
          </p:cNvPr>
          <p:cNvSpPr txBox="1"/>
          <p:nvPr/>
        </p:nvSpPr>
        <p:spPr>
          <a:xfrm>
            <a:off x="249290" y="3202885"/>
            <a:ext cx="33530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lsqminnorm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#</a:t>
            </a:r>
            <a:r>
              <a:rPr lang="zh-CN" altLang="en-US" dirty="0">
                <a:solidFill>
                  <a:srgbClr val="0070C0"/>
                </a:solidFill>
              </a:rPr>
              <a:t>结果</a:t>
            </a:r>
            <a:r>
              <a:rPr lang="en-US" altLang="zh-CN" dirty="0">
                <a:solidFill>
                  <a:srgbClr val="0070C0"/>
                </a:solidFill>
              </a:rPr>
              <a:t>149.99999999999994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 349.9999999999999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 -49.99999999999997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 250.00000000000006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F74CDE1-2EDB-45B2-AB35-A411768F6AAC}"/>
              </a:ext>
            </a:extLst>
          </p:cNvPr>
          <p:cNvSpPr txBox="1"/>
          <p:nvPr/>
        </p:nvSpPr>
        <p:spPr>
          <a:xfrm>
            <a:off x="7315265" y="2249246"/>
            <a:ext cx="1786278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eaLnBrk="0">
              <a:defRPr sz="3200"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简化欠定方程组求解</a:t>
            </a:r>
          </a:p>
        </p:txBody>
      </p:sp>
      <p:sp>
        <p:nvSpPr>
          <p:cNvPr id="80" name="波形 79">
            <a:extLst>
              <a:ext uri="{FF2B5EF4-FFF2-40B4-BE49-F238E27FC236}">
                <a16:creationId xmlns:a16="http://schemas.microsoft.com/office/drawing/2014/main" id="{12E16445-5055-4F05-83A7-29F6F6420606}"/>
              </a:ext>
            </a:extLst>
          </p:cNvPr>
          <p:cNvSpPr/>
          <p:nvPr/>
        </p:nvSpPr>
        <p:spPr>
          <a:xfrm>
            <a:off x="6556394" y="2249246"/>
            <a:ext cx="758871" cy="28440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例66-1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F4A5B1F-3F89-4FE6-8889-4EDDDD99FF23}"/>
              </a:ext>
            </a:extLst>
          </p:cNvPr>
          <p:cNvSpPr txBox="1"/>
          <p:nvPr/>
        </p:nvSpPr>
        <p:spPr>
          <a:xfrm>
            <a:off x="3602323" y="3188952"/>
            <a:ext cx="3468931" cy="1520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(a)*b  # a\b</a:t>
            </a:r>
          </a:p>
          <a:p>
            <a:pPr>
              <a:lnSpc>
                <a:spcPts val="2100"/>
              </a:lnSpc>
            </a:pPr>
            <a:r>
              <a:rPr lang="en-US" altLang="zh-CN" sz="1600" dirty="0">
                <a:solidFill>
                  <a:srgbClr val="0070C0"/>
                </a:solidFill>
              </a:rPr>
              <a:t> 149.99999999999997</a:t>
            </a:r>
          </a:p>
          <a:p>
            <a:pPr>
              <a:lnSpc>
                <a:spcPts val="2100"/>
              </a:lnSpc>
            </a:pPr>
            <a:r>
              <a:rPr lang="en-US" altLang="zh-CN" sz="1600" dirty="0">
                <a:solidFill>
                  <a:srgbClr val="0070C0"/>
                </a:solidFill>
              </a:rPr>
              <a:t> 349.99999999999994</a:t>
            </a:r>
          </a:p>
          <a:p>
            <a:pPr>
              <a:lnSpc>
                <a:spcPts val="2100"/>
              </a:lnSpc>
            </a:pPr>
            <a:r>
              <a:rPr lang="en-US" altLang="zh-CN" sz="1600" dirty="0">
                <a:solidFill>
                  <a:srgbClr val="0070C0"/>
                </a:solidFill>
              </a:rPr>
              <a:t> -50.0</a:t>
            </a:r>
          </a:p>
          <a:p>
            <a:pPr>
              <a:lnSpc>
                <a:spcPts val="2100"/>
              </a:lnSpc>
            </a:pPr>
            <a:r>
              <a:rPr lang="en-US" altLang="zh-CN" sz="1600" dirty="0">
                <a:solidFill>
                  <a:srgbClr val="0070C0"/>
                </a:solidFill>
              </a:rPr>
              <a:t> 250.0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F984AD9-D163-4199-AF37-6CFFF0E39388}"/>
              </a:ext>
            </a:extLst>
          </p:cNvPr>
          <p:cNvSpPr txBox="1"/>
          <p:nvPr/>
        </p:nvSpPr>
        <p:spPr>
          <a:xfrm>
            <a:off x="2451348" y="981001"/>
            <a:ext cx="47474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最小范数最小二乘解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norm(AX-B)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norm(X)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最小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320FEA-F195-4FA6-816F-3BA019AA4768}"/>
              </a:ext>
            </a:extLst>
          </p:cNvPr>
          <p:cNvSpPr txBox="1"/>
          <p:nvPr/>
        </p:nvSpPr>
        <p:spPr>
          <a:xfrm>
            <a:off x="6282829" y="3275309"/>
            <a:ext cx="2631440" cy="1456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xl=linsolve(a,b</a:t>
            </a:r>
            <a:r>
              <a:rPr lang="zh-CN" altLang="en-US" dirty="0"/>
              <a:t>)</a:t>
            </a:r>
          </a:p>
          <a:p>
            <a:pPr>
              <a:lnSpc>
                <a:spcPts val="21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  0.0</a:t>
            </a:r>
          </a:p>
          <a:p>
            <a:pPr>
              <a:lnSpc>
                <a:spcPts val="21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  500.00000000000006</a:t>
            </a:r>
          </a:p>
          <a:p>
            <a:pPr>
              <a:lnSpc>
                <a:spcPts val="21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 -199.99999999999994</a:t>
            </a:r>
          </a:p>
          <a:p>
            <a:pPr>
              <a:lnSpc>
                <a:spcPts val="21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  100.00000000000006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D824CA48-E41C-4AA9-AEC0-96FC47311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94" y="1416356"/>
            <a:ext cx="133269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sym typeface="Arial" charset="0"/>
              </a:rPr>
              <a:t>x=</a:t>
            </a:r>
            <a:r>
              <a:rPr lang="en-US" altLang="zh-CN" sz="1600" dirty="0" err="1">
                <a:solidFill>
                  <a:schemeClr val="bg1"/>
                </a:solidFill>
                <a:sym typeface="Arial" charset="0"/>
              </a:rPr>
              <a:t>pinv</a:t>
            </a:r>
            <a:r>
              <a:rPr lang="en-US" altLang="zh-CN" sz="1600" dirty="0">
                <a:solidFill>
                  <a:schemeClr val="bg1"/>
                </a:solidFill>
                <a:sym typeface="Arial" charset="0"/>
              </a:rPr>
              <a:t>(A)*b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606826-6D63-4BB2-ABB4-16E27AC2B519}"/>
              </a:ext>
            </a:extLst>
          </p:cNvPr>
          <p:cNvSpPr txBox="1"/>
          <p:nvPr/>
        </p:nvSpPr>
        <p:spPr>
          <a:xfrm>
            <a:off x="1712021" y="1409221"/>
            <a:ext cx="48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基于奇异矩阵分解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svd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的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85378DBA-A817-479E-BCC6-25450DCE0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94" y="1811767"/>
            <a:ext cx="196730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x=linsolve(a,b)</a:t>
            </a:r>
            <a:endParaRPr lang="en-US" altLang="zh-CN" sz="1800" dirty="0">
              <a:solidFill>
                <a:schemeClr val="bg1"/>
              </a:solidFill>
              <a:sym typeface="Arial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A52B156-05D4-44F1-82B1-321E45E5F354}"/>
              </a:ext>
            </a:extLst>
          </p:cNvPr>
          <p:cNvSpPr txBox="1"/>
          <p:nvPr/>
        </p:nvSpPr>
        <p:spPr>
          <a:xfrm>
            <a:off x="2244743" y="1810045"/>
            <a:ext cx="4233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对于非方正矩阵，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QR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A6348F9A-F7B5-42EE-A650-8BE198A1B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53" y="987069"/>
            <a:ext cx="208823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b="0" dirty="0"/>
              <a:t>x=lsqminnorm(A,b)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A00BE2-2ED4-4E6C-9D41-33C3CECDE77A}"/>
              </a:ext>
            </a:extLst>
          </p:cNvPr>
          <p:cNvSpPr txBox="1"/>
          <p:nvPr/>
        </p:nvSpPr>
        <p:spPr>
          <a:xfrm>
            <a:off x="7198792" y="941444"/>
            <a:ext cx="1678764" cy="343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效率高于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pinv</a:t>
            </a:r>
            <a:endParaRPr lang="zh-CN" altLang="en-US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77394C-9E6A-4D98-8BBC-0BC880711504}"/>
              </a:ext>
            </a:extLst>
          </p:cNvPr>
          <p:cNvSpPr txBox="1"/>
          <p:nvPr/>
        </p:nvSpPr>
        <p:spPr>
          <a:xfrm>
            <a:off x="950142" y="628957"/>
            <a:ext cx="789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对欠定方程组，优先</a:t>
            </a:r>
            <a:r>
              <a:rPr lang="en-US" altLang="zh-CN" dirty="0" err="1"/>
              <a:t>lsqminnorm</a:t>
            </a:r>
            <a:r>
              <a:rPr lang="en-US" altLang="zh-CN" dirty="0"/>
              <a:t> </a:t>
            </a:r>
            <a:r>
              <a:rPr lang="zh-CN" altLang="en-US" dirty="0"/>
              <a:t>和伪逆乘法</a:t>
            </a:r>
            <a:r>
              <a:rPr lang="en-US" altLang="zh-CN" dirty="0" err="1"/>
              <a:t>pinv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zh-CN" altLang="en-US" dirty="0"/>
              <a:t>以确保最小范数解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0B8FD4-9567-4352-9928-AECACE6393EE}"/>
              </a:ext>
            </a:extLst>
          </p:cNvPr>
          <p:cNvSpPr txBox="1"/>
          <p:nvPr/>
        </p:nvSpPr>
        <p:spPr>
          <a:xfrm>
            <a:off x="7765934" y="1424610"/>
            <a:ext cx="54448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a\b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856636-07BE-48BE-B8D2-61A65E7FFEB0}"/>
              </a:ext>
            </a:extLst>
          </p:cNvPr>
          <p:cNvSpPr txBox="1"/>
          <p:nvPr/>
        </p:nvSpPr>
        <p:spPr>
          <a:xfrm>
            <a:off x="6839678" y="1459109"/>
            <a:ext cx="75887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eaLnBrk="0">
              <a:defRPr sz="3200" b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左除法</a:t>
            </a:r>
          </a:p>
        </p:txBody>
      </p:sp>
    </p:spTree>
    <p:extLst>
      <p:ext uri="{BB962C8B-B14F-4D97-AF65-F5344CB8AC3E}">
        <p14:creationId xmlns:p14="http://schemas.microsoft.com/office/powerpoint/2010/main" val="33392175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D2B755D-FDBD-48D6-A4FF-04B526854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742" y="38832"/>
            <a:ext cx="8125746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100"/>
              </a:lnSpc>
            </a:pPr>
            <a:r>
              <a:rPr lang="en-US" altLang="zh-CN" sz="2800" b="1" dirty="0">
                <a:sym typeface="Arial" charset="0"/>
              </a:rPr>
              <a:t>§6.7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欠定线性方程组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——null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sym typeface="Arial" charset="0"/>
              </a:rPr>
              <a:t>齐次方程组</a:t>
            </a:r>
            <a:r>
              <a:rPr lang="en-US" altLang="zh-CN" sz="2800" b="1" dirty="0">
                <a:solidFill>
                  <a:srgbClr val="FF0000"/>
                </a:solidFill>
                <a:sym typeface="Arial" charset="0"/>
              </a:rPr>
              <a:t>Ax=0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33AA51-DB69-4EE5-B301-9CFADCB947F1}"/>
              </a:ext>
            </a:extLst>
          </p:cNvPr>
          <p:cNvSpPr txBox="1"/>
          <p:nvPr/>
        </p:nvSpPr>
        <p:spPr>
          <a:xfrm>
            <a:off x="-28986" y="2594166"/>
            <a:ext cx="9383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null</a:t>
            </a:r>
            <a:r>
              <a:rPr lang="zh-CN" altLang="zh-CN" sz="2000" dirty="0">
                <a:solidFill>
                  <a:srgbClr val="12121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齐次方程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的矩阵零空间，就是求</a:t>
            </a:r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基础解系</a:t>
            </a:r>
            <a:endParaRPr lang="zh-CN" altLang="en-US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2AC4A9-AAA5-486C-9509-8F30ABE1C3CE}"/>
              </a:ext>
            </a:extLst>
          </p:cNvPr>
          <p:cNvSpPr txBox="1"/>
          <p:nvPr/>
        </p:nvSpPr>
        <p:spPr>
          <a:xfrm>
            <a:off x="-46368" y="734649"/>
            <a:ext cx="892788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欠定的齐次线性方程组的解：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47DDBF-8347-4439-B78A-332BF9EBEFBB}"/>
              </a:ext>
            </a:extLst>
          </p:cNvPr>
          <p:cNvSpPr txBox="1"/>
          <p:nvPr/>
        </p:nvSpPr>
        <p:spPr>
          <a:xfrm>
            <a:off x="-23190" y="3135723"/>
            <a:ext cx="2337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零空间</a:t>
            </a:r>
            <a:endParaRPr lang="zh-CN" altLang="en-US" sz="2000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A45D8B8-48FA-4490-AE1D-016B19D7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606" y="3153476"/>
            <a:ext cx="214677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=null(A</a:t>
            </a:r>
            <a:r>
              <a:rPr lang="es-ES" altLang="zh-CN" sz="1600" b="1" dirty="0">
                <a:solidFill>
                  <a:schemeClr val="bg1"/>
                </a:solidFill>
              </a:rPr>
              <a:t>,"rat</a:t>
            </a:r>
            <a:r>
              <a:rPr lang="en-US" altLang="zh-CN" sz="1600" b="1" dirty="0" err="1">
                <a:solidFill>
                  <a:schemeClr val="bg1"/>
                </a:solidFill>
              </a:rPr>
              <a:t>i</a:t>
            </a:r>
            <a:r>
              <a:rPr lang="es-ES" altLang="zh-CN" sz="1600" b="1" dirty="0">
                <a:solidFill>
                  <a:schemeClr val="bg1"/>
                </a:solidFill>
              </a:rPr>
              <a:t>onal"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4FC8C8-58BC-4B81-8A1B-60C2479C14F6}"/>
              </a:ext>
            </a:extLst>
          </p:cNvPr>
          <p:cNvSpPr txBox="1"/>
          <p:nvPr/>
        </p:nvSpPr>
        <p:spPr>
          <a:xfrm>
            <a:off x="5384342" y="3611262"/>
            <a:ext cx="3240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rational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x1</a:t>
            </a:r>
            <a:r>
              <a:rPr lang="zh-CN" altLang="en-US" sz="2000" b="0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元素小整数比率</a:t>
            </a:r>
            <a:endParaRPr lang="zh-CN" altLang="en-US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49070B-EC02-4092-9C1F-9D1F048D55B0}"/>
              </a:ext>
            </a:extLst>
          </p:cNvPr>
          <p:cNvSpPr txBox="1"/>
          <p:nvPr/>
        </p:nvSpPr>
        <p:spPr>
          <a:xfrm>
            <a:off x="83554" y="1131037"/>
            <a:ext cx="9168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系数矩阵的秩数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未知数个数时，欠定方程，有</a:t>
            </a:r>
            <a:r>
              <a:rPr lang="zh-CN" altLang="en-US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无穷多组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</a:t>
            </a:r>
            <a:r>
              <a:rPr lang="zh-CN" altLang="en-US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用基础解系表示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412593-003C-4E85-9F9B-426365E06260}"/>
              </a:ext>
            </a:extLst>
          </p:cNvPr>
          <p:cNvSpPr txBox="1"/>
          <p:nvPr/>
        </p:nvSpPr>
        <p:spPr>
          <a:xfrm>
            <a:off x="4218997" y="3102714"/>
            <a:ext cx="3240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零空间的有理基向量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47A0C5-359E-465C-9718-38F076D9F072}"/>
              </a:ext>
            </a:extLst>
          </p:cNvPr>
          <p:cNvSpPr txBox="1"/>
          <p:nvPr/>
        </p:nvSpPr>
        <p:spPr>
          <a:xfrm>
            <a:off x="-44984" y="2124168"/>
            <a:ext cx="8519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齐次线性方程组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Ax=0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的解向量的空间，就是矩阵的零空间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B9D113E7-BE01-4561-94B5-643992B60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297" y="3703468"/>
            <a:ext cx="214677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x1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=null(A</a:t>
            </a:r>
            <a:r>
              <a:rPr lang="es-ES" altLang="zh-CN" sz="1600" b="1" dirty="0">
                <a:solidFill>
                  <a:schemeClr val="bg1"/>
                </a:solidFill>
              </a:rPr>
              <a:t>,"rational"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A4FD79-87E7-4B98-8B4F-78FE7BEBB509}"/>
              </a:ext>
            </a:extLst>
          </p:cNvPr>
          <p:cNvSpPr txBox="1"/>
          <p:nvPr/>
        </p:nvSpPr>
        <p:spPr>
          <a:xfrm>
            <a:off x="3940173" y="4230641"/>
            <a:ext cx="2357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可取任意常数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C5381C-1F6E-4AC1-8A85-F55C8030E81D}"/>
              </a:ext>
            </a:extLst>
          </p:cNvPr>
          <p:cNvSpPr txBox="1"/>
          <p:nvPr/>
        </p:nvSpPr>
        <p:spPr>
          <a:xfrm>
            <a:off x="-28986" y="3695046"/>
            <a:ext cx="3826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40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2000" dirty="0"/>
              <a:t>齐次线性方程</a:t>
            </a:r>
            <a:r>
              <a:rPr lang="zh-CN" altLang="zh-CN" sz="2000" dirty="0"/>
              <a:t>基础解系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5DF54A-A7A7-4ADF-9DCC-A77EB7C28F36}"/>
              </a:ext>
            </a:extLst>
          </p:cNvPr>
          <p:cNvSpPr txBox="1"/>
          <p:nvPr/>
        </p:nvSpPr>
        <p:spPr>
          <a:xfrm>
            <a:off x="-23190" y="4221406"/>
            <a:ext cx="3394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40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2000" dirty="0"/>
              <a:t>齐次线性方程的通解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91837444-4652-4DC7-B009-556570582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159" y="4241620"/>
            <a:ext cx="94701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k*x1</a:t>
            </a:r>
            <a:endParaRPr lang="zh-CN" altLang="zh-CN" sz="16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E0FC00-5CAB-4270-BA7C-2648FAC68C3A}"/>
              </a:ext>
            </a:extLst>
          </p:cNvPr>
          <p:cNvSpPr txBox="1"/>
          <p:nvPr/>
        </p:nvSpPr>
        <p:spPr>
          <a:xfrm>
            <a:off x="-28986" y="1613769"/>
            <a:ext cx="8043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00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矩阵零空间表示齐次线性方程组 </a:t>
            </a:r>
            <a:r>
              <a:rPr lang="en-US" altLang="zh-CN" dirty="0"/>
              <a:t>Ax=0</a:t>
            </a:r>
            <a:r>
              <a:rPr lang="zh-CN" altLang="en-US" dirty="0"/>
              <a:t> 的所有解构成的集合 </a:t>
            </a:r>
          </a:p>
        </p:txBody>
      </p:sp>
    </p:spTree>
    <p:extLst>
      <p:ext uri="{BB962C8B-B14F-4D97-AF65-F5344CB8AC3E}">
        <p14:creationId xmlns:p14="http://schemas.microsoft.com/office/powerpoint/2010/main" val="349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 animBg="1"/>
      <p:bldP spid="18" grpId="0"/>
      <p:bldP spid="15" grpId="0"/>
      <p:bldP spid="22" grpId="0"/>
      <p:bldP spid="27" grpId="0"/>
      <p:bldP spid="29" grpId="0" animBg="1"/>
      <p:bldP spid="21" grpId="0"/>
      <p:bldP spid="24" grpId="0"/>
      <p:bldP spid="25" grpId="0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B2470-BD60-4F23-9E5B-C26AA9D5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5" y="4094455"/>
            <a:ext cx="1533995" cy="438150"/>
          </a:xfrm>
        </p:spPr>
        <p:txBody>
          <a:bodyPr/>
          <a:lstStyle/>
          <a:p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齐次线性</a:t>
            </a:r>
            <a:br>
              <a:rPr lang="en-US" altLang="zh-CN" sz="1800" kern="100" dirty="0">
                <a:effectLst/>
                <a:cs typeface="Times New Roman" panose="02020603050405020304" pitchFamily="18" charset="0"/>
              </a:rPr>
            </a:br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方程组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AB95EE-C8DE-4899-810F-5DBAC1A83B67}"/>
              </a:ext>
            </a:extLst>
          </p:cNvPr>
          <p:cNvSpPr txBox="1"/>
          <p:nvPr/>
        </p:nvSpPr>
        <p:spPr>
          <a:xfrm>
            <a:off x="1073263" y="35731"/>
            <a:ext cx="7788977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§6.7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齐次线性方程组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配平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化学方程式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E171B0-55FC-430C-86F2-DBBCFB75F1C6}"/>
              </a:ext>
            </a:extLst>
          </p:cNvPr>
          <p:cNvSpPr txBox="1"/>
          <p:nvPr/>
        </p:nvSpPr>
        <p:spPr>
          <a:xfrm>
            <a:off x="942354" y="1009785"/>
            <a:ext cx="816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dirty="0"/>
              <a:t>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KOCN +</a:t>
            </a:r>
            <a:r>
              <a:rPr lang="en-US" altLang="zh-CN" sz="1800" b="1" dirty="0"/>
              <a:t> 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KOH +</a:t>
            </a:r>
            <a:r>
              <a:rPr lang="en-US" altLang="zh-CN" sz="1800" b="1" dirty="0"/>
              <a:t> 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</a:t>
            </a:r>
            <a:r>
              <a:rPr lang="pt-BR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===</a:t>
            </a:r>
            <a:r>
              <a:rPr lang="pt-BR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dirty="0"/>
              <a:t>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</a:t>
            </a:r>
            <a:r>
              <a:rPr lang="pt-BR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1800" b="1" dirty="0"/>
              <a:t> 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pt-BR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1800" b="1" dirty="0"/>
              <a:t> 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KCl +</a:t>
            </a:r>
            <a:r>
              <a:rPr lang="en-US" altLang="zh-CN" sz="1800" b="1" dirty="0"/>
              <a:t> (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zh-CN" sz="1800" b="1" dirty="0">
                <a:solidFill>
                  <a:srgbClr val="002060"/>
                </a:solidFill>
              </a:rPr>
              <a:t>)</a:t>
            </a:r>
            <a:r>
              <a:rPr lang="en-US" altLang="zh-CN" sz="1800" b="1" baseline="-25000" dirty="0">
                <a:solidFill>
                  <a:srgbClr val="002060"/>
                </a:solidFill>
              </a:rPr>
              <a:t> 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pt-BR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pt-B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zh-CN" altLang="en-US" dirty="0"/>
          </a:p>
        </p:txBody>
      </p:sp>
      <p:sp>
        <p:nvSpPr>
          <p:cNvPr id="11" name="双括号 10">
            <a:extLst>
              <a:ext uri="{FF2B5EF4-FFF2-40B4-BE49-F238E27FC236}">
                <a16:creationId xmlns:a16="http://schemas.microsoft.com/office/drawing/2014/main" id="{304BE45A-3CA9-4FBD-9600-2C50902EEB5C}"/>
              </a:ext>
            </a:extLst>
          </p:cNvPr>
          <p:cNvSpPr/>
          <p:nvPr/>
        </p:nvSpPr>
        <p:spPr bwMode="auto">
          <a:xfrm>
            <a:off x="1186183" y="1495020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CBFC0C-427C-48D2-B065-0EF0B205A595}"/>
              </a:ext>
            </a:extLst>
          </p:cNvPr>
          <p:cNvSpPr/>
          <p:nvPr/>
        </p:nvSpPr>
        <p:spPr>
          <a:xfrm>
            <a:off x="1182487" y="1379117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560894-6FBE-4521-AFE8-3BD5E444710B}"/>
              </a:ext>
            </a:extLst>
          </p:cNvPr>
          <p:cNvSpPr/>
          <p:nvPr/>
        </p:nvSpPr>
        <p:spPr>
          <a:xfrm>
            <a:off x="1504116" y="2019732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58F6BC-C1F6-43C1-836C-C1CAFF6CA9F1}"/>
              </a:ext>
            </a:extLst>
          </p:cNvPr>
          <p:cNvSpPr/>
          <p:nvPr/>
        </p:nvSpPr>
        <p:spPr>
          <a:xfrm>
            <a:off x="148388" y="1027407"/>
            <a:ext cx="545209" cy="280076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convex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6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个元素</a:t>
            </a:r>
            <a:endParaRPr lang="en-US" altLang="zh-CN" sz="1600" b="1" dirty="0">
              <a:solidFill>
                <a:schemeClr val="bg1"/>
              </a:solidFill>
              <a:highlight>
                <a:srgbClr val="3399FF"/>
              </a:highligh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反应前后</a:t>
            </a:r>
            <a:endParaRPr lang="en-US" altLang="zh-CN" sz="1600" b="1" dirty="0">
              <a:solidFill>
                <a:schemeClr val="bg1"/>
              </a:solidFill>
              <a:highlight>
                <a:srgbClr val="3399FF"/>
              </a:highligh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质量守恒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B14548-D2B3-4789-9CD6-90FA34CB0320}"/>
              </a:ext>
            </a:extLst>
          </p:cNvPr>
          <p:cNvSpPr/>
          <p:nvPr/>
        </p:nvSpPr>
        <p:spPr>
          <a:xfrm>
            <a:off x="4400190" y="2000048"/>
            <a:ext cx="3433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=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 </a:t>
            </a:r>
            <a:endParaRPr lang="zh-CN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30002A-8D1F-43EC-BC64-6A4CE63B0347}"/>
              </a:ext>
            </a:extLst>
          </p:cNvPr>
          <p:cNvSpPr/>
          <p:nvPr/>
        </p:nvSpPr>
        <p:spPr>
          <a:xfrm>
            <a:off x="636667" y="1406930"/>
            <a:ext cx="4142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</a:p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</a:p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  <a:p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</a:t>
            </a:r>
          </a:p>
          <a:p>
            <a:endParaRPr lang="zh-CN" altLang="en-US" sz="1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F1CDB9A-9725-4488-8C36-19EA62E72AF0}"/>
              </a:ext>
            </a:extLst>
          </p:cNvPr>
          <p:cNvSpPr txBox="1"/>
          <p:nvPr/>
        </p:nvSpPr>
        <p:spPr>
          <a:xfrm>
            <a:off x="1890322" y="1966069"/>
            <a:ext cx="32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BA9AB57-481C-4B9B-BF5C-EE2AC74F8702}"/>
              </a:ext>
            </a:extLst>
          </p:cNvPr>
          <p:cNvSpPr/>
          <p:nvPr/>
        </p:nvSpPr>
        <p:spPr>
          <a:xfrm>
            <a:off x="2354762" y="1400751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F6E915B-6C0B-488A-8F36-F6466F7F5674}"/>
              </a:ext>
            </a:extLst>
          </p:cNvPr>
          <p:cNvSpPr/>
          <p:nvPr/>
        </p:nvSpPr>
        <p:spPr>
          <a:xfrm>
            <a:off x="2813436" y="2000048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2EA587-98FE-4259-B1B5-1E4D653B98FB}"/>
              </a:ext>
            </a:extLst>
          </p:cNvPr>
          <p:cNvSpPr/>
          <p:nvPr/>
        </p:nvSpPr>
        <p:spPr>
          <a:xfrm>
            <a:off x="3624359" y="1446292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AC34279-46F1-4864-B181-96843D776883}"/>
              </a:ext>
            </a:extLst>
          </p:cNvPr>
          <p:cNvSpPr/>
          <p:nvPr/>
        </p:nvSpPr>
        <p:spPr>
          <a:xfrm>
            <a:off x="3975690" y="1988288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9914B62-0245-4BFC-9F6A-27F14AA01B24}"/>
              </a:ext>
            </a:extLst>
          </p:cNvPr>
          <p:cNvSpPr/>
          <p:nvPr/>
        </p:nvSpPr>
        <p:spPr>
          <a:xfrm>
            <a:off x="4912712" y="1388264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2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A9A7C1E-102E-4CDD-8AC5-626256C6C06F}"/>
              </a:ext>
            </a:extLst>
          </p:cNvPr>
          <p:cNvSpPr/>
          <p:nvPr/>
        </p:nvSpPr>
        <p:spPr>
          <a:xfrm>
            <a:off x="5249615" y="1988288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4</a:t>
            </a:r>
            <a:endParaRPr lang="zh-CN" altLang="en-US" sz="16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60FF828-A946-4AC9-8D41-8E91E3589190}"/>
              </a:ext>
            </a:extLst>
          </p:cNvPr>
          <p:cNvSpPr/>
          <p:nvPr/>
        </p:nvSpPr>
        <p:spPr>
          <a:xfrm>
            <a:off x="5975993" y="1390422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2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B415929-C770-4C99-906C-2A1FFE1A75F4}"/>
              </a:ext>
            </a:extLst>
          </p:cNvPr>
          <p:cNvSpPr/>
          <p:nvPr/>
        </p:nvSpPr>
        <p:spPr>
          <a:xfrm>
            <a:off x="6313575" y="2013298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5</a:t>
            </a:r>
            <a:endParaRPr lang="zh-CN" altLang="en-US" sz="16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AE49994-89D4-4993-BA0C-610EAE1CFDC4}"/>
              </a:ext>
            </a:extLst>
          </p:cNvPr>
          <p:cNvSpPr/>
          <p:nvPr/>
        </p:nvSpPr>
        <p:spPr>
          <a:xfrm>
            <a:off x="7035569" y="1432461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7F4AA13-DA1C-4BCA-B6BC-423161F150E4}"/>
              </a:ext>
            </a:extLst>
          </p:cNvPr>
          <p:cNvSpPr/>
          <p:nvPr/>
        </p:nvSpPr>
        <p:spPr>
          <a:xfrm>
            <a:off x="7469297" y="2022915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6</a:t>
            </a:r>
            <a:endParaRPr lang="zh-CN" altLang="en-US" sz="16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FCCBCF2-FAB7-4811-8AEC-44C3AEF42EC5}"/>
              </a:ext>
            </a:extLst>
          </p:cNvPr>
          <p:cNvSpPr/>
          <p:nvPr/>
        </p:nvSpPr>
        <p:spPr>
          <a:xfrm>
            <a:off x="8162107" y="1403512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2</a:t>
            </a:r>
          </a:p>
          <a:p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F0293CC-9573-43F1-8E28-18AF7EDF591F}"/>
              </a:ext>
            </a:extLst>
          </p:cNvPr>
          <p:cNvSpPr/>
          <p:nvPr/>
        </p:nvSpPr>
        <p:spPr>
          <a:xfrm>
            <a:off x="8465978" y="2015385"/>
            <a:ext cx="396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7</a:t>
            </a:r>
            <a:endParaRPr lang="zh-CN" altLang="en-US" sz="1600" dirty="0"/>
          </a:p>
        </p:txBody>
      </p:sp>
      <p:sp>
        <p:nvSpPr>
          <p:cNvPr id="69" name="双括号 68">
            <a:extLst>
              <a:ext uri="{FF2B5EF4-FFF2-40B4-BE49-F238E27FC236}">
                <a16:creationId xmlns:a16="http://schemas.microsoft.com/office/drawing/2014/main" id="{58366F77-1183-4C9E-875B-6BCCAA831277}"/>
              </a:ext>
            </a:extLst>
          </p:cNvPr>
          <p:cNvSpPr/>
          <p:nvPr/>
        </p:nvSpPr>
        <p:spPr bwMode="auto">
          <a:xfrm>
            <a:off x="1652957" y="2985823"/>
            <a:ext cx="2693563" cy="1602151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 b="1">
              <a:latin typeface="Times New Roman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10B15F4-D1F2-4654-AA58-38F615D8EE64}"/>
              </a:ext>
            </a:extLst>
          </p:cNvPr>
          <p:cNvSpPr/>
          <p:nvPr/>
        </p:nvSpPr>
        <p:spPr>
          <a:xfrm>
            <a:off x="1224181" y="3543564"/>
            <a:ext cx="4523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A=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04BB51C-37C7-45B2-9BC8-0441E3416EE4}"/>
              </a:ext>
            </a:extLst>
          </p:cNvPr>
          <p:cNvSpPr/>
          <p:nvPr/>
        </p:nvSpPr>
        <p:spPr>
          <a:xfrm>
            <a:off x="140184" y="3772852"/>
            <a:ext cx="1042303" cy="83099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convex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矩阵形式方程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3399FF"/>
                </a:highlight>
              </a:rPr>
              <a:t>AX=b </a:t>
            </a:r>
            <a:endParaRPr lang="zh-CN" altLang="en-US" sz="1600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004C7FB-8AFF-4C7D-BA44-4D72AF5C0E0B}"/>
              </a:ext>
            </a:extLst>
          </p:cNvPr>
          <p:cNvSpPr/>
          <p:nvPr/>
        </p:nvSpPr>
        <p:spPr>
          <a:xfrm>
            <a:off x="1656355" y="3018314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DF2DD59-A2F7-48BE-8C3E-9EF3BD50CB40}"/>
              </a:ext>
            </a:extLst>
          </p:cNvPr>
          <p:cNvSpPr/>
          <p:nvPr/>
        </p:nvSpPr>
        <p:spPr>
          <a:xfrm>
            <a:off x="1985497" y="3010329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6EC7ADE-358E-49DF-9797-9E78ABA3D470}"/>
              </a:ext>
            </a:extLst>
          </p:cNvPr>
          <p:cNvSpPr/>
          <p:nvPr/>
        </p:nvSpPr>
        <p:spPr>
          <a:xfrm>
            <a:off x="2302329" y="2985823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8666414-081B-4061-9E2C-742280ECCC50}"/>
              </a:ext>
            </a:extLst>
          </p:cNvPr>
          <p:cNvSpPr/>
          <p:nvPr/>
        </p:nvSpPr>
        <p:spPr>
          <a:xfrm>
            <a:off x="2604756" y="2986127"/>
            <a:ext cx="36740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-2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1836521-232E-43D7-97EA-E2112FD07AD4}"/>
              </a:ext>
            </a:extLst>
          </p:cNvPr>
          <p:cNvSpPr/>
          <p:nvPr/>
        </p:nvSpPr>
        <p:spPr>
          <a:xfrm>
            <a:off x="3022792" y="2987282"/>
            <a:ext cx="36740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-2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34C70C5-87A7-47EC-8DED-05FEFF4C1BBF}"/>
              </a:ext>
            </a:extLst>
          </p:cNvPr>
          <p:cNvSpPr/>
          <p:nvPr/>
        </p:nvSpPr>
        <p:spPr>
          <a:xfrm>
            <a:off x="3401509" y="2987282"/>
            <a:ext cx="36740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-1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-1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6160FC6-C1D4-468C-BA86-382F3F70FB0B}"/>
              </a:ext>
            </a:extLst>
          </p:cNvPr>
          <p:cNvSpPr/>
          <p:nvPr/>
        </p:nvSpPr>
        <p:spPr>
          <a:xfrm>
            <a:off x="3868754" y="2986127"/>
            <a:ext cx="36740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-1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-2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763C14F-0176-4B16-8EB5-28C6E31F0748}"/>
              </a:ext>
            </a:extLst>
          </p:cNvPr>
          <p:cNvSpPr/>
          <p:nvPr/>
        </p:nvSpPr>
        <p:spPr>
          <a:xfrm>
            <a:off x="5119981" y="3463264"/>
            <a:ext cx="6027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X=</a:t>
            </a:r>
          </a:p>
        </p:txBody>
      </p:sp>
      <p:sp>
        <p:nvSpPr>
          <p:cNvPr id="95" name="双括号 94">
            <a:extLst>
              <a:ext uri="{FF2B5EF4-FFF2-40B4-BE49-F238E27FC236}">
                <a16:creationId xmlns:a16="http://schemas.microsoft.com/office/drawing/2014/main" id="{366A6E9B-795A-4179-9758-E3DF81DE20DA}"/>
              </a:ext>
            </a:extLst>
          </p:cNvPr>
          <p:cNvSpPr/>
          <p:nvPr/>
        </p:nvSpPr>
        <p:spPr bwMode="auto">
          <a:xfrm>
            <a:off x="5575249" y="2904609"/>
            <a:ext cx="282126" cy="1675380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66AF06B-BC3C-4EBA-9D46-23CDB72C9230}"/>
              </a:ext>
            </a:extLst>
          </p:cNvPr>
          <p:cNvSpPr/>
          <p:nvPr/>
        </p:nvSpPr>
        <p:spPr>
          <a:xfrm>
            <a:off x="5532107" y="2851080"/>
            <a:ext cx="546327" cy="239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1 </a:t>
            </a:r>
            <a:endParaRPr lang="en-US" altLang="zh-CN" sz="1600" dirty="0">
              <a:solidFill>
                <a:srgbClr val="000000"/>
              </a:solidFill>
            </a:endParaRP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2</a:t>
            </a: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3</a:t>
            </a: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4</a:t>
            </a: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5</a:t>
            </a: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6</a:t>
            </a:r>
          </a:p>
          <a:p>
            <a:r>
              <a:rPr lang="en-US" altLang="zh-CN" sz="1600" dirty="0"/>
              <a:t>X</a:t>
            </a:r>
            <a:r>
              <a:rPr lang="en-US" altLang="zh-CN" sz="1600" baseline="-25000" dirty="0">
                <a:solidFill>
                  <a:srgbClr val="000000"/>
                </a:solidFill>
              </a:rPr>
              <a:t>7</a:t>
            </a:r>
          </a:p>
          <a:p>
            <a:endParaRPr lang="en-US" altLang="zh-CN" sz="1600" baseline="-25000" dirty="0">
              <a:solidFill>
                <a:srgbClr val="000000"/>
              </a:solidFill>
            </a:endParaRPr>
          </a:p>
          <a:p>
            <a:endParaRPr lang="en-US" altLang="zh-CN" sz="1600" baseline="-25000" dirty="0">
              <a:solidFill>
                <a:srgbClr val="000000"/>
              </a:solidFill>
            </a:endParaRPr>
          </a:p>
          <a:p>
            <a:endParaRPr lang="zh-CN" altLang="en-US" sz="1600" dirty="0"/>
          </a:p>
        </p:txBody>
      </p:sp>
      <p:sp>
        <p:nvSpPr>
          <p:cNvPr id="100" name="双括号 99">
            <a:extLst>
              <a:ext uri="{FF2B5EF4-FFF2-40B4-BE49-F238E27FC236}">
                <a16:creationId xmlns:a16="http://schemas.microsoft.com/office/drawing/2014/main" id="{249C47FA-82F7-4918-B8CA-BA5900568047}"/>
              </a:ext>
            </a:extLst>
          </p:cNvPr>
          <p:cNvSpPr/>
          <p:nvPr/>
        </p:nvSpPr>
        <p:spPr bwMode="auto">
          <a:xfrm>
            <a:off x="6749239" y="3007912"/>
            <a:ext cx="259337" cy="1442893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E619DE0-7079-46BB-B267-9D89B697C9D9}"/>
              </a:ext>
            </a:extLst>
          </p:cNvPr>
          <p:cNvSpPr/>
          <p:nvPr/>
        </p:nvSpPr>
        <p:spPr>
          <a:xfrm>
            <a:off x="6313575" y="3458230"/>
            <a:ext cx="503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b=</a:t>
            </a:r>
            <a:r>
              <a:rPr lang="en-US" altLang="zh-CN" b="1" baseline="-25000" dirty="0">
                <a:solidFill>
                  <a:srgbClr val="000000"/>
                </a:solidFill>
              </a:rPr>
              <a:t> </a:t>
            </a:r>
            <a:endParaRPr lang="zh-CN" altLang="en-US" b="1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F6EEB24-77FF-4958-A074-7DD238A23B02}"/>
              </a:ext>
            </a:extLst>
          </p:cNvPr>
          <p:cNvSpPr/>
          <p:nvPr/>
        </p:nvSpPr>
        <p:spPr>
          <a:xfrm>
            <a:off x="6737089" y="2954364"/>
            <a:ext cx="2984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</a:p>
          <a:p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endParaRPr lang="zh-CN" altLang="en-US" sz="1600" dirty="0"/>
          </a:p>
        </p:txBody>
      </p:sp>
      <p:sp>
        <p:nvSpPr>
          <p:cNvPr id="103" name="Rectangle 2">
            <a:extLst>
              <a:ext uri="{FF2B5EF4-FFF2-40B4-BE49-F238E27FC236}">
                <a16:creationId xmlns:a16="http://schemas.microsoft.com/office/drawing/2014/main" id="{B6C92697-63C9-461B-94CC-FF10E3A37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01" y="3357142"/>
            <a:ext cx="1415772" cy="413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2400" b="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欠定方程</a:t>
            </a:r>
          </a:p>
        </p:txBody>
      </p:sp>
      <p:sp>
        <p:nvSpPr>
          <p:cNvPr id="106" name="标题 1">
            <a:extLst>
              <a:ext uri="{FF2B5EF4-FFF2-40B4-BE49-F238E27FC236}">
                <a16:creationId xmlns:a16="http://schemas.microsoft.com/office/drawing/2014/main" id="{175417CB-6034-4961-934F-E17CBD56B0AB}"/>
              </a:ext>
            </a:extLst>
          </p:cNvPr>
          <p:cNvSpPr txBox="1">
            <a:spLocks/>
          </p:cNvSpPr>
          <p:nvPr/>
        </p:nvSpPr>
        <p:spPr bwMode="auto">
          <a:xfrm>
            <a:off x="7861713" y="1266364"/>
            <a:ext cx="1190371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6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配平数</a:t>
            </a:r>
            <a:r>
              <a:rPr lang="en-US" altLang="zh-CN" sz="16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7</a:t>
            </a:r>
            <a:r>
              <a:rPr lang="zh-CN" altLang="en-US" sz="16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个</a:t>
            </a:r>
            <a:endParaRPr lang="zh-CN" altLang="en-US" sz="1600" kern="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107" name="标题 1">
            <a:extLst>
              <a:ext uri="{FF2B5EF4-FFF2-40B4-BE49-F238E27FC236}">
                <a16:creationId xmlns:a16="http://schemas.microsoft.com/office/drawing/2014/main" id="{0EC9ED4C-442B-487D-8722-ECE09EE57381}"/>
              </a:ext>
            </a:extLst>
          </p:cNvPr>
          <p:cNvSpPr txBox="1">
            <a:spLocks/>
          </p:cNvSpPr>
          <p:nvPr/>
        </p:nvSpPr>
        <p:spPr bwMode="auto">
          <a:xfrm>
            <a:off x="7791090" y="2866239"/>
            <a:ext cx="1190371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8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方程数</a:t>
            </a:r>
            <a:r>
              <a:rPr lang="en-US" altLang="zh-CN" sz="18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6</a:t>
            </a:r>
            <a:r>
              <a:rPr lang="zh-CN" altLang="en-US" sz="1800" kern="100" dirty="0">
                <a:solidFill>
                  <a:srgbClr val="FFFF00"/>
                </a:solidFill>
                <a:highlight>
                  <a:srgbClr val="FF0000"/>
                </a:highlight>
                <a:cs typeface="Times New Roman" panose="02020603050405020304" pitchFamily="18" charset="0"/>
              </a:rPr>
              <a:t>个</a:t>
            </a:r>
            <a:endParaRPr lang="zh-CN" altLang="en-US" kern="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B849D2A-D461-464B-BEE8-CF00E0001C0C}"/>
              </a:ext>
            </a:extLst>
          </p:cNvPr>
          <p:cNvSpPr txBox="1"/>
          <p:nvPr/>
        </p:nvSpPr>
        <p:spPr>
          <a:xfrm>
            <a:off x="90428" y="688489"/>
            <a:ext cx="905357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某厂废水中</a:t>
            </a:r>
            <a:r>
              <a:rPr lang="zh-CN" altLang="en-US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氰酸钾</a:t>
            </a:r>
            <a:r>
              <a:rPr lang="pt-BR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KOCN</a:t>
            </a:r>
            <a:r>
              <a:rPr lang="zh-CN" altLang="en-US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氰化钾</a:t>
            </a:r>
            <a:r>
              <a:rPr lang="pt-BR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KOH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用氯氧化法处理</a:t>
            </a:r>
            <a:r>
              <a:rPr lang="zh-CN" altLang="en-US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zh-CN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氰酸盐氧化为氮气</a:t>
            </a:r>
            <a:r>
              <a:rPr lang="zh-CN" altLang="en-US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配平化学方程式</a:t>
            </a:r>
            <a:endParaRPr lang="zh-CN" altLang="en-US" sz="1600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双括号 109">
            <a:extLst>
              <a:ext uri="{FF2B5EF4-FFF2-40B4-BE49-F238E27FC236}">
                <a16:creationId xmlns:a16="http://schemas.microsoft.com/office/drawing/2014/main" id="{D6950A74-398C-4887-84FE-0F052CA34935}"/>
              </a:ext>
            </a:extLst>
          </p:cNvPr>
          <p:cNvSpPr/>
          <p:nvPr/>
        </p:nvSpPr>
        <p:spPr bwMode="auto">
          <a:xfrm>
            <a:off x="2357419" y="1486727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1" name="双括号 110">
            <a:extLst>
              <a:ext uri="{FF2B5EF4-FFF2-40B4-BE49-F238E27FC236}">
                <a16:creationId xmlns:a16="http://schemas.microsoft.com/office/drawing/2014/main" id="{401BD2FC-9DCB-49D3-B45C-8D7311BA8986}"/>
              </a:ext>
            </a:extLst>
          </p:cNvPr>
          <p:cNvSpPr/>
          <p:nvPr/>
        </p:nvSpPr>
        <p:spPr bwMode="auto">
          <a:xfrm>
            <a:off x="3618968" y="1495019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2" name="双括号 111">
            <a:extLst>
              <a:ext uri="{FF2B5EF4-FFF2-40B4-BE49-F238E27FC236}">
                <a16:creationId xmlns:a16="http://schemas.microsoft.com/office/drawing/2014/main" id="{05DD2E8B-9A39-4B23-864E-DE7F2E4B1252}"/>
              </a:ext>
            </a:extLst>
          </p:cNvPr>
          <p:cNvSpPr/>
          <p:nvPr/>
        </p:nvSpPr>
        <p:spPr bwMode="auto">
          <a:xfrm>
            <a:off x="4903289" y="1502692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3" name="双括号 112">
            <a:extLst>
              <a:ext uri="{FF2B5EF4-FFF2-40B4-BE49-F238E27FC236}">
                <a16:creationId xmlns:a16="http://schemas.microsoft.com/office/drawing/2014/main" id="{B0594E4B-E1CD-4793-8924-6C5B3606D5DB}"/>
              </a:ext>
            </a:extLst>
          </p:cNvPr>
          <p:cNvSpPr/>
          <p:nvPr/>
        </p:nvSpPr>
        <p:spPr bwMode="auto">
          <a:xfrm>
            <a:off x="5960720" y="1425437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4" name="双括号 113">
            <a:extLst>
              <a:ext uri="{FF2B5EF4-FFF2-40B4-BE49-F238E27FC236}">
                <a16:creationId xmlns:a16="http://schemas.microsoft.com/office/drawing/2014/main" id="{8F3E0138-A6F5-4F8C-88F3-51B6ADC5A985}"/>
              </a:ext>
            </a:extLst>
          </p:cNvPr>
          <p:cNvSpPr/>
          <p:nvPr/>
        </p:nvSpPr>
        <p:spPr bwMode="auto">
          <a:xfrm>
            <a:off x="7029994" y="1459807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5" name="双括号 114">
            <a:extLst>
              <a:ext uri="{FF2B5EF4-FFF2-40B4-BE49-F238E27FC236}">
                <a16:creationId xmlns:a16="http://schemas.microsoft.com/office/drawing/2014/main" id="{4C364313-A69C-45F5-8127-CD3864FC9D91}"/>
              </a:ext>
            </a:extLst>
          </p:cNvPr>
          <p:cNvSpPr/>
          <p:nvPr/>
        </p:nvSpPr>
        <p:spPr bwMode="auto">
          <a:xfrm>
            <a:off x="8156716" y="1459806"/>
            <a:ext cx="287017" cy="1419035"/>
          </a:xfrm>
          <a:prstGeom prst="bracketPair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3350" indent="-133350" algn="ctr" defTabSz="685800" eaLnBrk="0" hangingPunct="0">
              <a:lnSpc>
                <a:spcPct val="110000"/>
              </a:lnSpc>
            </a:pPr>
            <a:endParaRPr lang="zh-CN" altLang="en-US" sz="1600">
              <a:latin typeface="Times New Roman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187963D-5549-4D28-B423-547BC63609AC}"/>
              </a:ext>
            </a:extLst>
          </p:cNvPr>
          <p:cNvSpPr txBox="1"/>
          <p:nvPr/>
        </p:nvSpPr>
        <p:spPr>
          <a:xfrm>
            <a:off x="7500177" y="3706828"/>
            <a:ext cx="1201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b="1" i="1" kern="100" dirty="0">
                <a:effectLst/>
                <a:ea typeface="Times New Roman" panose="02020603050405020304" pitchFamily="18" charset="0"/>
              </a:rPr>
              <a:t>Ax</a:t>
            </a:r>
            <a:r>
              <a:rPr lang="en-US" altLang="zh-CN" sz="1800" kern="100" dirty="0">
                <a:effectLst/>
                <a:ea typeface="Times New Roman" panose="02020603050405020304" pitchFamily="18" charset="0"/>
              </a:rPr>
              <a:t> =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6221008-06A4-42EC-ABFF-FE1ED529F388}"/>
              </a:ext>
            </a:extLst>
          </p:cNvPr>
          <p:cNvSpPr txBox="1"/>
          <p:nvPr/>
        </p:nvSpPr>
        <p:spPr>
          <a:xfrm>
            <a:off x="3080088" y="1938721"/>
            <a:ext cx="32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5444C29-EEBA-4039-A3FC-82D67B670DEB}"/>
              </a:ext>
            </a:extLst>
          </p:cNvPr>
          <p:cNvSpPr txBox="1"/>
          <p:nvPr/>
        </p:nvSpPr>
        <p:spPr>
          <a:xfrm>
            <a:off x="5654970" y="1938721"/>
            <a:ext cx="32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C45B3C8-3CA2-4B28-BD56-416908CDDD39}"/>
              </a:ext>
            </a:extLst>
          </p:cNvPr>
          <p:cNvSpPr txBox="1"/>
          <p:nvPr/>
        </p:nvSpPr>
        <p:spPr>
          <a:xfrm>
            <a:off x="6615910" y="1938721"/>
            <a:ext cx="32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229FD7-5618-4B51-A1CC-6AFC16D6DC7F}"/>
              </a:ext>
            </a:extLst>
          </p:cNvPr>
          <p:cNvSpPr txBox="1"/>
          <p:nvPr/>
        </p:nvSpPr>
        <p:spPr>
          <a:xfrm>
            <a:off x="7864999" y="1949282"/>
            <a:ext cx="32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波形 64">
            <a:extLst>
              <a:ext uri="{FF2B5EF4-FFF2-40B4-BE49-F238E27FC236}">
                <a16:creationId xmlns:a16="http://schemas.microsoft.com/office/drawing/2014/main" id="{3BA9B24E-A5F1-41D3-93E7-9879D9C98117}"/>
              </a:ext>
            </a:extLst>
          </p:cNvPr>
          <p:cNvSpPr/>
          <p:nvPr/>
        </p:nvSpPr>
        <p:spPr>
          <a:xfrm>
            <a:off x="90428" y="221737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例67-1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81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/>
      <p:bldP spid="14" grpId="0"/>
      <p:bldP spid="27" grpId="0"/>
      <p:bldP spid="28" grpId="0"/>
      <p:bldP spid="31" grpId="0"/>
      <p:bldP spid="49" grpId="0"/>
      <p:bldP spid="51" grpId="0"/>
      <p:bldP spid="52" grpId="0"/>
      <p:bldP spid="54" grpId="0"/>
      <p:bldP spid="55" grpId="0"/>
      <p:bldP spid="57" grpId="0"/>
      <p:bldP spid="58" grpId="0"/>
      <p:bldP spid="60" grpId="0"/>
      <p:bldP spid="61" grpId="0"/>
      <p:bldP spid="63" grpId="0"/>
      <p:bldP spid="64" grpId="0"/>
      <p:bldP spid="66" grpId="0"/>
      <p:bldP spid="67" grpId="0"/>
      <p:bldP spid="69" grpId="0" animBg="1"/>
      <p:bldP spid="74" grpId="0"/>
      <p:bldP spid="75" grpId="0"/>
      <p:bldP spid="86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 animBg="1"/>
      <p:bldP spid="98" grpId="0"/>
      <p:bldP spid="100" grpId="0" animBg="1"/>
      <p:bldP spid="101" grpId="0"/>
      <p:bldP spid="102" grpId="0"/>
      <p:bldP spid="103" grpId="0"/>
      <p:bldP spid="106" grpId="0"/>
      <p:bldP spid="107" grpId="0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7" grpId="0"/>
      <p:bldP spid="53" grpId="0"/>
      <p:bldP spid="56" grpId="0"/>
      <p:bldP spid="59" grpId="0"/>
      <p:bldP spid="6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B5AB6-D596-43AB-A6A3-F18AD80D5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44" y="1158180"/>
            <a:ext cx="6324957" cy="1620765"/>
          </a:xfrm>
        </p:spPr>
        <p:txBody>
          <a:bodyPr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/>
              <a:t>A = [1 1 0 0 0 -1 0;1 1 0 -2 0 0 -1;1 0 0 -1 0 0 0;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/>
              <a:t>       1 0 0 0 -2 0 0;0 1 0 0 0 0 -2;0 0 2 0 0 -1 0];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dirty="0"/>
              <a:t>N = null(A,"rational") </a:t>
            </a:r>
            <a:r>
              <a:rPr lang="en-US" altLang="zh-CN" sz="2000" dirty="0"/>
              <a:t>#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零空间的有理基向量</a:t>
            </a:r>
            <a:endParaRPr lang="en-US" altLang="zh-CN" sz="2000" dirty="0"/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/>
              <a:t>NR=</a:t>
            </a:r>
            <a:r>
              <a:rPr lang="en-US" altLang="zh-CN" sz="2000" dirty="0" err="1"/>
              <a:t>ty_format</a:t>
            </a:r>
            <a:r>
              <a:rPr lang="en-US" altLang="zh-CN" sz="2000" dirty="0"/>
              <a:t>("</a:t>
            </a:r>
            <a:r>
              <a:rPr lang="en-US" altLang="zh-CN" sz="2000" dirty="0" err="1"/>
              <a:t>rat",N</a:t>
            </a:r>
            <a:r>
              <a:rPr lang="en-US" altLang="zh-CN" sz="2000" dirty="0"/>
              <a:t>)  </a:t>
            </a:r>
            <a:r>
              <a:rPr lang="en-US" altLang="zh-CN" sz="18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小整数的比率</a:t>
            </a:r>
            <a:endParaRPr lang="en-US" altLang="zh-CN" sz="1800" b="1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640C7F-61B6-44A2-85EC-FB6A4940F6EA}"/>
              </a:ext>
            </a:extLst>
          </p:cNvPr>
          <p:cNvSpPr txBox="1"/>
          <p:nvPr/>
        </p:nvSpPr>
        <p:spPr>
          <a:xfrm>
            <a:off x="1043608" y="15827"/>
            <a:ext cx="7649924" cy="57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§6.7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齐次线性方程组</a:t>
            </a:r>
            <a:r>
              <a:rPr lang="en-US" altLang="zh-CN" sz="2800" b="1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charset="0"/>
              </a:rPr>
              <a:t>Ax=b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配平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化学方程</a:t>
            </a:r>
            <a:r>
              <a:rPr lang="zh-CN" altLang="en-US" sz="2600" b="1" dirty="0">
                <a:solidFill>
                  <a:srgbClr val="FF0000"/>
                </a:solidFill>
              </a:rPr>
              <a:t>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DF4DB7-9896-4CE1-8786-D3E3E11574BB}"/>
              </a:ext>
            </a:extLst>
          </p:cNvPr>
          <p:cNvSpPr txBox="1"/>
          <p:nvPr/>
        </p:nvSpPr>
        <p:spPr>
          <a:xfrm>
            <a:off x="107504" y="3182627"/>
            <a:ext cx="8895139" cy="133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965">
              <a:lnSpc>
                <a:spcPts val="3800"/>
              </a:lnSpc>
            </a:pPr>
            <a:endParaRPr lang="en-US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7965">
              <a:lnSpc>
                <a:spcPts val="31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en-US" altLang="zh-CN" sz="20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2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  <a:r>
              <a:rPr lang="en-US" altLang="zh-CN" sz="20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(2, 4, 3, 2, 1, 6, 2). </a:t>
            </a:r>
          </a:p>
          <a:p>
            <a:pPr marL="227965">
              <a:lnSpc>
                <a:spcPts val="31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配平后的化学方程式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2KOCN + 4KOH + 3Cl</a:t>
            </a:r>
            <a:r>
              <a:rPr lang="en-US" altLang="zh-CN" sz="20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===</a:t>
            </a:r>
            <a:r>
              <a:rPr lang="en-US" altLang="zh-CN" sz="20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2CO</a:t>
            </a:r>
            <a:r>
              <a:rPr lang="en-US" altLang="zh-CN" sz="20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 N</a:t>
            </a:r>
            <a:r>
              <a:rPr lang="en-US" altLang="zh-CN" sz="20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+ 6KCl + 2H</a:t>
            </a:r>
            <a:r>
              <a:rPr lang="en-US" altLang="zh-CN" sz="20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O. 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8B3826-7A89-403F-8F85-9A7820807BE7}"/>
              </a:ext>
            </a:extLst>
          </p:cNvPr>
          <p:cNvSpPr txBox="1"/>
          <p:nvPr/>
        </p:nvSpPr>
        <p:spPr>
          <a:xfrm>
            <a:off x="349531" y="3260812"/>
            <a:ext cx="600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化学系数配平要求取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NR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为各分量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分母的最小公倍数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4499FA-5032-44DF-95EF-BB5664530EFF}"/>
              </a:ext>
            </a:extLst>
          </p:cNvPr>
          <p:cNvSpPr txBox="1"/>
          <p:nvPr/>
        </p:nvSpPr>
        <p:spPr>
          <a:xfrm>
            <a:off x="7003504" y="1846099"/>
            <a:ext cx="2243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小整数的比率结果</a:t>
            </a:r>
            <a:endParaRPr lang="en-US" altLang="zh-CN" b="1" dirty="0">
              <a:solidFill>
                <a:srgbClr val="00B0F0"/>
              </a:solidFill>
            </a:endParaRPr>
          </a:p>
          <a:p>
            <a:r>
              <a:rPr lang="en-US" altLang="zh-CN" dirty="0"/>
              <a:t>1//1</a:t>
            </a:r>
          </a:p>
          <a:p>
            <a:r>
              <a:rPr lang="en-US" altLang="zh-CN" dirty="0"/>
              <a:t>2//1</a:t>
            </a:r>
          </a:p>
          <a:p>
            <a:r>
              <a:rPr lang="en-US" altLang="zh-CN" dirty="0"/>
              <a:t>3//2</a:t>
            </a:r>
          </a:p>
          <a:p>
            <a:r>
              <a:rPr lang="en-US" altLang="zh-CN" dirty="0"/>
              <a:t>1//1</a:t>
            </a:r>
          </a:p>
          <a:p>
            <a:r>
              <a:rPr lang="en-US" altLang="zh-CN" dirty="0"/>
              <a:t>1//2</a:t>
            </a:r>
          </a:p>
          <a:p>
            <a:r>
              <a:rPr lang="en-US" altLang="zh-CN" dirty="0"/>
              <a:t>3//1</a:t>
            </a:r>
          </a:p>
          <a:p>
            <a:r>
              <a:rPr lang="en-US" altLang="zh-CN" dirty="0"/>
              <a:t>1//1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CD5F38-C4C0-4E80-8252-57919AF4CC8B}"/>
              </a:ext>
            </a:extLst>
          </p:cNvPr>
          <p:cNvSpPr txBox="1"/>
          <p:nvPr/>
        </p:nvSpPr>
        <p:spPr>
          <a:xfrm>
            <a:off x="6337156" y="1240186"/>
            <a:ext cx="1872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矩阵零空间</a:t>
            </a:r>
          </a:p>
          <a:p>
            <a:r>
              <a:rPr lang="zh-CN" altLang="en-US" dirty="0"/>
              <a:t>1.0</a:t>
            </a:r>
          </a:p>
          <a:p>
            <a:r>
              <a:rPr lang="zh-CN" altLang="en-US" dirty="0"/>
              <a:t> 2.0</a:t>
            </a:r>
          </a:p>
          <a:p>
            <a:r>
              <a:rPr lang="zh-CN" altLang="en-US" dirty="0"/>
              <a:t> 1.5</a:t>
            </a:r>
          </a:p>
          <a:p>
            <a:r>
              <a:rPr lang="zh-CN" altLang="en-US" dirty="0"/>
              <a:t> 1.0</a:t>
            </a:r>
          </a:p>
          <a:p>
            <a:r>
              <a:rPr lang="zh-CN" altLang="en-US" dirty="0"/>
              <a:t> 0.5</a:t>
            </a:r>
          </a:p>
          <a:p>
            <a:r>
              <a:rPr lang="zh-CN" altLang="en-US" dirty="0"/>
              <a:t> 3.0</a:t>
            </a:r>
          </a:p>
          <a:p>
            <a:r>
              <a:rPr lang="zh-CN" altLang="en-US" dirty="0"/>
              <a:t> 1.0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F79A6C-218B-49A2-9CA3-C67420ACE95E}"/>
              </a:ext>
            </a:extLst>
          </p:cNvPr>
          <p:cNvSpPr txBox="1"/>
          <p:nvPr/>
        </p:nvSpPr>
        <p:spPr>
          <a:xfrm>
            <a:off x="899592" y="732490"/>
            <a:ext cx="812971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某厂废水中含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氰化钾</a:t>
            </a:r>
            <a:r>
              <a:rPr lang="en-US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KCN,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用氯氧化法处理</a:t>
            </a:r>
            <a:r>
              <a:rPr lang="zh-CN" altLang="en-US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方程，需要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配平化学方程式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A25832-C535-4C06-B7C7-665285700944}"/>
              </a:ext>
            </a:extLst>
          </p:cNvPr>
          <p:cNvSpPr txBox="1"/>
          <p:nvPr/>
        </p:nvSpPr>
        <p:spPr>
          <a:xfrm>
            <a:off x="137657" y="2726262"/>
            <a:ext cx="4630366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965">
              <a:lnSpc>
                <a:spcPts val="33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通解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= k*(1, 2, 3/2, 1, 1/2, 3, 1)</a:t>
            </a: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C66D7CD8-207A-4CC8-8F42-09A88F6EDEF4}"/>
              </a:ext>
            </a:extLst>
          </p:cNvPr>
          <p:cNvSpPr/>
          <p:nvPr/>
        </p:nvSpPr>
        <p:spPr>
          <a:xfrm>
            <a:off x="79647" y="773670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例67-1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33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0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2C99063-7F73-4E26-9472-7D7F249FDB90}"/>
              </a:ext>
            </a:extLst>
          </p:cNvPr>
          <p:cNvSpPr txBox="1"/>
          <p:nvPr/>
        </p:nvSpPr>
        <p:spPr>
          <a:xfrm>
            <a:off x="827584" y="20784"/>
            <a:ext cx="8496943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超定线性方程组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压降与温度线性关系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B10743-1D13-41A4-AA78-FA062D81CA7E}"/>
              </a:ext>
            </a:extLst>
          </p:cNvPr>
          <p:cNvSpPr txBox="1"/>
          <p:nvPr/>
        </p:nvSpPr>
        <p:spPr>
          <a:xfrm>
            <a:off x="184477" y="3187517"/>
            <a:ext cx="62597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温度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0.3943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0.3809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0.3705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0.3587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0.3455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0.3331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0.3193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0.3049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0.2909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0.2771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压降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hold("on")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温度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压降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9C22E0E-234F-48EE-9B08-7AE8B2132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28" y="1443476"/>
            <a:ext cx="8753890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7513" algn="l"/>
              </a:tabLs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大物实验“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结正向压降与温度关系的研究与应用”中，流过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结电流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b="1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一定时，正向压降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与温度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呈线性关系，求斜率和截距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84911F-3410-4D4B-856A-A4A62A420485}"/>
              </a:ext>
            </a:extLst>
          </p:cNvPr>
          <p:cNvSpPr/>
          <p:nvPr/>
        </p:nvSpPr>
        <p:spPr>
          <a:xfrm>
            <a:off x="157947" y="2671154"/>
            <a:ext cx="4894289" cy="53200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十个离散点分布及其拟合直线示意图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</a:t>
            </a:r>
            <a:endParaRPr lang="en-US" altLang="ko-KR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5F72E60-070E-4DFB-BC08-4D5FA0667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3" y="2940202"/>
            <a:ext cx="2419993" cy="1650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4">
                <a:extLst>
                  <a:ext uri="{FF2B5EF4-FFF2-40B4-BE49-F238E27FC236}">
                    <a16:creationId xmlns:a16="http://schemas.microsoft.com/office/drawing/2014/main" id="{532D13CE-4DAD-463A-8C4E-95AF516185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336862"/>
                  </p:ext>
                </p:extLst>
              </p:nvPr>
            </p:nvGraphicFramePr>
            <p:xfrm>
              <a:off x="232164" y="2124729"/>
              <a:ext cx="8679671" cy="6261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393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39549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48241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13055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13055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400" b="1" i="1" kern="12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</m:oMath>
                          </a14:m>
                          <a:r>
                            <a:rPr lang="en-US" altLang="zh-CN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zh-CN" altLang="en-US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压降</a:t>
                          </a:r>
                          <a:r>
                            <a:rPr lang="en-US" altLang="zh-CN" sz="1400" b="1" kern="12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)</a:t>
                          </a:r>
                          <a:endParaRPr lang="zh-CN" altLang="en-US" sz="1400" b="1" kern="12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+mn-cs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4">
                <a:extLst>
                  <a:ext uri="{FF2B5EF4-FFF2-40B4-BE49-F238E27FC236}">
                    <a16:creationId xmlns:a16="http://schemas.microsoft.com/office/drawing/2014/main" id="{532D13CE-4DAD-463A-8C4E-95AF516185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336862"/>
                  </p:ext>
                </p:extLst>
              </p:nvPr>
            </p:nvGraphicFramePr>
            <p:xfrm>
              <a:off x="232164" y="2124729"/>
              <a:ext cx="8679671" cy="6261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393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39549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48241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789061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13055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130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781" t="-101923" r="-1016406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400" dirty="0">
                              <a:solidFill>
                                <a:schemeClr val="bg1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波形 10">
            <a:extLst>
              <a:ext uri="{FF2B5EF4-FFF2-40B4-BE49-F238E27FC236}">
                <a16:creationId xmlns:a16="http://schemas.microsoft.com/office/drawing/2014/main" id="{D5A86F7D-0C45-40AF-8933-292BC9473A89}"/>
              </a:ext>
            </a:extLst>
          </p:cNvPr>
          <p:cNvSpPr/>
          <p:nvPr/>
        </p:nvSpPr>
        <p:spPr>
          <a:xfrm>
            <a:off x="142228" y="219402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1B46D5-8DCF-4668-A393-0ADA2B9F5A89}"/>
              </a:ext>
            </a:extLst>
          </p:cNvPr>
          <p:cNvSpPr txBox="1"/>
          <p:nvPr/>
        </p:nvSpPr>
        <p:spPr>
          <a:xfrm>
            <a:off x="205742" y="688995"/>
            <a:ext cx="19594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超定方程求解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0FC9CD29-3366-4E5D-97D9-42B52FD6A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221" y="1034505"/>
            <a:ext cx="2974206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z="2000" dirty="0"/>
              <a:t>x=lsqminnorm(A,b)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D02685-BE0B-4F4B-9FB2-1C546729D2EB}"/>
              </a:ext>
            </a:extLst>
          </p:cNvPr>
          <p:cNvSpPr txBox="1"/>
          <p:nvPr/>
        </p:nvSpPr>
        <p:spPr>
          <a:xfrm>
            <a:off x="184477" y="1063715"/>
            <a:ext cx="1651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D60E05-D18D-4CB1-87F7-C104484AC471}"/>
              </a:ext>
            </a:extLst>
          </p:cNvPr>
          <p:cNvSpPr/>
          <p:nvPr/>
        </p:nvSpPr>
        <p:spPr>
          <a:xfrm>
            <a:off x="4098377" y="691332"/>
            <a:ext cx="23070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rank(A)&lt; rank([A b])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FF43441-2E04-4A95-A089-A012C80611A4}"/>
              </a:ext>
            </a:extLst>
          </p:cNvPr>
          <p:cNvSpPr/>
          <p:nvPr/>
        </p:nvSpPr>
        <p:spPr>
          <a:xfrm>
            <a:off x="1652415" y="713377"/>
            <a:ext cx="25811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未知量个数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n&lt;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方程个数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6990B76F-BCF2-4839-8E92-534699085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724" y="1037136"/>
            <a:ext cx="14804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伪逆乘法：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4FE7A3F8-4268-4BD4-B821-ECFAA06D7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514" y="1019908"/>
            <a:ext cx="1773776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pinv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(A)*b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3D2E3533-413C-4D55-BEED-2C221E172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572" y="1019338"/>
            <a:ext cx="1059639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000" dirty="0">
                <a:sym typeface="Arial" charset="0"/>
              </a:rPr>
              <a:t>x=A</a:t>
            </a:r>
            <a:r>
              <a:rPr lang="en-US" altLang="zh-CN" sz="2000" dirty="0">
                <a:sym typeface="Courier New" pitchFamily="49" charset="0"/>
              </a:rPr>
              <a:t>\</a:t>
            </a:r>
            <a:r>
              <a:rPr lang="en-US" altLang="zh-CN" sz="2000" dirty="0">
                <a:sym typeface="Arial" charset="0"/>
              </a:rPr>
              <a:t>b</a:t>
            </a:r>
            <a:endParaRPr lang="zh-CN" altLang="en-US" sz="2000" dirty="0">
              <a:sym typeface="Arial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72D1882-32AE-459B-B795-CA97E0CA72EF}"/>
              </a:ext>
            </a:extLst>
          </p:cNvPr>
          <p:cNvSpPr txBox="1"/>
          <p:nvPr/>
        </p:nvSpPr>
        <p:spPr>
          <a:xfrm>
            <a:off x="7085574" y="1050987"/>
            <a:ext cx="10596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buFont typeface="+mj-ea"/>
              <a:buAutoNum type="circleNumDbPlain"/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800" dirty="0">
                <a:solidFill>
                  <a:srgbClr val="0070C0"/>
                </a:solidFill>
                <a:sym typeface="Arial" charset="0"/>
              </a:rPr>
              <a:t>左除法：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EA27E7FA-36C6-4BAB-BBF5-B3942AB39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822" y="685270"/>
            <a:ext cx="1959488" cy="338554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ym typeface="Arial" charset="0"/>
              </a:rPr>
              <a:t>x=</a:t>
            </a:r>
            <a:r>
              <a:rPr lang="en-US" altLang="zh-CN" sz="1600" dirty="0" err="1">
                <a:sym typeface="Arial" charset="0"/>
              </a:rPr>
              <a:t>linsolve</a:t>
            </a:r>
            <a:r>
              <a:rPr lang="en-US" altLang="zh-CN" sz="1600" dirty="0">
                <a:sym typeface="Arial" charset="0"/>
              </a:rPr>
              <a:t>(</a:t>
            </a:r>
            <a:r>
              <a:rPr lang="en-US" altLang="zh-CN" sz="1600" dirty="0" err="1">
                <a:sym typeface="Arial" charset="0"/>
              </a:rPr>
              <a:t>a,b</a:t>
            </a:r>
            <a:r>
              <a:rPr lang="zh-CN" altLang="en-US" sz="1600" dirty="0">
                <a:sym typeface="Arial" charset="0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5D9F23-4EAC-44E6-8C64-E628364C57BC}"/>
              </a:ext>
            </a:extLst>
          </p:cNvPr>
          <p:cNvSpPr txBox="1"/>
          <p:nvPr/>
        </p:nvSpPr>
        <p:spPr>
          <a:xfrm>
            <a:off x="6427536" y="688995"/>
            <a:ext cx="11657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buFont typeface="+mj-ea"/>
              <a:buAutoNum type="circleNumDbPlain"/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800" dirty="0">
                <a:solidFill>
                  <a:srgbClr val="0070C0"/>
                </a:solidFill>
                <a:sym typeface="Arial" charset="0"/>
              </a:rPr>
              <a:t>线性法：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2610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8830BA5-DA91-4C93-B091-279934CDFE40}"/>
                  </a:ext>
                </a:extLst>
              </p:cNvPr>
              <p:cNvSpPr txBox="1"/>
              <p:nvPr/>
            </p:nvSpPr>
            <p:spPr>
              <a:xfrm>
                <a:off x="323528" y="1614336"/>
                <a:ext cx="3346101" cy="29826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0.3943=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40 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0.3809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=45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0.3705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0.3587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0.3455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60 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0.3331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0.3193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0" i="0" dirty="0" smtClean="0">
                                  <a:solidFill>
                                    <a:srgbClr val="002060"/>
                                  </a:solidFill>
                                  <a:latin typeface="隶书" panose="02010509060101010101" pitchFamily="49" charset="-122"/>
                                  <a:ea typeface="隶书" panose="02010509060101010101" pitchFamily="49" charset="-122"/>
                                </a:rPr>
                                <m:t>70 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0.3049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75 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0.2909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0.2771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8830BA5-DA91-4C93-B091-279934CD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614336"/>
                <a:ext cx="3346101" cy="2982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8B8B350A-BBCE-4D6B-8A9F-DA34484AAF58}"/>
              </a:ext>
            </a:extLst>
          </p:cNvPr>
          <p:cNvSpPr/>
          <p:nvPr/>
        </p:nvSpPr>
        <p:spPr>
          <a:xfrm>
            <a:off x="935306" y="2801702"/>
            <a:ext cx="375459" cy="109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ko-K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</a:p>
          <a:p>
            <a:pPr>
              <a:lnSpc>
                <a:spcPts val="4000"/>
              </a:lnSpc>
              <a:spcBef>
                <a:spcPts val="500"/>
              </a:spcBef>
            </a:pPr>
            <a:endParaRPr lang="en-US" altLang="ko-KR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521C47-6DA5-4539-82BA-9A366516F97D}"/>
              </a:ext>
            </a:extLst>
          </p:cNvPr>
          <p:cNvSpPr/>
          <p:nvPr/>
        </p:nvSpPr>
        <p:spPr>
          <a:xfrm>
            <a:off x="1740722" y="2755417"/>
            <a:ext cx="415498" cy="515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x1</a:t>
            </a:r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EDF63E-7FF9-49E3-8AC6-E4F121EEB7D3}"/>
                  </a:ext>
                </a:extLst>
              </p:cNvPr>
              <p:cNvSpPr txBox="1"/>
              <p:nvPr/>
            </p:nvSpPr>
            <p:spPr>
              <a:xfrm>
                <a:off x="487023" y="708105"/>
                <a:ext cx="263778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400" b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EDF63E-7FF9-49E3-8AC6-E4F121EEB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23" y="708105"/>
                <a:ext cx="2637783" cy="461665"/>
              </a:xfrm>
              <a:prstGeom prst="rect">
                <a:avLst/>
              </a:prstGeom>
              <a:blipFill>
                <a:blip r:embed="rId4"/>
                <a:stretch>
                  <a:fillRect l="-924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716426C2-AD7F-4E3A-8919-517C0F6A1812}"/>
              </a:ext>
            </a:extLst>
          </p:cNvPr>
          <p:cNvSpPr/>
          <p:nvPr/>
        </p:nvSpPr>
        <p:spPr>
          <a:xfrm>
            <a:off x="2978805" y="722060"/>
            <a:ext cx="5822962" cy="49813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矩阵形式的方程：系数矩阵</a:t>
            </a:r>
            <a:r>
              <a:rPr lang="en-US" altLang="zh-CN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 1]*kb=y</a:t>
            </a:r>
            <a:r>
              <a:rPr lang="zh-CN" altLang="en-US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常数列向量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4E3D87-3958-403A-80DB-EA1606C998A7}"/>
              </a:ext>
            </a:extLst>
          </p:cNvPr>
          <p:cNvSpPr/>
          <p:nvPr/>
        </p:nvSpPr>
        <p:spPr>
          <a:xfrm>
            <a:off x="342233" y="1151694"/>
            <a:ext cx="2782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个点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个方程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7AAA80-2E92-4988-BA9A-2636EBC16F01}"/>
              </a:ext>
            </a:extLst>
          </p:cNvPr>
          <p:cNvSpPr/>
          <p:nvPr/>
        </p:nvSpPr>
        <p:spPr>
          <a:xfrm>
            <a:off x="3491880" y="1488565"/>
            <a:ext cx="5328592" cy="31804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000" dirty="0"/>
              <a:t>x1=[40;45;50;55;60;65;70;75;80;85]; 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截距的系数</a:t>
            </a:r>
            <a:r>
              <a:rPr lang="en-US" altLang="zh-CN" sz="2000" dirty="0"/>
              <a:t>x2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x2=ones(10,1); 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方程的系数矩阵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a=[x1 x2];  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方程的常数列向量</a:t>
            </a:r>
            <a:r>
              <a:rPr lang="en-US" altLang="zh-CN" sz="2000" dirty="0"/>
              <a:t>y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y=[0.3943;0.3809;0.3705;0.3587;0.3455;0.3331;0.3193;0.3049;0.2909;0.2771];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b0=a\y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9AD6C5-C489-4F6A-8819-ABD8D2688914}"/>
              </a:ext>
            </a:extLst>
          </p:cNvPr>
          <p:cNvSpPr/>
          <p:nvPr/>
        </p:nvSpPr>
        <p:spPr>
          <a:xfrm>
            <a:off x="3359366" y="1151694"/>
            <a:ext cx="3661418" cy="40011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/>
          <a:p>
            <a:pPr marL="457200" indent="-457200" algn="dist" eaLnBrk="0" fontAlgn="auto"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2"/>
            </a:pPr>
            <a:r>
              <a:rPr lang="zh-CN" altLang="en-US" sz="20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建立方程组的系数矩阵</a:t>
            </a:r>
            <a:endParaRPr lang="en-US" altLang="ko-KR" sz="2000" b="1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3E2789-FDBB-4097-8E05-ECA6BAF4975A}"/>
              </a:ext>
            </a:extLst>
          </p:cNvPr>
          <p:cNvSpPr txBox="1"/>
          <p:nvPr/>
        </p:nvSpPr>
        <p:spPr>
          <a:xfrm>
            <a:off x="850042" y="21662"/>
            <a:ext cx="8203530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§6.2.4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超定线性方程组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压降与温度线性关系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B99416-6917-45EF-A7FA-4248759E9317}"/>
              </a:ext>
            </a:extLst>
          </p:cNvPr>
          <p:cNvSpPr/>
          <p:nvPr/>
        </p:nvSpPr>
        <p:spPr>
          <a:xfrm>
            <a:off x="2551463" y="2769051"/>
            <a:ext cx="415498" cy="515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x2</a:t>
            </a:r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波形 27">
            <a:extLst>
              <a:ext uri="{FF2B5EF4-FFF2-40B4-BE49-F238E27FC236}">
                <a16:creationId xmlns:a16="http://schemas.microsoft.com/office/drawing/2014/main" id="{CD43FFD6-0B82-4F38-9BA9-6902ECDDC61B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409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069C7DE-124E-44E7-B62C-8D480D8330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98" t="11893" r="4601" b="6601"/>
          <a:stretch/>
        </p:blipFill>
        <p:spPr>
          <a:xfrm>
            <a:off x="4888464" y="2100536"/>
            <a:ext cx="4107863" cy="25239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01FE142-00FE-4E7F-A723-AF24EF0B5284}"/>
              </a:ext>
            </a:extLst>
          </p:cNvPr>
          <p:cNvSpPr txBox="1"/>
          <p:nvPr/>
        </p:nvSpPr>
        <p:spPr>
          <a:xfrm>
            <a:off x="829398" y="64450"/>
            <a:ext cx="8198463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§6.2.4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超定线性方程组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压降与温度线性关系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1DF567-BE30-4FAD-88C3-B8B707A65AEC}"/>
              </a:ext>
            </a:extLst>
          </p:cNvPr>
          <p:cNvSpPr/>
          <p:nvPr/>
        </p:nvSpPr>
        <p:spPr>
          <a:xfrm>
            <a:off x="1625" y="1741210"/>
            <a:ext cx="1762218" cy="53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4000"/>
              </a:lnSpc>
              <a:spcBef>
                <a:spcPts val="500"/>
              </a:spcBef>
              <a:buFont typeface="+mj-ea"/>
              <a:buAutoNum type="circleNumDbPlain" startAt="5"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b=a\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FC7D85-0E2F-4096-B019-E2F1CE69C5BB}"/>
              </a:ext>
            </a:extLst>
          </p:cNvPr>
          <p:cNvSpPr/>
          <p:nvPr/>
        </p:nvSpPr>
        <p:spPr>
          <a:xfrm>
            <a:off x="5868144" y="2243648"/>
            <a:ext cx="3613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s-ES" altLang="zh-CN" sz="20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 = -0.0026    0.4999</a:t>
            </a:r>
            <a:endParaRPr lang="zh-CN" altLang="en-US" sz="2000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08739B-9C8B-4240-8111-529AD8C769D3}"/>
              </a:ext>
            </a:extLst>
          </p:cNvPr>
          <p:cNvSpPr/>
          <p:nvPr/>
        </p:nvSpPr>
        <p:spPr>
          <a:xfrm>
            <a:off x="475022" y="2982914"/>
            <a:ext cx="4168986" cy="1587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dirty="0">
                <a:sym typeface="Arial" panose="020B0604020202020204" pitchFamily="34" charset="0"/>
              </a:rPr>
              <a:t>println("</a:t>
            </a:r>
            <a:r>
              <a:rPr lang="zh-CN" altLang="en-US" dirty="0">
                <a:sym typeface="Arial" panose="020B0604020202020204" pitchFamily="34" charset="0"/>
              </a:rPr>
              <a:t>根</a:t>
            </a:r>
            <a:r>
              <a:rPr lang="en-US" altLang="zh-CN" dirty="0">
                <a:sym typeface="Arial" panose="020B0604020202020204" pitchFamily="34" charset="0"/>
              </a:rPr>
              <a:t>kb=$kb")#</a:t>
            </a:r>
            <a:r>
              <a:rPr lang="zh-CN" altLang="en-US" dirty="0">
                <a:sym typeface="Arial" panose="020B0604020202020204" pitchFamily="34" charset="0"/>
              </a:rPr>
              <a:t>显示根结果</a:t>
            </a:r>
            <a:endParaRPr lang="en-US" altLang="zh-CN" dirty="0">
              <a:sym typeface="Arial" panose="020B0604020202020204" pitchFamily="34" charset="0"/>
            </a:endParaRPr>
          </a:p>
          <a:p>
            <a:pPr>
              <a:lnSpc>
                <a:spcPts val="3000"/>
              </a:lnSpc>
            </a:pPr>
            <a:r>
              <a:rPr lang="en-US" altLang="zh-CN" dirty="0">
                <a:sym typeface="Arial" panose="020B0604020202020204" pitchFamily="34" charset="0"/>
              </a:rPr>
              <a:t>#</a:t>
            </a:r>
            <a:r>
              <a:rPr lang="zh-CN" altLang="en-US" dirty="0">
                <a:sym typeface="Arial" panose="020B0604020202020204" pitchFamily="34" charset="0"/>
              </a:rPr>
              <a:t>根据线性函数绘图</a:t>
            </a:r>
            <a:r>
              <a:rPr lang="en-US" altLang="zh-CN" dirty="0">
                <a:sym typeface="Arial" panose="020B0604020202020204" pitchFamily="34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altLang="zh-CN" dirty="0" err="1"/>
              <a:t>yy</a:t>
            </a:r>
            <a:r>
              <a:rPr lang="en-US" altLang="zh-CN" dirty="0"/>
              <a:t>(x)=kb[1]*</a:t>
            </a:r>
            <a:r>
              <a:rPr lang="en-US" altLang="zh-CN" dirty="0" err="1"/>
              <a:t>x+kb</a:t>
            </a:r>
            <a:r>
              <a:rPr lang="en-US" altLang="zh-CN" dirty="0"/>
              <a:t>[2] </a:t>
            </a:r>
            <a:r>
              <a:rPr lang="en-US" altLang="zh-CN" dirty="0">
                <a:sym typeface="Arial" panose="020B0604020202020204" pitchFamily="34" charset="0"/>
              </a:rPr>
              <a:t>#</a:t>
            </a:r>
            <a:r>
              <a:rPr lang="zh-CN" altLang="en-US" dirty="0">
                <a:sym typeface="Arial" panose="020B0604020202020204" pitchFamily="34" charset="0"/>
              </a:rPr>
              <a:t>建立线性关系函数</a:t>
            </a:r>
            <a:endParaRPr lang="en-US" altLang="zh-CN" dirty="0"/>
          </a:p>
          <a:p>
            <a:pPr>
              <a:lnSpc>
                <a:spcPts val="3000"/>
              </a:lnSpc>
            </a:pPr>
            <a:r>
              <a:rPr lang="en-US" altLang="zh-CN" dirty="0" err="1"/>
              <a:t>fplot</a:t>
            </a:r>
            <a:r>
              <a:rPr lang="en-US" altLang="zh-CN" dirty="0"/>
              <a:t>(</a:t>
            </a:r>
            <a:r>
              <a:rPr lang="en-US" altLang="zh-CN" dirty="0" err="1"/>
              <a:t>yy</a:t>
            </a:r>
            <a:r>
              <a:rPr lang="en-US" altLang="zh-CN" dirty="0"/>
              <a:t>,[20,110]) </a:t>
            </a:r>
            <a:endParaRPr lang="es-E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BBADF3-F223-4EF0-A242-E44A3D2F671A}"/>
              </a:ext>
            </a:extLst>
          </p:cNvPr>
          <p:cNvSpPr/>
          <p:nvPr/>
        </p:nvSpPr>
        <p:spPr>
          <a:xfrm>
            <a:off x="0" y="2365623"/>
            <a:ext cx="3931315" cy="53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4000"/>
              </a:lnSpc>
              <a:spcBef>
                <a:spcPts val="500"/>
              </a:spcBef>
              <a:buFont typeface="+mj-ea"/>
              <a:buAutoNum type="circleNumDbPlain" startAt="6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绘制拟合的直线</a:t>
            </a:r>
            <a:endParaRPr lang="es-E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8FED5D0-C4F9-479F-BF3A-F7CE7C90FBC8}"/>
                  </a:ext>
                </a:extLst>
              </p:cNvPr>
              <p:cNvSpPr txBox="1"/>
              <p:nvPr/>
            </p:nvSpPr>
            <p:spPr>
              <a:xfrm>
                <a:off x="5513443" y="3106309"/>
                <a:ext cx="35031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m:rPr>
                          <m:nor/>
                        </m:rPr>
                        <a:rPr lang="en-US" altLang="zh-CN" sz="2400" b="1" i="0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400" b="1" dirty="0">
                          <a:solidFill>
                            <a:srgbClr val="33CCFF"/>
                          </a:solidFill>
                        </a:rPr>
                        <m:t>−0.0026</m:t>
                      </m:r>
                      <m:r>
                        <a:rPr lang="en-US" altLang="zh-CN" sz="2400" b="1" i="1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400" b="1" dirty="0">
                          <a:solidFill>
                            <a:srgbClr val="33CCFF"/>
                          </a:solidFill>
                        </a:rPr>
                        <m:t>0.4999</m:t>
                      </m:r>
                    </m:oMath>
                  </m:oMathPara>
                </a14:m>
                <a:endParaRPr lang="zh-CN" altLang="en-US" sz="2400" b="1" i="1" dirty="0">
                  <a:solidFill>
                    <a:srgbClr val="33CC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8FED5D0-C4F9-479F-BF3A-F7CE7C90F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443" y="3106309"/>
                <a:ext cx="3503167" cy="461665"/>
              </a:xfrm>
              <a:prstGeom prst="rect">
                <a:avLst/>
              </a:prstGeom>
              <a:blipFill>
                <a:blip r:embed="rId4"/>
                <a:stretch>
                  <a:fillRect l="-522" b="-1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939792C8-B471-4F09-80A9-E1768078058A}"/>
              </a:ext>
            </a:extLst>
          </p:cNvPr>
          <p:cNvSpPr/>
          <p:nvPr/>
        </p:nvSpPr>
        <p:spPr>
          <a:xfrm>
            <a:off x="7964" y="782045"/>
            <a:ext cx="3217547" cy="3938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Bef>
                <a:spcPts val="500"/>
              </a:spcBef>
              <a:buFont typeface="+mj-ea"/>
              <a:buAutoNum type="circleNumDbPlain" startAt="3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伪逆乘法求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s-E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F7C4B8-B8E5-4657-9EF6-252494FC0CA1}"/>
              </a:ext>
            </a:extLst>
          </p:cNvPr>
          <p:cNvSpPr txBox="1"/>
          <p:nvPr/>
        </p:nvSpPr>
        <p:spPr>
          <a:xfrm>
            <a:off x="1715487" y="1887288"/>
            <a:ext cx="4107863" cy="369332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>
            <a:defPPr>
              <a:defRPr lang="zh-CN"/>
            </a:defPPr>
            <a:lvl1pPr algn="dist" eaLnBrk="0" fontAlgn="auto">
              <a:spcBef>
                <a:spcPts val="0"/>
              </a:spcBef>
              <a:spcAft>
                <a:spcPts val="0"/>
              </a:spcAft>
              <a:defRPr b="1">
                <a:ln w="9525" cap="flat" cmpd="sng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宋体" panose="02010600030101010101" pitchFamily="2" charset="-122"/>
              </a:defRPr>
            </a:lvl1pPr>
          </a:lstStyle>
          <a:p>
            <a:r>
              <a:rPr lang="en-US" altLang="zh-CN" dirty="0">
                <a:highlight>
                  <a:srgbClr val="000080"/>
                </a:highlight>
              </a:rPr>
              <a:t>A\b </a:t>
            </a:r>
            <a:r>
              <a:rPr lang="zh-CN" altLang="en-US" dirty="0">
                <a:highlight>
                  <a:srgbClr val="000080"/>
                </a:highlight>
              </a:rPr>
              <a:t>返回方程组 </a:t>
            </a:r>
            <a:r>
              <a:rPr lang="en-US" altLang="zh-CN" dirty="0">
                <a:highlight>
                  <a:srgbClr val="000080"/>
                </a:highlight>
              </a:rPr>
              <a:t>A*x=b </a:t>
            </a:r>
            <a:r>
              <a:rPr lang="zh-CN" altLang="en-US" dirty="0">
                <a:highlight>
                  <a:srgbClr val="000080"/>
                </a:highlight>
              </a:rPr>
              <a:t>的最小二乘解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63D79F-6204-4267-B5A2-31E092C862B3}"/>
              </a:ext>
            </a:extLst>
          </p:cNvPr>
          <p:cNvSpPr/>
          <p:nvPr/>
        </p:nvSpPr>
        <p:spPr>
          <a:xfrm>
            <a:off x="2507569" y="694616"/>
            <a:ext cx="199242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kb=pinv(a)*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58FAC4-635A-4D63-9D89-1BA48C290E6D}"/>
              </a:ext>
            </a:extLst>
          </p:cNvPr>
          <p:cNvSpPr txBox="1"/>
          <p:nvPr/>
        </p:nvSpPr>
        <p:spPr>
          <a:xfrm>
            <a:off x="4572000" y="776034"/>
            <a:ext cx="460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i="0">
                <a:solidFill>
                  <a:srgbClr val="FF0000"/>
                </a:solidFill>
                <a:effectLst/>
                <a:latin typeface="-apple-system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x = 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003B76"/>
                </a:highlight>
              </a:rPr>
              <a:t>pinv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(A)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*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b 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计算</a:t>
            </a:r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003B76"/>
                </a:highlight>
              </a:rPr>
              <a:t>方程组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A*x= b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最小二乘解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67C3EF-3924-4BE9-B470-438C3F162F07}"/>
              </a:ext>
            </a:extLst>
          </p:cNvPr>
          <p:cNvSpPr txBox="1"/>
          <p:nvPr/>
        </p:nvSpPr>
        <p:spPr>
          <a:xfrm>
            <a:off x="2372921" y="1232795"/>
            <a:ext cx="3142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lang="zh-CN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=lsqminnorm(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8C479D-FB35-486C-878E-502CCAD9FEC6}"/>
              </a:ext>
            </a:extLst>
          </p:cNvPr>
          <p:cNvSpPr/>
          <p:nvPr/>
        </p:nvSpPr>
        <p:spPr>
          <a:xfrm>
            <a:off x="13053" y="1203114"/>
            <a:ext cx="3957423" cy="53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4000"/>
              </a:lnSpc>
              <a:spcBef>
                <a:spcPts val="500"/>
              </a:spcBef>
              <a:buFont typeface="+mj-ea"/>
              <a:buAutoNum type="circleNumDbPlain" startAt="4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范数最小二乘法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289863-ED55-4C6F-9B62-4A29AE4D90AC}"/>
              </a:ext>
            </a:extLst>
          </p:cNvPr>
          <p:cNvSpPr txBox="1"/>
          <p:nvPr/>
        </p:nvSpPr>
        <p:spPr>
          <a:xfrm>
            <a:off x="5076056" y="1335748"/>
            <a:ext cx="3940554" cy="34473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>
            <a:defPPr>
              <a:defRPr lang="zh-CN"/>
            </a:defPPr>
            <a:lvl1pPr algn="dist" eaLnBrk="0" fontAlgn="auto">
              <a:spcBef>
                <a:spcPts val="0"/>
              </a:spcBef>
              <a:spcAft>
                <a:spcPts val="0"/>
              </a:spcAft>
              <a:defRPr b="1">
                <a:ln w="9525" cap="flat" cmpd="sng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宋体" panose="02010600030101010101" pitchFamily="2" charset="-122"/>
              </a:defRPr>
            </a:lvl1pPr>
          </a:lstStyle>
          <a:p>
            <a:r>
              <a:rPr lang="en-US" altLang="zh-CN" sz="1400" dirty="0"/>
              <a:t>norm(AX-B)</a:t>
            </a:r>
            <a:r>
              <a:rPr lang="zh-CN" altLang="en-US" sz="1400" dirty="0"/>
              <a:t>和</a:t>
            </a:r>
            <a:r>
              <a:rPr lang="en-US" altLang="zh-CN" sz="1400" dirty="0"/>
              <a:t>norm(X)</a:t>
            </a:r>
            <a:r>
              <a:rPr lang="zh-CN" altLang="en-US" sz="1400" dirty="0"/>
              <a:t> 最小</a:t>
            </a:r>
            <a:r>
              <a:rPr lang="en-US" altLang="zh-CN" sz="1400" dirty="0"/>
              <a:t>,</a:t>
            </a:r>
            <a:r>
              <a:rPr lang="zh-CN" altLang="en-US" sz="1400" dirty="0"/>
              <a:t>效率高于</a:t>
            </a:r>
            <a:r>
              <a:rPr lang="en-US" altLang="zh-CN" sz="1400" dirty="0" err="1"/>
              <a:t>pinv</a:t>
            </a:r>
            <a:endParaRPr lang="zh-CN" altLang="en-US" sz="1400" dirty="0"/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50F519F1-ADD1-4CB3-9532-27A5ACDF8864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4DC35B-141C-488A-BA31-34BD085B1760}"/>
              </a:ext>
            </a:extLst>
          </p:cNvPr>
          <p:cNvSpPr txBox="1"/>
          <p:nvPr/>
        </p:nvSpPr>
        <p:spPr>
          <a:xfrm>
            <a:off x="3347864" y="4205702"/>
            <a:ext cx="568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 eaLnBrk="0" fontAlgn="auto">
              <a:spcBef>
                <a:spcPts val="0"/>
              </a:spcBef>
              <a:spcAft>
                <a:spcPts val="0"/>
              </a:spcAft>
              <a:defRPr b="1">
                <a:ln w="9525" cap="flat" cmpd="sng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宋体" panose="02010600030101010101" pitchFamily="2" charset="-122"/>
              </a:defRPr>
            </a:lvl1pPr>
          </a:lstStyle>
          <a:p>
            <a:r>
              <a:rPr lang="zh-CN" altLang="en-US" dirty="0"/>
              <a:t>伪逆乘法（</a:t>
            </a:r>
            <a:r>
              <a:rPr lang="en-US" altLang="zh-CN" dirty="0" err="1"/>
              <a:t>pinv</a:t>
            </a:r>
            <a:r>
              <a:rPr lang="zh-CN" altLang="en-US" dirty="0"/>
              <a:t>）</a:t>
            </a:r>
            <a:r>
              <a:rPr lang="en-US" altLang="zh-CN" dirty="0"/>
              <a:t>‌ </a:t>
            </a:r>
            <a:r>
              <a:rPr lang="zh-CN" altLang="en-US" dirty="0"/>
              <a:t>或 ‌</a:t>
            </a:r>
            <a:r>
              <a:rPr lang="en-US" altLang="zh-CN" dirty="0" err="1"/>
              <a:t>lsqminnorm</a:t>
            </a:r>
            <a:r>
              <a:rPr lang="zh-CN" altLang="en-US" dirty="0"/>
              <a:t>更适合超定方程组</a:t>
            </a:r>
            <a:r>
              <a:rPr lang="en-US" altLang="zh-CN" dirty="0"/>
              <a:t>‌</a:t>
            </a:r>
            <a:endParaRPr lang="zh-CN" altLang="en-US" dirty="0"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364FD99E-7970-48B2-A91C-5CAB5FFF9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460" y="4183515"/>
            <a:ext cx="877444" cy="53073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204892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 animBg="1"/>
      <p:bldP spid="10" grpId="0"/>
      <p:bldP spid="17" grpId="0"/>
      <p:bldP spid="11" grpId="0" animBg="1"/>
      <p:bldP spid="18" grpId="0"/>
      <p:bldP spid="19" grpId="0"/>
      <p:bldP spid="20" grpId="0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316003" y="177037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B3+SimSun"/>
              </a:rPr>
              <a:t>回路电流方程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419" y="810620"/>
            <a:ext cx="3289166" cy="145910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60208" y="2392209"/>
            <a:ext cx="6288256" cy="95701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36805" y="3494968"/>
            <a:ext cx="6955675" cy="109628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303744" y="1058772"/>
            <a:ext cx="3637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B3+SimSun"/>
              </a:rPr>
              <a:t>高压直流输电</a:t>
            </a:r>
            <a:r>
              <a:rPr lang="en-US" altLang="zh-CN" dirty="0">
                <a:latin typeface="B5+CAJSymbolA"/>
              </a:rPr>
              <a:t>(</a:t>
            </a:r>
            <a:r>
              <a:rPr lang="en-US" altLang="zh-CN" dirty="0">
                <a:latin typeface="B4+CAJ FNT00"/>
              </a:rPr>
              <a:t>HVDC</a:t>
            </a:r>
            <a:r>
              <a:rPr lang="en-US" altLang="zh-CN" dirty="0">
                <a:latin typeface="B5+CAJSymbolA"/>
              </a:rPr>
              <a:t>)</a:t>
            </a:r>
            <a:r>
              <a:rPr lang="zh-CN" altLang="en-US" dirty="0">
                <a:latin typeface="B3+SimSun"/>
              </a:rPr>
              <a:t>单极大地回路</a:t>
            </a:r>
            <a:endParaRPr lang="zh-CN" altLang="en-US" dirty="0"/>
          </a:p>
        </p:txBody>
      </p:sp>
      <p:pic>
        <p:nvPicPr>
          <p:cNvPr id="15" name="Picture 2" descr="http://d.hiphotos.baidu.com/baike/s%3D68/sign=9c4b165c8e82b90139adc03b728da7bb/3bf33a87e950352a95eb18735743fbf2b3118bc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90015"/>
            <a:ext cx="938539" cy="67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5177777" y="2493924"/>
            <a:ext cx="1415772" cy="33855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600" dirty="0">
                <a:highlight>
                  <a:srgbClr val="003B76"/>
                </a:highlight>
                <a:latin typeface="B3+SimSun"/>
              </a:rPr>
              <a:t>系数阻抗矩阵</a:t>
            </a:r>
          </a:p>
        </p:txBody>
      </p:sp>
      <p:sp>
        <p:nvSpPr>
          <p:cNvPr id="3" name="矩形 2"/>
          <p:cNvSpPr/>
          <p:nvPr/>
        </p:nvSpPr>
        <p:spPr>
          <a:xfrm>
            <a:off x="237778" y="2148043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8+CAJ FNT03"/>
              </a:rPr>
              <a:t>N </a:t>
            </a:r>
            <a:r>
              <a:rPr lang="zh-CN" altLang="en-US" dirty="0">
                <a:latin typeface="B3+SimSun"/>
              </a:rPr>
              <a:t>网孔网络阻抗模型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19728" y="3733412"/>
            <a:ext cx="2095445" cy="30777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1400" dirty="0">
                <a:highlight>
                  <a:srgbClr val="003B76"/>
                </a:highlight>
                <a:latin typeface="B3+SimSun"/>
              </a:rPr>
              <a:t>N</a:t>
            </a:r>
            <a:r>
              <a:rPr lang="zh-CN" altLang="en-US" sz="1400" dirty="0">
                <a:highlight>
                  <a:srgbClr val="003B76"/>
                </a:highlight>
                <a:latin typeface="B3+SimSun"/>
              </a:rPr>
              <a:t>支路电阻两端电压方程</a:t>
            </a:r>
          </a:p>
        </p:txBody>
      </p:sp>
      <p:sp>
        <p:nvSpPr>
          <p:cNvPr id="6" name="矩形 5"/>
          <p:cNvSpPr/>
          <p:nvPr/>
        </p:nvSpPr>
        <p:spPr>
          <a:xfrm>
            <a:off x="4292942" y="138922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基尔霍夫电压定律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0419" y="671193"/>
            <a:ext cx="8803407" cy="338554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刘同同，基于超定线性方程组模型的</a:t>
            </a:r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HVDC</a:t>
            </a:r>
            <a:r>
              <a:rPr lang="zh-CN" altLang="en-US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地电流计算方法研究，现代电力</a:t>
            </a:r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2011 </a:t>
            </a:r>
            <a:r>
              <a:rPr lang="zh-CN" altLang="en-US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年</a:t>
            </a:r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卷</a:t>
            </a:r>
            <a:r>
              <a:rPr lang="en-US" altLang="zh-CN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期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699BF8C-7A16-6CD3-284E-43D74603C1CC}"/>
              </a:ext>
            </a:extLst>
          </p:cNvPr>
          <p:cNvSpPr/>
          <p:nvPr/>
        </p:nvSpPr>
        <p:spPr bwMode="auto">
          <a:xfrm>
            <a:off x="5245111" y="4388543"/>
            <a:ext cx="3624763" cy="202708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C6EF97-26BA-4926-9328-E09D2063A2FB}"/>
              </a:ext>
            </a:extLst>
          </p:cNvPr>
          <p:cNvSpPr txBox="1"/>
          <p:nvPr/>
        </p:nvSpPr>
        <p:spPr>
          <a:xfrm>
            <a:off x="1202722" y="51470"/>
            <a:ext cx="7941278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超定方程组和恰定方程组对比求解案例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E5AFDE-70D5-4DED-8ED1-2A7E910C628E}"/>
              </a:ext>
            </a:extLst>
          </p:cNvPr>
          <p:cNvSpPr/>
          <p:nvPr/>
        </p:nvSpPr>
        <p:spPr>
          <a:xfrm>
            <a:off x="237778" y="2759763"/>
            <a:ext cx="24665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传统恰定方程组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41AB98-0619-4F6E-84C6-1C9E9D0EDD49}"/>
              </a:ext>
            </a:extLst>
          </p:cNvPr>
          <p:cNvSpPr/>
          <p:nvPr/>
        </p:nvSpPr>
        <p:spPr>
          <a:xfrm>
            <a:off x="251520" y="3612435"/>
            <a:ext cx="2071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超定方程组</a:t>
            </a:r>
          </a:p>
        </p:txBody>
      </p:sp>
      <p:sp>
        <p:nvSpPr>
          <p:cNvPr id="22" name="波形 21">
            <a:extLst>
              <a:ext uri="{FF2B5EF4-FFF2-40B4-BE49-F238E27FC236}">
                <a16:creationId xmlns:a16="http://schemas.microsoft.com/office/drawing/2014/main" id="{5B3399F3-90B3-46D7-BEAD-D27748977F95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79978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394" y="844991"/>
            <a:ext cx="4227408" cy="1404156"/>
          </a:xfr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4405" y="814829"/>
            <a:ext cx="3496154" cy="15408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11" y="2455448"/>
            <a:ext cx="4087124" cy="166599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11746" y="127967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B3+SimSun"/>
              </a:rPr>
              <a:t>回路阻抗模型得方程组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A1A3982-19D5-4A18-A4D3-54F2CB3DB680}"/>
                  </a:ext>
                </a:extLst>
              </p:cNvPr>
              <p:cNvSpPr txBox="1"/>
              <p:nvPr/>
            </p:nvSpPr>
            <p:spPr>
              <a:xfrm>
                <a:off x="4653928" y="2467654"/>
                <a:ext cx="2726384" cy="1375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   5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eqArr>
                                      <m:eqArr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A1A3982-19D5-4A18-A4D3-54F2CB3DB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928" y="2467654"/>
                <a:ext cx="2726384" cy="1375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422CD5-9B93-41D7-BCBC-99FA5564A155}"/>
                  </a:ext>
                </a:extLst>
              </p:cNvPr>
              <p:cNvSpPr txBox="1"/>
              <p:nvPr/>
            </p:nvSpPr>
            <p:spPr>
              <a:xfrm>
                <a:off x="7200780" y="2477166"/>
                <a:ext cx="1688000" cy="1458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</m:mr>
                              </m:m>
                            </m:e>
                            <m:e/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422CD5-9B93-41D7-BCBC-99FA5564A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80" y="2477166"/>
                <a:ext cx="1688000" cy="14587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圆角矩形 15">
            <a:extLst>
              <a:ext uri="{FF2B5EF4-FFF2-40B4-BE49-F238E27FC236}">
                <a16:creationId xmlns:a16="http://schemas.microsoft.com/office/drawing/2014/main" id="{AFC05168-2826-4738-908E-B784DFA87EA3}"/>
              </a:ext>
            </a:extLst>
          </p:cNvPr>
          <p:cNvSpPr/>
          <p:nvPr/>
        </p:nvSpPr>
        <p:spPr bwMode="auto">
          <a:xfrm>
            <a:off x="1961672" y="4112155"/>
            <a:ext cx="518864" cy="31980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113DD9-D981-45ED-A03F-90F19E880EDD}"/>
              </a:ext>
            </a:extLst>
          </p:cNvPr>
          <p:cNvSpPr/>
          <p:nvPr/>
        </p:nvSpPr>
        <p:spPr>
          <a:xfrm>
            <a:off x="6080418" y="4121439"/>
            <a:ext cx="27263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个未知数和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103180-1805-4AEA-A750-D105D9AD3D46}"/>
              </a:ext>
            </a:extLst>
          </p:cNvPr>
          <p:cNvSpPr txBox="1"/>
          <p:nvPr/>
        </p:nvSpPr>
        <p:spPr>
          <a:xfrm>
            <a:off x="1202722" y="-19988"/>
            <a:ext cx="7473734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超定方程组和恰定方程组对比求解案例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81EF81-EAB8-4DAD-9280-69AA3325EA87}"/>
              </a:ext>
            </a:extLst>
          </p:cNvPr>
          <p:cNvSpPr/>
          <p:nvPr/>
        </p:nvSpPr>
        <p:spPr>
          <a:xfrm>
            <a:off x="1719596" y="4113080"/>
            <a:ext cx="24159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个未知数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F4E3D5-37DE-4320-96CE-F78F9C52A42D}"/>
              </a:ext>
            </a:extLst>
          </p:cNvPr>
          <p:cNvSpPr/>
          <p:nvPr/>
        </p:nvSpPr>
        <p:spPr>
          <a:xfrm>
            <a:off x="408630" y="4113080"/>
            <a:ext cx="15530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247187-EB70-4EC4-A4B6-BE15060D12C3}"/>
              </a:ext>
            </a:extLst>
          </p:cNvPr>
          <p:cNvSpPr/>
          <p:nvPr/>
        </p:nvSpPr>
        <p:spPr>
          <a:xfrm>
            <a:off x="4806381" y="4121439"/>
            <a:ext cx="2071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</a:t>
            </a:r>
          </a:p>
        </p:txBody>
      </p:sp>
      <p:sp>
        <p:nvSpPr>
          <p:cNvPr id="15" name="波形 14">
            <a:extLst>
              <a:ext uri="{FF2B5EF4-FFF2-40B4-BE49-F238E27FC236}">
                <a16:creationId xmlns:a16="http://schemas.microsoft.com/office/drawing/2014/main" id="{039B4FE0-555F-4975-86F1-40946E542E36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45848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35C06E8-D050-4314-99E9-D1B6BE94D57B}"/>
              </a:ext>
            </a:extLst>
          </p:cNvPr>
          <p:cNvSpPr/>
          <p:nvPr/>
        </p:nvSpPr>
        <p:spPr>
          <a:xfrm>
            <a:off x="107504" y="1704572"/>
            <a:ext cx="4645240" cy="2306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/>
              <a:t>a</a:t>
            </a:r>
            <a:r>
              <a:rPr lang="en-US" altLang="zh-CN" dirty="0"/>
              <a:t>1</a:t>
            </a:r>
            <a:r>
              <a:rPr lang="zh-CN" altLang="en-US" dirty="0"/>
              <a:t>=[5 -2 0 0;-2 5 -2 0;0 -2 5 -2;0 0 -2 5];</a:t>
            </a:r>
          </a:p>
          <a:p>
            <a:pPr>
              <a:lnSpc>
                <a:spcPts val="2500"/>
              </a:lnSpc>
            </a:pPr>
            <a:r>
              <a:rPr lang="zh-CN" altLang="en-US" dirty="0"/>
              <a:t>b</a:t>
            </a:r>
            <a:r>
              <a:rPr lang="en-US" altLang="zh-CN" dirty="0"/>
              <a:t>1</a:t>
            </a:r>
            <a:r>
              <a:rPr lang="zh-CN" altLang="en-US" dirty="0"/>
              <a:t>=[10;4;3;2];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常数列向量</a:t>
            </a:r>
            <a:r>
              <a:rPr lang="en-US" altLang="zh-CN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2060"/>
                </a:solidFill>
              </a:rPr>
              <a:t>ab1=[a1 b1];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2060"/>
                </a:solidFill>
              </a:rPr>
              <a:t>ca1=</a:t>
            </a:r>
            <a:r>
              <a:rPr lang="en-US" altLang="zh-CN" dirty="0" err="1">
                <a:solidFill>
                  <a:srgbClr val="002060"/>
                </a:solidFill>
              </a:rPr>
              <a:t>cond</a:t>
            </a:r>
            <a:r>
              <a:rPr lang="en-US" altLang="zh-CN" dirty="0">
                <a:solidFill>
                  <a:srgbClr val="002060"/>
                </a:solidFill>
              </a:rPr>
              <a:t>(a1)#</a:t>
            </a:r>
            <a:r>
              <a:rPr lang="zh-CN" altLang="en-US" dirty="0">
                <a:solidFill>
                  <a:srgbClr val="002060"/>
                </a:solidFill>
              </a:rPr>
              <a:t>条件数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2060"/>
                </a:solidFill>
              </a:rPr>
              <a:t>ca1= </a:t>
            </a:r>
            <a:r>
              <a:rPr lang="en-US" altLang="zh-CN" dirty="0">
                <a:solidFill>
                  <a:srgbClr val="FF0000"/>
                </a:solidFill>
              </a:rPr>
              <a:t>4.6692 </a:t>
            </a:r>
          </a:p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002060"/>
                </a:solidFill>
              </a:rPr>
              <a:t>r</a:t>
            </a:r>
            <a:r>
              <a:rPr lang="en-US" altLang="zh-CN" dirty="0">
                <a:solidFill>
                  <a:srgbClr val="002060"/>
                </a:solidFill>
              </a:rPr>
              <a:t>a</a:t>
            </a:r>
            <a:r>
              <a:rPr lang="zh-CN" altLang="en-US" dirty="0">
                <a:solidFill>
                  <a:srgbClr val="002060"/>
                </a:solidFill>
              </a:rPr>
              <a:t>1=rank(a</a:t>
            </a:r>
            <a:r>
              <a:rPr lang="en-US" altLang="zh-CN" dirty="0">
                <a:solidFill>
                  <a:srgbClr val="002060"/>
                </a:solidFill>
              </a:rPr>
              <a:t>1</a:t>
            </a:r>
            <a:r>
              <a:rPr lang="zh-CN" altLang="en-US" dirty="0">
                <a:solidFill>
                  <a:srgbClr val="002060"/>
                </a:solidFill>
              </a:rPr>
              <a:t>) 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系数矩阵秩r</a:t>
            </a:r>
            <a:r>
              <a:rPr lang="en-US" altLang="zh-CN" dirty="0">
                <a:solidFill>
                  <a:srgbClr val="002060"/>
                </a:solidFill>
              </a:rPr>
              <a:t>a</a:t>
            </a:r>
            <a:r>
              <a:rPr lang="zh-CN" altLang="en-US" dirty="0">
                <a:solidFill>
                  <a:srgbClr val="002060"/>
                </a:solidFill>
              </a:rPr>
              <a:t>1 = 4</a:t>
            </a:r>
          </a:p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002060"/>
                </a:solidFill>
              </a:rPr>
              <a:t>r</a:t>
            </a:r>
            <a:r>
              <a:rPr lang="en-US" altLang="zh-CN" dirty="0">
                <a:solidFill>
                  <a:srgbClr val="002060"/>
                </a:solidFill>
              </a:rPr>
              <a:t>a</a:t>
            </a:r>
            <a:r>
              <a:rPr lang="zh-CN" altLang="en-US" dirty="0">
                <a:solidFill>
                  <a:srgbClr val="002060"/>
                </a:solidFill>
              </a:rPr>
              <a:t>b1=rank(</a:t>
            </a:r>
            <a:r>
              <a:rPr lang="en-US" altLang="zh-CN" dirty="0">
                <a:solidFill>
                  <a:srgbClr val="002060"/>
                </a:solidFill>
              </a:rPr>
              <a:t>ab1</a:t>
            </a:r>
            <a:r>
              <a:rPr lang="zh-CN" altLang="en-US" dirty="0">
                <a:solidFill>
                  <a:srgbClr val="002060"/>
                </a:solidFill>
              </a:rPr>
              <a:t>) 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增广矩阵秩r</a:t>
            </a:r>
            <a:r>
              <a:rPr lang="en-US" altLang="zh-CN" dirty="0">
                <a:solidFill>
                  <a:srgbClr val="002060"/>
                </a:solidFill>
              </a:rPr>
              <a:t>a</a:t>
            </a:r>
            <a:r>
              <a:rPr lang="zh-CN" altLang="en-US" dirty="0">
                <a:solidFill>
                  <a:srgbClr val="002060"/>
                </a:solidFill>
              </a:rPr>
              <a:t>b1 =  4   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3EF4B-4EEF-4AD3-A534-9ADD82FF2966}"/>
              </a:ext>
            </a:extLst>
          </p:cNvPr>
          <p:cNvSpPr/>
          <p:nvPr/>
        </p:nvSpPr>
        <p:spPr>
          <a:xfrm>
            <a:off x="74421" y="794077"/>
            <a:ext cx="3993523" cy="40011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marL="514350" indent="-514350" eaLnBrk="0"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判断两个方程组的类型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B58EEF-55F4-428C-8C56-7EE5F24530C7}"/>
              </a:ext>
            </a:extLst>
          </p:cNvPr>
          <p:cNvSpPr/>
          <p:nvPr/>
        </p:nvSpPr>
        <p:spPr>
          <a:xfrm>
            <a:off x="5065922" y="1750335"/>
            <a:ext cx="4042466" cy="2308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a2=[5 -2 0 0;-2 5 -2 0;0 -2 5 -2;0 0 -2 5;0 0 2 2];</a:t>
            </a:r>
          </a:p>
          <a:p>
            <a:r>
              <a:rPr lang="en-US" altLang="zh-CN" dirty="0"/>
              <a:t>b2=[10;4;3;2;3];</a:t>
            </a:r>
          </a:p>
          <a:p>
            <a:r>
              <a:rPr lang="en-US" altLang="zh-CN" dirty="0"/>
              <a:t> ab2=[a2 b2];</a:t>
            </a:r>
          </a:p>
          <a:p>
            <a:r>
              <a:rPr lang="en-US" altLang="zh-CN" dirty="0"/>
              <a:t>ca2=</a:t>
            </a:r>
            <a:r>
              <a:rPr lang="en-US" altLang="zh-CN" dirty="0" err="1"/>
              <a:t>cond</a:t>
            </a:r>
            <a:r>
              <a:rPr lang="en-US" altLang="zh-CN" dirty="0"/>
              <a:t>(a2)</a:t>
            </a:r>
          </a:p>
          <a:p>
            <a:r>
              <a:rPr lang="en-US" altLang="zh-CN" dirty="0"/>
              <a:t>ca2 =  4.6829</a:t>
            </a:r>
          </a:p>
          <a:p>
            <a:r>
              <a:rPr lang="pl-PL" altLang="zh-CN" dirty="0"/>
              <a:t>ra2=rank(a2)</a:t>
            </a:r>
            <a:r>
              <a:rPr lang="en-US" altLang="zh-CN" dirty="0"/>
              <a:t>  #</a:t>
            </a:r>
            <a:r>
              <a:rPr lang="pl-PL" altLang="zh-CN" dirty="0"/>
              <a:t>ra2 =  4</a:t>
            </a:r>
          </a:p>
          <a:p>
            <a:r>
              <a:rPr lang="pl-PL" altLang="zh-CN" dirty="0"/>
              <a:t>ra2=rank(ab2)</a:t>
            </a:r>
            <a:r>
              <a:rPr lang="en-US" altLang="zh-CN" dirty="0"/>
              <a:t>  #</a:t>
            </a:r>
            <a:r>
              <a:rPr lang="pl-PL" altLang="zh-CN" dirty="0"/>
              <a:t>ra2 =5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CA8706-B4BF-451D-9B8A-807B288EE4F3}"/>
              </a:ext>
            </a:extLst>
          </p:cNvPr>
          <p:cNvSpPr/>
          <p:nvPr/>
        </p:nvSpPr>
        <p:spPr>
          <a:xfrm>
            <a:off x="0" y="4096623"/>
            <a:ext cx="368562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系数矩阵秩</a:t>
            </a:r>
            <a:r>
              <a:rPr lang="en-US" altLang="zh-CN" b="1" dirty="0">
                <a:solidFill>
                  <a:srgbClr val="0070C0"/>
                </a:solidFill>
              </a:rPr>
              <a:t>=</a:t>
            </a:r>
            <a:r>
              <a:rPr lang="zh-CN" altLang="en-US" b="1" dirty="0">
                <a:solidFill>
                  <a:srgbClr val="0070C0"/>
                </a:solidFill>
              </a:rPr>
              <a:t>增广矩阵秩</a:t>
            </a:r>
            <a:r>
              <a:rPr lang="en-US" altLang="zh-CN" b="1" dirty="0">
                <a:solidFill>
                  <a:srgbClr val="0070C0"/>
                </a:solidFill>
              </a:rPr>
              <a:t>=</a:t>
            </a:r>
            <a:r>
              <a:rPr lang="zh-CN" altLang="en-US" b="1" dirty="0">
                <a:solidFill>
                  <a:srgbClr val="0070C0"/>
                </a:solidFill>
              </a:rPr>
              <a:t>方程个数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504943-AA7C-41E8-902C-5DDEB143E881}"/>
              </a:ext>
            </a:extLst>
          </p:cNvPr>
          <p:cNvSpPr/>
          <p:nvPr/>
        </p:nvSpPr>
        <p:spPr>
          <a:xfrm>
            <a:off x="3644897" y="4030213"/>
            <a:ext cx="1225638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chemeClr val="bg1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恰定方程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5D1D31-2193-49B4-8D65-F94CAC9B3F7D}"/>
              </a:ext>
            </a:extLst>
          </p:cNvPr>
          <p:cNvSpPr/>
          <p:nvPr/>
        </p:nvSpPr>
        <p:spPr>
          <a:xfrm>
            <a:off x="5039229" y="4131245"/>
            <a:ext cx="27414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系数矩阵秩</a:t>
            </a:r>
            <a:r>
              <a:rPr lang="en-US" altLang="zh-CN" b="1" dirty="0">
                <a:solidFill>
                  <a:srgbClr val="0070C0"/>
                </a:solidFill>
              </a:rPr>
              <a:t>&lt;</a:t>
            </a:r>
            <a:r>
              <a:rPr lang="zh-CN" altLang="en-US" b="1" dirty="0">
                <a:solidFill>
                  <a:srgbClr val="0070C0"/>
                </a:solidFill>
              </a:rPr>
              <a:t>增广矩阵秩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FD8A38-CED9-4BE6-A967-DE1EE89BDC36}"/>
              </a:ext>
            </a:extLst>
          </p:cNvPr>
          <p:cNvSpPr/>
          <p:nvPr/>
        </p:nvSpPr>
        <p:spPr>
          <a:xfrm>
            <a:off x="7839842" y="4115856"/>
            <a:ext cx="1268545" cy="4001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chemeClr val="bg1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超定方程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BDE668-E6C8-422A-92BA-1568C2504365}"/>
              </a:ext>
            </a:extLst>
          </p:cNvPr>
          <p:cNvSpPr txBox="1"/>
          <p:nvPr/>
        </p:nvSpPr>
        <p:spPr>
          <a:xfrm>
            <a:off x="1134687" y="0"/>
            <a:ext cx="7471696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超定方程组和恰定方程组对比求解案例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120F19-3ED7-41EA-A18E-F88DFC802139}"/>
              </a:ext>
            </a:extLst>
          </p:cNvPr>
          <p:cNvSpPr/>
          <p:nvPr/>
        </p:nvSpPr>
        <p:spPr>
          <a:xfrm>
            <a:off x="107504" y="1322152"/>
            <a:ext cx="15530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AC800B-C632-4FB6-8FAC-B408A0F9E077}"/>
              </a:ext>
            </a:extLst>
          </p:cNvPr>
          <p:cNvSpPr/>
          <p:nvPr/>
        </p:nvSpPr>
        <p:spPr>
          <a:xfrm>
            <a:off x="5039229" y="1276829"/>
            <a:ext cx="2071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F7F19487-578C-4EF4-8640-7E1F09F96449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8722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1D8E39-9C18-4C41-9C04-5B3192B292E7}"/>
              </a:ext>
            </a:extLst>
          </p:cNvPr>
          <p:cNvSpPr/>
          <p:nvPr/>
        </p:nvSpPr>
        <p:spPr>
          <a:xfrm>
            <a:off x="267076" y="731480"/>
            <a:ext cx="7326987" cy="40011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marL="514350" indent="-514350" eaLnBrk="0">
              <a:buFont typeface="+mj-ea"/>
              <a:buAutoNum type="circleNumDbPlain" startAt="2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求方程组的行列式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和逆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、伪逆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743136-22DC-4799-9B45-1B242EFCEBD4}"/>
              </a:ext>
            </a:extLst>
          </p:cNvPr>
          <p:cNvSpPr/>
          <p:nvPr/>
        </p:nvSpPr>
        <p:spPr>
          <a:xfrm>
            <a:off x="347005" y="1618487"/>
            <a:ext cx="5183766" cy="298543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ad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=det(a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 #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ad1 =   341</a:t>
            </a:r>
          </a:p>
          <a:p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=inv(a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ai1 =   0.2493    0.1232    0.0587    0.0235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0.1232    0.3079    0.1466    0.0587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0.0587    0.1466    0.3079    0.1232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0.0235    0.0587    0.1232    0.2493</a:t>
            </a:r>
          </a:p>
          <a:p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ap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=pinv(a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it-IT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ai1 =    0.2493    0.1232    0.0587    0.0235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0.1232    0.3079    0.1466    0.0587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0.0587    0.1466    0.3079    0.1232</a:t>
            </a:r>
          </a:p>
          <a:p>
            <a:r>
              <a:rPr lang="it-IT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0.0235    0.0587    0.1232    0.2493</a:t>
            </a:r>
            <a:endParaRPr lang="zh-CN" altLang="en-US" sz="16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7E03F196-5663-486D-967F-5BAE1D04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60" y="1186835"/>
            <a:ext cx="2055788" cy="53359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非奇异矩阵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19D9DF-626B-425A-9907-7E17822C6C50}"/>
              </a:ext>
            </a:extLst>
          </p:cNvPr>
          <p:cNvSpPr/>
          <p:nvPr/>
        </p:nvSpPr>
        <p:spPr>
          <a:xfrm>
            <a:off x="280018" y="1130385"/>
            <a:ext cx="1752476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恰定方程组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61D07D-C891-4E2A-B024-7B8BEE183A72}"/>
              </a:ext>
            </a:extLst>
          </p:cNvPr>
          <p:cNvSpPr/>
          <p:nvPr/>
        </p:nvSpPr>
        <p:spPr>
          <a:xfrm>
            <a:off x="5126653" y="1060018"/>
            <a:ext cx="1767585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超定方程组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2134E1-FA66-401B-945F-4947E0208DAB}"/>
              </a:ext>
            </a:extLst>
          </p:cNvPr>
          <p:cNvSpPr/>
          <p:nvPr/>
        </p:nvSpPr>
        <p:spPr>
          <a:xfrm>
            <a:off x="5195640" y="1453634"/>
            <a:ext cx="3921022" cy="31502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ad2=det(a2)</a:t>
            </a:r>
          </a:p>
          <a:p>
            <a:pPr>
              <a:lnSpc>
                <a:spcPts val="2400"/>
              </a:lnSpc>
            </a:pP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错误使用 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矩阵必须为方阵。 </a:t>
            </a:r>
          </a:p>
          <a:p>
            <a:pPr>
              <a:lnSpc>
                <a:spcPts val="24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ai2=inv(a2)</a:t>
            </a:r>
          </a:p>
          <a:p>
            <a:pPr>
              <a:lnSpc>
                <a:spcPts val="2400"/>
              </a:lnSpc>
            </a:pP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错误使用 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inv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矩阵必须为方阵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 </a:t>
            </a:r>
          </a:p>
          <a:p>
            <a:pPr>
              <a:lnSpc>
                <a:spcPts val="24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ap2=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pinv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(a2)</a:t>
            </a:r>
          </a:p>
          <a:p>
            <a:pPr>
              <a:lnSpc>
                <a:spcPts val="2400"/>
              </a:lnSpc>
            </a:pPr>
            <a:r>
              <a:rPr lang="en-US" altLang="zh-CN" sz="160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acp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  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至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 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0.2461    0.1153    0.0422    0.0347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0.1173    0.2934    0.1161    0.0795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0.0522    0.1306    0.2742    0.1462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0.0238    0.0594    0.1248    0.2482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36BE58-81E4-4FAA-85FA-2733903C01AC}"/>
              </a:ext>
            </a:extLst>
          </p:cNvPr>
          <p:cNvSpPr txBox="1"/>
          <p:nvPr/>
        </p:nvSpPr>
        <p:spPr>
          <a:xfrm>
            <a:off x="1128216" y="57504"/>
            <a:ext cx="7583325" cy="58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超定方程组和恰定方程组对比求解案例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6262A90C-1CFF-4EC1-B5E9-70322FDD5397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72117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80D7C8-C32C-456A-AC98-C14CE9E0A6DD}"/>
              </a:ext>
            </a:extLst>
          </p:cNvPr>
          <p:cNvSpPr txBox="1"/>
          <p:nvPr/>
        </p:nvSpPr>
        <p:spPr>
          <a:xfrm>
            <a:off x="918765" y="-26637"/>
            <a:ext cx="7578077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41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§6.8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逆乘、伪逆乘和左除法求超定和恰定方程组 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BB4C7-1E15-4913-BC85-6B0828B4AE2C}"/>
              </a:ext>
            </a:extLst>
          </p:cNvPr>
          <p:cNvSpPr/>
          <p:nvPr/>
        </p:nvSpPr>
        <p:spPr>
          <a:xfrm>
            <a:off x="5299720" y="2677610"/>
            <a:ext cx="41547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000" dirty="0"/>
              <a:t>xp2=pinv(a2)*b2</a:t>
            </a:r>
            <a:endParaRPr lang="en-US" altLang="zh-CN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CB5998-9182-4256-A1B2-773D60D72540}"/>
              </a:ext>
            </a:extLst>
          </p:cNvPr>
          <p:cNvSpPr/>
          <p:nvPr/>
        </p:nvSpPr>
        <p:spPr>
          <a:xfrm>
            <a:off x="137663" y="2258510"/>
            <a:ext cx="244827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altLang="zh-CN" sz="2400" dirty="0"/>
              <a:t>x1=inv(a1)*b1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BEDE77-BBC5-4B0F-85F5-78B284FEC4B3}"/>
              </a:ext>
            </a:extLst>
          </p:cNvPr>
          <p:cNvSpPr/>
          <p:nvPr/>
        </p:nvSpPr>
        <p:spPr>
          <a:xfrm>
            <a:off x="66326" y="998990"/>
            <a:ext cx="1752476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恰定方程组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CA711E-F8F6-4A94-BDF8-A0A596F04433}"/>
              </a:ext>
            </a:extLst>
          </p:cNvPr>
          <p:cNvSpPr/>
          <p:nvPr/>
        </p:nvSpPr>
        <p:spPr>
          <a:xfrm>
            <a:off x="5216894" y="555526"/>
            <a:ext cx="1767585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超定方程组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6F73F-9E9C-4C12-95A4-18FC5ADEC780}"/>
              </a:ext>
            </a:extLst>
          </p:cNvPr>
          <p:cNvSpPr/>
          <p:nvPr/>
        </p:nvSpPr>
        <p:spPr>
          <a:xfrm>
            <a:off x="137663" y="2646833"/>
            <a:ext cx="1997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dirty="0"/>
              <a:t>x1=pinv(a)*b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04E2CE-0F9A-4C8A-B752-196EBC5BD316}"/>
              </a:ext>
            </a:extLst>
          </p:cNvPr>
          <p:cNvSpPr txBox="1"/>
          <p:nvPr/>
        </p:nvSpPr>
        <p:spPr>
          <a:xfrm>
            <a:off x="5216894" y="2035869"/>
            <a:ext cx="36270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2=inv(a2)*b2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错误使用 inv矩阵必须为方阵。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399BB3-D1D6-4692-AF7D-859CDF2794E5}"/>
              </a:ext>
            </a:extLst>
          </p:cNvPr>
          <p:cNvSpPr txBox="1"/>
          <p:nvPr/>
        </p:nvSpPr>
        <p:spPr>
          <a:xfrm>
            <a:off x="2872915" y="1995686"/>
            <a:ext cx="1051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43C38C-DCD0-4A2C-B8A6-A40DAF0B5D25}"/>
              </a:ext>
            </a:extLst>
          </p:cNvPr>
          <p:cNvSpPr/>
          <p:nvPr/>
        </p:nvSpPr>
        <p:spPr>
          <a:xfrm>
            <a:off x="2886571" y="2445835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伪逆乘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BFCEC1-E2C9-49F4-961B-273EECE97D21}"/>
              </a:ext>
            </a:extLst>
          </p:cNvPr>
          <p:cNvSpPr/>
          <p:nvPr/>
        </p:nvSpPr>
        <p:spPr>
          <a:xfrm>
            <a:off x="2872915" y="2882732"/>
            <a:ext cx="14674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左除法     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935980-26A7-4179-B0AE-133444C20701}"/>
              </a:ext>
            </a:extLst>
          </p:cNvPr>
          <p:cNvSpPr txBox="1"/>
          <p:nvPr/>
        </p:nvSpPr>
        <p:spPr>
          <a:xfrm>
            <a:off x="137739" y="3114966"/>
            <a:ext cx="2641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x</a:t>
            </a:r>
            <a:r>
              <a:rPr lang="en-US" altLang="zh-CN" sz="2400" dirty="0"/>
              <a:t>1</a:t>
            </a:r>
            <a:r>
              <a:rPr lang="zh-CN" altLang="en-US" sz="2400" dirty="0"/>
              <a:t>=(a1\b1)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65E524-9FEF-4D05-B07F-52DE563DB05D}"/>
              </a:ext>
            </a:extLst>
          </p:cNvPr>
          <p:cNvSpPr txBox="1"/>
          <p:nvPr/>
        </p:nvSpPr>
        <p:spPr>
          <a:xfrm>
            <a:off x="5299720" y="3032490"/>
            <a:ext cx="279915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altLang="zh-CN" sz="2000" dirty="0"/>
              <a:t>xz2=(a2\b2)’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5910E1-132D-4209-8FF4-DA112F0165FE}"/>
              </a:ext>
            </a:extLst>
          </p:cNvPr>
          <p:cNvSpPr/>
          <p:nvPr/>
        </p:nvSpPr>
        <p:spPr>
          <a:xfrm>
            <a:off x="66326" y="701409"/>
            <a:ext cx="3993523" cy="40011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marL="514350" indent="-514350" eaLnBrk="0">
              <a:buFont typeface="+mj-ea"/>
              <a:buAutoNum type="circleNumDbPlain" startAt="3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分别求两个方程组的根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4511C7-3F74-4C3C-A35F-D7D5B4D781EA}"/>
              </a:ext>
            </a:extLst>
          </p:cNvPr>
          <p:cNvSpPr txBox="1"/>
          <p:nvPr/>
        </p:nvSpPr>
        <p:spPr>
          <a:xfrm>
            <a:off x="90662" y="1388459"/>
            <a:ext cx="4771416" cy="87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000" dirty="0"/>
              <a:t>a</a:t>
            </a:r>
            <a:r>
              <a:rPr lang="en-US" altLang="zh-CN" sz="2000" dirty="0"/>
              <a:t>1</a:t>
            </a:r>
            <a:r>
              <a:rPr lang="zh-CN" altLang="en-US" sz="2000" dirty="0"/>
              <a:t>=[5 -2 0 0;-2 5 -2 0;0 -2 5 -2;0 0 -2 5];</a:t>
            </a:r>
          </a:p>
          <a:p>
            <a:pPr>
              <a:lnSpc>
                <a:spcPts val="3200"/>
              </a:lnSpc>
            </a:pPr>
            <a:r>
              <a:rPr lang="zh-CN" altLang="en-US" sz="2000" dirty="0"/>
              <a:t>b</a:t>
            </a:r>
            <a:r>
              <a:rPr lang="en-US" altLang="zh-CN" sz="2000" dirty="0"/>
              <a:t>1</a:t>
            </a:r>
            <a:r>
              <a:rPr lang="zh-CN" altLang="en-US" sz="2000" dirty="0"/>
              <a:t>=[10;4;3;2];</a:t>
            </a:r>
            <a:endParaRPr lang="en-US" altLang="zh-CN" sz="2000" dirty="0">
              <a:solidFill>
                <a:srgbClr val="002060"/>
              </a:solidFill>
              <a:latin typeface="Times New Roman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C19F86-FB42-4186-8719-5EAD64B56B5F}"/>
              </a:ext>
            </a:extLst>
          </p:cNvPr>
          <p:cNvSpPr txBox="1"/>
          <p:nvPr/>
        </p:nvSpPr>
        <p:spPr>
          <a:xfrm>
            <a:off x="5240311" y="1004173"/>
            <a:ext cx="3868193" cy="11381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/>
            </a:lvl1pPr>
          </a:lstStyle>
          <a:p>
            <a:pPr>
              <a:lnSpc>
                <a:spcPts val="2800"/>
              </a:lnSpc>
            </a:pPr>
            <a:r>
              <a:rPr lang="en-US" altLang="zh-CN" dirty="0"/>
              <a:t>a2=[5 -2 0 0;-2 5 -2 0;0 -2 5 -2;0 0 -2 5;0 0 2 2];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b2=[10;4;3;2;3];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A0D57E-CCB9-4182-9ECF-638F6CEB5575}"/>
              </a:ext>
            </a:extLst>
          </p:cNvPr>
          <p:cNvSpPr txBox="1"/>
          <p:nvPr/>
        </p:nvSpPr>
        <p:spPr>
          <a:xfrm>
            <a:off x="35496" y="3913928"/>
            <a:ext cx="4688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 println(“根x1=$x1") #显示根结果</a:t>
            </a:r>
            <a:endParaRPr lang="en-US" altLang="zh-CN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2C46D9D-E753-4D60-9063-990B8E299755}"/>
              </a:ext>
            </a:extLst>
          </p:cNvPr>
          <p:cNvSpPr txBox="1"/>
          <p:nvPr/>
        </p:nvSpPr>
        <p:spPr>
          <a:xfrm>
            <a:off x="5017671" y="3841722"/>
            <a:ext cx="2538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println("根x2=$x2")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4EFD4A-9744-4B39-BB0E-FE79FE5ACDD0}"/>
              </a:ext>
            </a:extLst>
          </p:cNvPr>
          <p:cNvSpPr txBox="1"/>
          <p:nvPr/>
        </p:nvSpPr>
        <p:spPr>
          <a:xfrm>
            <a:off x="4931691" y="4215478"/>
            <a:ext cx="4464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1600" dirty="0">
                <a:solidFill>
                  <a:srgbClr val="0070C0"/>
                </a:solidFill>
              </a:rPr>
              <a:t>#</a:t>
            </a:r>
            <a:r>
              <a:rPr lang="zh-CN" altLang="en-US" sz="1600" dirty="0">
                <a:solidFill>
                  <a:srgbClr val="0070C0"/>
                </a:solidFill>
              </a:rPr>
              <a:t>结果</a:t>
            </a:r>
            <a:r>
              <a:rPr lang="pt-BR" altLang="zh-CN" sz="1600" dirty="0">
                <a:solidFill>
                  <a:srgbClr val="0070C0"/>
                </a:solidFill>
              </a:rPr>
              <a:t>xz2 = 3.2522   3.1023   2.4332   1.3329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7D5BCDD-96C9-433C-A592-6F997F153E0C}"/>
              </a:ext>
            </a:extLst>
          </p:cNvPr>
          <p:cNvSpPr txBox="1"/>
          <p:nvPr/>
        </p:nvSpPr>
        <p:spPr>
          <a:xfrm>
            <a:off x="90662" y="4271813"/>
            <a:ext cx="4464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B0F0"/>
                </a:solidFill>
              </a:rPr>
              <a:t>#</a:t>
            </a:r>
            <a:r>
              <a:rPr lang="zh-CN" altLang="en-US" sz="1800" dirty="0">
                <a:solidFill>
                  <a:srgbClr val="00B0F0"/>
                </a:solidFill>
              </a:rPr>
              <a:t>结果</a:t>
            </a:r>
            <a:r>
              <a:rPr lang="en-US" altLang="zh-CN" sz="1800" dirty="0">
                <a:solidFill>
                  <a:srgbClr val="00B0F0"/>
                </a:solidFill>
              </a:rPr>
              <a:t>3.20821  3.02053  2.34311  1.33724</a:t>
            </a:r>
            <a:endParaRPr lang="zh-CN" altLang="en-US" sz="1800" dirty="0">
              <a:solidFill>
                <a:srgbClr val="00B0F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E05DFB-52D3-4E7F-8614-B0A4B207F4AA}"/>
              </a:ext>
            </a:extLst>
          </p:cNvPr>
          <p:cNvSpPr txBox="1"/>
          <p:nvPr/>
        </p:nvSpPr>
        <p:spPr>
          <a:xfrm>
            <a:off x="152035" y="3535269"/>
            <a:ext cx="329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x</a:t>
            </a:r>
            <a:r>
              <a:rPr lang="en-US" altLang="zh-CN" sz="2000" dirty="0"/>
              <a:t>1</a:t>
            </a:r>
            <a:r>
              <a:rPr lang="zh-CN" altLang="en-US" sz="2000" dirty="0"/>
              <a:t>=</a:t>
            </a:r>
            <a:r>
              <a:rPr lang="en-US" altLang="zh-CN" sz="2000" dirty="0" err="1"/>
              <a:t>lsqminnorm</a:t>
            </a:r>
            <a:r>
              <a:rPr lang="zh-CN" altLang="en-US" sz="2000" dirty="0"/>
              <a:t>(a1</a:t>
            </a:r>
            <a:r>
              <a:rPr lang="en-US" altLang="zh-CN" sz="2000" dirty="0"/>
              <a:t>,</a:t>
            </a:r>
            <a:r>
              <a:rPr lang="zh-CN" altLang="en-US" sz="2000" dirty="0"/>
              <a:t>b1)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7C9C41-9E85-4625-B7E0-6EC97FAF1AC5}"/>
              </a:ext>
            </a:extLst>
          </p:cNvPr>
          <p:cNvSpPr/>
          <p:nvPr/>
        </p:nvSpPr>
        <p:spPr>
          <a:xfrm>
            <a:off x="2837820" y="3298876"/>
            <a:ext cx="24035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40522A5-770D-403E-A0FD-E24DCD3A3254}"/>
              </a:ext>
            </a:extLst>
          </p:cNvPr>
          <p:cNvSpPr txBox="1"/>
          <p:nvPr/>
        </p:nvSpPr>
        <p:spPr>
          <a:xfrm>
            <a:off x="5279124" y="3433415"/>
            <a:ext cx="329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x</a:t>
            </a:r>
            <a:r>
              <a:rPr lang="en-US" altLang="zh-CN" sz="2000" dirty="0"/>
              <a:t>2</a:t>
            </a:r>
            <a:r>
              <a:rPr lang="zh-CN" altLang="en-US" sz="2000" dirty="0"/>
              <a:t>=</a:t>
            </a:r>
            <a:r>
              <a:rPr lang="en-US" altLang="zh-CN" sz="2000" dirty="0" err="1"/>
              <a:t>lsqminnorm</a:t>
            </a:r>
            <a:r>
              <a:rPr lang="zh-CN" altLang="en-US" sz="2000" dirty="0"/>
              <a:t>(a</a:t>
            </a:r>
            <a:r>
              <a:rPr lang="en-US" altLang="zh-CN" sz="2000" dirty="0"/>
              <a:t>2,</a:t>
            </a:r>
            <a:r>
              <a:rPr lang="zh-CN" altLang="en-US" sz="2000" dirty="0"/>
              <a:t>b</a:t>
            </a:r>
            <a:r>
              <a:rPr lang="en-US" altLang="zh-CN" sz="2000" dirty="0"/>
              <a:t>2</a:t>
            </a:r>
            <a:r>
              <a:rPr lang="zh-CN" altLang="en-US" sz="2000" dirty="0"/>
              <a:t>)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31" name="波形 30">
            <a:extLst>
              <a:ext uri="{FF2B5EF4-FFF2-40B4-BE49-F238E27FC236}">
                <a16:creationId xmlns:a16="http://schemas.microsoft.com/office/drawing/2014/main" id="{F38050CB-7BED-4AFB-8E7A-ED7178432E80}"/>
              </a:ext>
            </a:extLst>
          </p:cNvPr>
          <p:cNvSpPr/>
          <p:nvPr/>
        </p:nvSpPr>
        <p:spPr>
          <a:xfrm>
            <a:off x="178110" y="288428"/>
            <a:ext cx="754231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例68-2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69075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3F035F-F261-4725-81A4-121BDB515E6D}"/>
              </a:ext>
            </a:extLst>
          </p:cNvPr>
          <p:cNvSpPr txBox="1"/>
          <p:nvPr/>
        </p:nvSpPr>
        <p:spPr>
          <a:xfrm>
            <a:off x="665252" y="23795"/>
            <a:ext cx="842493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矩阵重组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抽取上三角、下三角和对角矩阵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194D23B-F436-486C-AD20-4AC14F261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82" y="1297573"/>
            <a:ext cx="8774218" cy="328532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>
            <a:spAutoFit/>
          </a:bodyPr>
          <a:lstStyle>
            <a:lvl1pPr marL="177800" indent="-177800" eaLnBrk="0" hangingPunct="0"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5050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抽取矩阵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高密度的零元素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" indent="0">
              <a:lnSpc>
                <a:spcPts val="3400"/>
              </a:lnSpc>
              <a:buFont typeface="Wingdings" pitchFamily="2" charset="2"/>
              <a:buAutoNum type="arabicParenBoth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稀疏矩阵的创建</a:t>
            </a:r>
          </a:p>
          <a:p>
            <a:pPr marL="36000" indent="0">
              <a:lnSpc>
                <a:spcPts val="3400"/>
              </a:lnSpc>
              <a:buFont typeface="Wingdings" pitchFamily="2" charset="2"/>
              <a:buAutoNum type="arabicParenBoth"/>
            </a:pPr>
            <a:r>
              <a:rPr lang="zh-CN" altLang="pt-PT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稀疏矩阵的运算 </a:t>
            </a:r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AutoShape 2" descr="https://bkimg.cdn.bcebos.com/formula/cc6791a4a3f210c19eff9dafdb7ad105.svg">
            <a:extLst>
              <a:ext uri="{FF2B5EF4-FFF2-40B4-BE49-F238E27FC236}">
                <a16:creationId xmlns:a16="http://schemas.microsoft.com/office/drawing/2014/main" id="{1171A176-183E-4154-8FED-AE7D28892A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76578" y="4083918"/>
            <a:ext cx="1296140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92312F-309E-4E45-9982-BC58EA641709}"/>
              </a:ext>
            </a:extLst>
          </p:cNvPr>
          <p:cNvSpPr/>
          <p:nvPr/>
        </p:nvSpPr>
        <p:spPr>
          <a:xfrm>
            <a:off x="5669533" y="636937"/>
            <a:ext cx="3182185" cy="669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三角矩阵运算保持不变性</a:t>
            </a:r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:</a:t>
            </a:r>
          </a:p>
          <a:p>
            <a:pPr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三角矩阵的乘积还是是三角矩阵。</a:t>
            </a:r>
          </a:p>
          <a:p>
            <a:pPr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三角矩阵的逆还是三角矩阵。</a:t>
            </a:r>
            <a:endParaRPr lang="zh-CN" altLang="en-US" sz="14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DE7B11-D653-4EBF-9DB9-37C2F621DD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33" t="66592" r="50639" b="11801"/>
          <a:stretch/>
        </p:blipFill>
        <p:spPr>
          <a:xfrm>
            <a:off x="4280962" y="1523997"/>
            <a:ext cx="2606355" cy="114966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CD15E4-08AA-45A0-96FE-3C29339B3E47}"/>
              </a:ext>
            </a:extLst>
          </p:cNvPr>
          <p:cNvSpPr/>
          <p:nvPr/>
        </p:nvSpPr>
        <p:spPr>
          <a:xfrm>
            <a:off x="5639837" y="1673252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上三角</a:t>
            </a:r>
            <a:endParaRPr lang="en-US" altLang="zh-CN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FD2E0E-4B8E-4070-98B7-CCE283087E1F}"/>
              </a:ext>
            </a:extLst>
          </p:cNvPr>
          <p:cNvSpPr/>
          <p:nvPr/>
        </p:nvSpPr>
        <p:spPr>
          <a:xfrm>
            <a:off x="5154844" y="1942113"/>
            <a:ext cx="4411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F766D44E-D8AC-440D-A75E-40BFC92BD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7" y="721972"/>
            <a:ext cx="1582045" cy="550985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2800" dirty="0">
                <a:latin typeface="Times New Roman" pitchFamily="18" charset="0"/>
              </a:rPr>
              <a:t> </a:t>
            </a:r>
            <a:endParaRPr lang="zh-CN" altLang="en-US" sz="2600" dirty="0">
              <a:solidFill>
                <a:srgbClr val="FFFF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CBE746-1432-4387-AB85-F31C56A92137}"/>
              </a:ext>
            </a:extLst>
          </p:cNvPr>
          <p:cNvSpPr/>
          <p:nvPr/>
        </p:nvSpPr>
        <p:spPr>
          <a:xfrm>
            <a:off x="899593" y="843557"/>
            <a:ext cx="8640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F680F0-3D2C-45B6-AB13-E19A52A6E64B}"/>
              </a:ext>
            </a:extLst>
          </p:cNvPr>
          <p:cNvSpPr txBox="1"/>
          <p:nvPr/>
        </p:nvSpPr>
        <p:spPr>
          <a:xfrm>
            <a:off x="248360" y="1673252"/>
            <a:ext cx="2334074" cy="13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indent="0">
              <a:lnSpc>
                <a:spcPts val="3400"/>
              </a:lnSpc>
              <a:buFont typeface="Wingdings" pitchFamily="2" charset="2"/>
              <a:buAutoNum type="arabicParenBoth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下三角矩阵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</a:p>
          <a:p>
            <a:pPr marL="36000" indent="0">
              <a:lnSpc>
                <a:spcPts val="3400"/>
              </a:lnSpc>
              <a:buFont typeface="Wingdings" pitchFamily="2" charset="2"/>
              <a:buAutoNum type="arabicParenBoth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上三角矩阵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</a:p>
          <a:p>
            <a:pPr marL="36000" indent="0">
              <a:lnSpc>
                <a:spcPts val="3400"/>
              </a:lnSpc>
              <a:buFont typeface="Wingdings" pitchFamily="2" charset="2"/>
              <a:buAutoNum type="arabicParenBoth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对角矩阵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19" name="矩形 1">
            <a:extLst>
              <a:ext uri="{FF2B5EF4-FFF2-40B4-BE49-F238E27FC236}">
                <a16:creationId xmlns:a16="http://schemas.microsoft.com/office/drawing/2014/main" id="{6434235B-ADCF-460B-A56C-A8AD74D96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647" y="3450282"/>
            <a:ext cx="21961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A=L+U+D=</a:t>
            </a:r>
            <a:endParaRPr lang="zh-CN" altLang="en-US" sz="20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6B7936B3-4285-4EE7-8DBD-66A5CE431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920" y="2853146"/>
            <a:ext cx="2125818" cy="17026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761ADA2B-3234-47A9-BF60-BF1B41B70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441" y="2852793"/>
            <a:ext cx="2063623" cy="1738561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800" b="1" i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L</a:t>
            </a: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E523BD55-D74A-422A-AC3C-F36309C30D50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6441257" y="2679431"/>
            <a:ext cx="1192112" cy="1522852"/>
          </a:xfrm>
          <a:prstGeom prst="rtTriangl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kumimoji="1" lang="en-US" altLang="zh-CN" sz="28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U</a:t>
            </a:r>
          </a:p>
        </p:txBody>
      </p:sp>
      <p:sp>
        <p:nvSpPr>
          <p:cNvPr id="32" name="Text Box 17">
            <a:extLst>
              <a:ext uri="{FF2B5EF4-FFF2-40B4-BE49-F238E27FC236}">
                <a16:creationId xmlns:a16="http://schemas.microsoft.com/office/drawing/2014/main" id="{72FE4A6F-4DB6-4FD1-B29C-D7A3161BA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341" y="3321963"/>
            <a:ext cx="381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D40225C-3B27-4F1F-8ACD-6E48F199CC93}"/>
              </a:ext>
            </a:extLst>
          </p:cNvPr>
          <p:cNvSpPr/>
          <p:nvPr/>
        </p:nvSpPr>
        <p:spPr>
          <a:xfrm>
            <a:off x="7353212" y="3294122"/>
            <a:ext cx="1611801" cy="400110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sz="2000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triu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(A,1) 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华文仿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5BA6FE-ADC1-4A1C-B1E3-1B921E0C0403}"/>
              </a:ext>
            </a:extLst>
          </p:cNvPr>
          <p:cNvSpPr/>
          <p:nvPr/>
        </p:nvSpPr>
        <p:spPr>
          <a:xfrm rot="264851">
            <a:off x="6343379" y="4203110"/>
            <a:ext cx="1558415" cy="400110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L=</a:t>
            </a:r>
            <a:r>
              <a:rPr lang="en-US" altLang="zh-CN" sz="2000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tril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(A,-1) </a:t>
            </a:r>
            <a:endParaRPr lang="zh-CN" altLang="en-US" sz="2000" b="1" kern="0" dirty="0">
              <a:solidFill>
                <a:schemeClr val="bg1"/>
              </a:solidFill>
              <a:latin typeface="Times New Roman" panose="02020603050405020304" pitchFamily="18" charset="0"/>
              <a:ea typeface="华文仿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22BE595-3928-43E5-AB67-4C55B6C97472}"/>
              </a:ext>
            </a:extLst>
          </p:cNvPr>
          <p:cNvSpPr/>
          <p:nvPr/>
        </p:nvSpPr>
        <p:spPr>
          <a:xfrm rot="584661">
            <a:off x="6534548" y="3720655"/>
            <a:ext cx="2390465" cy="400110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D=</a:t>
            </a:r>
            <a:r>
              <a:rPr lang="en-US" altLang="zh-CN" sz="2000" b="1" dirty="0" err="1">
                <a:solidFill>
                  <a:schemeClr val="bg1"/>
                </a:solidFill>
              </a:rPr>
              <a:t>diagm</a:t>
            </a:r>
            <a:r>
              <a:rPr lang="en-US" altLang="zh-CN" sz="2000" b="1" dirty="0">
                <a:solidFill>
                  <a:schemeClr val="bg1"/>
                </a:solidFill>
              </a:rPr>
              <a:t>(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FF0000"/>
                </a:highlight>
              </a:rPr>
              <a:t>diag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FF0000"/>
                </a:highlight>
              </a:rPr>
              <a:t>(A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3399FF"/>
                </a:highlight>
              </a:rPr>
              <a:t>))</a:t>
            </a:r>
            <a:endParaRPr lang="zh-CN" altLang="en-US" sz="2000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C8153239-92EA-4E3E-997C-BCB02917C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5" r="-1261" b="8645"/>
          <a:stretch/>
        </p:blipFill>
        <p:spPr bwMode="auto">
          <a:xfrm>
            <a:off x="6732426" y="1377078"/>
            <a:ext cx="2334074" cy="133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A7E6960-3988-41F3-8EB4-685A8C60CC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93" t="32088" r="52620" b="44342"/>
          <a:stretch/>
        </p:blipFill>
        <p:spPr>
          <a:xfrm>
            <a:off x="2520439" y="1503909"/>
            <a:ext cx="1927266" cy="117280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75D4CAAD-A8A0-45A5-8F61-F90AB5B94994}"/>
              </a:ext>
            </a:extLst>
          </p:cNvPr>
          <p:cNvSpPr/>
          <p:nvPr/>
        </p:nvSpPr>
        <p:spPr>
          <a:xfrm>
            <a:off x="2804165" y="213054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下三角</a:t>
            </a:r>
            <a:endParaRPr lang="en-US" altLang="zh-CN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8958D9A-A20C-4591-92FE-F43832F8BB29}"/>
              </a:ext>
            </a:extLst>
          </p:cNvPr>
          <p:cNvSpPr/>
          <p:nvPr/>
        </p:nvSpPr>
        <p:spPr>
          <a:xfrm>
            <a:off x="3460755" y="1511249"/>
            <a:ext cx="4411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D1916AEE-0381-410F-A095-B1E8E6A8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862" y="1895946"/>
            <a:ext cx="381000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D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BE75DA-2FFC-425E-B222-DBA602B90FBA}"/>
              </a:ext>
            </a:extLst>
          </p:cNvPr>
          <p:cNvSpPr txBox="1"/>
          <p:nvPr/>
        </p:nvSpPr>
        <p:spPr>
          <a:xfrm>
            <a:off x="1976677" y="774788"/>
            <a:ext cx="462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零元素可缩短运算和程序运行时间</a:t>
            </a:r>
          </a:p>
        </p:txBody>
      </p:sp>
    </p:spTree>
    <p:extLst>
      <p:ext uri="{BB962C8B-B14F-4D97-AF65-F5344CB8AC3E}">
        <p14:creationId xmlns:p14="http://schemas.microsoft.com/office/powerpoint/2010/main" val="123616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9" grpId="0"/>
      <p:bldP spid="29" grpId="0" animBg="1"/>
      <p:bldP spid="30" grpId="0" animBg="1"/>
      <p:bldP spid="31" grpId="0" animBg="1"/>
      <p:bldP spid="32" grpId="0"/>
      <p:bldP spid="34" grpId="0" animBg="1"/>
      <p:bldP spid="35" grpId="0" animBg="1"/>
      <p:bldP spid="36" grpId="0" animBg="1"/>
      <p:bldP spid="39" grpId="0"/>
      <p:bldP spid="40" grpId="0"/>
      <p:bldP spid="4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矩阵分析与计算学习记录-矩阵的基础知识（前置内容）-CSDN博客">
            <a:extLst>
              <a:ext uri="{FF2B5EF4-FFF2-40B4-BE49-F238E27FC236}">
                <a16:creationId xmlns:a16="http://schemas.microsoft.com/office/drawing/2014/main" id="{007FC360-D7B7-407B-82F9-5FB26770A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9" t="58153" r="53598" b="4326"/>
          <a:stretch/>
        </p:blipFill>
        <p:spPr bwMode="auto">
          <a:xfrm>
            <a:off x="5000221" y="678257"/>
            <a:ext cx="4002833" cy="189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075F4-685F-4C1E-8AC1-586599C4A2F2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404192" y="3936983"/>
            <a:ext cx="6976120" cy="103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  <a:ea typeface="+mn-ea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5pPr>
            <a:lvl6pPr marL="2463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6pPr>
            <a:lvl7pPr marL="2921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7pPr>
            <a:lvl8pPr marL="3378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8pPr>
            <a:lvl9pPr marL="3835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triu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抽取上三角函数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抽取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上三角矩阵，用法同上</a:t>
            </a:r>
          </a:p>
          <a:p>
            <a:pPr marL="0" marR="0" lvl="0" indent="365125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380C60-718D-4212-B6AC-934E86B77BC9}"/>
              </a:ext>
            </a:extLst>
          </p:cNvPr>
          <p:cNvSpPr/>
          <p:nvPr/>
        </p:nvSpPr>
        <p:spPr>
          <a:xfrm>
            <a:off x="421668" y="801872"/>
            <a:ext cx="400283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(1)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tril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抽取矩阵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下三角矩阵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</a:p>
        </p:txBody>
      </p:sp>
      <p:sp>
        <p:nvSpPr>
          <p:cNvPr id="7" name="AutoShape 3" descr="C:\Documents and Settings\Administrator\Application Data\Tencent\Users\910987637\QQ\WinTemp\RichOle\WKWMW)VTJC~ND8@}V7ZUI.jpg">
            <a:extLst>
              <a:ext uri="{FF2B5EF4-FFF2-40B4-BE49-F238E27FC236}">
                <a16:creationId xmlns:a16="http://schemas.microsoft.com/office/drawing/2014/main" id="{9AAEDBF5-265B-4510-A172-E1C821266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528" y="483518"/>
            <a:ext cx="304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FF7F46-89E1-4ACA-BD6E-A9ED187461A1}"/>
              </a:ext>
            </a:extLst>
          </p:cNvPr>
          <p:cNvSpPr/>
          <p:nvPr/>
        </p:nvSpPr>
        <p:spPr>
          <a:xfrm>
            <a:off x="684880" y="1424948"/>
            <a:ext cx="1842449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L=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tril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A,k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AFBAFC-5D1B-47D2-88ED-84799AEC9158}"/>
              </a:ext>
            </a:extLst>
          </p:cNvPr>
          <p:cNvSpPr/>
          <p:nvPr/>
        </p:nvSpPr>
        <p:spPr>
          <a:xfrm>
            <a:off x="670863" y="3028123"/>
            <a:ext cx="846906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抽取</a:t>
            </a:r>
          </a:p>
        </p:txBody>
      </p:sp>
      <p:sp>
        <p:nvSpPr>
          <p:cNvPr id="10" name="双大括号 9">
            <a:extLst>
              <a:ext uri="{FF2B5EF4-FFF2-40B4-BE49-F238E27FC236}">
                <a16:creationId xmlns:a16="http://schemas.microsoft.com/office/drawing/2014/main" id="{254F2F6C-3D9A-4A93-9FC2-A17F87C45FA8}"/>
              </a:ext>
            </a:extLst>
          </p:cNvPr>
          <p:cNvSpPr/>
          <p:nvPr/>
        </p:nvSpPr>
        <p:spPr bwMode="auto">
          <a:xfrm>
            <a:off x="1805347" y="2834212"/>
            <a:ext cx="5574965" cy="1148327"/>
          </a:xfrm>
          <a:prstGeom prst="bracePair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C6040D-EF0E-4D29-BC99-69C6DF50D2AB}"/>
              </a:ext>
            </a:extLst>
          </p:cNvPr>
          <p:cNvSpPr/>
          <p:nvPr/>
        </p:nvSpPr>
        <p:spPr>
          <a:xfrm>
            <a:off x="1583594" y="2571750"/>
            <a:ext cx="6336704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365125" algn="l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k=0: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主对角线，主对角线下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三角矩阵，缺省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365125" algn="l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k&gt;0: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主对角线上方第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条对角线的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下三角矩阵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365125" algn="l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k&lt;0: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主对角线下方第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条对角线的下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三角矩阵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FB2860-B475-43D7-A467-379CD1265AFA}"/>
              </a:ext>
            </a:extLst>
          </p:cNvPr>
          <p:cNvSpPr/>
          <p:nvPr/>
        </p:nvSpPr>
        <p:spPr>
          <a:xfrm rot="2148749">
            <a:off x="6382760" y="1555413"/>
            <a:ext cx="1942081" cy="33855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主对角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D,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k=0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FF00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D3EF8B-0F6E-410E-B305-7B165E6930E6}"/>
              </a:ext>
            </a:extLst>
          </p:cNvPr>
          <p:cNvSpPr/>
          <p:nvPr/>
        </p:nvSpPr>
        <p:spPr>
          <a:xfrm>
            <a:off x="5623833" y="1848913"/>
            <a:ext cx="1296144" cy="33855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下三角阵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FF00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3D3E17-597D-4443-8444-1FBD0F51486B}"/>
              </a:ext>
            </a:extLst>
          </p:cNvPr>
          <p:cNvSpPr/>
          <p:nvPr/>
        </p:nvSpPr>
        <p:spPr>
          <a:xfrm>
            <a:off x="7689439" y="712532"/>
            <a:ext cx="1332785" cy="33855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上三角阵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FF00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EC013E-4C64-4EB2-BE62-BB501E5EC328}"/>
              </a:ext>
            </a:extLst>
          </p:cNvPr>
          <p:cNvSpPr/>
          <p:nvPr/>
        </p:nvSpPr>
        <p:spPr>
          <a:xfrm rot="2096412">
            <a:off x="7075501" y="1235460"/>
            <a:ext cx="1560916" cy="33855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3399FF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k&gt;0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3399FF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上方对角线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804358-FC34-43B6-8585-76E1ECDCA196}"/>
              </a:ext>
            </a:extLst>
          </p:cNvPr>
          <p:cNvSpPr/>
          <p:nvPr/>
        </p:nvSpPr>
        <p:spPr>
          <a:xfrm rot="2094152">
            <a:off x="5864575" y="1677976"/>
            <a:ext cx="1796472" cy="33855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3399FF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k&lt;0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3399FF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下方对角线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621171-34B4-4B00-884C-F9D4CCBF5348}"/>
              </a:ext>
            </a:extLst>
          </p:cNvPr>
          <p:cNvSpPr txBox="1"/>
          <p:nvPr/>
        </p:nvSpPr>
        <p:spPr>
          <a:xfrm>
            <a:off x="556087" y="2144346"/>
            <a:ext cx="4781230" cy="4273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3200" kern="0">
                <a:solidFill>
                  <a:srgbClr val="002E5C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2E5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E5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代表对角线顺序，第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2E5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k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E5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个对角线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37030F-B36A-4D43-873F-6D999ED7A23B}"/>
              </a:ext>
            </a:extLst>
          </p:cNvPr>
          <p:cNvSpPr txBox="1"/>
          <p:nvPr/>
        </p:nvSpPr>
        <p:spPr>
          <a:xfrm>
            <a:off x="1242442" y="28785"/>
            <a:ext cx="721799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抽取上三角、下三角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6ABACF-E00C-46EA-8DF6-3C3B62F3C4A2}"/>
              </a:ext>
            </a:extLst>
          </p:cNvPr>
          <p:cNvSpPr/>
          <p:nvPr/>
        </p:nvSpPr>
        <p:spPr>
          <a:xfrm>
            <a:off x="6675111" y="4124273"/>
            <a:ext cx="1842449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L=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triu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A,k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7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/>
      <p:bldP spid="10" grpId="0" animBg="1"/>
      <p:bldP spid="11" grpId="0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44A0121-F4AA-48DB-9348-887F2A89E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389" y="1203598"/>
            <a:ext cx="3170977" cy="127650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5125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k=0</a:t>
            </a:r>
            <a:r>
              <a:rPr lang="zh-CN" altLang="en-US" sz="2000" dirty="0">
                <a:solidFill>
                  <a:srgbClr val="002060"/>
                </a:solidFill>
              </a:rPr>
              <a:t>时，主</a:t>
            </a:r>
            <a:r>
              <a:rPr lang="en-US" altLang="zh-CN" sz="2000" dirty="0">
                <a:solidFill>
                  <a:srgbClr val="002060"/>
                </a:solidFill>
              </a:rPr>
              <a:t>(k</a:t>
            </a:r>
            <a:r>
              <a:rPr lang="zh-CN" altLang="en-US" sz="2000" dirty="0">
                <a:solidFill>
                  <a:srgbClr val="002060"/>
                </a:solidFill>
              </a:rPr>
              <a:t>可省略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</a:p>
          <a:p>
            <a:pPr indent="365125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k&gt;0</a:t>
            </a:r>
            <a:r>
              <a:rPr lang="zh-CN" altLang="en-US" sz="2000" dirty="0">
                <a:solidFill>
                  <a:srgbClr val="002060"/>
                </a:solidFill>
              </a:rPr>
              <a:t>时，上方第</a:t>
            </a:r>
            <a:r>
              <a:rPr lang="en-US" altLang="zh-CN" sz="2000" dirty="0">
                <a:solidFill>
                  <a:srgbClr val="002060"/>
                </a:solidFill>
              </a:rPr>
              <a:t>k</a:t>
            </a:r>
            <a:r>
              <a:rPr lang="zh-CN" altLang="en-US" sz="2000" dirty="0">
                <a:solidFill>
                  <a:srgbClr val="002060"/>
                </a:solidFill>
              </a:rPr>
              <a:t>条 </a:t>
            </a:r>
            <a:r>
              <a:rPr lang="en-US" altLang="zh-CN" sz="2000" dirty="0">
                <a:solidFill>
                  <a:srgbClr val="002060"/>
                </a:solidFill>
              </a:rPr>
              <a:t> </a:t>
            </a:r>
          </a:p>
          <a:p>
            <a:pPr indent="365125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k&lt;0</a:t>
            </a:r>
            <a:r>
              <a:rPr lang="zh-CN" altLang="en-US" sz="2000" dirty="0">
                <a:solidFill>
                  <a:srgbClr val="002060"/>
                </a:solidFill>
              </a:rPr>
              <a:t>时，下方第</a:t>
            </a:r>
            <a:r>
              <a:rPr lang="en-US" altLang="zh-CN" sz="2000" dirty="0">
                <a:solidFill>
                  <a:srgbClr val="002060"/>
                </a:solidFill>
              </a:rPr>
              <a:t>k</a:t>
            </a:r>
            <a:r>
              <a:rPr lang="zh-CN" altLang="en-US" sz="2000" dirty="0">
                <a:solidFill>
                  <a:srgbClr val="002060"/>
                </a:solidFill>
              </a:rPr>
              <a:t>条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1AD4B7-5108-42CA-91E3-BE31C4DA628F}"/>
              </a:ext>
            </a:extLst>
          </p:cNvPr>
          <p:cNvSpPr/>
          <p:nvPr/>
        </p:nvSpPr>
        <p:spPr>
          <a:xfrm>
            <a:off x="364141" y="741730"/>
            <a:ext cx="66681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dist">
              <a:buFont typeface="Wingdings" panose="05000000000000000000" pitchFamily="2" charset="2"/>
              <a:buChar char="Ø"/>
            </a:pPr>
            <a:r>
              <a:rPr lang="en-US" altLang="zh-CN" sz="2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diag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抽矩阵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条对角线来创建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双大括号 7">
            <a:extLst>
              <a:ext uri="{FF2B5EF4-FFF2-40B4-BE49-F238E27FC236}">
                <a16:creationId xmlns:a16="http://schemas.microsoft.com/office/drawing/2014/main" id="{D3CB697B-CB8C-4B4E-B1D7-9520BFFA3FDB}"/>
              </a:ext>
            </a:extLst>
          </p:cNvPr>
          <p:cNvSpPr/>
          <p:nvPr/>
        </p:nvSpPr>
        <p:spPr bwMode="auto">
          <a:xfrm>
            <a:off x="1622502" y="1210302"/>
            <a:ext cx="2873698" cy="1285731"/>
          </a:xfrm>
          <a:prstGeom prst="bracePair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32D168-359A-43B2-A15A-CE6717B435DD}"/>
              </a:ext>
            </a:extLst>
          </p:cNvPr>
          <p:cNvSpPr/>
          <p:nvPr/>
        </p:nvSpPr>
        <p:spPr>
          <a:xfrm>
            <a:off x="7164289" y="752262"/>
            <a:ext cx="136815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v=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diag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,k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)</a:t>
            </a:r>
            <a:endParaRPr lang="zh-CN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FD0932-801F-47A7-A624-21D12DDD965C}"/>
              </a:ext>
            </a:extLst>
          </p:cNvPr>
          <p:cNvSpPr/>
          <p:nvPr/>
        </p:nvSpPr>
        <p:spPr>
          <a:xfrm>
            <a:off x="698663" y="1547064"/>
            <a:ext cx="1106168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4E33D2-785D-4A2D-8CBC-A5F28C12ACC9}"/>
              </a:ext>
            </a:extLst>
          </p:cNvPr>
          <p:cNvSpPr/>
          <p:nvPr/>
        </p:nvSpPr>
        <p:spPr>
          <a:xfrm>
            <a:off x="4556373" y="1547063"/>
            <a:ext cx="1727425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对角线元素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7D5861-2532-4676-B208-56B3A6C5BDB9}"/>
              </a:ext>
            </a:extLst>
          </p:cNvPr>
          <p:cNvSpPr txBox="1"/>
          <p:nvPr/>
        </p:nvSpPr>
        <p:spPr>
          <a:xfrm>
            <a:off x="1558689" y="87230"/>
            <a:ext cx="6316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抽取对角线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diag</a:t>
            </a:r>
            <a:endParaRPr lang="zh-CN" altLang="en-US" sz="2800" b="1" dirty="0"/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D2F4AD46-3E06-48B0-8BA9-597B90A24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26" y="3140224"/>
            <a:ext cx="7776863" cy="141756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5125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                   k=0</a:t>
            </a:r>
            <a:r>
              <a:rPr lang="zh-CN" altLang="en-US" sz="2000" dirty="0">
                <a:solidFill>
                  <a:srgbClr val="002060"/>
                </a:solidFill>
              </a:rPr>
              <a:t>时，主</a:t>
            </a:r>
            <a:r>
              <a:rPr lang="en-US" altLang="zh-CN" sz="2000" dirty="0">
                <a:solidFill>
                  <a:srgbClr val="002060"/>
                </a:solidFill>
              </a:rPr>
              <a:t>(k</a:t>
            </a:r>
            <a:r>
              <a:rPr lang="zh-CN" altLang="en-US" sz="2000" dirty="0">
                <a:solidFill>
                  <a:srgbClr val="002060"/>
                </a:solidFill>
              </a:rPr>
              <a:t>可省略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</a:p>
          <a:p>
            <a:pPr indent="365125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                   k&gt;0</a:t>
            </a:r>
            <a:r>
              <a:rPr lang="zh-CN" altLang="en-US" sz="2000" dirty="0">
                <a:solidFill>
                  <a:srgbClr val="002060"/>
                </a:solidFill>
              </a:rPr>
              <a:t>时，上方第</a:t>
            </a:r>
            <a:r>
              <a:rPr lang="en-US" altLang="zh-CN" sz="2000" dirty="0">
                <a:solidFill>
                  <a:srgbClr val="002060"/>
                </a:solidFill>
              </a:rPr>
              <a:t>k</a:t>
            </a:r>
            <a:r>
              <a:rPr lang="zh-CN" altLang="en-US" sz="2000" dirty="0">
                <a:solidFill>
                  <a:srgbClr val="002060"/>
                </a:solidFill>
              </a:rPr>
              <a:t>条 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indent="365125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                   k&lt;0</a:t>
            </a:r>
            <a:r>
              <a:rPr lang="zh-CN" altLang="en-US" sz="2000" dirty="0">
                <a:solidFill>
                  <a:srgbClr val="002060"/>
                </a:solidFill>
              </a:rPr>
              <a:t>时，下方第</a:t>
            </a:r>
            <a:r>
              <a:rPr lang="en-US" altLang="zh-CN" sz="2000" dirty="0">
                <a:solidFill>
                  <a:srgbClr val="002060"/>
                </a:solidFill>
              </a:rPr>
              <a:t>k</a:t>
            </a:r>
            <a:r>
              <a:rPr lang="zh-CN" altLang="en-US" sz="2000" dirty="0">
                <a:solidFill>
                  <a:srgbClr val="002060"/>
                </a:solidFill>
              </a:rPr>
              <a:t>条 </a:t>
            </a:r>
          </a:p>
        </p:txBody>
      </p:sp>
      <p:sp>
        <p:nvSpPr>
          <p:cNvPr id="16" name="双大括号 15">
            <a:extLst>
              <a:ext uri="{FF2B5EF4-FFF2-40B4-BE49-F238E27FC236}">
                <a16:creationId xmlns:a16="http://schemas.microsoft.com/office/drawing/2014/main" id="{9EA86994-1E23-4E34-B784-B3D64307BBAA}"/>
              </a:ext>
            </a:extLst>
          </p:cNvPr>
          <p:cNvSpPr/>
          <p:nvPr/>
        </p:nvSpPr>
        <p:spPr bwMode="auto">
          <a:xfrm>
            <a:off x="1843312" y="3287445"/>
            <a:ext cx="2580773" cy="1288176"/>
          </a:xfrm>
          <a:prstGeom prst="bracePair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7DD269-762B-478B-8072-B7698CD2B6C5}"/>
              </a:ext>
            </a:extLst>
          </p:cNvPr>
          <p:cNvSpPr/>
          <p:nvPr/>
        </p:nvSpPr>
        <p:spPr>
          <a:xfrm>
            <a:off x="594300" y="3713959"/>
            <a:ext cx="1313142" cy="40011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为矩阵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53A285-4D82-4B72-AC3E-F1BDAE0FD7C7}"/>
              </a:ext>
            </a:extLst>
          </p:cNvPr>
          <p:cNvSpPr/>
          <p:nvPr/>
        </p:nvSpPr>
        <p:spPr>
          <a:xfrm>
            <a:off x="4505162" y="369110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对角线</a:t>
            </a:r>
            <a:endParaRPr lang="zh-CN" altLang="en-US" sz="2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231B09-C6BA-4C14-95BE-188E26B91D1C}"/>
              </a:ext>
            </a:extLst>
          </p:cNvPr>
          <p:cNvSpPr/>
          <p:nvPr/>
        </p:nvSpPr>
        <p:spPr>
          <a:xfrm>
            <a:off x="960644" y="176115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endParaRPr lang="zh-CN" altLang="en-US" sz="2000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3050EEF0-31EA-4018-8FF9-1AE31BE04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4"/>
          <a:stretch/>
        </p:blipFill>
        <p:spPr bwMode="auto">
          <a:xfrm>
            <a:off x="6516491" y="1202057"/>
            <a:ext cx="2580773" cy="156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8CDC990-755B-4D0E-8CA6-D7E9A04AD6D7}"/>
              </a:ext>
            </a:extLst>
          </p:cNvPr>
          <p:cNvSpPr txBox="1"/>
          <p:nvPr/>
        </p:nvSpPr>
        <p:spPr>
          <a:xfrm>
            <a:off x="4712754" y="3300056"/>
            <a:ext cx="3094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整数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k =&gt;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向量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v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的形式传入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A61A73-8949-4C4A-BAA5-57317A266CD3}"/>
              </a:ext>
            </a:extLst>
          </p:cNvPr>
          <p:cNvSpPr/>
          <p:nvPr/>
        </p:nvSpPr>
        <p:spPr>
          <a:xfrm>
            <a:off x="5802082" y="3828107"/>
            <a:ext cx="241393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D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=</a:t>
            </a:r>
            <a:r>
              <a:rPr lang="en-US" altLang="zh-CN" sz="1600" dirty="0" err="1">
                <a:solidFill>
                  <a:schemeClr val="bg1"/>
                </a:solidFill>
                <a:latin typeface="+mn-ea"/>
              </a:rPr>
              <a:t>diagm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整数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k=&gt;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向量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v) </a:t>
            </a:r>
            <a:endParaRPr lang="zh-CN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BF22DB11-DF2A-40EC-9E30-42C8BAEDF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26" y="2731260"/>
            <a:ext cx="6668138" cy="39703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diagm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将向量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作矩阵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条对角线创建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BC0B6A87-71CA-477E-A613-0998BB5A7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897" y="4164761"/>
            <a:ext cx="703513" cy="490349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23" name="矩形 1">
            <a:extLst>
              <a:ext uri="{FF2B5EF4-FFF2-40B4-BE49-F238E27FC236}">
                <a16:creationId xmlns:a16="http://schemas.microsoft.com/office/drawing/2014/main" id="{D217FDEA-952B-4250-8566-22C29B877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686" y="1089702"/>
            <a:ext cx="12317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A=L+U+D</a:t>
            </a:r>
            <a:endParaRPr lang="zh-CN" altLang="en-US" sz="20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451205-CEDF-4229-8988-08D9D2E7BABF}"/>
              </a:ext>
            </a:extLst>
          </p:cNvPr>
          <p:cNvSpPr txBox="1"/>
          <p:nvPr/>
        </p:nvSpPr>
        <p:spPr>
          <a:xfrm>
            <a:off x="4855653" y="4242104"/>
            <a:ext cx="4623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diag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即可创建向量也可创建矩阵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F08F28E-EF01-4F48-854A-94E84ECDB8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5" r="-1261" b="8645"/>
          <a:stretch/>
        </p:blipFill>
        <p:spPr bwMode="auto">
          <a:xfrm>
            <a:off x="7439858" y="2741126"/>
            <a:ext cx="1498837" cy="948331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944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1" grpId="0"/>
      <p:bldP spid="16" grpId="0" animBg="1"/>
      <p:bldP spid="17" grpId="0"/>
      <p:bldP spid="18" grpId="0"/>
      <p:bldP spid="20" grpId="0"/>
      <p:bldP spid="14" grpId="0" animBg="1"/>
      <p:bldP spid="13" grpId="0" animBg="1"/>
      <p:bldP spid="22" grpId="0" animBg="1"/>
      <p:bldP spid="2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E38E34-7751-43AE-9B27-86F9C09C4779}"/>
              </a:ext>
            </a:extLst>
          </p:cNvPr>
          <p:cNvSpPr/>
          <p:nvPr/>
        </p:nvSpPr>
        <p:spPr>
          <a:xfrm>
            <a:off x="803702" y="599512"/>
            <a:ext cx="259228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m=magic(4)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4×4 Matrix{Int64}: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16   2   3  13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5  11  10   8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9   7   6  12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4  14  15   1</a:t>
            </a:r>
            <a:endParaRPr lang="pt-BR" altLang="zh-CN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239CF0-EC41-4E2F-9380-C9FE859E3C4D}"/>
              </a:ext>
            </a:extLst>
          </p:cNvPr>
          <p:cNvSpPr/>
          <p:nvPr/>
        </p:nvSpPr>
        <p:spPr>
          <a:xfrm>
            <a:off x="370826" y="241256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主对角线上第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行下三角</a:t>
            </a:r>
            <a:endParaRPr lang="pt-BR" altLang="zh-CN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fr-FR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ml2=tril(m,-2)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4×4 Matrix{Int64}: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0   0  0  0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0   0  0  0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9   0  0  0</a:t>
            </a:r>
          </a:p>
          <a:p>
            <a:r>
              <a:rPr lang="fr-FR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4  14  0  0</a:t>
            </a:r>
            <a:endParaRPr lang="pt-BR" altLang="zh-CN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845412-6370-4B39-9F4C-CB53D2CFDB29}"/>
              </a:ext>
            </a:extLst>
          </p:cNvPr>
          <p:cNvSpPr/>
          <p:nvPr/>
        </p:nvSpPr>
        <p:spPr>
          <a:xfrm>
            <a:off x="3531666" y="620472"/>
            <a:ext cx="446449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抽取主对角线上第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行三角</a:t>
            </a:r>
            <a:endParaRPr lang="pt-BR" altLang="zh-CN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de-DE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mu2=triu(m,2)</a:t>
            </a:r>
          </a:p>
          <a:p>
            <a:r>
              <a:rPr lang="de-DE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4×4 Matrix{Int64}:</a:t>
            </a:r>
          </a:p>
          <a:p>
            <a:r>
              <a:rPr lang="de-DE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0  0  0  13</a:t>
            </a:r>
          </a:p>
          <a:p>
            <a:r>
              <a:rPr lang="de-DE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0  0  0   0</a:t>
            </a:r>
          </a:p>
          <a:p>
            <a:r>
              <a:rPr lang="de-DE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0  0  0   0</a:t>
            </a:r>
          </a:p>
          <a:p>
            <a:r>
              <a:rPr lang="de-DE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0  0  0   0</a:t>
            </a:r>
            <a:endParaRPr lang="zh-CN" altLang="en-US" sz="22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482BE276-062C-4E57-A580-F5AB96B7921C}"/>
              </a:ext>
            </a:extLst>
          </p:cNvPr>
          <p:cNvSpPr/>
          <p:nvPr/>
        </p:nvSpPr>
        <p:spPr>
          <a:xfrm>
            <a:off x="0" y="599512"/>
            <a:ext cx="888806" cy="34859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例63-1</a:t>
            </a:r>
            <a:endParaRPr lang="ko-KR" altLang="en-US" sz="2200" b="1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E2A9C7-9CEB-451E-838E-877C1E251047}"/>
              </a:ext>
            </a:extLst>
          </p:cNvPr>
          <p:cNvSpPr txBox="1"/>
          <p:nvPr/>
        </p:nvSpPr>
        <p:spPr>
          <a:xfrm>
            <a:off x="2051720" y="76292"/>
            <a:ext cx="5472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抽取示例</a:t>
            </a:r>
            <a:endParaRPr lang="zh-CN" altLang="en-US" sz="28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6B663F-CB9B-4E7E-9320-06A0428C8648}"/>
              </a:ext>
            </a:extLst>
          </p:cNvPr>
          <p:cNvSpPr txBox="1"/>
          <p:nvPr/>
        </p:nvSpPr>
        <p:spPr>
          <a:xfrm>
            <a:off x="6038850" y="1074225"/>
            <a:ext cx="32136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抽取主对角线上第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行对角线</a:t>
            </a:r>
            <a:endParaRPr lang="pt-BR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/>
              <a:t>mv</a:t>
            </a:r>
            <a:r>
              <a:rPr lang="zh-CN" altLang="en-US" dirty="0"/>
              <a:t>=diag(m,2)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2-element Vector{Int64}: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3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8</a:t>
            </a:r>
          </a:p>
          <a:p>
            <a:r>
              <a:rPr lang="en-US" altLang="zh-CN" dirty="0" err="1"/>
              <a:t>mdm</a:t>
            </a:r>
            <a:r>
              <a:rPr lang="zh-CN" altLang="en-US" dirty="0"/>
              <a:t>=diagm(2=&gt;</a:t>
            </a:r>
            <a:r>
              <a:rPr lang="en-US" altLang="zh-CN" dirty="0"/>
              <a:t>mv</a:t>
            </a:r>
            <a:r>
              <a:rPr lang="zh-CN" altLang="en-US" dirty="0"/>
              <a:t>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4×4 Matrix{Int64}: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0  0  3  0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0  0  0  8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0  0  0  0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0  0  0  0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058096-D75F-435C-8710-CE738EC5A8BD}"/>
              </a:ext>
            </a:extLst>
          </p:cNvPr>
          <p:cNvSpPr txBox="1"/>
          <p:nvPr/>
        </p:nvSpPr>
        <p:spPr>
          <a:xfrm>
            <a:off x="2483768" y="3270422"/>
            <a:ext cx="36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varinfo()显示变量信息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包括大小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CD0DB3-C4F7-4207-9FCF-7E88E316765B}"/>
              </a:ext>
            </a:extLst>
          </p:cNvPr>
          <p:cNvSpPr txBox="1"/>
          <p:nvPr/>
        </p:nvSpPr>
        <p:spPr>
          <a:xfrm>
            <a:off x="2483768" y="3639754"/>
            <a:ext cx="38164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 </a:t>
            </a:r>
            <a:r>
              <a:rPr lang="zh-CN" altLang="en-US" b="1" dirty="0">
                <a:solidFill>
                  <a:srgbClr val="FF0000"/>
                </a:solidFill>
              </a:rPr>
              <a:t>168 bytes </a:t>
            </a:r>
            <a:r>
              <a:rPr lang="zh-CN" altLang="en-US" dirty="0"/>
              <a:t>4×4 Matrix{Int64}                   </a:t>
            </a:r>
          </a:p>
          <a:p>
            <a:r>
              <a:rPr lang="en-US" altLang="zh-CN" dirty="0"/>
              <a:t>ml2 </a:t>
            </a:r>
            <a:r>
              <a:rPr lang="zh-CN" altLang="en-US" b="1" dirty="0">
                <a:solidFill>
                  <a:srgbClr val="FF0000"/>
                </a:solidFill>
              </a:rPr>
              <a:t>168 bytes </a:t>
            </a:r>
            <a:r>
              <a:rPr lang="zh-CN" altLang="en-US" dirty="0"/>
              <a:t>4×4 Matrix{Int64}                   </a:t>
            </a:r>
          </a:p>
          <a:p>
            <a:r>
              <a:rPr lang="en-US" altLang="zh-CN" dirty="0"/>
              <a:t>mu2 </a:t>
            </a:r>
            <a:r>
              <a:rPr lang="zh-CN" altLang="en-US" b="1" dirty="0">
                <a:solidFill>
                  <a:srgbClr val="FF0000"/>
                </a:solidFill>
              </a:rPr>
              <a:t>168 bytes </a:t>
            </a:r>
            <a:r>
              <a:rPr lang="zh-CN" altLang="en-US" dirty="0"/>
              <a:t>4×4 Matrix{Int64}</a:t>
            </a:r>
          </a:p>
        </p:txBody>
      </p:sp>
    </p:spTree>
    <p:extLst>
      <p:ext uri="{BB962C8B-B14F-4D97-AF65-F5344CB8AC3E}">
        <p14:creationId xmlns:p14="http://schemas.microsoft.com/office/powerpoint/2010/main" val="33304917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19EA570-C93E-44B5-A4B0-0285F4A43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5656" y="127878"/>
            <a:ext cx="619268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</a:t>
            </a:r>
            <a:r>
              <a:rPr lang="en-US" altLang="zh-CN" sz="2800" b="1" dirty="0"/>
              <a:t>sparse matrix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特点</a:t>
            </a:r>
            <a:endParaRPr lang="zh-CN" altLang="en-US" sz="28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35D52F-C711-4B00-AA0E-9371DC2E021B}"/>
              </a:ext>
            </a:extLst>
          </p:cNvPr>
          <p:cNvSpPr/>
          <p:nvPr/>
        </p:nvSpPr>
        <p:spPr>
          <a:xfrm>
            <a:off x="467544" y="2859782"/>
            <a:ext cx="84249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使用稀疏矩阵可极大地减少存储数据所需的内存量，节省大量内存，加快该数据的处理速度：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计算速度更快，效率高。稀疏矩阵的运算不会执行不必要的低级算术操作，例如加零（x+0始终为x）。不必对零元素执行运算，从而减少计算时间。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6BE0B6-8A8A-4B61-9642-5D9CAAD069D4}"/>
              </a:ext>
            </a:extLst>
          </p:cNvPr>
          <p:cNvSpPr/>
          <p:nvPr/>
        </p:nvSpPr>
        <p:spPr>
          <a:xfrm>
            <a:off x="2504766" y="765976"/>
            <a:ext cx="63157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2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含有高密度零元素的大型矩阵为稀疏矩阵</a:t>
            </a:r>
            <a:endParaRPr lang="zh-CN" altLang="en-US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34709E-7DB0-4332-8039-EAF0569A895C}"/>
              </a:ext>
            </a:extLst>
          </p:cNvPr>
          <p:cNvSpPr/>
          <p:nvPr/>
        </p:nvSpPr>
        <p:spPr>
          <a:xfrm>
            <a:off x="490769" y="1257659"/>
            <a:ext cx="8529075" cy="1193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2880"/>
              </a:lnSpc>
              <a:buFont typeface="+mj-ea"/>
              <a:buAutoNum type="circleNumDbPlain" startAt="2"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稀疏矩阵应用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ts val="2880"/>
              </a:lnSpc>
            </a:pP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高密度零元素的矩阵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几乎产生于所有</a:t>
            </a:r>
            <a:r>
              <a:rPr lang="zh-CN" altLang="en-US" sz="2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大型科学工程计算领域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endParaRPr lang="en-US" altLang="zh-CN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80"/>
              </a:lnSpc>
            </a:pP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如计算流体力学、统计物理、图像处理、纳米材料计算等。</a:t>
            </a:r>
            <a:endParaRPr lang="en-US" altLang="zh-CN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499692-9A91-4EBE-BEF8-9106BED8F6FD}"/>
              </a:ext>
            </a:extLst>
          </p:cNvPr>
          <p:cNvSpPr/>
          <p:nvPr/>
        </p:nvSpPr>
        <p:spPr>
          <a:xfrm>
            <a:off x="490769" y="699542"/>
            <a:ext cx="3024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pt-PT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r>
              <a:rPr lang="zh-CN" altLang="en-US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B2DBA6-8682-40D2-8096-5E0724C74F32}"/>
              </a:ext>
            </a:extLst>
          </p:cNvPr>
          <p:cNvSpPr/>
          <p:nvPr/>
        </p:nvSpPr>
        <p:spPr>
          <a:xfrm>
            <a:off x="462633" y="2512115"/>
            <a:ext cx="30447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pt-PT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54128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3">
            <a:extLst>
              <a:ext uri="{FF2B5EF4-FFF2-40B4-BE49-F238E27FC236}">
                <a16:creationId xmlns:a16="http://schemas.microsoft.com/office/drawing/2014/main" id="{388ABEFF-2000-45EC-A78A-17B79BA96A54}"/>
              </a:ext>
            </a:extLst>
          </p:cNvPr>
          <p:cNvSpPr>
            <a:spLocks noChangeArrowheads="1"/>
          </p:cNvSpPr>
          <p:nvPr/>
        </p:nvSpPr>
        <p:spPr bwMode="auto">
          <a:xfrm rot="249974">
            <a:off x="3915147" y="3464248"/>
            <a:ext cx="943265" cy="81747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Times New Roman" pitchFamily="18" charset="0"/>
              </a:rPr>
              <a:t> 注意</a:t>
            </a:r>
            <a:endParaRPr lang="zh-CN" altLang="en-US" sz="2000" dirty="0">
              <a:solidFill>
                <a:srgbClr val="FFFF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E6D1B6-418B-455A-8463-4DBC4EF7244F}"/>
              </a:ext>
            </a:extLst>
          </p:cNvPr>
          <p:cNvSpPr/>
          <p:nvPr/>
        </p:nvSpPr>
        <p:spPr>
          <a:xfrm>
            <a:off x="445285" y="1177087"/>
            <a:ext cx="251950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</a:rPr>
              <a:t>m=magic(4)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m =16     2     3    13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     5    11    10     8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     9     7     6     12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     4    14    15     1</a:t>
            </a:r>
          </a:p>
          <a:p>
            <a:r>
              <a:rPr lang="en-US" altLang="zh-CN" sz="1600" dirty="0">
                <a:solidFill>
                  <a:srgbClr val="002060"/>
                </a:solidFill>
              </a:rPr>
              <a:t>ml=</a:t>
            </a:r>
            <a:r>
              <a:rPr lang="en-US" altLang="zh-CN" sz="1600" dirty="0" err="1">
                <a:solidFill>
                  <a:srgbClr val="002060"/>
                </a:solidFill>
              </a:rPr>
              <a:t>tril</a:t>
            </a:r>
            <a:r>
              <a:rPr lang="en-US" altLang="zh-CN" sz="1600" dirty="0">
                <a:solidFill>
                  <a:srgbClr val="002060"/>
                </a:solidFill>
              </a:rPr>
              <a:t>(m,-2)  #</a:t>
            </a:r>
            <a:r>
              <a:rPr lang="zh-CN" altLang="en-US" sz="1600" dirty="0">
                <a:solidFill>
                  <a:srgbClr val="002060"/>
                </a:solidFill>
              </a:rPr>
              <a:t>下三角矩阵</a:t>
            </a:r>
            <a:endParaRPr lang="en-US" altLang="zh-CN" sz="1600" dirty="0">
              <a:solidFill>
                <a:srgbClr val="002060"/>
              </a:solidFill>
            </a:endParaRPr>
          </a:p>
          <a:p>
            <a:r>
              <a:rPr lang="en-US" altLang="zh-CN" sz="1600" dirty="0">
                <a:solidFill>
                  <a:srgbClr val="00B0F0"/>
                </a:solidFill>
              </a:rPr>
              <a:t>ml =0     0     0     0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      0     0     0     0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      0     0     0     0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      4    0     0     0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D1E50-63F1-4411-BA11-75BE6ED251E9}"/>
              </a:ext>
            </a:extLst>
          </p:cNvPr>
          <p:cNvSpPr/>
          <p:nvPr/>
        </p:nvSpPr>
        <p:spPr>
          <a:xfrm>
            <a:off x="3558892" y="1412790"/>
            <a:ext cx="5148541" cy="9931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>
              <a:lnSpc>
                <a:spcPts val="3600"/>
              </a:lnSpc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所有零和非零元素都要存储的矩阵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A1C043-2D7B-4F06-9581-00CCADEE605B}"/>
              </a:ext>
            </a:extLst>
          </p:cNvPr>
          <p:cNvSpPr/>
          <p:nvPr/>
        </p:nvSpPr>
        <p:spPr>
          <a:xfrm>
            <a:off x="4932040" y="3466166"/>
            <a:ext cx="3775393" cy="9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不能自动创建稀疏矩阵 </a:t>
            </a:r>
            <a:endParaRPr lang="en-US" altLang="zh-CN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要用特殊的命令来得到稀疏矩阵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56A4D6-2E8E-41DF-AAFD-A5A2D2BB5BB5}"/>
              </a:ext>
            </a:extLst>
          </p:cNvPr>
          <p:cNvSpPr/>
          <p:nvPr/>
        </p:nvSpPr>
        <p:spPr>
          <a:xfrm>
            <a:off x="3523069" y="2511135"/>
            <a:ext cx="571565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只存储非零元素矩阵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6DE087-BB57-40E4-846A-410DC0870181}"/>
              </a:ext>
            </a:extLst>
          </p:cNvPr>
          <p:cNvSpPr/>
          <p:nvPr/>
        </p:nvSpPr>
        <p:spPr>
          <a:xfrm>
            <a:off x="3558892" y="857410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矩阵两种表示方式：全矩阵和稀疏矩阵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DB6B23-96DC-418A-9A4C-2D7AFA3CA75E}"/>
              </a:ext>
            </a:extLst>
          </p:cNvPr>
          <p:cNvSpPr/>
          <p:nvPr/>
        </p:nvSpPr>
        <p:spPr>
          <a:xfrm>
            <a:off x="1187624" y="736472"/>
            <a:ext cx="259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创建大量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 </a:t>
            </a:r>
          </a:p>
        </p:txBody>
      </p:sp>
      <p:sp>
        <p:nvSpPr>
          <p:cNvPr id="12" name="标题 3">
            <a:extLst>
              <a:ext uri="{FF2B5EF4-FFF2-40B4-BE49-F238E27FC236}">
                <a16:creationId xmlns:a16="http://schemas.microsoft.com/office/drawing/2014/main" id="{CAFAB289-F45D-4D9E-ABDD-837189E1A3A4}"/>
              </a:ext>
            </a:extLst>
          </p:cNvPr>
          <p:cNvSpPr txBox="1">
            <a:spLocks/>
          </p:cNvSpPr>
          <p:nvPr/>
        </p:nvSpPr>
        <p:spPr bwMode="auto">
          <a:xfrm>
            <a:off x="1187624" y="154924"/>
            <a:ext cx="7667625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</a:t>
            </a:r>
            <a:r>
              <a:rPr lang="en-US" altLang="zh-CN" sz="28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sparse matrix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两类矩阵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800" kern="0" dirty="0"/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7F852781-2564-463F-9EE6-2DD7B3D7DD2A}"/>
              </a:ext>
            </a:extLst>
          </p:cNvPr>
          <p:cNvSpPr/>
          <p:nvPr/>
        </p:nvSpPr>
        <p:spPr>
          <a:xfrm>
            <a:off x="372052" y="793732"/>
            <a:ext cx="888806" cy="34859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例63-1</a:t>
            </a:r>
            <a:endParaRPr lang="ko-KR" altLang="en-US" sz="2200" b="1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C0DE56-2EB9-4C04-A8C3-50A973B771B6}"/>
              </a:ext>
            </a:extLst>
          </p:cNvPr>
          <p:cNvSpPr txBox="1"/>
          <p:nvPr/>
        </p:nvSpPr>
        <p:spPr>
          <a:xfrm>
            <a:off x="415808" y="3743575"/>
            <a:ext cx="4676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varinfo</a:t>
            </a:r>
            <a:r>
              <a:rPr lang="en-US" altLang="zh-CN" dirty="0"/>
              <a:t>() #</a:t>
            </a:r>
            <a:r>
              <a:rPr lang="zh-CN" altLang="en-US" dirty="0"/>
              <a:t>显示变量大小</a:t>
            </a:r>
            <a:endParaRPr lang="en-US" altLang="zh-CN" dirty="0"/>
          </a:p>
          <a:p>
            <a:r>
              <a:rPr lang="zh-CN" altLang="en-US" dirty="0">
                <a:solidFill>
                  <a:srgbClr val="00B0F0"/>
                </a:solidFill>
              </a:rPr>
              <a:t>m    168 bytes 4×4 Matrix{Int64}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ml  168 bytes 4×4 Matrix{Int64}</a:t>
            </a:r>
          </a:p>
        </p:txBody>
      </p:sp>
    </p:spTree>
    <p:extLst>
      <p:ext uri="{BB962C8B-B14F-4D97-AF65-F5344CB8AC3E}">
        <p14:creationId xmlns:p14="http://schemas.microsoft.com/office/powerpoint/2010/main" val="310661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 animBg="1"/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706B07C3-4A93-432D-9F85-D1549223A3B7}"/>
              </a:ext>
            </a:extLst>
          </p:cNvPr>
          <p:cNvSpPr txBox="1"/>
          <p:nvPr/>
        </p:nvSpPr>
        <p:spPr>
          <a:xfrm>
            <a:off x="56902" y="1752575"/>
            <a:ext cx="8879888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000" dirty="0"/>
              <a:t>julia&gt; m=magic(25)</a:t>
            </a:r>
          </a:p>
          <a:p>
            <a:r>
              <a:rPr lang="zh-CN" altLang="en-US" sz="1000" b="1" dirty="0">
                <a:solidFill>
                  <a:srgbClr val="00B0F0"/>
                </a:solidFill>
              </a:rPr>
              <a:t>25×25 Matrix{Int64}:</a:t>
            </a:r>
          </a:p>
          <a:p>
            <a:r>
              <a:rPr lang="zh-CN" altLang="en-US" sz="1000" b="1" dirty="0">
                <a:solidFill>
                  <a:srgbClr val="00B0F0"/>
                </a:solidFill>
              </a:rPr>
              <a:t> 327  354  381  408  435  462  489  516  …  136  163  190  217  244  271  298  325   </a:t>
            </a:r>
          </a:p>
          <a:p>
            <a:r>
              <a:rPr lang="zh-CN" altLang="en-US" sz="1000" b="1" dirty="0">
                <a:solidFill>
                  <a:srgbClr val="00B0F0"/>
                </a:solidFill>
              </a:rPr>
              <a:t> 353  380  407  434  461  488  515  542     162  189  216  243  270  297  324  326</a:t>
            </a:r>
          </a:p>
          <a:p>
            <a:r>
              <a:rPr lang="zh-CN" altLang="en-US" sz="1000" b="1" dirty="0">
                <a:solidFill>
                  <a:srgbClr val="00B0F0"/>
                </a:solidFill>
              </a:rPr>
              <a:t>⋮                        ⋮            ⋱                   ⋮</a:t>
            </a:r>
          </a:p>
          <a:p>
            <a:r>
              <a:rPr lang="zh-CN" altLang="en-US" sz="1000" b="1" dirty="0">
                <a:solidFill>
                  <a:srgbClr val="00B0F0"/>
                </a:solidFill>
              </a:rPr>
              <a:t>301  328  355  382  409  436  463  490     110  137  164  191  218  245  272  299   </a:t>
            </a:r>
          </a:p>
          <a:p>
            <a:endParaRPr lang="zh-CN" altLang="en-US" sz="1000" dirty="0"/>
          </a:p>
          <a:p>
            <a:r>
              <a:rPr lang="zh-CN" altLang="en-US" sz="1000" dirty="0"/>
              <a:t>julia&gt; m2=tril(m,-22)  </a:t>
            </a:r>
            <a:r>
              <a:rPr lang="en-US" altLang="zh-CN" sz="1000" dirty="0"/>
              <a:t>#</a:t>
            </a:r>
            <a:r>
              <a:rPr lang="zh-CN" altLang="en-US" sz="1000" dirty="0"/>
              <a:t>下三角全矩阵</a:t>
            </a:r>
          </a:p>
          <a:p>
            <a:r>
              <a:rPr lang="zh-CN" altLang="en-US" sz="1000" dirty="0">
                <a:solidFill>
                  <a:srgbClr val="FF0000"/>
                </a:solidFill>
              </a:rPr>
              <a:t>25×25 Matrix{Int64}:</a:t>
            </a:r>
          </a:p>
          <a:p>
            <a:r>
              <a:rPr lang="zh-CN" altLang="en-US" sz="1000" dirty="0"/>
              <a:t>   </a:t>
            </a:r>
            <a:r>
              <a:rPr lang="zh-CN" altLang="en-US" sz="1000" dirty="0">
                <a:solidFill>
                  <a:srgbClr val="FF0000"/>
                </a:solidFill>
              </a:rPr>
              <a:t>0    0    0  0  0  0  0  0  0  0  0  0  0  0  0  0  0  0  0  0  0  0  0  0  0     </a:t>
            </a:r>
          </a:p>
          <a:p>
            <a:r>
              <a:rPr lang="zh-CN" altLang="en-US" sz="1000" dirty="0">
                <a:solidFill>
                  <a:srgbClr val="FF0000"/>
                </a:solidFill>
              </a:rPr>
              <a:t>⋮                  ⋮              ⋮              ⋮              ⋮</a:t>
            </a:r>
          </a:p>
          <a:p>
            <a:r>
              <a:rPr lang="zh-CN" altLang="en-US" sz="1000" dirty="0"/>
              <a:t> 274    0    0  0  0  0  0  0  0  0  0  0  0  0  0  0  0  0  0  0  0  0  0  0  0     </a:t>
            </a:r>
          </a:p>
          <a:p>
            <a:r>
              <a:rPr lang="zh-CN" altLang="en-US" sz="1000" dirty="0"/>
              <a:t> 300  302    0  0  0  0  0  0  0  0  0  0  0  0  0  0  0  0  0  0  0  0  0  0  0     </a:t>
            </a:r>
          </a:p>
          <a:p>
            <a:r>
              <a:rPr lang="zh-CN" altLang="en-US" sz="1000" dirty="0"/>
              <a:t> 301  328  355  0  0  0  0  0  0  0  0  0  0  0  0  0  0  0  0  0  0  0  0  0  0     </a:t>
            </a:r>
          </a:p>
        </p:txBody>
      </p:sp>
      <p:sp>
        <p:nvSpPr>
          <p:cNvPr id="5" name="矩形 4"/>
          <p:cNvSpPr/>
          <p:nvPr/>
        </p:nvSpPr>
        <p:spPr>
          <a:xfrm>
            <a:off x="7622833" y="723372"/>
            <a:ext cx="1364559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sz="2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F=full(</a:t>
            </a:r>
            <a:r>
              <a:rPr lang="en-US" altLang="zh-CN" sz="2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</a:t>
            </a:r>
            <a:r>
              <a:rPr lang="pt-PT" altLang="zh-CN" sz="2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00" y="748536"/>
            <a:ext cx="334978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 algn="just">
              <a:buFont typeface="+mj-ea"/>
              <a:buAutoNum type="circleNumDbPlain"/>
              <a:defRPr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转换稀疏矩阵</a:t>
            </a:r>
            <a:endParaRPr lang="en-US" altLang="zh-CN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D82C7A-6DB4-423E-8A20-8C30DAF27C61}"/>
              </a:ext>
            </a:extLst>
          </p:cNvPr>
          <p:cNvSpPr/>
          <p:nvPr/>
        </p:nvSpPr>
        <p:spPr>
          <a:xfrm>
            <a:off x="4711928" y="723372"/>
            <a:ext cx="3057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Font typeface="+mj-ea"/>
              <a:buAutoNum type="circleNumDbPlain" startAt="2"/>
              <a:defRPr/>
            </a:pPr>
            <a:r>
              <a:rPr lang="zh-CN" altLang="pt-PT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稀疏矩阵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pt-PT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转换满矩阵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3"/>
          <p:cNvSpPr>
            <a:spLocks noChangeArrowheads="1"/>
          </p:cNvSpPr>
          <p:nvPr/>
        </p:nvSpPr>
        <p:spPr bwMode="auto">
          <a:xfrm>
            <a:off x="4427984" y="3950372"/>
            <a:ext cx="1152128" cy="559670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  <a:endParaRPr lang="en-US" altLang="zh-CN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标题 3">
            <a:extLst>
              <a:ext uri="{FF2B5EF4-FFF2-40B4-BE49-F238E27FC236}">
                <a16:creationId xmlns:a16="http://schemas.microsoft.com/office/drawing/2014/main" id="{632FC807-BEB5-44E5-B0D3-21E8F5365B43}"/>
              </a:ext>
            </a:extLst>
          </p:cNvPr>
          <p:cNvSpPr txBox="1">
            <a:spLocks/>
          </p:cNvSpPr>
          <p:nvPr/>
        </p:nvSpPr>
        <p:spPr bwMode="auto">
          <a:xfrm>
            <a:off x="1187624" y="154924"/>
            <a:ext cx="7667625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§6.9 </a:t>
            </a:r>
            <a:r>
              <a:rPr lang="zh-CN" altLang="en-US" sz="2800" kern="0" dirty="0"/>
              <a:t>稀疏矩阵</a:t>
            </a:r>
            <a:r>
              <a:rPr lang="en-US" altLang="zh-CN" sz="2800" kern="0" dirty="0">
                <a:solidFill>
                  <a:srgbClr val="C00000"/>
                </a:solidFill>
              </a:rPr>
              <a:t>sparse matrix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kumimoji="1" lang="zh-CN" altLang="en-US" sz="2800" kern="0" dirty="0">
                <a:solidFill>
                  <a:srgbClr val="FF0000"/>
                </a:solidFill>
              </a:rPr>
              <a:t>创建稀疏矩阵</a:t>
            </a:r>
            <a:endParaRPr lang="zh-CN" altLang="en-US" sz="2800" kern="0" dirty="0"/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58649C27-82FA-4614-9DDF-041FA40B995F}"/>
              </a:ext>
            </a:extLst>
          </p:cNvPr>
          <p:cNvSpPr/>
          <p:nvPr/>
        </p:nvSpPr>
        <p:spPr>
          <a:xfrm>
            <a:off x="124444" y="1280092"/>
            <a:ext cx="504056" cy="34859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2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ko-KR" altLang="en-US" sz="2200" b="1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0A0E36-426A-4E8C-9F63-FB1C28E161DE}"/>
              </a:ext>
            </a:extLst>
          </p:cNvPr>
          <p:cNvSpPr txBox="1"/>
          <p:nvPr/>
        </p:nvSpPr>
        <p:spPr>
          <a:xfrm>
            <a:off x="628500" y="1257850"/>
            <a:ext cx="5599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sparse</a:t>
            </a:r>
            <a:r>
              <a:rPr lang="zh-CN" altLang="en-US" sz="2000" b="1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</a:t>
            </a:r>
            <a:r>
              <a:rPr lang="en-US" altLang="zh-CN" sz="2000" b="1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25</a:t>
            </a:r>
            <a:r>
              <a:rPr lang="zh-CN" altLang="en-US" sz="2000" b="1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阶的大魔方下三角创建稀疏矩阵</a:t>
            </a:r>
            <a:endParaRPr lang="zh-CN" altLang="en-US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7FE4B2-C8AA-458E-B1DC-9FF36CCBD889}"/>
              </a:ext>
            </a:extLst>
          </p:cNvPr>
          <p:cNvSpPr txBox="1"/>
          <p:nvPr/>
        </p:nvSpPr>
        <p:spPr>
          <a:xfrm>
            <a:off x="4706992" y="1810314"/>
            <a:ext cx="45290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julia&gt; ms=sparse(m2)  </a:t>
            </a:r>
            <a:r>
              <a:rPr lang="en-US" altLang="zh-CN" sz="1600" dirty="0"/>
              <a:t>#</a:t>
            </a:r>
            <a:r>
              <a:rPr lang="zh-CN" altLang="en-US" sz="1600" dirty="0"/>
              <a:t>只存非零元素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25×25 SparseMatrixCSC{Int64, Int64} with 6 stored entries: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⎡⠀⠀⠀⠀⠀⠀⠀⠀⠀⠀⠀⠀⠀⎤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⎢⠀⠀⠀⠀⠀⠀⠀⠀⠀⠀⠀⠀⠀⎥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⎢⠀⠀⠀⠀⠀⠀⠀⠀⠀⠀⠀⠀⠀⎥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⎢⠀⠀⠀⠀⠀⠀⠀⠀⠀⠀⠀⠀⠀⎥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⎢⠀⠀⠀⠀⠀⠀⠀⠀⠀⠀⠀⠀⠀⎥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⎢⣄⠀⠀⠀⠀⠀⠀⠀⠀⠀⠀⠀⠀⎥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⎣⠉⠁⠀⠀⠀⠀⠀⠀⠀⠀⠀⠀⠀⎦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31EF7A-4516-448C-B791-48ED4ACD3FF9}"/>
              </a:ext>
            </a:extLst>
          </p:cNvPr>
          <p:cNvSpPr txBox="1"/>
          <p:nvPr/>
        </p:nvSpPr>
        <p:spPr>
          <a:xfrm>
            <a:off x="5974590" y="2670257"/>
            <a:ext cx="225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julia&gt; varinfo()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3E5DC86-FC7F-492E-95E4-F605FCECF3F5}"/>
              </a:ext>
            </a:extLst>
          </p:cNvPr>
          <p:cNvSpPr txBox="1"/>
          <p:nvPr/>
        </p:nvSpPr>
        <p:spPr>
          <a:xfrm>
            <a:off x="5796136" y="3025721"/>
            <a:ext cx="3439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B0F0"/>
                </a:solidFill>
              </a:rPr>
              <a:t> m      4.922 KiB 25×25 Matrix{Int64}</a:t>
            </a:r>
          </a:p>
          <a:p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m2     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4.922 KiB </a:t>
            </a:r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25×25 Matrix{Int64}</a:t>
            </a: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464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bytes </a:t>
            </a:r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25×25 </a:t>
            </a:r>
            <a:r>
              <a:rPr lang="en-US" altLang="zh-CN" sz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SparseMatrixCSC</a:t>
            </a:r>
            <a:endParaRPr lang="zh-CN" altLang="en-US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13">
            <a:extLst>
              <a:ext uri="{FF2B5EF4-FFF2-40B4-BE49-F238E27FC236}">
                <a16:creationId xmlns:a16="http://schemas.microsoft.com/office/drawing/2014/main" id="{1F66252D-D76B-4096-BBD4-59251DECA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66" y="4093959"/>
            <a:ext cx="1190690" cy="490349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30E50A-16D3-4C74-A63B-E1997564D870}"/>
              </a:ext>
            </a:extLst>
          </p:cNvPr>
          <p:cNvSpPr txBox="1"/>
          <p:nvPr/>
        </p:nvSpPr>
        <p:spPr>
          <a:xfrm>
            <a:off x="5075720" y="4091738"/>
            <a:ext cx="416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零不保存，稀疏矩阵零用“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”代替</a:t>
            </a:r>
            <a:endParaRPr lang="en-US" altLang="zh-CN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46BCAC-E3E4-418B-A534-8E505FEE4BCE}"/>
              </a:ext>
            </a:extLst>
          </p:cNvPr>
          <p:cNvSpPr txBox="1"/>
          <p:nvPr/>
        </p:nvSpPr>
        <p:spPr>
          <a:xfrm>
            <a:off x="124444" y="4122583"/>
            <a:ext cx="5012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与</a:t>
            </a:r>
            <a:r>
              <a:rPr lang="en-US" altLang="zh-CN" dirty="0" err="1"/>
              <a:t>Matlab</a:t>
            </a:r>
            <a:r>
              <a:rPr lang="zh-CN" altLang="en-US" dirty="0"/>
              <a:t>显示稀疏矩阵形式不同</a:t>
            </a:r>
          </a:p>
        </p:txBody>
      </p:sp>
      <p:sp>
        <p:nvSpPr>
          <p:cNvPr id="11" name="矩形 10"/>
          <p:cNvSpPr/>
          <p:nvPr/>
        </p:nvSpPr>
        <p:spPr>
          <a:xfrm>
            <a:off x="3171448" y="721785"/>
            <a:ext cx="149385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S=sparse(A)</a:t>
            </a:r>
            <a:endParaRPr lang="zh-CN" altLang="en-US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9730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19" grpId="0" animBg="1"/>
      <p:bldP spid="21" grpId="0" animBg="1"/>
      <p:bldP spid="23" grpId="0"/>
      <p:bldP spid="26" grpId="0"/>
      <p:bldP spid="27" grpId="0"/>
      <p:bldP spid="28" grpId="0"/>
      <p:bldP spid="29" grpId="0" animBg="1"/>
      <p:bldP spid="22" grpId="0"/>
      <p:bldP spid="24" grpId="0"/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29647" y="771550"/>
            <a:ext cx="30704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pt-PT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S = sparse([i],[j],[</a:t>
            </a:r>
            <a:r>
              <a:rPr lang="en-US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v]</a:t>
            </a:r>
            <a:r>
              <a:rPr lang="pt-PT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,m,n)</a:t>
            </a:r>
            <a:endParaRPr lang="zh-CN" altLang="en-US" dirty="0">
              <a:solidFill>
                <a:schemeClr val="bg1"/>
              </a:solidFill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4E74F1-DECB-45FF-B48E-C06AD43ECB8F}"/>
              </a:ext>
            </a:extLst>
          </p:cNvPr>
          <p:cNvSpPr/>
          <p:nvPr/>
        </p:nvSpPr>
        <p:spPr>
          <a:xfrm>
            <a:off x="179512" y="779556"/>
            <a:ext cx="545013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sparse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创建非零元素的稀疏矩阵</a:t>
            </a:r>
            <a:endParaRPr lang="en-US" altLang="zh-CN" sz="20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3">
            <a:extLst>
              <a:ext uri="{FF2B5EF4-FFF2-40B4-BE49-F238E27FC236}">
                <a16:creationId xmlns:a16="http://schemas.microsoft.com/office/drawing/2014/main" id="{8C39DD28-E0F1-4D2A-83FE-F284F7B231E3}"/>
              </a:ext>
            </a:extLst>
          </p:cNvPr>
          <p:cNvSpPr txBox="1">
            <a:spLocks/>
          </p:cNvSpPr>
          <p:nvPr/>
        </p:nvSpPr>
        <p:spPr bwMode="auto">
          <a:xfrm>
            <a:off x="1187624" y="154924"/>
            <a:ext cx="7667625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§6.9 </a:t>
            </a:r>
            <a:r>
              <a:rPr lang="zh-CN" altLang="en-US" sz="2800" b="1" kern="0" dirty="0"/>
              <a:t>稀疏矩阵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——sparse</a:t>
            </a:r>
            <a:r>
              <a:rPr lang="zh-CN" altLang="en-US" sz="2800" b="1" kern="0" dirty="0">
                <a:solidFill>
                  <a:srgbClr val="FF0000"/>
                </a:solidFill>
              </a:rPr>
              <a:t>直接</a:t>
            </a:r>
            <a:r>
              <a:rPr kumimoji="1" lang="zh-CN" altLang="en-US" sz="2800" b="1" kern="0" dirty="0">
                <a:solidFill>
                  <a:srgbClr val="FF0000"/>
                </a:solidFill>
              </a:rPr>
              <a:t>创建稀疏矩阵</a:t>
            </a:r>
            <a:endParaRPr lang="zh-CN" altLang="en-US" sz="2800" b="1" kern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0E7A1B-856C-4EE8-8EC9-4B1ABF691EFF}"/>
              </a:ext>
            </a:extLst>
          </p:cNvPr>
          <p:cNvSpPr txBox="1"/>
          <p:nvPr/>
        </p:nvSpPr>
        <p:spPr>
          <a:xfrm>
            <a:off x="144885" y="1164479"/>
            <a:ext cx="6227587" cy="1899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ts val="3600"/>
              </a:lnSpc>
              <a:buFont typeface="Wingdings" panose="05000000000000000000" pitchFamily="2" charset="2"/>
              <a:buChar char="Ø"/>
              <a:defRPr/>
            </a:pPr>
            <a:r>
              <a:rPr lang="pt-PT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代表非零元素位于矩阵的行号、</a:t>
            </a:r>
            <a:endParaRPr lang="en-US" altLang="zh-CN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algn="just">
              <a:lnSpc>
                <a:spcPts val="36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代表非零元素位于矩阵的列号、</a:t>
            </a:r>
            <a:endParaRPr lang="en-US" altLang="zh-CN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algn="just">
              <a:lnSpc>
                <a:spcPts val="36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代表非零元素</a:t>
            </a:r>
            <a:endParaRPr lang="en-US" altLang="zh-CN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algn="just">
              <a:lnSpc>
                <a:spcPts val="36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行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列稀疏矩阵</a:t>
            </a:r>
            <a:endParaRPr lang="en-US" altLang="zh-CN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740686-DC1A-4BE3-8E25-6337D899D79F}"/>
              </a:ext>
            </a:extLst>
          </p:cNvPr>
          <p:cNvSpPr txBox="1"/>
          <p:nvPr/>
        </p:nvSpPr>
        <p:spPr>
          <a:xfrm>
            <a:off x="208484" y="3063717"/>
            <a:ext cx="5587652" cy="144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000" dirty="0" err="1"/>
              <a:t>julia</a:t>
            </a:r>
            <a:r>
              <a:rPr lang="en-US" altLang="zh-CN" sz="2000" dirty="0"/>
              <a:t>&gt; s=sparse([1],[3],[33],2,4)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2×4 </a:t>
            </a:r>
            <a:r>
              <a:rPr lang="en-US" altLang="zh-CN" sz="2000" dirty="0" err="1">
                <a:solidFill>
                  <a:srgbClr val="FF0000"/>
                </a:solidFill>
              </a:rPr>
              <a:t>SparseMatrix</a:t>
            </a:r>
            <a:r>
              <a:rPr lang="en-US" altLang="zh-CN" sz="2000" dirty="0" err="1"/>
              <a:t>CSC</a:t>
            </a:r>
            <a:r>
              <a:rPr lang="en-US" altLang="zh-CN" sz="2000" dirty="0"/>
              <a:t>{Int64, Int64} 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 ⋅  ⋅  33  ⋅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 ⋅  ⋅   ⋅    ⋅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48A335-C24A-4FC7-8B19-2BDC217528D1}"/>
              </a:ext>
            </a:extLst>
          </p:cNvPr>
          <p:cNvSpPr txBox="1"/>
          <p:nvPr/>
        </p:nvSpPr>
        <p:spPr>
          <a:xfrm>
            <a:off x="5919726" y="1650910"/>
            <a:ext cx="2736304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/>
              <a:t>2</a:t>
            </a:r>
            <a:r>
              <a:rPr lang="zh-CN" altLang="en-US" dirty="0"/>
              <a:t>×4 稀疏矩阵</a:t>
            </a:r>
            <a:endParaRPr lang="en-US" altLang="zh-CN" dirty="0"/>
          </a:p>
          <a:p>
            <a:r>
              <a:rPr lang="zh-CN" altLang="en-US" dirty="0"/>
              <a:t>2×4 Matrix{Int64}:</a:t>
            </a:r>
          </a:p>
          <a:p>
            <a:r>
              <a:rPr lang="zh-CN" altLang="en-US" dirty="0"/>
              <a:t> 0  0  </a:t>
            </a:r>
            <a:r>
              <a:rPr lang="en-US" altLang="zh-CN" dirty="0"/>
              <a:t>33</a:t>
            </a:r>
            <a:r>
              <a:rPr lang="zh-CN" altLang="en-US" dirty="0"/>
              <a:t>   0</a:t>
            </a:r>
          </a:p>
          <a:p>
            <a:r>
              <a:rPr lang="zh-CN" altLang="en-US" dirty="0"/>
              <a:t> 0  0   0    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D67445-F7C9-42B4-9A25-F5D219F60684}"/>
              </a:ext>
            </a:extLst>
          </p:cNvPr>
          <p:cNvSpPr txBox="1"/>
          <p:nvPr/>
        </p:nvSpPr>
        <p:spPr>
          <a:xfrm>
            <a:off x="5629647" y="3169330"/>
            <a:ext cx="3026383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M</a:t>
            </a:r>
            <a:r>
              <a:rPr lang="zh-CN" altLang="en-US" sz="2000" dirty="0"/>
              <a:t>语言的稀疏矩阵</a:t>
            </a:r>
            <a:endParaRPr lang="en-US" altLang="zh-CN" sz="2000" dirty="0"/>
          </a:p>
          <a:p>
            <a:r>
              <a:rPr lang="zh-CN" altLang="en-US" sz="2000" dirty="0"/>
              <a:t>s=sparse(</a:t>
            </a:r>
            <a:r>
              <a:rPr lang="en-US" altLang="zh-CN" sz="2000" dirty="0"/>
              <a:t>1</a:t>
            </a:r>
            <a:r>
              <a:rPr lang="zh-CN" altLang="en-US" sz="2000" dirty="0"/>
              <a:t>,</a:t>
            </a:r>
            <a:r>
              <a:rPr lang="en-US" altLang="zh-CN" sz="2000" dirty="0"/>
              <a:t>3</a:t>
            </a:r>
            <a:r>
              <a:rPr lang="zh-CN" altLang="en-US" sz="2000" dirty="0"/>
              <a:t>,</a:t>
            </a:r>
            <a:r>
              <a:rPr lang="en-US" altLang="zh-CN" sz="2000" dirty="0"/>
              <a:t>33,2,4</a:t>
            </a:r>
            <a:r>
              <a:rPr lang="zh-CN" altLang="en-US" sz="2000" dirty="0"/>
              <a:t>)</a:t>
            </a:r>
          </a:p>
          <a:p>
            <a:r>
              <a:rPr lang="zh-CN" altLang="en-US" sz="2000" dirty="0"/>
              <a:t>结果</a:t>
            </a:r>
            <a:r>
              <a:rPr lang="en-US" altLang="zh-CN" sz="2000" dirty="0"/>
              <a:t>s =  (1,3)       33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072449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5228" y="1879282"/>
            <a:ext cx="7933543" cy="261610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B0F0"/>
                </a:solidFill>
              </a:rPr>
              <a:t>julia</a:t>
            </a:r>
            <a:r>
              <a:rPr lang="en-US" altLang="zh-CN" sz="2000" b="1" dirty="0">
                <a:solidFill>
                  <a:srgbClr val="00B0F0"/>
                </a:solidFill>
              </a:rPr>
              <a:t>&gt; s=sparse([1,4,6],[3,4,7],[33,54,69])</a:t>
            </a:r>
          </a:p>
          <a:p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6×7 </a:t>
            </a:r>
            <a:r>
              <a:rPr lang="en-US" altLang="zh-CN" sz="2000" dirty="0" err="1">
                <a:solidFill>
                  <a:srgbClr val="00B0F0"/>
                </a:solidFill>
              </a:rPr>
              <a:t>SparseMatrixCSC</a:t>
            </a:r>
            <a:r>
              <a:rPr lang="en-US" altLang="zh-CN" sz="2000" dirty="0">
                <a:solidFill>
                  <a:srgbClr val="00B0F0"/>
                </a:solidFill>
              </a:rPr>
              <a:t>{Int64, Int64} with 3 stored entries: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33   ⋅  ⋅  ⋅   ⋅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 ⋅   ⋅  ⋅  ⋅   ⋅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 ⋅   ⋅  ⋅  ⋅   ⋅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 ⋅  54  ⋅  ⋅   ⋅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 ⋅   ⋅  ⋅  ⋅   ⋅</a:t>
            </a:r>
          </a:p>
          <a:p>
            <a:r>
              <a:rPr lang="en-US" altLang="zh-CN" sz="2000" dirty="0">
                <a:solidFill>
                  <a:srgbClr val="00B0F0"/>
                </a:solidFill>
              </a:rPr>
              <a:t> ⋅  ⋅   ⋅   ⋅  ⋅  ⋅  69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7" name="标题 3">
            <a:extLst>
              <a:ext uri="{FF2B5EF4-FFF2-40B4-BE49-F238E27FC236}">
                <a16:creationId xmlns:a16="http://schemas.microsoft.com/office/drawing/2014/main" id="{4AED5A71-3332-41A8-A4CF-D3D512A09BFC}"/>
              </a:ext>
            </a:extLst>
          </p:cNvPr>
          <p:cNvSpPr txBox="1">
            <a:spLocks/>
          </p:cNvSpPr>
          <p:nvPr/>
        </p:nvSpPr>
        <p:spPr bwMode="auto">
          <a:xfrm>
            <a:off x="827584" y="154924"/>
            <a:ext cx="8027665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§6.9 </a:t>
            </a:r>
            <a:r>
              <a:rPr lang="zh-CN" altLang="en-US" sz="2800" b="1" kern="0" dirty="0"/>
              <a:t>稀疏矩阵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——sparse</a:t>
            </a:r>
            <a:r>
              <a:rPr lang="zh-CN" altLang="en-US" sz="2800" b="1" kern="0" dirty="0">
                <a:solidFill>
                  <a:srgbClr val="FF0000"/>
                </a:solidFill>
              </a:rPr>
              <a:t>直接</a:t>
            </a:r>
            <a:r>
              <a:rPr kumimoji="1" lang="zh-CN" altLang="en-US" sz="2800" b="1" kern="0" dirty="0">
                <a:solidFill>
                  <a:srgbClr val="FF0000"/>
                </a:solidFill>
              </a:rPr>
              <a:t>创建稀疏矩阵示例</a:t>
            </a:r>
            <a:endParaRPr lang="zh-CN" altLang="en-US" sz="2800" b="1" kern="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F81B20-D9F1-4204-B1AF-F7B5DD4E2970}"/>
              </a:ext>
            </a:extLst>
          </p:cNvPr>
          <p:cNvSpPr/>
          <p:nvPr/>
        </p:nvSpPr>
        <p:spPr>
          <a:xfrm>
            <a:off x="656540" y="1316474"/>
            <a:ext cx="722782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缺省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时，稀疏矩阵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max(</a:t>
            </a: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×max(j)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列矩阵</a:t>
            </a:r>
            <a:endParaRPr lang="en-US" altLang="zh-CN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39CB85-F078-4E8E-A50B-6E5A9F8D0660}"/>
              </a:ext>
            </a:extLst>
          </p:cNvPr>
          <p:cNvSpPr/>
          <p:nvPr/>
        </p:nvSpPr>
        <p:spPr>
          <a:xfrm>
            <a:off x="664953" y="771550"/>
            <a:ext cx="46271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sparse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创建多个非零元素的稀疏矩阵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65639E-6E65-47E6-A66A-403AEE9CC0D2}"/>
              </a:ext>
            </a:extLst>
          </p:cNvPr>
          <p:cNvSpPr/>
          <p:nvPr/>
        </p:nvSpPr>
        <p:spPr>
          <a:xfrm>
            <a:off x="3179801" y="2724064"/>
            <a:ext cx="5520307" cy="177131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ts val="22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根据行</a:t>
            </a:r>
            <a:r>
              <a:rPr lang="pt-PT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、列</a:t>
            </a:r>
            <a:r>
              <a:rPr lang="pt-PT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和非零元素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三元组生成稀疏矩阵，</a:t>
            </a:r>
            <a:endParaRPr lang="en-US" altLang="zh-CN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0" indent="-342900" algn="just">
              <a:lnSpc>
                <a:spcPts val="22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i,j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是同样大小向量，</a:t>
            </a:r>
            <a:endParaRPr lang="en-US" altLang="zh-CN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0" indent="-342900" algn="just">
              <a:lnSpc>
                <a:spcPts val="22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i,j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每个向量的下标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处创建非零元素，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,j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]]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=v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，即在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位置创建稀疏矩阵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的非零元素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zh-CN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</a:p>
          <a:p>
            <a:pPr marL="342900" lvl="0" indent="-342900" algn="just">
              <a:lnSpc>
                <a:spcPts val="22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</a:t>
            </a:r>
            <a:r>
              <a:rPr lang="pt-PT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行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×</a:t>
            </a:r>
            <a:r>
              <a:rPr lang="pt-PT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列的稀疏矩阵</a:t>
            </a:r>
            <a:r>
              <a:rPr lang="en-US" altLang="zh-CN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</a:t>
            </a:r>
            <a:r>
              <a:rPr lang="zh-CN" altLang="en-US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09894A-CF4A-4CC0-96A8-384EA9ECEC17}"/>
              </a:ext>
            </a:extLst>
          </p:cNvPr>
          <p:cNvSpPr/>
          <p:nvPr/>
        </p:nvSpPr>
        <p:spPr>
          <a:xfrm>
            <a:off x="5629647" y="795482"/>
            <a:ext cx="30704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pt-PT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S = sparse([i],[j],[</a:t>
            </a:r>
            <a:r>
              <a:rPr lang="en-US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v]</a:t>
            </a:r>
            <a:r>
              <a:rPr lang="pt-PT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,m,n)</a:t>
            </a:r>
            <a:endParaRPr lang="zh-CN" altLang="en-US" dirty="0">
              <a:solidFill>
                <a:schemeClr val="bg1"/>
              </a:solidFill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9779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5CD89B-7BFC-4A92-AD8F-436DA5360195}"/>
              </a:ext>
            </a:extLst>
          </p:cNvPr>
          <p:cNvGraphicFramePr>
            <a:graphicFrameLocks noGrp="1"/>
          </p:cNvGraphicFramePr>
          <p:nvPr/>
        </p:nvGraphicFramePr>
        <p:xfrm>
          <a:off x="395537" y="742451"/>
          <a:ext cx="8568952" cy="3834680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2016223">
                  <a:extLst>
                    <a:ext uri="{9D8B030D-6E8A-4147-A177-3AD203B41FA5}">
                      <a16:colId xmlns:a16="http://schemas.microsoft.com/office/drawing/2014/main" val="3431142164"/>
                    </a:ext>
                  </a:extLst>
                </a:gridCol>
                <a:gridCol w="6552729">
                  <a:extLst>
                    <a:ext uri="{9D8B030D-6E8A-4147-A177-3AD203B41FA5}">
                      <a16:colId xmlns:a16="http://schemas.microsoft.com/office/drawing/2014/main" val="3498263735"/>
                    </a:ext>
                  </a:extLst>
                </a:gridCol>
              </a:tblGrid>
              <a:tr h="404249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>
                          <a:solidFill>
                            <a:srgbClr val="00B0F0"/>
                          </a:solidFill>
                          <a:effectLst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sparse</a:t>
                      </a:r>
                      <a:endParaRPr lang="en-US" sz="2200" b="1" u="none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创建稀疏矩阵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938608"/>
                  </a:ext>
                </a:extLst>
              </a:tr>
              <a:tr h="365288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 dirty="0" err="1">
                          <a:solidFill>
                            <a:srgbClr val="00B0F0"/>
                          </a:solidFill>
                          <a:effectLst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spalloc</a:t>
                      </a:r>
                      <a:endParaRPr lang="en-US" sz="2200" b="1" u="none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为稀疏矩阵分配空间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01627"/>
                  </a:ext>
                </a:extLst>
              </a:tr>
              <a:tr h="479411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 dirty="0" err="1">
                          <a:solidFill>
                            <a:srgbClr val="FF0000"/>
                          </a:solidFill>
                          <a:effectLst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spzeros</a:t>
                      </a:r>
                      <a:endParaRPr lang="en-US" sz="2200" b="1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创建长度为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 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的稀疏向量或大小为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 x n 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的稀疏矩阵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298044"/>
                  </a:ext>
                </a:extLst>
              </a:tr>
              <a:tr h="365288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>
                          <a:solidFill>
                            <a:srgbClr val="00B0F0"/>
                          </a:solidFill>
                          <a:effectLst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speye</a:t>
                      </a:r>
                      <a:endParaRPr lang="en-US" sz="2200" b="1" u="none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稀疏单位矩阵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98655"/>
                  </a:ext>
                </a:extLst>
              </a:tr>
              <a:tr h="662413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>
                          <a:solidFill>
                            <a:srgbClr val="00B0F0"/>
                          </a:solidFill>
                          <a:effectLst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sprandsym</a:t>
                      </a:r>
                      <a:endParaRPr lang="en-US" sz="2200" b="1" u="none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稀疏对称随机矩阵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27659"/>
                  </a:ext>
                </a:extLst>
              </a:tr>
              <a:tr h="365288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 dirty="0" err="1">
                          <a:solidFill>
                            <a:srgbClr val="00B0F0"/>
                          </a:solidFill>
                          <a:effectLst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spdiagm</a:t>
                      </a:r>
                      <a:endParaRPr lang="en-US" sz="2200" b="1" u="none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创建稀疏带状对角矩阵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16032"/>
                  </a:ext>
                </a:extLst>
              </a:tr>
              <a:tr h="479411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>
                          <a:solidFill>
                            <a:srgbClr val="00B0F0"/>
                          </a:solidFill>
                          <a:effectLst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sprand</a:t>
                      </a:r>
                      <a:endParaRPr lang="en-US" sz="2200" b="1" u="none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创建一个随机长度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稀疏向量或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 × n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稀疏矩阵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520852"/>
                  </a:ext>
                </a:extLst>
              </a:tr>
              <a:tr h="695074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strike="noStrike" dirty="0" err="1">
                          <a:solidFill>
                            <a:srgbClr val="00B0F0"/>
                          </a:solidFill>
                          <a:effectLst/>
                          <a:hlinkClick r:id="rId10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sprandn</a:t>
                      </a:r>
                      <a:endParaRPr lang="en-US" sz="2200" b="1" u="none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创建一个长度为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 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的稀疏正态分布随机向量或大小为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effectLst/>
                        </a:rPr>
                        <a:t>m × n 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effectLst/>
                        </a:rPr>
                        <a:t>的稀疏正态分布的矩阵</a:t>
                      </a:r>
                    </a:p>
                  </a:txBody>
                  <a:tcPr marL="36095" marR="36095" marT="18047" marB="1804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97038"/>
                  </a:ext>
                </a:extLst>
              </a:tr>
            </a:tbl>
          </a:graphicData>
        </a:graphic>
      </p:graphicFrame>
      <p:sp>
        <p:nvSpPr>
          <p:cNvPr id="5" name="标题 3">
            <a:extLst>
              <a:ext uri="{FF2B5EF4-FFF2-40B4-BE49-F238E27FC236}">
                <a16:creationId xmlns:a16="http://schemas.microsoft.com/office/drawing/2014/main" id="{BC8194DB-3E51-4102-AF13-321341C79756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930275" y="170401"/>
            <a:ext cx="7667625" cy="46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§6.9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稀疏矩阵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常用创建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sparse matrix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8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322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D7F1AE7-939B-494D-9C27-892374693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35268" y="1302225"/>
            <a:ext cx="33318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loat64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5FEC56-F1AC-4FC1-BE69-13E7FFFFA212}"/>
              </a:ext>
            </a:extLst>
          </p:cNvPr>
          <p:cNvSpPr/>
          <p:nvPr/>
        </p:nvSpPr>
        <p:spPr>
          <a:xfrm>
            <a:off x="395585" y="1281300"/>
            <a:ext cx="202975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dirty="0">
                <a:solidFill>
                  <a:schemeClr val="bg1"/>
                </a:solidFill>
              </a:rPr>
              <a:t>S = sp</a:t>
            </a:r>
            <a:r>
              <a:rPr lang="en-US" altLang="zh-CN" dirty="0">
                <a:solidFill>
                  <a:schemeClr val="bg1"/>
                </a:solidFill>
              </a:rPr>
              <a:t>zeros</a:t>
            </a:r>
            <a:r>
              <a:rPr lang="pt-PT" altLang="zh-CN" dirty="0">
                <a:solidFill>
                  <a:schemeClr val="bg1"/>
                </a:solidFill>
              </a:rPr>
              <a:t>(</a:t>
            </a:r>
            <a:r>
              <a:rPr lang="zh-CN" altLang="zh-CN" dirty="0">
                <a:solidFill>
                  <a:schemeClr val="bg1"/>
                </a:solidFill>
              </a:rPr>
              <a:t> m,n</a:t>
            </a:r>
            <a:r>
              <a:rPr lang="pt-PT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F32695-8127-4D0D-BEE4-9E967D1D6BDA}"/>
              </a:ext>
            </a:extLst>
          </p:cNvPr>
          <p:cNvSpPr/>
          <p:nvPr/>
        </p:nvSpPr>
        <p:spPr>
          <a:xfrm>
            <a:off x="419880" y="744789"/>
            <a:ext cx="249593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dirty="0">
                <a:solidFill>
                  <a:schemeClr val="bg1"/>
                </a:solidFill>
              </a:rPr>
              <a:t>S </a:t>
            </a:r>
            <a:r>
              <a:rPr lang="pt-PT" altLang="zh-CN">
                <a:solidFill>
                  <a:schemeClr val="bg1"/>
                </a:solidFill>
              </a:rPr>
              <a:t>= sp</a:t>
            </a:r>
            <a:r>
              <a:rPr lang="en-US" altLang="zh-CN">
                <a:solidFill>
                  <a:schemeClr val="bg1"/>
                </a:solidFill>
              </a:rPr>
              <a:t>zeros</a:t>
            </a:r>
            <a:r>
              <a:rPr lang="pt-PT" altLang="zh-CN">
                <a:solidFill>
                  <a:schemeClr val="bg1"/>
                </a:solidFill>
              </a:rPr>
              <a:t>(</a:t>
            </a:r>
            <a:r>
              <a:rPr lang="en-US" altLang="zh-CN" dirty="0">
                <a:solidFill>
                  <a:schemeClr val="bg1"/>
                </a:solidFill>
              </a:rPr>
              <a:t>type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pt-PT" altLang="zh-CN" dirty="0">
                <a:solidFill>
                  <a:schemeClr val="bg1"/>
                </a:solidFill>
              </a:rPr>
              <a:t>m,n)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B1462A-CFC5-49BF-B63F-96131916C38C}"/>
              </a:ext>
            </a:extLst>
          </p:cNvPr>
          <p:cNvSpPr/>
          <p:nvPr/>
        </p:nvSpPr>
        <p:spPr>
          <a:xfrm>
            <a:off x="395586" y="1833505"/>
            <a:ext cx="172881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dirty="0">
                <a:solidFill>
                  <a:schemeClr val="bg1"/>
                </a:solidFill>
              </a:rPr>
              <a:t>S = sp</a:t>
            </a:r>
            <a:r>
              <a:rPr lang="en-US" altLang="zh-CN" dirty="0">
                <a:solidFill>
                  <a:schemeClr val="bg1"/>
                </a:solidFill>
              </a:rPr>
              <a:t>zeros</a:t>
            </a:r>
            <a:r>
              <a:rPr lang="pt-PT" altLang="zh-CN" dirty="0">
                <a:solidFill>
                  <a:schemeClr val="bg1"/>
                </a:solidFill>
              </a:rPr>
              <a:t>(</a:t>
            </a:r>
            <a:r>
              <a:rPr lang="pt-PT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m</a:t>
            </a:r>
            <a:r>
              <a:rPr lang="pt-PT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58A845-F8B3-45BA-B77A-5F5A0AE8C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8A7FB4A-F38B-4B4D-8830-F9427A885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731" y="762105"/>
            <a:ext cx="49356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00000"/>
              </a:lnSpc>
              <a:buFontTx/>
              <a:buNone/>
              <a:defRPr sz="2400"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按照指定类型创造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m×n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稀疏零矩阵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BEA40-9DA7-4AD9-88AC-D3550A555320}"/>
              </a:ext>
            </a:extLst>
          </p:cNvPr>
          <p:cNvSpPr txBox="1"/>
          <p:nvPr/>
        </p:nvSpPr>
        <p:spPr>
          <a:xfrm>
            <a:off x="337235" y="2848012"/>
            <a:ext cx="8201152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julia&gt; s0=spzeros(Int,2,3)</a:t>
            </a:r>
          </a:p>
          <a:p>
            <a:r>
              <a:rPr lang="zh-CN" altLang="en-US" sz="2000" dirty="0">
                <a:solidFill>
                  <a:srgbClr val="00B0F0"/>
                </a:solidFill>
              </a:rPr>
              <a:t>2×3 SparseMatrixCSC{Int64, Int64} with 0 stored entries:</a:t>
            </a:r>
          </a:p>
          <a:p>
            <a:r>
              <a:rPr lang="zh-CN" altLang="en-US" sz="2000" dirty="0">
                <a:solidFill>
                  <a:srgbClr val="00B0F0"/>
                </a:solidFill>
              </a:rPr>
              <a:t> ⋅  ⋅  ⋅</a:t>
            </a:r>
          </a:p>
          <a:p>
            <a:r>
              <a:rPr lang="zh-CN" altLang="en-US" sz="2000" dirty="0">
                <a:solidFill>
                  <a:srgbClr val="00B0F0"/>
                </a:solidFill>
              </a:rPr>
              <a:t> ⋅  ⋅  ⋅</a:t>
            </a:r>
          </a:p>
          <a:p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EE28B50-8BE4-4D4D-9942-11B67E2EF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849200"/>
            <a:ext cx="20297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长度稀疏零向量</a:t>
            </a:r>
            <a:endParaRPr lang="zh-CN" altLang="zh-CN" sz="2000" b="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3">
            <a:extLst>
              <a:ext uri="{FF2B5EF4-FFF2-40B4-BE49-F238E27FC236}">
                <a16:creationId xmlns:a16="http://schemas.microsoft.com/office/drawing/2014/main" id="{9837882E-6178-4BC5-A65C-6235D1DC9CBD}"/>
              </a:ext>
            </a:extLst>
          </p:cNvPr>
          <p:cNvSpPr txBox="1">
            <a:spLocks/>
          </p:cNvSpPr>
          <p:nvPr/>
        </p:nvSpPr>
        <p:spPr bwMode="auto">
          <a:xfrm>
            <a:off x="827584" y="181662"/>
            <a:ext cx="8208652" cy="4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b="1" kern="0" dirty="0"/>
              <a:t>§6.9 </a:t>
            </a:r>
            <a:r>
              <a:rPr lang="zh-CN" altLang="en-US" sz="2600" b="1" kern="0" dirty="0"/>
              <a:t>稀疏矩阵</a:t>
            </a:r>
            <a:r>
              <a:rPr lang="en-US" altLang="zh-CN" sz="26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600" b="1" kern="0" dirty="0" err="1">
                <a:solidFill>
                  <a:srgbClr val="FF0000"/>
                </a:solidFill>
              </a:rPr>
              <a:t>spzeros</a:t>
            </a:r>
            <a:r>
              <a:rPr lang="zh-CN" altLang="en-US" sz="2600" b="1" dirty="0">
                <a:solidFill>
                  <a:srgbClr val="FF0000"/>
                </a:solidFill>
              </a:rPr>
              <a:t>创建零稀疏矩阵和向量</a:t>
            </a:r>
            <a:endParaRPr lang="zh-CN" altLang="en-US" sz="2600" b="1" kern="0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04DAD0-162D-4F7A-8583-9A3DD82F99E2}"/>
              </a:ext>
            </a:extLst>
          </p:cNvPr>
          <p:cNvSpPr txBox="1"/>
          <p:nvPr/>
        </p:nvSpPr>
        <p:spPr>
          <a:xfrm>
            <a:off x="4782315" y="1905320"/>
            <a:ext cx="4361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s0=spzeros(3)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3-element SparseVector{Float64, Int64} with 0 stored entries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8CDD09-01DF-44B9-9A91-C213609B569A}"/>
              </a:ext>
            </a:extLst>
          </p:cNvPr>
          <p:cNvSpPr txBox="1"/>
          <p:nvPr/>
        </p:nvSpPr>
        <p:spPr>
          <a:xfrm>
            <a:off x="1329553" y="3511242"/>
            <a:ext cx="43050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julia</a:t>
            </a:r>
            <a:r>
              <a:rPr lang="en-US" altLang="zh-CN" dirty="0"/>
              <a:t>&gt; s0=</a:t>
            </a:r>
            <a:r>
              <a:rPr lang="en-US" altLang="zh-CN" dirty="0" err="1"/>
              <a:t>spzeros</a:t>
            </a:r>
            <a:r>
              <a:rPr lang="en-US" altLang="zh-CN" dirty="0"/>
              <a:t>(2,2)</a:t>
            </a:r>
          </a:p>
          <a:p>
            <a:r>
              <a:rPr lang="en-US" altLang="zh-CN" dirty="0"/>
              <a:t>2×2 </a:t>
            </a:r>
            <a:r>
              <a:rPr lang="en-US" altLang="zh-CN" dirty="0" err="1"/>
              <a:t>SparseMatrixCSC</a:t>
            </a:r>
            <a:r>
              <a:rPr lang="en-US" altLang="zh-CN" dirty="0"/>
              <a:t>{Float64, Int64} with 0 stored entries:</a:t>
            </a:r>
          </a:p>
          <a:p>
            <a:r>
              <a:rPr lang="en-US" altLang="zh-CN" dirty="0"/>
              <a:t>  ⋅    ⋅ </a:t>
            </a:r>
          </a:p>
          <a:p>
            <a:r>
              <a:rPr lang="en-US" altLang="zh-CN" dirty="0"/>
              <a:t>  ⋅    ⋅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46E76F-27DF-4CDB-94BD-8C74DBF47DD7}"/>
              </a:ext>
            </a:extLst>
          </p:cNvPr>
          <p:cNvSpPr/>
          <p:nvPr/>
        </p:nvSpPr>
        <p:spPr>
          <a:xfrm>
            <a:off x="395585" y="2354506"/>
            <a:ext cx="202975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dirty="0">
                <a:solidFill>
                  <a:schemeClr val="bg1"/>
                </a:solidFill>
              </a:rPr>
              <a:t>S = sp</a:t>
            </a:r>
            <a:r>
              <a:rPr lang="en-US" altLang="zh-CN" dirty="0">
                <a:solidFill>
                  <a:schemeClr val="bg1"/>
                </a:solidFill>
              </a:rPr>
              <a:t>zeros</a:t>
            </a:r>
            <a:r>
              <a:rPr lang="pt-PT" altLang="zh-CN" dirty="0">
                <a:solidFill>
                  <a:schemeClr val="bg1"/>
                </a:solidFill>
              </a:rPr>
              <a:t>(</a:t>
            </a:r>
            <a:r>
              <a:rPr lang="pt-PT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m,m</a:t>
            </a:r>
            <a:r>
              <a:rPr lang="pt-PT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6B4EF4B-DDD2-4DDB-83E0-6F54ECB51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309" y="2335856"/>
            <a:ext cx="20297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方阵稀疏零向量</a:t>
            </a:r>
            <a:endParaRPr lang="zh-CN" altLang="zh-CN" sz="2000" b="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99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12" grpId="0" animBg="1"/>
      <p:bldP spid="15" grpId="0"/>
      <p:bldP spid="14" grpId="0"/>
      <p:bldP spid="16" grpId="0"/>
      <p:bldP spid="17" grpId="0" animBg="1"/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0F1571B-EB25-49DA-BCEF-886120E7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20" y="777718"/>
            <a:ext cx="281683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bg1"/>
                </a:solidFill>
                <a:latin typeface="+mn-lt"/>
                <a:ea typeface="+mn-ea"/>
              </a:rPr>
              <a:t>S = sprand(type,m,n,f) </a:t>
            </a: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4B61F1BC-7176-4151-B522-BA1D860B8861}"/>
              </a:ext>
            </a:extLst>
          </p:cNvPr>
          <p:cNvSpPr txBox="1">
            <a:spLocks/>
          </p:cNvSpPr>
          <p:nvPr/>
        </p:nvSpPr>
        <p:spPr bwMode="auto">
          <a:xfrm>
            <a:off x="827584" y="154924"/>
            <a:ext cx="8208652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§6.9 </a:t>
            </a:r>
            <a:r>
              <a:rPr lang="zh-CN" altLang="en-US" sz="2800" b="1" kern="0" dirty="0"/>
              <a:t>稀疏矩阵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</a:rPr>
              <a:t>sprand</a:t>
            </a:r>
            <a:r>
              <a:rPr lang="zh-CN" altLang="en-US" sz="2800" b="1" dirty="0">
                <a:solidFill>
                  <a:srgbClr val="FF0000"/>
                </a:solidFill>
              </a:rPr>
              <a:t>创建稀疏随机矩阵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84D829-4E92-4B7A-85C8-4D67BC77F908}"/>
              </a:ext>
            </a:extLst>
          </p:cNvPr>
          <p:cNvSpPr/>
          <p:nvPr/>
        </p:nvSpPr>
        <p:spPr>
          <a:xfrm>
            <a:off x="452720" y="1264477"/>
            <a:ext cx="2410077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sz="2000" dirty="0">
                <a:solidFill>
                  <a:schemeClr val="bg1"/>
                </a:solidFill>
              </a:rPr>
              <a:t>S </a:t>
            </a:r>
            <a:r>
              <a:rPr lang="pt-PT" altLang="zh-CN" sz="2000">
                <a:solidFill>
                  <a:schemeClr val="bg1"/>
                </a:solidFill>
              </a:rPr>
              <a:t>= sp</a:t>
            </a:r>
            <a:r>
              <a:rPr lang="en-US" altLang="zh-CN" sz="2000">
                <a:solidFill>
                  <a:schemeClr val="bg1"/>
                </a:solidFill>
              </a:rPr>
              <a:t>rand</a:t>
            </a:r>
            <a:r>
              <a:rPr lang="pt-PT" altLang="zh-CN" sz="2000" dirty="0">
                <a:solidFill>
                  <a:schemeClr val="bg1"/>
                </a:solidFill>
              </a:rPr>
              <a:t>(</a:t>
            </a:r>
            <a:r>
              <a:rPr lang="zh-CN" altLang="zh-CN" sz="2000" dirty="0">
                <a:solidFill>
                  <a:schemeClr val="bg1"/>
                </a:solidFill>
              </a:rPr>
              <a:t> m,n </a:t>
            </a:r>
            <a:r>
              <a:rPr lang="zh-CN" altLang="zh-CN" sz="2000">
                <a:solidFill>
                  <a:schemeClr val="bg1"/>
                </a:solidFill>
              </a:rPr>
              <a:t>,f</a:t>
            </a:r>
            <a:r>
              <a:rPr lang="pt-PT" altLang="zh-CN" sz="2000" dirty="0">
                <a:solidFill>
                  <a:schemeClr val="bg1"/>
                </a:solidFill>
              </a:rPr>
              <a:t>)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BB9E2B-3E9A-405A-84BA-7A68A9F997FF}"/>
              </a:ext>
            </a:extLst>
          </p:cNvPr>
          <p:cNvSpPr/>
          <p:nvPr/>
        </p:nvSpPr>
        <p:spPr>
          <a:xfrm>
            <a:off x="452838" y="1785341"/>
            <a:ext cx="209394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PT" altLang="zh-CN" sz="2000" dirty="0">
                <a:solidFill>
                  <a:schemeClr val="bg1"/>
                </a:solidFill>
              </a:rPr>
              <a:t>S = sp</a:t>
            </a:r>
            <a:r>
              <a:rPr lang="en-US" altLang="zh-CN" sz="2000" dirty="0">
                <a:solidFill>
                  <a:schemeClr val="bg1"/>
                </a:solidFill>
              </a:rPr>
              <a:t>rand</a:t>
            </a:r>
            <a:r>
              <a:rPr lang="pt-PT" altLang="zh-CN" sz="2000" dirty="0">
                <a:solidFill>
                  <a:schemeClr val="bg1"/>
                </a:solidFill>
              </a:rPr>
              <a:t>(m</a:t>
            </a:r>
            <a:r>
              <a:rPr lang="zh-CN" altLang="zh-CN" sz="2000" dirty="0">
                <a:solidFill>
                  <a:schemeClr val="bg1"/>
                </a:solidFill>
              </a:rPr>
              <a:t> ,f</a:t>
            </a:r>
            <a:r>
              <a:rPr lang="pt-PT" altLang="zh-CN" sz="2000" dirty="0">
                <a:solidFill>
                  <a:schemeClr val="bg1"/>
                </a:solidFill>
              </a:rPr>
              <a:t>)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7116ED3-33CD-4E4A-A8FF-0AD5B69A8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491" y="1770038"/>
            <a:ext cx="56166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按照指定类型创造长度为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稀疏随机向量</a:t>
            </a:r>
            <a:endParaRPr lang="zh-CN" altLang="zh-CN" sz="2000" b="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7B5699-9D3C-471D-B09A-5F2F1108E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7" y="823571"/>
            <a:ext cx="52040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00000"/>
              </a:lnSpc>
              <a:buFontTx/>
              <a:buNone/>
              <a:defRPr sz="2400"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按照指定类型创造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m×n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稀疏随机矩阵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C3684D-0C85-40C5-90D9-7BE712C2EC55}"/>
              </a:ext>
            </a:extLst>
          </p:cNvPr>
          <p:cNvSpPr txBox="1"/>
          <p:nvPr/>
        </p:nvSpPr>
        <p:spPr>
          <a:xfrm>
            <a:off x="452720" y="2303391"/>
            <a:ext cx="81128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00000"/>
              </a:lnSpc>
              <a:buFontTx/>
              <a:buNone/>
              <a:defRPr sz="2400"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spand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的概率分布，取值为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[0,1]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之间的数，非零元素占有概率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7257B-54D1-42BC-B801-25E6F5990ED0}"/>
              </a:ext>
            </a:extLst>
          </p:cNvPr>
          <p:cNvSpPr txBox="1"/>
          <p:nvPr/>
        </p:nvSpPr>
        <p:spPr>
          <a:xfrm>
            <a:off x="382934" y="2723283"/>
            <a:ext cx="8653562" cy="1917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400" dirty="0">
                <a:solidFill>
                  <a:srgbClr val="0070C0"/>
                </a:solidFill>
              </a:rPr>
              <a:t>julia&gt; m=sprand(Float64,3,2,0.5)</a:t>
            </a:r>
          </a:p>
          <a:p>
            <a:pPr>
              <a:lnSpc>
                <a:spcPts val="2900"/>
              </a:lnSpc>
            </a:pPr>
            <a:r>
              <a:rPr lang="zh-CN" altLang="en-US" sz="2000" dirty="0">
                <a:solidFill>
                  <a:srgbClr val="00B0F0"/>
                </a:solidFill>
              </a:rPr>
              <a:t>结果3×2 </a:t>
            </a:r>
            <a:r>
              <a:rPr lang="zh-CN" altLang="en-US" sz="2000" b="1" dirty="0">
                <a:solidFill>
                  <a:srgbClr val="FF0000"/>
                </a:solidFill>
              </a:rPr>
              <a:t>SparseMatrix</a:t>
            </a:r>
            <a:r>
              <a:rPr lang="zh-CN" altLang="en-US" sz="2000" dirty="0">
                <a:solidFill>
                  <a:srgbClr val="00B0F0"/>
                </a:solidFill>
              </a:rPr>
              <a:t>CSC{Float64, Int64} with 3 stored entries:</a:t>
            </a:r>
          </a:p>
          <a:p>
            <a:pPr>
              <a:lnSpc>
                <a:spcPts val="2900"/>
              </a:lnSpc>
            </a:pPr>
            <a:r>
              <a:rPr lang="zh-CN" altLang="en-US" sz="2000" dirty="0">
                <a:solidFill>
                  <a:srgbClr val="00B0F0"/>
                </a:solidFill>
              </a:rPr>
              <a:t>  ⋅        0.450303</a:t>
            </a:r>
          </a:p>
          <a:p>
            <a:pPr>
              <a:lnSpc>
                <a:spcPts val="2900"/>
              </a:lnSpc>
            </a:pPr>
            <a:r>
              <a:rPr lang="zh-CN" altLang="en-US" sz="2000" dirty="0">
                <a:solidFill>
                  <a:srgbClr val="00B0F0"/>
                </a:solidFill>
              </a:rPr>
              <a:t> 0.507919   ⋅</a:t>
            </a:r>
          </a:p>
          <a:p>
            <a:pPr>
              <a:lnSpc>
                <a:spcPts val="2900"/>
              </a:lnSpc>
            </a:pPr>
            <a:r>
              <a:rPr lang="zh-CN" altLang="en-US" sz="2000" dirty="0">
                <a:solidFill>
                  <a:srgbClr val="00B0F0"/>
                </a:solidFill>
              </a:rPr>
              <a:t> 0.930349   ⋅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649ED9-F456-4ABD-AEF8-B62214CF6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2834" y="1297003"/>
            <a:ext cx="54127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loat64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数据类型创造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m×n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稀疏随机矩阵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E3C2F3D9-86FF-4665-A7A9-8F18CD90869D}"/>
              </a:ext>
            </a:extLst>
          </p:cNvPr>
          <p:cNvSpPr/>
          <p:nvPr/>
        </p:nvSpPr>
        <p:spPr>
          <a:xfrm>
            <a:off x="539552" y="2733165"/>
            <a:ext cx="288032" cy="386276"/>
          </a:xfrm>
          <a:prstGeom prst="wave">
            <a:avLst>
              <a:gd name="adj1" fmla="val 200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19483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波形 3"/>
          <p:cNvSpPr/>
          <p:nvPr/>
        </p:nvSpPr>
        <p:spPr>
          <a:xfrm>
            <a:off x="602760" y="656315"/>
            <a:ext cx="449226" cy="371329"/>
          </a:xfrm>
          <a:prstGeom prst="wave">
            <a:avLst>
              <a:gd name="adj1" fmla="val 200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A9E95B-2E01-44F3-8237-BDB3CC4DAAD9}"/>
              </a:ext>
            </a:extLst>
          </p:cNvPr>
          <p:cNvSpPr txBox="1"/>
          <p:nvPr/>
        </p:nvSpPr>
        <p:spPr>
          <a:xfrm>
            <a:off x="532589" y="699536"/>
            <a:ext cx="76689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julia</a:t>
            </a:r>
            <a:r>
              <a:rPr lang="en-US" altLang="zh-CN" dirty="0"/>
              <a:t>&gt; s=</a:t>
            </a:r>
            <a:r>
              <a:rPr lang="en-US" altLang="zh-CN" dirty="0" err="1"/>
              <a:t>sprand</a:t>
            </a:r>
            <a:r>
              <a:rPr lang="en-US" altLang="zh-CN" dirty="0"/>
              <a:t>(Float64,2,3,0.5)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2×3 </a:t>
            </a:r>
            <a:r>
              <a:rPr lang="en-US" altLang="zh-CN" dirty="0" err="1">
                <a:solidFill>
                  <a:srgbClr val="00B0F0"/>
                </a:solidFill>
              </a:rPr>
              <a:t>SparseMatrixCSC</a:t>
            </a:r>
            <a:r>
              <a:rPr lang="en-US" altLang="zh-CN" dirty="0">
                <a:solidFill>
                  <a:srgbClr val="00B0F0"/>
                </a:solidFill>
              </a:rPr>
              <a:t>{Float64, Int64} with 1 stored entry: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0.820211   ⋅    ⋅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 ⋅         ⋅    ⋅</a:t>
            </a:r>
          </a:p>
          <a:p>
            <a:r>
              <a:rPr lang="en-US" altLang="zh-CN" dirty="0" err="1"/>
              <a:t>julia</a:t>
            </a:r>
            <a:r>
              <a:rPr lang="en-US" altLang="zh-CN" dirty="0"/>
              <a:t>&gt; </a:t>
            </a:r>
            <a:r>
              <a:rPr lang="en-US" altLang="zh-CN" dirty="0" err="1"/>
              <a:t>sp</a:t>
            </a:r>
            <a:r>
              <a:rPr lang="en-US" altLang="zh-CN" dirty="0"/>
              <a:t>=sparse([1,2],[2,3],[22,33])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2×3 </a:t>
            </a:r>
            <a:r>
              <a:rPr lang="en-US" altLang="zh-CN" dirty="0" err="1">
                <a:solidFill>
                  <a:srgbClr val="00B0F0"/>
                </a:solidFill>
              </a:rPr>
              <a:t>SparseMatrixCSC</a:t>
            </a:r>
            <a:r>
              <a:rPr lang="en-US" altLang="zh-CN" dirty="0">
                <a:solidFill>
                  <a:srgbClr val="00B0F0"/>
                </a:solidFill>
              </a:rPr>
              <a:t>{Int64, Int64} with 2 stored entries: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⋅  22   ⋅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⋅   ⋅  33</a:t>
            </a:r>
          </a:p>
          <a:p>
            <a:r>
              <a:rPr lang="en-US" altLang="zh-CN" dirty="0" err="1"/>
              <a:t>julia</a:t>
            </a:r>
            <a:r>
              <a:rPr lang="en-US" altLang="zh-CN" dirty="0"/>
              <a:t>&gt; </a:t>
            </a:r>
            <a:r>
              <a:rPr lang="en-US" altLang="zh-CN" dirty="0" err="1"/>
              <a:t>s+sp</a:t>
            </a:r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2×3 </a:t>
            </a:r>
            <a:r>
              <a:rPr lang="en-US" altLang="zh-CN" dirty="0" err="1">
                <a:solidFill>
                  <a:srgbClr val="00B0F0"/>
                </a:solidFill>
              </a:rPr>
              <a:t>SparseMatrixCSC</a:t>
            </a:r>
            <a:r>
              <a:rPr lang="en-US" altLang="zh-CN" dirty="0">
                <a:solidFill>
                  <a:srgbClr val="00B0F0"/>
                </a:solidFill>
              </a:rPr>
              <a:t>{Float64, Int64} with 3 stored entries: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0.820211  22.0    ⋅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 ⋅          ⋅   33.0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25EB96-20CD-4070-B116-155DA5416A0C}"/>
              </a:ext>
            </a:extLst>
          </p:cNvPr>
          <p:cNvSpPr txBox="1"/>
          <p:nvPr/>
        </p:nvSpPr>
        <p:spPr>
          <a:xfrm>
            <a:off x="498719" y="4199147"/>
            <a:ext cx="2849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>
                <a:solidFill>
                  <a:srgbClr val="00B0F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稀疏矩阵相加还是稀疏矩阵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7303D3-FE51-4CC8-8E0B-7236369EB844}"/>
              </a:ext>
            </a:extLst>
          </p:cNvPr>
          <p:cNvSpPr txBox="1"/>
          <p:nvPr/>
        </p:nvSpPr>
        <p:spPr>
          <a:xfrm>
            <a:off x="6731900" y="1780423"/>
            <a:ext cx="2304596" cy="258532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julia&gt; e=eye(2,3)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2×3 Matrix{Int64}: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1  0  0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0  1  0</a:t>
            </a:r>
          </a:p>
          <a:p>
            <a:endParaRPr lang="zh-CN" altLang="en-US" dirty="0"/>
          </a:p>
          <a:p>
            <a:r>
              <a:rPr lang="zh-CN" altLang="en-US" dirty="0"/>
              <a:t>julia&gt; e+s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2×3 Matrix{Float64}: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1.82021  0.0  0.0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0.0      1.0  0.0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97BE19-1C2A-49DF-8FF4-E3566424419B}"/>
              </a:ext>
            </a:extLst>
          </p:cNvPr>
          <p:cNvSpPr txBox="1"/>
          <p:nvPr/>
        </p:nvSpPr>
        <p:spPr>
          <a:xfrm>
            <a:off x="5816931" y="1361256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>
                <a:solidFill>
                  <a:srgbClr val="00B0F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稀疏矩阵和全矩阵相加变成全矩阵</a:t>
            </a:r>
          </a:p>
        </p:txBody>
      </p:sp>
      <p:sp>
        <p:nvSpPr>
          <p:cNvPr id="13" name="标题 3">
            <a:extLst>
              <a:ext uri="{FF2B5EF4-FFF2-40B4-BE49-F238E27FC236}">
                <a16:creationId xmlns:a16="http://schemas.microsoft.com/office/drawing/2014/main" id="{295C5CC0-8FAD-4A82-8E72-CEE6F752C5C3}"/>
              </a:ext>
            </a:extLst>
          </p:cNvPr>
          <p:cNvSpPr txBox="1">
            <a:spLocks/>
          </p:cNvSpPr>
          <p:nvPr/>
        </p:nvSpPr>
        <p:spPr bwMode="auto">
          <a:xfrm>
            <a:off x="1979712" y="149194"/>
            <a:ext cx="5616624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§6.9  </a:t>
            </a:r>
            <a:r>
              <a:rPr lang="zh-CN" altLang="en-US" sz="2800" b="1" kern="0" dirty="0"/>
              <a:t>稀疏矩阵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运算案例</a:t>
            </a:r>
          </a:p>
        </p:txBody>
      </p:sp>
    </p:spTree>
    <p:extLst>
      <p:ext uri="{BB962C8B-B14F-4D97-AF65-F5344CB8AC3E}">
        <p14:creationId xmlns:p14="http://schemas.microsoft.com/office/powerpoint/2010/main" val="37342038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3A787F-66A7-49F3-A861-EC9063265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771936"/>
            <a:ext cx="7913833" cy="38367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矩阵方程 A*x = B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= sparse([0 2 0 1 0; 4 -1 -1 0 0; 0 0 0 3 -6; -2 0 0 0 2; 0 0 4 2 0])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 = [8; -1; -18; 8; 20]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x = A\B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5-element Vector{Float64}: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1.0000000000000004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1.9999999999999996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2.9999999999999996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4.000000000000001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5.000000000000001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1F3FBF0-7520-42A2-BBCA-5CCE6CDA1680}"/>
              </a:ext>
            </a:extLst>
          </p:cNvPr>
          <p:cNvSpPr txBox="1">
            <a:spLocks/>
          </p:cNvSpPr>
          <p:nvPr/>
        </p:nvSpPr>
        <p:spPr bwMode="auto">
          <a:xfrm>
            <a:off x="1331640" y="149194"/>
            <a:ext cx="7056784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0" dirty="0"/>
              <a:t>§6.9  </a:t>
            </a:r>
            <a:r>
              <a:rPr lang="zh-CN" altLang="en-US" sz="2800" b="1" kern="0" dirty="0"/>
              <a:t>稀疏矩阵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解稀疏矩阵线性方程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波形 4">
            <a:extLst>
              <a:ext uri="{FF2B5EF4-FFF2-40B4-BE49-F238E27FC236}">
                <a16:creationId xmlns:a16="http://schemas.microsoft.com/office/drawing/2014/main" id="{00CFB66C-4F1B-4D29-BC8D-E2C8E1B35A6A}"/>
              </a:ext>
            </a:extLst>
          </p:cNvPr>
          <p:cNvSpPr/>
          <p:nvPr/>
        </p:nvSpPr>
        <p:spPr>
          <a:xfrm>
            <a:off x="539552" y="771936"/>
            <a:ext cx="432048" cy="386276"/>
          </a:xfrm>
          <a:prstGeom prst="wave">
            <a:avLst>
              <a:gd name="adj1" fmla="val 200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058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B766FA-4511-4115-9795-44DF05CDBB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75" t="11388" r="5900" b="9359"/>
          <a:stretch/>
        </p:blipFill>
        <p:spPr>
          <a:xfrm>
            <a:off x="2950205" y="1602650"/>
            <a:ext cx="2880547" cy="214932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4547C6-38F8-4D2A-B2E8-EB1AD3FB1B68}"/>
              </a:ext>
            </a:extLst>
          </p:cNvPr>
          <p:cNvSpPr txBox="1"/>
          <p:nvPr/>
        </p:nvSpPr>
        <p:spPr>
          <a:xfrm>
            <a:off x="827584" y="88522"/>
            <a:ext cx="7776864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 </a:t>
            </a:r>
            <a:r>
              <a:rPr lang="zh-CN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D9579D-BFF4-4579-BF66-FDCD6501FF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63" t="2176"/>
          <a:stretch/>
        </p:blipFill>
        <p:spPr>
          <a:xfrm>
            <a:off x="6133035" y="2710176"/>
            <a:ext cx="2664296" cy="1618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4FB3CC-B032-4F0F-A764-7416D61514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94" t="20080" r="15270"/>
          <a:stretch/>
        </p:blipFill>
        <p:spPr>
          <a:xfrm>
            <a:off x="91662" y="1682505"/>
            <a:ext cx="2900898" cy="211429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2898673-FE36-415D-9053-04D889B4EC6C}"/>
              </a:ext>
            </a:extLst>
          </p:cNvPr>
          <p:cNvSpPr/>
          <p:nvPr/>
        </p:nvSpPr>
        <p:spPr>
          <a:xfrm>
            <a:off x="3073243" y="1972803"/>
            <a:ext cx="2742055" cy="1323439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Ta=(10+20+Tb+Tc)/4</a:t>
            </a:r>
            <a:endParaRPr lang="ko-KR" altLang="en-US" sz="2000" b="0" cap="none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Tb=(20+40+Ta+Td)/4</a:t>
            </a:r>
            <a:endParaRPr lang="ko-KR" altLang="en-US" sz="2000" b="0" cap="none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Tc=(10+30+Ta+Td)/4</a:t>
            </a:r>
            <a:endParaRPr lang="ko-KR" altLang="en-US" sz="2000" b="0" cap="none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Td=(30+40+Tb+Tc)/4</a:t>
            </a:r>
            <a:endParaRPr lang="ko-KR" altLang="en-US" sz="2000" b="0" cap="none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90AFF5-D64C-413D-B368-14FB35C12E82}"/>
              </a:ext>
            </a:extLst>
          </p:cNvPr>
          <p:cNvSpPr/>
          <p:nvPr/>
        </p:nvSpPr>
        <p:spPr>
          <a:xfrm>
            <a:off x="201235" y="697372"/>
            <a:ext cx="533666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上堂课例题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：薄壁铁板热传导问题，该板周边温度已知，分别为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40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度，求板中心温度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BDD3DD-A3A0-4BF4-AF1B-C9AB6E0AB2F9}"/>
              </a:ext>
            </a:extLst>
          </p:cNvPr>
          <p:cNvSpPr/>
          <p:nvPr/>
        </p:nvSpPr>
        <p:spPr>
          <a:xfrm>
            <a:off x="5768708" y="699542"/>
            <a:ext cx="330430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在实际问题中所涉及的方程组和矩阵往往是大规模的高阶的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894A28-2E5D-4CB5-93D5-42BCE0E019EA}"/>
              </a:ext>
            </a:extLst>
          </p:cNvPr>
          <p:cNvSpPr/>
          <p:nvPr/>
        </p:nvSpPr>
        <p:spPr>
          <a:xfrm>
            <a:off x="138403" y="3939902"/>
            <a:ext cx="45365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恰定方程组采用</a:t>
            </a:r>
            <a:endParaRPr lang="en-US" altLang="zh-CN" sz="2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865AC0-771E-4A11-9531-809980D218A8}"/>
              </a:ext>
            </a:extLst>
          </p:cNvPr>
          <p:cNvSpPr/>
          <p:nvPr/>
        </p:nvSpPr>
        <p:spPr>
          <a:xfrm>
            <a:off x="5648267" y="4127132"/>
            <a:ext cx="335733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行波管慢波结构千百万节点</a:t>
            </a:r>
            <a:endParaRPr lang="en-US" altLang="zh-CN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3E2E7897-970B-4DBC-B651-AA025C3E8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31" y="4019565"/>
            <a:ext cx="230275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1800" b="0" dirty="0"/>
              <a:t>直接法</a:t>
            </a:r>
            <a:r>
              <a:rPr lang="en-US" altLang="zh-CN" sz="1800" b="0" dirty="0"/>
              <a:t>:</a:t>
            </a:r>
            <a:r>
              <a:rPr lang="zh-CN" altLang="en-US" sz="1800" b="0" dirty="0"/>
              <a:t>中小型方程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5D3B5F0-EF2E-4B57-BC19-3A9E5B1B5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159" y="1127010"/>
            <a:ext cx="3096344" cy="1602780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C6B48955-4A05-4ECE-9F10-394A333C1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40" y="124974"/>
            <a:ext cx="1800200" cy="4616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b="0" dirty="0"/>
              <a:t>大型方程组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C950BDD-B717-4281-8E4B-7D5A4EA414B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9868" b="80252" l="22281" r="84020"/>
                    </a14:imgEffect>
                  </a14:imgLayer>
                </a14:imgProps>
              </a:ext>
            </a:extLst>
          </a:blip>
          <a:srcRect l="14563" t="12320" r="8263" b="12200"/>
          <a:stretch/>
        </p:blipFill>
        <p:spPr>
          <a:xfrm>
            <a:off x="7471825" y="2223097"/>
            <a:ext cx="1810274" cy="93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685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A81BA-0F49-43D9-9454-751414C98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642" y="778963"/>
            <a:ext cx="1288219" cy="4616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/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97539D7-C310-40D1-B7CF-40796B929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166" y="720840"/>
            <a:ext cx="6083062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lgDashDotDot"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先给定解初始值，采用迭代逐步逼近，求得满足一定精度要求的近似解。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488330-23AA-4935-89CC-0B3267C09829}"/>
              </a:ext>
            </a:extLst>
          </p:cNvPr>
          <p:cNvSpPr/>
          <p:nvPr/>
        </p:nvSpPr>
        <p:spPr>
          <a:xfrm>
            <a:off x="864315" y="1892738"/>
            <a:ext cx="1287506" cy="4616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特点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99776BF-D2B4-4E4B-A710-F95661D9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403" y="1735236"/>
            <a:ext cx="6441646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lgDashDotDot"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占用存储空间小，程序设计简单；</a:t>
            </a:r>
            <a:endParaRPr lang="en-US" altLang="zh-CN" sz="24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适用于</a:t>
            </a:r>
            <a:r>
              <a:rPr lang="zh-CN" altLang="en-US" sz="24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求解大型稀疏矩阵线性方程组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24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要考虑算法收敛性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B28C61-D5A1-4212-858D-3BE096136107}"/>
              </a:ext>
            </a:extLst>
          </p:cNvPr>
          <p:cNvSpPr/>
          <p:nvPr/>
        </p:nvSpPr>
        <p:spPr>
          <a:xfrm>
            <a:off x="2324231" y="3003798"/>
            <a:ext cx="6694401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lgDashDotDot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雅克比（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Jacobi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）迭代法 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高斯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赛德尔（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Gauss-</a:t>
            </a:r>
            <a:r>
              <a:rPr lang="en-US" altLang="zh-CN" sz="24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Serdel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）迭代法 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超松弛迭代法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charset="0"/>
            </a:endParaRPr>
          </a:p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charset="0"/>
              </a:rPr>
              <a:t>两步迭代法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1BB316-5E93-44F5-8EDA-16AF5E5185A2}"/>
              </a:ext>
            </a:extLst>
          </p:cNvPr>
          <p:cNvSpPr/>
          <p:nvPr/>
        </p:nvSpPr>
        <p:spPr>
          <a:xfrm>
            <a:off x="883642" y="3207466"/>
            <a:ext cx="1288219" cy="83099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</a:t>
            </a:r>
            <a:endParaRPr lang="en-US" altLang="zh-CN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dist"/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EC2B34-15F3-4E32-99B2-679ED30538DB}"/>
              </a:ext>
            </a:extLst>
          </p:cNvPr>
          <p:cNvSpPr txBox="1"/>
          <p:nvPr/>
        </p:nvSpPr>
        <p:spPr>
          <a:xfrm>
            <a:off x="1069358" y="94571"/>
            <a:ext cx="7776864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迭代方法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85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975D5520-4E3D-42A1-AE5A-BC1FD4A348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72146" t="4372" r="-1614" b="74258"/>
          <a:stretch/>
        </p:blipFill>
        <p:spPr bwMode="auto">
          <a:xfrm>
            <a:off x="6530276" y="986010"/>
            <a:ext cx="2362204" cy="1360672"/>
          </a:xfrm>
          <a:prstGeom prst="rect">
            <a:avLst/>
          </a:prstGeom>
          <a:noFill/>
        </p:spPr>
      </p:pic>
      <p:pic>
        <p:nvPicPr>
          <p:cNvPr id="4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25EFF84B-9A7B-45AB-9D88-EB658887D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9197" t="4372" r="27240" b="74258"/>
          <a:stretch/>
        </p:blipFill>
        <p:spPr bwMode="auto">
          <a:xfrm>
            <a:off x="679786" y="945620"/>
            <a:ext cx="5694813" cy="1360672"/>
          </a:xfrm>
          <a:prstGeom prst="rect">
            <a:avLst/>
          </a:prstGeom>
          <a:noFill/>
        </p:spPr>
      </p:pic>
      <p:sp>
        <p:nvSpPr>
          <p:cNvPr id="6" name="矩形 2">
            <a:extLst>
              <a:ext uri="{FF2B5EF4-FFF2-40B4-BE49-F238E27FC236}">
                <a16:creationId xmlns:a16="http://schemas.microsoft.com/office/drawing/2014/main" id="{D2E2A181-E546-4533-A128-0ECD1711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06" y="668358"/>
            <a:ext cx="1682211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简单实例</a:t>
            </a:r>
          </a:p>
        </p:txBody>
      </p:sp>
      <p:sp>
        <p:nvSpPr>
          <p:cNvPr id="7" name="矩形: 圆角 1">
            <a:extLst>
              <a:ext uri="{FF2B5EF4-FFF2-40B4-BE49-F238E27FC236}">
                <a16:creationId xmlns:a16="http://schemas.microsoft.com/office/drawing/2014/main" id="{1B6A62DD-F34E-45A7-A0F0-BEB4D421AAE8}"/>
              </a:ext>
            </a:extLst>
          </p:cNvPr>
          <p:cNvSpPr/>
          <p:nvPr/>
        </p:nvSpPr>
        <p:spPr bwMode="auto">
          <a:xfrm>
            <a:off x="7015863" y="1101050"/>
            <a:ext cx="1682211" cy="38010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endParaRPr lang="zh-CN" altLang="en-US" sz="16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" name="矩形: 圆角 1">
            <a:extLst>
              <a:ext uri="{FF2B5EF4-FFF2-40B4-BE49-F238E27FC236}">
                <a16:creationId xmlns:a16="http://schemas.microsoft.com/office/drawing/2014/main" id="{A36CFE4B-CACF-4B15-B8D4-3B0A595A428D}"/>
              </a:ext>
            </a:extLst>
          </p:cNvPr>
          <p:cNvSpPr/>
          <p:nvPr/>
        </p:nvSpPr>
        <p:spPr bwMode="auto">
          <a:xfrm>
            <a:off x="6550661" y="1063610"/>
            <a:ext cx="201965" cy="3912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pic>
        <p:nvPicPr>
          <p:cNvPr id="9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0CD1D86E-677F-4C96-B28E-2CB6AFEEAC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2072" t="29551" r="39311" b="59774"/>
          <a:stretch/>
        </p:blipFill>
        <p:spPr bwMode="auto">
          <a:xfrm>
            <a:off x="591680" y="1867213"/>
            <a:ext cx="2362204" cy="523220"/>
          </a:xfrm>
          <a:prstGeom prst="rect">
            <a:avLst/>
          </a:prstGeom>
          <a:noFill/>
        </p:spPr>
      </p:pic>
      <p:pic>
        <p:nvPicPr>
          <p:cNvPr id="10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C8639A6D-3756-4E61-93AA-172B3622D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74212" r="931" b="6591"/>
          <a:stretch/>
        </p:blipFill>
        <p:spPr bwMode="auto">
          <a:xfrm>
            <a:off x="126238" y="3945195"/>
            <a:ext cx="7941482" cy="650712"/>
          </a:xfrm>
          <a:prstGeom prst="rect">
            <a:avLst/>
          </a:prstGeom>
          <a:noFill/>
        </p:spPr>
      </p:pic>
      <p:sp>
        <p:nvSpPr>
          <p:cNvPr id="11" name="矩形: 圆角 1">
            <a:extLst>
              <a:ext uri="{FF2B5EF4-FFF2-40B4-BE49-F238E27FC236}">
                <a16:creationId xmlns:a16="http://schemas.microsoft.com/office/drawing/2014/main" id="{3EB0E54A-341B-4895-8163-5E9C23F2A531}"/>
              </a:ext>
            </a:extLst>
          </p:cNvPr>
          <p:cNvSpPr/>
          <p:nvPr/>
        </p:nvSpPr>
        <p:spPr bwMode="auto">
          <a:xfrm>
            <a:off x="6550661" y="1495658"/>
            <a:ext cx="201965" cy="38780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矩形: 圆角 1">
            <a:extLst>
              <a:ext uri="{FF2B5EF4-FFF2-40B4-BE49-F238E27FC236}">
                <a16:creationId xmlns:a16="http://schemas.microsoft.com/office/drawing/2014/main" id="{6B6BACE5-6EAB-471C-A206-D5117EBC8516}"/>
              </a:ext>
            </a:extLst>
          </p:cNvPr>
          <p:cNvSpPr/>
          <p:nvPr/>
        </p:nvSpPr>
        <p:spPr bwMode="auto">
          <a:xfrm>
            <a:off x="6969400" y="1528338"/>
            <a:ext cx="1731955" cy="3912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矩形: 圆角 1">
            <a:extLst>
              <a:ext uri="{FF2B5EF4-FFF2-40B4-BE49-F238E27FC236}">
                <a16:creationId xmlns:a16="http://schemas.microsoft.com/office/drawing/2014/main" id="{04B19F50-770F-4037-ACE3-9139DF8DFAE5}"/>
              </a:ext>
            </a:extLst>
          </p:cNvPr>
          <p:cNvSpPr/>
          <p:nvPr/>
        </p:nvSpPr>
        <p:spPr bwMode="auto">
          <a:xfrm>
            <a:off x="6547211" y="1964451"/>
            <a:ext cx="201964" cy="291317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矩形: 圆角 1">
            <a:extLst>
              <a:ext uri="{FF2B5EF4-FFF2-40B4-BE49-F238E27FC236}">
                <a16:creationId xmlns:a16="http://schemas.microsoft.com/office/drawing/2014/main" id="{87CA8049-712D-4D0F-8601-5C774D982D18}"/>
              </a:ext>
            </a:extLst>
          </p:cNvPr>
          <p:cNvSpPr/>
          <p:nvPr/>
        </p:nvSpPr>
        <p:spPr bwMode="auto">
          <a:xfrm>
            <a:off x="7004973" y="1964407"/>
            <a:ext cx="1693101" cy="30159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5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258E4C12-A5DE-4195-922B-C3818CFB7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0870" t="42388" r="24608" b="43019"/>
          <a:stretch/>
        </p:blipFill>
        <p:spPr bwMode="auto">
          <a:xfrm>
            <a:off x="755803" y="2443199"/>
            <a:ext cx="5172246" cy="715267"/>
          </a:xfrm>
          <a:prstGeom prst="rect">
            <a:avLst/>
          </a:prstGeom>
          <a:noFill/>
        </p:spPr>
      </p:pic>
      <p:sp>
        <p:nvSpPr>
          <p:cNvPr id="18" name="对话气泡: 椭圆形 17">
            <a:extLst>
              <a:ext uri="{FF2B5EF4-FFF2-40B4-BE49-F238E27FC236}">
                <a16:creationId xmlns:a16="http://schemas.microsoft.com/office/drawing/2014/main" id="{200A4F96-6FBC-4688-87ED-4C10D47C1419}"/>
              </a:ext>
            </a:extLst>
          </p:cNvPr>
          <p:cNvSpPr/>
          <p:nvPr/>
        </p:nvSpPr>
        <p:spPr bwMode="auto">
          <a:xfrm flipH="1">
            <a:off x="6603259" y="2458511"/>
            <a:ext cx="2133669" cy="1038701"/>
          </a:xfrm>
          <a:prstGeom prst="wedgeEllipseCallout">
            <a:avLst>
              <a:gd name="adj1" fmla="val -28620"/>
              <a:gd name="adj2" fmla="val -6182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等式右侧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y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和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z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相当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k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次迭代结果（已知结果）</a:t>
            </a:r>
          </a:p>
        </p:txBody>
      </p:sp>
      <p:sp>
        <p:nvSpPr>
          <p:cNvPr id="19" name="对话气泡: 椭圆形 18">
            <a:extLst>
              <a:ext uri="{FF2B5EF4-FFF2-40B4-BE49-F238E27FC236}">
                <a16:creationId xmlns:a16="http://schemas.microsoft.com/office/drawing/2014/main" id="{2111FA67-D984-4AE3-A133-08D457B05AEE}"/>
              </a:ext>
            </a:extLst>
          </p:cNvPr>
          <p:cNvSpPr/>
          <p:nvPr/>
        </p:nvSpPr>
        <p:spPr bwMode="auto">
          <a:xfrm>
            <a:off x="7568427" y="509940"/>
            <a:ext cx="819997" cy="117594"/>
          </a:xfrm>
          <a:prstGeom prst="wedgeEllipseCallou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对话气泡: 椭圆形 19">
            <a:extLst>
              <a:ext uri="{FF2B5EF4-FFF2-40B4-BE49-F238E27FC236}">
                <a16:creationId xmlns:a16="http://schemas.microsoft.com/office/drawing/2014/main" id="{5064441E-DED4-4E84-A6BD-1E511F7D6A2C}"/>
              </a:ext>
            </a:extLst>
          </p:cNvPr>
          <p:cNvSpPr/>
          <p:nvPr/>
        </p:nvSpPr>
        <p:spPr bwMode="auto">
          <a:xfrm>
            <a:off x="2252997" y="684914"/>
            <a:ext cx="4287471" cy="435949"/>
          </a:xfrm>
          <a:prstGeom prst="wedgeEllipseCallout">
            <a:avLst>
              <a:gd name="adj1" fmla="val 49154"/>
              <a:gd name="adj2" fmla="val 4707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</a:rPr>
              <a:t>等式左侧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y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和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z</a:t>
            </a:r>
            <a:r>
              <a:rPr lang="zh-CN" altLang="en-US" sz="1400" dirty="0">
                <a:solidFill>
                  <a:srgbClr val="FF0000"/>
                </a:solidFill>
                <a:latin typeface="Times New Roman" pitchFamily="18" charset="0"/>
              </a:rPr>
              <a:t>相当</a:t>
            </a:r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</a:rPr>
              <a:t>k+1</a:t>
            </a: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</a:rPr>
              <a:t>次迭代结果</a:t>
            </a:r>
            <a:endParaRPr kumimoji="0" lang="zh-CN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22" name="Picture 1" descr="C:\Users\Administrator\AppData\Roaming\Tencent\Users\910987637\QQ\WinTemp\RichOle\O[8JO9`LXVZC(POT57E(E(A.png">
            <a:extLst>
              <a:ext uri="{FF2B5EF4-FFF2-40B4-BE49-F238E27FC236}">
                <a16:creationId xmlns:a16="http://schemas.microsoft.com/office/drawing/2014/main" id="{62229630-E201-499E-8F0A-22A304DFE1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0213" t="55871" r="17026" b="36604"/>
          <a:stretch/>
        </p:blipFill>
        <p:spPr bwMode="auto">
          <a:xfrm>
            <a:off x="618361" y="3147759"/>
            <a:ext cx="5832648" cy="368860"/>
          </a:xfrm>
          <a:prstGeom prst="rect">
            <a:avLst/>
          </a:prstGeom>
          <a:noFill/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3C608FB-3E66-453B-B90A-891FE6631CC9}"/>
              </a:ext>
            </a:extLst>
          </p:cNvPr>
          <p:cNvSpPr txBox="1"/>
          <p:nvPr/>
        </p:nvSpPr>
        <p:spPr>
          <a:xfrm>
            <a:off x="793841" y="105049"/>
            <a:ext cx="7776864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雅可比迭代法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1A8A27-87AF-4D25-BC8D-B7D2818B0C95}"/>
              </a:ext>
            </a:extLst>
          </p:cNvPr>
          <p:cNvSpPr/>
          <p:nvPr/>
        </p:nvSpPr>
        <p:spPr>
          <a:xfrm>
            <a:off x="621610" y="3506353"/>
            <a:ext cx="4754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1/5,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=2/5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带入第三条方程得到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z=32/7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F84C47-44A1-4E17-893B-AB9D13EBE037}"/>
              </a:ext>
            </a:extLst>
          </p:cNvPr>
          <p:cNvSpPr/>
          <p:nvPr/>
        </p:nvSpPr>
        <p:spPr>
          <a:xfrm>
            <a:off x="5436096" y="3481587"/>
            <a:ext cx="3578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第一次迭代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1/5,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=2/5,z=32/7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将带入到方程组进行第二次迭代</a:t>
            </a:r>
          </a:p>
        </p:txBody>
      </p:sp>
    </p:spTree>
    <p:extLst>
      <p:ext uri="{BB962C8B-B14F-4D97-AF65-F5344CB8AC3E}">
        <p14:creationId xmlns:p14="http://schemas.microsoft.com/office/powerpoint/2010/main" val="174768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20" grpId="0" animBg="1"/>
      <p:bldP spid="23" grpId="0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E97C44-13D3-4137-834A-8ABBFB48ACAF}"/>
              </a:ext>
            </a:extLst>
          </p:cNvPr>
          <p:cNvSpPr/>
          <p:nvPr/>
        </p:nvSpPr>
        <p:spPr>
          <a:xfrm>
            <a:off x="54475" y="817968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原理：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4FE50E97-DE2E-4643-A652-FA6E2636AE54}"/>
              </a:ext>
            </a:extLst>
          </p:cNvPr>
          <p:cNvGrpSpPr>
            <a:grpSpLocks/>
          </p:cNvGrpSpPr>
          <p:nvPr/>
        </p:nvGrpSpPr>
        <p:grpSpPr bwMode="auto">
          <a:xfrm>
            <a:off x="372891" y="1573254"/>
            <a:ext cx="2310233" cy="1328333"/>
            <a:chOff x="432" y="2400"/>
            <a:chExt cx="1441" cy="1008"/>
          </a:xfrm>
        </p:grpSpPr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C77BEF30-F5F0-4BDB-B3B0-FA3C923A1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88"/>
              <a:ext cx="43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00206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="1" dirty="0">
                  <a:solidFill>
                    <a:srgbClr val="002060"/>
                  </a:solidFill>
                  <a:latin typeface="Times New Roman" pitchFamily="18" charset="0"/>
                  <a:ea typeface="楷体_GB2312" pitchFamily="49" charset="-122"/>
                </a:rPr>
                <a:t> =</a:t>
              </a:r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D20AF163-25BA-4219-B615-FBD15FCF9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1009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</p:grpSp>
      <p:sp>
        <p:nvSpPr>
          <p:cNvPr id="9" name="AutoShape 15">
            <a:extLst>
              <a:ext uri="{FF2B5EF4-FFF2-40B4-BE49-F238E27FC236}">
                <a16:creationId xmlns:a16="http://schemas.microsoft.com/office/drawing/2014/main" id="{676553E2-5FD7-4C30-82D3-55E282867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727" y="1601070"/>
            <a:ext cx="1590071" cy="1330720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800" b="1" i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L</a:t>
            </a:r>
          </a:p>
        </p:txBody>
      </p:sp>
      <p:sp>
        <p:nvSpPr>
          <p:cNvPr id="10" name="AutoShape 16">
            <a:extLst>
              <a:ext uri="{FF2B5EF4-FFF2-40B4-BE49-F238E27FC236}">
                <a16:creationId xmlns:a16="http://schemas.microsoft.com/office/drawing/2014/main" id="{F245FBF6-B4DA-4270-8C7F-88D41499B5E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1417688" y="1405670"/>
            <a:ext cx="1084659" cy="1446213"/>
          </a:xfrm>
          <a:prstGeom prst="rtTriangl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kumimoji="1" lang="en-US" altLang="zh-CN" sz="28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U</a:t>
            </a: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67B34A98-D9FA-4651-A70F-A36767960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636" y="1734522"/>
            <a:ext cx="381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D</a:t>
            </a:r>
          </a:p>
        </p:txBody>
      </p:sp>
      <p:graphicFrame>
        <p:nvGraphicFramePr>
          <p:cNvPr id="12" name="Object 18">
            <a:extLst>
              <a:ext uri="{FF2B5EF4-FFF2-40B4-BE49-F238E27FC236}">
                <a16:creationId xmlns:a16="http://schemas.microsoft.com/office/drawing/2014/main" id="{52A9D98E-2C0C-42D0-BBF6-B01732504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379408"/>
              </p:ext>
            </p:extLst>
          </p:nvPr>
        </p:nvGraphicFramePr>
        <p:xfrm>
          <a:off x="4456379" y="1458508"/>
          <a:ext cx="4381936" cy="79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name="Equation" r:id="rId8" imgW="2019300" imgH="431800" progId="">
                  <p:embed/>
                </p:oleObj>
              </mc:Choice>
              <mc:Fallback>
                <p:oleObj name="Equation" r:id="rId8" imgW="2019300" imgH="431800" progId="">
                  <p:embed/>
                  <p:pic>
                    <p:nvPicPr>
                      <p:cNvPr id="942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379" y="1458508"/>
                        <a:ext cx="4381936" cy="792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>
            <a:extLst>
              <a:ext uri="{FF2B5EF4-FFF2-40B4-BE49-F238E27FC236}">
                <a16:creationId xmlns:a16="http://schemas.microsoft.com/office/drawing/2014/main" id="{6B2B3272-922A-45D3-949A-A215968E5C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998715"/>
              </p:ext>
            </p:extLst>
          </p:nvPr>
        </p:nvGraphicFramePr>
        <p:xfrm>
          <a:off x="4803775" y="2286000"/>
          <a:ext cx="377031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name="Equation" r:id="rId10" imgW="1841500" imgH="228600" progId="">
                  <p:embed/>
                </p:oleObj>
              </mc:Choice>
              <mc:Fallback>
                <p:oleObj name="Equation" r:id="rId10" imgW="1841500" imgH="228600" progId="">
                  <p:embed/>
                  <p:pic>
                    <p:nvPicPr>
                      <p:cNvPr id="942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2286000"/>
                        <a:ext cx="3770313" cy="42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0">
            <a:extLst>
              <a:ext uri="{FF2B5EF4-FFF2-40B4-BE49-F238E27FC236}">
                <a16:creationId xmlns:a16="http://schemas.microsoft.com/office/drawing/2014/main" id="{945CD08F-B785-4760-AC2D-E96A39430230}"/>
              </a:ext>
            </a:extLst>
          </p:cNvPr>
          <p:cNvGrpSpPr>
            <a:grpSpLocks/>
          </p:cNvGrpSpPr>
          <p:nvPr/>
        </p:nvGrpSpPr>
        <p:grpSpPr bwMode="auto">
          <a:xfrm>
            <a:off x="5961547" y="2700709"/>
            <a:ext cx="2438400" cy="519113"/>
            <a:chOff x="3312" y="3168"/>
            <a:chExt cx="1536" cy="436"/>
          </a:xfrm>
        </p:grpSpPr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7BA2646B-5714-46BF-BBD6-3D8A00A2A7A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696" y="2784"/>
              <a:ext cx="96" cy="86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911E465F-D136-4C8E-A609-721898BE2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16"/>
              <a:ext cx="288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002060"/>
                  </a:solidFill>
                  <a:latin typeface="Times New Roman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7" name="AutoShape 23">
              <a:extLst>
                <a:ext uri="{FF2B5EF4-FFF2-40B4-BE49-F238E27FC236}">
                  <a16:creationId xmlns:a16="http://schemas.microsoft.com/office/drawing/2014/main" id="{F7F6C58F-3150-4B79-8D4C-B4D90F9DF18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632" y="3048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2D24003B-0F52-4A7A-A695-9CCCC1566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277"/>
            <a:ext cx="173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96" name="Equation" r:id="rId12" imgW="164957" imgH="203024" progId="">
                    <p:embed/>
                  </p:oleObj>
                </mc:Choice>
                <mc:Fallback>
                  <p:oleObj name="Equation" r:id="rId12" imgW="164957" imgH="203024" progId="">
                    <p:embed/>
                    <p:pic>
                      <p:nvPicPr>
                        <p:cNvPr id="9423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277"/>
                          <a:ext cx="173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AutoShape 25">
            <a:extLst>
              <a:ext uri="{FF2B5EF4-FFF2-40B4-BE49-F238E27FC236}">
                <a16:creationId xmlns:a16="http://schemas.microsoft.com/office/drawing/2014/main" id="{AD37DC94-3B02-4B56-8678-0E3985C14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581" y="2681148"/>
            <a:ext cx="2309910" cy="420770"/>
          </a:xfrm>
          <a:prstGeom prst="wedgeEllipseCallout">
            <a:avLst>
              <a:gd name="adj1" fmla="val 68260"/>
              <a:gd name="adj2" fmla="val 3825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1600" b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Jacobi </a:t>
            </a:r>
            <a:r>
              <a:rPr kumimoji="1" lang="zh-CN" altLang="en-US" sz="1600" b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迭代阵</a:t>
            </a:r>
            <a:r>
              <a:rPr kumimoji="1" lang="en-US" altLang="zh-CN" sz="1600" b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endParaRPr kumimoji="1" lang="zh-CN" altLang="en-US" sz="1600" b="1" dirty="0">
              <a:solidFill>
                <a:srgbClr val="00206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DB53AA78-C466-498B-8BA1-A845F7701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425563"/>
              </p:ext>
            </p:extLst>
          </p:nvPr>
        </p:nvGraphicFramePr>
        <p:xfrm>
          <a:off x="5140067" y="3196386"/>
          <a:ext cx="3958478" cy="461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7" name="Equation" r:id="rId14" imgW="1968500" imgH="228600" progId="">
                  <p:embed/>
                </p:oleObj>
              </mc:Choice>
              <mc:Fallback>
                <p:oleObj name="Equation" r:id="rId14" imgW="1968500" imgH="228600" progId="">
                  <p:embed/>
                  <p:pic>
                    <p:nvPicPr>
                      <p:cNvPr id="9423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067" y="3196386"/>
                        <a:ext cx="3958478" cy="4619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4">
            <a:extLst>
              <a:ext uri="{FF2B5EF4-FFF2-40B4-BE49-F238E27FC236}">
                <a16:creationId xmlns:a16="http://schemas.microsoft.com/office/drawing/2014/main" id="{BBDEBCAB-D42E-4CCD-A432-41B18527F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436" y="829901"/>
          <a:ext cx="1110818" cy="433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Equation" r:id="rId16" imgW="507780" imgH="203112" progId="">
                  <p:embed/>
                </p:oleObj>
              </mc:Choice>
              <mc:Fallback>
                <p:oleObj name="Equation" r:id="rId16" imgW="507780" imgH="203112" progId="">
                  <p:embed/>
                  <p:pic>
                    <p:nvPicPr>
                      <p:cNvPr id="3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36" y="829901"/>
                        <a:ext cx="1110818" cy="4331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箭头: 右 23">
            <a:extLst>
              <a:ext uri="{FF2B5EF4-FFF2-40B4-BE49-F238E27FC236}">
                <a16:creationId xmlns:a16="http://schemas.microsoft.com/office/drawing/2014/main" id="{D99E5C3D-D1C1-4847-8FEF-947152EC94B4}"/>
              </a:ext>
            </a:extLst>
          </p:cNvPr>
          <p:cNvSpPr/>
          <p:nvPr/>
        </p:nvSpPr>
        <p:spPr bwMode="auto">
          <a:xfrm>
            <a:off x="1924050" y="959236"/>
            <a:ext cx="593543" cy="221611"/>
          </a:xfrm>
          <a:prstGeom prst="rightArrow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1B5B29-22E3-40F2-82D7-A4977E5283AE}"/>
              </a:ext>
            </a:extLst>
          </p:cNvPr>
          <p:cNvSpPr/>
          <p:nvPr/>
        </p:nvSpPr>
        <p:spPr>
          <a:xfrm>
            <a:off x="1847706" y="660624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变形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sp>
        <p:nvSpPr>
          <p:cNvPr id="26" name="箭头: 右 36">
            <a:extLst>
              <a:ext uri="{FF2B5EF4-FFF2-40B4-BE49-F238E27FC236}">
                <a16:creationId xmlns:a16="http://schemas.microsoft.com/office/drawing/2014/main" id="{C95C5A3C-1BA6-40EA-8C16-AC8BEEFE7B0D}"/>
              </a:ext>
            </a:extLst>
          </p:cNvPr>
          <p:cNvSpPr/>
          <p:nvPr/>
        </p:nvSpPr>
        <p:spPr bwMode="auto">
          <a:xfrm>
            <a:off x="4239142" y="935649"/>
            <a:ext cx="505793" cy="221611"/>
          </a:xfrm>
          <a:prstGeom prst="rightArrow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: 圆角 1">
                <a:extLst>
                  <a:ext uri="{FF2B5EF4-FFF2-40B4-BE49-F238E27FC236}">
                    <a16:creationId xmlns:a16="http://schemas.microsoft.com/office/drawing/2014/main" id="{A811A74C-51D7-4D80-8609-69CDA3263B23}"/>
                  </a:ext>
                </a:extLst>
              </p:cNvPr>
              <p:cNvSpPr/>
              <p:nvPr/>
            </p:nvSpPr>
            <p:spPr bwMode="auto">
              <a:xfrm>
                <a:off x="12676" y="3844883"/>
                <a:ext cx="2430065" cy="748857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7800" indent="-177800" eaLnBrk="0" hangingPunct="0">
                  <a:lnSpc>
                    <a:spcPct val="11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指定精度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zh-CN" alt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作为</m:t>
                    </m:r>
                  </m:oMath>
                </a14:m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判断迭代收敛准则</a:t>
                </a:r>
                <a:endParaRPr lang="en-US" altLang="zh-CN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矩形: 圆角 1">
                <a:extLst>
                  <a:ext uri="{FF2B5EF4-FFF2-40B4-BE49-F238E27FC236}">
                    <a16:creationId xmlns:a16="http://schemas.microsoft.com/office/drawing/2014/main" id="{A811A74C-51D7-4D80-8609-69CDA3263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76" y="3844883"/>
                <a:ext cx="2430065" cy="748857"/>
              </a:xfrm>
              <a:prstGeom prst="roundRect">
                <a:avLst/>
              </a:prstGeom>
              <a:blipFill>
                <a:blip r:embed="rId18"/>
                <a:stretch>
                  <a:fillRect l="-501" r="-752" b="-8130"/>
                </a:stretch>
              </a:blip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: 圆角 1">
                <a:extLst>
                  <a:ext uri="{FF2B5EF4-FFF2-40B4-BE49-F238E27FC236}">
                    <a16:creationId xmlns:a16="http://schemas.microsoft.com/office/drawing/2014/main" id="{FADC44FD-DF9A-48A0-B5F8-28F40FD10FDA}"/>
                  </a:ext>
                </a:extLst>
              </p:cNvPr>
              <p:cNvSpPr/>
              <p:nvPr/>
            </p:nvSpPr>
            <p:spPr bwMode="auto">
              <a:xfrm>
                <a:off x="6516472" y="3851795"/>
                <a:ext cx="2161868" cy="752902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7800" indent="-177800" algn="dist" eaLnBrk="0" hangingPunct="0">
                  <a:lnSpc>
                    <a:spcPct val="11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达到指定精度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zh-CN" alt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7800" indent="-177800" algn="dist" eaLnBrk="0" hangingPunct="0">
                  <a:lnSpc>
                    <a:spcPct val="11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迭代停止  得到解</a:t>
                </a:r>
                <a:endParaRPr lang="en-US" altLang="zh-CN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矩形: 圆角 1">
                <a:extLst>
                  <a:ext uri="{FF2B5EF4-FFF2-40B4-BE49-F238E27FC236}">
                    <a16:creationId xmlns:a16="http://schemas.microsoft.com/office/drawing/2014/main" id="{FADC44FD-DF9A-48A0-B5F8-28F40FD10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6472" y="3851795"/>
                <a:ext cx="2161868" cy="752902"/>
              </a:xfrm>
              <a:prstGeom prst="roundRect">
                <a:avLst/>
              </a:prstGeom>
              <a:blipFill>
                <a:blip r:embed="rId19"/>
                <a:stretch>
                  <a:fillRect l="-563" r="-845" b="-8130"/>
                </a:stretch>
              </a:blip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AE154AB9-F700-45C3-8C85-13F52FED3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3124" y="3902568"/>
                <a:ext cx="3324814" cy="347852"/>
              </a:xfrm>
              <a:prstGeom prst="rect">
                <a:avLst/>
              </a:prstGeom>
              <a:solidFill>
                <a:srgbClr val="0070C0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2400" b="1">
                    <a:solidFill>
                      <a:schemeClr val="bg1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defRPr>
                </a:lvl1pPr>
              </a:lstStyle>
              <a:p>
                <a:r>
                  <a:rPr lang="zh-CN" altLang="en-US" sz="1600" dirty="0"/>
                  <a:t>误差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i="1" smtClean="0">
                        <a:latin typeface="Cambria Math" panose="02040503050406030204" pitchFamily="18" charset="0"/>
                      </a:rPr>
                      <m:t>norm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（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AE154AB9-F700-45C3-8C85-13F52FED3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124" y="3902568"/>
                <a:ext cx="3324814" cy="3478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Object 16">
            <a:extLst>
              <a:ext uri="{FF2B5EF4-FFF2-40B4-BE49-F238E27FC236}">
                <a16:creationId xmlns:a16="http://schemas.microsoft.com/office/drawing/2014/main" id="{C873E66D-37B6-43C9-8A2F-E738746E5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1322" y="793445"/>
          <a:ext cx="1726341" cy="46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Equation" r:id="rId21" imgW="774364" imgH="203112" progId="">
                  <p:embed/>
                </p:oleObj>
              </mc:Choice>
              <mc:Fallback>
                <p:oleObj name="Equation" r:id="rId21" imgW="774364" imgH="203112" progId="">
                  <p:embed/>
                  <p:pic>
                    <p:nvPicPr>
                      <p:cNvPr id="41" name="Object 16">
                        <a:extLst>
                          <a:ext uri="{FF2B5EF4-FFF2-40B4-BE49-F238E27FC236}">
                            <a16:creationId xmlns:a16="http://schemas.microsoft.com/office/drawing/2014/main" id="{53D3BFE1-5AE9-46B6-A5FE-B62A12DCC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322" y="793445"/>
                        <a:ext cx="1726341" cy="4637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7">
            <a:extLst>
              <a:ext uri="{FF2B5EF4-FFF2-40B4-BE49-F238E27FC236}">
                <a16:creationId xmlns:a16="http://schemas.microsoft.com/office/drawing/2014/main" id="{674B94FF-D0DF-432B-929E-AF006296D8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199" y="751641"/>
          <a:ext cx="2071740" cy="52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Equation" r:id="rId23" imgW="1130300" imgH="228600" progId="">
                  <p:embed/>
                </p:oleObj>
              </mc:Choice>
              <mc:Fallback>
                <p:oleObj name="Equation" r:id="rId23" imgW="1130300" imgH="228600" progId="">
                  <p:embed/>
                  <p:pic>
                    <p:nvPicPr>
                      <p:cNvPr id="42" name="Object 17">
                        <a:extLst>
                          <a:ext uri="{FF2B5EF4-FFF2-40B4-BE49-F238E27FC236}">
                            <a16:creationId xmlns:a16="http://schemas.microsoft.com/office/drawing/2014/main" id="{9439D0C0-E6BF-4A98-A6A8-4003638570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199" y="751641"/>
                        <a:ext cx="2071740" cy="526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: 圆角 1">
            <a:extLst>
              <a:ext uri="{FF2B5EF4-FFF2-40B4-BE49-F238E27FC236}">
                <a16:creationId xmlns:a16="http://schemas.microsoft.com/office/drawing/2014/main" id="{F8032083-56E3-4E6B-A0B9-649572ED78EB}"/>
              </a:ext>
            </a:extLst>
          </p:cNvPr>
          <p:cNvSpPr/>
          <p:nvPr/>
        </p:nvSpPr>
        <p:spPr bwMode="auto">
          <a:xfrm>
            <a:off x="5579970" y="819432"/>
            <a:ext cx="309525" cy="3912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33" name="矩形: 圆角 1">
            <a:extLst>
              <a:ext uri="{FF2B5EF4-FFF2-40B4-BE49-F238E27FC236}">
                <a16:creationId xmlns:a16="http://schemas.microsoft.com/office/drawing/2014/main" id="{DFAA9CF2-6FCB-4EC5-9DBE-E4C847FD9551}"/>
              </a:ext>
            </a:extLst>
          </p:cNvPr>
          <p:cNvSpPr/>
          <p:nvPr/>
        </p:nvSpPr>
        <p:spPr bwMode="auto">
          <a:xfrm>
            <a:off x="6516216" y="836915"/>
            <a:ext cx="309525" cy="3912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3DEBA3-F688-411C-928D-59DD3A0137A6}"/>
              </a:ext>
            </a:extLst>
          </p:cNvPr>
          <p:cNvSpPr/>
          <p:nvPr/>
        </p:nvSpPr>
        <p:spPr>
          <a:xfrm>
            <a:off x="3474226" y="3246151"/>
            <a:ext cx="19223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Jacobi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迭代式：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746DF9-5BF6-48CD-B231-6EA0C1A21B48}"/>
              </a:ext>
            </a:extLst>
          </p:cNvPr>
          <p:cNvSpPr/>
          <p:nvPr/>
        </p:nvSpPr>
        <p:spPr>
          <a:xfrm>
            <a:off x="6914054" y="729935"/>
            <a:ext cx="2031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建立迭代式方程需要</a:t>
            </a:r>
            <a:endParaRPr kumimoji="1" lang="en-US" altLang="zh-CN" sz="1600" b="1" dirty="0">
              <a:solidFill>
                <a:srgbClr val="0070C0"/>
              </a:solidFill>
              <a:latin typeface="Times New Roman" pitchFamily="18" charset="0"/>
              <a:ea typeface="楷体_GB2312" pitchFamily="49" charset="-122"/>
            </a:endParaRPr>
          </a:p>
          <a:p>
            <a:r>
              <a:rPr kumimoji="1" lang="zh-CN" altLang="en-US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推出</a:t>
            </a:r>
            <a:r>
              <a:rPr kumimoji="1" lang="en-US" altLang="zh-CN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和</a:t>
            </a:r>
            <a:r>
              <a:rPr kumimoji="1" lang="en-US" altLang="zh-CN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f</a:t>
            </a:r>
            <a:r>
              <a:rPr kumimoji="1" lang="zh-CN" altLang="en-US" sz="1600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具体表达式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3166B5C-3DD4-456D-ABAC-90107D336226}"/>
              </a:ext>
            </a:extLst>
          </p:cNvPr>
          <p:cNvSpPr/>
          <p:nvPr/>
        </p:nvSpPr>
        <p:spPr>
          <a:xfrm>
            <a:off x="34596" y="1173816"/>
            <a:ext cx="18004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原理推导过程：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BBBBCC6-ED18-428C-879E-1DA46FA597B3}"/>
              </a:ext>
            </a:extLst>
          </p:cNvPr>
          <p:cNvSpPr/>
          <p:nvPr/>
        </p:nvSpPr>
        <p:spPr>
          <a:xfrm>
            <a:off x="2600794" y="4347431"/>
            <a:ext cx="3007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-apple-system"/>
              </a:rPr>
              <a:t>norm  2-</a:t>
            </a:r>
            <a:r>
              <a:rPr lang="zh-CN" alt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-apple-system"/>
              </a:rPr>
              <a:t>范数： 误差的平方和</a:t>
            </a:r>
            <a:r>
              <a:rPr lang="zh-CN" altLang="en-US" sz="1400" u="sng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开根号</a:t>
            </a:r>
            <a:endParaRPr lang="zh-CN" altLang="en-US" sz="1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A682531-AA89-40FC-BFCA-551EF608BF61}"/>
              </a:ext>
            </a:extLst>
          </p:cNvPr>
          <p:cNvSpPr txBox="1"/>
          <p:nvPr/>
        </p:nvSpPr>
        <p:spPr>
          <a:xfrm>
            <a:off x="770436" y="74126"/>
            <a:ext cx="8145885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雅可比迭代原理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203C5C-C65A-4E6E-854C-056F77E1079A}"/>
              </a:ext>
            </a:extLst>
          </p:cNvPr>
          <p:cNvSpPr/>
          <p:nvPr/>
        </p:nvSpPr>
        <p:spPr>
          <a:xfrm>
            <a:off x="2290214" y="2009809"/>
            <a:ext cx="1404106" cy="369332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triu</a:t>
            </a:r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(A,1) </a:t>
            </a:r>
            <a:endParaRPr lang="zh-CN" altLang="en-US" b="1" kern="0" dirty="0">
              <a:solidFill>
                <a:schemeClr val="bg1"/>
              </a:solidFill>
              <a:latin typeface="Times New Roman" panose="02020603050405020304" pitchFamily="18" charset="0"/>
              <a:ea typeface="华文仿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F5DFBA-36A3-4DA4-A666-D1A72EC64F09}"/>
              </a:ext>
            </a:extLst>
          </p:cNvPr>
          <p:cNvSpPr/>
          <p:nvPr/>
        </p:nvSpPr>
        <p:spPr>
          <a:xfrm rot="2353607">
            <a:off x="1308839" y="3007860"/>
            <a:ext cx="1357599" cy="369332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L=</a:t>
            </a:r>
            <a:r>
              <a:rPr lang="en-US" altLang="zh-CN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tril</a:t>
            </a:r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仿宋" pitchFamily="2" charset="-122"/>
                <a:cs typeface="Times New Roman" panose="02020603050405020304" pitchFamily="18" charset="0"/>
              </a:rPr>
              <a:t>(A,-1) </a:t>
            </a:r>
            <a:endParaRPr lang="zh-CN" altLang="en-US" b="1" kern="0" dirty="0">
              <a:solidFill>
                <a:schemeClr val="bg1"/>
              </a:solidFill>
              <a:latin typeface="Times New Roman" panose="02020603050405020304" pitchFamily="18" charset="0"/>
              <a:ea typeface="华文仿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92DC7D-991D-411F-B73C-2ACF2F046AB9}"/>
              </a:ext>
            </a:extLst>
          </p:cNvPr>
          <p:cNvSpPr/>
          <p:nvPr/>
        </p:nvSpPr>
        <p:spPr>
          <a:xfrm rot="1627794">
            <a:off x="1279641" y="2407312"/>
            <a:ext cx="2082432" cy="369332"/>
          </a:xfrm>
          <a:prstGeom prst="rect">
            <a:avLst/>
          </a:prstGeom>
          <a:solidFill>
            <a:srgbClr val="0070C0"/>
          </a:solidFill>
          <a:scene3d>
            <a:camera prst="perspectiveHeroicExtremeLeftFacing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D=</a:t>
            </a:r>
            <a:r>
              <a:rPr lang="en-US" altLang="zh-CN" b="1" dirty="0" err="1">
                <a:solidFill>
                  <a:schemeClr val="bg1"/>
                </a:solidFill>
              </a:rPr>
              <a:t>diagm</a:t>
            </a:r>
            <a:r>
              <a:rPr lang="en-US" altLang="zh-CN" b="1" dirty="0">
                <a:solidFill>
                  <a:schemeClr val="bg1"/>
                </a:solidFill>
              </a:rPr>
              <a:t>(</a:t>
            </a:r>
            <a:r>
              <a:rPr lang="en-US" altLang="zh-CN" b="1" dirty="0" err="1">
                <a:solidFill>
                  <a:srgbClr val="FFFF00"/>
                </a:solidFill>
                <a:highlight>
                  <a:srgbClr val="FF0000"/>
                </a:highlight>
              </a:rPr>
              <a:t>diag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</a:rPr>
              <a:t>(A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3399FF"/>
                </a:highlight>
              </a:rPr>
              <a:t>))</a:t>
            </a:r>
            <a:endParaRPr lang="zh-CN" altLang="en-US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42" name="矩形 1">
            <a:extLst>
              <a:ext uri="{FF2B5EF4-FFF2-40B4-BE49-F238E27FC236}">
                <a16:creationId xmlns:a16="http://schemas.microsoft.com/office/drawing/2014/main" id="{8A7E90C0-7C12-479F-A990-B54502F2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759" y="1205364"/>
            <a:ext cx="2804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抽取矩阵</a:t>
            </a: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获得大量零的矩阵 </a:t>
            </a:r>
          </a:p>
        </p:txBody>
      </p:sp>
    </p:spTree>
    <p:extLst>
      <p:ext uri="{BB962C8B-B14F-4D97-AF65-F5344CB8AC3E}">
        <p14:creationId xmlns:p14="http://schemas.microsoft.com/office/powerpoint/2010/main" val="48454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/>
      <p:bldP spid="11" grpId="0" autoUpdateAnimBg="0"/>
      <p:bldP spid="19" grpId="0" animBg="1" autoUpdateAnimBg="0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/>
      <p:bldP spid="35" grpId="0"/>
      <p:bldP spid="36" grpId="0"/>
      <p:bldP spid="38" grpId="0"/>
      <p:bldP spid="37" grpId="0" animBg="1"/>
      <p:bldP spid="39" grpId="0" animBg="1"/>
      <p:bldP spid="41" grpId="0" animBg="1"/>
      <p:bldP spid="4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62D0379-1578-40ED-B3BF-314589827E78}"/>
              </a:ext>
            </a:extLst>
          </p:cNvPr>
          <p:cNvSpPr txBox="1"/>
          <p:nvPr/>
        </p:nvSpPr>
        <p:spPr>
          <a:xfrm>
            <a:off x="448650" y="1962478"/>
            <a:ext cx="3835642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的对角矩阵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diagm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(A)); </a:t>
            </a:r>
          </a:p>
          <a:p>
            <a:pPr>
              <a:lnSpc>
                <a:spcPts val="1900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的下三角阵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tril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(A,-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的上三角阵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U=</a:t>
            </a:r>
            <a:r>
              <a:rPr lang="en-US" altLang="zh-CN" sz="18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triu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 </a:t>
            </a: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=-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D\(L+U);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f=D\b;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x=B*x0+f;  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#jacobi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</a:t>
            </a:r>
            <a:r>
              <a:rPr lang="zh-CN" altLang="en-US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n=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</a:t>
            </a:r>
            <a:r>
              <a:rPr lang="en-US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第一次</a:t>
            </a:r>
            <a:r>
              <a:rPr lang="zh-CN" altLang="zh-CN" sz="18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迭代次数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2E9D5CF1-6A6D-4BCA-80E4-A6F359211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963095"/>
              </p:ext>
            </p:extLst>
          </p:nvPr>
        </p:nvGraphicFramePr>
        <p:xfrm>
          <a:off x="2390655" y="1135507"/>
          <a:ext cx="1640927" cy="41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6" name="Equation" r:id="rId3" imgW="1130300" imgH="228600" progId="">
                  <p:embed/>
                </p:oleObj>
              </mc:Choice>
              <mc:Fallback>
                <p:oleObj name="Equation" r:id="rId3" imgW="1130300" imgH="228600" progId="">
                  <p:embed/>
                  <p:pic>
                    <p:nvPicPr>
                      <p:cNvPr id="31" name="Object 17">
                        <a:extLst>
                          <a:ext uri="{FF2B5EF4-FFF2-40B4-BE49-F238E27FC236}">
                            <a16:creationId xmlns:a16="http://schemas.microsoft.com/office/drawing/2014/main" id="{674B94FF-D0DF-432B-929E-AF006296D8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655" y="1135507"/>
                        <a:ext cx="1640927" cy="417564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76FF93-1281-4E30-91E6-CF3872F3402E}"/>
                  </a:ext>
                </a:extLst>
              </p:cNvPr>
              <p:cNvSpPr txBox="1"/>
              <p:nvPr/>
            </p:nvSpPr>
            <p:spPr>
              <a:xfrm>
                <a:off x="4338532" y="1170052"/>
                <a:ext cx="2143214" cy="338554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lit/>
                        </m:rP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76FF93-1281-4E30-91E6-CF3872F3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532" y="1170052"/>
                <a:ext cx="2143214" cy="338554"/>
              </a:xfrm>
              <a:prstGeom prst="rect">
                <a:avLst/>
              </a:prstGeom>
              <a:blipFill>
                <a:blip r:embed="rId5"/>
                <a:stretch>
                  <a:fillRect l="-2279" r="-3704" b="-3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46C4A7E-1AA9-4099-9095-D90929C526E4}"/>
                  </a:ext>
                </a:extLst>
              </p:cNvPr>
              <p:cNvSpPr txBox="1"/>
              <p:nvPr/>
            </p:nvSpPr>
            <p:spPr>
              <a:xfrm>
                <a:off x="6876256" y="1145027"/>
                <a:ext cx="886268" cy="338554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200" b="1" dirty="0"/>
                  <a:t>f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zh-CN" sz="2200" b="1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46C4A7E-1AA9-4099-9095-D90929C52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1145027"/>
                <a:ext cx="886268" cy="338554"/>
              </a:xfrm>
              <a:prstGeom prst="rect">
                <a:avLst/>
              </a:prstGeom>
              <a:blipFill>
                <a:blip r:embed="rId6"/>
                <a:stretch>
                  <a:fillRect l="-19310" t="-23636" r="-11034" b="-5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4426250F-A008-458C-B0B1-A7107AEA0768}"/>
              </a:ext>
            </a:extLst>
          </p:cNvPr>
          <p:cNvSpPr txBox="1"/>
          <p:nvPr/>
        </p:nvSpPr>
        <p:spPr>
          <a:xfrm>
            <a:off x="4299265" y="1974527"/>
            <a:ext cx="4598698" cy="25313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norm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(x-x0)&gt;= 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10e-6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2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x0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2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x0=x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x=B*x0+f #</a:t>
            </a:r>
            <a:r>
              <a:rPr lang="en-US" altLang="zh-CN" sz="2000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jacobi</a:t>
            </a:r>
            <a:r>
              <a:rPr lang="zh-CN" altLang="zh-CN" sz="2000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</a:t>
            </a:r>
            <a:r>
              <a:rPr lang="zh-CN" altLang="en-US" sz="2000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式</a:t>
            </a:r>
            <a:endParaRPr lang="en-US" altLang="zh-CN" sz="2000" kern="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9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每一次迭代得到的结果会作为下一次迭代的初始值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2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n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n=n+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#</a:t>
            </a:r>
            <a:r>
              <a:rPr lang="zh-CN" altLang="en-US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显示根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结果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691554-218D-4A45-8083-61CD53177678}"/>
              </a:ext>
            </a:extLst>
          </p:cNvPr>
          <p:cNvSpPr txBox="1"/>
          <p:nvPr/>
        </p:nvSpPr>
        <p:spPr>
          <a:xfrm>
            <a:off x="770436" y="74126"/>
            <a:ext cx="8373564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雅可比迭代的代码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9" name="Object 14">
            <a:extLst>
              <a:ext uri="{FF2B5EF4-FFF2-40B4-BE49-F238E27FC236}">
                <a16:creationId xmlns:a16="http://schemas.microsoft.com/office/drawing/2014/main" id="{E07C8EF2-7713-4EBF-BC36-6B269644FB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518320"/>
              </p:ext>
            </p:extLst>
          </p:nvPr>
        </p:nvGraphicFramePr>
        <p:xfrm>
          <a:off x="427771" y="692742"/>
          <a:ext cx="1368152" cy="53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7" name="Equation" r:id="rId7" imgW="507780" imgH="203112" progId="">
                  <p:embed/>
                </p:oleObj>
              </mc:Choice>
              <mc:Fallback>
                <p:oleObj name="Equation" r:id="rId7" imgW="507780" imgH="203112" progId="">
                  <p:embed/>
                  <p:pic>
                    <p:nvPicPr>
                      <p:cNvPr id="23" name="Object 14">
                        <a:extLst>
                          <a:ext uri="{FF2B5EF4-FFF2-40B4-BE49-F238E27FC236}">
                            <a16:creationId xmlns:a16="http://schemas.microsoft.com/office/drawing/2014/main" id="{BBDEBCAB-D42E-4CCD-A432-41B18527F3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71" y="692742"/>
                        <a:ext cx="1368152" cy="5335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5DD424BE-A169-4030-9788-BB6C7AC86FF4}"/>
              </a:ext>
            </a:extLst>
          </p:cNvPr>
          <p:cNvSpPr txBox="1"/>
          <p:nvPr/>
        </p:nvSpPr>
        <p:spPr>
          <a:xfrm>
            <a:off x="1734393" y="747970"/>
            <a:ext cx="7158087" cy="368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300"/>
              </a:lnSpc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大型线性方程组系数矩阵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和常数列向量都采用稀疏矩阵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244C0C-F1D2-45E4-AB47-8793719B3AC0}"/>
              </a:ext>
            </a:extLst>
          </p:cNvPr>
          <p:cNvSpPr txBox="1"/>
          <p:nvPr/>
        </p:nvSpPr>
        <p:spPr>
          <a:xfrm>
            <a:off x="375686" y="1602334"/>
            <a:ext cx="2972178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zh-CN" sz="1800" b="1" kern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#</a:t>
            </a:r>
            <a:r>
              <a:rPr lang="zh-CN" altLang="en-US" sz="1800" b="1" kern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建立雅可比迭代表达式</a:t>
            </a:r>
            <a:endParaRPr lang="en-US" altLang="zh-CN" sz="1800" b="1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29F74E-C378-44CD-B353-F0C28E0FCC56}"/>
              </a:ext>
            </a:extLst>
          </p:cNvPr>
          <p:cNvSpPr/>
          <p:nvPr/>
        </p:nvSpPr>
        <p:spPr>
          <a:xfrm>
            <a:off x="410944" y="1154663"/>
            <a:ext cx="17491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Jacobi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</a:rPr>
              <a:t>迭代式：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D3431E-804D-47A8-9F8A-0D98E36582FA}"/>
              </a:ext>
            </a:extLst>
          </p:cNvPr>
          <p:cNvSpPr txBox="1"/>
          <p:nvPr/>
        </p:nvSpPr>
        <p:spPr>
          <a:xfrm>
            <a:off x="4338532" y="1589167"/>
            <a:ext cx="3257804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zh-CN" b="1" kern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#</a:t>
            </a:r>
            <a:r>
              <a:rPr lang="zh-CN" altLang="en-US" b="1" kern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雅可比迭代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收敛的循环语句</a:t>
            </a:r>
            <a:endParaRPr lang="en-US" altLang="zh-CN" b="1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40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7" grpId="0" animBg="1"/>
      <p:bldP spid="1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FAD98AC-378A-46C0-9701-AC3DD6A6F1DE}"/>
              </a:ext>
            </a:extLst>
          </p:cNvPr>
          <p:cNvSpPr/>
          <p:nvPr/>
        </p:nvSpPr>
        <p:spPr>
          <a:xfrm>
            <a:off x="539552" y="667715"/>
            <a:ext cx="84249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薄壁铁板热传导问题，该板周边温度已知，分别为</a:t>
            </a:r>
            <a:r>
              <a:rPr lang="en-US" altLang="zh-CN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r>
              <a:rPr lang="zh-CN" altLang="en-US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r>
              <a:rPr lang="zh-CN" altLang="en-US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r>
              <a:rPr lang="zh-CN" altLang="en-US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</a:t>
            </a:r>
            <a:r>
              <a:rPr lang="en-US" altLang="zh-CN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r>
              <a:rPr lang="zh-CN" altLang="en-US" sz="2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度，求板中心温度</a:t>
            </a:r>
            <a:endParaRPr lang="en-US" altLang="zh-CN" sz="22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波形 4">
            <a:extLst>
              <a:ext uri="{FF2B5EF4-FFF2-40B4-BE49-F238E27FC236}">
                <a16:creationId xmlns:a16="http://schemas.microsoft.com/office/drawing/2014/main" id="{14DCA9E4-06AC-4DA5-944B-702E543021F4}"/>
              </a:ext>
            </a:extLst>
          </p:cNvPr>
          <p:cNvSpPr/>
          <p:nvPr/>
        </p:nvSpPr>
        <p:spPr>
          <a:xfrm>
            <a:off x="179512" y="530202"/>
            <a:ext cx="455947" cy="5109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E3393E-A02C-4F10-93DD-FAF3419025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868" b="80252" l="22281" r="84020"/>
                    </a14:imgEffect>
                  </a14:imgLayer>
                </a14:imgProps>
              </a:ext>
            </a:extLst>
          </a:blip>
          <a:srcRect l="14563" t="12320" r="8263" b="12200"/>
          <a:stretch/>
        </p:blipFill>
        <p:spPr>
          <a:xfrm>
            <a:off x="1017137" y="1250344"/>
            <a:ext cx="3610888" cy="1874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42293C-FAC0-4F89-8579-C07B7E744089}"/>
              </a:ext>
            </a:extLst>
          </p:cNvPr>
          <p:cNvSpPr txBox="1"/>
          <p:nvPr/>
        </p:nvSpPr>
        <p:spPr>
          <a:xfrm>
            <a:off x="539552" y="76265"/>
            <a:ext cx="8712968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雅可比迭代求温度场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36535E-BB2F-4145-86AD-B4D287734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971" y="2427734"/>
            <a:ext cx="3096836" cy="22097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9B2D011-1128-42E4-A6D5-280CA5C154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94" t="20080" r="15270"/>
          <a:stretch/>
        </p:blipFill>
        <p:spPr>
          <a:xfrm>
            <a:off x="285181" y="2491223"/>
            <a:ext cx="2900898" cy="21142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85B457-2B19-4112-96DE-592FA6D85D6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475" t="11388" r="5900" b="9359"/>
          <a:stretch/>
        </p:blipFill>
        <p:spPr>
          <a:xfrm flipV="1">
            <a:off x="3709936" y="2514000"/>
            <a:ext cx="2525842" cy="2004588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0CCD564-5312-4173-A46C-502231B17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801955"/>
              </p:ext>
            </p:extLst>
          </p:nvPr>
        </p:nvGraphicFramePr>
        <p:xfrm>
          <a:off x="6235778" y="1071394"/>
          <a:ext cx="1441946" cy="1241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32" name="Document" showAsIcon="1" r:id="rId8" imgW="914597" imgH="787283" progId="Word.Document.12">
                  <p:link updateAutomatic="1"/>
                </p:oleObj>
              </mc:Choice>
              <mc:Fallback>
                <p:oleObj name="Document" showAsIcon="1" r:id="rId8" imgW="914597" imgH="787283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35778" y="1071394"/>
                        <a:ext cx="1441946" cy="1241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801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192327-E03F-44AE-9768-39462396189C}"/>
              </a:ext>
            </a:extLst>
          </p:cNvPr>
          <p:cNvSpPr txBox="1"/>
          <p:nvPr/>
        </p:nvSpPr>
        <p:spPr>
          <a:xfrm>
            <a:off x="70302" y="720404"/>
            <a:ext cx="5282215" cy="624786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zh-CN" altLang="en-US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创建方程的系数矩阵</a:t>
            </a:r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A</a:t>
            </a:r>
            <a:r>
              <a:rPr lang="zh-CN" altLang="en-US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和</a:t>
            </a:r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b</a:t>
            </a:r>
            <a:r>
              <a:rPr lang="zh-CN" altLang="en-US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列向量</a:t>
            </a:r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b</a:t>
            </a:r>
            <a:endParaRPr lang="zh-CN" altLang="en-US" sz="1000" dirty="0">
              <a:solidFill>
                <a:srgbClr val="FFFF00"/>
              </a:solidFill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lang="en-US" altLang="zh-CN" sz="1000" kern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julia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语言编写稀疏矩阵的雅可比迭代法求根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创建方程的系数矩阵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和常向量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的稀疏矩阵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N=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t_u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顶边温度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底边温度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t_l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左边温度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t_r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右边温度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 * N, N * N);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创建系数矩阵的零稀疏矩阵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 * N,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N^2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维零稀疏向量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:N*N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的主对角线元素都是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A[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:N*N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和向量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N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中和上边界节点对应的分量赋值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等线" panose="02010600030101010101" pitchFamily="2" charset="-122"/>
                <a:ea typeface="Consolas" panose="020B0609020204030204" pitchFamily="49" charset="0"/>
                <a:cs typeface="宋体" panose="02010600030101010101" pitchFamily="2" charset="-122"/>
              </a:rPr>
              <a:t> 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t_u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==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中和右边界节点对应的分量赋值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t_r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==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中和左边界节点对应的分量赋值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t_l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 N * (N -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给向量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中和下边界节点对应的分量赋值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b[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+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t_d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 N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中和上边界无关的节点所对应的元素赋值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-N] = 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!=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中和左边界无关的节点所对应的元素赋值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mod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N) !=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中和右边界无关的节点所对应的元素赋值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i+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N * (N -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给矩阵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中和下边界无关的节点所对应的元素赋值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A[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i+N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 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4F8331-604F-4908-B779-5B916B45DAC5}"/>
              </a:ext>
            </a:extLst>
          </p:cNvPr>
          <p:cNvSpPr txBox="1"/>
          <p:nvPr/>
        </p:nvSpPr>
        <p:spPr>
          <a:xfrm>
            <a:off x="755576" y="57653"/>
            <a:ext cx="8280920" cy="53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迭代法求解线性方程组</a:t>
            </a:r>
            <a:r>
              <a:rPr lang="en-US" altLang="zh-CN" sz="26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雅可比迭代求温度场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5547ED-2010-4795-A2D6-A396498A87B9}"/>
              </a:ext>
            </a:extLst>
          </p:cNvPr>
          <p:cNvSpPr txBox="1"/>
          <p:nvPr/>
        </p:nvSpPr>
        <p:spPr>
          <a:xfrm>
            <a:off x="2313845" y="1015545"/>
            <a:ext cx="3677042" cy="47859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zh-CN" altLang="en-US" sz="10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雅可比迭代法解方程</a:t>
            </a:r>
            <a:endParaRPr lang="en-US" altLang="zh-CN" sz="1000" dirty="0">
              <a:solidFill>
                <a:srgbClr val="FFFF00"/>
              </a:solidFill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(N^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#x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根的占位零稀疏矩阵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x0=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spzeros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(N^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x0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为稀疏矩阵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diagm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(A));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的对角矩阵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tril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(A,-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   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的下三角阵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UU=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triu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(A,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的上三角阵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en-US" altLang="zh-CN" sz="1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=-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D\(L+UU);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f=D\b;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x=B*x0+f;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#jacobi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</a:t>
            </a:r>
            <a:r>
              <a:rPr lang="zh-CN" altLang="en-US" sz="1000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式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n=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迭代次数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norm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(x-x0) &gt;=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10e-6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x0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x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x0=x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x=B*x0 + f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global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n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n=n+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1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1900"/>
              </a:lnSpc>
            </a:pP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lang="zh-CN" altLang="en-US" sz="1000" dirty="0">
              <a:solidFill>
                <a:srgbClr val="FFFF00"/>
              </a:solidFill>
              <a:highlight>
                <a:srgbClr val="003B76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69C78-180D-46AB-AC63-BD226E928540}"/>
              </a:ext>
            </a:extLst>
          </p:cNvPr>
          <p:cNvSpPr txBox="1"/>
          <p:nvPr/>
        </p:nvSpPr>
        <p:spPr>
          <a:xfrm>
            <a:off x="5520795" y="1027644"/>
            <a:ext cx="3592541" cy="470898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>
                <a:solidFill>
                  <a:srgbClr val="00800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 sz="1000" dirty="0">
                <a:solidFill>
                  <a:srgbClr val="FFFF00"/>
                </a:solidFill>
                <a:highlight>
                  <a:srgbClr val="FF0000"/>
                </a:highlight>
              </a:rPr>
              <a:t>#</a:t>
            </a:r>
            <a:r>
              <a:rPr lang="zh-CN" altLang="en-US" sz="1000" dirty="0">
                <a:solidFill>
                  <a:srgbClr val="FFFF00"/>
                </a:solidFill>
                <a:highlight>
                  <a:srgbClr val="FF0000"/>
                </a:highlight>
              </a:rPr>
              <a:t>构造温度场矩阵并绘制温度场图</a:t>
            </a:r>
          </a:p>
          <a:p>
            <a:r>
              <a:rPr lang="en-US" altLang="zh-CN" sz="1200" dirty="0"/>
              <a:t>U = [eye(N^2, N^2) x]  #</a:t>
            </a:r>
            <a:r>
              <a:rPr lang="zh-CN" altLang="en-US" sz="1200" dirty="0"/>
              <a:t>单位矩阵和</a:t>
            </a:r>
            <a:r>
              <a:rPr lang="en-US" altLang="zh-CN" sz="1200" dirty="0"/>
              <a:t>x</a:t>
            </a:r>
            <a:r>
              <a:rPr lang="zh-CN" altLang="en-US" sz="1200" dirty="0"/>
              <a:t>列向量必须空格</a:t>
            </a:r>
          </a:p>
          <a:p>
            <a:r>
              <a:rPr lang="en-US" altLang="zh-CN" sz="1200" dirty="0"/>
              <a:t>X=U[:,end]</a:t>
            </a:r>
          </a:p>
          <a:p>
            <a:r>
              <a:rPr lang="en-US" altLang="zh-CN" sz="1200" dirty="0"/>
              <a:t>B=</a:t>
            </a:r>
            <a:r>
              <a:rPr lang="en-US" altLang="zh-CN" sz="1200" dirty="0" err="1"/>
              <a:t>spzeros</a:t>
            </a:r>
            <a:r>
              <a:rPr lang="en-US" altLang="zh-CN" sz="1200" dirty="0"/>
              <a:t>(N,N);  </a:t>
            </a:r>
          </a:p>
          <a:p>
            <a:r>
              <a:rPr lang="en-US" altLang="zh-CN" sz="1200" dirty="0"/>
              <a:t>for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=1:N #</a:t>
            </a:r>
            <a:r>
              <a:rPr lang="zh-CN" altLang="en-US" sz="1200" dirty="0"/>
              <a:t>把矩阵</a:t>
            </a:r>
            <a:r>
              <a:rPr lang="en-US" altLang="zh-CN" sz="1200" dirty="0"/>
              <a:t>U</a:t>
            </a:r>
            <a:r>
              <a:rPr lang="zh-CN" altLang="en-US" sz="1200" dirty="0"/>
              <a:t>的最后一列按矩阵形式赋给</a:t>
            </a:r>
            <a:r>
              <a:rPr lang="en-US" altLang="zh-CN" sz="1200" dirty="0"/>
              <a:t>B</a:t>
            </a:r>
          </a:p>
          <a:p>
            <a:r>
              <a:rPr lang="en-US" altLang="zh-CN" sz="1200" dirty="0"/>
              <a:t>for j=1:N</a:t>
            </a:r>
          </a:p>
          <a:p>
            <a:r>
              <a:rPr lang="en-US" altLang="zh-CN" sz="1200" dirty="0"/>
              <a:t>B[</a:t>
            </a:r>
            <a:r>
              <a:rPr lang="en-US" altLang="zh-CN" sz="1200" dirty="0" err="1"/>
              <a:t>i,j</a:t>
            </a:r>
            <a:r>
              <a:rPr lang="en-US" altLang="zh-CN" sz="1200" dirty="0"/>
              <a:t>]=U[N*(i-1)+</a:t>
            </a:r>
            <a:r>
              <a:rPr lang="en-US" altLang="zh-CN" sz="1200" dirty="0" err="1"/>
              <a:t>j,N</a:t>
            </a:r>
            <a:r>
              <a:rPr lang="en-US" altLang="zh-CN" sz="1200" dirty="0"/>
              <a:t>*N+1];</a:t>
            </a:r>
          </a:p>
          <a:p>
            <a:r>
              <a:rPr lang="en-US" altLang="zh-CN" sz="1200" dirty="0"/>
              <a:t>end</a:t>
            </a:r>
          </a:p>
          <a:p>
            <a:r>
              <a:rPr lang="en-US" altLang="zh-CN" sz="1200" dirty="0"/>
              <a:t>end</a:t>
            </a:r>
          </a:p>
          <a:p>
            <a:r>
              <a:rPr lang="en-US" altLang="zh-CN" sz="1200" dirty="0"/>
              <a:t>T=</a:t>
            </a:r>
            <a:r>
              <a:rPr lang="en-US" altLang="zh-CN" sz="1200" dirty="0" err="1"/>
              <a:t>spzeros</a:t>
            </a:r>
            <a:r>
              <a:rPr lang="en-US" altLang="zh-CN" sz="1200" dirty="0"/>
              <a:t>(N+2,N+2)</a:t>
            </a:r>
          </a:p>
          <a:p>
            <a:r>
              <a:rPr lang="en-US" altLang="zh-CN" sz="1200" dirty="0"/>
              <a:t>T[2:N+1,2:N+1]=B; #</a:t>
            </a:r>
            <a:r>
              <a:rPr lang="zh-CN" altLang="en-US" sz="1200" dirty="0"/>
              <a:t>把钢板内部温度和和四周温度值放入矩阵</a:t>
            </a:r>
            <a:r>
              <a:rPr lang="en-US" altLang="zh-CN" sz="1200" dirty="0"/>
              <a:t>T</a:t>
            </a:r>
            <a:r>
              <a:rPr lang="zh-CN" altLang="en-US" sz="1200" dirty="0"/>
              <a:t>中</a:t>
            </a:r>
          </a:p>
          <a:p>
            <a:r>
              <a:rPr lang="en-US" altLang="zh-CN" sz="1200" dirty="0"/>
              <a:t>T[1,2:N+1].=</a:t>
            </a:r>
            <a:r>
              <a:rPr lang="en-US" altLang="zh-CN" sz="1200" dirty="0" err="1"/>
              <a:t>t_u</a:t>
            </a:r>
            <a:r>
              <a:rPr lang="en-US" altLang="zh-CN" sz="1200" dirty="0"/>
              <a:t>;   #</a:t>
            </a:r>
            <a:r>
              <a:rPr lang="zh-CN" altLang="en-US" sz="1200" dirty="0"/>
              <a:t>传播运算</a:t>
            </a:r>
          </a:p>
          <a:p>
            <a:r>
              <a:rPr lang="en-US" altLang="zh-CN" sz="1200" dirty="0"/>
              <a:t>T[N+2,2:N+1].=</a:t>
            </a:r>
            <a:r>
              <a:rPr lang="en-US" altLang="zh-CN" sz="1200" dirty="0" err="1"/>
              <a:t>t_d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T[2:N+1,1].=</a:t>
            </a:r>
            <a:r>
              <a:rPr lang="en-US" altLang="zh-CN" sz="1200" dirty="0" err="1"/>
              <a:t>t_l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T[2:N+1,N+2].=</a:t>
            </a:r>
            <a:r>
              <a:rPr lang="en-US" altLang="zh-CN" sz="1200" dirty="0" err="1"/>
              <a:t>t_r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T[[1,N+2],[1,N+2]].=</a:t>
            </a:r>
            <a:r>
              <a:rPr lang="en-US" altLang="zh-CN" sz="1200" dirty="0" err="1"/>
              <a:t>NaN</a:t>
            </a:r>
            <a:r>
              <a:rPr lang="en-US" altLang="zh-CN" sz="1200" dirty="0"/>
              <a:t>; #</a:t>
            </a:r>
            <a:r>
              <a:rPr lang="zh-CN" altLang="en-US" sz="1200" dirty="0"/>
              <a:t>矩阵四个角没有温度值，故把非数</a:t>
            </a:r>
            <a:r>
              <a:rPr lang="en-US" altLang="zh-CN" sz="1200" dirty="0" err="1"/>
              <a:t>NaN</a:t>
            </a:r>
            <a:r>
              <a:rPr lang="zh-CN" altLang="en-US" sz="1200" dirty="0"/>
              <a:t>放入</a:t>
            </a:r>
          </a:p>
          <a:p>
            <a:r>
              <a:rPr lang="en-US" altLang="zh-CN" sz="1200" dirty="0"/>
              <a:t>Tr=reverse(T)</a:t>
            </a:r>
          </a:p>
          <a:p>
            <a:r>
              <a:rPr lang="en-US" altLang="zh-CN" sz="1200" dirty="0" err="1"/>
              <a:t>Trr</a:t>
            </a:r>
            <a:r>
              <a:rPr lang="en-US" altLang="zh-CN" sz="1200" dirty="0"/>
              <a:t>=reverse(</a:t>
            </a:r>
            <a:r>
              <a:rPr lang="en-US" altLang="zh-CN" sz="1200" dirty="0" err="1"/>
              <a:t>Tr,dims</a:t>
            </a:r>
            <a:r>
              <a:rPr lang="en-US" altLang="zh-CN" sz="1200" dirty="0"/>
              <a:t>=2)</a:t>
            </a:r>
          </a:p>
          <a:p>
            <a:r>
              <a:rPr lang="en-US" altLang="zh-CN" sz="1200" dirty="0"/>
              <a:t>c=</a:t>
            </a:r>
            <a:r>
              <a:rPr lang="en-US" altLang="zh-CN" sz="1200" dirty="0" err="1"/>
              <a:t>contourf</a:t>
            </a:r>
            <a:r>
              <a:rPr lang="en-US" altLang="zh-CN" sz="1200" dirty="0"/>
              <a:t>(</a:t>
            </a:r>
            <a:r>
              <a:rPr lang="en-US" altLang="zh-CN" sz="1200" dirty="0" err="1"/>
              <a:t>Trr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 err="1"/>
              <a:t>clabel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c,inline</a:t>
            </a:r>
            <a:r>
              <a:rPr lang="en-US" altLang="zh-CN" sz="1200" dirty="0"/>
              <a:t>=false, </a:t>
            </a:r>
            <a:r>
              <a:rPr lang="en-US" altLang="zh-CN" sz="1200" dirty="0" err="1"/>
              <a:t>fontsize</a:t>
            </a:r>
            <a:r>
              <a:rPr lang="en-US" altLang="zh-CN" sz="1200" dirty="0"/>
              <a:t>=10, colors="k")</a:t>
            </a:r>
          </a:p>
          <a:p>
            <a:r>
              <a:rPr lang="en-US" altLang="zh-CN" sz="1200" dirty="0" err="1"/>
              <a:t>colorbar</a:t>
            </a:r>
            <a:r>
              <a:rPr lang="en-US" altLang="zh-CN" sz="1200" dirty="0"/>
              <a:t>(c)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D42785-6C2A-458D-8E35-C8EB97EFDE5A}"/>
              </a:ext>
            </a:extLst>
          </p:cNvPr>
          <p:cNvSpPr txBox="1"/>
          <p:nvPr/>
        </p:nvSpPr>
        <p:spPr>
          <a:xfrm>
            <a:off x="2662127" y="694662"/>
            <a:ext cx="342204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1" dirty="0"/>
              <a:t>julia语言求10000个方程组</a:t>
            </a:r>
            <a:r>
              <a:rPr lang="en-US" altLang="zh-CN" sz="1600" b="1" dirty="0"/>
              <a:t>.word</a:t>
            </a:r>
            <a:endParaRPr lang="zh-CN" altLang="en-US" sz="16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2B0092-48BC-406D-9B84-FF5902A8EDC8}"/>
              </a:ext>
            </a:extLst>
          </p:cNvPr>
          <p:cNvSpPr txBox="1"/>
          <p:nvPr/>
        </p:nvSpPr>
        <p:spPr>
          <a:xfrm>
            <a:off x="6467445" y="664182"/>
            <a:ext cx="26458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D:\sysjulia</a:t>
            </a:r>
            <a:r>
              <a:rPr lang="en-US" altLang="zh-CN" sz="1600" dirty="0"/>
              <a:t>\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 jacobi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temp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.jl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C680E7-DBFE-4264-A8A6-ABE67898CC78}"/>
              </a:ext>
            </a:extLst>
          </p:cNvPr>
          <p:cNvSpPr txBox="1"/>
          <p:nvPr/>
        </p:nvSpPr>
        <p:spPr>
          <a:xfrm>
            <a:off x="2783938" y="4739163"/>
            <a:ext cx="2736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</a:rPr>
              <a:t>include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("jacobi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temp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l.jl")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71087F-A349-44CB-8B99-F4CC313E247C}"/>
              </a:ext>
            </a:extLst>
          </p:cNvPr>
          <p:cNvSpPr txBox="1"/>
          <p:nvPr/>
        </p:nvSpPr>
        <p:spPr>
          <a:xfrm>
            <a:off x="3759466" y="3531755"/>
            <a:ext cx="16771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每一次迭代得到的结果会作为下一次迭代的初始值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73355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FB339EF-392A-4BF1-9492-D671795D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CFBE5B-FF94-4F84-8A91-7E2672375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50" t="12201" r="11014" b="9400"/>
          <a:stretch/>
        </p:blipFill>
        <p:spPr>
          <a:xfrm>
            <a:off x="1115616" y="699542"/>
            <a:ext cx="6984776" cy="387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952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E00ADB-84EC-44BC-8D36-9162F68F8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13" y="631359"/>
            <a:ext cx="8136830" cy="2341667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eaLnBrk="1" hangingPunct="1">
              <a:lnSpc>
                <a:spcPct val="200000"/>
              </a:lnSpc>
              <a:buFont typeface="Arial" charset="0"/>
              <a:buNone/>
            </a:pPr>
            <a:endParaRPr lang="en-US" altLang="zh-CN" kern="0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A5FD5-1522-4698-B14E-EFC1520357CB}"/>
              </a:ext>
            </a:extLst>
          </p:cNvPr>
          <p:cNvSpPr/>
          <p:nvPr/>
        </p:nvSpPr>
        <p:spPr>
          <a:xfrm>
            <a:off x="3544305" y="859021"/>
            <a:ext cx="2628030" cy="4001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DX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(k+1)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=(L+U)X</a:t>
            </a:r>
            <a:r>
              <a:rPr lang="zh-CN" altLang="en-US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 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(k)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+b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EB30F5-772B-4AE6-8414-E03F9C690DC1}"/>
              </a:ext>
            </a:extLst>
          </p:cNvPr>
          <p:cNvSpPr/>
          <p:nvPr/>
        </p:nvSpPr>
        <p:spPr>
          <a:xfrm>
            <a:off x="708651" y="1585744"/>
            <a:ext cx="3950814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改进为：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DX</a:t>
            </a:r>
            <a:r>
              <a:rPr lang="en-US" altLang="zh-CN" sz="2000" b="1" kern="0" baseline="3000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(k+1)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=</a:t>
            </a:r>
            <a:r>
              <a:rPr lang="en-US" altLang="zh-CN" sz="2000" b="1" kern="0" dirty="0">
                <a:solidFill>
                  <a:srgbClr val="FFFF00"/>
                </a:solidFill>
                <a:latin typeface="Times New Roman" pitchFamily="18" charset="0"/>
                <a:ea typeface="宋体"/>
                <a:sym typeface="Arial" charset="0"/>
              </a:rPr>
              <a:t>LX</a:t>
            </a:r>
            <a:r>
              <a:rPr lang="en-US" altLang="zh-CN" sz="2000" b="1" kern="0" baseline="30000" dirty="0">
                <a:solidFill>
                  <a:srgbClr val="FFFF00"/>
                </a:solidFill>
                <a:latin typeface="Times New Roman" pitchFamily="18" charset="0"/>
                <a:ea typeface="宋体"/>
                <a:sym typeface="Arial" charset="0"/>
              </a:rPr>
              <a:t>(k+1)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+UX</a:t>
            </a:r>
            <a:r>
              <a:rPr lang="en-US" altLang="zh-CN" sz="2000" b="1" kern="0" baseline="3000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(k)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+b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CC669-51DC-4720-B175-8D9E0CDD82EC}"/>
              </a:ext>
            </a:extLst>
          </p:cNvPr>
          <p:cNvSpPr/>
          <p:nvPr/>
        </p:nvSpPr>
        <p:spPr>
          <a:xfrm>
            <a:off x="736032" y="3561171"/>
            <a:ext cx="7652392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defTabSz="0" eaLnBrk="0" hangingPunct="0">
              <a:spcBef>
                <a:spcPct val="30000"/>
              </a:spcBef>
              <a:defRPr/>
            </a:pP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相比</a:t>
            </a:r>
            <a:r>
              <a:rPr lang="en-US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Jacobi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Gauss-</a:t>
            </a:r>
            <a:r>
              <a:rPr lang="en-US" altLang="zh-CN" sz="22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Serdel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迭代</a:t>
            </a:r>
            <a:r>
              <a:rPr kumimoji="1"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charset="0"/>
              </a:rPr>
              <a:t>下三角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分量用新代旧，精度高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B4A3A1-3D39-402E-A966-CA1F2C52FEBC}"/>
              </a:ext>
            </a:extLst>
          </p:cNvPr>
          <p:cNvSpPr/>
          <p:nvPr/>
        </p:nvSpPr>
        <p:spPr>
          <a:xfrm>
            <a:off x="6181229" y="843558"/>
            <a:ext cx="2423219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chemeClr val="bg1"/>
                </a:solidFill>
                <a:latin typeface="Courier New" pitchFamily="49" charset="0"/>
                <a:ea typeface="黑体" pitchFamily="2" charset="-122"/>
                <a:sym typeface="Arial" charset="0"/>
              </a:rPr>
              <a:t>= </a:t>
            </a:r>
            <a:r>
              <a:rPr kumimoji="1" lang="en-US" altLang="zh-CN" sz="2000" b="1" dirty="0">
                <a:solidFill>
                  <a:srgbClr val="FFFF00"/>
                </a:solidFill>
                <a:latin typeface="Courier New" pitchFamily="49" charset="0"/>
                <a:ea typeface="黑体" pitchFamily="2" charset="-122"/>
                <a:sym typeface="Arial" charset="0"/>
              </a:rPr>
              <a:t>LX</a:t>
            </a:r>
            <a:r>
              <a:rPr lang="en-US" altLang="zh-CN" sz="2000" b="1" baseline="30000" dirty="0">
                <a:solidFill>
                  <a:srgbClr val="FFFF00"/>
                </a:solidFill>
                <a:latin typeface="Times New Roman" pitchFamily="18" charset="0"/>
                <a:ea typeface="宋体" charset="-122"/>
                <a:sym typeface="Arial" charset="0"/>
              </a:rPr>
              <a:t>(k)</a:t>
            </a:r>
            <a:r>
              <a:rPr kumimoji="1" lang="en-US" altLang="zh-CN" sz="2000" b="1" dirty="0">
                <a:solidFill>
                  <a:schemeClr val="bg1"/>
                </a:solidFill>
                <a:latin typeface="Courier New" pitchFamily="49" charset="0"/>
                <a:ea typeface="黑体" pitchFamily="2" charset="-122"/>
                <a:sym typeface="Arial" charset="0"/>
              </a:rPr>
              <a:t>+UX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 (k)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+</a:t>
            </a:r>
            <a:r>
              <a:rPr kumimoji="1" lang="en-US" altLang="zh-CN" sz="2000" b="1" dirty="0">
                <a:solidFill>
                  <a:schemeClr val="bg1"/>
                </a:solidFill>
                <a:latin typeface="Courier New" pitchFamily="49" charset="0"/>
                <a:ea typeface="黑体" pitchFamily="2" charset="-122"/>
                <a:sym typeface="Arial" charset="0"/>
              </a:rPr>
              <a:t>b</a:t>
            </a:r>
            <a:endParaRPr kumimoji="1" lang="zh-CN" altLang="en-US" sz="2000" b="1" dirty="0">
              <a:solidFill>
                <a:schemeClr val="bg1"/>
              </a:solidFill>
              <a:latin typeface="Courier New" pitchFamily="49" charset="0"/>
              <a:ea typeface="黑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537E90-2A16-43E6-9D8A-D99F9135D5E1}"/>
              </a:ext>
            </a:extLst>
          </p:cNvPr>
          <p:cNvSpPr/>
          <p:nvPr/>
        </p:nvSpPr>
        <p:spPr>
          <a:xfrm>
            <a:off x="621813" y="1923678"/>
            <a:ext cx="4161717" cy="8184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200000"/>
              </a:lnSpc>
              <a:buFont typeface="Arial" charset="0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Gauss-</a:t>
            </a:r>
            <a:r>
              <a:rPr lang="en-US" altLang="zh-CN" sz="2800" b="1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Serdel</a:t>
            </a:r>
            <a:r>
              <a:rPr lang="zh-CN" altLang="en-US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迭代公式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+mn-ea"/>
              </a:rPr>
              <a:t>：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DF804C-C722-4306-997E-B0C51E0869E0}"/>
              </a:ext>
            </a:extLst>
          </p:cNvPr>
          <p:cNvSpPr/>
          <p:nvPr/>
        </p:nvSpPr>
        <p:spPr>
          <a:xfrm>
            <a:off x="4920004" y="2266847"/>
            <a:ext cx="3396412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X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(k+1)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=(D-L)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-1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UX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(k)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+(D-L)</a:t>
            </a:r>
            <a:r>
              <a:rPr lang="en-US" altLang="zh-CN" sz="2000" b="1" baseline="30000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-1</a:t>
            </a:r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sym typeface="Arial" charset="0"/>
              </a:rPr>
              <a:t>b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B1205F-0EF6-4696-87DE-8DC782FCB63C}"/>
              </a:ext>
            </a:extLst>
          </p:cNvPr>
          <p:cNvSpPr/>
          <p:nvPr/>
        </p:nvSpPr>
        <p:spPr>
          <a:xfrm>
            <a:off x="5063645" y="1582215"/>
            <a:ext cx="2820348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Times New Roman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D-</a:t>
            </a:r>
            <a:r>
              <a:rPr lang="en-US" altLang="zh-CN" sz="2000" b="1" kern="0" dirty="0">
                <a:solidFill>
                  <a:srgbClr val="FFFF00"/>
                </a:solidFill>
                <a:latin typeface="Times New Roman" pitchFamily="18" charset="0"/>
                <a:ea typeface="宋体"/>
                <a:sym typeface="Arial" charset="0"/>
              </a:rPr>
              <a:t>L</a:t>
            </a:r>
            <a:r>
              <a:rPr lang="zh-CN" altLang="en-US" sz="2000" b="1" kern="0" dirty="0">
                <a:solidFill>
                  <a:srgbClr val="FFFF00"/>
                </a:solidFill>
                <a:latin typeface="Times New Roman" pitchFamily="18" charset="0"/>
                <a:ea typeface="宋体"/>
                <a:sym typeface="Arial" charset="0"/>
              </a:rPr>
              <a:t>）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X</a:t>
            </a:r>
            <a:r>
              <a:rPr lang="en-US" altLang="zh-CN" sz="2000" b="1" kern="0" baseline="3000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(k+1)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=UX</a:t>
            </a:r>
            <a:r>
              <a:rPr lang="en-US" altLang="zh-CN" sz="2000" b="1" kern="0" baseline="3000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(k)</a:t>
            </a:r>
            <a:r>
              <a:rPr lang="en-US" altLang="zh-CN" sz="2000" b="1" kern="0" dirty="0">
                <a:solidFill>
                  <a:schemeClr val="bg1"/>
                </a:solidFill>
                <a:latin typeface="Times New Roman" pitchFamily="18" charset="0"/>
                <a:ea typeface="宋体"/>
                <a:sym typeface="Arial" charset="0"/>
              </a:rPr>
              <a:t>+b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E2B812-BE51-40F4-86F6-E82555157661}"/>
              </a:ext>
            </a:extLst>
          </p:cNvPr>
          <p:cNvSpPr txBox="1"/>
          <p:nvPr/>
        </p:nvSpPr>
        <p:spPr>
          <a:xfrm>
            <a:off x="803074" y="69482"/>
            <a:ext cx="8479976" cy="53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§6.10 </a:t>
            </a:r>
            <a:r>
              <a:rPr lang="zh-CN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求解线性方程组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en-US" altLang="zh-CN" sz="2800" b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Gauss-</a:t>
            </a:r>
            <a:r>
              <a:rPr lang="en-US" altLang="zh-CN" sz="2800" b="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Serdel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B8C90011-4A82-4995-A9F3-C8F86EF84116}"/>
              </a:ext>
            </a:extLst>
          </p:cNvPr>
          <p:cNvGrpSpPr>
            <a:grpSpLocks/>
          </p:cNvGrpSpPr>
          <p:nvPr/>
        </p:nvGrpSpPr>
        <p:grpSpPr bwMode="auto">
          <a:xfrm>
            <a:off x="5677477" y="2713716"/>
            <a:ext cx="2307154" cy="519113"/>
            <a:chOff x="3312" y="3168"/>
            <a:chExt cx="1536" cy="436"/>
          </a:xfrm>
        </p:grpSpPr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9F6AFE92-2D6E-44DD-BFDB-98E909667EB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11" y="2869"/>
              <a:ext cx="48" cy="645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133D533E-D4DA-47FC-A6DF-9722694A3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16"/>
              <a:ext cx="288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002060"/>
                  </a:solidFill>
                  <a:latin typeface="Times New Roman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7" name="AutoShape 23">
              <a:extLst>
                <a:ext uri="{FF2B5EF4-FFF2-40B4-BE49-F238E27FC236}">
                  <a16:creationId xmlns:a16="http://schemas.microsoft.com/office/drawing/2014/main" id="{42909655-749B-4AA4-9480-E09D489C7EF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632" y="3048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F8F301A5-EAF2-48BD-A31C-311D0BE82F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092394"/>
                </p:ext>
              </p:extLst>
            </p:nvPr>
          </p:nvGraphicFramePr>
          <p:xfrm>
            <a:off x="4608" y="3277"/>
            <a:ext cx="173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97" name="Equation" r:id="rId5" imgW="164957" imgH="203024" progId="">
                    <p:embed/>
                  </p:oleObj>
                </mc:Choice>
                <mc:Fallback>
                  <p:oleObj name="Equation" r:id="rId5" imgW="164957" imgH="203024" progId="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2D24003B-0F52-4A7A-A695-9CCCC1566F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277"/>
                          <a:ext cx="173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6C6F152-C008-4E39-B2BE-C7AB146FA920}"/>
              </a:ext>
            </a:extLst>
          </p:cNvPr>
          <p:cNvSpPr txBox="1"/>
          <p:nvPr/>
        </p:nvSpPr>
        <p:spPr>
          <a:xfrm>
            <a:off x="7329786" y="4683099"/>
            <a:ext cx="1994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D:\sysjulia</a:t>
            </a:r>
            <a:r>
              <a:rPr lang="en-US" altLang="zh-CN" sz="1600" dirty="0"/>
              <a:t>\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gaos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.jl</a:t>
            </a:r>
            <a:endParaRPr lang="zh-CN" altLang="en-US" sz="1600" dirty="0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33FD2F41-E8BE-47AA-9921-36136EB7C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09" y="2933399"/>
            <a:ext cx="416171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=(D-L)\U       f =(D-L)\</a:t>
            </a:r>
            <a:r>
              <a:rPr kumimoji="1" lang="en-US" altLang="zh-CN" sz="2400" b="1" baseline="30000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itchFamily="18" charset="0"/>
                <a:ea typeface="楷体_GB2312" pitchFamily="49" charset="-122"/>
              </a:rPr>
              <a:t>b  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261A44-E987-4931-B3DA-F9124736B126}"/>
              </a:ext>
            </a:extLst>
          </p:cNvPr>
          <p:cNvSpPr txBox="1"/>
          <p:nvPr/>
        </p:nvSpPr>
        <p:spPr>
          <a:xfrm>
            <a:off x="1229730" y="4235975"/>
            <a:ext cx="813683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defTabSz="0" eaLnBrk="0" hangingPunct="0">
              <a:spcBef>
                <a:spcPct val="30000"/>
              </a:spcBef>
              <a:defRPr sz="2200" b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感兴趣同学修改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B=D\(L+UU);f=D\b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gauss-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serdel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求解温度场，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N=30</a:t>
            </a:r>
          </a:p>
        </p:txBody>
      </p:sp>
      <p:sp>
        <p:nvSpPr>
          <p:cNvPr id="28" name="波形 27">
            <a:extLst>
              <a:ext uri="{FF2B5EF4-FFF2-40B4-BE49-F238E27FC236}">
                <a16:creationId xmlns:a16="http://schemas.microsoft.com/office/drawing/2014/main" id="{D2E0FF90-287C-4279-9426-A8695A655562}"/>
              </a:ext>
            </a:extLst>
          </p:cNvPr>
          <p:cNvSpPr/>
          <p:nvPr/>
        </p:nvSpPr>
        <p:spPr>
          <a:xfrm>
            <a:off x="275159" y="4155926"/>
            <a:ext cx="954571" cy="40497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A872E3-BD01-483C-80BF-0BF4C7706E6C}"/>
              </a:ext>
            </a:extLst>
          </p:cNvPr>
          <p:cNvSpPr txBox="1"/>
          <p:nvPr/>
        </p:nvSpPr>
        <p:spPr>
          <a:xfrm>
            <a:off x="598281" y="463415"/>
            <a:ext cx="3048846" cy="8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  <a:buFont typeface="Arial" charset="0"/>
              <a:buNone/>
            </a:pPr>
            <a:r>
              <a:rPr lang="en-US" altLang="zh-CN" sz="28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Jacobi</a:t>
            </a:r>
            <a:r>
              <a:rPr lang="zh-CN" altLang="en-US" sz="28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迭代公式</a:t>
            </a:r>
            <a:r>
              <a:rPr lang="zh-CN" altLang="en-US" sz="2800" kern="0" dirty="0">
                <a:solidFill>
                  <a:srgbClr val="FF0000"/>
                </a:solidFill>
                <a:latin typeface="Times New Roman" pitchFamily="18" charset="0"/>
              </a:rPr>
              <a:t>：</a:t>
            </a:r>
            <a:endParaRPr lang="en-US" altLang="zh-CN" sz="2800" kern="0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65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23" grpId="0"/>
      <p:bldP spid="27" grpId="0"/>
      <p:bldP spid="28" grpId="0" animBg="1"/>
    </p:bldLst>
  </p:timing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21792</TotalTime>
  <Pages>154</Pages>
  <Words>20968</Words>
  <Characters>0</Characters>
  <Application>Microsoft Office PowerPoint</Application>
  <DocSecurity>0</DocSecurity>
  <PresentationFormat>全屏显示(16:9)</PresentationFormat>
  <Lines>0</Lines>
  <Paragraphs>2648</Paragraphs>
  <Slides>89</Slides>
  <Notes>66</Notes>
  <HiddenSlides>0</HiddenSlides>
  <MMClips>0</MMClips>
  <ScaleCrop>false</ScaleCrop>
  <HeadingPairs>
    <vt:vector size="10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链接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89</vt:i4>
      </vt:variant>
    </vt:vector>
  </HeadingPairs>
  <TitlesOfParts>
    <vt:vector size="123" baseType="lpstr">
      <vt:lpstr>-apple-system</vt:lpstr>
      <vt:lpstr>B3+SimSun</vt:lpstr>
      <vt:lpstr>B4+CAJ FNT00</vt:lpstr>
      <vt:lpstr>B5+CAJSymbolA</vt:lpstr>
      <vt:lpstr>B8+CAJ FNT03</vt:lpstr>
      <vt:lpstr>Helvetica Neue</vt:lpstr>
      <vt:lpstr>KaTeX_Main</vt:lpstr>
      <vt:lpstr>KaTeX_Math</vt:lpstr>
      <vt:lpstr>PingFang SC</vt:lpstr>
      <vt:lpstr>PingFangSC-Regular</vt:lpstr>
      <vt:lpstr>等线</vt:lpstr>
      <vt:lpstr>华文楷体</vt:lpstr>
      <vt:lpstr>华文细黑</vt:lpstr>
      <vt:lpstr>隶书</vt:lpstr>
      <vt:lpstr>宋体</vt:lpstr>
      <vt:lpstr>Microsoft YaHei</vt:lpstr>
      <vt:lpstr>Microsoft YaHei</vt:lpstr>
      <vt:lpstr>微软雅黑 Light</vt:lpstr>
      <vt:lpstr>Arial</vt:lpstr>
      <vt:lpstr>Arial</vt:lpstr>
      <vt:lpstr>Arial Black</vt:lpstr>
      <vt:lpstr>Calibri</vt:lpstr>
      <vt:lpstr>Cambria Math</vt:lpstr>
      <vt:lpstr>Consolas</vt:lpstr>
      <vt:lpstr>Courier New</vt:lpstr>
      <vt:lpstr>Helvetica</vt:lpstr>
      <vt:lpstr>Times New Roman</vt:lpstr>
      <vt:lpstr>Wingdings</vt:lpstr>
      <vt:lpstr>主题1</vt:lpstr>
      <vt:lpstr>file:///D:\sysjulia\温度场jacobi迭代求解全部程序.docx</vt:lpstr>
      <vt:lpstr>Equation.DSMT4</vt:lpstr>
      <vt:lpstr>公式</vt:lpstr>
      <vt:lpstr>Microsoft Equation 3.1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va=eigvecs(a)  #特征向量  3×3 Matrix{Float64}:   0.543844  -0.816497  0.193823  -0.781227  -0.408248  0.472247   0.306461   0.408248  0.859893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§6.7欠定线性方程组——null解齐次方程组Ax=0</vt:lpstr>
      <vt:lpstr>齐次线性 方程组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§6.9 稀疏矩阵sparse matrix——特点</vt:lpstr>
      <vt:lpstr>PowerPoint 演示文稿</vt:lpstr>
      <vt:lpstr>PowerPoint 演示文稿</vt:lpstr>
      <vt:lpstr>PowerPoint 演示文稿</vt:lpstr>
      <vt:lpstr>PowerPoint 演示文稿</vt:lpstr>
      <vt:lpstr>§6.9 稀疏矩阵——常用创建sparse matrix函数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1545</cp:revision>
  <dcterms:modified xsi:type="dcterms:W3CDTF">2025-04-08T07:21:26Z</dcterms:modified>
</cp:coreProperties>
</file>