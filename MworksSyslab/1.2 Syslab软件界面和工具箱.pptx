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24"/>
  </p:notesMasterIdLst>
  <p:sldIdLst>
    <p:sldId id="707" r:id="rId2"/>
    <p:sldId id="1704" r:id="rId3"/>
    <p:sldId id="10086" r:id="rId4"/>
    <p:sldId id="10103" r:id="rId5"/>
    <p:sldId id="10079" r:id="rId6"/>
    <p:sldId id="718" r:id="rId7"/>
    <p:sldId id="10074" r:id="rId8"/>
    <p:sldId id="721" r:id="rId9"/>
    <p:sldId id="728" r:id="rId10"/>
    <p:sldId id="727" r:id="rId11"/>
    <p:sldId id="10104" r:id="rId12"/>
    <p:sldId id="722" r:id="rId13"/>
    <p:sldId id="10088" r:id="rId14"/>
    <p:sldId id="10089" r:id="rId15"/>
    <p:sldId id="10090" r:id="rId16"/>
    <p:sldId id="10093" r:id="rId17"/>
    <p:sldId id="10095" r:id="rId18"/>
    <p:sldId id="705" r:id="rId19"/>
    <p:sldId id="696" r:id="rId20"/>
    <p:sldId id="10094" r:id="rId21"/>
    <p:sldId id="10097" r:id="rId22"/>
    <p:sldId id="10092" r:id="rId2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76"/>
    <a:srgbClr val="3399FF"/>
    <a:srgbClr val="736303"/>
    <a:srgbClr val="33CCFF"/>
    <a:srgbClr val="6D629C"/>
    <a:srgbClr val="3366FF"/>
    <a:srgbClr val="E6E6E6"/>
    <a:srgbClr val="66CCFF"/>
    <a:srgbClr val="F0DA04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7" autoAdjust="0"/>
    <p:restoredTop sz="92059" autoAdjust="0"/>
  </p:normalViewPr>
  <p:slideViewPr>
    <p:cSldViewPr snapToObjects="1">
      <p:cViewPr varScale="1">
        <p:scale>
          <a:sx n="80" d="100"/>
          <a:sy n="80" d="100"/>
        </p:scale>
        <p:origin x="872" y="44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97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B0F0"/>
                </a:solidFill>
              </a:rPr>
              <a:t>在</a:t>
            </a:r>
            <a:r>
              <a:rPr lang="en-US" altLang="zh-CN" dirty="0">
                <a:solidFill>
                  <a:srgbClr val="00B0F0"/>
                </a:solidFill>
              </a:rPr>
              <a:t>Julia&gt;</a:t>
            </a:r>
            <a:r>
              <a:rPr lang="zh-CN" altLang="en-US" dirty="0">
                <a:solidFill>
                  <a:srgbClr val="00B0F0"/>
                </a:solidFill>
              </a:rPr>
              <a:t>提示下，才能输入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977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提供代码调试器，支持对代码文件的单步调试、断点调试、添加监视、查看调用堆栈等</a:t>
            </a:r>
            <a:endParaRPr lang="zh-CN" altLang="en-US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966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 err="1"/>
              <a:t>julia</a:t>
            </a:r>
            <a:r>
              <a:rPr lang="zh-CN" altLang="en-US" dirty="0"/>
              <a:t>命令行中敲入：</a:t>
            </a: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using </a:t>
            </a:r>
            <a:r>
              <a:rPr lang="en-US" altLang="zh-CN" sz="1200" dirty="0" err="1"/>
              <a:t>TyMLangCore</a:t>
            </a:r>
            <a:endParaRPr lang="en-US" altLang="zh-CN" sz="1200" dirty="0"/>
          </a:p>
          <a:p>
            <a:pPr marL="0" indent="0">
              <a:buNone/>
            </a:pPr>
            <a:r>
              <a:rPr lang="en-US" altLang="zh-CN" dirty="0" err="1"/>
              <a:t>TyMLangCore.use_mrepl</a:t>
            </a:r>
            <a:r>
              <a:rPr lang="en-US" altLang="zh-CN" dirty="0"/>
              <a:t>!()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742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采用稀疏矩阵的雅可比迭代法求根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julia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语言程序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创建方程的系数矩阵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和常向量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顶边温度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底边温度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左边温度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右边温度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* N, N * N);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创建系数矩阵的零稀疏矩阵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* N,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构造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N^2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维零稀疏向量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:N*N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的主对角线元素都是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:N*N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N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中和上边界节点对应的分量赋值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t_u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==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中和右边界节点对应的分量赋值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t_r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==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中和左边界节点对应的分量赋值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t_l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N * (N -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给向量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中和下边界节点对应的分量赋值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中和上边界无关的节点所对应的元素赋值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-N]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!=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中和左边界无关的节点所对应的元素赋值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 !=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中和右边界无关的节点所对应的元素赋值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N * (N -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给矩阵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中和下边界无关的节点所对应的元素赋值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i+N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雅可比迭代法解方程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根的占位零稀疏矩阵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x0 =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为稀疏矩阵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 =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diagm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diag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(A));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的对角矩阵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 = -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tril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的下三角阵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UU = -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triu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的上三角阵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BB = D \ (L + UU);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 = D \ b;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BB * x0 + f;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迭代解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迭代次数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 - x0) &gt;=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10e-6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x0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x0 =x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= BB * x0 + f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 = n +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 = [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eye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x]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单位矩阵和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列向量必须空格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X=U[:,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(N,N);  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把矩阵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的最后一列按矩阵形式赋给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i,j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]=U[N*(i-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j,N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]=B;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把钢板内部温度和和四周温度值放入矩阵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中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传播运算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t_r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T[[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]].=</a:t>
            </a:r>
            <a:r>
              <a:rPr lang="en-US" altLang="zh-CN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矩阵四个角没有温度值，故把非数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放入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(T)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Tr,dims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c,inline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colors=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colorbar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</a:t>
            </a:r>
          </a:p>
          <a:p>
            <a:endParaRPr lang="en-US" altLang="zh-CN" dirty="0"/>
          </a:p>
          <a:p>
            <a:r>
              <a:rPr lang="zh-CN" altLang="en-US" dirty="0"/>
              <a:t>正在运行 </a:t>
            </a:r>
            <a:r>
              <a:rPr lang="en-US" altLang="zh-CN" dirty="0" err="1"/>
              <a:t>jacobisp.jl</a:t>
            </a:r>
            <a:r>
              <a:rPr lang="en-US" altLang="zh-CN" dirty="0"/>
              <a:t>┌ </a:t>
            </a:r>
            <a:r>
              <a:rPr lang="zh-CN" altLang="en-US" dirty="0"/>
              <a:t>警告：在软作用域中对“</a:t>
            </a:r>
            <a:r>
              <a:rPr lang="en-US" altLang="zh-CN" dirty="0"/>
              <a:t>x0”</a:t>
            </a:r>
            <a:r>
              <a:rPr lang="zh-CN" altLang="en-US" dirty="0"/>
              <a:t>的赋值不明确，因为存在同名的全局变量：“</a:t>
            </a:r>
            <a:r>
              <a:rPr lang="en-US" altLang="zh-CN" dirty="0"/>
              <a:t>x0”</a:t>
            </a:r>
            <a:r>
              <a:rPr lang="zh-CN" altLang="en-US" dirty="0"/>
              <a:t>将被视为新变量地方的使用“</a:t>
            </a:r>
            <a:r>
              <a:rPr lang="en-US" altLang="zh-CN" dirty="0"/>
              <a:t>local x0”</a:t>
            </a:r>
            <a:r>
              <a:rPr lang="zh-CN" altLang="en-US" dirty="0"/>
              <a:t>取消显示此警告，或使用“</a:t>
            </a:r>
            <a:r>
              <a:rPr lang="en-US" altLang="zh-CN" dirty="0"/>
              <a:t>global x0”</a:t>
            </a:r>
            <a:r>
              <a:rPr lang="zh-CN" altLang="en-US" dirty="0"/>
              <a:t>分配给现有全局变量以消除歧义。</a:t>
            </a:r>
            <a:endParaRPr lang="en-US" altLang="zh-CN" dirty="0"/>
          </a:p>
          <a:p>
            <a:r>
              <a:rPr lang="zh-CN" altLang="en-US" dirty="0"/>
              <a:t>正在运行 </a:t>
            </a:r>
            <a:r>
              <a:rPr lang="en-US" altLang="zh-CN" dirty="0" err="1"/>
              <a:t>jacobisp.jl</a:t>
            </a:r>
            <a:r>
              <a:rPr lang="en-US" altLang="zh-CN" dirty="0"/>
              <a:t>┌ </a:t>
            </a:r>
            <a:r>
              <a:rPr lang="zh-CN" altLang="en-US" dirty="0"/>
              <a:t>警告：在软作用域中对“</a:t>
            </a:r>
            <a:r>
              <a:rPr lang="en-US" altLang="zh-CN" dirty="0"/>
              <a:t>x0”</a:t>
            </a:r>
            <a:r>
              <a:rPr lang="zh-CN" altLang="en-US" dirty="0"/>
              <a:t>的赋值不明确，因为存在同名的全局变量：“</a:t>
            </a:r>
            <a:r>
              <a:rPr lang="en-US" altLang="zh-CN" dirty="0"/>
              <a:t>x0”</a:t>
            </a:r>
            <a:r>
              <a:rPr lang="zh-CN" altLang="en-US" dirty="0"/>
              <a:t>将被视为新变量地方的使用“</a:t>
            </a:r>
            <a:r>
              <a:rPr lang="en-US" altLang="zh-CN" dirty="0"/>
              <a:t>local x0”</a:t>
            </a:r>
            <a:r>
              <a:rPr lang="zh-CN" altLang="en-US" dirty="0"/>
              <a:t>取消显示此警告，或使用“</a:t>
            </a:r>
            <a:r>
              <a:rPr lang="en-US" altLang="zh-CN" dirty="0"/>
              <a:t>global x0”</a:t>
            </a:r>
            <a:r>
              <a:rPr lang="zh-CN" altLang="en-US" dirty="0"/>
              <a:t>分配给现有全局变量以消除歧义。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en-US" altLang="zh-CN" sz="1800" b="0" i="0" dirty="0" err="1">
                <a:solidFill>
                  <a:srgbClr val="028009"/>
                </a:solidFill>
                <a:effectLst/>
                <a:latin typeface="Menlo"/>
              </a:rPr>
              <a:t>t_r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=input('temperature right:');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创建方程的系数矩阵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和常向量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的稀疏矩阵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N=50;</a:t>
            </a:r>
          </a:p>
          <a:p>
            <a:r>
              <a:rPr lang="en-US" altLang="zh-CN" sz="1800" b="0" i="0" dirty="0" err="1">
                <a:effectLst/>
                <a:latin typeface="Menlo"/>
              </a:rPr>
              <a:t>t_u</a:t>
            </a:r>
            <a:r>
              <a:rPr lang="en-US" altLang="zh-CN" sz="1800" b="0" i="0" dirty="0">
                <a:effectLst/>
                <a:latin typeface="Menlo"/>
              </a:rPr>
              <a:t> = 20;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顶边温度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 err="1">
                <a:effectLst/>
                <a:latin typeface="Menlo"/>
              </a:rPr>
              <a:t>t_d</a:t>
            </a:r>
            <a:r>
              <a:rPr lang="en-US" altLang="zh-CN" sz="1800" b="0" i="0" dirty="0">
                <a:effectLst/>
                <a:latin typeface="Menlo"/>
              </a:rPr>
              <a:t> = 30;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底边温度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 err="1">
                <a:effectLst/>
                <a:latin typeface="Menlo"/>
              </a:rPr>
              <a:t>t_l</a:t>
            </a:r>
            <a:r>
              <a:rPr lang="en-US" altLang="zh-CN" sz="1800" b="0" i="0" dirty="0">
                <a:effectLst/>
                <a:latin typeface="Menlo"/>
              </a:rPr>
              <a:t> = 10;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左边温度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 err="1">
                <a:effectLst/>
                <a:latin typeface="Menlo"/>
              </a:rPr>
              <a:t>t_r</a:t>
            </a:r>
            <a:r>
              <a:rPr lang="en-US" altLang="zh-CN" sz="1800" b="0" i="0" dirty="0">
                <a:effectLst/>
                <a:latin typeface="Menlo"/>
              </a:rPr>
              <a:t> = 40;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右边温度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A=zeros(N*N);b=zeros(N*N,1);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构造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N^2×N^2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零矩阵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；构造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N^2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维零向量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=1:N*N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的主对角线元素都是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4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A(</a:t>
            </a:r>
            <a:r>
              <a:rPr lang="en-US" altLang="zh-CN" sz="1800" b="0" i="0" dirty="0" err="1">
                <a:effectLst/>
                <a:latin typeface="Menlo"/>
              </a:rPr>
              <a:t>i,i</a:t>
            </a:r>
            <a:r>
              <a:rPr lang="en-US" altLang="zh-CN" sz="1800" b="0" i="0" dirty="0">
                <a:effectLst/>
                <a:latin typeface="Menlo"/>
              </a:rPr>
              <a:t>)=4;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=1:N*N;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和向量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&lt;=N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给向量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中和上边界节点对应的分量赋值 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b(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)=</a:t>
            </a:r>
            <a:r>
              <a:rPr lang="en-US" altLang="zh-CN" sz="1800" b="0" i="0" dirty="0" err="1">
                <a:effectLst/>
                <a:latin typeface="Menlo"/>
              </a:rPr>
              <a:t>t_u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>
                <a:effectLst/>
                <a:latin typeface="Menlo"/>
              </a:rPr>
              <a:t>mod(</a:t>
            </a:r>
            <a:r>
              <a:rPr lang="en-US" altLang="zh-CN" sz="1800" b="0" i="0" dirty="0" err="1">
                <a:effectLst/>
                <a:latin typeface="Menlo"/>
              </a:rPr>
              <a:t>i,N</a:t>
            </a:r>
            <a:r>
              <a:rPr lang="en-US" altLang="zh-CN" sz="1800" b="0" i="0" dirty="0">
                <a:effectLst/>
                <a:latin typeface="Menlo"/>
              </a:rPr>
              <a:t>)==0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给向量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中和右边界节点对应的分量赋值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b(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)=b(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)+</a:t>
            </a:r>
            <a:r>
              <a:rPr lang="en-US" altLang="zh-CN" sz="1800" b="0" i="0" dirty="0" err="1">
                <a:effectLst/>
                <a:latin typeface="Menlo"/>
              </a:rPr>
              <a:t>t_r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>
                <a:effectLst/>
                <a:latin typeface="Menlo"/>
              </a:rPr>
              <a:t>mod(</a:t>
            </a:r>
            <a:r>
              <a:rPr lang="en-US" altLang="zh-CN" sz="1800" b="0" i="0" dirty="0" err="1">
                <a:effectLst/>
                <a:latin typeface="Menlo"/>
              </a:rPr>
              <a:t>i,N</a:t>
            </a:r>
            <a:r>
              <a:rPr lang="en-US" altLang="zh-CN" sz="1800" b="0" i="0" dirty="0">
                <a:effectLst/>
                <a:latin typeface="Menlo"/>
              </a:rPr>
              <a:t>)==1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给向量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中和左边界节点对应的分量赋值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b(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)=b(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)+</a:t>
            </a:r>
            <a:r>
              <a:rPr lang="en-US" altLang="zh-CN" sz="1800" b="0" i="0" dirty="0" err="1">
                <a:effectLst/>
                <a:latin typeface="Menlo"/>
              </a:rPr>
              <a:t>t_l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&gt;N*(N-1)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给向量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中和下边界节点对应的分量赋值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b(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)=b(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)+</a:t>
            </a:r>
            <a:r>
              <a:rPr lang="en-US" altLang="zh-CN" sz="1800" b="0" i="0" dirty="0" err="1">
                <a:effectLst/>
                <a:latin typeface="Menlo"/>
              </a:rPr>
              <a:t>t_d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&gt;N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中和上边界无关的节点所对应的元素赋值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A(</a:t>
            </a:r>
            <a:r>
              <a:rPr lang="en-US" altLang="zh-CN" sz="1800" b="0" i="0" dirty="0" err="1">
                <a:effectLst/>
                <a:latin typeface="Menlo"/>
              </a:rPr>
              <a:t>i,i</a:t>
            </a:r>
            <a:r>
              <a:rPr lang="en-US" altLang="zh-CN" sz="1800" b="0" i="0" dirty="0">
                <a:effectLst/>
                <a:latin typeface="Menlo"/>
              </a:rPr>
              <a:t>-N)=-1;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>
                <a:effectLst/>
                <a:latin typeface="Menlo"/>
              </a:rPr>
              <a:t>mod(</a:t>
            </a:r>
            <a:r>
              <a:rPr lang="en-US" altLang="zh-CN" sz="1800" b="0" i="0" dirty="0" err="1">
                <a:effectLst/>
                <a:latin typeface="Menlo"/>
              </a:rPr>
              <a:t>i,N</a:t>
            </a:r>
            <a:r>
              <a:rPr lang="en-US" altLang="zh-CN" sz="1800" b="0" i="0" dirty="0">
                <a:effectLst/>
                <a:latin typeface="Menlo"/>
              </a:rPr>
              <a:t>)~=1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中和左边界无关的节点所对应的元素赋值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A(i,i-1)=-1;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>
                <a:effectLst/>
                <a:latin typeface="Menlo"/>
              </a:rPr>
              <a:t>mod(</a:t>
            </a:r>
            <a:r>
              <a:rPr lang="en-US" altLang="zh-CN" sz="1800" b="0" i="0" dirty="0" err="1">
                <a:effectLst/>
                <a:latin typeface="Menlo"/>
              </a:rPr>
              <a:t>i,N</a:t>
            </a:r>
            <a:r>
              <a:rPr lang="en-US" altLang="zh-CN" sz="1800" b="0" i="0" dirty="0">
                <a:effectLst/>
                <a:latin typeface="Menlo"/>
              </a:rPr>
              <a:t>)~=0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中和右边界无关的节点所对应的元素赋值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A(i,i+1)=-1;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&lt;=N*(N-1)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给矩阵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中和下边界无关的节点所对应的元素赋值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A(</a:t>
            </a:r>
            <a:r>
              <a:rPr lang="en-US" altLang="zh-CN" sz="1800" b="0" i="0" dirty="0" err="1">
                <a:effectLst/>
                <a:latin typeface="Menlo"/>
              </a:rPr>
              <a:t>i,i+N</a:t>
            </a:r>
            <a:r>
              <a:rPr lang="en-US" altLang="zh-CN" sz="1800" b="0" i="0" dirty="0">
                <a:effectLst/>
                <a:latin typeface="Menlo"/>
              </a:rPr>
              <a:t>)=-1;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雅可比迭代法解方程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A=sparse(A);</a:t>
            </a:r>
          </a:p>
          <a:p>
            <a:r>
              <a:rPr lang="en-US" altLang="zh-CN" sz="1800" b="0" i="0" dirty="0">
                <a:effectLst/>
                <a:latin typeface="Menlo"/>
              </a:rPr>
              <a:t>b=sparse(b);</a:t>
            </a:r>
          </a:p>
          <a:p>
            <a:r>
              <a:rPr lang="en-US" altLang="zh-CN" sz="1800" b="0" i="0" dirty="0">
                <a:effectLst/>
                <a:latin typeface="Menlo"/>
              </a:rPr>
              <a:t>x0=sparse(zeros(N^2,1)) 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定义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x0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为稀疏矩阵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D=</a:t>
            </a:r>
            <a:r>
              <a:rPr lang="en-US" altLang="zh-CN" sz="1800" b="0" i="0" dirty="0" err="1">
                <a:effectLst/>
                <a:latin typeface="Menlo"/>
              </a:rPr>
              <a:t>diag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diag</a:t>
            </a:r>
            <a:r>
              <a:rPr lang="en-US" altLang="zh-CN" sz="1800" b="0" i="0" dirty="0">
                <a:effectLst/>
                <a:latin typeface="Menlo"/>
              </a:rPr>
              <a:t>(A)) 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求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的对角矩阵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L=-</a:t>
            </a:r>
            <a:r>
              <a:rPr lang="en-US" altLang="zh-CN" sz="1800" b="0" i="0" dirty="0" err="1">
                <a:effectLst/>
                <a:latin typeface="Menlo"/>
              </a:rPr>
              <a:t>tril</a:t>
            </a:r>
            <a:r>
              <a:rPr lang="en-US" altLang="zh-CN" sz="1800" b="0" i="0" dirty="0">
                <a:effectLst/>
                <a:latin typeface="Menlo"/>
              </a:rPr>
              <a:t>(A,-1) 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求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的下三角阵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UU=-</a:t>
            </a:r>
            <a:r>
              <a:rPr lang="en-US" altLang="zh-CN" sz="1800" b="0" i="0" dirty="0" err="1">
                <a:effectLst/>
                <a:latin typeface="Menlo"/>
              </a:rPr>
              <a:t>triu</a:t>
            </a:r>
            <a:r>
              <a:rPr lang="en-US" altLang="zh-CN" sz="1800" b="0" i="0" dirty="0">
                <a:effectLst/>
                <a:latin typeface="Menlo"/>
              </a:rPr>
              <a:t>(A,1) 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求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A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的上三角阵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BB=D\(L+UU) ;</a:t>
            </a:r>
          </a:p>
          <a:p>
            <a:r>
              <a:rPr lang="en-US" altLang="zh-CN" sz="1800" b="0" i="0" dirty="0">
                <a:effectLst/>
                <a:latin typeface="Menlo"/>
              </a:rPr>
              <a:t>f=D\b ;</a:t>
            </a:r>
          </a:p>
          <a:p>
            <a:r>
              <a:rPr lang="en-US" altLang="zh-CN" sz="1800" b="0" i="0" dirty="0">
                <a:effectLst/>
                <a:latin typeface="Menlo"/>
              </a:rPr>
              <a:t>x=BB*x0+f 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迭代解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n=1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迭代次数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while </a:t>
            </a:r>
            <a:r>
              <a:rPr lang="en-US" altLang="zh-CN" sz="1800" b="0" i="0" dirty="0">
                <a:effectLst/>
                <a:latin typeface="Menlo"/>
              </a:rPr>
              <a:t>norm(x-x0)&gt;=eps</a:t>
            </a:r>
          </a:p>
          <a:p>
            <a:r>
              <a:rPr lang="en-US" altLang="zh-CN" sz="1800" b="0" i="0" dirty="0">
                <a:effectLst/>
                <a:latin typeface="Menlo"/>
              </a:rPr>
              <a:t>x0=x;</a:t>
            </a:r>
          </a:p>
          <a:p>
            <a:r>
              <a:rPr lang="en-US" altLang="zh-CN" sz="1800" b="0" i="0" dirty="0">
                <a:effectLst/>
                <a:latin typeface="Menlo"/>
              </a:rPr>
              <a:t>x=BB*x0+f</a:t>
            </a:r>
          </a:p>
          <a:p>
            <a:r>
              <a:rPr lang="en-US" altLang="zh-CN" sz="1800" b="0" i="0" dirty="0">
                <a:effectLst/>
                <a:latin typeface="Menlo"/>
              </a:rPr>
              <a:t>n=n+1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x</a:t>
            </a:r>
          </a:p>
          <a:p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绘制温度场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U=[eye(N^2,N^2),x]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创建单位矩阵和根的增广矩阵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800" b="0" i="0" dirty="0" err="1">
                <a:effectLst/>
                <a:latin typeface="Menlo"/>
              </a:rPr>
              <a:t>i</a:t>
            </a:r>
            <a:r>
              <a:rPr lang="en-US" altLang="zh-CN" sz="1800" b="0" i="0" dirty="0">
                <a:effectLst/>
                <a:latin typeface="Menlo"/>
              </a:rPr>
              <a:t>=1:N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把矩阵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U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的最后一列按矩阵形式赋给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B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800" b="0" i="0" dirty="0">
                <a:effectLst/>
                <a:latin typeface="Menlo"/>
              </a:rPr>
              <a:t>j=1:N</a:t>
            </a:r>
          </a:p>
          <a:p>
            <a:r>
              <a:rPr lang="en-US" altLang="zh-CN" sz="1800" b="0" i="0" dirty="0">
                <a:effectLst/>
                <a:latin typeface="Menlo"/>
              </a:rPr>
              <a:t>B(</a:t>
            </a:r>
            <a:r>
              <a:rPr lang="en-US" altLang="zh-CN" sz="1800" b="0" i="0" dirty="0" err="1">
                <a:effectLst/>
                <a:latin typeface="Menlo"/>
              </a:rPr>
              <a:t>i,j</a:t>
            </a:r>
            <a:r>
              <a:rPr lang="en-US" altLang="zh-CN" sz="1800" b="0" i="0" dirty="0">
                <a:effectLst/>
                <a:latin typeface="Menlo"/>
              </a:rPr>
              <a:t>)=U(N*(i-1)+</a:t>
            </a:r>
            <a:r>
              <a:rPr lang="en-US" altLang="zh-CN" sz="1800" b="0" i="0" dirty="0" err="1">
                <a:effectLst/>
                <a:latin typeface="Menlo"/>
              </a:rPr>
              <a:t>j,N</a:t>
            </a:r>
            <a:r>
              <a:rPr lang="en-US" altLang="zh-CN" sz="1800" b="0" i="0" dirty="0">
                <a:effectLst/>
                <a:latin typeface="Menlo"/>
              </a:rPr>
              <a:t>*N+1);</a:t>
            </a: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T(2:N+1,2:N+1)=B;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把钢板内部温度和和四周温度值放入矩阵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T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中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T(1,2:N+1)=</a:t>
            </a:r>
            <a:r>
              <a:rPr lang="en-US" altLang="zh-CN" sz="1800" b="0" i="0" dirty="0" err="1">
                <a:effectLst/>
                <a:latin typeface="Menlo"/>
              </a:rPr>
              <a:t>t_u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effectLst/>
                <a:latin typeface="Menlo"/>
              </a:rPr>
              <a:t>T(N+2,2:N+1)=</a:t>
            </a:r>
            <a:r>
              <a:rPr lang="en-US" altLang="zh-CN" sz="1800" b="0" i="0" dirty="0" err="1">
                <a:effectLst/>
                <a:latin typeface="Menlo"/>
              </a:rPr>
              <a:t>t_d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effectLst/>
                <a:latin typeface="Menlo"/>
              </a:rPr>
              <a:t>T(2:N+1,1)=</a:t>
            </a:r>
            <a:r>
              <a:rPr lang="en-US" altLang="zh-CN" sz="1800" b="0" i="0" dirty="0" err="1">
                <a:effectLst/>
                <a:latin typeface="Menlo"/>
              </a:rPr>
              <a:t>t_l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effectLst/>
                <a:latin typeface="Menlo"/>
              </a:rPr>
              <a:t>T(2:N+1,N+2)=</a:t>
            </a:r>
            <a:r>
              <a:rPr lang="en-US" altLang="zh-CN" sz="1800" b="0" i="0" dirty="0" err="1">
                <a:effectLst/>
                <a:latin typeface="Menlo"/>
              </a:rPr>
              <a:t>t_r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r>
              <a:rPr lang="en-US" altLang="zh-CN" sz="1800" b="0" i="0" dirty="0">
                <a:effectLst/>
                <a:latin typeface="Menlo"/>
              </a:rPr>
              <a:t>T([1,N+2],[1,N+2])=</a:t>
            </a:r>
            <a:r>
              <a:rPr lang="en-US" altLang="zh-CN" sz="1800" b="0" i="0" dirty="0" err="1">
                <a:effectLst/>
                <a:latin typeface="Menlo"/>
              </a:rPr>
              <a:t>NaN</a:t>
            </a:r>
            <a:r>
              <a:rPr lang="en-US" altLang="zh-CN" sz="1800" b="0" i="0" dirty="0">
                <a:effectLst/>
                <a:latin typeface="Menlo"/>
              </a:rPr>
              <a:t>;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矩阵四个角没有温度值，故把非数</a:t>
            </a:r>
            <a:r>
              <a:rPr lang="en-US" altLang="zh-CN" sz="1800" b="0" i="0" dirty="0" err="1">
                <a:solidFill>
                  <a:srgbClr val="028009"/>
                </a:solidFill>
                <a:effectLst/>
                <a:latin typeface="Menlo"/>
              </a:rPr>
              <a:t>NaN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放入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T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Menlo"/>
              </a:rPr>
              <a:t>显示计算结果</a:t>
            </a:r>
            <a:endParaRPr lang="zh-CN" altLang="en-US" sz="1800" b="0" i="0" dirty="0">
              <a:effectLst/>
              <a:latin typeface="Menlo"/>
            </a:endParaRPr>
          </a:p>
          <a:p>
            <a:r>
              <a:rPr lang="en-US" altLang="zh-CN" sz="1800" b="0" i="0" dirty="0" err="1">
                <a:solidFill>
                  <a:srgbClr val="028009"/>
                </a:solidFill>
                <a:effectLst/>
                <a:latin typeface="Menlo"/>
              </a:rPr>
              <a:t>tt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=</a:t>
            </a:r>
            <a:r>
              <a:rPr lang="en-US" altLang="zh-CN" sz="1800" b="0" i="0" dirty="0" err="1">
                <a:solidFill>
                  <a:srgbClr val="028009"/>
                </a:solidFill>
                <a:effectLst/>
                <a:latin typeface="Menlo"/>
              </a:rPr>
              <a:t>flipud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Menlo"/>
              </a:rPr>
              <a:t>(T)</a:t>
            </a:r>
            <a:endParaRPr lang="en-US" altLang="zh-CN" sz="1800" b="0" i="0" dirty="0">
              <a:effectLst/>
              <a:latin typeface="Menlo"/>
            </a:endParaRPr>
          </a:p>
          <a:p>
            <a:r>
              <a:rPr lang="en-US" altLang="zh-CN" sz="1800" b="0" i="0" dirty="0">
                <a:effectLst/>
                <a:latin typeface="Menlo"/>
              </a:rPr>
              <a:t>c=</a:t>
            </a:r>
            <a:r>
              <a:rPr lang="en-US" altLang="zh-CN" sz="1800" b="0" i="0" dirty="0" err="1">
                <a:effectLst/>
                <a:latin typeface="Menlo"/>
              </a:rPr>
              <a:t>contourf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tt</a:t>
            </a:r>
            <a:r>
              <a:rPr lang="en-US" altLang="zh-CN" sz="1800" b="0" i="0" dirty="0">
                <a:effectLst/>
                <a:latin typeface="Menlo"/>
              </a:rPr>
              <a:t>)</a:t>
            </a:r>
          </a:p>
          <a:p>
            <a:r>
              <a:rPr lang="en-US" altLang="zh-CN" sz="1800" b="0" i="0" dirty="0" err="1">
                <a:effectLst/>
                <a:latin typeface="Menlo"/>
              </a:rPr>
              <a:t>clabel</a:t>
            </a:r>
            <a:r>
              <a:rPr lang="en-US" altLang="zh-CN" sz="1800" b="0" i="0" dirty="0">
                <a:effectLst/>
                <a:latin typeface="Menlo"/>
              </a:rPr>
              <a:t>(c)</a:t>
            </a:r>
          </a:p>
          <a:p>
            <a:r>
              <a:rPr lang="en-US" altLang="zh-CN" sz="1800" b="0" i="0" dirty="0" err="1">
                <a:effectLst/>
                <a:latin typeface="Menlo"/>
              </a:rPr>
              <a:t>colorbar</a:t>
            </a:r>
            <a:endParaRPr lang="en-US" altLang="zh-CN" sz="1800" b="0" i="0" dirty="0">
              <a:effectLst/>
              <a:latin typeface="Menlo"/>
            </a:endParaRPr>
          </a:p>
          <a:p>
            <a:br>
              <a:rPr lang="en-US" altLang="zh-CN" sz="1800" b="0" i="0" dirty="0">
                <a:effectLst/>
                <a:latin typeface="Menlo"/>
              </a:rPr>
            </a:br>
            <a:endParaRPr lang="en-US" altLang="zh-CN" sz="1800" b="0" i="0" dirty="0">
              <a:effectLst/>
              <a:latin typeface="Menlo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38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交互式命令行（现在被广泛称为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REPL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，即“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real-eval-print loop”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）</a:t>
            </a:r>
            <a:r>
              <a:rPr lang="en-US" altLang="zh-CN" sz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(Read evaluate print loop) </a:t>
            </a:r>
            <a:r>
              <a:rPr lang="zh-CN" altLang="en-US" sz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不管结果显示与否，变量 </a:t>
            </a:r>
            <a:r>
              <a:rPr lang="en-US" altLang="zh-CN" sz="1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总会存储刚执行完代码的结果，需要注意的是，</a:t>
            </a:r>
            <a:r>
              <a:rPr lang="en-US" altLang="zh-CN" sz="1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</a:t>
            </a:r>
            <a:r>
              <a:rPr lang="en-US" altLang="zh-CN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只在交互式会话中才有</a:t>
            </a:r>
            <a:endParaRPr lang="en-US" altLang="zh-CN" sz="1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492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071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087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950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根据服务器类型不同，注册表又分为公有注册表和私有注册表。公有注册表对应公共服务器，私有注册表对应企业内部服务器。</a:t>
            </a:r>
            <a:r>
              <a:rPr lang="en-US" altLang="zh-CN" dirty="0" err="1"/>
              <a:t>Registry.toml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139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树形视图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92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FF0000"/>
                </a:solidFill>
              </a:rPr>
              <a:t>参看库的版本                                                         </a:t>
            </a:r>
            <a:r>
              <a:rPr lang="en-US" altLang="zh-CN" dirty="0" err="1">
                <a:solidFill>
                  <a:srgbClr val="FF0000"/>
                </a:solidFill>
              </a:rPr>
              <a:t>st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608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 err="1">
                <a:solidFill>
                  <a:srgbClr val="FFFF00"/>
                </a:solidFill>
              </a:rPr>
              <a:t>Syslab</a:t>
            </a:r>
            <a:r>
              <a:rPr lang="zh-CN" altLang="en-US" sz="1200" b="1" dirty="0">
                <a:solidFill>
                  <a:srgbClr val="FFFF00"/>
                </a:solidFill>
              </a:rPr>
              <a:t>集成</a:t>
            </a:r>
            <a:r>
              <a:rPr lang="en-US" altLang="zh-CN" sz="1200" b="1" dirty="0" err="1">
                <a:solidFill>
                  <a:srgbClr val="FFFF00"/>
                </a:solidFill>
              </a:rPr>
              <a:t>julia</a:t>
            </a:r>
            <a:r>
              <a:rPr lang="zh-CN" altLang="en-US" sz="1200" b="1" dirty="0">
                <a:solidFill>
                  <a:srgbClr val="FFFF00"/>
                </a:solidFill>
              </a:rPr>
              <a:t>官方所有注册库，</a:t>
            </a:r>
            <a:endParaRPr lang="en-US" altLang="zh-CN" sz="1200" b="1" dirty="0">
              <a:solidFill>
                <a:srgbClr val="FFFF00"/>
              </a:solidFill>
            </a:endParaRPr>
          </a:p>
          <a:p>
            <a:r>
              <a:rPr lang="zh-CN" altLang="en-US" sz="12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均可使用</a:t>
            </a:r>
            <a:r>
              <a:rPr lang="en-US" altLang="zh-CN" sz="12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using</a:t>
            </a:r>
            <a:r>
              <a:rPr lang="zh-CN" altLang="en-US" sz="12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直接加载</a:t>
            </a:r>
            <a:endParaRPr lang="en-US" altLang="zh-CN" sz="1200" b="1" kern="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216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363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931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#/Doc/Syslab/Quickstart/Explorer.ht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8B90E-CDAC-537E-54F4-0B614B25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467334"/>
            <a:ext cx="6336704" cy="870198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§</a:t>
            </a:r>
            <a:r>
              <a:rPr lang="en-US" altLang="zh-CN" kern="100" dirty="0">
                <a:solidFill>
                  <a:srgbClr val="002060"/>
                </a:solidFill>
              </a:rPr>
              <a:t>1.2 </a:t>
            </a:r>
            <a:r>
              <a:rPr lang="en-US" altLang="zh-CN" kern="100" dirty="0" err="1">
                <a:solidFill>
                  <a:srgbClr val="002060"/>
                </a:solidFill>
              </a:rPr>
              <a:t>Syslab</a:t>
            </a:r>
            <a:r>
              <a:rPr lang="zh-CN" altLang="en-US" kern="100" dirty="0">
                <a:solidFill>
                  <a:srgbClr val="002060"/>
                </a:solidFill>
              </a:rPr>
              <a:t>软件界面</a:t>
            </a:r>
            <a:r>
              <a:rPr lang="zh-CN" altLang="zh-CN" kern="100" dirty="0">
                <a:solidFill>
                  <a:srgbClr val="002060"/>
                </a:solidFill>
              </a:rPr>
              <a:t>和工具箱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DB54EE4-F370-5242-47D3-32B5833EF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69" y="1557110"/>
            <a:ext cx="8083690" cy="261610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+mn-ea"/>
              </a:rPr>
              <a:t>§ </a:t>
            </a:r>
            <a:r>
              <a:rPr lang="en-US" altLang="zh-CN" b="1" kern="100" dirty="0"/>
              <a:t>1.2.1  </a:t>
            </a:r>
            <a:r>
              <a:rPr lang="en-US" altLang="zh-CN" b="1" kern="100" dirty="0" err="1">
                <a:solidFill>
                  <a:srgbClr val="002060"/>
                </a:solidFill>
              </a:rPr>
              <a:t>Syslab</a:t>
            </a:r>
            <a:r>
              <a:rPr lang="zh-CN" altLang="en-US" b="1" kern="100" dirty="0">
                <a:solidFill>
                  <a:srgbClr val="002060"/>
                </a:solidFill>
              </a:rPr>
              <a:t>软件工作界面</a:t>
            </a:r>
            <a:endParaRPr lang="en-US" altLang="zh-CN" b="1" kern="100" dirty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+mn-ea"/>
              </a:rPr>
              <a:t>§ </a:t>
            </a:r>
            <a:r>
              <a:rPr lang="en-US" altLang="zh-CN" b="1" kern="100" dirty="0"/>
              <a:t>1.2.2 </a:t>
            </a:r>
            <a:r>
              <a:rPr lang="zh-CN" altLang="en-US" b="1" kern="100" dirty="0"/>
              <a:t>资源管理器及文件管理</a:t>
            </a:r>
            <a:endParaRPr lang="en-US" altLang="zh-CN" b="1" kern="100" dirty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+mn-ea"/>
              </a:rPr>
              <a:t>§ </a:t>
            </a:r>
            <a:r>
              <a:rPr lang="en-US" altLang="zh-CN" b="1" dirty="0"/>
              <a:t>1.2.3 </a:t>
            </a:r>
            <a:r>
              <a:rPr lang="zh-CN" altLang="zh-CN" b="1" kern="100" dirty="0"/>
              <a:t>工具箱</a:t>
            </a:r>
            <a:r>
              <a:rPr lang="zh-CN" altLang="en-US" b="1" kern="100" dirty="0"/>
              <a:t>管理</a:t>
            </a:r>
            <a:endParaRPr lang="en-US" altLang="zh-CN" b="1" kern="1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+mn-ea"/>
              </a:rPr>
              <a:t>§ </a:t>
            </a:r>
            <a:r>
              <a:rPr lang="en-US" altLang="zh-CN" b="1" kern="100" dirty="0"/>
              <a:t>1.2.4 </a:t>
            </a:r>
            <a:r>
              <a:rPr lang="zh-CN" altLang="en-US" b="1" kern="100" dirty="0"/>
              <a:t>命令行窗口基本命令</a:t>
            </a:r>
          </a:p>
        </p:txBody>
      </p:sp>
      <p:pic>
        <p:nvPicPr>
          <p:cNvPr id="1026" name="Picture 2" descr="MWORKS来了（一）| 体验焕然一新的智能建模">
            <a:extLst>
              <a:ext uri="{FF2B5EF4-FFF2-40B4-BE49-F238E27FC236}">
                <a16:creationId xmlns:a16="http://schemas.microsoft.com/office/drawing/2014/main" id="{49D03CCD-9EFB-42D9-A03C-30C4D934EC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" t="6246" r="50786" b="9890"/>
          <a:stretch/>
        </p:blipFill>
        <p:spPr bwMode="auto">
          <a:xfrm>
            <a:off x="6372200" y="2461821"/>
            <a:ext cx="2232248" cy="171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65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5C65CEA2-C4BF-4402-89C0-35E66ECE7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734982"/>
            <a:ext cx="8208912" cy="22121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清楚</a:t>
            </a:r>
            <a:r>
              <a:rPr lang="en-US" altLang="zh-CN" b="0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Syslab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软件界面分布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学会资源管理器文件管理，包括创建和调用文件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学会用同元官方工具箱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ts val="4200"/>
              </a:lnSpc>
              <a:buFont typeface="+mj-lt"/>
              <a:buAutoNum type="arabicPeriod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了解第三方工具箱下载、安装和加载</a:t>
            </a:r>
          </a:p>
        </p:txBody>
      </p:sp>
      <p:sp>
        <p:nvSpPr>
          <p:cNvPr id="22" name="矩形 1">
            <a:extLst>
              <a:ext uri="{FF2B5EF4-FFF2-40B4-BE49-F238E27FC236}">
                <a16:creationId xmlns:a16="http://schemas.microsoft.com/office/drawing/2014/main" id="{3F8A99F9-4EDD-4DD3-BF7A-1BC6A8D45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98" y="915566"/>
            <a:ext cx="2031325" cy="59490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3600" kern="1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学习目标</a:t>
            </a:r>
            <a:endParaRPr lang="en-US" altLang="zh-CN" sz="3600" kern="1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062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>
            <a:extLst>
              <a:ext uri="{FF2B5EF4-FFF2-40B4-BE49-F238E27FC236}">
                <a16:creationId xmlns:a16="http://schemas.microsoft.com/office/drawing/2014/main" id="{5A411DCB-95EB-471C-BB56-40187A5AF6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1" b="6601"/>
          <a:stretch/>
        </p:blipFill>
        <p:spPr>
          <a:xfrm>
            <a:off x="33925" y="714910"/>
            <a:ext cx="9002571" cy="4359384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997D9292-4F0C-4A7A-8466-80E78E4C7B6A}"/>
              </a:ext>
            </a:extLst>
          </p:cNvPr>
          <p:cNvSpPr/>
          <p:nvPr/>
        </p:nvSpPr>
        <p:spPr>
          <a:xfrm>
            <a:off x="7380312" y="1173407"/>
            <a:ext cx="339165" cy="462239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注: 线形 11">
            <a:extLst>
              <a:ext uri="{FF2B5EF4-FFF2-40B4-BE49-F238E27FC236}">
                <a16:creationId xmlns:a16="http://schemas.microsoft.com/office/drawing/2014/main" id="{21806D08-F521-44BF-B0AC-B83CBDEDF0C3}"/>
              </a:ext>
            </a:extLst>
          </p:cNvPr>
          <p:cNvSpPr/>
          <p:nvPr/>
        </p:nvSpPr>
        <p:spPr>
          <a:xfrm>
            <a:off x="580623" y="2466425"/>
            <a:ext cx="1171484" cy="263436"/>
          </a:xfrm>
          <a:prstGeom prst="borderCallout1">
            <a:avLst>
              <a:gd name="adj1" fmla="val 18750"/>
              <a:gd name="adj2" fmla="val -8333"/>
              <a:gd name="adj3" fmla="val 165859"/>
              <a:gd name="adj4" fmla="val -28688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3.</a:t>
            </a:r>
            <a:r>
              <a:rPr lang="zh-CN" altLang="en-US" sz="1600" dirty="0">
                <a:solidFill>
                  <a:schemeClr val="bg1"/>
                </a:solidFill>
              </a:rPr>
              <a:t>左侧边栏</a:t>
            </a:r>
          </a:p>
        </p:txBody>
      </p:sp>
      <p:sp>
        <p:nvSpPr>
          <p:cNvPr id="15" name="标注: 线形 14">
            <a:extLst>
              <a:ext uri="{FF2B5EF4-FFF2-40B4-BE49-F238E27FC236}">
                <a16:creationId xmlns:a16="http://schemas.microsoft.com/office/drawing/2014/main" id="{EAEFDB33-0D33-4C44-96FF-ECFB27C3554F}"/>
              </a:ext>
            </a:extLst>
          </p:cNvPr>
          <p:cNvSpPr/>
          <p:nvPr/>
        </p:nvSpPr>
        <p:spPr>
          <a:xfrm>
            <a:off x="2240579" y="3235016"/>
            <a:ext cx="1436588" cy="214757"/>
          </a:xfrm>
          <a:prstGeom prst="borderCallout1">
            <a:avLst>
              <a:gd name="adj1" fmla="val 18750"/>
              <a:gd name="adj2" fmla="val -8333"/>
              <a:gd name="adj3" fmla="val 11583"/>
              <a:gd name="adj4" fmla="val -14715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5. </a:t>
            </a:r>
            <a:r>
              <a:rPr lang="zh-CN" altLang="en-US" sz="1600" dirty="0">
                <a:solidFill>
                  <a:schemeClr val="bg1"/>
                </a:solidFill>
              </a:rPr>
              <a:t>命令行窗口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28AD93-02EC-4887-A210-E1F7909BDFDB}"/>
              </a:ext>
            </a:extLst>
          </p:cNvPr>
          <p:cNvSpPr txBox="1"/>
          <p:nvPr/>
        </p:nvSpPr>
        <p:spPr>
          <a:xfrm>
            <a:off x="7966503" y="1250862"/>
            <a:ext cx="901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i="0">
                <a:solidFill>
                  <a:srgbClr val="D57747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400" dirty="0">
                <a:solidFill>
                  <a:srgbClr val="FF0000"/>
                </a:solidFill>
              </a:rPr>
              <a:t>M</a:t>
            </a:r>
            <a:r>
              <a:rPr lang="zh-CN" altLang="en-US" sz="1400" dirty="0">
                <a:solidFill>
                  <a:srgbClr val="FF0000"/>
                </a:solidFill>
              </a:rPr>
              <a:t>语言兼容工具</a:t>
            </a:r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7B84A5A6-CE90-434E-8512-6825C22CC9D1}"/>
              </a:ext>
            </a:extLst>
          </p:cNvPr>
          <p:cNvSpPr/>
          <p:nvPr/>
        </p:nvSpPr>
        <p:spPr>
          <a:xfrm>
            <a:off x="14253" y="2129811"/>
            <a:ext cx="219206" cy="2234117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1FCE439-9F60-4781-9C12-FD6B2C927F88}"/>
              </a:ext>
            </a:extLst>
          </p:cNvPr>
          <p:cNvSpPr/>
          <p:nvPr/>
        </p:nvSpPr>
        <p:spPr bwMode="auto">
          <a:xfrm>
            <a:off x="33925" y="1133898"/>
            <a:ext cx="9002571" cy="752386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标注: 线形 21">
            <a:extLst>
              <a:ext uri="{FF2B5EF4-FFF2-40B4-BE49-F238E27FC236}">
                <a16:creationId xmlns:a16="http://schemas.microsoft.com/office/drawing/2014/main" id="{1440E543-497A-436C-9EE2-E3B7C9EFBAC1}"/>
              </a:ext>
            </a:extLst>
          </p:cNvPr>
          <p:cNvSpPr/>
          <p:nvPr/>
        </p:nvSpPr>
        <p:spPr>
          <a:xfrm>
            <a:off x="2448696" y="2008895"/>
            <a:ext cx="1403224" cy="286519"/>
          </a:xfrm>
          <a:prstGeom prst="borderCallout1">
            <a:avLst>
              <a:gd name="adj1" fmla="val 18750"/>
              <a:gd name="adj2" fmla="val -8333"/>
              <a:gd name="adj3" fmla="val 28946"/>
              <a:gd name="adj4" fmla="val -3305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4.</a:t>
            </a:r>
            <a:r>
              <a:rPr lang="zh-CN" altLang="en-US" sz="1600" dirty="0">
                <a:solidFill>
                  <a:schemeClr val="bg1"/>
                </a:solidFill>
              </a:rPr>
              <a:t>代码编辑器</a:t>
            </a:r>
          </a:p>
        </p:txBody>
      </p:sp>
      <p:sp>
        <p:nvSpPr>
          <p:cNvPr id="24" name="标注: 线形 23">
            <a:extLst>
              <a:ext uri="{FF2B5EF4-FFF2-40B4-BE49-F238E27FC236}">
                <a16:creationId xmlns:a16="http://schemas.microsoft.com/office/drawing/2014/main" id="{19A9AEA2-0D79-4370-AFCB-E2C8D6C91F57}"/>
              </a:ext>
            </a:extLst>
          </p:cNvPr>
          <p:cNvSpPr/>
          <p:nvPr/>
        </p:nvSpPr>
        <p:spPr>
          <a:xfrm>
            <a:off x="5997250" y="1425308"/>
            <a:ext cx="1147034" cy="241122"/>
          </a:xfrm>
          <a:prstGeom prst="borderCallout1">
            <a:avLst>
              <a:gd name="adj1" fmla="val 18750"/>
              <a:gd name="adj2" fmla="val -8333"/>
              <a:gd name="adj3" fmla="val -9040"/>
              <a:gd name="adj4" fmla="val -121837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2. </a:t>
            </a:r>
            <a:r>
              <a:rPr lang="zh-CN" altLang="en-US" sz="1600" dirty="0">
                <a:solidFill>
                  <a:schemeClr val="bg1"/>
                </a:solidFill>
              </a:rPr>
              <a:t>工具栏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6E636CC-37D8-4994-A0FD-ED72507FF9A1}"/>
              </a:ext>
            </a:extLst>
          </p:cNvPr>
          <p:cNvSpPr/>
          <p:nvPr/>
        </p:nvSpPr>
        <p:spPr bwMode="auto">
          <a:xfrm>
            <a:off x="6639936" y="1943336"/>
            <a:ext cx="2416231" cy="3130958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标注: 线形 25">
            <a:extLst>
              <a:ext uri="{FF2B5EF4-FFF2-40B4-BE49-F238E27FC236}">
                <a16:creationId xmlns:a16="http://schemas.microsoft.com/office/drawing/2014/main" id="{024C7202-AB0C-47A9-9C7D-950F4AB5E8CF}"/>
              </a:ext>
            </a:extLst>
          </p:cNvPr>
          <p:cNvSpPr/>
          <p:nvPr/>
        </p:nvSpPr>
        <p:spPr>
          <a:xfrm>
            <a:off x="6970846" y="3525396"/>
            <a:ext cx="995657" cy="221830"/>
          </a:xfrm>
          <a:prstGeom prst="borderCallout1">
            <a:avLst>
              <a:gd name="adj1" fmla="val 18750"/>
              <a:gd name="adj2" fmla="val -8333"/>
              <a:gd name="adj3" fmla="val -63242"/>
              <a:gd name="adj4" fmla="val -26727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6.</a:t>
            </a:r>
            <a:r>
              <a:rPr lang="zh-CN" altLang="en-US" sz="1600" dirty="0">
                <a:solidFill>
                  <a:schemeClr val="bg1"/>
                </a:solidFill>
              </a:rPr>
              <a:t>工作区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7270D6-0CC7-4D17-A104-BD5C73AC08A8}"/>
              </a:ext>
            </a:extLst>
          </p:cNvPr>
          <p:cNvSpPr txBox="1"/>
          <p:nvPr/>
        </p:nvSpPr>
        <p:spPr>
          <a:xfrm>
            <a:off x="2915816" y="1317546"/>
            <a:ext cx="231788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提供平台快捷操作按钮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8A8562D-B73C-4CA8-9166-4770D8634AE5}"/>
              </a:ext>
            </a:extLst>
          </p:cNvPr>
          <p:cNvSpPr txBox="1"/>
          <p:nvPr/>
        </p:nvSpPr>
        <p:spPr>
          <a:xfrm>
            <a:off x="2060026" y="2325351"/>
            <a:ext cx="4503070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编写代码，支持对不同语言代码（</a:t>
            </a:r>
            <a:r>
              <a:rPr lang="en-US" altLang="zh-CN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Julia\M</a:t>
            </a:r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）文本编辑功能</a:t>
            </a:r>
            <a:r>
              <a:rPr lang="en-US" altLang="zh-CN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默认</a:t>
            </a:r>
            <a:r>
              <a:rPr lang="en-US" altLang="zh-CN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。适用于需要保存为文件再调用执行程序，分为脚本文件和函数文件，文件后缀为</a:t>
            </a:r>
            <a:r>
              <a:rPr lang="en-US" altLang="zh-CN" sz="1400" b="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jl</a:t>
            </a:r>
            <a:endParaRPr lang="zh-CN" altLang="en-US" sz="1400" b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D35D59-F939-493B-A225-F6FE4C9F0699}"/>
              </a:ext>
            </a:extLst>
          </p:cNvPr>
          <p:cNvSpPr txBox="1"/>
          <p:nvPr/>
        </p:nvSpPr>
        <p:spPr>
          <a:xfrm>
            <a:off x="351883" y="3137097"/>
            <a:ext cx="1628964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提供资源管理器、搜索、调试和包管理器四个功能，点击展开功能面板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97FEA5F-6634-47A4-A850-667DEDD564DA}"/>
              </a:ext>
            </a:extLst>
          </p:cNvPr>
          <p:cNvSpPr txBox="1"/>
          <p:nvPr/>
        </p:nvSpPr>
        <p:spPr>
          <a:xfrm>
            <a:off x="3754006" y="3218676"/>
            <a:ext cx="2809091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交互式解释器（缩写 </a:t>
            </a:r>
            <a:r>
              <a:rPr lang="en-US" altLang="zh-CN" sz="1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REPL</a:t>
            </a:r>
            <a:r>
              <a:rPr lang="zh-CN" altLang="en-US" sz="1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）用于终端交互，</a:t>
            </a:r>
            <a:r>
              <a:rPr lang="en-US" altLang="zh-CN" sz="1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可输入变量、函数、命令，逐行输入命令，并执行，同时显示结果</a:t>
            </a:r>
            <a:r>
              <a:rPr lang="en-US" altLang="zh-CN" sz="1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1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，称为命令式编程</a:t>
            </a:r>
            <a:endParaRPr lang="en-US" altLang="zh-CN" sz="14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对话气泡: 圆角矩形 40">
            <a:extLst>
              <a:ext uri="{FF2B5EF4-FFF2-40B4-BE49-F238E27FC236}">
                <a16:creationId xmlns:a16="http://schemas.microsoft.com/office/drawing/2014/main" id="{50A1E84D-446B-4C7E-941A-341C862297BF}"/>
              </a:ext>
            </a:extLst>
          </p:cNvPr>
          <p:cNvSpPr/>
          <p:nvPr/>
        </p:nvSpPr>
        <p:spPr>
          <a:xfrm>
            <a:off x="2457144" y="3718124"/>
            <a:ext cx="809830" cy="537710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圆角矩形 41">
            <a:extLst>
              <a:ext uri="{FF2B5EF4-FFF2-40B4-BE49-F238E27FC236}">
                <a16:creationId xmlns:a16="http://schemas.microsoft.com/office/drawing/2014/main" id="{90A53DD9-66A9-4513-B4C8-13804BD86842}"/>
              </a:ext>
            </a:extLst>
          </p:cNvPr>
          <p:cNvSpPr/>
          <p:nvPr/>
        </p:nvSpPr>
        <p:spPr>
          <a:xfrm>
            <a:off x="6890798" y="2685667"/>
            <a:ext cx="1270390" cy="604046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6AC3B83-FF2F-4C10-B594-2340863F5715}"/>
              </a:ext>
            </a:extLst>
          </p:cNvPr>
          <p:cNvSpPr/>
          <p:nvPr/>
        </p:nvSpPr>
        <p:spPr bwMode="auto">
          <a:xfrm>
            <a:off x="1951280" y="3122427"/>
            <a:ext cx="4611817" cy="175357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对话气泡: 圆角矩形 42">
            <a:extLst>
              <a:ext uri="{FF2B5EF4-FFF2-40B4-BE49-F238E27FC236}">
                <a16:creationId xmlns:a16="http://schemas.microsoft.com/office/drawing/2014/main" id="{C13770E9-8E82-4758-956F-0721AC14FD4F}"/>
              </a:ext>
            </a:extLst>
          </p:cNvPr>
          <p:cNvSpPr/>
          <p:nvPr/>
        </p:nvSpPr>
        <p:spPr>
          <a:xfrm>
            <a:off x="2126861" y="4489537"/>
            <a:ext cx="500923" cy="229937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02AB8F6-1DD0-4E2F-AA29-2BBB2E4705BD}"/>
              </a:ext>
            </a:extLst>
          </p:cNvPr>
          <p:cNvSpPr txBox="1"/>
          <p:nvPr/>
        </p:nvSpPr>
        <p:spPr>
          <a:xfrm>
            <a:off x="2785022" y="4443254"/>
            <a:ext cx="257906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在提示符</a:t>
            </a:r>
            <a:r>
              <a:rPr lang="en-US" altLang="zh-CN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Julia&gt;</a:t>
            </a:r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后，才能输入</a:t>
            </a:r>
          </a:p>
        </p:txBody>
      </p:sp>
      <p:sp>
        <p:nvSpPr>
          <p:cNvPr id="46" name="标注: 线形 45">
            <a:extLst>
              <a:ext uri="{FF2B5EF4-FFF2-40B4-BE49-F238E27FC236}">
                <a16:creationId xmlns:a16="http://schemas.microsoft.com/office/drawing/2014/main" id="{153936EA-30BF-42CD-A392-5D15E9919201}"/>
              </a:ext>
            </a:extLst>
          </p:cNvPr>
          <p:cNvSpPr/>
          <p:nvPr/>
        </p:nvSpPr>
        <p:spPr>
          <a:xfrm>
            <a:off x="972075" y="4905676"/>
            <a:ext cx="1154786" cy="195273"/>
          </a:xfrm>
          <a:prstGeom prst="borderCallout1">
            <a:avLst>
              <a:gd name="adj1" fmla="val 18750"/>
              <a:gd name="adj2" fmla="val -8333"/>
              <a:gd name="adj3" fmla="val 86326"/>
              <a:gd name="adj4" fmla="val -28253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7</a:t>
            </a:r>
            <a:r>
              <a:rPr lang="zh-CN" altLang="en-US" sz="1600" dirty="0">
                <a:solidFill>
                  <a:schemeClr val="bg1"/>
                </a:solidFill>
              </a:rPr>
              <a:t>、状态栏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136D496-7BA3-4915-9500-0E32F76E3020}"/>
              </a:ext>
            </a:extLst>
          </p:cNvPr>
          <p:cNvSpPr txBox="1"/>
          <p:nvPr/>
        </p:nvSpPr>
        <p:spPr>
          <a:xfrm>
            <a:off x="2104284" y="4891005"/>
            <a:ext cx="2983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>
                <a:solidFill>
                  <a:schemeClr val="bg1"/>
                </a:solidFill>
              </a:rPr>
              <a:t>用于提示状态信息，目前状态为</a:t>
            </a:r>
            <a:r>
              <a:rPr lang="en-US" altLang="zh-CN" b="0" dirty="0">
                <a:solidFill>
                  <a:schemeClr val="bg1"/>
                </a:solidFill>
              </a:rPr>
              <a:t>Julia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sp>
        <p:nvSpPr>
          <p:cNvPr id="49" name="对话气泡: 圆角矩形 48">
            <a:extLst>
              <a:ext uri="{FF2B5EF4-FFF2-40B4-BE49-F238E27FC236}">
                <a16:creationId xmlns:a16="http://schemas.microsoft.com/office/drawing/2014/main" id="{81778DD7-345C-4C71-BFF7-964B6235C766}"/>
              </a:ext>
            </a:extLst>
          </p:cNvPr>
          <p:cNvSpPr/>
          <p:nvPr/>
        </p:nvSpPr>
        <p:spPr>
          <a:xfrm>
            <a:off x="8118055" y="4948014"/>
            <a:ext cx="342377" cy="142334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标题 1">
            <a:extLst>
              <a:ext uri="{FF2B5EF4-FFF2-40B4-BE49-F238E27FC236}">
                <a16:creationId xmlns:a16="http://schemas.microsoft.com/office/drawing/2014/main" id="{9A544DB4-2626-481F-A49D-96176741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3" y="225427"/>
            <a:ext cx="5987283" cy="438150"/>
          </a:xfrm>
          <a:solidFill>
            <a:schemeClr val="bg1"/>
          </a:solidFill>
        </p:spPr>
        <p:txBody>
          <a:bodyPr/>
          <a:lstStyle/>
          <a:p>
            <a:r>
              <a:rPr lang="en-US" altLang="zh-CN" sz="2800" b="1" kern="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§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1.2.1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Syslab</a:t>
            </a:r>
            <a:r>
              <a:rPr lang="zh-CN" altLang="en-US" sz="2800" dirty="0"/>
              <a:t>软件工作界面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界面布局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F004A1F-AD0D-4177-8050-EF182F4CEA09}"/>
              </a:ext>
            </a:extLst>
          </p:cNvPr>
          <p:cNvSpPr txBox="1"/>
          <p:nvPr/>
        </p:nvSpPr>
        <p:spPr>
          <a:xfrm>
            <a:off x="6618031" y="3840936"/>
            <a:ext cx="2416230" cy="11695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用户和</a:t>
            </a:r>
            <a:r>
              <a:rPr lang="en-US" altLang="zh-CN" sz="1400" b="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syslab</a:t>
            </a:r>
            <a:r>
              <a:rPr lang="zh-CN" altLang="en-US" sz="14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人机交互时产生信息存放在当前内存的工作区中，并列表显示这些变量、函数、模块等名称、值、大小和类型等信息</a:t>
            </a:r>
            <a:endParaRPr lang="en-US" altLang="zh-CN" sz="1400" b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EFF4C95-24CC-48F7-AD08-AE6FA594E97C}"/>
              </a:ext>
            </a:extLst>
          </p:cNvPr>
          <p:cNvSpPr/>
          <p:nvPr/>
        </p:nvSpPr>
        <p:spPr bwMode="auto">
          <a:xfrm>
            <a:off x="107504" y="946112"/>
            <a:ext cx="2808312" cy="186688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5" name="标注: 线形 34">
            <a:extLst>
              <a:ext uri="{FF2B5EF4-FFF2-40B4-BE49-F238E27FC236}">
                <a16:creationId xmlns:a16="http://schemas.microsoft.com/office/drawing/2014/main" id="{DAFC0935-0D4F-429B-8A54-85B1F4FB946E}"/>
              </a:ext>
            </a:extLst>
          </p:cNvPr>
          <p:cNvSpPr/>
          <p:nvPr/>
        </p:nvSpPr>
        <p:spPr>
          <a:xfrm>
            <a:off x="3394183" y="813475"/>
            <a:ext cx="1393841" cy="245797"/>
          </a:xfrm>
          <a:prstGeom prst="borderCallout1">
            <a:avLst>
              <a:gd name="adj1" fmla="val 18750"/>
              <a:gd name="adj2" fmla="val -8333"/>
              <a:gd name="adj3" fmla="val 46602"/>
              <a:gd name="adj4" fmla="val -42462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1. </a:t>
            </a:r>
            <a:r>
              <a:rPr lang="zh-CN" altLang="en-US" sz="1600" dirty="0">
                <a:solidFill>
                  <a:schemeClr val="bg1"/>
                </a:solidFill>
              </a:rPr>
              <a:t>主菜单</a:t>
            </a:r>
            <a:r>
              <a:rPr lang="en-US" altLang="zh-CN" sz="1600" dirty="0">
                <a:solidFill>
                  <a:schemeClr val="bg1"/>
                </a:solidFill>
              </a:rPr>
              <a:t>5</a:t>
            </a:r>
            <a:r>
              <a:rPr lang="zh-CN" altLang="en-US" sz="1600" dirty="0">
                <a:solidFill>
                  <a:schemeClr val="bg1"/>
                </a:solidFill>
              </a:rPr>
              <a:t>个</a:t>
            </a:r>
          </a:p>
        </p:txBody>
      </p:sp>
      <p:sp>
        <p:nvSpPr>
          <p:cNvPr id="36" name="AutoShape 13">
            <a:extLst>
              <a:ext uri="{FF2B5EF4-FFF2-40B4-BE49-F238E27FC236}">
                <a16:creationId xmlns:a16="http://schemas.microsoft.com/office/drawing/2014/main" id="{D08F7CCB-5674-4867-BBE4-C4BD75729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9" y="11115"/>
            <a:ext cx="2611958" cy="648072"/>
          </a:xfrm>
          <a:prstGeom prst="irregularSeal2">
            <a:avLst/>
          </a:prstGeom>
          <a:solidFill>
            <a:srgbClr val="0070C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交互式编程环境</a:t>
            </a:r>
            <a:endParaRPr lang="zh-CN" altLang="en-US" sz="14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6B60AC8-2C0D-4D96-8721-35A40C70F6B3}"/>
              </a:ext>
            </a:extLst>
          </p:cNvPr>
          <p:cNvSpPr/>
          <p:nvPr/>
        </p:nvSpPr>
        <p:spPr bwMode="auto">
          <a:xfrm>
            <a:off x="1951281" y="1939593"/>
            <a:ext cx="4611816" cy="1182833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3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9" grpId="0" animBg="1"/>
      <p:bldP spid="3" grpId="0" animBg="1"/>
      <p:bldP spid="22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2" grpId="0" animBg="1"/>
      <p:bldP spid="34" grpId="0" animBg="1"/>
      <p:bldP spid="41" grpId="0" animBg="1"/>
      <p:bldP spid="42" grpId="0" animBg="1"/>
      <p:bldP spid="23" grpId="0" animBg="1"/>
      <p:bldP spid="43" grpId="0" animBg="1"/>
      <p:bldP spid="45" grpId="0" animBg="1"/>
      <p:bldP spid="46" grpId="0" animBg="1"/>
      <p:bldP spid="48" grpId="0"/>
      <p:bldP spid="33" grpId="0" animBg="1"/>
      <p:bldP spid="31" grpId="0" animBg="1"/>
      <p:bldP spid="35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E69F761-1E6A-4247-AB78-569E94D83911}"/>
              </a:ext>
            </a:extLst>
          </p:cNvPr>
          <p:cNvSpPr txBox="1"/>
          <p:nvPr/>
        </p:nvSpPr>
        <p:spPr>
          <a:xfrm>
            <a:off x="1331640" y="236821"/>
            <a:ext cx="6768752" cy="3600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85000"/>
              </a:lnSpc>
              <a:defRPr sz="2500" b="1" kern="1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/>
              <a:t>§1.2.1  </a:t>
            </a:r>
            <a:r>
              <a:rPr lang="en-US" altLang="zh-CN" sz="2800" dirty="0" err="1"/>
              <a:t>Syslab</a:t>
            </a:r>
            <a:r>
              <a:rPr lang="zh-CN" altLang="en-US" sz="2800" dirty="0"/>
              <a:t>软件工作界面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界面布局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4281BE-2DCF-41A5-AAA4-ECB21712A5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1186" b="7601"/>
          <a:stretch/>
        </p:blipFill>
        <p:spPr>
          <a:xfrm>
            <a:off x="-54260" y="699542"/>
            <a:ext cx="9252520" cy="4536504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40E8799D-EF39-441C-BCB0-A538FDE53F26}"/>
              </a:ext>
            </a:extLst>
          </p:cNvPr>
          <p:cNvSpPr/>
          <p:nvPr/>
        </p:nvSpPr>
        <p:spPr bwMode="auto">
          <a:xfrm>
            <a:off x="0" y="1040597"/>
            <a:ext cx="3877609" cy="279646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标注: 线形 9">
            <a:extLst>
              <a:ext uri="{FF2B5EF4-FFF2-40B4-BE49-F238E27FC236}">
                <a16:creationId xmlns:a16="http://schemas.microsoft.com/office/drawing/2014/main" id="{A3F6F516-DFF1-4B09-A5D4-E10148F81C38}"/>
              </a:ext>
            </a:extLst>
          </p:cNvPr>
          <p:cNvSpPr/>
          <p:nvPr/>
        </p:nvSpPr>
        <p:spPr>
          <a:xfrm>
            <a:off x="4355976" y="1040597"/>
            <a:ext cx="1152128" cy="279646"/>
          </a:xfrm>
          <a:prstGeom prst="borderCallout1">
            <a:avLst>
              <a:gd name="adj1" fmla="val 18750"/>
              <a:gd name="adj2" fmla="val -8333"/>
              <a:gd name="adj3" fmla="val 46602"/>
              <a:gd name="adj4" fmla="val -42462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主菜单</a:t>
            </a:r>
            <a:r>
              <a:rPr lang="en-US" altLang="zh-CN" sz="1600" dirty="0">
                <a:solidFill>
                  <a:schemeClr val="bg1"/>
                </a:solidFill>
              </a:rPr>
              <a:t>5</a:t>
            </a:r>
            <a:r>
              <a:rPr lang="zh-CN" altLang="en-US" sz="1600" dirty="0">
                <a:solidFill>
                  <a:schemeClr val="bg1"/>
                </a:solidFill>
              </a:rPr>
              <a:t>个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EE0895-D09C-471A-9355-503747BBC36C}"/>
              </a:ext>
            </a:extLst>
          </p:cNvPr>
          <p:cNvSpPr txBox="1"/>
          <p:nvPr/>
        </p:nvSpPr>
        <p:spPr>
          <a:xfrm>
            <a:off x="2807271" y="2294320"/>
            <a:ext cx="4205456" cy="2583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</a:t>
            </a:r>
            <a:r>
              <a:rPr lang="en-US" altLang="zh-CN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1.2.1.1 </a:t>
            </a:r>
            <a:r>
              <a:rPr lang="zh-CN" altLang="en-US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主页主菜单</a:t>
            </a:r>
            <a:endParaRPr lang="en-US" altLang="zh-CN" sz="2200" b="1" kern="1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</a:t>
            </a:r>
            <a:r>
              <a:rPr lang="en-US" altLang="zh-CN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1.2.1.2  </a:t>
            </a:r>
            <a:r>
              <a:rPr lang="zh-CN" altLang="en-US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绘图主菜单</a:t>
            </a:r>
            <a:endParaRPr lang="en-US" altLang="zh-CN" sz="2200" b="1" kern="1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</a:t>
            </a:r>
            <a:r>
              <a:rPr lang="en-US" altLang="zh-CN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1.2.1.3  APP</a:t>
            </a:r>
            <a:r>
              <a:rPr lang="zh-CN" altLang="en-US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主菜单</a:t>
            </a:r>
            <a:endParaRPr lang="en-US" altLang="zh-CN" sz="2200" b="1" kern="1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1.2.1.4 </a:t>
            </a:r>
            <a:r>
              <a:rPr lang="zh-CN" altLang="en-US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视图主菜单</a:t>
            </a:r>
            <a:endParaRPr lang="en-US" altLang="zh-CN" sz="2200" b="1" kern="1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</a:t>
            </a:r>
            <a:r>
              <a:rPr lang="en-US" altLang="zh-CN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1.2.1.5 </a:t>
            </a:r>
            <a:r>
              <a:rPr lang="zh-CN" altLang="en-US" sz="2200" b="1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帮助主菜单</a:t>
            </a:r>
          </a:p>
        </p:txBody>
      </p:sp>
    </p:spTree>
    <p:extLst>
      <p:ext uri="{BB962C8B-B14F-4D97-AF65-F5344CB8AC3E}">
        <p14:creationId xmlns:p14="http://schemas.microsoft.com/office/powerpoint/2010/main" val="976835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EB28794D-012C-40B9-B48B-71E584549D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14680" b="74613"/>
          <a:stretch/>
        </p:blipFill>
        <p:spPr>
          <a:xfrm>
            <a:off x="64908" y="1059582"/>
            <a:ext cx="8949278" cy="140016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528B17-5BEF-45AD-9B01-96AD07E146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355" r="83316" b="20601"/>
          <a:stretch/>
        </p:blipFill>
        <p:spPr>
          <a:xfrm>
            <a:off x="179512" y="2738061"/>
            <a:ext cx="1356721" cy="1806494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2737C064-3DD5-4AF7-A709-CA64FA7D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69" y="171089"/>
            <a:ext cx="7749807" cy="438150"/>
          </a:xfrm>
        </p:spPr>
        <p:txBody>
          <a:bodyPr/>
          <a:lstStyle/>
          <a:p>
            <a:r>
              <a:rPr lang="en-US" altLang="zh-CN" sz="2800" b="1" kern="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§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1.2.1.1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主页主菜单</a:t>
            </a:r>
            <a:r>
              <a:rPr lang="en-US" altLang="zh-CN" sz="2800" b="1" dirty="0">
                <a:solidFill>
                  <a:srgbClr val="FF0000"/>
                </a:solidFill>
              </a:rPr>
              <a:t>———1.</a:t>
            </a:r>
            <a:r>
              <a:rPr lang="zh-CN" altLang="en-US" sz="2800" b="1" dirty="0">
                <a:solidFill>
                  <a:srgbClr val="FF0000"/>
                </a:solidFill>
              </a:rPr>
              <a:t> 工具栏及各种语言文件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853D4EB7-21EC-46DC-9DC1-5517DFA24A5E}"/>
              </a:ext>
            </a:extLst>
          </p:cNvPr>
          <p:cNvSpPr/>
          <p:nvPr/>
        </p:nvSpPr>
        <p:spPr>
          <a:xfrm>
            <a:off x="7023502" y="1683348"/>
            <a:ext cx="563190" cy="653059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ECEEB187-13A1-465C-9366-A9B7EAD8B7EE}"/>
              </a:ext>
            </a:extLst>
          </p:cNvPr>
          <p:cNvSpPr/>
          <p:nvPr/>
        </p:nvSpPr>
        <p:spPr>
          <a:xfrm>
            <a:off x="8557573" y="1574696"/>
            <a:ext cx="408260" cy="87036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D0C093A1-57DE-4DF2-8737-1C0E3E8DF2D3}"/>
              </a:ext>
            </a:extLst>
          </p:cNvPr>
          <p:cNvSpPr/>
          <p:nvPr/>
        </p:nvSpPr>
        <p:spPr>
          <a:xfrm>
            <a:off x="4309853" y="2299363"/>
            <a:ext cx="323856" cy="136111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58B6C1C0-7AAB-4258-A85E-434474F1FDF8}"/>
              </a:ext>
            </a:extLst>
          </p:cNvPr>
          <p:cNvSpPr/>
          <p:nvPr/>
        </p:nvSpPr>
        <p:spPr>
          <a:xfrm>
            <a:off x="3030553" y="2299362"/>
            <a:ext cx="322869" cy="136111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F5D8EAC6-1F70-4D4A-B63D-3941DC24C75E}"/>
              </a:ext>
            </a:extLst>
          </p:cNvPr>
          <p:cNvSpPr/>
          <p:nvPr/>
        </p:nvSpPr>
        <p:spPr>
          <a:xfrm>
            <a:off x="2112302" y="2299363"/>
            <a:ext cx="340521" cy="121878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88B72D91-322C-4115-9AAA-D61751CF340B}"/>
              </a:ext>
            </a:extLst>
          </p:cNvPr>
          <p:cNvSpPr/>
          <p:nvPr/>
        </p:nvSpPr>
        <p:spPr>
          <a:xfrm>
            <a:off x="722057" y="2299363"/>
            <a:ext cx="392893" cy="121878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0">
            <a:extLst>
              <a:ext uri="{FF2B5EF4-FFF2-40B4-BE49-F238E27FC236}">
                <a16:creationId xmlns:a16="http://schemas.microsoft.com/office/drawing/2014/main" id="{B7E70CAB-5BB8-4DD4-9721-088ED9E03A27}"/>
              </a:ext>
            </a:extLst>
          </p:cNvPr>
          <p:cNvSpPr/>
          <p:nvPr/>
        </p:nvSpPr>
        <p:spPr>
          <a:xfrm>
            <a:off x="97361" y="711734"/>
            <a:ext cx="8949278" cy="274433"/>
          </a:xfrm>
          <a:prstGeom prst="roundRect">
            <a:avLst/>
          </a:prstGeom>
          <a:solidFill>
            <a:srgbClr val="0070C0"/>
          </a:solidFill>
          <a:effectLst>
            <a:reflection blurRad="6350" stA="50000" endA="300" endPos="90000" dir="5400000" sy="-100000" algn="bl" rotWithShape="0"/>
          </a:effectLst>
        </p:spPr>
        <p:txBody>
          <a:bodyPr/>
          <a:lstStyle/>
          <a:p>
            <a:pPr algn="ctr" eaLnBrk="0" hangingPunct="0">
              <a:lnSpc>
                <a:spcPct val="85000"/>
              </a:lnSpc>
            </a:pP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主页工具栏分</a:t>
            </a:r>
            <a:r>
              <a:rPr lang="en-US" altLang="zh-CN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6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个功能区：文件、变量、运行、调试、编辑、</a:t>
            </a:r>
            <a:r>
              <a:rPr lang="en-US" altLang="zh-CN" b="1" dirty="0" err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Sysplorer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、环境、</a:t>
            </a:r>
            <a:r>
              <a:rPr lang="en-US" altLang="zh-CN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M</a:t>
            </a:r>
            <a:r>
              <a: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语言</a:t>
            </a: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E941B2CE-0ACB-4FFB-9117-050D18897C42}"/>
              </a:ext>
            </a:extLst>
          </p:cNvPr>
          <p:cNvSpPr/>
          <p:nvPr/>
        </p:nvSpPr>
        <p:spPr>
          <a:xfrm>
            <a:off x="177852" y="1871508"/>
            <a:ext cx="304983" cy="427855"/>
          </a:xfrm>
          <a:prstGeom prst="wedgeRoundRectCallout">
            <a:avLst>
              <a:gd name="adj1" fmla="val 34253"/>
              <a:gd name="adj2" fmla="val 133476"/>
              <a:gd name="adj3" fmla="val 1666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808331-165C-4AB4-9DE3-068304C17F3C}"/>
              </a:ext>
            </a:extLst>
          </p:cNvPr>
          <p:cNvSpPr txBox="1"/>
          <p:nvPr/>
        </p:nvSpPr>
        <p:spPr>
          <a:xfrm>
            <a:off x="1843987" y="2790549"/>
            <a:ext cx="7150055" cy="1700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点击“新建” ，下拉菜单显示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Julia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语言可供选择</a:t>
            </a:r>
            <a:endParaRPr lang="en-US" altLang="zh-CN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兼容 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 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语言，支持与 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Fortran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 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等编程语言的相互调用</a:t>
            </a:r>
            <a:endParaRPr lang="en-US" altLang="zh-CN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新建文件默认为采用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Julia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语言编写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27506C9-FD4B-485F-9B15-78F443E9D134}"/>
              </a:ext>
            </a:extLst>
          </p:cNvPr>
          <p:cNvSpPr/>
          <p:nvPr/>
        </p:nvSpPr>
        <p:spPr bwMode="auto">
          <a:xfrm>
            <a:off x="129815" y="1609966"/>
            <a:ext cx="1556780" cy="849495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2F38A24-2544-4CF4-B93C-7FF20F53EEBC}"/>
              </a:ext>
            </a:extLst>
          </p:cNvPr>
          <p:cNvSpPr/>
          <p:nvPr/>
        </p:nvSpPr>
        <p:spPr bwMode="auto">
          <a:xfrm>
            <a:off x="1808035" y="1563638"/>
            <a:ext cx="914690" cy="893415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DE1100E-FE82-4068-B620-3B4D51B27E34}"/>
              </a:ext>
            </a:extLst>
          </p:cNvPr>
          <p:cNvSpPr/>
          <p:nvPr/>
        </p:nvSpPr>
        <p:spPr bwMode="auto">
          <a:xfrm>
            <a:off x="2801249" y="1631873"/>
            <a:ext cx="753456" cy="871508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0750F68-F53F-4A90-9645-605E769C66E1}"/>
              </a:ext>
            </a:extLst>
          </p:cNvPr>
          <p:cNvSpPr/>
          <p:nvPr/>
        </p:nvSpPr>
        <p:spPr bwMode="auto">
          <a:xfrm>
            <a:off x="3609694" y="1563638"/>
            <a:ext cx="1682386" cy="888402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048833E-B801-4D54-BACB-460C54404AE8}"/>
              </a:ext>
            </a:extLst>
          </p:cNvPr>
          <p:cNvSpPr/>
          <p:nvPr/>
        </p:nvSpPr>
        <p:spPr bwMode="auto">
          <a:xfrm>
            <a:off x="5295993" y="1563638"/>
            <a:ext cx="1682386" cy="888402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220E0752-CA7F-4EAC-B820-6A06B5E1803B}"/>
              </a:ext>
            </a:extLst>
          </p:cNvPr>
          <p:cNvSpPr/>
          <p:nvPr/>
        </p:nvSpPr>
        <p:spPr>
          <a:xfrm>
            <a:off x="5975573" y="2299363"/>
            <a:ext cx="340521" cy="121878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44556E5-5EE3-49DF-A92C-623D159C23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199" t="25385" r="18892" b="62617"/>
          <a:stretch/>
        </p:blipFill>
        <p:spPr>
          <a:xfrm>
            <a:off x="6978379" y="1137826"/>
            <a:ext cx="1472683" cy="49921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3FF2A6C4-6296-4475-9A52-C60E2DD7D0D4}"/>
              </a:ext>
            </a:extLst>
          </p:cNvPr>
          <p:cNvSpPr/>
          <p:nvPr/>
        </p:nvSpPr>
        <p:spPr>
          <a:xfrm>
            <a:off x="7842964" y="1701387"/>
            <a:ext cx="608098" cy="635020"/>
          </a:xfrm>
          <a:prstGeom prst="wedgeRoundRectCallout">
            <a:avLst>
              <a:gd name="adj1" fmla="val -79620"/>
              <a:gd name="adj2" fmla="val -65042"/>
              <a:gd name="adj3" fmla="val 1666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EF178F-31B7-431B-BD8C-99202BE204CC}"/>
              </a:ext>
            </a:extLst>
          </p:cNvPr>
          <p:cNvSpPr txBox="1"/>
          <p:nvPr/>
        </p:nvSpPr>
        <p:spPr>
          <a:xfrm>
            <a:off x="2801249" y="1233855"/>
            <a:ext cx="3446783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2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zh-CN" altLang="en-US" dirty="0"/>
              <a:t>代码文件运行、调试和编辑</a:t>
            </a:r>
          </a:p>
        </p:txBody>
      </p:sp>
      <p:sp>
        <p:nvSpPr>
          <p:cNvPr id="33" name="对话气泡: 圆角矩形 32">
            <a:extLst>
              <a:ext uri="{FF2B5EF4-FFF2-40B4-BE49-F238E27FC236}">
                <a16:creationId xmlns:a16="http://schemas.microsoft.com/office/drawing/2014/main" id="{B638F71E-2D84-4117-BCB5-64FD54701963}"/>
              </a:ext>
            </a:extLst>
          </p:cNvPr>
          <p:cNvSpPr/>
          <p:nvPr/>
        </p:nvSpPr>
        <p:spPr>
          <a:xfrm>
            <a:off x="808522" y="2715766"/>
            <a:ext cx="340521" cy="23234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对话气泡: 圆角矩形 33">
            <a:extLst>
              <a:ext uri="{FF2B5EF4-FFF2-40B4-BE49-F238E27FC236}">
                <a16:creationId xmlns:a16="http://schemas.microsoft.com/office/drawing/2014/main" id="{B7D59EC8-AB42-4E6E-80F2-0F37ACC10CBA}"/>
              </a:ext>
            </a:extLst>
          </p:cNvPr>
          <p:cNvSpPr/>
          <p:nvPr/>
        </p:nvSpPr>
        <p:spPr>
          <a:xfrm>
            <a:off x="857873" y="3527374"/>
            <a:ext cx="479840" cy="23234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对话气泡: 圆角矩形 34">
            <a:extLst>
              <a:ext uri="{FF2B5EF4-FFF2-40B4-BE49-F238E27FC236}">
                <a16:creationId xmlns:a16="http://schemas.microsoft.com/office/drawing/2014/main" id="{691E40D5-86AC-44D6-9024-5A8C920BF5A7}"/>
              </a:ext>
            </a:extLst>
          </p:cNvPr>
          <p:cNvSpPr/>
          <p:nvPr/>
        </p:nvSpPr>
        <p:spPr>
          <a:xfrm>
            <a:off x="857873" y="3799088"/>
            <a:ext cx="479840" cy="23234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B2528E3-6A2D-4996-A876-E647671413B9}"/>
              </a:ext>
            </a:extLst>
          </p:cNvPr>
          <p:cNvSpPr txBox="1"/>
          <p:nvPr/>
        </p:nvSpPr>
        <p:spPr>
          <a:xfrm>
            <a:off x="6486799" y="2606482"/>
            <a:ext cx="1964263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zh-CN" altLang="en-US" sz="1200" dirty="0"/>
              <a:t>需装</a:t>
            </a:r>
            <a:r>
              <a:rPr lang="en-US" altLang="zh-CN" sz="1200" dirty="0" err="1"/>
              <a:t>sysplorer</a:t>
            </a:r>
            <a:r>
              <a:rPr lang="zh-CN" altLang="en-US" sz="1200" dirty="0"/>
              <a:t>软件</a:t>
            </a:r>
          </a:p>
        </p:txBody>
      </p:sp>
    </p:spTree>
    <p:extLst>
      <p:ext uri="{BB962C8B-B14F-4D97-AF65-F5344CB8AC3E}">
        <p14:creationId xmlns:p14="http://schemas.microsoft.com/office/powerpoint/2010/main" val="134299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8AD9A35-25C2-B23C-F785-F694C4DF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44" b="69418"/>
          <a:stretch/>
        </p:blipFill>
        <p:spPr>
          <a:xfrm>
            <a:off x="84858" y="1258517"/>
            <a:ext cx="8971698" cy="1531902"/>
          </a:xfrm>
          <a:prstGeom prst="rect">
            <a:avLst/>
          </a:prstGeom>
          <a:effectLst/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60BF28D-C8B6-1C64-6785-FAF64886F855}"/>
              </a:ext>
            </a:extLst>
          </p:cNvPr>
          <p:cNvSpPr txBox="1"/>
          <p:nvPr/>
        </p:nvSpPr>
        <p:spPr>
          <a:xfrm>
            <a:off x="112254" y="3021787"/>
            <a:ext cx="8971698" cy="16064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可以设置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搜索路径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点击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‘启动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命令行窗口’启动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当命令行窗口显示mlang&gt;，表示进入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语言编辑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按退格键</a:t>
            </a:r>
            <a:r>
              <a:rPr lang="en-US" altLang="zh-CN" sz="2000" dirty="0">
                <a:solidFill>
                  <a:srgbClr val="00206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ckspace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，退出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语言，回到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命令行 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E4D43D0E-8733-834A-A98B-C3F205CE6DC2}"/>
              </a:ext>
            </a:extLst>
          </p:cNvPr>
          <p:cNvSpPr txBox="1">
            <a:spLocks/>
          </p:cNvSpPr>
          <p:nvPr/>
        </p:nvSpPr>
        <p:spPr>
          <a:xfrm>
            <a:off x="3396" y="818708"/>
            <a:ext cx="9140604" cy="438150"/>
          </a:xfrm>
          <a:prstGeom prst="rect">
            <a:avLst/>
          </a:prstGeom>
          <a:solidFill>
            <a:srgbClr val="0070C0"/>
          </a:solidFill>
          <a:effectLst>
            <a:reflection blurRad="6350" stA="50000" endA="300" endPos="90000" dir="5400000" sy="-100000" algn="bl" rotWithShape="0"/>
          </a:effectLst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E5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FFFF00"/>
                </a:solidFill>
              </a:rPr>
              <a:t>2023b</a:t>
            </a:r>
            <a:r>
              <a:rPr lang="zh-CN" altLang="en-US" sz="2000" b="1" dirty="0">
                <a:solidFill>
                  <a:srgbClr val="FFFF00"/>
                </a:solidFill>
              </a:rPr>
              <a:t>有</a:t>
            </a:r>
            <a:r>
              <a:rPr lang="en-US" altLang="zh-CN" sz="2000" b="1" dirty="0">
                <a:solidFill>
                  <a:srgbClr val="FFFF00"/>
                </a:solidFill>
              </a:rPr>
              <a:t>M</a:t>
            </a:r>
            <a:r>
              <a:rPr lang="zh-CN" altLang="en-US" sz="2000" b="1" dirty="0">
                <a:solidFill>
                  <a:srgbClr val="FFFF00"/>
                </a:solidFill>
              </a:rPr>
              <a:t>语言兼容工具箱，无需安装</a:t>
            </a:r>
            <a:r>
              <a:rPr lang="en-US" altLang="zh-CN" sz="2000" b="1" dirty="0" err="1">
                <a:solidFill>
                  <a:srgbClr val="FFFF00"/>
                </a:solidFill>
              </a:rPr>
              <a:t>matlab</a:t>
            </a:r>
            <a:r>
              <a:rPr lang="zh-CN" altLang="en-US" sz="2000" b="1" dirty="0">
                <a:solidFill>
                  <a:srgbClr val="FFFF00"/>
                </a:solidFill>
              </a:rPr>
              <a:t>，不用修改源代码，直接在</a:t>
            </a:r>
            <a:r>
              <a:rPr lang="en-US" altLang="zh-CN" sz="2000" b="1" dirty="0" err="1">
                <a:solidFill>
                  <a:srgbClr val="FFFF00"/>
                </a:solidFill>
              </a:rPr>
              <a:t>Syslab</a:t>
            </a:r>
            <a:r>
              <a:rPr lang="zh-CN" altLang="en-US" sz="2000" b="1" dirty="0">
                <a:solidFill>
                  <a:srgbClr val="FFFF00"/>
                </a:solidFill>
              </a:rPr>
              <a:t>运行</a:t>
            </a:r>
            <a:endParaRPr lang="en-US" altLang="zh-CN" sz="2000" b="1" dirty="0">
              <a:solidFill>
                <a:srgbClr val="FFFF00"/>
              </a:solidFill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01734911-8C16-465D-89CD-AD8AA2DAD78B}"/>
              </a:ext>
            </a:extLst>
          </p:cNvPr>
          <p:cNvSpPr/>
          <p:nvPr/>
        </p:nvSpPr>
        <p:spPr>
          <a:xfrm>
            <a:off x="7007303" y="2026892"/>
            <a:ext cx="772722" cy="342636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9BCB9F28-B9F8-49F4-BAB8-B2457453A996}"/>
              </a:ext>
            </a:extLst>
          </p:cNvPr>
          <p:cNvSpPr/>
          <p:nvPr/>
        </p:nvSpPr>
        <p:spPr>
          <a:xfrm>
            <a:off x="6012160" y="2007974"/>
            <a:ext cx="772722" cy="342636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544F8AC6-9918-4B47-9819-D175F7A2A06D}"/>
              </a:ext>
            </a:extLst>
          </p:cNvPr>
          <p:cNvSpPr/>
          <p:nvPr/>
        </p:nvSpPr>
        <p:spPr>
          <a:xfrm>
            <a:off x="5514589" y="2026892"/>
            <a:ext cx="425563" cy="323718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374268FE-79A9-4772-82AC-E0260366D433}"/>
              </a:ext>
            </a:extLst>
          </p:cNvPr>
          <p:cNvSpPr/>
          <p:nvPr/>
        </p:nvSpPr>
        <p:spPr>
          <a:xfrm>
            <a:off x="4851404" y="2575955"/>
            <a:ext cx="340521" cy="338173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385B3808-870C-40EB-9394-04EEA79183CB}"/>
              </a:ext>
            </a:extLst>
          </p:cNvPr>
          <p:cNvSpPr/>
          <p:nvPr/>
        </p:nvSpPr>
        <p:spPr>
          <a:xfrm>
            <a:off x="3851920" y="2575955"/>
            <a:ext cx="340521" cy="338173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对话气泡: 圆角矩形 17">
            <a:extLst>
              <a:ext uri="{FF2B5EF4-FFF2-40B4-BE49-F238E27FC236}">
                <a16:creationId xmlns:a16="http://schemas.microsoft.com/office/drawing/2014/main" id="{977C1896-FA7B-404F-9886-B62C1B466502}"/>
              </a:ext>
            </a:extLst>
          </p:cNvPr>
          <p:cNvSpPr/>
          <p:nvPr/>
        </p:nvSpPr>
        <p:spPr>
          <a:xfrm>
            <a:off x="2627784" y="2575955"/>
            <a:ext cx="340521" cy="338173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17E7F768-0D54-49C2-B57A-F25FF92AD212}"/>
              </a:ext>
            </a:extLst>
          </p:cNvPr>
          <p:cNvSpPr/>
          <p:nvPr/>
        </p:nvSpPr>
        <p:spPr>
          <a:xfrm>
            <a:off x="972806" y="2559268"/>
            <a:ext cx="340521" cy="338173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9759A6B-C007-4A30-9481-2821B397B48F}"/>
              </a:ext>
            </a:extLst>
          </p:cNvPr>
          <p:cNvSpPr txBox="1"/>
          <p:nvPr/>
        </p:nvSpPr>
        <p:spPr>
          <a:xfrm>
            <a:off x="4357969" y="1323677"/>
            <a:ext cx="462607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prstTxWarp prst="textTriangle">
              <a:avLst/>
            </a:prstTxWarp>
            <a:spAutoFit/>
          </a:bodyPr>
          <a:lstStyle/>
          <a:p>
            <a:pPr algn="l"/>
            <a:r>
              <a:rPr lang="en-US" altLang="zh-CN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apple-system"/>
              </a:rPr>
              <a:t>2024a</a:t>
            </a:r>
            <a:r>
              <a:rPr lang="zh-CN" altLang="en-US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apple-system"/>
              </a:rPr>
              <a:t>版</a:t>
            </a:r>
            <a:r>
              <a:rPr lang="en-US" altLang="zh-CN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apple-system"/>
              </a:rPr>
              <a:t>M</a:t>
            </a:r>
            <a:r>
              <a:rPr lang="zh-CN" altLang="en-US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apple-system"/>
              </a:rPr>
              <a:t>语法及程序行为兼容度超过 </a:t>
            </a:r>
            <a:r>
              <a:rPr lang="en-US" altLang="zh-CN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apple-system"/>
              </a:rPr>
              <a:t>97%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BC43D8DB-03F7-4B25-BB52-D5AE50CE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66" y="230109"/>
            <a:ext cx="7497735" cy="438150"/>
          </a:xfrm>
        </p:spPr>
        <p:txBody>
          <a:bodyPr/>
          <a:lstStyle/>
          <a:p>
            <a:r>
              <a:rPr lang="en-US" altLang="zh-CN" sz="2800" b="1" kern="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§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1.2.1.1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主页主菜单</a:t>
            </a:r>
            <a:r>
              <a:rPr lang="en-US" altLang="zh-CN" sz="2800" b="1" dirty="0">
                <a:solidFill>
                  <a:srgbClr val="FF0000"/>
                </a:solidFill>
              </a:rPr>
              <a:t>——2. </a:t>
            </a:r>
            <a:r>
              <a:rPr lang="zh-CN" altLang="en-US" sz="2800" b="1" kern="0" dirty="0">
                <a:solidFill>
                  <a:srgbClr val="FF0000"/>
                </a:solidFill>
              </a:rPr>
              <a:t>工具栏中</a:t>
            </a:r>
            <a:r>
              <a:rPr lang="en-US" altLang="zh-CN" sz="2800" b="1" kern="0" dirty="0">
                <a:solidFill>
                  <a:srgbClr val="FF0000"/>
                </a:solidFill>
              </a:rPr>
              <a:t> M</a:t>
            </a:r>
            <a:r>
              <a:rPr lang="zh-CN" altLang="en-US" sz="2800" b="1" kern="0" dirty="0">
                <a:solidFill>
                  <a:srgbClr val="FF0000"/>
                </a:solidFill>
              </a:rPr>
              <a:t>语言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040141-89C8-484F-9A6D-9D6F60421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079" y="3252256"/>
            <a:ext cx="772722" cy="905736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951359A2-28A8-C952-10F7-7159EAEA8D69}"/>
              </a:ext>
            </a:extLst>
          </p:cNvPr>
          <p:cNvSpPr/>
          <p:nvPr/>
        </p:nvSpPr>
        <p:spPr>
          <a:xfrm>
            <a:off x="8002446" y="1884683"/>
            <a:ext cx="772722" cy="905736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32C70E-D436-4784-9CE5-205BC69D5262}"/>
              </a:ext>
            </a:extLst>
          </p:cNvPr>
          <p:cNvSpPr txBox="1"/>
          <p:nvPr/>
        </p:nvSpPr>
        <p:spPr>
          <a:xfrm>
            <a:off x="3275856" y="3066316"/>
            <a:ext cx="5576715" cy="186158"/>
          </a:xfrm>
          <a:prstGeom prst="rect">
            <a:avLst/>
          </a:prstGeom>
          <a:solidFill>
            <a:srgbClr val="0070C0"/>
          </a:solidFill>
          <a:effectLst>
            <a:reflection blurRad="6350" stA="50000" endA="300" endPos="55000" dir="5400000" sy="-100000" algn="bl" rotWithShape="0"/>
          </a:effectLst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l"/>
            <a:r>
              <a:rPr lang="en-US" altLang="zh-CN" sz="1600" b="0" dirty="0"/>
              <a:t>M</a:t>
            </a:r>
            <a:r>
              <a:rPr lang="zh-CN" altLang="en-US" sz="1600" b="0" dirty="0"/>
              <a:t>语言兼容工具</a:t>
            </a:r>
            <a:r>
              <a:rPr lang="en-US" altLang="zh-CN" sz="1600" b="0" dirty="0" err="1"/>
              <a:t>TyMLang</a:t>
            </a:r>
            <a:r>
              <a:rPr lang="zh-CN" altLang="en-US" sz="1600" b="0" dirty="0"/>
              <a:t>，无需安装</a:t>
            </a:r>
            <a:r>
              <a:rPr lang="en-US" altLang="zh-CN" sz="1600" b="0" dirty="0"/>
              <a:t>MATLAB,</a:t>
            </a:r>
            <a:r>
              <a:rPr lang="zh-CN" altLang="en-US" sz="1600" b="0" dirty="0"/>
              <a:t>无需修改源码，即可运行</a:t>
            </a:r>
            <a:r>
              <a:rPr lang="en-US" altLang="zh-CN" sz="1600" b="0" dirty="0"/>
              <a:t>M</a:t>
            </a:r>
            <a:r>
              <a:rPr lang="zh-CN" altLang="en-US" sz="1600" b="0" dirty="0"/>
              <a:t>代码</a:t>
            </a:r>
          </a:p>
        </p:txBody>
      </p:sp>
    </p:spTree>
    <p:extLst>
      <p:ext uri="{BB962C8B-B14F-4D97-AF65-F5344CB8AC3E}">
        <p14:creationId xmlns:p14="http://schemas.microsoft.com/office/powerpoint/2010/main" val="18286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7005124-EA69-4025-8992-F0B28F055D2D}"/>
              </a:ext>
            </a:extLst>
          </p:cNvPr>
          <p:cNvSpPr txBox="1"/>
          <p:nvPr/>
        </p:nvSpPr>
        <p:spPr>
          <a:xfrm>
            <a:off x="-36512" y="799553"/>
            <a:ext cx="9180512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5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2023MWORKS.Syslab</a:t>
            </a:r>
            <a:r>
              <a:rPr lang="zh-CN" altLang="en-US" dirty="0"/>
              <a:t>相对对标软件，函数覆盖率超</a:t>
            </a:r>
            <a:r>
              <a:rPr lang="en-US" altLang="zh-CN" dirty="0"/>
              <a:t>90%,2024a</a:t>
            </a:r>
            <a:r>
              <a:rPr lang="zh-CN" altLang="en-US" dirty="0"/>
              <a:t>核心函数平均运行耗时约为</a:t>
            </a:r>
            <a:r>
              <a:rPr lang="en-US" altLang="zh-CN" dirty="0"/>
              <a:t>M</a:t>
            </a:r>
            <a:r>
              <a:rPr lang="zh-CN" altLang="en-US" dirty="0"/>
              <a:t>软件</a:t>
            </a:r>
            <a:r>
              <a:rPr lang="en-US" altLang="zh-CN" dirty="0"/>
              <a:t>60%</a:t>
            </a:r>
            <a:r>
              <a:rPr lang="zh-CN" altLang="en-US" dirty="0"/>
              <a:t> 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8718AD-D194-451E-9122-370C14874955}"/>
              </a:ext>
            </a:extLst>
          </p:cNvPr>
          <p:cNvSpPr/>
          <p:nvPr/>
        </p:nvSpPr>
        <p:spPr>
          <a:xfrm>
            <a:off x="288714" y="1282830"/>
            <a:ext cx="28160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已知薄板四边温度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求薄壁铁板心部温度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97E6C6-F2BA-4337-B8F0-886AF6881216}"/>
              </a:ext>
            </a:extLst>
          </p:cNvPr>
          <p:cNvSpPr/>
          <p:nvPr/>
        </p:nvSpPr>
        <p:spPr>
          <a:xfrm>
            <a:off x="3515831" y="3048614"/>
            <a:ext cx="3741191" cy="156966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Ta=(10+20+Tb+Tc)/4</a:t>
            </a:r>
            <a:endParaRPr lang="ko-KR" altLang="en-US" sz="24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Tb=(20+40+Ta+Td)/4</a:t>
            </a:r>
            <a:endParaRPr lang="ko-KR" altLang="en-US" sz="24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Tc=(10+30+Ta+Td)/4</a:t>
            </a:r>
            <a:endParaRPr lang="ko-KR" altLang="en-US" sz="24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Td=(30+40+Tb+Tc)/4</a:t>
            </a:r>
            <a:endParaRPr lang="ko-KR" altLang="en-US" sz="2400" b="0" cap="none" dirty="0">
              <a:solidFill>
                <a:srgbClr val="002060"/>
              </a:solidFill>
              <a:latin typeface="华文楷体" panose="02010600040101010101" pitchFamily="2" charset="-122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82FC3776-4252-4DB5-B471-B4287E955CF5}"/>
              </a:ext>
            </a:extLst>
          </p:cNvPr>
          <p:cNvSpPr/>
          <p:nvPr/>
        </p:nvSpPr>
        <p:spPr>
          <a:xfrm>
            <a:off x="3141137" y="3271736"/>
            <a:ext cx="426562" cy="115919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ABF42CC6-8577-4B42-B72D-09F2B154A3C8}"/>
              </a:ext>
            </a:extLst>
          </p:cNvPr>
          <p:cNvSpPr/>
          <p:nvPr/>
        </p:nvSpPr>
        <p:spPr>
          <a:xfrm>
            <a:off x="-56916" y="1284574"/>
            <a:ext cx="394192" cy="5109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FCA4966-8650-40B8-B10D-9E2EEF56FA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47" t="5952" r="9149" b="6819"/>
          <a:stretch/>
        </p:blipFill>
        <p:spPr>
          <a:xfrm>
            <a:off x="6715522" y="2957570"/>
            <a:ext cx="2290935" cy="1744209"/>
          </a:xfrm>
          <a:prstGeom prst="rect">
            <a:avLst/>
          </a:prstGeom>
        </p:spPr>
      </p:pic>
      <p:sp>
        <p:nvSpPr>
          <p:cNvPr id="42" name="标题 1">
            <a:extLst>
              <a:ext uri="{FF2B5EF4-FFF2-40B4-BE49-F238E27FC236}">
                <a16:creationId xmlns:a16="http://schemas.microsoft.com/office/drawing/2014/main" id="{693FB849-B98C-4EFB-9F1A-74263E494C89}"/>
              </a:ext>
            </a:extLst>
          </p:cNvPr>
          <p:cNvSpPr txBox="1">
            <a:spLocks/>
          </p:cNvSpPr>
          <p:nvPr/>
        </p:nvSpPr>
        <p:spPr bwMode="auto">
          <a:xfrm>
            <a:off x="2805422" y="2433844"/>
            <a:ext cx="4153521" cy="506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0">
                <a:solidFill>
                  <a:srgbClr val="002E5C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lvl="0"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横竖各等分</a:t>
            </a:r>
            <a:r>
              <a:rPr lang="en-US" altLang="zh-CN" sz="2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份，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个</a:t>
            </a:r>
            <a:r>
              <a:rPr lang="zh-CN" altLang="en-US" sz="20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方程结果</a:t>
            </a:r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BA0A8D60-179D-40DC-95DF-D4D7D76B0383}"/>
              </a:ext>
            </a:extLst>
          </p:cNvPr>
          <p:cNvGraphicFramePr>
            <a:graphicFrameLocks noGrp="1"/>
          </p:cNvGraphicFramePr>
          <p:nvPr/>
        </p:nvGraphicFramePr>
        <p:xfrm>
          <a:off x="579465" y="2555689"/>
          <a:ext cx="2169516" cy="1722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025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025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4290" marB="3429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矩形 40">
            <a:extLst>
              <a:ext uri="{FF2B5EF4-FFF2-40B4-BE49-F238E27FC236}">
                <a16:creationId xmlns:a16="http://schemas.microsoft.com/office/drawing/2014/main" id="{9F0F1F48-1FF8-4E58-B54D-CEFCB9290335}"/>
              </a:ext>
            </a:extLst>
          </p:cNvPr>
          <p:cNvSpPr/>
          <p:nvPr/>
        </p:nvSpPr>
        <p:spPr>
          <a:xfrm>
            <a:off x="1131781" y="2957071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a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01CDDCD-907B-4B60-BB73-8CB70A4DE515}"/>
              </a:ext>
            </a:extLst>
          </p:cNvPr>
          <p:cNvSpPr/>
          <p:nvPr/>
        </p:nvSpPr>
        <p:spPr>
          <a:xfrm>
            <a:off x="1905864" y="2941918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F51C5DF-E100-42C0-BCD0-FE904B441072}"/>
              </a:ext>
            </a:extLst>
          </p:cNvPr>
          <p:cNvSpPr/>
          <p:nvPr/>
        </p:nvSpPr>
        <p:spPr>
          <a:xfrm>
            <a:off x="1131781" y="3599143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3AD8E3-4941-4859-B239-AD24E78B6B04}"/>
              </a:ext>
            </a:extLst>
          </p:cNvPr>
          <p:cNvSpPr/>
          <p:nvPr/>
        </p:nvSpPr>
        <p:spPr>
          <a:xfrm>
            <a:off x="1929528" y="3591841"/>
            <a:ext cx="332740" cy="338554"/>
          </a:xfrm>
          <a:prstGeom prst="rect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latin typeface="隶书" panose="02010509060101010101" pitchFamily="49" charset="-122"/>
                <a:ea typeface="隶书" panose="02010509060101010101" pitchFamily="49" charset="-122"/>
              </a:rPr>
              <a:t>d</a:t>
            </a:r>
            <a:endParaRPr lang="zh-CN" altLang="en-US" sz="1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4EB9326-9894-4BC6-8A68-CB5F7D6E62AD}"/>
              </a:ext>
            </a:extLst>
          </p:cNvPr>
          <p:cNvSpPr/>
          <p:nvPr/>
        </p:nvSpPr>
        <p:spPr>
          <a:xfrm>
            <a:off x="198892" y="299826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26DBA33-DD77-42AF-B3D8-F2D76F877598}"/>
              </a:ext>
            </a:extLst>
          </p:cNvPr>
          <p:cNvSpPr/>
          <p:nvPr/>
        </p:nvSpPr>
        <p:spPr>
          <a:xfrm>
            <a:off x="162755" y="3557244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D0E47BB-8025-48D0-AB98-42B115BD1C8F}"/>
              </a:ext>
            </a:extLst>
          </p:cNvPr>
          <p:cNvSpPr/>
          <p:nvPr/>
        </p:nvSpPr>
        <p:spPr>
          <a:xfrm>
            <a:off x="1132070" y="2062121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A597F8E-E506-471C-B068-8A299F5663BC}"/>
              </a:ext>
            </a:extLst>
          </p:cNvPr>
          <p:cNvSpPr/>
          <p:nvPr/>
        </p:nvSpPr>
        <p:spPr>
          <a:xfrm>
            <a:off x="1837377" y="2084328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D99E2D7-00D3-468A-AFED-87BB7AA0D383}"/>
              </a:ext>
            </a:extLst>
          </p:cNvPr>
          <p:cNvSpPr/>
          <p:nvPr/>
        </p:nvSpPr>
        <p:spPr>
          <a:xfrm>
            <a:off x="2735273" y="3505818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830AD54-6B22-451B-890E-7D2DB8C64530}"/>
              </a:ext>
            </a:extLst>
          </p:cNvPr>
          <p:cNvSpPr/>
          <p:nvPr/>
        </p:nvSpPr>
        <p:spPr>
          <a:xfrm>
            <a:off x="2735273" y="290715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40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9692DEE-48EC-4470-BEA6-BD1A2EF724C6}"/>
              </a:ext>
            </a:extLst>
          </p:cNvPr>
          <p:cNvSpPr/>
          <p:nvPr/>
        </p:nvSpPr>
        <p:spPr>
          <a:xfrm>
            <a:off x="1849697" y="435528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4D715D3-DF62-4709-9C81-157953C19DA7}"/>
              </a:ext>
            </a:extLst>
          </p:cNvPr>
          <p:cNvSpPr/>
          <p:nvPr/>
        </p:nvSpPr>
        <p:spPr>
          <a:xfrm>
            <a:off x="1044687" y="4355282"/>
            <a:ext cx="389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30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15BB520-A08B-4847-A71E-54C73D0661B5}"/>
              </a:ext>
            </a:extLst>
          </p:cNvPr>
          <p:cNvSpPr txBox="1"/>
          <p:nvPr/>
        </p:nvSpPr>
        <p:spPr>
          <a:xfrm>
            <a:off x="2818411" y="1259068"/>
            <a:ext cx="6123920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a=[1 -0.25 -0.25 0;-0.25 1 0 -0.25; -0.25 0 1 -0.25;0 -0.25 -0.25 1];</a:t>
            </a:r>
          </a:p>
          <a:p>
            <a:r>
              <a:rPr lang="zh-CN" altLang="en-US" sz="1600" dirty="0"/>
              <a:t> b=[7.5;15;10;17.5];</a:t>
            </a:r>
          </a:p>
          <a:p>
            <a:r>
              <a:rPr lang="zh-CN" altLang="en-US" sz="1600" dirty="0"/>
              <a:t> Ti=inv(a)*b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BC451D-EED8-4AA2-8291-5656CC8DC377}"/>
              </a:ext>
            </a:extLst>
          </p:cNvPr>
          <p:cNvSpPr txBox="1"/>
          <p:nvPr/>
        </p:nvSpPr>
        <p:spPr>
          <a:xfrm>
            <a:off x="5617554" y="1681794"/>
            <a:ext cx="3229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CC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Julia</a:t>
            </a:r>
            <a:r>
              <a:rPr lang="zh-CN" altLang="en-US" b="1" dirty="0">
                <a:solidFill>
                  <a:srgbClr val="CC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代码和</a:t>
            </a:r>
            <a:r>
              <a:rPr lang="en-US" altLang="zh-CN" b="1" dirty="0">
                <a:solidFill>
                  <a:srgbClr val="CC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altLang="en-US" b="1" dirty="0">
                <a:solidFill>
                  <a:srgbClr val="CC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语言</a:t>
            </a:r>
            <a:r>
              <a:rPr lang="zh-CN" altLang="en-US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en-US" b="1" dirty="0">
                <a:solidFill>
                  <a:srgbClr val="CC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一样</a:t>
            </a:r>
            <a:endParaRPr lang="zh-CN" altLang="en-US" b="1" dirty="0">
              <a:solidFill>
                <a:srgbClr val="202124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BBA4DDF-1ABA-4AA2-9E69-1A74577108CE}"/>
              </a:ext>
            </a:extLst>
          </p:cNvPr>
          <p:cNvSpPr txBox="1"/>
          <p:nvPr/>
        </p:nvSpPr>
        <p:spPr>
          <a:xfrm>
            <a:off x="2805422" y="2154849"/>
            <a:ext cx="2456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kern="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文件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temp4.m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D7D4E40-BD0B-46AB-BB76-3BDB7A445DCB}"/>
              </a:ext>
            </a:extLst>
          </p:cNvPr>
          <p:cNvSpPr txBox="1"/>
          <p:nvPr/>
        </p:nvSpPr>
        <p:spPr>
          <a:xfrm>
            <a:off x="5728271" y="2154849"/>
            <a:ext cx="1934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ern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dirty="0"/>
              <a:t>Julia</a:t>
            </a:r>
            <a:r>
              <a:rPr lang="zh-CN" altLang="en-US" dirty="0"/>
              <a:t>文件</a:t>
            </a:r>
            <a:r>
              <a:rPr lang="en-US" altLang="zh-CN" dirty="0"/>
              <a:t>temps4.jl</a:t>
            </a:r>
            <a:endParaRPr lang="zh-CN" altLang="en-US" dirty="0"/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4A4766AD-7F55-40F2-9418-F3B00C8CF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66" y="230109"/>
            <a:ext cx="7497735" cy="438150"/>
          </a:xfr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2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§1.1.2.1</a:t>
            </a:r>
            <a:r>
              <a:rPr lang="zh-CN" altLang="en-US" sz="2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主页主菜单</a:t>
            </a:r>
            <a:r>
              <a:rPr lang="en-US" altLang="zh-CN" sz="2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 </a:t>
            </a:r>
            <a:r>
              <a:rPr lang="zh-CN" altLang="en-US" sz="2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工具栏中</a:t>
            </a:r>
            <a:r>
              <a:rPr lang="en-US" altLang="zh-CN" sz="2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M</a:t>
            </a:r>
            <a:r>
              <a:rPr lang="zh-CN" altLang="en-US" sz="2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</a:t>
            </a:r>
          </a:p>
        </p:txBody>
      </p:sp>
      <p:sp>
        <p:nvSpPr>
          <p:cNvPr id="32" name="波形 31">
            <a:extLst>
              <a:ext uri="{FF2B5EF4-FFF2-40B4-BE49-F238E27FC236}">
                <a16:creationId xmlns:a16="http://schemas.microsoft.com/office/drawing/2014/main" id="{D514A881-15EB-40A9-8E5D-BD319BE48021}"/>
              </a:ext>
            </a:extLst>
          </p:cNvPr>
          <p:cNvSpPr/>
          <p:nvPr/>
        </p:nvSpPr>
        <p:spPr>
          <a:xfrm>
            <a:off x="46565" y="4579153"/>
            <a:ext cx="1299885" cy="43815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D9C273-8545-4D28-AE15-98DF27C46BCC}"/>
              </a:ext>
            </a:extLst>
          </p:cNvPr>
          <p:cNvSpPr/>
          <p:nvPr/>
        </p:nvSpPr>
        <p:spPr>
          <a:xfrm>
            <a:off x="1352130" y="4611503"/>
            <a:ext cx="775637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mworks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命令窗口运行解线性方程组的代码，提供运行结果</a:t>
            </a:r>
          </a:p>
        </p:txBody>
      </p:sp>
    </p:spTree>
    <p:extLst>
      <p:ext uri="{BB962C8B-B14F-4D97-AF65-F5344CB8AC3E}">
        <p14:creationId xmlns:p14="http://schemas.microsoft.com/office/powerpoint/2010/main" val="3920137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97E5280-F66F-B020-A0E7-363662167A48}"/>
              </a:ext>
            </a:extLst>
          </p:cNvPr>
          <p:cNvSpPr/>
          <p:nvPr/>
        </p:nvSpPr>
        <p:spPr>
          <a:xfrm>
            <a:off x="31706" y="1177756"/>
            <a:ext cx="9037471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Julia&gt;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”提示后，进入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模式，可输入代码，然后回车，显示结果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命令式编程：命令行窗口中逐行输入命令并且执行，适用于简单编程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如输入命令行后面分号（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）结尾，则此行命令结果将不会显示出来。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不管结果显示与否，每次运行命令行时，系统会自动创建特殊变量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，并将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ans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绑定到刚运行结果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CTRL-D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 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Ctrl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exit()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退出交互式会话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63969A-7BF3-4604-9128-75F55B03885F}"/>
              </a:ext>
            </a:extLst>
          </p:cNvPr>
          <p:cNvSpPr txBox="1"/>
          <p:nvPr/>
        </p:nvSpPr>
        <p:spPr>
          <a:xfrm>
            <a:off x="63740" y="808424"/>
            <a:ext cx="9080260" cy="369332"/>
          </a:xfrm>
          <a:prstGeom prst="rect">
            <a:avLst/>
          </a:prstGeom>
          <a:solidFill>
            <a:srgbClr val="0070C0"/>
          </a:solidFill>
          <a:effectLst>
            <a:reflection blurRad="6350" stA="50000" endA="300" endPos="90000" dir="5400000" sy="-100000" algn="bl" rotWithShape="0"/>
          </a:effectLst>
        </p:spPr>
        <p:txBody>
          <a:bodyPr/>
          <a:lstStyle>
            <a:defPPr>
              <a:defRPr lang="zh-CN"/>
            </a:defPPr>
            <a:lvl1pPr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dirty="0"/>
              <a:t>命令行窗口</a:t>
            </a:r>
            <a:r>
              <a:rPr lang="en-US" altLang="zh-CN" dirty="0"/>
              <a:t>:</a:t>
            </a:r>
            <a:r>
              <a:rPr lang="zh-CN" altLang="en-US" dirty="0"/>
              <a:t>交互式解释器，简称</a:t>
            </a:r>
            <a:r>
              <a:rPr lang="en-US" altLang="zh-CN" dirty="0"/>
              <a:t>REPL</a:t>
            </a:r>
            <a:r>
              <a:rPr lang="zh-CN" altLang="en-US" dirty="0"/>
              <a:t>，实时交互命令行窗口，是交互式编程环境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7E9E43-587D-46D5-9821-03BFA29BB1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529" t="46751" r="10445" b="18575"/>
          <a:stretch/>
        </p:blipFill>
        <p:spPr>
          <a:xfrm>
            <a:off x="117492" y="3147814"/>
            <a:ext cx="8972756" cy="13695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BFDDCD8-0453-402E-AC73-D7F7C35BB515}"/>
              </a:ext>
            </a:extLst>
          </p:cNvPr>
          <p:cNvSpPr/>
          <p:nvPr/>
        </p:nvSpPr>
        <p:spPr bwMode="auto">
          <a:xfrm>
            <a:off x="6660232" y="3278648"/>
            <a:ext cx="2341449" cy="1152128"/>
          </a:xfrm>
          <a:prstGeom prst="round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7354425-B428-46E7-9E42-7876E38B0A1B}"/>
              </a:ext>
            </a:extLst>
          </p:cNvPr>
          <p:cNvSpPr txBox="1">
            <a:spLocks/>
          </p:cNvSpPr>
          <p:nvPr/>
        </p:nvSpPr>
        <p:spPr bwMode="auto">
          <a:xfrm>
            <a:off x="1187624" y="184306"/>
            <a:ext cx="749773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§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1.2.1.1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主页主菜单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</a:rPr>
              <a:t>3.</a:t>
            </a:r>
            <a:r>
              <a:rPr lang="zh-CN" altLang="en-US" sz="2800" dirty="0">
                <a:solidFill>
                  <a:srgbClr val="FF0000"/>
                </a:solidFill>
              </a:rPr>
              <a:t>命令行窗口</a:t>
            </a:r>
            <a:r>
              <a:rPr lang="en-US" altLang="zh-CN" sz="2800" dirty="0">
                <a:solidFill>
                  <a:srgbClr val="FF0000"/>
                </a:solidFill>
              </a:rPr>
              <a:t>REPL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F5D389-33E5-437B-A88F-52457C661A42}"/>
              </a:ext>
            </a:extLst>
          </p:cNvPr>
          <p:cNvSpPr txBox="1"/>
          <p:nvPr/>
        </p:nvSpPr>
        <p:spPr>
          <a:xfrm>
            <a:off x="179511" y="3246813"/>
            <a:ext cx="8505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800" b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65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A85282-BCBF-76A1-8F34-C651E199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B55B799-25A0-8EF1-4AE8-68FCD91F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144687"/>
            <a:ext cx="5207812" cy="484473"/>
          </a:xfrm>
          <a:noFill/>
        </p:spPr>
        <p:txBody>
          <a:bodyPr/>
          <a:lstStyle/>
          <a:p>
            <a:r>
              <a:rPr lang="en-US" altLang="zh-CN" sz="2800" b="1" kern="100" dirty="0"/>
              <a:t>§1.2.1 </a:t>
            </a:r>
            <a:r>
              <a:rPr lang="en-US" altLang="zh-CN" sz="2800" b="1" kern="100" dirty="0" err="1"/>
              <a:t>Syslab</a:t>
            </a:r>
            <a:r>
              <a:rPr lang="zh-CN" altLang="en-US" sz="2800" b="1" kern="100" dirty="0"/>
              <a:t>软件工作界面</a:t>
            </a:r>
            <a:r>
              <a:rPr lang="en-US" altLang="zh-CN" sz="2800" b="1" dirty="0">
                <a:solidFill>
                  <a:srgbClr val="FF0000"/>
                </a:solidFill>
              </a:rPr>
              <a:t>——1.2.1.2</a:t>
            </a:r>
            <a:r>
              <a:rPr lang="zh-CN" altLang="en-US" sz="2800" b="1" dirty="0">
                <a:solidFill>
                  <a:srgbClr val="FF0000"/>
                </a:solidFill>
              </a:rPr>
              <a:t>绘图主菜单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C9566-BBCD-D01F-C041-C1139B8FD795}"/>
              </a:ext>
            </a:extLst>
          </p:cNvPr>
          <p:cNvSpPr/>
          <p:nvPr/>
        </p:nvSpPr>
        <p:spPr>
          <a:xfrm>
            <a:off x="6660232" y="3147814"/>
            <a:ext cx="1800200" cy="547842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89C3CC-45D5-F9B7-08F0-52B73EE5A3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17" b="10800"/>
          <a:stretch/>
        </p:blipFill>
        <p:spPr>
          <a:xfrm>
            <a:off x="395536" y="756158"/>
            <a:ext cx="8568952" cy="3785493"/>
          </a:xfrm>
          <a:prstGeom prst="rect">
            <a:avLst/>
          </a:prstGeom>
          <a:ln>
            <a:solidFill>
              <a:srgbClr val="6D629C"/>
            </a:solidFill>
          </a:ln>
        </p:spPr>
      </p:pic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93D2E875-4114-85C8-1015-8247F7A77832}"/>
              </a:ext>
            </a:extLst>
          </p:cNvPr>
          <p:cNvSpPr/>
          <p:nvPr/>
        </p:nvSpPr>
        <p:spPr>
          <a:xfrm>
            <a:off x="397836" y="1295459"/>
            <a:ext cx="550528" cy="415621"/>
          </a:xfrm>
          <a:prstGeom prst="wedgeRoundRectCallout">
            <a:avLst>
              <a:gd name="adj1" fmla="val 1165810"/>
              <a:gd name="adj2" fmla="val 42647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C56591-FC9E-47E5-7323-D6FB669355CF}"/>
              </a:ext>
            </a:extLst>
          </p:cNvPr>
          <p:cNvSpPr/>
          <p:nvPr/>
        </p:nvSpPr>
        <p:spPr>
          <a:xfrm>
            <a:off x="7092279" y="3207894"/>
            <a:ext cx="1390873" cy="371968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1994A4-8E2C-86BD-3B6A-8591DEE40F16}"/>
              </a:ext>
            </a:extLst>
          </p:cNvPr>
          <p:cNvSpPr txBox="1"/>
          <p:nvPr/>
        </p:nvSpPr>
        <p:spPr>
          <a:xfrm>
            <a:off x="397836" y="725803"/>
            <a:ext cx="8566652" cy="316743"/>
          </a:xfrm>
          <a:prstGeom prst="rect">
            <a:avLst/>
          </a:prstGeom>
          <a:solidFill>
            <a:srgbClr val="0070C0"/>
          </a:solidFill>
          <a:effectLst>
            <a:reflection blurRad="6350" stA="50000" endA="300" endPos="55000" dir="5400000" sy="-100000" algn="bl" rotWithShape="0"/>
          </a:effectLst>
        </p:spPr>
        <p:txBody>
          <a:bodyPr/>
          <a:lstStyle>
            <a:defPPr>
              <a:defRPr lang="zh-CN"/>
            </a:defPPr>
            <a:lvl1pPr algn="r"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dirty="0"/>
              <a:t>按</a:t>
            </a:r>
            <a:r>
              <a:rPr lang="en-US" altLang="zh-CN" dirty="0"/>
              <a:t>ctrl</a:t>
            </a:r>
            <a:r>
              <a:rPr lang="zh-CN" altLang="en-US" dirty="0"/>
              <a:t>选中工作区的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数据提供给绘图主页，点击绘图按钮直接打开图窗进行绘图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A2ACEE-8115-4412-A694-C4557640EF77}"/>
              </a:ext>
            </a:extLst>
          </p:cNvPr>
          <p:cNvSpPr txBox="1"/>
          <p:nvPr/>
        </p:nvSpPr>
        <p:spPr>
          <a:xfrm>
            <a:off x="827584" y="3971762"/>
            <a:ext cx="3543541" cy="477491"/>
          </a:xfrm>
          <a:prstGeom prst="rect">
            <a:avLst/>
          </a:prstGeom>
          <a:noFill/>
        </p:spPr>
        <p:txBody>
          <a:bodyPr>
            <a:prstTxWarp prst="textTriangle">
              <a:avLst/>
            </a:prstTxWarp>
          </a:bodyPr>
          <a:lstStyle>
            <a:defPPr>
              <a:defRPr lang="zh-CN"/>
            </a:defPPr>
            <a:lvl1pPr algn="r"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dirty="0">
                <a:highlight>
                  <a:srgbClr val="003B76"/>
                </a:highlight>
              </a:rPr>
              <a:t>绘图</a:t>
            </a:r>
            <a:r>
              <a:rPr lang="en-US" altLang="zh-CN" dirty="0">
                <a:highlight>
                  <a:srgbClr val="003B76"/>
                </a:highlight>
              </a:rPr>
              <a:t>app</a:t>
            </a:r>
            <a:r>
              <a:rPr lang="zh-CN" altLang="en-US" dirty="0">
                <a:highlight>
                  <a:srgbClr val="003B76"/>
                </a:highlight>
              </a:rPr>
              <a:t>不用绘图函数直接绘图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1FF3D3-E490-47A4-BD72-4D7908766130}"/>
              </a:ext>
            </a:extLst>
          </p:cNvPr>
          <p:cNvSpPr txBox="1"/>
          <p:nvPr/>
        </p:nvSpPr>
        <p:spPr>
          <a:xfrm>
            <a:off x="1702804" y="1138510"/>
            <a:ext cx="622951" cy="307777"/>
          </a:xfrm>
          <a:prstGeom prst="rect">
            <a:avLst/>
          </a:prstGeom>
          <a:noFill/>
        </p:spPr>
        <p:txBody>
          <a:bodyPr wrap="square">
            <a:prstTxWarp prst="textWave1">
              <a:avLst/>
            </a:prstTxWarp>
            <a:spAutoFit/>
          </a:bodyPr>
          <a:lstStyle/>
          <a:p>
            <a:r>
              <a:rPr lang="zh-CN" altLang="en-US" sz="1400" dirty="0">
                <a:solidFill>
                  <a:srgbClr val="FFFF00"/>
                </a:solidFill>
                <a:highlight>
                  <a:srgbClr val="FF0000"/>
                </a:highlight>
              </a:rPr>
              <a:t>绘图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39EFB29E-5F3D-4500-983D-93C6333513F4}"/>
              </a:ext>
            </a:extLst>
          </p:cNvPr>
          <p:cNvSpPr/>
          <p:nvPr/>
        </p:nvSpPr>
        <p:spPr>
          <a:xfrm>
            <a:off x="3203848" y="2703562"/>
            <a:ext cx="831838" cy="547842"/>
          </a:xfrm>
          <a:prstGeom prst="wedgeRoundRectCallout">
            <a:avLst>
              <a:gd name="adj1" fmla="val 396979"/>
              <a:gd name="adj2" fmla="val 8550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C6715A-33FC-4000-A4DF-EE13F6AFCB29}"/>
              </a:ext>
            </a:extLst>
          </p:cNvPr>
          <p:cNvSpPr/>
          <p:nvPr/>
        </p:nvSpPr>
        <p:spPr>
          <a:xfrm rot="882119">
            <a:off x="2357344" y="2090850"/>
            <a:ext cx="3097700" cy="262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+mn-ea"/>
              </a:rPr>
              <a:t>选择工作区中变量传送到绘图主菜单</a:t>
            </a:r>
            <a:endParaRPr lang="en-US" altLang="zh-CN" sz="14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FE00759D-122A-402F-9EC0-38F84D613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9" y="1252716"/>
            <a:ext cx="3818380" cy="648072"/>
          </a:xfrm>
          <a:prstGeom prst="irregularSeal2">
            <a:avLst/>
          </a:prstGeom>
          <a:solidFill>
            <a:srgbClr val="00206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向量和矩阵数据可视化</a:t>
            </a:r>
            <a:endParaRPr lang="zh-CN" altLang="en-US" sz="14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00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106983-7F70-EEE0-B460-7868661C8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38368B1-4316-43C2-B3A3-E2D0586494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01"/>
          <a:stretch/>
        </p:blipFill>
        <p:spPr>
          <a:xfrm>
            <a:off x="179512" y="682256"/>
            <a:ext cx="8856984" cy="39777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48A2CF7-1656-44E0-8795-50B90CE07E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26" r="16146" b="5201"/>
          <a:stretch/>
        </p:blipFill>
        <p:spPr>
          <a:xfrm>
            <a:off x="5411866" y="1313236"/>
            <a:ext cx="3408606" cy="27157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E419CA6-2CA2-48E7-A6C6-EC0879C0CAB9}"/>
              </a:ext>
            </a:extLst>
          </p:cNvPr>
          <p:cNvSpPr txBox="1"/>
          <p:nvPr/>
        </p:nvSpPr>
        <p:spPr>
          <a:xfrm>
            <a:off x="5490396" y="4131941"/>
            <a:ext cx="2867957" cy="325732"/>
          </a:xfrm>
          <a:prstGeom prst="rect">
            <a:avLst/>
          </a:prstGeom>
          <a:noFill/>
        </p:spPr>
        <p:txBody>
          <a:bodyPr>
            <a:prstTxWarp prst="textTriangle">
              <a:avLst/>
            </a:prstTxWarp>
          </a:bodyPr>
          <a:lstStyle>
            <a:defPPr>
              <a:defRPr lang="zh-CN"/>
            </a:defPPr>
            <a:lvl1pPr algn="r"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后续不断扩充工具箱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5FDBDD-C8D3-4C9D-A7B5-968F023DB0A6}"/>
              </a:ext>
            </a:extLst>
          </p:cNvPr>
          <p:cNvSpPr txBox="1"/>
          <p:nvPr/>
        </p:nvSpPr>
        <p:spPr>
          <a:xfrm>
            <a:off x="1335066" y="1112567"/>
            <a:ext cx="622951" cy="307777"/>
          </a:xfrm>
          <a:prstGeom prst="rect">
            <a:avLst/>
          </a:prstGeom>
          <a:noFill/>
        </p:spPr>
        <p:txBody>
          <a:bodyPr wrap="square">
            <a:prstTxWarp prst="textWave1">
              <a:avLst/>
            </a:prstTxWarp>
            <a:spAutoFit/>
          </a:bodyPr>
          <a:lstStyle/>
          <a:p>
            <a:r>
              <a:rPr lang="en-US" altLang="zh-CN" sz="1400" dirty="0">
                <a:solidFill>
                  <a:srgbClr val="FFFF00"/>
                </a:solidFill>
                <a:highlight>
                  <a:srgbClr val="FF0000"/>
                </a:highlight>
              </a:rPr>
              <a:t>APP</a:t>
            </a:r>
            <a:endParaRPr lang="zh-CN" altLang="en-US" sz="1400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EBA4C62-8486-4829-9B44-52F6EBADC25E}"/>
              </a:ext>
            </a:extLst>
          </p:cNvPr>
          <p:cNvSpPr txBox="1">
            <a:spLocks/>
          </p:cNvSpPr>
          <p:nvPr/>
        </p:nvSpPr>
        <p:spPr bwMode="auto">
          <a:xfrm>
            <a:off x="690639" y="114415"/>
            <a:ext cx="7077588" cy="484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00" dirty="0"/>
              <a:t>§1.2.1  </a:t>
            </a:r>
            <a:r>
              <a:rPr lang="en-US" altLang="zh-CN" sz="2800" b="1" kern="100" dirty="0" err="1"/>
              <a:t>Syslab</a:t>
            </a:r>
            <a:r>
              <a:rPr lang="zh-CN" altLang="en-US" sz="2800" b="1" kern="100" dirty="0"/>
              <a:t>软件工作界面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——1.2.1.3</a:t>
            </a:r>
            <a:r>
              <a:rPr lang="en-US" altLang="zh-CN" sz="2800" dirty="0">
                <a:solidFill>
                  <a:srgbClr val="FF0000"/>
                </a:solidFill>
              </a:rPr>
              <a:t> APP</a:t>
            </a:r>
            <a:r>
              <a:rPr lang="zh-CN" altLang="en-US" sz="2800" dirty="0">
                <a:solidFill>
                  <a:srgbClr val="FF0000"/>
                </a:solidFill>
              </a:rPr>
              <a:t>主菜单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DDDA750-678D-2575-EED5-547E8964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001" y="744383"/>
            <a:ext cx="3024336" cy="339990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zh-CN" altLang="en-US" sz="1800" kern="1200" dirty="0">
                <a:solidFill>
                  <a:schemeClr val="bg1"/>
                </a:solidFill>
              </a:rPr>
              <a:t>（</a:t>
            </a:r>
            <a:r>
              <a:rPr lang="en-US" altLang="zh-CN" sz="1800" kern="1200" dirty="0">
                <a:solidFill>
                  <a:schemeClr val="bg1"/>
                </a:solidFill>
              </a:rPr>
              <a:t>2023b</a:t>
            </a:r>
            <a:r>
              <a:rPr lang="zh-CN" altLang="en-US" sz="1800" kern="1200" dirty="0">
                <a:solidFill>
                  <a:schemeClr val="bg1"/>
                </a:solidFill>
              </a:rPr>
              <a:t>才建立</a:t>
            </a:r>
            <a:r>
              <a:rPr lang="en-US" altLang="zh-CN" sz="1800" kern="1200" dirty="0">
                <a:solidFill>
                  <a:schemeClr val="bg1"/>
                </a:solidFill>
              </a:rPr>
              <a:t>app</a:t>
            </a:r>
            <a:r>
              <a:rPr lang="zh-CN" altLang="en-US" sz="1800" kern="1200" dirty="0">
                <a:solidFill>
                  <a:schemeClr val="bg1"/>
                </a:solidFill>
              </a:rPr>
              <a:t>主菜单）</a:t>
            </a:r>
          </a:p>
        </p:txBody>
      </p:sp>
    </p:spTree>
    <p:extLst>
      <p:ext uri="{BB962C8B-B14F-4D97-AF65-F5344CB8AC3E}">
        <p14:creationId xmlns:p14="http://schemas.microsoft.com/office/powerpoint/2010/main" val="24569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9AE63E1-B1F4-44D3-A0F6-43C69E573F7A}"/>
              </a:ext>
            </a:extLst>
          </p:cNvPr>
          <p:cNvSpPr/>
          <p:nvPr/>
        </p:nvSpPr>
        <p:spPr bwMode="auto">
          <a:xfrm>
            <a:off x="2234456" y="1815717"/>
            <a:ext cx="504056" cy="232505"/>
          </a:xfrm>
          <a:prstGeom prst="wedgeRectCallout">
            <a:avLst>
              <a:gd name="adj1" fmla="val 509"/>
              <a:gd name="adj2" fmla="val 94310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F79B38-AF82-434C-9864-81D869E82C65}"/>
              </a:ext>
            </a:extLst>
          </p:cNvPr>
          <p:cNvSpPr/>
          <p:nvPr/>
        </p:nvSpPr>
        <p:spPr>
          <a:xfrm>
            <a:off x="2669538" y="1731905"/>
            <a:ext cx="4635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视图由于语法高亮、行号显示、代码折叠</a:t>
            </a:r>
            <a:endParaRPr lang="en-US" altLang="zh-CN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C7EB21-AE67-404F-B7C6-5A4608F7A809}"/>
              </a:ext>
            </a:extLst>
          </p:cNvPr>
          <p:cNvSpPr/>
          <p:nvPr/>
        </p:nvSpPr>
        <p:spPr>
          <a:xfrm>
            <a:off x="2213513" y="1754549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1400" dirty="0">
                <a:solidFill>
                  <a:schemeClr val="bg1"/>
                </a:solidFill>
                <a:highlight>
                  <a:srgbClr val="33CCFF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视图</a:t>
            </a:r>
            <a:endParaRPr lang="en-US" altLang="zh-CN" sz="1400" dirty="0">
              <a:solidFill>
                <a:schemeClr val="bg1"/>
              </a:solidFill>
              <a:highlight>
                <a:srgbClr val="33CCFF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E5F0EE-34C5-4128-97E6-972D6E7F26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651" b="74615"/>
          <a:stretch/>
        </p:blipFill>
        <p:spPr>
          <a:xfrm>
            <a:off x="378949" y="1024781"/>
            <a:ext cx="8578312" cy="11321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50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DC99ADD4-C1E4-4368-A1B3-0E7B5C4608ED}"/>
              </a:ext>
            </a:extLst>
          </p:cNvPr>
          <p:cNvSpPr/>
          <p:nvPr/>
        </p:nvSpPr>
        <p:spPr>
          <a:xfrm>
            <a:off x="7543847" y="1991068"/>
            <a:ext cx="340521" cy="18887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DFB705AF-4C3D-4ABF-9A9A-27DC3CDB3672}"/>
              </a:ext>
            </a:extLst>
          </p:cNvPr>
          <p:cNvSpPr/>
          <p:nvPr/>
        </p:nvSpPr>
        <p:spPr>
          <a:xfrm>
            <a:off x="5172244" y="1974784"/>
            <a:ext cx="655796" cy="236926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1E2B7E65-D9A2-4F04-93D7-62A85561640D}"/>
              </a:ext>
            </a:extLst>
          </p:cNvPr>
          <p:cNvSpPr/>
          <p:nvPr/>
        </p:nvSpPr>
        <p:spPr>
          <a:xfrm>
            <a:off x="2905081" y="1991068"/>
            <a:ext cx="753456" cy="18887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D58ED5CC-4F7C-4EB3-A359-8612FAAE8F2A}"/>
              </a:ext>
            </a:extLst>
          </p:cNvPr>
          <p:cNvSpPr/>
          <p:nvPr/>
        </p:nvSpPr>
        <p:spPr>
          <a:xfrm>
            <a:off x="982883" y="1942640"/>
            <a:ext cx="340521" cy="23234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4319EFD-3D2F-4598-A653-4F7D5DB0C57B}"/>
              </a:ext>
            </a:extLst>
          </p:cNvPr>
          <p:cNvSpPr/>
          <p:nvPr/>
        </p:nvSpPr>
        <p:spPr bwMode="auto">
          <a:xfrm>
            <a:off x="539552" y="1451208"/>
            <a:ext cx="1403178" cy="705681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8436E88-60F8-48A6-B69B-D88E3D14A851}"/>
              </a:ext>
            </a:extLst>
          </p:cNvPr>
          <p:cNvSpPr/>
          <p:nvPr/>
        </p:nvSpPr>
        <p:spPr bwMode="auto">
          <a:xfrm>
            <a:off x="1963789" y="1379200"/>
            <a:ext cx="2641248" cy="77768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5CDFDDA-DEB5-41B2-8132-3666BC5CDFCE}"/>
              </a:ext>
            </a:extLst>
          </p:cNvPr>
          <p:cNvSpPr/>
          <p:nvPr/>
        </p:nvSpPr>
        <p:spPr bwMode="auto">
          <a:xfrm>
            <a:off x="4739849" y="1428488"/>
            <a:ext cx="1718008" cy="736105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E1C9B88-B0F2-4982-8E4B-63EA1374A581}"/>
              </a:ext>
            </a:extLst>
          </p:cNvPr>
          <p:cNvSpPr/>
          <p:nvPr/>
        </p:nvSpPr>
        <p:spPr bwMode="auto">
          <a:xfrm>
            <a:off x="6574129" y="1437567"/>
            <a:ext cx="2266860" cy="727026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A6B85E-54C7-4C6A-89CE-8140B76AE1DE}"/>
              </a:ext>
            </a:extLst>
          </p:cNvPr>
          <p:cNvSpPr txBox="1"/>
          <p:nvPr/>
        </p:nvSpPr>
        <p:spPr>
          <a:xfrm>
            <a:off x="2569481" y="1202261"/>
            <a:ext cx="576064" cy="176939"/>
          </a:xfrm>
          <a:prstGeom prst="rect">
            <a:avLst/>
          </a:prstGeom>
          <a:noFill/>
        </p:spPr>
        <p:txBody>
          <a:bodyPr wrap="square">
            <a:prstTxWarp prst="textWave1">
              <a:avLst/>
            </a:prstTxWarp>
            <a:spAutoFit/>
          </a:bodyPr>
          <a:lstStyle/>
          <a:p>
            <a:r>
              <a:rPr lang="zh-CN" altLang="en-US" sz="1400" dirty="0">
                <a:solidFill>
                  <a:srgbClr val="FFFF00"/>
                </a:solidFill>
                <a:highlight>
                  <a:srgbClr val="FF0000"/>
                </a:highlight>
              </a:rPr>
              <a:t>视图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04633C4-BA16-4CEC-8099-70C6CAAB44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76" b="6601"/>
          <a:stretch/>
        </p:blipFill>
        <p:spPr>
          <a:xfrm>
            <a:off x="378949" y="2257761"/>
            <a:ext cx="8578312" cy="2330213"/>
          </a:xfrm>
          <a:prstGeom prst="rect">
            <a:avLst/>
          </a:prstGeom>
        </p:spPr>
      </p:pic>
      <p:sp>
        <p:nvSpPr>
          <p:cNvPr id="18" name="标题 1">
            <a:extLst>
              <a:ext uri="{FF2B5EF4-FFF2-40B4-BE49-F238E27FC236}">
                <a16:creationId xmlns:a16="http://schemas.microsoft.com/office/drawing/2014/main" id="{10C71F0F-4A22-415B-B946-C8A82CC50611}"/>
              </a:ext>
            </a:extLst>
          </p:cNvPr>
          <p:cNvSpPr txBox="1">
            <a:spLocks/>
          </p:cNvSpPr>
          <p:nvPr/>
        </p:nvSpPr>
        <p:spPr bwMode="auto">
          <a:xfrm>
            <a:off x="899592" y="144874"/>
            <a:ext cx="7077588" cy="484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00" dirty="0"/>
              <a:t>§1.2.1  </a:t>
            </a:r>
            <a:r>
              <a:rPr lang="en-US" altLang="zh-CN" sz="2800" b="1" kern="100" dirty="0" err="1"/>
              <a:t>Syslab</a:t>
            </a:r>
            <a:r>
              <a:rPr lang="zh-CN" altLang="en-US" sz="2800" b="1" kern="100" dirty="0"/>
              <a:t>软件工作界面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——1.2.1.4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视图主菜单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A2AA99-E334-4C52-8387-62B6C15BB032}"/>
              </a:ext>
            </a:extLst>
          </p:cNvPr>
          <p:cNvSpPr/>
          <p:nvPr/>
        </p:nvSpPr>
        <p:spPr>
          <a:xfrm>
            <a:off x="394845" y="695566"/>
            <a:ext cx="8578312" cy="27546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reflection blurRad="6350" stA="50000" endA="300" endPos="5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dist" eaLnBrk="0" hangingPunct="0">
              <a:lnSpc>
                <a:spcPct val="85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根据个人喜好用“视图”设计</a:t>
            </a:r>
            <a:r>
              <a:rPr lang="en-US" altLang="zh-CN" sz="14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Syslab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软件界面外观、布置、代码折叠与显示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74D68B-542C-4FBC-8291-2DB27E34B68B}"/>
              </a:ext>
            </a:extLst>
          </p:cNvPr>
          <p:cNvSpPr txBox="1"/>
          <p:nvPr/>
        </p:nvSpPr>
        <p:spPr>
          <a:xfrm>
            <a:off x="3995937" y="2909242"/>
            <a:ext cx="3073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界面外观颜色主题选择黑色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198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837FF9-FD00-9C92-16CC-0A714D3D91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46" r="4482" b="5501"/>
          <a:stretch/>
        </p:blipFill>
        <p:spPr>
          <a:xfrm>
            <a:off x="323528" y="701943"/>
            <a:ext cx="8603729" cy="3816424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3CFC53C-3CA0-65D1-057C-91F691722017}"/>
              </a:ext>
            </a:extLst>
          </p:cNvPr>
          <p:cNvSpPr txBox="1"/>
          <p:nvPr/>
        </p:nvSpPr>
        <p:spPr>
          <a:xfrm>
            <a:off x="1073081" y="4091801"/>
            <a:ext cx="4464497" cy="699512"/>
          </a:xfrm>
          <a:prstGeom prst="rect">
            <a:avLst/>
          </a:prstGeom>
          <a:noFill/>
        </p:spPr>
        <p:txBody>
          <a:bodyPr/>
          <a:lstStyle>
            <a:defPPr>
              <a:defRPr lang="zh-CN"/>
            </a:defPPr>
            <a:lvl1pPr marL="342900" indent="-342900" eaLnBrk="0" hangingPunct="0">
              <a:lnSpc>
                <a:spcPct val="85000"/>
              </a:lnSpc>
              <a:buFont typeface="+mj-ea"/>
              <a:buAutoNum type="circleNumDbPlain"/>
              <a:defRPr sz="1400" b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ts val="2400"/>
              </a:lnSpc>
              <a:buClr>
                <a:srgbClr val="0070C0"/>
              </a:buClr>
              <a:buFont typeface="+mj-ea"/>
              <a:buAutoNum type="circleNumDbPlain" startAt="2"/>
            </a:pPr>
            <a:r>
              <a:rPr lang="zh-CN" altLang="en-US" dirty="0">
                <a:highlight>
                  <a:srgbClr val="003B76"/>
                </a:highlight>
              </a:rPr>
              <a:t>在窗口敲入“？”自动生成“</a:t>
            </a:r>
            <a:r>
              <a:rPr lang="en-US" altLang="zh-CN" dirty="0">
                <a:highlight>
                  <a:srgbClr val="003B76"/>
                </a:highlight>
              </a:rPr>
              <a:t>help?&gt; </a:t>
            </a:r>
            <a:r>
              <a:rPr lang="zh-CN" altLang="en-US" dirty="0">
                <a:highlight>
                  <a:srgbClr val="003B76"/>
                </a:highlight>
              </a:rPr>
              <a:t>”帮助模式 </a:t>
            </a:r>
            <a:endParaRPr lang="en-US" altLang="zh-CN" dirty="0">
              <a:highlight>
                <a:srgbClr val="003B76"/>
              </a:highlight>
            </a:endParaRPr>
          </a:p>
          <a:p>
            <a:pPr>
              <a:buClr>
                <a:srgbClr val="0070C0"/>
              </a:buClr>
              <a:buFont typeface="+mj-ea"/>
              <a:buAutoNum type="circleNumDbPlain" startAt="2"/>
            </a:pPr>
            <a:endParaRPr lang="zh-CN" altLang="en-US" dirty="0">
              <a:highlight>
                <a:srgbClr val="003B76"/>
              </a:highlight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1C8A518-CD7D-BE2A-7658-E71ED532F11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375" t="54200" r="25493" b="8222"/>
          <a:stretch/>
        </p:blipFill>
        <p:spPr>
          <a:xfrm>
            <a:off x="5451493" y="3034950"/>
            <a:ext cx="3392238" cy="1444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D5D12C2-F3DF-4057-97E0-29DBB16E58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7324" b="74693"/>
          <a:stretch/>
        </p:blipFill>
        <p:spPr>
          <a:xfrm>
            <a:off x="5537578" y="1224182"/>
            <a:ext cx="2987824" cy="13016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7DCBCF4F-F8C1-7A1B-3D44-3FA2D85777B1}"/>
              </a:ext>
            </a:extLst>
          </p:cNvPr>
          <p:cNvSpPr/>
          <p:nvPr/>
        </p:nvSpPr>
        <p:spPr>
          <a:xfrm>
            <a:off x="8028384" y="1446253"/>
            <a:ext cx="438376" cy="305220"/>
          </a:xfrm>
          <a:prstGeom prst="wedgeRoundRectCallout">
            <a:avLst>
              <a:gd name="adj1" fmla="val -543390"/>
              <a:gd name="adj2" fmla="val -19070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635EE74-BBD9-45F7-8A00-B74C561D5923}"/>
              </a:ext>
            </a:extLst>
          </p:cNvPr>
          <p:cNvSpPr txBox="1">
            <a:spLocks/>
          </p:cNvSpPr>
          <p:nvPr/>
        </p:nvSpPr>
        <p:spPr bwMode="auto">
          <a:xfrm>
            <a:off x="827584" y="104520"/>
            <a:ext cx="7077588" cy="484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kern="100" dirty="0"/>
              <a:t>§1.2.1 </a:t>
            </a:r>
            <a:r>
              <a:rPr lang="en-US" altLang="zh-CN" sz="2800" b="1" kern="100" dirty="0" err="1"/>
              <a:t>Syslab</a:t>
            </a:r>
            <a:r>
              <a:rPr lang="zh-CN" altLang="en-US" sz="2800" b="1" kern="100" dirty="0"/>
              <a:t>软件工作界面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——1.2.1.5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帮助主菜单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5D3B14-A903-518D-37E1-0D456B5EC79A}"/>
              </a:ext>
            </a:extLst>
          </p:cNvPr>
          <p:cNvSpPr txBox="1"/>
          <p:nvPr/>
        </p:nvSpPr>
        <p:spPr>
          <a:xfrm>
            <a:off x="4788024" y="2034167"/>
            <a:ext cx="3938305" cy="640253"/>
          </a:xfrm>
          <a:prstGeom prst="rect">
            <a:avLst/>
          </a:prstGeom>
          <a:noFill/>
        </p:spPr>
        <p:txBody>
          <a:bodyPr/>
          <a:lstStyle>
            <a:defPPr>
              <a:defRPr lang="zh-CN"/>
            </a:defPPr>
            <a:lvl1pPr algn="ctr"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marL="342900" indent="-342900" algn="l">
              <a:lnSpc>
                <a:spcPts val="2400"/>
              </a:lnSpc>
              <a:buClr>
                <a:srgbClr val="0070C0"/>
              </a:buClr>
              <a:buFont typeface="+mj-ea"/>
              <a:buAutoNum type="circleNumDbPlain"/>
            </a:pPr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点击帮助主菜单可帮助查看函数语法和示例</a:t>
            </a:r>
            <a:endParaRPr lang="en-US" altLang="zh-CN" sz="1400" dirty="0">
              <a:solidFill>
                <a:schemeClr val="bg1"/>
              </a:solidFill>
              <a:highlight>
                <a:srgbClr val="003B76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F47608-0B29-4FF2-9037-859B1A9B961E}"/>
              </a:ext>
            </a:extLst>
          </p:cNvPr>
          <p:cNvSpPr txBox="1"/>
          <p:nvPr/>
        </p:nvSpPr>
        <p:spPr>
          <a:xfrm>
            <a:off x="323527" y="701943"/>
            <a:ext cx="5527259" cy="699512"/>
          </a:xfrm>
          <a:prstGeom prst="rect">
            <a:avLst/>
          </a:prstGeom>
          <a:noFill/>
        </p:spPr>
        <p:txBody>
          <a:bodyPr/>
          <a:lstStyle>
            <a:defPPr>
              <a:defRPr lang="zh-CN"/>
            </a:defPPr>
            <a:lvl1pPr algn="ctr"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l">
              <a:lnSpc>
                <a:spcPts val="2400"/>
              </a:lnSpc>
            </a:pPr>
            <a:r>
              <a:rPr lang="en-US" altLang="zh-CN" sz="1400" dirty="0" err="1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4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提供完善中文帮助系统，可查看函数语法和示例，两种方式</a:t>
            </a:r>
            <a:endParaRPr lang="en-US" altLang="zh-CN" sz="14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FDF46381-F0D8-48E2-8AF8-1325AB72F74E}"/>
              </a:ext>
            </a:extLst>
          </p:cNvPr>
          <p:cNvSpPr/>
          <p:nvPr/>
        </p:nvSpPr>
        <p:spPr>
          <a:xfrm>
            <a:off x="5531209" y="858965"/>
            <a:ext cx="319578" cy="227429"/>
          </a:xfrm>
          <a:prstGeom prst="wedgeRoundRectCallout">
            <a:avLst>
              <a:gd name="adj1" fmla="val -721547"/>
              <a:gd name="adj2" fmla="val 25931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6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DDBA7E2-AB3B-44CF-9981-C65C5C2A22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01"/>
          <a:stretch/>
        </p:blipFill>
        <p:spPr>
          <a:xfrm>
            <a:off x="291681" y="949528"/>
            <a:ext cx="8640960" cy="368543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F0CB5C0C-E5AE-4F5A-A73D-64461463D81E}"/>
              </a:ext>
            </a:extLst>
          </p:cNvPr>
          <p:cNvSpPr/>
          <p:nvPr/>
        </p:nvSpPr>
        <p:spPr>
          <a:xfrm>
            <a:off x="467544" y="1923678"/>
            <a:ext cx="576064" cy="216024"/>
          </a:xfrm>
          <a:prstGeom prst="wedgeRoundRectCallout">
            <a:avLst>
              <a:gd name="adj1" fmla="val -3755"/>
              <a:gd name="adj2" fmla="val 11607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0837072-4883-4902-AC33-6AF2E07B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19" y="168021"/>
            <a:ext cx="8270148" cy="715494"/>
          </a:xfrm>
        </p:spPr>
        <p:txBody>
          <a:bodyPr/>
          <a:lstStyle/>
          <a:p>
            <a:r>
              <a:rPr lang="en-US" altLang="zh-CN" sz="2400" b="1" dirty="0">
                <a:latin typeface="+mn-ea"/>
              </a:rPr>
              <a:t>§ </a:t>
            </a:r>
            <a:r>
              <a:rPr lang="en-US" altLang="zh-CN" sz="2400" b="1" kern="100" dirty="0"/>
              <a:t>1.2.2 </a:t>
            </a:r>
            <a:r>
              <a:rPr lang="zh-CN" altLang="en-US" sz="2400" b="1" kern="100" dirty="0"/>
              <a:t>资源管理器文件管理</a:t>
            </a:r>
            <a:r>
              <a:rPr lang="en-US" altLang="zh-CN" sz="2500" dirty="0">
                <a:solidFill>
                  <a:srgbClr val="FF0000"/>
                </a:solidFill>
              </a:rPr>
              <a:t>——1.</a:t>
            </a:r>
            <a:r>
              <a:rPr lang="zh-CN" altLang="en-US" sz="2500" dirty="0">
                <a:solidFill>
                  <a:srgbClr val="FF0000"/>
                </a:solidFill>
              </a:rPr>
              <a:t>文件新建、打开和调用</a:t>
            </a:r>
            <a:br>
              <a:rPr lang="zh-CN" altLang="en-US" sz="2500" dirty="0"/>
            </a:br>
            <a:endParaRPr lang="zh-CN" altLang="en-US" sz="25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5D4C65-A4D0-43D6-AC1C-26C75D163C93}"/>
              </a:ext>
            </a:extLst>
          </p:cNvPr>
          <p:cNvSpPr txBox="1"/>
          <p:nvPr/>
        </p:nvSpPr>
        <p:spPr>
          <a:xfrm>
            <a:off x="323528" y="694860"/>
            <a:ext cx="8640960" cy="3077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reflection blurRad="6350" stA="50000" endA="300" endPos="5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indent="0" algn="dist" eaLnBrk="0" hangingPunct="0">
              <a:lnSpc>
                <a:spcPct val="85000"/>
              </a:lnSpc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dirty="0"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资源管理器</a:t>
            </a:r>
            <a:r>
              <a:rPr lang="zh-CN" altLang="en-US" dirty="0"/>
              <a:t>提供目录结构树管理，支持对文件（或文件夹）的新增、删除、修改、查找等功能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59AC5D04-B52C-48E6-9F9D-AC26B7635FF9}"/>
              </a:ext>
            </a:extLst>
          </p:cNvPr>
          <p:cNvSpPr/>
          <p:nvPr/>
        </p:nvSpPr>
        <p:spPr>
          <a:xfrm>
            <a:off x="696346" y="2283718"/>
            <a:ext cx="1139350" cy="1944216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F74D61-F8A0-46B9-8CFC-64E62C7DB0F8}"/>
              </a:ext>
            </a:extLst>
          </p:cNvPr>
          <p:cNvSpPr txBox="1"/>
          <p:nvPr/>
        </p:nvSpPr>
        <p:spPr>
          <a:xfrm>
            <a:off x="665993" y="2210405"/>
            <a:ext cx="836245" cy="246221"/>
          </a:xfrm>
          <a:prstGeom prst="rect">
            <a:avLst/>
          </a:prstGeom>
          <a:solidFill>
            <a:srgbClr val="003B76"/>
          </a:solidFill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</a:rPr>
              <a:t>目录结构树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8F96D8-E65F-49CB-9507-1420412D09FA}"/>
              </a:ext>
            </a:extLst>
          </p:cNvPr>
          <p:cNvSpPr txBox="1"/>
          <p:nvPr/>
        </p:nvSpPr>
        <p:spPr>
          <a:xfrm>
            <a:off x="274962" y="1050776"/>
            <a:ext cx="580920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资源管理器将当前文件夹下文件和子文件夹，以树形结构展示</a:t>
            </a:r>
          </a:p>
        </p:txBody>
      </p:sp>
      <p:sp>
        <p:nvSpPr>
          <p:cNvPr id="18" name="对话气泡: 圆角矩形 17">
            <a:extLst>
              <a:ext uri="{FF2B5EF4-FFF2-40B4-BE49-F238E27FC236}">
                <a16:creationId xmlns:a16="http://schemas.microsoft.com/office/drawing/2014/main" id="{37E7C58A-5439-4587-B235-4C41C408D872}"/>
              </a:ext>
            </a:extLst>
          </p:cNvPr>
          <p:cNvSpPr/>
          <p:nvPr/>
        </p:nvSpPr>
        <p:spPr>
          <a:xfrm>
            <a:off x="3225010" y="1935877"/>
            <a:ext cx="698918" cy="183215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EC19D49-79E6-4519-8729-4814F62A7E7C}"/>
              </a:ext>
            </a:extLst>
          </p:cNvPr>
          <p:cNvSpPr/>
          <p:nvPr/>
        </p:nvSpPr>
        <p:spPr bwMode="auto">
          <a:xfrm>
            <a:off x="2424959" y="1939594"/>
            <a:ext cx="4019249" cy="800232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73BFEF8-BDC6-472B-ADCD-A6A68C7C87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2049" r="77878" b="16400"/>
          <a:stretch/>
        </p:blipFill>
        <p:spPr>
          <a:xfrm>
            <a:off x="5971516" y="1478175"/>
            <a:ext cx="2189993" cy="2447759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18A837D-3D6C-4BE3-9BB0-8F9B450576D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671" t="23963" r="55072" b="61892"/>
          <a:stretch/>
        </p:blipFill>
        <p:spPr>
          <a:xfrm>
            <a:off x="7479338" y="3649054"/>
            <a:ext cx="1381851" cy="72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A19C605-A11C-4F55-86E1-B0179072884D}"/>
              </a:ext>
            </a:extLst>
          </p:cNvPr>
          <p:cNvSpPr txBox="1"/>
          <p:nvPr/>
        </p:nvSpPr>
        <p:spPr>
          <a:xfrm>
            <a:off x="5971517" y="1059582"/>
            <a:ext cx="218652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rgbClr val="D57747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</a:rPr>
              <a:t>新建文件或文件夹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B4B13C9-A679-4BE7-9EBE-47DACECD9C8D}"/>
              </a:ext>
            </a:extLst>
          </p:cNvPr>
          <p:cNvSpPr txBox="1"/>
          <p:nvPr/>
        </p:nvSpPr>
        <p:spPr>
          <a:xfrm>
            <a:off x="5971517" y="3156878"/>
            <a:ext cx="310883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点击四个按钮第</a:t>
            </a:r>
            <a:r>
              <a:rPr lang="en-US" altLang="zh-CN" dirty="0"/>
              <a:t>1</a:t>
            </a:r>
            <a:r>
              <a:rPr lang="zh-CN" altLang="en-US" dirty="0"/>
              <a:t>个，新建名为</a:t>
            </a:r>
            <a:r>
              <a:rPr lang="en-US" altLang="zh-CN" dirty="0"/>
              <a:t>11-1.ji</a:t>
            </a:r>
            <a:r>
              <a:rPr lang="zh-CN" altLang="en-US" dirty="0"/>
              <a:t>文件，并自动打开编辑器被进入</a:t>
            </a:r>
            <a:r>
              <a:rPr lang="en-US" altLang="zh-CN" dirty="0"/>
              <a:t>11-1.ji</a:t>
            </a:r>
            <a:r>
              <a:rPr lang="zh-CN" altLang="en-US" dirty="0"/>
              <a:t>编辑状态。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BA7F2766-2B51-435A-9A4A-8EE0AEE427D6}"/>
              </a:ext>
            </a:extLst>
          </p:cNvPr>
          <p:cNvSpPr/>
          <p:nvPr/>
        </p:nvSpPr>
        <p:spPr bwMode="auto">
          <a:xfrm>
            <a:off x="5235084" y="1927249"/>
            <a:ext cx="377519" cy="169991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702DB56-F15C-4254-AA43-D20083AF9F34}"/>
              </a:ext>
            </a:extLst>
          </p:cNvPr>
          <p:cNvSpPr txBox="1"/>
          <p:nvPr/>
        </p:nvSpPr>
        <p:spPr>
          <a:xfrm>
            <a:off x="899592" y="3320462"/>
            <a:ext cx="5184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2"/>
              <a:defRPr sz="1600" b="1" i="0">
                <a:solidFill>
                  <a:srgbClr val="D57747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buFont typeface="+mj-ea"/>
              <a:buAutoNum type="circleNumDbPlain" startAt="3"/>
            </a:pPr>
            <a:r>
              <a:rPr lang="zh-CN" altLang="en-US" dirty="0">
                <a:solidFill>
                  <a:srgbClr val="0070C0"/>
                </a:solidFill>
              </a:rPr>
              <a:t>文件运行点击“   ”按钮  或命令窗口</a:t>
            </a:r>
            <a:r>
              <a:rPr lang="en-US" altLang="zh-CN" dirty="0">
                <a:solidFill>
                  <a:srgbClr val="0070C0"/>
                </a:solidFill>
              </a:rPr>
              <a:t>include</a:t>
            </a:r>
            <a:r>
              <a:rPr lang="zh-CN" altLang="en-US" dirty="0">
                <a:solidFill>
                  <a:srgbClr val="0070C0"/>
                </a:solidFill>
              </a:rPr>
              <a:t>调用</a:t>
            </a:r>
          </a:p>
        </p:txBody>
      </p:sp>
      <p:sp>
        <p:nvSpPr>
          <p:cNvPr id="39" name="等腰三角形 38">
            <a:extLst>
              <a:ext uri="{FF2B5EF4-FFF2-40B4-BE49-F238E27FC236}">
                <a16:creationId xmlns:a16="http://schemas.microsoft.com/office/drawing/2014/main" id="{9801BC65-5979-4478-99A7-8FB3873EFD83}"/>
              </a:ext>
            </a:extLst>
          </p:cNvPr>
          <p:cNvSpPr/>
          <p:nvPr/>
        </p:nvSpPr>
        <p:spPr bwMode="auto">
          <a:xfrm rot="5400000">
            <a:off x="2815971" y="3366816"/>
            <a:ext cx="268616" cy="286522"/>
          </a:xfrm>
          <a:prstGeom prst="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740AC77-52A8-4ECA-A76E-73993DF9EC4D}"/>
              </a:ext>
            </a:extLst>
          </p:cNvPr>
          <p:cNvSpPr txBox="1"/>
          <p:nvPr/>
        </p:nvSpPr>
        <p:spPr>
          <a:xfrm>
            <a:off x="2026548" y="3685125"/>
            <a:ext cx="3682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include(“11.jl”)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11.5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对话气泡: 圆角矩形 41">
            <a:extLst>
              <a:ext uri="{FF2B5EF4-FFF2-40B4-BE49-F238E27FC236}">
                <a16:creationId xmlns:a16="http://schemas.microsoft.com/office/drawing/2014/main" id="{33B9C99F-71AD-41FF-B0E3-DA3D6A4594EB}"/>
              </a:ext>
            </a:extLst>
          </p:cNvPr>
          <p:cNvSpPr/>
          <p:nvPr/>
        </p:nvSpPr>
        <p:spPr>
          <a:xfrm>
            <a:off x="6497281" y="3736330"/>
            <a:ext cx="698918" cy="183215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5E9221D5-9B33-43C3-A19D-BD3BB28D6D81}"/>
              </a:ext>
            </a:extLst>
          </p:cNvPr>
          <p:cNvSpPr/>
          <p:nvPr/>
        </p:nvSpPr>
        <p:spPr>
          <a:xfrm>
            <a:off x="7210541" y="1741340"/>
            <a:ext cx="189764" cy="199233"/>
          </a:xfrm>
          <a:prstGeom prst="wedgeRoundRectCallout">
            <a:avLst>
              <a:gd name="adj1" fmla="val -306281"/>
              <a:gd name="adj2" fmla="val 913959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对话气泡: 圆角矩形 28">
            <a:extLst>
              <a:ext uri="{FF2B5EF4-FFF2-40B4-BE49-F238E27FC236}">
                <a16:creationId xmlns:a16="http://schemas.microsoft.com/office/drawing/2014/main" id="{247D1374-4615-4D8E-8F5B-FB200FCD7AD3}"/>
              </a:ext>
            </a:extLst>
          </p:cNvPr>
          <p:cNvSpPr/>
          <p:nvPr/>
        </p:nvSpPr>
        <p:spPr>
          <a:xfrm>
            <a:off x="8147978" y="3703344"/>
            <a:ext cx="692967" cy="169867"/>
          </a:xfrm>
          <a:prstGeom prst="wedgeRoundRectCallout">
            <a:avLst>
              <a:gd name="adj1" fmla="val -179517"/>
              <a:gd name="adj2" fmla="val -133986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ED380F0-A29F-4BB8-A37B-9952E531115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671" t="23963" r="55072" b="61892"/>
          <a:stretch/>
        </p:blipFill>
        <p:spPr>
          <a:xfrm>
            <a:off x="1754844" y="2215757"/>
            <a:ext cx="3537236" cy="72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AE8F1BDF-7CCF-47F9-BCE9-9C5E13F0885E}"/>
              </a:ext>
            </a:extLst>
          </p:cNvPr>
          <p:cNvSpPr/>
          <p:nvPr/>
        </p:nvSpPr>
        <p:spPr>
          <a:xfrm>
            <a:off x="665993" y="2888544"/>
            <a:ext cx="629763" cy="216024"/>
          </a:xfrm>
          <a:prstGeom prst="wedgeRoundRectCallout">
            <a:avLst>
              <a:gd name="adj1" fmla="val 297545"/>
              <a:gd name="adj2" fmla="val -35870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27522E-C90A-4535-B61A-7C8F8426F363}"/>
              </a:ext>
            </a:extLst>
          </p:cNvPr>
          <p:cNvSpPr txBox="1"/>
          <p:nvPr/>
        </p:nvSpPr>
        <p:spPr>
          <a:xfrm>
            <a:off x="1713723" y="1629758"/>
            <a:ext cx="196372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l">
              <a:buFont typeface="+mj-ea"/>
              <a:buAutoNum type="circleNumDbPlain" startAt="2"/>
            </a:pPr>
            <a:r>
              <a:rPr lang="zh-CN" altLang="en-US" sz="1600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打开目录上文件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38F0238-1A5F-4431-9E42-72870F35EA67}"/>
              </a:ext>
            </a:extLst>
          </p:cNvPr>
          <p:cNvSpPr txBox="1"/>
          <p:nvPr/>
        </p:nvSpPr>
        <p:spPr>
          <a:xfrm>
            <a:off x="1749636" y="1916282"/>
            <a:ext cx="348266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单击目录树文件，并打开编辑器中文件，如</a:t>
            </a:r>
            <a:r>
              <a:rPr lang="en-US" altLang="zh-CN" dirty="0"/>
              <a:t>11.jl</a:t>
            </a:r>
            <a:r>
              <a:rPr lang="zh-CN" altLang="en-US" dirty="0"/>
              <a:t>，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73B1FD1-CD7D-4716-9673-8A25C2C96570}"/>
              </a:ext>
            </a:extLst>
          </p:cNvPr>
          <p:cNvSpPr txBox="1"/>
          <p:nvPr/>
        </p:nvSpPr>
        <p:spPr>
          <a:xfrm>
            <a:off x="2050885" y="4064029"/>
            <a:ext cx="551925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建议文件最好保存在当前目录或搜索路径上，方便文件调用</a:t>
            </a:r>
          </a:p>
        </p:txBody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A0AD6E3A-1709-450B-9EC4-5E9E07415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270" y="3981464"/>
            <a:ext cx="1139350" cy="440986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16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659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8" grpId="0" animBg="1"/>
      <p:bldP spid="36" grpId="0" animBg="1"/>
      <p:bldP spid="30" grpId="0"/>
      <p:bldP spid="41" grpId="0"/>
      <p:bldP spid="42" grpId="0" animBg="1"/>
      <p:bldP spid="11" grpId="0" animBg="1"/>
      <p:bldP spid="29" grpId="0" animBg="1"/>
      <p:bldP spid="17" grpId="0" animBg="1"/>
      <p:bldP spid="21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067EFA6-3B73-4B12-951E-9F73BCAB2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63" y="-68416"/>
            <a:ext cx="7947748" cy="720081"/>
          </a:xfrm>
        </p:spPr>
        <p:txBody>
          <a:bodyPr/>
          <a:lstStyle/>
          <a:p>
            <a:br>
              <a:rPr lang="en-US" altLang="zh-CN" sz="2500" kern="100" dirty="0">
                <a:solidFill>
                  <a:srgbClr val="002060"/>
                </a:solidFill>
              </a:rPr>
            </a:br>
            <a:br>
              <a:rPr lang="en-US" altLang="zh-CN" sz="2500" kern="100" dirty="0">
                <a:solidFill>
                  <a:srgbClr val="002060"/>
                </a:solidFill>
              </a:rPr>
            </a:br>
            <a:r>
              <a:rPr lang="en-US" altLang="zh-CN" sz="2800" b="1" dirty="0">
                <a:latin typeface="+mn-ea"/>
              </a:rPr>
              <a:t>§ </a:t>
            </a:r>
            <a:r>
              <a:rPr lang="en-US" altLang="zh-CN" sz="2800" b="1" kern="100" dirty="0"/>
              <a:t>1.2.2 </a:t>
            </a:r>
            <a:r>
              <a:rPr lang="zh-CN" altLang="en-US" sz="2800" b="1" kern="100" dirty="0"/>
              <a:t>资源管理器文件管理</a:t>
            </a:r>
            <a:r>
              <a:rPr lang="en-US" altLang="zh-CN" sz="2500" dirty="0">
                <a:solidFill>
                  <a:srgbClr val="FF0000"/>
                </a:solidFill>
              </a:rPr>
              <a:t>——</a:t>
            </a:r>
            <a:r>
              <a:rPr lang="zh-CN" altLang="en-US" sz="2500" dirty="0">
                <a:solidFill>
                  <a:srgbClr val="FF0000"/>
                </a:solidFill>
              </a:rPr>
              <a:t>用</a:t>
            </a:r>
            <a:r>
              <a:rPr lang="en-US" altLang="zh-CN" sz="2500" dirty="0">
                <a:solidFill>
                  <a:srgbClr val="FF0000"/>
                </a:solidFill>
              </a:rPr>
              <a:t>include</a:t>
            </a:r>
            <a:r>
              <a:rPr lang="zh-CN" altLang="en-US" sz="2500" dirty="0">
                <a:solidFill>
                  <a:srgbClr val="FF0000"/>
                </a:solidFill>
              </a:rPr>
              <a:t>调用文件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A650EC7-2CFB-41B6-8C67-402BDB8C21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800" r="77864" b="12416"/>
          <a:stretch/>
        </p:blipFill>
        <p:spPr>
          <a:xfrm>
            <a:off x="489389" y="1130080"/>
            <a:ext cx="1739924" cy="336440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233E301-068A-432F-A82B-BD3671B87DA3}"/>
              </a:ext>
            </a:extLst>
          </p:cNvPr>
          <p:cNvSpPr txBox="1"/>
          <p:nvPr/>
        </p:nvSpPr>
        <p:spPr>
          <a:xfrm>
            <a:off x="2387400" y="1532323"/>
            <a:ext cx="6569969" cy="32316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dirty="0"/>
              <a:t>#</a:t>
            </a:r>
            <a:r>
              <a:rPr lang="zh-CN" altLang="en-US" sz="1600" dirty="0"/>
              <a:t>调用资源管理器</a:t>
            </a:r>
            <a:r>
              <a:rPr lang="en-US" altLang="zh-CN" sz="1600" dirty="0"/>
              <a:t>“D:/</a:t>
            </a:r>
            <a:r>
              <a:rPr lang="en-US" altLang="zh-CN" sz="1600" dirty="0" err="1"/>
              <a:t>sysjulia</a:t>
            </a:r>
            <a:r>
              <a:rPr lang="en-US" altLang="zh-CN" sz="1600" dirty="0"/>
              <a:t>/</a:t>
            </a:r>
            <a:r>
              <a:rPr lang="en-US" altLang="zh-CN" sz="1600" dirty="0" err="1"/>
              <a:t>syslab_results</a:t>
            </a:r>
            <a:r>
              <a:rPr lang="zh-CN" altLang="en-US" sz="1600" dirty="0"/>
              <a:t>文件夹中文件</a:t>
            </a:r>
            <a:r>
              <a:rPr lang="en-US" altLang="zh-CN" sz="1600" dirty="0"/>
              <a:t>1ty.jl”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 err="1">
                <a:solidFill>
                  <a:srgbClr val="FF0000"/>
                </a:solidFill>
              </a:rPr>
              <a:t>julia</a:t>
            </a:r>
            <a:r>
              <a:rPr lang="en-US" altLang="zh-CN" sz="1600" b="1" dirty="0">
                <a:solidFill>
                  <a:srgbClr val="FF0000"/>
                </a:solidFill>
              </a:rPr>
              <a:t>&gt; include(“D:/</a:t>
            </a:r>
            <a:r>
              <a:rPr lang="en-US" altLang="zh-CN" sz="1600" b="1" dirty="0" err="1">
                <a:solidFill>
                  <a:srgbClr val="FF0000"/>
                </a:solidFill>
              </a:rPr>
              <a:t>sysjulia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en-US" altLang="zh-CN" sz="1600" b="1" dirty="0" err="1">
                <a:solidFill>
                  <a:srgbClr val="FF0000"/>
                </a:solidFill>
              </a:rPr>
              <a:t>syslab_results</a:t>
            </a:r>
            <a:r>
              <a:rPr lang="en-US" altLang="zh-CN" sz="1600" b="1" dirty="0">
                <a:solidFill>
                  <a:srgbClr val="FF0000"/>
                </a:solidFill>
              </a:rPr>
              <a:t>/1.jll”) 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10-element Vector{Float64}: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  75.99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  91.97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 105.71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 123.2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  ⋮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203.21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226.5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 249.63</a:t>
            </a: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2F09102C-3BF5-4E1F-8FB3-3040F205FB7C}"/>
              </a:ext>
            </a:extLst>
          </p:cNvPr>
          <p:cNvSpPr/>
          <p:nvPr/>
        </p:nvSpPr>
        <p:spPr>
          <a:xfrm>
            <a:off x="790994" y="3322399"/>
            <a:ext cx="620696" cy="183215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86A338-3E07-420F-ABF0-75E4F5F24E85}"/>
              </a:ext>
            </a:extLst>
          </p:cNvPr>
          <p:cNvSpPr txBox="1"/>
          <p:nvPr/>
        </p:nvSpPr>
        <p:spPr>
          <a:xfrm>
            <a:off x="3388841" y="2643007"/>
            <a:ext cx="555850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342900" indent="-342900">
              <a:buFont typeface="+mj-ea"/>
              <a:buAutoNum type="circleNumDbPlain" startAt="2"/>
            </a:pPr>
            <a:r>
              <a:rPr lang="en-US" altLang="zh-CN" dirty="0"/>
              <a:t>include</a:t>
            </a:r>
            <a:r>
              <a:rPr lang="zh-CN" altLang="en-US" dirty="0"/>
              <a:t>调用激活全局环境</a:t>
            </a:r>
            <a:r>
              <a:rPr lang="en-US" altLang="zh-CN" dirty="0" err="1"/>
              <a:t>sysjulia</a:t>
            </a:r>
            <a:r>
              <a:rPr lang="zh-CN" altLang="en-US" dirty="0"/>
              <a:t>工作目录，无需路径 </a:t>
            </a:r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A7624D-4AF9-4923-8BB2-15F6631E510F}"/>
              </a:ext>
            </a:extLst>
          </p:cNvPr>
          <p:cNvSpPr txBox="1"/>
          <p:nvPr/>
        </p:nvSpPr>
        <p:spPr>
          <a:xfrm>
            <a:off x="3767288" y="3563459"/>
            <a:ext cx="45146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</a:rPr>
              <a:t>julia&gt; include(“</a:t>
            </a:r>
            <a:r>
              <a:rPr lang="en-US" altLang="zh-CN" sz="1600" dirty="0">
                <a:solidFill>
                  <a:srgbClr val="002060"/>
                </a:solidFill>
              </a:rPr>
              <a:t>11</a:t>
            </a:r>
            <a:r>
              <a:rPr lang="zh-CN" altLang="en-US" sz="1600" dirty="0">
                <a:solidFill>
                  <a:srgbClr val="002060"/>
                </a:solidFill>
              </a:rPr>
              <a:t>.jl”)  </a:t>
            </a:r>
            <a:r>
              <a:rPr lang="en-US" altLang="zh-CN" sz="1600" dirty="0">
                <a:solidFill>
                  <a:srgbClr val="002060"/>
                </a:solidFill>
              </a:rPr>
              <a:t>#</a:t>
            </a:r>
            <a:r>
              <a:rPr lang="zh-CN" altLang="en-US" sz="1600" dirty="0">
                <a:solidFill>
                  <a:srgbClr val="002060"/>
                </a:solidFill>
              </a:rPr>
              <a:t>无带路径调用</a:t>
            </a: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C195A968-633F-4154-89AD-209E5EB548D7}"/>
              </a:ext>
            </a:extLst>
          </p:cNvPr>
          <p:cNvSpPr/>
          <p:nvPr/>
        </p:nvSpPr>
        <p:spPr>
          <a:xfrm>
            <a:off x="855295" y="1532323"/>
            <a:ext cx="620696" cy="402503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428173-2578-4C48-A009-4E424F23F596}"/>
              </a:ext>
            </a:extLst>
          </p:cNvPr>
          <p:cNvSpPr txBox="1"/>
          <p:nvPr/>
        </p:nvSpPr>
        <p:spPr>
          <a:xfrm>
            <a:off x="4810132" y="1118270"/>
            <a:ext cx="4106740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2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include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(“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文件名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.jl”)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D67C81-66E9-4D7D-800C-2872AF89E06E}"/>
              </a:ext>
            </a:extLst>
          </p:cNvPr>
          <p:cNvSpPr txBox="1"/>
          <p:nvPr/>
        </p:nvSpPr>
        <p:spPr>
          <a:xfrm>
            <a:off x="2387400" y="1059582"/>
            <a:ext cx="2499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调用文件格式：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154B0E21-6592-4012-B56D-4F2FEC6195F0}"/>
              </a:ext>
            </a:extLst>
          </p:cNvPr>
          <p:cNvSpPr txBox="1">
            <a:spLocks/>
          </p:cNvSpPr>
          <p:nvPr/>
        </p:nvSpPr>
        <p:spPr bwMode="auto">
          <a:xfrm>
            <a:off x="489389" y="740062"/>
            <a:ext cx="8412670" cy="30162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reflection blurRad="6350" stA="50000" endA="300" endPos="5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342900" indent="-342900" algn="dist">
              <a:lnSpc>
                <a:spcPct val="85000"/>
              </a:lnSpc>
              <a:buFont typeface="+mj-ea"/>
              <a:buAutoNum type="circleNumDbPlain"/>
            </a:pPr>
            <a:r>
              <a:rPr lang="zh-CN" altLang="en-US" sz="1600" b="1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用</a:t>
            </a:r>
            <a:r>
              <a:rPr lang="en-US" altLang="zh-CN" sz="1600" b="1" kern="120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include</a:t>
            </a:r>
            <a:r>
              <a:rPr lang="zh-CN" altLang="en-US" sz="1600" b="1" kern="120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调用</a:t>
            </a:r>
            <a:r>
              <a:rPr lang="zh-CN" altLang="en-US" sz="1600" b="1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文件夹中文件，采用字符串形式，需要指明路径和文件名</a:t>
            </a:r>
            <a:endParaRPr lang="en-US" altLang="zh-CN" sz="1600" b="1" kern="12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2C4ABD-4419-4248-8FCC-2CADDE96E32B}"/>
              </a:ext>
            </a:extLst>
          </p:cNvPr>
          <p:cNvSpPr txBox="1"/>
          <p:nvPr/>
        </p:nvSpPr>
        <p:spPr>
          <a:xfrm>
            <a:off x="3646180" y="3093056"/>
            <a:ext cx="3716727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 err="1"/>
              <a:t>julia</a:t>
            </a:r>
            <a:r>
              <a:rPr lang="en-US" altLang="zh-CN" sz="1400" dirty="0"/>
              <a:t>&gt; include(“</a:t>
            </a:r>
            <a:r>
              <a:rPr lang="zh-CN" altLang="en-US" sz="1400" dirty="0"/>
              <a:t>文件名</a:t>
            </a:r>
            <a:r>
              <a:rPr lang="en-US" altLang="zh-CN" sz="1400" dirty="0"/>
              <a:t>.</a:t>
            </a:r>
            <a:r>
              <a:rPr lang="en-US" altLang="zh-CN" sz="1400" dirty="0" err="1"/>
              <a:t>jl</a:t>
            </a:r>
            <a:r>
              <a:rPr lang="en-US" altLang="zh-CN" sz="1400" dirty="0"/>
              <a:t>”)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1663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 animBg="1"/>
      <p:bldP spid="11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84E39F5-D2E3-4960-B22B-7AE475AFE6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087" b="5201"/>
          <a:stretch/>
        </p:blipFill>
        <p:spPr>
          <a:xfrm>
            <a:off x="539551" y="1059582"/>
            <a:ext cx="3791904" cy="343559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011DF170-9674-4894-B231-811401FD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24" y="165087"/>
            <a:ext cx="8185484" cy="767284"/>
          </a:xfrm>
          <a:solidFill>
            <a:schemeClr val="bg1"/>
          </a:solidFill>
        </p:spPr>
        <p:txBody>
          <a:bodyPr/>
          <a:lstStyle/>
          <a:p>
            <a:br>
              <a:rPr lang="en-US" altLang="zh-CN" sz="2200" kern="100" dirty="0">
                <a:solidFill>
                  <a:srgbClr val="002060"/>
                </a:solidFill>
              </a:rPr>
            </a:br>
            <a:br>
              <a:rPr lang="en-US" altLang="zh-CN" sz="2200" kern="100" dirty="0">
                <a:solidFill>
                  <a:srgbClr val="002060"/>
                </a:solidFill>
              </a:rPr>
            </a:br>
            <a:r>
              <a:rPr lang="en-US" altLang="zh-CN" sz="2200" b="1" dirty="0">
                <a:latin typeface="+mn-ea"/>
              </a:rPr>
              <a:t>§ </a:t>
            </a:r>
            <a:r>
              <a:rPr lang="en-US" altLang="zh-CN" sz="2200" b="1" kern="100" dirty="0"/>
              <a:t>1.2.2 </a:t>
            </a:r>
            <a:r>
              <a:rPr lang="zh-CN" altLang="en-US" sz="2200" b="1" kern="100" dirty="0"/>
              <a:t>资源管理器文件管理</a:t>
            </a:r>
            <a:r>
              <a:rPr lang="en-US" altLang="zh-CN" sz="2200" kern="0" dirty="0">
                <a:solidFill>
                  <a:srgbClr val="FF0000"/>
                </a:solidFill>
              </a:rPr>
              <a:t>——</a:t>
            </a:r>
            <a:r>
              <a:rPr lang="zh-CN" altLang="en-US" sz="2200" dirty="0">
                <a:solidFill>
                  <a:srgbClr val="FF0000"/>
                </a:solidFill>
              </a:rPr>
              <a:t>当前目录和非当前目录文件调用</a:t>
            </a:r>
            <a:br>
              <a:rPr lang="en-US" altLang="zh-CN" sz="2200" dirty="0">
                <a:solidFill>
                  <a:srgbClr val="FF0000"/>
                </a:solidFill>
              </a:rPr>
            </a:b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E2BB0F-39CE-4CBE-A065-8EDA173D4A8C}"/>
              </a:ext>
            </a:extLst>
          </p:cNvPr>
          <p:cNvSpPr txBox="1"/>
          <p:nvPr/>
        </p:nvSpPr>
        <p:spPr>
          <a:xfrm>
            <a:off x="598184" y="3562490"/>
            <a:ext cx="3674637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1400" b="0" dirty="0"/>
              <a:t>#</a:t>
            </a:r>
            <a:r>
              <a:rPr lang="zh-CN" altLang="en-US" sz="1400" b="0" dirty="0"/>
              <a:t>资源管理器中子文件可用相对路径</a:t>
            </a:r>
            <a:endParaRPr lang="en-US" altLang="zh-CN" sz="1400" b="0" dirty="0"/>
          </a:p>
          <a:p>
            <a:r>
              <a:rPr lang="zh-CN" altLang="en-US" sz="1400" b="0" dirty="0"/>
              <a:t>julia&gt; include(“matlabre/jbs.jl”)</a:t>
            </a:r>
          </a:p>
          <a:p>
            <a:r>
              <a:rPr lang="zh-CN" altLang="en-US" sz="1400" b="0" dirty="0"/>
              <a:t>结果([-0.18312282725866116, 2.5486713896633764],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9E5708F2-9E54-4A70-874B-2E4A44576768}"/>
              </a:ext>
            </a:extLst>
          </p:cNvPr>
          <p:cNvSpPr/>
          <p:nvPr/>
        </p:nvSpPr>
        <p:spPr>
          <a:xfrm>
            <a:off x="1709366" y="3238042"/>
            <a:ext cx="918418" cy="183215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2AA512D1-15C6-4D2C-AA17-839522E12ED1}"/>
              </a:ext>
            </a:extLst>
          </p:cNvPr>
          <p:cNvSpPr/>
          <p:nvPr/>
        </p:nvSpPr>
        <p:spPr>
          <a:xfrm>
            <a:off x="926007" y="2339311"/>
            <a:ext cx="783359" cy="183215"/>
          </a:xfrm>
          <a:prstGeom prst="wedgeRoundRectCallout">
            <a:avLst>
              <a:gd name="adj1" fmla="val 69213"/>
              <a:gd name="adj2" fmla="val 43434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7C2E20E-1948-49FB-B034-BC0703ADF7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508" b="6647"/>
          <a:stretch/>
        </p:blipFill>
        <p:spPr>
          <a:xfrm>
            <a:off x="4812548" y="1059583"/>
            <a:ext cx="4172660" cy="350661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B381C58-08E8-4B13-ADF6-7B0469D9E87A}"/>
              </a:ext>
            </a:extLst>
          </p:cNvPr>
          <p:cNvSpPr txBox="1"/>
          <p:nvPr/>
        </p:nvSpPr>
        <p:spPr>
          <a:xfrm>
            <a:off x="5195395" y="3238042"/>
            <a:ext cx="3461671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1400" dirty="0"/>
              <a:t>#</a:t>
            </a:r>
            <a:r>
              <a:rPr lang="zh-CN" altLang="en-US" sz="1400" dirty="0"/>
              <a:t>调用当前目录子文件夹的文件</a:t>
            </a:r>
            <a:r>
              <a:rPr lang="en-US" altLang="zh-CN" sz="1400" dirty="0" err="1"/>
              <a:t>jbs.jl</a:t>
            </a:r>
            <a:endParaRPr lang="en-US" altLang="zh-CN" sz="1400" dirty="0"/>
          </a:p>
          <a:p>
            <a:r>
              <a:rPr lang="zh-CN" altLang="en-US" sz="1400" dirty="0"/>
              <a:t>julia&gt; include("jbs.jl")</a:t>
            </a:r>
          </a:p>
          <a:p>
            <a:r>
              <a:rPr lang="zh-CN" altLang="en-US" sz="1400" dirty="0"/>
              <a:t>结果([-0.18312282725866116, 2.5486713896633764</a:t>
            </a:r>
            <a:r>
              <a:rPr lang="en-US" altLang="zh-CN" sz="1400" dirty="0"/>
              <a:t>]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9911B7-1876-4EC1-B037-8F9589966381}"/>
              </a:ext>
            </a:extLst>
          </p:cNvPr>
          <p:cNvSpPr txBox="1"/>
          <p:nvPr/>
        </p:nvSpPr>
        <p:spPr>
          <a:xfrm>
            <a:off x="560261" y="1106893"/>
            <a:ext cx="3534802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zh-CN" sz="16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include</a:t>
            </a:r>
            <a:r>
              <a:rPr lang="zh-CN" altLang="en-US" sz="16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非当前工作目录</a:t>
            </a:r>
            <a:r>
              <a:rPr lang="zh-CN" altLang="en-US" sz="16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的文件的文件</a:t>
            </a:r>
            <a:r>
              <a:rPr lang="en-US" altLang="zh-CN" sz="16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必须带路径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46E7AA-B803-4BDE-9E5D-55EA3AC8D551}"/>
              </a:ext>
            </a:extLst>
          </p:cNvPr>
          <p:cNvSpPr txBox="1"/>
          <p:nvPr/>
        </p:nvSpPr>
        <p:spPr>
          <a:xfrm>
            <a:off x="4867508" y="1125502"/>
            <a:ext cx="4029657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/>
              <a:defRPr sz="12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buFont typeface="+mj-ea"/>
              <a:buAutoNum type="circleNumDbPlain" startAt="2"/>
            </a:pPr>
            <a:r>
              <a:rPr lang="zh-CN" altLang="en-US" sz="1600" dirty="0">
                <a:solidFill>
                  <a:srgbClr val="00B0F0"/>
                </a:solidFill>
              </a:rPr>
              <a:t>设置子文件夹为</a:t>
            </a:r>
            <a:r>
              <a:rPr lang="zh-CN" altLang="en-US" sz="1600" dirty="0">
                <a:solidFill>
                  <a:srgbClr val="FF0000"/>
                </a:solidFill>
              </a:rPr>
              <a:t>当前工作目录后，</a:t>
            </a:r>
            <a:r>
              <a:rPr lang="en-US" altLang="zh-CN" sz="1600" dirty="0">
                <a:solidFill>
                  <a:srgbClr val="00B0F0"/>
                </a:solidFill>
              </a:rPr>
              <a:t>include</a:t>
            </a:r>
            <a:r>
              <a:rPr lang="zh-CN" altLang="en-US" sz="1600" dirty="0">
                <a:solidFill>
                  <a:srgbClr val="00B0F0"/>
                </a:solidFill>
              </a:rPr>
              <a:t>调用子文件夹文件可不带路径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63D122AA-62F7-4F78-9F58-9FAB5CDD9C6D}"/>
              </a:ext>
            </a:extLst>
          </p:cNvPr>
          <p:cNvSpPr/>
          <p:nvPr/>
        </p:nvSpPr>
        <p:spPr>
          <a:xfrm>
            <a:off x="5465814" y="2294708"/>
            <a:ext cx="864096" cy="183215"/>
          </a:xfrm>
          <a:prstGeom prst="wedgeRoundRectCallout">
            <a:avLst>
              <a:gd name="adj1" fmla="val 99529"/>
              <a:gd name="adj2" fmla="val 11122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238D2E44-CB67-4C19-97C8-5A25468EDA00}"/>
              </a:ext>
            </a:extLst>
          </p:cNvPr>
          <p:cNvSpPr/>
          <p:nvPr/>
        </p:nvSpPr>
        <p:spPr>
          <a:xfrm>
            <a:off x="6586809" y="4403570"/>
            <a:ext cx="2070257" cy="203733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567F71B-A73F-4605-8A09-E024DFB6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97" y="788856"/>
            <a:ext cx="8543586" cy="270727"/>
          </a:xfrm>
          <a:solidFill>
            <a:srgbClr val="0070C0"/>
          </a:solidFill>
          <a:effectLst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marL="0" indent="0" algn="dist">
              <a:lnSpc>
                <a:spcPct val="85000"/>
              </a:lnSpc>
              <a:buNone/>
            </a:pPr>
            <a:r>
              <a:rPr lang="zh-CN" altLang="en-US" sz="140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文件保存在当前工作目录文件夹时，</a:t>
            </a:r>
            <a:r>
              <a:rPr lang="en-US" altLang="zh-CN" sz="140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include</a:t>
            </a:r>
            <a:r>
              <a:rPr lang="zh-CN" altLang="en-US" sz="140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调用当前目录下的文件，不用带路径</a:t>
            </a:r>
            <a:endParaRPr lang="en-US" altLang="zh-CN" sz="1400" kern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F2AA6F-B9D1-4017-9DE7-199865F055AE}"/>
              </a:ext>
            </a:extLst>
          </p:cNvPr>
          <p:cNvSpPr txBox="1"/>
          <p:nvPr/>
        </p:nvSpPr>
        <p:spPr>
          <a:xfrm>
            <a:off x="498197" y="1736501"/>
            <a:ext cx="40738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>
                <a:solidFill>
                  <a:srgbClr val="FFFF00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julia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&gt; include(“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路径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/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文件名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.jl”)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highlight>
                <a:srgbClr val="003B76"/>
              </a:highligh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68D211-BAA0-4E53-AB00-B38DC5BFC2FD}"/>
              </a:ext>
            </a:extLst>
          </p:cNvPr>
          <p:cNvSpPr txBox="1"/>
          <p:nvPr/>
        </p:nvSpPr>
        <p:spPr>
          <a:xfrm>
            <a:off x="4892466" y="1751381"/>
            <a:ext cx="3191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FFFF00"/>
                </a:solidFill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julia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&gt; include(“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文件名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.</a:t>
            </a:r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jl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highlight>
                  <a:srgbClr val="003B76"/>
                </a:highlight>
              </a:rPr>
              <a:t>”)</a:t>
            </a:r>
            <a:endParaRPr lang="zh-CN" altLang="en-US" dirty="0">
              <a:solidFill>
                <a:schemeClr val="bg1">
                  <a:lumMod val="95000"/>
                </a:schemeClr>
              </a:solidFill>
              <a:highlight>
                <a:srgbClr val="003B76"/>
              </a:highlight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803CC4-D6D8-4BBC-9368-F1DD8ACE4553}"/>
              </a:ext>
            </a:extLst>
          </p:cNvPr>
          <p:cNvSpPr txBox="1"/>
          <p:nvPr/>
        </p:nvSpPr>
        <p:spPr>
          <a:xfrm>
            <a:off x="1572553" y="4676605"/>
            <a:ext cx="746923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建议文件最好保存在当前目录，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调用文件时无需添加路径，否则必加路径</a:t>
            </a:r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BA427479-2028-49F6-AF2F-904C4B13D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90" y="4698025"/>
            <a:ext cx="1076664" cy="338554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16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145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18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>
            <a:extLst>
              <a:ext uri="{FF2B5EF4-FFF2-40B4-BE49-F238E27FC236}">
                <a16:creationId xmlns:a16="http://schemas.microsoft.com/office/drawing/2014/main" id="{28A78A0D-90E7-48A3-96AD-7B592B6645B0}"/>
              </a:ext>
            </a:extLst>
          </p:cNvPr>
          <p:cNvSpPr txBox="1"/>
          <p:nvPr/>
        </p:nvSpPr>
        <p:spPr>
          <a:xfrm>
            <a:off x="4047465" y="2090443"/>
            <a:ext cx="5080576" cy="2333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D5774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注册库界面布局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三部分：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过滤框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根据输入内容，对表格树进行显示内容过滤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hangingPunct="0">
              <a:lnSpc>
                <a:spcPct val="125000"/>
              </a:lnSpc>
            </a:pP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工具栏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按钮：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hangingPunct="0">
              <a:lnSpc>
                <a:spcPct val="125000"/>
              </a:lnSpc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更新注册表，刷新面板，添加注册包，选项设置等按钮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lvl="0" eaLnBrk="0" hangingPunct="0">
              <a:lnSpc>
                <a:spcPct val="125000"/>
              </a:lnSpc>
            </a:pP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表格树展示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区：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注册库列表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hangingPunct="0">
              <a:lnSpc>
                <a:spcPct val="125000"/>
              </a:lnSpc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用于对注册包及函数的表格树展示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默认显示已安装库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1545055-1210-46E1-89A7-F1F8967A81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782" r="64962" b="6601"/>
          <a:stretch/>
        </p:blipFill>
        <p:spPr>
          <a:xfrm>
            <a:off x="233686" y="1125324"/>
            <a:ext cx="1714783" cy="346265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1F53D48D-38E7-4EA3-80FB-94D538D47E6B}"/>
              </a:ext>
            </a:extLst>
          </p:cNvPr>
          <p:cNvSpPr txBox="1">
            <a:spLocks/>
          </p:cNvSpPr>
          <p:nvPr/>
        </p:nvSpPr>
        <p:spPr bwMode="auto">
          <a:xfrm>
            <a:off x="1509816" y="141276"/>
            <a:ext cx="590760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00" dirty="0"/>
              <a:t>§1.2.3 </a:t>
            </a:r>
            <a:r>
              <a:rPr lang="zh-CN" altLang="en-US" sz="2800" kern="100" dirty="0"/>
              <a:t>工具箱</a:t>
            </a:r>
            <a:r>
              <a:rPr lang="en-US" altLang="zh-CN" sz="2800" kern="0" dirty="0">
                <a:solidFill>
                  <a:srgbClr val="FF0000"/>
                </a:solidFill>
                <a:cs typeface="+mn-cs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cs typeface="+mn-cs"/>
              </a:rPr>
              <a:t>包管理器</a:t>
            </a:r>
            <a:r>
              <a:rPr lang="en-US" altLang="zh-CN" sz="2800" kern="0" dirty="0">
                <a:solidFill>
                  <a:srgbClr val="FF0000"/>
                </a:solidFill>
                <a:cs typeface="+mn-cs"/>
              </a:rPr>
              <a:t>(Package)</a:t>
            </a:r>
            <a:endParaRPr lang="zh-CN" altLang="en-US" sz="2800" kern="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2FB21CEC-BB6B-40B2-B40C-A1FA40AB2367}"/>
              </a:ext>
            </a:extLst>
          </p:cNvPr>
          <p:cNvSpPr/>
          <p:nvPr/>
        </p:nvSpPr>
        <p:spPr>
          <a:xfrm>
            <a:off x="385149" y="3319992"/>
            <a:ext cx="298419" cy="236927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3DCD61C3-9DDE-49A6-B0B4-C6AD297719FA}"/>
              </a:ext>
            </a:extLst>
          </p:cNvPr>
          <p:cNvSpPr/>
          <p:nvPr/>
        </p:nvSpPr>
        <p:spPr>
          <a:xfrm>
            <a:off x="394004" y="1508747"/>
            <a:ext cx="298419" cy="218999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3B43EA-C88C-4478-81BE-8CD77F808A9B}"/>
              </a:ext>
            </a:extLst>
          </p:cNvPr>
          <p:cNvSpPr txBox="1"/>
          <p:nvPr/>
        </p:nvSpPr>
        <p:spPr>
          <a:xfrm>
            <a:off x="184184" y="748866"/>
            <a:ext cx="8852312" cy="320049"/>
          </a:xfrm>
          <a:prstGeom prst="rect">
            <a:avLst/>
          </a:prstGeom>
          <a:solidFill>
            <a:srgbClr val="0070C0"/>
          </a:solidFill>
          <a:effectLst>
            <a:reflection blurRad="6350" stA="50000" endA="300" endPos="55000" dir="5400000" sy="-100000" algn="bl" rotWithShape="0"/>
          </a:effectLst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包管理器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提供包创建、开发、安装、卸载、版本切换、依赖设置等功能，支持对开发包和注册包进行分类管理</a:t>
            </a:r>
            <a:endParaRPr lang="zh-CN" altLang="en-US" sz="1400" dirty="0">
              <a:solidFill>
                <a:schemeClr val="bg1"/>
              </a:solidFill>
            </a:endParaRPr>
          </a:p>
          <a:p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234C398-89E5-4F03-9DA7-5F4396F6A3C0}"/>
              </a:ext>
            </a:extLst>
          </p:cNvPr>
          <p:cNvSpPr txBox="1"/>
          <p:nvPr/>
        </p:nvSpPr>
        <p:spPr>
          <a:xfrm>
            <a:off x="2108787" y="1478010"/>
            <a:ext cx="6304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注册库：提供已注册并提交到服务器管理的 </a:t>
            </a:r>
            <a:r>
              <a:rPr lang="en-US" altLang="zh-CN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Julia </a:t>
            </a:r>
            <a:r>
              <a:rPr lang="zh-CN" altLang="en-US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包及管理</a:t>
            </a:r>
            <a:endParaRPr lang="en-US" altLang="zh-CN" sz="16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</a:t>
            </a:r>
            <a:r>
              <a:rPr lang="zh-CN" altLang="en-US" sz="1600" b="0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库：</a:t>
            </a:r>
            <a:r>
              <a:rPr lang="zh-CN" altLang="en-US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提供未注册、未提交到服务器的本地</a:t>
            </a:r>
            <a:r>
              <a:rPr lang="en-US" altLang="zh-CN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Julia</a:t>
            </a:r>
            <a:r>
              <a:rPr lang="zh-CN" altLang="en-US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包及</a:t>
            </a:r>
            <a:r>
              <a:rPr lang="zh-CN" altLang="en-US" sz="1600" b="0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管理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E8B9D64-F697-49C3-BD7D-6876DE3D1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027" y="2179889"/>
            <a:ext cx="1873487" cy="2358183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FF4F87D-B5AF-4A73-9E2D-97AAED8F16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562" t="74717" r="61813" b="19201"/>
          <a:stretch/>
        </p:blipFill>
        <p:spPr>
          <a:xfrm>
            <a:off x="4427513" y="1094971"/>
            <a:ext cx="2160240" cy="312832"/>
          </a:xfrm>
          <a:prstGeom prst="rect">
            <a:avLst/>
          </a:prstGeom>
        </p:spPr>
      </p:pic>
      <p:sp>
        <p:nvSpPr>
          <p:cNvPr id="35" name="立方体 34">
            <a:extLst>
              <a:ext uri="{FF2B5EF4-FFF2-40B4-BE49-F238E27FC236}">
                <a16:creationId xmlns:a16="http://schemas.microsoft.com/office/drawing/2014/main" id="{1758E599-EF72-412B-9C3A-02361BB1CF7D}"/>
              </a:ext>
            </a:extLst>
          </p:cNvPr>
          <p:cNvSpPr/>
          <p:nvPr/>
        </p:nvSpPr>
        <p:spPr bwMode="auto">
          <a:xfrm>
            <a:off x="2191032" y="1209685"/>
            <a:ext cx="216023" cy="219229"/>
          </a:xfrm>
          <a:prstGeom prst="cub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2D5A6DB-51AD-493F-8D7A-43B1692AC3FF}"/>
              </a:ext>
            </a:extLst>
          </p:cNvPr>
          <p:cNvSpPr txBox="1"/>
          <p:nvPr/>
        </p:nvSpPr>
        <p:spPr>
          <a:xfrm>
            <a:off x="2434830" y="1112015"/>
            <a:ext cx="2028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代表工具箱和模块</a:t>
            </a:r>
            <a:endParaRPr lang="en-US" altLang="zh-CN" sz="16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A93525-24F9-41E5-9647-EB2C62F56CAC}"/>
              </a:ext>
            </a:extLst>
          </p:cNvPr>
          <p:cNvSpPr txBox="1"/>
          <p:nvPr/>
        </p:nvSpPr>
        <p:spPr>
          <a:xfrm>
            <a:off x="7956376" y="1148018"/>
            <a:ext cx="1080120" cy="870170"/>
          </a:xfrm>
          <a:prstGeom prst="rect">
            <a:avLst/>
          </a:prstGeom>
          <a:solidFill>
            <a:srgbClr val="0070C0"/>
          </a:solidFill>
          <a:effectLst/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l"/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通过安装新注册包，可以有更丰富工具箱使用</a:t>
            </a:r>
            <a:endParaRPr lang="zh-CN" altLang="en-US" sz="1400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0190F0-B92D-48DF-AA12-1EA0070BD17C}"/>
              </a:ext>
            </a:extLst>
          </p:cNvPr>
          <p:cNvSpPr txBox="1"/>
          <p:nvPr/>
        </p:nvSpPr>
        <p:spPr>
          <a:xfrm>
            <a:off x="6618878" y="1059582"/>
            <a:ext cx="197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同元基础库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182067-C133-4958-A9C8-D959D8C84D5F}"/>
              </a:ext>
            </a:extLst>
          </p:cNvPr>
          <p:cNvSpPr txBox="1"/>
          <p:nvPr/>
        </p:nvSpPr>
        <p:spPr>
          <a:xfrm>
            <a:off x="580076" y="1211550"/>
            <a:ext cx="1579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两种库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E36093-72BB-436B-BEB5-0FD77CBAE310}"/>
              </a:ext>
            </a:extLst>
          </p:cNvPr>
          <p:cNvSpPr txBox="1"/>
          <p:nvPr/>
        </p:nvSpPr>
        <p:spPr>
          <a:xfrm>
            <a:off x="139626" y="4464029"/>
            <a:ext cx="8943190" cy="275332"/>
          </a:xfrm>
          <a:prstGeom prst="rect">
            <a:avLst/>
          </a:prstGeom>
          <a:solidFill>
            <a:srgbClr val="0070C0"/>
          </a:solidFill>
          <a:effectLst>
            <a:reflection blurRad="6350" stA="50000" endA="300" endPos="55000" dir="5400000" sy="-100000" algn="bl" rotWithShape="0"/>
          </a:effectLst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4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dirty="0"/>
              <a:t>初始包管理器面板默认为空面板，单击“刷新面板”，将已经安装好的包添加到包管理器面板中</a:t>
            </a:r>
          </a:p>
        </p:txBody>
      </p:sp>
    </p:spTree>
    <p:extLst>
      <p:ext uri="{BB962C8B-B14F-4D97-AF65-F5344CB8AC3E}">
        <p14:creationId xmlns:p14="http://schemas.microsoft.com/office/powerpoint/2010/main" val="288288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B9C78724-D62C-4FD4-91B9-E99631F1D7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18" r="64099"/>
          <a:stretch/>
        </p:blipFill>
        <p:spPr bwMode="auto">
          <a:xfrm>
            <a:off x="325698" y="1307226"/>
            <a:ext cx="2895352" cy="324403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7963FB3-558D-4236-9BC7-28120D42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276" y="0"/>
            <a:ext cx="7667625" cy="633636"/>
          </a:xfrm>
        </p:spPr>
        <p:txBody>
          <a:bodyPr/>
          <a:lstStyle/>
          <a:p>
            <a:b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D5774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D5774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538F35E-2ED6-44CA-BC91-808DDC050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1" t="488"/>
          <a:stretch/>
        </p:blipFill>
        <p:spPr bwMode="auto">
          <a:xfrm>
            <a:off x="3358159" y="1419622"/>
            <a:ext cx="4779146" cy="32172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964A60E2-BC49-427C-B66B-AF7AECF114F2}"/>
              </a:ext>
            </a:extLst>
          </p:cNvPr>
          <p:cNvSpPr txBox="1">
            <a:spLocks/>
          </p:cNvSpPr>
          <p:nvPr/>
        </p:nvSpPr>
        <p:spPr bwMode="auto">
          <a:xfrm>
            <a:off x="1235890" y="163802"/>
            <a:ext cx="590760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00" dirty="0"/>
              <a:t>§1.2.3  </a:t>
            </a:r>
            <a:r>
              <a:rPr lang="zh-CN" altLang="en-US" sz="2800" kern="100" dirty="0"/>
              <a:t>工具箱管理</a:t>
            </a:r>
            <a:r>
              <a:rPr lang="en-US" altLang="zh-CN" sz="2800" kern="0" dirty="0">
                <a:solidFill>
                  <a:srgbClr val="FF0000"/>
                </a:solidFill>
                <a:cs typeface="+mn-cs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cs typeface="+mn-cs"/>
              </a:rPr>
              <a:t>注册包添加和安装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F2344F-F713-4FF0-A650-25F627C2209E}"/>
              </a:ext>
            </a:extLst>
          </p:cNvPr>
          <p:cNvSpPr txBox="1"/>
          <p:nvPr/>
        </p:nvSpPr>
        <p:spPr>
          <a:xfrm>
            <a:off x="834969" y="1757354"/>
            <a:ext cx="1675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添加注册包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54E6521-19C0-439E-BD91-B51F875071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52" t="29889" r="71437" b="14529"/>
          <a:stretch/>
        </p:blipFill>
        <p:spPr>
          <a:xfrm>
            <a:off x="5003377" y="2024764"/>
            <a:ext cx="1612172" cy="18712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AAF2A4D-32D0-42B1-9F52-D821E3113130}"/>
              </a:ext>
            </a:extLst>
          </p:cNvPr>
          <p:cNvSpPr txBox="1"/>
          <p:nvPr/>
        </p:nvSpPr>
        <p:spPr>
          <a:xfrm>
            <a:off x="196921" y="807081"/>
            <a:ext cx="8892480" cy="239293"/>
          </a:xfrm>
          <a:prstGeom prst="rect">
            <a:avLst/>
          </a:prstGeom>
          <a:solidFill>
            <a:srgbClr val="0070C0"/>
          </a:solidFill>
          <a:effectLst>
            <a:reflection blurRad="6350" stA="50000" endA="300" endPos="55000" dir="5400000" sy="-100000" algn="bl" rotWithShape="0"/>
          </a:effectLst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4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zh-CN" dirty="0"/>
              <a:t>单击添加注册包，从弹出下拉列表中选择需要添加</a:t>
            </a:r>
            <a:r>
              <a:rPr lang="zh-CN" altLang="en-US" dirty="0"/>
              <a:t>的</a:t>
            </a:r>
            <a:r>
              <a:rPr lang="zh-CN" altLang="zh-CN" dirty="0"/>
              <a:t>包，将该包添加到注册库</a:t>
            </a:r>
            <a:r>
              <a:rPr lang="zh-CN" altLang="en-US" dirty="0"/>
              <a:t>后再安装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B188FC-791F-40CA-93CB-0957C102E955}"/>
              </a:ext>
            </a:extLst>
          </p:cNvPr>
          <p:cNvSpPr txBox="1"/>
          <p:nvPr/>
        </p:nvSpPr>
        <p:spPr>
          <a:xfrm>
            <a:off x="856723" y="1173400"/>
            <a:ext cx="29794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添加注册包</a:t>
            </a:r>
            <a:r>
              <a:rPr lang="zh-CN" altLang="zh-CN" dirty="0">
                <a:solidFill>
                  <a:schemeClr val="bg1"/>
                </a:solidFill>
                <a:highlight>
                  <a:srgbClr val="003B76"/>
                </a:highlight>
                <a:latin typeface="Arial Unicode MS"/>
                <a:ea typeface="source-code-pro"/>
              </a:rPr>
              <a:t>REPLTreeViews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3B76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3B76"/>
              </a:highlight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31056AE-EEAB-47A2-BA14-977BFDDD60CF}"/>
              </a:ext>
            </a:extLst>
          </p:cNvPr>
          <p:cNvSpPr txBox="1"/>
          <p:nvPr/>
        </p:nvSpPr>
        <p:spPr>
          <a:xfrm>
            <a:off x="4428484" y="1481203"/>
            <a:ext cx="3900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zh-CN" altLang="en-US" sz="1400" b="1" dirty="0"/>
              <a:t>从</a:t>
            </a:r>
            <a:r>
              <a:rPr lang="zh-CN" altLang="zh-CN" sz="1400" b="1" dirty="0"/>
              <a:t>对话框</a:t>
            </a:r>
            <a:r>
              <a:rPr lang="zh-CN" altLang="en-US" sz="1400" b="1" dirty="0"/>
              <a:t>选择需要安装包，</a:t>
            </a:r>
            <a:endParaRPr lang="en-US" altLang="zh-CN" sz="1400" b="1" dirty="0"/>
          </a:p>
          <a:p>
            <a:r>
              <a:rPr lang="zh-CN" altLang="zh-CN" sz="1400" b="1" dirty="0"/>
              <a:t>对话框下拉列表包含注册表中的所有包</a:t>
            </a:r>
            <a:endParaRPr lang="zh-CN" altLang="en-US" sz="1400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0E8675-5F2E-4269-B719-7CAC4699D545}"/>
              </a:ext>
            </a:extLst>
          </p:cNvPr>
          <p:cNvSpPr txBox="1"/>
          <p:nvPr/>
        </p:nvSpPr>
        <p:spPr>
          <a:xfrm>
            <a:off x="4628964" y="3133941"/>
            <a:ext cx="236099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2"/>
              <a:defRPr kumimoji="0" sz="16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+mj-ea"/>
              <a:buAutoNum type="circleNumDbPlain" startAt="3"/>
            </a:pPr>
            <a:r>
              <a:rPr lang="zh-CN" altLang="en-US" b="1" dirty="0"/>
              <a:t>该包添加到注册库包</a:t>
            </a: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F2B98AEA-F142-404F-8D54-BE466CD4B6E5}"/>
              </a:ext>
            </a:extLst>
          </p:cNvPr>
          <p:cNvSpPr/>
          <p:nvPr/>
        </p:nvSpPr>
        <p:spPr>
          <a:xfrm>
            <a:off x="5220072" y="3688920"/>
            <a:ext cx="732202" cy="169371"/>
          </a:xfrm>
          <a:prstGeom prst="wedgeRoundRectCallout">
            <a:avLst>
              <a:gd name="adj1" fmla="val 1906"/>
              <a:gd name="adj2" fmla="val -21113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E75D8BF-2E69-4A99-9900-E28AC8BA5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98" t="15426" r="3770" b="36795"/>
          <a:stretch/>
        </p:blipFill>
        <p:spPr bwMode="auto">
          <a:xfrm>
            <a:off x="1854072" y="2199621"/>
            <a:ext cx="1253136" cy="12807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A1972C4-AD0F-4AA7-8918-B9A13AE160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63" t="27719" r="59995" b="13869"/>
          <a:stretch/>
        </p:blipFill>
        <p:spPr>
          <a:xfrm>
            <a:off x="6958969" y="2394420"/>
            <a:ext cx="2005519" cy="2242411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2C375974-57B6-4E71-A59B-5FCEBE37EC6B}"/>
              </a:ext>
            </a:extLst>
          </p:cNvPr>
          <p:cNvSpPr/>
          <p:nvPr/>
        </p:nvSpPr>
        <p:spPr>
          <a:xfrm>
            <a:off x="7715557" y="3515625"/>
            <a:ext cx="593458" cy="188872"/>
          </a:xfrm>
          <a:prstGeom prst="wedgeRoundRectCallout">
            <a:avLst>
              <a:gd name="adj1" fmla="val -47520"/>
              <a:gd name="adj2" fmla="val -1033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对话气泡: 圆角矩形 28">
            <a:extLst>
              <a:ext uri="{FF2B5EF4-FFF2-40B4-BE49-F238E27FC236}">
                <a16:creationId xmlns:a16="http://schemas.microsoft.com/office/drawing/2014/main" id="{4C113CB8-F1DA-4BBE-98CC-8EF42D491AF4}"/>
              </a:ext>
            </a:extLst>
          </p:cNvPr>
          <p:cNvSpPr/>
          <p:nvPr/>
        </p:nvSpPr>
        <p:spPr>
          <a:xfrm>
            <a:off x="7143495" y="4218015"/>
            <a:ext cx="452841" cy="169371"/>
          </a:xfrm>
          <a:prstGeom prst="wedgeRoundRectCallout">
            <a:avLst>
              <a:gd name="adj1" fmla="val 114984"/>
              <a:gd name="adj2" fmla="val -34610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70020B-177D-47C0-8D5A-AFAB805B6DEB}"/>
              </a:ext>
            </a:extLst>
          </p:cNvPr>
          <p:cNvSpPr txBox="1"/>
          <p:nvPr/>
        </p:nvSpPr>
        <p:spPr>
          <a:xfrm>
            <a:off x="6751200" y="2377671"/>
            <a:ext cx="236099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2"/>
              <a:defRPr kumimoji="0" sz="16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+mj-ea"/>
              <a:buAutoNum type="circleNumDbPlain" startAt="4"/>
            </a:pPr>
            <a:r>
              <a:rPr lang="zh-CN" altLang="en-US" b="1" dirty="0"/>
              <a:t>选包，右击选择安装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492C62-D4AB-4094-9924-BCF1E46FCB27}"/>
              </a:ext>
            </a:extLst>
          </p:cNvPr>
          <p:cNvSpPr txBox="1"/>
          <p:nvPr/>
        </p:nvSpPr>
        <p:spPr>
          <a:xfrm>
            <a:off x="2619198" y="4298277"/>
            <a:ext cx="393504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4"/>
              <a:defRPr kumimoji="0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+mj-ea"/>
              <a:buAutoNum type="circleNumDbPlain" startAt="5"/>
            </a:pPr>
            <a:r>
              <a:rPr lang="zh-CN" altLang="en-US" dirty="0"/>
              <a:t>安装完成后提示信息安装注册包成功</a:t>
            </a:r>
          </a:p>
        </p:txBody>
      </p:sp>
    </p:spTree>
    <p:extLst>
      <p:ext uri="{BB962C8B-B14F-4D97-AF65-F5344CB8AC3E}">
        <p14:creationId xmlns:p14="http://schemas.microsoft.com/office/powerpoint/2010/main" val="3361352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EC69B2A-18AE-4FD1-A53E-6D9BEC184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37" t="45222" r="35047" b="31800"/>
          <a:stretch/>
        </p:blipFill>
        <p:spPr>
          <a:xfrm>
            <a:off x="467544" y="987574"/>
            <a:ext cx="8280920" cy="28685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B0CAF07-662D-4AFA-9E41-22CDEDB4DDB5}"/>
              </a:ext>
            </a:extLst>
          </p:cNvPr>
          <p:cNvSpPr txBox="1"/>
          <p:nvPr/>
        </p:nvSpPr>
        <p:spPr>
          <a:xfrm>
            <a:off x="380240" y="817517"/>
            <a:ext cx="846449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900" dirty="0">
                <a:solidFill>
                  <a:schemeClr val="bg1"/>
                </a:solidFill>
                <a:highlight>
                  <a:srgbClr val="003B76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命令行窗口输入“</a:t>
            </a:r>
            <a:r>
              <a:rPr lang="en-US" altLang="zh-CN" sz="1900" dirty="0">
                <a:solidFill>
                  <a:schemeClr val="bg1"/>
                </a:solidFill>
                <a:highlight>
                  <a:srgbClr val="003B76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1900" dirty="0">
                <a:solidFill>
                  <a:schemeClr val="bg1"/>
                </a:solidFill>
                <a:highlight>
                  <a:srgbClr val="003B76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” 回车，进入包管理模式</a:t>
            </a:r>
            <a:r>
              <a:rPr lang="en-US" altLang="zh-CN" sz="19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(@v1.9)pkg&gt;</a:t>
            </a:r>
            <a:r>
              <a:rPr lang="zh-CN" altLang="en-US" sz="19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1900" dirty="0">
                <a:solidFill>
                  <a:schemeClr val="bg1"/>
                </a:solidFill>
                <a:highlight>
                  <a:srgbClr val="003B76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对包安装操作</a:t>
            </a:r>
            <a:r>
              <a:rPr lang="en-US" altLang="zh-CN" sz="1900" dirty="0">
                <a:solidFill>
                  <a:schemeClr val="bg1"/>
                </a:solidFill>
                <a:highlight>
                  <a:srgbClr val="003B76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1900" dirty="0">
              <a:solidFill>
                <a:schemeClr val="bg1"/>
              </a:solidFill>
              <a:highlight>
                <a:srgbClr val="003B76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688C78-3569-4E66-BB27-B937AB85AF95}"/>
              </a:ext>
            </a:extLst>
          </p:cNvPr>
          <p:cNvSpPr txBox="1"/>
          <p:nvPr/>
        </p:nvSpPr>
        <p:spPr>
          <a:xfrm>
            <a:off x="467544" y="3917619"/>
            <a:ext cx="833670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退出pkg模式                                                           退格键Backspace或Ctrl + C)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147A25-028D-46A1-8FC1-BEAC53547678}"/>
              </a:ext>
            </a:extLst>
          </p:cNvPr>
          <p:cNvSpPr txBox="1"/>
          <p:nvPr/>
        </p:nvSpPr>
        <p:spPr>
          <a:xfrm>
            <a:off x="1187624" y="1289111"/>
            <a:ext cx="2885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在pkg模式进行包管理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D29A9CC-DF91-455C-DA8E-985839564C17}"/>
              </a:ext>
            </a:extLst>
          </p:cNvPr>
          <p:cNvSpPr/>
          <p:nvPr/>
        </p:nvSpPr>
        <p:spPr bwMode="auto">
          <a:xfrm>
            <a:off x="5436096" y="1871657"/>
            <a:ext cx="504056" cy="278348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4DCDBC1-90FB-D318-45E6-7BB155DEBD7B}"/>
              </a:ext>
            </a:extLst>
          </p:cNvPr>
          <p:cNvSpPr/>
          <p:nvPr/>
        </p:nvSpPr>
        <p:spPr bwMode="auto">
          <a:xfrm>
            <a:off x="5489007" y="2390009"/>
            <a:ext cx="332420" cy="278348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6A4AFA5-0DA7-D9ED-6AA0-C18FBEBFDCD2}"/>
              </a:ext>
            </a:extLst>
          </p:cNvPr>
          <p:cNvSpPr/>
          <p:nvPr/>
        </p:nvSpPr>
        <p:spPr bwMode="auto">
          <a:xfrm>
            <a:off x="5517010" y="2931790"/>
            <a:ext cx="567158" cy="278348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9AD6828-E70E-4EC0-9314-4DDDD7756ABF}"/>
              </a:ext>
            </a:extLst>
          </p:cNvPr>
          <p:cNvSpPr txBox="1">
            <a:spLocks/>
          </p:cNvSpPr>
          <p:nvPr/>
        </p:nvSpPr>
        <p:spPr bwMode="auto">
          <a:xfrm>
            <a:off x="1531441" y="189506"/>
            <a:ext cx="7272808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00" dirty="0"/>
              <a:t>§1.2.3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工具箱</a:t>
            </a:r>
            <a:r>
              <a:rPr lang="en-US" altLang="zh-CN" sz="2800" kern="0" dirty="0">
                <a:solidFill>
                  <a:srgbClr val="FF0000"/>
                </a:solidFill>
                <a:cs typeface="+mn-cs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包安装的</a:t>
            </a:r>
            <a:r>
              <a:rPr lang="zh-CN" altLang="en-US" sz="2800" kern="0" dirty="0">
                <a:solidFill>
                  <a:srgbClr val="FF0000"/>
                </a:solidFill>
                <a:cs typeface="+mn-cs"/>
              </a:rPr>
              <a:t>常用命令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25A2002-FA7C-4B6B-A60C-4CF34CC4E79E}"/>
              </a:ext>
            </a:extLst>
          </p:cNvPr>
          <p:cNvSpPr/>
          <p:nvPr/>
        </p:nvSpPr>
        <p:spPr bwMode="auto">
          <a:xfrm>
            <a:off x="5454012" y="3447854"/>
            <a:ext cx="567158" cy="278348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20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C5076-CCA3-4AE8-B02C-66D2CFC2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2427734"/>
            <a:ext cx="8120902" cy="2107821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在</a:t>
            </a:r>
            <a:r>
              <a:rPr lang="en-US" altLang="zh-CN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REPL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中输入</a:t>
            </a:r>
            <a:r>
              <a:rPr lang="en-US" altLang="zh-CN" sz="2400" b="1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]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进入</a:t>
            </a:r>
            <a:r>
              <a:rPr lang="en-US" altLang="zh-CN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pkg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模式</a:t>
            </a:r>
            <a:endParaRPr lang="en-US" altLang="zh-CN" sz="24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457200" indent="-457200">
              <a:buFont typeface="+mj-ea"/>
              <a:buAutoNum type="circleNumDbPlain" startAt="2"/>
            </a:pP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在</a:t>
            </a:r>
            <a:r>
              <a:rPr lang="en-US" altLang="zh-CN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pkg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模式中输入</a:t>
            </a:r>
            <a:r>
              <a:rPr lang="en-US" altLang="zh-CN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:add 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第三方工具箱名</a:t>
            </a:r>
            <a:endParaRPr lang="en-US" altLang="zh-CN" sz="24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457200" indent="-457200">
              <a:buFont typeface="+mj-ea"/>
              <a:buAutoNum type="circleNumDbPlain" startAt="2"/>
            </a:pPr>
            <a:endParaRPr lang="en-US" altLang="zh-CN" sz="24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457200" indent="-457200">
              <a:buFont typeface="+mj-ea"/>
              <a:buAutoNum type="circleNumDbPlain" startAt="2"/>
            </a:pPr>
            <a:endParaRPr lang="en-US" altLang="zh-CN" sz="24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457200" indent="-457200">
              <a:buFont typeface="+mj-ea"/>
              <a:buAutoNum type="circleNumDbPlain" startAt="2"/>
            </a:pP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使用</a:t>
            </a:r>
            <a:r>
              <a:rPr lang="en-US" altLang="zh-CN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Backspace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或</a:t>
            </a:r>
            <a:r>
              <a:rPr lang="en-US" altLang="zh-CN" sz="2400" dirty="0" err="1">
                <a:latin typeface="等线 Light" panose="02010600030101010101" pitchFamily="2" charset="-122"/>
                <a:ea typeface="等线 Light" panose="02010600030101010101" pitchFamily="2" charset="-122"/>
              </a:rPr>
              <a:t>Ctrl+C</a:t>
            </a:r>
            <a:r>
              <a:rPr lang="en-US" altLang="zh-CN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)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退出</a:t>
            </a:r>
            <a:r>
              <a:rPr lang="en-US" altLang="zh-CN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pkg</a:t>
            </a:r>
            <a:r>
              <a:rPr lang="zh-CN" altLang="en-US" sz="2400" dirty="0">
                <a:latin typeface="等线 Light" panose="02010600030101010101" pitchFamily="2" charset="-122"/>
                <a:ea typeface="等线 Light" panose="02010600030101010101" pitchFamily="2" charset="-122"/>
              </a:rPr>
              <a:t>模式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07DE3D-02DD-4CAC-889F-C701A9B8D605}"/>
              </a:ext>
            </a:extLst>
          </p:cNvPr>
          <p:cNvSpPr txBox="1"/>
          <p:nvPr/>
        </p:nvSpPr>
        <p:spPr>
          <a:xfrm>
            <a:off x="895840" y="3318072"/>
            <a:ext cx="434506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3399FF"/>
                </a:solidFill>
              </a:rPr>
              <a:t>(@v1.9) pkg&gt; add Example</a:t>
            </a:r>
            <a:endParaRPr lang="zh-CN" altLang="en-US" sz="2000" dirty="0">
              <a:solidFill>
                <a:srgbClr val="3399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9FCAC6-2355-FA0A-1F53-05B00C3CE3F9}"/>
              </a:ext>
            </a:extLst>
          </p:cNvPr>
          <p:cNvSpPr txBox="1"/>
          <p:nvPr/>
        </p:nvSpPr>
        <p:spPr>
          <a:xfrm>
            <a:off x="554441" y="716893"/>
            <a:ext cx="8106013" cy="161364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包，</a:t>
            </a:r>
            <a:r>
              <a:rPr lang="en-US" altLang="zh-CN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Example.jl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是最简单的包，里面包含项目文件（</a:t>
            </a:r>
            <a:r>
              <a:rPr lang="en-US" altLang="zh-CN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Project.toml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）、源码文件（</a:t>
            </a:r>
            <a:r>
              <a:rPr lang="en-US" altLang="zh-CN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Example.jl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）、单元测试（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test/</a:t>
            </a:r>
            <a:r>
              <a:rPr lang="en-US" altLang="zh-CN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runtests.jl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）、帮助文档（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docs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）、许可说明（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LICENSE.md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）、包说明（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README.md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）、其它配置文件等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AE6244-E686-3579-605A-2227A5A9E817}"/>
              </a:ext>
            </a:extLst>
          </p:cNvPr>
          <p:cNvSpPr txBox="1"/>
          <p:nvPr/>
        </p:nvSpPr>
        <p:spPr>
          <a:xfrm>
            <a:off x="4935712" y="2443619"/>
            <a:ext cx="204497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3399FF"/>
                </a:solidFill>
              </a:defRPr>
            </a:lvl1pPr>
          </a:lstStyle>
          <a:p>
            <a:r>
              <a:rPr lang="en-US" altLang="zh-CN" sz="2000" dirty="0"/>
              <a:t>(@v1.9) pkg&gt;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BCD827-8B3E-29D7-154F-A486D5079F1D}"/>
              </a:ext>
            </a:extLst>
          </p:cNvPr>
          <p:cNvSpPr txBox="1"/>
          <p:nvPr/>
        </p:nvSpPr>
        <p:spPr>
          <a:xfrm>
            <a:off x="1331640" y="94902"/>
            <a:ext cx="676875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§1.2.3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工具箱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命令安装包方式及示例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AB7E14-CCFA-43E6-8677-F80C07D75A99}"/>
              </a:ext>
            </a:extLst>
          </p:cNvPr>
          <p:cNvSpPr txBox="1"/>
          <p:nvPr/>
        </p:nvSpPr>
        <p:spPr>
          <a:xfrm>
            <a:off x="903264" y="3695024"/>
            <a:ext cx="4622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Resolving package versions...</a:t>
            </a:r>
          </a:p>
        </p:txBody>
      </p:sp>
    </p:spTree>
    <p:extLst>
      <p:ext uri="{BB962C8B-B14F-4D97-AF65-F5344CB8AC3E}">
        <p14:creationId xmlns:p14="http://schemas.microsoft.com/office/powerpoint/2010/main" val="4270178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599747-FD87-4455-976C-93FB57D3860F}"/>
              </a:ext>
            </a:extLst>
          </p:cNvPr>
          <p:cNvSpPr txBox="1"/>
          <p:nvPr/>
        </p:nvSpPr>
        <p:spPr>
          <a:xfrm>
            <a:off x="260674" y="1551608"/>
            <a:ext cx="79089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b="1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syslab</a:t>
            </a: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帮助文档所有介绍函数第</a:t>
            </a:r>
            <a:r>
              <a:rPr lang="en-US" altLang="zh-CN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行都是“</a:t>
            </a:r>
            <a:r>
              <a:rPr lang="en-US" altLang="zh-CN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using</a:t>
            </a:r>
            <a:r>
              <a:rPr lang="en-US" altLang="zh-CN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Pkg</a:t>
            </a:r>
            <a:r>
              <a:rPr lang="zh-CN" altLang="en-US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库名</a:t>
            </a: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en-US" altLang="zh-CN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r>
              <a:rPr lang="en-US" altLang="zh-CN" sz="2000" dirty="0"/>
              <a:t>using </a:t>
            </a:r>
            <a:r>
              <a:rPr lang="en-US" altLang="zh-CN" sz="2000" dirty="0" err="1"/>
              <a:t>TyPlot</a:t>
            </a:r>
            <a:r>
              <a:rPr lang="en-US" altLang="zh-CN" sz="2000" dirty="0"/>
              <a:t>  </a:t>
            </a:r>
          </a:p>
          <a:p>
            <a:r>
              <a:rPr lang="en-US" altLang="zh-CN" sz="2000" dirty="0"/>
              <a:t>x = 0:(pi / 100):(2 * pi);y = sin.(x);</a:t>
            </a:r>
          </a:p>
          <a:p>
            <a:r>
              <a:rPr lang="en-US" altLang="zh-CN" sz="2000" dirty="0"/>
              <a:t>plot(x, y)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FCA1B1-8890-43F6-A9B4-C7310E3686D3}"/>
              </a:ext>
            </a:extLst>
          </p:cNvPr>
          <p:cNvSpPr txBox="1"/>
          <p:nvPr/>
        </p:nvSpPr>
        <p:spPr>
          <a:xfrm>
            <a:off x="260674" y="2891416"/>
            <a:ext cx="83905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首选项预加载常使用的同元工具箱，不用再</a:t>
            </a:r>
            <a:r>
              <a:rPr lang="en-US" altLang="zh-CN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using</a:t>
            </a: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加载同元工具箱</a:t>
            </a:r>
            <a:endParaRPr lang="en-US" altLang="zh-CN" b="1" dirty="0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/>
              <a:t>x = 0:(pi / 100):(2 * pi);y = sin.(x);</a:t>
            </a:r>
          </a:p>
          <a:p>
            <a:r>
              <a:rPr lang="en-US" altLang="zh-CN" sz="2000" dirty="0"/>
              <a:t>plot(x, y)</a:t>
            </a:r>
            <a:endParaRPr lang="zh-CN" altLang="en-US" sz="200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2769F9C-FF2E-47AE-B0D0-A0DF30CE0492}"/>
              </a:ext>
            </a:extLst>
          </p:cNvPr>
          <p:cNvSpPr txBox="1">
            <a:spLocks/>
          </p:cNvSpPr>
          <p:nvPr/>
        </p:nvSpPr>
        <p:spPr bwMode="auto">
          <a:xfrm>
            <a:off x="899592" y="163108"/>
            <a:ext cx="590760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00" dirty="0"/>
              <a:t>§1.2.3 </a:t>
            </a:r>
            <a:r>
              <a:rPr lang="zh-CN" altLang="en-US" sz="2800" kern="100" dirty="0"/>
              <a:t>工具箱</a:t>
            </a:r>
            <a:r>
              <a:rPr lang="en-US" altLang="zh-CN" sz="2800" kern="0" dirty="0">
                <a:solidFill>
                  <a:srgbClr val="FF0000"/>
                </a:solidFill>
                <a:cs typeface="+mn-cs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using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800" dirty="0">
                <a:solidFill>
                  <a:srgbClr val="FF0000"/>
                </a:solidFill>
              </a:rPr>
              <a:t>import</a:t>
            </a:r>
            <a:r>
              <a:rPr lang="zh-CN" altLang="en-US" sz="2800" dirty="0">
                <a:solidFill>
                  <a:srgbClr val="FF0000"/>
                </a:solidFill>
              </a:rPr>
              <a:t>加载导入包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FDEA7-1517-4100-8DC3-FB3178A37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0840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E8B13E-0CFF-42CE-9DB7-2E19FF9F1368}"/>
              </a:ext>
            </a:extLst>
          </p:cNvPr>
          <p:cNvSpPr/>
          <p:nvPr/>
        </p:nvSpPr>
        <p:spPr>
          <a:xfrm>
            <a:off x="338570" y="1148691"/>
            <a:ext cx="2592288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using(import) Pkg</a:t>
            </a:r>
            <a:r>
              <a:rPr lang="zh-CN" altLang="en-US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库名</a:t>
            </a:r>
            <a:endParaRPr lang="en-US" altLang="zh-CN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328C91-B0CE-4465-8C8E-900C0BFAB8AB}"/>
              </a:ext>
            </a:extLst>
          </p:cNvPr>
          <p:cNvSpPr/>
          <p:nvPr/>
        </p:nvSpPr>
        <p:spPr>
          <a:xfrm>
            <a:off x="6213142" y="1131590"/>
            <a:ext cx="2687738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using</a:t>
            </a:r>
            <a:r>
              <a:rPr lang="zh-CN" altLang="zh-CN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Pkg.Module</a:t>
            </a:r>
            <a:r>
              <a:rPr lang="zh-CN" altLang="en-US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库模块</a:t>
            </a:r>
            <a:endParaRPr lang="en-US" altLang="zh-CN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A4839A-B1CF-4F88-B160-31C09A82D526}"/>
              </a:ext>
            </a:extLst>
          </p:cNvPr>
          <p:cNvSpPr/>
          <p:nvPr/>
        </p:nvSpPr>
        <p:spPr>
          <a:xfrm>
            <a:off x="2983385" y="1131810"/>
            <a:ext cx="3177229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using </a:t>
            </a:r>
            <a:r>
              <a:rPr lang="zh-CN" altLang="zh-CN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Pkg:Function</a:t>
            </a:r>
            <a:r>
              <a:rPr lang="zh-CN" altLang="en-US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库中函数</a:t>
            </a:r>
            <a:endParaRPr lang="en-US" altLang="zh-CN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1044CE-0B34-479F-BDE5-5E3F6F20AD6B}"/>
              </a:ext>
            </a:extLst>
          </p:cNvPr>
          <p:cNvSpPr txBox="1"/>
          <p:nvPr/>
        </p:nvSpPr>
        <p:spPr>
          <a:xfrm>
            <a:off x="251520" y="761787"/>
            <a:ext cx="8712968" cy="269364"/>
          </a:xfrm>
          <a:prstGeom prst="rect">
            <a:avLst/>
          </a:prstGeom>
          <a:solidFill>
            <a:srgbClr val="0070C0"/>
          </a:solidFill>
          <a:effectLst/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4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dirty="0"/>
              <a:t>为了可直接调用函数，需要用</a:t>
            </a:r>
            <a:r>
              <a:rPr lang="en-US" altLang="zh-CN" dirty="0"/>
              <a:t>using</a:t>
            </a:r>
            <a:r>
              <a:rPr lang="zh-CN" altLang="en-US" dirty="0"/>
              <a:t>或</a:t>
            </a:r>
            <a:r>
              <a:rPr lang="en-US" altLang="zh-CN" dirty="0"/>
              <a:t>import</a:t>
            </a:r>
            <a:r>
              <a:rPr lang="zh-CN" altLang="en-US" dirty="0"/>
              <a:t>加载整个库或者库中的模块或函数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2837EC-653C-4D5B-BA60-E0F65ADCC590}"/>
              </a:ext>
            </a:extLst>
          </p:cNvPr>
          <p:cNvSpPr txBox="1"/>
          <p:nvPr/>
        </p:nvSpPr>
        <p:spPr>
          <a:xfrm>
            <a:off x="234223" y="3808793"/>
            <a:ext cx="9037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用同元工具箱以外的第三方包时，需用</a:t>
            </a:r>
            <a:r>
              <a:rPr lang="en-US" altLang="zh-CN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using</a:t>
            </a: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加载第三方包</a:t>
            </a:r>
            <a:r>
              <a:rPr lang="en-US" altLang="zh-CN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b="1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julia</a:t>
            </a:r>
            <a:r>
              <a:rPr lang="zh-CN" altLang="en-US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官方库</a:t>
            </a:r>
            <a:endParaRPr lang="en-US" altLang="zh-CN" b="1" dirty="0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3BCC4C8-20D3-461A-AD7B-0045E811D8B2}"/>
              </a:ext>
            </a:extLst>
          </p:cNvPr>
          <p:cNvPicPr/>
          <p:nvPr/>
        </p:nvPicPr>
        <p:blipFill rotWithShape="1">
          <a:blip r:embed="rId3"/>
          <a:srcRect l="51012" t="84713" r="8749" b="11176"/>
          <a:stretch/>
        </p:blipFill>
        <p:spPr>
          <a:xfrm>
            <a:off x="398755" y="4309342"/>
            <a:ext cx="4173245" cy="27863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865F75F-64FD-4B5A-BCC2-67A931F75771}"/>
              </a:ext>
            </a:extLst>
          </p:cNvPr>
          <p:cNvSpPr txBox="1"/>
          <p:nvPr/>
        </p:nvSpPr>
        <p:spPr>
          <a:xfrm>
            <a:off x="4625237" y="4272621"/>
            <a:ext cx="451876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Syslab</a:t>
            </a: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集成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julia</a:t>
            </a: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官方所有注册库，均用</a:t>
            </a:r>
            <a:r>
              <a:rPr lang="en-US" altLang="zh-CN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using</a:t>
            </a: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加载</a:t>
            </a:r>
            <a:endParaRPr lang="en-US" altLang="zh-CN" sz="16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11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936460-5A2D-4E90-AE61-76C70B20CDCE}"/>
              </a:ext>
            </a:extLst>
          </p:cNvPr>
          <p:cNvSpPr txBox="1"/>
          <p:nvPr/>
        </p:nvSpPr>
        <p:spPr>
          <a:xfrm>
            <a:off x="107504" y="727469"/>
            <a:ext cx="75608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一个函数同存在已经加载的两库时，使用时需标明函数库：</a:t>
            </a:r>
            <a:endParaRPr lang="en-US" altLang="zh-CN" sz="20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761D384E-F171-4052-A845-CEC9A51D92BD}"/>
              </a:ext>
            </a:extLst>
          </p:cNvPr>
          <p:cNvSpPr txBox="1">
            <a:spLocks/>
          </p:cNvSpPr>
          <p:nvPr/>
        </p:nvSpPr>
        <p:spPr bwMode="auto">
          <a:xfrm>
            <a:off x="827584" y="177975"/>
            <a:ext cx="7309579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100" dirty="0"/>
              <a:t>§1.2.3 </a:t>
            </a:r>
            <a:r>
              <a:rPr lang="zh-CN" altLang="en-US" sz="2800" kern="100" dirty="0"/>
              <a:t>工具箱</a:t>
            </a:r>
            <a:r>
              <a:rPr lang="en-US" altLang="zh-CN" sz="2800" kern="0" dirty="0">
                <a:solidFill>
                  <a:srgbClr val="FF0000"/>
                </a:solidFill>
                <a:cs typeface="+mn-cs"/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</a:rPr>
              <a:t>—</a:t>
            </a:r>
            <a:r>
              <a:rPr lang="zh-CN" altLang="en-US" sz="2800" dirty="0">
                <a:solidFill>
                  <a:srgbClr val="FF0000"/>
                </a:solidFill>
              </a:rPr>
              <a:t>一个函数同存在两库时调用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3E56CC-88B3-47AC-85C8-8632AA411CBC}"/>
              </a:ext>
            </a:extLst>
          </p:cNvPr>
          <p:cNvSpPr txBox="1"/>
          <p:nvPr/>
        </p:nvSpPr>
        <p:spPr>
          <a:xfrm>
            <a:off x="63062" y="1143963"/>
            <a:ext cx="9128654" cy="351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梯度函数gr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dient同时存在TyMath库和TySymbolicMath库这两个库中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using TyMath</a:t>
            </a: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1: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fx=gradient(x) 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调用梯度函数gradient</a:t>
            </a: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结果WARNING: both TySymbolicMath and TyMath export "gradient"; uses of it in module Main must be qualified</a:t>
            </a:r>
          </a:p>
          <a:p>
            <a:pPr>
              <a:lnSpc>
                <a:spcPts val="3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ERROR: </a:t>
            </a:r>
            <a:r>
              <a:rPr lang="zh-CN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UndefVarError: `gradient` not defined（没有被定义提示，可能是函数命令存在两个库）</a:t>
            </a:r>
          </a:p>
          <a:p>
            <a:pPr>
              <a:lnSpc>
                <a:spcPts val="3000"/>
              </a:lnSpc>
            </a:pP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fx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TyMath.gradient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调用梯度函数gradient，指明时TyMath库的梯度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 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1.0  1.0  1.0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10D4EC-E80C-4772-B437-7974CF13855C}"/>
              </a:ext>
            </a:extLst>
          </p:cNvPr>
          <p:cNvSpPr txBox="1"/>
          <p:nvPr/>
        </p:nvSpPr>
        <p:spPr>
          <a:xfrm>
            <a:off x="7452321" y="727469"/>
            <a:ext cx="1512168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库名</a:t>
            </a:r>
            <a:r>
              <a:rPr lang="en-US" altLang="zh-CN" dirty="0"/>
              <a:t>.</a:t>
            </a:r>
            <a:r>
              <a:rPr lang="zh-CN" altLang="en-US" dirty="0"/>
              <a:t>函数名</a:t>
            </a:r>
          </a:p>
        </p:txBody>
      </p:sp>
    </p:spTree>
    <p:extLst>
      <p:ext uri="{BB962C8B-B14F-4D97-AF65-F5344CB8AC3E}">
        <p14:creationId xmlns:p14="http://schemas.microsoft.com/office/powerpoint/2010/main" val="128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A4CE3F2-CD9A-4BBA-99AB-07FC50C30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55847"/>
              </p:ext>
            </p:extLst>
          </p:nvPr>
        </p:nvGraphicFramePr>
        <p:xfrm>
          <a:off x="467544" y="691083"/>
          <a:ext cx="8407730" cy="3925009"/>
        </p:xfrm>
        <a:graphic>
          <a:graphicData uri="http://schemas.openxmlformats.org/drawingml/2006/table">
            <a:tbl>
              <a:tblPr/>
              <a:tblGrid>
                <a:gridCol w="3096344">
                  <a:extLst>
                    <a:ext uri="{9D8B030D-6E8A-4147-A177-3AD203B41FA5}">
                      <a16:colId xmlns:a16="http://schemas.microsoft.com/office/drawing/2014/main" val="2712053451"/>
                    </a:ext>
                  </a:extLst>
                </a:gridCol>
                <a:gridCol w="5311386">
                  <a:extLst>
                    <a:ext uri="{9D8B030D-6E8A-4147-A177-3AD203B41FA5}">
                      <a16:colId xmlns:a16="http://schemas.microsoft.com/office/drawing/2014/main" val="189420203"/>
                    </a:ext>
                  </a:extLst>
                </a:gridCol>
              </a:tblGrid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工具箱加载和安装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using 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或</a:t>
                      </a:r>
                      <a:r>
                        <a:rPr lang="en-US" altLang="zh-CN" sz="1500" b="1" dirty="0">
                          <a:solidFill>
                            <a:srgbClr val="FFFF00"/>
                          </a:solidFill>
                          <a:effectLst/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i</a:t>
                      </a:r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mport</a:t>
                      </a:r>
                      <a:endParaRPr lang="zh-CN" altLang="en-US" sz="15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273881"/>
                  </a:ext>
                </a:extLst>
              </a:tr>
              <a:tr h="40279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上一次运算的结果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 err="1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ans</a:t>
                      </a:r>
                      <a:endParaRPr lang="zh-CN" altLang="en-US" sz="15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00293172"/>
                  </a:ext>
                </a:extLst>
              </a:tr>
              <a:tr h="2967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中断命令执行</a:t>
                      </a:r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,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退出特殊模式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Ctrl+C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组合键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98291507"/>
                  </a:ext>
                </a:extLst>
              </a:tr>
              <a:tr h="29168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清屏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Ctrl+L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组合键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1589773"/>
                  </a:ext>
                </a:extLst>
              </a:tr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退出命令行窗口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exit（） 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或 </a:t>
                      </a:r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Ctrl+D</a:t>
                      </a:r>
                      <a:endParaRPr lang="en-US" sz="15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08560719"/>
                  </a:ext>
                </a:extLst>
              </a:tr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运行程序文件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include（“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文件名</a:t>
                      </a:r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.</a:t>
                      </a:r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jl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”）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8288603"/>
                  </a:ext>
                </a:extLst>
              </a:tr>
              <a:tr h="3268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查找 </a:t>
                      </a:r>
                      <a:r>
                        <a:rPr lang="en-US" altLang="zh-CN" sz="1500" dirty="0" err="1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func</a:t>
                      </a:r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相关的帮助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？功能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28596445"/>
                  </a:ext>
                </a:extLst>
              </a:tr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查找 </a:t>
                      </a: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func </a:t>
                      </a:r>
                      <a:r>
                        <a:rPr lang="zh-CN" alt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的所有定义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apropos（“</a:t>
                      </a:r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函数”）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113846"/>
                  </a:ext>
                </a:extLst>
              </a:tr>
              <a:tr h="3268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命令行模式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;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76374632"/>
                  </a:ext>
                </a:extLst>
              </a:tr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包管理模式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]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13554862"/>
                  </a:ext>
                </a:extLst>
              </a:tr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帮助模式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?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18316354"/>
                  </a:ext>
                </a:extLst>
              </a:tr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查找特殊符号输入方式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?☆  # "☆" can be typed by \</a:t>
                      </a:r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bigwhitestar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&lt;Tab&gt;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36314470"/>
                  </a:ext>
                </a:extLst>
              </a:tr>
              <a:tr h="2850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退出特殊模式返回到命令行窗口</a:t>
                      </a: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在空行上按退格键 </a:t>
                      </a: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Backspace</a:t>
                      </a:r>
                      <a:endParaRPr lang="en-US" sz="15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35472" marR="35472" marT="17736" marB="17736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81411881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DB07A89-F6FD-4A23-89F0-62B5A9E927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75" t="5660" r="50875" b="68199"/>
          <a:stretch/>
        </p:blipFill>
        <p:spPr>
          <a:xfrm>
            <a:off x="4932040" y="699542"/>
            <a:ext cx="1199187" cy="11298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AB5FB2E-7D6C-4545-8175-53FF0EB6FB7B}"/>
              </a:ext>
            </a:extLst>
          </p:cNvPr>
          <p:cNvSpPr txBox="1"/>
          <p:nvPr/>
        </p:nvSpPr>
        <p:spPr>
          <a:xfrm>
            <a:off x="6211598" y="708744"/>
            <a:ext cx="258867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启动命令窗口</a:t>
            </a:r>
            <a:r>
              <a:rPr lang="en-US" altLang="zh-CN" sz="16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Ctrl+M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ctrl+o</a:t>
            </a:r>
            <a:endParaRPr lang="zh-CN" altLang="en-US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3644D66-6904-412D-8A54-13AAE988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217002"/>
            <a:ext cx="7667625" cy="438150"/>
          </a:xfrm>
          <a:noFill/>
        </p:spPr>
        <p:txBody>
          <a:bodyPr/>
          <a:lstStyle/>
          <a:p>
            <a:r>
              <a:rPr lang="en-US" altLang="zh-CN" sz="2800" kern="100" dirty="0"/>
              <a:t>§1.2.4 </a:t>
            </a:r>
            <a:r>
              <a:rPr lang="en-US" altLang="zh-CN" sz="2800" kern="100" dirty="0" err="1">
                <a:solidFill>
                  <a:srgbClr val="002060"/>
                </a:solidFill>
              </a:rPr>
              <a:t>Syslab</a:t>
            </a:r>
            <a:r>
              <a:rPr lang="zh-CN" altLang="en-US" sz="2800" kern="100" dirty="0">
                <a:solidFill>
                  <a:srgbClr val="002060"/>
                </a:solidFill>
              </a:rPr>
              <a:t>软件界面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命令行窗口基本命令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233BE3-8E18-4BF6-BB28-18A732709AF0}"/>
              </a:ext>
            </a:extLst>
          </p:cNvPr>
          <p:cNvSpPr txBox="1"/>
          <p:nvPr/>
        </p:nvSpPr>
        <p:spPr>
          <a:xfrm>
            <a:off x="6202717" y="1500463"/>
            <a:ext cx="206830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关闭命令窗口</a:t>
            </a:r>
            <a:r>
              <a:rPr lang="en-US" altLang="zh-CN" sz="16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Ctrl+D</a:t>
            </a:r>
            <a:endParaRPr lang="zh-CN" altLang="en-US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08352F-3749-41E9-8FB3-D88E3FE70EDE}"/>
              </a:ext>
            </a:extLst>
          </p:cNvPr>
          <p:cNvSpPr txBox="1"/>
          <p:nvPr/>
        </p:nvSpPr>
        <p:spPr>
          <a:xfrm>
            <a:off x="6211598" y="1104603"/>
            <a:ext cx="206830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清空命令窗口 </a:t>
            </a:r>
            <a:r>
              <a:rPr lang="en-US" altLang="zh-CN" sz="16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Ctrl+L</a:t>
            </a:r>
            <a:endParaRPr lang="zh-CN" altLang="en-US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BBA1E9-126D-43F7-B94B-3FD694964328}"/>
              </a:ext>
            </a:extLst>
          </p:cNvPr>
          <p:cNvSpPr txBox="1"/>
          <p:nvPr/>
        </p:nvSpPr>
        <p:spPr>
          <a:xfrm>
            <a:off x="3784685" y="3464441"/>
            <a:ext cx="5279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窗口显示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(@v1.7) pkg&gt;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进入工具箱安装模式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1295AC-18B1-4533-902D-7CF8D0DD6CA6}"/>
              </a:ext>
            </a:extLst>
          </p:cNvPr>
          <p:cNvSpPr txBox="1"/>
          <p:nvPr/>
        </p:nvSpPr>
        <p:spPr>
          <a:xfrm>
            <a:off x="3943233" y="3762564"/>
            <a:ext cx="3797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命令窗口敲入</a:t>
            </a:r>
            <a:r>
              <a:rPr lang="en-US" altLang="zh-CN" dirty="0"/>
              <a:t>Shift+</a:t>
            </a:r>
            <a:r>
              <a:rPr lang="zh-CN" altLang="en-US" dirty="0"/>
              <a:t>？进入帮助模式help?&gt; 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539020-FFDF-4E11-83F2-4F87A22A3174}"/>
              </a:ext>
            </a:extLst>
          </p:cNvPr>
          <p:cNvSpPr txBox="1"/>
          <p:nvPr/>
        </p:nvSpPr>
        <p:spPr>
          <a:xfrm>
            <a:off x="5580112" y="2320374"/>
            <a:ext cx="2160240" cy="3231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incl</a:t>
            </a:r>
            <a:r>
              <a:rPr lang="en-US" altLang="zh-CN" sz="1500" b="1" dirty="0">
                <a:solidFill>
                  <a:srgbClr val="FFFF00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500" dirty="0"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zh-CN" altLang="en-US" sz="1500" dirty="0"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500" dirty="0"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500" dirty="0"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239C76-00EF-439F-BD14-F15A8C18B0E9}"/>
              </a:ext>
            </a:extLst>
          </p:cNvPr>
          <p:cNvSpPr txBox="1"/>
          <p:nvPr/>
        </p:nvSpPr>
        <p:spPr>
          <a:xfrm>
            <a:off x="6084168" y="4314855"/>
            <a:ext cx="2979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如退出</a:t>
            </a:r>
            <a:r>
              <a:rPr lang="en-US" altLang="zh-CN" dirty="0"/>
              <a:t>M</a:t>
            </a:r>
            <a:r>
              <a:rPr lang="zh-CN" altLang="en-US" dirty="0"/>
              <a:t>语言模式</a:t>
            </a:r>
            <a:r>
              <a:rPr lang="en-US" altLang="zh-CN" dirty="0" err="1"/>
              <a:t>mlag,pkg,help</a:t>
            </a:r>
            <a:endParaRPr lang="zh-CN" altLang="en-US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EF948391-AB93-443C-B013-80781054FA48}"/>
              </a:ext>
            </a:extLst>
          </p:cNvPr>
          <p:cNvSpPr/>
          <p:nvPr/>
        </p:nvSpPr>
        <p:spPr>
          <a:xfrm>
            <a:off x="5723856" y="968740"/>
            <a:ext cx="363033" cy="148722"/>
          </a:xfrm>
          <a:prstGeom prst="wedgeRoundRectCallout">
            <a:avLst>
              <a:gd name="adj1" fmla="val 105892"/>
              <a:gd name="adj2" fmla="val -118137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对话气泡: 圆角矩形 21">
            <a:extLst>
              <a:ext uri="{FF2B5EF4-FFF2-40B4-BE49-F238E27FC236}">
                <a16:creationId xmlns:a16="http://schemas.microsoft.com/office/drawing/2014/main" id="{16EE4A12-3DCD-4288-98F5-418C00441E20}"/>
              </a:ext>
            </a:extLst>
          </p:cNvPr>
          <p:cNvSpPr/>
          <p:nvPr/>
        </p:nvSpPr>
        <p:spPr>
          <a:xfrm>
            <a:off x="5723856" y="1363754"/>
            <a:ext cx="363033" cy="136709"/>
          </a:xfrm>
          <a:prstGeom prst="wedgeRoundRectCallout">
            <a:avLst>
              <a:gd name="adj1" fmla="val 132792"/>
              <a:gd name="adj2" fmla="val 135123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CFF50E7-66FE-45F0-9D3F-13967F2AD1F1}"/>
              </a:ext>
            </a:extLst>
          </p:cNvPr>
          <p:cNvSpPr/>
          <p:nvPr/>
        </p:nvSpPr>
        <p:spPr>
          <a:xfrm>
            <a:off x="5723856" y="1147774"/>
            <a:ext cx="363033" cy="148722"/>
          </a:xfrm>
          <a:prstGeom prst="wedgeRoundRectCallout">
            <a:avLst>
              <a:gd name="adj1" fmla="val 105892"/>
              <a:gd name="adj2" fmla="val 4900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16487D-08E6-4BCE-8FE4-63C5EBA5BE1F}"/>
              </a:ext>
            </a:extLst>
          </p:cNvPr>
          <p:cNvSpPr txBox="1"/>
          <p:nvPr/>
        </p:nvSpPr>
        <p:spPr>
          <a:xfrm>
            <a:off x="6225067" y="1953000"/>
            <a:ext cx="216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>
                    <a:lumMod val="95000"/>
                  </a:schemeClr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clear( 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清除工作区变量</a:t>
            </a:r>
          </a:p>
        </p:txBody>
      </p:sp>
    </p:spTree>
    <p:extLst>
      <p:ext uri="{BB962C8B-B14F-4D97-AF65-F5344CB8AC3E}">
        <p14:creationId xmlns:p14="http://schemas.microsoft.com/office/powerpoint/2010/main" val="371571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5" grpId="0"/>
      <p:bldP spid="16" grpId="0"/>
      <p:bldP spid="18" grpId="0"/>
      <p:bldP spid="19" grpId="0"/>
      <p:bldP spid="17" grpId="0"/>
    </p:bldLst>
  </p:timing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12393</TotalTime>
  <Pages>154</Pages>
  <Words>4338</Words>
  <Characters>0</Characters>
  <Application>Microsoft Office PowerPoint</Application>
  <DocSecurity>0</DocSecurity>
  <PresentationFormat>全屏显示(16:9)</PresentationFormat>
  <Lines>0</Lines>
  <Paragraphs>435</Paragraphs>
  <Slides>22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-apple-system</vt:lpstr>
      <vt:lpstr>Arial Unicode MS</vt:lpstr>
      <vt:lpstr>Menlo</vt:lpstr>
      <vt:lpstr>等线 Light</vt:lpstr>
      <vt:lpstr>黑体</vt:lpstr>
      <vt:lpstr>华文琥珀</vt:lpstr>
      <vt:lpstr>华文楷体</vt:lpstr>
      <vt:lpstr>楷体</vt:lpstr>
      <vt:lpstr>隶书</vt:lpstr>
      <vt:lpstr>宋体</vt:lpstr>
      <vt:lpstr>Microsoft YaHei</vt:lpstr>
      <vt:lpstr>Microsoft YaHei</vt:lpstr>
      <vt:lpstr>微软雅黑 Light</vt:lpstr>
      <vt:lpstr>Arial</vt:lpstr>
      <vt:lpstr>Calibri</vt:lpstr>
      <vt:lpstr>Consolas</vt:lpstr>
      <vt:lpstr>Helvetica</vt:lpstr>
      <vt:lpstr>Times New Roman</vt:lpstr>
      <vt:lpstr>Wingdings</vt:lpstr>
      <vt:lpstr>主题1</vt:lpstr>
      <vt:lpstr>§1.2 Syslab软件界面和工具箱</vt:lpstr>
      <vt:lpstr>PowerPoint 演示文稿</vt:lpstr>
      <vt:lpstr>§1.2.1 Syslab软件工作界面——界面布局</vt:lpstr>
      <vt:lpstr>PowerPoint 演示文稿</vt:lpstr>
      <vt:lpstr>§1.2.1.1主页主菜单———1. 工具栏及各种语言文件</vt:lpstr>
      <vt:lpstr>§1.2.1.1主页主菜单——2. 工具栏中 M语言</vt:lpstr>
      <vt:lpstr>§1.1.2.1主页主菜单——2. 工具栏中 M语言</vt:lpstr>
      <vt:lpstr>PowerPoint 演示文稿</vt:lpstr>
      <vt:lpstr>§1.2.1 Syslab软件工作界面——1.2.1.2绘图主菜单</vt:lpstr>
      <vt:lpstr>（2023b才建立app主菜单）</vt:lpstr>
      <vt:lpstr>PowerPoint 演示文稿</vt:lpstr>
      <vt:lpstr>PowerPoint 演示文稿</vt:lpstr>
      <vt:lpstr>§ 1.2.2 资源管理器文件管理——1.文件新建、打开和调用 </vt:lpstr>
      <vt:lpstr>  § 1.2.2 资源管理器文件管理——用include调用文件</vt:lpstr>
      <vt:lpstr>  § 1.2.2 资源管理器文件管理——当前目录和非当前目录文件调用 </vt:lpstr>
      <vt:lpstr>PowerPoint 演示文稿</vt:lpstr>
      <vt:lpstr>  </vt:lpstr>
      <vt:lpstr>PowerPoint 演示文稿</vt:lpstr>
      <vt:lpstr>PowerPoint 演示文稿</vt:lpstr>
      <vt:lpstr>PowerPoint 演示文稿</vt:lpstr>
      <vt:lpstr>PowerPoint 演示文稿</vt:lpstr>
      <vt:lpstr>§1.2.4 Syslab软件界面——命令行窗口基本命令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957</cp:revision>
  <dcterms:modified xsi:type="dcterms:W3CDTF">2025-03-04T05:25:37Z</dcterms:modified>
</cp:coreProperties>
</file>