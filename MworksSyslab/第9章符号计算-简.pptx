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48"/>
  </p:notesMasterIdLst>
  <p:sldIdLst>
    <p:sldId id="1255" r:id="rId2"/>
    <p:sldId id="1269" r:id="rId3"/>
    <p:sldId id="1252" r:id="rId4"/>
    <p:sldId id="784" r:id="rId5"/>
    <p:sldId id="1232" r:id="rId6"/>
    <p:sldId id="1259" r:id="rId7"/>
    <p:sldId id="1228" r:id="rId8"/>
    <p:sldId id="790" r:id="rId9"/>
    <p:sldId id="800" r:id="rId10"/>
    <p:sldId id="1260" r:id="rId11"/>
    <p:sldId id="2195" r:id="rId12"/>
    <p:sldId id="2194" r:id="rId13"/>
    <p:sldId id="815" r:id="rId14"/>
    <p:sldId id="820" r:id="rId15"/>
    <p:sldId id="2192" r:id="rId16"/>
    <p:sldId id="1261" r:id="rId17"/>
    <p:sldId id="821" r:id="rId18"/>
    <p:sldId id="802" r:id="rId19"/>
    <p:sldId id="1263" r:id="rId20"/>
    <p:sldId id="816" r:id="rId21"/>
    <p:sldId id="818" r:id="rId22"/>
    <p:sldId id="817" r:id="rId23"/>
    <p:sldId id="1268" r:id="rId24"/>
    <p:sldId id="830" r:id="rId25"/>
    <p:sldId id="794" r:id="rId26"/>
    <p:sldId id="795" r:id="rId27"/>
    <p:sldId id="803" r:id="rId28"/>
    <p:sldId id="2174" r:id="rId29"/>
    <p:sldId id="2177" r:id="rId30"/>
    <p:sldId id="804" r:id="rId31"/>
    <p:sldId id="2175" r:id="rId32"/>
    <p:sldId id="2142" r:id="rId33"/>
    <p:sldId id="2179" r:id="rId34"/>
    <p:sldId id="826" r:id="rId35"/>
    <p:sldId id="2180" r:id="rId36"/>
    <p:sldId id="2181" r:id="rId37"/>
    <p:sldId id="2178" r:id="rId38"/>
    <p:sldId id="807" r:id="rId39"/>
    <p:sldId id="808" r:id="rId40"/>
    <p:sldId id="2183" r:id="rId41"/>
    <p:sldId id="1266" r:id="rId42"/>
    <p:sldId id="2185" r:id="rId43"/>
    <p:sldId id="2186" r:id="rId44"/>
    <p:sldId id="2187" r:id="rId45"/>
    <p:sldId id="2189" r:id="rId46"/>
    <p:sldId id="813" r:id="rId4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6303"/>
    <a:srgbClr val="F0DA04"/>
    <a:srgbClr val="003B76"/>
    <a:srgbClr val="33CCFF"/>
    <a:srgbClr val="3399FF"/>
    <a:srgbClr val="66CCFF"/>
    <a:srgbClr val="3366FF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7" autoAdjust="0"/>
    <p:restoredTop sz="93673" autoAdjust="0"/>
  </p:normalViewPr>
  <p:slideViewPr>
    <p:cSldViewPr snapToObjects="1">
      <p:cViewPr varScale="1">
        <p:scale>
          <a:sx n="81" d="100"/>
          <a:sy n="81" d="100"/>
        </p:scale>
        <p:origin x="852" y="72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5%B4%E5%BC%8F/5961855?fromModule=lemma_inlink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703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在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@syms @variables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两种情况中，我们更推荐使用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@variables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，他与数值之间的联系相对更紧密，并且功能更强大</a:t>
            </a:r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i="0" u="none" strike="noStrike" kern="1200" dirty="0" err="1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get_variables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确定符号表达式中的符号变量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205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@variables </a:t>
            </a:r>
            <a:r>
              <a:rPr lang="zh-CN" altLang="en-US" sz="1200" dirty="0"/>
              <a:t>通过 </a:t>
            </a:r>
            <a:r>
              <a:rPr lang="en-US" altLang="zh-CN" sz="1200" dirty="0"/>
              <a:t>$ </a:t>
            </a:r>
            <a:r>
              <a:rPr lang="zh-CN" altLang="en-US" sz="1200" dirty="0"/>
              <a:t>插值获取运行时符号值运算符，在这种情况下，</a:t>
            </a:r>
            <a:r>
              <a:rPr lang="en-US" altLang="zh-CN" sz="1200" dirty="0"/>
              <a:t>@variables </a:t>
            </a:r>
            <a:r>
              <a:rPr lang="zh-CN" altLang="en-US" sz="1200" dirty="0"/>
              <a:t>不会自动分配相反，它只返回一个符号变量向量</a:t>
            </a:r>
          </a:p>
          <a:p>
            <a:r>
              <a:rPr lang="en-US" altLang="zh-CN" sz="1200" dirty="0"/>
              <a:t>@variables x </a:t>
            </a:r>
            <a:r>
              <a:rPr lang="zh-CN" altLang="en-US" sz="1200" dirty="0"/>
              <a:t>创建的</a:t>
            </a:r>
            <a:r>
              <a:rPr lang="en-US" altLang="zh-CN" sz="1200" dirty="0"/>
              <a:t>x</a:t>
            </a:r>
            <a:r>
              <a:rPr lang="zh-CN" altLang="en-US" sz="1200" dirty="0"/>
              <a:t>类型为</a:t>
            </a:r>
            <a:r>
              <a:rPr lang="en-US" altLang="zh-CN" sz="1200" dirty="0"/>
              <a:t>Num</a:t>
            </a:r>
            <a:r>
              <a:rPr lang="zh-CN" altLang="en-US" sz="1200" dirty="0"/>
              <a:t>类型，为</a:t>
            </a:r>
            <a:r>
              <a:rPr lang="en-US" altLang="zh-CN" sz="1200" dirty="0"/>
              <a:t>Real</a:t>
            </a:r>
            <a:r>
              <a:rPr lang="zh-CN" altLang="en-US" sz="1200" dirty="0"/>
              <a:t>类型的子类型，</a:t>
            </a:r>
            <a:endParaRPr lang="en-US" altLang="zh-CN" sz="1200" dirty="0"/>
          </a:p>
          <a:p>
            <a:r>
              <a:rPr lang="zh-CN" altLang="en-US" sz="1200" dirty="0"/>
              <a:t>得到 </a:t>
            </a:r>
            <a:r>
              <a:rPr lang="en-US" altLang="zh-CN" sz="1200" dirty="0"/>
              <a:t>Complex{Num}</a:t>
            </a:r>
            <a:r>
              <a:rPr lang="zh-CN" altLang="en-US" sz="1200" dirty="0"/>
              <a:t>，请使用</a:t>
            </a:r>
            <a:r>
              <a:rPr lang="en-US" altLang="zh-CN" sz="1200" dirty="0"/>
              <a:t>@variables x::Complex</a:t>
            </a:r>
            <a:r>
              <a:rPr lang="zh-CN" altLang="en-US" sz="1200" dirty="0"/>
              <a:t>。因此用如 </a:t>
            </a:r>
            <a:r>
              <a:rPr lang="en-US" altLang="zh-CN" sz="1200" dirty="0"/>
              <a:t>exp(</a:t>
            </a:r>
            <a:r>
              <a:rPr lang="en-US" altLang="zh-CN" sz="1200" dirty="0" err="1"/>
              <a:t>im</a:t>
            </a:r>
            <a:r>
              <a:rPr lang="en-US" altLang="zh-CN" sz="1200" dirty="0"/>
              <a:t>*x)</a:t>
            </a:r>
            <a:r>
              <a:rPr lang="zh-CN" altLang="en-US" sz="1200" dirty="0"/>
              <a:t>等表达式时，应使用 </a:t>
            </a:r>
            <a:r>
              <a:rPr lang="en-US" altLang="zh-CN" sz="1200" dirty="0"/>
              <a:t>@syms x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088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543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b="1" i="0" dirty="0">
                <a:solidFill>
                  <a:srgbClr val="2C3E50"/>
                </a:solidFill>
                <a:effectLst/>
                <a:latin typeface="-apple-system"/>
              </a:rPr>
              <a:t>输入参数</a:t>
            </a:r>
            <a:r>
              <a:rPr lang="en-US" altLang="zh-CN" sz="1200" b="1" i="0" dirty="0">
                <a:solidFill>
                  <a:srgbClr val="2C3E50"/>
                </a:solidFill>
                <a:effectLst/>
                <a:latin typeface="-apple-system"/>
              </a:rPr>
              <a:t>var1 ... </a:t>
            </a:r>
            <a:r>
              <a:rPr lang="en-US" altLang="zh-CN" sz="1200" b="1" i="0" dirty="0" err="1">
                <a:solidFill>
                  <a:srgbClr val="2C3E50"/>
                </a:solidFill>
                <a:effectLst/>
                <a:latin typeface="-apple-system"/>
              </a:rPr>
              <a:t>varN</a:t>
            </a:r>
            <a:r>
              <a:rPr lang="en-US" altLang="zh-CN" sz="1200" b="1" i="0" dirty="0">
                <a:solidFill>
                  <a:srgbClr val="2C3E50"/>
                </a:solidFill>
                <a:effectLst/>
                <a:latin typeface="-apple-system"/>
              </a:rPr>
              <a:t> :</a:t>
            </a:r>
          </a:p>
          <a:p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输出参数</a:t>
            </a:r>
            <a:r>
              <a:rPr lang="en-US" altLang="zh-CN" sz="1200" b="1" dirty="0">
                <a:solidFill>
                  <a:srgbClr val="2C3E50"/>
                </a:solidFill>
                <a:latin typeface="-apple-system"/>
              </a:rPr>
              <a:t>S</a:t>
            </a:r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：</a:t>
            </a:r>
            <a:r>
              <a:rPr lang="en-US" altLang="zh-CN" sz="1200" b="1" i="0" dirty="0">
                <a:solidFill>
                  <a:srgbClr val="2C3E50"/>
                </a:solidFill>
                <a:effectLst/>
                <a:latin typeface="-apple-system"/>
              </a:rPr>
              <a:t> </a:t>
            </a:r>
            <a:r>
              <a:rPr lang="zh-CN" altLang="en-US" sz="1200" b="1" i="0" dirty="0">
                <a:solidFill>
                  <a:srgbClr val="2C3E50"/>
                </a:solidFill>
                <a:effectLst/>
                <a:latin typeface="-apple-system"/>
              </a:rPr>
              <a:t>所有符号标量变量、函数和数组的名称，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-apple-system"/>
              </a:rPr>
              <a:t>输出为</a:t>
            </a:r>
            <a:r>
              <a:rPr lang="en-US" altLang="zh-CN" sz="1200" b="0" i="0" dirty="0">
                <a:solidFill>
                  <a:srgbClr val="2C3E50"/>
                </a:solidFill>
                <a:effectLst/>
                <a:latin typeface="-apple-system"/>
              </a:rPr>
              <a:t>Num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-apple-system"/>
              </a:rPr>
              <a:t>、</a:t>
            </a:r>
            <a:r>
              <a:rPr lang="en-US" altLang="zh-CN" sz="1200" b="0" i="0" dirty="0" err="1">
                <a:solidFill>
                  <a:srgbClr val="2C3E50"/>
                </a:solidFill>
                <a:effectLst/>
                <a:latin typeface="-apple-system"/>
              </a:rPr>
              <a:t>Symbolic.Arr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-apple-system"/>
              </a:rPr>
              <a:t>、</a:t>
            </a:r>
            <a:r>
              <a:rPr lang="en-US" altLang="zh-CN" sz="1200" b="0" i="0" dirty="0" err="1">
                <a:solidFill>
                  <a:srgbClr val="2C3E50"/>
                </a:solidFill>
                <a:effectLst/>
                <a:latin typeface="-apple-system"/>
              </a:rPr>
              <a:t>Sym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-apple-system"/>
              </a:rPr>
              <a:t>类型的符号变量、符号数组</a:t>
            </a:r>
            <a:endParaRPr lang="en-US" altLang="zh-CN" sz="1200" b="0" i="0" dirty="0">
              <a:solidFill>
                <a:srgbClr val="2C3E50"/>
              </a:solidFill>
              <a:effectLst/>
              <a:latin typeface="-apple-system"/>
            </a:endParaRPr>
          </a:p>
          <a:p>
            <a:r>
              <a:rPr lang="zh-CN" altLang="en-US" sz="1200" b="1" i="0" dirty="0">
                <a:solidFill>
                  <a:srgbClr val="2C3E50"/>
                </a:solidFill>
                <a:effectLst/>
                <a:latin typeface="-apple-system"/>
              </a:rPr>
              <a:t>注意事项：</a:t>
            </a:r>
            <a:endParaRPr lang="en-US" altLang="zh-CN" sz="1200" b="1" i="0" dirty="0">
              <a:solidFill>
                <a:srgbClr val="2C3E5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可用</a:t>
            </a:r>
            <a:r>
              <a:rPr lang="en-US" altLang="zh-CN" sz="1200" b="1" dirty="0">
                <a:solidFill>
                  <a:srgbClr val="2C3E50"/>
                </a:solidFill>
                <a:latin typeface="-apple-system"/>
              </a:rPr>
              <a:t>scalarize</a:t>
            </a:r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函数将表示数组的符号或表达式转换为符号或表达式的数组。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2C3E50"/>
                </a:solidFill>
                <a:latin typeface="-apple-system"/>
              </a:rPr>
              <a:t>@syms </a:t>
            </a:r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还可以通过 </a:t>
            </a:r>
            <a:r>
              <a:rPr lang="en-US" altLang="zh-CN" sz="1200" b="1" dirty="0">
                <a:solidFill>
                  <a:srgbClr val="2C3E50"/>
                </a:solidFill>
                <a:latin typeface="-apple-system"/>
              </a:rPr>
              <a:t>$ </a:t>
            </a:r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插值获取运行时符号值运算符，在这种情况下，</a:t>
            </a:r>
            <a:r>
              <a:rPr lang="en-US" altLang="zh-CN" sz="1200" b="1" dirty="0">
                <a:solidFill>
                  <a:srgbClr val="2C3E50"/>
                </a:solidFill>
                <a:latin typeface="-apple-system"/>
              </a:rPr>
              <a:t>@syms </a:t>
            </a:r>
            <a:r>
              <a:rPr lang="zh-CN" altLang="en-US" sz="1200" b="1" dirty="0">
                <a:solidFill>
                  <a:srgbClr val="2C3E50"/>
                </a:solidFill>
                <a:latin typeface="-apple-system"/>
              </a:rPr>
              <a:t>不会自动分配相反，它只返回一个符号变量向量。所有其余的语法也适用于此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75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rgbClr val="2C3E50"/>
                </a:solidFill>
                <a:latin typeface="-apple-system"/>
              </a:rPr>
              <a:t>typeof</a:t>
            </a:r>
            <a:r>
              <a:rPr lang="en-US" altLang="zh-CN" sz="1200" dirty="0">
                <a:solidFill>
                  <a:srgbClr val="2C3E50"/>
                </a:solidFill>
                <a:latin typeface="-apple-system"/>
              </a:rPr>
              <a:t>(p)  #</a:t>
            </a:r>
            <a:r>
              <a:rPr lang="zh-CN" altLang="en-US" sz="1200" dirty="0">
                <a:solidFill>
                  <a:srgbClr val="2C3E50"/>
                </a:solidFill>
                <a:latin typeface="-apple-system"/>
              </a:rPr>
              <a:t>结果</a:t>
            </a:r>
            <a:r>
              <a:rPr lang="en-US" altLang="zh-CN" sz="1200" dirty="0" err="1">
                <a:solidFill>
                  <a:srgbClr val="2C3E50"/>
                </a:solidFill>
                <a:latin typeface="-apple-system"/>
              </a:rPr>
              <a:t>DynamicPolynomials.Polynomial</a:t>
            </a:r>
            <a:r>
              <a:rPr lang="en-US" altLang="zh-CN" sz="1200" dirty="0">
                <a:solidFill>
                  <a:srgbClr val="2C3E50"/>
                </a:solidFill>
                <a:latin typeface="-apple-system"/>
              </a:rPr>
              <a:t>{true, Int64}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265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152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322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1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924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6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几个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整式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的积的形式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9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字典的每对键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=&gt;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分割，每个键值对用逗号分割，键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是唯一的，可以字符串也可以是数据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845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24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F5D7B6-9300-482A-AC6E-3BA105FED3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133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CN" dirty="0"/>
              <a:t>julia&gt; r=A\b</a:t>
            </a:r>
          </a:p>
          <a:p>
            <a:r>
              <a:rPr lang="pt-BR" altLang="zh-CN" dirty="0"/>
              <a:t>4-element Vector{Num}:</a:t>
            </a:r>
          </a:p>
          <a:p>
            <a:r>
              <a:rPr lang="pt-BR" altLang="zh-CN" dirty="0"/>
              <a:t> 82.91666666666666</a:t>
            </a:r>
          </a:p>
          <a:p>
            <a:r>
              <a:rPr lang="pt-BR" altLang="zh-CN" dirty="0"/>
              <a:t> 70.83333333333333</a:t>
            </a:r>
          </a:p>
          <a:p>
            <a:r>
              <a:rPr lang="pt-BR" altLang="zh-CN" dirty="0"/>
              <a:t> 70.83333333333333</a:t>
            </a:r>
          </a:p>
          <a:p>
            <a:r>
              <a:rPr lang="pt-BR" altLang="zh-CN" dirty="0"/>
              <a:t> 60.416666666666664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477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t1 t2 t3 t4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定义符号变量</a:t>
            </a:r>
            <a:endParaRPr lang="en-US" altLang="zh-C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dirty="0"/>
              <a:t>@parameters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c1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c2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c3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c4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eqs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t1 - t2 - t3~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-t1 +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t2 - t4~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-t1 +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t3 - t4~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c3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-t2 - t3 +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t4~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c4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符号方程组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solve_for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eqs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[t1, t2, t3, t4]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符号求解线性方程组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符号求解线性方程组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tt,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([c1=&gt;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190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,c2=&gt;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,c3=&gt;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,c4=&gt;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F5D7B6-9300-482A-AC6E-3BA105FED3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8351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#X, R =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TySymbolicMath.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sym_linsolve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974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90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036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differential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derivative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区别</a:t>
            </a:r>
            <a:endParaRPr lang="en-US" altLang="zh-CN"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differential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定义了一个对单个变量求导数的方法，同样可以定义求高阶导数的方法，但需要</a:t>
            </a:r>
            <a:r>
              <a:rPr lang="en-US" altLang="zh-CN" sz="1200" b="0" i="0" dirty="0" err="1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expand_derivatives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函数进行对结果的展示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derivative</a:t>
            </a:r>
            <a:r>
              <a:rPr lang="zh-CN" altLang="en-US" sz="1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函数方便于求解一阶导数，但在高阶导数会相对麻烦许多。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398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TySymbolicMath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y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为符号变量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#f=-(sin(x)+sin(y))^2 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定义符号表达式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f=x*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-y^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定义符号表达式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方向的网格矩阵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#fz=substitute(f,Dict([x=&gt;X,y=&gt;Y]))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#contour(X,Y,value.(reshape(fz,size(fz))))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#hold("on")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TySymbolicMath.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gradient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(f,[x, y])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求表达式的在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方向梯度向量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g[1]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g[2]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方向的网格矩阵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G1=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被网格矩阵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代替计算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方向网格矩阵梯度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G2=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被网格矩阵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代替计算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方向网格矩阵梯度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quiver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(G1,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(G1X))),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(G2Y,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(G2Y))), color=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箭头图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9717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dirty="0"/>
              <a:t>B </a:t>
            </a:r>
            <a:r>
              <a:rPr lang="en-US" altLang="zh-CN" dirty="0">
                <a:solidFill>
                  <a:srgbClr val="6BAB5B"/>
                </a:solidFill>
                <a:effectLst/>
              </a:rPr>
              <a:t>=</a:t>
            </a:r>
            <a:r>
              <a:rPr lang="en-US" altLang="zh-CN" dirty="0"/>
              <a:t> reshape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(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,</a:t>
            </a:r>
            <a:r>
              <a:rPr lang="en-US" altLang="zh-CN" dirty="0"/>
              <a:t> dims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)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使用元组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dims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重构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TySymbolicMath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y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为符号变量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#f=-(sin(x)+sin(y))^2 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定义符号表达式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f=x*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-y^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定义符号表达式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方向的网格矩阵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#fz=substitute(f,Dict([x=&gt;X,y=&gt;Y]))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#contour(X,Y,value.(reshape(fz,size(fz))))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#hold("on")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TySymbolicMath.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gradient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(f,[x, y])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求表达式的在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方向梯度向量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g[1]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g[2]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方向的网格矩阵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G1=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被网格矩阵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代替计算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方向网格矩阵梯度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G2=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被网格矩阵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代替计算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方向网格矩阵梯度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quiver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(G1,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(G1X))),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(G2Y,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(G2Y))), color=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箭头图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函数在该点处沿着该方向（此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梯度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的方向）变化最快，变化率最大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3317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493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191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50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D57747"/>
                </a:solidFill>
                <a:latin typeface="-apple-system"/>
              </a:rPr>
              <a:t>ODEProblem</a:t>
            </a:r>
            <a:r>
              <a:rPr lang="zh-CN" altLang="en-US" kern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定义一阶微分方程问题</a:t>
            </a:r>
            <a:r>
              <a:rPr lang="en-US" altLang="zh-CN" kern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kern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和数值法一样）</a:t>
            </a:r>
            <a:endParaRPr lang="en-US" altLang="zh-CN" sz="1200" kern="12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5400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2561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21212"/>
                </a:solidFill>
                <a:effectLst/>
                <a:ea typeface="-apple-system"/>
              </a:rPr>
              <a:t>利用不同算法和求解器输出控制，对问题进行求解。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21212"/>
                </a:solidFill>
                <a:effectLst/>
                <a:latin typeface="Arial Unicode MS"/>
                <a:ea typeface="Menlo"/>
              </a:rPr>
              <a:t>默认方法解 sol=solve(prob)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12121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21212"/>
                </a:solidFill>
                <a:effectLst/>
                <a:latin typeface="Arial Unicode MS"/>
                <a:ea typeface="Menlo"/>
              </a:rPr>
              <a:t>##低容差情况运用Vern7() sol1=solve(prob,Vern7(),abstol=1e-9)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12121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21212"/>
                </a:solidFill>
                <a:effectLst/>
                <a:latin typeface="Arial Unicode MS"/>
                <a:ea typeface="Menlo"/>
              </a:rPr>
              <a:t> ##设置最大迭代步长，使曲线更光滑 sol2=solve(prob,Vern7(),abstol=1e-9,dtmax=0.005)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12121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21212"/>
                </a:solidFill>
                <a:effectLst/>
                <a:latin typeface="Arial Unicode MS"/>
                <a:ea typeface="Menlo"/>
              </a:rPr>
              <a:t> ##设置最小迭代步长 sol3=solve(prob,Vern7(),abstol=1e-9,dtmin=0.00003,dtmax=0.00005)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12121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21212"/>
                </a:solidFill>
                <a:effectLst/>
                <a:latin typeface="Arial Unicode MS"/>
                <a:ea typeface="Menlo"/>
              </a:rPr>
              <a:t> #定步长算法中设置步长 sol4=solve(prob,Euler(),abstol=1e-9,dt=0.01)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5606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589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#/Doc/TySymbolicMath/SymbolicMath.html#&#25968;&#23383;&#19982;&#31934;&#24230;"/><Relationship Id="rId3" Type="http://schemas.openxmlformats.org/officeDocument/2006/relationships/hyperlink" Target="#/Doc/TySymbolicMath/SymbolicMath.html#&#20844;&#24335;&#36816;&#31639;"/><Relationship Id="rId7" Type="http://schemas.openxmlformats.org/officeDocument/2006/relationships/hyperlink" Target="#/Doc/TySymbolicMath/SymbolicMath.html#&#25968;&#23398;&#20989;&#25968;"/><Relationship Id="rId2" Type="http://schemas.openxmlformats.org/officeDocument/2006/relationships/hyperlink" Target="#/Doc/TySymbolicMath/SymbolicMath.html#&#26041;&#31243;&#27714;&#35299;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ymbolicMath/SymbolicMath.html#&#22810;&#39033;&#24335;"/><Relationship Id="rId5" Type="http://schemas.openxmlformats.org/officeDocument/2006/relationships/hyperlink" Target="#/Doc/TySymbolicMath/SymbolicMath.html#&#32447;&#24615;&#20195;&#25968;"/><Relationship Id="rId10" Type="http://schemas.openxmlformats.org/officeDocument/2006/relationships/hyperlink" Target="#/Doc/TySymbolicMath/SymbolicMath.html#&#31232;&#30095;&#30697;&#38453;"/><Relationship Id="rId4" Type="http://schemas.openxmlformats.org/officeDocument/2006/relationships/hyperlink" Target="#/Doc/TySymbolicMath/SymbolicMath.html#&#24494;&#31215;&#20998;"/><Relationship Id="rId9" Type="http://schemas.openxmlformats.org/officeDocument/2006/relationships/hyperlink" Target="#/Doc/TySymbolicMath/SymbolicMath.html#&#25968;&#35770;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#/Doc/TySymbolicMath/SymbolicMathematicsFundamentals/Exchange/poly2sym.html#poly2sym"/><Relationship Id="rId3" Type="http://schemas.openxmlformats.org/officeDocument/2006/relationships/hyperlink" Target="#/Doc/TySymbolicMath/SymbolicMathematicsFundamentals/CreateSymbolicsVariables/@variables.html#variables"/><Relationship Id="rId7" Type="http://schemas.openxmlformats.org/officeDocument/2006/relationships/hyperlink" Target="#/Doc/TySymbolicMath/SymbolicMathematicsFundamentals/Exchange/sym2poly.html#sym2poly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ymbolicMath/SymbolicMathematicsFundamentals/CreateSymbolicsVariables/scalarize.html#scalarize"/><Relationship Id="rId5" Type="http://schemas.openxmlformats.org/officeDocument/2006/relationships/hyperlink" Target="#/Doc/TySymbolicMath/SymbolicMathematicsFundamentals/CreateSymbolicsVariables/@polyvar.html#polyvar"/><Relationship Id="rId4" Type="http://schemas.openxmlformats.org/officeDocument/2006/relationships/hyperlink" Target="#/Doc/TySymbolicMath/SymbolicMathematicsFundamentals/CreateSymbolicsVariables/@syms.html#syms"/><Relationship Id="rId9" Type="http://schemas.openxmlformats.org/officeDocument/2006/relationships/hyperlink" Target="#/Doc/TySymbolicMath/SymbolicMathematicsFundamentals/FindSymbolicVariablesAndTerms/arguments.html#arguments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#/Doc/TySymbolicMath/SymbolicMathematicsFundamentals/OperatorsAndElementaryOperations/NumericOperations/rem.html#rem"/><Relationship Id="rId3" Type="http://schemas.openxmlformats.org/officeDocument/2006/relationships/hyperlink" Target="#/Doc/TySymbolicMath/SymbolicMathematicsFundamentals/OperatorsAndElementaryOperations/NumericOperations/minimum.html#minimum"/><Relationship Id="rId7" Type="http://schemas.openxmlformats.org/officeDocument/2006/relationships/hyperlink" Target="#/Doc/TySymbolicMath/SymbolicMathematicsFundamentals/OperatorsAndElementaryOperations/NumericOperations/ceil.html#ceil"/><Relationship Id="rId2" Type="http://schemas.openxmlformats.org/officeDocument/2006/relationships/hyperlink" Target="#/Doc/TySymbolicMath/SymbolicMathematicsFundamentals/OperatorsAndElementaryOperations/NumericOperations/maximum.html#maximum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ymbolicMath/SymbolicMathematicsFundamentals/OperatorsAndElementaryOperations/NumericOperations/mod.html#mod"/><Relationship Id="rId5" Type="http://schemas.openxmlformats.org/officeDocument/2006/relationships/hyperlink" Target="#/Doc/TySymbolicMath/SymbolicMathematicsFundamentals/OperatorsAndElementaryOperations/NumericOperations/min.html#min"/><Relationship Id="rId4" Type="http://schemas.openxmlformats.org/officeDocument/2006/relationships/hyperlink" Target="#/Doc/TySymbolicMath/SymbolicMathematicsFundamentals/OperatorsAndElementaryOperations/NumericOperations/max.html#max"/><Relationship Id="rId9" Type="http://schemas.openxmlformats.org/officeDocument/2006/relationships/hyperlink" Target="#/Doc/TySymbolicMath/SymbolicMathematicsFundamentals/OperatorsAndElementaryOperations/NumericOperations/floor.html#floor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#/Doc/TySymbolicMath/SymbolicMath/LinearAlgebra/LinearEquations/sym_rref.html"/><Relationship Id="rId2" Type="http://schemas.openxmlformats.org/officeDocument/2006/relationships/hyperlink" Target="#/Doc/TySymbolicMath/SymbolicMathematicsFundamentals/OperatorsAndElementaryOperations/ArithmeticOperations/A_b.html?searchQuery=A_b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ymbolicMath/SymbolicMath/EquationSolving/LinearEquationsAndSystems/find_poles.html#find-poles"/><Relationship Id="rId5" Type="http://schemas.openxmlformats.org/officeDocument/2006/relationships/hyperlink" Target="#/Doc/TySymbolicMath/SymbolicMath/LinearAlgebra/LinearEquations/sym_linsolve.html"/><Relationship Id="rId4" Type="http://schemas.openxmlformats.org/officeDocument/2006/relationships/hyperlink" Target="#/Doc/TySymbolicMath/SymbolicMath/EquationSolving/LinearEquationsAndSystems/solve_for.html#solve-for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#/Doc/TySymbolicMath/SymbolicMath/Calculus/VectorAnalysis/potential.html#potential"/><Relationship Id="rId3" Type="http://schemas.openxmlformats.org/officeDocument/2006/relationships/hyperlink" Target="#/Doc/TySymbolicMath/SymbolicMath/Calculus/LimitsDifferentiationAndIntegration/Differential.html#differential"/><Relationship Id="rId7" Type="http://schemas.openxmlformats.org/officeDocument/2006/relationships/hyperlink" Target="#/Doc/TySymbolicMath/SymbolicMath/Calculus/VectorAnalysis/laplacian.html#laplacia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SymbolicMath/SymbolicMath/Calculus/VectorAnalysis/divergence.html#divergence"/><Relationship Id="rId5" Type="http://schemas.openxmlformats.org/officeDocument/2006/relationships/hyperlink" Target="#/Doc/TySymbolicMath/SymbolicMath/Calculus/LimitsDifferentiationAndIntegration/derivative.html#derivative"/><Relationship Id="rId10" Type="http://schemas.openxmlformats.org/officeDocument/2006/relationships/image" Target="../media/image6.png"/><Relationship Id="rId4" Type="http://schemas.openxmlformats.org/officeDocument/2006/relationships/hyperlink" Target="#/Doc/TySymbolicMath/SymbolicMath/Calculus/LimitsDifferentiationAndIntegration/expand_derivatives.html"/><Relationship Id="rId9" Type="http://schemas.openxmlformats.org/officeDocument/2006/relationships/hyperlink" Target="#/Doc/TySymbolicMath/SymbolicMath/Calculus/VectorAnalysis/gradient.html#gradient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BA%A7%E6%95%B0/2381414?fromModule=lemma_inlink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hyperlink" Target="https://baike.baidu.com/item/%E5%87%BD%E6%95%B0/301912?fromModule=lemma_inlink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A0F067C2-9002-49EA-A132-2FF979E09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401" y="197434"/>
            <a:ext cx="2787943" cy="467051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sym typeface="Arial" panose="020B0604020202020204" pitchFamily="34" charset="0"/>
              </a:rPr>
              <a:t>第九章 符号计算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BCA3E4-89FD-4BB5-A112-7FDD38830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676" y="4283843"/>
            <a:ext cx="2611271" cy="3416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latin typeface="Arial Unicode MS"/>
                <a:ea typeface="source-code-pro"/>
              </a:rPr>
              <a:t>using </a:t>
            </a:r>
            <a:r>
              <a:rPr lang="zh-CN" altLang="zh-CN" dirty="0">
                <a:solidFill>
                  <a:srgbClr val="FF0000"/>
                </a:solidFill>
                <a:latin typeface="Arial Unicode MS"/>
                <a:ea typeface="source-code-pro"/>
              </a:rPr>
              <a:t>TySymbolicMath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263653-E5BA-46DB-B69A-C24D3FF27855}"/>
              </a:ext>
            </a:extLst>
          </p:cNvPr>
          <p:cNvSpPr/>
          <p:nvPr/>
        </p:nvSpPr>
        <p:spPr>
          <a:xfrm>
            <a:off x="6235897" y="4306794"/>
            <a:ext cx="2601166" cy="3416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zh-CN" dirty="0">
                <a:solidFill>
                  <a:srgbClr val="FF0000"/>
                </a:solidFill>
                <a:latin typeface="Arial Unicode MS"/>
                <a:ea typeface="source-code-pro"/>
              </a:rPr>
              <a:t>import TySymbolicMath</a:t>
            </a:r>
            <a:endParaRPr lang="ko-KR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3CDB38-39B0-44BE-A7C2-8BB5BFA7CA50}"/>
              </a:ext>
            </a:extLst>
          </p:cNvPr>
          <p:cNvSpPr txBox="1"/>
          <p:nvPr/>
        </p:nvSpPr>
        <p:spPr>
          <a:xfrm>
            <a:off x="948058" y="4256143"/>
            <a:ext cx="2611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使用符号数学库需加载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7C662E-7076-48F9-8CDA-C2887A98C54A}"/>
              </a:ext>
            </a:extLst>
          </p:cNvPr>
          <p:cNvSpPr txBox="1"/>
          <p:nvPr/>
        </p:nvSpPr>
        <p:spPr>
          <a:xfrm>
            <a:off x="5755998" y="4290650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93A67F68-E671-4D38-B56F-7B5146F21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6698" y="4095546"/>
            <a:ext cx="1296144" cy="546511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>
              <a:lnSpc>
                <a:spcPts val="22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103744-17BE-490E-8DEF-4105431CB7A1}"/>
              </a:ext>
            </a:extLst>
          </p:cNvPr>
          <p:cNvSpPr/>
          <p:nvPr/>
        </p:nvSpPr>
        <p:spPr>
          <a:xfrm>
            <a:off x="3853372" y="3776468"/>
            <a:ext cx="5247249" cy="40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ts val="2600"/>
              </a:lnSpc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将自变量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和参数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定义符号变量，再建符号表达式</a:t>
            </a:r>
            <a:endParaRPr lang="en-US" altLang="zh-CN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FF1987-9188-478D-ADB2-7714C9917E49}"/>
              </a:ext>
            </a:extLst>
          </p:cNvPr>
          <p:cNvSpPr/>
          <p:nvPr/>
        </p:nvSpPr>
        <p:spPr>
          <a:xfrm>
            <a:off x="334828" y="3781236"/>
            <a:ext cx="2660819" cy="412934"/>
          </a:xfrm>
          <a:prstGeom prst="rect">
            <a:avLst/>
          </a:prstGeom>
          <a:solidFill>
            <a:schemeClr val="bg1"/>
          </a:solidFill>
          <a:ln w="57150" cap="flat" cmpd="sng">
            <a:noFill/>
            <a:prstDash val="solid"/>
            <a:miter lim="800000"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285750" indent="-285750" eaLnBrk="0" fontAlgn="auto">
              <a:spcBef>
                <a:spcPts val="0"/>
              </a:spcBef>
              <a:spcAft>
                <a:spcPts val="0"/>
              </a:spcAft>
              <a:buClr>
                <a:srgbClr val="003B76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因变量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y=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自变量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参数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endParaRPr lang="ko-KR" altLang="en-US" b="1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微软雅黑" panose="020B0503020204020204" charset="-122"/>
            </a:endParaRPr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6750030E-E817-4637-A280-E95F325A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6350" y="105045"/>
            <a:ext cx="4826816" cy="491865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符号计算结果为函数表达式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EFEC9B1-8159-4F0B-B8D0-26C5349E994B}"/>
              </a:ext>
            </a:extLst>
          </p:cNvPr>
          <p:cNvSpPr txBox="1"/>
          <p:nvPr/>
        </p:nvSpPr>
        <p:spPr>
          <a:xfrm>
            <a:off x="342149" y="720322"/>
            <a:ext cx="8631759" cy="30843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数值计算通常涉及直接对具体的数值进行操作，获得数学问题的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近似解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。数值计算中常常需要运算四舍五入，导致误差积累，影响结果的准确性。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‌数值计算适用于需要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近似解的实际问题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，如工程计算、数据分析等。其优点是计算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速度快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，适合大规模数据处理；缺点是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精度受限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，产生累积误差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符号计算则涉及对数学表达式的操作，主要用于推导数学公式。结果一个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符号表达式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。其难点在于处理复杂的符号运算和表达式简化。此外，符号计算的运算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速度通常较慢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符号计算适合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理论研究和数学推导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。它能够提供精确的符号表达式，进一步分析和验证。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26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  <p:bldP spid="14" grpId="0" animBg="1"/>
      <p:bldP spid="15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C5A669B-2A83-4065-A0F1-F42F48C3F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842341"/>
              </p:ext>
            </p:extLst>
          </p:nvPr>
        </p:nvGraphicFramePr>
        <p:xfrm>
          <a:off x="611560" y="1347614"/>
          <a:ext cx="8352928" cy="3079663"/>
        </p:xfrm>
        <a:graphic>
          <a:graphicData uri="http://schemas.openxmlformats.org/drawingml/2006/table">
            <a:tbl>
              <a:tblPr/>
              <a:tblGrid>
                <a:gridCol w="2462583">
                  <a:extLst>
                    <a:ext uri="{9D8B030D-6E8A-4147-A177-3AD203B41FA5}">
                      <a16:colId xmlns:a16="http://schemas.microsoft.com/office/drawing/2014/main" val="739889102"/>
                    </a:ext>
                  </a:extLst>
                </a:gridCol>
                <a:gridCol w="5890345">
                  <a:extLst>
                    <a:ext uri="{9D8B030D-6E8A-4147-A177-3AD203B41FA5}">
                      <a16:colId xmlns:a16="http://schemas.microsoft.com/office/drawing/2014/main" val="676959071"/>
                    </a:ext>
                  </a:extLst>
                </a:gridCol>
              </a:tblGrid>
              <a:tr h="12858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简介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40737"/>
                  </a:ext>
                </a:extLst>
              </a:tr>
              <a:tr h="12858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方程求解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求解代数和微分方程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1633"/>
                  </a:ext>
                </a:extLst>
              </a:tr>
              <a:tr h="2250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公式运算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简化或修改表达式，替换部分表达式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31864"/>
                  </a:ext>
                </a:extLst>
              </a:tr>
              <a:tr h="2250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微积分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符号微分、积分、序列运算、极限和变换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457891"/>
                  </a:ext>
                </a:extLst>
              </a:tr>
              <a:tr h="2250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线性代数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符号向量和矩阵上的线性代数运算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15014"/>
                  </a:ext>
                </a:extLst>
              </a:tr>
              <a:tr h="2250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多项式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特征和最小多项式，多项式的系数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217638"/>
                  </a:ext>
                </a:extLst>
              </a:tr>
              <a:tr h="12858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数学函数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对数和特殊函数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196378"/>
                  </a:ext>
                </a:extLst>
              </a:tr>
              <a:tr h="2250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数字与精度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可变精度算术和初等数论运算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462532"/>
                  </a:ext>
                </a:extLst>
              </a:tr>
              <a:tr h="2250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数论</a:t>
                      </a:r>
                      <a:endParaRPr lang="zh-CN" alt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模块化算术运算和数字序列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733418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10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稀疏矩阵</a:t>
                      </a:r>
                      <a:endParaRPr lang="zh-CN" altLang="en-US" sz="18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初等稀疏矩阵，重排序算法，迭代法，稀疏线性代数</a:t>
                      </a:r>
                    </a:p>
                  </a:txBody>
                  <a:tcPr marL="32147" marR="32147" marT="16073" marB="1607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585677"/>
                  </a:ext>
                </a:extLst>
              </a:tr>
            </a:tbl>
          </a:graphicData>
        </a:graphic>
      </p:graphicFrame>
      <p:sp>
        <p:nvSpPr>
          <p:cNvPr id="3" name="TextBox 8">
            <a:extLst>
              <a:ext uri="{FF2B5EF4-FFF2-40B4-BE49-F238E27FC236}">
                <a16:creationId xmlns:a16="http://schemas.microsoft.com/office/drawing/2014/main" id="{5C065340-D319-49C9-ABE1-3D2B1ED61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72318"/>
            <a:ext cx="3159839" cy="520592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r>
              <a:rPr lang="zh-CN" altLang="en-US" kern="0" dirty="0">
                <a:sym typeface="Arial" panose="020B0604020202020204" pitchFamily="34" charset="0"/>
              </a:rPr>
              <a:t>第九章 符号计算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7FEA6F-A8CB-4A8B-8EA2-C86EFB634DF2}"/>
              </a:ext>
            </a:extLst>
          </p:cNvPr>
          <p:cNvSpPr txBox="1"/>
          <p:nvPr/>
        </p:nvSpPr>
        <p:spPr>
          <a:xfrm>
            <a:off x="5958309" y="1426800"/>
            <a:ext cx="2996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函数库：</a:t>
            </a:r>
            <a:r>
              <a:rPr lang="en-US" altLang="zh-CN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TySymbolicMath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DC8B9E-951B-4A53-8D1C-79276633D492}"/>
              </a:ext>
            </a:extLst>
          </p:cNvPr>
          <p:cNvSpPr txBox="1"/>
          <p:nvPr/>
        </p:nvSpPr>
        <p:spPr>
          <a:xfrm>
            <a:off x="539552" y="780310"/>
            <a:ext cx="8424935" cy="404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lnSpc>
                <a:spcPts val="2600"/>
              </a:lnSpc>
              <a:buFontTx/>
              <a:buNone/>
              <a:defRPr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en-US" altLang="zh-CN" dirty="0" err="1"/>
              <a:t>TySymbolicMath</a:t>
            </a:r>
            <a:r>
              <a:rPr lang="zh-CN" altLang="en-US" dirty="0"/>
              <a:t>工具箱可进行行微分、积分、简化、变换和方程求解</a:t>
            </a:r>
          </a:p>
        </p:txBody>
      </p:sp>
    </p:spTree>
    <p:extLst>
      <p:ext uri="{BB962C8B-B14F-4D97-AF65-F5344CB8AC3E}">
        <p14:creationId xmlns:p14="http://schemas.microsoft.com/office/powerpoint/2010/main" val="351326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3EC81C-4501-453B-93C9-33367C1BC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85" y="1638763"/>
            <a:ext cx="8516259" cy="273645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eaLnBrk="1" hangingPunct="1">
              <a:lnSpc>
                <a:spcPts val="4200"/>
              </a:lnSpc>
              <a:buFontTx/>
              <a:buNone/>
              <a:defRPr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§9.1 </a:t>
            </a:r>
            <a:r>
              <a:rPr lang="zh-CN" altLang="en-US" sz="24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符号对象创建及其基本操作</a:t>
            </a:r>
            <a:endParaRPr lang="en-US" altLang="zh-CN" sz="24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4200"/>
              </a:lnSpc>
              <a:buFontTx/>
              <a:buNone/>
              <a:defRPr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§9.2 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endParaRPr lang="en-US" altLang="zh-CN" sz="2400" b="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4200"/>
              </a:lnSpc>
              <a:buFontTx/>
              <a:buNone/>
              <a:defRPr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§9.3</a:t>
            </a:r>
            <a:r>
              <a:rPr lang="en-US" altLang="zh-CN" sz="24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线性方程求解</a:t>
            </a:r>
            <a:endParaRPr lang="en-US" altLang="zh-CN" sz="24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4200"/>
              </a:lnSpc>
              <a:buFontTx/>
              <a:buNone/>
              <a:defRPr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§9.4 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矢量分析</a:t>
            </a:r>
            <a:endParaRPr lang="en-US" altLang="zh-CN" sz="24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4200"/>
              </a:lnSpc>
              <a:buFontTx/>
              <a:buNone/>
              <a:defRPr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§9.5 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符号微分和微分方程求解</a:t>
            </a:r>
            <a:r>
              <a:rPr lang="en-US" altLang="zh-CN" sz="2400" b="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solve</a:t>
            </a:r>
            <a:endParaRPr lang="en-US" altLang="zh-CN" sz="24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3AD232-D9C7-479E-9B2E-7C5141E37014}"/>
              </a:ext>
            </a:extLst>
          </p:cNvPr>
          <p:cNvSpPr/>
          <p:nvPr/>
        </p:nvSpPr>
        <p:spPr>
          <a:xfrm>
            <a:off x="5580112" y="1907863"/>
            <a:ext cx="295232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符号计算是对未赋值的符号对象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可以是常数、变量、表达式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进行运算</a:t>
            </a:r>
            <a:endParaRPr lang="en-US" altLang="zh-CN" sz="20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D8A297-A251-41D1-9CD3-C6AC82AD7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500" y="-224289"/>
            <a:ext cx="468052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eaLnBrk="1" hangingPunct="1"/>
            <a:r>
              <a:rPr lang="zh-CN" altLang="en-US" sz="32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32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32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</a:t>
            </a:r>
            <a:r>
              <a:rPr lang="en-US" altLang="zh-CN" sz="3200" b="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syslab</a:t>
            </a:r>
            <a:r>
              <a:rPr lang="zh-CN" altLang="en-US" sz="32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符号计算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A18F4E-2944-4466-8CAF-BD1163BFCF2C}"/>
              </a:ext>
            </a:extLst>
          </p:cNvPr>
          <p:cNvSpPr/>
          <p:nvPr/>
        </p:nvSpPr>
        <p:spPr>
          <a:xfrm>
            <a:off x="2978090" y="1024961"/>
            <a:ext cx="5937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要将自变量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和参数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3B76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定义符号变量，再建符号表达式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3B76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468639-7AA6-4476-8338-9526B31F9670}"/>
              </a:ext>
            </a:extLst>
          </p:cNvPr>
          <p:cNvSpPr/>
          <p:nvPr/>
        </p:nvSpPr>
        <p:spPr>
          <a:xfrm>
            <a:off x="-122582" y="1003190"/>
            <a:ext cx="3117658" cy="412934"/>
          </a:xfrm>
          <a:prstGeom prst="rect">
            <a:avLst/>
          </a:prstGeom>
          <a:noFill/>
          <a:ln w="57150" cap="flat" cmpd="sng">
            <a:noFill/>
            <a:prstDash val="solid"/>
            <a:miter lim="800000"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285750" indent="-285750" eaLnBrk="0" fontAlgn="auto">
              <a:spcBef>
                <a:spcPts val="0"/>
              </a:spcBef>
              <a:spcAft>
                <a:spcPts val="0"/>
              </a:spcAft>
              <a:buClr>
                <a:srgbClr val="003B76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y=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f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自变量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参数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ko-KR" altLang="en-US" b="1" dirty="0">
              <a:solidFill>
                <a:schemeClr val="bg1"/>
              </a:solidFill>
              <a:highlight>
                <a:srgbClr val="003B76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49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BF93E5B0-402D-4C41-8006-A8F72F4E3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909776"/>
              </p:ext>
            </p:extLst>
          </p:nvPr>
        </p:nvGraphicFramePr>
        <p:xfrm>
          <a:off x="606047" y="1676564"/>
          <a:ext cx="7875724" cy="1649800"/>
        </p:xfrm>
        <a:graphic>
          <a:graphicData uri="http://schemas.openxmlformats.org/drawingml/2006/table">
            <a:tbl>
              <a:tblPr/>
              <a:tblGrid>
                <a:gridCol w="1600378">
                  <a:extLst>
                    <a:ext uri="{9D8B030D-6E8A-4147-A177-3AD203B41FA5}">
                      <a16:colId xmlns:a16="http://schemas.microsoft.com/office/drawing/2014/main" val="2191220563"/>
                    </a:ext>
                  </a:extLst>
                </a:gridCol>
                <a:gridCol w="6275346">
                  <a:extLst>
                    <a:ext uri="{9D8B030D-6E8A-4147-A177-3AD203B41FA5}">
                      <a16:colId xmlns:a16="http://schemas.microsoft.com/office/drawing/2014/main" val="2445732199"/>
                    </a:ext>
                  </a:extLst>
                </a:gridCol>
              </a:tblGrid>
              <a:tr h="136598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@variables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highlight>
                          <a:srgbClr val="003B76"/>
                        </a:highlight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创建</a:t>
                      </a:r>
                      <a:r>
                        <a:rPr lang="en-US" altLang="zh-CN" sz="18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Num</a:t>
                      </a: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型变量、数组、函数、方程</a:t>
                      </a: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94196"/>
                  </a:ext>
                </a:extLst>
              </a:tr>
              <a:tr h="22384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@syms</a:t>
                      </a:r>
                      <a:endParaRPr lang="en-US" sz="1800" b="1" u="none" strike="noStrike" kern="1200" dirty="0">
                        <a:solidFill>
                          <a:schemeClr val="bg1"/>
                        </a:solidFill>
                        <a:effectLst/>
                        <a:highlight>
                          <a:srgbClr val="003B76"/>
                        </a:highlight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创建</a:t>
                      </a:r>
                      <a:r>
                        <a:rPr lang="en-US" altLang="zh-CN" sz="18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Num</a:t>
                      </a: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型变量、数组、函数、方程</a:t>
                      </a: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42361"/>
                  </a:ext>
                </a:extLst>
              </a:tr>
              <a:tr h="1365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@polyvar</a:t>
                      </a:r>
                      <a:endParaRPr lang="en-US" sz="1800" b="1" u="none" strike="noStrike" kern="1200" dirty="0">
                        <a:solidFill>
                          <a:schemeClr val="bg1"/>
                        </a:solidFill>
                        <a:effectLst/>
                        <a:highlight>
                          <a:srgbClr val="003B76"/>
                        </a:highlight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创建构成多项式的变量</a:t>
                      </a:r>
                      <a:endParaRPr lang="zh-CN" altLang="en-US" sz="1800" b="1" u="none" strike="noStrike" kern="1200" noProof="0" dirty="0">
                        <a:solidFill>
                          <a:schemeClr val="bg1"/>
                        </a:solidFill>
                        <a:effectLst/>
                        <a:highlight>
                          <a:srgbClr val="003B76"/>
                        </a:highlight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94265"/>
                  </a:ext>
                </a:extLst>
              </a:tr>
              <a:tr h="3019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1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@parameters</a:t>
                      </a:r>
                      <a:endParaRPr lang="zh-CN" altLang="en-US" sz="1800" b="1" u="none" strike="noStrike" kern="1200" dirty="0">
                        <a:solidFill>
                          <a:schemeClr val="bg1"/>
                        </a:solidFill>
                        <a:effectLst/>
                        <a:highlight>
                          <a:srgbClr val="003B76"/>
                        </a:highlight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u="none" strike="noStrike" kern="1200" noProof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设置符号参数</a:t>
                      </a: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924247"/>
                  </a:ext>
                </a:extLst>
              </a:tr>
              <a:tr h="3019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scalarize</a:t>
                      </a:r>
                      <a:endParaRPr lang="en-US" sz="1800" b="1" u="none" strike="noStrike" kern="1200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将创建的符号变量或数组标量化显示</a:t>
                      </a:r>
                      <a:r>
                        <a:rPr lang="en-US" altLang="zh-CN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scalarize(a)</a:t>
                      </a:r>
                      <a:endParaRPr lang="zh-CN" altLang="en-US" sz="1800" b="0" u="none" strike="noStrike" kern="1200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04578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F247C87-8EE5-4FCD-82E1-4AAE4B27B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351" y="1157698"/>
            <a:ext cx="5908879" cy="36933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dist"/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即创建因变量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y=f(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自变量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、变参数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a)=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表达式为符号对象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0388DF52-8AB7-485E-B97C-F355377C63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571015"/>
              </p:ext>
            </p:extLst>
          </p:nvPr>
        </p:nvGraphicFramePr>
        <p:xfrm>
          <a:off x="611560" y="4335750"/>
          <a:ext cx="7965899" cy="396240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3459203202"/>
                    </a:ext>
                  </a:extLst>
                </a:gridCol>
                <a:gridCol w="6381723">
                  <a:extLst>
                    <a:ext uri="{9D8B030D-6E8A-4147-A177-3AD203B41FA5}">
                      <a16:colId xmlns:a16="http://schemas.microsoft.com/office/drawing/2014/main" val="1880491267"/>
                    </a:ext>
                  </a:extLst>
                </a:gridCol>
              </a:tblGrid>
              <a:tr h="2665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b="1" u="none" strike="noStrike" kern="1200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2000" b="1" u="none" strike="noStrike" kern="1200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790016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1A12CDF3-C18E-4AE9-94BF-335DF2EB647C}"/>
              </a:ext>
            </a:extLst>
          </p:cNvPr>
          <p:cNvSpPr txBox="1">
            <a:spLocks/>
          </p:cNvSpPr>
          <p:nvPr/>
        </p:nvSpPr>
        <p:spPr>
          <a:xfrm>
            <a:off x="640215" y="163333"/>
            <a:ext cx="7920880" cy="4205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9.1.1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符号对象及其基本操作</a:t>
            </a:r>
            <a:r>
              <a:rPr lang="en-US" altLang="zh-CN" sz="28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</a:t>
            </a:r>
            <a:r>
              <a:rPr lang="zh-CN" altLang="en-US" sz="28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常用函数命令</a:t>
            </a:r>
          </a:p>
        </p:txBody>
      </p:sp>
      <p:graphicFrame>
        <p:nvGraphicFramePr>
          <p:cNvPr id="10" name="内容占位符 4">
            <a:extLst>
              <a:ext uri="{FF2B5EF4-FFF2-40B4-BE49-F238E27FC236}">
                <a16:creationId xmlns:a16="http://schemas.microsoft.com/office/drawing/2014/main" id="{3A4D9F23-F08C-43E7-BF2D-1EE8DCA1BD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6691439"/>
              </p:ext>
            </p:extLst>
          </p:nvPr>
        </p:nvGraphicFramePr>
        <p:xfrm>
          <a:off x="637343" y="3412684"/>
          <a:ext cx="7992887" cy="1097280"/>
        </p:xfrm>
        <a:graphic>
          <a:graphicData uri="http://schemas.openxmlformats.org/drawingml/2006/table">
            <a:tbl>
              <a:tblPr/>
              <a:tblGrid>
                <a:gridCol w="1600378">
                  <a:extLst>
                    <a:ext uri="{9D8B030D-6E8A-4147-A177-3AD203B41FA5}">
                      <a16:colId xmlns:a16="http://schemas.microsoft.com/office/drawing/2014/main" val="2191220563"/>
                    </a:ext>
                  </a:extLst>
                </a:gridCol>
                <a:gridCol w="6392509">
                  <a:extLst>
                    <a:ext uri="{9D8B030D-6E8A-4147-A177-3AD203B41FA5}">
                      <a16:colId xmlns:a16="http://schemas.microsoft.com/office/drawing/2014/main" val="2445732199"/>
                    </a:ext>
                  </a:extLst>
                </a:gridCol>
              </a:tblGrid>
              <a:tr h="307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substitute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符号替换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981679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sng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sym2poly</a:t>
                      </a:r>
                      <a:endParaRPr lang="en-US" sz="1800" b="1" u="sng" strike="noStrike" kern="1200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poly2sym</a:t>
                      </a:r>
                      <a:r>
                        <a:rPr lang="zh-CN" alt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符号和数值转换，符号多项式与系数多项式变换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16078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arguments</a:t>
                      </a:r>
                      <a:endParaRPr lang="en-US" sz="1800" b="0" u="none" strike="noStrike" kern="1200" dirty="0">
                        <a:solidFill>
                          <a:srgbClr val="00206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查找表达式的组成</a:t>
                      </a:r>
                      <a:r>
                        <a:rPr lang="en-US" altLang="zh-CN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,</a:t>
                      </a:r>
                      <a:r>
                        <a:rPr lang="zh-CN" alt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获取 </a:t>
                      </a:r>
                      <a:r>
                        <a:rPr lang="en-US" altLang="zh-CN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x </a:t>
                      </a:r>
                      <a:r>
                        <a:rPr lang="zh-CN" altLang="en-US" sz="1800" b="0" u="none" strike="noStrike" kern="1200" dirty="0">
                          <a:solidFill>
                            <a:srgbClr val="00206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的参数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04578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A271305-2280-4C43-9FD5-16996320FEEF}"/>
              </a:ext>
            </a:extLst>
          </p:cNvPr>
          <p:cNvSpPr txBox="1"/>
          <p:nvPr/>
        </p:nvSpPr>
        <p:spPr>
          <a:xfrm>
            <a:off x="6516217" y="1761998"/>
            <a:ext cx="237626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创建符号</a:t>
            </a:r>
            <a:r>
              <a:rPr lang="zh-CN" altLang="en-US" dirty="0">
                <a:solidFill>
                  <a:schemeClr val="bg1"/>
                </a:solidFill>
                <a:highlight>
                  <a:srgbClr val="736303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对象</a:t>
            </a:r>
            <a:r>
              <a:rPr lang="zh-CN" altLang="en-US" b="0" i="0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的方式</a:t>
            </a:r>
            <a:endParaRPr lang="zh-CN" altLang="en-US" dirty="0">
              <a:solidFill>
                <a:schemeClr val="bg1"/>
              </a:solidFill>
              <a:highlight>
                <a:srgbClr val="736303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BB07EA-390C-4A37-8A3A-9EAF8D1D6C12}"/>
              </a:ext>
            </a:extLst>
          </p:cNvPr>
          <p:cNvSpPr/>
          <p:nvPr/>
        </p:nvSpPr>
        <p:spPr>
          <a:xfrm>
            <a:off x="1866760" y="701198"/>
            <a:ext cx="688802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符号变量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符号参数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符号表达式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符号方程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数组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符号数字</a:t>
            </a:r>
            <a:r>
              <a:rPr lang="en-US" altLang="zh-CN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符号函数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9450BE-FF80-4382-85FE-DBC442B19291}"/>
              </a:ext>
            </a:extLst>
          </p:cNvPr>
          <p:cNvSpPr txBox="1"/>
          <p:nvPr/>
        </p:nvSpPr>
        <p:spPr>
          <a:xfrm>
            <a:off x="467544" y="593794"/>
            <a:ext cx="1584176" cy="466153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45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D57747"/>
                </a:solidFill>
                <a:effectLst/>
              </a:rPr>
              <a:t>符号对象</a:t>
            </a:r>
            <a:r>
              <a:rPr lang="zh-CN" altLang="en-US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24EAF3-3832-41AC-904B-6BD1076D290B}"/>
              </a:ext>
            </a:extLst>
          </p:cNvPr>
          <p:cNvSpPr txBox="1"/>
          <p:nvPr/>
        </p:nvSpPr>
        <p:spPr>
          <a:xfrm>
            <a:off x="640215" y="1146267"/>
            <a:ext cx="2418515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-apple-system"/>
              </a:rPr>
              <a:t>创建和查找符号对象</a:t>
            </a:r>
            <a:r>
              <a:rPr lang="en-US" altLang="zh-CN" dirty="0">
                <a:solidFill>
                  <a:schemeClr val="bg1"/>
                </a:solidFill>
                <a:latin typeface="-apple-system"/>
              </a:rPr>
              <a:t>: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48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CBE428D8-E3F4-1D09-73D2-81008868662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65494" y="31734"/>
            <a:ext cx="8004083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320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>
              <a:lnSpc>
                <a:spcPct val="50000"/>
              </a:lnSpc>
            </a:pP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9.1.2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创建符号对象</a:t>
            </a:r>
            <a:r>
              <a:rPr lang="en-US" altLang="zh-CN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——@variables</a:t>
            </a:r>
            <a:r>
              <a:rPr lang="zh-CN" altLang="en-US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函数创建语法</a:t>
            </a:r>
            <a:endParaRPr lang="zh-CN" altLang="en-US" sz="2800" kern="12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FEEAC1-A2B1-1C73-2006-3C5AC5BB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5803" y="1203598"/>
            <a:ext cx="5562622" cy="417678"/>
          </a:xfrm>
        </p:spPr>
        <p:txBody>
          <a:bodyPr/>
          <a:lstStyle/>
          <a:p>
            <a:pPr marL="0" indent="0" algn="dist">
              <a:buNone/>
            </a:pPr>
            <a:r>
              <a:rPr lang="zh-CN" altLang="en-US" sz="2000" b="1" dirty="0"/>
              <a:t>可</a:t>
            </a:r>
            <a:r>
              <a:rPr lang="zh-CN" altLang="en-US" sz="2000" dirty="0"/>
              <a:t>为符号标量变量、数组或矩阵变量、符号函数</a:t>
            </a:r>
            <a:endParaRPr lang="en-US" altLang="zh-CN" sz="2000" dirty="0"/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DA96AD3E-492E-267E-1C25-21C5B82742C3}"/>
              </a:ext>
            </a:extLst>
          </p:cNvPr>
          <p:cNvSpPr/>
          <p:nvPr/>
        </p:nvSpPr>
        <p:spPr bwMode="auto">
          <a:xfrm>
            <a:off x="323528" y="1249948"/>
            <a:ext cx="3168349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@variables var1 var2... </a:t>
            </a:r>
            <a:r>
              <a:rPr lang="en-US" altLang="zh-CN" b="1" kern="0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varn</a:t>
            </a:r>
            <a:r>
              <a:rPr lang="en-US" altLang="zh-CN" b="1" kern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B943B2-0297-40BC-A363-5759EAFFE3FB}"/>
              </a:ext>
            </a:extLst>
          </p:cNvPr>
          <p:cNvSpPr txBox="1"/>
          <p:nvPr/>
        </p:nvSpPr>
        <p:spPr>
          <a:xfrm>
            <a:off x="264532" y="1668657"/>
            <a:ext cx="5257329" cy="2969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25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</a:t>
            </a:r>
            <a:r>
              <a:rPr lang="zh-CN" altLang="fr-FR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符号对象：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为实数、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为复数、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z(t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fr-FR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fr-FR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@variables t::Real y::Complex z(t)  </a:t>
            </a:r>
          </a:p>
          <a:p>
            <a:pPr>
              <a:lnSpc>
                <a:spcPts val="2500"/>
              </a:lnSpc>
            </a:pPr>
            <a:r>
              <a:rPr lang="fr-FR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3-element Vector{Any}:</a:t>
            </a:r>
          </a:p>
          <a:p>
            <a:pPr>
              <a:lnSpc>
                <a:spcPts val="2500"/>
              </a:lnSpc>
            </a:pPr>
            <a:r>
              <a:rPr lang="fr-FR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</a:p>
          <a:p>
            <a:pPr>
              <a:lnSpc>
                <a:spcPts val="2500"/>
              </a:lnSpc>
            </a:pPr>
            <a:r>
              <a:rPr lang="fr-FR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</a:p>
          <a:p>
            <a:pPr>
              <a:lnSpc>
                <a:spcPts val="2500"/>
              </a:lnSpc>
            </a:pPr>
            <a:r>
              <a:rPr lang="fr-FR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z(t)</a:t>
            </a:r>
          </a:p>
          <a:p>
            <a:pPr marL="457200" indent="-457200">
              <a:lnSpc>
                <a:spcPts val="2500"/>
              </a:lnSpc>
              <a:buFont typeface="+mj-ea"/>
              <a:buAutoNum type="circleNumDbPlain" startAt="2"/>
            </a:pP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用符号变量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构成符号表达式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</a:t>
            </a:r>
            <a:endParaRPr lang="zh-CN" altLang="en-US" dirty="0">
              <a:solidFill>
                <a:srgbClr val="D57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expr = t+ y + sin(z)  </a:t>
            </a:r>
          </a:p>
          <a:p>
            <a:pPr>
              <a:lnSpc>
                <a:spcPts val="25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expr = </a:t>
            </a:r>
            <a:r>
              <a:rPr lang="en-US" altLang="zh-CN" sz="2000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t+y</a:t>
            </a: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+ sin(z(t))</a:t>
            </a:r>
            <a:endParaRPr lang="zh-CN" altLang="en-US" sz="20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AEB96D40-7033-4835-9FD7-255A42FFF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7338" y="2608191"/>
            <a:ext cx="3444135" cy="821295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i="0" dirty="0">
                <a:solidFill>
                  <a:srgbClr val="FFFF00"/>
                </a:solidFill>
                <a:effectLst/>
                <a:latin typeface="-apple-system"/>
              </a:rPr>
              <a:t>创建类型默认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-apple-system"/>
              </a:rPr>
              <a:t>Num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-apple-system"/>
              </a:rPr>
              <a:t>类型，</a:t>
            </a:r>
            <a:endParaRPr lang="en-US" altLang="zh-CN" sz="1400" b="1" i="0" dirty="0">
              <a:solidFill>
                <a:srgbClr val="FFFF00"/>
              </a:solidFill>
              <a:effectLst/>
              <a:latin typeface="-apple-system"/>
            </a:endParaRPr>
          </a:p>
          <a:p>
            <a:r>
              <a:rPr lang="zh-CN" altLang="en-US" sz="1400" b="1" i="0" dirty="0">
                <a:solidFill>
                  <a:srgbClr val="FFFF00"/>
                </a:solidFill>
                <a:effectLst/>
                <a:latin typeface="-apple-system"/>
              </a:rPr>
              <a:t>即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-apple-system"/>
              </a:rPr>
              <a:t>Real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-apple-system"/>
              </a:rPr>
              <a:t>类型的子类型</a:t>
            </a:r>
            <a:endParaRPr lang="zh-CN" altLang="en-US" sz="1400" b="1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AD92D7F-5970-419C-9E8B-139BCA282105}"/>
              </a:ext>
            </a:extLst>
          </p:cNvPr>
          <p:cNvSpPr txBox="1">
            <a:spLocks/>
          </p:cNvSpPr>
          <p:nvPr/>
        </p:nvSpPr>
        <p:spPr>
          <a:xfrm>
            <a:off x="5510908" y="1626070"/>
            <a:ext cx="3460657" cy="50122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457200" indent="-457200">
              <a:lnSpc>
                <a:spcPts val="2200"/>
              </a:lnSpc>
              <a:buFont typeface="+mj-ea"/>
              <a:buAutoNum type="circleNumDbPlain" startAt="3"/>
            </a:pPr>
            <a:r>
              <a:rPr lang="zh-CN" altLang="en-US" sz="1800" b="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符号变量</a:t>
            </a:r>
            <a:r>
              <a:rPr lang="en-US" altLang="zh-CN" sz="1800" b="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b="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再构成符号数组</a:t>
            </a:r>
            <a:endParaRPr lang="es-ES" altLang="zh-CN" sz="1800" b="0" dirty="0">
              <a:solidFill>
                <a:srgbClr val="D57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02DC8D-C832-4C44-A4E4-E0DDAD13D034}"/>
              </a:ext>
            </a:extLst>
          </p:cNvPr>
          <p:cNvSpPr txBox="1"/>
          <p:nvPr/>
        </p:nvSpPr>
        <p:spPr>
          <a:xfrm>
            <a:off x="5841085" y="1989373"/>
            <a:ext cx="3275856" cy="263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julia&gt; @variables x</a:t>
            </a: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1-element Vector{</a:t>
            </a:r>
            <a:r>
              <a:rPr lang="es-E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es-E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}:</a:t>
            </a: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x</a:t>
            </a: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julia&gt; M = [x x^3; x^2 x^4]</a:t>
            </a: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2×2 Matrix{Num}:</a:t>
            </a: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x  x^3</a:t>
            </a: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x^2  x^4</a:t>
            </a:r>
          </a:p>
          <a:p>
            <a:pPr>
              <a:lnSpc>
                <a:spcPts val="22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计算矩阵行列式</a:t>
            </a:r>
            <a:endParaRPr lang="en-US" altLang="zh-CN" sz="20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s-E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julia&gt; 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det(M)</a:t>
            </a:r>
            <a:r>
              <a:rPr lang="zh-CN" altLang="en-US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结果为</a:t>
            </a:r>
            <a:r>
              <a:rPr lang="en-US" altLang="zh-CN" sz="20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endParaRPr lang="zh-CN" altLang="en-US" sz="20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EA8963-19CE-4F1E-96EB-DAEAA4ED310F}"/>
              </a:ext>
            </a:extLst>
          </p:cNvPr>
          <p:cNvSpPr/>
          <p:nvPr/>
        </p:nvSpPr>
        <p:spPr>
          <a:xfrm>
            <a:off x="264532" y="679628"/>
            <a:ext cx="8627948" cy="4802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</a:pPr>
            <a:r>
              <a:rPr lang="en-US" altLang="zh-CN" sz="2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@variables</a:t>
            </a:r>
            <a:r>
              <a:rPr lang="zh-CN" altLang="en-US" sz="2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 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var1 var2 ...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varn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为符号标量变量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用空格分隔开</a:t>
            </a:r>
          </a:p>
        </p:txBody>
      </p:sp>
    </p:spTree>
    <p:extLst>
      <p:ext uri="{BB962C8B-B14F-4D97-AF65-F5344CB8AC3E}">
        <p14:creationId xmlns:p14="http://schemas.microsoft.com/office/powerpoint/2010/main" val="367651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C87F53-ED85-45D9-904B-6D7760D2F4AE}"/>
              </a:ext>
            </a:extLst>
          </p:cNvPr>
          <p:cNvSpPr txBox="1"/>
          <p:nvPr/>
        </p:nvSpPr>
        <p:spPr>
          <a:xfrm>
            <a:off x="251200" y="699079"/>
            <a:ext cx="5452405" cy="4589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建符号数组为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1F8F4E-004E-45E2-BE32-FEA64CA57F0D}"/>
              </a:ext>
            </a:extLst>
          </p:cNvPr>
          <p:cNvSpPr txBox="1"/>
          <p:nvPr/>
        </p:nvSpPr>
        <p:spPr>
          <a:xfrm>
            <a:off x="6916247" y="2756573"/>
            <a:ext cx="2304576" cy="188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4"/>
            </a:pP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标量化显示</a:t>
            </a:r>
          </a:p>
          <a:p>
            <a:pPr>
              <a:lnSpc>
                <a:spcPts val="2600"/>
              </a:lnSpc>
            </a:pPr>
            <a:r>
              <a:rPr lang="es-ES" altLang="zh-CN" dirty="0">
                <a:solidFill>
                  <a:srgbClr val="002060"/>
                </a:solidFill>
              </a:rPr>
              <a:t>    z=scalarize(x)</a:t>
            </a:r>
          </a:p>
          <a:p>
            <a:pPr>
              <a:lnSpc>
                <a:spcPts val="2300"/>
              </a:lnSpc>
            </a:pPr>
            <a:r>
              <a:rPr lang="fr-FR" altLang="zh-CN" sz="1400" dirty="0">
                <a:solidFill>
                  <a:srgbClr val="00B0F0"/>
                </a:solidFill>
              </a:rPr>
              <a:t>     3×2 Matrix{Num}:</a:t>
            </a:r>
          </a:p>
          <a:p>
            <a:pPr>
              <a:lnSpc>
                <a:spcPts val="2300"/>
              </a:lnSpc>
            </a:pPr>
            <a:r>
              <a:rPr lang="fr-FR" altLang="zh-CN" sz="1400" dirty="0">
                <a:solidFill>
                  <a:srgbClr val="00B0F0"/>
                </a:solidFill>
              </a:rPr>
              <a:t>         x[1, 1]  x[1, 2]</a:t>
            </a:r>
          </a:p>
          <a:p>
            <a:pPr>
              <a:lnSpc>
                <a:spcPts val="2300"/>
              </a:lnSpc>
            </a:pPr>
            <a:r>
              <a:rPr lang="fr-FR" altLang="zh-CN" sz="1400" dirty="0">
                <a:solidFill>
                  <a:srgbClr val="00B0F0"/>
                </a:solidFill>
              </a:rPr>
              <a:t>         x[2, 1]  x[2, 2]</a:t>
            </a:r>
          </a:p>
          <a:p>
            <a:pPr>
              <a:lnSpc>
                <a:spcPts val="2300"/>
              </a:lnSpc>
            </a:pPr>
            <a:r>
              <a:rPr lang="fr-FR" altLang="zh-CN" sz="1400" dirty="0">
                <a:solidFill>
                  <a:srgbClr val="00B0F0"/>
                </a:solidFill>
              </a:rPr>
              <a:t>         x[3, 1]  x[3, 2]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426CFD76-9AFD-4E94-B7E3-E6BF698F0E38}"/>
              </a:ext>
            </a:extLst>
          </p:cNvPr>
          <p:cNvSpPr/>
          <p:nvPr/>
        </p:nvSpPr>
        <p:spPr bwMode="auto">
          <a:xfrm>
            <a:off x="310431" y="3350299"/>
            <a:ext cx="149006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</a:rPr>
              <a:t>scalarize</a:t>
            </a:r>
            <a:r>
              <a:rPr lang="en-US" altLang="zh-CN" sz="2000" b="0" i="0" kern="1200" dirty="0">
                <a:solidFill>
                  <a:schemeClr val="bg1"/>
                </a:solidFill>
                <a:effectLst/>
              </a:rPr>
              <a:t>(x)</a:t>
            </a:r>
            <a:endParaRPr lang="en-US" altLang="zh-CN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741CE0-DEC0-4304-ADAA-B4837DFE0A2D}"/>
              </a:ext>
            </a:extLst>
          </p:cNvPr>
          <p:cNvSpPr txBox="1"/>
          <p:nvPr/>
        </p:nvSpPr>
        <p:spPr>
          <a:xfrm>
            <a:off x="1753640" y="3330231"/>
            <a:ext cx="56266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200" i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>
                <a:solidFill>
                  <a:srgbClr val="0070C0"/>
                </a:solidFill>
              </a:rPr>
              <a:t> 将符号变量或数组</a:t>
            </a:r>
            <a:r>
              <a:rPr lang="en-US" altLang="zh-CN" dirty="0">
                <a:solidFill>
                  <a:srgbClr val="0070C0"/>
                </a:solidFill>
              </a:rPr>
              <a:t>x</a:t>
            </a:r>
            <a:r>
              <a:rPr lang="zh-CN" altLang="en-US" dirty="0">
                <a:solidFill>
                  <a:srgbClr val="0070C0"/>
                </a:solidFill>
              </a:rPr>
              <a:t>标量化显示每个元素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769B4781-CBCD-43E8-A695-646732BDE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22" y="123769"/>
            <a:ext cx="8640960" cy="535339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500" b="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500" b="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500" b="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9.1.2 </a:t>
            </a:r>
            <a:r>
              <a:rPr lang="zh-CN" altLang="en-US" sz="2500" b="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创建符号对象</a:t>
            </a:r>
            <a:r>
              <a:rPr lang="en-US" altLang="zh-CN" sz="25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——@variables</a:t>
            </a:r>
            <a:r>
              <a:rPr lang="zh-CN" altLang="en-US" sz="25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建立符号数组和标量化</a:t>
            </a:r>
            <a:endParaRPr lang="zh-CN" altLang="en-US" sz="2500" b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5B9633-CC01-4A8A-A3B1-B7ED9E0FA975}"/>
              </a:ext>
            </a:extLst>
          </p:cNvPr>
          <p:cNvSpPr txBox="1"/>
          <p:nvPr/>
        </p:nvSpPr>
        <p:spPr>
          <a:xfrm>
            <a:off x="6084168" y="735485"/>
            <a:ext cx="3059832" cy="205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计算符号数组维度</a:t>
            </a:r>
            <a:endParaRPr lang="en-US" altLang="zh-CN" dirty="0">
              <a:solidFill>
                <a:srgbClr val="D57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ndims.([</a:t>
            </a:r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]) </a:t>
            </a:r>
          </a:p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2-element Vector{Int64}:</a:t>
            </a:r>
          </a:p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</a:p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sz="22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1" name="内容占位符 4">
            <a:extLst>
              <a:ext uri="{FF2B5EF4-FFF2-40B4-BE49-F238E27FC236}">
                <a16:creationId xmlns:a16="http://schemas.microsoft.com/office/drawing/2014/main" id="{DDB9A109-2144-4CAA-B113-7ECB07B1B2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348155"/>
              </p:ext>
            </p:extLst>
          </p:nvPr>
        </p:nvGraphicFramePr>
        <p:xfrm>
          <a:off x="228663" y="2851694"/>
          <a:ext cx="6202251" cy="329960"/>
        </p:xfrm>
        <a:graphic>
          <a:graphicData uri="http://schemas.openxmlformats.org/drawingml/2006/table">
            <a:tbl>
              <a:tblPr/>
              <a:tblGrid>
                <a:gridCol w="6202251">
                  <a:extLst>
                    <a:ext uri="{9D8B030D-6E8A-4147-A177-3AD203B41FA5}">
                      <a16:colId xmlns:a16="http://schemas.microsoft.com/office/drawing/2014/main" val="2191220563"/>
                    </a:ext>
                  </a:extLst>
                </a:gridCol>
              </a:tblGrid>
              <a:tr h="301986">
                <a:tc>
                  <a:txBody>
                    <a:bodyPr/>
                    <a:lstStyle/>
                    <a:p>
                      <a:pPr marL="342900" indent="-342900">
                        <a:buFont typeface="+mj-ea"/>
                        <a:buAutoNum type="circleNumDbPlain" startAt="3"/>
                      </a:pPr>
                      <a:r>
                        <a:rPr lang="zh-CN" altLang="en-US" sz="1800" kern="1200" dirty="0">
                          <a:solidFill>
                            <a:srgbClr val="D5774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标量化</a:t>
                      </a:r>
                      <a:r>
                        <a:rPr lang="en-US" altLang="zh-CN" sz="1800" kern="1200" dirty="0">
                          <a:solidFill>
                            <a:srgbClr val="D5774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scalarize</a:t>
                      </a:r>
                      <a:r>
                        <a:rPr lang="zh-CN" altLang="en-US" sz="1800" kern="1200" dirty="0">
                          <a:solidFill>
                            <a:srgbClr val="D5774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展示符号数组</a:t>
                      </a:r>
                      <a:r>
                        <a:rPr lang="en-US" altLang="zh-CN" sz="1800" kern="1200" dirty="0">
                          <a:solidFill>
                            <a:srgbClr val="D5774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800" kern="1200" dirty="0">
                          <a:solidFill>
                            <a:srgbClr val="D5774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直观形式便于数组操作</a:t>
                      </a: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045788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FF5827A6-DCF0-4E41-AFA0-0EC0D6A6E8AC}"/>
              </a:ext>
            </a:extLst>
          </p:cNvPr>
          <p:cNvSpPr txBox="1"/>
          <p:nvPr/>
        </p:nvSpPr>
        <p:spPr>
          <a:xfrm>
            <a:off x="251200" y="3930061"/>
            <a:ext cx="6010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i="0" kern="120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x— </a:t>
            </a:r>
            <a:r>
              <a:rPr lang="zh-CN" altLang="en-US" sz="2400" i="0" kern="120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符号标量变量、矩阵、数组或矩阵变量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4A7D54-9F59-45EC-BA5F-72639BB05AC6}"/>
              </a:ext>
            </a:extLst>
          </p:cNvPr>
          <p:cNvSpPr txBox="1"/>
          <p:nvPr/>
        </p:nvSpPr>
        <p:spPr>
          <a:xfrm>
            <a:off x="240380" y="1108457"/>
            <a:ext cx="5182618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@variables x[1:3,1:2] y[1:3]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2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2-element Vector{</a:t>
            </a:r>
            <a:r>
              <a:rPr lang="en-US" altLang="zh-CN" sz="220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Symbolics.Arr</a:t>
            </a: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{Num}}:</a:t>
            </a:r>
          </a:p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x[1:3,1:2]</a:t>
            </a:r>
          </a:p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y[1:3]</a:t>
            </a:r>
          </a:p>
        </p:txBody>
      </p:sp>
    </p:spTree>
    <p:extLst>
      <p:ext uri="{BB962C8B-B14F-4D97-AF65-F5344CB8AC3E}">
        <p14:creationId xmlns:p14="http://schemas.microsoft.com/office/powerpoint/2010/main" val="61232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6343CA-77D0-40F8-9097-E8C39E559BB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43608" y="50129"/>
            <a:ext cx="8004083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320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>
              <a:lnSpc>
                <a:spcPct val="50000"/>
              </a:lnSpc>
            </a:pP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9.1.2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创建符号对象</a:t>
            </a:r>
            <a:r>
              <a:rPr lang="en-US" altLang="zh-CN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——@syms</a:t>
            </a:r>
            <a:r>
              <a:rPr lang="zh-CN" altLang="en-US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函数创建语法</a:t>
            </a:r>
            <a:endParaRPr lang="zh-CN" altLang="en-US" sz="2800" kern="12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A6BEC9-45AC-4A06-B6F3-E0D4D329B533}"/>
              </a:ext>
            </a:extLst>
          </p:cNvPr>
          <p:cNvSpPr txBox="1"/>
          <p:nvPr/>
        </p:nvSpPr>
        <p:spPr>
          <a:xfrm>
            <a:off x="395536" y="755303"/>
            <a:ext cx="5544616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dirty="0"/>
              <a:t>@syms</a:t>
            </a:r>
            <a:r>
              <a:rPr lang="zh-CN" altLang="en-US" dirty="0"/>
              <a:t>创建</a:t>
            </a:r>
            <a:r>
              <a:rPr lang="zh-CN" altLang="en-US" b="1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符号标量变量、矩阵、数组或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374268-F82E-4B47-9D3E-0D1FDCBF6B92}"/>
              </a:ext>
            </a:extLst>
          </p:cNvPr>
          <p:cNvSpPr txBox="1"/>
          <p:nvPr/>
        </p:nvSpPr>
        <p:spPr>
          <a:xfrm>
            <a:off x="395536" y="1448730"/>
            <a:ext cx="2842160" cy="3771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457200" indent="-457200">
              <a:lnSpc>
                <a:spcPts val="2200"/>
              </a:lnSpc>
              <a:buFont typeface="+mj-ea"/>
              <a:buAutoNum type="circleNumDbPlain"/>
            </a:pPr>
            <a:r>
              <a:rPr lang="zh-CN" altLang="en-US" sz="2000" kern="1200" dirty="0">
                <a:solidFill>
                  <a:srgbClr val="D57747"/>
                </a:solidFill>
              </a:rPr>
              <a:t>创建符号变量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CBEC96-7873-497F-88E8-23C3C6B3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15" y="1814351"/>
            <a:ext cx="4783361" cy="86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dirty="0">
                <a:solidFill>
                  <a:srgbClr val="0070C0"/>
                </a:solidFill>
                <a:latin typeface="Arial Unicode MS"/>
                <a:ea typeface="source-code-pro"/>
              </a:rPr>
              <a:t>using TySymbolicMath </a:t>
            </a:r>
            <a:endParaRPr lang="en-US" altLang="zh-CN" sz="20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@syms t::Real x::Number y::Complex z(t)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DA23BA7-A34A-4D7E-9FEF-EAFA241D0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152" y="2351169"/>
            <a:ext cx="1612814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(t, x, y, z)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85A9A1-8FF8-4EC7-827C-B317DD8E48BB}"/>
              </a:ext>
            </a:extLst>
          </p:cNvPr>
          <p:cNvSpPr txBox="1"/>
          <p:nvPr/>
        </p:nvSpPr>
        <p:spPr>
          <a:xfrm>
            <a:off x="395536" y="2998083"/>
            <a:ext cx="2914168" cy="28477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marL="457200" indent="-457200" eaLnBrk="0" hangingPunct="0">
              <a:lnSpc>
                <a:spcPts val="2200"/>
              </a:lnSpc>
              <a:buFont typeface="+mj-ea"/>
              <a:buAutoNum type="circleNumDbPlain" startAt="2"/>
              <a:defRPr sz="2000" b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/>
              <a:t>创建符号数组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0F9309C-B563-4A56-B7EA-5FB4ED957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79" y="3443265"/>
            <a:ext cx="2632580" cy="86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Arial Unicode MS"/>
                <a:ea typeface="source-code-pro"/>
              </a:rPr>
              <a:t> </a:t>
            </a:r>
            <a:r>
              <a:rPr lang="zh-CN" altLang="zh-CN" sz="2000" dirty="0">
                <a:solidFill>
                  <a:srgbClr val="0070C0"/>
                </a:solidFill>
                <a:latin typeface="Arial Unicode MS"/>
                <a:ea typeface="source-code-pro"/>
              </a:rPr>
              <a:t>using TySymbolicMath</a:t>
            </a:r>
            <a:endParaRPr lang="en-US" altLang="zh-CN" sz="20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zh-CN" sz="2000" dirty="0">
                <a:solidFill>
                  <a:srgbClr val="0070C0"/>
                </a:solidFill>
                <a:latin typeface="Arial Unicode MS"/>
              </a:rPr>
              <a:t> @syms x[1:3] </a:t>
            </a:r>
            <a:endParaRPr lang="zh-CN" altLang="zh-CN" sz="2000" b="1" dirty="0">
              <a:solidFill>
                <a:srgbClr val="0070C0"/>
              </a:solidFill>
              <a:latin typeface="Arial Unicode MS"/>
              <a:ea typeface="source-code-pro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96F964E-0A3B-459C-857E-F37B2CAC9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320" y="3992342"/>
            <a:ext cx="1093248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( x, 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11AAA9-1162-5D6B-E5BE-FCA5EEDFE1CD}"/>
              </a:ext>
            </a:extLst>
          </p:cNvPr>
          <p:cNvSpPr/>
          <p:nvPr/>
        </p:nvSpPr>
        <p:spPr>
          <a:xfrm>
            <a:off x="5940152" y="829817"/>
            <a:ext cx="295232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-apple-system"/>
              </a:rPr>
              <a:t>@syms </a:t>
            </a:r>
            <a:r>
              <a:rPr lang="en-US" altLang="zh-CN" b="1" dirty="0"/>
              <a:t>var1</a:t>
            </a:r>
            <a:r>
              <a:rPr lang="zh-CN" altLang="en-US" b="1" dirty="0"/>
              <a:t>  </a:t>
            </a:r>
            <a:r>
              <a:rPr lang="en-US" altLang="zh-CN" b="1" dirty="0"/>
              <a:t>var2 ... </a:t>
            </a:r>
            <a:r>
              <a:rPr lang="en-US" altLang="zh-CN" b="1" dirty="0" err="1"/>
              <a:t>varN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AD2E33-7C52-43EB-8712-6A71B428295F}"/>
              </a:ext>
            </a:extLst>
          </p:cNvPr>
          <p:cNvSpPr txBox="1"/>
          <p:nvPr/>
        </p:nvSpPr>
        <p:spPr>
          <a:xfrm>
            <a:off x="4756987" y="3324866"/>
            <a:ext cx="4104456" cy="1015663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推荐使用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@variables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，它比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@syms </a:t>
            </a:r>
            <a:r>
              <a:rPr lang="zh-CN" altLang="en-US" sz="2000" b="0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与数值之间的联系相对更紧密，并且功能更强大 </a:t>
            </a:r>
            <a:endParaRPr lang="zh-CN" altLang="en-US" sz="20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211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/>
      <p:bldP spid="13" grpId="0" animBg="1"/>
      <p:bldP spid="14" grpId="0" animBg="1"/>
      <p:bldP spid="15" grpId="0"/>
      <p:bldP spid="17" grpId="0" animBg="1"/>
      <p:bldP spid="7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2F68AAD-D1CD-44D0-9FA7-A478E48F7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15" y="1277663"/>
            <a:ext cx="8709604" cy="13234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     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使用多项式相关操作时利用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@polyvar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创建变量</a:t>
            </a:r>
          </a:p>
          <a:p>
            <a:pPr algn="l"/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现阶段多项式板块函数与其他板块函数并不互通，</a:t>
            </a:r>
            <a:endParaRPr lang="en-US" altLang="zh-CN" sz="200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当需要对多项式进行操作时，尽量使用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@polyvar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或利用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poly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substitute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函数对符号表达式转换，转换为多项式表达式再对多项式表达式进行相关操作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4635A08-29AF-43C1-A4F3-5544EAF30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3141324"/>
            <a:ext cx="3792914" cy="893963"/>
          </a:xfrm>
        </p:spPr>
        <p:txBody>
          <a:bodyPr/>
          <a:lstStyle/>
          <a:p>
            <a:pPr marL="0" indent="0">
              <a:lnSpc>
                <a:spcPts val="3300"/>
              </a:lnSpc>
              <a:buNone/>
            </a:pPr>
            <a:r>
              <a:rPr lang="fr-FR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@polyvar t x y  </a:t>
            </a:r>
          </a:p>
          <a:p>
            <a:pPr marL="0" indent="0">
              <a:lnSpc>
                <a:spcPts val="3300"/>
              </a:lnSpc>
              <a:buNone/>
            </a:pPr>
            <a:r>
              <a:rPr lang="fr-FR" altLang="zh-CN" sz="2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fr-F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多项式变量结果</a:t>
            </a:r>
            <a:r>
              <a:rPr lang="fr-F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(t, x, y)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9357B65-DCEC-45B0-8B63-ECEDDF205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8460" y="3147167"/>
            <a:ext cx="2613902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@polyvar x[1:3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]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662C-32D1-4CE9-9569-703730DDE76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89020" y="72737"/>
            <a:ext cx="8004083" cy="569387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320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>
              <a:lnSpc>
                <a:spcPct val="50000"/>
              </a:lnSpc>
            </a:pP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9.1.2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创建符号对象</a:t>
            </a:r>
            <a:r>
              <a:rPr lang="en-US" altLang="zh-CN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——@polyvar</a:t>
            </a:r>
            <a:r>
              <a:rPr lang="zh-CN" altLang="en-US" sz="2800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创建多项式变量</a:t>
            </a:r>
            <a:endParaRPr lang="zh-CN" altLang="en-US" sz="2800" kern="12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D418705-0710-4BF3-A239-EAE31156D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98" y="682244"/>
            <a:ext cx="3147984" cy="499624"/>
          </a:xfrm>
          <a:prstGeom prst="rect">
            <a:avLst/>
          </a:prstGeom>
          <a:solidFill>
            <a:schemeClr val="bg1"/>
          </a:solidFill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algn="dist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创建构成多项式的变量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64E9CA-4520-4D92-9546-DE4BD67F1192}"/>
              </a:ext>
            </a:extLst>
          </p:cNvPr>
          <p:cNvSpPr/>
          <p:nvPr/>
        </p:nvSpPr>
        <p:spPr>
          <a:xfrm>
            <a:off x="3315782" y="767134"/>
            <a:ext cx="5649329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-apple-system"/>
              </a:rPr>
              <a:t>@polyvar </a:t>
            </a:r>
            <a:r>
              <a:rPr lang="en-US" altLang="zh-CN" dirty="0">
                <a:solidFill>
                  <a:schemeClr val="bg1"/>
                </a:solidFill>
              </a:rPr>
              <a:t>var1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var2 ... </a:t>
            </a:r>
            <a:r>
              <a:rPr lang="en-US" altLang="zh-CN" dirty="0" err="1">
                <a:solidFill>
                  <a:schemeClr val="bg1"/>
                </a:solidFill>
              </a:rPr>
              <a:t>varN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D5F87A99-1CF1-41C5-855D-21EB30C1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6403"/>
            <a:ext cx="1296144" cy="546511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>
              <a:lnSpc>
                <a:spcPts val="22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63BAAC-F17D-4F38-B531-CBAF8EA115C4}"/>
              </a:ext>
            </a:extLst>
          </p:cNvPr>
          <p:cNvSpPr txBox="1"/>
          <p:nvPr/>
        </p:nvSpPr>
        <p:spPr>
          <a:xfrm>
            <a:off x="167798" y="2732930"/>
            <a:ext cx="5138868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457200" indent="-457200" eaLnBrk="0" hangingPunct="0">
              <a:lnSpc>
                <a:spcPts val="2200"/>
              </a:lnSpc>
              <a:buFont typeface="+mj-ea"/>
              <a:buAutoNum type="circleNumDbPlain"/>
              <a:defRPr sz="240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000" dirty="0"/>
              <a:t>创建多项式变量</a:t>
            </a:r>
            <a:r>
              <a:rPr lang="en-US" altLang="zh-CN" sz="2000" dirty="0" err="1"/>
              <a:t>t,x,y</a:t>
            </a:r>
            <a:r>
              <a:rPr lang="zh-CN" altLang="en-US" sz="2000" dirty="0"/>
              <a:t>并由其构建多项式</a:t>
            </a:r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681E40-8155-48BD-A3B6-1C7B832307B3}"/>
              </a:ext>
            </a:extLst>
          </p:cNvPr>
          <p:cNvSpPr txBox="1"/>
          <p:nvPr/>
        </p:nvSpPr>
        <p:spPr>
          <a:xfrm>
            <a:off x="251855" y="4075407"/>
            <a:ext cx="4582295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eaLnBrk="0" hangingPunct="0">
              <a:lnSpc>
                <a:spcPct val="110000"/>
              </a:lnSpc>
              <a:buFont typeface="Wingdings" panose="05000000000000000000" pitchFamily="2" charset="2"/>
              <a:buNone/>
              <a:defRPr sz="2400" b="0">
                <a:solidFill>
                  <a:srgbClr val="2C3E50"/>
                </a:solidFill>
                <a:latin typeface="-apple-system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p=x^2-y^4-t    #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-y⁴ + x² - t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634C38-CE78-4BC7-BD49-E8AC37574DE6}"/>
              </a:ext>
            </a:extLst>
          </p:cNvPr>
          <p:cNvSpPr txBox="1"/>
          <p:nvPr/>
        </p:nvSpPr>
        <p:spPr>
          <a:xfrm>
            <a:off x="5355842" y="2726540"/>
            <a:ext cx="3419872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457200" indent="-457200" eaLnBrk="0" hangingPunct="0">
              <a:lnSpc>
                <a:spcPts val="2200"/>
              </a:lnSpc>
              <a:buFont typeface="+mj-ea"/>
              <a:buAutoNum type="circleNumDbPlain" startAt="2"/>
              <a:defRPr sz="220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000" dirty="0"/>
              <a:t>创建多项式变量数组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6C87FA38-379B-4722-9B2F-5A41ADE3D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9111" y="3490478"/>
            <a:ext cx="3792913" cy="37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(PolyVar{true}[x₁, x₂, x₃],) 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827598F-75E8-4C3C-A5BE-E6C153B80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374" y="3959426"/>
            <a:ext cx="3056820" cy="2821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defTabSz="914400" latinLnBrk="0">
              <a:lnSpc>
                <a:spcPts val="2200"/>
              </a:lnSpc>
              <a:buClrTx/>
              <a:buSzTx/>
              <a:buFont typeface="+mj-ea"/>
              <a:buAutoNum type="circleNumDbPlain" startAt="3"/>
              <a:tabLst/>
            </a:pPr>
            <a:r>
              <a:rPr lang="zh-CN" altLang="en-US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zh-CN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取x中第三个变量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B9B7F4F-C791-4136-88AE-9999DD3B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713" y="4300377"/>
            <a:ext cx="2049831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x3 = x₃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673AFF-4CD6-4667-AB93-03A3FD4F8EA3}"/>
              </a:ext>
            </a:extLst>
          </p:cNvPr>
          <p:cNvSpPr txBox="1"/>
          <p:nvPr/>
        </p:nvSpPr>
        <p:spPr>
          <a:xfrm>
            <a:off x="5715882" y="4284988"/>
            <a:ext cx="1368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x3 = x[3]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27B3814-91E4-474D-8313-E416ACF77707}"/>
              </a:ext>
            </a:extLst>
          </p:cNvPr>
          <p:cNvSpPr/>
          <p:nvPr/>
        </p:nvSpPr>
        <p:spPr>
          <a:xfrm>
            <a:off x="3330346" y="1539750"/>
            <a:ext cx="556651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dist" eaLnBrk="0" hangingPunct="0"/>
            <a:r>
              <a:rPr lang="zh-CN" altLang="zh-CN" sz="1600" dirty="0">
                <a:solidFill>
                  <a:schemeClr val="bg1"/>
                </a:solidFill>
                <a:latin typeface="Arial Unicode MS"/>
                <a:ea typeface="source-code-pro"/>
              </a:rPr>
              <a:t>@parameters </a:t>
            </a:r>
            <a:r>
              <a:rPr lang="en-US" altLang="zh-CN" sz="1600" dirty="0">
                <a:solidFill>
                  <a:schemeClr val="bg1"/>
                </a:solidFill>
                <a:latin typeface="Arial Unicode MS"/>
                <a:ea typeface="source-code-pro"/>
              </a:rPr>
              <a:t>v</a:t>
            </a:r>
            <a:r>
              <a:rPr lang="en-US" altLang="zh-CN" sz="1600" b="1" dirty="0"/>
              <a:t>ar1,var2, ... </a:t>
            </a:r>
            <a:r>
              <a:rPr lang="en-US" altLang="zh-CN" sz="1600" b="1" dirty="0" err="1"/>
              <a:t>varN</a:t>
            </a:r>
            <a:endParaRPr lang="zh-CN" altLang="zh-CN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59CC859-F3D0-43B4-8F0B-111DD8FE8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6612" y="1257694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D2595DA-CD68-C529-7D8B-761A9FE0E814}"/>
              </a:ext>
            </a:extLst>
          </p:cNvPr>
          <p:cNvSpPr txBox="1">
            <a:spLocks/>
          </p:cNvSpPr>
          <p:nvPr/>
        </p:nvSpPr>
        <p:spPr>
          <a:xfrm>
            <a:off x="136574" y="723733"/>
            <a:ext cx="9007426" cy="71837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E5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ts val="28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表达式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y=f(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自变量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x,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a)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000" kern="0" dirty="0">
                <a:solidFill>
                  <a:srgbClr val="0070C0"/>
                </a:solidFill>
              </a:rPr>
              <a:t>为区别创建符号对象的已知参数和自变量，一般常采用</a:t>
            </a:r>
            <a:r>
              <a:rPr lang="en-US" altLang="zh-CN" sz="2000" kern="0" dirty="0">
                <a:solidFill>
                  <a:srgbClr val="0070C0"/>
                </a:solidFill>
              </a:rPr>
              <a:t>@parameters</a:t>
            </a:r>
            <a:r>
              <a:rPr lang="zh-CN" altLang="en-US" sz="2000" kern="0" dirty="0">
                <a:solidFill>
                  <a:srgbClr val="0070C0"/>
                </a:solidFill>
              </a:rPr>
              <a:t>创建已知参数，</a:t>
            </a:r>
            <a:r>
              <a:rPr lang="zh-CN" altLang="en-US" sz="2000" dirty="0">
                <a:solidFill>
                  <a:srgbClr val="0070C0"/>
                </a:solidFill>
                <a:cs typeface="+mj-cs"/>
              </a:rPr>
              <a:t>与</a:t>
            </a:r>
            <a:r>
              <a:rPr lang="en-US" altLang="zh-CN" sz="2000" dirty="0">
                <a:solidFill>
                  <a:srgbClr val="0070C0"/>
                </a:solidFill>
                <a:cs typeface="+mj-cs"/>
              </a:rPr>
              <a:t>@variables</a:t>
            </a:r>
            <a:r>
              <a:rPr lang="zh-CN" altLang="en-US" sz="2000" dirty="0">
                <a:solidFill>
                  <a:srgbClr val="0070C0"/>
                </a:solidFill>
                <a:cs typeface="+mj-cs"/>
              </a:rPr>
              <a:t>方式一样</a:t>
            </a:r>
            <a:endParaRPr lang="zh-CN" altLang="en-US" sz="2000" dirty="0">
              <a:solidFill>
                <a:srgbClr val="0070C0"/>
              </a:solidFill>
            </a:endParaRPr>
          </a:p>
          <a:p>
            <a:pPr algn="dist"/>
            <a:endParaRPr lang="zh-CN" altLang="en-US" sz="2000" b="1" kern="0" dirty="0">
              <a:solidFill>
                <a:srgbClr val="0070C0"/>
              </a:solidFill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888EB240-553A-4A9D-AD7C-3F018B590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5233"/>
            <a:ext cx="7720396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9.1.2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创建符号对象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——@parameters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函数语法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E9568C-CAF0-4140-A227-C598721E0C83}"/>
              </a:ext>
            </a:extLst>
          </p:cNvPr>
          <p:cNvSpPr txBox="1"/>
          <p:nvPr/>
        </p:nvSpPr>
        <p:spPr>
          <a:xfrm>
            <a:off x="4991451" y="2010343"/>
            <a:ext cx="3707904" cy="50296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marL="457200" indent="-457200" eaLnBrk="0" hangingPunct="0">
              <a:lnSpc>
                <a:spcPts val="2200"/>
              </a:lnSpc>
              <a:buFont typeface="+mj-ea"/>
              <a:buAutoNum type="circleNumDbPlain" startAt="2"/>
              <a:defRPr sz="2000" b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1800" dirty="0"/>
              <a:t>创建符号数组再进行标量化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29063F33-ABC3-4D04-9601-E03E51483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28" y="2343983"/>
            <a:ext cx="3837589" cy="3642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@parameters t::Real x::Number y z(t)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918B0093-4558-4298-9690-A14908475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77" y="2772837"/>
            <a:ext cx="209672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expr = x + y + sin(z)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A658D1E-4C12-4B60-A309-D0847AA05297}"/>
              </a:ext>
            </a:extLst>
          </p:cNvPr>
          <p:cNvSpPr txBox="1"/>
          <p:nvPr/>
        </p:nvSpPr>
        <p:spPr>
          <a:xfrm>
            <a:off x="6850901" y="3014157"/>
            <a:ext cx="22985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julia&gt; scalarize(x)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2-element Vector{Num}: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x[1]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 x[2]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A28818-8C90-4317-BFDD-684403569B30}"/>
              </a:ext>
            </a:extLst>
          </p:cNvPr>
          <p:cNvSpPr txBox="1"/>
          <p:nvPr/>
        </p:nvSpPr>
        <p:spPr>
          <a:xfrm>
            <a:off x="110152" y="1442107"/>
            <a:ext cx="3151372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2000" dirty="0"/>
              <a:t>定义一个或多个已知变量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1FD6037-539D-48DF-9C0A-3BDF5AAE1D34}"/>
              </a:ext>
            </a:extLst>
          </p:cNvPr>
          <p:cNvSpPr txBox="1"/>
          <p:nvPr/>
        </p:nvSpPr>
        <p:spPr>
          <a:xfrm>
            <a:off x="99044" y="2032202"/>
            <a:ext cx="4060759" cy="358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/>
            </a:pPr>
            <a:r>
              <a:rPr lang="zh-CN" altLang="en-US" sz="1800" kern="1200" dirty="0">
                <a:solidFill>
                  <a:srgbClr val="D57747"/>
                </a:solidFill>
              </a:rPr>
              <a:t> 建符号变量再建</a:t>
            </a:r>
            <a:r>
              <a:rPr lang="zh-CN" altLang="en-US" sz="1800" dirty="0">
                <a:solidFill>
                  <a:srgbClr val="D57747"/>
                </a:solidFill>
              </a:rPr>
              <a:t>符号表达式</a:t>
            </a:r>
            <a:endParaRPr lang="zh-CN" altLang="en-US" sz="1800" kern="1200" dirty="0">
              <a:solidFill>
                <a:srgbClr val="D57747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C209FB-A7E7-44CF-816B-01E999B50AEA}"/>
              </a:ext>
            </a:extLst>
          </p:cNvPr>
          <p:cNvSpPr txBox="1"/>
          <p:nvPr/>
        </p:nvSpPr>
        <p:spPr>
          <a:xfrm>
            <a:off x="99044" y="3200234"/>
            <a:ext cx="4876594" cy="276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marL="457200" indent="-457200" eaLnBrk="0" hangingPunct="0">
              <a:lnSpc>
                <a:spcPts val="2200"/>
              </a:lnSpc>
              <a:buFont typeface="+mj-ea"/>
              <a:buAutoNum type="circleNumDbPlain" startAt="2"/>
              <a:defRPr sz="2000" b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Font typeface="+mj-ea"/>
              <a:buAutoNum type="circleNumDbPlain" startAt="3"/>
            </a:pPr>
            <a:r>
              <a:rPr lang="zh-CN" altLang="en-US" sz="1800" dirty="0"/>
              <a:t>建有符号变量和参数的表达式</a:t>
            </a:r>
            <a:r>
              <a:rPr lang="en-US" altLang="zh-CN" sz="1800" dirty="0"/>
              <a:t>ex=a*</a:t>
            </a:r>
            <a:r>
              <a:rPr lang="en-US" altLang="zh-CN" sz="1800" dirty="0" err="1"/>
              <a:t>x+b</a:t>
            </a:r>
            <a:r>
              <a:rPr lang="en-US" altLang="zh-CN" sz="1800" dirty="0"/>
              <a:t>*y</a:t>
            </a:r>
            <a:endParaRPr lang="zh-CN" altLang="en-US" sz="1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A2B22C-EB10-4F23-ADE8-F4B55F94BB4F}"/>
              </a:ext>
            </a:extLst>
          </p:cNvPr>
          <p:cNvSpPr txBox="1"/>
          <p:nvPr/>
        </p:nvSpPr>
        <p:spPr>
          <a:xfrm>
            <a:off x="110152" y="3526840"/>
            <a:ext cx="4082671" cy="1064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600"/>
              </a:lnSpc>
              <a:buNone/>
            </a:pPr>
            <a:r>
              <a:rPr lang="en-US" altLang="zh-CN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@variables x y  #</a:t>
            </a:r>
            <a:r>
              <a:rPr lang="zh-CN" alt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符号自变量</a:t>
            </a:r>
            <a:endParaRPr lang="en-US" altLang="zh-CN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altLang="zh-CN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@parameters a b  #</a:t>
            </a:r>
            <a:r>
              <a:rPr lang="zh-CN" alt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符号变参数</a:t>
            </a:r>
            <a:endParaRPr lang="en-US" altLang="zh-CN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Exp=a*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x+b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*y  #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符号表达式</a:t>
            </a:r>
            <a:endParaRPr lang="en-US" altLang="zh-CN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E0309D-E493-48BF-A9CC-FECC8AA43A3E}"/>
              </a:ext>
            </a:extLst>
          </p:cNvPr>
          <p:cNvSpPr/>
          <p:nvPr/>
        </p:nvSpPr>
        <p:spPr>
          <a:xfrm>
            <a:off x="233577" y="1098006"/>
            <a:ext cx="2996062" cy="412934"/>
          </a:xfrm>
          <a:prstGeom prst="rect">
            <a:avLst/>
          </a:prstGeom>
          <a:noFill/>
          <a:ln w="57150" cap="flat" cmpd="sng">
            <a:noFill/>
            <a:prstDash val="solid"/>
            <a:miter lim="800000"/>
          </a:ln>
        </p:spPr>
        <p:txBody>
          <a:bodyPr vert="horz" wrap="none" lIns="91440" tIns="45720" rIns="91440" bIns="45720" anchor="ctr">
            <a:noAutofit/>
          </a:bodyPr>
          <a:lstStyle/>
          <a:p>
            <a:pPr eaLnBrk="0" fontAlgn="auto">
              <a:spcBef>
                <a:spcPts val="0"/>
              </a:spcBef>
              <a:spcAft>
                <a:spcPts val="0"/>
              </a:spcAft>
              <a:buClr>
                <a:srgbClr val="003B76"/>
              </a:buClr>
            </a:pPr>
            <a:endParaRPr lang="ko-KR" altLang="en-US" b="1" dirty="0">
              <a:solidFill>
                <a:schemeClr val="bg1"/>
              </a:solidFill>
              <a:highlight>
                <a:srgbClr val="003B76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CB738E-C483-4277-8011-3FA5CB5CE298}"/>
              </a:ext>
            </a:extLst>
          </p:cNvPr>
          <p:cNvSpPr txBox="1"/>
          <p:nvPr/>
        </p:nvSpPr>
        <p:spPr>
          <a:xfrm>
            <a:off x="4991451" y="2357339"/>
            <a:ext cx="37444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julia&gt; @parameters x[1:</a:t>
            </a:r>
            <a:r>
              <a:rPr lang="en-US" altLang="zh-CN" dirty="0">
                <a:solidFill>
                  <a:srgbClr val="0070C0"/>
                </a:solidFill>
              </a:rPr>
              <a:t>2</a:t>
            </a:r>
            <a:r>
              <a:rPr lang="zh-CN" altLang="en-US" dirty="0">
                <a:solidFill>
                  <a:srgbClr val="0070C0"/>
                </a:solidFill>
              </a:rPr>
              <a:t>] y[1:3,1:2]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2-element Vector{Symbolics.Arr{Num}}: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x[1:</a:t>
            </a:r>
            <a:r>
              <a:rPr lang="en-US" altLang="zh-CN" sz="1600" dirty="0">
                <a:solidFill>
                  <a:srgbClr val="00B0F0"/>
                </a:solidFill>
              </a:rPr>
              <a:t>2</a:t>
            </a:r>
            <a:r>
              <a:rPr lang="zh-CN" altLang="en-US" sz="1600" dirty="0">
                <a:solidFill>
                  <a:srgbClr val="00B0F0"/>
                </a:solidFill>
              </a:rPr>
              <a:t>]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y[1:3,1:2]</a:t>
            </a:r>
          </a:p>
        </p:txBody>
      </p:sp>
    </p:spTree>
    <p:extLst>
      <p:ext uri="{BB962C8B-B14F-4D97-AF65-F5344CB8AC3E}">
        <p14:creationId xmlns:p14="http://schemas.microsoft.com/office/powerpoint/2010/main" val="296022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31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817730DE-2CF3-4955-8E81-0AF6CC66F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23" y="63850"/>
            <a:ext cx="8289358" cy="56938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9.1.2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创建符号对象</a:t>
            </a:r>
            <a:r>
              <a:rPr lang="en-US" altLang="zh-CN" sz="2800" dirty="0">
                <a:solidFill>
                  <a:srgbClr val="D57747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——Tuple</a:t>
            </a:r>
            <a:r>
              <a:rPr lang="zh-CN" altLang="en-US" sz="2800" dirty="0">
                <a:solidFill>
                  <a:srgbClr val="D57747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创建符号数组为元组</a:t>
            </a:r>
            <a:endParaRPr lang="zh-CN" altLang="en-US" sz="2800" dirty="0">
              <a:solidFill>
                <a:srgbClr val="D57747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DAD6A8A-39C4-418B-87D7-EF9B625FF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666" y="726307"/>
            <a:ext cx="1584176" cy="414794"/>
          </a:xfr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dist">
              <a:buNone/>
            </a:pPr>
            <a:r>
              <a:rPr lang="en-US" altLang="zh-CN" sz="20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Tuple(S)</a:t>
            </a:r>
            <a:endParaRPr lang="zh-CN" alt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27513D-CE00-46A2-A11C-B040B2E23864}"/>
              </a:ext>
            </a:extLst>
          </p:cNvPr>
          <p:cNvSpPr txBox="1"/>
          <p:nvPr/>
        </p:nvSpPr>
        <p:spPr>
          <a:xfrm>
            <a:off x="483828" y="665066"/>
            <a:ext cx="3483342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dist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将符号</a:t>
            </a:r>
            <a:r>
              <a:rPr lang="zh-CN" altLang="en-US" dirty="0"/>
              <a:t>数组</a:t>
            </a:r>
            <a:r>
              <a:rPr lang="en-US" altLang="zh-CN" dirty="0"/>
              <a:t>S</a:t>
            </a:r>
            <a:r>
              <a:rPr lang="zh-CN" altLang="zh-CN" dirty="0"/>
              <a:t>转换为元组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8383EE-AFA7-4D27-91AA-DF6CADA650B4}"/>
              </a:ext>
            </a:extLst>
          </p:cNvPr>
          <p:cNvSpPr txBox="1"/>
          <p:nvPr/>
        </p:nvSpPr>
        <p:spPr>
          <a:xfrm>
            <a:off x="408791" y="1238661"/>
            <a:ext cx="874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对元素进行操作可使得生成的元组</a:t>
            </a:r>
            <a:r>
              <a:rPr lang="en-US" altLang="zh-CN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与输入符号数组</a:t>
            </a:r>
            <a:r>
              <a:rPr lang="en-US" altLang="zh-CN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具有相同的大小和维度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2B2804-88BF-4B54-813E-56BAC42FC304}"/>
              </a:ext>
            </a:extLst>
          </p:cNvPr>
          <p:cNvSpPr txBox="1"/>
          <p:nvPr/>
        </p:nvSpPr>
        <p:spPr>
          <a:xfrm>
            <a:off x="408791" y="1663962"/>
            <a:ext cx="4896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例如：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将符号变量和数字矩阵转换为元组 </a:t>
            </a:r>
            <a:endParaRPr lang="zh-CN" altLang="en-US" sz="20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B7A1A1A-441D-4840-BA60-7EE309767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28" y="2547598"/>
            <a:ext cx="3323539" cy="703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source-code-pro"/>
              </a:rPr>
              <a:t>@variables x y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[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4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y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6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7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8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9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]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89DB8B1-C8BC-4B73-B048-7208AAADC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28" y="3468778"/>
            <a:ext cx="2558393" cy="110799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#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= 3×4 Matrix{Num}: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 x 2 3 4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 y 6 7 8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9 10 11 12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DB8817D2-7570-4ABE-A9EE-35EC4718C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2569469"/>
            <a:ext cx="458240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#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c = (x, y, 9, 2, 6, 10, 3, 7, 11, 4, 8, 12)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76E6F8-C2B1-4634-97E3-6398737A8F10}"/>
              </a:ext>
            </a:extLst>
          </p:cNvPr>
          <p:cNvSpPr txBox="1"/>
          <p:nvPr/>
        </p:nvSpPr>
        <p:spPr>
          <a:xfrm>
            <a:off x="408791" y="2161130"/>
            <a:ext cx="2186496" cy="3771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/>
            </a:pPr>
            <a:r>
              <a:rPr lang="zh-CN" altLang="en-US" sz="2000" kern="1200" dirty="0">
                <a:solidFill>
                  <a:srgbClr val="D57747"/>
                </a:solidFill>
              </a:rPr>
              <a:t> 创建符号矩阵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FF1A173-5BBC-4ABF-8A56-DF7F4422A28B}"/>
              </a:ext>
            </a:extLst>
          </p:cNvPr>
          <p:cNvSpPr txBox="1"/>
          <p:nvPr/>
        </p:nvSpPr>
        <p:spPr>
          <a:xfrm>
            <a:off x="3841887" y="2098654"/>
            <a:ext cx="3610813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457200" indent="-457200">
              <a:lnSpc>
                <a:spcPts val="2200"/>
              </a:lnSpc>
              <a:buFont typeface="+mj-ea"/>
              <a:buAutoNum type="circleNumDbPlain" startAt="2"/>
            </a:pPr>
            <a:r>
              <a:rPr lang="en-US" altLang="zh-CN" sz="2000" kern="1200" dirty="0">
                <a:solidFill>
                  <a:srgbClr val="D57747"/>
                </a:solidFill>
              </a:rPr>
              <a:t>Tuple</a:t>
            </a:r>
            <a:r>
              <a:rPr lang="zh-CN" altLang="en-US" sz="2000" kern="1200" dirty="0">
                <a:solidFill>
                  <a:srgbClr val="D57747"/>
                </a:solidFill>
              </a:rPr>
              <a:t> 将矩阵转换为元组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C4D09CC4-FEE8-44A8-9ACB-650F0254C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69" y="3328996"/>
            <a:ext cx="3182346" cy="12008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#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C = 3×4 Matrix{Tuple{Num}}: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(x,) (2,) (3,) (4,)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 (y,) (6,) (7,) (8,)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(9,) (10,) (11,) (12,)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1AD479-ACDB-4D4D-BE41-542E1AB91C67}"/>
              </a:ext>
            </a:extLst>
          </p:cNvPr>
          <p:cNvSpPr txBox="1"/>
          <p:nvPr/>
        </p:nvSpPr>
        <p:spPr>
          <a:xfrm>
            <a:off x="4222939" y="2913527"/>
            <a:ext cx="3843925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457200" indent="-457200" eaLnBrk="0" hangingPunct="0">
              <a:lnSpc>
                <a:spcPts val="2200"/>
              </a:lnSpc>
              <a:buFont typeface="+mj-ea"/>
              <a:buAutoNum type="circleNumDbPlain" startAt="2"/>
              <a:defRPr sz="200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buFont typeface="+mj-ea"/>
              <a:buAutoNum type="circleNumDbPlain" startAt="3"/>
            </a:pPr>
            <a:r>
              <a:rPr lang="zh-CN" altLang="zh-CN" dirty="0"/>
              <a:t>对数组中元素进行</a:t>
            </a:r>
            <a:r>
              <a:rPr lang="zh-CN" altLang="en-US" dirty="0"/>
              <a:t>点</a:t>
            </a:r>
            <a:r>
              <a:rPr lang="zh-CN" altLang="zh-CN" dirty="0"/>
              <a:t>操作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B0377AA7-7C70-42BB-9100-67793DBF9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058" y="2899297"/>
            <a:ext cx="1365823" cy="3315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900"/>
              </a:lnSpc>
            </a:pPr>
            <a:r>
              <a:rPr lang="zh-CN" altLang="zh-CN" dirty="0">
                <a:solidFill>
                  <a:srgbClr val="0070C0"/>
                </a:solidFill>
                <a:latin typeface="Arial Unicode MS"/>
              </a:rPr>
              <a:t>C = Tuple.(S)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BC926335-17B9-4BF4-92CC-9E6A80642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1719" y="2057646"/>
            <a:ext cx="1618723" cy="3373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ts val="2900"/>
              </a:lnSpc>
            </a:pPr>
            <a:r>
              <a:rPr lang="zh-CN" altLang="zh-CN" dirty="0">
                <a:solidFill>
                  <a:srgbClr val="0070C0"/>
                </a:solidFill>
                <a:latin typeface="Arial Unicode MS"/>
              </a:rPr>
              <a:t>c = Tuple(S)</a:t>
            </a:r>
          </a:p>
        </p:txBody>
      </p:sp>
    </p:spTree>
    <p:extLst>
      <p:ext uri="{BB962C8B-B14F-4D97-AF65-F5344CB8AC3E}">
        <p14:creationId xmlns:p14="http://schemas.microsoft.com/office/powerpoint/2010/main" val="288184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0873C-0B3B-4F1F-85D6-92253CA3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195486"/>
            <a:ext cx="6234012" cy="438150"/>
          </a:xfrm>
        </p:spPr>
        <p:txBody>
          <a:bodyPr/>
          <a:lstStyle/>
          <a:p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9.2 </a:t>
            </a:r>
            <a:r>
              <a:rPr lang="zh-CN" altLang="en-US" sz="2800" dirty="0">
                <a:solidFill>
                  <a:schemeClr val="tx1"/>
                </a:solidFill>
              </a:rPr>
              <a:t>符号运算符和基本运算</a:t>
            </a:r>
            <a:r>
              <a:rPr lang="en-US" altLang="zh-CN" sz="2800" kern="1200" dirty="0">
                <a:solidFill>
                  <a:srgbClr val="D57747"/>
                </a:solidFill>
                <a:cs typeface="+mn-cs"/>
              </a:rPr>
              <a:t>——</a:t>
            </a:r>
            <a:r>
              <a:rPr lang="zh-CN" altLang="zh-CN" sz="2800" kern="1200" dirty="0">
                <a:solidFill>
                  <a:srgbClr val="D57747"/>
                </a:solidFill>
                <a:cs typeface="+mn-cs"/>
              </a:rPr>
              <a:t>数字运算</a:t>
            </a:r>
            <a:endParaRPr lang="zh-CN" altLang="en-US" sz="2800" kern="1200" dirty="0">
              <a:solidFill>
                <a:srgbClr val="D57747"/>
              </a:solidFill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129211-042B-4E28-B2E2-A2F050B80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5151"/>
              </p:ext>
            </p:extLst>
          </p:nvPr>
        </p:nvGraphicFramePr>
        <p:xfrm>
          <a:off x="235189" y="1379234"/>
          <a:ext cx="8657291" cy="2920708"/>
        </p:xfrm>
        <a:graphic>
          <a:graphicData uri="http://schemas.openxmlformats.org/drawingml/2006/table">
            <a:tbl>
              <a:tblPr bandRow="1"/>
              <a:tblGrid>
                <a:gridCol w="1268741">
                  <a:extLst>
                    <a:ext uri="{9D8B030D-6E8A-4147-A177-3AD203B41FA5}">
                      <a16:colId xmlns:a16="http://schemas.microsoft.com/office/drawing/2014/main" val="1404135589"/>
                    </a:ext>
                  </a:extLst>
                </a:gridCol>
                <a:gridCol w="7388550">
                  <a:extLst>
                    <a:ext uri="{9D8B030D-6E8A-4147-A177-3AD203B41FA5}">
                      <a16:colId xmlns:a16="http://schemas.microsoft.com/office/drawing/2014/main" val="3069604395"/>
                    </a:ext>
                  </a:extLst>
                </a:gridCol>
              </a:tblGrid>
              <a:tr h="16136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函数名</a:t>
                      </a: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简介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49517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maximum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根据某个规则获取数组在某个维度上的最大值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891018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minimum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根据某个规则获取数组在某个维度上的最小值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938091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max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输入参数的最大值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629032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min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输入参数的最小值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478316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mod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取模运算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14888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ceil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返回与 </a:t>
                      </a:r>
                      <a:r>
                        <a:rPr lang="en-US" altLang="zh-CN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相同类型的最接近的整数值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090298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rem</a:t>
                      </a:r>
                      <a:endParaRPr lang="en-US" sz="180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</a:t>
                      </a:r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除以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 </a:t>
                      </a:r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后的余数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807355"/>
                  </a:ext>
                </a:extLst>
              </a:tr>
              <a:tr h="403412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floor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0341" marR="40341" marT="20171" marB="20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返回与 </a:t>
                      </a:r>
                      <a:r>
                        <a:rPr lang="en-US" altLang="zh-CN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</a:t>
                      </a:r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相同类型的最接近的整数值，即小于或等于 </a:t>
                      </a:r>
                      <a:r>
                        <a:rPr lang="en-US" altLang="zh-CN" sz="18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marL="40341" marR="40341" marT="20171" marB="20171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64791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43D10A5-0732-48DA-95DA-F834B1B28752}"/>
              </a:ext>
            </a:extLst>
          </p:cNvPr>
          <p:cNvSpPr txBox="1"/>
          <p:nvPr/>
        </p:nvSpPr>
        <p:spPr>
          <a:xfrm>
            <a:off x="177567" y="884707"/>
            <a:ext cx="8858929" cy="38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算术运算</a:t>
            </a:r>
            <a:r>
              <a:rPr lang="en-US" altLang="zh-CN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+,-,*,\,/,^</a:t>
            </a:r>
            <a:r>
              <a:rPr lang="en-US" altLang="zh-CN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、逻辑运算（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，！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）和关系运算（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==,!=,&gt;,&gt;=,&lt;,&lt;=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69B099-9BFF-4C38-A22D-279418CFF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217" y="1491684"/>
            <a:ext cx="2304256" cy="15081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zh-CN" sz="1400" dirty="0">
                <a:solidFill>
                  <a:srgbClr val="0070C0"/>
                </a:solidFill>
                <a:latin typeface="Arial Unicode MS"/>
                <a:ea typeface="source-code-pro"/>
              </a:rPr>
              <a:t>@variables a b c d</a:t>
            </a:r>
            <a:endParaRPr lang="en-US" altLang="zh-CN" sz="14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lang="zh-CN" altLang="zh-CN" sz="1400" dirty="0">
                <a:solidFill>
                  <a:srgbClr val="0070C0"/>
                </a:solidFill>
                <a:latin typeface="Arial Unicode MS"/>
                <a:ea typeface="source-code-pro"/>
              </a:rPr>
              <a:t>A = [a b;c d] </a:t>
            </a:r>
            <a:endParaRPr lang="en-US" altLang="zh-CN" sz="14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lang="en-US" altLang="zh-CN" sz="1400" dirty="0">
                <a:solidFill>
                  <a:srgbClr val="0070C0"/>
                </a:solidFill>
              </a:rPr>
              <a:t>#</a:t>
            </a:r>
            <a:r>
              <a:rPr lang="zh-CN" altLang="en-US" sz="1400" dirty="0">
                <a:solidFill>
                  <a:srgbClr val="0070C0"/>
                </a:solidFill>
              </a:rPr>
              <a:t>计算符号矩阵行最大值</a:t>
            </a:r>
            <a:endParaRPr lang="en-US" altLang="zh-CN" sz="14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lang="zh-CN" altLang="zh-CN" sz="1400" dirty="0">
                <a:solidFill>
                  <a:srgbClr val="0070C0"/>
                </a:solidFill>
                <a:latin typeface="Arial Unicode MS"/>
                <a:ea typeface="source-code-pro"/>
              </a:rPr>
              <a:t>B = maximum(A,dims = 2)</a:t>
            </a:r>
            <a:r>
              <a:rPr lang="en-US" altLang="zh-CN" sz="1400" dirty="0">
                <a:solidFill>
                  <a:srgbClr val="0070C0"/>
                </a:solidFill>
                <a:latin typeface="Arial Unicode MS"/>
                <a:ea typeface="source-code-pro"/>
              </a:rPr>
              <a:t>  </a:t>
            </a:r>
            <a:endParaRPr lang="zh-CN" altLang="zh-CN" sz="1400" dirty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eaLnBrk="0" hangingPunct="0"/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结果</a:t>
            </a:r>
            <a:r>
              <a:rPr lang="zh-CN" altLang="zh-CN" sz="1400" dirty="0">
                <a:solidFill>
                  <a:srgbClr val="FF0000"/>
                </a:solidFill>
                <a:latin typeface="Arial Unicode MS"/>
                <a:ea typeface="source-code-pro"/>
              </a:rPr>
              <a:t>2×1 Matrix{Num}: </a:t>
            </a:r>
            <a:endParaRPr lang="en-US" altLang="zh-CN" sz="1400" dirty="0">
              <a:solidFill>
                <a:srgbClr val="FF000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lang="zh-CN" altLang="zh-CN" sz="1400" dirty="0">
                <a:solidFill>
                  <a:srgbClr val="FF0000"/>
                </a:solidFill>
                <a:latin typeface="Arial Unicode MS"/>
                <a:ea typeface="source-code-pro"/>
              </a:rPr>
              <a:t>max(max(min(a, c), a), b) </a:t>
            </a:r>
            <a:endParaRPr lang="en-US" altLang="zh-CN" sz="1400" dirty="0">
              <a:solidFill>
                <a:srgbClr val="FF000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lang="zh-CN" altLang="zh-CN" sz="1400" dirty="0">
                <a:solidFill>
                  <a:srgbClr val="FF0000"/>
                </a:solidFill>
                <a:latin typeface="Arial Unicode MS"/>
                <a:ea typeface="source-code-pro"/>
              </a:rPr>
              <a:t>max(max(min(a, c), c), d)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C34A15F-99B3-4435-B8D0-92C5F717A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1C59526-3B87-4C3E-91EB-634BDFB8A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219" y="3137627"/>
            <a:ext cx="3090254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zh-CN" sz="1600" dirty="0">
                <a:solidFill>
                  <a:srgbClr val="0070C0"/>
                </a:solidFill>
                <a:latin typeface="Arial Unicode MS"/>
                <a:ea typeface="source-code-pro"/>
              </a:rPr>
              <a:t>@variables a b c d</a:t>
            </a:r>
            <a:endParaRPr lang="en-US" altLang="zh-CN" sz="16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lang="zh-CN" altLang="zh-CN" sz="1600" dirty="0">
                <a:solidFill>
                  <a:srgbClr val="0070C0"/>
                </a:solidFill>
                <a:latin typeface="Arial Unicode MS"/>
                <a:ea typeface="source-code-pro"/>
              </a:rPr>
              <a:t> A = max(a,b,c,d)</a:t>
            </a:r>
            <a:endParaRPr lang="en-US" altLang="zh-CN" sz="1600" dirty="0">
              <a:solidFill>
                <a:srgbClr val="0070C0"/>
              </a:solidFill>
              <a:latin typeface="Arial Unicode MS"/>
              <a:ea typeface="source-code-pro"/>
            </a:endParaRPr>
          </a:p>
          <a:p>
            <a:pPr eaLnBrk="0" hangingPunct="0"/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结果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max(max(max(a, b), c), d)</a:t>
            </a:r>
            <a:endParaRPr lang="zh-CN" altLang="zh-CN" sz="1600" dirty="0">
              <a:solidFill>
                <a:srgbClr val="000000"/>
              </a:solidFill>
              <a:latin typeface="Arial Unicode MS"/>
              <a:ea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1447038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A1ED18A-2532-4843-9D24-B7EBE800C7BC}"/>
              </a:ext>
            </a:extLst>
          </p:cNvPr>
          <p:cNvSpPr txBox="1"/>
          <p:nvPr/>
        </p:nvSpPr>
        <p:spPr>
          <a:xfrm>
            <a:off x="697521" y="994652"/>
            <a:ext cx="3419839" cy="1649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</a:p>
          <a:p>
            <a:pPr>
              <a:lnSpc>
                <a:spcPts val="31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f=x^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*x-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31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g=(x-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)*(x-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)*(x-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31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h=x*(x*(x-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4C7159-E563-43D4-925D-2E81F4CD59C6}"/>
              </a:ext>
            </a:extLst>
          </p:cNvPr>
          <p:cNvSpPr txBox="1"/>
          <p:nvPr/>
        </p:nvSpPr>
        <p:spPr>
          <a:xfrm>
            <a:off x="5707806" y="1174934"/>
            <a:ext cx="2613627" cy="17543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dirty="0"/>
              <a:t>julia&gt; pg =polys(f)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-6 + 11𝑦  - 6𝑦 ² + 𝑦 ³</a:t>
            </a:r>
          </a:p>
          <a:p>
            <a:r>
              <a:rPr lang="zh-CN" altLang="en-US" dirty="0"/>
              <a:t>julia&gt; pg=polys(g)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-6 + 11𝑦  - 6𝑦 ² + 𝑦 ³</a:t>
            </a:r>
          </a:p>
          <a:p>
            <a:r>
              <a:rPr lang="zh-CN" altLang="en-US" dirty="0"/>
              <a:t>julia&gt; ph=polys(h)</a:t>
            </a:r>
          </a:p>
          <a:p>
            <a:r>
              <a:rPr lang="zh-CN" altLang="en-US" dirty="0">
                <a:solidFill>
                  <a:srgbClr val="00B0F0"/>
                </a:solidFill>
              </a:rPr>
              <a:t>-6 + 11𝑦  - 6𝑦 ² + 𝑦 ³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A80E70B-31B2-4544-9BF9-4CA5E99FE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44223"/>
            <a:ext cx="5121006" cy="565348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A28CB38D-58EF-4FC0-B382-3E84CFF39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574" y="3752082"/>
            <a:ext cx="1150296" cy="593961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>
              <a:lnSpc>
                <a:spcPts val="22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48668B-01B4-41F0-BB94-488F20C1CCBC}"/>
              </a:ext>
            </a:extLst>
          </p:cNvPr>
          <p:cNvSpPr/>
          <p:nvPr/>
        </p:nvSpPr>
        <p:spPr>
          <a:xfrm>
            <a:off x="843653" y="3024464"/>
            <a:ext cx="180020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p = polys(expr)</a:t>
            </a:r>
            <a:r>
              <a:rPr lang="zh-CN" altLang="zh-CN" sz="800" dirty="0">
                <a:solidFill>
                  <a:schemeClr val="bg1"/>
                </a:solidFill>
              </a:rPr>
              <a:t> </a:t>
            </a:r>
            <a:endParaRPr lang="zh-CN" altLang="zh-CN" sz="4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567693-17F2-445D-9A5B-7781ED99CB17}"/>
              </a:ext>
            </a:extLst>
          </p:cNvPr>
          <p:cNvSpPr txBox="1"/>
          <p:nvPr/>
        </p:nvSpPr>
        <p:spPr>
          <a:xfrm>
            <a:off x="395536" y="2643758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hangingPunct="0">
              <a:buFont typeface="+mj-ea"/>
              <a:buAutoNum type="circleNumDbPlain" startAt="2"/>
            </a:pP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olys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将符号表达式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expr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转换为多项式类型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2F9A48-3C25-40F9-AB92-17DB82EE3400}"/>
              </a:ext>
            </a:extLst>
          </p:cNvPr>
          <p:cNvSpPr txBox="1"/>
          <p:nvPr/>
        </p:nvSpPr>
        <p:spPr>
          <a:xfrm>
            <a:off x="468219" y="726662"/>
            <a:ext cx="2807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hangingPunct="0">
              <a:buFont typeface="+mj-ea"/>
              <a:buAutoNum type="circleNumDbPlain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定义三个符号表达式</a:t>
            </a: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90BC7B-46F6-4A48-9DCB-A2E1D5FDB297}"/>
              </a:ext>
            </a:extLst>
          </p:cNvPr>
          <p:cNvSpPr txBox="1"/>
          <p:nvPr/>
        </p:nvSpPr>
        <p:spPr>
          <a:xfrm>
            <a:off x="743049" y="3353274"/>
            <a:ext cx="1800200" cy="124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pg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polys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</a:t>
            </a:r>
          </a:p>
          <a:p>
            <a:pPr>
              <a:lnSpc>
                <a:spcPts val="3100"/>
              </a:lnSpc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pg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polys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(g)</a:t>
            </a:r>
          </a:p>
          <a:p>
            <a:pPr>
              <a:lnSpc>
                <a:spcPts val="3100"/>
              </a:lnSpc>
            </a:pP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ph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polys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E91F14-4916-48BA-BBD7-49BBB30495C4}"/>
              </a:ext>
            </a:extLst>
          </p:cNvPr>
          <p:cNvSpPr txBox="1"/>
          <p:nvPr/>
        </p:nvSpPr>
        <p:spPr>
          <a:xfrm>
            <a:off x="5256784" y="699542"/>
            <a:ext cx="3978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hangingPunct="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三个符号表达式多项式展示结果</a:t>
            </a: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1641E2-5A9C-418E-AB80-5BE84510384C}"/>
              </a:ext>
            </a:extLst>
          </p:cNvPr>
          <p:cNvSpPr txBox="1"/>
          <p:nvPr/>
        </p:nvSpPr>
        <p:spPr>
          <a:xfrm>
            <a:off x="5801193" y="3723878"/>
            <a:ext cx="3235354" cy="65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同一个符号表达式</a:t>
            </a:r>
            <a:endParaRPr lang="en-US" altLang="zh-CN" sz="18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可多种表达形式，需简化</a:t>
            </a:r>
          </a:p>
        </p:txBody>
      </p:sp>
    </p:spTree>
    <p:extLst>
      <p:ext uri="{BB962C8B-B14F-4D97-AF65-F5344CB8AC3E}">
        <p14:creationId xmlns:p14="http://schemas.microsoft.com/office/powerpoint/2010/main" val="250224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DE546-E73F-4D58-B8BC-4B0FDA8F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323528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2025/4/21</a:t>
            </a:fld>
            <a:endParaRPr lang="zh-CN" altLang="en-US" sz="18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F715DF-7571-4209-8D33-9A022E04BB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94" t="38867" r="20612" b="29737"/>
          <a:stretch/>
        </p:blipFill>
        <p:spPr>
          <a:xfrm>
            <a:off x="4860032" y="1505679"/>
            <a:ext cx="4150296" cy="294647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FA01821-2274-4E86-BA5B-00273141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28" y="947824"/>
            <a:ext cx="6886600" cy="327782"/>
          </a:xfr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8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符号数学工具箱提供简化或修改表达式，替换部分表达式的函数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630278BC-8371-4DBB-9424-C70C32B46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119880"/>
            <a:ext cx="5121006" cy="56534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157BA1-B2B0-4FBC-8FAF-9454589F5F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6" t="34840" r="57039" b="23735"/>
          <a:stretch/>
        </p:blipFill>
        <p:spPr>
          <a:xfrm>
            <a:off x="219566" y="1505679"/>
            <a:ext cx="4332545" cy="294647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BAB7C0-49D1-43E8-8C82-8F968FE8F8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5" t="2325" r="69639" b="90782"/>
          <a:stretch/>
        </p:blipFill>
        <p:spPr>
          <a:xfrm>
            <a:off x="216496" y="896148"/>
            <a:ext cx="1907232" cy="3571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248374ED-1D78-4E31-B3A4-8B08B499A8FA}"/>
              </a:ext>
            </a:extLst>
          </p:cNvPr>
          <p:cNvSpPr txBox="1">
            <a:spLocks/>
          </p:cNvSpPr>
          <p:nvPr/>
        </p:nvSpPr>
        <p:spPr bwMode="auto">
          <a:xfrm>
            <a:off x="170756" y="1391147"/>
            <a:ext cx="1998712" cy="446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1800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公式重排和重写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4AFFF8D-1BEC-4962-94BD-1CE3EB22B8B5}"/>
              </a:ext>
            </a:extLst>
          </p:cNvPr>
          <p:cNvSpPr txBox="1">
            <a:spLocks/>
          </p:cNvSpPr>
          <p:nvPr/>
        </p:nvSpPr>
        <p:spPr bwMode="auto">
          <a:xfrm>
            <a:off x="5040778" y="1505502"/>
            <a:ext cx="138387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eaLnBrk="0" hangingPunct="0">
              <a:lnSpc>
                <a:spcPct val="85000"/>
              </a:lnSpc>
              <a:defRPr sz="2000" b="0" kern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1800" dirty="0"/>
              <a:t>公式简化</a:t>
            </a:r>
          </a:p>
        </p:txBody>
      </p:sp>
    </p:spTree>
    <p:extLst>
      <p:ext uri="{BB962C8B-B14F-4D97-AF65-F5344CB8AC3E}">
        <p14:creationId xmlns:p14="http://schemas.microsoft.com/office/powerpoint/2010/main" val="246868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1912529-D390-40DB-A116-9120CCD6997A}"/>
              </a:ext>
            </a:extLst>
          </p:cNvPr>
          <p:cNvSpPr/>
          <p:nvPr/>
        </p:nvSpPr>
        <p:spPr bwMode="auto">
          <a:xfrm>
            <a:off x="5863771" y="861867"/>
            <a:ext cx="295670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dist" eaLnBrk="0" hangingPunct="0"/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arguments(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expr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)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07566A-770B-4D2D-885F-59AF2A37D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76358D0-E57F-4AC8-9605-E9CE797E9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186" y="265761"/>
            <a:ext cx="7209238" cy="353943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——arguments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获取参数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15AE7E-5D37-4FA6-9E79-E3D66D116BEA}"/>
              </a:ext>
            </a:extLst>
          </p:cNvPr>
          <p:cNvSpPr txBox="1"/>
          <p:nvPr/>
        </p:nvSpPr>
        <p:spPr>
          <a:xfrm>
            <a:off x="441141" y="775982"/>
            <a:ext cx="5693006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2000" dirty="0"/>
              <a:t>arguments</a:t>
            </a:r>
            <a:r>
              <a:rPr lang="zh-CN" altLang="en-US" sz="2000" dirty="0"/>
              <a:t>可获取符号表达式</a:t>
            </a:r>
            <a:r>
              <a:rPr lang="en-US" altLang="zh-CN" sz="2000" dirty="0"/>
              <a:t>expr</a:t>
            </a:r>
            <a:r>
              <a:rPr lang="zh-CN" altLang="en-US" sz="2000" dirty="0"/>
              <a:t>的符号参数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73C3A0-9D33-40C4-95E2-3D77B416C99A}"/>
              </a:ext>
            </a:extLst>
          </p:cNvPr>
          <p:cNvSpPr txBox="1"/>
          <p:nvPr/>
        </p:nvSpPr>
        <p:spPr>
          <a:xfrm>
            <a:off x="405508" y="1379776"/>
            <a:ext cx="8630988" cy="312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@variables</a:t>
            </a:r>
            <a:r>
              <a:rPr lang="zh-CN" altLang="en-US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创建是</a:t>
            </a:r>
            <a:r>
              <a:rPr lang="en-US" altLang="zh-CN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型的符号变量，一般是利用</a:t>
            </a:r>
            <a:r>
              <a:rPr lang="en-US" altLang="zh-CN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型封装该变量</a:t>
            </a:r>
            <a:endParaRPr lang="en-US" altLang="zh-CN" sz="24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arguments</a:t>
            </a:r>
            <a:r>
              <a:rPr lang="zh-CN" altLang="en-US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暂不支持对于</a:t>
            </a:r>
            <a:r>
              <a:rPr lang="en-US" altLang="zh-CN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型表达式操作</a:t>
            </a:r>
            <a:endParaRPr lang="en-US" altLang="zh-CN" sz="24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Ø"/>
            </a:pPr>
            <a:endParaRPr lang="en-US" altLang="zh-CN" sz="2400" b="0" i="0" dirty="0">
              <a:solidFill>
                <a:srgbClr val="2C3E5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必须用</a:t>
            </a:r>
            <a:r>
              <a:rPr lang="en-US" altLang="zh-CN" sz="2200" dirty="0" err="1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istree</a:t>
            </a:r>
            <a:r>
              <a:rPr lang="zh-CN" altLang="en-US" sz="2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验证是否为符号表达式</a:t>
            </a:r>
            <a:endParaRPr lang="en-US" altLang="zh-CN" sz="22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需要</a:t>
            </a:r>
            <a:r>
              <a:rPr lang="en-US" altLang="zh-CN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函数对</a:t>
            </a:r>
            <a:r>
              <a:rPr lang="en-US" altLang="zh-CN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型</a:t>
            </a:r>
            <a:r>
              <a:rPr lang="zh-CN" altLang="en-US" sz="2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进行解封装</a:t>
            </a:r>
            <a:endParaRPr lang="en-US" altLang="zh-CN" sz="2200" b="0" i="0" dirty="0">
              <a:solidFill>
                <a:srgbClr val="2C3E5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解封装操作换为</a:t>
            </a:r>
            <a:r>
              <a:rPr lang="en-US" altLang="zh-CN" sz="2200" b="0" i="0" dirty="0" err="1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Sym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类型</a:t>
            </a:r>
            <a:r>
              <a:rPr lang="zh-CN" altLang="en-US" sz="22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40942094-96F3-4BAA-B98C-6CB7B36AE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072" y="3155778"/>
            <a:ext cx="165579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zh-CN" altLang="zh-CN" b="1" dirty="0">
                <a:solidFill>
                  <a:schemeClr val="bg1"/>
                </a:solidFill>
                <a:latin typeface="Arial" panose="020B0604020202020204" pitchFamily="34" charset="0"/>
                <a:ea typeface="-apple-system"/>
              </a:rPr>
              <a:t>istree(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expr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-apple-system"/>
              </a:rPr>
              <a:t>)</a:t>
            </a:r>
            <a:r>
              <a:rPr lang="zh-CN" altLang="zh-CN" b="1" dirty="0">
                <a:solidFill>
                  <a:schemeClr val="bg1"/>
                </a:solidFill>
                <a:latin typeface="Arial" panose="020B0604020202020204" pitchFamily="34" charset="0"/>
                <a:ea typeface="-apple-system"/>
              </a:rPr>
              <a:t>) 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3A69AF-E57A-4578-9869-644DECDC05B5}"/>
              </a:ext>
            </a:extLst>
          </p:cNvPr>
          <p:cNvSpPr txBox="1"/>
          <p:nvPr/>
        </p:nvSpPr>
        <p:spPr>
          <a:xfrm>
            <a:off x="5940152" y="3623523"/>
            <a:ext cx="2209455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将num型解封装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40590DE-2D41-4794-90CB-5E432C775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4033206"/>
            <a:ext cx="153858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-apple-system"/>
              </a:rPr>
              <a:t>value(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expr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-apple-system"/>
              </a:rPr>
              <a:t>)</a:t>
            </a:r>
            <a:endParaRPr lang="zh-CN" altLang="zh-CN" b="1" dirty="0">
              <a:solidFill>
                <a:schemeClr val="bg1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C36BFB-3336-4C15-B20E-96AAC273A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0840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5C8BF2-16A7-4ADD-80D1-F959F832BD30}"/>
              </a:ext>
            </a:extLst>
          </p:cNvPr>
          <p:cNvSpPr txBox="1"/>
          <p:nvPr/>
        </p:nvSpPr>
        <p:spPr>
          <a:xfrm>
            <a:off x="469983" y="2732138"/>
            <a:ext cx="7264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ERROR: MethodError: no method matching arguments(::Num)</a:t>
            </a:r>
          </a:p>
        </p:txBody>
      </p:sp>
    </p:spTree>
    <p:extLst>
      <p:ext uri="{BB962C8B-B14F-4D97-AF65-F5344CB8AC3E}">
        <p14:creationId xmlns:p14="http://schemas.microsoft.com/office/powerpoint/2010/main" val="136999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12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4E6F37F-3C30-4C05-9E09-58DB5BD1A9F7}"/>
              </a:ext>
            </a:extLst>
          </p:cNvPr>
          <p:cNvSpPr txBox="1">
            <a:spLocks/>
          </p:cNvSpPr>
          <p:nvPr/>
        </p:nvSpPr>
        <p:spPr bwMode="auto">
          <a:xfrm>
            <a:off x="246688" y="1128103"/>
            <a:ext cx="5477439" cy="3477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200" kern="0" dirty="0"/>
              <a:t>@variables t x y z(t)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s-ES" altLang="zh-CN" sz="2200" kern="0" dirty="0"/>
              <a:t>expr=x + y + sin(z)</a:t>
            </a:r>
            <a:endParaRPr lang="en-US" altLang="zh-CN" sz="2200" kern="0" dirty="0"/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200" kern="0" dirty="0" err="1"/>
              <a:t>istree</a:t>
            </a:r>
            <a:r>
              <a:rPr lang="en-US" altLang="zh-CN" sz="2200" kern="0" dirty="0"/>
              <a:t>(expr)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kern="0" dirty="0"/>
              <a:t> </a:t>
            </a:r>
            <a:r>
              <a:rPr lang="en-US" altLang="zh-CN" sz="2200" kern="0" dirty="0">
                <a:solidFill>
                  <a:srgbClr val="00B0F0"/>
                </a:solidFill>
              </a:rPr>
              <a:t>#</a:t>
            </a:r>
            <a:r>
              <a:rPr lang="zh-CN" altLang="en-US" sz="2200" kern="0" dirty="0">
                <a:solidFill>
                  <a:srgbClr val="00B0F0"/>
                </a:solidFill>
              </a:rPr>
              <a:t>结果</a:t>
            </a:r>
            <a:r>
              <a:rPr lang="en-US" altLang="zh-CN" sz="2200" kern="0" dirty="0">
                <a:solidFill>
                  <a:srgbClr val="00B0F0"/>
                </a:solidFill>
              </a:rPr>
              <a:t>false,</a:t>
            </a:r>
            <a:r>
              <a:rPr lang="zh-CN" altLang="en-US" sz="2200" kern="0" dirty="0">
                <a:solidFill>
                  <a:srgbClr val="00B0F0"/>
                </a:solidFill>
              </a:rPr>
              <a:t>不是符号表达式</a:t>
            </a:r>
            <a:endParaRPr lang="en-US" altLang="zh-CN" sz="2200" kern="0" dirty="0">
              <a:solidFill>
                <a:srgbClr val="00B0F0"/>
              </a:solidFill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200" kern="0" dirty="0" err="1"/>
              <a:t>typeof</a:t>
            </a:r>
            <a:r>
              <a:rPr lang="en-US" altLang="zh-CN" sz="2200" kern="0" dirty="0"/>
              <a:t>(expr)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kern="0" dirty="0">
                <a:solidFill>
                  <a:srgbClr val="00B0F0"/>
                </a:solidFill>
              </a:rPr>
              <a:t>#</a:t>
            </a:r>
            <a:r>
              <a:rPr lang="zh-CN" altLang="en-US" sz="2200" kern="0" dirty="0">
                <a:solidFill>
                  <a:srgbClr val="00B0F0"/>
                </a:solidFill>
              </a:rPr>
              <a:t>结果</a:t>
            </a:r>
            <a:r>
              <a:rPr lang="en-US" altLang="zh-CN" sz="2200" kern="0" dirty="0">
                <a:solidFill>
                  <a:srgbClr val="00B0F0"/>
                </a:solidFill>
              </a:rPr>
              <a:t>Num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kern="0" dirty="0" err="1"/>
              <a:t>expv</a:t>
            </a:r>
            <a:r>
              <a:rPr lang="en-US" altLang="zh-CN" sz="2200" kern="0" dirty="0"/>
              <a:t>= </a:t>
            </a:r>
            <a:r>
              <a:rPr lang="en-US" altLang="zh-CN" sz="2200" b="1" kern="0" dirty="0">
                <a:solidFill>
                  <a:srgbClr val="00B0F0"/>
                </a:solidFill>
              </a:rPr>
              <a:t>value</a:t>
            </a:r>
            <a:r>
              <a:rPr lang="en-US" altLang="zh-CN" sz="2200" kern="0" dirty="0"/>
              <a:t>(x + y + sin(z)) #</a:t>
            </a:r>
            <a:r>
              <a:rPr lang="zh-CN" altLang="en-US" sz="2200" kern="0" dirty="0"/>
              <a:t>解封</a:t>
            </a:r>
            <a:r>
              <a:rPr lang="en-US" altLang="zh-CN" sz="2200" kern="0" dirty="0"/>
              <a:t>num</a:t>
            </a:r>
            <a:r>
              <a:rPr lang="zh-CN" altLang="en-US" sz="2200" kern="0" dirty="0"/>
              <a:t>表达式</a:t>
            </a:r>
            <a:endParaRPr lang="en-US" altLang="zh-CN" sz="2200" kern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kern="0" dirty="0">
                <a:solidFill>
                  <a:srgbClr val="00B0F0"/>
                </a:solidFill>
              </a:rPr>
              <a:t>#</a:t>
            </a:r>
            <a:r>
              <a:rPr lang="zh-CN" altLang="en-US" sz="2200" kern="0" dirty="0">
                <a:solidFill>
                  <a:srgbClr val="00B0F0"/>
                </a:solidFill>
              </a:rPr>
              <a:t>结果</a:t>
            </a:r>
            <a:r>
              <a:rPr lang="es-ES" altLang="zh-CN" sz="2200" kern="0" dirty="0">
                <a:solidFill>
                  <a:srgbClr val="00B0F0"/>
                </a:solidFill>
              </a:rPr>
              <a:t>expv= x + y + sin(z(t))</a:t>
            </a:r>
            <a:endParaRPr lang="es-ES" altLang="zh-CN" sz="2200" kern="0" dirty="0"/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s-ES" altLang="zh-CN" sz="2200" kern="0" dirty="0"/>
              <a:t>istree(expv)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s-ES" altLang="zh-CN" sz="2200" kern="0" dirty="0">
                <a:solidFill>
                  <a:srgbClr val="00B0F0"/>
                </a:solidFill>
              </a:rPr>
              <a:t>#</a:t>
            </a:r>
            <a:r>
              <a:rPr lang="zh-CN" altLang="en-US" sz="2200" kern="0" dirty="0">
                <a:solidFill>
                  <a:srgbClr val="00B0F0"/>
                </a:solidFill>
              </a:rPr>
              <a:t>结果</a:t>
            </a:r>
            <a:r>
              <a:rPr lang="es-ES" altLang="zh-CN" sz="2200" kern="0" dirty="0">
                <a:solidFill>
                  <a:srgbClr val="00B0F0"/>
                </a:solidFill>
              </a:rPr>
              <a:t>true</a:t>
            </a:r>
            <a:r>
              <a:rPr lang="zh-CN" altLang="en-US" sz="2200" kern="0" dirty="0">
                <a:solidFill>
                  <a:srgbClr val="00B0F0"/>
                </a:solidFill>
              </a:rPr>
              <a:t>，符号表达式</a:t>
            </a:r>
            <a:endParaRPr lang="es-ES" altLang="zh-CN" sz="2200" kern="0" dirty="0">
              <a:solidFill>
                <a:srgbClr val="00B0F0"/>
              </a:solidFill>
            </a:endParaRP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3F2BDC9-5555-4D62-873A-27463A2FCD69}"/>
              </a:ext>
            </a:extLst>
          </p:cNvPr>
          <p:cNvSpPr txBox="1">
            <a:spLocks/>
          </p:cNvSpPr>
          <p:nvPr/>
        </p:nvSpPr>
        <p:spPr bwMode="auto">
          <a:xfrm>
            <a:off x="457200" y="4605978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2025/4/21</a:t>
            </a:fld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007DBA-AF2F-4280-B76E-67C3FD4F77EF}"/>
              </a:ext>
            </a:extLst>
          </p:cNvPr>
          <p:cNvSpPr txBox="1"/>
          <p:nvPr/>
        </p:nvSpPr>
        <p:spPr>
          <a:xfrm>
            <a:off x="5703026" y="3260460"/>
            <a:ext cx="3117417" cy="132343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s-ES" altLang="zh-CN" sz="1600" dirty="0"/>
              <a:t>arguments(expv) #</a:t>
            </a:r>
            <a:r>
              <a:rPr lang="zh-CN" altLang="en-US" sz="1600" dirty="0"/>
              <a:t>获取参数</a:t>
            </a:r>
            <a:endParaRPr lang="es-ES" altLang="zh-CN" sz="1600" dirty="0"/>
          </a:p>
          <a:p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s-ES" altLang="zh-CN" sz="1600" dirty="0">
                <a:solidFill>
                  <a:srgbClr val="00B0F0"/>
                </a:solidFill>
              </a:rPr>
              <a:t>3-element Vector{Any}:</a:t>
            </a:r>
          </a:p>
          <a:p>
            <a:r>
              <a:rPr lang="es-ES" altLang="zh-CN" sz="1600" dirty="0">
                <a:solidFill>
                  <a:srgbClr val="00B0F0"/>
                </a:solidFill>
              </a:rPr>
              <a:t> x</a:t>
            </a:r>
          </a:p>
          <a:p>
            <a:r>
              <a:rPr lang="es-ES" altLang="zh-CN" sz="1600" dirty="0">
                <a:solidFill>
                  <a:srgbClr val="00B0F0"/>
                </a:solidFill>
              </a:rPr>
              <a:t> y</a:t>
            </a:r>
          </a:p>
          <a:p>
            <a:r>
              <a:rPr lang="es-ES" altLang="zh-CN" sz="1600" dirty="0">
                <a:solidFill>
                  <a:srgbClr val="00B0F0"/>
                </a:solidFill>
              </a:rPr>
              <a:t> sin(z(t))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4AA4BCA-C20E-498F-8160-B58002A65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129" y="236976"/>
            <a:ext cx="7964814" cy="353943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——arguments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获取参数的示例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A9859F-86DF-4EB1-87F5-16CEBFDDD8CB}"/>
              </a:ext>
            </a:extLst>
          </p:cNvPr>
          <p:cNvSpPr txBox="1"/>
          <p:nvPr/>
        </p:nvSpPr>
        <p:spPr>
          <a:xfrm>
            <a:off x="5148064" y="2261652"/>
            <a:ext cx="1704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typeof(expv)</a:t>
            </a:r>
            <a:endParaRPr lang="zh-CN" altLang="en-US" sz="2400" kern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4F55F2-D533-47BD-84BD-6E3A022F3803}"/>
              </a:ext>
            </a:extLst>
          </p:cNvPr>
          <p:cNvSpPr txBox="1"/>
          <p:nvPr/>
        </p:nvSpPr>
        <p:spPr>
          <a:xfrm>
            <a:off x="5294936" y="2718606"/>
            <a:ext cx="4176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zh-CN" altLang="en-US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Symbolic</a:t>
            </a:r>
            <a:r>
              <a:rPr lang="zh-CN" altLang="en-US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Utils.BasicSymbolic{Real}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4E8003-E3AE-486D-8503-F5522640456D}"/>
              </a:ext>
            </a:extLst>
          </p:cNvPr>
          <p:cNvSpPr txBox="1"/>
          <p:nvPr/>
        </p:nvSpPr>
        <p:spPr>
          <a:xfrm>
            <a:off x="256887" y="762258"/>
            <a:ext cx="8579296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en-US" altLang="zh-CN" dirty="0"/>
              <a:t>arguments</a:t>
            </a:r>
            <a:r>
              <a:rPr lang="zh-CN" altLang="en-US" dirty="0"/>
              <a:t>只能获取符号表达式</a:t>
            </a:r>
            <a:r>
              <a:rPr lang="en-US" altLang="zh-CN" dirty="0"/>
              <a:t>expr</a:t>
            </a:r>
            <a:r>
              <a:rPr lang="zh-CN" altLang="en-US" dirty="0"/>
              <a:t>的符号参数，故表达式先要转化为符号表达式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0E1105-2C87-4F2A-921A-B1D93477CF74}"/>
              </a:ext>
            </a:extLst>
          </p:cNvPr>
          <p:cNvSpPr txBox="1"/>
          <p:nvPr/>
        </p:nvSpPr>
        <p:spPr>
          <a:xfrm>
            <a:off x="4323111" y="1153656"/>
            <a:ext cx="47190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在使用</a:t>
            </a:r>
            <a:r>
              <a:rPr lang="en-US" altLang="zh-CN" sz="2200" kern="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istree</a:t>
            </a:r>
            <a:r>
              <a:rPr lang="zh-CN" altLang="en-US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时，但</a:t>
            </a:r>
            <a:r>
              <a:rPr lang="en-US" altLang="zh-CN" sz="2200" kern="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istree</a:t>
            </a:r>
            <a:r>
              <a:rPr lang="zh-CN" altLang="en-US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暂不支持对于</a:t>
            </a:r>
            <a:r>
              <a:rPr lang="en-US" altLang="zh-CN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型表达式进行操作，所以需要</a:t>
            </a:r>
            <a:r>
              <a:rPr lang="en-US" altLang="zh-CN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lang="zh-CN" altLang="en-US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函数对</a:t>
            </a:r>
            <a:r>
              <a:rPr lang="en-US" altLang="zh-CN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2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型进行解封装</a:t>
            </a: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97211864-4EC4-4A9D-B5C2-C19A5F8E9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53" y="1148955"/>
            <a:ext cx="983722" cy="617656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42535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>
            <a:extLst>
              <a:ext uri="{FF2B5EF4-FFF2-40B4-BE49-F238E27FC236}">
                <a16:creationId xmlns:a16="http://schemas.microsoft.com/office/drawing/2014/main" id="{73BEB2B6-FA73-44D7-B0AD-A9912997D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0317"/>
            <a:ext cx="8352928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将num型解封装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FE8F04-7A83-4D73-989A-FB00FDA7692E}"/>
              </a:ext>
            </a:extLst>
          </p:cNvPr>
          <p:cNvSpPr txBox="1"/>
          <p:nvPr/>
        </p:nvSpPr>
        <p:spPr>
          <a:xfrm>
            <a:off x="1763688" y="699542"/>
            <a:ext cx="7071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@variables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创建的是一个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型的符号变量，一般是利用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型封装了该变量，可以使用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解封装并进行操作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405E186-6A62-43B2-8A55-3C350EDBF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87" y="772188"/>
            <a:ext cx="1224136" cy="414794"/>
          </a:xfr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value(x)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sz="4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ADCBE9-EB7C-4022-8A03-B1428204500F}"/>
              </a:ext>
            </a:extLst>
          </p:cNvPr>
          <p:cNvSpPr txBox="1"/>
          <p:nvPr/>
        </p:nvSpPr>
        <p:spPr>
          <a:xfrm>
            <a:off x="331591" y="2088214"/>
            <a:ext cx="4055892" cy="2738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= [1,2,3,4]</a:t>
            </a:r>
          </a:p>
          <a:p>
            <a:pPr>
              <a:lnSpc>
                <a:spcPts val="25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eltype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   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Int64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= Num.(a)</a:t>
            </a:r>
          </a:p>
          <a:p>
            <a:pPr>
              <a:lnSpc>
                <a:spcPts val="25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eltype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  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Num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表明数据类型已经转换为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Num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value.(a) </a:t>
            </a:r>
            <a:r>
              <a:rPr lang="en-US" altLang="zh-CN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value</a:t>
            </a:r>
            <a:r>
              <a:rPr lang="zh-CN" altLang="en-US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解封装</a:t>
            </a:r>
          </a:p>
          <a:p>
            <a:pPr>
              <a:lnSpc>
                <a:spcPts val="25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eltype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#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显示类型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</a:pP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Int64</a:t>
            </a:r>
            <a:endParaRPr lang="zh-CN" altLang="en-US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D67BACD-6853-4C49-8BFF-C1A9B6D5BAF3}"/>
              </a:ext>
            </a:extLst>
          </p:cNvPr>
          <p:cNvSpPr txBox="1"/>
          <p:nvPr/>
        </p:nvSpPr>
        <p:spPr>
          <a:xfrm>
            <a:off x="293368" y="1737685"/>
            <a:ext cx="2842160" cy="358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/>
            </a:pPr>
            <a:r>
              <a:rPr lang="en-US" altLang="zh-CN" sz="1800" kern="1200" dirty="0">
                <a:solidFill>
                  <a:srgbClr val="D57747"/>
                </a:solidFill>
              </a:rPr>
              <a:t> Num</a:t>
            </a:r>
            <a:r>
              <a:rPr lang="zh-CN" altLang="en-US" sz="1800" kern="1200" dirty="0">
                <a:solidFill>
                  <a:srgbClr val="D57747"/>
                </a:solidFill>
              </a:rPr>
              <a:t>函数的逆操作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B0C894-3E9B-41B4-B46E-5DB48EAA980D}"/>
              </a:ext>
            </a:extLst>
          </p:cNvPr>
          <p:cNvSpPr txBox="1"/>
          <p:nvPr/>
        </p:nvSpPr>
        <p:spPr>
          <a:xfrm>
            <a:off x="331591" y="1345873"/>
            <a:ext cx="8856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如</a:t>
            </a:r>
            <a:r>
              <a:rPr lang="en-US" altLang="zh-CN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en-US" altLang="zh-CN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类型表达式或数值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value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将还原它</a:t>
            </a:r>
            <a:r>
              <a:rPr lang="zh-CN" altLang="en-US" b="1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原本数据类型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或转换为</a:t>
            </a:r>
            <a:r>
              <a:rPr lang="en-US" altLang="zh-CN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Sym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类型表达式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1B5158-E9E8-44D8-BAF8-363633B45A83}"/>
              </a:ext>
            </a:extLst>
          </p:cNvPr>
          <p:cNvSpPr txBox="1"/>
          <p:nvPr/>
        </p:nvSpPr>
        <p:spPr>
          <a:xfrm>
            <a:off x="4744485" y="1737685"/>
            <a:ext cx="4078721" cy="2923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200"/>
              </a:lnSpc>
              <a:buFont typeface="+mj-ea"/>
              <a:buAutoNum type="circleNumDbPlain" startAt="2"/>
            </a:pPr>
            <a:r>
              <a:rPr lang="zh-CN" altLang="en-US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作用于符号变量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@variables x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p=sin(x)^2/exp(x)</a:t>
            </a:r>
          </a:p>
          <a:p>
            <a:pPr>
              <a:lnSpc>
                <a:spcPts val="25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typeof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</a:t>
            </a: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 Num</a:t>
            </a:r>
          </a:p>
          <a:p>
            <a:pPr>
              <a:lnSpc>
                <a:spcPts val="2500"/>
              </a:lnSpc>
            </a:pPr>
            <a:r>
              <a:rPr lang="en-US" altLang="zh-CN" dirty="0"/>
              <a:t>value(p) </a:t>
            </a:r>
            <a:r>
              <a:rPr lang="en-US" altLang="zh-CN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value</a:t>
            </a:r>
            <a:r>
              <a:rPr lang="zh-CN" altLang="en-US" dirty="0">
                <a:solidFill>
                  <a:srgbClr val="D5774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解封装</a:t>
            </a:r>
            <a:endParaRPr lang="en-US" altLang="zh-CN" dirty="0"/>
          </a:p>
          <a:p>
            <a:pPr>
              <a:lnSpc>
                <a:spcPts val="2500"/>
              </a:lnSpc>
            </a:pPr>
            <a:r>
              <a:rPr lang="en-US" altLang="zh-CN" dirty="0" err="1"/>
              <a:t>typeof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)</a:t>
            </a:r>
          </a:p>
          <a:p>
            <a:pPr>
              <a:lnSpc>
                <a:spcPts val="2500"/>
              </a:lnSpc>
            </a:pP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</a:t>
            </a: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 </a:t>
            </a:r>
            <a:r>
              <a:rPr lang="en-US" altLang="zh-CN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SymbolicUtils.BasicSymbolic</a:t>
            </a:r>
            <a:r>
              <a:rPr lang="en-US" altLang="zh-CN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{Real}</a:t>
            </a:r>
            <a:endParaRPr lang="zh-CN" altLang="en-US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4108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2E66E-1054-45CE-A4D5-20F5CE6B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838" y="1236713"/>
            <a:ext cx="8275865" cy="1115883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pt-BR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@variables x</a:t>
            </a:r>
          </a:p>
          <a:p>
            <a:pPr marL="0" indent="0">
              <a:buNone/>
            </a:pPr>
            <a:r>
              <a:rPr lang="pt-BR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ex=(1 + x) * (-1 + x) * (1 + x + x^2) * (1 - x + x^2)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 = expand(ex)    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 = x^6 - 1 </a:t>
            </a:r>
            <a:endParaRPr lang="zh-CN" altLang="en-US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912529-D390-40DB-A116-9120CCD6997A}"/>
              </a:ext>
            </a:extLst>
          </p:cNvPr>
          <p:cNvSpPr/>
          <p:nvPr/>
        </p:nvSpPr>
        <p:spPr bwMode="auto">
          <a:xfrm>
            <a:off x="4959435" y="746331"/>
            <a:ext cx="150206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kern="0" dirty="0">
                <a:solidFill>
                  <a:schemeClr val="bg1"/>
                </a:solidFill>
                <a:latin typeface="-apple-system"/>
              </a:rPr>
              <a:t>expand(S)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07566A-770B-4D2D-885F-59AF2A37D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557224EE-90FA-461C-BB45-478AD1CCB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62880"/>
            <a:ext cx="8119686" cy="535339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6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扩展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expand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和因式分解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factor</a:t>
            </a:r>
            <a:endParaRPr lang="zh-CN" altLang="en-US" sz="26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93B06B-AC11-4B24-8863-61B128C0362A}"/>
              </a:ext>
            </a:extLst>
          </p:cNvPr>
          <p:cNvSpPr txBox="1"/>
          <p:nvPr/>
        </p:nvSpPr>
        <p:spPr>
          <a:xfrm>
            <a:off x="539552" y="646817"/>
            <a:ext cx="4531285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/>
              <a:t>符号表达式</a:t>
            </a:r>
            <a:r>
              <a:rPr lang="en-US" altLang="zh-CN" sz="2000" dirty="0"/>
              <a:t>S</a:t>
            </a:r>
            <a:r>
              <a:rPr lang="zh-CN" altLang="en-US" sz="2000" dirty="0"/>
              <a:t>利用分配律扩展表达式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1A0B0B-B251-45D9-A7AE-B6A32FD6B38D}"/>
              </a:ext>
            </a:extLst>
          </p:cNvPr>
          <p:cNvSpPr txBox="1"/>
          <p:nvPr/>
        </p:nvSpPr>
        <p:spPr>
          <a:xfrm>
            <a:off x="473064" y="2434150"/>
            <a:ext cx="2592288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多项式</a:t>
            </a:r>
            <a:r>
              <a:rPr lang="en-US" altLang="zh-CN" dirty="0"/>
              <a:t>p</a:t>
            </a:r>
            <a:r>
              <a:rPr lang="zh-CN" altLang="en-US" dirty="0"/>
              <a:t>因式分解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F0E5B-6802-47CE-9A63-5C1CBEADC04C}"/>
              </a:ext>
            </a:extLst>
          </p:cNvPr>
          <p:cNvSpPr/>
          <p:nvPr/>
        </p:nvSpPr>
        <p:spPr bwMode="auto">
          <a:xfrm>
            <a:off x="3065352" y="2544316"/>
            <a:ext cx="150206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factor(p)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F91703A-EEF5-4698-9EC8-77A68B2DE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96" y="3068353"/>
            <a:ext cx="2769156" cy="9920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latinLnBrk="0">
              <a:lnSpc>
                <a:spcPct val="110000"/>
              </a:lnSpc>
              <a:buClrTx/>
              <a:buSzTx/>
              <a:tabLst/>
            </a:pP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using TySymbolicMath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defTabSz="914400" latinLnBrk="0">
              <a:lnSpc>
                <a:spcPct val="110000"/>
              </a:lnSpc>
              <a:buClrTx/>
              <a:buSzTx/>
              <a:tabLst/>
            </a:pP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@polyvar x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defTabSz="914400" latinLnBrk="0">
              <a:lnSpc>
                <a:spcPct val="110000"/>
              </a:lnSpc>
              <a:buClrTx/>
              <a:buSzTx/>
              <a:tabLst/>
            </a:pP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= factor(x^6-1)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6D87459-EBA7-4916-A91A-DE7E5F279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8" y="4219117"/>
            <a:ext cx="5850961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(1 + x) * (-1 + x) * (1 + x + x^2) * (1 - x + x^2)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70B0792-A174-4CA0-8EEC-C107F80C0B65}"/>
              </a:ext>
            </a:extLst>
          </p:cNvPr>
          <p:cNvSpPr txBox="1"/>
          <p:nvPr/>
        </p:nvSpPr>
        <p:spPr>
          <a:xfrm>
            <a:off x="4590292" y="2506169"/>
            <a:ext cx="237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分解多项式 x^6-1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50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9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2F68AAD-D1CD-44D0-9FA7-A478E48F7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11" y="1969336"/>
            <a:ext cx="3924727" cy="1453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ts val="2700"/>
              </a:lnSpc>
            </a:pPr>
            <a:r>
              <a:rPr lang="es-ES" altLang="zh-CN" sz="2000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@variables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b x</a:t>
            </a:r>
          </a:p>
          <a:p>
            <a:pPr>
              <a:lnSpc>
                <a:spcPts val="2700"/>
              </a:lnSpc>
            </a:pPr>
            <a:r>
              <a:rPr lang="es-ES" altLang="zh-CN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y=a/b+x</a:t>
            </a:r>
          </a:p>
          <a:p>
            <a:pPr>
              <a:lnSpc>
                <a:spcPts val="2700"/>
              </a:lnSpc>
            </a:pPr>
            <a:r>
              <a:rPr lang="es-ES" altLang="zh-CN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s-ES" altLang="zh-CN" sz="2000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substitute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(y,</a:t>
            </a:r>
            <a:r>
              <a:rPr lang="es-ES" altLang="zh-CN" sz="2000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(x=&gt;</a:t>
            </a:r>
            <a:r>
              <a:rPr lang="es-ES" altLang="zh-CN" sz="2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  </a:t>
            </a:r>
          </a:p>
          <a:p>
            <a:pPr>
              <a:lnSpc>
                <a:spcPts val="27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-apple-system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-apple-system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-apple-system"/>
              </a:rPr>
              <a:t>y= 3 + a / b</a:t>
            </a:r>
            <a:endParaRPr lang="en-US" altLang="zh-CN" sz="2000" dirty="0">
              <a:solidFill>
                <a:srgbClr val="D57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4635A08-29AF-43C1-A4F3-5544EAF30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35" y="1681821"/>
            <a:ext cx="4271646" cy="374461"/>
          </a:xfrm>
        </p:spPr>
        <p:txBody>
          <a:bodyPr/>
          <a:lstStyle/>
          <a:p>
            <a:pPr marL="0" indent="0">
              <a:lnSpc>
                <a:spcPts val="2200"/>
              </a:lnSpc>
              <a:buFont typeface="+mj-ea"/>
              <a:buAutoNum type="circleNumDbPlain" startAt="3"/>
            </a:pPr>
            <a:r>
              <a:rPr lang="zh-CN" altLang="en-US" sz="2000" kern="12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符号变量替换</a:t>
            </a:r>
            <a:endParaRPr lang="en-US" altLang="zh-CN" sz="2000" kern="1200" dirty="0">
              <a:solidFill>
                <a:srgbClr val="D57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6">
            <a:extLst>
              <a:ext uri="{FF2B5EF4-FFF2-40B4-BE49-F238E27FC236}">
                <a16:creationId xmlns:a16="http://schemas.microsoft.com/office/drawing/2014/main" id="{C4B83E2B-C1C2-4C37-9408-A2B7131C90EF}"/>
              </a:ext>
            </a:extLst>
          </p:cNvPr>
          <p:cNvSpPr txBox="1">
            <a:spLocks/>
          </p:cNvSpPr>
          <p:nvPr/>
        </p:nvSpPr>
        <p:spPr bwMode="auto">
          <a:xfrm>
            <a:off x="3851920" y="1125299"/>
            <a:ext cx="5040560" cy="38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Arial" panose="020B0604020202020204" pitchFamily="34" charset="0"/>
              </a:defRPr>
            </a:lvl1pPr>
            <a:lvl2pPr marL="4572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2pPr>
            <a:lvl3pPr marL="9144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3pPr>
            <a:lvl4pPr marL="13716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4pPr>
            <a:lvl5pPr marL="18288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1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将符号表达式</a:t>
            </a:r>
            <a:r>
              <a:rPr lang="en-US" altLang="zh-CN" sz="1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</a:t>
            </a:r>
            <a:r>
              <a:rPr lang="zh-CN" altLang="en-US" sz="1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按字典</a:t>
            </a:r>
            <a:r>
              <a:rPr lang="en-US" altLang="zh-CN" sz="1800" i="0" dirty="0" err="1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dict</a:t>
            </a:r>
            <a:r>
              <a:rPr lang="zh-CN" altLang="en-US" sz="180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键匹配赋予替换值</a:t>
            </a:r>
            <a:r>
              <a:rPr lang="en-US" altLang="zh-CN" sz="180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algn="dist"/>
            <a:endParaRPr lang="zh-CN" altLang="en-US" sz="1800" dirty="0">
              <a:solidFill>
                <a:srgbClr val="D57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DE72F-1753-489C-8EAE-F73B44DA0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186" y="50317"/>
            <a:ext cx="7209238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符号替换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substitute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1AB652-123F-442E-A5C2-9D82F4DA4355}"/>
              </a:ext>
            </a:extLst>
          </p:cNvPr>
          <p:cNvSpPr txBox="1"/>
          <p:nvPr/>
        </p:nvSpPr>
        <p:spPr>
          <a:xfrm>
            <a:off x="440650" y="1681821"/>
            <a:ext cx="1840397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/>
            </a:pPr>
            <a:r>
              <a:rPr lang="en-US" altLang="zh-CN" sz="2000" kern="1200" dirty="0">
                <a:solidFill>
                  <a:srgbClr val="D57747"/>
                </a:solidFill>
              </a:rPr>
              <a:t> </a:t>
            </a:r>
            <a:r>
              <a:rPr lang="zh-CN" altLang="en-US" sz="2000" kern="1200" dirty="0">
                <a:solidFill>
                  <a:srgbClr val="D57747"/>
                </a:solidFill>
              </a:rPr>
              <a:t>单次替换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93994B-8BEB-4B8B-B0F9-22A22F21160F}"/>
              </a:ext>
            </a:extLst>
          </p:cNvPr>
          <p:cNvSpPr txBox="1"/>
          <p:nvPr/>
        </p:nvSpPr>
        <p:spPr>
          <a:xfrm>
            <a:off x="440649" y="3468374"/>
            <a:ext cx="1840397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 startAt="2"/>
            </a:pPr>
            <a:r>
              <a:rPr lang="en-US" altLang="zh-CN" sz="2000" kern="1200" dirty="0">
                <a:solidFill>
                  <a:srgbClr val="D57747"/>
                </a:solidFill>
              </a:rPr>
              <a:t> </a:t>
            </a:r>
            <a:r>
              <a:rPr lang="zh-CN" altLang="en-US" sz="2000" kern="1200" dirty="0">
                <a:solidFill>
                  <a:srgbClr val="D57747"/>
                </a:solidFill>
              </a:rPr>
              <a:t>多次替换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512E03-2823-4485-8799-DF6344F70AB8}"/>
              </a:ext>
            </a:extLst>
          </p:cNvPr>
          <p:cNvSpPr txBox="1"/>
          <p:nvPr/>
        </p:nvSpPr>
        <p:spPr>
          <a:xfrm>
            <a:off x="179512" y="702348"/>
            <a:ext cx="8964487" cy="33068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defTabSz="0" eaLnBrk="0" hangingPunct="0">
              <a:spcBef>
                <a:spcPct val="20000"/>
              </a:spcBef>
              <a:buFontTx/>
              <a:buNone/>
              <a:defRPr sz="200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indent="0" defTabSz="0" eaLnBrk="0" hangingPunct="0">
              <a:spcBef>
                <a:spcPct val="20000"/>
              </a:spcBef>
              <a:buFontTx/>
              <a:buNone/>
              <a:defRPr sz="2400"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indent="0" defTabSz="0" eaLnBrk="0" hangingPunct="0">
              <a:spcBef>
                <a:spcPct val="20000"/>
              </a:spcBef>
              <a:buFontTx/>
              <a:buNone/>
              <a:defRPr sz="2400"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indent="0" defTabSz="0" eaLnBrk="0" hangingPunct="0">
              <a:spcBef>
                <a:spcPct val="20000"/>
              </a:spcBef>
              <a:buFontTx/>
              <a:buNone/>
              <a:defRPr sz="2000"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indent="0" defTabSz="0" eaLnBrk="0" hangingPunct="0">
              <a:spcBef>
                <a:spcPct val="20000"/>
              </a:spcBef>
              <a:buFontTx/>
              <a:buNone/>
              <a:defRPr sz="2000"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6pPr>
            <a:lvl7pPr marL="29718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7pPr>
            <a:lvl8pPr marL="34290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8pPr>
            <a:lvl9pPr marL="38862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9pPr>
          </a:lstStyle>
          <a:p>
            <a:r>
              <a:rPr lang="zh-CN" altLang="en-US" sz="1800" dirty="0"/>
              <a:t>不会自动计算包含该变量符号表达式，要为符号变量分配新值，用 </a:t>
            </a:r>
            <a:r>
              <a:rPr lang="en-US" altLang="zh-CN" sz="1800" dirty="0"/>
              <a:t>substitute</a:t>
            </a:r>
            <a:r>
              <a:rPr lang="zh-CN" altLang="en-US" sz="1800" dirty="0"/>
              <a:t>计算表达式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0B8919-F25C-4900-A0BE-D1EBC3CA3B2A}"/>
              </a:ext>
            </a:extLst>
          </p:cNvPr>
          <p:cNvSpPr txBox="1"/>
          <p:nvPr/>
        </p:nvSpPr>
        <p:spPr>
          <a:xfrm>
            <a:off x="511211" y="3836139"/>
            <a:ext cx="3744416" cy="760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</a:pPr>
            <a:r>
              <a:rPr lang="es-E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y=substitute(y,Dict([a=&gt;4,b=&gt;2]))  </a:t>
            </a:r>
          </a:p>
          <a:p>
            <a:pPr algn="l">
              <a:lnSpc>
                <a:spcPts val="2700"/>
              </a:lnSpc>
            </a:pPr>
            <a:r>
              <a:rPr lang="es-ES" altLang="zh-CN" sz="2000" b="1" dirty="0">
                <a:solidFill>
                  <a:srgbClr val="00B0F0"/>
                </a:solidFill>
                <a:latin typeface="-apple-system"/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  <a:latin typeface="-apple-system"/>
              </a:rPr>
              <a:t>结果</a:t>
            </a:r>
            <a:r>
              <a:rPr lang="es-ES" altLang="zh-CN" sz="2000" b="1" dirty="0">
                <a:solidFill>
                  <a:srgbClr val="00B0F0"/>
                </a:solidFill>
                <a:latin typeface="-apple-system"/>
              </a:rPr>
              <a:t>5.0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64E9CA-4520-4D92-9546-DE4BD67F1192}"/>
              </a:ext>
            </a:extLst>
          </p:cNvPr>
          <p:cNvSpPr/>
          <p:nvPr/>
        </p:nvSpPr>
        <p:spPr>
          <a:xfrm>
            <a:off x="505273" y="1125299"/>
            <a:ext cx="332003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dist" eaLnBrk="0" hangingPunct="0"/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substitute(expr,dict)</a:t>
            </a:r>
            <a:r>
              <a:rPr lang="zh-CN" altLang="zh-CN" dirty="0">
                <a:solidFill>
                  <a:schemeClr val="bg1"/>
                </a:solidFill>
              </a:rPr>
              <a:t> 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C2F926-6AEB-4687-801D-D5E2A3BE32B7}"/>
              </a:ext>
            </a:extLst>
          </p:cNvPr>
          <p:cNvSpPr txBox="1"/>
          <p:nvPr/>
        </p:nvSpPr>
        <p:spPr>
          <a:xfrm>
            <a:off x="4811209" y="2056282"/>
            <a:ext cx="4081271" cy="106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600"/>
              </a:lnSpc>
              <a:buNone/>
            </a:pPr>
            <a:r>
              <a:rPr lang="es-E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s-E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b x c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s-E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y=a/b+</a:t>
            </a:r>
            <a:r>
              <a:rPr lang="es-E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s-ES" altLang="zh-CN" sz="1800" dirty="0">
                <a:solidFill>
                  <a:srgbClr val="795E26"/>
                </a:solidFill>
                <a:latin typeface="Consolas" panose="020B0609020204030204" pitchFamily="49" charset="0"/>
              </a:rPr>
              <a:t>y=substitute(y,Dict(a/b=&gt;c)) 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FB13DC-7107-49DC-ACE3-38BFF66E068C}"/>
              </a:ext>
            </a:extLst>
          </p:cNvPr>
          <p:cNvSpPr txBox="1"/>
          <p:nvPr/>
        </p:nvSpPr>
        <p:spPr>
          <a:xfrm>
            <a:off x="4811209" y="3146959"/>
            <a:ext cx="3073159" cy="39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600"/>
              </a:lnSpc>
              <a:buNone/>
            </a:pPr>
            <a:r>
              <a:rPr lang="es-ES" altLang="zh-CN" sz="1800" b="1" kern="1200" dirty="0">
                <a:solidFill>
                  <a:srgbClr val="00B0F0"/>
                </a:solidFill>
                <a:latin typeface="-apple-system"/>
                <a:ea typeface="宋体" charset="-122"/>
              </a:rPr>
              <a:t>#</a:t>
            </a:r>
            <a:r>
              <a:rPr lang="zh-CN" altLang="en-US" sz="1800" b="1" kern="1200" dirty="0">
                <a:solidFill>
                  <a:srgbClr val="00B0F0"/>
                </a:solidFill>
                <a:latin typeface="-apple-system"/>
                <a:ea typeface="宋体" charset="-122"/>
              </a:rPr>
              <a:t>结果</a:t>
            </a:r>
            <a:r>
              <a:rPr lang="es-ES" altLang="zh-CN" sz="1800" b="1" kern="1200" dirty="0">
                <a:solidFill>
                  <a:srgbClr val="00B0F0"/>
                </a:solidFill>
                <a:latin typeface="-apple-system"/>
                <a:ea typeface="宋体" charset="-122"/>
              </a:rPr>
              <a:t>c + sin(x)</a:t>
            </a:r>
            <a:endParaRPr lang="zh-CN" altLang="en-US" sz="1800" b="1" kern="1200" dirty="0">
              <a:solidFill>
                <a:srgbClr val="00B0F0"/>
              </a:solidFill>
              <a:latin typeface="-apple-system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277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934AC45F-BCAD-44A9-8B34-7DF907A9B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99809"/>
            <a:ext cx="7992823" cy="735394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6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符号替换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substitute_expr!</a:t>
            </a:r>
            <a:r>
              <a:rPr kumimoji="0" lang="zh-CN" altLang="zh-CN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zh-CN" altLang="zh-CN" sz="2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50000"/>
              </a:lnSpc>
            </a:pPr>
            <a:endParaRPr lang="zh-CN" altLang="en-US" sz="26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96FCEE-C10A-4198-9B8A-B25B690F923B}"/>
              </a:ext>
            </a:extLst>
          </p:cNvPr>
          <p:cNvSpPr/>
          <p:nvPr/>
        </p:nvSpPr>
        <p:spPr>
          <a:xfrm>
            <a:off x="5436096" y="818077"/>
            <a:ext cx="320674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zh-CN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substitute_expr!(expr, </a:t>
            </a:r>
            <a:r>
              <a:rPr lang="en-US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D</a:t>
            </a:r>
            <a:r>
              <a:rPr lang="zh-CN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ict)</a:t>
            </a:r>
            <a:r>
              <a:rPr lang="zh-CN" altLang="zh-CN" b="1" dirty="0">
                <a:solidFill>
                  <a:schemeClr val="bg1"/>
                </a:solidFill>
              </a:rPr>
              <a:t> </a:t>
            </a:r>
            <a:endParaRPr lang="zh-CN" altLang="zh-CN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FF9B0C-209F-4D63-A899-11C86977B2EF}"/>
              </a:ext>
            </a:extLst>
          </p:cNvPr>
          <p:cNvSpPr txBox="1"/>
          <p:nvPr/>
        </p:nvSpPr>
        <p:spPr>
          <a:xfrm>
            <a:off x="155162" y="695186"/>
            <a:ext cx="5544616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/>
              <a:t>用字典</a:t>
            </a:r>
            <a:r>
              <a:rPr lang="en-US" altLang="zh-CN" sz="2000" dirty="0" err="1"/>
              <a:t>Dict</a:t>
            </a:r>
            <a:r>
              <a:rPr lang="en-US" altLang="zh-CN" sz="2000" dirty="0"/>
              <a:t> </a:t>
            </a:r>
            <a:r>
              <a:rPr lang="zh-CN" altLang="en-US" sz="2000" dirty="0"/>
              <a:t>键匹配子表达式替换为相应数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797827A-3C9C-4039-84B3-AC5BB43BA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67" y="1738864"/>
            <a:ext cx="3259035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using TySymbolicMath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4CE9F12-FB57-4986-B09B-9B1094CAE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2515016"/>
            <a:ext cx="1792157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ans = 4 + b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75DB7BF-C619-45FE-A5EE-9A3601897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78" y="3319435"/>
            <a:ext cx="2432461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zh-CN" dirty="0">
                <a:solidFill>
                  <a:srgbClr val="002060"/>
                </a:solidFill>
                <a:latin typeface="Arial Unicode MS"/>
              </a:rPr>
              <a:t>using TySymbolicMath </a:t>
            </a:r>
            <a:endParaRPr lang="en-US" altLang="zh-CN" dirty="0">
              <a:solidFill>
                <a:srgbClr val="002060"/>
              </a:solidFill>
              <a:latin typeface="Arial Unicode MS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CCB67EB-FEFF-4EA8-AD57-7BB7FA6A4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67" y="4048424"/>
            <a:ext cx="4594084" cy="5539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y = x^2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substitute_expr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Dict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([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]))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D5A85A3C-4FF2-481F-A5EF-073FF289C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432" y="4239173"/>
            <a:ext cx="1359346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lang="zh-CN" altLang="zh-CN" sz="2000" dirty="0">
                <a:solidFill>
                  <a:srgbClr val="00B0F0"/>
                </a:solidFill>
                <a:latin typeface="Arial Unicode MS"/>
              </a:rPr>
              <a:t>ans = 4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EC7A38-5109-4D6B-809D-D8D5FA4F568A}"/>
              </a:ext>
            </a:extLst>
          </p:cNvPr>
          <p:cNvSpPr txBox="1"/>
          <p:nvPr/>
        </p:nvSpPr>
        <p:spPr>
          <a:xfrm>
            <a:off x="487470" y="1326863"/>
            <a:ext cx="3557876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/>
            </a:pPr>
            <a:r>
              <a:rPr lang="en-US" altLang="zh-CN" sz="2000" kern="1200" dirty="0">
                <a:solidFill>
                  <a:srgbClr val="D57747"/>
                </a:solidFill>
              </a:rPr>
              <a:t> </a:t>
            </a:r>
            <a:r>
              <a:rPr lang="zh-CN" altLang="en-US" sz="2000" kern="1200" dirty="0">
                <a:solidFill>
                  <a:srgbClr val="D57747"/>
                </a:solidFill>
              </a:rPr>
              <a:t>将符号表达式中</a:t>
            </a:r>
            <a:r>
              <a:rPr lang="en-US" altLang="zh-CN" sz="2000" kern="1200" dirty="0">
                <a:solidFill>
                  <a:srgbClr val="D57747"/>
                </a:solidFill>
              </a:rPr>
              <a:t>a</a:t>
            </a:r>
            <a:r>
              <a:rPr lang="zh-CN" altLang="en-US" sz="2000" kern="1200" dirty="0">
                <a:solidFill>
                  <a:srgbClr val="D57747"/>
                </a:solidFill>
              </a:rPr>
              <a:t>替换为</a:t>
            </a:r>
            <a:r>
              <a:rPr lang="en-US" altLang="zh-CN" sz="2000" kern="1200" dirty="0">
                <a:solidFill>
                  <a:srgbClr val="D57747"/>
                </a:solidFill>
              </a:rPr>
              <a:t>4</a:t>
            </a:r>
            <a:endParaRPr lang="zh-CN" altLang="en-US" sz="2000" kern="1200" dirty="0">
              <a:solidFill>
                <a:srgbClr val="D57747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DC67F6-A8DE-46E5-9CEA-F9C34D990ADB}"/>
              </a:ext>
            </a:extLst>
          </p:cNvPr>
          <p:cNvSpPr txBox="1"/>
          <p:nvPr/>
        </p:nvSpPr>
        <p:spPr>
          <a:xfrm>
            <a:off x="487471" y="2878909"/>
            <a:ext cx="3852961" cy="37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 startAt="2"/>
            </a:pPr>
            <a:r>
              <a:rPr lang="zh-CN" altLang="en-US" sz="2000" kern="1200" dirty="0">
                <a:solidFill>
                  <a:srgbClr val="D57747"/>
                </a:solidFill>
              </a:rPr>
              <a:t> 将符号表达式</a:t>
            </a:r>
            <a:r>
              <a:rPr lang="en-US" altLang="zh-CN" sz="2000" kern="1200" dirty="0">
                <a:solidFill>
                  <a:srgbClr val="D57747"/>
                </a:solidFill>
              </a:rPr>
              <a:t>y</a:t>
            </a:r>
            <a:r>
              <a:rPr lang="zh-CN" altLang="en-US" sz="2000" kern="1200" dirty="0">
                <a:solidFill>
                  <a:srgbClr val="D57747"/>
                </a:solidFill>
              </a:rPr>
              <a:t>中</a:t>
            </a:r>
            <a:r>
              <a:rPr lang="en-US" altLang="zh-CN" sz="2000" kern="1200" dirty="0">
                <a:solidFill>
                  <a:srgbClr val="D57747"/>
                </a:solidFill>
              </a:rPr>
              <a:t>x</a:t>
            </a:r>
            <a:r>
              <a:rPr lang="zh-CN" altLang="en-US" sz="2000" kern="1200" dirty="0">
                <a:solidFill>
                  <a:srgbClr val="D57747"/>
                </a:solidFill>
              </a:rPr>
              <a:t>赋值为</a:t>
            </a:r>
            <a:r>
              <a:rPr lang="en-US" altLang="zh-CN" sz="2000" kern="1200" dirty="0">
                <a:solidFill>
                  <a:srgbClr val="D57747"/>
                </a:solidFill>
              </a:rPr>
              <a:t>2</a:t>
            </a:r>
            <a:endParaRPr lang="zh-CN" altLang="en-US" sz="2000" kern="1200" dirty="0">
              <a:solidFill>
                <a:srgbClr val="D57747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ADB479B-8429-41A6-A3A8-B98F5A6E9FE5}"/>
              </a:ext>
            </a:extLst>
          </p:cNvPr>
          <p:cNvSpPr txBox="1"/>
          <p:nvPr/>
        </p:nvSpPr>
        <p:spPr>
          <a:xfrm>
            <a:off x="487470" y="3607329"/>
            <a:ext cx="214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@variables x y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3AD6DF-E59E-421E-8411-DBA34134CFEE}"/>
              </a:ext>
            </a:extLst>
          </p:cNvPr>
          <p:cNvSpPr txBox="1"/>
          <p:nvPr/>
        </p:nvSpPr>
        <p:spPr>
          <a:xfrm>
            <a:off x="487470" y="2019952"/>
            <a:ext cx="4669692" cy="77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@variables a b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substitute_expr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!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a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b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Dict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4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817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810811C-DD36-40DE-9EE1-AECB5E2CB7DA}"/>
              </a:ext>
            </a:extLst>
          </p:cNvPr>
          <p:cNvSpPr/>
          <p:nvPr/>
        </p:nvSpPr>
        <p:spPr bwMode="auto">
          <a:xfrm>
            <a:off x="5880631" y="799597"/>
            <a:ext cx="295232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Symbolics.simplify(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expr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)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3292EEB-B8CC-4C65-9D6B-ADCF3BC33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564" y="24108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E54116D-A17D-46E7-AE0A-0E5D1ACEA7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48" y="1763060"/>
            <a:ext cx="8091309" cy="1083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@variables x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sin(x)^2 + cos(x)^2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kumimoji="0" lang="es-ES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cos(x)^2 + sin(x)^2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ss=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Symbolics.simplify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(S) 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5727433-A2F1-4B69-A471-3272A43B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80" y="3341701"/>
            <a:ext cx="8304916" cy="123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ts val="3300"/>
              </a:lnSpc>
            </a:pP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对表达式进行直接化简，不会对括号进行直接展开</a:t>
            </a:r>
          </a:p>
          <a:p>
            <a:pPr eaLnBrk="0" hangingPunct="0">
              <a:lnSpc>
                <a:spcPts val="3300"/>
              </a:lnSpc>
            </a:pP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@variables x 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3300"/>
              </a:lnSpc>
            </a:pP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S1 = simplify(x*(x+1)+1)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5302973-4915-46EB-89CC-FD8C5ED7F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4190014"/>
            <a:ext cx="2846933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 = 1 + x*(1 + x)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78CF5CC-E3E7-48B2-816E-902010397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297" y="89955"/>
            <a:ext cx="7254143" cy="535339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6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6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6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Symbolics.simplify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简化</a:t>
            </a:r>
            <a:endParaRPr lang="zh-CN" altLang="en-US" sz="26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6ECCD4-AB03-4F22-9DE6-AEAE39A3C8E8}"/>
              </a:ext>
            </a:extLst>
          </p:cNvPr>
          <p:cNvSpPr txBox="1"/>
          <p:nvPr/>
        </p:nvSpPr>
        <p:spPr>
          <a:xfrm>
            <a:off x="632577" y="625294"/>
            <a:ext cx="5765290" cy="593560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algn="ctr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24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Symbolics.simplify</a:t>
            </a:r>
            <a:r>
              <a:rPr lang="zh-CN" altLang="en-US" sz="2000" dirty="0"/>
              <a:t>代数简化符号表达式</a:t>
            </a:r>
            <a:r>
              <a:rPr lang="en-US" altLang="zh-CN" sz="2000" dirty="0"/>
              <a:t>expr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3E21C7-C7B4-4E52-B155-8F69C6172949}"/>
              </a:ext>
            </a:extLst>
          </p:cNvPr>
          <p:cNvSpPr txBox="1"/>
          <p:nvPr/>
        </p:nvSpPr>
        <p:spPr>
          <a:xfrm>
            <a:off x="632577" y="1329356"/>
            <a:ext cx="5038164" cy="3771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/>
            </a:pPr>
            <a:r>
              <a:rPr lang="en-US" altLang="zh-CN" sz="2000" kern="1200" dirty="0">
                <a:solidFill>
                  <a:srgbClr val="D57747"/>
                </a:solidFill>
              </a:rPr>
              <a:t> </a:t>
            </a:r>
            <a:r>
              <a:rPr lang="zh-CN" altLang="en-US" sz="2000" kern="1200" dirty="0">
                <a:solidFill>
                  <a:srgbClr val="D57747"/>
                </a:solidFill>
              </a:rPr>
              <a:t>简化</a:t>
            </a:r>
            <a:r>
              <a:rPr lang="en-US" altLang="zh-CN" sz="2000" kern="1200" dirty="0">
                <a:solidFill>
                  <a:srgbClr val="D57747"/>
                </a:solidFill>
              </a:rPr>
              <a:t>sin(x)^2+cos(x)^2</a:t>
            </a:r>
            <a:r>
              <a:rPr lang="zh-CN" altLang="en-US" sz="2000" kern="1200" dirty="0">
                <a:solidFill>
                  <a:srgbClr val="D57747"/>
                </a:solidFill>
              </a:rPr>
              <a:t>表达式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48BFE9-48C1-4B12-998E-AEA1CC11383E}"/>
              </a:ext>
            </a:extLst>
          </p:cNvPr>
          <p:cNvSpPr txBox="1"/>
          <p:nvPr/>
        </p:nvSpPr>
        <p:spPr>
          <a:xfrm>
            <a:off x="611560" y="2978817"/>
            <a:ext cx="3777665" cy="3771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0" hangingPunct="0">
              <a:defRPr sz="24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1">
                <a:latin typeface="+mn-lt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2200"/>
              </a:lnSpc>
              <a:buFont typeface="+mj-ea"/>
              <a:buAutoNum type="circleNumDbPlain" startAt="2"/>
            </a:pPr>
            <a:r>
              <a:rPr lang="en-US" altLang="zh-CN" sz="2000" kern="1200" dirty="0">
                <a:solidFill>
                  <a:srgbClr val="D57747"/>
                </a:solidFill>
              </a:rPr>
              <a:t> </a:t>
            </a:r>
            <a:r>
              <a:rPr lang="zh-CN" altLang="en-US" sz="2000" kern="1200" dirty="0">
                <a:solidFill>
                  <a:srgbClr val="D57747"/>
                </a:solidFill>
              </a:rPr>
              <a:t>对括号不会简化</a:t>
            </a:r>
          </a:p>
        </p:txBody>
      </p:sp>
    </p:spTree>
    <p:extLst>
      <p:ext uri="{BB962C8B-B14F-4D97-AF65-F5344CB8AC3E}">
        <p14:creationId xmlns:p14="http://schemas.microsoft.com/office/powerpoint/2010/main" val="389042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2E66E-1054-45CE-A4D5-20F5CE6B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86" y="1697827"/>
            <a:ext cx="8229600" cy="2492990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/>
              <a:t>simplify_fractions </a:t>
            </a:r>
            <a:r>
              <a:rPr lang="zh-CN" altLang="en-US" sz="2600" dirty="0"/>
              <a:t>简化符号有理表达式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/>
              <a:t>@variables x 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/>
              <a:t>fraction = (x^2-1)/(x+1)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/>
              <a:t>simplify_fractions(fraction) </a:t>
            </a:r>
            <a:r>
              <a:rPr lang="en-US" altLang="zh-CN" sz="2600" dirty="0">
                <a:solidFill>
                  <a:srgbClr val="00B0F0"/>
                </a:solidFill>
              </a:rPr>
              <a:t>#</a:t>
            </a:r>
            <a:r>
              <a:rPr lang="zh-CN" altLang="en-US" sz="2600" dirty="0">
                <a:solidFill>
                  <a:srgbClr val="00B0F0"/>
                </a:solidFill>
              </a:rPr>
              <a:t>结果</a:t>
            </a:r>
            <a:r>
              <a:rPr lang="en-US" altLang="zh-CN" sz="2600" dirty="0">
                <a:solidFill>
                  <a:srgbClr val="00B0F0"/>
                </a:solidFill>
              </a:rPr>
              <a:t> x - 1.0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/>
              <a:t>fraction = (y*(x^2-1))/((x+1)*(x-1))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/>
              <a:t>simplify_fractions(fraction)  </a:t>
            </a:r>
            <a:r>
              <a:rPr lang="en-US" altLang="zh-CN" sz="2600" dirty="0">
                <a:solidFill>
                  <a:srgbClr val="00B0F0"/>
                </a:solidFill>
              </a:rPr>
              <a:t>#</a:t>
            </a:r>
            <a:r>
              <a:rPr lang="zh-CN" altLang="en-US" sz="2600" dirty="0">
                <a:solidFill>
                  <a:srgbClr val="00B0F0"/>
                </a:solidFill>
              </a:rPr>
              <a:t>结果</a:t>
            </a:r>
            <a:r>
              <a:rPr lang="en-US" altLang="zh-CN" sz="2600" dirty="0">
                <a:solidFill>
                  <a:srgbClr val="00B0F0"/>
                </a:solidFill>
              </a:rPr>
              <a:t> y</a:t>
            </a:r>
            <a:endParaRPr lang="zh-CN" altLang="en-US" sz="2600" dirty="0">
              <a:solidFill>
                <a:srgbClr val="00B0F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8435A-39D5-4FDD-9825-00D5BE84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2025/4/21</a:t>
            </a:fld>
            <a:endParaRPr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912529-D390-40DB-A116-9120CCD6997A}"/>
              </a:ext>
            </a:extLst>
          </p:cNvPr>
          <p:cNvSpPr/>
          <p:nvPr/>
        </p:nvSpPr>
        <p:spPr bwMode="auto">
          <a:xfrm>
            <a:off x="3650197" y="745964"/>
            <a:ext cx="257798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simplify_fractions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(x)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07566A-770B-4D2D-885F-59AF2A37D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4003" y="27157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C0603C6A-BBBB-4B2E-AE1E-DFB95D552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3" y="55907"/>
            <a:ext cx="7632848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simplify_fractions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简化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ACA4FD-9644-491F-9E9E-41C07BB518BF}"/>
              </a:ext>
            </a:extLst>
          </p:cNvPr>
          <p:cNvSpPr txBox="1"/>
          <p:nvPr/>
        </p:nvSpPr>
        <p:spPr>
          <a:xfrm>
            <a:off x="697124" y="629121"/>
            <a:ext cx="2953072" cy="540341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化简符号有理表达式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2135D9-6243-4E5D-AE7E-08B7BAD4C706}"/>
              </a:ext>
            </a:extLst>
          </p:cNvPr>
          <p:cNvSpPr txBox="1"/>
          <p:nvPr/>
        </p:nvSpPr>
        <p:spPr>
          <a:xfrm>
            <a:off x="697124" y="4160386"/>
            <a:ext cx="8123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FF0000"/>
                </a:solidFill>
                <a:effectLst/>
                <a:latin typeface="-apple-system"/>
              </a:rPr>
              <a:t>在使用</a:t>
            </a:r>
            <a:r>
              <a:rPr lang="en-US" altLang="zh-CN" sz="2000" dirty="0" err="1">
                <a:solidFill>
                  <a:srgbClr val="FF0000"/>
                </a:solidFill>
              </a:rPr>
              <a:t>simplify_fractions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-apple-system"/>
              </a:rPr>
              <a:t>时，尽量使用 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-apple-system"/>
              </a:rPr>
              <a:t>@variables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-apple-system"/>
              </a:rPr>
              <a:t> 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-apple-system"/>
              </a:rPr>
              <a:t>避免使用 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-apple-system"/>
              </a:rPr>
              <a:t>@syms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390AC7-DFF1-4140-85C8-F237C23080C4}"/>
              </a:ext>
            </a:extLst>
          </p:cNvPr>
          <p:cNvSpPr txBox="1"/>
          <p:nvPr/>
        </p:nvSpPr>
        <p:spPr>
          <a:xfrm>
            <a:off x="715186" y="1144925"/>
            <a:ext cx="6480720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i="0" dirty="0">
                <a:effectLst/>
                <a:latin typeface="-apple-system"/>
              </a:rPr>
              <a:t>简化符号</a:t>
            </a:r>
            <a:r>
              <a:rPr lang="zh-CN" altLang="en-US" sz="2000" dirty="0">
                <a:latin typeface="-apple-system"/>
              </a:rPr>
              <a:t>有理达式表，</a:t>
            </a:r>
            <a:r>
              <a:rPr lang="zh-CN" altLang="en-US" sz="2000" dirty="0"/>
              <a:t>分子和分母中消除匹配因子</a:t>
            </a:r>
          </a:p>
        </p:txBody>
      </p:sp>
    </p:spTree>
    <p:extLst>
      <p:ext uri="{BB962C8B-B14F-4D97-AF65-F5344CB8AC3E}">
        <p14:creationId xmlns:p14="http://schemas.microsoft.com/office/powerpoint/2010/main" val="415125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1912529-D390-40DB-A116-9120CCD6997A}"/>
              </a:ext>
            </a:extLst>
          </p:cNvPr>
          <p:cNvSpPr/>
          <p:nvPr/>
        </p:nvSpPr>
        <p:spPr bwMode="auto">
          <a:xfrm>
            <a:off x="551106" y="2956143"/>
            <a:ext cx="2808312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flatten_fractions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x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-apple-system"/>
              </a:rPr>
              <a:t>）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07566A-770B-4D2D-885F-59AF2A37D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BD68FC8-C7EC-4E5D-91EC-1C3F6B93B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96" y="3439036"/>
            <a:ext cx="5194920" cy="10458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@variables x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 expr = (1+(1+1/x)/x)/x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flatten_fractions(expr)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37D455A-6684-4B40-B1D7-6D4CA0EAC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175011"/>
            <a:ext cx="4032448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-apple-system"/>
              </a:rPr>
              <a:t>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-apple-system"/>
              </a:rPr>
              <a:t>结果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ans = (1 + x + x^2) / (x^3)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7412AC9A-488E-4BB4-81E2-E0398EFE7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58630"/>
            <a:ext cx="7478488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9.2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公式运算和简化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展平相加嵌套分式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559283-EE7B-4F8A-B1A9-CF1051A4791C}"/>
              </a:ext>
            </a:extLst>
          </p:cNvPr>
          <p:cNvSpPr txBox="1"/>
          <p:nvPr/>
        </p:nvSpPr>
        <p:spPr>
          <a:xfrm>
            <a:off x="3419872" y="2820181"/>
            <a:ext cx="4896544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/>
              <a:t>括号内存分式时，则将括号展开化简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AE2EDC-43B9-4A6D-8391-390421281810}"/>
              </a:ext>
            </a:extLst>
          </p:cNvPr>
          <p:cNvSpPr/>
          <p:nvPr/>
        </p:nvSpPr>
        <p:spPr bwMode="auto">
          <a:xfrm>
            <a:off x="532963" y="771967"/>
            <a:ext cx="205832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 latinLnBrk="1"/>
            <a:r>
              <a:rPr lang="en-US" altLang="zh-CN" sz="2000" b="1" i="0" dirty="0" err="1">
                <a:solidFill>
                  <a:schemeClr val="bg1"/>
                </a:solidFill>
                <a:effectLst/>
                <a:latin typeface="-apple-system"/>
              </a:rPr>
              <a:t>quick_cancel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-apple-system"/>
              </a:rPr>
              <a:t>（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-apple-system"/>
              </a:rPr>
              <a:t>x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-apple-system"/>
              </a:rPr>
              <a:t>）</a:t>
            </a:r>
            <a:endParaRPr lang="en-US" altLang="zh-CN" sz="2000" b="1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E7094B4-5CEE-47C1-A359-F5BFA32DE6A4}"/>
              </a:ext>
            </a:extLst>
          </p:cNvPr>
          <p:cNvSpPr txBox="1"/>
          <p:nvPr/>
        </p:nvSpPr>
        <p:spPr>
          <a:xfrm>
            <a:off x="2591284" y="689184"/>
            <a:ext cx="6480720" cy="499624"/>
          </a:xfrm>
          <a:prstGeom prst="rect">
            <a:avLst/>
          </a:prstGeom>
          <a:noFill/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  <a:innerShdw blurRad="114300">
              <a:srgbClr val="000000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i="0" dirty="0">
                <a:effectLst/>
                <a:latin typeface="-apple-system"/>
              </a:rPr>
              <a:t>简化符号</a:t>
            </a:r>
            <a:r>
              <a:rPr lang="zh-CN" altLang="en-US" sz="2000" dirty="0">
                <a:latin typeface="-apple-system"/>
              </a:rPr>
              <a:t>有理达式表，</a:t>
            </a:r>
            <a:r>
              <a:rPr lang="zh-CN" altLang="en-US" sz="2000" dirty="0"/>
              <a:t>分子和分母中消除匹配因子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77B5CC-20D9-4730-B87A-512BC281CEED}"/>
              </a:ext>
            </a:extLst>
          </p:cNvPr>
          <p:cNvSpPr txBox="1"/>
          <p:nvPr/>
        </p:nvSpPr>
        <p:spPr>
          <a:xfrm>
            <a:off x="494243" y="1294097"/>
            <a:ext cx="6192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2C3E50"/>
                </a:solidFill>
                <a:effectLst/>
                <a:latin typeface="-apple-system"/>
              </a:rPr>
              <a:t>类似于</a:t>
            </a:r>
            <a:r>
              <a:rPr lang="en-US" altLang="zh-CN" sz="2000" b="0" i="0" dirty="0" err="1">
                <a:solidFill>
                  <a:srgbClr val="2C3E50"/>
                </a:solidFill>
                <a:effectLst/>
                <a:latin typeface="-apple-system"/>
              </a:rPr>
              <a:t>simplify_fractions</a:t>
            </a:r>
            <a:r>
              <a:rPr lang="en-US" altLang="zh-CN" sz="2000" b="0" i="0" dirty="0">
                <a:solidFill>
                  <a:srgbClr val="2C3E50"/>
                </a:solidFill>
                <a:effectLst/>
                <a:latin typeface="-apple-system"/>
              </a:rPr>
              <a:t>,</a:t>
            </a:r>
            <a:r>
              <a:rPr lang="zh-CN" altLang="en-US" sz="2000" b="0" i="0" dirty="0">
                <a:solidFill>
                  <a:srgbClr val="2C3E50"/>
                </a:solidFill>
                <a:effectLst/>
                <a:latin typeface="-apple-system"/>
              </a:rPr>
              <a:t>但功能较弱，并不因式分解</a:t>
            </a:r>
            <a:endParaRPr lang="zh-CN" altLang="en-US" sz="20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7281575-656A-494C-A95E-F7226A511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96" y="1664584"/>
            <a:ext cx="3775072" cy="11163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@variables x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fraction = (x - 5)^2*(x - 3) / (x - 5)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quick_cancel(fraction)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D25DC6A-7674-43D2-88EE-1F564854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587" y="2512404"/>
            <a:ext cx="3520760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结果</a:t>
            </a:r>
            <a:r>
              <a:rPr lang="zh-CN" altLang="zh-CN" sz="2000" dirty="0">
                <a:solidFill>
                  <a:srgbClr val="00B0F0"/>
                </a:solidFill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ans = (x - 3)*(x - 5)</a:t>
            </a:r>
          </a:p>
        </p:txBody>
      </p:sp>
    </p:spTree>
    <p:extLst>
      <p:ext uri="{BB962C8B-B14F-4D97-AF65-F5344CB8AC3E}">
        <p14:creationId xmlns:p14="http://schemas.microsoft.com/office/powerpoint/2010/main" val="1491330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FD971847-A447-4554-9166-1B25BDAEE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072" y="32353"/>
            <a:ext cx="8123550" cy="569387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50000"/>
              </a:lnSpc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9.3 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符号线性方程组的求解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求解的函数命令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CDEFEE9-37AF-4B1A-AD75-92E145A5E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80305"/>
              </p:ext>
            </p:extLst>
          </p:nvPr>
        </p:nvGraphicFramePr>
        <p:xfrm>
          <a:off x="666191" y="797129"/>
          <a:ext cx="8123550" cy="1784931"/>
        </p:xfrm>
        <a:graphic>
          <a:graphicData uri="http://schemas.openxmlformats.org/drawingml/2006/table">
            <a:tbl>
              <a:tblPr/>
              <a:tblGrid>
                <a:gridCol w="1666223">
                  <a:extLst>
                    <a:ext uri="{9D8B030D-6E8A-4147-A177-3AD203B41FA5}">
                      <a16:colId xmlns:a16="http://schemas.microsoft.com/office/drawing/2014/main" val="865771566"/>
                    </a:ext>
                  </a:extLst>
                </a:gridCol>
                <a:gridCol w="6457327">
                  <a:extLst>
                    <a:ext uri="{9D8B030D-6E8A-4147-A177-3AD203B41FA5}">
                      <a16:colId xmlns:a16="http://schemas.microsoft.com/office/drawing/2014/main" val="2002130682"/>
                    </a:ext>
                  </a:extLst>
                </a:gridCol>
              </a:tblGrid>
              <a:tr h="35024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2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A_b</a:t>
                      </a:r>
                      <a:r>
                        <a:rPr lang="en-US" altLang="zh-CN" sz="16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 </a:t>
                      </a:r>
                      <a:endParaRPr lang="en-US" sz="1600" b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建系数矩阵</a:t>
                      </a:r>
                      <a:r>
                        <a:rPr lang="en-US" altLang="zh-CN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和常数列向量</a:t>
                      </a:r>
                      <a:r>
                        <a:rPr lang="en-US" altLang="zh-CN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，再左除法求根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46747"/>
                  </a:ext>
                </a:extLst>
              </a:tr>
              <a:tr h="35024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sym_rref</a:t>
                      </a:r>
                      <a:endParaRPr lang="en-US" sz="1600" b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</a:rPr>
                        <a:t>简化的行阶梯形矩阵（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Gauss-Jordan 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</a:rPr>
                        <a:t>消元法）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892886"/>
                  </a:ext>
                </a:extLst>
              </a:tr>
              <a:tr h="35024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u="none" strike="noStrike" kern="120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solve_for</a:t>
                      </a:r>
                      <a:endParaRPr lang="en-US" sz="1600" b="0" u="none" strike="noStrike" kern="12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</a:rPr>
                        <a:t>为一组变量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vars 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</a:rPr>
                        <a:t>求解方程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eqs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284337"/>
                  </a:ext>
                </a:extLst>
              </a:tr>
              <a:tr h="3989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u="none" strike="noStrike" kern="120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sym_linsolve</a:t>
                      </a:r>
                      <a:endParaRPr lang="en-US" sz="1600" b="0" u="none" strike="noStrike" kern="12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</a:rPr>
                        <a:t>求解符号矩阵形式的线性方程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042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find_poles</a:t>
                      </a:r>
                      <a:endParaRPr lang="en-US" sz="1600" b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</a:rPr>
                        <a:t>表达式或函数的极点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516005"/>
                  </a:ext>
                </a:extLst>
              </a:tr>
            </a:tbl>
          </a:graphicData>
        </a:graphic>
      </p:graphicFrame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1969238-0246-406F-8672-273282A97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25" y="2752884"/>
            <a:ext cx="8092681" cy="1771062"/>
          </a:xfrm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kumimoji="0" lang="zh-CN" altLang="en-US" sz="200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求解线性方程步骤</a:t>
            </a:r>
            <a:endParaRPr kumimoji="0" lang="en-US" altLang="zh-CN" sz="2000" i="0" u="none" strike="noStrike" cap="none" normalizeH="0" baseline="0" dirty="0">
              <a:ln>
                <a:noFill/>
              </a:ln>
              <a:effectLst/>
              <a:latin typeface="Arial Unicode MS"/>
              <a:ea typeface="source-code-pro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latin typeface="-apple-system"/>
              </a:rPr>
              <a:t>@variables</a:t>
            </a:r>
            <a:r>
              <a:rPr lang="zh-CN" altLang="en-US" sz="2000" b="0" i="0" dirty="0">
                <a:effectLst/>
                <a:latin typeface="-apple-system"/>
              </a:rPr>
              <a:t>创建线性方程</a:t>
            </a:r>
            <a:r>
              <a:rPr lang="zh-CN" altLang="en-US" sz="2000" dirty="0">
                <a:latin typeface="-apple-system"/>
              </a:rPr>
              <a:t>组中</a:t>
            </a:r>
            <a:r>
              <a:rPr lang="zh-CN" altLang="en-US" sz="2000" b="0" i="0" dirty="0">
                <a:effectLst/>
                <a:latin typeface="-apple-system"/>
              </a:rPr>
              <a:t>符号变量 </a:t>
            </a:r>
            <a:r>
              <a:rPr lang="en-US" altLang="zh-CN" sz="2000" b="0" i="0" dirty="0">
                <a:effectLst/>
                <a:latin typeface="-apple-system"/>
              </a:rPr>
              <a:t>vars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b="0" i="0" dirty="0">
                <a:effectLst/>
                <a:latin typeface="-apple-system"/>
              </a:rPr>
              <a:t>再建立含有符号变量</a:t>
            </a:r>
            <a:r>
              <a:rPr lang="en-US" altLang="zh-CN" sz="2000" b="0" i="0" dirty="0">
                <a:effectLst/>
                <a:latin typeface="-apple-system"/>
              </a:rPr>
              <a:t>var</a:t>
            </a:r>
            <a:r>
              <a:rPr lang="zh-CN" altLang="en-US" sz="2000" dirty="0">
                <a:latin typeface="-apple-system"/>
              </a:rPr>
              <a:t>的线性方程组</a:t>
            </a:r>
            <a:r>
              <a:rPr lang="en-US" altLang="zh-CN" sz="2000" dirty="0" err="1">
                <a:latin typeface="-apple-system"/>
              </a:rPr>
              <a:t>eqs</a:t>
            </a:r>
            <a:endParaRPr lang="en-US" altLang="zh-CN" sz="2000" dirty="0"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>
                <a:latin typeface="-apple-system"/>
              </a:rPr>
              <a:t>用上述函数命令求解线性方程组</a:t>
            </a:r>
            <a:endParaRPr lang="en-US" altLang="zh-CN" sz="2000" b="0" i="0" dirty="0">
              <a:effectLst/>
              <a:latin typeface="-apple-system"/>
            </a:endParaRPr>
          </a:p>
        </p:txBody>
      </p:sp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6C4628E4-33F7-4E9E-84AB-64155438A56D}"/>
              </a:ext>
            </a:extLst>
          </p:cNvPr>
          <p:cNvSpPr txBox="1">
            <a:spLocks/>
          </p:cNvSpPr>
          <p:nvPr/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2025/4/21</a:t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2FC07E6A-45EE-4219-A475-918036334197}"/>
              </a:ext>
            </a:extLst>
          </p:cNvPr>
          <p:cNvSpPr/>
          <p:nvPr/>
        </p:nvSpPr>
        <p:spPr bwMode="auto">
          <a:xfrm>
            <a:off x="6526624" y="1518778"/>
            <a:ext cx="2232248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X=</a:t>
            </a:r>
            <a:r>
              <a:rPr lang="en-US" altLang="zh-CN" b="1" dirty="0" err="1">
                <a:solidFill>
                  <a:srgbClr val="FFFFFF"/>
                </a:solidFill>
                <a:latin typeface="-apple-system"/>
              </a:rPr>
              <a:t>solve_for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(</a:t>
            </a:r>
            <a:r>
              <a:rPr lang="en-US" altLang="zh-CN" b="1" dirty="0" err="1">
                <a:solidFill>
                  <a:srgbClr val="FFFFFF"/>
                </a:solidFill>
                <a:latin typeface="-apple-system"/>
              </a:rPr>
              <a:t>eqs,vars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)</a:t>
            </a:r>
            <a:endParaRPr lang="en-US" altLang="zh-CN" b="1" dirty="0">
              <a:solidFill>
                <a:srgbClr val="FFFFFF"/>
              </a:solidFill>
              <a:latin typeface="-apple-system"/>
              <a:sym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5FAE50-DC1B-40C0-B8DA-4D21E64D56D9}"/>
              </a:ext>
            </a:extLst>
          </p:cNvPr>
          <p:cNvSpPr/>
          <p:nvPr/>
        </p:nvSpPr>
        <p:spPr bwMode="auto">
          <a:xfrm>
            <a:off x="6859014" y="802519"/>
            <a:ext cx="1930727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A, b=</a:t>
            </a:r>
            <a:r>
              <a:rPr lang="en-US" altLang="zh-CN" b="1" dirty="0" err="1">
                <a:solidFill>
                  <a:srgbClr val="FFFFFF"/>
                </a:solidFill>
                <a:latin typeface="-apple-system"/>
              </a:rPr>
              <a:t>A_b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(</a:t>
            </a:r>
            <a:r>
              <a:rPr lang="en-US" altLang="zh-CN" b="1" dirty="0" err="1">
                <a:solidFill>
                  <a:srgbClr val="FFFFFF"/>
                </a:solidFill>
                <a:latin typeface="-apple-system"/>
              </a:rPr>
              <a:t>eqs,vars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)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38FF6E0-6079-4BD1-A651-FC8F45EA65A2}"/>
              </a:ext>
            </a:extLst>
          </p:cNvPr>
          <p:cNvSpPr/>
          <p:nvPr/>
        </p:nvSpPr>
        <p:spPr bwMode="auto">
          <a:xfrm>
            <a:off x="6197315" y="1937363"/>
            <a:ext cx="2561557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X,R=</a:t>
            </a:r>
            <a:r>
              <a:rPr lang="en-US" altLang="zh-CN" b="1" dirty="0" err="1">
                <a:solidFill>
                  <a:srgbClr val="FFFFFF"/>
                </a:solidFill>
                <a:latin typeface="-apple-system"/>
              </a:rPr>
              <a:t>sym_linsolve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(</a:t>
            </a:r>
            <a:r>
              <a:rPr lang="en-US" altLang="zh-CN" b="1" dirty="0" err="1">
                <a:solidFill>
                  <a:srgbClr val="FFFFFF"/>
                </a:solidFill>
                <a:latin typeface="-apple-system"/>
              </a:rPr>
              <a:t>A,b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) </a:t>
            </a:r>
            <a:endParaRPr lang="en-US" altLang="zh-CN" b="1" dirty="0">
              <a:solidFill>
                <a:srgbClr val="FFFFFF"/>
              </a:solidFill>
              <a:latin typeface="-apple-system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88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9A29908-F2C4-2D11-C9DD-76DBE7E7D9DF}"/>
              </a:ext>
            </a:extLst>
          </p:cNvPr>
          <p:cNvSpPr txBox="1">
            <a:spLocks/>
          </p:cNvSpPr>
          <p:nvPr/>
        </p:nvSpPr>
        <p:spPr bwMode="auto">
          <a:xfrm>
            <a:off x="313169" y="1870559"/>
            <a:ext cx="8805693" cy="255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lvl="0">
              <a:lnSpc>
                <a:spcPts val="3900"/>
              </a:lnSpc>
              <a:defRPr/>
            </a:pPr>
            <a:r>
              <a:rPr lang="en-US" altLang="zh-CN" sz="2400" kern="0" dirty="0" err="1"/>
              <a:t>eqs</a:t>
            </a:r>
            <a:r>
              <a:rPr lang="en-US" altLang="zh-CN" sz="2400" kern="0" dirty="0"/>
              <a:t>:</a:t>
            </a:r>
            <a:r>
              <a:rPr lang="zh-CN" altLang="en-US" sz="2400" kern="0" dirty="0"/>
              <a:t>符号方程组表达式，等号用</a:t>
            </a:r>
            <a:r>
              <a:rPr lang="en-US" altLang="zh-CN" sz="2400" b="1" kern="0" dirty="0">
                <a:solidFill>
                  <a:srgbClr val="FF0000"/>
                </a:solidFill>
              </a:rPr>
              <a:t>~</a:t>
            </a:r>
            <a:r>
              <a:rPr lang="zh-CN" altLang="en-US" sz="2400" kern="0" dirty="0"/>
              <a:t>代替</a:t>
            </a:r>
          </a:p>
          <a:p>
            <a:pPr lvl="0">
              <a:lnSpc>
                <a:spcPts val="3900"/>
              </a:lnSpc>
              <a:defRPr/>
            </a:pPr>
            <a:r>
              <a:rPr lang="en-US" altLang="zh-CN" sz="2400" kern="0" dirty="0"/>
              <a:t>vars :</a:t>
            </a:r>
            <a:r>
              <a:rPr lang="zh-CN" altLang="en-US" sz="2400" kern="0" dirty="0"/>
              <a:t>未知量</a:t>
            </a:r>
            <a:r>
              <a:rPr lang="en-US" altLang="zh-CN" sz="2400" kern="0" dirty="0"/>
              <a:t>,</a:t>
            </a:r>
            <a:r>
              <a:rPr lang="zh-CN" altLang="en-US" sz="2400" kern="0" dirty="0"/>
              <a:t>即待解根数组，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-code-pro"/>
              </a:rPr>
              <a:t> @variables</a:t>
            </a:r>
            <a:r>
              <a:rPr lang="zh-CN" altLang="en-US" sz="2400" kern="0" dirty="0"/>
              <a:t>定义符号标量数组</a:t>
            </a:r>
          </a:p>
          <a:p>
            <a:pPr>
              <a:lnSpc>
                <a:spcPts val="3900"/>
              </a:lnSpc>
              <a:defRPr/>
            </a:pPr>
            <a:r>
              <a:rPr lang="en-US" altLang="zh-CN" sz="2400" kern="0" dirty="0"/>
              <a:t>check</a:t>
            </a:r>
            <a:r>
              <a:rPr lang="en-US" altLang="zh-CN" sz="2400" dirty="0">
                <a:solidFill>
                  <a:srgbClr val="2C3E50"/>
                </a:solidFill>
                <a:latin typeface="-apple-system"/>
                <a:ea typeface="宋体" charset="-122"/>
              </a:rPr>
              <a:t> :</a:t>
            </a:r>
            <a:r>
              <a:rPr lang="zh-CN" altLang="en-US" sz="2400" kern="0" dirty="0"/>
              <a:t>表示是否检查方程是否线性，可忽略</a:t>
            </a:r>
          </a:p>
          <a:p>
            <a:pPr lvl="0">
              <a:lnSpc>
                <a:spcPts val="3900"/>
              </a:lnSpc>
              <a:defRPr/>
            </a:pPr>
            <a:r>
              <a:rPr lang="zh-CN" altLang="en-US" sz="2400" dirty="0"/>
              <a:t>系数矩阵 </a:t>
            </a:r>
            <a:r>
              <a:rPr lang="en-US" altLang="zh-CN" sz="2400" dirty="0"/>
              <a:t>A </a:t>
            </a:r>
            <a:r>
              <a:rPr lang="zh-CN" altLang="en-US" sz="2400" dirty="0"/>
              <a:t>及常数列向量 </a:t>
            </a:r>
            <a:r>
              <a:rPr lang="en-US" altLang="zh-CN" sz="2400" dirty="0"/>
              <a:t>b</a:t>
            </a:r>
            <a:r>
              <a:rPr lang="zh-CN" altLang="en-US" sz="2400" dirty="0"/>
              <a:t>，由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A_b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根据</a:t>
            </a:r>
            <a:r>
              <a:rPr lang="zh-CN" altLang="en-US" sz="2400" dirty="0"/>
              <a:t>线性方程组</a:t>
            </a:r>
            <a:r>
              <a:rPr lang="en-US" altLang="zh-CN" sz="2400" dirty="0" err="1"/>
              <a:t>eqs</a:t>
            </a:r>
            <a:r>
              <a:rPr lang="zh-CN" altLang="en-US" sz="2400" dirty="0"/>
              <a:t>确定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>
              <a:lnSpc>
                <a:spcPts val="3900"/>
              </a:lnSpc>
              <a:defRPr/>
            </a:pPr>
            <a:r>
              <a:rPr lang="zh-CN" altLang="en-US" sz="2400" dirty="0"/>
              <a:t>确定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后</a:t>
            </a:r>
            <a:r>
              <a:rPr lang="en-US" altLang="zh-CN" sz="2400" dirty="0"/>
              <a:t>,</a:t>
            </a:r>
            <a:r>
              <a:rPr lang="zh-CN" altLang="en-US" sz="2400" dirty="0"/>
              <a:t>用左除法 </a:t>
            </a:r>
            <a:r>
              <a:rPr lang="en-US" altLang="zh-CN" sz="2400" dirty="0"/>
              <a:t>A \ b </a:t>
            </a:r>
            <a:r>
              <a:rPr lang="zh-CN" altLang="en-US" sz="2400" dirty="0"/>
              <a:t>求解该线性方程组 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2808184-A1E7-5130-9A60-071AA77EE024}"/>
              </a:ext>
            </a:extLst>
          </p:cNvPr>
          <p:cNvSpPr txBox="1">
            <a:spLocks/>
          </p:cNvSpPr>
          <p:nvPr/>
        </p:nvSpPr>
        <p:spPr bwMode="auto">
          <a:xfrm>
            <a:off x="1524000" y="185052"/>
            <a:ext cx="6696744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9.3</a:t>
            </a:r>
            <a:r>
              <a:rPr lang="zh-CN" altLang="en-US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符号线性方程组求解</a:t>
            </a:r>
            <a:r>
              <a:rPr lang="en-US" altLang="zh-CN" sz="3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kumimoji="0" lang="en-US" altLang="zh-CN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A_b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AB2A77-CEDC-4E88-AD1D-139154289C5E}"/>
              </a:ext>
            </a:extLst>
          </p:cNvPr>
          <p:cNvSpPr/>
          <p:nvPr/>
        </p:nvSpPr>
        <p:spPr bwMode="auto">
          <a:xfrm>
            <a:off x="457199" y="1315156"/>
            <a:ext cx="4258816" cy="46166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/>
              <a:t>A, b = </a:t>
            </a:r>
            <a:r>
              <a:rPr lang="en-US" altLang="zh-CN" sz="2400" dirty="0" err="1"/>
              <a:t>A_b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eqs</a:t>
            </a:r>
            <a:r>
              <a:rPr lang="en-US" altLang="zh-CN" sz="2400" dirty="0"/>
              <a:t> , vars, check)</a:t>
            </a:r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878F2261-8CB6-406E-B9EB-00F00ADD5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438" y="933505"/>
            <a:ext cx="4508424" cy="1028039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建立符号方程，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方程等号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用“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0595C2-0F65-4BAD-AE3E-1E94F30837CD}"/>
              </a:ext>
            </a:extLst>
          </p:cNvPr>
          <p:cNvSpPr txBox="1"/>
          <p:nvPr/>
        </p:nvSpPr>
        <p:spPr>
          <a:xfrm>
            <a:off x="381973" y="719229"/>
            <a:ext cx="4704860" cy="502189"/>
          </a:xfrm>
          <a:prstGeom prst="rect">
            <a:avLst/>
          </a:prstGeom>
          <a:solidFill>
            <a:schemeClr val="bg1"/>
          </a:solidFill>
          <a:ln w="76200" cap="flat" cmpd="sng">
            <a:noFill/>
            <a:prstDash val="solid"/>
          </a:ln>
          <a:effectLst>
            <a:glow rad="101600">
              <a:srgbClr val="D3F4F7">
                <a:alpha val="40035"/>
              </a:srgbClr>
            </a:glow>
          </a:effectLst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70C0"/>
                </a:solidFill>
                <a:effectLst/>
                <a:latin typeface="-apple-system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符号线性方程组求解</a:t>
            </a:r>
            <a:r>
              <a:rPr lang="en-US" altLang="zh-CN" dirty="0"/>
              <a:t>——</a:t>
            </a:r>
            <a:r>
              <a:rPr lang="en-US" altLang="zh-CN" dirty="0" err="1"/>
              <a:t>A_b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149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616E0-F970-4AD4-91DA-27BC6794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74" y="1474137"/>
            <a:ext cx="1600546" cy="438150"/>
          </a:xfrm>
        </p:spPr>
        <p:txBody>
          <a:bodyPr/>
          <a:lstStyle/>
          <a:p>
            <a:pPr algn="l">
              <a:lnSpc>
                <a:spcPct val="100000"/>
              </a:lnSpc>
            </a:pPr>
            <a:br>
              <a:rPr lang="en-US" altLang="zh-CN" sz="2200" dirty="0"/>
            </a:br>
            <a:r>
              <a:rPr lang="zh-CN" altLang="en-US" sz="2200" dirty="0"/>
              <a:t>已知平板的四边温度，</a:t>
            </a:r>
            <a:br>
              <a:rPr lang="en-US" altLang="zh-CN" sz="2200" dirty="0"/>
            </a:br>
            <a:r>
              <a:rPr lang="zh-CN" altLang="en-US" sz="2200" dirty="0"/>
              <a:t>求心部温度，并且绘制</a:t>
            </a:r>
            <a:br>
              <a:rPr lang="en-US" altLang="zh-CN" sz="2200" dirty="0"/>
            </a:br>
            <a:r>
              <a:rPr lang="zh-CN" altLang="en-US" sz="2200" dirty="0"/>
              <a:t>温度场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E72F5-DC3A-42EE-8DAB-BF2E961C19C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D5C21-8453-4E8B-8FA6-9D282B0DEA9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2025/4/21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C8564D1-9340-440D-BDD0-F54E0491F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778112"/>
              </p:ext>
            </p:extLst>
          </p:nvPr>
        </p:nvGraphicFramePr>
        <p:xfrm>
          <a:off x="3456245" y="822288"/>
          <a:ext cx="2329567" cy="1212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" r:id="rId4" imgW="1562100" imgH="812800" progId="Equation.DSMT4">
                  <p:embed/>
                </p:oleObj>
              </mc:Choice>
              <mc:Fallback>
                <p:oleObj r:id="rId4" imgW="1562100" imgH="812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C8564D1-9340-440D-BDD0-F54E0491F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245" y="822288"/>
                        <a:ext cx="2329567" cy="12121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2ED11C8C-04F8-456B-BEE6-FD2DBF06CE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89288" y="762107"/>
            <a:ext cx="1634888" cy="1428389"/>
            <a:chOff x="2157" y="6861"/>
            <a:chExt cx="4500" cy="4291"/>
          </a:xfrm>
        </p:grpSpPr>
        <p:sp>
          <p:nvSpPr>
            <p:cNvPr id="10" name="AutoShape 33">
              <a:extLst>
                <a:ext uri="{FF2B5EF4-FFF2-40B4-BE49-F238E27FC236}">
                  <a16:creationId xmlns:a16="http://schemas.microsoft.com/office/drawing/2014/main" id="{CDE50131-54F8-4BBD-A05B-2F25099008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57" y="6861"/>
              <a:ext cx="4500" cy="4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A959108A-9B79-491F-B1E0-40585E09F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6959"/>
              <a:ext cx="408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2" name="Line 31">
              <a:extLst>
                <a:ext uri="{FF2B5EF4-FFF2-40B4-BE49-F238E27FC236}">
                  <a16:creationId xmlns:a16="http://schemas.microsoft.com/office/drawing/2014/main" id="{8C2010D8-A305-4114-93FA-498D32A40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8320"/>
              <a:ext cx="13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3" name="Line 30">
              <a:extLst>
                <a:ext uri="{FF2B5EF4-FFF2-40B4-BE49-F238E27FC236}">
                  <a16:creationId xmlns:a16="http://schemas.microsoft.com/office/drawing/2014/main" id="{FA9C6416-C831-4204-94D9-395C96819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9682"/>
              <a:ext cx="13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" name="Line 29">
              <a:extLst>
                <a:ext uri="{FF2B5EF4-FFF2-40B4-BE49-F238E27FC236}">
                  <a16:creationId xmlns:a16="http://schemas.microsoft.com/office/drawing/2014/main" id="{2FF7B91F-3DFD-43C3-8636-DF49B9D46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11041"/>
              <a:ext cx="40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07C32359-9471-4003-8790-DDF4EF921B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3" y="6959"/>
              <a:ext cx="1" cy="40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779DEA56-EA7E-4C23-B4F4-F2787BEEB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4" y="6959"/>
              <a:ext cx="2" cy="40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BECAC519-C6E4-49B9-A4E8-016166CFBB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5" y="6959"/>
              <a:ext cx="1" cy="40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8" name="Line 25">
              <a:extLst>
                <a:ext uri="{FF2B5EF4-FFF2-40B4-BE49-F238E27FC236}">
                  <a16:creationId xmlns:a16="http://schemas.microsoft.com/office/drawing/2014/main" id="{377DA39E-985F-48C4-A33F-5062627C3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" y="6959"/>
              <a:ext cx="1" cy="40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D07D7951-B023-48A7-BC8E-1A38F8DE0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8320"/>
              <a:ext cx="13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09301866-B649-4532-9883-43729D6C9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9681"/>
              <a:ext cx="13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23DE9DB3-360F-4E54-A6D8-4E985CBD8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5" y="8320"/>
              <a:ext cx="13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F3E36E7A-89CB-46E2-A5B7-D9037F1B6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5" y="9681"/>
              <a:ext cx="13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AD02562F-C573-4AB0-9F9D-02DAA458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" y="8231"/>
              <a:ext cx="650" cy="67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t1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BBF8EB37-7E68-4A89-9151-55C87044C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8265"/>
              <a:ext cx="650" cy="67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marR="0" lvl="0" indent="0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200" b="0" i="1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t2</a:t>
              </a:r>
            </a:p>
          </p:txBody>
        </p:sp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492A2053-1CE1-4409-8525-B9551E51F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9635"/>
              <a:ext cx="650" cy="67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6" name="Text Box 17">
              <a:extLst>
                <a:ext uri="{FF2B5EF4-FFF2-40B4-BE49-F238E27FC236}">
                  <a16:creationId xmlns:a16="http://schemas.microsoft.com/office/drawing/2014/main" id="{1229EA3E-9E39-44CE-9282-DE34F003B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9635"/>
              <a:ext cx="650" cy="67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A6267534-4D79-4570-A5C7-696EE9661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6861"/>
              <a:ext cx="753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28" name="Text Box 15">
              <a:extLst>
                <a:ext uri="{FF2B5EF4-FFF2-40B4-BE49-F238E27FC236}">
                  <a16:creationId xmlns:a16="http://schemas.microsoft.com/office/drawing/2014/main" id="{C6AAF4D9-AB72-4E46-A3BD-C3A17F3EA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6861"/>
              <a:ext cx="602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29" name="Text Box 14">
              <a:extLst>
                <a:ext uri="{FF2B5EF4-FFF2-40B4-BE49-F238E27FC236}">
                  <a16:creationId xmlns:a16="http://schemas.microsoft.com/office/drawing/2014/main" id="{643CE277-3E54-4314-BE4B-54C514BA2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" y="8265"/>
              <a:ext cx="603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30" name="Text Box 13">
              <a:extLst>
                <a:ext uri="{FF2B5EF4-FFF2-40B4-BE49-F238E27FC236}">
                  <a16:creationId xmlns:a16="http://schemas.microsoft.com/office/drawing/2014/main" id="{D041C550-1B7B-4327-B41C-09D69B18F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" y="9669"/>
              <a:ext cx="603" cy="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31398538-073D-4BC6-A583-9755B9E4E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8" y="10606"/>
              <a:ext cx="603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298EE663-A575-4DA8-AE03-6C0085AB1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" y="10606"/>
              <a:ext cx="602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54C402F6-D903-4E65-9DF1-C74E72C26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2" y="8265"/>
              <a:ext cx="603" cy="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34" name="Text Box 9">
              <a:extLst>
                <a:ext uri="{FF2B5EF4-FFF2-40B4-BE49-F238E27FC236}">
                  <a16:creationId xmlns:a16="http://schemas.microsoft.com/office/drawing/2014/main" id="{D760ACD9-6636-45C7-99D7-0CD61D225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2" y="9669"/>
              <a:ext cx="603" cy="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76810" tIns="38405" rIns="76810" bIns="38405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85295FF-6289-4990-9755-B747C026C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901834"/>
            <a:ext cx="8145880" cy="1040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800"/>
              </a:lnSpc>
            </a:pPr>
            <a:r>
              <a:rPr lang="fr-FR" altLang="zh-CN" dirty="0">
                <a:solidFill>
                  <a:srgbClr val="002060"/>
                </a:solidFill>
              </a:rPr>
              <a:t>@variables t1 t2 t3 t4</a:t>
            </a:r>
          </a:p>
          <a:p>
            <a:pPr>
              <a:lnSpc>
                <a:spcPts val="2800"/>
              </a:lnSpc>
            </a:pPr>
            <a:r>
              <a:rPr lang="fr-FR" altLang="zh-CN" dirty="0">
                <a:solidFill>
                  <a:srgbClr val="002060"/>
                </a:solidFill>
              </a:rPr>
              <a:t>eqs=[4t1-t2-t3~190,-t1+4t2-t4~140,-t1+4t3-t4~140,-t2-t3+4t4~100] </a:t>
            </a:r>
          </a:p>
          <a:p>
            <a:pPr>
              <a:lnSpc>
                <a:spcPts val="2800"/>
              </a:lnSpc>
            </a:pPr>
            <a:r>
              <a:rPr lang="fr-FR" altLang="zh-CN" dirty="0">
                <a:solidFill>
                  <a:srgbClr val="002060"/>
                </a:solidFill>
              </a:rPr>
              <a:t>A,b=A_b(eqs,[t1,t2,t3,t4],true)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0274D91-12C4-4D49-B072-AA652890BBDB}"/>
              </a:ext>
            </a:extLst>
          </p:cNvPr>
          <p:cNvSpPr txBox="1"/>
          <p:nvPr/>
        </p:nvSpPr>
        <p:spPr>
          <a:xfrm>
            <a:off x="234386" y="3023826"/>
            <a:ext cx="257922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julia&gt; A   </a:t>
            </a:r>
            <a:r>
              <a:rPr lang="en-US" altLang="zh-CN" dirty="0">
                <a:solidFill>
                  <a:srgbClr val="002060"/>
                </a:solidFill>
              </a:rPr>
              <a:t>#</a:t>
            </a:r>
            <a:r>
              <a:rPr lang="zh-CN" altLang="en-US" dirty="0">
                <a:solidFill>
                  <a:srgbClr val="002060"/>
                </a:solidFill>
              </a:rPr>
              <a:t>负系数矩阵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4×4 Matrix{Num}: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-4   1   1   0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1  -4   0   1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1   0  -4   1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 0   1   1  -4</a:t>
            </a:r>
          </a:p>
          <a:p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E2B6A27-CDA7-4A6D-99DE-F0F0C9554185}"/>
              </a:ext>
            </a:extLst>
          </p:cNvPr>
          <p:cNvSpPr txBox="1"/>
          <p:nvPr/>
        </p:nvSpPr>
        <p:spPr>
          <a:xfrm>
            <a:off x="3053558" y="3089374"/>
            <a:ext cx="267755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julia&gt; b  </a:t>
            </a:r>
            <a:r>
              <a:rPr lang="en-US" altLang="zh-CN" dirty="0">
                <a:solidFill>
                  <a:srgbClr val="002060"/>
                </a:solidFill>
              </a:rPr>
              <a:t># </a:t>
            </a:r>
            <a:r>
              <a:rPr lang="zh-CN" altLang="en-US" dirty="0">
                <a:solidFill>
                  <a:srgbClr val="002060"/>
                </a:solidFill>
              </a:rPr>
              <a:t>负列向量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4-element Vector{Num}: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-190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-140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 -140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82C936A-C5DB-4FA8-BDBC-17D8FA37937A}"/>
              </a:ext>
            </a:extLst>
          </p:cNvPr>
          <p:cNvSpPr txBox="1"/>
          <p:nvPr/>
        </p:nvSpPr>
        <p:spPr>
          <a:xfrm>
            <a:off x="6171475" y="2694422"/>
            <a:ext cx="2880320" cy="190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dirty="0">
                <a:solidFill>
                  <a:srgbClr val="002060"/>
                </a:solidFill>
              </a:rPr>
              <a:t>julia&gt; r=A\b  </a:t>
            </a:r>
            <a:r>
              <a:rPr lang="en-US" altLang="zh-CN" dirty="0">
                <a:solidFill>
                  <a:srgbClr val="002060"/>
                </a:solidFill>
              </a:rPr>
              <a:t>#</a:t>
            </a:r>
            <a:r>
              <a:rPr lang="zh-CN" altLang="en-US" dirty="0">
                <a:solidFill>
                  <a:srgbClr val="002060"/>
                </a:solidFill>
              </a:rPr>
              <a:t>左除法求根</a:t>
            </a:r>
          </a:p>
          <a:p>
            <a:pPr>
              <a:lnSpc>
                <a:spcPts val="24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4-element Vector{Num}:</a:t>
            </a:r>
          </a:p>
          <a:p>
            <a:pPr>
              <a:lnSpc>
                <a:spcPts val="24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 82.91666666666666</a:t>
            </a:r>
          </a:p>
          <a:p>
            <a:pPr>
              <a:lnSpc>
                <a:spcPts val="24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 70.83333333333333</a:t>
            </a:r>
          </a:p>
          <a:p>
            <a:pPr>
              <a:lnSpc>
                <a:spcPts val="24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 70.83333333333333</a:t>
            </a:r>
          </a:p>
          <a:p>
            <a:pPr>
              <a:lnSpc>
                <a:spcPts val="24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 60.416666666666664</a:t>
            </a: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DF38FAD3-97C8-4537-989F-2F22106AB854}"/>
              </a:ext>
            </a:extLst>
          </p:cNvPr>
          <p:cNvSpPr txBox="1">
            <a:spLocks/>
          </p:cNvSpPr>
          <p:nvPr/>
        </p:nvSpPr>
        <p:spPr bwMode="auto">
          <a:xfrm>
            <a:off x="1358362" y="121982"/>
            <a:ext cx="6696744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9.3</a:t>
            </a:r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符号线性方程组求解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A_b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案例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6" name="波形 35">
            <a:extLst>
              <a:ext uri="{FF2B5EF4-FFF2-40B4-BE49-F238E27FC236}">
                <a16:creationId xmlns:a16="http://schemas.microsoft.com/office/drawing/2014/main" id="{0ECAAAFB-F3AA-4A56-81A8-54E9A74FA0AE}"/>
              </a:ext>
            </a:extLst>
          </p:cNvPr>
          <p:cNvSpPr/>
          <p:nvPr/>
        </p:nvSpPr>
        <p:spPr>
          <a:xfrm>
            <a:off x="161595" y="480063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例93-1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F344BE-0A15-445D-B880-44D4DC96EEDD}"/>
              </a:ext>
            </a:extLst>
          </p:cNvPr>
          <p:cNvSpPr txBox="1"/>
          <p:nvPr/>
        </p:nvSpPr>
        <p:spPr>
          <a:xfrm>
            <a:off x="7006830" y="2304757"/>
            <a:ext cx="2101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等号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用“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88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C7DAFD-81BD-4CAA-8A7A-C4DDCB76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D5C21-8453-4E8B-8FA6-9D282B0DEA9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2025/4/21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C025447-3E02-46E2-84BD-05C49676AAAB}"/>
              </a:ext>
            </a:extLst>
          </p:cNvPr>
          <p:cNvSpPr/>
          <p:nvPr/>
        </p:nvSpPr>
        <p:spPr bwMode="auto">
          <a:xfrm>
            <a:off x="3767306" y="694656"/>
            <a:ext cx="5158916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marR="0" lvl="0" indent="-177800" algn="di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X=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solve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_for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eqs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, vars; simplify, check) 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56B96-E76B-4734-8313-301C72A5962D}"/>
              </a:ext>
            </a:extLst>
          </p:cNvPr>
          <p:cNvSpPr/>
          <p:nvPr/>
        </p:nvSpPr>
        <p:spPr>
          <a:xfrm>
            <a:off x="649193" y="571940"/>
            <a:ext cx="3083738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求解变量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vars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的方程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eqs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65E1DA-914C-C27C-8511-FD4EBA999426}"/>
              </a:ext>
            </a:extLst>
          </p:cNvPr>
          <p:cNvSpPr txBox="1"/>
          <p:nvPr/>
        </p:nvSpPr>
        <p:spPr>
          <a:xfrm>
            <a:off x="618536" y="1055657"/>
            <a:ext cx="8415308" cy="10656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求解变量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vars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线性方程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eqs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。</a:t>
            </a:r>
            <a:r>
              <a:rPr lang="zh-CN" altLang="en-US" b="0" i="0" dirty="0">
                <a:solidFill>
                  <a:srgbClr val="002060"/>
                </a:solidFill>
                <a:effectLst/>
                <a:latin typeface="-apple-system"/>
              </a:rPr>
              <a:t>用</a:t>
            </a:r>
            <a:r>
              <a:rPr lang="en-US" altLang="zh-CN" b="0" i="0" dirty="0">
                <a:solidFill>
                  <a:srgbClr val="002060"/>
                </a:solidFill>
                <a:effectLst/>
                <a:latin typeface="-apple-system"/>
              </a:rPr>
              <a:t>~</a:t>
            </a:r>
            <a:r>
              <a:rPr lang="zh-CN" altLang="en-US" b="0" i="0" dirty="0">
                <a:solidFill>
                  <a:srgbClr val="002060"/>
                </a:solidFill>
                <a:effectLst/>
                <a:latin typeface="-apple-system"/>
              </a:rPr>
              <a:t>连接的方程组，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仅解线性方程。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-apple-system"/>
            </a:endParaRPr>
          </a:p>
          <a:p>
            <a:pPr marL="285750" marR="0" lvl="0" indent="-285750" algn="l" defTabSz="914400" rtl="0" eaLnBrk="1" fontAlgn="base" latinLnBrk="0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simplify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：表示是否化简最后结果 ，可忽略</a:t>
            </a:r>
          </a:p>
          <a:p>
            <a:pPr marL="285750" marR="0" lvl="0" indent="-285750" algn="l" defTabSz="914400" rtl="0" eaLnBrk="1" fontAlgn="base" latinLnBrk="0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check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-apple-system"/>
              </a:rPr>
              <a:t>：表示是否检查方程是否线性，可忽略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C5FF4C0-A9DA-4F80-86FE-2EF2457C53A1}"/>
              </a:ext>
            </a:extLst>
          </p:cNvPr>
          <p:cNvSpPr txBox="1">
            <a:spLocks/>
          </p:cNvSpPr>
          <p:nvPr/>
        </p:nvSpPr>
        <p:spPr bwMode="auto">
          <a:xfrm>
            <a:off x="586297" y="2500994"/>
            <a:ext cx="8229600" cy="2146421"/>
          </a:xfrm>
          <a:prstGeom prst="rect">
            <a:avLst/>
          </a:prstGeom>
          <a:noFill/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lvl="0" indent="0">
              <a:lnSpc>
                <a:spcPts val="2300"/>
              </a:lnSpc>
              <a:buNone/>
            </a:pPr>
            <a:r>
              <a:rPr lang="en-US" altLang="zh-CN" sz="1800" dirty="0">
                <a:latin typeface="Arial Unicode MS"/>
                <a:ea typeface="source-code-pro"/>
              </a:rPr>
              <a:t>                                  </a:t>
            </a:r>
            <a:endParaRPr lang="zh-CN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@variables t1 t2 t3 t4; #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定义符号变量</a:t>
            </a:r>
          </a:p>
          <a:p>
            <a:pPr marL="0" marR="0" lvl="0" indent="0" algn="l" defTabSz="914400" rtl="0" eaLnBrk="0" fontAlgn="base" latinLnBrk="0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eqs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[4 * t1 - t2 - t3~190,</a:t>
            </a:r>
          </a:p>
          <a:p>
            <a:pPr marL="0" marR="0" lvl="0" indent="0" algn="l" defTabSz="914400" rtl="0" eaLnBrk="0" fontAlgn="base" latinLnBrk="0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-t1 + 4 * t2 - t4~140, </a:t>
            </a:r>
          </a:p>
          <a:p>
            <a:pPr marL="0" marR="0" lvl="0" indent="0" algn="l" defTabSz="914400" rtl="0" eaLnBrk="0" fontAlgn="base" latinLnBrk="0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-t1 + 4 * t3 - t4~140, </a:t>
            </a:r>
          </a:p>
          <a:p>
            <a:pPr marL="0" marR="0" lvl="0" indent="0" algn="l" defTabSz="914400" rtl="0" eaLnBrk="0" fontAlgn="base" latinLnBrk="0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-t2 - t3 + 4 * t4~100];#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符号方程组</a:t>
            </a:r>
          </a:p>
          <a:p>
            <a:pPr marL="0" marR="0" lvl="0" indent="0" algn="l" defTabSz="914400" rtl="0" eaLnBrk="0" fontAlgn="base" latinLnBrk="0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tt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solve_for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eqs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, [t1, t2, t3, t4])    #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符号求解线性方程组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334E72-2EB7-4B2E-B68D-780FEFE10528}"/>
              </a:ext>
            </a:extLst>
          </p:cNvPr>
          <p:cNvSpPr txBox="1"/>
          <p:nvPr/>
        </p:nvSpPr>
        <p:spPr>
          <a:xfrm>
            <a:off x="6014296" y="2785932"/>
            <a:ext cx="2801601" cy="120969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  <a:cs typeface="+mn-cs"/>
              </a:rPr>
              <a:t>结果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  <a:cs typeface="+mn-cs"/>
              </a:rPr>
              <a:t>82.91666666666666</a:t>
            </a:r>
          </a:p>
          <a:p>
            <a:pPr marL="0" marR="0" lvl="0" indent="0" algn="l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  <a:cs typeface="+mn-cs"/>
              </a:rPr>
              <a:t> 70.83333333333333</a:t>
            </a:r>
          </a:p>
          <a:p>
            <a:pPr marL="0" marR="0" lvl="0" indent="0" algn="l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  <a:cs typeface="+mn-cs"/>
              </a:rPr>
              <a:t> 70.83333333333333</a:t>
            </a:r>
          </a:p>
          <a:p>
            <a:pPr marL="0" marR="0" lvl="0" indent="0" algn="l" defTabSz="914400" rtl="0" eaLnBrk="0" fontAlgn="base" latinLnBrk="0" hangingPunct="0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  <a:cs typeface="+mn-cs"/>
              </a:rPr>
              <a:t> 60.416666666666664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0C70C263-8718-49B0-BCD2-BB3A9BC159B4}"/>
              </a:ext>
            </a:extLst>
          </p:cNvPr>
          <p:cNvSpPr txBox="1">
            <a:spLocks/>
          </p:cNvSpPr>
          <p:nvPr/>
        </p:nvSpPr>
        <p:spPr bwMode="auto">
          <a:xfrm>
            <a:off x="1358362" y="121982"/>
            <a:ext cx="6696744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9.3</a:t>
            </a:r>
            <a:r>
              <a:rPr lang="zh-CN" altLang="en-US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符号线性方程组求解</a:t>
            </a:r>
            <a:r>
              <a:rPr lang="en-US" altLang="zh-CN" sz="3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0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solve_for</a:t>
            </a:r>
            <a:r>
              <a:rPr lang="en-US" altLang="zh-CN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400907-435F-4E89-AD06-4F87E6739E74}"/>
              </a:ext>
            </a:extLst>
          </p:cNvPr>
          <p:cNvSpPr txBox="1"/>
          <p:nvPr/>
        </p:nvSpPr>
        <p:spPr>
          <a:xfrm>
            <a:off x="618515" y="2036939"/>
            <a:ext cx="8495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目前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solve_for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仅适用于所有方程都是线性的。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check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 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eqs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是否为线性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1F66B61C-BDB5-4A08-93CA-E3787AC4972F}"/>
              </a:ext>
            </a:extLst>
          </p:cNvPr>
          <p:cNvSpPr/>
          <p:nvPr/>
        </p:nvSpPr>
        <p:spPr>
          <a:xfrm>
            <a:off x="649193" y="2397588"/>
            <a:ext cx="1834575" cy="46730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例93-1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求心部温度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6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D9703-F834-46E8-9BF0-1410EBAF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1550"/>
            <a:ext cx="8599984" cy="756233"/>
          </a:xfrm>
        </p:spPr>
        <p:txBody>
          <a:bodyPr/>
          <a:lstStyle/>
          <a:p>
            <a:pPr marL="0" indent="0">
              <a:buNone/>
            </a:pP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6C749-799F-4A25-A311-A17CDBD5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D5C21-8453-4E8B-8FA6-9D282B0DEA9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2025/4/21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86D0667-0336-4805-AAE3-A1A929D471C7}"/>
              </a:ext>
            </a:extLst>
          </p:cNvPr>
          <p:cNvSpPr txBox="1">
            <a:spLocks/>
          </p:cNvSpPr>
          <p:nvPr/>
        </p:nvSpPr>
        <p:spPr bwMode="auto">
          <a:xfrm>
            <a:off x="1087932" y="140861"/>
            <a:ext cx="7425958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9.3</a:t>
            </a:r>
            <a:r>
              <a:rPr lang="zh-CN" altLang="en-US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符号线性方程组求解</a:t>
            </a:r>
            <a:r>
              <a:rPr lang="en-US" altLang="zh-CN" sz="3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0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sym_linsolve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903FB093-C723-48AE-A4E3-3CA0065E1704}"/>
              </a:ext>
            </a:extLst>
          </p:cNvPr>
          <p:cNvSpPr/>
          <p:nvPr/>
        </p:nvSpPr>
        <p:spPr bwMode="auto">
          <a:xfrm>
            <a:off x="5299236" y="769041"/>
            <a:ext cx="3500447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marR="0" lvl="0" indent="-177800" algn="di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X</a:t>
            </a:r>
            <a:r>
              <a:rPr lang="en-US" altLang="zh-CN" dirty="0">
                <a:solidFill>
                  <a:srgbClr val="FFFFFF"/>
                </a:solidFill>
                <a:latin typeface="-apple-system"/>
              </a:rPr>
              <a:t>,R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=</a:t>
            </a:r>
            <a:r>
              <a:rPr lang="en-US" altLang="zh-CN" dirty="0" err="1">
                <a:solidFill>
                  <a:srgbClr val="FFFFFF"/>
                </a:solidFill>
                <a:latin typeface="Arial"/>
              </a:rPr>
              <a:t>sym_linsolve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A,b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) 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D590235-7FB1-4219-B072-62B35DD0B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008766"/>
              </p:ext>
            </p:extLst>
          </p:nvPr>
        </p:nvGraphicFramePr>
        <p:xfrm>
          <a:off x="206964" y="1352739"/>
          <a:ext cx="2508600" cy="130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" r:id="rId4" imgW="1562100" imgH="812800" progId="Equation.DSMT4">
                  <p:embed/>
                </p:oleObj>
              </mc:Choice>
              <mc:Fallback>
                <p:oleObj r:id="rId4" imgW="1562100" imgH="812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C8564D1-9340-440D-BDD0-F54E0491F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64" y="1352739"/>
                        <a:ext cx="2508600" cy="130347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7C5C232-DFFD-47D7-B854-03F06E2D3E5C}"/>
              </a:ext>
            </a:extLst>
          </p:cNvPr>
          <p:cNvSpPr txBox="1"/>
          <p:nvPr/>
        </p:nvSpPr>
        <p:spPr>
          <a:xfrm>
            <a:off x="231330" y="2678690"/>
            <a:ext cx="86813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clear()</a:t>
            </a:r>
          </a:p>
          <a:p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A=Num.([4 -1 -1 0;-1 4 0 -1;-1 0 4 -1;0 -1 -1 4]);</a:t>
            </a:r>
          </a:p>
          <a:p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b=Num.([190, 140, 140, 100])</a:t>
            </a:r>
          </a:p>
          <a:p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</a:rPr>
              <a:t>X,R=</a:t>
            </a:r>
            <a:r>
              <a:rPr lang="en-US" altLang="zh-C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sym_linsolve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</a:rPr>
              <a:t>(A, b)</a:t>
            </a:r>
            <a:endParaRPr lang="en-US" altLang="zh-CN" sz="20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zh-CN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结果</a:t>
            </a:r>
            <a:r>
              <a:rPr lang="pt-BR" altLang="zh-CN" sz="20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Num[82.916666 70.8333333 70.83333333 60.41666666]</a:t>
            </a:r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B4ACE5EA-33AC-4BA1-8445-23ABB5B2B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82" y="1187786"/>
            <a:ext cx="2805446" cy="170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C8A3080-C39F-40C1-BDFE-A50DED8979D3}"/>
              </a:ext>
            </a:extLst>
          </p:cNvPr>
          <p:cNvSpPr txBox="1"/>
          <p:nvPr/>
        </p:nvSpPr>
        <p:spPr>
          <a:xfrm>
            <a:off x="5446446" y="1322538"/>
            <a:ext cx="3390257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系数矩阵 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常数列向量 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b="1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方程根</a:t>
            </a:r>
            <a:endParaRPr lang="en-US" altLang="zh-CN" sz="2000" b="1" i="0" dirty="0">
              <a:solidFill>
                <a:srgbClr val="2C3E5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R </a:t>
            </a:r>
            <a:r>
              <a:rPr lang="zh-CN" altLang="en-US" sz="2000" b="1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条件数导数或秩</a:t>
            </a:r>
            <a:r>
              <a:rPr lang="en-US" altLang="zh-CN" sz="2000" b="1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b="1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可省略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F20DEF-F55D-418C-AC14-CE941029E4DB}"/>
              </a:ext>
            </a:extLst>
          </p:cNvPr>
          <p:cNvSpPr/>
          <p:nvPr/>
        </p:nvSpPr>
        <p:spPr>
          <a:xfrm>
            <a:off x="1029007" y="658827"/>
            <a:ext cx="4174201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di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求解符号矩阵形式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的线性方程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D6A1A6B1-1FB7-49A4-A71C-857B8762F20C}"/>
              </a:ext>
            </a:extLst>
          </p:cNvPr>
          <p:cNvSpPr/>
          <p:nvPr/>
        </p:nvSpPr>
        <p:spPr>
          <a:xfrm>
            <a:off x="206964" y="759973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例93-1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11D7AAA-EECA-4368-8780-2A5DA4D7368B}"/>
              </a:ext>
            </a:extLst>
          </p:cNvPr>
          <p:cNvSpPr txBox="1">
            <a:spLocks/>
          </p:cNvSpPr>
          <p:nvPr/>
        </p:nvSpPr>
        <p:spPr bwMode="auto">
          <a:xfrm>
            <a:off x="7419096" y="1766901"/>
            <a:ext cx="1004747" cy="338554"/>
          </a:xfrm>
          <a:prstGeom prst="rect">
            <a:avLst/>
          </a:prstGeom>
          <a:solidFill>
            <a:srgbClr val="0070C0"/>
          </a:solidFill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b="1" kern="0" dirty="0">
                <a:solidFill>
                  <a:schemeClr val="bg1"/>
                </a:solidFill>
                <a:latin typeface="Arial Unicode MS"/>
                <a:ea typeface="source-code-pro"/>
              </a:rPr>
              <a:t>Num.</a:t>
            </a:r>
            <a:r>
              <a:rPr lang="zh-CN" altLang="zh-CN" sz="1600" b="1" kern="0" dirty="0">
                <a:solidFill>
                  <a:schemeClr val="bg1"/>
                </a:solidFill>
                <a:latin typeface="Arial Unicode MS"/>
                <a:ea typeface="source-code-pro"/>
              </a:rPr>
              <a:t>(x)</a:t>
            </a:r>
            <a:r>
              <a:rPr lang="zh-CN" altLang="zh-CN" sz="1600" b="1" kern="0" dirty="0">
                <a:solidFill>
                  <a:schemeClr val="bg1"/>
                </a:solidFill>
              </a:rPr>
              <a:t> </a:t>
            </a:r>
            <a:endParaRPr lang="zh-CN" altLang="zh-CN" sz="1600" b="1" kern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4FE359-697F-4139-913C-68CD4FF9C23C}"/>
              </a:ext>
            </a:extLst>
          </p:cNvPr>
          <p:cNvSpPr txBox="1"/>
          <p:nvPr/>
        </p:nvSpPr>
        <p:spPr>
          <a:xfrm>
            <a:off x="7382612" y="1362637"/>
            <a:ext cx="1175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符号数字</a:t>
            </a:r>
          </a:p>
        </p:txBody>
      </p:sp>
    </p:spTree>
    <p:extLst>
      <p:ext uri="{BB962C8B-B14F-4D97-AF65-F5344CB8AC3E}">
        <p14:creationId xmlns:p14="http://schemas.microsoft.com/office/powerpoint/2010/main" val="210129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3" grpId="0" animBg="1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C27A9AA6-F143-4CA0-82CD-6A5E11E6378C}"/>
              </a:ext>
            </a:extLst>
          </p:cNvPr>
          <p:cNvSpPr txBox="1">
            <a:spLocks/>
          </p:cNvSpPr>
          <p:nvPr/>
        </p:nvSpPr>
        <p:spPr bwMode="auto">
          <a:xfrm>
            <a:off x="922439" y="117425"/>
            <a:ext cx="7920880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9.3</a:t>
            </a:r>
            <a:r>
              <a:rPr lang="zh-CN" altLang="en-US" sz="3000" kern="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符号线性方程组求解</a:t>
            </a:r>
            <a:r>
              <a:rPr lang="en-US" altLang="zh-CN" sz="3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0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sym_linsolve</a:t>
            </a:r>
            <a:r>
              <a:rPr lang="zh-CN" altLang="en-US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案例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1A0680-3079-4D71-AC56-02A740BC1980}"/>
              </a:ext>
            </a:extLst>
          </p:cNvPr>
          <p:cNvSpPr txBox="1"/>
          <p:nvPr/>
        </p:nvSpPr>
        <p:spPr>
          <a:xfrm>
            <a:off x="423441" y="857805"/>
            <a:ext cx="8352928" cy="16257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= Num.([4 -1 -1 0; -1 4 0 -1; -1 0 4 -1; 0 -1 -1 4]);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@variables b1 b2 b3 b4</a:t>
            </a:r>
          </a:p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b=[b1,b2,b3,b4];</a:t>
            </a:r>
          </a:p>
          <a:p>
            <a:pPr>
              <a:lnSpc>
                <a:spcPts val="2500"/>
              </a:lnSpc>
            </a:pPr>
            <a:r>
              <a:rPr lang="en-US" altLang="zh-CN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X,= </a:t>
            </a:r>
            <a:r>
              <a:rPr lang="en-US" altLang="zh-CN" b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sym_linsolve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49DFCB-ED2D-486D-BF44-FA439B0CC4A4}"/>
              </a:ext>
            </a:extLst>
          </p:cNvPr>
          <p:cNvSpPr txBox="1"/>
          <p:nvPr/>
        </p:nvSpPr>
        <p:spPr>
          <a:xfrm>
            <a:off x="423441" y="2406980"/>
            <a:ext cx="87916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julia&gt; println(X)  </a:t>
            </a:r>
            <a:r>
              <a:rPr lang="en-US" altLang="zh-CN" sz="1600" dirty="0">
                <a:solidFill>
                  <a:srgbClr val="FF0000"/>
                </a:solidFill>
              </a:rPr>
              <a:t>#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关于参数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的表达式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结果</a:t>
            </a:r>
            <a:r>
              <a:rPr lang="en-US" altLang="zh-CN" sz="800" dirty="0">
                <a:solidFill>
                  <a:srgbClr val="FF0000"/>
                </a:solidFill>
              </a:rPr>
              <a:t>Num[0.04166666666666666(</a:t>
            </a:r>
            <a:r>
              <a:rPr lang="en-US" altLang="zh-CN" sz="800" dirty="0">
                <a:solidFill>
                  <a:srgbClr val="FF0000"/>
                </a:solidFill>
                <a:highlight>
                  <a:srgbClr val="FFFF00"/>
                </a:highlight>
              </a:rPr>
              <a:t>b4</a:t>
            </a:r>
            <a:r>
              <a:rPr lang="en-US" altLang="zh-CN" sz="800" dirty="0">
                <a:solidFill>
                  <a:srgbClr val="FF0000"/>
                </a:solidFill>
              </a:rPr>
              <a:t> + 0.26666666666666666(</a:t>
            </a:r>
            <a:r>
              <a:rPr lang="en-US" altLang="zh-CN" sz="800" dirty="0">
                <a:solidFill>
                  <a:srgbClr val="FF0000"/>
                </a:solidFill>
                <a:highlight>
                  <a:srgbClr val="FFFF00"/>
                </a:highlight>
              </a:rPr>
              <a:t>b2</a:t>
            </a:r>
            <a:r>
              <a:rPr lang="en-US" altLang="zh-CN" sz="800" dirty="0">
                <a:solidFill>
                  <a:srgbClr val="FF0000"/>
                </a:solidFill>
              </a:rPr>
              <a:t> + (1//4)*b1) + 0.2857142857142857(</a:t>
            </a:r>
            <a:r>
              <a:rPr lang="en-US" altLang="zh-CN" sz="800" dirty="0">
                <a:solidFill>
                  <a:srgbClr val="FF0000"/>
                </a:solidFill>
                <a:highlight>
                  <a:srgbClr val="FFFF00"/>
                </a:highlight>
              </a:rPr>
              <a:t>b3 </a:t>
            </a:r>
          </a:p>
          <a:p>
            <a:r>
              <a:rPr lang="en-US" altLang="zh-CN" sz="800" dirty="0">
                <a:solidFill>
                  <a:srgbClr val="FF0000"/>
                </a:solidFill>
              </a:rPr>
              <a:t>+ 0.06666666666666667(b2 + (1//4)*b1) + (1//4)*b1)) + 0.06666666666666667(b2 + (1//4)*b1) + 0.07142857142857142(b3 + 0.06666666666666667(b2 + (1//4)*b1) + (1//4)*b1) + (1//4)*b1; 0.26666666666666666(b2 + (1//4)*b1) + 0.017857142857142856(b3 + 0.06666666666666667(b2 + (1//4)*b1) + (1//4)*b1) + 0.08333333333333331(b4 + 0.26666666666666666(b2 + (1//4)*b1) + 0.2857142857142857(b3 + 0.06666666666666667(b2 + (1//4)*b1) + (1//4)*b1)); 0.08333333333333331(b4 + 0.26666666666666666(b2 + (1//4)*b1) + 0.2857142857142857(b3 + 0.06666666666666667(b2 + (1//4)*b1) + (1//4)*b1)) + 0.26785714285714285(b3 + 0.06666666666666667(b2 + (1//4)*b1) + (1//4)*b1); 0.29166666666666663(b4 + 0.26666666666666666(b2 + (1//4)*b1) + 0.2857142857142857(b3 + 0.06666666666666667(b2 + (1//4)*b1) + (1//4)*b1));;]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C8E436C1-E92A-4C2F-9D61-538E38163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124" y="1259511"/>
            <a:ext cx="4259808" cy="100811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>
              <a:lnSpc>
                <a:spcPts val="2200"/>
              </a:lnSpc>
            </a:pP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符号计算可以得到</a:t>
            </a:r>
            <a:endParaRPr lang="en-US" altLang="zh-CN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含有变量表达式</a:t>
            </a: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71B9421F-4C9B-4E84-92CB-BE0E6E65C5F8}"/>
              </a:ext>
            </a:extLst>
          </p:cNvPr>
          <p:cNvSpPr/>
          <p:nvPr/>
        </p:nvSpPr>
        <p:spPr>
          <a:xfrm>
            <a:off x="497025" y="748756"/>
            <a:ext cx="1834575" cy="46730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例93-1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求心部温度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854CED-36D5-48B2-ACF6-B11D24960C65}"/>
              </a:ext>
            </a:extLst>
          </p:cNvPr>
          <p:cNvSpPr txBox="1"/>
          <p:nvPr/>
        </p:nvSpPr>
        <p:spPr>
          <a:xfrm>
            <a:off x="447564" y="3456413"/>
            <a:ext cx="8588931" cy="120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julia&gt;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xx=substitute(</a:t>
            </a:r>
            <a:r>
              <a:rPr lang="en-US" altLang="zh-C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X,Dict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([b1 =&gt;190,b2 =&gt;140,b3=&gt;140,b4=&gt;100]))</a:t>
            </a:r>
          </a:p>
          <a:p>
            <a:pPr>
              <a:lnSpc>
                <a:spcPts val="2200"/>
              </a:lnSpc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julia&gt; println(xx)</a:t>
            </a:r>
          </a:p>
          <a:p>
            <a:pPr>
              <a:lnSpc>
                <a:spcPts val="2200"/>
              </a:lnSpc>
            </a:pP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结果Num[82.91666666666666; 70.83333333333333; 70.83333333333333; 60.41666666666666;;]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C6AFD9-84A7-4B9E-88FC-AA3723B8CB65}"/>
              </a:ext>
            </a:extLst>
          </p:cNvPr>
          <p:cNvSpPr/>
          <p:nvPr/>
        </p:nvSpPr>
        <p:spPr>
          <a:xfrm>
            <a:off x="2512804" y="667021"/>
            <a:ext cx="5875620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定义常数列向量系数</a:t>
            </a:r>
            <a:r>
              <a:rPr lang="en-US" altLang="zh-CN" sz="2000" b="1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b1,b2,b3</a:t>
            </a:r>
            <a:r>
              <a:rPr lang="zh-CN" altLang="en-US" sz="2000" b="1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b="1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b4</a:t>
            </a:r>
            <a:r>
              <a:rPr lang="zh-CN" altLang="en-US" sz="2000" b="1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为符号变量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50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7EF39034-4A9F-4E66-8492-693C7F5C7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540651"/>
              </p:ext>
            </p:extLst>
          </p:nvPr>
        </p:nvGraphicFramePr>
        <p:xfrm>
          <a:off x="2195736" y="728972"/>
          <a:ext cx="6264696" cy="1121480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405013464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1274799007"/>
                    </a:ext>
                  </a:extLst>
                </a:gridCol>
              </a:tblGrid>
              <a:tr h="11563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effectLst/>
                        </a:rPr>
                        <a:t>函数名</a:t>
                      </a: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2060"/>
                          </a:solidFill>
                          <a:effectLst/>
                        </a:rPr>
                        <a:t>简介</a:t>
                      </a: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23130"/>
                  </a:ext>
                </a:extLst>
              </a:tr>
              <a:tr h="115637">
                <a:tc>
                  <a:txBody>
                    <a:bodyPr/>
                    <a:lstStyle/>
                    <a:p>
                      <a:pPr algn="l"/>
                      <a:r>
                        <a:rPr lang="en-US" sz="1600" b="0" u="none" strike="noStrike">
                          <a:solidFill>
                            <a:srgbClr val="FF0000"/>
                          </a:solidFill>
                          <a:effectLst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Differential</a:t>
                      </a:r>
                      <a:endParaRPr lang="en-US" sz="16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002060"/>
                          </a:solidFill>
                          <a:effectLst/>
                        </a:rPr>
                        <a:t>定义微分规则</a:t>
                      </a: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08816189"/>
                  </a:ext>
                </a:extLst>
              </a:tr>
              <a:tr h="115637">
                <a:tc>
                  <a:txBody>
                    <a:bodyPr/>
                    <a:lstStyle/>
                    <a:p>
                      <a:pPr algn="l"/>
                      <a:r>
                        <a:rPr lang="en-US" sz="1600" b="0" u="none" strike="noStrike">
                          <a:solidFill>
                            <a:srgbClr val="FF0000"/>
                          </a:solidFill>
                          <a:effectLst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expand_derivatives</a:t>
                      </a:r>
                      <a:endParaRPr lang="en-US" sz="16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002060"/>
                          </a:solidFill>
                          <a:effectLst/>
                        </a:rPr>
                        <a:t>展示已求导表达式</a:t>
                      </a: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6570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0" u="none" strike="noStrike" dirty="0">
                          <a:solidFill>
                            <a:srgbClr val="FF0000"/>
                          </a:solidFill>
                          <a:effectLst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derivative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002060"/>
                          </a:solidFill>
                          <a:effectLst/>
                        </a:rPr>
                        <a:t>表达式求变量的一阶导数</a:t>
                      </a:r>
                    </a:p>
                  </a:txBody>
                  <a:tcPr marL="28909" marR="28909" marT="14455" marB="14455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3899051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2962AAC-3D6D-408D-A112-54C93A76D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041" y="728972"/>
            <a:ext cx="111414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B0DFD2F-AE9A-4DFD-858A-42D31C975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695" y="2154490"/>
            <a:ext cx="1387645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矢量分析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93419B7-6614-4326-85C3-444EEFCE73E0}"/>
              </a:ext>
            </a:extLst>
          </p:cNvPr>
          <p:cNvSpPr txBox="1">
            <a:spLocks/>
          </p:cNvSpPr>
          <p:nvPr/>
        </p:nvSpPr>
        <p:spPr bwMode="auto">
          <a:xfrm>
            <a:off x="1851414" y="150615"/>
            <a:ext cx="5441171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kern="0" dirty="0"/>
            </a:br>
            <a:r>
              <a:rPr lang="en-US" altLang="zh-CN" kern="0" dirty="0"/>
              <a:t>§</a:t>
            </a:r>
            <a:r>
              <a:rPr lang="en-US" altLang="zh-CN" kern="0" dirty="0">
                <a:sym typeface="Arial" panose="020B0604020202020204" pitchFamily="34" charset="0"/>
              </a:rPr>
              <a:t>9.4</a:t>
            </a:r>
            <a:r>
              <a:rPr lang="zh-CN" altLang="en-US" kern="0" dirty="0">
                <a:sym typeface="Arial" panose="020B0604020202020204" pitchFamily="34" charset="0"/>
              </a:rPr>
              <a:t>符号微积分</a:t>
            </a:r>
            <a:r>
              <a:rPr lang="en-US" altLang="zh-CN" kern="0" dirty="0">
                <a:solidFill>
                  <a:srgbClr val="FF0000"/>
                </a:solidFill>
              </a:rPr>
              <a:t>——</a:t>
            </a:r>
            <a:r>
              <a:rPr lang="zh-CN" altLang="en-US" b="0" dirty="0">
                <a:solidFill>
                  <a:srgbClr val="FF0000"/>
                </a:solidFill>
                <a:effectLst/>
              </a:rPr>
              <a:t>微分函数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9BF7ACC-EFE8-4D42-9C84-4C889EDFC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116643"/>
              </p:ext>
            </p:extLst>
          </p:nvPr>
        </p:nvGraphicFramePr>
        <p:xfrm>
          <a:off x="2195736" y="2164479"/>
          <a:ext cx="6264696" cy="1706880"/>
        </p:xfrm>
        <a:graphic>
          <a:graphicData uri="http://schemas.openxmlformats.org/drawingml/2006/table">
            <a:tbl>
              <a:tblPr/>
              <a:tblGrid>
                <a:gridCol w="2016224">
                  <a:extLst>
                    <a:ext uri="{9D8B030D-6E8A-4147-A177-3AD203B41FA5}">
                      <a16:colId xmlns:a16="http://schemas.microsoft.com/office/drawing/2014/main" val="1572064999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73184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简介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divergence</a:t>
                      </a:r>
                      <a:endParaRPr 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矢量场的散度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3777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laplacian</a:t>
                      </a:r>
                      <a:endParaRPr 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矢量场的散度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040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potential</a:t>
                      </a:r>
                      <a:endParaRPr lang="en-US" sz="16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矢量场的势能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06256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gradient</a:t>
                      </a:r>
                      <a:endParaRPr 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标量函数梯度向量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334012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887D339-B046-4A31-96AC-A7C0B2339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669158"/>
              </p:ext>
            </p:extLst>
          </p:nvPr>
        </p:nvGraphicFramePr>
        <p:xfrm>
          <a:off x="2195736" y="4078198"/>
          <a:ext cx="6264696" cy="365760"/>
        </p:xfrm>
        <a:graphic>
          <a:graphicData uri="http://schemas.openxmlformats.org/drawingml/2006/table">
            <a:tbl>
              <a:tblPr/>
              <a:tblGrid>
                <a:gridCol w="2016224">
                  <a:extLst>
                    <a:ext uri="{9D8B030D-6E8A-4147-A177-3AD203B41FA5}">
                      <a16:colId xmlns:a16="http://schemas.microsoft.com/office/drawing/2014/main" val="2619255439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075579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ttaylor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泰勒级数展开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717829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3D89506E-0B17-4EB0-8B65-9EC707CBE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059" y="4061023"/>
            <a:ext cx="1494919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</a:t>
            </a:r>
            <a:endParaRPr lang="zh-CN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620D41B-C537-4380-95D3-860A1FED60D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9288" t="67496" r="50000" b="24801"/>
          <a:stretch/>
        </p:blipFill>
        <p:spPr>
          <a:xfrm>
            <a:off x="6095643" y="2583273"/>
            <a:ext cx="2364789" cy="3336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61D2611-CF07-4BED-9149-4631C614FD0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9196" t="30701" r="55604" b="62812"/>
          <a:stretch/>
        </p:blipFill>
        <p:spPr>
          <a:xfrm>
            <a:off x="6158415" y="3569136"/>
            <a:ext cx="2304256" cy="3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56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C7DAFD-81BD-4CAA-8A7A-C4DDCB76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95182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2025/4/21</a:t>
            </a:fld>
            <a:endParaRPr lang="zh-CN" altLang="en-US" sz="180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0325AD0-3034-476B-9B94-C74BE09BC6F2}"/>
              </a:ext>
            </a:extLst>
          </p:cNvPr>
          <p:cNvSpPr txBox="1">
            <a:spLocks/>
          </p:cNvSpPr>
          <p:nvPr/>
        </p:nvSpPr>
        <p:spPr bwMode="auto">
          <a:xfrm>
            <a:off x="128784" y="1466492"/>
            <a:ext cx="6058653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r>
              <a:rPr lang="en-US" altLang="zh-CN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@variables x  #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定义符号变量</a:t>
            </a:r>
          </a:p>
          <a:p>
            <a:pPr algn="l"/>
            <a:r>
              <a:rPr lang="en-US" altLang="zh-CN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f = -(sin(x))^2  #</a:t>
            </a:r>
            <a:r>
              <a:rPr lang="zh-CN" altLang="en-US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建立符号表达式</a:t>
            </a:r>
          </a:p>
          <a:p>
            <a:pPr algn="l"/>
            <a:r>
              <a:rPr lang="en-US" altLang="zh-CN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dx=derivative(</a:t>
            </a:r>
            <a:r>
              <a:rPr lang="en-US" altLang="zh-CN" sz="2200" b="0" i="0" dirty="0" err="1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f,x</a:t>
            </a:r>
            <a:r>
              <a:rPr lang="en-US" altLang="zh-CN" sz="22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   </a:t>
            </a:r>
            <a:r>
              <a:rPr lang="en-US" altLang="zh-CN" sz="2200" b="0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200" b="0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200" b="0" i="0" dirty="0"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-2cos(x)*sin(x)</a:t>
            </a:r>
            <a:endParaRPr lang="zh-CN" altLang="en-US" sz="2200" b="0" i="0" dirty="0">
              <a:solidFill>
                <a:srgbClr val="00B0F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762DA0-5BC0-4FEF-9F15-2A5D3C543BB7}"/>
              </a:ext>
            </a:extLst>
          </p:cNvPr>
          <p:cNvSpPr txBox="1"/>
          <p:nvPr/>
        </p:nvSpPr>
        <p:spPr>
          <a:xfrm>
            <a:off x="6400706" y="665938"/>
            <a:ext cx="2556716" cy="45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1" hangingPunct="1">
              <a:lnSpc>
                <a:spcPct val="150000"/>
              </a:lnSpc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sz="1800" b="0" dirty="0"/>
              <a:t>化简</a:t>
            </a:r>
            <a:r>
              <a:rPr lang="en-US" altLang="zh-CN" sz="1800" b="0" dirty="0"/>
              <a:t>simplify </a:t>
            </a:r>
            <a:r>
              <a:rPr lang="zh-CN" altLang="en-US" sz="1800" b="0" dirty="0"/>
              <a:t>可省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4565B6-2DB4-4308-9CB9-B11DF4E818F3}"/>
              </a:ext>
            </a:extLst>
          </p:cNvPr>
          <p:cNvSpPr txBox="1"/>
          <p:nvPr/>
        </p:nvSpPr>
        <p:spPr>
          <a:xfrm>
            <a:off x="140054" y="728289"/>
            <a:ext cx="3273779" cy="49962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eaLnBrk="1" hangingPunct="1">
              <a:lnSpc>
                <a:spcPct val="150000"/>
              </a:lnSpc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2000" dirty="0"/>
              <a:t>求表达式</a:t>
            </a:r>
            <a:r>
              <a:rPr lang="en-US" altLang="zh-CN" sz="2000" dirty="0"/>
              <a:t>expr</a:t>
            </a:r>
            <a:r>
              <a:rPr lang="zh-CN" altLang="en-US" sz="2000" dirty="0"/>
              <a:t>对</a:t>
            </a:r>
            <a:r>
              <a:rPr lang="en-US" altLang="zh-CN" sz="2000" dirty="0"/>
              <a:t>v</a:t>
            </a:r>
            <a:r>
              <a:rPr lang="zh-CN" altLang="en-US" sz="2000" dirty="0"/>
              <a:t>一阶导数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C025447-3E02-46E2-84BD-05C49676AAAB}"/>
              </a:ext>
            </a:extLst>
          </p:cNvPr>
          <p:cNvSpPr/>
          <p:nvPr/>
        </p:nvSpPr>
        <p:spPr bwMode="auto">
          <a:xfrm>
            <a:off x="3351282" y="796283"/>
            <a:ext cx="2936077" cy="38306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derivative(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expr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, v; simplify)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3E8F9533-35DD-4AF6-BA2A-3537A3701CEC}"/>
              </a:ext>
            </a:extLst>
          </p:cNvPr>
          <p:cNvSpPr txBox="1">
            <a:spLocks/>
          </p:cNvSpPr>
          <p:nvPr/>
        </p:nvSpPr>
        <p:spPr bwMode="auto">
          <a:xfrm>
            <a:off x="1043608" y="170170"/>
            <a:ext cx="5832648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kern="0" dirty="0"/>
            </a:br>
            <a:r>
              <a:rPr lang="en-US" altLang="zh-CN" kern="0" dirty="0"/>
              <a:t>§</a:t>
            </a:r>
            <a:r>
              <a:rPr lang="en-US" altLang="zh-CN" kern="0" dirty="0">
                <a:sym typeface="Arial" panose="020B0604020202020204" pitchFamily="34" charset="0"/>
              </a:rPr>
              <a:t>9.4.1</a:t>
            </a:r>
            <a:r>
              <a:rPr lang="zh-CN" altLang="en-US" kern="0" dirty="0">
                <a:sym typeface="Arial" panose="020B0604020202020204" pitchFamily="34" charset="0"/>
              </a:rPr>
              <a:t>符号微分</a:t>
            </a:r>
            <a:r>
              <a:rPr lang="en-US" altLang="zh-CN" kern="0" dirty="0">
                <a:solidFill>
                  <a:srgbClr val="FF0000"/>
                </a:solidFill>
              </a:rPr>
              <a:t>——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derivative</a:t>
            </a:r>
            <a:r>
              <a:rPr kumimoji="0" lang="zh-CN" altLang="en-US" sz="3200" b="0" i="0" u="none" strike="noStrike" kern="0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一</a:t>
            </a:r>
            <a:r>
              <a:rPr lang="zh-CN" altLang="en-US" sz="3200" dirty="0">
                <a:solidFill>
                  <a:srgbClr val="FF0000"/>
                </a:solidFill>
              </a:rPr>
              <a:t>阶求导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A9C392-1650-4E60-A386-87DC3F250E91}"/>
              </a:ext>
            </a:extLst>
          </p:cNvPr>
          <p:cNvSpPr txBox="1"/>
          <p:nvPr/>
        </p:nvSpPr>
        <p:spPr>
          <a:xfrm>
            <a:off x="167323" y="3081755"/>
            <a:ext cx="417646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@variables x y z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f=2*y*z*sin(x)+3*x*sin(z)*cos(y)</a:t>
            </a:r>
          </a:p>
          <a:p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dx=derivative(f,x) 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#f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求导</a:t>
            </a:r>
          </a:p>
          <a:p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结果3cos(y)*sin(z) + 2y*z*cos(x)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ECEDB7-6400-4127-9B8E-C1A9AF6A3B69}"/>
              </a:ext>
            </a:extLst>
          </p:cNvPr>
          <p:cNvSpPr txBox="1"/>
          <p:nvPr/>
        </p:nvSpPr>
        <p:spPr>
          <a:xfrm>
            <a:off x="112673" y="1297779"/>
            <a:ext cx="40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+mj-ea"/>
              <a:buAutoNum type="circleNumDbPlain" startAt="2"/>
              <a:defRPr kumimoji="0" sz="1800" b="1" i="0" u="none" strike="noStrike" cap="none" normalizeH="0" baseline="0">
                <a:ln>
                  <a:noFill/>
                </a:ln>
                <a:solidFill>
                  <a:srgbClr val="F08D4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求</a:t>
            </a:r>
            <a:r>
              <a:rPr lang="en-US" altLang="zh-CN" dirty="0"/>
              <a:t>f=-(sin(x))^2</a:t>
            </a:r>
            <a:r>
              <a:rPr lang="zh-CN" altLang="en-US" dirty="0"/>
              <a:t>的一阶导数</a:t>
            </a:r>
            <a:r>
              <a:rPr lang="en-US" altLang="zh-CN" dirty="0"/>
              <a:t>df/dx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142619-0BE7-41B8-9E49-6BEE6FE34DD1}"/>
              </a:ext>
            </a:extLst>
          </p:cNvPr>
          <p:cNvSpPr txBox="1"/>
          <p:nvPr/>
        </p:nvSpPr>
        <p:spPr>
          <a:xfrm>
            <a:off x="112672" y="2770478"/>
            <a:ext cx="6763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sz="20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+mj-ea"/>
              <a:buAutoNum type="circleNumDbPlain" startAt="2"/>
            </a:pPr>
            <a:r>
              <a:rPr lang="zh-CN" altLang="en-US" sz="1800" dirty="0">
                <a:solidFill>
                  <a:srgbClr val="F08D49"/>
                </a:solidFill>
              </a:rPr>
              <a:t> 求</a:t>
            </a:r>
            <a:r>
              <a:rPr lang="en-US" altLang="zh-CN" sz="1800" dirty="0">
                <a:solidFill>
                  <a:srgbClr val="F08D49"/>
                </a:solidFill>
              </a:rPr>
              <a:t>f=</a:t>
            </a:r>
            <a:r>
              <a:rPr lang="zh-CN" altLang="en-US" sz="1800" dirty="0">
                <a:solidFill>
                  <a:srgbClr val="F08D49"/>
                </a:solidFill>
              </a:rPr>
              <a:t>2*y*z*sin(x)+3*x*sin(z)*cos(y)的一阶导数</a:t>
            </a:r>
            <a:r>
              <a:rPr lang="en-US" altLang="zh-CN" sz="1800" dirty="0">
                <a:solidFill>
                  <a:srgbClr val="F08D49"/>
                </a:solidFill>
              </a:rPr>
              <a:t>df/dx</a:t>
            </a:r>
            <a:endParaRPr lang="zh-CN" altLang="en-US" sz="1800" dirty="0">
              <a:solidFill>
                <a:srgbClr val="F08D49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CCF24B-918C-4DD7-BED3-3650391B77B5}"/>
              </a:ext>
            </a:extLst>
          </p:cNvPr>
          <p:cNvSpPr txBox="1"/>
          <p:nvPr/>
        </p:nvSpPr>
        <p:spPr>
          <a:xfrm>
            <a:off x="4850851" y="3674355"/>
            <a:ext cx="41764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dy=derivative(f,y)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#f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求导</a:t>
            </a:r>
          </a:p>
          <a:p>
            <a:r>
              <a:rPr lang="en-US" altLang="zh-CN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结果2z*sin(x) - 3x*sin(y)*sin(z)</a:t>
            </a:r>
          </a:p>
        </p:txBody>
      </p:sp>
    </p:spTree>
    <p:extLst>
      <p:ext uri="{BB962C8B-B14F-4D97-AF65-F5344CB8AC3E}">
        <p14:creationId xmlns:p14="http://schemas.microsoft.com/office/powerpoint/2010/main" val="105097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7EBFD86-804D-48A7-BFD8-722A0B0CAE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89" t="10864" r="5113" b="9400"/>
          <a:stretch/>
        </p:blipFill>
        <p:spPr>
          <a:xfrm>
            <a:off x="5424057" y="1651865"/>
            <a:ext cx="3172853" cy="25346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C6A6BF8-3FE2-48CA-81F8-1DC4A3630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157" t="59186" r="56404" b="35430"/>
          <a:stretch/>
        </p:blipFill>
        <p:spPr>
          <a:xfrm>
            <a:off x="5647456" y="724823"/>
            <a:ext cx="2990511" cy="48541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05FBC3D-124F-4CCF-ABBC-021371DD0B22}"/>
              </a:ext>
            </a:extLst>
          </p:cNvPr>
          <p:cNvSpPr txBox="1"/>
          <p:nvPr/>
        </p:nvSpPr>
        <p:spPr>
          <a:xfrm>
            <a:off x="326879" y="805918"/>
            <a:ext cx="521809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f(x) </a:t>
            </a:r>
            <a:r>
              <a:rPr lang="zh-CN" altLang="en-US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相对于向量 </a:t>
            </a:r>
            <a:r>
              <a:rPr lang="en-US" altLang="zh-CN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梯度是 </a:t>
            </a:r>
            <a:r>
              <a:rPr lang="en-US" altLang="zh-CN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sz="200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D4E354C4-1F3D-4C29-BBA1-6E9D8A1D8870}"/>
              </a:ext>
            </a:extLst>
          </p:cNvPr>
          <p:cNvSpPr/>
          <p:nvPr/>
        </p:nvSpPr>
        <p:spPr bwMode="auto">
          <a:xfrm>
            <a:off x="366692" y="2440032"/>
            <a:ext cx="4800884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en-US" altLang="zh-CN" sz="2000" dirty="0" err="1">
                <a:solidFill>
                  <a:schemeClr val="bg1"/>
                </a:solidFill>
              </a:rPr>
              <a:t>TySymbolicMath</a:t>
            </a:r>
            <a:r>
              <a:rPr lang="en-US" altLang="zh-CN" sz="2000" dirty="0">
                <a:solidFill>
                  <a:schemeClr val="bg1"/>
                </a:solidFill>
              </a:rPr>
              <a:t>.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gradient(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,vars;simplify)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576B73-979C-47DA-B0B6-8F95AFC2AEB4}"/>
              </a:ext>
            </a:extLst>
          </p:cNvPr>
          <p:cNvSpPr txBox="1"/>
          <p:nvPr/>
        </p:nvSpPr>
        <p:spPr>
          <a:xfrm>
            <a:off x="252036" y="1794545"/>
            <a:ext cx="2865843" cy="54034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dirty="0"/>
              <a:t>标量函数的梯度向量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236712-6A2A-4BE0-AA5C-608EA179B9A3}"/>
              </a:ext>
            </a:extLst>
          </p:cNvPr>
          <p:cNvSpPr txBox="1"/>
          <p:nvPr/>
        </p:nvSpPr>
        <p:spPr>
          <a:xfrm>
            <a:off x="381939" y="3507854"/>
            <a:ext cx="5027242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f: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指定为符号表达式或符号函数 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vars: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符号变量向量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simplify 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：是否化简最后结果 ，可忽略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17CA27-735C-4413-9A88-F7D798666672}"/>
              </a:ext>
            </a:extLst>
          </p:cNvPr>
          <p:cNvSpPr txBox="1"/>
          <p:nvPr/>
        </p:nvSpPr>
        <p:spPr>
          <a:xfrm>
            <a:off x="252036" y="2971222"/>
            <a:ext cx="5367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i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dirty="0"/>
              <a:t>计算表达式数组</a:t>
            </a:r>
            <a:r>
              <a:rPr lang="en-US" altLang="zh-CN" dirty="0"/>
              <a:t>f</a:t>
            </a:r>
            <a:r>
              <a:rPr lang="zh-CN" altLang="en-US" dirty="0"/>
              <a:t>相对于变量</a:t>
            </a:r>
            <a:r>
              <a:rPr lang="en-US" altLang="zh-CN" dirty="0"/>
              <a:t>vars</a:t>
            </a:r>
            <a:r>
              <a:rPr lang="zh-CN" altLang="en-US" dirty="0"/>
              <a:t>的梯度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F85DB61D-AADA-4FBE-AB43-C3E1C83DDAAC}"/>
              </a:ext>
            </a:extLst>
          </p:cNvPr>
          <p:cNvSpPr txBox="1">
            <a:spLocks/>
          </p:cNvSpPr>
          <p:nvPr/>
        </p:nvSpPr>
        <p:spPr bwMode="auto">
          <a:xfrm>
            <a:off x="683568" y="193073"/>
            <a:ext cx="5832648" cy="461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3000" kern="0" dirty="0"/>
            </a:br>
            <a:r>
              <a:rPr lang="en-US" altLang="zh-CN" sz="3000" kern="0" dirty="0"/>
              <a:t>§</a:t>
            </a:r>
            <a:r>
              <a:rPr lang="en-US" altLang="zh-CN" sz="3000" kern="0" dirty="0">
                <a:sym typeface="Arial" panose="020B0604020202020204" pitchFamily="34" charset="0"/>
              </a:rPr>
              <a:t>9.4.2</a:t>
            </a:r>
            <a:r>
              <a:rPr lang="zh-CN" altLang="en-US" sz="3000" kern="0" dirty="0">
                <a:sym typeface="Arial" panose="020B0604020202020204" pitchFamily="34" charset="0"/>
              </a:rPr>
              <a:t>矢量分析</a:t>
            </a:r>
            <a:r>
              <a:rPr lang="en-US" altLang="zh-CN" sz="3000" kern="0" dirty="0">
                <a:solidFill>
                  <a:srgbClr val="FF0000"/>
                </a:solidFill>
              </a:rPr>
              <a:t>——</a:t>
            </a:r>
            <a:r>
              <a:rPr lang="en-US" altLang="zh-CN" sz="3000" b="0" dirty="0" err="1">
                <a:solidFill>
                  <a:srgbClr val="FF0000"/>
                </a:solidFill>
                <a:effectLst/>
              </a:rPr>
              <a:t>TySymbolicMath.gradient</a:t>
            </a:r>
            <a:r>
              <a:rPr lang="zh-CN" altLang="en-US" sz="3000" b="0" dirty="0">
                <a:solidFill>
                  <a:srgbClr val="FF0000"/>
                </a:solidFill>
                <a:effectLst/>
              </a:rPr>
              <a:t>梯度</a:t>
            </a:r>
            <a:r>
              <a:rPr lang="en-US" altLang="zh-CN" sz="3000" b="0" kern="0" dirty="0">
                <a:solidFill>
                  <a:srgbClr val="FF0000"/>
                </a:solidFill>
                <a:sym typeface="Arial" panose="020B0604020202020204" pitchFamily="34" charset="0"/>
              </a:rPr>
              <a:t> 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8C9B82-2AEA-4F9E-B92B-E0E869E5C9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51" t="9400" r="6160" b="9400"/>
          <a:stretch/>
        </p:blipFill>
        <p:spPr>
          <a:xfrm>
            <a:off x="6261223" y="2715766"/>
            <a:ext cx="2697482" cy="193153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AAA0A49-E9A6-4231-AF81-7DF1C2425850}"/>
              </a:ext>
            </a:extLst>
          </p:cNvPr>
          <p:cNvSpPr txBox="1"/>
          <p:nvPr/>
        </p:nvSpPr>
        <p:spPr>
          <a:xfrm>
            <a:off x="265727" y="1248369"/>
            <a:ext cx="8641041" cy="49962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 kumimoji="0" sz="22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2000" b="0" dirty="0"/>
              <a:t>梯度物理意义为：在某个场中，某点某物理参数增加最快的方向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2A7D87-42E9-4F2C-ABAA-3AD1E5694504}"/>
              </a:ext>
            </a:extLst>
          </p:cNvPr>
          <p:cNvSpPr txBox="1"/>
          <p:nvPr/>
        </p:nvSpPr>
        <p:spPr>
          <a:xfrm>
            <a:off x="5659515" y="1908381"/>
            <a:ext cx="172079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等高线和梯度</a:t>
            </a:r>
            <a:r>
              <a:rPr lang="en-US" altLang="zh-CN" sz="20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170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9" grpId="0" animBg="1"/>
      <p:bldP spid="11" grpId="0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5437CCD9-15BC-4C92-8AF9-137CB1A823A6}"/>
              </a:ext>
            </a:extLst>
          </p:cNvPr>
          <p:cNvSpPr txBox="1"/>
          <p:nvPr/>
        </p:nvSpPr>
        <p:spPr>
          <a:xfrm>
            <a:off x="13750" y="715647"/>
            <a:ext cx="9143999" cy="3729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C9A3CB-903B-404A-8A22-CD84BD01FA93}"/>
              </a:ext>
            </a:extLst>
          </p:cNvPr>
          <p:cNvSpPr txBox="1"/>
          <p:nvPr/>
        </p:nvSpPr>
        <p:spPr>
          <a:xfrm>
            <a:off x="5646234" y="715647"/>
            <a:ext cx="3462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求</a:t>
            </a:r>
            <a:r>
              <a:rPr lang="en-US" altLang="zh-CN" sz="1800" b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f=-(sin(x)+sin(y))^2</a:t>
            </a:r>
            <a:r>
              <a:rPr lang="zh-CN" altLang="en-US" sz="1800" b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梯度</a:t>
            </a:r>
            <a:r>
              <a:rPr lang="en-US" altLang="zh-CN" sz="1800" b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06B3DCD-AED4-405F-8C58-C707C7FE7935}"/>
              </a:ext>
            </a:extLst>
          </p:cNvPr>
          <p:cNvSpPr txBox="1">
            <a:spLocks/>
          </p:cNvSpPr>
          <p:nvPr/>
        </p:nvSpPr>
        <p:spPr bwMode="auto">
          <a:xfrm>
            <a:off x="1134440" y="123478"/>
            <a:ext cx="7181975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2400" kern="0" dirty="0"/>
            </a:br>
            <a:r>
              <a:rPr lang="en-US" altLang="zh-CN" sz="2400" kern="0" dirty="0"/>
              <a:t>§</a:t>
            </a:r>
            <a:r>
              <a:rPr lang="en-US" altLang="zh-CN" sz="2400" kern="0" dirty="0">
                <a:sym typeface="Arial" panose="020B0604020202020204" pitchFamily="34" charset="0"/>
              </a:rPr>
              <a:t>9.4.2</a:t>
            </a:r>
            <a:r>
              <a:rPr lang="zh-CN" altLang="en-US" sz="2400" kern="0" dirty="0">
                <a:sym typeface="Arial" panose="020B0604020202020204" pitchFamily="34" charset="0"/>
              </a:rPr>
              <a:t>矢量分析</a:t>
            </a:r>
            <a:r>
              <a:rPr lang="en-US" altLang="zh-CN" sz="2400" kern="0" dirty="0">
                <a:solidFill>
                  <a:srgbClr val="FF0000"/>
                </a:solidFill>
              </a:rPr>
              <a:t>——</a:t>
            </a:r>
            <a:r>
              <a:rPr lang="en-US" altLang="zh-CN" sz="2400" b="0" dirty="0" err="1">
                <a:solidFill>
                  <a:srgbClr val="FF0000"/>
                </a:solidFill>
                <a:effectLst/>
              </a:rPr>
              <a:t>TySymbolicMath.gradient</a:t>
            </a:r>
            <a:r>
              <a:rPr lang="zh-CN" altLang="en-US" sz="2400" b="0" dirty="0">
                <a:solidFill>
                  <a:srgbClr val="FF0000"/>
                </a:solidFill>
                <a:effectLst/>
              </a:rPr>
              <a:t>梯度的示例</a:t>
            </a:r>
            <a:r>
              <a:rPr lang="en-US" altLang="zh-CN" sz="2400" b="0" kern="0" dirty="0">
                <a:solidFill>
                  <a:srgbClr val="FF0000"/>
                </a:solidFill>
                <a:sym typeface="Arial" panose="020B0604020202020204" pitchFamily="34" charset="0"/>
              </a:rPr>
              <a:t> 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736EC9AB-E615-45AE-9BBD-EA243DC08211}"/>
              </a:ext>
            </a:extLst>
          </p:cNvPr>
          <p:cNvSpPr/>
          <p:nvPr/>
        </p:nvSpPr>
        <p:spPr>
          <a:xfrm>
            <a:off x="4788582" y="715647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例94-3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4A0157-70AA-4595-89CE-D0F4A00FD5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1" t="9400" r="6160" b="9400"/>
          <a:stretch/>
        </p:blipFill>
        <p:spPr>
          <a:xfrm>
            <a:off x="6300192" y="2521312"/>
            <a:ext cx="2697482" cy="19315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4960693-BEAA-4A36-B76A-EE145FEB102A}"/>
              </a:ext>
            </a:extLst>
          </p:cNvPr>
          <p:cNvSpPr txBox="1"/>
          <p:nvPr/>
        </p:nvSpPr>
        <p:spPr>
          <a:xfrm>
            <a:off x="0" y="748790"/>
            <a:ext cx="90730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y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为符号变量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f=-(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(x)+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(y))^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定义符号表达式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TySymbolicMath.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gradient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(f,[x, y])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求表达式的在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方向梯度向量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g[1]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g[2]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结果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方向梯度 </a:t>
            </a:r>
            <a:r>
              <a:rPr lang="es-E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2(sin(x)+sin(y))*cos(x);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方向梯度</a:t>
            </a:r>
            <a:r>
              <a:rPr lang="es-E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-2(sin(x)+sin(y))*cos(y)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方向的网格矩阵</a:t>
            </a:r>
            <a:endParaRPr lang="en-US" altLang="zh-CN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G1=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被网格矩阵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代替计算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方向网格矩阵梯度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G2=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被网格矩阵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代替计算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方向网格矩阵梯度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箭头图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quiver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scalarize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(G1)),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scalarize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(G2)), color=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叠加图形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)=-(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(x)+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(y))^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建立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的简易函数表达式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fcontour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],filled=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#ff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6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45EDD6F-B7D4-42FC-93A0-876C94DA64B1}"/>
              </a:ext>
            </a:extLst>
          </p:cNvPr>
          <p:cNvSpPr txBox="1">
            <a:spLocks/>
          </p:cNvSpPr>
          <p:nvPr/>
        </p:nvSpPr>
        <p:spPr bwMode="auto">
          <a:xfrm>
            <a:off x="755576" y="63681"/>
            <a:ext cx="7850270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br>
              <a:rPr lang="en-US" altLang="zh-CN" sz="3000" kern="0" dirty="0"/>
            </a:br>
            <a:r>
              <a:rPr lang="en-US" altLang="zh-CN" sz="3000" kern="0" dirty="0"/>
              <a:t>§</a:t>
            </a:r>
            <a:r>
              <a:rPr lang="en-US" altLang="zh-CN" sz="3000" kern="0" dirty="0">
                <a:sym typeface="Arial" panose="020B0604020202020204" pitchFamily="34" charset="0"/>
              </a:rPr>
              <a:t>9.4.2</a:t>
            </a:r>
            <a:r>
              <a:rPr lang="zh-CN" altLang="en-US" sz="3000" kern="0" dirty="0">
                <a:sym typeface="Arial" panose="020B0604020202020204" pitchFamily="34" charset="0"/>
              </a:rPr>
              <a:t>矢量分析</a:t>
            </a:r>
            <a:r>
              <a:rPr lang="en-US" altLang="zh-CN" sz="3000" kern="0" dirty="0">
                <a:solidFill>
                  <a:srgbClr val="FF0000"/>
                </a:solidFill>
              </a:rPr>
              <a:t>——</a:t>
            </a:r>
            <a:r>
              <a:rPr lang="zh-CN" altLang="en-US" sz="3000" kern="0" dirty="0">
                <a:solidFill>
                  <a:srgbClr val="FF0000"/>
                </a:solidFill>
              </a:rPr>
              <a:t>矢量场的散度</a:t>
            </a:r>
            <a:r>
              <a:rPr lang="en-US" altLang="zh-CN" sz="3000" kern="0" dirty="0">
                <a:solidFill>
                  <a:srgbClr val="FF0000"/>
                </a:solidFill>
              </a:rPr>
              <a:t>divergence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22D386-B292-488D-942C-17E9984B2B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58" t="60270" r="55999" b="35425"/>
          <a:stretch/>
        </p:blipFill>
        <p:spPr>
          <a:xfrm>
            <a:off x="664545" y="1301452"/>
            <a:ext cx="3666617" cy="5940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C6CF85-E894-486C-92AC-96160624AB08}"/>
              </a:ext>
            </a:extLst>
          </p:cNvPr>
          <p:cNvSpPr txBox="1"/>
          <p:nvPr/>
        </p:nvSpPr>
        <p:spPr>
          <a:xfrm>
            <a:off x="637856" y="742752"/>
            <a:ext cx="86146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dirty="0">
                <a:solidFill>
                  <a:srgbClr val="191B1F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散度是标量，表示一个闭合曲面内单位体积的通量</a:t>
            </a:r>
            <a:endParaRPr lang="zh-CN" altLang="en-US" sz="2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FE9D799-9284-45E1-9BB4-DCCF4DF35D1B}"/>
              </a:ext>
            </a:extLst>
          </p:cNvPr>
          <p:cNvSpPr/>
          <p:nvPr/>
        </p:nvSpPr>
        <p:spPr bwMode="auto">
          <a:xfrm>
            <a:off x="4828615" y="1975328"/>
            <a:ext cx="2016224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chemeClr val="bg1"/>
                </a:solidFill>
              </a:rPr>
              <a:t>divergence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(V,X) 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1632DC-555B-441A-AAD7-7C4EBA73FD4E}"/>
              </a:ext>
            </a:extLst>
          </p:cNvPr>
          <p:cNvSpPr txBox="1"/>
          <p:nvPr/>
        </p:nvSpPr>
        <p:spPr>
          <a:xfrm>
            <a:off x="637856" y="1860901"/>
            <a:ext cx="4905816" cy="114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向量场 </a:t>
            </a:r>
            <a:r>
              <a:rPr lang="en-US" altLang="zh-CN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V </a:t>
            </a: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相对于向量 </a:t>
            </a:r>
            <a:r>
              <a:rPr lang="en-US" altLang="zh-CN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散度</a:t>
            </a:r>
            <a:r>
              <a:rPr lang="en-US" altLang="zh-CN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向量 </a:t>
            </a:r>
            <a:r>
              <a:rPr lang="en-US" altLang="zh-CN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V </a:t>
            </a: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必须具有相同的长度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75BE6CF-EA47-4737-BB04-14A0C07A9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851" y="3718563"/>
            <a:ext cx="2519646" cy="75623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42DEAC-95C5-4E7B-9208-955D21DEB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000464"/>
            <a:ext cx="2067205" cy="84022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FA4E08E-1337-4693-ABF8-E04927277F0C}"/>
              </a:ext>
            </a:extLst>
          </p:cNvPr>
          <p:cNvSpPr txBox="1"/>
          <p:nvPr/>
        </p:nvSpPr>
        <p:spPr>
          <a:xfrm>
            <a:off x="1538324" y="3191408"/>
            <a:ext cx="3749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从电场中求电荷密度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EFEB1B-D496-4258-941B-05455ACD3124}"/>
              </a:ext>
            </a:extLst>
          </p:cNvPr>
          <p:cNvSpPr txBox="1"/>
          <p:nvPr/>
        </p:nvSpPr>
        <p:spPr>
          <a:xfrm>
            <a:off x="530280" y="3962805"/>
            <a:ext cx="617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高斯定律表明</a:t>
            </a:r>
            <a:r>
              <a:rPr lang="zh-CN" altLang="en-US" sz="22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电场发散度</a:t>
            </a:r>
            <a:r>
              <a:rPr lang="zh-CN" altLang="en-US" sz="2400" b="0" i="0" dirty="0">
                <a:solidFill>
                  <a:srgbClr val="2C3E5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与电荷密度成正比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100A3F72-B8AD-4B17-9609-345C73E53637}"/>
              </a:ext>
            </a:extLst>
          </p:cNvPr>
          <p:cNvSpPr/>
          <p:nvPr/>
        </p:nvSpPr>
        <p:spPr>
          <a:xfrm>
            <a:off x="750785" y="3282940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例94-4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25ACF2-7C6D-4764-9886-2A6B33701833}"/>
              </a:ext>
            </a:extLst>
          </p:cNvPr>
          <p:cNvSpPr txBox="1"/>
          <p:nvPr/>
        </p:nvSpPr>
        <p:spPr>
          <a:xfrm>
            <a:off x="4465427" y="1350437"/>
            <a:ext cx="4571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体现矢量场各点发散的强弱程度</a:t>
            </a:r>
          </a:p>
        </p:txBody>
      </p:sp>
    </p:spTree>
    <p:extLst>
      <p:ext uri="{BB962C8B-B14F-4D97-AF65-F5344CB8AC3E}">
        <p14:creationId xmlns:p14="http://schemas.microsoft.com/office/powerpoint/2010/main" val="236334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04CC5-0B68-4309-BFE1-72F9E9D3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53" y="803105"/>
            <a:ext cx="8309748" cy="3785652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y ep0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定义符号变量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E=[x^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电荷密度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rho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TySymbolicMath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.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divergence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[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 y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])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ep0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求散度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rho=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rho,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(ep0=&gt;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通过替换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ep0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赋值为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 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v=-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空间线性等分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(v);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的网格矩阵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网格矩阵计算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方向电荷密度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(x=&gt;X))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网格矩阵计算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方向电荷密度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(y=&gt;Y)) 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网格矩阵计算散度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rhop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substitute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rho,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([x=&gt;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=&gt;Y]))</a:t>
            </a:r>
            <a:endParaRPr lang="zh-CN" altLang="en-US" sz="20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367A0CB-DC5D-46B5-97F3-90216B3784FB}"/>
              </a:ext>
            </a:extLst>
          </p:cNvPr>
          <p:cNvSpPr txBox="1">
            <a:spLocks/>
          </p:cNvSpPr>
          <p:nvPr/>
        </p:nvSpPr>
        <p:spPr bwMode="auto">
          <a:xfrm>
            <a:off x="1204010" y="96861"/>
            <a:ext cx="7850270" cy="54784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br>
              <a:rPr lang="en-US" altLang="zh-CN" sz="3000" kern="0" dirty="0"/>
            </a:br>
            <a:r>
              <a:rPr lang="en-US" altLang="zh-CN" sz="3000" kern="0" dirty="0"/>
              <a:t>§</a:t>
            </a:r>
            <a:r>
              <a:rPr lang="en-US" altLang="zh-CN" sz="3000" kern="0" dirty="0">
                <a:sym typeface="Arial" panose="020B0604020202020204" pitchFamily="34" charset="0"/>
              </a:rPr>
              <a:t>9.4.2</a:t>
            </a:r>
            <a:r>
              <a:rPr lang="zh-CN" altLang="en-US" sz="3000" kern="0" dirty="0">
                <a:sym typeface="Arial" panose="020B0604020202020204" pitchFamily="34" charset="0"/>
              </a:rPr>
              <a:t>矢量分析</a:t>
            </a:r>
            <a:r>
              <a:rPr lang="en-US" altLang="zh-CN" sz="3000" kern="0" dirty="0">
                <a:solidFill>
                  <a:srgbClr val="FF0000"/>
                </a:solidFill>
              </a:rPr>
              <a:t>——</a:t>
            </a:r>
            <a:r>
              <a:rPr lang="zh-CN" altLang="en-US" sz="3000" kern="0" dirty="0">
                <a:solidFill>
                  <a:srgbClr val="FF0000"/>
                </a:solidFill>
              </a:rPr>
              <a:t>矢量场的散度</a:t>
            </a:r>
            <a:r>
              <a:rPr lang="en-US" altLang="zh-CN" sz="3000" kern="0" dirty="0">
                <a:solidFill>
                  <a:srgbClr val="FF0000"/>
                </a:solidFill>
              </a:rPr>
              <a:t>divergence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DB6B63-39F5-4A3A-9190-A0B64BC1F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152" y="2805866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B3CD61F4-5AD0-402F-97DC-127CEF5C31E3}"/>
              </a:ext>
            </a:extLst>
          </p:cNvPr>
          <p:cNvSpPr/>
          <p:nvPr/>
        </p:nvSpPr>
        <p:spPr>
          <a:xfrm>
            <a:off x="22599" y="451962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例94-4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956C4FE-3188-44EE-AA18-B62CB58BC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7" y="721957"/>
            <a:ext cx="2044195" cy="61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49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C89AA46-A4D2-4BCD-B31E-DC2BBE1577DD}"/>
              </a:ext>
            </a:extLst>
          </p:cNvPr>
          <p:cNvSpPr txBox="1"/>
          <p:nvPr/>
        </p:nvSpPr>
        <p:spPr>
          <a:xfrm>
            <a:off x="817612" y="753958"/>
            <a:ext cx="8012321" cy="2443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en-US" altLang="zh-CN" sz="2000" kern="0" dirty="0">
                <a:solidFill>
                  <a:srgbClr val="008000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  <a:t>#</a:t>
            </a:r>
            <a:r>
              <a:rPr lang="zh-CN" altLang="en-US" sz="2000" kern="0" dirty="0">
                <a:solidFill>
                  <a:srgbClr val="008000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  <a:t>散度等高线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795E26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contour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value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.(X),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value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.(Y),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value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.(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scalarize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rhop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))) 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  <a:p>
            <a:pPr lvl="0" eaLnBrk="0" hangingPunct="0">
              <a:lnSpc>
                <a:spcPct val="110000"/>
              </a:lnSpc>
              <a:defRPr/>
            </a:pPr>
            <a:r>
              <a:rPr lang="en-US" altLang="zh-CN" sz="2000" kern="0" dirty="0">
                <a:solidFill>
                  <a:srgbClr val="795E26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  <a:t>hold("on")  #</a:t>
            </a:r>
            <a:r>
              <a:rPr lang="zh-CN" altLang="en-US" sz="2000" kern="0" dirty="0">
                <a:solidFill>
                  <a:srgbClr val="795E26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  <a:t>叠加图形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 </a:t>
            </a:r>
            <a:endParaRPr lang="en-US" altLang="zh-CN" sz="2000" kern="0" dirty="0">
              <a:solidFill>
                <a:srgbClr val="008000"/>
              </a:solidFill>
              <a:latin typeface="Consolas" panose="020B0609020204030204" pitchFamily="49" charset="0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#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电荷箭头图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quiver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X,Y,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value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.(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scalarize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(Ex)),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value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.(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scalarize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Ey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)),length=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2.5e13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) 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hold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"off"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</a:rPr>
              <a:t>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734E94-2078-436A-A3BD-5BD847E2F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5" t="12319" r="8671" b="10800"/>
          <a:stretch/>
        </p:blipFill>
        <p:spPr>
          <a:xfrm>
            <a:off x="5956008" y="2585259"/>
            <a:ext cx="2347273" cy="1837140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25203CB4-6DB1-4952-BBA6-721ED27D475D}"/>
              </a:ext>
            </a:extLst>
          </p:cNvPr>
          <p:cNvSpPr txBox="1">
            <a:spLocks/>
          </p:cNvSpPr>
          <p:nvPr/>
        </p:nvSpPr>
        <p:spPr bwMode="auto">
          <a:xfrm>
            <a:off x="1086615" y="104498"/>
            <a:ext cx="7850270" cy="54784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br>
              <a:rPr lang="en-US" altLang="zh-CN" sz="3000" kern="0" dirty="0"/>
            </a:br>
            <a:r>
              <a:rPr lang="en-US" altLang="zh-CN" sz="3000" kern="0" dirty="0"/>
              <a:t>§</a:t>
            </a:r>
            <a:r>
              <a:rPr lang="en-US" altLang="zh-CN" sz="3000" kern="0" dirty="0">
                <a:sym typeface="Arial" panose="020B0604020202020204" pitchFamily="34" charset="0"/>
              </a:rPr>
              <a:t>9.4.2</a:t>
            </a:r>
            <a:r>
              <a:rPr lang="zh-CN" altLang="en-US" sz="3000" kern="0" dirty="0">
                <a:sym typeface="Arial" panose="020B0604020202020204" pitchFamily="34" charset="0"/>
              </a:rPr>
              <a:t>矢量分析</a:t>
            </a:r>
            <a:r>
              <a:rPr lang="en-US" altLang="zh-CN" sz="3000" kern="0" dirty="0">
                <a:solidFill>
                  <a:srgbClr val="FF0000"/>
                </a:solidFill>
              </a:rPr>
              <a:t>——</a:t>
            </a:r>
            <a:r>
              <a:rPr lang="zh-CN" altLang="en-US" sz="3000" kern="0" dirty="0">
                <a:solidFill>
                  <a:srgbClr val="FF0000"/>
                </a:solidFill>
              </a:rPr>
              <a:t>矢量场的散度</a:t>
            </a:r>
            <a:r>
              <a:rPr lang="en-US" altLang="zh-CN" sz="3000" kern="0" dirty="0">
                <a:solidFill>
                  <a:srgbClr val="FF0000"/>
                </a:solidFill>
              </a:rPr>
              <a:t>divergence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40B1DCD1-4FCE-491E-B21A-CBD9549ED273}"/>
              </a:ext>
            </a:extLst>
          </p:cNvPr>
          <p:cNvSpPr/>
          <p:nvPr/>
        </p:nvSpPr>
        <p:spPr>
          <a:xfrm>
            <a:off x="0" y="436927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例94-4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27F199-2161-4B11-8262-9BEFFA5640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80" t="10651" r="6386" b="8495"/>
          <a:stretch/>
        </p:blipFill>
        <p:spPr>
          <a:xfrm>
            <a:off x="3048336" y="2668940"/>
            <a:ext cx="2347274" cy="182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05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55B05B2-0FDC-4C17-9D1F-9BCCA37B3BF3}"/>
              </a:ext>
            </a:extLst>
          </p:cNvPr>
          <p:cNvSpPr txBox="1">
            <a:spLocks/>
          </p:cNvSpPr>
          <p:nvPr/>
        </p:nvSpPr>
        <p:spPr bwMode="auto">
          <a:xfrm>
            <a:off x="1562360" y="102987"/>
            <a:ext cx="6316036" cy="54784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defRPr/>
            </a:pPr>
            <a:br>
              <a:rPr lang="en-US" altLang="zh-CN" sz="3000" kern="0" dirty="0"/>
            </a:br>
            <a:r>
              <a:rPr lang="en-US" altLang="zh-CN" sz="3000" kern="0" dirty="0"/>
              <a:t>§</a:t>
            </a:r>
            <a:r>
              <a:rPr lang="en-US" altLang="zh-CN" sz="3000" kern="0" dirty="0">
                <a:sym typeface="Arial" panose="020B0604020202020204" pitchFamily="34" charset="0"/>
              </a:rPr>
              <a:t>9.4.3 </a:t>
            </a:r>
            <a:r>
              <a:rPr lang="zh-CN" altLang="en-US" sz="3000" kern="0" dirty="0">
                <a:sym typeface="Arial" panose="020B0604020202020204" pitchFamily="34" charset="0"/>
              </a:rPr>
              <a:t>泰勒级数展开</a:t>
            </a:r>
            <a:r>
              <a:rPr lang="en-US" altLang="zh-CN" sz="3000" kern="0" dirty="0">
                <a:solidFill>
                  <a:srgbClr val="FF0000"/>
                </a:solidFill>
              </a:rPr>
              <a:t>——</a:t>
            </a:r>
            <a:r>
              <a:rPr lang="en-US" altLang="zh-CN" sz="3000" kern="0" dirty="0" err="1">
                <a:solidFill>
                  <a:srgbClr val="FF0000"/>
                </a:solidFill>
              </a:rPr>
              <a:t>taylor</a:t>
            </a:r>
            <a:r>
              <a:rPr lang="zh-CN" altLang="en-US" sz="3000" kern="0" dirty="0">
                <a:solidFill>
                  <a:srgbClr val="FF0000"/>
                </a:solidFill>
              </a:rPr>
              <a:t>函数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50CB04-E989-4ED9-8527-455CCB3BC327}"/>
              </a:ext>
            </a:extLst>
          </p:cNvPr>
          <p:cNvSpPr txBox="1"/>
          <p:nvPr/>
        </p:nvSpPr>
        <p:spPr>
          <a:xfrm>
            <a:off x="224487" y="1587601"/>
            <a:ext cx="4531075" cy="54034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dirty="0"/>
              <a:t>用泰勒级数展开式逼近表达式</a:t>
            </a:r>
            <a:r>
              <a:rPr lang="en-US" altLang="zh-CN" sz="2200" dirty="0"/>
              <a:t>expr</a:t>
            </a:r>
            <a:endParaRPr lang="zh-CN" altLang="en-US" sz="2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053C60-663A-45C1-AC1C-57857AEA4EA8}"/>
              </a:ext>
            </a:extLst>
          </p:cNvPr>
          <p:cNvSpPr txBox="1"/>
          <p:nvPr/>
        </p:nvSpPr>
        <p:spPr>
          <a:xfrm>
            <a:off x="241756" y="2105381"/>
            <a:ext cx="6326487" cy="49962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 kumimoji="0" sz="22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 dirty="0"/>
              <a:t>自变量为</a:t>
            </a:r>
            <a:r>
              <a:rPr lang="en-US" altLang="zh-CN" sz="2000" b="0" dirty="0"/>
              <a:t>x</a:t>
            </a:r>
            <a:r>
              <a:rPr lang="zh-CN" altLang="en-US" sz="2000" b="0" dirty="0"/>
              <a:t>的泰勒级数展开式逼近 </a:t>
            </a:r>
            <a:r>
              <a:rPr lang="en-US" altLang="zh-CN" sz="2000" b="0" dirty="0"/>
              <a:t>expr</a:t>
            </a:r>
            <a:r>
              <a:rPr lang="zh-CN" altLang="en-US" sz="2000" b="0" dirty="0"/>
              <a:t>，默认五阶逼近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DCE4C7-407B-412C-B55C-6C838803FB16}"/>
              </a:ext>
            </a:extLst>
          </p:cNvPr>
          <p:cNvSpPr txBox="1"/>
          <p:nvPr/>
        </p:nvSpPr>
        <p:spPr>
          <a:xfrm>
            <a:off x="190648" y="2661629"/>
            <a:ext cx="8332330" cy="481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eaLnBrk="0" hangingPunct="0">
              <a:lnSpc>
                <a:spcPct val="110000"/>
              </a:lnSpc>
              <a:buFont typeface="Wingdings" panose="05000000000000000000" pitchFamily="2" charset="2"/>
              <a:buNone/>
              <a:defRPr sz="2400" b="1" i="0">
                <a:solidFill>
                  <a:srgbClr val="002060"/>
                </a:solidFill>
                <a:effectLst/>
                <a:latin typeface="-apple-system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/>
              <a:t>求指数函数的麦克劳林级数展开式直到五阶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C2534EE-6F44-4CCA-B7A6-A03F29464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36" y="3035794"/>
            <a:ext cx="3682586" cy="997709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@variables x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T1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taylor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))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999999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66511D-04E8-4A72-9D66-D221180E49A2}"/>
              </a:ext>
            </a:extLst>
          </p:cNvPr>
          <p:cNvSpPr txBox="1"/>
          <p:nvPr/>
        </p:nvSpPr>
        <p:spPr>
          <a:xfrm>
            <a:off x="190648" y="3993489"/>
            <a:ext cx="6221149" cy="70788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结果： 1.0 + 1.0 x + 0.5 x² + 0.16666666666666666 x³ + 0.041666666666666664 x⁴ + 0.008333333333333333 x⁵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EA97819-79DA-4E2A-AAE8-086BFA11E1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38" t="61200" r="58576" b="12201"/>
          <a:stretch/>
        </p:blipFill>
        <p:spPr>
          <a:xfrm>
            <a:off x="6568243" y="2755505"/>
            <a:ext cx="2160240" cy="17845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765B55B-CFE6-4783-9DD7-BBF1F94CF01A}"/>
              </a:ext>
            </a:extLst>
          </p:cNvPr>
          <p:cNvSpPr txBox="1"/>
          <p:nvPr/>
        </p:nvSpPr>
        <p:spPr>
          <a:xfrm>
            <a:off x="6860160" y="2365243"/>
            <a:ext cx="1576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生成系数表格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4DCC070-0C43-4C4D-B87C-928E781C4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861" y="1680224"/>
            <a:ext cx="3734117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 = </a:t>
            </a:r>
            <a:r>
              <a:rPr lang="en-US" altLang="zh-CN" sz="2000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taylor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expr,x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CE96709-A5A5-4432-8593-B2D2F29F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6" y="1168609"/>
            <a:ext cx="86533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3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33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在点x=x0具有任意阶导数，则幂级数 </a:t>
            </a: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FA09836B-EBAD-4026-BFCD-85FF2253E1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03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784F1161-9E8D-4B28-AC54-2963BBCC4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6990" y="5424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7A5FFC-DE31-4AD5-924A-22D858D13F25}"/>
              </a:ext>
            </a:extLst>
          </p:cNvPr>
          <p:cNvSpPr txBox="1"/>
          <p:nvPr/>
        </p:nvSpPr>
        <p:spPr>
          <a:xfrm>
            <a:off x="280210" y="705891"/>
            <a:ext cx="859530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用无限项连加式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级数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来表示一个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函数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EE443AE-AAB5-4313-8B28-CD74CD79B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989" y="1123125"/>
            <a:ext cx="3966515" cy="491077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4BD4B4C0-0C56-402B-AD2E-532CC63D7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152" y="756810"/>
            <a:ext cx="29013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3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33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在点x0处的泰勒级数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200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4" grpId="0" animBg="1"/>
      <p:bldP spid="17" grpId="0" animBg="1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CF3ED35-F5D8-4A45-9841-F13BF0D8096B}"/>
              </a:ext>
            </a:extLst>
          </p:cNvPr>
          <p:cNvSpPr txBox="1">
            <a:spLocks/>
          </p:cNvSpPr>
          <p:nvPr/>
        </p:nvSpPr>
        <p:spPr bwMode="auto">
          <a:xfrm>
            <a:off x="299382" y="190109"/>
            <a:ext cx="6912768" cy="461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kern="0" dirty="0"/>
            </a:br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 </a:t>
            </a:r>
            <a:r>
              <a:rPr lang="zh-CN" altLang="en-US" sz="2800" kern="0" dirty="0">
                <a:sym typeface="Arial" panose="020B0604020202020204" pitchFamily="34" charset="0"/>
              </a:rPr>
              <a:t>符号微分和微分方程</a:t>
            </a:r>
            <a:r>
              <a:rPr lang="en-US" altLang="zh-CN" kern="0" dirty="0">
                <a:solidFill>
                  <a:srgbClr val="FF0000"/>
                </a:solidFill>
              </a:rPr>
              <a:t>—</a:t>
            </a:r>
            <a:r>
              <a:rPr lang="en-US" altLang="zh-CN" sz="2400" b="0" i="0" dirty="0" err="1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expand_derivatives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展示求导结果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E62690-A130-4501-B688-DE76947FC09C}"/>
              </a:ext>
            </a:extLst>
          </p:cNvPr>
          <p:cNvSpPr txBox="1"/>
          <p:nvPr/>
        </p:nvSpPr>
        <p:spPr>
          <a:xfrm>
            <a:off x="122820" y="2432166"/>
            <a:ext cx="3441068" cy="49962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lnSpc>
                <a:spcPct val="150000"/>
              </a:lnSpc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2000" dirty="0"/>
              <a:t>展示求导表达式</a:t>
            </a:r>
            <a:r>
              <a:rPr lang="en-US" altLang="zh-CN" sz="2000" dirty="0"/>
              <a:t>df</a:t>
            </a:r>
            <a:r>
              <a:rPr lang="zh-CN" altLang="en-US" sz="2000" dirty="0"/>
              <a:t>的结果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F8F0F088-1A23-44DD-813F-B50C1F0D6B1C}"/>
              </a:ext>
            </a:extLst>
          </p:cNvPr>
          <p:cNvSpPr/>
          <p:nvPr/>
        </p:nvSpPr>
        <p:spPr bwMode="auto">
          <a:xfrm>
            <a:off x="3272398" y="2484577"/>
            <a:ext cx="338783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expand_derivatives(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df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</a:rPr>
              <a:t>,simplify)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B39F53-9757-47EA-B478-46636C6CF4DC}"/>
              </a:ext>
            </a:extLst>
          </p:cNvPr>
          <p:cNvSpPr txBox="1"/>
          <p:nvPr/>
        </p:nvSpPr>
        <p:spPr>
          <a:xfrm>
            <a:off x="6818853" y="2478242"/>
            <a:ext cx="211063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000" b="1" dirty="0">
                <a:solidFill>
                  <a:srgbClr val="00B0F0"/>
                </a:solidFill>
                <a:latin typeface="-apple-system"/>
              </a:rPr>
              <a:t>化简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-apple-system"/>
                <a:ea typeface="宋体" charset="-122"/>
                <a:cs typeface="+mn-cs"/>
              </a:rPr>
              <a:t>simplify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-apple-system"/>
                <a:ea typeface="宋体" charset="-122"/>
                <a:cs typeface="+mn-cs"/>
              </a:rPr>
              <a:t>可省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7F26EE8-080F-466C-97D9-5A18CB40A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67" y="3017225"/>
            <a:ext cx="4424288" cy="1495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-apple-system"/>
              </a:rPr>
              <a:t>#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-apple-system"/>
              </a:rPr>
              <a:t>利用expand_derivatives函数展示导数结果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dfx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 = expand_derivatives(d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x)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dfy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= expand_derivatives(d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y)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dfz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 = expand_derivatives(d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 Unicode MS"/>
                <a:ea typeface="source-code-pro"/>
              </a:rPr>
              <a:t>z)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D328F01-53A6-43E2-8838-7BF416DA9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765" y="3356477"/>
            <a:ext cx="3936975" cy="1075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rgbClr val="00B0F0"/>
                </a:solidFill>
                <a:latin typeface="Arial Unicode MS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Arial Unicode MS"/>
              </a:rPr>
              <a:t>结果</a:t>
            </a:r>
            <a:r>
              <a:rPr lang="en-US" altLang="zh-CN" dirty="0" err="1">
                <a:solidFill>
                  <a:srgbClr val="00B0F0"/>
                </a:solidFill>
                <a:latin typeface="Arial Unicode MS"/>
              </a:rPr>
              <a:t>dfx</a:t>
            </a:r>
            <a:r>
              <a:rPr lang="zh-CN" altLang="zh-CN" dirty="0">
                <a:solidFill>
                  <a:srgbClr val="00B0F0"/>
                </a:solidFill>
                <a:latin typeface="Arial Unicode MS"/>
              </a:rPr>
              <a:t>= 3cos(y)*sin(z) + 2y*z*cos(x)</a:t>
            </a:r>
            <a:endParaRPr lang="en-US" altLang="zh-CN" dirty="0">
              <a:solidFill>
                <a:srgbClr val="00B0F0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00B0F0"/>
                </a:solidFill>
                <a:latin typeface="Arial Unicode MS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latin typeface="Arial Unicode MS"/>
              </a:rPr>
              <a:t>dfy</a:t>
            </a:r>
            <a:r>
              <a:rPr lang="zh-CN" altLang="zh-CN" dirty="0">
                <a:solidFill>
                  <a:srgbClr val="00B0F0"/>
                </a:solidFill>
                <a:latin typeface="Arial Unicode MS"/>
              </a:rPr>
              <a:t>= 2z*sin(x) - 3x*sin(y)*sin(z)</a:t>
            </a:r>
            <a:endParaRPr lang="en-US" altLang="zh-CN" dirty="0">
              <a:solidFill>
                <a:srgbClr val="00B0F0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00B0F0"/>
                </a:solidFill>
                <a:latin typeface="Arial Unicode MS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latin typeface="Arial Unicode MS"/>
              </a:rPr>
              <a:t>dfz</a:t>
            </a:r>
            <a:r>
              <a:rPr lang="zh-CN" altLang="zh-CN" dirty="0">
                <a:solidFill>
                  <a:srgbClr val="00B0F0"/>
                </a:solidFill>
                <a:latin typeface="Arial Unicode MS"/>
              </a:rPr>
              <a:t> = 2y*sin(x) + 3x*cos(y)*cos(z)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A864CDE-622A-4BAF-BDDB-EF1895F50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888" y="1249376"/>
            <a:ext cx="6865607" cy="11185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d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x=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736303"/>
                </a:solidFill>
                <a:effectLst/>
                <a:latin typeface="Arial Unicode MS"/>
                <a:ea typeface="source-code-pro"/>
              </a:rPr>
              <a:t>Differential(x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73630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73630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(2y*z*sin(x) + 3x*cos(y)*sin(z)) 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d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y = </a:t>
            </a:r>
            <a:r>
              <a:rPr lang="zh-CN" altLang="zh-CN" dirty="0">
                <a:solidFill>
                  <a:srgbClr val="736303"/>
                </a:solidFill>
                <a:latin typeface="Arial Unicode MS"/>
              </a:rPr>
              <a:t>Differential(y)</a:t>
            </a:r>
            <a:r>
              <a:rPr lang="en-US" altLang="zh-CN" dirty="0">
                <a:solidFill>
                  <a:srgbClr val="736303"/>
                </a:solidFill>
                <a:latin typeface="Arial Unicode MS"/>
              </a:rPr>
              <a:t> 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(2y*z*sin(x) + 3x*cos(y)*sin(z))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 d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f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z </a:t>
            </a:r>
            <a:r>
              <a:rPr lang="zh-CN" altLang="zh-CN" dirty="0">
                <a:solidFill>
                  <a:srgbClr val="00B0F0"/>
                </a:solidFill>
                <a:latin typeface="Arial Unicode MS"/>
              </a:rPr>
              <a:t>=</a:t>
            </a:r>
            <a:r>
              <a:rPr lang="zh-CN" altLang="zh-CN" dirty="0">
                <a:solidFill>
                  <a:srgbClr val="736303"/>
                </a:solidFill>
                <a:latin typeface="Arial Unicode MS"/>
              </a:rPr>
              <a:t> Differential(z)(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2y*z*sin(x) + 3x*cos(y)*sin(z))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793797-A49A-48BF-9ECE-AAE741B920C1}"/>
              </a:ext>
            </a:extLst>
          </p:cNvPr>
          <p:cNvSpPr txBox="1"/>
          <p:nvPr/>
        </p:nvSpPr>
        <p:spPr>
          <a:xfrm>
            <a:off x="1159502" y="705768"/>
            <a:ext cx="8021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f=2*y*z*sin(x)+3*x*sin(z)*cos(y)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一阶导数规则</a:t>
            </a:r>
            <a:endParaRPr lang="zh-CN" altLang="en-US" sz="2200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A4B34296-2FA9-4290-812A-E2781CDB5BB9}"/>
              </a:ext>
            </a:extLst>
          </p:cNvPr>
          <p:cNvSpPr/>
          <p:nvPr/>
        </p:nvSpPr>
        <p:spPr bwMode="auto">
          <a:xfrm>
            <a:off x="196169" y="1219172"/>
            <a:ext cx="1640868" cy="1225868"/>
          </a:xfrm>
          <a:prstGeom prst="wedgeRoundRectCallout">
            <a:avLst>
              <a:gd name="adj1" fmla="val 70518"/>
              <a:gd name="adj2" fmla="val 373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f</a:t>
            </a: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x = Dx(f) </a:t>
            </a:r>
            <a:endParaRPr kumimoji="0" lang="en-US" altLang="zh-CN" sz="2200" b="0" i="0" u="none" strike="noStrike" kern="1200" cap="none" spc="0" normalizeH="0" baseline="0" noProof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f</a:t>
            </a: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y = Dy(f) </a:t>
            </a:r>
            <a:endParaRPr kumimoji="0" lang="en-US" altLang="zh-CN" sz="2200" b="0" i="0" u="none" strike="noStrike" kern="1200" cap="none" spc="0" normalizeH="0" baseline="0" noProof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f</a:t>
            </a: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z = Dz(f)</a:t>
            </a:r>
            <a:endParaRPr kumimoji="0" lang="zh-CN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8" name="波形 17">
            <a:extLst>
              <a:ext uri="{FF2B5EF4-FFF2-40B4-BE49-F238E27FC236}">
                <a16:creationId xmlns:a16="http://schemas.microsoft.com/office/drawing/2014/main" id="{4D06B123-DBDC-4EFF-8437-BFF1BC859CBB}"/>
              </a:ext>
            </a:extLst>
          </p:cNvPr>
          <p:cNvSpPr/>
          <p:nvPr/>
        </p:nvSpPr>
        <p:spPr>
          <a:xfrm>
            <a:off x="227066" y="738223"/>
            <a:ext cx="1032565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例95-1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04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DD4CB-ECA7-40CD-B175-0F524977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05" y="698128"/>
            <a:ext cx="4277764" cy="499624"/>
          </a:xfr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定义对自变量</a:t>
            </a:r>
            <a:r>
              <a:rPr lang="en-US" altLang="zh-CN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lang="zh-CN" altLang="en-US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求导数的函数</a:t>
            </a:r>
            <a:r>
              <a:rPr lang="en-US" altLang="zh-CN" sz="20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endParaRPr lang="zh-CN" altLang="en-US" sz="2000" b="1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81A5D9B2-23B4-4A49-98E2-983C04494D1F}"/>
              </a:ext>
            </a:extLst>
          </p:cNvPr>
          <p:cNvSpPr/>
          <p:nvPr/>
        </p:nvSpPr>
        <p:spPr bwMode="auto">
          <a:xfrm>
            <a:off x="3760560" y="728524"/>
            <a:ext cx="2088232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D = </a:t>
            </a:r>
            <a:r>
              <a:rPr lang="en-US" altLang="zh-CN" sz="2000" dirty="0">
                <a:solidFill>
                  <a:schemeClr val="bg1"/>
                </a:solidFill>
              </a:rPr>
              <a:t>Differential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(x)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106D6DE-A0D4-44D7-8D5F-64A3445AB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97" y="1201803"/>
            <a:ext cx="8521833" cy="1214243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Arial" panose="020B0604020202020204" pitchFamily="34" charset="0"/>
              </a:defRPr>
            </a:lvl1pPr>
            <a:lvl2pPr marL="4572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2pPr>
            <a:lvl3pPr marL="9144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3pPr>
            <a:lvl4pPr marL="13716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4pPr>
            <a:lvl5pPr marL="182880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342900" indent="-342900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Differential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定义对单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变量</a:t>
            </a:r>
            <a:r>
              <a:rPr lang="en-US" altLang="zh-CN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求导数</a:t>
            </a:r>
            <a:r>
              <a:rPr lang="en-US" altLang="zh-CN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如</a:t>
            </a:r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Dx = Differential(x)</a:t>
            </a:r>
            <a:endParaRPr lang="en-US" altLang="zh-CN" sz="2000" b="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Differential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也可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定义求高阶导数</a:t>
            </a:r>
            <a:endParaRPr lang="en-US" altLang="zh-CN" sz="2000" b="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需</a:t>
            </a:r>
            <a:r>
              <a:rPr lang="en-US" altLang="zh-CN" sz="2000" b="0" i="0" dirty="0" err="1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expand_derivatives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展示求导结果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F9C34D6-7CB1-46EE-9B25-09EC3370FBEB}"/>
              </a:ext>
            </a:extLst>
          </p:cNvPr>
          <p:cNvSpPr txBox="1">
            <a:spLocks/>
          </p:cNvSpPr>
          <p:nvPr/>
        </p:nvSpPr>
        <p:spPr bwMode="auto">
          <a:xfrm>
            <a:off x="611560" y="152259"/>
            <a:ext cx="6912768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2800" kern="0" dirty="0"/>
            </a:br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 </a:t>
            </a:r>
            <a:r>
              <a:rPr lang="zh-CN" altLang="en-US" sz="2800" kern="0" dirty="0">
                <a:sym typeface="Arial" panose="020B0604020202020204" pitchFamily="34" charset="0"/>
              </a:rPr>
              <a:t>符号微分和微分方程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</a:rPr>
              <a:t>Differential</a:t>
            </a:r>
            <a:r>
              <a:rPr lang="zh-CN" altLang="en-US" sz="2800" dirty="0">
                <a:solidFill>
                  <a:srgbClr val="FF0000"/>
                </a:solidFill>
              </a:rPr>
              <a:t>定义一阶微分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4DE020-3B1D-4FE4-BDCE-94861B2B2837}"/>
              </a:ext>
            </a:extLst>
          </p:cNvPr>
          <p:cNvSpPr txBox="1"/>
          <p:nvPr/>
        </p:nvSpPr>
        <p:spPr>
          <a:xfrm>
            <a:off x="6016436" y="774672"/>
            <a:ext cx="1676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求一阶导数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D874524A-1B49-4122-8783-8944A4689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68" y="3009322"/>
            <a:ext cx="4081245" cy="14721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0" latinLnBrk="0">
              <a:lnSpc>
                <a:spcPts val="2200"/>
              </a:lnSpc>
              <a:buClrTx/>
              <a:buSzTx/>
              <a:tabLst/>
            </a:pPr>
            <a:r>
              <a:rPr lang="en-US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#1)</a:t>
            </a:r>
            <a:r>
              <a:rPr lang="zh-CN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创建符号变量及表达式</a:t>
            </a:r>
          </a:p>
          <a:p>
            <a:pPr marR="0" lvl="0" defTabSz="0" latinLnBrk="0">
              <a:lnSpc>
                <a:spcPts val="3200"/>
              </a:lnSpc>
              <a:spcBef>
                <a:spcPts val="0"/>
              </a:spcBef>
              <a:buClrTx/>
              <a:buSzTx/>
              <a:tabLst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#</a:t>
            </a:r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using TySymbolicMath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R="0" lvl="0" defTabSz="0" latinLnBrk="0">
              <a:lnSpc>
                <a:spcPts val="3200"/>
              </a:lnSpc>
              <a:spcBef>
                <a:spcPts val="0"/>
              </a:spcBef>
              <a:buClrTx/>
              <a:buSzTx/>
              <a:tabLst/>
            </a:pPr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@variables x y z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f=2*y*z*sin(x)+3*x*sin(z)*cos(y)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6DE4F18A-B25A-446D-B3AA-1F1FF1CD4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234" y="1742830"/>
            <a:ext cx="3763851" cy="120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0" eaLnBrk="0" hangingPunct="0">
              <a:lnSpc>
                <a:spcPts val="2200"/>
              </a:lnSpc>
            </a:pPr>
            <a:r>
              <a:rPr lang="en-US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#2)</a:t>
            </a:r>
            <a:r>
              <a:rPr lang="zh-CN" altLang="en-US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分别定义对</a:t>
            </a:r>
            <a:r>
              <a:rPr lang="en-US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y z</a:t>
            </a:r>
            <a:r>
              <a:rPr lang="zh-CN" altLang="en-US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求导函数规则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Dx = Differential(x)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Dy = Differential(y)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Dz = Differential(z) 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D794DB7E-FAA5-47E3-8C7B-54A015C83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618" y="3132259"/>
            <a:ext cx="3821559" cy="2821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0" eaLnBrk="0" hangingPunct="0">
              <a:lnSpc>
                <a:spcPts val="2200"/>
              </a:lnSpc>
            </a:pPr>
            <a:r>
              <a:rPr lang="en-US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#3)</a:t>
            </a:r>
            <a:r>
              <a:rPr lang="zh-CN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导数</a:t>
            </a:r>
            <a:r>
              <a:rPr lang="zh-CN" altLang="zh-CN" sz="2000" dirty="0">
                <a:solidFill>
                  <a:srgbClr val="D57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函数分别作用于表达式f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B3D29F-6967-4BBE-AB4E-517EE349626B}"/>
              </a:ext>
            </a:extLst>
          </p:cNvPr>
          <p:cNvSpPr txBox="1"/>
          <p:nvPr/>
        </p:nvSpPr>
        <p:spPr>
          <a:xfrm>
            <a:off x="619754" y="2536908"/>
            <a:ext cx="4500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f=2*y*z*sin(x)+3*x*sin(z)*cos(y)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一阶导数规则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2096B773-ACF0-487B-8F03-8E6992D65CEC}"/>
              </a:ext>
            </a:extLst>
          </p:cNvPr>
          <p:cNvSpPr/>
          <p:nvPr/>
        </p:nvSpPr>
        <p:spPr>
          <a:xfrm>
            <a:off x="21244" y="2510791"/>
            <a:ext cx="703187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CCD8CC-0A28-451C-89FD-1E53C9C7FF17}"/>
              </a:ext>
            </a:extLst>
          </p:cNvPr>
          <p:cNvSpPr txBox="1"/>
          <p:nvPr/>
        </p:nvSpPr>
        <p:spPr>
          <a:xfrm>
            <a:off x="5148205" y="3550026"/>
            <a:ext cx="17364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 = Dx(f) 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/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 = Dy(f) 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/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 = Dz(f)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25A5F8-4268-4A9D-B373-A996FF563B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10" t="45800" r="44599" b="45900"/>
          <a:stretch/>
        </p:blipFill>
        <p:spPr>
          <a:xfrm>
            <a:off x="7734426" y="2233570"/>
            <a:ext cx="1169736" cy="628364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B6882B3-87E0-42A3-B349-BA4425F25BD8}"/>
                  </a:ext>
                </a:extLst>
              </p:cNvPr>
              <p:cNvSpPr txBox="1"/>
              <p:nvPr/>
            </p:nvSpPr>
            <p:spPr>
              <a:xfrm>
                <a:off x="7540893" y="3652098"/>
                <a:ext cx="1259789" cy="579198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wrap="square">
                <a:spAutoFit/>
              </a:bodyPr>
              <a:lstStyle/>
              <a:p>
                <a:pPr eaLnBrk="0" hangingPunct="0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00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</m:t>
                        </m:r>
                      </m:num>
                      <m:den>
                        <m:r>
                          <a:rPr lang="en-US" altLang="zh-CN" sz="200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𝜕</m:t>
                        </m:r>
                        <m:r>
                          <a:rPr lang="en-US" altLang="zh-CN" sz="200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rgbClr val="2C3E5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en-US" altLang="zh-CN" sz="2000" dirty="0">
                    <a:solidFill>
                      <a:srgbClr val="2C3E50"/>
                    </a:solidFill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𝑦</m:t>
                        </m:r>
                        <m:r>
                          <a:rPr lang="en-US" altLang="zh-CN" sz="2000" b="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 </m:t>
                        </m:r>
                      </m:den>
                    </m:f>
                    <m:r>
                      <a:rPr lang="en-US" altLang="zh-CN" sz="2000" b="0" i="1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𝑧</m:t>
                        </m:r>
                      </m:den>
                    </m:f>
                  </m:oMath>
                </a14:m>
                <a:endParaRPr lang="zh-CN" altLang="zh-CN" sz="2000" dirty="0">
                  <a:solidFill>
                    <a:srgbClr val="2C3E5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B6882B3-87E0-42A3-B349-BA4425F25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93" y="3652098"/>
                <a:ext cx="1259789" cy="579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76AD3FD9-5FAD-4AD7-80B3-85B69867361D}"/>
              </a:ext>
            </a:extLst>
          </p:cNvPr>
          <p:cNvSpPr/>
          <p:nvPr/>
        </p:nvSpPr>
        <p:spPr bwMode="auto">
          <a:xfrm>
            <a:off x="7750573" y="2214152"/>
            <a:ext cx="1169735" cy="668542"/>
          </a:xfrm>
          <a:prstGeom prst="wedgeRoundRectCallout">
            <a:avLst>
              <a:gd name="adj1" fmla="val -77911"/>
              <a:gd name="adj2" fmla="val -5888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2AC28E3B-683D-4476-BE5E-6523BA8A3772}"/>
              </a:ext>
            </a:extLst>
          </p:cNvPr>
          <p:cNvSpPr/>
          <p:nvPr/>
        </p:nvSpPr>
        <p:spPr bwMode="auto">
          <a:xfrm>
            <a:off x="7585919" y="3607426"/>
            <a:ext cx="1214763" cy="668542"/>
          </a:xfrm>
          <a:prstGeom prst="wedgeRoundRectCallout">
            <a:avLst>
              <a:gd name="adj1" fmla="val -136230"/>
              <a:gd name="adj2" fmla="val 3882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37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2" grpId="0" animBg="1"/>
      <p:bldP spid="13" grpId="0"/>
      <p:bldP spid="16" grpId="0" animBg="1"/>
      <p:bldP spid="4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092D2-4B4D-45DB-ABF7-0ED4CCE5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2025/4/21</a:t>
            </a:fld>
            <a:endParaRPr lang="zh-CN" altLang="en-US" sz="18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DE4131-5AC2-4D38-AD83-0F8B728B58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505" y="766198"/>
            <a:ext cx="9036432" cy="38472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@variables x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  </a:t>
            </a:r>
            <a:r>
              <a:rPr lang="en-US" altLang="zh-CN" sz="2000" dirty="0">
                <a:latin typeface="Arial Unicode MS"/>
              </a:rPr>
              <a:t>#</a:t>
            </a:r>
            <a:r>
              <a:rPr lang="zh-CN" altLang="en-US" sz="2000" dirty="0">
                <a:latin typeface="Arial Unicode MS"/>
              </a:rPr>
              <a:t>定义符号变量</a:t>
            </a:r>
            <a:endParaRPr lang="en-US" altLang="zh-CN" sz="2000" dirty="0">
              <a:latin typeface="Arial Unicode MS"/>
            </a:endParaRPr>
          </a:p>
          <a:p>
            <a:pPr marL="0" indent="0">
              <a:lnSpc>
                <a:spcPts val="2500"/>
              </a:lnSpc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 f = -(sin(x))^2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  </a:t>
            </a:r>
            <a:r>
              <a:rPr lang="en-US" altLang="zh-CN" sz="2000" dirty="0">
                <a:latin typeface="Arial Unicode MS"/>
              </a:rPr>
              <a:t>#</a:t>
            </a:r>
            <a:r>
              <a:rPr lang="zh-CN" altLang="en-US" sz="2000" dirty="0">
                <a:latin typeface="Arial Unicode MS"/>
              </a:rPr>
              <a:t>建立符号表达式</a:t>
            </a:r>
            <a:endParaRPr lang="en-US" altLang="zh-CN" sz="2000" dirty="0">
              <a:latin typeface="Arial Unicode MS"/>
            </a:endParaRPr>
          </a:p>
          <a:p>
            <a:pPr marL="0" marR="0" lvl="0" indent="0" defTabSz="914400" latinLnBrk="0">
              <a:lnSpc>
                <a:spcPts val="2500"/>
              </a:lnSpc>
              <a:buClrTx/>
              <a:buSz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 g = Differential(x)^10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   </a:t>
            </a:r>
            <a:r>
              <a:rPr lang="en-US" altLang="zh-CN" sz="2000" dirty="0">
                <a:latin typeface="Arial Unicode MS"/>
              </a:rPr>
              <a:t>#</a:t>
            </a:r>
            <a:r>
              <a:rPr lang="zh-CN" altLang="en-US" sz="2000" dirty="0">
                <a:latin typeface="Arial Unicode MS"/>
              </a:rPr>
              <a:t>定义导数函数</a:t>
            </a:r>
            <a:endParaRPr lang="en-US" altLang="zh-CN" sz="2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solidFill>
                  <a:srgbClr val="00B0F0"/>
                </a:solidFill>
                <a:latin typeface="Arial Unicode MS"/>
              </a:rPr>
              <a:t>#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ea typeface="-apple-system"/>
              </a:rPr>
              <a:t>对f求十阶导数</a:t>
            </a:r>
            <a:r>
              <a:rPr lang="zh-CN" altLang="en-US" sz="1800" dirty="0">
                <a:solidFill>
                  <a:srgbClr val="00B0F0"/>
                </a:solidFill>
                <a:latin typeface="Arial Unicode MS"/>
              </a:rPr>
              <a:t>结果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g = Differential(x) ∘ Differential(x) ∘ Differential(x) ∘ Differential(x) ∘ Differential(x) ∘ Differential(x) ∘ Differential(x) ∘ Differential(x) ∘ Differential(x) ∘ Differential(x)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df = g(f)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ource-code-pro"/>
              </a:rPr>
              <a:t>  </a:t>
            </a:r>
            <a:r>
              <a:rPr lang="en-US" altLang="zh-CN" sz="2000" dirty="0">
                <a:latin typeface="Arial Unicode MS"/>
              </a:rPr>
              <a:t>#</a:t>
            </a:r>
            <a:r>
              <a:rPr lang="zh-CN" altLang="en-US" sz="2000" dirty="0">
                <a:latin typeface="Arial Unicode MS"/>
              </a:rPr>
              <a:t>求函数</a:t>
            </a:r>
            <a:r>
              <a:rPr lang="en-US" altLang="zh-CN" sz="2000" dirty="0">
                <a:latin typeface="Arial Unicode MS"/>
              </a:rPr>
              <a:t>f</a:t>
            </a:r>
            <a:r>
              <a:rPr lang="zh-CN" altLang="en-US" sz="2000" dirty="0">
                <a:latin typeface="Arial Unicode MS"/>
              </a:rPr>
              <a:t>对</a:t>
            </a:r>
            <a:r>
              <a:rPr lang="en-US" altLang="zh-CN" sz="2000" dirty="0">
                <a:latin typeface="Arial Unicode MS"/>
              </a:rPr>
              <a:t>x</a:t>
            </a:r>
            <a:r>
              <a:rPr lang="zh-CN" altLang="en-US" sz="2000" dirty="0">
                <a:latin typeface="Arial Unicode MS"/>
              </a:rPr>
              <a:t>的十阶导</a:t>
            </a:r>
            <a:endParaRPr lang="zh-CN" altLang="zh-CN" sz="2000" dirty="0">
              <a:latin typeface="Arial Unicode MS"/>
            </a:endParaRPr>
          </a:p>
          <a:p>
            <a:pPr marL="0" indent="0" eaLnBrk="0" hangingPunct="0">
              <a:lnSpc>
                <a:spcPts val="2500"/>
              </a:lnSpc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#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lang="en-US" altLang="zh-CN" sz="1800" dirty="0">
                <a:solidFill>
                  <a:srgbClr val="00B0F0"/>
                </a:solidFill>
                <a:latin typeface="Arial Unicode MS"/>
                <a:ea typeface="source-code-pro"/>
              </a:rPr>
              <a:t>Differential (x)(Differential(x) (Differential(x) (Differential(x) (Differential(x) (Differential(x)(Differential(x)(Differential(x)(Differential(x)(Differential(x</a:t>
            </a:r>
            <a:r>
              <a:rPr lang="en-US" altLang="zh-CN" sz="1800" dirty="0">
                <a:solidFill>
                  <a:srgbClr val="FFFF00"/>
                </a:solidFill>
                <a:highlight>
                  <a:srgbClr val="FF0000"/>
                </a:highlight>
                <a:latin typeface="Arial Unicode MS"/>
                <a:ea typeface="source-code-pro"/>
              </a:rPr>
              <a:t>)(-(sin(x)^2</a:t>
            </a:r>
            <a:r>
              <a:rPr lang="en-US" altLang="zh-CN" sz="1800" dirty="0">
                <a:solidFill>
                  <a:srgbClr val="00B0F0"/>
                </a:solidFill>
                <a:latin typeface="Arial Unicode MS"/>
                <a:ea typeface="source-code-pro"/>
              </a:rPr>
              <a:t>)))))))))))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08D49"/>
                </a:solidFill>
                <a:latin typeface="Arial Unicode MS"/>
              </a:rPr>
              <a:t>#</a:t>
            </a:r>
            <a:r>
              <a:rPr lang="zh-CN" altLang="zh-CN" sz="2000" dirty="0">
                <a:solidFill>
                  <a:srgbClr val="F08D49"/>
                </a:solidFill>
                <a:latin typeface="Arial Unicode MS"/>
              </a:rPr>
              <a:t>使用expand_derivatives函数展示导数结果</a:t>
            </a:r>
          </a:p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expand_derivatives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df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Arial Unicode MS"/>
                <a:ea typeface="source-code-pro"/>
              </a:rPr>
              <a:t>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indent="0" defTabSz="914400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B0F0"/>
                </a:solidFill>
                <a:latin typeface="Arial Unicode MS"/>
              </a:rPr>
              <a:t>#</a:t>
            </a:r>
            <a:r>
              <a:rPr lang="zh-CN" altLang="en-US" sz="2200" dirty="0">
                <a:solidFill>
                  <a:srgbClr val="00B0F0"/>
                </a:solidFill>
                <a:latin typeface="Arial Unicode MS"/>
              </a:rPr>
              <a:t>结果</a:t>
            </a:r>
            <a:r>
              <a:rPr lang="zh-CN" altLang="zh-CN" sz="2200" dirty="0">
                <a:solidFill>
                  <a:srgbClr val="00B0F0"/>
                </a:solidFill>
                <a:latin typeface="Arial Unicode MS"/>
              </a:rPr>
              <a:t>ans = 512(sin(x)^2) - 512(cos(x)^2)</a:t>
            </a:r>
            <a:endParaRPr kumimoji="0" lang="zh-CN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5D8660-E462-4C75-BCAE-41F9FDA87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66576"/>
            <a:ext cx="65" cy="27699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9E38213-D1B9-44E2-BE29-DEEAB780889C}"/>
              </a:ext>
            </a:extLst>
          </p:cNvPr>
          <p:cNvSpPr txBox="1">
            <a:spLocks/>
          </p:cNvSpPr>
          <p:nvPr/>
        </p:nvSpPr>
        <p:spPr bwMode="auto">
          <a:xfrm>
            <a:off x="755576" y="143409"/>
            <a:ext cx="5832648" cy="4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sz="2800" kern="0" dirty="0"/>
            </a:br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 </a:t>
            </a:r>
            <a:r>
              <a:rPr lang="zh-CN" altLang="en-US" sz="2800" kern="0" dirty="0">
                <a:sym typeface="Arial" panose="020B0604020202020204" pitchFamily="34" charset="0"/>
              </a:rPr>
              <a:t>符号微分和微分方程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</a:rPr>
              <a:t>Differential</a:t>
            </a:r>
            <a:r>
              <a:rPr lang="zh-CN" altLang="en-US" sz="2800" kern="0" dirty="0">
                <a:solidFill>
                  <a:srgbClr val="FF0000"/>
                </a:solidFill>
              </a:rPr>
              <a:t>高</a:t>
            </a:r>
            <a:r>
              <a:rPr lang="zh-CN" altLang="en-US" sz="2800" dirty="0">
                <a:solidFill>
                  <a:srgbClr val="FF0000"/>
                </a:solidFill>
              </a:rPr>
              <a:t>阶求导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5FF4F8-D0C0-4AFD-9A32-42FC63A39281}"/>
              </a:ext>
            </a:extLst>
          </p:cNvPr>
          <p:cNvSpPr txBox="1"/>
          <p:nvPr/>
        </p:nvSpPr>
        <p:spPr>
          <a:xfrm>
            <a:off x="6228184" y="794369"/>
            <a:ext cx="2736304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f=-(sin(x))^2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阶导数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B953756E-B29C-4FB4-AFE5-ABAB8EF8D497}"/>
              </a:ext>
            </a:extLst>
          </p:cNvPr>
          <p:cNvSpPr/>
          <p:nvPr/>
        </p:nvSpPr>
        <p:spPr>
          <a:xfrm>
            <a:off x="5148064" y="783795"/>
            <a:ext cx="1080120" cy="39047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例95-2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328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04D7B03C-879C-43BB-BA6E-B8A7455C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57858"/>
            <a:ext cx="7779453" cy="432048"/>
          </a:xfrm>
        </p:spPr>
        <p:txBody>
          <a:bodyPr/>
          <a:lstStyle/>
          <a:p>
            <a:r>
              <a:rPr lang="en-US" altLang="zh-CN" sz="2600" kern="0" dirty="0"/>
              <a:t>§</a:t>
            </a:r>
            <a:r>
              <a:rPr lang="en-US" altLang="zh-CN" sz="2600" kern="0" dirty="0">
                <a:sym typeface="Arial" panose="020B0604020202020204" pitchFamily="34" charset="0"/>
              </a:rPr>
              <a:t>9.5 </a:t>
            </a:r>
            <a:r>
              <a:rPr lang="zh-CN" altLang="en-US" sz="2600" dirty="0"/>
              <a:t>符号微分方程求解步骤</a:t>
            </a:r>
            <a:r>
              <a:rPr lang="en-US" altLang="zh-CN" sz="2600" kern="0" dirty="0">
                <a:solidFill>
                  <a:srgbClr val="FF0000"/>
                </a:solidFill>
              </a:rPr>
              <a:t>—</a:t>
            </a:r>
            <a:r>
              <a:rPr lang="zh-CN" altLang="en-US" sz="2600" dirty="0">
                <a:solidFill>
                  <a:srgbClr val="FF0000"/>
                </a:solidFill>
              </a:rPr>
              <a:t> </a:t>
            </a:r>
            <a:r>
              <a:rPr lang="en-US" altLang="zh-CN" sz="2600" b="0" dirty="0">
                <a:solidFill>
                  <a:srgbClr val="FF0000"/>
                </a:solidFill>
                <a:effectLst/>
              </a:rPr>
              <a:t>Differential</a:t>
            </a:r>
            <a:r>
              <a:rPr lang="zh-CN" altLang="en-US" sz="2600" b="0" dirty="0">
                <a:solidFill>
                  <a:srgbClr val="FF0000"/>
                </a:solidFill>
                <a:effectLst/>
              </a:rPr>
              <a:t>定义方程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7D8B33C-7364-4DC3-9B37-90324E65D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1762" y="2043458"/>
                <a:ext cx="8816742" cy="2514150"/>
              </a:xfrm>
              <a:solidFill>
                <a:schemeClr val="bg1"/>
              </a:solidFill>
            </p:spPr>
            <p:txBody>
              <a:bodyPr/>
              <a:lstStyle/>
              <a:p>
                <a:pPr marL="457200" indent="-457200">
                  <a:lnSpc>
                    <a:spcPts val="3200"/>
                  </a:lnSpc>
                  <a:buFont typeface="+mj-ea"/>
                  <a:buAutoNum type="circleNumDbPlain"/>
                </a:pPr>
                <a:r>
                  <a:rPr lang="en-US" altLang="zh-CN" sz="1800" b="1" dirty="0">
                    <a:solidFill>
                      <a:srgbClr val="0070C0"/>
                    </a:solidFill>
                    <a:effectLst/>
                  </a:rPr>
                  <a:t>@variables </a:t>
                </a:r>
                <a:r>
                  <a:rPr lang="zh-CN" altLang="en-US" sz="1800" b="1" dirty="0">
                    <a:solidFill>
                      <a:srgbClr val="0070C0"/>
                    </a:solidFill>
                    <a:effectLst/>
                  </a:rPr>
                  <a:t>定义符号变量</a:t>
                </a:r>
                <a:r>
                  <a:rPr lang="en-US" altLang="zh-CN" sz="1800" b="1" dirty="0">
                    <a:solidFill>
                      <a:srgbClr val="0070C0"/>
                    </a:solidFill>
                    <a:effectLst/>
                  </a:rPr>
                  <a:t>:</a:t>
                </a:r>
              </a:p>
              <a:p>
                <a:pPr marL="0" indent="0">
                  <a:lnSpc>
                    <a:spcPts val="3200"/>
                  </a:lnSpc>
                  <a:buNone/>
                </a:pPr>
                <a:r>
                  <a:rPr lang="en-US" altLang="zh-CN" sz="1800" b="1" dirty="0">
                    <a:solidFill>
                      <a:srgbClr val="795E26"/>
                    </a:solidFill>
                    <a:effectLst/>
                  </a:rPr>
                  <a:t>        @parameters</a:t>
                </a:r>
                <a:r>
                  <a:rPr lang="zh-CN" altLang="en-US" sz="1800" b="1" dirty="0">
                    <a:solidFill>
                      <a:srgbClr val="000000"/>
                    </a:solidFill>
                    <a:effectLst/>
                  </a:rPr>
                  <a:t>定义符号参数</a:t>
                </a:r>
                <a:r>
                  <a:rPr lang="zh-CN" altLang="en-US" sz="1800" b="0" dirty="0">
                    <a:solidFill>
                      <a:srgbClr val="000000"/>
                    </a:solidFill>
                    <a:effectLst/>
                  </a:rPr>
                  <a:t>：</a:t>
                </a:r>
                <a:r>
                  <a:rPr lang="en-US" altLang="zh-CN" sz="1800" b="0" dirty="0">
                    <a:solidFill>
                      <a:srgbClr val="795E26"/>
                    </a:solidFill>
                    <a:effectLst/>
                  </a:rPr>
                  <a:t> </a:t>
                </a:r>
              </a:p>
              <a:p>
                <a:pPr marL="457200" indent="-457200">
                  <a:lnSpc>
                    <a:spcPts val="3200"/>
                  </a:lnSpc>
                  <a:buFont typeface="+mj-ea"/>
                  <a:buAutoNum type="circleNumDbPlain" startAt="2"/>
                </a:pPr>
                <a:r>
                  <a:rPr lang="zh-CN" altLang="en-US" sz="1800" b="1" dirty="0">
                    <a:solidFill>
                      <a:srgbClr val="0070C0"/>
                    </a:solidFill>
                  </a:rPr>
                  <a:t>用</a:t>
                </a:r>
                <a:r>
                  <a:rPr lang="en-US" altLang="zh-CN" sz="1800" b="1" dirty="0">
                    <a:solidFill>
                      <a:srgbClr val="0070C0"/>
                    </a:solidFill>
                    <a:effectLst/>
                  </a:rPr>
                  <a:t>Differential</a:t>
                </a:r>
                <a:r>
                  <a:rPr lang="zh-CN" altLang="en-US" sz="1800" b="1" dirty="0">
                    <a:solidFill>
                      <a:srgbClr val="0070C0"/>
                    </a:solidFill>
                    <a:effectLst/>
                  </a:rPr>
                  <a:t>定义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D=Differential(t)</a:t>
                </a:r>
                <a:r>
                  <a:rPr lang="zh-CN" altLang="en-US" sz="1800" b="0" dirty="0">
                    <a:solidFill>
                      <a:srgbClr val="000000"/>
                    </a:solidFill>
                    <a:effectLst/>
                  </a:rPr>
                  <a:t>微分规则，</a:t>
                </a:r>
                <a:r>
                  <a:rPr lang="zh-CN" altLang="en-US" sz="1800" dirty="0">
                    <a:solidFill>
                      <a:srgbClr val="000000"/>
                    </a:solidFill>
                  </a:rPr>
                  <a:t>分</a:t>
                </a:r>
                <a:r>
                  <a:rPr lang="zh-CN" altLang="en-US" sz="1800" b="0" i="0" dirty="0">
                    <a:solidFill>
                      <a:srgbClr val="2C3E50"/>
                    </a:solidFill>
                    <a:effectLst/>
                  </a:rPr>
                  <a:t>别定义</a:t>
                </a:r>
                <a:r>
                  <a:rPr lang="zh-CN" altLang="en-US" sz="1800" dirty="0">
                    <a:solidFill>
                      <a:srgbClr val="2C3E50"/>
                    </a:solidFill>
                  </a:rPr>
                  <a:t>因变量</a:t>
                </a:r>
                <a:r>
                  <a:rPr lang="en-US" altLang="zh-CN" sz="1800" b="0" i="0" dirty="0">
                    <a:solidFill>
                      <a:srgbClr val="2C3E50"/>
                    </a:solidFill>
                    <a:effectLst/>
                  </a:rPr>
                  <a:t>x</a:t>
                </a:r>
                <a:r>
                  <a:rPr lang="zh-CN" altLang="en-US" sz="1800" b="0" i="0" dirty="0">
                    <a:solidFill>
                      <a:srgbClr val="2C3E50"/>
                    </a:solidFill>
                    <a:effectLst/>
                  </a:rPr>
                  <a:t>和</a:t>
                </a:r>
                <a:r>
                  <a:rPr lang="en-US" altLang="zh-CN" sz="1800" b="0" i="0" dirty="0">
                    <a:solidFill>
                      <a:srgbClr val="2C3E50"/>
                    </a:solidFill>
                    <a:effectLst/>
                  </a:rPr>
                  <a:t>y</a:t>
                </a:r>
                <a:r>
                  <a:rPr lang="zh-CN" altLang="en-US" sz="1800" dirty="0">
                    <a:solidFill>
                      <a:srgbClr val="2C3E50"/>
                    </a:solidFill>
                  </a:rPr>
                  <a:t>对</a:t>
                </a:r>
                <a:r>
                  <a:rPr lang="en-US" altLang="zh-CN" sz="1800" dirty="0">
                    <a:solidFill>
                      <a:srgbClr val="2C3E50"/>
                    </a:solidFill>
                  </a:rPr>
                  <a:t>t</a:t>
                </a:r>
                <a:r>
                  <a:rPr lang="zh-CN" altLang="en-US" sz="1800" dirty="0">
                    <a:solidFill>
                      <a:srgbClr val="2C3E50"/>
                    </a:solidFill>
                  </a:rPr>
                  <a:t>求导的函数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=D(x)</a:t>
                </a:r>
                <a:r>
                  <a:rPr lang="zh-CN" altLang="en-US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=D(y)</a:t>
                </a:r>
                <a:endParaRPr lang="el-GR" altLang="zh-CN" sz="18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ts val="3200"/>
                  </a:lnSpc>
                  <a:buFont typeface="+mj-ea"/>
                  <a:buAutoNum type="circleNumDbPlain" startAt="2"/>
                </a:pPr>
                <a:r>
                  <a:rPr lang="zh-CN" altLang="en-US" sz="1800" b="1" dirty="0">
                    <a:solidFill>
                      <a:srgbClr val="0070C0"/>
                    </a:solidFill>
                    <a:effectLst/>
                  </a:rPr>
                  <a:t>用微分</a:t>
                </a:r>
                <a:r>
                  <a:rPr lang="zh-CN" altLang="en-US" sz="1800" b="1" dirty="0">
                    <a:solidFill>
                      <a:srgbClr val="0070C0"/>
                    </a:solidFill>
                  </a:rPr>
                  <a:t>函数</a:t>
                </a:r>
                <a:r>
                  <a:rPr lang="en-US" altLang="zh-CN" sz="1800" b="1" i="0" dirty="0">
                    <a:solidFill>
                      <a:srgbClr val="0070C0"/>
                    </a:solidFill>
                    <a:effectLst/>
                  </a:rPr>
                  <a:t>D</a:t>
                </a:r>
                <a:r>
                  <a:rPr lang="zh-CN" altLang="en-US" sz="1800" b="1" dirty="0">
                    <a:solidFill>
                      <a:srgbClr val="0070C0"/>
                    </a:solidFill>
                    <a:effectLst/>
                  </a:rPr>
                  <a:t>创建符号微分方程组：</a:t>
                </a:r>
                <a:endParaRPr lang="en-US" altLang="zh-CN" sz="1800" b="1" dirty="0">
                  <a:solidFill>
                    <a:srgbClr val="0070C0"/>
                  </a:solidFill>
                  <a:effectLst/>
                </a:endParaRPr>
              </a:p>
              <a:p>
                <a:pPr marL="0" indent="0">
                  <a:lnSpc>
                    <a:spcPts val="3200"/>
                  </a:lnSpc>
                  <a:buNone/>
                </a:pPr>
                <a:r>
                  <a:rPr lang="en-US" altLang="zh-CN" sz="1800" dirty="0">
                    <a:solidFill>
                      <a:srgbClr val="000000"/>
                    </a:solidFill>
                  </a:rPr>
                  <a:t>       </a:t>
                </a:r>
                <a:r>
                  <a:rPr lang="en-US" altLang="zh-CN" sz="1800" dirty="0" err="1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eqs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=[D(x)~a</a:t>
                </a:r>
                <a:r>
                  <a:rPr lang="el-GR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x-b</a:t>
                </a:r>
                <a:r>
                  <a:rPr lang="el-GR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x*</a:t>
                </a:r>
                <a:r>
                  <a:rPr lang="en-US" altLang="zh-CN" sz="1800" dirty="0" err="1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y,D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(y)~c</a:t>
                </a:r>
                <a:r>
                  <a:rPr lang="el-GR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x*y-d*y]</a:t>
                </a:r>
                <a:endParaRPr lang="zh-CN" altLang="en-US" sz="18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7D8B33C-7364-4DC3-9B37-90324E65D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762" y="2043458"/>
                <a:ext cx="8816742" cy="2514150"/>
              </a:xfrm>
              <a:blipFill>
                <a:blip r:embed="rId3"/>
                <a:stretch>
                  <a:fillRect l="-484" r="-138" b="-2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标题 1">
                <a:extLst>
                  <a:ext uri="{FF2B5EF4-FFF2-40B4-BE49-F238E27FC236}">
                    <a16:creationId xmlns:a16="http://schemas.microsoft.com/office/drawing/2014/main" id="{C8E2BEB1-BD08-49A8-AFD5-E327C4EC318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95737" y="831967"/>
                <a:ext cx="2448272" cy="113658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2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cs typeface="+mj-cs"/>
                    <a:sym typeface="Arial" panose="020B0604020202020204" pitchFamily="34" charset="0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9pPr>
              </a:lstStyle>
              <a:p>
                <a:pPr algn="l"/>
                <a:r>
                  <a:rPr lang="zh-CN" altLang="en-US" sz="2000" kern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 kern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20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 kern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000" b="0" i="1" kern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2000" i="1" kern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000" b="0" i="1" kern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𝑏𝑥𝑦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2000" i="1" ker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 ker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000" b="0" i="1" kern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altLang="zh-CN" sz="2000" i="1" ker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𝑐𝑥𝑦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eqArr>
                      </m:e>
                    </m:d>
                  </m:oMath>
                </a14:m>
                <a:br>
                  <a:rPr lang="en-US" altLang="zh-CN" sz="2000" kern="0" dirty="0"/>
                </a:br>
                <a:endParaRPr lang="zh-CN" altLang="en-US" sz="2000" kern="0" dirty="0"/>
              </a:p>
            </p:txBody>
          </p:sp>
        </mc:Choice>
        <mc:Fallback xmlns="">
          <p:sp>
            <p:nvSpPr>
              <p:cNvPr id="8" name="标题 1">
                <a:extLst>
                  <a:ext uri="{FF2B5EF4-FFF2-40B4-BE49-F238E27FC236}">
                    <a16:creationId xmlns:a16="http://schemas.microsoft.com/office/drawing/2014/main" id="{C8E2BEB1-BD08-49A8-AFD5-E327C4EC3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737" y="831967"/>
                <a:ext cx="2448272" cy="1136587"/>
              </a:xfrm>
              <a:prstGeom prst="rect">
                <a:avLst/>
              </a:prstGeom>
              <a:blipFill>
                <a:blip r:embed="rId4"/>
                <a:stretch>
                  <a:fillRect t="-3743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4">
                <a:extLst>
                  <a:ext uri="{FF2B5EF4-FFF2-40B4-BE49-F238E27FC236}">
                    <a16:creationId xmlns:a16="http://schemas.microsoft.com/office/drawing/2014/main" id="{E4E4FA11-213C-4CB1-9565-33343BEB33D4}"/>
                  </a:ext>
                </a:extLst>
              </p:cNvPr>
              <p:cNvSpPr/>
              <p:nvPr/>
            </p:nvSpPr>
            <p:spPr bwMode="auto">
              <a:xfrm>
                <a:off x="179512" y="1771995"/>
                <a:ext cx="8687238" cy="400110"/>
              </a:xfrm>
              <a:prstGeom prst="rect">
                <a:avLst/>
              </a:prstGeom>
              <a:noFill/>
              <a:ln w="9525" cap="flat" cmpd="sng">
                <a:noFill/>
                <a:prstDash val="sysDash"/>
                <a:miter lim="800000"/>
              </a:ln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algn="dist" eaLnBrk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ko-KR" sz="20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𝑑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/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𝑑𝑡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，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𝑑</m:t>
                          </m:r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a:rPr lang="en-US" altLang="ko-KR" sz="20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cap="none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=</m:t>
                      </m:r>
                      <m:r>
                        <a:rPr lang="en-US" altLang="ko-KR" sz="2000" b="0" i="1" cap="none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ko-KR" sz="2000" i="1" cap="none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自变量时间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zh-CN" alt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因变量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u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[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𝑦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],</m:t>
                          </m:r>
                          <m:r>
                            <a:rPr lang="zh-CN" alt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参数</m:t>
                          </m:r>
                          <m:r>
                            <a:rPr lang="en-US" altLang="zh-CN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𝑝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[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𝑎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𝑏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𝑐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𝑑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]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微分</m:t>
                      </m:r>
                      <m:r>
                        <a:rPr lang="zh-CN" altLang="en-US" sz="2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方程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组</m:t>
                      </m:r>
                    </m:oMath>
                  </m:oMathPara>
                </a14:m>
                <a:endParaRPr lang="ko-KR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隶书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10" name="矩形 4">
                <a:extLst>
                  <a:ext uri="{FF2B5EF4-FFF2-40B4-BE49-F238E27FC236}">
                    <a16:creationId xmlns:a16="http://schemas.microsoft.com/office/drawing/2014/main" id="{E4E4FA11-213C-4CB1-9565-33343BEB33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1771995"/>
                <a:ext cx="8687238" cy="400110"/>
              </a:xfrm>
              <a:prstGeom prst="rect">
                <a:avLst/>
              </a:prstGeom>
              <a:blipFill>
                <a:blip r:embed="rId5"/>
                <a:stretch>
                  <a:fillRect t="-118462" b="-181538"/>
                </a:stretch>
              </a:blipFill>
              <a:ln w="9525" cap="flat" cmpd="sng">
                <a:noFill/>
                <a:prstDash val="sysDash"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4">
            <a:extLst>
              <a:ext uri="{FF2B5EF4-FFF2-40B4-BE49-F238E27FC236}">
                <a16:creationId xmlns:a16="http://schemas.microsoft.com/office/drawing/2014/main" id="{2F06B234-5AE6-4483-9511-6189AA338558}"/>
              </a:ext>
            </a:extLst>
          </p:cNvPr>
          <p:cNvSpPr/>
          <p:nvPr/>
        </p:nvSpPr>
        <p:spPr bwMode="auto">
          <a:xfrm>
            <a:off x="2097156" y="771550"/>
            <a:ext cx="6769594" cy="923330"/>
          </a:xfrm>
          <a:prstGeom prst="rect">
            <a:avLst/>
          </a:prstGeom>
          <a:noFill/>
          <a:ln w="9525" cap="flat" cmpd="sng">
            <a:noFill/>
            <a:prstDash val="sysDash"/>
            <a:miter lim="800000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algn="just" eaLnBrk="0"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Lotka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-Volterra 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方程是由两个一阶非线性 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ODE 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组成的方程组，用于描述生物系统中捕食者和猎物的种群。随着时间的推移，捕食者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和猎物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的数量会根据方程发生变化</a:t>
            </a:r>
            <a:endParaRPr lang="ko-KR" altLang="en-US" b="1" dirty="0">
              <a:solidFill>
                <a:srgbClr val="002060"/>
              </a:solidFill>
              <a:latin typeface="华文楷体" panose="02010600040101010101" pitchFamily="2" charset="-122"/>
              <a:ea typeface="隶书" panose="020105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DA8E40-D73C-4CB6-A9C2-B212DC20298F}"/>
              </a:ext>
            </a:extLst>
          </p:cNvPr>
          <p:cNvSpPr txBox="1"/>
          <p:nvPr/>
        </p:nvSpPr>
        <p:spPr>
          <a:xfrm>
            <a:off x="3491880" y="2135688"/>
            <a:ext cx="3284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@variables t x(t) y(t)</a:t>
            </a:r>
            <a:r>
              <a:rPr lang="zh-CN" altLang="en-US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2CA4A9-C370-4F4E-B9B0-BD42D4CAB32F}"/>
              </a:ext>
            </a:extLst>
          </p:cNvPr>
          <p:cNvSpPr txBox="1"/>
          <p:nvPr/>
        </p:nvSpPr>
        <p:spPr>
          <a:xfrm>
            <a:off x="3635896" y="2505020"/>
            <a:ext cx="3284972" cy="37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latinLnBrk="0" hangingPunct="0">
              <a:lnSpc>
                <a:spcPct val="110000"/>
              </a:lnSpc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@parameters a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l-GR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A328A2-16CD-4403-BA1A-986254C6FB77}"/>
              </a:ext>
            </a:extLst>
          </p:cNvPr>
          <p:cNvSpPr txBox="1"/>
          <p:nvPr/>
        </p:nvSpPr>
        <p:spPr>
          <a:xfrm>
            <a:off x="5745380" y="4202673"/>
            <a:ext cx="32849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-apple-system"/>
              </a:rPr>
              <a:t>~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highlight>
                  <a:srgbClr val="003B76"/>
                </a:highlight>
                <a:latin typeface="-apple-system"/>
              </a:rPr>
              <a:t>代替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-apple-system"/>
              </a:rPr>
              <a:t>方程等号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-apple-system"/>
              </a:rPr>
              <a:t>=,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-apple-system"/>
              </a:rPr>
              <a:t>建立方程形式向量</a:t>
            </a:r>
          </a:p>
        </p:txBody>
      </p:sp>
      <p:sp>
        <p:nvSpPr>
          <p:cNvPr id="15" name="波形 14">
            <a:extLst>
              <a:ext uri="{FF2B5EF4-FFF2-40B4-BE49-F238E27FC236}">
                <a16:creationId xmlns:a16="http://schemas.microsoft.com/office/drawing/2014/main" id="{DEA3BA75-C3C0-4B72-AB9D-73540751E9AB}"/>
              </a:ext>
            </a:extLst>
          </p:cNvPr>
          <p:cNvSpPr/>
          <p:nvPr/>
        </p:nvSpPr>
        <p:spPr>
          <a:xfrm>
            <a:off x="0" y="405920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64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8E3322C-727D-4332-ACA0-E4F72340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9335"/>
            <a:ext cx="8686800" cy="3642279"/>
          </a:xfrm>
          <a:solidFill>
            <a:schemeClr val="bg1"/>
          </a:solidFill>
        </p:spPr>
        <p:txBody>
          <a:bodyPr/>
          <a:lstStyle/>
          <a:p>
            <a:pPr marL="514350" indent="-514350">
              <a:lnSpc>
                <a:spcPts val="3500"/>
              </a:lnSpc>
              <a:buFont typeface="+mj-ea"/>
              <a:buAutoNum type="circleNumDbPlain" startAt="4"/>
            </a:pPr>
            <a:r>
              <a:rPr lang="en-US" altLang="zh-CN" sz="20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ODESystem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创建常微分方程系统</a:t>
            </a:r>
            <a:endParaRPr lang="en-US" altLang="zh-C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微分方程组</a:t>
            </a:r>
            <a:r>
              <a:rPr lang="en-US" altLang="zh-CN" sz="2000" kern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eqs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符号微分</a:t>
            </a:r>
            <a:r>
              <a:rPr lang="zh-CN" altLang="en-US" sz="2000" i="0" dirty="0">
                <a:solidFill>
                  <a:srgbClr val="2C3E50"/>
                </a:solidFill>
                <a:effectLst/>
                <a:latin typeface="-apple-system"/>
              </a:rPr>
              <a:t>方程组向量</a:t>
            </a:r>
            <a:r>
              <a:rPr lang="en-US" altLang="zh-CN" sz="2000" i="0" dirty="0">
                <a:solidFill>
                  <a:srgbClr val="2C3E50"/>
                </a:solidFill>
                <a:effectLst/>
                <a:latin typeface="-apple-system"/>
              </a:rPr>
              <a:t> </a:t>
            </a:r>
          </a:p>
          <a:p>
            <a:pPr marL="285750" indent="-285750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自变量</a:t>
            </a:r>
            <a:r>
              <a:rPr lang="zh-CN" altLang="en-US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：</a:t>
            </a:r>
            <a:r>
              <a:rPr lang="zh-CN" altLang="en-US" sz="2000" i="0" dirty="0">
                <a:solidFill>
                  <a:srgbClr val="2C3E50"/>
                </a:solidFill>
                <a:effectLst/>
                <a:latin typeface="-apple-system"/>
              </a:rPr>
              <a:t>为</a:t>
            </a:r>
            <a:r>
              <a:rPr lang="en-US" altLang="zh-CN" sz="2000" i="0" dirty="0">
                <a:solidFill>
                  <a:srgbClr val="2C3E50"/>
                </a:solidFill>
                <a:effectLst/>
                <a:latin typeface="-apple-system"/>
              </a:rPr>
              <a:t>ODE</a:t>
            </a:r>
            <a:r>
              <a:rPr lang="zh-CN" altLang="en-US" sz="2000" i="0" dirty="0">
                <a:solidFill>
                  <a:srgbClr val="2C3E50"/>
                </a:solidFill>
                <a:effectLst/>
                <a:latin typeface="-apple-system"/>
              </a:rPr>
              <a:t>系统中的自变量，表示对该变量</a:t>
            </a:r>
            <a:r>
              <a:rPr lang="en-US" altLang="zh-CN" sz="2000" i="0" dirty="0">
                <a:solidFill>
                  <a:srgbClr val="2C3E50"/>
                </a:solidFill>
                <a:effectLst/>
                <a:latin typeface="-apple-system"/>
              </a:rPr>
              <a:t>t</a:t>
            </a:r>
            <a:r>
              <a:rPr lang="zh-CN" altLang="en-US" sz="2000" i="0" dirty="0">
                <a:solidFill>
                  <a:srgbClr val="2C3E50"/>
                </a:solidFill>
                <a:effectLst/>
                <a:latin typeface="-apple-system"/>
              </a:rPr>
              <a:t>求导 </a:t>
            </a:r>
          </a:p>
          <a:p>
            <a:pPr marL="285750" indent="-285750">
              <a:lnSpc>
                <a:spcPts val="3500"/>
              </a:lnSpc>
            </a:pP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状态变量</a:t>
            </a:r>
            <a:r>
              <a:rPr lang="en-US" altLang="zh-CN" sz="2000" kern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dvs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：即微分方程因变量</a:t>
            </a:r>
            <a:r>
              <a:rPr lang="en-US" altLang="zh-CN" sz="2000" dirty="0">
                <a:solidFill>
                  <a:srgbClr val="2C3E50"/>
                </a:solidFill>
                <a:latin typeface="-apple-system"/>
              </a:rPr>
              <a:t>u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，</a:t>
            </a:r>
            <a:endParaRPr lang="zh-CN" altLang="en-US" sz="2000" kern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500"/>
              </a:lnSpc>
            </a:pPr>
            <a:r>
              <a:rPr lang="zh-CN" altLang="en-US" sz="2000" i="0" dirty="0">
                <a:solidFill>
                  <a:srgbClr val="2C3E50"/>
                </a:solidFill>
                <a:effectLst/>
                <a:latin typeface="-apple-system"/>
              </a:rPr>
              <a:t>参数</a:t>
            </a:r>
            <a:r>
              <a:rPr lang="en-US" altLang="zh-CN" sz="2000" kern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i="0" dirty="0">
                <a:solidFill>
                  <a:srgbClr val="2C3E50"/>
                </a:solidFill>
                <a:effectLst/>
                <a:latin typeface="-apple-system"/>
              </a:rPr>
              <a:t>: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已知参数</a:t>
            </a:r>
            <a:r>
              <a:rPr lang="en-US" altLang="zh-CN" sz="2000" dirty="0">
                <a:solidFill>
                  <a:srgbClr val="2C3E50"/>
                </a:solidFill>
                <a:latin typeface="-apple-system"/>
              </a:rPr>
              <a:t>,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由已知参数组成的向量，</a:t>
            </a:r>
            <a:endParaRPr lang="en-US" altLang="zh-CN" sz="2000" kern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500"/>
              </a:lnSpc>
            </a:pP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在调用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ODESystem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时，</a:t>
            </a:r>
            <a:r>
              <a:rPr lang="en-US" altLang="zh-CN" sz="2000" dirty="0" err="1">
                <a:solidFill>
                  <a:srgbClr val="2C3E50"/>
                </a:solidFill>
                <a:latin typeface="-apple-system"/>
              </a:rPr>
              <a:t>eqs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，</a:t>
            </a:r>
            <a:r>
              <a:rPr lang="en-US" altLang="zh-CN" sz="2000" dirty="0">
                <a:solidFill>
                  <a:srgbClr val="2C3E50"/>
                </a:solidFill>
                <a:latin typeface="-apple-system"/>
              </a:rPr>
              <a:t>t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，</a:t>
            </a:r>
            <a:r>
              <a:rPr lang="en-US" altLang="zh-CN" sz="2000" dirty="0" err="1">
                <a:solidFill>
                  <a:srgbClr val="2C3E50"/>
                </a:solidFill>
                <a:latin typeface="-apple-system"/>
              </a:rPr>
              <a:t>dvs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，</a:t>
            </a:r>
            <a:r>
              <a:rPr lang="en-US" altLang="zh-CN" sz="2000" dirty="0" err="1">
                <a:solidFill>
                  <a:srgbClr val="2C3E50"/>
                </a:solidFill>
                <a:latin typeface="-apple-system"/>
              </a:rPr>
              <a:t>ps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为必须传入参数</a:t>
            </a:r>
            <a:endParaRPr lang="en-US" altLang="zh-CN" sz="2000" i="0" dirty="0">
              <a:solidFill>
                <a:srgbClr val="2C3E50"/>
              </a:solidFill>
              <a:effectLst/>
              <a:latin typeface="-apple-system"/>
            </a:endParaRPr>
          </a:p>
          <a:p>
            <a:pPr marL="285750" indent="-285750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用命名系统命令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@named 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和</a:t>
            </a:r>
            <a:r>
              <a:rPr lang="en-US" altLang="zh-CN" sz="2000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ODESystem</a:t>
            </a:r>
            <a:r>
              <a:rPr lang="zh-CN" altLang="en-US" sz="2000" dirty="0">
                <a:solidFill>
                  <a:srgbClr val="2C3E50"/>
                </a:solidFill>
                <a:latin typeface="-apple-system"/>
              </a:rPr>
              <a:t>函数将方程形式向量转换为常微分方程系统</a:t>
            </a:r>
            <a:endParaRPr lang="zh-CN" altLang="en-US" sz="2000" dirty="0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17020120-5E08-4E98-AEA8-EEC922459A5F}"/>
              </a:ext>
            </a:extLst>
          </p:cNvPr>
          <p:cNvSpPr/>
          <p:nvPr/>
        </p:nvSpPr>
        <p:spPr bwMode="auto">
          <a:xfrm>
            <a:off x="5158142" y="1151277"/>
            <a:ext cx="370299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zh-CN" altLang="zh-CN" sz="1600" dirty="0">
                <a:solidFill>
                  <a:schemeClr val="bg1"/>
                </a:solidFill>
                <a:latin typeface="Arial Unicode MS"/>
              </a:rPr>
              <a:t>ODESystem(eqs,t,dvs,p</a:t>
            </a:r>
            <a:r>
              <a:rPr lang="en-US" altLang="zh-CN" sz="1600" dirty="0">
                <a:solidFill>
                  <a:schemeClr val="bg1"/>
                </a:solidFill>
                <a:latin typeface="Arial Unicode MS"/>
              </a:rPr>
              <a:t>s</a:t>
            </a:r>
            <a:r>
              <a:rPr lang="zh-CN" altLang="zh-CN" sz="1600" dirty="0">
                <a:solidFill>
                  <a:schemeClr val="bg1"/>
                </a:solidFill>
                <a:latin typeface="Arial Unicode MS"/>
              </a:rPr>
              <a:t>) </a:t>
            </a:r>
          </a:p>
        </p:txBody>
      </p:sp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48E8F387-FC46-4BE3-B22B-D5DF704191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216127"/>
              </p:ext>
            </p:extLst>
          </p:nvPr>
        </p:nvGraphicFramePr>
        <p:xfrm>
          <a:off x="3347864" y="4217411"/>
          <a:ext cx="5328592" cy="329960"/>
        </p:xfrm>
        <a:graphic>
          <a:graphicData uri="http://schemas.openxmlformats.org/drawingml/2006/table">
            <a:tbl>
              <a:tblPr/>
              <a:tblGrid>
                <a:gridCol w="5328592">
                  <a:extLst>
                    <a:ext uri="{9D8B030D-6E8A-4147-A177-3AD203B41FA5}">
                      <a16:colId xmlns:a16="http://schemas.microsoft.com/office/drawing/2014/main" val="2191220563"/>
                    </a:ext>
                  </a:extLst>
                </a:gridCol>
              </a:tblGrid>
              <a:tr h="287823">
                <a:tc>
                  <a:txBody>
                    <a:bodyPr/>
                    <a:lstStyle/>
                    <a:p>
                      <a:r>
                        <a:rPr lang="de-DE" altLang="zh-CN" sz="1800" b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@named odes = ODESystem(eqs, t, [x, y], [a,b,c,d])</a:t>
                      </a: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045788"/>
                  </a:ext>
                </a:extLst>
              </a:tr>
            </a:tbl>
          </a:graphicData>
        </a:graphic>
      </p:graphicFrame>
      <p:sp>
        <p:nvSpPr>
          <p:cNvPr id="13" name="标题 1">
            <a:extLst>
              <a:ext uri="{FF2B5EF4-FFF2-40B4-BE49-F238E27FC236}">
                <a16:creationId xmlns:a16="http://schemas.microsoft.com/office/drawing/2014/main" id="{6B5556FB-F281-4C44-BA91-CD9CB9E84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144297"/>
            <a:ext cx="8388424" cy="432048"/>
          </a:xfrm>
        </p:spPr>
        <p:txBody>
          <a:bodyPr/>
          <a:lstStyle/>
          <a:p>
            <a:r>
              <a:rPr lang="en-US" altLang="zh-CN" sz="2400" kern="0" dirty="0"/>
              <a:t>§</a:t>
            </a:r>
            <a:r>
              <a:rPr lang="en-US" altLang="zh-CN" sz="2400" kern="0" dirty="0">
                <a:sym typeface="Arial" panose="020B0604020202020204" pitchFamily="34" charset="0"/>
              </a:rPr>
              <a:t>9.5 </a:t>
            </a:r>
            <a:r>
              <a:rPr lang="zh-CN" altLang="en-US" sz="2400" dirty="0"/>
              <a:t>符号微分方程求解步骤</a:t>
            </a:r>
            <a:r>
              <a:rPr lang="en-US" altLang="zh-CN" sz="2400" kern="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b="0" dirty="0">
                <a:solidFill>
                  <a:srgbClr val="FF0000"/>
                </a:solidFill>
                <a:effectLst/>
              </a:rPr>
              <a:t>ODESystem</a:t>
            </a:r>
            <a:r>
              <a:rPr lang="zh-CN" altLang="en-US" sz="2400" b="0" dirty="0">
                <a:solidFill>
                  <a:srgbClr val="FF0000"/>
                </a:solidFill>
                <a:effectLst/>
              </a:rPr>
              <a:t>建微分</a:t>
            </a:r>
            <a:r>
              <a:rPr lang="zh-CN" altLang="en-US" sz="2400" dirty="0">
                <a:solidFill>
                  <a:srgbClr val="FF0000"/>
                </a:solidFill>
              </a:rPr>
              <a:t>方程</a:t>
            </a:r>
            <a:r>
              <a:rPr lang="zh-CN" altLang="en-US" sz="2400" b="0" dirty="0">
                <a:solidFill>
                  <a:srgbClr val="FF0000"/>
                </a:solidFill>
                <a:effectLst/>
              </a:rPr>
              <a:t>系统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4">
                <a:extLst>
                  <a:ext uri="{FF2B5EF4-FFF2-40B4-BE49-F238E27FC236}">
                    <a16:creationId xmlns:a16="http://schemas.microsoft.com/office/drawing/2014/main" id="{10A8F8CC-439F-4FBC-805E-D636AA9C0CB8}"/>
                  </a:ext>
                </a:extLst>
              </p:cNvPr>
              <p:cNvSpPr/>
              <p:nvPr/>
            </p:nvSpPr>
            <p:spPr bwMode="auto">
              <a:xfrm>
                <a:off x="115331" y="699542"/>
                <a:ext cx="9005245" cy="40011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noFill/>
                <a:prstDash val="sysDash"/>
                <a:miter lim="800000"/>
              </a:ln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algn="dist" eaLnBrk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ko-KR" sz="20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</m:ctrlPr>
                        </m:fPr>
                        <m:num>
                          <m:r>
                            <a:rPr lang="en-US" altLang="ko-KR" sz="2000" b="1" i="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𝐝𝐱</m:t>
                          </m:r>
                          <m:r>
                            <a:rPr lang="en-US" altLang="ko-KR" sz="2000" b="1" i="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/</m:t>
                          </m:r>
                          <m:r>
                            <a:rPr lang="en-US" altLang="ko-KR" sz="2000" b="1" i="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𝐝𝐭</m:t>
                          </m:r>
                          <m:r>
                            <a:rPr lang="en-US" altLang="zh-CN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𝐝</m:t>
                          </m:r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𝐲</m:t>
                          </m:r>
                        </m:num>
                        <m:den>
                          <m:r>
                            <a:rPr lang="en-US" altLang="ko-KR" sz="2000" b="1" i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𝐝𝐭</m:t>
                          </m:r>
                        </m:den>
                      </m:f>
                      <m:r>
                        <a:rPr lang="en-US" altLang="ko-KR" sz="2000" b="1" i="0" cap="none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=</m:t>
                      </m:r>
                      <m:r>
                        <a:rPr lang="en-US" altLang="ko-KR" sz="2000" b="1" i="0" cap="none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𝐟</m:t>
                      </m:r>
                      <m:d>
                        <m:dPr>
                          <m:ctrlPr>
                            <a:rPr lang="en-US" altLang="ko-KR" sz="2000" b="1" i="1" cap="none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自变量时间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𝐭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因变量</m:t>
                          </m:r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𝐮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[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𝐱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𝐲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],</m:t>
                          </m:r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参数</m:t>
                          </m:r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𝐩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𝐬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[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𝐚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𝐛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𝐜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,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𝐝</m:t>
                          </m:r>
                          <m:r>
                            <a:rPr lang="en-US" altLang="zh-CN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  <m:t>]</m:t>
                          </m:r>
                        </m:e>
                      </m:d>
                      <m:r>
                        <a:rPr lang="zh-CN" alt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微分方程组</m:t>
                      </m:r>
                    </m:oMath>
                  </m:oMathPara>
                </a14:m>
                <a:endParaRPr lang="ko-KR" altLang="en-US" sz="20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隶书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4">
                <a:extLst>
                  <a:ext uri="{FF2B5EF4-FFF2-40B4-BE49-F238E27FC236}">
                    <a16:creationId xmlns:a16="http://schemas.microsoft.com/office/drawing/2014/main" id="{10A8F8CC-439F-4FBC-805E-D636AA9C0C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331" y="699542"/>
                <a:ext cx="9005245" cy="400110"/>
              </a:xfrm>
              <a:prstGeom prst="rect">
                <a:avLst/>
              </a:prstGeom>
              <a:blipFill>
                <a:blip r:embed="rId2"/>
                <a:stretch>
                  <a:fillRect t="-118462" r="-68" b="-181538"/>
                </a:stretch>
              </a:blipFill>
              <a:ln w="9525" cap="flat" cmpd="sng">
                <a:noFill/>
                <a:prstDash val="sysDash"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A988C0C-C323-4D13-840E-2FC0B2D3C625}"/>
              </a:ext>
            </a:extLst>
          </p:cNvPr>
          <p:cNvSpPr txBox="1"/>
          <p:nvPr/>
        </p:nvSpPr>
        <p:spPr>
          <a:xfrm>
            <a:off x="5409928" y="2401799"/>
            <a:ext cx="180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dvs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=[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5C74CF-FD4E-40AB-B4CD-552313900E52}"/>
              </a:ext>
            </a:extLst>
          </p:cNvPr>
          <p:cNvSpPr txBox="1"/>
          <p:nvPr/>
        </p:nvSpPr>
        <p:spPr>
          <a:xfrm>
            <a:off x="6119664" y="2815487"/>
            <a:ext cx="216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 dirty="0"/>
              <a:t>如</a:t>
            </a:r>
            <a:r>
              <a:rPr lang="en-US" altLang="zh-CN" sz="2000" b="0" dirty="0" err="1"/>
              <a:t>ps</a:t>
            </a:r>
            <a:r>
              <a:rPr lang="en-US" altLang="zh-CN" sz="2000" b="0" dirty="0"/>
              <a:t>=[</a:t>
            </a:r>
            <a:r>
              <a:rPr lang="en-US" altLang="zh-CN" sz="2000" b="0" dirty="0" err="1"/>
              <a:t>a,b,c,d</a:t>
            </a:r>
            <a:r>
              <a:rPr lang="en-US" altLang="zh-CN" sz="2000" b="0" dirty="0"/>
              <a:t>]</a:t>
            </a:r>
            <a:endParaRPr lang="zh-CN" altLang="en-US" sz="2000" b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2C0A1D-887C-4746-B502-2EF4DD04E74F}"/>
              </a:ext>
            </a:extLst>
          </p:cNvPr>
          <p:cNvSpPr txBox="1"/>
          <p:nvPr/>
        </p:nvSpPr>
        <p:spPr>
          <a:xfrm>
            <a:off x="4770433" y="1603633"/>
            <a:ext cx="4248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eqs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=[D(x)~a</a:t>
            </a:r>
            <a:r>
              <a:rPr lang="el-GR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x-b</a:t>
            </a:r>
            <a:r>
              <a:rPr lang="el-GR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x*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y,D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(y)~c</a:t>
            </a:r>
            <a:r>
              <a:rPr lang="el-GR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x*y-d*y]</a:t>
            </a:r>
            <a:endParaRPr lang="zh-CN" altLang="en-US" sz="1600" dirty="0"/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B4654FB2-3940-4F78-A93F-116F8F182CCA}"/>
              </a:ext>
            </a:extLst>
          </p:cNvPr>
          <p:cNvSpPr/>
          <p:nvPr/>
        </p:nvSpPr>
        <p:spPr>
          <a:xfrm>
            <a:off x="-34826" y="740944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054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A0B4856-A3D2-4BF1-9A25-A880372D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19" y="442100"/>
            <a:ext cx="8388424" cy="432048"/>
          </a:xfrm>
        </p:spPr>
        <p:txBody>
          <a:bodyPr/>
          <a:lstStyle/>
          <a:p>
            <a:r>
              <a:rPr lang="en-US" altLang="zh-CN" sz="2400" kern="0" dirty="0"/>
              <a:t>§</a:t>
            </a:r>
            <a:r>
              <a:rPr lang="en-US" altLang="zh-CN" sz="2400" kern="0" dirty="0">
                <a:sym typeface="Arial" panose="020B0604020202020204" pitchFamily="34" charset="0"/>
              </a:rPr>
              <a:t>9.5</a:t>
            </a:r>
            <a:r>
              <a:rPr lang="zh-CN" altLang="en-US" sz="2400" dirty="0"/>
              <a:t>符号微分方程求解步骤</a:t>
            </a:r>
            <a:r>
              <a:rPr lang="en-US" altLang="zh-CN" sz="2400" kern="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ODEProblem</a:t>
            </a:r>
            <a:r>
              <a:rPr lang="zh-CN" altLang="en-US" sz="2400" b="0" i="0" dirty="0">
                <a:solidFill>
                  <a:srgbClr val="FF0000"/>
                </a:solidFill>
                <a:effectLst/>
              </a:rPr>
              <a:t>定义 </a:t>
            </a:r>
            <a:r>
              <a:rPr lang="en-US" altLang="zh-CN" sz="2400" b="0" i="0" dirty="0">
                <a:solidFill>
                  <a:srgbClr val="FF0000"/>
                </a:solidFill>
                <a:effectLst/>
              </a:rPr>
              <a:t>ODE </a:t>
            </a:r>
            <a:r>
              <a:rPr lang="zh-CN" altLang="en-US" sz="2400" b="0" i="0" dirty="0">
                <a:solidFill>
                  <a:srgbClr val="FF0000"/>
                </a:solidFill>
                <a:effectLst/>
              </a:rPr>
              <a:t>问题</a:t>
            </a:r>
            <a:br>
              <a:rPr lang="zh-CN" altLang="en-US" sz="2400" b="0" i="0" dirty="0">
                <a:solidFill>
                  <a:srgbClr val="8A8A8A"/>
                </a:solidFill>
                <a:effectLst/>
                <a:latin typeface="-apple-system"/>
              </a:rPr>
            </a:b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133BC-BCC4-4B96-B5A4-7E82F138A39C}"/>
              </a:ext>
            </a:extLst>
          </p:cNvPr>
          <p:cNvSpPr/>
          <p:nvPr/>
        </p:nvSpPr>
        <p:spPr bwMode="auto">
          <a:xfrm>
            <a:off x="209409" y="1509845"/>
            <a:ext cx="8824317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F0DA04"/>
                </a:solidFill>
                <a:effectLst/>
                <a:latin typeface="Arial Unicode MS"/>
                <a:ea typeface="source-code-pro"/>
              </a:rPr>
              <a:t>Prob=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0DA04"/>
                </a:solidFill>
                <a:effectLst/>
                <a:latin typeface="Arial Unicode MS"/>
                <a:ea typeface="source-code-pro"/>
              </a:rPr>
              <a:t>ODEProblem(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F0DA04"/>
                </a:solidFill>
                <a:effectLst/>
                <a:latin typeface="Arial Unicode MS"/>
                <a:ea typeface="source-code-pro"/>
              </a:rPr>
              <a:t>eqs</a:t>
            </a:r>
            <a:r>
              <a:rPr lang="zh-CN" altLang="en-US" dirty="0">
                <a:solidFill>
                  <a:srgbClr val="F0DA04"/>
                </a:solidFill>
                <a:latin typeface="Arial Unicode MS"/>
                <a:ea typeface="source-code-pro"/>
              </a:rPr>
              <a:t> </a:t>
            </a:r>
            <a:r>
              <a:rPr lang="en-US" altLang="zh-CN" dirty="0">
                <a:solidFill>
                  <a:srgbClr val="F0DA04"/>
                </a:solidFill>
                <a:latin typeface="Arial Unicode MS"/>
                <a:ea typeface="source-code-pro"/>
              </a:rPr>
              <a:t>or odes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0DA04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F0DA04"/>
                </a:solidFill>
                <a:effectLst/>
                <a:latin typeface="Arial Unicode MS"/>
                <a:ea typeface="source-code-pro"/>
              </a:rPr>
              <a:t>u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0DA04"/>
                </a:solidFill>
                <a:effectLst/>
                <a:latin typeface="Arial Unicode MS"/>
                <a:ea typeface="source-code-pro"/>
              </a:rPr>
              <a:t>0,tspan,p;kwargs...)</a:t>
            </a:r>
            <a:endParaRPr lang="en-US" altLang="ko-KR" b="1" kern="0" dirty="0">
              <a:solidFill>
                <a:srgbClr val="F0DA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EEC9C1-ABEC-4A34-BDB5-4163C7200FE1}"/>
              </a:ext>
            </a:extLst>
          </p:cNvPr>
          <p:cNvSpPr txBox="1"/>
          <p:nvPr/>
        </p:nvSpPr>
        <p:spPr>
          <a:xfrm>
            <a:off x="209409" y="2102921"/>
            <a:ext cx="8874894" cy="258750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Prob:ODE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问题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</a:pPr>
            <a:r>
              <a:rPr lang="en-US" altLang="zh-CN" sz="2000" dirty="0" err="1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eqs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：常微分方程组，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u,p,t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du,u,p,t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形式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或者是建好的常微分方程系统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ODESystem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odes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u0: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初始条件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u0=[50,50]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tspan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: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时间范围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tspan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=[0,150]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p: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常量参数，定义</a:t>
            </a:r>
            <a:r>
              <a:rPr lang="en-US" altLang="zh-CN" sz="2000" dirty="0" err="1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eqs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时可直接给出，也可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ODEProblem 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传入</a:t>
            </a:r>
            <a:r>
              <a:rPr lang="en-US" altLang="zh-CN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p=[1,0.01,0.02,1] </a:t>
            </a:r>
          </a:p>
          <a:p>
            <a:pPr>
              <a:lnSpc>
                <a:spcPts val="2800"/>
              </a:lnSpc>
            </a:pPr>
            <a:r>
              <a:rPr lang="en-US" altLang="zh-CN" sz="2000" dirty="0" err="1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kwargs</a:t>
            </a:r>
            <a:r>
              <a:rPr lang="zh-CN" altLang="en-US" sz="20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：其他关键字，可忽略</a:t>
            </a:r>
            <a:endParaRPr lang="en-US" altLang="zh-CN" sz="200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6D3D64-FBF6-4D53-B188-5479602AA5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82" t="56229" r="39952" b="39609"/>
          <a:stretch/>
        </p:blipFill>
        <p:spPr>
          <a:xfrm>
            <a:off x="5652120" y="2350138"/>
            <a:ext cx="1497631" cy="52255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EB84765-5A60-4E2E-9270-2463E9B93771}"/>
              </a:ext>
            </a:extLst>
          </p:cNvPr>
          <p:cNvSpPr txBox="1"/>
          <p:nvPr/>
        </p:nvSpPr>
        <p:spPr>
          <a:xfrm>
            <a:off x="119813" y="1103591"/>
            <a:ext cx="896449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buFont typeface="+mj-ea"/>
              <a:buAutoNum type="circleNumDbPlain" startAt="5"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ODEProblem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ODE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问题，包括函数</a:t>
            </a:r>
            <a:r>
              <a:rPr lang="en-US" altLang="zh-CN" i="0" dirty="0" err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eqs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、初始 </a:t>
            </a:r>
            <a:r>
              <a:rPr lang="en-US" altLang="zh-CN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u₀</a:t>
            </a:r>
            <a:r>
              <a:rPr lang="zh-CN" altLang="en-US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和时间范围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4CE3BA-265B-4C69-8F91-E7E294EAD17F}"/>
              </a:ext>
            </a:extLst>
          </p:cNvPr>
          <p:cNvSpPr txBox="1"/>
          <p:nvPr/>
        </p:nvSpPr>
        <p:spPr>
          <a:xfrm>
            <a:off x="109038" y="1833526"/>
            <a:ext cx="897526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t=0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,x(0)=50, y(0)=50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；范围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150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≥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；参数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a=1,b=0.01,c=0.02,d=1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" name="内容占位符 4">
            <a:extLst>
              <a:ext uri="{FF2B5EF4-FFF2-40B4-BE49-F238E27FC236}">
                <a16:creationId xmlns:a16="http://schemas.microsoft.com/office/drawing/2014/main" id="{D6DEDB93-3863-4B11-84D7-B3E0168AA9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1381950"/>
              </p:ext>
            </p:extLst>
          </p:nvPr>
        </p:nvGraphicFramePr>
        <p:xfrm>
          <a:off x="3453614" y="742977"/>
          <a:ext cx="5580112" cy="329960"/>
        </p:xfrm>
        <a:graphic>
          <a:graphicData uri="http://schemas.openxmlformats.org/drawingml/2006/table">
            <a:tbl>
              <a:tblPr/>
              <a:tblGrid>
                <a:gridCol w="5580112">
                  <a:extLst>
                    <a:ext uri="{9D8B030D-6E8A-4147-A177-3AD203B41FA5}">
                      <a16:colId xmlns:a16="http://schemas.microsoft.com/office/drawing/2014/main" val="2191220563"/>
                    </a:ext>
                  </a:extLst>
                </a:gridCol>
              </a:tblGrid>
              <a:tr h="287823">
                <a:tc>
                  <a:txBody>
                    <a:bodyPr/>
                    <a:lstStyle/>
                    <a:p>
                      <a:pPr algn="dist"/>
                      <a:r>
                        <a:rPr lang="de-DE" altLang="zh-CN" sz="1800" b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@named odes = ODESystem(eqs, t, [x, y], [a,b,c,d])</a:t>
                      </a:r>
                    </a:p>
                  </a:txBody>
                  <a:tcPr marL="55641" marR="55641" marT="27820" marB="2782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045788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6F36C25-A854-44F0-ACEF-99BDA9E08865}"/>
              </a:ext>
            </a:extLst>
          </p:cNvPr>
          <p:cNvSpPr txBox="1"/>
          <p:nvPr/>
        </p:nvSpPr>
        <p:spPr>
          <a:xfrm>
            <a:off x="895885" y="737121"/>
            <a:ext cx="3096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ea"/>
              <a:buAutoNum type="circleNumDbPlain" startAt="4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常微分方程系统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odes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67DF97-D5D2-4922-AB0D-B8D56D746F39}"/>
              </a:ext>
            </a:extLst>
          </p:cNvPr>
          <p:cNvSpPr txBox="1"/>
          <p:nvPr/>
        </p:nvSpPr>
        <p:spPr>
          <a:xfrm>
            <a:off x="4624294" y="4194148"/>
            <a:ext cx="4590449" cy="440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100"/>
              </a:lnSpc>
              <a:buNone/>
            </a:pPr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+mn-lt"/>
                <a:ea typeface="+mn-ea"/>
              </a:rPr>
              <a:t>问题</a:t>
            </a:r>
            <a:r>
              <a:rPr lang="en-US" altLang="zh-CN" dirty="0">
                <a:solidFill>
                  <a:srgbClr val="FFFF00"/>
                </a:solidFill>
                <a:highlight>
                  <a:srgbClr val="003B76"/>
                </a:highlight>
                <a:latin typeface="+mn-lt"/>
                <a:ea typeface="+mn-ea"/>
              </a:rPr>
              <a:t>prob=ODEProblem(odes,u0,tspan,p)</a:t>
            </a:r>
          </a:p>
        </p:txBody>
      </p:sp>
      <p:sp>
        <p:nvSpPr>
          <p:cNvPr id="17" name="波形 16">
            <a:extLst>
              <a:ext uri="{FF2B5EF4-FFF2-40B4-BE49-F238E27FC236}">
                <a16:creationId xmlns:a16="http://schemas.microsoft.com/office/drawing/2014/main" id="{9B937E75-9CBE-4E40-9BC1-3C68A6315096}"/>
              </a:ext>
            </a:extLst>
          </p:cNvPr>
          <p:cNvSpPr/>
          <p:nvPr/>
        </p:nvSpPr>
        <p:spPr>
          <a:xfrm>
            <a:off x="38233" y="744883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26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68DB0B6-5A2B-4573-922A-201FF9B57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01155"/>
            <a:ext cx="7632848" cy="432048"/>
          </a:xfrm>
        </p:spPr>
        <p:txBody>
          <a:bodyPr/>
          <a:lstStyle/>
          <a:p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</a:t>
            </a:r>
            <a:r>
              <a:rPr lang="zh-CN" altLang="en-US" sz="2800" dirty="0"/>
              <a:t>符号</a:t>
            </a:r>
            <a:r>
              <a:rPr lang="zh-CN" altLang="en-US" sz="2600" dirty="0"/>
              <a:t>微分方程</a:t>
            </a:r>
            <a:r>
              <a:rPr lang="zh-CN" altLang="en-US" sz="2800" dirty="0"/>
              <a:t>求解步骤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solve</a:t>
            </a:r>
            <a:r>
              <a:rPr lang="zh-CN" altLang="en-US" sz="2800" dirty="0">
                <a:solidFill>
                  <a:srgbClr val="FF0000"/>
                </a:solidFill>
              </a:rPr>
              <a:t>求解微分方程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9A0AE1-82F1-42BC-9F68-335A7278B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929863"/>
            <a:ext cx="496855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zh-CN" sz="2000" dirty="0">
                <a:solidFill>
                  <a:schemeClr val="bg1"/>
                </a:solidFill>
                <a:latin typeface="Arial Unicode MS"/>
                <a:ea typeface="source-code-pro"/>
              </a:rPr>
              <a:t>sol=solve(prob,alg;kwargs)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4F994-C316-42E7-ABEF-A912F590E173}"/>
              </a:ext>
            </a:extLst>
          </p:cNvPr>
          <p:cNvSpPr txBox="1"/>
          <p:nvPr/>
        </p:nvSpPr>
        <p:spPr>
          <a:xfrm>
            <a:off x="281841" y="766557"/>
            <a:ext cx="3524841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 kumimoji="0" sz="22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dist">
              <a:buFont typeface="+mj-ea"/>
              <a:buAutoNum type="circleNumDbPlain" startAt="6"/>
            </a:pPr>
            <a:r>
              <a:rPr lang="zh-CN" altLang="en-US" sz="2400" b="0" dirty="0"/>
              <a:t>常微分方程问题求解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F525B12-43D1-404F-9CB5-D3625B901DB3}"/>
              </a:ext>
            </a:extLst>
          </p:cNvPr>
          <p:cNvSpPr txBox="1">
            <a:spLocks/>
          </p:cNvSpPr>
          <p:nvPr/>
        </p:nvSpPr>
        <p:spPr>
          <a:xfrm>
            <a:off x="261167" y="2226916"/>
            <a:ext cx="8784976" cy="212731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每种类型的微分方程都有自己的问题类型，从而使解算器调度到正确的方法</a:t>
            </a:r>
            <a:endParaRPr lang="en-US" altLang="zh-CN" dirty="0"/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通过定义微分方程问题</a:t>
            </a:r>
            <a:r>
              <a:rPr lang="en-US" altLang="zh-CN" dirty="0"/>
              <a:t>prob</a:t>
            </a:r>
            <a:r>
              <a:rPr lang="zh-CN" altLang="en-US" dirty="0"/>
              <a:t>，选择一个算法 </a:t>
            </a:r>
            <a:r>
              <a:rPr lang="en-US" altLang="zh-CN" dirty="0" err="1"/>
              <a:t>alg</a:t>
            </a:r>
            <a:r>
              <a:rPr lang="zh-CN" altLang="en-US" dirty="0"/>
              <a:t>（如果不选择，则使用默认值），用关键字参数更改解算器的属性</a:t>
            </a:r>
            <a:endParaRPr lang="en-US" altLang="zh-CN" dirty="0"/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en-US" altLang="zh-CN" dirty="0"/>
              <a:t>Sol</a:t>
            </a:r>
            <a:r>
              <a:rPr lang="zh-CN" altLang="en-US" dirty="0"/>
              <a:t>为解算器解决方案对象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ECA6E6-277F-45D8-8428-CBBACC489AB3}"/>
              </a:ext>
            </a:extLst>
          </p:cNvPr>
          <p:cNvSpPr txBox="1"/>
          <p:nvPr/>
        </p:nvSpPr>
        <p:spPr>
          <a:xfrm>
            <a:off x="261167" y="1549190"/>
            <a:ext cx="8749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微分问题类型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；指定算法</a:t>
            </a:r>
            <a:r>
              <a:rPr lang="en-US" altLang="zh-CN" sz="2000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alg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，否则用默认算法；</a:t>
            </a:r>
            <a:r>
              <a:rPr lang="en-US" altLang="zh-CN" sz="2000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kwargs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关键词可省略</a:t>
            </a:r>
            <a:endParaRPr lang="en-US" altLang="zh-CN" sz="2000" b="0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831B45B4-CB07-4CBD-97B5-FB2D55C9CF7E}"/>
              </a:ext>
            </a:extLst>
          </p:cNvPr>
          <p:cNvSpPr/>
          <p:nvPr/>
        </p:nvSpPr>
        <p:spPr>
          <a:xfrm>
            <a:off x="0" y="405920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907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5BBE26-3940-4602-99FF-F2723F0F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86" y="2021821"/>
            <a:ext cx="8454548" cy="2554545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en-US" altLang="zh-CN" sz="2000" dirty="0"/>
              <a:t>using </a:t>
            </a:r>
            <a:r>
              <a:rPr lang="en-US" altLang="zh-CN" sz="2000" dirty="0" err="1"/>
              <a:t>DifferentialEquations</a:t>
            </a:r>
            <a:r>
              <a:rPr lang="en-US" altLang="zh-CN" sz="2000" dirty="0"/>
              <a:t>  #</a:t>
            </a:r>
            <a:r>
              <a:rPr lang="zh-CN" altLang="en-US" sz="2000" dirty="0"/>
              <a:t>加载微分方程库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定义微分方程组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@variables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(t)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@parameters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b c d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Differential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eqs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(x)~a*x-b*x*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(y)~c*x*y-d*y]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定义微分方程组系统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@named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odee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ODESystem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eqs,t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,[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a,b,c,d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A1C08E2-6789-4D56-9310-4B42863A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44987"/>
            <a:ext cx="7632848" cy="432048"/>
          </a:xfrm>
        </p:spPr>
        <p:txBody>
          <a:bodyPr/>
          <a:lstStyle/>
          <a:p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 </a:t>
            </a:r>
            <a:r>
              <a:rPr lang="zh-CN" altLang="en-US" sz="2800" dirty="0"/>
              <a:t>符号微分方程组求解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捕食者和猎物</a:t>
            </a:r>
            <a:r>
              <a:rPr lang="zh-CN" altLang="en-US" sz="2800" dirty="0">
                <a:solidFill>
                  <a:srgbClr val="FF0000"/>
                </a:solidFill>
              </a:rPr>
              <a:t>案例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2618A1F0-BE5F-478B-B6B4-49B7C06F2E4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9640" y="1114397"/>
                <a:ext cx="2592288" cy="857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2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cs typeface="+mj-cs"/>
                    <a:sym typeface="Arial" panose="020B0604020202020204" pitchFamily="34" charset="0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9pPr>
              </a:lstStyle>
              <a:p>
                <a:pPr algn="l"/>
                <a:r>
                  <a:rPr lang="zh-CN" altLang="en-US" sz="2000" kern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 kern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20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 kern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000" b="0" i="1" kern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2000" i="1" kern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000" b="0" i="1" kern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𝑏𝑥𝑦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2000" i="1" ker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 ker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2000" b="0" i="1" kern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altLang="zh-CN" sz="2000" i="1" ker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𝑐𝑥𝑦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eqArr>
                      </m:e>
                    </m:d>
                  </m:oMath>
                </a14:m>
                <a:br>
                  <a:rPr lang="en-US" altLang="zh-CN" sz="2000" kern="0" dirty="0"/>
                </a:br>
                <a:endParaRPr lang="zh-CN" altLang="en-US" sz="2000" kern="0" dirty="0"/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2618A1F0-BE5F-478B-B6B4-49B7C06F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640" y="1114397"/>
                <a:ext cx="2592288" cy="857250"/>
              </a:xfrm>
              <a:prstGeom prst="rect">
                <a:avLst/>
              </a:prstGeom>
              <a:blipFill>
                <a:blip r:embed="rId2"/>
                <a:stretch>
                  <a:fillRect t="-22143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>
            <a:extLst>
              <a:ext uri="{FF2B5EF4-FFF2-40B4-BE49-F238E27FC236}">
                <a16:creationId xmlns:a16="http://schemas.microsoft.com/office/drawing/2014/main" id="{02FE20FE-B1E1-45A6-852D-429D1E863706}"/>
              </a:ext>
            </a:extLst>
          </p:cNvPr>
          <p:cNvSpPr/>
          <p:nvPr/>
        </p:nvSpPr>
        <p:spPr bwMode="auto">
          <a:xfrm>
            <a:off x="2227770" y="791596"/>
            <a:ext cx="6671856" cy="10156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>
                <a:lumMod val="50000"/>
              </a:schemeClr>
            </a:solidFill>
            <a:prstDash val="sysDash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algn="just" eaLnBrk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Lotka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-Volterra 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方程是由两个一阶非线性 </a:t>
            </a:r>
            <a:r>
              <a:rPr lang="en-US" altLang="zh-CN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ODE </a:t>
            </a:r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组成的方程组，用于描述生物系统中捕食者和猎物的种群。随着时间的推移，捕食者和猎物的数量会根据方程发生变化</a:t>
            </a:r>
            <a:endParaRPr lang="ko-KR" altLang="en-US" sz="2000" b="1" dirty="0">
              <a:solidFill>
                <a:srgbClr val="00B0F0"/>
              </a:solidFill>
              <a:latin typeface="华文楷体" panose="02010600040101010101" pitchFamily="2" charset="-122"/>
              <a:ea typeface="隶书" panose="02010509060101010101" pitchFamily="49" charset="-122"/>
            </a:endParaRP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6E90EB93-A2AB-4798-91CA-0874D8D3336D}"/>
              </a:ext>
            </a:extLst>
          </p:cNvPr>
          <p:cNvSpPr/>
          <p:nvPr/>
        </p:nvSpPr>
        <p:spPr>
          <a:xfrm>
            <a:off x="8255631" y="1484126"/>
            <a:ext cx="553618" cy="43734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2400" b="1" dirty="0" err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ps</a:t>
            </a:r>
            <a:endParaRPr lang="ko-KR" altLang="en-US" sz="2400" b="1" dirty="0">
              <a:solidFill>
                <a:srgbClr val="FFFF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A32B9D-41B3-4AB6-9C51-0343ABD4DB43}"/>
              </a:ext>
            </a:extLst>
          </p:cNvPr>
          <p:cNvSpPr txBox="1"/>
          <p:nvPr/>
        </p:nvSpPr>
        <p:spPr>
          <a:xfrm>
            <a:off x="4354637" y="2499789"/>
            <a:ext cx="45153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初始条件：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t=0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x(0)=50, y(0)=50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时间范围：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150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≥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≥</a:t>
            </a:r>
            <a:r>
              <a: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参数：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a=1,b=0.01,c=0.02,d=1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71C369D0-F621-4B39-BAF9-9652C6A75F7F}"/>
              </a:ext>
            </a:extLst>
          </p:cNvPr>
          <p:cNvSpPr/>
          <p:nvPr/>
        </p:nvSpPr>
        <p:spPr>
          <a:xfrm>
            <a:off x="0" y="405920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846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0E91F8B-2B82-4F06-B242-1601F48FD1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0" t="12200" r="6689" b="6601"/>
          <a:stretch/>
        </p:blipFill>
        <p:spPr>
          <a:xfrm>
            <a:off x="6252025" y="734667"/>
            <a:ext cx="2784471" cy="20079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B30A4A3-387D-4A40-956B-0528BAB50E8E}"/>
              </a:ext>
            </a:extLst>
          </p:cNvPr>
          <p:cNvSpPr txBox="1"/>
          <p:nvPr/>
        </p:nvSpPr>
        <p:spPr>
          <a:xfrm>
            <a:off x="539553" y="733383"/>
            <a:ext cx="8402490" cy="396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定义微分初始条件和时间范围问题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xy0=[50,50] #</a:t>
            </a:r>
            <a:r>
              <a:rPr lang="zh-CN" alt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初始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条件</a:t>
            </a:r>
            <a:endParaRPr lang="zh-CN" altLang="en-US" sz="20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tspan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=[0.0,150.0] #</a:t>
            </a:r>
            <a:r>
              <a:rPr lang="zh-CN" alt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时间跨度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p=[1,0.01,0.02,1] #a</a:t>
            </a:r>
            <a:r>
              <a:rPr lang="en-US" altLang="zh-CN" sz="2000" dirty="0">
                <a:solidFill>
                  <a:srgbClr val="002060"/>
                </a:solidFill>
                <a:latin typeface="Consolas" panose="020B0609020204030204" pitchFamily="49" charset="0"/>
              </a:rPr>
              <a:t>,b,c,d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参数</a:t>
            </a:r>
            <a:endParaRPr lang="zh-CN" altLang="en-US" sz="20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prob=ODEProblem(odee,xy0,tspan,p)</a:t>
            </a:r>
          </a:p>
          <a:p>
            <a:pPr>
              <a:lnSpc>
                <a:spcPts val="3400"/>
              </a:lnSpc>
            </a:pP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sol=solve(</a:t>
            </a:r>
            <a:r>
              <a:rPr lang="en-US" altLang="zh-C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prob,dt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=0.005)#</a:t>
            </a:r>
            <a:r>
              <a:rPr lang="zh-CN" alt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设置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时间</a:t>
            </a:r>
            <a:r>
              <a:rPr lang="zh-CN" alt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步长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0.05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plot(sol[1,:],sol[2,:],"r")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猎物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sz="20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zh-CN" alt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捕猎者</a:t>
            </a:r>
            <a:r>
              <a:rPr lang="en-US" altLang="zh-CN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");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A8A7100-4EFF-478E-AC34-EF74DFEA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44987"/>
            <a:ext cx="7632848" cy="432048"/>
          </a:xfrm>
        </p:spPr>
        <p:txBody>
          <a:bodyPr/>
          <a:lstStyle/>
          <a:p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 </a:t>
            </a:r>
            <a:r>
              <a:rPr lang="zh-CN" altLang="en-US" sz="2800" dirty="0"/>
              <a:t>符号微分方程组求解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捕食者和猎物</a:t>
            </a:r>
            <a:r>
              <a:rPr lang="zh-CN" altLang="en-US" sz="2800" dirty="0">
                <a:solidFill>
                  <a:srgbClr val="FF0000"/>
                </a:solidFill>
              </a:rPr>
              <a:t>案例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9E12447-CF1E-4FCE-93CC-B399A183AC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71" t="12741" r="6687" b="7897"/>
          <a:stretch/>
        </p:blipFill>
        <p:spPr>
          <a:xfrm>
            <a:off x="6276581" y="2629896"/>
            <a:ext cx="2798558" cy="20079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D7AE59-6B12-444E-8C04-56C9022E9314}"/>
              </a:ext>
            </a:extLst>
          </p:cNvPr>
          <p:cNvSpPr txBox="1"/>
          <p:nvPr/>
        </p:nvSpPr>
        <p:spPr>
          <a:xfrm>
            <a:off x="5940152" y="3363838"/>
            <a:ext cx="2798558" cy="85042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indent="0">
              <a:lnSpc>
                <a:spcPts val="2000"/>
              </a:lnSpc>
              <a:buNone/>
            </a:pPr>
            <a:r>
              <a:rPr lang="pt-BR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#</a:t>
            </a:r>
            <a:r>
              <a:rPr lang="zh-CN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Arial Unicode MS"/>
                <a:ea typeface="Menlo"/>
              </a:rPr>
              <a:t>曲线更光滑</a:t>
            </a:r>
            <a:endParaRPr lang="pt-BR" altLang="zh-CN" sz="1600" dirty="0">
              <a:solidFill>
                <a:srgbClr val="FF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pt-BR" altLang="zh-CN" sz="16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sol=solve(prob,Vern7(),abstol=1e-9,dtmax=0.005)</a:t>
            </a:r>
            <a:endParaRPr lang="en-US" altLang="zh-CN" sz="160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F56E4069-CB20-476E-A257-CC8E4E092DE9}"/>
              </a:ext>
            </a:extLst>
          </p:cNvPr>
          <p:cNvSpPr/>
          <p:nvPr/>
        </p:nvSpPr>
        <p:spPr>
          <a:xfrm>
            <a:off x="0" y="405920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95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FB25F-CDEF-4657-91D5-09105E563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875" y="764020"/>
            <a:ext cx="8064896" cy="4234493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using 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DifferentialEquations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@variables t x(t) y(t)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@parameters a b c d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D = Differential(t)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eqs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 = [D(x) ~ a * x - b * x * y, D(y) ~ c * x * y - d * y]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@named 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odee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 = ODESystem(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eqs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, t, [x, y], [a, b, c, d])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tspan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 = [0.0, 15.0]  #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时间跨度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p = [1, 0.01, 0.02, 1] #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参数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y0 = 10:10:400; #</a:t>
            </a:r>
            <a:r>
              <a:rPr lang="zh-CN" altLang="en-US" sz="1600" b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初始条件</a:t>
            </a:r>
            <a:endParaRPr lang="en-US" altLang="zh-CN" sz="1600" b="0" dirty="0">
              <a:solidFill>
                <a:schemeClr val="bg1"/>
              </a:solidFill>
              <a:effectLst/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for k = 1:length(y0)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    prob = ODEProblem(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odee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, [50; </a:t>
            </a: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y0[k]</a:t>
            </a:r>
            <a:r>
              <a:rPr lang="en-US" altLang="zh-CN" sz="16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tspan,p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    sol = solve(prob, DP5(), 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saveat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=0.01)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    plot(sol[1, :], sol[2, :])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    hold("on")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end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>
                <a:effectLst/>
                <a:latin typeface="Consolas" panose="020B0609020204030204" pitchFamily="49" charset="0"/>
              </a:rPr>
              <a:t>grid("on")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("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捕猎者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");</a:t>
            </a:r>
            <a:r>
              <a:rPr lang="en-US" altLang="zh-CN" sz="1600" b="0" dirty="0" err="1"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("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猎物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");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F0CC1F-6000-4E45-BDAA-CBF288E31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90" b="85743" l="15429" r="88508"/>
                    </a14:imgEffect>
                  </a14:imgLayer>
                </a14:imgProps>
              </a:ext>
            </a:extLst>
          </a:blip>
          <a:srcRect l="6294" t="10533" r="16198" b="13840"/>
          <a:stretch/>
        </p:blipFill>
        <p:spPr>
          <a:xfrm>
            <a:off x="6501481" y="2793134"/>
            <a:ext cx="2574866" cy="220537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63E71FFB-07D2-4D76-ACFA-663DB445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44987"/>
            <a:ext cx="7632848" cy="432048"/>
          </a:xfrm>
        </p:spPr>
        <p:txBody>
          <a:bodyPr/>
          <a:lstStyle/>
          <a:p>
            <a:r>
              <a:rPr lang="en-US" altLang="zh-CN" sz="2800" kern="0" dirty="0"/>
              <a:t>§</a:t>
            </a:r>
            <a:r>
              <a:rPr lang="en-US" altLang="zh-CN" sz="2800" kern="0" dirty="0">
                <a:sym typeface="Arial" panose="020B0604020202020204" pitchFamily="34" charset="0"/>
              </a:rPr>
              <a:t>9.5 </a:t>
            </a:r>
            <a:r>
              <a:rPr lang="zh-CN" altLang="en-US" sz="2800" dirty="0"/>
              <a:t>符号微分方程组求解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捕食者和猎物</a:t>
            </a:r>
            <a:r>
              <a:rPr lang="zh-CN" altLang="en-US" sz="2800" dirty="0">
                <a:solidFill>
                  <a:srgbClr val="FF0000"/>
                </a:solidFill>
              </a:rPr>
              <a:t>案例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082D9F-95D1-46BD-BE83-55B4C2C66710}"/>
              </a:ext>
            </a:extLst>
          </p:cNvPr>
          <p:cNvSpPr txBox="1"/>
          <p:nvPr/>
        </p:nvSpPr>
        <p:spPr>
          <a:xfrm>
            <a:off x="4283968" y="793338"/>
            <a:ext cx="4792379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初始条件为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y0 = 10:10:400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时捕食者和猎物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波形 8">
            <a:extLst>
              <a:ext uri="{FF2B5EF4-FFF2-40B4-BE49-F238E27FC236}">
                <a16:creationId xmlns:a16="http://schemas.microsoft.com/office/drawing/2014/main" id="{C8BC0AFF-12D0-4090-8E7C-FBA6B36E94F1}"/>
              </a:ext>
            </a:extLst>
          </p:cNvPr>
          <p:cNvSpPr/>
          <p:nvPr/>
        </p:nvSpPr>
        <p:spPr>
          <a:xfrm>
            <a:off x="0" y="405920"/>
            <a:ext cx="857652" cy="35114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例95-3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65252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12187</TotalTime>
  <Pages>154</Pages>
  <Words>8575</Words>
  <Characters>0</Characters>
  <Application>Microsoft Office PowerPoint</Application>
  <DocSecurity>0</DocSecurity>
  <PresentationFormat>全屏显示(16:9)</PresentationFormat>
  <Lines>0</Lines>
  <Paragraphs>861</Paragraphs>
  <Slides>46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-apple-system</vt:lpstr>
      <vt:lpstr>Arial Unicode MS</vt:lpstr>
      <vt:lpstr>Helvetica Neue</vt:lpstr>
      <vt:lpstr>华文楷体</vt:lpstr>
      <vt:lpstr>隶书</vt:lpstr>
      <vt:lpstr>宋体</vt:lpstr>
      <vt:lpstr>Microsoft YaHei</vt:lpstr>
      <vt:lpstr>Microsoft YaHei</vt:lpstr>
      <vt:lpstr>Arial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Equation.DSMT4</vt:lpstr>
      <vt:lpstr>PowerPoint 演示文稿</vt:lpstr>
      <vt:lpstr>PowerPoint 演示文稿</vt:lpstr>
      <vt:lpstr>PowerPoint 演示文稿</vt:lpstr>
      <vt:lpstr>PowerPoint 演示文稿</vt:lpstr>
      <vt:lpstr> §9.1.2创建符号对象——@variables函数创建语法</vt:lpstr>
      <vt:lpstr>PowerPoint 演示文稿</vt:lpstr>
      <vt:lpstr> §9.1.2创建符号对象——@syms函数创建语法</vt:lpstr>
      <vt:lpstr> §9.1.2 创建符号对象——@polyvar创建多项式变量</vt:lpstr>
      <vt:lpstr>PowerPoint 演示文稿</vt:lpstr>
      <vt:lpstr>PowerPoint 演示文稿</vt:lpstr>
      <vt:lpstr>§9.2 符号运算符和基本运算——数字运算</vt:lpstr>
      <vt:lpstr>PowerPoint 演示文稿</vt:lpstr>
      <vt:lpstr>符号数学工具箱提供简化或修改表达式，替换部分表达式的函数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已知平板的四边温度， 求心部温度，并且绘制 温度场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定义对自变量x求导数的函数D</vt:lpstr>
      <vt:lpstr>PowerPoint 演示文稿</vt:lpstr>
      <vt:lpstr>§9.5 符号微分方程求解步骤— Differential定义方程</vt:lpstr>
      <vt:lpstr>§9.5 符号微分方程求解步骤—— ODESystem建微分方程系统</vt:lpstr>
      <vt:lpstr>§9.5符号微分方程求解步骤—— ODEProblem定义 ODE 问题 </vt:lpstr>
      <vt:lpstr>§9.5符号微分方程求解步骤—— solve求解微分方程</vt:lpstr>
      <vt:lpstr>§9.5 符号微分方程组求解——捕食者和猎物案例</vt:lpstr>
      <vt:lpstr>§9.5 符号微分方程组求解——捕食者和猎物案例</vt:lpstr>
      <vt:lpstr>§9.5 符号微分方程组求解——捕食者和猎物案例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1044</cp:revision>
  <dcterms:modified xsi:type="dcterms:W3CDTF">2025-04-21T07:10:54Z</dcterms:modified>
</cp:coreProperties>
</file>